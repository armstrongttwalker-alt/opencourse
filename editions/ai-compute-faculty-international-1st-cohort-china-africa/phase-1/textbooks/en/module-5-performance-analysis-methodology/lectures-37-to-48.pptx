
<file path=[Content_Types].xml><?xml version="1.0" encoding="utf-8"?>
<Types xmlns="http://schemas.openxmlformats.org/package/2006/content-types">
  <Default Extension="png" ContentType="image/png"/>
  <Default Extension="jpeg" ContentType="image/jpeg"/>
  <Default Extension="JPG" ContentType="image/.jp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7"/>
  </p:notesMasterIdLst>
  <p:sldIdLst>
    <p:sldId id="256" r:id="rId4"/>
    <p:sldId id="375" r:id="rId5"/>
    <p:sldId id="376" r:id="rId6"/>
    <p:sldId id="377" r:id="rId8"/>
    <p:sldId id="378" r:id="rId9"/>
    <p:sldId id="379" r:id="rId10"/>
    <p:sldId id="380" r:id="rId11"/>
    <p:sldId id="381" r:id="rId12"/>
    <p:sldId id="382" r:id="rId13"/>
    <p:sldId id="383" r:id="rId14"/>
    <p:sldId id="384" r:id="rId15"/>
    <p:sldId id="385" r:id="rId16"/>
    <p:sldId id="386" r:id="rId17"/>
    <p:sldId id="387" r:id="rId18"/>
    <p:sldId id="388" r:id="rId19"/>
    <p:sldId id="389" r:id="rId20"/>
    <p:sldId id="390" r:id="rId21"/>
    <p:sldId id="391" r:id="rId22"/>
    <p:sldId id="392" r:id="rId23"/>
    <p:sldId id="393" r:id="rId24"/>
    <p:sldId id="394" r:id="rId25"/>
    <p:sldId id="395" r:id="rId26"/>
    <p:sldId id="396" r:id="rId27"/>
    <p:sldId id="397" r:id="rId28"/>
    <p:sldId id="398" r:id="rId29"/>
    <p:sldId id="399" r:id="rId30"/>
    <p:sldId id="400" r:id="rId31"/>
    <p:sldId id="401" r:id="rId32"/>
    <p:sldId id="402" r:id="rId33"/>
    <p:sldId id="403" r:id="rId34"/>
    <p:sldId id="404" r:id="rId35"/>
    <p:sldId id="405" r:id="rId36"/>
    <p:sldId id="406" r:id="rId37"/>
    <p:sldId id="407" r:id="rId38"/>
    <p:sldId id="408" r:id="rId39"/>
    <p:sldId id="409" r:id="rId40"/>
    <p:sldId id="410" r:id="rId41"/>
    <p:sldId id="411" r:id="rId42"/>
    <p:sldId id="412" r:id="rId43"/>
    <p:sldId id="413" r:id="rId44"/>
    <p:sldId id="414" r:id="rId45"/>
    <p:sldId id="415" r:id="rId46"/>
    <p:sldId id="416" r:id="rId47"/>
    <p:sldId id="417" r:id="rId48"/>
    <p:sldId id="418" r:id="rId49"/>
    <p:sldId id="419" r:id="rId50"/>
    <p:sldId id="420" r:id="rId51"/>
    <p:sldId id="421" r:id="rId52"/>
    <p:sldId id="422" r:id="rId53"/>
    <p:sldId id="423" r:id="rId54"/>
    <p:sldId id="424" r:id="rId55"/>
    <p:sldId id="425" r:id="rId56"/>
    <p:sldId id="426" r:id="rId57"/>
    <p:sldId id="427" r:id="rId58"/>
    <p:sldId id="428" r:id="rId59"/>
    <p:sldId id="429" r:id="rId60"/>
    <p:sldId id="430" r:id="rId61"/>
    <p:sldId id="431" r:id="rId62"/>
    <p:sldId id="432" r:id="rId63"/>
    <p:sldId id="433" r:id="rId64"/>
    <p:sldId id="434" r:id="rId65"/>
    <p:sldId id="435" r:id="rId66"/>
    <p:sldId id="436" r:id="rId67"/>
    <p:sldId id="437" r:id="rId68"/>
    <p:sldId id="438" r:id="rId69"/>
    <p:sldId id="439" r:id="rId70"/>
    <p:sldId id="440" r:id="rId71"/>
    <p:sldId id="441" r:id="rId72"/>
    <p:sldId id="442" r:id="rId73"/>
    <p:sldId id="443" r:id="rId74"/>
    <p:sldId id="444" r:id="rId75"/>
    <p:sldId id="445" r:id="rId76"/>
    <p:sldId id="446" r:id="rId77"/>
    <p:sldId id="447" r:id="rId78"/>
    <p:sldId id="448" r:id="rId79"/>
    <p:sldId id="449" r:id="rId80"/>
    <p:sldId id="450" r:id="rId81"/>
    <p:sldId id="451" r:id="rId82"/>
    <p:sldId id="452" r:id="rId83"/>
    <p:sldId id="453" r:id="rId84"/>
    <p:sldId id="454" r:id="rId85"/>
    <p:sldId id="455" r:id="rId86"/>
    <p:sldId id="456" r:id="rId87"/>
    <p:sldId id="457" r:id="rId88"/>
    <p:sldId id="458" r:id="rId89"/>
    <p:sldId id="459" r:id="rId90"/>
    <p:sldId id="460" r:id="rId91"/>
    <p:sldId id="461" r:id="rId92"/>
    <p:sldId id="462" r:id="rId93"/>
    <p:sldId id="463" r:id="rId94"/>
    <p:sldId id="464" r:id="rId95"/>
    <p:sldId id="465" r:id="rId96"/>
    <p:sldId id="466" r:id="rId97"/>
    <p:sldId id="467" r:id="rId98"/>
    <p:sldId id="468" r:id="rId99"/>
    <p:sldId id="469" r:id="rId100"/>
    <p:sldId id="470" r:id="rId101"/>
    <p:sldId id="471" r:id="rId102"/>
    <p:sldId id="472" r:id="rId103"/>
    <p:sldId id="473" r:id="rId104"/>
    <p:sldId id="474" r:id="rId105"/>
    <p:sldId id="475" r:id="rId106"/>
    <p:sldId id="476" r:id="rId107"/>
    <p:sldId id="477" r:id="rId108"/>
    <p:sldId id="478" r:id="rId109"/>
    <p:sldId id="479" r:id="rId110"/>
    <p:sldId id="480" r:id="rId111"/>
    <p:sldId id="481" r:id="rId112"/>
    <p:sldId id="482" r:id="rId113"/>
    <p:sldId id="483" r:id="rId114"/>
    <p:sldId id="484" r:id="rId115"/>
    <p:sldId id="485" r:id="rId116"/>
    <p:sldId id="486" r:id="rId117"/>
    <p:sldId id="487" r:id="rId118"/>
    <p:sldId id="488" r:id="rId119"/>
    <p:sldId id="489" r:id="rId120"/>
    <p:sldId id="490" r:id="rId121"/>
    <p:sldId id="491" r:id="rId122"/>
    <p:sldId id="492" r:id="rId123"/>
    <p:sldId id="493" r:id="rId124"/>
    <p:sldId id="494" r:id="rId125"/>
    <p:sldId id="495" r:id="rId126"/>
    <p:sldId id="496" r:id="rId127"/>
    <p:sldId id="497" r:id="rId128"/>
    <p:sldId id="498" r:id="rId129"/>
    <p:sldId id="499" r:id="rId130"/>
    <p:sldId id="500" r:id="rId131"/>
    <p:sldId id="501" r:id="rId132"/>
    <p:sldId id="502" r:id="rId133"/>
    <p:sldId id="503" r:id="rId134"/>
    <p:sldId id="504" r:id="rId135"/>
    <p:sldId id="505" r:id="rId136"/>
    <p:sldId id="506" r:id="rId137"/>
    <p:sldId id="507" r:id="rId138"/>
    <p:sldId id="508" r:id="rId139"/>
    <p:sldId id="509" r:id="rId140"/>
    <p:sldId id="510" r:id="rId141"/>
    <p:sldId id="511" r:id="rId142"/>
    <p:sldId id="512" r:id="rId143"/>
    <p:sldId id="513" r:id="rId144"/>
    <p:sldId id="514" r:id="rId145"/>
    <p:sldId id="515" r:id="rId146"/>
    <p:sldId id="516" r:id="rId147"/>
    <p:sldId id="517" r:id="rId148"/>
    <p:sldId id="518" r:id="rId149"/>
    <p:sldId id="519" r:id="rId150"/>
    <p:sldId id="520" r:id="rId151"/>
    <p:sldId id="521" r:id="rId152"/>
    <p:sldId id="522" r:id="rId153"/>
    <p:sldId id="523" r:id="rId154"/>
    <p:sldId id="524" r:id="rId155"/>
    <p:sldId id="525" r:id="rId156"/>
    <p:sldId id="526" r:id="rId157"/>
    <p:sldId id="527" r:id="rId158"/>
    <p:sldId id="528" r:id="rId159"/>
    <p:sldId id="529" r:id="rId160"/>
    <p:sldId id="530" r:id="rId161"/>
    <p:sldId id="531" r:id="rId162"/>
    <p:sldId id="532" r:id="rId163"/>
    <p:sldId id="533" r:id="rId164"/>
    <p:sldId id="534" r:id="rId165"/>
    <p:sldId id="535" r:id="rId166"/>
    <p:sldId id="536" r:id="rId167"/>
    <p:sldId id="537" r:id="rId168"/>
    <p:sldId id="538" r:id="rId169"/>
    <p:sldId id="539" r:id="rId170"/>
    <p:sldId id="540" r:id="rId171"/>
    <p:sldId id="541" r:id="rId172"/>
    <p:sldId id="542" r:id="rId173"/>
    <p:sldId id="543" r:id="rId174"/>
    <p:sldId id="544" r:id="rId175"/>
    <p:sldId id="545" r:id="rId176"/>
    <p:sldId id="546" r:id="rId177"/>
    <p:sldId id="547" r:id="rId178"/>
    <p:sldId id="548" r:id="rId179"/>
    <p:sldId id="549" r:id="rId180"/>
    <p:sldId id="550" r:id="rId181"/>
    <p:sldId id="551" r:id="rId182"/>
    <p:sldId id="552" r:id="rId183"/>
    <p:sldId id="553" r:id="rId184"/>
    <p:sldId id="554" r:id="rId185"/>
    <p:sldId id="365" r:id="rId186"/>
    <p:sldId id="366" r:id="rId187"/>
    <p:sldId id="322" r:id="rId18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68"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68"/>
      </p:guideLst>
    </p:cSldViewPr>
  </p:slide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5.xml"/><Relationship Id="rId98" Type="http://schemas.openxmlformats.org/officeDocument/2006/relationships/slide" Target="slides/slide94.xml"/><Relationship Id="rId97" Type="http://schemas.openxmlformats.org/officeDocument/2006/relationships/slide" Target="slides/slide93.xml"/><Relationship Id="rId96" Type="http://schemas.openxmlformats.org/officeDocument/2006/relationships/slide" Target="slides/slide92.xml"/><Relationship Id="rId95" Type="http://schemas.openxmlformats.org/officeDocument/2006/relationships/slide" Target="slides/slide91.xml"/><Relationship Id="rId94" Type="http://schemas.openxmlformats.org/officeDocument/2006/relationships/slide" Target="slides/slide90.xml"/><Relationship Id="rId93" Type="http://schemas.openxmlformats.org/officeDocument/2006/relationships/slide" Target="slides/slide89.xml"/><Relationship Id="rId92" Type="http://schemas.openxmlformats.org/officeDocument/2006/relationships/slide" Target="slides/slide88.xml"/><Relationship Id="rId91" Type="http://schemas.openxmlformats.org/officeDocument/2006/relationships/slide" Target="slides/slide87.xml"/><Relationship Id="rId90" Type="http://schemas.openxmlformats.org/officeDocument/2006/relationships/slide" Target="slides/slide86.xml"/><Relationship Id="rId9" Type="http://schemas.openxmlformats.org/officeDocument/2006/relationships/slide" Target="slides/slide5.xml"/><Relationship Id="rId89" Type="http://schemas.openxmlformats.org/officeDocument/2006/relationships/slide" Target="slides/slide85.xml"/><Relationship Id="rId88" Type="http://schemas.openxmlformats.org/officeDocument/2006/relationships/slide" Target="slides/slide84.xml"/><Relationship Id="rId87" Type="http://schemas.openxmlformats.org/officeDocument/2006/relationships/slide" Target="slides/slide83.xml"/><Relationship Id="rId86" Type="http://schemas.openxmlformats.org/officeDocument/2006/relationships/slide" Target="slides/slide82.xml"/><Relationship Id="rId85" Type="http://schemas.openxmlformats.org/officeDocument/2006/relationships/slide" Target="slides/slide81.xml"/><Relationship Id="rId84" Type="http://schemas.openxmlformats.org/officeDocument/2006/relationships/slide" Target="slides/slide80.xml"/><Relationship Id="rId83" Type="http://schemas.openxmlformats.org/officeDocument/2006/relationships/slide" Target="slides/slide79.xml"/><Relationship Id="rId82" Type="http://schemas.openxmlformats.org/officeDocument/2006/relationships/slide" Target="slides/slide78.xml"/><Relationship Id="rId81" Type="http://schemas.openxmlformats.org/officeDocument/2006/relationships/slide" Target="slides/slide77.xml"/><Relationship Id="rId80" Type="http://schemas.openxmlformats.org/officeDocument/2006/relationships/slide" Target="slides/slide76.xml"/><Relationship Id="rId8" Type="http://schemas.openxmlformats.org/officeDocument/2006/relationships/slide" Target="slides/slide4.xml"/><Relationship Id="rId79" Type="http://schemas.openxmlformats.org/officeDocument/2006/relationships/slide" Target="slides/slide75.xml"/><Relationship Id="rId78" Type="http://schemas.openxmlformats.org/officeDocument/2006/relationships/slide" Target="slides/slide74.xml"/><Relationship Id="rId77" Type="http://schemas.openxmlformats.org/officeDocument/2006/relationships/slide" Target="slides/slide73.xml"/><Relationship Id="rId76" Type="http://schemas.openxmlformats.org/officeDocument/2006/relationships/slide" Target="slides/slide72.xml"/><Relationship Id="rId75" Type="http://schemas.openxmlformats.org/officeDocument/2006/relationships/slide" Target="slides/slide71.xml"/><Relationship Id="rId74" Type="http://schemas.openxmlformats.org/officeDocument/2006/relationships/slide" Target="slides/slide70.xml"/><Relationship Id="rId73" Type="http://schemas.openxmlformats.org/officeDocument/2006/relationships/slide" Target="slides/slide69.xml"/><Relationship Id="rId72" Type="http://schemas.openxmlformats.org/officeDocument/2006/relationships/slide" Target="slides/slide68.xml"/><Relationship Id="rId71" Type="http://schemas.openxmlformats.org/officeDocument/2006/relationships/slide" Target="slides/slide67.xml"/><Relationship Id="rId70" Type="http://schemas.openxmlformats.org/officeDocument/2006/relationships/slide" Target="slides/slide66.xml"/><Relationship Id="rId7" Type="http://schemas.openxmlformats.org/officeDocument/2006/relationships/notesMaster" Target="notesMasters/notesMaster1.xml"/><Relationship Id="rId69" Type="http://schemas.openxmlformats.org/officeDocument/2006/relationships/slide" Target="slides/slide65.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slide" Target="slides/slide3.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1" Type="http://schemas.openxmlformats.org/officeDocument/2006/relationships/tableStyles" Target="tableStyles.xml"/><Relationship Id="rId190" Type="http://schemas.openxmlformats.org/officeDocument/2006/relationships/viewProps" Target="viewProps.xml"/><Relationship Id="rId19" Type="http://schemas.openxmlformats.org/officeDocument/2006/relationships/slide" Target="slides/slide15.xml"/><Relationship Id="rId189" Type="http://schemas.openxmlformats.org/officeDocument/2006/relationships/presProps" Target="presProps.xml"/><Relationship Id="rId188" Type="http://schemas.openxmlformats.org/officeDocument/2006/relationships/slide" Target="slides/slide184.xml"/><Relationship Id="rId187" Type="http://schemas.openxmlformats.org/officeDocument/2006/relationships/slide" Target="slides/slide183.xml"/><Relationship Id="rId186" Type="http://schemas.openxmlformats.org/officeDocument/2006/relationships/slide" Target="slides/slide182.xml"/><Relationship Id="rId185" Type="http://schemas.openxmlformats.org/officeDocument/2006/relationships/slide" Target="slides/slide181.xml"/><Relationship Id="rId184" Type="http://schemas.openxmlformats.org/officeDocument/2006/relationships/slide" Target="slides/slide180.xml"/><Relationship Id="rId183" Type="http://schemas.openxmlformats.org/officeDocument/2006/relationships/slide" Target="slides/slide179.xml"/><Relationship Id="rId182" Type="http://schemas.openxmlformats.org/officeDocument/2006/relationships/slide" Target="slides/slide178.xml"/><Relationship Id="rId181" Type="http://schemas.openxmlformats.org/officeDocument/2006/relationships/slide" Target="slides/slide177.xml"/><Relationship Id="rId180" Type="http://schemas.openxmlformats.org/officeDocument/2006/relationships/slide" Target="slides/slide176.xml"/><Relationship Id="rId18" Type="http://schemas.openxmlformats.org/officeDocument/2006/relationships/slide" Target="slides/slide14.xml"/><Relationship Id="rId179" Type="http://schemas.openxmlformats.org/officeDocument/2006/relationships/slide" Target="slides/slide175.xml"/><Relationship Id="rId178" Type="http://schemas.openxmlformats.org/officeDocument/2006/relationships/slide" Target="slides/slide174.xml"/><Relationship Id="rId177" Type="http://schemas.openxmlformats.org/officeDocument/2006/relationships/slide" Target="slides/slide173.xml"/><Relationship Id="rId176" Type="http://schemas.openxmlformats.org/officeDocument/2006/relationships/slide" Target="slides/slide172.xml"/><Relationship Id="rId175" Type="http://schemas.openxmlformats.org/officeDocument/2006/relationships/slide" Target="slides/slide171.xml"/><Relationship Id="rId174" Type="http://schemas.openxmlformats.org/officeDocument/2006/relationships/slide" Target="slides/slide170.xml"/><Relationship Id="rId173" Type="http://schemas.openxmlformats.org/officeDocument/2006/relationships/slide" Target="slides/slide169.xml"/><Relationship Id="rId172" Type="http://schemas.openxmlformats.org/officeDocument/2006/relationships/slide" Target="slides/slide168.xml"/><Relationship Id="rId171" Type="http://schemas.openxmlformats.org/officeDocument/2006/relationships/slide" Target="slides/slide167.xml"/><Relationship Id="rId170" Type="http://schemas.openxmlformats.org/officeDocument/2006/relationships/slide" Target="slides/slide166.xml"/><Relationship Id="rId17" Type="http://schemas.openxmlformats.org/officeDocument/2006/relationships/slide" Target="slides/slide13.xml"/><Relationship Id="rId169" Type="http://schemas.openxmlformats.org/officeDocument/2006/relationships/slide" Target="slides/slide165.xml"/><Relationship Id="rId168" Type="http://schemas.openxmlformats.org/officeDocument/2006/relationships/slide" Target="slides/slide164.xml"/><Relationship Id="rId167" Type="http://schemas.openxmlformats.org/officeDocument/2006/relationships/slide" Target="slides/slide163.xml"/><Relationship Id="rId166" Type="http://schemas.openxmlformats.org/officeDocument/2006/relationships/slide" Target="slides/slide162.xml"/><Relationship Id="rId165" Type="http://schemas.openxmlformats.org/officeDocument/2006/relationships/slide" Target="slides/slide161.xml"/><Relationship Id="rId164" Type="http://schemas.openxmlformats.org/officeDocument/2006/relationships/slide" Target="slides/slide160.xml"/><Relationship Id="rId163" Type="http://schemas.openxmlformats.org/officeDocument/2006/relationships/slide" Target="slides/slide159.xml"/><Relationship Id="rId162" Type="http://schemas.openxmlformats.org/officeDocument/2006/relationships/slide" Target="slides/slide158.xml"/><Relationship Id="rId161" Type="http://schemas.openxmlformats.org/officeDocument/2006/relationships/slide" Target="slides/slide157.xml"/><Relationship Id="rId160" Type="http://schemas.openxmlformats.org/officeDocument/2006/relationships/slide" Target="slides/slide156.xml"/><Relationship Id="rId16" Type="http://schemas.openxmlformats.org/officeDocument/2006/relationships/slide" Target="slides/slide12.xml"/><Relationship Id="rId159" Type="http://schemas.openxmlformats.org/officeDocument/2006/relationships/slide" Target="slides/slide155.xml"/><Relationship Id="rId158" Type="http://schemas.openxmlformats.org/officeDocument/2006/relationships/slide" Target="slides/slide154.xml"/><Relationship Id="rId157" Type="http://schemas.openxmlformats.org/officeDocument/2006/relationships/slide" Target="slides/slide153.xml"/><Relationship Id="rId156" Type="http://schemas.openxmlformats.org/officeDocument/2006/relationships/slide" Target="slides/slide152.xml"/><Relationship Id="rId155" Type="http://schemas.openxmlformats.org/officeDocument/2006/relationships/slide" Target="slides/slide151.xml"/><Relationship Id="rId154" Type="http://schemas.openxmlformats.org/officeDocument/2006/relationships/slide" Target="slides/slide150.xml"/><Relationship Id="rId153" Type="http://schemas.openxmlformats.org/officeDocument/2006/relationships/slide" Target="slides/slide149.xml"/><Relationship Id="rId152" Type="http://schemas.openxmlformats.org/officeDocument/2006/relationships/slide" Target="slides/slide148.xml"/><Relationship Id="rId151" Type="http://schemas.openxmlformats.org/officeDocument/2006/relationships/slide" Target="slides/slide147.xml"/><Relationship Id="rId150" Type="http://schemas.openxmlformats.org/officeDocument/2006/relationships/slide" Target="slides/slide146.xml"/><Relationship Id="rId15" Type="http://schemas.openxmlformats.org/officeDocument/2006/relationships/slide" Target="slides/slide11.xml"/><Relationship Id="rId149" Type="http://schemas.openxmlformats.org/officeDocument/2006/relationships/slide" Target="slides/slide145.xml"/><Relationship Id="rId148" Type="http://schemas.openxmlformats.org/officeDocument/2006/relationships/slide" Target="slides/slide144.xml"/><Relationship Id="rId147" Type="http://schemas.openxmlformats.org/officeDocument/2006/relationships/slide" Target="slides/slide143.xml"/><Relationship Id="rId146" Type="http://schemas.openxmlformats.org/officeDocument/2006/relationships/slide" Target="slides/slide142.xml"/><Relationship Id="rId145" Type="http://schemas.openxmlformats.org/officeDocument/2006/relationships/slide" Target="slides/slide141.xml"/><Relationship Id="rId144" Type="http://schemas.openxmlformats.org/officeDocument/2006/relationships/slide" Target="slides/slide140.xml"/><Relationship Id="rId143" Type="http://schemas.openxmlformats.org/officeDocument/2006/relationships/slide" Target="slides/slide139.xml"/><Relationship Id="rId142" Type="http://schemas.openxmlformats.org/officeDocument/2006/relationships/slide" Target="slides/slide138.xml"/><Relationship Id="rId141" Type="http://schemas.openxmlformats.org/officeDocument/2006/relationships/slide" Target="slides/slide137.xml"/><Relationship Id="rId140" Type="http://schemas.openxmlformats.org/officeDocument/2006/relationships/slide" Target="slides/slide136.xml"/><Relationship Id="rId14" Type="http://schemas.openxmlformats.org/officeDocument/2006/relationships/slide" Target="slides/slide10.xml"/><Relationship Id="rId139" Type="http://schemas.openxmlformats.org/officeDocument/2006/relationships/slide" Target="slides/slide135.xml"/><Relationship Id="rId138" Type="http://schemas.openxmlformats.org/officeDocument/2006/relationships/slide" Target="slides/slide134.xml"/><Relationship Id="rId137" Type="http://schemas.openxmlformats.org/officeDocument/2006/relationships/slide" Target="slides/slide133.xml"/><Relationship Id="rId136" Type="http://schemas.openxmlformats.org/officeDocument/2006/relationships/slide" Target="slides/slide132.xml"/><Relationship Id="rId135" Type="http://schemas.openxmlformats.org/officeDocument/2006/relationships/slide" Target="slides/slide131.xml"/><Relationship Id="rId134" Type="http://schemas.openxmlformats.org/officeDocument/2006/relationships/slide" Target="slides/slide130.xml"/><Relationship Id="rId133" Type="http://schemas.openxmlformats.org/officeDocument/2006/relationships/slide" Target="slides/slide129.xml"/><Relationship Id="rId132" Type="http://schemas.openxmlformats.org/officeDocument/2006/relationships/slide" Target="slides/slide128.xml"/><Relationship Id="rId131" Type="http://schemas.openxmlformats.org/officeDocument/2006/relationships/slide" Target="slides/slide127.xml"/><Relationship Id="rId130" Type="http://schemas.openxmlformats.org/officeDocument/2006/relationships/slide" Target="slides/slide126.xml"/><Relationship Id="rId13" Type="http://schemas.openxmlformats.org/officeDocument/2006/relationships/slide" Target="slides/slide9.xml"/><Relationship Id="rId129" Type="http://schemas.openxmlformats.org/officeDocument/2006/relationships/slide" Target="slides/slide125.xml"/><Relationship Id="rId128" Type="http://schemas.openxmlformats.org/officeDocument/2006/relationships/slide" Target="slides/slide124.xml"/><Relationship Id="rId127" Type="http://schemas.openxmlformats.org/officeDocument/2006/relationships/slide" Target="slides/slide123.xml"/><Relationship Id="rId126" Type="http://schemas.openxmlformats.org/officeDocument/2006/relationships/slide" Target="slides/slide122.xml"/><Relationship Id="rId125" Type="http://schemas.openxmlformats.org/officeDocument/2006/relationships/slide" Target="slides/slide121.xml"/><Relationship Id="rId124" Type="http://schemas.openxmlformats.org/officeDocument/2006/relationships/slide" Target="slides/slide120.xml"/><Relationship Id="rId123" Type="http://schemas.openxmlformats.org/officeDocument/2006/relationships/slide" Target="slides/slide119.xml"/><Relationship Id="rId122" Type="http://schemas.openxmlformats.org/officeDocument/2006/relationships/slide" Target="slides/slide118.xml"/><Relationship Id="rId121" Type="http://schemas.openxmlformats.org/officeDocument/2006/relationships/slide" Target="slides/slide117.xml"/><Relationship Id="rId120" Type="http://schemas.openxmlformats.org/officeDocument/2006/relationships/slide" Target="slides/slide116.xml"/><Relationship Id="rId12" Type="http://schemas.openxmlformats.org/officeDocument/2006/relationships/slide" Target="slides/slide8.xml"/><Relationship Id="rId119" Type="http://schemas.openxmlformats.org/officeDocument/2006/relationships/slide" Target="slides/slide115.xml"/><Relationship Id="rId118" Type="http://schemas.openxmlformats.org/officeDocument/2006/relationships/slide" Target="slides/slide114.xml"/><Relationship Id="rId117" Type="http://schemas.openxmlformats.org/officeDocument/2006/relationships/slide" Target="slides/slide113.xml"/><Relationship Id="rId116" Type="http://schemas.openxmlformats.org/officeDocument/2006/relationships/slide" Target="slides/slide112.xml"/><Relationship Id="rId115" Type="http://schemas.openxmlformats.org/officeDocument/2006/relationships/slide" Target="slides/slide111.xml"/><Relationship Id="rId114" Type="http://schemas.openxmlformats.org/officeDocument/2006/relationships/slide" Target="slides/slide110.xml"/><Relationship Id="rId113" Type="http://schemas.openxmlformats.org/officeDocument/2006/relationships/slide" Target="slides/slide109.xml"/><Relationship Id="rId112" Type="http://schemas.openxmlformats.org/officeDocument/2006/relationships/slide" Target="slides/slide108.xml"/><Relationship Id="rId111" Type="http://schemas.openxmlformats.org/officeDocument/2006/relationships/slide" Target="slides/slide107.xml"/><Relationship Id="rId110" Type="http://schemas.openxmlformats.org/officeDocument/2006/relationships/slide" Target="slides/slide106.xml"/><Relationship Id="rId11" Type="http://schemas.openxmlformats.org/officeDocument/2006/relationships/slide" Target="slides/slide7.xml"/><Relationship Id="rId109" Type="http://schemas.openxmlformats.org/officeDocument/2006/relationships/slide" Target="slides/slide105.xml"/><Relationship Id="rId108" Type="http://schemas.openxmlformats.org/officeDocument/2006/relationships/slide" Target="slides/slide104.xml"/><Relationship Id="rId107" Type="http://schemas.openxmlformats.org/officeDocument/2006/relationships/slide" Target="slides/slide103.xml"/><Relationship Id="rId106" Type="http://schemas.openxmlformats.org/officeDocument/2006/relationships/slide" Target="slides/slide102.xml"/><Relationship Id="rId105" Type="http://schemas.openxmlformats.org/officeDocument/2006/relationships/slide" Target="slides/slide101.xml"/><Relationship Id="rId104" Type="http://schemas.openxmlformats.org/officeDocument/2006/relationships/slide" Target="slides/slide100.xml"/><Relationship Id="rId103" Type="http://schemas.openxmlformats.org/officeDocument/2006/relationships/slide" Target="slides/slide99.xml"/><Relationship Id="rId102" Type="http://schemas.openxmlformats.org/officeDocument/2006/relationships/slide" Target="slides/slide98.xml"/><Relationship Id="rId101" Type="http://schemas.openxmlformats.org/officeDocument/2006/relationships/slide" Target="slides/slide97.xml"/><Relationship Id="rId100" Type="http://schemas.openxmlformats.org/officeDocument/2006/relationships/slide" Target="slides/slide96.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9.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0.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1.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4.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6.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7.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8.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9.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0.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1.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2.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3.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4.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5.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7.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8.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9.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0.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1.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2.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3.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0.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0.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背景与挑战</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P3</a:t>
            </a:r>
            <a:r>
              <a:rPr lang="en-US" sz="1200" b="0" i="0" u="none" strike="noStrike">
                <a:solidFill>
                  <a:srgbClr val="000000"/>
                </a:solidFill>
              </a:rPr>
              <a:t>：为什么需要自动调优？（硬件架构复杂化、手工编写</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Kernel的性能瓶颈与人力成本）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硬件架构的复杂化</a:t>
            </a:r>
            <a:r>
              <a:rPr lang="en-US" sz="1200" b="0" i="0" u="none" strike="noStrike">
                <a:solidFill>
                  <a:srgbClr val="000000"/>
                </a:solidFill>
              </a:rPr>
              <a:t>：</a:t>
            </a:r>
            <a:endParaRPr lang="en-US" sz="1200" b="0" i="0" u="none" strike="noStrike">
              <a:solidFill>
                <a:srgbClr val="000000"/>
              </a:solidFill>
            </a:endParaRPr>
          </a:p>
          <a:p>
            <a:pPr marL="609600" lvl="1"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GPU</a:t>
            </a:r>
            <a:r>
              <a:rPr lang="en-US" sz="1200" b="0" i="0" u="none" strike="noStrike">
                <a:solidFill>
                  <a:srgbClr val="000000"/>
                </a:solidFill>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NPU</a:t>
            </a:r>
            <a:r>
              <a:rPr lang="en-US" sz="1200" b="0" i="0" u="none" strike="noStrike">
                <a:solidFill>
                  <a:srgbClr val="000000"/>
                </a:solidFill>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TPU等异构芯片层出不穷。</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609600" lvl="1"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复杂的内存层次结构（Registers, Shared Memory, L2 Cache</a:t>
            </a:r>
            <a:r>
              <a:rPr lang="en-US" sz="1200" b="0" i="0" u="none" strike="noStrike">
                <a:solidFill>
                  <a:srgbClr val="000000"/>
                </a:solidFill>
              </a:rPr>
              <a:t>）。</a:t>
            </a:r>
            <a:endParaRPr lang="en-US" sz="1200" b="0" i="0" u="none" strike="noStrike">
              <a:solidFill>
                <a:srgbClr val="000000"/>
              </a:solidFill>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传统手工优化的瓶颈</a:t>
            </a:r>
            <a:r>
              <a:rPr lang="en-US" sz="1200" b="0" i="0" u="none" strike="noStrike">
                <a:solidFill>
                  <a:srgbClr val="000000"/>
                </a:solidFill>
              </a:rPr>
              <a:t>：</a:t>
            </a:r>
            <a:endParaRPr lang="en-US" sz="1200" b="0" i="0" u="none" strike="noStrike">
              <a:solidFill>
                <a:srgbClr val="000000"/>
              </a:solidFill>
            </a:endParaRPr>
          </a:p>
          <a:p>
            <a:pPr marL="609600" lvl="1"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人力成本极高</a:t>
            </a:r>
            <a:r>
              <a:rPr lang="en-US" sz="1200" b="0" i="0" u="none" strike="noStrike">
                <a:solidFill>
                  <a:srgbClr val="000000"/>
                </a:solidFill>
              </a:rPr>
              <a:t>：通常需要</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“Ninja Programmer</a:t>
            </a:r>
            <a:r>
              <a:rPr lang="en-US" sz="1200" b="0" i="0" u="none" strike="noStrike">
                <a:solidFill>
                  <a:srgbClr val="000000"/>
                </a:solidFill>
              </a:rPr>
              <a:t>（忍者程序员）</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a:solidFill>
                  <a:srgbClr val="000000"/>
                </a:solidFill>
              </a:rPr>
              <a:t>耗费数周手写底层汇编或</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CUDA代码。</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609600" lvl="1"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可移植性差</a:t>
            </a:r>
            <a:r>
              <a:rPr lang="en-US" sz="1200" b="0" i="0" u="none" strike="noStrike">
                <a:solidFill>
                  <a:srgbClr val="000000"/>
                </a:solidFill>
              </a:rPr>
              <a:t>：为</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A100写的极致优化Kernel</a:t>
            </a:r>
            <a:r>
              <a:rPr lang="en-US" sz="1200" b="0" i="0" u="none" strike="noStrike">
                <a:solidFill>
                  <a:srgbClr val="000000"/>
                </a:solidFill>
              </a:rPr>
              <a:t>，在</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H800上可能不再是最优解。</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AI模型的高速演进</a:t>
            </a:r>
            <a:r>
              <a:rPr lang="en-US" sz="1200" b="0" i="0" u="none" strike="noStrike">
                <a:solidFill>
                  <a:srgbClr val="000000"/>
                </a:solidFill>
              </a:rPr>
              <a:t>：新算子层出不穷，手工优化速度跟不上模型迭代速度。</a:t>
            </a:r>
            <a:endParaRPr lang="en-US" sz="1200" b="0" i="0" u="none" strike="noStrike">
              <a:solidFill>
                <a:srgbClr val="000000"/>
              </a:solidFill>
            </a:endParaRPr>
          </a:p>
          <a:p>
            <a:pPr indent="0" algn="l">
              <a:lnSpc>
                <a:spcPct val="100000"/>
              </a:lnSpc>
            </a:pPr>
          </a:p>
          <a:p>
            <a:pPr indent="0" algn="l">
              <a:lnSpc>
                <a:spcPct val="100000"/>
              </a:lnSpc>
            </a:p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算子调优的时代痛点与自动化重构的必然性</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在现代高性能计算（</a:t>
            </a:r>
            <a:r>
              <a:rPr lang="en-US" sz="1200" b="0" i="0" u="none" strike="noStrike">
                <a:solidFill>
                  <a:srgbClr val="000000"/>
                </a:solidFill>
                <a:latin typeface="Google Sans Text"/>
                <a:ea typeface="Google Sans Text"/>
                <a:cs typeface="Google Sans Text"/>
                <a:sym typeface="Google Sans Text"/>
              </a:rPr>
              <a:t>High-Performance Computing, HPC</a:t>
            </a:r>
            <a:r>
              <a:rPr lang="en-US" sz="1200" b="0" i="0" u="none" strike="noStrike">
                <a:solidFill>
                  <a:srgbClr val="000000"/>
                </a:solidFill>
              </a:rPr>
              <a:t>）与深度学习（</a:t>
            </a:r>
            <a:r>
              <a:rPr lang="en-US" sz="1200" b="0" i="0" u="none" strike="noStrike">
                <a:solidFill>
                  <a:srgbClr val="000000"/>
                </a:solidFill>
                <a:latin typeface="Google Sans Text"/>
                <a:ea typeface="Google Sans Text"/>
                <a:cs typeface="Google Sans Text"/>
                <a:sym typeface="Google Sans Text"/>
              </a:rPr>
              <a:t>Deep Learning</a:t>
            </a:r>
            <a:r>
              <a:rPr lang="en-US" sz="1200" b="0" i="0" u="none" strike="noStrike">
                <a:solidFill>
                  <a:srgbClr val="000000"/>
                </a:solidFill>
              </a:rPr>
              <a:t>）的演进历程中，计算密度的指数级增长与底层硬件架构的极度复杂化之间，形成了一道难以逾越的性能鸿沟。随着以大语言模型（</a:t>
            </a:r>
            <a:r>
              <a:rPr lang="en-US" sz="1200" b="0" i="0" u="none" strike="noStrike">
                <a:solidFill>
                  <a:srgbClr val="000000"/>
                </a:solidFill>
                <a:latin typeface="Google Sans Text"/>
                <a:ea typeface="Google Sans Text"/>
                <a:cs typeface="Google Sans Text"/>
                <a:sym typeface="Google Sans Text"/>
              </a:rPr>
              <a:t>Large Language Models, LLMs</a:t>
            </a:r>
            <a:r>
              <a:rPr lang="en-US" sz="1200" b="0" i="0" u="none" strike="noStrike">
                <a:solidFill>
                  <a:srgbClr val="000000"/>
                </a:solidFill>
              </a:rPr>
              <a:t>）为代表的复杂神经网络的普及，模型参数量已跨越千亿乃至万亿级别，底层张量运算（如矩阵乘法</a:t>
            </a:r>
            <a:r>
              <a:rPr lang="en-US" sz="1200" b="0" i="0" u="none" strike="noStrike">
                <a:solidFill>
                  <a:srgbClr val="000000"/>
                </a:solidFill>
                <a:latin typeface="Google Sans Text"/>
                <a:ea typeface="Google Sans Text"/>
                <a:cs typeface="Google Sans Text"/>
                <a:sym typeface="Google Sans Text"/>
              </a:rPr>
              <a:t>GEMM</a:t>
            </a:r>
            <a:r>
              <a:rPr lang="en-US" sz="1200" b="0" i="0" u="none" strike="noStrike">
                <a:solidFill>
                  <a:srgbClr val="000000"/>
                </a:solidFill>
              </a:rPr>
              <a:t>、多维卷积、自注意力机制等）的执行效率，直接决定了整个系统的端到端延迟与吞吐量上限</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。然而，实现这些核心算子的极致性能绝非易事，这深刻反映了当前算子调优领域面临的核心痛点。</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长期以来，工业界高度依赖于由硬件厂商提供的、经过资深专家手工高度优化的算子库（例如</a:t>
            </a:r>
            <a:r>
              <a:rPr lang="en-US" sz="1200" b="0" i="0" u="none" strike="noStrike">
                <a:solidFill>
                  <a:srgbClr val="000000"/>
                </a:solidFill>
                <a:latin typeface="Google Sans Text"/>
                <a:ea typeface="Google Sans Text"/>
                <a:cs typeface="Google Sans Text"/>
                <a:sym typeface="Google Sans Text"/>
              </a:rPr>
              <a:t>NVIDIA</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a:t>
            </a:r>
            <a:r>
              <a:rPr lang="en-US" sz="1200" b="0" i="0" u="none" strike="noStrike">
                <a:solidFill>
                  <a:srgbClr val="000000"/>
                </a:solidFill>
                <a:latin typeface="Google Sans Text"/>
                <a:ea typeface="Google Sans Text"/>
                <a:cs typeface="Google Sans Text"/>
                <a:sym typeface="Google Sans Text"/>
              </a:rPr>
              <a:t>cuDNN</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cuBLAS</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或</a:t>
            </a:r>
            <a:r>
              <a:rPr lang="en-US" sz="1200" b="0" i="0" u="none" strike="noStrike">
                <a:solidFill>
                  <a:srgbClr val="000000"/>
                </a:solidFill>
                <a:latin typeface="Google Sans Text"/>
                <a:ea typeface="Google Sans Text"/>
                <a:cs typeface="Google Sans Text"/>
                <a:sym typeface="Google Sans Text"/>
              </a:rPr>
              <a:t>Intel</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a:t>
            </a:r>
            <a:r>
              <a:rPr lang="en-US" sz="1200" b="0" i="0" u="none" strike="noStrike">
                <a:solidFill>
                  <a:srgbClr val="000000"/>
                </a:solidFill>
                <a:latin typeface="Google Sans Text"/>
                <a:ea typeface="Google Sans Text"/>
                <a:cs typeface="Google Sans Text"/>
                <a:sym typeface="Google Sans Text"/>
              </a:rPr>
              <a:t>MKL</a:t>
            </a:r>
            <a:r>
              <a:rPr lang="en-US" sz="1200" b="0" i="0" u="none" strike="noStrike">
                <a:solidFill>
                  <a:srgbClr val="000000"/>
                </a:solidFill>
              </a:rPr>
              <a:t>）。虽然这些定制化库在特定的标准计算规模上能够提供峰值性能，但手工编写和调优高性能计算内核（</a:t>
            </a:r>
            <a:r>
              <a:rPr lang="en-US" sz="1200" b="0" i="0" u="none" strike="noStrike">
                <a:solidFill>
                  <a:srgbClr val="000000"/>
                </a:solidFill>
                <a:latin typeface="Google Sans Text"/>
                <a:ea typeface="Google Sans Text"/>
                <a:cs typeface="Google Sans Text"/>
                <a:sym typeface="Google Sans Text"/>
              </a:rPr>
              <a:t>Kernel</a:t>
            </a:r>
            <a:r>
              <a:rPr lang="en-US" sz="1200" b="0" i="0" u="none" strike="noStrike">
                <a:solidFill>
                  <a:srgbClr val="000000"/>
                </a:solidFill>
              </a:rPr>
              <a:t>）是一项极其昂贵且耗时的工作</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。计算性能不仅取决于算法的时间复杂度，更受制于一系列微架构维度的元参数（</a:t>
            </a:r>
            <a:r>
              <a:rPr lang="en-US" sz="1200" b="0" i="0" u="none" strike="noStrike">
                <a:solidFill>
                  <a:srgbClr val="000000"/>
                </a:solidFill>
                <a:latin typeface="Google Sans Text"/>
                <a:ea typeface="Google Sans Text"/>
                <a:cs typeface="Google Sans Text"/>
                <a:sym typeface="Google Sans Text"/>
              </a:rPr>
              <a:t>Meta-parameters</a:t>
            </a:r>
            <a:r>
              <a:rPr lang="en-US" sz="1200" b="0" i="0" u="none" strike="noStrike">
                <a:solidFill>
                  <a:srgbClr val="000000"/>
                </a:solidFill>
              </a:rPr>
              <a:t>），包括但不限于线程块大小（</a:t>
            </a:r>
            <a:r>
              <a:rPr lang="en-US" sz="1200" b="0" i="0" u="none" strike="noStrike">
                <a:solidFill>
                  <a:srgbClr val="000000"/>
                </a:solidFill>
                <a:latin typeface="Google Sans Text"/>
                <a:ea typeface="Google Sans Text"/>
                <a:cs typeface="Google Sans Text"/>
                <a:sym typeface="Google Sans Text"/>
              </a:rPr>
              <a:t>Block Size</a:t>
            </a:r>
            <a:r>
              <a:rPr lang="en-US" sz="1200" b="0" i="0" u="none" strike="noStrike">
                <a:solidFill>
                  <a:srgbClr val="000000"/>
                </a:solidFill>
              </a:rPr>
              <a:t>）、流水线阶段数（</a:t>
            </a:r>
            <a:r>
              <a:rPr lang="en-US" sz="1200" b="0" i="0" u="none" strike="noStrike">
                <a:solidFill>
                  <a:srgbClr val="000000"/>
                </a:solidFill>
                <a:latin typeface="Google Sans Text"/>
                <a:ea typeface="Google Sans Text"/>
                <a:cs typeface="Google Sans Text"/>
                <a:sym typeface="Google Sans Text"/>
              </a:rPr>
              <a:t>Pipeline Stages</a:t>
            </a:r>
            <a:r>
              <a:rPr lang="en-US" sz="1200" b="0" i="0" u="none" strike="noStrike">
                <a:solidFill>
                  <a:srgbClr val="000000"/>
                </a:solidFill>
              </a:rPr>
              <a:t>）、瓦片大小（</a:t>
            </a:r>
            <a:r>
              <a:rPr lang="en-US" sz="1200" b="0" i="0" u="none" strike="noStrike">
                <a:solidFill>
                  <a:srgbClr val="000000"/>
                </a:solidFill>
                <a:latin typeface="Google Sans Text"/>
                <a:ea typeface="Google Sans Text"/>
                <a:cs typeface="Google Sans Text"/>
                <a:sym typeface="Google Sans Text"/>
              </a:rPr>
              <a:t>Tile Size</a:t>
            </a:r>
            <a:r>
              <a:rPr lang="en-US" sz="1200" b="0" i="0" u="none" strike="noStrike">
                <a:solidFill>
                  <a:srgbClr val="000000"/>
                </a:solidFill>
              </a:rPr>
              <a:t>）、循环展开因子（</a:t>
            </a:r>
            <a:r>
              <a:rPr lang="en-US" sz="1200" b="0" i="0" u="none" strike="noStrike">
                <a:solidFill>
                  <a:srgbClr val="000000"/>
                </a:solidFill>
                <a:latin typeface="Google Sans Text"/>
                <a:ea typeface="Google Sans Text"/>
                <a:cs typeface="Google Sans Text"/>
                <a:sym typeface="Google Sans Text"/>
              </a:rPr>
              <a:t>Unroll Factors</a:t>
            </a:r>
            <a:r>
              <a:rPr lang="en-US" sz="1200" b="0" i="0" u="none" strike="noStrike">
                <a:solidFill>
                  <a:srgbClr val="000000"/>
                </a:solidFill>
              </a:rPr>
              <a:t>）、寄存器分配以及共享内存调度等</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。这些参数之间存在极其复杂的非线性耦合关系。例如，在基于</a:t>
            </a:r>
            <a:r>
              <a:rPr lang="en-US" sz="1200" b="0" i="0" u="none" strike="noStrike">
                <a:solidFill>
                  <a:srgbClr val="000000"/>
                </a:solidFill>
                <a:latin typeface="Google Sans Text"/>
                <a:ea typeface="Google Sans Text"/>
                <a:cs typeface="Google Sans Text"/>
                <a:sym typeface="Google Sans Text"/>
              </a:rPr>
              <a:t>Triton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或</a:t>
            </a:r>
            <a:r>
              <a:rPr lang="en-US" sz="1200" b="0" i="0" u="none" strike="noStrike">
                <a:solidFill>
                  <a:srgbClr val="000000"/>
                </a:solidFill>
                <a:latin typeface="Google Sans Text"/>
                <a:ea typeface="Google Sans Text"/>
                <a:cs typeface="Google Sans Text"/>
                <a:sym typeface="Google Sans Text"/>
              </a:rPr>
              <a:t>CUDA</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的编程模型中，一个轻微次优的瓦片大小配置可能会引发严重的共享内存</a:t>
            </a:r>
            <a:r>
              <a:rPr lang="en-US" sz="1200" b="0" i="0" u="none" strike="noStrike">
                <a:solidFill>
                  <a:srgbClr val="000000"/>
                </a:solidFill>
                <a:latin typeface="Google Sans Text"/>
                <a:ea typeface="Google Sans Text"/>
                <a:cs typeface="Google Sans Text"/>
                <a:sym typeface="Google Sans Text"/>
              </a:rPr>
              <a:t>Bank</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冲突或</a:t>
            </a:r>
            <a:r>
              <a:rPr lang="en-US" sz="1200" b="0" i="0" u="none" strike="noStrike">
                <a:solidFill>
                  <a:srgbClr val="000000"/>
                </a:solidFill>
                <a:latin typeface="Google Sans Text"/>
                <a:ea typeface="Google Sans Text"/>
                <a:cs typeface="Google Sans Text"/>
                <a:sym typeface="Google Sans Text"/>
              </a:rPr>
              <a:t>L2</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缓存抖动，导致计算内核在逻辑完全正确的情况下，性能依然出现数量级的暴跌</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不仅如此，随着硬件架构的快速迭代（如从</a:t>
            </a:r>
            <a:r>
              <a:rPr lang="en-US" sz="1200" b="0" i="0" u="none" strike="noStrike">
                <a:solidFill>
                  <a:srgbClr val="000000"/>
                </a:solidFill>
                <a:latin typeface="Google Sans Text"/>
                <a:ea typeface="Google Sans Text"/>
                <a:cs typeface="Google Sans Text"/>
                <a:sym typeface="Google Sans Text"/>
              </a:rPr>
              <a:t>NVIDIA Ampere</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架构升级至</a:t>
            </a:r>
            <a:r>
              <a:rPr lang="en-US" sz="1200" b="0" i="0" u="none" strike="noStrike">
                <a:solidFill>
                  <a:srgbClr val="000000"/>
                </a:solidFill>
                <a:latin typeface="Google Sans Text"/>
                <a:ea typeface="Google Sans Text"/>
                <a:cs typeface="Google Sans Text"/>
                <a:sym typeface="Google Sans Text"/>
              </a:rPr>
              <a:t>Hopper</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架构）以及深度学习框架中不断涌现的非标准算子融合需求，传统的、依赖领域专家经验的手工调优模式已彻底沦为生产力瓶颈。针对特定负载的调试需要耗费数月时间，且编写出的优化代码泛化能力极差，完全无法适应多样化的动态形状（</a:t>
            </a:r>
            <a:r>
              <a:rPr lang="en-US" sz="1200" b="0" i="0" u="none" strike="noStrike">
                <a:solidFill>
                  <a:srgbClr val="000000"/>
                </a:solidFill>
                <a:latin typeface="Google Sans Text"/>
                <a:ea typeface="Google Sans Text"/>
                <a:cs typeface="Google Sans Text"/>
                <a:sym typeface="Google Sans Text"/>
              </a:rPr>
              <a:t>Dynamic Shapes</a:t>
            </a:r>
            <a:r>
              <a:rPr lang="en-US" sz="1200" b="0" i="0" u="none" strike="noStrike">
                <a:solidFill>
                  <a:srgbClr val="000000"/>
                </a:solidFill>
              </a:rPr>
              <a:t>）与边缘端长尾硬件生态</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为突破这一瓶颈，自动调优（</a:t>
            </a:r>
            <a:r>
              <a:rPr lang="en-US" sz="1200" b="0" i="0" u="none" strike="noStrike">
                <a:solidFill>
                  <a:srgbClr val="000000"/>
                </a:solidFill>
                <a:latin typeface="Google Sans Text"/>
                <a:ea typeface="Google Sans Text"/>
                <a:cs typeface="Google Sans Text"/>
                <a:sym typeface="Google Sans Text"/>
              </a:rPr>
              <a:t>Auto-tuning</a:t>
            </a:r>
            <a:r>
              <a:rPr lang="en-US" sz="1200" b="0" i="0" u="none" strike="noStrike">
                <a:solidFill>
                  <a:srgbClr val="000000"/>
                </a:solidFill>
              </a:rPr>
              <a:t>）技术应运而生，并迅速成为</a:t>
            </a:r>
            <a:r>
              <a:rPr lang="en-US" sz="1200" b="0" i="0" u="none" strike="noStrike">
                <a:solidFill>
                  <a:srgbClr val="000000"/>
                </a:solidFill>
                <a:latin typeface="Google Sans Text"/>
                <a:ea typeface="Google Sans Text"/>
                <a:cs typeface="Google Sans Text"/>
                <a:sym typeface="Google Sans Text"/>
              </a:rPr>
              <a:t>AI</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编译器（如</a:t>
            </a:r>
            <a:r>
              <a:rPr lang="en-US" sz="1200" b="0" i="0" u="none" strike="noStrike">
                <a:solidFill>
                  <a:srgbClr val="000000"/>
                </a:solidFill>
                <a:latin typeface="Google Sans Text"/>
                <a:ea typeface="Google Sans Text"/>
                <a:cs typeface="Google Sans Text"/>
                <a:sym typeface="Google Sans Text"/>
              </a:rPr>
              <a:t>TVM</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Halide</a:t>
            </a:r>
            <a:r>
              <a:rPr lang="en-US" sz="1200" b="0" i="0" u="none" strike="noStrike">
                <a:solidFill>
                  <a:srgbClr val="000000"/>
                </a:solidFill>
              </a:rPr>
              <a:t>）栈中的核心组件。自动调优的核心思想是将算子的编译优化过程抽象为一个在高维、离散且充满硬性约束的解空间中的最优化搜索问题。该范式主要由三大核心支柱构建：首先是</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搜索空间（</a:t>
            </a:r>
            <a:r>
              <a:rPr lang="en-US" sz="1200" b="0" i="0" u="none" strike="noStrike">
                <a:solidFill>
                  <a:srgbClr val="000000"/>
                </a:solidFill>
                <a:latin typeface="Google Sans Text"/>
                <a:ea typeface="Google Sans Text"/>
                <a:cs typeface="Google Sans Text"/>
                <a:sym typeface="Google Sans Text"/>
              </a:rPr>
              <a:t>Search Space</a:t>
            </a:r>
            <a:r>
              <a:rPr lang="en-US" sz="1200" b="0" i="0" u="none" strike="noStrike">
                <a:solidFill>
                  <a:srgbClr val="000000"/>
                </a:solidFill>
              </a:rPr>
              <a:t>）的定义</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，即将一切合法的程序等价变换策略进行参数化，界定出算法探索的物理边界；其次是</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性能评估模型（</a:t>
            </a:r>
            <a:r>
              <a:rPr lang="en-US" sz="1200" b="0" i="0" u="none" strike="noStrike">
                <a:solidFill>
                  <a:srgbClr val="000000"/>
                </a:solidFill>
                <a:latin typeface="Google Sans Text"/>
                <a:ea typeface="Google Sans Text"/>
                <a:cs typeface="Google Sans Text"/>
                <a:sym typeface="Google Sans Text"/>
              </a:rPr>
              <a:t>Cost Model</a:t>
            </a:r>
            <a:r>
              <a:rPr lang="en-US" sz="1200" b="0" i="0" u="none" strike="noStrike">
                <a:solidFill>
                  <a:srgbClr val="000000"/>
                </a:solidFill>
              </a:rPr>
              <a:t>）的构建</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，旨在通过机器学习等手段快速预测特定配置在目标硬件上的执行代价，从而大幅减少昂贵的硬件实测开销；最后是</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探索策略（</a:t>
            </a:r>
            <a:r>
              <a:rPr lang="en-US" sz="1200" b="0" i="0" u="none" strike="noStrike">
                <a:solidFill>
                  <a:srgbClr val="000000"/>
                </a:solidFill>
                <a:latin typeface="Google Sans Text"/>
                <a:ea typeface="Google Sans Text"/>
                <a:cs typeface="Google Sans Text"/>
                <a:sym typeface="Google Sans Text"/>
              </a:rPr>
              <a:t>Exploration Strategy</a:t>
            </a:r>
            <a:r>
              <a:rPr lang="en-US" sz="1200" b="0" i="0" u="none" strike="noStrike">
                <a:solidFill>
                  <a:srgbClr val="000000"/>
                </a:solidFill>
              </a:rPr>
              <a:t>）的设计</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，利用启发式算法、演化算法乃至强化学习，在浩如烟海的百亿级配置空间中，以最高效的路径收敛至全局最优或次优调度解</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。这一思想的落地，标志着算子开发从</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人力密集型的手工雕琢</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正式迈向了</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计算密集型的自动生成</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时代。</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Google Sans Text"/>
              </a:defRPr>
            </a:lvl1pPr>
          </a:lstStyle>
          <a:p>
            <a:pPr indent="0" algn="l">
              <a:lnSpc>
                <a:spcPct val="100000"/>
              </a:lnSpc>
            </a:pPr>
            <a:r>
              <a:rPr lang="en-US" sz="1200" b="0" i="0" u="none" strike="noStrike">
                <a:solidFill>
                  <a:srgbClr val="000000"/>
                </a:solidFill>
                <a:latin typeface="Google Sans Text"/>
                <a:ea typeface="Google Sans Text"/>
                <a:cs typeface="Google Sans Text"/>
                <a:sym typeface="Google Sans Text"/>
              </a:rPr>
              <a:t>Kernel Auto-tuning</a:t>
            </a:r>
            <a:r>
              <a:rPr lang="en-US" sz="1200" b="0" i="0" u="none" strike="noStrike">
                <a:solidFill>
                  <a:srgbClr val="000000"/>
                </a:solidFill>
                <a:latin typeface="Google Sans Text"/>
                <a:ea typeface="Google Sans Text"/>
                <a:cs typeface="Google Sans Text"/>
                <a:sym typeface="Google Sans Text"/>
              </a:rPr>
              <a:t>（内核自动调优）的核心机制在于代码生成（</a:t>
            </a:r>
            <a:r>
              <a:rPr lang="en-US" sz="1200" b="0" i="0" u="none" strike="noStrike">
                <a:solidFill>
                  <a:srgbClr val="000000"/>
                </a:solidFill>
                <a:latin typeface="Google Sans Text"/>
                <a:ea typeface="Google Sans Text"/>
                <a:cs typeface="Google Sans Text"/>
                <a:sym typeface="Google Sans Text"/>
              </a:rPr>
              <a:t>Code Generation</a:t>
            </a:r>
            <a:r>
              <a:rPr lang="en-US" sz="1200" b="0" i="0" u="none" strike="noStrike">
                <a:solidFill>
                  <a:srgbClr val="000000"/>
                </a:solidFill>
                <a:latin typeface="Google Sans Text"/>
                <a:ea typeface="Google Sans Text"/>
                <a:cs typeface="Google Sans Text"/>
                <a:sym typeface="Google Sans Text"/>
              </a:rPr>
              <a:t>）与调度原语（</a:t>
            </a:r>
            <a:r>
              <a:rPr lang="en-US" sz="1200" b="0" i="0" u="none" strike="noStrike">
                <a:solidFill>
                  <a:srgbClr val="000000"/>
                </a:solidFill>
                <a:latin typeface="Google Sans Text"/>
                <a:ea typeface="Google Sans Text"/>
                <a:cs typeface="Google Sans Text"/>
                <a:sym typeface="Google Sans Text"/>
              </a:rPr>
              <a:t>Schedule Primitives</a:t>
            </a:r>
            <a:r>
              <a:rPr lang="en-US" sz="1200" b="0" i="0" u="none" strike="noStrike">
                <a:solidFill>
                  <a:srgbClr val="000000"/>
                </a:solidFill>
                <a:latin typeface="Google Sans Text"/>
                <a:ea typeface="Google Sans Text"/>
                <a:cs typeface="Google Sans Text"/>
                <a:sym typeface="Google Sans Text"/>
              </a:rPr>
              <a:t>）的自动化组合。在深度学习编译器中，计算的数学定义（算法逻辑）与计算的具体执行方式（调度执行）被解耦。自动调优系统通过向底层的抽象语法树（</a:t>
            </a:r>
            <a:r>
              <a:rPr lang="en-US" sz="1200" b="0" i="0" u="none" strike="noStrike">
                <a:solidFill>
                  <a:srgbClr val="000000"/>
                </a:solidFill>
                <a:latin typeface="Google Sans Text"/>
                <a:ea typeface="Google Sans Text"/>
                <a:cs typeface="Google Sans Text"/>
                <a:sym typeface="Google Sans Text"/>
              </a:rPr>
              <a:t>AST</a:t>
            </a:r>
            <a:r>
              <a:rPr lang="en-US" sz="1200" b="0" i="0" u="none" strike="noStrike">
                <a:solidFill>
                  <a:srgbClr val="000000"/>
                </a:solidFill>
                <a:latin typeface="Google Sans Text"/>
                <a:ea typeface="Google Sans Text"/>
                <a:cs typeface="Google Sans Text"/>
                <a:sym typeface="Google Sans Text"/>
              </a:rPr>
              <a:t>）或中间表示（</a:t>
            </a:r>
            <a:r>
              <a:rPr lang="en-US" sz="1200" b="0" i="0" u="none" strike="noStrike">
                <a:solidFill>
                  <a:srgbClr val="000000"/>
                </a:solidFill>
                <a:latin typeface="Google Sans Text"/>
                <a:ea typeface="Google Sans Text"/>
                <a:cs typeface="Google Sans Text"/>
                <a:sym typeface="Google Sans Text"/>
              </a:rPr>
              <a:t>IR</a:t>
            </a:r>
            <a:r>
              <a:rPr lang="en-US" sz="1200" b="0" i="0" u="none" strike="noStrike">
                <a:solidFill>
                  <a:srgbClr val="000000"/>
                </a:solidFill>
                <a:latin typeface="Google Sans Text"/>
                <a:ea typeface="Google Sans Text"/>
                <a:cs typeface="Google Sans Text"/>
                <a:sym typeface="Google Sans Text"/>
              </a:rPr>
              <a:t>）中注入调度指令，来控制代码的硬件映射。常见的调优维度涵盖了计算与存储架构的各个层面：循环分块（</a:t>
            </a:r>
            <a:r>
              <a:rPr lang="en-US" sz="1200" b="0" i="0" u="none" strike="noStrike">
                <a:solidFill>
                  <a:srgbClr val="000000"/>
                </a:solidFill>
                <a:latin typeface="Google Sans Text"/>
                <a:ea typeface="Google Sans Text"/>
                <a:cs typeface="Google Sans Text"/>
                <a:sym typeface="Google Sans Text"/>
              </a:rPr>
              <a:t>Tiling</a:t>
            </a:r>
            <a:r>
              <a:rPr lang="en-US" sz="1200" b="0" i="0" u="none" strike="noStrike">
                <a:solidFill>
                  <a:srgbClr val="000000"/>
                </a:solidFill>
                <a:latin typeface="Google Sans Text"/>
                <a:ea typeface="Google Sans Text"/>
                <a:cs typeface="Google Sans Text"/>
                <a:sym typeface="Google Sans Text"/>
              </a:rPr>
              <a:t>）用于将巨大的张量切割以适配容量有限但速度极快的各级缓存；循环展开（</a:t>
            </a:r>
            <a:r>
              <a:rPr lang="en-US" sz="1200" b="0" i="0" u="none" strike="noStrike">
                <a:solidFill>
                  <a:srgbClr val="000000"/>
                </a:solidFill>
                <a:latin typeface="Google Sans Text"/>
                <a:ea typeface="Google Sans Text"/>
                <a:cs typeface="Google Sans Text"/>
                <a:sym typeface="Google Sans Text"/>
              </a:rPr>
              <a:t>Unroll</a:t>
            </a:r>
            <a:r>
              <a:rPr lang="en-US" sz="1200" b="0" i="0" u="none" strike="noStrike">
                <a:solidFill>
                  <a:srgbClr val="000000"/>
                </a:solidFill>
                <a:latin typeface="Google Sans Text"/>
                <a:ea typeface="Google Sans Text"/>
                <a:cs typeface="Google Sans Text"/>
                <a:sym typeface="Google Sans Text"/>
              </a:rPr>
              <a:t>）旨在通过增加代码体积来消除循环控制开销并提升指令级并行度；而线程绑定（</a:t>
            </a:r>
            <a:r>
              <a:rPr lang="en-US" sz="1200" b="0" i="0" u="none" strike="noStrike">
                <a:solidFill>
                  <a:srgbClr val="000000"/>
                </a:solidFill>
                <a:latin typeface="Google Sans Text"/>
                <a:ea typeface="Google Sans Text"/>
                <a:cs typeface="Google Sans Text"/>
                <a:sym typeface="Google Sans Text"/>
              </a:rPr>
              <a:t>Thread Binding</a:t>
            </a:r>
            <a:r>
              <a:rPr lang="en-US" sz="1200" b="0" i="0" u="none" strike="noStrike">
                <a:solidFill>
                  <a:srgbClr val="000000"/>
                </a:solidFill>
                <a:latin typeface="Google Sans Text"/>
                <a:ea typeface="Google Sans Text"/>
                <a:cs typeface="Google Sans Text"/>
                <a:sym typeface="Google Sans Text"/>
              </a:rPr>
              <a:t>）与张量化（</a:t>
            </a:r>
            <a:r>
              <a:rPr lang="en-US" sz="1200" b="0" i="0" u="none" strike="noStrike">
                <a:solidFill>
                  <a:srgbClr val="000000"/>
                </a:solidFill>
                <a:latin typeface="Google Sans Text"/>
                <a:ea typeface="Google Sans Text"/>
                <a:cs typeface="Google Sans Text"/>
                <a:sym typeface="Google Sans Text"/>
              </a:rPr>
              <a:t>Tensorization</a:t>
            </a:r>
            <a:r>
              <a:rPr lang="en-US" sz="1200" b="0" i="0" u="none" strike="noStrike">
                <a:solidFill>
                  <a:srgbClr val="000000"/>
                </a:solidFill>
                <a:latin typeface="Google Sans Text"/>
                <a:ea typeface="Google Sans Text"/>
                <a:cs typeface="Google Sans Text"/>
                <a:sym typeface="Google Sans Text"/>
              </a:rPr>
              <a:t>）则是将特定的计算轴精确映射到</a:t>
            </a:r>
            <a:r>
              <a:rPr lang="en-US" sz="1200" b="0" i="0" u="none" strike="noStrike">
                <a:solidFill>
                  <a:srgbClr val="000000"/>
                </a:solidFill>
                <a:latin typeface="Google Sans Text"/>
                <a:ea typeface="Google Sans Text"/>
                <a:cs typeface="Google Sans Text"/>
                <a:sym typeface="Google Sans Text"/>
              </a:rPr>
              <a:t>GPU</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的线程束（</a:t>
            </a:r>
            <a:r>
              <a:rPr lang="en-US" sz="1200" b="0" i="0" u="none" strike="noStrike">
                <a:solidFill>
                  <a:srgbClr val="000000"/>
                </a:solidFill>
                <a:latin typeface="Google Sans Text"/>
                <a:ea typeface="Google Sans Text"/>
                <a:cs typeface="Google Sans Text"/>
                <a:sym typeface="Google Sans Text"/>
              </a:rPr>
              <a:t>Warp</a:t>
            </a:r>
            <a:r>
              <a:rPr lang="en-US" sz="1200" b="0" i="0" u="none" strike="noStrike">
                <a:solidFill>
                  <a:srgbClr val="000000"/>
                </a:solidFill>
                <a:latin typeface="Google Sans Text"/>
                <a:ea typeface="Google Sans Text"/>
                <a:cs typeface="Google Sans Text"/>
                <a:sym typeface="Google Sans Text"/>
              </a:rPr>
              <a:t>）或专用的矩阵乘法累加单元（如</a:t>
            </a:r>
            <a:r>
              <a:rPr lang="en-US" sz="1200" b="0" i="0" u="none" strike="noStrike">
                <a:solidFill>
                  <a:srgbClr val="000000"/>
                </a:solidFill>
                <a:latin typeface="Google Sans Text"/>
                <a:ea typeface="Google Sans Text"/>
                <a:cs typeface="Google Sans Text"/>
                <a:sym typeface="Google Sans Text"/>
              </a:rPr>
              <a:t>Tensor Cores</a:t>
            </a:r>
            <a:r>
              <a:rPr lang="en-US" sz="1200" b="0" i="0" u="none" strike="noStrike">
                <a:solidFill>
                  <a:srgbClr val="000000"/>
                </a:solidFill>
                <a:latin typeface="Google Sans Text"/>
                <a:ea typeface="Google Sans Text"/>
                <a:cs typeface="Google Sans Text"/>
                <a:sym typeface="Google Sans Text"/>
              </a:rPr>
              <a:t>）上</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Google Sans Text"/>
                <a:ea typeface="Google Sans Text"/>
                <a:cs typeface="Google Sans Text"/>
                <a:sym typeface="Google Sans Text"/>
              </a:rPr>
              <a:t>。</a:t>
            </a:r>
            <a:endParaRPr lang="en-US" sz="1200" b="0" i="0" u="none" strike="noStrike">
              <a:solidFill>
                <a:srgbClr val="000000"/>
              </a:solidFill>
              <a:latin typeface="Google Sans Text"/>
              <a:ea typeface="Google Sans Text"/>
              <a:cs typeface="Google Sans Text"/>
              <a:sym typeface="Google Sans Text"/>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主流调优框架的演进路线</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第一代：纯手工调度 (Manual Scheduling)</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代表：早期 Halide</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特点：算法与调度分离，但调度仍需专家手写。</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第二代：基于模板的自动调优 (Template-based Tuning)</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代表：TVM AutoTVM</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特点：专家写出带参数的模板，算法在参数空间中搜索最优值。</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第三代：自动化无模板调优 (Template-free Tuning)</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代表：TVM Ansor (AutoScheduler)</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特点：基于规则自动生成巨大的搜索空间，无需人工预设模板。</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随着优化需求复杂度的攀升，自动调优的软件生态经历了一系列显著的架构演进，不同的框架在搜索空间大小、自动化程度与专家干预成本之间做出了不同的权衡。</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Google Sans Text"/>
                <a:ea typeface="Google Sans Text"/>
                <a:cs typeface="Google Sans Text"/>
                <a:sym typeface="Google Sans Text"/>
              </a:rPr>
              <a:t>Halide Auto-scheduler</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提出算法与调度分离，基于规则的序列化树搜索</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依赖预定义规则进行束搜索（</a:t>
            </a:r>
            <a:r>
              <a:rPr lang="en-US" sz="1200" b="0" i="0" u="none" strike="noStrike">
                <a:solidFill>
                  <a:srgbClr val="000000"/>
                </a:solidFill>
                <a:latin typeface="Google Sans Text"/>
                <a:ea typeface="Google Sans Text"/>
                <a:cs typeface="Google Sans Text"/>
                <a:sym typeface="Google Sans Text"/>
              </a:rPr>
              <a:t>Beam Search</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预训练的静态预测模型</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开创性分离理念，但在处理复杂算子融合与庞大空间时易累积误差</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Google Sans Text"/>
                <a:ea typeface="Google Sans Text"/>
                <a:cs typeface="Google Sans Text"/>
                <a:sym typeface="Google Sans Text"/>
              </a:rPr>
              <a:t>TVM AutoTVM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基于参数化模板的启发式搜索，引入机器学习评估</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高度依赖专家编写的算子级</a:t>
            </a:r>
            <a:r>
              <a:rPr lang="en-US" sz="1200" b="0" i="0" u="none" strike="noStrike">
                <a:solidFill>
                  <a:srgbClr val="000000"/>
                </a:solidFill>
                <a:latin typeface="Google Sans Text"/>
                <a:ea typeface="Google Sans Text"/>
                <a:cs typeface="Google Sans Text"/>
                <a:sym typeface="Google Sans Text"/>
              </a:rPr>
              <a:t>DSL</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模板，空间受限</a:t>
            </a:r>
            <a:r>
              <a:rPr lang="en-US" sz="1200" b="0" i="0" u="none" strike="noStrike">
                <a:solidFill>
                  <a:srgbClr val="000000"/>
                </a:solidFill>
                <a:latin typeface="Google Sans Text"/>
                <a:ea typeface="Google Sans Text"/>
                <a:cs typeface="Google Sans Text"/>
                <a:sym typeface="Google Sans Text"/>
              </a:rPr>
              <a:t>    XGBoost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统计代价模型结合模拟退火（</a:t>
            </a:r>
            <a:r>
              <a:rPr lang="en-US" sz="1200" b="0" i="0" u="none" strike="noStrike">
                <a:solidFill>
                  <a:srgbClr val="000000"/>
                </a:solidFill>
                <a:latin typeface="Google Sans Text"/>
                <a:ea typeface="Google Sans Text"/>
                <a:cs typeface="Google Sans Text"/>
                <a:sym typeface="Google Sans Text"/>
              </a:rPr>
              <a:t>SA</a:t>
            </a:r>
            <a:r>
              <a:rPr lang="en-US" sz="1200" b="0" i="0" u="none" strike="noStrike">
                <a:solidFill>
                  <a:srgbClr val="000000"/>
                </a:solidFill>
              </a:rPr>
              <a:t>）与遗传算法（</a:t>
            </a:r>
            <a:r>
              <a:rPr lang="en-US" sz="1200" b="0" i="0" u="none" strike="noStrike">
                <a:solidFill>
                  <a:srgbClr val="000000"/>
                </a:solidFill>
                <a:latin typeface="Google Sans Text"/>
                <a:ea typeface="Google Sans Text"/>
                <a:cs typeface="Google Sans Text"/>
                <a:sym typeface="Google Sans Text"/>
              </a:rPr>
              <a:t>GA</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收敛速度快，但新硬件扩展门槛极高，需大量人工模板代码</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Google Sans Text"/>
                <a:ea typeface="Google Sans Text"/>
                <a:cs typeface="Google Sans Text"/>
                <a:sym typeface="Google Sans Text"/>
              </a:rPr>
              <a:t>TVM Ansor (Auto-Scheduler)</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自动草图生成（</a:t>
            </a:r>
            <a:r>
              <a:rPr lang="en-US" sz="1200" b="0" i="0" u="none" strike="noStrike">
                <a:solidFill>
                  <a:srgbClr val="000000"/>
                </a:solidFill>
                <a:latin typeface="Google Sans Text"/>
                <a:ea typeface="Google Sans Text"/>
                <a:cs typeface="Google Sans Text"/>
                <a:sym typeface="Google Sans Text"/>
              </a:rPr>
              <a:t>Sketch Generation</a:t>
            </a:r>
            <a:r>
              <a:rPr lang="en-US" sz="1200" b="0" i="0" u="none" strike="noStrike">
                <a:solidFill>
                  <a:srgbClr val="000000"/>
                </a:solidFill>
              </a:rPr>
              <a:t>）的无模板探索</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基于搜索（</a:t>
            </a:r>
            <a:r>
              <a:rPr lang="en-US" sz="1200" b="0" i="0" u="none" strike="noStrike">
                <a:solidFill>
                  <a:srgbClr val="000000"/>
                </a:solidFill>
                <a:latin typeface="Google Sans Text"/>
                <a:ea typeface="Google Sans Text"/>
                <a:cs typeface="Google Sans Text"/>
                <a:sym typeface="Google Sans Text"/>
              </a:rPr>
              <a:t>Evolutionary Search</a:t>
            </a:r>
            <a:r>
              <a:rPr lang="en-US" sz="1200" b="0" i="0" u="none" strike="noStrike">
                <a:solidFill>
                  <a:srgbClr val="000000"/>
                </a:solidFill>
              </a:rPr>
              <a:t>）与梯度下降任务调度</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彻底摆脱模板束缚，发现域外极值，但巨型空间搜索时间显著增加</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Google Sans Text"/>
                <a:ea typeface="Google Sans Text"/>
                <a:cs typeface="Google Sans Text"/>
                <a:sym typeface="Google Sans Text"/>
              </a:rPr>
              <a:t>TVM MetaSchedule</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基于概率编程语言抽象的统一自动调优系统</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将随机抽样指令（</a:t>
            </a:r>
            <a:r>
              <a:rPr lang="en-US" sz="1200" b="0" i="0" u="none" strike="noStrike">
                <a:solidFill>
                  <a:srgbClr val="000000"/>
                </a:solidFill>
                <a:latin typeface="Google Sans Text"/>
                <a:ea typeface="Google Sans Text"/>
                <a:cs typeface="Google Sans Text"/>
                <a:sym typeface="Google Sans Text"/>
              </a:rPr>
              <a:t>Sampling Instructions</a:t>
            </a:r>
            <a:r>
              <a:rPr lang="en-US" sz="1200" b="0" i="0" u="none" strike="noStrike">
                <a:solidFill>
                  <a:srgbClr val="000000"/>
                </a:solidFill>
              </a:rPr>
              <a:t>）模块化注入</a:t>
            </a:r>
            <a:r>
              <a:rPr lang="en-US" sz="1200" b="0" i="0" u="none" strike="noStrike">
                <a:solidFill>
                  <a:srgbClr val="000000"/>
                </a:solidFill>
                <a:latin typeface="Google Sans Text"/>
                <a:ea typeface="Google Sans Text"/>
                <a:cs typeface="Google Sans Text"/>
                <a:sym typeface="Google Sans Text"/>
              </a:rPr>
              <a:t>IR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深度学习代理模型，兼容强化算子</a:t>
            </a:r>
            <a:r>
              <a:rPr lang="en-US" sz="1200" b="0" i="0" u="none" strike="noStrike">
                <a:solidFill>
                  <a:srgbClr val="000000"/>
                </a:solidFill>
                <a:latin typeface="Google Sans Text"/>
                <a:ea typeface="Google Sans Text"/>
                <a:cs typeface="Google Sans Text"/>
                <a:sym typeface="Google Sans Text"/>
              </a:rPr>
              <a:t>DAG</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拓扑分析自动推导分层空间（草图</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标注）统一的演化学习与贝叶斯优化扩展</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统一了手动调优与自动生成，高度模块化，性能媲美底层手写库</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正如表中所总结的，从早期的</a:t>
            </a:r>
            <a:r>
              <a:rPr lang="en-US" sz="1200" b="0" i="0" u="none" strike="noStrike">
                <a:solidFill>
                  <a:srgbClr val="000000"/>
                </a:solidFill>
                <a:latin typeface="Google Sans Text"/>
                <a:ea typeface="Google Sans Text"/>
                <a:cs typeface="Google Sans Text"/>
                <a:sym typeface="Google Sans Text"/>
              </a:rPr>
              <a:t>Halide</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到</a:t>
            </a:r>
            <a:r>
              <a:rPr lang="en-US" sz="1200" b="0" i="0" u="none" strike="noStrike">
                <a:solidFill>
                  <a:srgbClr val="000000"/>
                </a:solidFill>
                <a:latin typeface="Google Sans Text"/>
                <a:ea typeface="Google Sans Text"/>
                <a:cs typeface="Google Sans Text"/>
                <a:sym typeface="Google Sans Text"/>
              </a:rPr>
              <a:t>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的迭代，反映了工业界对调优自动化程度的极致追求。</a:t>
            </a:r>
            <a:r>
              <a:rPr lang="en-US" sz="1200" b="0" i="0" u="none" strike="noStrike">
                <a:solidFill>
                  <a:srgbClr val="000000"/>
                </a:solidFill>
                <a:latin typeface="Google Sans Text"/>
                <a:ea typeface="Google Sans Text"/>
                <a:cs typeface="Google Sans Text"/>
                <a:sym typeface="Google Sans Text"/>
              </a:rPr>
              <a:t>AutoTVM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引入了统计代价模型，成功将机器学习应用于编译优化，但由于其要求开发者为每一个算子编写</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调度模板</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，导致其在面对数以百计的新型算子时暴露了严重的扩展性瓶颈</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。为了解决模板带来的人力成本与搜索空间天花板，</a:t>
            </a:r>
            <a:r>
              <a:rPr lang="en-US" sz="1200" b="0" i="0" u="none" strike="noStrike">
                <a:solidFill>
                  <a:srgbClr val="000000"/>
                </a:solidFill>
                <a:latin typeface="Google Sans Text"/>
                <a:ea typeface="Google Sans Text"/>
                <a:cs typeface="Google Sans Text"/>
                <a:sym typeface="Google Sans Text"/>
              </a:rPr>
              <a:t>Ansor</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创新性地实现了无模板自动调度（</a:t>
            </a:r>
            <a:r>
              <a:rPr lang="en-US" sz="1200" b="0" i="0" u="none" strike="noStrike">
                <a:solidFill>
                  <a:srgbClr val="000000"/>
                </a:solidFill>
                <a:latin typeface="Google Sans Text"/>
                <a:ea typeface="Google Sans Text"/>
                <a:cs typeface="Google Sans Text"/>
                <a:sym typeface="Google Sans Text"/>
              </a:rPr>
              <a:t>Template-free Auto-scheduling</a:t>
            </a:r>
            <a:r>
              <a:rPr lang="en-US" sz="1200" b="0" i="0" u="none" strike="noStrike">
                <a:solidFill>
                  <a:srgbClr val="000000"/>
                </a:solidFill>
              </a:rPr>
              <a:t>），通过自动生成计算草图，极大地拓宽了可能被探索的程序结构拓扑</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。而</a:t>
            </a:r>
            <a:r>
              <a:rPr lang="en-US" sz="1200" b="0" i="0" u="none" strike="noStrike">
                <a:solidFill>
                  <a:srgbClr val="000000"/>
                </a:solidFill>
                <a:latin typeface="Google Sans Text"/>
                <a:ea typeface="Google Sans Text"/>
                <a:cs typeface="Google Sans Text"/>
                <a:sym typeface="Google Sans Text"/>
              </a:rPr>
              <a:t>MetaSchedule</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AutoTIR</a:t>
            </a:r>
            <a:r>
              <a:rPr lang="en-US" sz="1200" b="0" i="0" u="none" strike="noStrike">
                <a:solidFill>
                  <a:srgbClr val="000000"/>
                </a:solidFill>
              </a:rPr>
              <a:t>）则进一步在底层中间表示层面实现了概率编程的统一，使得专家级约束与全自动探索得以完美融合</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作为将机器学习规模化引入算子调优的先驱，</a:t>
            </a:r>
            <a:r>
              <a:rPr lang="en-US" sz="1200" b="0" i="0" u="none" strike="noStrike">
                <a:solidFill>
                  <a:srgbClr val="000000"/>
                </a:solidFill>
                <a:latin typeface="Google Sans Text"/>
                <a:ea typeface="Google Sans Text"/>
                <a:cs typeface="Google Sans Text"/>
                <a:sym typeface="Google Sans Text"/>
              </a:rPr>
              <a:t>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a:t>
            </a:r>
            <a:r>
              <a:rPr lang="en-US" sz="1200" b="0" i="0" u="none" strike="noStrike">
                <a:solidFill>
                  <a:srgbClr val="000000"/>
                </a:solidFill>
                <a:latin typeface="Google Sans Text"/>
                <a:ea typeface="Google Sans Text"/>
                <a:cs typeface="Google Sans Text"/>
                <a:sym typeface="Google Sans Text"/>
              </a:rPr>
              <a:t>AutoTVM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框架确立了一套行之有效的</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索引化模板（</a:t>
            </a:r>
            <a:r>
              <a:rPr lang="en-US" sz="1200" b="0" i="0" u="none" strike="noStrike">
                <a:solidFill>
                  <a:srgbClr val="000000"/>
                </a:solidFill>
                <a:latin typeface="Google Sans Text"/>
                <a:ea typeface="Google Sans Text"/>
                <a:cs typeface="Google Sans Text"/>
                <a:sym typeface="Google Sans Text"/>
              </a:rPr>
              <a:t>Index-based Template</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与</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硬件在环（</a:t>
            </a:r>
            <a:r>
              <a:rPr lang="en-US" sz="1200" b="0" i="0" u="none" strike="noStrike">
                <a:solidFill>
                  <a:srgbClr val="000000"/>
                </a:solidFill>
                <a:latin typeface="Google Sans Text"/>
                <a:ea typeface="Google Sans Text"/>
                <a:cs typeface="Google Sans Text"/>
                <a:sym typeface="Google Sans Text"/>
              </a:rPr>
              <a:t>Hardware-in-the-loop</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架构标准。</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a:t>
            </a:r>
            <a:r>
              <a:rPr lang="en-US" sz="1200" b="0" i="0" u="none" strike="noStrike">
                <a:solidFill>
                  <a:srgbClr val="000000"/>
                </a:solidFill>
                <a:latin typeface="Google Sans Text"/>
                <a:ea typeface="Google Sans Text"/>
                <a:cs typeface="Google Sans Text"/>
                <a:sym typeface="Google Sans Text"/>
              </a:rPr>
              <a:t>AutoTVM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中，搜索空间的定义依赖于领域专家利用</a:t>
            </a:r>
            <a:r>
              <a:rPr lang="en-US" sz="1200" b="0" i="0" u="none" strike="noStrike">
                <a:solidFill>
                  <a:srgbClr val="000000"/>
                </a:solidFill>
                <a:latin typeface="Google Sans Text"/>
                <a:ea typeface="Google Sans Text"/>
                <a:cs typeface="Google Sans Text"/>
                <a:sym typeface="Google Sans Text"/>
              </a:rPr>
              <a:t>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提供的调度</a:t>
            </a:r>
            <a:r>
              <a:rPr lang="en-US" sz="1200" b="0" i="0" u="none" strike="noStrike">
                <a:solidFill>
                  <a:srgbClr val="000000"/>
                </a:solidFill>
                <a:latin typeface="Google Sans Text"/>
                <a:ea typeface="Google Sans Text"/>
                <a:cs typeface="Google Sans Text"/>
                <a:sym typeface="Google Sans Text"/>
              </a:rPr>
              <a:t>API</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编写的代码模板。这些模板定义了针对某一特定算子（如</a:t>
            </a:r>
            <a:r>
              <a:rPr lang="en-US" sz="1200" b="0" i="0" u="none" strike="noStrike">
                <a:solidFill>
                  <a:srgbClr val="000000"/>
                </a:solidFill>
                <a:latin typeface="Google Sans Text"/>
                <a:ea typeface="Google Sans Text"/>
                <a:cs typeface="Google Sans Text"/>
                <a:sym typeface="Google Sans Text"/>
              </a:rPr>
              <a:t>Conv2D</a:t>
            </a:r>
            <a:r>
              <a:rPr lang="en-US" sz="1200" b="0" i="0" u="none" strike="noStrike">
                <a:solidFill>
                  <a:srgbClr val="000000"/>
                </a:solidFill>
              </a:rPr>
              <a:t>）的所有合法优化步骤，并暴露出离散的可调参数（</a:t>
            </a:r>
            <a:r>
              <a:rPr lang="en-US" sz="1200" b="0" i="0" u="none" strike="noStrike">
                <a:solidFill>
                  <a:srgbClr val="000000"/>
                </a:solidFill>
                <a:latin typeface="Google Sans Text"/>
                <a:ea typeface="Google Sans Text"/>
                <a:cs typeface="Google Sans Text"/>
                <a:sym typeface="Google Sans Text"/>
              </a:rPr>
              <a:t>Knobs</a:t>
            </a:r>
            <a:r>
              <a:rPr lang="en-US" sz="1200" b="0" i="0" u="none" strike="noStrike">
                <a:solidFill>
                  <a:srgbClr val="000000"/>
                </a:solidFill>
              </a:rPr>
              <a:t>），如多级</a:t>
            </a:r>
            <a:r>
              <a:rPr lang="en-US" sz="1200" b="0" i="0" u="none" strike="noStrike">
                <a:solidFill>
                  <a:srgbClr val="000000"/>
                </a:solidFill>
                <a:latin typeface="Google Sans Text"/>
                <a:ea typeface="Google Sans Text"/>
                <a:cs typeface="Google Sans Text"/>
                <a:sym typeface="Google Sans Text"/>
              </a:rPr>
              <a:t>Tiling</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的具体拆分因子。</a:t>
            </a:r>
            <a:r>
              <a:rPr lang="en-US" sz="1200" b="0" i="0" u="none" strike="noStrike">
                <a:solidFill>
                  <a:srgbClr val="000000"/>
                </a:solidFill>
                <a:latin typeface="Google Sans Text"/>
                <a:ea typeface="Google Sans Text"/>
                <a:cs typeface="Google Sans Text"/>
                <a:sym typeface="Google Sans Text"/>
              </a:rPr>
              <a:t>AutoTVM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的巧妙之处在于，它将这个由多个离散参数构成的笛卡尔积空间，展平并映射为一个一维的线性索引空间（</a:t>
            </a:r>
            <a:r>
              <a:rPr lang="en-US" sz="1200" b="0" i="0" u="none" strike="noStrike">
                <a:solidFill>
                  <a:srgbClr val="000000"/>
                </a:solidFill>
                <a:latin typeface="Google Sans Text"/>
                <a:ea typeface="Google Sans Text"/>
                <a:cs typeface="Google Sans Text"/>
                <a:sym typeface="Google Sans Text"/>
              </a:rPr>
              <a:t>Index Space</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。每一个具体的参数组合都被编码为一个独立的配置实体（</a:t>
            </a:r>
            <a:r>
              <a:rPr lang="en-US" sz="1200" b="0" i="0" u="none" strike="noStrike">
                <a:solidFill>
                  <a:srgbClr val="000000"/>
                </a:solidFill>
                <a:latin typeface="Google Sans Text"/>
                <a:ea typeface="Google Sans Text"/>
                <a:cs typeface="Google Sans Text"/>
                <a:sym typeface="Google Sans Text"/>
              </a:rPr>
              <a:t>ConfigEntity</a:t>
            </a:r>
            <a:r>
              <a:rPr lang="en-US" sz="1200" b="0" i="0" u="none" strike="noStrike">
                <a:solidFill>
                  <a:srgbClr val="000000"/>
                </a:solidFill>
              </a:rPr>
              <a:t>）。这种参数化空间的优势在于，它将一个包含大量非法程序语义的复杂转换空间，裁剪成了一个语义绝对安全、仅需寻找最优整数组合的常规搜索问题。</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等线" panose="02010600030101010101" charset="-122"/>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AutoTVM 的完整工作流</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定义模板：开发者为算子（如Conv2D</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）编写包含可调参数（如</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tile_x, tile_y</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）的调度模板。</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生成配置：提取特征并生成一批候选的参数配置。</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模型预测：通过 XGBoost 代价模型打分，选出 Top-K 的配置。</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硬件在环 (Hardware-in-the-loop)</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Top-K 编译并发送到真实硬件（如GPU集群）上进行性能测试。</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模型更新：将真机测试的真实耗时数据（Latency</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）反馈给代价模型，重新训练更新</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XGBoost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，进入下一轮迭代。</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由于模板定义的搜索空间动辄包含数以亿计的候选配置，直接在真实硬件上编译并运行每一个配置需要耗费数月时间，这是工程实践所无法容忍的。因此，</a:t>
            </a:r>
            <a:r>
              <a:rPr lang="en-US" sz="1200" b="0" i="0" u="none" strike="noStrike">
                <a:solidFill>
                  <a:srgbClr val="000000"/>
                </a:solidFill>
                <a:latin typeface="Google Sans Text"/>
                <a:ea typeface="Google Sans Text"/>
                <a:cs typeface="Google Sans Text"/>
                <a:sym typeface="Google Sans Text"/>
              </a:rPr>
              <a:t>AutoTVM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引入了基于</a:t>
            </a:r>
            <a:r>
              <a:rPr lang="en-US" sz="1200" b="0" i="0" u="none" strike="noStrike">
                <a:solidFill>
                  <a:srgbClr val="000000"/>
                </a:solidFill>
                <a:latin typeface="Google Sans Text"/>
                <a:ea typeface="Google Sans Text"/>
                <a:cs typeface="Google Sans Text"/>
                <a:sym typeface="Google Sans Text"/>
              </a:rPr>
              <a:t>XGBoost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的统计代价模型（</a:t>
            </a:r>
            <a:r>
              <a:rPr lang="en-US" sz="1200" b="0" i="0" u="none" strike="noStrike">
                <a:solidFill>
                  <a:srgbClr val="000000"/>
                </a:solidFill>
                <a:latin typeface="Google Sans Text"/>
                <a:ea typeface="Google Sans Text"/>
                <a:cs typeface="Google Sans Text"/>
                <a:sym typeface="Google Sans Text"/>
              </a:rPr>
              <a:t>Statistical Cost Model</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）来充当廉价的代理评估器。其完整的工作流形成了一个闭环的监督学习系统。</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首先，在特征提取（</a:t>
            </a:r>
            <a:r>
              <a:rPr lang="en-US" sz="1200" b="0" i="0" u="none" strike="noStrike">
                <a:solidFill>
                  <a:srgbClr val="000000"/>
                </a:solidFill>
                <a:latin typeface="Google Sans Text"/>
                <a:ea typeface="Google Sans Text"/>
                <a:cs typeface="Google Sans Text"/>
                <a:sym typeface="Google Sans Text"/>
              </a:rPr>
              <a:t>Feature Extraction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）阶段，系统会根据一组候选参数实例化调度模板，生成底层的抽象语法树（</a:t>
            </a:r>
            <a:r>
              <a:rPr lang="en-US" sz="1200" b="0" i="0" u="none" strike="noStrike">
                <a:solidFill>
                  <a:srgbClr val="000000"/>
                </a:solidFill>
                <a:latin typeface="Google Sans Text"/>
                <a:ea typeface="Google Sans Text"/>
                <a:cs typeface="Google Sans Text"/>
                <a:sym typeface="Google Sans Text"/>
              </a:rPr>
              <a:t>AST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）或循环程序</a:t>
            </a:r>
            <a:r>
              <a:rPr lang="en-US" sz="1200" b="0" i="0" u="none" strike="noStrike">
                <a:solidFill>
                  <a:srgbClr val="000000"/>
                </a:solidFill>
                <a:latin typeface="Google Sans Text"/>
                <a:ea typeface="Google Sans Text"/>
                <a:cs typeface="Google Sans Text"/>
                <a:sym typeface="Google Sans Text"/>
              </a:rPr>
              <a:t>IR</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。特征提取器会对该低级代码进行深度静态分析，提取出一系列对硬件性能高度敏感的领域特征（</a:t>
            </a:r>
            <a:r>
              <a:rPr lang="en-US" sz="1200" b="0" i="0" u="none" strike="noStrike">
                <a:solidFill>
                  <a:srgbClr val="000000"/>
                </a:solidFill>
                <a:latin typeface="Google Sans Text"/>
                <a:ea typeface="Google Sans Text"/>
                <a:cs typeface="Google Sans Text"/>
                <a:sym typeface="Google Sans Text"/>
              </a:rPr>
              <a:t>Domain-specific Features</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）。这些特征不仅包括循环嵌套的层级深度、各级内存（如共享内存和全局内存）的访问计数，还涵盖了数据复用率、向量化比例、线程绑定模式以及内部计算分支的复杂度</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提取出的高维数值特征随后被送入</a:t>
            </a:r>
            <a:r>
              <a:rPr lang="en-US" sz="1200" b="0" i="0" u="none" strike="noStrike">
                <a:solidFill>
                  <a:srgbClr val="000000"/>
                </a:solidFill>
                <a:latin typeface="Google Sans Text"/>
                <a:ea typeface="Google Sans Text"/>
                <a:cs typeface="Google Sans Text"/>
                <a:sym typeface="Google Sans Text"/>
              </a:rPr>
              <a:t>XGBoost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模型中进行推理。值得注意的是，</a:t>
            </a:r>
            <a:r>
              <a:rPr lang="en-US" sz="1200" b="0" i="0" u="none" strike="noStrike">
                <a:solidFill>
                  <a:srgbClr val="000000"/>
                </a:solidFill>
                <a:latin typeface="Google Sans Text"/>
                <a:ea typeface="Google Sans Text"/>
                <a:cs typeface="Google Sans Text"/>
                <a:sym typeface="Google Sans Text"/>
              </a:rPr>
              <a:t>AutoTVM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中的代价模型并不以预测绝对执行时间为目标，而是采用排序损失函数（</a:t>
            </a:r>
            <a:r>
              <a:rPr lang="en-US" sz="1200" b="0" i="0" u="none" strike="noStrike">
                <a:solidFill>
                  <a:srgbClr val="000000"/>
                </a:solidFill>
                <a:latin typeface="Google Sans Text"/>
                <a:ea typeface="Google Sans Text"/>
                <a:cs typeface="Google Sans Text"/>
                <a:sym typeface="Google Sans Text"/>
              </a:rPr>
              <a:t>Rank Loss</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）进行优化。这是因为在调优任务中，配置的相对优劣顺序远比绝对耗时的预测精度重要；基于排序的梯度提升树能够更敏锐地在特征空间中区分出高效与低效的内存访问模式</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在实际的探索循环中，模拟退火算法利用</a:t>
            </a:r>
            <a:r>
              <a:rPr lang="en-US" sz="1200" b="0" i="0" u="none" strike="noStrike">
                <a:solidFill>
                  <a:srgbClr val="000000"/>
                </a:solidFill>
                <a:latin typeface="Google Sans Text"/>
                <a:ea typeface="Google Sans Text"/>
                <a:cs typeface="Google Sans Text"/>
                <a:sym typeface="Google Sans Text"/>
              </a:rPr>
              <a:t>XGBoost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模型进行海量的快速预估，从巨大的搜索空间中筛选出一小批（例如</a:t>
            </a:r>
            <a:r>
              <a:rPr lang="en-US" sz="1200" b="0" i="0" u="none" strike="noStrike">
                <a:solidFill>
                  <a:srgbClr val="000000"/>
                </a:solidFill>
                <a:latin typeface="Google Sans Text"/>
                <a:ea typeface="Google Sans Text"/>
                <a:cs typeface="Google Sans Text"/>
                <a:sym typeface="Google Sans Text"/>
              </a:rPr>
              <a:t>64</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个）预测得分最高的潜力配置。随后系统进入</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硬件在环（</a:t>
            </a:r>
            <a:r>
              <a:rPr lang="en-US" sz="1200" b="0" i="0" u="none" strike="noStrike">
                <a:solidFill>
                  <a:srgbClr val="000000"/>
                </a:solidFill>
                <a:latin typeface="Google Sans Text"/>
                <a:ea typeface="Google Sans Text"/>
                <a:cs typeface="Google Sans Text"/>
                <a:sym typeface="Google Sans Text"/>
              </a:rPr>
              <a:t>Hardware-in-the-loop</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测试阶段，这批配置被发送至分布式</a:t>
            </a:r>
            <a:r>
              <a:rPr lang="en-US" sz="1200" b="0" i="0" u="none" strike="noStrike">
                <a:solidFill>
                  <a:srgbClr val="000000"/>
                </a:solidFill>
                <a:latin typeface="Google Sans Text"/>
                <a:ea typeface="Google Sans Text"/>
                <a:cs typeface="Google Sans Text"/>
                <a:sym typeface="Google Sans Text"/>
              </a:rPr>
              <a:t>RPC</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环境中的真实目标硬件上进行编译和评测。硬件返回的真实执行耗时不仅用于记录当前发现的最优解，更被作为新的标签数据（</a:t>
            </a:r>
            <a:r>
              <a:rPr lang="en-US" sz="1200" b="0" i="0" u="none" strike="noStrike">
                <a:solidFill>
                  <a:srgbClr val="000000"/>
                </a:solidFill>
                <a:latin typeface="Google Sans Text"/>
                <a:ea typeface="Google Sans Text"/>
                <a:cs typeface="Google Sans Text"/>
                <a:sym typeface="Google Sans Text"/>
              </a:rPr>
              <a:t>Ground Truth</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）追加到历史数据库中，用于在线更新和拟合</a:t>
            </a:r>
            <a:r>
              <a:rPr lang="en-US" sz="1200" b="0" i="0" u="none" strike="noStrike">
                <a:solidFill>
                  <a:srgbClr val="000000"/>
                </a:solidFill>
                <a:latin typeface="Google Sans Text"/>
                <a:ea typeface="Google Sans Text"/>
                <a:cs typeface="Google Sans Text"/>
                <a:sym typeface="Google Sans Text"/>
              </a:rPr>
              <a:t>XGBoost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代价模型</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。通过这种</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预测</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实测</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模型更新</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的螺旋上升机制，</a:t>
            </a:r>
            <a:r>
              <a:rPr lang="en-US" sz="1200" b="0" i="0" u="none" strike="noStrike">
                <a:solidFill>
                  <a:srgbClr val="000000"/>
                </a:solidFill>
                <a:latin typeface="Google Sans Text"/>
                <a:ea typeface="Google Sans Text"/>
                <a:cs typeface="Google Sans Text"/>
                <a:sym typeface="Google Sans Text"/>
              </a:rPr>
              <a:t>AutoTVM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不仅克服了单纯静态分析精度不足的问题，还有效避免了全局穷举的高昂成本。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什么是“模板”？</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609600" lvl="1"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模板是专家经验的代码化体现。</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609600" lvl="1"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例如：定义一个两层循环，但循环的步长（Step/Tile Size</a:t>
            </a:r>
            <a:r>
              <a:rPr lang="en-US" sz="1200" b="0" i="0" u="none" strike="noStrike">
                <a:solidFill>
                  <a:srgbClr val="000000"/>
                </a:solidFill>
              </a:rPr>
              <a:t>）是未知的变量。</a:t>
            </a:r>
            <a:endParaRPr lang="en-US" sz="1200" b="0" i="0" u="none" strike="noStrike">
              <a:solidFill>
                <a:srgbClr val="000000"/>
              </a:solidFill>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搜索空间的大小</a:t>
            </a:r>
            <a:r>
              <a:rPr lang="en-US" sz="1200" b="0" i="0" u="none" strike="noStrike">
                <a:solidFill>
                  <a:srgbClr val="000000"/>
                </a:solidFill>
              </a:rPr>
              <a:t>：</a:t>
            </a:r>
            <a:endParaRPr lang="en-US" sz="1200" b="0" i="0" u="none" strike="noStrike">
              <a:solidFill>
                <a:srgbClr val="000000"/>
              </a:solidFill>
            </a:endParaRPr>
          </a:p>
          <a:p>
            <a:pPr marL="609600" lvl="1"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取决于模板中定义的变量数量及其取值范围。</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609600" lvl="1"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通常是一个离散的、有界的多维空间（例如：10^4 ~ 10^9 种组合）。</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如何搜索？</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609600" lvl="1"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在这片空间中，我们需要高效的探索算法。</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基于模板的搜索策略（</a:t>
            </a:r>
            <a:r>
              <a:rPr lang="en-US" sz="1200" b="0" i="0" u="none" strike="noStrike">
                <a:solidFill>
                  <a:srgbClr val="000000"/>
                </a:solidFill>
                <a:latin typeface="Google Sans Text"/>
                <a:ea typeface="Google Sans Text"/>
                <a:cs typeface="Google Sans Text"/>
                <a:sym typeface="Google Sans Text"/>
              </a:rPr>
              <a:t>Template-based Search</a:t>
            </a:r>
            <a:r>
              <a:rPr lang="en-US" sz="1200" b="0" i="0" u="none" strike="noStrike">
                <a:solidFill>
                  <a:srgbClr val="000000"/>
                </a:solidFill>
              </a:rPr>
              <a:t>）虽然凭借较小的搜索空间和高效的代价模型在特定算子上取得了巨大成功，但其固有的结构性缺陷也逐渐成为制约深度学习编译器发展的瓶颈。模板搜索的核心原理是将程序的宏观拓扑结构（如循环的嵌套顺序、算子融合的边界）固定下来，仅仅将微观的数值维度（如分块大小、展开步长）进行参数化</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种强约束策略虽然保证了搜索过程不会生成无效代码，并能快速收敛，但其代价是直接牺牲了搜索空间的广度。一方面，手工编写和维护模板需要深厚的硬件微架构知识，随着深度学习框架向多元化算子和多芯片平台演进，维护成千上万个算子模板成为了不可持续的人力黑洞</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。更严重的是，人类专家的直觉往往具有局限性，模板开发过程中的</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积极早期剪枝（</a:t>
            </a:r>
            <a:r>
              <a:rPr lang="en-US" sz="1200" b="0" i="0" u="none" strike="noStrike">
                <a:solidFill>
                  <a:srgbClr val="000000"/>
                </a:solidFill>
                <a:latin typeface="Google Sans Text"/>
                <a:ea typeface="Google Sans Text"/>
                <a:cs typeface="Google Sans Text"/>
                <a:sym typeface="Google Sans Text"/>
              </a:rPr>
              <a:t>Aggressive Early Pruning</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会不自觉地将许多反直觉但极其高效的结构优化方案排除在外。例如，在某些不规则的步长转置卷积（</a:t>
            </a:r>
            <a:r>
              <a:rPr lang="en-US" sz="1200" b="0" i="0" u="none" strike="noStrike">
                <a:solidFill>
                  <a:srgbClr val="000000"/>
                </a:solidFill>
                <a:latin typeface="Google Sans Text"/>
                <a:ea typeface="Google Sans Text"/>
                <a:cs typeface="Google Sans Text"/>
                <a:sym typeface="Google Sans Text"/>
              </a:rPr>
              <a:t>Strided Transposed Convolution</a:t>
            </a:r>
            <a:r>
              <a:rPr lang="en-US" sz="1200" b="0" i="0" u="none" strike="noStrike">
                <a:solidFill>
                  <a:srgbClr val="000000"/>
                </a:solidFill>
              </a:rPr>
              <a:t>）中，特定的循环拆分与内联策略能够大幅简化零元素的乘法计算，但这种拓扑重组很难被固定的模板所覆盖</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latin typeface="等线" panose="02010600030101010101" charset="-122"/>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Page 12: 3. 模拟退火在算子调优中的应用</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状态表示 (State)</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：当前的一组模板参数（如</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BlockSize=128, TileSize=4</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邻域跳转 (Neighbor Transition)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：微调其中一个参数（如将</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BlockSize 变成 256</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温度控制 (Cooling Schedule)</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609600" lvl="1"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初始高温</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：概率很高地接受差解（大范围探索</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Exploration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609600" lvl="1"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后期低温</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：几乎只接受好解（局部收敛</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Exploitation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AutoTVM 早期版本</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即广泛采用模拟退火在候选空间中寻找最优参数。</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概率与突变的艺术：模拟退火算法在调优中的应用</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无论搜索空间是由模板限定还是由草图生成，算子参数的优化表面都具有高度的非凸性（</a:t>
            </a:r>
            <a:r>
              <a:rPr lang="en-US" sz="1200" b="0" i="0" u="none" strike="noStrike">
                <a:solidFill>
                  <a:srgbClr val="000000"/>
                </a:solidFill>
                <a:latin typeface="Google Sans Text"/>
                <a:ea typeface="Google Sans Text"/>
                <a:cs typeface="Google Sans Text"/>
                <a:sym typeface="Google Sans Text"/>
              </a:rPr>
              <a:t>Non-convexity</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）。该空间充满了不规则的离散约束（如参数必须是硬件线程束的整数倍）和深浅不一的局部极小值。传统的梯度下降或贪婪爬山算法在这样的地形中极易陷入局部最优而停滞不前</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。为应对这一挑战，模拟退火（</a:t>
            </a:r>
            <a:r>
              <a:rPr lang="en-US" sz="1200" b="0" i="0" u="none" strike="noStrike">
                <a:solidFill>
                  <a:srgbClr val="000000"/>
                </a:solidFill>
                <a:latin typeface="Google Sans Text"/>
                <a:ea typeface="Google Sans Text"/>
                <a:cs typeface="Google Sans Text"/>
                <a:sym typeface="Google Sans Text"/>
              </a:rPr>
              <a:t>Simulated Annealing, SA</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）成为了自动调优早期最核心的探索算法。</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拟退火算法的原理源自对冶金学中固体物理退火过程的隐喻。在物理退火中，材料被加热至高温状态，原子获得极大的动能，脱离原有的晶格排列；随后通过严格控制的缓慢冷却，原子在逐渐降低的温度下寻找能量最低的稳定晶体结构</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。将这一原理映射到算子调优中，</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系统能量</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等价于代价模型（如</a:t>
            </a:r>
            <a:r>
              <a:rPr lang="en-US" sz="1200" b="0" i="0" u="none" strike="noStrike">
                <a:solidFill>
                  <a:srgbClr val="000000"/>
                </a:solidFill>
                <a:latin typeface="Google Sans Text"/>
                <a:ea typeface="Google Sans Text"/>
                <a:cs typeface="Google Sans Text"/>
                <a:sym typeface="Google Sans Text"/>
              </a:rPr>
              <a:t>XGBoost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）预测的内核执行时间，</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原子状态</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则对应于特定的一组调优参数配置</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模拟退火之所以能够跳出局部最优，关键在于其特有的概率接受机制</a:t>
            </a:r>
            <a:r>
              <a:rPr lang="en-US" sz="1200" b="0" i="0" u="none" strike="noStrike">
                <a:solidFill>
                  <a:srgbClr val="000000"/>
                </a:solidFill>
                <a:latin typeface="Google Sans Text"/>
                <a:ea typeface="Google Sans Text"/>
                <a:cs typeface="Google Sans Text"/>
                <a:sym typeface="Google Sans Text"/>
              </a:rPr>
              <a:t>——Metropolis-Hastings</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准则。在每一次迭代中，算法在当前配置的邻域内随机产生一个新的候选配置。若新配置的预测执行时间更短（能量下降），算法则无条件接受。然而，如果新配置导致性能恶化（能量上升），算法并不会立即将其抛弃，而是根据当前的系统</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温度</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参数</a:t>
            </a:r>
            <a:r>
              <a:rPr lang="en-US" sz="1200" b="0" i="0" u="none" strike="noStrike">
                <a:solidFill>
                  <a:srgbClr val="000000"/>
                </a:solidFill>
                <a:latin typeface="Google Sans Text"/>
                <a:ea typeface="Google Sans Text"/>
                <a:cs typeface="Google Sans Text"/>
                <a:sym typeface="Google Sans Text"/>
              </a:rPr>
              <a:t> $T$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和能量的恶化程度</a:t>
            </a:r>
            <a:r>
              <a:rPr lang="en-US" sz="1200" b="0" i="0" u="none" strike="noStrike">
                <a:solidFill>
                  <a:srgbClr val="000000"/>
                </a:solidFill>
                <a:latin typeface="Google Sans Text"/>
                <a:ea typeface="Google Sans Text"/>
                <a:cs typeface="Google Sans Text"/>
                <a:sym typeface="Google Sans Text"/>
              </a:rPr>
              <a:t> $\Delta E$</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，以一定的概率</a:t>
            </a:r>
            <a:r>
              <a:rPr lang="en-US" sz="1200" b="0" i="0" u="none" strike="noStrike">
                <a:solidFill>
                  <a:srgbClr val="000000"/>
                </a:solidFill>
                <a:latin typeface="Google Sans Text"/>
                <a:ea typeface="Google Sans Text"/>
                <a:cs typeface="Google Sans Text"/>
                <a:sym typeface="Google Sans Text"/>
              </a:rPr>
              <a:t> $P$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接受这个次优解。该概率通常定义为</a:t>
            </a:r>
            <a:r>
              <a:rPr lang="en-US" sz="1200" b="0" i="0" u="none" strike="noStrike">
                <a:solidFill>
                  <a:srgbClr val="000000"/>
                </a:solidFill>
                <a:latin typeface="Google Sans Text"/>
                <a:ea typeface="Google Sans Text"/>
                <a:cs typeface="Google Sans Text"/>
                <a:sym typeface="Google Sans Text"/>
              </a:rPr>
              <a:t> $P = \exp(-\Delta E / 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温度参数</a:t>
            </a:r>
            <a:r>
              <a:rPr lang="en-US" sz="1200" b="0" i="0" u="none" strike="noStrike">
                <a:solidFill>
                  <a:srgbClr val="000000"/>
                </a:solidFill>
                <a:latin typeface="Google Sans Text"/>
                <a:ea typeface="Google Sans Text"/>
                <a:cs typeface="Google Sans Text"/>
                <a:sym typeface="Google Sans Text"/>
              </a:rPr>
              <a:t> $T$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在这里扮演了平衡</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探索（</a:t>
            </a:r>
            <a:r>
              <a:rPr lang="en-US" sz="1200" b="0" i="0" u="none" strike="noStrike">
                <a:solidFill>
                  <a:srgbClr val="000000"/>
                </a:solidFill>
                <a:latin typeface="Google Sans Text"/>
                <a:ea typeface="Google Sans Text"/>
                <a:cs typeface="Google Sans Text"/>
                <a:sym typeface="Google Sans Text"/>
              </a:rPr>
              <a:t>Exploration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与</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利用（</a:t>
            </a:r>
            <a:r>
              <a:rPr lang="en-US" sz="1200" b="0" i="0" u="none" strike="noStrike">
                <a:solidFill>
                  <a:srgbClr val="000000"/>
                </a:solidFill>
                <a:latin typeface="Google Sans Text"/>
                <a:ea typeface="Google Sans Text"/>
                <a:cs typeface="Google Sans Text"/>
                <a:sym typeface="Google Sans Text"/>
              </a:rPr>
              <a:t>Exploitation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的绝对核心。在算法初期的高温阶段，</a:t>
            </a:r>
            <a:r>
              <a:rPr lang="en-US" sz="1200" b="0" i="0" u="none" strike="noStrike">
                <a:solidFill>
                  <a:srgbClr val="000000"/>
                </a:solidFill>
                <a:latin typeface="Google Sans Text"/>
                <a:ea typeface="Google Sans Text"/>
                <a:cs typeface="Google Sans Text"/>
                <a:sym typeface="Google Sans Text"/>
              </a:rPr>
              <a:t>$T$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的值极大，使得接受劣质解的概率很高，这赋予了算法极强的空间跨越能力，使其能够在整个参数空间中广泛游走，避免被早期的局部陷阱捕获。随着算法迭代，冷却计划（</a:t>
            </a:r>
            <a:r>
              <a:rPr lang="en-US" sz="1200" b="0" i="0" u="none" strike="noStrike">
                <a:solidFill>
                  <a:srgbClr val="000000"/>
                </a:solidFill>
                <a:latin typeface="Google Sans Text"/>
                <a:ea typeface="Google Sans Text"/>
                <a:cs typeface="Google Sans Text"/>
                <a:sym typeface="Google Sans Text"/>
              </a:rPr>
              <a:t>Cooling Schedule</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）开始生效，温度逐渐下降。常见的冷却曲线包括线性降温、对数降温以及工业界最常用的指数降温（例如</a:t>
            </a:r>
            <a:r>
              <a:rPr lang="en-US" sz="1200" b="0" i="0" u="none" strike="noStrike">
                <a:solidFill>
                  <a:srgbClr val="000000"/>
                </a:solidFill>
                <a:latin typeface="Google Sans Text"/>
                <a:ea typeface="Google Sans Text"/>
                <a:cs typeface="Google Sans Text"/>
                <a:sym typeface="Google Sans Text"/>
              </a:rPr>
              <a:t> $T_{n+1} = \alpha T_n$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，其中</a:t>
            </a:r>
            <a:r>
              <a:rPr lang="en-US" sz="1200" b="0" i="0" u="none" strike="noStrike">
                <a:solidFill>
                  <a:srgbClr val="000000"/>
                </a:solidFill>
                <a:latin typeface="Google Sans Text"/>
                <a:ea typeface="Google Sans Text"/>
                <a:cs typeface="Google Sans Text"/>
                <a:sym typeface="Google Sans Text"/>
              </a:rPr>
              <a:t> $\alpha$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通常域在</a:t>
            </a:r>
            <a:r>
              <a:rPr lang="en-US" sz="1200" b="0" i="0" u="none" strike="noStrike">
                <a:solidFill>
                  <a:srgbClr val="000000"/>
                </a:solidFill>
                <a:latin typeface="Google Sans Text"/>
                <a:ea typeface="Google Sans Text"/>
                <a:cs typeface="Google Sans Text"/>
                <a:sym typeface="Google Sans Text"/>
              </a:rPr>
              <a:t>0.8</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至</a:t>
            </a:r>
            <a:r>
              <a:rPr lang="en-US" sz="1200" b="0" i="0" u="none" strike="noStrike">
                <a:solidFill>
                  <a:srgbClr val="000000"/>
                </a:solidFill>
                <a:latin typeface="Google Sans Text"/>
                <a:ea typeface="Google Sans Text"/>
                <a:cs typeface="Google Sans Text"/>
                <a:sym typeface="Google Sans Text"/>
              </a:rPr>
              <a:t>0.99</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之间）</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。在冷却后期的低温阶段，接受次优解的概率几乎降为零，算法退化为局部贪婪搜索，致力于在当前发现的优秀区域内进行最精细的参数微调</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a:t>
            </a:r>
            <a:r>
              <a:rPr lang="en-US" sz="1200" b="0" i="0" u="none" strike="noStrike">
                <a:solidFill>
                  <a:srgbClr val="000000"/>
                </a:solidFill>
                <a:latin typeface="Google Sans Text"/>
                <a:ea typeface="Google Sans Text"/>
                <a:cs typeface="Google Sans Text"/>
                <a:sym typeface="Google Sans Text"/>
              </a:rPr>
              <a:t>AutoTVM</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中，由于</a:t>
            </a:r>
            <a:r>
              <a:rPr lang="en-US" sz="1200" b="0" i="0" u="none" strike="noStrike">
                <a:solidFill>
                  <a:srgbClr val="000000"/>
                </a:solidFill>
                <a:latin typeface="Google Sans Text"/>
                <a:ea typeface="Google Sans Text"/>
                <a:cs typeface="Google Sans Text"/>
                <a:sym typeface="Google Sans Text"/>
              </a:rPr>
              <a:t>XGBoost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的推理速度极快，模拟退火算法被用于在极短时间内对数以万计的特征向量进行高效预筛选，从而挑出最值得投入硬件实测的高质量样本</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并行探索的进化力量：遗传算法在离散空间中的升维打击</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尽管模拟退火在约束较强的模板空间中表现尚可，但在面对</a:t>
            </a:r>
            <a:r>
              <a:rPr lang="en-US" sz="1200" b="0" i="0" u="none" strike="noStrike">
                <a:solidFill>
                  <a:srgbClr val="000000"/>
                </a:solidFill>
                <a:latin typeface="Google Sans Text"/>
                <a:ea typeface="Google Sans Text"/>
                <a:cs typeface="Google Sans Text"/>
                <a:sym typeface="Google Sans Text"/>
              </a:rPr>
              <a:t>Ansor</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引入的巨大且拓扑异构的无模板搜索空间时，单链马尔可夫演进的退火算法逐渐显露出搜索视野狭窄、难以跨越巨大结构断层的劣势</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。为了在更加离散且不规则的算子参数空间中实施</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升维打击</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，现代调优框架引入了更为强大的群体智能启发式方法</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遗传算法（</a:t>
            </a:r>
            <a:r>
              <a:rPr lang="en-US" sz="1200" b="0" i="0" u="none" strike="noStrike">
                <a:solidFill>
                  <a:srgbClr val="000000"/>
                </a:solidFill>
                <a:latin typeface="Google Sans Text"/>
                <a:ea typeface="Google Sans Text"/>
                <a:cs typeface="Google Sans Text"/>
                <a:sym typeface="Google Sans Text"/>
              </a:rPr>
              <a:t>Genetic Algorithm, GA</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遗传算法直接从达尔文的生物进化与自然选择理论中汲取核心思想，其最显著的优势在于多点并行探索（</a:t>
            </a:r>
            <a:r>
              <a:rPr lang="en-US" sz="1200" b="0" i="0" u="none" strike="noStrike">
                <a:solidFill>
                  <a:srgbClr val="000000"/>
                </a:solidFill>
                <a:latin typeface="Google Sans Text"/>
                <a:ea typeface="Google Sans Text"/>
                <a:cs typeface="Google Sans Text"/>
                <a:sym typeface="Google Sans Text"/>
              </a:rPr>
              <a:t>Multi-point Parallel Exploration</a:t>
            </a:r>
            <a:r>
              <a:rPr lang="en-US" sz="1200" b="0" i="0" u="none" strike="noStrike">
                <a:solidFill>
                  <a:srgbClr val="000000"/>
                </a:solidFill>
              </a:rPr>
              <a:t>）。它不再追踪单一的配置点，而是同时维护一个由大量候选程序组成的种群（</a:t>
            </a:r>
            <a:r>
              <a:rPr lang="en-US" sz="1200" b="0" i="0" u="none" strike="noStrike">
                <a:solidFill>
                  <a:srgbClr val="000000"/>
                </a:solidFill>
                <a:latin typeface="Google Sans Text"/>
                <a:ea typeface="Google Sans Text"/>
                <a:cs typeface="Google Sans Text"/>
                <a:sym typeface="Google Sans Text"/>
              </a:rPr>
              <a:t>Population</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。在调优语境下，每一个具体的张量程序配置（例如特定维度的</a:t>
            </a:r>
            <a:r>
              <a:rPr lang="en-US" sz="1200" b="0" i="0" u="none" strike="noStrike">
                <a:solidFill>
                  <a:srgbClr val="000000"/>
                </a:solidFill>
                <a:latin typeface="Google Sans Text"/>
                <a:ea typeface="Google Sans Text"/>
                <a:cs typeface="Google Sans Text"/>
                <a:sym typeface="Google Sans Text"/>
              </a:rPr>
              <a:t>Tiling</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因子、</a:t>
            </a:r>
            <a:r>
              <a:rPr lang="en-US" sz="1200" b="0" i="0" u="none" strike="noStrike">
                <a:solidFill>
                  <a:srgbClr val="000000"/>
                </a:solidFill>
                <a:latin typeface="Google Sans Text"/>
                <a:ea typeface="Google Sans Text"/>
                <a:cs typeface="Google Sans Text"/>
                <a:sym typeface="Google Sans Text"/>
              </a:rPr>
              <a:t>Unroll</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设定等）被抽象为个体（</a:t>
            </a:r>
            <a:r>
              <a:rPr lang="en-US" sz="1200" b="0" i="0" u="none" strike="noStrike">
                <a:solidFill>
                  <a:srgbClr val="000000"/>
                </a:solidFill>
                <a:latin typeface="Google Sans Text"/>
                <a:ea typeface="Google Sans Text"/>
                <a:cs typeface="Google Sans Text"/>
                <a:sym typeface="Google Sans Text"/>
              </a:rPr>
              <a:t>Individual</a:t>
            </a:r>
            <a:r>
              <a:rPr lang="en-US" sz="1200" b="0" i="0" u="none" strike="noStrike">
                <a:solidFill>
                  <a:srgbClr val="000000"/>
                </a:solidFill>
              </a:rPr>
              <a:t>），其参数组合被编码为</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染色体</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或</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基因序列</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。个体的适应度（</a:t>
            </a:r>
            <a:r>
              <a:rPr lang="en-US" sz="1200" b="0" i="0" u="none" strike="noStrike">
                <a:solidFill>
                  <a:srgbClr val="000000"/>
                </a:solidFill>
                <a:latin typeface="Google Sans Text"/>
                <a:ea typeface="Google Sans Text"/>
                <a:cs typeface="Google Sans Text"/>
                <a:sym typeface="Google Sans Text"/>
              </a:rPr>
              <a:t>Fitness</a:t>
            </a:r>
            <a:r>
              <a:rPr lang="en-US" sz="1200" b="0" i="0" u="none" strike="noStrike">
                <a:solidFill>
                  <a:srgbClr val="000000"/>
                </a:solidFill>
              </a:rPr>
              <a:t>）同样由底层代价模型给出的吞吐量预测值来决定</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遗传算法的执行逻辑由四个严密嵌套的算子构成：种群初始化、选择、交叉与变异。首先，系统通过随机采样以及引入历史评测中的高分程序，生成具备高度多样性的初始种群。进入进化世代后，</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选择（</a:t>
            </a:r>
            <a:r>
              <a:rPr lang="en-US" sz="1200" b="0" i="0" u="none" strike="noStrike">
                <a:solidFill>
                  <a:srgbClr val="000000"/>
                </a:solidFill>
                <a:latin typeface="Google Sans Text"/>
                <a:ea typeface="Google Sans Text"/>
                <a:cs typeface="Google Sans Text"/>
                <a:sym typeface="Google Sans Text"/>
              </a:rPr>
              <a:t>Selection</a:t>
            </a:r>
            <a:r>
              <a:rPr lang="en-US" sz="1200" b="0" i="0" u="none" strike="noStrike">
                <a:solidFill>
                  <a:srgbClr val="000000"/>
                </a:solidFill>
              </a:rPr>
              <a:t>）</a:t>
            </a:r>
            <a:r>
              <a:rPr lang="en-US" sz="1200" b="0" i="0" u="none" strike="noStrike">
                <a:solidFill>
                  <a:srgbClr val="000000"/>
                </a:solidFill>
              </a:rPr>
              <a:t>算子（如锦标赛选择或轮盘赌算法）依据适应度分布，赋予性能优异的程序更高的繁衍权重，确保了优势算子结构的延续</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rPr>
              <a:t>交叉（</a:t>
            </a:r>
            <a:r>
              <a:rPr lang="en-US" sz="1200" b="0" i="0" u="none" strike="noStrike">
                <a:solidFill>
                  <a:srgbClr val="000000"/>
                </a:solidFill>
                <a:latin typeface="Google Sans Text"/>
                <a:ea typeface="Google Sans Text"/>
                <a:cs typeface="Google Sans Text"/>
                <a:sym typeface="Google Sans Text"/>
              </a:rPr>
              <a:t>Crossover</a:t>
            </a:r>
            <a:r>
              <a:rPr lang="en-US" sz="1200" b="0" i="0" u="none" strike="noStrike">
                <a:solidFill>
                  <a:srgbClr val="000000"/>
                </a:solidFill>
              </a:rPr>
              <a:t>）</a:t>
            </a:r>
            <a:r>
              <a:rPr lang="en-US" sz="1200" b="0" i="0" u="none" strike="noStrike">
                <a:solidFill>
                  <a:srgbClr val="000000"/>
                </a:solidFill>
              </a:rPr>
              <a:t>是遗传算法在复杂空间中合成创新解的核心引擎。被选中的父代程序会交换其内部的基因片段。在处理张量程序的调度时，由于粗暴的参数互换会破坏循环的语义合法性，系统（如</a:t>
            </a:r>
            <a:r>
              <a:rPr lang="en-US" sz="1200" b="0" i="0" u="none" strike="noStrike">
                <a:solidFill>
                  <a:srgbClr val="000000"/>
                </a:solidFill>
                <a:latin typeface="Google Sans Text"/>
                <a:ea typeface="Google Sans Text"/>
                <a:cs typeface="Google Sans Text"/>
                <a:sym typeface="Google Sans Text"/>
              </a:rPr>
              <a:t>Ansor</a:t>
            </a:r>
            <a:r>
              <a:rPr lang="en-US" sz="1200" b="0" i="0" u="none" strike="noStrike">
                <a:solidFill>
                  <a:srgbClr val="000000"/>
                </a:solidFill>
              </a:rPr>
              <a:t>）创造性地将算子生成的</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重写历史步骤（</a:t>
            </a:r>
            <a:r>
              <a:rPr lang="en-US" sz="1200" b="0" i="0" u="none" strike="noStrike">
                <a:solidFill>
                  <a:srgbClr val="000000"/>
                </a:solidFill>
                <a:latin typeface="Google Sans Text"/>
                <a:ea typeface="Google Sans Text"/>
                <a:cs typeface="Google Sans Text"/>
                <a:sym typeface="Google Sans Text"/>
              </a:rPr>
              <a:t>Rewriting Steps</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定义为基因。通过智能地合并不同高性能个体的重写步骤，算法能够完美地将一个程序中优秀的内存布局与另一个程序中极致的并行展开策略融为一体，生成超越前代的超级后代</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为了对抗种群同质化并防止算法过早收敛于局部极值，</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变异（</a:t>
            </a:r>
            <a:r>
              <a:rPr lang="en-US" sz="1200" b="0" i="0" u="none" strike="noStrike">
                <a:solidFill>
                  <a:srgbClr val="000000"/>
                </a:solidFill>
                <a:latin typeface="Google Sans Text"/>
                <a:ea typeface="Google Sans Text"/>
                <a:cs typeface="Google Sans Text"/>
                <a:sym typeface="Google Sans Text"/>
              </a:rPr>
              <a:t>Mutation</a:t>
            </a:r>
            <a:r>
              <a:rPr lang="en-US" sz="1200" b="0" i="0" u="none" strike="noStrike">
                <a:solidFill>
                  <a:srgbClr val="000000"/>
                </a:solidFill>
              </a:rPr>
              <a:t>）</a:t>
            </a:r>
            <a:r>
              <a:rPr lang="en-US" sz="1200" b="0" i="0" u="none" strike="noStrike">
                <a:solidFill>
                  <a:srgbClr val="000000"/>
                </a:solidFill>
              </a:rPr>
              <a:t>算子以较低概率在子代群体中注入随机扰动（例如随机突变某个循环的分割因子大小）</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。此外，诸如自适应参数控制（</a:t>
            </a:r>
            <a:r>
              <a:rPr lang="en-US" sz="1200" b="0" i="0" u="none" strike="noStrike">
                <a:solidFill>
                  <a:srgbClr val="000000"/>
                </a:solidFill>
                <a:latin typeface="Google Sans Text"/>
                <a:ea typeface="Google Sans Text"/>
                <a:cs typeface="Google Sans Text"/>
                <a:sym typeface="Google Sans Text"/>
              </a:rPr>
              <a:t>Adaptive Parameter Tuning</a:t>
            </a:r>
            <a:r>
              <a:rPr lang="en-US" sz="1200" b="0" i="0" u="none" strike="noStrike">
                <a:solidFill>
                  <a:srgbClr val="000000"/>
                </a:solidFill>
              </a:rPr>
              <a:t>）的进阶技术也被引入，当算法检测到连续多个世代无性能提升时，会自动放大变异率或调整交叉概率，从而强制种群跳出当前的优化陷阱</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。这种基于演化规律的多点并发机制，在处理包含严密数学约束（如内存大小限制、并行度整除要求）的离散算子空间时，展现出了远超退火算法的鲁棒性与天花板上限</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数据驱动的极致：贝叶斯优化与强化学习在调优中的深度建模</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随着硬件架构复杂性的进一步深化，评估成本（硬件执行时间）成为了优化回路中最昂贵的资源。为了最大化利用极少量测量数据中的信息熵，实现探索与利用的数学级最优平衡，基于概率代理的贝叶斯优化（</a:t>
            </a:r>
            <a:r>
              <a:rPr lang="en-US" sz="1200" b="0" i="0" u="none" strike="noStrike">
                <a:solidFill>
                  <a:srgbClr val="000000"/>
                </a:solidFill>
                <a:latin typeface="Google Sans Text"/>
                <a:ea typeface="Google Sans Text"/>
                <a:cs typeface="Google Sans Text"/>
                <a:sym typeface="Google Sans Text"/>
              </a:rPr>
              <a:t>Bayesian Optimization</a:t>
            </a:r>
            <a:r>
              <a:rPr lang="en-US" sz="1200" b="0" i="0" u="none" strike="noStrike">
                <a:solidFill>
                  <a:srgbClr val="000000"/>
                </a:solidFill>
              </a:rPr>
              <a:t>）和基于马尔可夫决策的强化学习（</a:t>
            </a:r>
            <a:r>
              <a:rPr lang="en-US" sz="1200" b="0" i="0" u="none" strike="noStrike">
                <a:solidFill>
                  <a:srgbClr val="000000"/>
                </a:solidFill>
                <a:latin typeface="Google Sans Text"/>
                <a:ea typeface="Google Sans Text"/>
                <a:cs typeface="Google Sans Text"/>
                <a:sym typeface="Google Sans Text"/>
              </a:rPr>
              <a:t>Reinforcement Learning</a:t>
            </a:r>
            <a:r>
              <a:rPr lang="en-US" sz="1200" b="0" i="0" u="none" strike="noStrike">
                <a:solidFill>
                  <a:srgbClr val="000000"/>
                </a:solidFill>
              </a:rPr>
              <a:t>）成为了当今调优框架（如</a:t>
            </a:r>
            <a:r>
              <a:rPr lang="en-US" sz="1200" b="0" i="0" u="none" strike="noStrike">
                <a:solidFill>
                  <a:srgbClr val="000000"/>
                </a:solidFill>
                <a:latin typeface="Google Sans Text"/>
                <a:ea typeface="Google Sans Text"/>
                <a:cs typeface="Google Sans Text"/>
                <a:sym typeface="Google Sans Text"/>
              </a:rPr>
              <a:t>MetaSchedule</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等）最前沿的探索策略</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贝叶斯优化（</a:t>
            </a:r>
            <a:r>
              <a:rPr lang="en-US" sz="1200" b="1" i="0" u="none" strike="noStrike">
                <a:solidFill>
                  <a:srgbClr val="000000"/>
                </a:solidFill>
                <a:latin typeface="Google Sans Text"/>
                <a:ea typeface="Google Sans Text"/>
                <a:cs typeface="Google Sans Text"/>
                <a:sym typeface="Google Sans Text"/>
              </a:rPr>
              <a:t>BO</a:t>
            </a:r>
            <a:r>
              <a:rPr lang="en-US" sz="1200" b="1"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提供了一种严谨的黑盒函数极值逼近范式。其核心在于通过代理模型（</a:t>
            </a:r>
            <a:r>
              <a:rPr lang="en-US" sz="1200" b="0" i="0" u="none" strike="noStrike">
                <a:solidFill>
                  <a:srgbClr val="000000"/>
                </a:solidFill>
                <a:latin typeface="Google Sans Text"/>
                <a:ea typeface="Google Sans Text"/>
                <a:cs typeface="Google Sans Text"/>
                <a:sym typeface="Google Sans Text"/>
              </a:rPr>
              <a:t>Surrogate Model</a:t>
            </a:r>
            <a:r>
              <a:rPr lang="en-US" sz="1200" b="0" i="0" u="none" strike="noStrike">
                <a:solidFill>
                  <a:srgbClr val="000000"/>
                </a:solidFill>
              </a:rPr>
              <a:t>）不仅对配置的性能进行均值预测，还必须量化预测的</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不确定度（</a:t>
            </a:r>
            <a:r>
              <a:rPr lang="en-US" sz="1200" b="0" i="0" u="none" strike="noStrike">
                <a:solidFill>
                  <a:srgbClr val="000000"/>
                </a:solidFill>
                <a:latin typeface="Google Sans Text"/>
                <a:ea typeface="Google Sans Text"/>
                <a:cs typeface="Google Sans Text"/>
                <a:sym typeface="Google Sans Text"/>
              </a:rPr>
              <a:t>Uncertainty</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。虽然高斯过程（</a:t>
            </a:r>
            <a:r>
              <a:rPr lang="en-US" sz="1200" b="0" i="0" u="none" strike="noStrike">
                <a:solidFill>
                  <a:srgbClr val="000000"/>
                </a:solidFill>
                <a:latin typeface="Google Sans Text"/>
                <a:ea typeface="Google Sans Text"/>
                <a:cs typeface="Google Sans Text"/>
                <a:sym typeface="Google Sans Text"/>
              </a:rPr>
              <a:t>GP</a:t>
            </a:r>
            <a:r>
              <a:rPr lang="en-US" sz="1200" b="0" i="0" u="none" strike="noStrike">
                <a:solidFill>
                  <a:srgbClr val="000000"/>
                </a:solidFill>
              </a:rPr>
              <a:t>）是传统的标配，但在处理海量离散且高维的算子参数空间时，基于随机森林或树结构</a:t>
            </a:r>
            <a:r>
              <a:rPr lang="en-US" sz="1200" b="0" i="0" u="none" strike="noStrike">
                <a:solidFill>
                  <a:srgbClr val="000000"/>
                </a:solidFill>
                <a:latin typeface="Google Sans Text"/>
                <a:ea typeface="Google Sans Text"/>
                <a:cs typeface="Google Sans Text"/>
                <a:sym typeface="Google Sans Text"/>
              </a:rPr>
              <a:t>Parzen</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估计器（</a:t>
            </a:r>
            <a:r>
              <a:rPr lang="en-US" sz="1200" b="0" i="0" u="none" strike="noStrike">
                <a:solidFill>
                  <a:srgbClr val="000000"/>
                </a:solidFill>
                <a:latin typeface="Google Sans Text"/>
                <a:ea typeface="Google Sans Text"/>
                <a:cs typeface="Google Sans Text"/>
                <a:sym typeface="Google Sans Text"/>
              </a:rPr>
              <a:t>TPE</a:t>
            </a:r>
            <a:r>
              <a:rPr lang="en-US" sz="1200" b="0" i="0" u="none" strike="noStrike">
                <a:solidFill>
                  <a:srgbClr val="000000"/>
                </a:solidFill>
              </a:rPr>
              <a:t>）的变体更为常见</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。代理模型建立后，</a:t>
            </a:r>
            <a:r>
              <a:rPr lang="en-US" sz="1200" b="0" i="0" u="none" strike="noStrike">
                <a:solidFill>
                  <a:srgbClr val="000000"/>
                </a:solidFill>
              </a:rPr>
              <a:t>采集函数（</a:t>
            </a:r>
            <a:r>
              <a:rPr lang="en-US" sz="1200" b="0" i="0" u="none" strike="noStrike">
                <a:solidFill>
                  <a:srgbClr val="000000"/>
                </a:solidFill>
                <a:latin typeface="Google Sans Text"/>
                <a:ea typeface="Google Sans Text"/>
                <a:cs typeface="Google Sans Text"/>
                <a:sym typeface="Google Sans Text"/>
              </a:rPr>
              <a:t>Acquisition Function</a:t>
            </a:r>
            <a:r>
              <a:rPr lang="en-US" sz="1200" b="0" i="0" u="none" strike="noStrike">
                <a:solidFill>
                  <a:srgbClr val="000000"/>
                </a:solidFill>
              </a:rPr>
              <a:t>）</a:t>
            </a:r>
            <a:r>
              <a:rPr lang="en-US" sz="1200" b="0" i="0" u="none" strike="noStrike">
                <a:solidFill>
                  <a:srgbClr val="000000"/>
                </a:solidFill>
              </a:rPr>
              <a:t>将接管控制权，其负责评估空间中每一个未探索点的综合价值。经典的采集函数如置信区间上界（</a:t>
            </a:r>
            <a:r>
              <a:rPr lang="en-US" sz="1200" b="0" i="0" u="none" strike="noStrike">
                <a:solidFill>
                  <a:srgbClr val="000000"/>
                </a:solidFill>
                <a:latin typeface="Google Sans Text"/>
                <a:ea typeface="Google Sans Text"/>
                <a:cs typeface="Google Sans Text"/>
                <a:sym typeface="Google Sans Text"/>
              </a:rPr>
              <a:t>UCB</a:t>
            </a:r>
            <a:r>
              <a:rPr lang="en-US" sz="1200" b="0" i="0" u="none" strike="noStrike">
                <a:solidFill>
                  <a:srgbClr val="000000"/>
                </a:solidFill>
              </a:rPr>
              <a:t>）通过加权公式</a:t>
            </a:r>
            <a:r>
              <a:rPr lang="en-US" sz="1200" b="0" i="0" u="none" strike="noStrike">
                <a:solidFill>
                  <a:srgbClr val="000000"/>
                </a:solidFill>
                <a:latin typeface="Google Sans Text"/>
                <a:ea typeface="Google Sans Text"/>
                <a:cs typeface="Google Sans Text"/>
                <a:sym typeface="Google Sans Text"/>
              </a:rPr>
              <a:t> $UCB(x) = \mu(x) + \kappa \sigma(x)$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完美诠释了调优中的博弈：</a:t>
            </a:r>
            <a:r>
              <a:rPr lang="en-US" sz="1200" b="0" i="0" u="none" strike="noStrike">
                <a:solidFill>
                  <a:srgbClr val="000000"/>
                </a:solidFill>
                <a:latin typeface="Google Sans Text"/>
                <a:ea typeface="Google Sans Text"/>
                <a:cs typeface="Google Sans Text"/>
                <a:sym typeface="Google Sans Text"/>
              </a:rPr>
              <a:t>$\mu(x)$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代表了对已知高性能区域的贪婪利用（</a:t>
            </a:r>
            <a:r>
              <a:rPr lang="en-US" sz="1200" b="0" i="0" u="none" strike="noStrike">
                <a:solidFill>
                  <a:srgbClr val="000000"/>
                </a:solidFill>
                <a:latin typeface="Google Sans Text"/>
                <a:ea typeface="Google Sans Text"/>
                <a:cs typeface="Google Sans Text"/>
                <a:sym typeface="Google Sans Text"/>
              </a:rPr>
              <a:t>Exploitation</a:t>
            </a:r>
            <a:r>
              <a:rPr lang="en-US" sz="1200" b="0" i="0" u="none" strike="noStrike">
                <a:solidFill>
                  <a:srgbClr val="000000"/>
                </a:solidFill>
              </a:rPr>
              <a:t>），而</a:t>
            </a:r>
            <a:r>
              <a:rPr lang="en-US" sz="1200" b="0" i="0" u="none" strike="noStrike">
                <a:solidFill>
                  <a:srgbClr val="000000"/>
                </a:solidFill>
                <a:latin typeface="Google Sans Text"/>
                <a:ea typeface="Google Sans Text"/>
                <a:cs typeface="Google Sans Text"/>
                <a:sym typeface="Google Sans Text"/>
              </a:rPr>
              <a:t> $\sigma(x)$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则驱动系统去探索方差极大、充满未知的处女地（</a:t>
            </a:r>
            <a:r>
              <a:rPr lang="en-US" sz="1200" b="0" i="0" u="none" strike="noStrike">
                <a:solidFill>
                  <a:srgbClr val="000000"/>
                </a:solidFill>
                <a:latin typeface="Google Sans Text"/>
                <a:ea typeface="Google Sans Text"/>
                <a:cs typeface="Google Sans Text"/>
                <a:sym typeface="Google Sans Text"/>
              </a:rPr>
              <a:t>Exploration</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。通过不断最大化采集函数，贝叶斯优化能够以极少的硬件采样次数快速锁定全局最优配置域。</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而</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强化学习（</a:t>
            </a:r>
            <a:r>
              <a:rPr lang="en-US" sz="1200" b="1" i="0" u="none" strike="noStrike">
                <a:solidFill>
                  <a:srgbClr val="000000"/>
                </a:solidFill>
                <a:latin typeface="Google Sans Text"/>
                <a:ea typeface="Google Sans Text"/>
                <a:cs typeface="Google Sans Text"/>
                <a:sym typeface="Google Sans Text"/>
              </a:rPr>
              <a:t>RL</a:t>
            </a:r>
            <a:r>
              <a:rPr lang="en-US" sz="1200" b="1"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则为算子调优带来了另一种更具连贯性的序贯决策视角。</a:t>
            </a:r>
            <a:r>
              <a:rPr lang="en-US" sz="1200" b="0" i="0" u="none" strike="noStrike">
                <a:solidFill>
                  <a:srgbClr val="000000"/>
                </a:solidFill>
                <a:latin typeface="Google Sans Text"/>
                <a:ea typeface="Google Sans Text"/>
                <a:cs typeface="Google Sans Text"/>
                <a:sym typeface="Google Sans Text"/>
              </a:rPr>
              <a:t>RL</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抛弃了对静态配置的单点评估，转而将调度序列的生成过程直接建模为</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马尔可夫决策过程（</a:t>
            </a:r>
            <a:r>
              <a:rPr lang="en-US" sz="1200" b="1" i="0" u="none" strike="noStrike">
                <a:solidFill>
                  <a:srgbClr val="000000"/>
                </a:solidFill>
                <a:latin typeface="Google Sans Text"/>
                <a:ea typeface="Google Sans Text"/>
                <a:cs typeface="Google Sans Text"/>
                <a:sym typeface="Google Sans Text"/>
              </a:rPr>
              <a:t>MDP</a:t>
            </a:r>
            <a:r>
              <a:rPr lang="en-US" sz="1200" b="1"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。在这个由</a:t>
            </a:r>
            <a:r>
              <a:rPr lang="en-US" sz="1200" b="0" i="0" u="none" strike="noStrike">
                <a:solidFill>
                  <a:srgbClr val="000000"/>
                </a:solidFill>
                <a:latin typeface="Google Sans Text"/>
                <a:ea typeface="Google Sans Text"/>
                <a:cs typeface="Google Sans Text"/>
                <a:sym typeface="Google Sans Text"/>
              </a:rPr>
              <a:t> $&lt;S, A, T, R, \gamma&gt;$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构成的五元组中，智能体（即自动调优器）不断与环境（编译器基础设施与硬件）进行交互</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具体而言，</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状态（</a:t>
            </a:r>
            <a:r>
              <a:rPr lang="en-US" sz="1200" b="1" i="0" u="none" strike="noStrike">
                <a:solidFill>
                  <a:srgbClr val="000000"/>
                </a:solidFill>
                <a:latin typeface="Google Sans Text"/>
                <a:ea typeface="Google Sans Text"/>
                <a:cs typeface="Google Sans Text"/>
                <a:sym typeface="Google Sans Text"/>
              </a:rPr>
              <a:t>State, S</a:t>
            </a:r>
            <a:r>
              <a:rPr lang="en-US" sz="1200" b="1"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被定义为算子当前的抽象语法树（</a:t>
            </a:r>
            <a:r>
              <a:rPr lang="en-US" sz="1200" b="0" i="0" u="none" strike="noStrike">
                <a:solidFill>
                  <a:srgbClr val="000000"/>
                </a:solidFill>
                <a:latin typeface="Google Sans Text"/>
                <a:ea typeface="Google Sans Text"/>
                <a:cs typeface="Google Sans Text"/>
                <a:sym typeface="Google Sans Text"/>
              </a:rPr>
              <a:t>AST</a:t>
            </a:r>
            <a:r>
              <a:rPr lang="en-US" sz="1200" b="0" i="0" u="none" strike="noStrike">
                <a:solidFill>
                  <a:srgbClr val="000000"/>
                </a:solidFill>
              </a:rPr>
              <a:t>）、部分构建的计算图或是底层特征向量</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动作（</a:t>
            </a:r>
            <a:r>
              <a:rPr lang="en-US" sz="1200" b="1" i="0" u="none" strike="noStrike">
                <a:solidFill>
                  <a:srgbClr val="000000"/>
                </a:solidFill>
                <a:latin typeface="Google Sans Text"/>
                <a:ea typeface="Google Sans Text"/>
                <a:cs typeface="Google Sans Text"/>
                <a:sym typeface="Google Sans Text"/>
              </a:rPr>
              <a:t>Action, A</a:t>
            </a:r>
            <a:r>
              <a:rPr lang="en-US" sz="1200" b="1"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对应于调度器可以执行的一步具体程序变换，例如</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rPr>
              <a:t>在</a:t>
            </a:r>
            <a:r>
              <a:rPr lang="en-US" sz="1200" b="0" i="0" u="none" strike="noStrike">
                <a:solidFill>
                  <a:srgbClr val="000000"/>
                </a:solidFill>
                <a:latin typeface="Google Sans Text"/>
                <a:ea typeface="Google Sans Text"/>
                <a:cs typeface="Google Sans Text"/>
                <a:sym typeface="Google Sans Text"/>
              </a:rPr>
              <a:t>K</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轴上执行系数为</a:t>
            </a:r>
            <a:r>
              <a:rPr lang="en-US" sz="1200" b="0" i="0" u="none" strike="noStrike">
                <a:solidFill>
                  <a:srgbClr val="000000"/>
                </a:solidFill>
                <a:latin typeface="Google Sans Text"/>
                <a:ea typeface="Google Sans Text"/>
                <a:cs typeface="Google Sans Text"/>
                <a:sym typeface="Google Sans Text"/>
              </a:rPr>
              <a:t>32</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a:t>
            </a:r>
            <a:r>
              <a:rPr lang="en-US" sz="1200" b="0" i="0" u="none" strike="noStrike">
                <a:solidFill>
                  <a:srgbClr val="000000"/>
                </a:solidFill>
                <a:latin typeface="Google Sans Text"/>
                <a:ea typeface="Google Sans Text"/>
                <a:cs typeface="Google Sans Text"/>
                <a:sym typeface="Google Sans Text"/>
              </a:rPr>
              <a:t>Tiling”</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或</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应用向量化</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。随着动作的逐个应用，程序状态发生转移。当一系列调度指令最终构成一个可编译的</a:t>
            </a:r>
            <a:r>
              <a:rPr lang="en-US" sz="1200" b="0" i="0" u="none" strike="noStrike">
                <a:solidFill>
                  <a:srgbClr val="000000"/>
                </a:solidFill>
                <a:latin typeface="Google Sans Text"/>
                <a:ea typeface="Google Sans Text"/>
                <a:cs typeface="Google Sans Text"/>
                <a:sym typeface="Google Sans Text"/>
              </a:rPr>
              <a:t>Kernel</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下发到真实硬件后，硬件返回的执行延迟或吞吐量便构成了极其关键的</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奖励函数（</a:t>
            </a:r>
            <a:r>
              <a:rPr lang="en-US" sz="1200" b="1" i="0" u="none" strike="noStrike">
                <a:solidFill>
                  <a:srgbClr val="000000"/>
                </a:solidFill>
                <a:latin typeface="Google Sans Text"/>
                <a:ea typeface="Google Sans Text"/>
                <a:cs typeface="Google Sans Text"/>
                <a:sym typeface="Google Sans Text"/>
              </a:rPr>
              <a:t>Reward Function, R</a:t>
            </a:r>
            <a:r>
              <a:rPr lang="en-US" sz="1200" b="1"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由于程序的性能具有非附加性和稀疏性</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单独的</a:t>
            </a:r>
            <a:r>
              <a:rPr lang="en-US" sz="1200" b="0" i="0" u="none" strike="noStrike">
                <a:solidFill>
                  <a:srgbClr val="000000"/>
                </a:solidFill>
                <a:latin typeface="Google Sans Text"/>
                <a:ea typeface="Google Sans Text"/>
                <a:cs typeface="Google Sans Text"/>
                <a:sym typeface="Google Sans Text"/>
              </a:rPr>
              <a:t>Tiling</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可能导致性能下降，但结合内存提升（</a:t>
            </a:r>
            <a:r>
              <a:rPr lang="en-US" sz="1200" b="0" i="0" u="none" strike="noStrike">
                <a:solidFill>
                  <a:srgbClr val="000000"/>
                </a:solidFill>
                <a:latin typeface="Google Sans Text"/>
                <a:ea typeface="Google Sans Text"/>
                <a:cs typeface="Google Sans Text"/>
                <a:sym typeface="Google Sans Text"/>
              </a:rPr>
              <a:t>Memory Promotion</a:t>
            </a:r>
            <a:r>
              <a:rPr lang="en-US" sz="1200" b="0" i="0" u="none" strike="noStrike">
                <a:solidFill>
                  <a:srgbClr val="000000"/>
                </a:solidFill>
              </a:rPr>
              <a:t>）后可能带来百倍的加速，强化学习（如</a:t>
            </a:r>
            <a:r>
              <a:rPr lang="en-US" sz="1200" b="0" i="0" u="none" strike="noStrike">
                <a:solidFill>
                  <a:srgbClr val="000000"/>
                </a:solidFill>
                <a:latin typeface="Google Sans Text"/>
                <a:ea typeface="Google Sans Text"/>
                <a:cs typeface="Google Sans Text"/>
                <a:sym typeface="Google Sans Text"/>
              </a:rPr>
              <a:t>PPO</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算法或</a:t>
            </a:r>
            <a:r>
              <a:rPr lang="en-US" sz="1200" b="0" i="0" u="none" strike="noStrike">
                <a:solidFill>
                  <a:srgbClr val="000000"/>
                </a:solidFill>
                <a:latin typeface="Google Sans Text"/>
                <a:ea typeface="Google Sans Text"/>
                <a:cs typeface="Google Sans Text"/>
                <a:sym typeface="Google Sans Text"/>
              </a:rPr>
              <a:t>Actor-Critic</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架构）天然适合捕捉这种动作之间的长期组合依赖关系</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。智能体通过不断试错并获取延迟反馈，利用梯度上升算法优化自身的策略网络，最终不仅能学会</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针对单一算子选取最优参数</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，更能抽象出</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如何像人类编译专家一样去思考和优化一类算子</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的元知识</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latin typeface="Google Sans"/>
              </a:defRPr>
            </a:lvl1pPr>
          </a:lstStyle>
          <a:p>
            <a:pPr indent="0" algn="l">
              <a:lnSpc>
                <a:spcPct val="100000"/>
              </a:lnSpc>
            </a:pPr>
            <a:r>
              <a:rPr lang="en-US" sz="1200" b="1" i="0" u="none" strike="noStrike">
                <a:solidFill>
                  <a:srgbClr val="000000"/>
                </a:solidFill>
                <a:latin typeface="Google Sans"/>
                <a:ea typeface="Google Sans"/>
                <a:cs typeface="Google Sans"/>
                <a:sym typeface="Google Sans"/>
              </a:rPr>
              <a:t>FlagPerf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平台下的</a:t>
            </a:r>
            <a:r>
              <a:rPr lang="en-US" sz="1200" b="1" i="0" u="none" strike="noStrike">
                <a:solidFill>
                  <a:srgbClr val="000000"/>
                </a:solidFill>
                <a:latin typeface="Google Sans"/>
                <a:ea typeface="Google Sans"/>
                <a:cs typeface="Google Sans"/>
                <a:sym typeface="Google Sans"/>
              </a:rPr>
              <a:t> Kernel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实战评测</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理论与算法的突破必须接受硅基物理层面的严苛检验。为了直观地验证各种调优参数对内核性能的毁灭性或爆发性影响，建立标准化、系统化的基准测试显得尤为重要。北京智源人工智能研究院（</a:t>
            </a:r>
            <a:r>
              <a:rPr lang="en-US" sz="1200" b="0" i="0" u="none" strike="noStrike">
                <a:solidFill>
                  <a:srgbClr val="000000"/>
                </a:solidFill>
                <a:latin typeface="Google Sans Text"/>
                <a:ea typeface="Google Sans Text"/>
                <a:cs typeface="Google Sans Text"/>
                <a:sym typeface="Google Sans Text"/>
              </a:rPr>
              <a:t>BAAI</a:t>
            </a:r>
            <a:r>
              <a:rPr lang="en-US" sz="1200" b="0" i="0" u="none" strike="noStrike">
                <a:solidFill>
                  <a:srgbClr val="000000"/>
                </a:solidFill>
                <a:latin typeface="Google Sans"/>
                <a:ea typeface="Google Sans"/>
                <a:cs typeface="Google Sans"/>
                <a:sym typeface="Google Sans"/>
              </a:rPr>
              <a:t>）联合多家</a:t>
            </a:r>
            <a:r>
              <a:rPr lang="en-US" sz="1200" b="0" i="0" u="none" strike="noStrike">
                <a:solidFill>
                  <a:srgbClr val="000000"/>
                </a:solidFill>
                <a:latin typeface="Google Sans Text"/>
                <a:ea typeface="Google Sans Text"/>
                <a:cs typeface="Google Sans Text"/>
                <a:sym typeface="Google Sans Text"/>
              </a:rPr>
              <a:t>AI</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硬件厂商共同构建的开源一体化评测引擎</a:t>
            </a:r>
            <a:r>
              <a:rPr lang="en-US" sz="1200" b="0" i="0" u="none" strike="noStrike">
                <a:solidFill>
                  <a:srgbClr val="000000"/>
                </a:solidFill>
                <a:latin typeface="Google Sans Text"/>
                <a:ea typeface="Google Sans Text"/>
                <a:cs typeface="Google Sans Text"/>
                <a:sym typeface="Google Sans Text"/>
              </a:rPr>
              <a:t> </a:t>
            </a:r>
            <a:r>
              <a:rPr lang="en-US" sz="1200" b="1" i="0" u="none" strike="noStrike">
                <a:solidFill>
                  <a:srgbClr val="000000"/>
                </a:solidFill>
                <a:latin typeface="Google Sans Text"/>
                <a:ea typeface="Google Sans Text"/>
                <a:cs typeface="Google Sans Text"/>
                <a:sym typeface="Google Sans Text"/>
              </a:rPr>
              <a:t>FlagPerf</a:t>
            </a:r>
            <a:r>
              <a:rPr lang="en-US" sz="1200" b="0" i="0" u="none" strike="noStrike">
                <a:solidFill>
                  <a:srgbClr val="000000"/>
                </a:solidFill>
                <a:latin typeface="Google Sans"/>
                <a:ea typeface="Google Sans"/>
                <a:cs typeface="Google Sans"/>
                <a:sym typeface="Google Sans"/>
              </a:rPr>
              <a:t>，为剖析这种底层算子性能提供了权威的显微镜。</a:t>
            </a:r>
            <a:r>
              <a:rPr lang="en-US" sz="1200" b="0" i="0" u="none" strike="noStrike">
                <a:solidFill>
                  <a:srgbClr val="000000"/>
                </a:solidFill>
                <a:latin typeface="Google Sans Text"/>
                <a:ea typeface="Google Sans Text"/>
                <a:cs typeface="Google Sans Text"/>
                <a:sym typeface="Google Sans Text"/>
              </a:rPr>
              <a:t>FlagPerf</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不仅支持在多框架（</a:t>
            </a:r>
            <a:r>
              <a:rPr lang="en-US" sz="1200" b="0" i="0" u="none" strike="noStrike">
                <a:solidFill>
                  <a:srgbClr val="000000"/>
                </a:solidFill>
                <a:latin typeface="Google Sans Text"/>
                <a:ea typeface="Google Sans Text"/>
                <a:cs typeface="Google Sans Text"/>
                <a:sym typeface="Google Sans Text"/>
              </a:rPr>
              <a:t>PyTorch, TensorFlow, Triton</a:t>
            </a:r>
            <a:r>
              <a:rPr lang="en-US" sz="1200" b="0" i="0" u="none" strike="noStrike">
                <a:solidFill>
                  <a:srgbClr val="000000"/>
                </a:solidFill>
                <a:latin typeface="Google Sans"/>
                <a:ea typeface="Google Sans"/>
                <a:cs typeface="Google Sans"/>
                <a:sym typeface="Google Sans"/>
              </a:rPr>
              <a:t>）下对模型端到端耗时进行评测，更能深入探针级别，呈现底层计算单元利用率、显存带宽以及延迟分布等多维度数据，为不同架构芯片提供了客观的性能标尺</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Google Sans"/>
                <a:ea typeface="Google Sans"/>
                <a:cs typeface="Google Sans"/>
                <a:sym typeface="Google Sans"/>
              </a:rPr>
              <a:t>。</a:t>
            </a:r>
            <a:endParaRPr lang="en-US" sz="1200" b="0" i="0" u="none" strike="noStrike">
              <a:solidFill>
                <a:srgbClr val="000000"/>
              </a:solidFill>
              <a:latin typeface="Google Sans"/>
              <a:ea typeface="Google Sans"/>
              <a:cs typeface="Google Sans"/>
              <a:sym typeface="Google Sans"/>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在一个典型的验证实验中，我们使用</a:t>
            </a:r>
            <a:r>
              <a:rPr lang="en-US" sz="1200" b="0" i="0" u="none" strike="noStrike">
                <a:solidFill>
                  <a:srgbClr val="000000"/>
                </a:solidFill>
                <a:latin typeface="Google Sans Text"/>
                <a:ea typeface="Google Sans Text"/>
                <a:cs typeface="Google Sans Text"/>
                <a:sym typeface="Google Sans Text"/>
              </a:rPr>
              <a:t>FlagPerf</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平台对深度学习中最核心的算子</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例如大语言模型（</a:t>
            </a:r>
            <a:r>
              <a:rPr lang="en-US" sz="1200" b="0" i="0" u="none" strike="noStrike">
                <a:solidFill>
                  <a:srgbClr val="000000"/>
                </a:solidFill>
                <a:latin typeface="Google Sans Text"/>
                <a:ea typeface="Google Sans Text"/>
                <a:cs typeface="Google Sans Text"/>
                <a:sym typeface="Google Sans Text"/>
              </a:rPr>
              <a:t>LLM</a:t>
            </a:r>
            <a:r>
              <a:rPr lang="en-US" sz="1200" b="0" i="0" u="none" strike="noStrike">
                <a:solidFill>
                  <a:srgbClr val="000000"/>
                </a:solidFill>
                <a:latin typeface="Google Sans"/>
                <a:ea typeface="Google Sans"/>
                <a:cs typeface="Google Sans"/>
                <a:sym typeface="Google Sans"/>
              </a:rPr>
              <a:t>）推理中的自注意力计算（</a:t>
            </a:r>
            <a:r>
              <a:rPr lang="en-US" sz="1200" b="0" i="0" u="none" strike="noStrike">
                <a:solidFill>
                  <a:srgbClr val="000000"/>
                </a:solidFill>
                <a:latin typeface="Google Sans Text"/>
                <a:ea typeface="Google Sans Text"/>
                <a:cs typeface="Google Sans Text"/>
                <a:sym typeface="Google Sans Text"/>
              </a:rPr>
              <a:t>Self-Attention</a:t>
            </a:r>
            <a:r>
              <a:rPr lang="en-US" sz="1200" b="0" i="0" u="none" strike="noStrike">
                <a:solidFill>
                  <a:srgbClr val="000000"/>
                </a:solidFill>
                <a:latin typeface="Google Sans"/>
                <a:ea typeface="Google Sans"/>
                <a:cs typeface="Google Sans"/>
                <a:sym typeface="Google Sans"/>
              </a:rPr>
              <a:t>）或海量矩阵乘法（</a:t>
            </a:r>
            <a:r>
              <a:rPr lang="en-US" sz="1200" b="0" i="0" u="none" strike="noStrike">
                <a:solidFill>
                  <a:srgbClr val="000000"/>
                </a:solidFill>
                <a:latin typeface="Google Sans Text"/>
                <a:ea typeface="Google Sans Text"/>
                <a:cs typeface="Google Sans Text"/>
                <a:sym typeface="Google Sans Text"/>
              </a:rPr>
              <a:t>GEMM</a:t>
            </a:r>
            <a:r>
              <a:rPr lang="en-US" sz="1200" b="0" i="0" u="none" strike="noStrike">
                <a:solidFill>
                  <a:srgbClr val="000000"/>
                </a:solidFill>
                <a:latin typeface="Google Sans"/>
                <a:ea typeface="Google Sans"/>
                <a:cs typeface="Google Sans"/>
                <a:sym typeface="Google Sans"/>
              </a:rPr>
              <a:t>）进行深度剖析。实验的核心逻辑是锁定问题的数学规模（如输入</a:t>
            </a:r>
            <a:r>
              <a:rPr lang="en-US" sz="1200" b="0" i="0" u="none" strike="noStrike">
                <a:solidFill>
                  <a:srgbClr val="000000"/>
                </a:solidFill>
                <a:latin typeface="Google Sans Text"/>
                <a:ea typeface="Google Sans Text"/>
                <a:cs typeface="Google Sans Text"/>
                <a:sym typeface="Google Sans Text"/>
              </a:rPr>
              <a:t>Tensor</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特征维度恒定），系统性地改变由自动调优器搜索出的一个关键元参数：</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线程块大小（</a:t>
            </a:r>
            <a:r>
              <a:rPr lang="en-US" sz="1200" b="1" i="0" u="none" strike="noStrike">
                <a:solidFill>
                  <a:srgbClr val="000000"/>
                </a:solidFill>
                <a:latin typeface="Google Sans Text"/>
                <a:ea typeface="Google Sans Text"/>
                <a:cs typeface="Google Sans Text"/>
                <a:sym typeface="Google Sans Text"/>
              </a:rPr>
              <a:t>Block Size</a:t>
            </a:r>
            <a:r>
              <a:rPr lang="en-US" sz="1200" b="1" i="0" u="none" strike="noStrike">
                <a:solidFill>
                  <a:srgbClr val="000000"/>
                </a:solidFill>
                <a:latin typeface="Google Sans"/>
                <a:ea typeface="Google Sans"/>
                <a:cs typeface="Google Sans"/>
                <a:sym typeface="Google Sans"/>
              </a:rPr>
              <a:t>）</a:t>
            </a:r>
            <a:r>
              <a:rPr lang="en-US" sz="1200" b="0" i="0" u="none" strike="noStrike">
                <a:solidFill>
                  <a:srgbClr val="000000"/>
                </a:solidFill>
                <a:latin typeface="Google Sans"/>
                <a:ea typeface="Google Sans"/>
                <a:cs typeface="Google Sans"/>
                <a:sym typeface="Google Sans"/>
              </a:rPr>
              <a:t>，并监控该单一维度的微调如何在吞吐量（</a:t>
            </a:r>
            <a:r>
              <a:rPr lang="en-US" sz="1200" b="0" i="0" u="none" strike="noStrike">
                <a:solidFill>
                  <a:srgbClr val="000000"/>
                </a:solidFill>
                <a:latin typeface="Google Sans Text"/>
                <a:ea typeface="Google Sans Text"/>
                <a:cs typeface="Google Sans Text"/>
                <a:sym typeface="Google Sans Text"/>
              </a:rPr>
              <a:t>Throughput / Tokens per Second</a:t>
            </a:r>
            <a:r>
              <a:rPr lang="en-US" sz="1200" b="0" i="0" u="none" strike="noStrike">
                <a:solidFill>
                  <a:srgbClr val="000000"/>
                </a:solidFill>
                <a:latin typeface="Google Sans"/>
                <a:ea typeface="Google Sans"/>
                <a:cs typeface="Google Sans"/>
                <a:sym typeface="Google Sans"/>
              </a:rPr>
              <a:t>）与端到端延迟（</a:t>
            </a:r>
            <a:r>
              <a:rPr lang="en-US" sz="1200" b="0" i="0" u="none" strike="noStrike">
                <a:solidFill>
                  <a:srgbClr val="000000"/>
                </a:solidFill>
                <a:latin typeface="Google Sans Text"/>
                <a:ea typeface="Google Sans Text"/>
                <a:cs typeface="Google Sans Text"/>
                <a:sym typeface="Google Sans Text"/>
              </a:rPr>
              <a:t>Latency</a:t>
            </a:r>
            <a:r>
              <a:rPr lang="en-US" sz="1200" b="0" i="0" u="none" strike="noStrike">
                <a:solidFill>
                  <a:srgbClr val="000000"/>
                </a:solidFill>
                <a:latin typeface="Google Sans"/>
                <a:ea typeface="Google Sans"/>
                <a:cs typeface="Google Sans"/>
                <a:sym typeface="Google Sans"/>
              </a:rPr>
              <a:t>）上掀起非线性的剧烈波动</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Google Sans"/>
                <a:ea typeface="Google Sans"/>
                <a:cs typeface="Google Sans"/>
                <a:sym typeface="Google Sans"/>
              </a:rPr>
              <a:t>。</a:t>
            </a:r>
            <a:endParaRPr lang="en-US" sz="1200" b="0" i="0" u="none" strike="noStrike">
              <a:solidFill>
                <a:srgbClr val="000000"/>
              </a:solidFill>
              <a:latin typeface="Google Sans"/>
              <a:ea typeface="Google Sans"/>
              <a:cs typeface="Google Sans"/>
              <a:sym typeface="Google Sans"/>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ctr">
            <a:noAutofit/>
          </a:bodyPr>
          <a:lstStyle>
            <a:lvl1pPr algn="l">
              <a:lnSpc>
                <a:spcPct val="100000"/>
              </a:lnSpc>
              <a:defRPr sz="1400" b="0" i="0" u="none" strike="noStrike">
                <a:solidFill>
                  <a:srgbClr val="000000">
                    <a:alpha val="100000"/>
                  </a:srgbClr>
                </a:solidFill>
              </a:defRPr>
            </a:lvl1pPr>
          </a:lstStyle>
          <a:p>
            <a:pPr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在人工智能领域，大语言模型（</a:t>
            </a:r>
            <a:r>
              <a:rPr lang="en-US" sz="1200" b="0" i="0" u="none" strike="noStrike">
                <a:solidFill>
                  <a:srgbClr val="000000"/>
                </a:solidFill>
                <a:latin typeface="Google Sans Text"/>
                <a:ea typeface="Google Sans Text"/>
                <a:cs typeface="Google Sans Text"/>
                <a:sym typeface="Google Sans Text"/>
              </a:rPr>
              <a:t>LLM</a:t>
            </a:r>
            <a:r>
              <a:rPr lang="en-US" sz="1200" b="0" i="0" u="none" strike="noStrike">
                <a:solidFill>
                  <a:srgbClr val="000000"/>
                </a:solidFill>
              </a:rPr>
              <a:t>）的参数规模已从百亿级跃升至万亿级，这种规模化的增长虽然带来了涌现能力，但也对底层算力基础设施提出了前所未有的挑战。传统的软件栈开发模式往往呈现出烟囱式、碎片化的特征，不同层级之间的优化策略缺乏协同，导致硬件潜能难以被充分挖掘。端到端性能优化（</a:t>
            </a:r>
            <a:r>
              <a:rPr lang="en-US" sz="1200" b="0" i="0" u="none" strike="noStrike">
                <a:solidFill>
                  <a:srgbClr val="000000"/>
                </a:solidFill>
                <a:latin typeface="Google Sans Text"/>
                <a:ea typeface="Google Sans Text"/>
                <a:cs typeface="Google Sans Text"/>
                <a:sym typeface="Google Sans Text"/>
              </a:rPr>
              <a:t>End-to-End Performance Optimization</a:t>
            </a:r>
            <a:r>
              <a:rPr lang="en-US" sz="1200" b="0" i="0" u="none" strike="noStrike">
                <a:solidFill>
                  <a:srgbClr val="000000"/>
                </a:solidFill>
              </a:rPr>
              <a:t>）作为一种突破性的方法论，主张打破算法、系统软件、编译优化与硬件芯片之间的壁垒，通过宏观全链路的视角实现全局最优。在当前的智算生态中，</a:t>
            </a:r>
            <a:r>
              <a:rPr lang="en-US" sz="1200" b="0" i="0" u="none" strike="noStrike">
                <a:solidFill>
                  <a:srgbClr val="000000"/>
                </a:solidFill>
                <a:latin typeface="Google Sans Text"/>
                <a:ea typeface="Google Sans Text"/>
                <a:cs typeface="Google Sans Text"/>
                <a:sym typeface="Google Sans Text"/>
              </a:rPr>
              <a:t>FlagOS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等统一智算底座的出现，正是为了解决多芯片、大规模场景下的高效计算问题</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什么是端到端协同优化？</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端到端协同优化可以抽象为一个</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漏斗模型</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。在漏斗的顶部，算法设计决定了计算图的拓扑结构和算术强度。通过算法层面的结构优化（如引入混合专家模型</a:t>
            </a:r>
            <a:r>
              <a:rPr lang="en-US" sz="1200" b="0" i="0" u="none" strike="noStrike">
                <a:solidFill>
                  <a:srgbClr val="000000"/>
                </a:solidFill>
                <a:latin typeface="Google Sans Text"/>
                <a:ea typeface="Google Sans Text"/>
                <a:cs typeface="Google Sans Text"/>
                <a:sym typeface="Google Sans Text"/>
              </a:rPr>
              <a:t> MoE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或优化注意力机制），可以从源头上降低计算复杂度或显存压力</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。进入编译器层后，计算图会被进一步精简和重组，算子融合（</a:t>
            </a:r>
            <a:r>
              <a:rPr lang="en-US" sz="1200" b="0" i="0" u="none" strike="noStrike">
                <a:solidFill>
                  <a:srgbClr val="000000"/>
                </a:solidFill>
                <a:latin typeface="Google Sans Text"/>
                <a:ea typeface="Google Sans Text"/>
                <a:cs typeface="Google Sans Text"/>
                <a:sym typeface="Google Sans Text"/>
              </a:rPr>
              <a:t>Operator Fusion</a:t>
            </a:r>
            <a:r>
              <a:rPr lang="en-US" sz="1200" b="0" i="0" u="none" strike="noStrike">
                <a:solidFill>
                  <a:srgbClr val="000000"/>
                </a:solidFill>
              </a:rPr>
              <a:t>）等策略将多个零散的数学运算合并为单一的硬件调用，从而减少昂贵的数据搬运开销</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。漏斗的底部则是算子实现层，通过对手写</a:t>
            </a:r>
            <a:r>
              <a:rPr lang="en-US" sz="1200" b="0" i="0" u="none" strike="noStrike">
                <a:solidFill>
                  <a:srgbClr val="000000"/>
                </a:solidFill>
                <a:latin typeface="Google Sans Text"/>
                <a:ea typeface="Google Sans Text"/>
                <a:cs typeface="Google Sans Text"/>
                <a:sym typeface="Google Sans Text"/>
              </a:rPr>
              <a:t> Kernel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的极致调优，利用硬件特定的指令集（如张量核心</a:t>
            </a:r>
            <a:r>
              <a:rPr lang="en-US" sz="1200" b="0" i="0" u="none" strike="noStrike">
                <a:solidFill>
                  <a:srgbClr val="000000"/>
                </a:solidFill>
                <a:latin typeface="Google Sans Text"/>
                <a:ea typeface="Google Sans Text"/>
                <a:cs typeface="Google Sans Text"/>
                <a:sym typeface="Google Sans Text"/>
              </a:rPr>
              <a:t> Tensor Core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或向量单元）实现峰值吞吐</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这种协同不仅是正向的，更包含关键的逆向反馈机制。底层硬件的存储层次结构（如</a:t>
            </a:r>
            <a:r>
              <a:rPr lang="en-US" sz="1200" b="0" i="0" u="none" strike="noStrike">
                <a:solidFill>
                  <a:srgbClr val="000000"/>
                </a:solidFill>
                <a:latin typeface="Google Sans Text"/>
                <a:ea typeface="Google Sans Text"/>
                <a:cs typeface="Google Sans Text"/>
                <a:sym typeface="Google Sans Text"/>
              </a:rPr>
              <a:t> HBM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带宽、片上</a:t>
            </a:r>
            <a:r>
              <a:rPr lang="en-US" sz="1200" b="0" i="0" u="none" strike="noStrike">
                <a:solidFill>
                  <a:srgbClr val="000000"/>
                </a:solidFill>
                <a:latin typeface="Google Sans Text"/>
                <a:ea typeface="Google Sans Text"/>
                <a:cs typeface="Google Sans Text"/>
                <a:sym typeface="Google Sans Text"/>
              </a:rPr>
              <a:t> SRAM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大小）会反过来制约算子的分块（</a:t>
            </a:r>
            <a:r>
              <a:rPr lang="en-US" sz="1200" b="0" i="0" u="none" strike="noStrike">
                <a:solidFill>
                  <a:srgbClr val="000000"/>
                </a:solidFill>
                <a:latin typeface="Google Sans Text"/>
                <a:ea typeface="Google Sans Text"/>
                <a:cs typeface="Google Sans Text"/>
                <a:sym typeface="Google Sans Text"/>
              </a:rPr>
              <a:t>Tiling</a:t>
            </a:r>
            <a:r>
              <a:rPr lang="en-US" sz="1200" b="0" i="0" u="none" strike="noStrike">
                <a:solidFill>
                  <a:srgbClr val="000000"/>
                </a:solidFill>
              </a:rPr>
              <a:t>）策略，并最终影响算法层对块大小（</a:t>
            </a:r>
            <a:r>
              <a:rPr lang="en-US" sz="1200" b="0" i="0" u="none" strike="noStrike">
                <a:solidFill>
                  <a:srgbClr val="000000"/>
                </a:solidFill>
                <a:latin typeface="Google Sans Text"/>
                <a:ea typeface="Google Sans Text"/>
                <a:cs typeface="Google Sans Text"/>
                <a:sym typeface="Google Sans Text"/>
              </a:rPr>
              <a:t>Block Size</a:t>
            </a:r>
            <a:r>
              <a:rPr lang="en-US" sz="1200" b="0" i="0" u="none" strike="noStrike">
                <a:solidFill>
                  <a:srgbClr val="000000"/>
                </a:solidFill>
              </a:rPr>
              <a:t>）或量化精度的选择</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FlagOS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社区倡导的</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系统</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芯片</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三层开放技术生态，正是基于这一设计理念，旨在实现</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一次开发，跨芯迁移</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的高效工作流，打破不同芯片软件栈之间的生态隔阂</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大模型推理面临的</a:t>
            </a:r>
            <a:r>
              <a:rPr lang="en-US" sz="1200" b="1" i="0" u="none" strike="noStrike">
                <a:solidFill>
                  <a:srgbClr val="000000"/>
                </a:solidFill>
                <a:latin typeface="Google Sans"/>
                <a:ea typeface="Google Sans"/>
                <a:cs typeface="Google Sans"/>
                <a:sym typeface="Google Sans"/>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内存墙</a:t>
            </a:r>
            <a:r>
              <a:rPr lang="en-US" sz="1200" b="1" i="0" u="none" strike="noStrike">
                <a:solidFill>
                  <a:srgbClr val="000000"/>
                </a:solidFill>
                <a:latin typeface="Google Sans"/>
                <a:ea typeface="Google Sans"/>
                <a:cs typeface="Google Sans"/>
                <a:sym typeface="Google Sans"/>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与</a:t>
            </a:r>
            <a:r>
              <a:rPr lang="en-US" sz="1200" b="1" i="0" u="none" strike="noStrike">
                <a:solidFill>
                  <a:srgbClr val="000000"/>
                </a:solidFill>
                <a:latin typeface="Google Sans"/>
                <a:ea typeface="Google Sans"/>
                <a:cs typeface="Google Sans"/>
                <a:sym typeface="Google Sans"/>
              </a:rPr>
              <a:t>“</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计算墙</a:t>
            </a:r>
            <a:r>
              <a:rPr lang="en-US" sz="1200" b="1" i="0" u="none" strike="noStrike">
                <a:solidFill>
                  <a:srgbClr val="000000"/>
                </a:solidFill>
                <a:latin typeface="Google Sans"/>
                <a:ea typeface="Google Sans"/>
                <a:cs typeface="Google Sans"/>
                <a:sym typeface="Google Sans"/>
              </a:rPr>
              <a:t>”</a:t>
            </a:r>
            <a:endParaRPr lang="en-US" sz="1200" b="1" i="0" u="none" strike="noStrike">
              <a:solidFill>
                <a:srgbClr val="000000"/>
              </a:solidFill>
              <a:latin typeface="Google Sans"/>
              <a:ea typeface="Google Sans"/>
              <a:cs typeface="Google Sans"/>
              <a:sym typeface="Google Sans"/>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当前大模型推理主要面临双重物理制约：内存墙（</a:t>
            </a:r>
            <a:r>
              <a:rPr lang="en-US" sz="1200" b="0" i="0" u="none" strike="noStrike">
                <a:solidFill>
                  <a:srgbClr val="000000"/>
                </a:solidFill>
                <a:latin typeface="Google Sans Text"/>
                <a:ea typeface="Google Sans Text"/>
                <a:cs typeface="Google Sans Text"/>
                <a:sym typeface="Google Sans Text"/>
              </a:rPr>
              <a:t>Memory Wall</a:t>
            </a:r>
            <a:r>
              <a:rPr lang="en-US" sz="1200" b="0" i="0" u="none" strike="noStrike">
                <a:solidFill>
                  <a:srgbClr val="000000"/>
                </a:solidFill>
              </a:rPr>
              <a:t>）与计算墙（</a:t>
            </a:r>
            <a:r>
              <a:rPr lang="en-US" sz="1200" b="0" i="0" u="none" strike="noStrike">
                <a:solidFill>
                  <a:srgbClr val="000000"/>
                </a:solidFill>
                <a:latin typeface="Google Sans Text"/>
                <a:ea typeface="Google Sans Text"/>
                <a:cs typeface="Google Sans Text"/>
                <a:sym typeface="Google Sans Text"/>
              </a:rPr>
              <a:t>Compute Wall</a:t>
            </a:r>
            <a:r>
              <a:rPr lang="en-US" sz="1200" b="0" i="0" u="none" strike="noStrike">
                <a:solidFill>
                  <a:srgbClr val="000000"/>
                </a:solidFill>
              </a:rPr>
              <a:t>）。内存墙是指由于内存带宽增长速度远滞后于处理器算力增长速度，导致模型在解码阶段（</a:t>
            </a:r>
            <a:r>
              <a:rPr lang="en-US" sz="1200" b="0" i="0" u="none" strike="noStrike">
                <a:solidFill>
                  <a:srgbClr val="000000"/>
                </a:solidFill>
                <a:latin typeface="Google Sans Text"/>
                <a:ea typeface="Google Sans Text"/>
                <a:cs typeface="Google Sans Text"/>
                <a:sym typeface="Google Sans Text"/>
              </a:rPr>
              <a:t>Decoding Phase</a:t>
            </a:r>
            <a:r>
              <a:rPr lang="en-US" sz="1200" b="0" i="0" u="none" strike="noStrike">
                <a:solidFill>
                  <a:srgbClr val="000000"/>
                </a:solidFill>
              </a:rPr>
              <a:t>）大部分时间处于等待数据读取的状态</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。在处理长上下文或大规模批处理时，频繁访问外部存储器（如</a:t>
            </a:r>
            <a:r>
              <a:rPr lang="en-US" sz="1200" b="0" i="0" u="none" strike="noStrike">
                <a:solidFill>
                  <a:srgbClr val="000000"/>
                </a:solidFill>
                <a:latin typeface="Google Sans Text"/>
                <a:ea typeface="Google Sans Text"/>
                <a:cs typeface="Google Sans Text"/>
                <a:sym typeface="Google Sans Text"/>
              </a:rPr>
              <a:t> DRAM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或</a:t>
            </a:r>
            <a:r>
              <a:rPr lang="en-US" sz="1200" b="0" i="0" u="none" strike="noStrike">
                <a:solidFill>
                  <a:srgbClr val="000000"/>
                </a:solidFill>
                <a:latin typeface="Google Sans Text"/>
                <a:ea typeface="Google Sans Text"/>
                <a:cs typeface="Google Sans Text"/>
                <a:sym typeface="Google Sans Text"/>
              </a:rPr>
              <a:t> HBM</a:t>
            </a:r>
            <a:r>
              <a:rPr lang="en-US" sz="1200" b="0" i="0" u="none" strike="noStrike">
                <a:solidFill>
                  <a:srgbClr val="000000"/>
                </a:solidFill>
              </a:rPr>
              <a:t>）不仅增加了延迟，更显著拉高了系统功耗</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计算墙则通常出现在预填充阶段（</a:t>
            </a:r>
            <a:r>
              <a:rPr lang="en-US" sz="1200" b="0" i="0" u="none" strike="noStrike">
                <a:solidFill>
                  <a:srgbClr val="000000"/>
                </a:solidFill>
                <a:latin typeface="Google Sans Text"/>
                <a:ea typeface="Google Sans Text"/>
                <a:cs typeface="Google Sans Text"/>
                <a:sym typeface="Google Sans Text"/>
              </a:rPr>
              <a:t>Prefill Phase</a:t>
            </a:r>
            <a:r>
              <a:rPr lang="en-US" sz="1200" b="0" i="0" u="none" strike="noStrike">
                <a:solidFill>
                  <a:srgbClr val="000000"/>
                </a:solidFill>
              </a:rPr>
              <a:t>），此时模型需要并行处理大量输入</a:t>
            </a:r>
            <a:r>
              <a:rPr lang="en-US" sz="1200" b="0" i="0" u="none" strike="noStrike">
                <a:solidFill>
                  <a:srgbClr val="000000"/>
                </a:solidFill>
                <a:latin typeface="Google Sans Text"/>
                <a:ea typeface="Google Sans Text"/>
                <a:cs typeface="Google Sans Text"/>
                <a:sym typeface="Google Sans Text"/>
              </a:rPr>
              <a:t> Token</a:t>
            </a:r>
            <a:r>
              <a:rPr lang="en-US" sz="1200" b="0" i="0" u="none" strike="noStrike">
                <a:solidFill>
                  <a:srgbClr val="000000"/>
                </a:solidFill>
              </a:rPr>
              <a:t>，算术强度极高，硬件的峰值浮点运算能力（</a:t>
            </a:r>
            <a:r>
              <a:rPr lang="en-US" sz="1200" b="0" i="0" u="none" strike="noStrike">
                <a:solidFill>
                  <a:srgbClr val="000000"/>
                </a:solidFill>
                <a:latin typeface="Google Sans Text"/>
                <a:ea typeface="Google Sans Text"/>
                <a:cs typeface="Google Sans Text"/>
                <a:sym typeface="Google Sans Text"/>
              </a:rPr>
              <a:t>TFLOPS</a:t>
            </a:r>
            <a:r>
              <a:rPr lang="en-US" sz="1200" b="0" i="0" u="none" strike="noStrike">
                <a:solidFill>
                  <a:srgbClr val="000000"/>
                </a:solidFill>
              </a:rPr>
              <a:t>）成为主要瓶颈</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。端到端优化的核心必要性在于：通过全链路协同，在内存受限时提升缓存复用率以突破内存墙；在计算受限时通过算子并行化与硬件指令优化来填满计算墙。</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E3E3E3">
                    <a:alpha val="100000"/>
                  </a:srgbClr>
                </a:solidFill>
              </a:defRPr>
            </a:lvl1pPr>
          </a:lstStyle>
          <a:p>
            <a:pPr indent="0" algn="l">
              <a:lnSpc>
                <a:spcPct val="100000"/>
              </a:lnSpc>
            </a:pPr>
            <a:r>
              <a:rPr lang="en-US" sz="1200" b="0" i="0" u="none" strike="noStrike">
                <a:solidFill>
                  <a:srgbClr val="E3E3E3"/>
                </a:solidFill>
                <a:latin typeface="等线" panose="02010600030101010101" charset="-122"/>
                <a:ea typeface="等线" panose="02010600030101010101" charset="-122"/>
                <a:cs typeface="等线" panose="02010600030101010101" charset="-122"/>
                <a:sym typeface="等线" panose="02010600030101010101" charset="-122"/>
              </a:rPr>
              <a:t>端到端优化的核心必要性在于：通过全链路协同，在内存受限时提升缓存复用率以突破内存墙；在计算受限时通过算子并行化与硬件指令优化来填满计算墙。</a:t>
            </a:r>
            <a:endParaRPr lang="en-US" sz="1200" b="0" i="0" u="none" strike="noStrike">
              <a:solidFill>
                <a:srgbClr val="E3E3E3"/>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模型结构优化：从</a:t>
            </a:r>
            <a:r>
              <a:rPr lang="en-US" sz="1200" b="1" i="0" u="none" strike="noStrike">
                <a:solidFill>
                  <a:srgbClr val="000000"/>
                </a:solidFill>
                <a:latin typeface="Google Sans"/>
                <a:ea typeface="Google Sans"/>
                <a:cs typeface="Google Sans"/>
                <a:sym typeface="Google Sans"/>
              </a:rPr>
              <a:t> MHA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到</a:t>
            </a:r>
            <a:r>
              <a:rPr lang="en-US" sz="1200" b="1" i="0" u="none" strike="noStrike">
                <a:solidFill>
                  <a:srgbClr val="000000"/>
                </a:solidFill>
                <a:latin typeface="Google Sans"/>
                <a:ea typeface="Google Sans"/>
                <a:cs typeface="Google Sans"/>
                <a:sym typeface="Google Sans"/>
              </a:rPr>
              <a:t> GQA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与</a:t>
            </a:r>
            <a:r>
              <a:rPr lang="en-US" sz="1200" b="1" i="0" u="none" strike="noStrike">
                <a:solidFill>
                  <a:srgbClr val="000000"/>
                </a:solidFill>
                <a:latin typeface="Google Sans"/>
                <a:ea typeface="Google Sans"/>
                <a:cs typeface="Google Sans"/>
                <a:sym typeface="Google Sans"/>
              </a:rPr>
              <a:t> MoE</a:t>
            </a:r>
            <a:endParaRPr lang="en-US" sz="1200" b="1" i="0" u="none" strike="noStrike">
              <a:solidFill>
                <a:srgbClr val="000000"/>
              </a:solidFill>
              <a:latin typeface="Google Sans"/>
              <a:ea typeface="Google Sans"/>
              <a:cs typeface="Google Sans"/>
              <a:sym typeface="Google Sans"/>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多头注意力机制（</a:t>
            </a:r>
            <a:r>
              <a:rPr lang="en-US" sz="1200" b="0" i="0" u="none" strike="noStrike">
                <a:solidFill>
                  <a:srgbClr val="000000"/>
                </a:solidFill>
                <a:latin typeface="Google Sans Text"/>
                <a:ea typeface="Google Sans Text"/>
                <a:cs typeface="Google Sans Text"/>
                <a:sym typeface="Google Sans Text"/>
              </a:rPr>
              <a:t>MHA</a:t>
            </a:r>
            <a:r>
              <a:rPr lang="en-US" sz="1200" b="0" i="0" u="none" strike="noStrike">
                <a:solidFill>
                  <a:srgbClr val="000000"/>
                </a:solidFill>
              </a:rPr>
              <a:t>）在长序列处理中会导致巨大的</a:t>
            </a:r>
            <a:r>
              <a:rPr lang="en-US" sz="1200" b="0" i="0" u="none" strike="noStrike">
                <a:solidFill>
                  <a:srgbClr val="000000"/>
                </a:solidFill>
                <a:latin typeface="Google Sans Text"/>
                <a:ea typeface="Google Sans Text"/>
                <a:cs typeface="Google Sans Text"/>
                <a:sym typeface="Google Sans Text"/>
              </a:rPr>
              <a:t> Key-Value</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KV</a:t>
            </a:r>
            <a:r>
              <a:rPr lang="en-US" sz="1200" b="0" i="0" u="none" strike="noStrike">
                <a:solidFill>
                  <a:srgbClr val="000000"/>
                </a:solidFill>
              </a:rPr>
              <a:t>）缓存开销，严重占据显存并限制批处理大小。为了缓解这一瓶颈，多查询注意力（</a:t>
            </a:r>
            <a:r>
              <a:rPr lang="en-US" sz="1200" b="0" i="0" u="none" strike="noStrike">
                <a:solidFill>
                  <a:srgbClr val="000000"/>
                </a:solidFill>
                <a:latin typeface="Google Sans Text"/>
                <a:ea typeface="Google Sans Text"/>
                <a:cs typeface="Google Sans Text"/>
                <a:sym typeface="Google Sans Text"/>
              </a:rPr>
              <a:t>MQA</a:t>
            </a:r>
            <a:r>
              <a:rPr lang="en-US" sz="1200" b="0" i="0" u="none" strike="noStrike">
                <a:solidFill>
                  <a:srgbClr val="000000"/>
                </a:solidFill>
              </a:rPr>
              <a:t>）和分组查询注意力（</a:t>
            </a:r>
            <a:r>
              <a:rPr lang="en-US" sz="1200" b="0" i="0" u="none" strike="noStrike">
                <a:solidFill>
                  <a:srgbClr val="000000"/>
                </a:solidFill>
                <a:latin typeface="Google Sans Text"/>
                <a:ea typeface="Google Sans Text"/>
                <a:cs typeface="Google Sans Text"/>
                <a:sym typeface="Google Sans Text"/>
              </a:rPr>
              <a:t>GQA</a:t>
            </a:r>
            <a:r>
              <a:rPr lang="en-US" sz="1200" b="0" i="0" u="none" strike="noStrike">
                <a:solidFill>
                  <a:srgbClr val="000000"/>
                </a:solidFill>
              </a:rPr>
              <a:t>）通过共享</a:t>
            </a:r>
            <a:r>
              <a:rPr lang="en-US" sz="1200" b="0" i="0" u="none" strike="noStrike">
                <a:solidFill>
                  <a:srgbClr val="000000"/>
                </a:solidFill>
                <a:latin typeface="Google Sans Text"/>
                <a:ea typeface="Google Sans Text"/>
                <a:cs typeface="Google Sans Text"/>
                <a:sym typeface="Google Sans Text"/>
              </a:rPr>
              <a:t> Key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a:t>
            </a:r>
            <a:r>
              <a:rPr lang="en-US" sz="1200" b="0" i="0" u="none" strike="noStrike">
                <a:solidFill>
                  <a:srgbClr val="000000"/>
                </a:solidFill>
                <a:latin typeface="Google Sans Text"/>
                <a:ea typeface="Google Sans Text"/>
                <a:cs typeface="Google Sans Text"/>
                <a:sym typeface="Google Sans Text"/>
              </a:rPr>
              <a:t> Value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向量，显著降低了显存带宽的需求。</a:t>
            </a:r>
            <a:r>
              <a:rPr lang="en-US" sz="1200" b="0" i="0" u="none" strike="noStrike">
                <a:solidFill>
                  <a:srgbClr val="000000"/>
                </a:solidFill>
                <a:latin typeface="Google Sans Text"/>
                <a:ea typeface="Google Sans Text"/>
                <a:cs typeface="Google Sans Text"/>
                <a:sym typeface="Google Sans Text"/>
              </a:rPr>
              <a:t>GQA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在维持模型表现力与减少</a:t>
            </a:r>
            <a:r>
              <a:rPr lang="en-US" sz="1200" b="0" i="0" u="none" strike="noStrike">
                <a:solidFill>
                  <a:srgbClr val="000000"/>
                </a:solidFill>
                <a:latin typeface="Google Sans Text"/>
                <a:ea typeface="Google Sans Text"/>
                <a:cs typeface="Google Sans Text"/>
                <a:sym typeface="Google Sans Text"/>
              </a:rPr>
              <a:t> KV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缓存之间找到了平衡点，使端到端推理吞吐量得到了显著提升</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混合专家模型（</a:t>
            </a:r>
            <a:r>
              <a:rPr lang="en-US" sz="1200" b="0" i="0" u="none" strike="noStrike">
                <a:solidFill>
                  <a:srgbClr val="000000"/>
                </a:solidFill>
                <a:latin typeface="Google Sans Text"/>
                <a:ea typeface="Google Sans Text"/>
                <a:cs typeface="Google Sans Text"/>
                <a:sym typeface="Google Sans Text"/>
              </a:rPr>
              <a:t>MoE</a:t>
            </a:r>
            <a:r>
              <a:rPr lang="en-US" sz="1200" b="0" i="0" u="none" strike="noStrike">
                <a:solidFill>
                  <a:srgbClr val="000000"/>
                </a:solidFill>
              </a:rPr>
              <a:t>）架构对计算图产生了更为深刻的影响。</a:t>
            </a:r>
            <a:r>
              <a:rPr lang="en-US" sz="1200" b="0" i="0" u="none" strike="noStrike">
                <a:solidFill>
                  <a:srgbClr val="000000"/>
                </a:solidFill>
                <a:latin typeface="Google Sans Text"/>
                <a:ea typeface="Google Sans Text"/>
                <a:cs typeface="Google Sans Text"/>
                <a:sym typeface="Google Sans Text"/>
              </a:rPr>
              <a:t>MoE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通过门控网络动态激活部分参数（专家），在保持巨量参数空间的同时降低了单次推理的活跃计算量。然而，</a:t>
            </a:r>
            <a:r>
              <a:rPr lang="en-US" sz="1200" b="0" i="0" u="none" strike="noStrike">
                <a:solidFill>
                  <a:srgbClr val="000000"/>
                </a:solidFill>
                <a:latin typeface="Google Sans Text"/>
                <a:ea typeface="Google Sans Text"/>
                <a:cs typeface="Google Sans Text"/>
                <a:sym typeface="Google Sans Text"/>
              </a:rPr>
              <a:t>MoE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引入了动态路由（</a:t>
            </a:r>
            <a:r>
              <a:rPr lang="en-US" sz="1200" b="0" i="0" u="none" strike="noStrike">
                <a:solidFill>
                  <a:srgbClr val="000000"/>
                </a:solidFill>
                <a:latin typeface="Google Sans Text"/>
                <a:ea typeface="Google Sans Text"/>
                <a:cs typeface="Google Sans Text"/>
                <a:sym typeface="Google Sans Text"/>
              </a:rPr>
              <a:t>Routing</a:t>
            </a:r>
            <a:r>
              <a:rPr lang="en-US" sz="1200" b="0" i="0" u="none" strike="noStrike">
                <a:solidFill>
                  <a:srgbClr val="000000"/>
                </a:solidFill>
              </a:rPr>
              <a:t>）和不规则的存储访问模式，这对底层的计算掩盖和通信调度提出了更高要求</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。在</a:t>
            </a:r>
            <a:r>
              <a:rPr lang="en-US" sz="1200" b="0" i="0" u="none" strike="noStrike">
                <a:solidFill>
                  <a:srgbClr val="000000"/>
                </a:solidFill>
                <a:latin typeface="Google Sans Text"/>
                <a:ea typeface="Google Sans Text"/>
                <a:cs typeface="Google Sans Text"/>
                <a:sym typeface="Google Sans Text"/>
              </a:rPr>
              <a:t> FlagScale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生态中，针对</a:t>
            </a:r>
            <a:r>
              <a:rPr lang="en-US" sz="1200" b="0" i="0" u="none" strike="noStrike">
                <a:solidFill>
                  <a:srgbClr val="000000"/>
                </a:solidFill>
                <a:latin typeface="Google Sans Text"/>
                <a:ea typeface="Google Sans Text"/>
                <a:cs typeface="Google Sans Text"/>
                <a:sym typeface="Google Sans Text"/>
              </a:rPr>
              <a:t> DeepSeek-V3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等</a:t>
            </a:r>
            <a:r>
              <a:rPr lang="en-US" sz="1200" b="0" i="0" u="none" strike="noStrike">
                <a:solidFill>
                  <a:srgbClr val="000000"/>
                </a:solidFill>
                <a:latin typeface="Google Sans Text"/>
                <a:ea typeface="Google Sans Text"/>
                <a:cs typeface="Google Sans Text"/>
                <a:sym typeface="Google Sans Text"/>
              </a:rPr>
              <a:t> MoE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模型，开发者通过优化的并行策略实现了跨芯片的异构预训练与推理支持，确保了专家调度与计算内核的高效协同</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量化与稀疏化：算子实现的依赖性</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量化（</a:t>
            </a:r>
            <a:r>
              <a:rPr lang="en-US" sz="1200" b="0" i="0" u="none" strike="noStrike">
                <a:solidFill>
                  <a:srgbClr val="000000"/>
                </a:solidFill>
                <a:latin typeface="Google Sans Text"/>
                <a:ea typeface="Google Sans Text"/>
                <a:cs typeface="Google Sans Text"/>
                <a:sym typeface="Google Sans Text"/>
              </a:rPr>
              <a:t>Quantization</a:t>
            </a:r>
            <a:r>
              <a:rPr lang="en-US" sz="1200" b="0" i="0" u="none" strike="noStrike">
                <a:solidFill>
                  <a:srgbClr val="000000"/>
                </a:solidFill>
              </a:rPr>
              <a:t>）技术将模型权重和激活从高精度的</a:t>
            </a:r>
            <a:r>
              <a:rPr lang="en-US" sz="1200" b="0" i="0" u="none" strike="noStrike">
                <a:solidFill>
                  <a:srgbClr val="000000"/>
                </a:solidFill>
                <a:latin typeface="Google Sans Text"/>
                <a:ea typeface="Google Sans Text"/>
                <a:cs typeface="Google Sans Text"/>
                <a:sym typeface="Google Sans Text"/>
              </a:rPr>
              <a:t> FP16/BF16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转换为低精度的</a:t>
            </a:r>
            <a:r>
              <a:rPr lang="en-US" sz="1200" b="0" i="0" u="none" strike="noStrike">
                <a:solidFill>
                  <a:srgbClr val="000000"/>
                </a:solidFill>
                <a:latin typeface="Google Sans Text"/>
                <a:ea typeface="Google Sans Text"/>
                <a:cs typeface="Google Sans Text"/>
                <a:sym typeface="Google Sans Text"/>
              </a:rPr>
              <a:t> INT8</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INT4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甚至</a:t>
            </a:r>
            <a:r>
              <a:rPr lang="en-US" sz="1200" b="0" i="0" u="none" strike="noStrike">
                <a:solidFill>
                  <a:srgbClr val="000000"/>
                </a:solidFill>
                <a:latin typeface="Google Sans Text"/>
                <a:ea typeface="Google Sans Text"/>
                <a:cs typeface="Google Sans Text"/>
                <a:sym typeface="Google Sans Text"/>
              </a:rPr>
              <a:t> FP8</a:t>
            </a:r>
            <a:r>
              <a:rPr lang="en-US" sz="1200" b="0" i="0" u="none" strike="noStrike">
                <a:solidFill>
                  <a:srgbClr val="000000"/>
                </a:solidFill>
              </a:rPr>
              <a:t>，从而直接压缩模型体积并降低带宽需求</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。然而，量化的收益高度依赖于底层算子对低位宽计算的支持。例如，</a:t>
            </a:r>
            <a:r>
              <a:rPr lang="en-US" sz="1200" b="0" i="0" u="none" strike="noStrike">
                <a:solidFill>
                  <a:srgbClr val="000000"/>
                </a:solidFill>
                <a:latin typeface="Google Sans Text"/>
                <a:ea typeface="Google Sans Text"/>
                <a:cs typeface="Google Sans Text"/>
                <a:sym typeface="Google Sans Text"/>
              </a:rPr>
              <a:t>INT4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量化若缺乏高效的</a:t>
            </a:r>
            <a:r>
              <a:rPr lang="en-US" sz="1200" b="0" i="0" u="none" strike="noStrike">
                <a:solidFill>
                  <a:srgbClr val="000000"/>
                </a:solidFill>
                <a:latin typeface="Google Sans Text"/>
                <a:ea typeface="Google Sans Text"/>
                <a:cs typeface="Google Sans Text"/>
                <a:sym typeface="Google Sans Text"/>
              </a:rPr>
              <a:t> Fused Dequant-GEMM</a:t>
            </a:r>
            <a:r>
              <a:rPr lang="en-US" sz="1200" b="0" i="0" u="none" strike="noStrike">
                <a:solidFill>
                  <a:srgbClr val="000000"/>
                </a:solidFill>
              </a:rPr>
              <a:t>（融合解量化矩阵乘）算子，其在</a:t>
            </a:r>
            <a:r>
              <a:rPr lang="en-US" sz="1200" b="0" i="0" u="none" strike="noStrike">
                <a:solidFill>
                  <a:srgbClr val="000000"/>
                </a:solidFill>
                <a:latin typeface="Google Sans Text"/>
                <a:ea typeface="Google Sans Text"/>
                <a:cs typeface="Google Sans Text"/>
                <a:sym typeface="Google Sans Text"/>
              </a:rPr>
              <a:t> CPU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端的解包开销可能会抵消访存节省带来的增益</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稀疏化（</a:t>
            </a:r>
            <a:r>
              <a:rPr lang="en-US" sz="1200" b="0" i="0" u="none" strike="noStrike">
                <a:solidFill>
                  <a:srgbClr val="000000"/>
                </a:solidFill>
                <a:latin typeface="Google Sans Text"/>
                <a:ea typeface="Google Sans Text"/>
                <a:cs typeface="Google Sans Text"/>
                <a:sym typeface="Google Sans Text"/>
              </a:rPr>
              <a:t>Sparsification</a:t>
            </a:r>
            <a:r>
              <a:rPr lang="en-US" sz="1200" b="0" i="0" u="none" strike="noStrike">
                <a:solidFill>
                  <a:srgbClr val="000000"/>
                </a:solidFill>
              </a:rPr>
              <a:t>）则通过剔除冗余参数来进一步减少计算量。无论是结构化稀疏还是非结构化稀疏，都需要底层硬件与编译器层面的配合，以处理稀疏矩阵的索引开销</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。这些算法层面的改动，实质上是在重塑计算任务的微观特征，为后续各层的优化指明了方向。</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第二层：编译器级优化策略</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编译器层是算法逻辑向机器码转化的关键节点。其任务是在不改变算法语义的前提下，最大限度地减少冗余操作和非必要的内存读写。</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计算图级优化：算子融合与代码消除</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计算图优化专注于宏观算术逻辑的重组。算子融合（</a:t>
            </a:r>
            <a:r>
              <a:rPr lang="en-US" sz="1200" b="0" i="0" u="none" strike="noStrike">
                <a:solidFill>
                  <a:srgbClr val="000000"/>
                </a:solidFill>
                <a:latin typeface="Google Sans Text"/>
                <a:ea typeface="Google Sans Text"/>
                <a:cs typeface="Google Sans Text"/>
                <a:sym typeface="Google Sans Text"/>
              </a:rPr>
              <a:t>Operator Fusion</a:t>
            </a:r>
            <a:r>
              <a:rPr lang="en-US" sz="1200" b="0" i="0" u="none" strike="noStrike">
                <a:solidFill>
                  <a:srgbClr val="000000"/>
                </a:solidFill>
              </a:rPr>
              <a:t>）是最核心的技术之一，它将相邻的</a:t>
            </a:r>
            <a:r>
              <a:rPr lang="en-US" sz="1200" b="0" i="0" u="none" strike="noStrike">
                <a:solidFill>
                  <a:srgbClr val="000000"/>
                </a:solidFill>
                <a:latin typeface="Google Sans Text"/>
                <a:ea typeface="Google Sans Text"/>
                <a:cs typeface="Google Sans Text"/>
                <a:sym typeface="Google Sans Text"/>
              </a:rPr>
              <a:t> Pointwise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操作（如</a:t>
            </a:r>
            <a:r>
              <a:rPr lang="en-US" sz="1200" b="0" i="0" u="none" strike="noStrike">
                <a:solidFill>
                  <a:srgbClr val="000000"/>
                </a:solidFill>
                <a:latin typeface="Google Sans Text"/>
                <a:ea typeface="Google Sans Text"/>
                <a:cs typeface="Google Sans Text"/>
                <a:sym typeface="Google Sans Text"/>
              </a:rPr>
              <a:t> Add, Mul, Sigmoid</a:t>
            </a:r>
            <a:r>
              <a:rPr lang="en-US" sz="1200" b="0" i="0" u="none" strike="noStrike">
                <a:solidFill>
                  <a:srgbClr val="000000"/>
                </a:solidFill>
              </a:rPr>
              <a:t>）或</a:t>
            </a:r>
            <a:r>
              <a:rPr lang="en-US" sz="1200" b="0" i="0" u="none" strike="noStrike">
                <a:solidFill>
                  <a:srgbClr val="000000"/>
                </a:solidFill>
                <a:latin typeface="Google Sans Text"/>
                <a:ea typeface="Google Sans Text"/>
                <a:cs typeface="Google Sans Text"/>
                <a:sym typeface="Google Sans Text"/>
              </a:rPr>
              <a:t> Reduce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操作合并为一个单</a:t>
            </a:r>
            <a:r>
              <a:rPr lang="en-US" sz="1200" b="0" i="0" u="none" strike="noStrike">
                <a:solidFill>
                  <a:srgbClr val="000000"/>
                </a:solidFill>
                <a:latin typeface="Google Sans Text"/>
                <a:ea typeface="Google Sans Text"/>
                <a:cs typeface="Google Sans Text"/>
                <a:sym typeface="Google Sans Text"/>
              </a:rPr>
              <a:t> Kernel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执行。这种融合避免了将中间结果写回主存的昂贵代价，将数据保留在寄存器或</a:t>
            </a:r>
            <a:r>
              <a:rPr lang="en-US" sz="1200" b="0" i="0" u="none" strike="noStrike">
                <a:solidFill>
                  <a:srgbClr val="000000"/>
                </a:solidFill>
                <a:latin typeface="Google Sans Text"/>
                <a:ea typeface="Google Sans Text"/>
                <a:cs typeface="Google Sans Text"/>
                <a:sym typeface="Google Sans Text"/>
              </a:rPr>
              <a:t> L1/L2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缓存中，极大提升了访存密集型（</a:t>
            </a:r>
            <a:r>
              <a:rPr lang="en-US" sz="1200" b="0" i="0" u="none" strike="noStrike">
                <a:solidFill>
                  <a:srgbClr val="000000"/>
                </a:solidFill>
                <a:latin typeface="Google Sans Text"/>
                <a:ea typeface="Google Sans Text"/>
                <a:cs typeface="Google Sans Text"/>
                <a:sym typeface="Google Sans Text"/>
              </a:rPr>
              <a:t>Memory-bound</a:t>
            </a:r>
            <a:r>
              <a:rPr lang="en-US" sz="1200" b="0" i="0" u="none" strike="noStrike">
                <a:solidFill>
                  <a:srgbClr val="000000"/>
                </a:solidFill>
              </a:rPr>
              <a:t>）任务的执行速度</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此外，常量折叠（</a:t>
            </a:r>
            <a:r>
              <a:rPr lang="en-US" sz="1200" b="0" i="0" u="none" strike="noStrike">
                <a:solidFill>
                  <a:srgbClr val="000000"/>
                </a:solidFill>
                <a:latin typeface="Google Sans Text"/>
                <a:ea typeface="Google Sans Text"/>
                <a:cs typeface="Google Sans Text"/>
                <a:sym typeface="Google Sans Text"/>
              </a:rPr>
              <a:t>Constant Folding</a:t>
            </a:r>
            <a:r>
              <a:rPr lang="en-US" sz="1200" b="0" i="0" u="none" strike="noStrike">
                <a:solidFill>
                  <a:srgbClr val="000000"/>
                </a:solidFill>
              </a:rPr>
              <a:t>）在编译阶段预先计算静态子图，死代码消除（</a:t>
            </a:r>
            <a:r>
              <a:rPr lang="en-US" sz="1200" b="0" i="0" u="none" strike="noStrike">
                <a:solidFill>
                  <a:srgbClr val="000000"/>
                </a:solidFill>
                <a:latin typeface="Google Sans Text"/>
                <a:ea typeface="Google Sans Text"/>
                <a:cs typeface="Google Sans Text"/>
                <a:sym typeface="Google Sans Text"/>
              </a:rPr>
              <a:t>Dead Code Elimination</a:t>
            </a:r>
            <a:r>
              <a:rPr lang="en-US" sz="1200" b="0" i="0" u="none" strike="noStrike">
                <a:solidFill>
                  <a:srgbClr val="000000"/>
                </a:solidFill>
              </a:rPr>
              <a:t>）则移除不影响最终输出的冗余计算分支。</a:t>
            </a:r>
            <a:r>
              <a:rPr lang="en-US" sz="1200" b="0" i="0" u="none" strike="noStrike">
                <a:solidFill>
                  <a:srgbClr val="000000"/>
                </a:solidFill>
                <a:latin typeface="Google Sans Text"/>
                <a:ea typeface="Google Sans Text"/>
                <a:cs typeface="Google Sans Text"/>
                <a:sym typeface="Google Sans Text"/>
              </a:rPr>
              <a:t>FlagTree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作为一个统一的</a:t>
            </a:r>
            <a:r>
              <a:rPr lang="en-US" sz="1200" b="0" i="0" u="none" strike="noStrike">
                <a:solidFill>
                  <a:srgbClr val="000000"/>
                </a:solidFill>
                <a:latin typeface="Google Sans Text"/>
                <a:ea typeface="Google Sans Text"/>
                <a:cs typeface="Google Sans Text"/>
                <a:sym typeface="Google Sans Text"/>
              </a:rPr>
              <a:t> AI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芯片编译器框架，能够针对多种后端（如</a:t>
            </a:r>
            <a:r>
              <a:rPr lang="en-US" sz="1200" b="0" i="0" u="none" strike="noStrike">
                <a:solidFill>
                  <a:srgbClr val="000000"/>
                </a:solidFill>
                <a:latin typeface="Google Sans Text"/>
                <a:ea typeface="Google Sans Text"/>
                <a:cs typeface="Google Sans Text"/>
                <a:sym typeface="Google Sans Text"/>
              </a:rPr>
              <a:t> NVIDIA, Huawei Ascend, Moore Threads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等）生成高度优化的中间表示（</a:t>
            </a:r>
            <a:r>
              <a:rPr lang="en-US" sz="1200" b="0" i="0" u="none" strike="noStrike">
                <a:solidFill>
                  <a:srgbClr val="000000"/>
                </a:solidFill>
                <a:latin typeface="Google Sans Text"/>
                <a:ea typeface="Google Sans Text"/>
                <a:cs typeface="Google Sans Text"/>
                <a:sym typeface="Google Sans Text"/>
              </a:rPr>
              <a:t>FLIR</a:t>
            </a:r>
            <a:r>
              <a:rPr lang="en-US" sz="1200" b="0" i="0" u="none" strike="noStrike">
                <a:solidFill>
                  <a:srgbClr val="000000"/>
                </a:solidFill>
              </a:rPr>
              <a:t>），并结合</a:t>
            </a:r>
            <a:r>
              <a:rPr lang="en-US" sz="1200" b="0" i="0" u="none" strike="noStrike">
                <a:solidFill>
                  <a:srgbClr val="000000"/>
                </a:solidFill>
                <a:latin typeface="Google Sans Text"/>
                <a:ea typeface="Google Sans Text"/>
                <a:cs typeface="Google Sans Text"/>
                <a:sym typeface="Google Sans Text"/>
              </a:rPr>
              <a:t>“flagtree_hints”</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引导硬件特有的内存管理策略</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显存与显存规划优化：显存复用与通信掩盖</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显存规划的目标是在有限的</a:t>
            </a:r>
            <a:r>
              <a:rPr lang="en-US" sz="1200" b="0" i="0" u="none" strike="noStrike">
                <a:solidFill>
                  <a:srgbClr val="000000"/>
                </a:solidFill>
                <a:latin typeface="Google Sans Text"/>
                <a:ea typeface="Google Sans Text"/>
                <a:cs typeface="Google Sans Text"/>
                <a:sym typeface="Google Sans Text"/>
              </a:rPr>
              <a:t> HBM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空间内塞入更大的模型或更高的</a:t>
            </a:r>
            <a:r>
              <a:rPr lang="en-US" sz="1200" b="0" i="0" u="none" strike="noStrike">
                <a:solidFill>
                  <a:srgbClr val="000000"/>
                </a:solidFill>
                <a:latin typeface="Google Sans Text"/>
                <a:ea typeface="Google Sans Text"/>
                <a:cs typeface="Google Sans Text"/>
                <a:sym typeface="Google Sans Text"/>
              </a:rPr>
              <a:t> Batch Size</a:t>
            </a:r>
            <a:r>
              <a:rPr lang="en-US" sz="1200" b="0" i="0" u="none" strike="noStrike">
                <a:solidFill>
                  <a:srgbClr val="000000"/>
                </a:solidFill>
              </a:rPr>
              <a:t>。通过静态分析计算图，编译器可以识别张量的生命周期，并对不重叠的张量实施显存复用（</a:t>
            </a:r>
            <a:r>
              <a:rPr lang="en-US" sz="1200" b="0" i="0" u="none" strike="noStrike">
                <a:solidFill>
                  <a:srgbClr val="000000"/>
                </a:solidFill>
                <a:latin typeface="Google Sans Text"/>
                <a:ea typeface="Google Sans Text"/>
                <a:cs typeface="Google Sans Text"/>
                <a:sym typeface="Google Sans Text"/>
              </a:rPr>
              <a:t>Memory Reuse</a:t>
            </a:r>
            <a:r>
              <a:rPr lang="en-US" sz="1200" b="0" i="0" u="none" strike="noStrike">
                <a:solidFill>
                  <a:srgbClr val="000000"/>
                </a:solidFill>
              </a:rPr>
              <a:t>）。在分布式场景中，通信掩盖（</a:t>
            </a:r>
            <a:r>
              <a:rPr lang="en-US" sz="1200" b="0" i="0" u="none" strike="noStrike">
                <a:solidFill>
                  <a:srgbClr val="000000"/>
                </a:solidFill>
                <a:latin typeface="Google Sans Text"/>
                <a:ea typeface="Google Sans Text"/>
                <a:cs typeface="Google Sans Text"/>
                <a:sym typeface="Google Sans Text"/>
              </a:rPr>
              <a:t>Communication Overlapping</a:t>
            </a:r>
            <a:r>
              <a:rPr lang="en-US" sz="1200" b="0" i="0" u="none" strike="noStrike">
                <a:solidFill>
                  <a:srgbClr val="000000"/>
                </a:solidFill>
              </a:rPr>
              <a:t>）通过在计算过程中异步启动集体通信（如</a:t>
            </a:r>
            <a:r>
              <a:rPr lang="en-US" sz="1200" b="0" i="0" u="none" strike="noStrike">
                <a:solidFill>
                  <a:srgbClr val="000000"/>
                </a:solidFill>
                <a:latin typeface="Google Sans Text"/>
                <a:ea typeface="Google Sans Text"/>
                <a:cs typeface="Google Sans Text"/>
                <a:sym typeface="Google Sans Text"/>
              </a:rPr>
              <a:t> All-Reduce</a:t>
            </a:r>
            <a:r>
              <a:rPr lang="en-US" sz="1200" b="0" i="0" u="none" strike="noStrike">
                <a:solidFill>
                  <a:srgbClr val="000000"/>
                </a:solidFill>
              </a:rPr>
              <a:t>），消除了通信延迟对整体执行时间的直接贡献</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Google Sans Text"/>
                <a:ea typeface="Google Sans Text"/>
                <a:cs typeface="Google Sans Text"/>
                <a:sym typeface="Google Sans Text"/>
              </a:rPr>
              <a:t>FlagCX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通信库在这一层发挥了关键作用。作为一种可扩展且适应性强的统一通信库，</a:t>
            </a:r>
            <a:r>
              <a:rPr lang="en-US" sz="1200" b="0" i="0" u="none" strike="noStrike">
                <a:solidFill>
                  <a:srgbClr val="000000"/>
                </a:solidFill>
                <a:latin typeface="Google Sans Text"/>
                <a:ea typeface="Google Sans Text"/>
                <a:cs typeface="Google Sans Text"/>
                <a:sym typeface="Google Sans Text"/>
              </a:rPr>
              <a:t>FlagCX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支持拓扑自动检测和设备缓冲区的</a:t>
            </a:r>
            <a:r>
              <a:rPr lang="en-US" sz="1200" b="0" i="0" u="none" strike="noStrike">
                <a:solidFill>
                  <a:srgbClr val="000000"/>
                </a:solidFill>
                <a:latin typeface="Google Sans Text"/>
                <a:ea typeface="Google Sans Text"/>
                <a:cs typeface="Google Sans Text"/>
                <a:sym typeface="Google Sans Text"/>
              </a:rPr>
              <a:t> RDMA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技术，能够优化跨芯片环境下的数据同步效率</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a:t>
            </a:r>
            <a:r>
              <a:rPr lang="en-US" sz="1200" b="0" i="0" u="none" strike="noStrike">
                <a:solidFill>
                  <a:srgbClr val="000000"/>
                </a:solidFill>
                <a:latin typeface="Google Sans Text"/>
                <a:ea typeface="Google Sans Text"/>
                <a:cs typeface="Google Sans Text"/>
                <a:sym typeface="Google Sans Text"/>
              </a:rPr>
              <a:t> Megatron-LM-FL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的分布式实践中，这种通信掩盖机制确保了即便在异构芯片集群中，计算与通信也能保持紧密的流水线协同</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算子实现与硬件微结构优化</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当优化进入算子实现层，竞争的焦点转变为对硬件指令集和存储层次结构的极致利用。</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算子级手写与调优：</a:t>
            </a:r>
            <a:r>
              <a:rPr lang="en-US" sz="1200" b="1" i="0" u="none" strike="noStrike">
                <a:solidFill>
                  <a:srgbClr val="000000"/>
                </a:solidFill>
                <a:latin typeface="Google Sans"/>
                <a:ea typeface="Google Sans"/>
                <a:cs typeface="Google Sans"/>
                <a:sym typeface="Google Sans"/>
              </a:rPr>
              <a:t>Kernel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集成全链路</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虽然自动化编译技术在快速迭代，但针对大模型中的热点算子（如</a:t>
            </a:r>
            <a:r>
              <a:rPr lang="en-US" sz="1200" b="0" i="0" u="none" strike="noStrike">
                <a:solidFill>
                  <a:srgbClr val="000000"/>
                </a:solidFill>
                <a:latin typeface="Google Sans Text"/>
                <a:ea typeface="Google Sans Text"/>
                <a:cs typeface="Google Sans Text"/>
                <a:sym typeface="Google Sans Text"/>
              </a:rPr>
              <a:t> LayerNorm, Softmax, RMSNorm</a:t>
            </a:r>
            <a:r>
              <a:rPr lang="en-US" sz="1200" b="0" i="0" u="none" strike="noStrike">
                <a:solidFill>
                  <a:srgbClr val="000000"/>
                </a:solidFill>
              </a:rPr>
              <a:t>），手写高性能</a:t>
            </a:r>
            <a:r>
              <a:rPr lang="en-US" sz="1200" b="0" i="0" u="none" strike="noStrike">
                <a:solidFill>
                  <a:srgbClr val="000000"/>
                </a:solidFill>
                <a:latin typeface="Google Sans Text"/>
                <a:ea typeface="Google Sans Text"/>
                <a:cs typeface="Google Sans Text"/>
                <a:sym typeface="Google Sans Text"/>
              </a:rPr>
              <a:t> Kernel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仍不可或缺。利用</a:t>
            </a:r>
            <a:r>
              <a:rPr lang="en-US" sz="1200" b="0" i="0" u="none" strike="noStrike">
                <a:solidFill>
                  <a:srgbClr val="000000"/>
                </a:solidFill>
                <a:latin typeface="Google Sans Text"/>
                <a:ea typeface="Google Sans Text"/>
                <a:cs typeface="Google Sans Text"/>
                <a:sym typeface="Google Sans Text"/>
              </a:rPr>
              <a:t> OpenAI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推出的</a:t>
            </a:r>
            <a:r>
              <a:rPr lang="en-US" sz="1200" b="0" i="0" u="none" strike="noStrike">
                <a:solidFill>
                  <a:srgbClr val="000000"/>
                </a:solidFill>
                <a:latin typeface="Google Sans Text"/>
                <a:ea typeface="Google Sans Text"/>
                <a:cs typeface="Google Sans Text"/>
                <a:sym typeface="Google Sans Text"/>
              </a:rPr>
              <a:t> Triton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语言，开发者可以编写具有高度可读性且性能媲美原生</a:t>
            </a:r>
            <a:r>
              <a:rPr lang="en-US" sz="1200" b="0" i="0" u="none" strike="noStrike">
                <a:solidFill>
                  <a:srgbClr val="000000"/>
                </a:solidFill>
                <a:latin typeface="Google Sans Text"/>
                <a:ea typeface="Google Sans Text"/>
                <a:cs typeface="Google Sans Text"/>
                <a:sym typeface="Google Sans Text"/>
              </a:rPr>
              <a:t> CUDA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的算子代码</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。在端到端链路中，这些调优好的</a:t>
            </a:r>
            <a:r>
              <a:rPr lang="en-US" sz="1200" b="0" i="0" u="none" strike="noStrike">
                <a:solidFill>
                  <a:srgbClr val="000000"/>
                </a:solidFill>
                <a:latin typeface="Google Sans Text"/>
                <a:ea typeface="Google Sans Text"/>
                <a:cs typeface="Google Sans Text"/>
                <a:sym typeface="Google Sans Text"/>
              </a:rPr>
              <a:t> Kernel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需要通过标准化的</a:t>
            </a:r>
            <a:r>
              <a:rPr lang="en-US" sz="1200" b="0" i="0" u="none" strike="noStrike">
                <a:solidFill>
                  <a:srgbClr val="000000"/>
                </a:solidFill>
                <a:latin typeface="Google Sans Text"/>
                <a:ea typeface="Google Sans Text"/>
                <a:cs typeface="Google Sans Text"/>
                <a:sym typeface="Google Sans Text"/>
              </a:rPr>
              <a:t> API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集成到上层推理框架中。</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Google Sans Text"/>
                <a:ea typeface="Google Sans Text"/>
                <a:cs typeface="Google Sans Text"/>
                <a:sym typeface="Google Sans Text"/>
              </a:rPr>
              <a:t>FlagGems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作为高性能通用算子库，提供了大量经过深度调优的</a:t>
            </a:r>
            <a:r>
              <a:rPr lang="en-US" sz="1200" b="0" i="0" u="none" strike="noStrike">
                <a:solidFill>
                  <a:srgbClr val="000000"/>
                </a:solidFill>
                <a:latin typeface="Google Sans Text"/>
                <a:ea typeface="Google Sans Text"/>
                <a:cs typeface="Google Sans Text"/>
                <a:sym typeface="Google Sans Text"/>
              </a:rPr>
              <a:t> Triton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实现。其核心价值在于</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后端中立</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的内核集合，能够根据运行时的硬件后端自动派发最优实现</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。例如，在复杂的反向传播场景中，</a:t>
            </a:r>
            <a:r>
              <a:rPr lang="en-US" sz="1200" b="0" i="0" u="none" strike="noStrike">
                <a:solidFill>
                  <a:srgbClr val="000000"/>
                </a:solidFill>
                <a:latin typeface="Google Sans Text"/>
                <a:ea typeface="Google Sans Text"/>
                <a:cs typeface="Google Sans Text"/>
                <a:sym typeface="Google Sans Text"/>
              </a:rPr>
              <a:t>FlagGems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提供的</a:t>
            </a:r>
            <a:r>
              <a:rPr lang="en-US" sz="1200" b="0" i="0" u="none" strike="noStrike">
                <a:solidFill>
                  <a:srgbClr val="000000"/>
                </a:solidFill>
                <a:latin typeface="Google Sans Text"/>
                <a:ea typeface="Google Sans Text"/>
                <a:cs typeface="Google Sans Text"/>
                <a:sym typeface="Google Sans Text"/>
              </a:rPr>
              <a:t> gather_backward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等算子极大缓解了训练过程中的性能瓶颈</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latin typeface="Google Sans"/>
              </a:defRPr>
            </a:lvl1pPr>
          </a:lstStyle>
          <a:p>
            <a:pPr indent="0" algn="l">
              <a:lnSpc>
                <a:spcPct val="100000"/>
              </a:lnSpc>
            </a:pPr>
            <a:r>
              <a:rPr lang="en-US" sz="1200" b="1" i="0" u="none" strike="noStrike">
                <a:solidFill>
                  <a:srgbClr val="000000"/>
                </a:solidFill>
                <a:latin typeface="Google Sans"/>
                <a:ea typeface="Google Sans"/>
                <a:cs typeface="Google Sans"/>
                <a:sym typeface="Google Sans"/>
              </a:rPr>
              <a:t>FlagGems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算子库的设计理念及其作用</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Google Sans Text"/>
                <a:ea typeface="Google Sans Text"/>
                <a:cs typeface="Google Sans Text"/>
                <a:sym typeface="Google Sans Text"/>
              </a:rPr>
              <a:t>FlagGems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的设计理念主要围绕</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无缝替换</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高效运行时</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展开。它通过覆盖重写</a:t>
            </a:r>
            <a:r>
              <a:rPr lang="en-US" sz="1200" b="0" i="0" u="none" strike="noStrike">
                <a:solidFill>
                  <a:srgbClr val="000000"/>
                </a:solidFill>
                <a:latin typeface="Google Sans Text"/>
                <a:ea typeface="Google Sans Text"/>
                <a:cs typeface="Google Sans Text"/>
                <a:sym typeface="Google Sans Text"/>
              </a:rPr>
              <a:t> PyTorch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a:t>
            </a:r>
            <a:r>
              <a:rPr lang="en-US" sz="1200" b="0" i="0" u="none" strike="noStrike">
                <a:solidFill>
                  <a:srgbClr val="000000"/>
                </a:solidFill>
                <a:latin typeface="Google Sans Text"/>
                <a:ea typeface="Google Sans Text"/>
                <a:cs typeface="Google Sans Text"/>
                <a:sym typeface="Google Sans Text"/>
              </a:rPr>
              <a:t> ATen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算子，使得模型开发者无需修改底层代码，仅通过一行</a:t>
            </a:r>
            <a:r>
              <a:rPr lang="en-US" sz="1200" b="0" i="0" u="none" strike="noStrike">
                <a:solidFill>
                  <a:srgbClr val="000000"/>
                </a:solidFill>
                <a:latin typeface="Google Sans Text"/>
                <a:ea typeface="Google Sans Text"/>
                <a:cs typeface="Google Sans Text"/>
                <a:sym typeface="Google Sans Text"/>
              </a:rPr>
              <a:t> flag_gems.enable()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即可切换到高性能</a:t>
            </a:r>
            <a:r>
              <a:rPr lang="en-US" sz="1200" b="0" i="0" u="none" strike="noStrike">
                <a:solidFill>
                  <a:srgbClr val="000000"/>
                </a:solidFill>
                <a:latin typeface="Google Sans Text"/>
                <a:ea typeface="Google Sans Text"/>
                <a:cs typeface="Google Sans Text"/>
                <a:sym typeface="Google Sans Text"/>
              </a:rPr>
              <a:t> Triton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算子库</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为了解决</a:t>
            </a:r>
            <a:r>
              <a:rPr lang="en-US" sz="1200" b="0" i="0" u="none" strike="noStrike">
                <a:solidFill>
                  <a:srgbClr val="000000"/>
                </a:solidFill>
                <a:latin typeface="Google Sans Text"/>
                <a:ea typeface="Google Sans Text"/>
                <a:cs typeface="Google Sans Text"/>
                <a:sym typeface="Google Sans Text"/>
              </a:rPr>
              <a:t> Triton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运行时由于复杂的装饰器（如</a:t>
            </a:r>
            <a:r>
              <a:rPr lang="en-US" sz="1200" b="0" i="0" u="none" strike="noStrike">
                <a:solidFill>
                  <a:srgbClr val="000000"/>
                </a:solidFill>
                <a:latin typeface="Google Sans Text"/>
                <a:ea typeface="Google Sans Text"/>
                <a:cs typeface="Google Sans Text"/>
                <a:sym typeface="Google Sans Text"/>
              </a:rPr>
              <a:t> Autotuner</a:t>
            </a:r>
            <a:r>
              <a:rPr lang="en-US" sz="1200" b="0" i="0" u="none" strike="noStrike">
                <a:solidFill>
                  <a:srgbClr val="000000"/>
                </a:solidFill>
                <a:latin typeface="Google Sans"/>
                <a:ea typeface="Google Sans"/>
                <a:cs typeface="Google Sans"/>
                <a:sym typeface="Google Sans"/>
              </a:rPr>
              <a:t>）带来的</a:t>
            </a:r>
            <a:r>
              <a:rPr lang="en-US" sz="1200" b="0" i="0" u="none" strike="noStrike">
                <a:solidFill>
                  <a:srgbClr val="000000"/>
                </a:solidFill>
                <a:latin typeface="Google Sans Text"/>
                <a:ea typeface="Google Sans Text"/>
                <a:cs typeface="Google Sans Text"/>
                <a:sym typeface="Google Sans Text"/>
              </a:rPr>
              <a:t> CPU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端侧开销，</a:t>
            </a:r>
            <a:r>
              <a:rPr lang="en-US" sz="1200" b="0" i="0" u="none" strike="noStrike">
                <a:solidFill>
                  <a:srgbClr val="000000"/>
                </a:solidFill>
                <a:latin typeface="Google Sans Text"/>
                <a:ea typeface="Google Sans Text"/>
                <a:cs typeface="Google Sans Text"/>
                <a:sym typeface="Google Sans Text"/>
              </a:rPr>
              <a:t>FlagGems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创新性地引入了</a:t>
            </a:r>
            <a:r>
              <a:rPr lang="en-US" sz="1200" b="0" i="0" u="none" strike="noStrike">
                <a:solidFill>
                  <a:srgbClr val="000000"/>
                </a:solidFill>
                <a:latin typeface="Google Sans Text"/>
                <a:ea typeface="Google Sans Text"/>
                <a:cs typeface="Google Sans Text"/>
                <a:sym typeface="Google Sans Text"/>
              </a:rPr>
              <a:t> LibEntry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机制。该机制通过独立维护的缓存绕过多层调用，将算子执行的</a:t>
            </a:r>
            <a:r>
              <a:rPr lang="en-US" sz="1200" b="0" i="0" u="none" strike="noStrike">
                <a:solidFill>
                  <a:srgbClr val="000000"/>
                </a:solidFill>
                <a:latin typeface="Google Sans Text"/>
                <a:ea typeface="Google Sans Text"/>
                <a:cs typeface="Google Sans Text"/>
                <a:sym typeface="Google Sans Text"/>
              </a:rPr>
              <a:t> CPU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耗时降低了约</a:t>
            </a:r>
            <a:r>
              <a:rPr lang="en-US" sz="1200" b="0" i="0" u="none" strike="noStrike">
                <a:solidFill>
                  <a:srgbClr val="000000"/>
                </a:solidFill>
                <a:latin typeface="Google Sans Text"/>
                <a:ea typeface="Google Sans Text"/>
                <a:cs typeface="Google Sans Text"/>
                <a:sym typeface="Google Sans Text"/>
              </a:rPr>
              <a:t> 70%</a:t>
            </a:r>
            <a:r>
              <a:rPr lang="en-US" sz="1200" b="0" i="0" u="none" strike="noStrike">
                <a:solidFill>
                  <a:srgbClr val="000000"/>
                </a:solidFill>
                <a:latin typeface="Google Sans"/>
                <a:ea typeface="Google Sans"/>
                <a:cs typeface="Google Sans"/>
                <a:sym typeface="Google Sans"/>
              </a:rPr>
              <a:t>，确保了在处理小规模算子时也能达到与原生</a:t>
            </a:r>
            <a:r>
              <a:rPr lang="en-US" sz="1200" b="0" i="0" u="none" strike="noStrike">
                <a:solidFill>
                  <a:srgbClr val="000000"/>
                </a:solidFill>
                <a:latin typeface="Google Sans Text"/>
                <a:ea typeface="Google Sans Text"/>
                <a:cs typeface="Google Sans Text"/>
                <a:sym typeface="Google Sans Text"/>
              </a:rPr>
              <a:t> ATen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相当的效率</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。此外，</a:t>
            </a:r>
            <a:r>
              <a:rPr lang="en-US" sz="1200" b="0" i="0" u="none" strike="noStrike">
                <a:solidFill>
                  <a:srgbClr val="000000"/>
                </a:solidFill>
                <a:latin typeface="Google Sans Text"/>
                <a:ea typeface="Google Sans Text"/>
                <a:cs typeface="Google Sans Text"/>
                <a:sym typeface="Google Sans Text"/>
              </a:rPr>
              <a:t>FlagGems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支持自动化的</a:t>
            </a:r>
            <a:r>
              <a:rPr lang="en-US" sz="1200" b="0" i="0" u="none" strike="noStrike">
                <a:solidFill>
                  <a:srgbClr val="000000"/>
                </a:solidFill>
                <a:latin typeface="Google Sans Text"/>
                <a:ea typeface="Google Sans Text"/>
                <a:cs typeface="Google Sans Text"/>
                <a:sym typeface="Google Sans Text"/>
              </a:rPr>
              <a:t> Pointwise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代码生成，能够灵活处理非连续张量和多种输入类型，大幅提升了算子开发的覆盖面和通用性</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智算生态引入：</a:t>
            </a:r>
            <a:r>
              <a:rPr lang="en-US" sz="1200" b="1" i="0" u="none" strike="noStrike">
                <a:solidFill>
                  <a:srgbClr val="000000"/>
                </a:solidFill>
                <a:latin typeface="Google Sans"/>
                <a:ea typeface="Google Sans"/>
                <a:cs typeface="Google Sans"/>
                <a:sym typeface="Google Sans"/>
              </a:rPr>
              <a:t>FlagOS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与</a:t>
            </a:r>
            <a:r>
              <a:rPr lang="en-US" sz="1200" b="1" i="0" u="none" strike="noStrike">
                <a:solidFill>
                  <a:srgbClr val="000000"/>
                </a:solidFill>
                <a:latin typeface="Google Sans"/>
                <a:ea typeface="Google Sans"/>
                <a:cs typeface="Google Sans"/>
                <a:sym typeface="Google Sans"/>
              </a:rPr>
              <a:t> FlagScale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协同</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性能优化不再是孤立的代码改进，而是一场生态级别的协同。</a:t>
            </a:r>
            <a:r>
              <a:rPr lang="en-US" sz="1200" b="0" i="0" u="none" strike="noStrike">
                <a:solidFill>
                  <a:srgbClr val="000000"/>
                </a:solidFill>
                <a:latin typeface="Google Sans Text"/>
                <a:ea typeface="Google Sans Text"/>
                <a:cs typeface="Google Sans Text"/>
                <a:sym typeface="Google Sans Text"/>
              </a:rPr>
              <a:t>FlagOS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提供了一个统一的异构计算软件栈，将模型、系统与芯片层紧密联结</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Google Sans"/>
                <a:ea typeface="Google Sans"/>
                <a:cs typeface="Google Sans"/>
                <a:sym typeface="Google Sans"/>
              </a:rPr>
              <a:t>FlagScale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的系统定位：全生命周期加速</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Google Sans Text"/>
                <a:ea typeface="Google Sans Text"/>
                <a:cs typeface="Google Sans Text"/>
                <a:sym typeface="Google Sans Text"/>
              </a:rPr>
              <a:t>FlagScale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被定位为一个支持大模型全生命周期的综合工具包，涵盖开发、训练、微调与部署</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。其核心目标是在保障跨架构迁移能力的同时，最大化硬件计算资源的利用效率。</a:t>
            </a:r>
            <a:r>
              <a:rPr lang="en-US" sz="1200" b="0" i="0" u="none" strike="noStrike">
                <a:solidFill>
                  <a:srgbClr val="000000"/>
                </a:solidFill>
                <a:latin typeface="Google Sans Text"/>
                <a:ea typeface="Google Sans Text"/>
                <a:cs typeface="Google Sans Text"/>
                <a:sym typeface="Google Sans Text"/>
              </a:rPr>
              <a:t>FlagScale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并不重造轮子，而是基于</a:t>
            </a:r>
            <a:r>
              <a:rPr lang="en-US" sz="1200" b="0" i="0" u="none" strike="noStrike">
                <a:solidFill>
                  <a:srgbClr val="000000"/>
                </a:solidFill>
                <a:latin typeface="Google Sans Text"/>
                <a:ea typeface="Google Sans Text"/>
                <a:cs typeface="Google Sans Text"/>
                <a:sym typeface="Google Sans Text"/>
              </a:rPr>
              <a:t> Megatron-LM</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vLLM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等成熟开源项目进行深度定制，形成针对异构芯片优化的</a:t>
            </a:r>
            <a:r>
              <a:rPr lang="en-US" sz="1200" b="0" i="0" u="none" strike="noStrike">
                <a:solidFill>
                  <a:srgbClr val="000000"/>
                </a:solidFill>
                <a:latin typeface="Google Sans Text"/>
                <a:ea typeface="Google Sans Text"/>
                <a:cs typeface="Google Sans Text"/>
                <a:sym typeface="Google Sans Text"/>
              </a:rPr>
              <a:t> FL</a:t>
            </a:r>
            <a:r>
              <a:rPr lang="en-US" sz="1200" b="0" i="0" u="none" strike="noStrike">
                <a:solidFill>
                  <a:srgbClr val="000000"/>
                </a:solidFill>
              </a:rPr>
              <a:t>（</a:t>
            </a:r>
            <a:r>
              <a:rPr lang="en-US" sz="1200" b="0" i="0" u="none" strike="noStrike">
                <a:solidFill>
                  <a:srgbClr val="000000"/>
                </a:solidFill>
                <a:latin typeface="Google Sans Text"/>
                <a:ea typeface="Google Sans Text"/>
                <a:cs typeface="Google Sans Text"/>
                <a:sym typeface="Google Sans Text"/>
              </a:rPr>
              <a:t>FlagOpen</a:t>
            </a:r>
            <a:r>
              <a:rPr lang="en-US" sz="1200" b="0" i="0" u="none" strike="noStrike">
                <a:solidFill>
                  <a:srgbClr val="000000"/>
                </a:solidFill>
              </a:rPr>
              <a:t>）版本</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全链路协同框架设计：训练与推理的融合</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Google Sans Text"/>
                <a:ea typeface="Google Sans Text"/>
                <a:cs typeface="Google Sans Text"/>
                <a:sym typeface="Google Sans Text"/>
              </a:rPr>
              <a:t>FlagScale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的架构设计强调模块化与可插拔性。自</a:t>
            </a:r>
            <a:r>
              <a:rPr lang="en-US" sz="1200" b="0" i="0" u="none" strike="noStrike">
                <a:solidFill>
                  <a:srgbClr val="000000"/>
                </a:solidFill>
                <a:latin typeface="Google Sans Text"/>
                <a:ea typeface="Google Sans Text"/>
                <a:cs typeface="Google Sans Text"/>
                <a:sym typeface="Google Sans Text"/>
              </a:rPr>
              <a:t> v1.0.0-alpha.0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版本起，硬件特定的多芯片支持被解耦到插件仓库中，如专门负责训练加速的</a:t>
            </a:r>
            <a:r>
              <a:rPr lang="en-US" sz="1200" b="0" i="0" u="none" strike="noStrike">
                <a:solidFill>
                  <a:srgbClr val="000000"/>
                </a:solidFill>
                <a:latin typeface="Google Sans Text"/>
                <a:ea typeface="Google Sans Text"/>
                <a:cs typeface="Google Sans Text"/>
                <a:sym typeface="Google Sans Text"/>
              </a:rPr>
              <a:t> TransformerEngine-FL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和负责分布式训练的</a:t>
            </a:r>
            <a:r>
              <a:rPr lang="en-US" sz="1200" b="0" i="0" u="none" strike="noStrike">
                <a:solidFill>
                  <a:srgbClr val="000000"/>
                </a:solidFill>
                <a:latin typeface="Google Sans Text"/>
                <a:ea typeface="Google Sans Text"/>
                <a:cs typeface="Google Sans Text"/>
                <a:sym typeface="Google Sans Text"/>
              </a:rPr>
              <a:t> Megatron-LM-FL </a:t>
            </a:r>
            <a:r>
              <a:rPr lang="en-US" sz="1200" b="0" i="0" u="none" strike="noStrike">
                <a:solidFill>
                  <a:srgbClr val="000000"/>
                </a:solidFill>
              </a:rPr>
              <a:t>。这种设计允许开发者针对不同代的英伟达</a:t>
            </a:r>
            <a:r>
              <a:rPr lang="en-US" sz="1200" b="0" i="0" u="none" strike="noStrike">
                <a:solidFill>
                  <a:srgbClr val="000000"/>
                </a:solidFill>
                <a:latin typeface="Google Sans Text"/>
                <a:ea typeface="Google Sans Text"/>
                <a:cs typeface="Google Sans Text"/>
                <a:sym typeface="Google Sans Text"/>
              </a:rPr>
              <a:t> GPU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或国产</a:t>
            </a:r>
            <a:r>
              <a:rPr lang="en-US" sz="1200" b="0" i="0" u="none" strike="noStrike">
                <a:solidFill>
                  <a:srgbClr val="000000"/>
                </a:solidFill>
                <a:latin typeface="Google Sans Text"/>
                <a:ea typeface="Google Sans Text"/>
                <a:cs typeface="Google Sans Text"/>
                <a:sym typeface="Google Sans Text"/>
              </a:rPr>
              <a:t> AI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芯片应用差异化的补丁机制，实现异构混合训练。例如，</a:t>
            </a:r>
            <a:r>
              <a:rPr lang="en-US" sz="1200" b="0" i="0" u="none" strike="noStrike">
                <a:solidFill>
                  <a:srgbClr val="000000"/>
                </a:solidFill>
                <a:latin typeface="Google Sans Text"/>
                <a:ea typeface="Google Sans Text"/>
                <a:cs typeface="Google Sans Text"/>
                <a:sym typeface="Google Sans Text"/>
              </a:rPr>
              <a:t>FlagScale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已成功实现在英伟达与天数智芯（</a:t>
            </a:r>
            <a:r>
              <a:rPr lang="en-US" sz="1200" b="0" i="0" u="none" strike="noStrike">
                <a:solidFill>
                  <a:srgbClr val="000000"/>
                </a:solidFill>
                <a:latin typeface="Google Sans Text"/>
                <a:ea typeface="Google Sans Text"/>
                <a:cs typeface="Google Sans Text"/>
                <a:sym typeface="Google Sans Text"/>
              </a:rPr>
              <a:t>Iluvatar</a:t>
            </a:r>
            <a:r>
              <a:rPr lang="en-US" sz="1200" b="0" i="0" u="none" strike="noStrike">
                <a:solidFill>
                  <a:srgbClr val="000000"/>
                </a:solidFill>
              </a:rPr>
              <a:t>）混合集群上进行</a:t>
            </a:r>
            <a:r>
              <a:rPr lang="en-US" sz="1200" b="0" i="0" u="none" strike="noStrike">
                <a:solidFill>
                  <a:srgbClr val="000000"/>
                </a:solidFill>
                <a:latin typeface="Google Sans Text"/>
                <a:ea typeface="Google Sans Text"/>
                <a:cs typeface="Google Sans Text"/>
                <a:sym typeface="Google Sans Text"/>
              </a:rPr>
              <a:t> Aquila2-70B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模型的高效训练</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核心组件拆解：vLLM-Plugin-FL 设计初衷</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原生 vLLM 的痛点</a:t>
            </a:r>
            <a:r>
              <a:rPr lang="en-US" sz="1200" b="0" i="0" u="none" strike="noStrike">
                <a:solidFill>
                  <a:srgbClr val="000000"/>
                </a:solidFill>
              </a:rPr>
              <a:t>：</a:t>
            </a:r>
            <a:endParaRPr lang="en-US" sz="1200" b="0" i="0" u="none" strike="noStrike">
              <a:solidFill>
                <a:srgbClr val="000000"/>
              </a:solidFill>
            </a:endParaRPr>
          </a:p>
          <a:p>
            <a:pPr marL="609600" lvl="1"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对国产化及异构算力生态支持不够灵活。</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609600" lvl="1"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代码耦合度高，定制化深度优化（特别是针对特定调度策略或新算子库）侵入性强。</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vLLM-Plugin-FL 的插件化设计</a:t>
            </a:r>
            <a:r>
              <a:rPr lang="en-US" sz="1200" b="0" i="0" u="none" strike="noStrike">
                <a:solidFill>
                  <a:srgbClr val="000000"/>
                </a:solidFill>
              </a:rPr>
              <a:t>：</a:t>
            </a:r>
            <a:endParaRPr lang="en-US" sz="1200" b="0" i="0" u="none" strike="noStrike">
              <a:solidFill>
                <a:srgbClr val="000000"/>
              </a:solidFill>
            </a:endParaRPr>
          </a:p>
          <a:p>
            <a:pPr marL="609600" lvl="1"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解耦</a:t>
            </a:r>
            <a:r>
              <a:rPr lang="en-US" sz="1200" b="0" i="0" u="none" strike="noStrike">
                <a:solidFill>
                  <a:srgbClr val="000000"/>
                </a:solidFill>
              </a:rPr>
              <a:t>：将核心调度逻辑与底层硬件执行</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/算子库分离。</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609600" lvl="1"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热插拔</a:t>
            </a:r>
            <a:r>
              <a:rPr lang="en-US" sz="1200" b="0" i="0" u="none" strike="noStrike">
                <a:solidFill>
                  <a:srgbClr val="000000"/>
                </a:solidFill>
              </a:rPr>
              <a:t>：方便快速接入</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FlagGems 等自研优化库。</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核心组件拆解：</a:t>
            </a:r>
            <a:r>
              <a:rPr lang="en-US" sz="1200" b="1" i="0" u="none" strike="noStrike">
                <a:solidFill>
                  <a:srgbClr val="000000"/>
                </a:solidFill>
                <a:latin typeface="Google Sans"/>
                <a:ea typeface="Google Sans"/>
                <a:cs typeface="Google Sans"/>
                <a:sym typeface="Google Sans"/>
              </a:rPr>
              <a:t>vLLM-Plugin-FL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加速策略</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在端到端推理优化中，</a:t>
            </a:r>
            <a:r>
              <a:rPr lang="en-US" sz="1200" b="0" i="0" u="none" strike="noStrike">
                <a:solidFill>
                  <a:srgbClr val="000000"/>
                </a:solidFill>
                <a:latin typeface="Google Sans Text"/>
                <a:ea typeface="Google Sans Text"/>
                <a:cs typeface="Google Sans Text"/>
                <a:sym typeface="Google Sans Text"/>
              </a:rPr>
              <a:t>vLLM-Plugin-FL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是联结上层服务框架与底层高性能算子的关键枢纽。</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Google Sans"/>
                <a:ea typeface="Google Sans"/>
                <a:cs typeface="Google Sans"/>
                <a:sym typeface="Google Sans"/>
              </a:rPr>
              <a:t>vLLM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原生瓶颈与</a:t>
            </a:r>
            <a:r>
              <a:rPr lang="en-US" sz="1200" b="1" i="0" u="none" strike="noStrike">
                <a:solidFill>
                  <a:srgbClr val="000000"/>
                </a:solidFill>
                <a:latin typeface="Google Sans"/>
                <a:ea typeface="Google Sans"/>
                <a:cs typeface="Google Sans"/>
                <a:sym typeface="Google Sans"/>
              </a:rPr>
              <a:t> Plugin-FL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的插件化初衷</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原生的</a:t>
            </a:r>
            <a:r>
              <a:rPr lang="en-US" sz="1200" b="0" i="0" u="none" strike="noStrike">
                <a:solidFill>
                  <a:srgbClr val="000000"/>
                </a:solidFill>
                <a:latin typeface="Google Sans Text"/>
                <a:ea typeface="Google Sans Text"/>
                <a:cs typeface="Google Sans Text"/>
                <a:sym typeface="Google Sans Text"/>
              </a:rPr>
              <a:t> vLLM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框架虽然在调度层面表现卓越，但在面对多样化的国产芯片时，其对</a:t>
            </a:r>
            <a:r>
              <a:rPr lang="en-US" sz="1200" b="0" i="0" u="none" strike="noStrike">
                <a:solidFill>
                  <a:srgbClr val="000000"/>
                </a:solidFill>
                <a:latin typeface="Google Sans Text"/>
                <a:ea typeface="Google Sans Text"/>
                <a:cs typeface="Google Sans Text"/>
                <a:sym typeface="Google Sans Text"/>
              </a:rPr>
              <a:t> CUDA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的强依赖成为了生态扩张的瓶颈。</a:t>
            </a:r>
            <a:r>
              <a:rPr lang="en-US" sz="1200" b="0" i="0" u="none" strike="noStrike">
                <a:solidFill>
                  <a:srgbClr val="000000"/>
                </a:solidFill>
                <a:latin typeface="Google Sans Text"/>
                <a:ea typeface="Google Sans Text"/>
                <a:cs typeface="Google Sans Text"/>
                <a:sym typeface="Google Sans Text"/>
              </a:rPr>
              <a:t>vLLM-Plugin-FL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的初衷是基于</a:t>
            </a:r>
            <a:r>
              <a:rPr lang="en-US" sz="1200" b="0" i="0" u="none" strike="noStrike">
                <a:solidFill>
                  <a:srgbClr val="000000"/>
                </a:solidFill>
                <a:latin typeface="Google Sans Text"/>
                <a:ea typeface="Google Sans Text"/>
                <a:cs typeface="Google Sans Text"/>
                <a:sym typeface="Google Sans Text"/>
              </a:rPr>
              <a:t> FlagOS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的统一后端，为</a:t>
            </a:r>
            <a:r>
              <a:rPr lang="en-US" sz="1200" b="0" i="0" u="none" strike="noStrike">
                <a:solidFill>
                  <a:srgbClr val="000000"/>
                </a:solidFill>
                <a:latin typeface="Google Sans Text"/>
                <a:ea typeface="Google Sans Text"/>
                <a:cs typeface="Google Sans Text"/>
                <a:sym typeface="Google Sans Text"/>
              </a:rPr>
              <a:t> vLLM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提供一个非侵入式的多芯片支持层</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。通过该插件，同样的</a:t>
            </a:r>
            <a:r>
              <a:rPr lang="en-US" sz="1200" b="0" i="0" u="none" strike="noStrike">
                <a:solidFill>
                  <a:srgbClr val="000000"/>
                </a:solidFill>
                <a:latin typeface="Google Sans Text"/>
                <a:ea typeface="Google Sans Text"/>
                <a:cs typeface="Google Sans Text"/>
                <a:sym typeface="Google Sans Text"/>
              </a:rPr>
              <a:t> vllm serve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命令可以在</a:t>
            </a:r>
            <a:r>
              <a:rPr lang="en-US" sz="1200" b="0" i="0" u="none" strike="noStrike">
                <a:solidFill>
                  <a:srgbClr val="000000"/>
                </a:solidFill>
                <a:latin typeface="Google Sans Text"/>
                <a:ea typeface="Google Sans Text"/>
                <a:cs typeface="Google Sans Text"/>
                <a:sym typeface="Google Sans Text"/>
              </a:rPr>
              <a:t> NVIDIA</a:t>
            </a:r>
            <a:r>
              <a:rPr lang="en-US" sz="1200" b="0" i="0" u="none" strike="noStrike">
                <a:solidFill>
                  <a:srgbClr val="000000"/>
                </a:solidFill>
              </a:rPr>
              <a:t>、平头哥（</a:t>
            </a:r>
            <a:r>
              <a:rPr lang="en-US" sz="1200" b="0" i="0" u="none" strike="noStrike">
                <a:solidFill>
                  <a:srgbClr val="000000"/>
                </a:solidFill>
                <a:latin typeface="Google Sans Text"/>
                <a:ea typeface="Google Sans Text"/>
                <a:cs typeface="Google Sans Text"/>
                <a:sym typeface="Google Sans Text"/>
              </a:rPr>
              <a:t>Pingtouge-Zhenwu</a:t>
            </a:r>
            <a:r>
              <a:rPr lang="en-US" sz="1200" b="0" i="0" u="none" strike="noStrike">
                <a:solidFill>
                  <a:srgbClr val="000000"/>
                </a:solidFill>
              </a:rPr>
              <a:t>）、昇腾（</a:t>
            </a:r>
            <a:r>
              <a:rPr lang="en-US" sz="1200" b="0" i="0" u="none" strike="noStrike">
                <a:solidFill>
                  <a:srgbClr val="000000"/>
                </a:solidFill>
                <a:latin typeface="Google Sans Text"/>
                <a:ea typeface="Google Sans Text"/>
                <a:cs typeface="Google Sans Text"/>
                <a:sym typeface="Google Sans Text"/>
              </a:rPr>
              <a:t>Ascend</a:t>
            </a:r>
            <a:r>
              <a:rPr lang="en-US" sz="1200" b="0" i="0" u="none" strike="noStrike">
                <a:solidFill>
                  <a:srgbClr val="000000"/>
                </a:solidFill>
              </a:rPr>
              <a:t>）、寒武纪（</a:t>
            </a:r>
            <a:r>
              <a:rPr lang="en-US" sz="1200" b="0" i="0" u="none" strike="noStrike">
                <a:solidFill>
                  <a:srgbClr val="000000"/>
                </a:solidFill>
                <a:latin typeface="Google Sans Text"/>
                <a:ea typeface="Google Sans Text"/>
                <a:cs typeface="Google Sans Text"/>
                <a:sym typeface="Google Sans Text"/>
              </a:rPr>
              <a:t>Cambricon</a:t>
            </a:r>
            <a:r>
              <a:rPr lang="en-US" sz="1200" b="0" i="0" u="none" strike="noStrike">
                <a:solidFill>
                  <a:srgbClr val="000000"/>
                </a:solidFill>
              </a:rPr>
              <a:t>）等多种芯片上运行，而无需修改核心代码</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Google Sans Text"/>
              </a:defRPr>
            </a:lvl1pPr>
          </a:lstStyle>
          <a:p>
            <a:pPr indent="0" algn="l">
              <a:lnSpc>
                <a:spcPct val="100000"/>
              </a:lnSpc>
            </a:pPr>
            <a:r>
              <a:rPr lang="en-US" sz="1200" b="0" i="0" u="none" strike="noStrike">
                <a:solidFill>
                  <a:srgbClr val="000000"/>
                </a:solidFill>
                <a:latin typeface="Google Sans Text"/>
                <a:ea typeface="Google Sans Text"/>
                <a:cs typeface="Google Sans Text"/>
                <a:sym typeface="Google Sans Text"/>
              </a:rPr>
              <a:t>LLM-Plugin-FL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深度整合了</a:t>
            </a:r>
            <a:r>
              <a:rPr lang="en-US" sz="1200" b="0" i="0" u="none" strike="noStrike">
                <a:solidFill>
                  <a:srgbClr val="000000"/>
                </a:solidFill>
                <a:latin typeface="Google Sans Text"/>
                <a:ea typeface="Google Sans Text"/>
                <a:cs typeface="Google Sans Text"/>
                <a:sym typeface="Google Sans Text"/>
              </a:rPr>
              <a:t> vLLM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的核心技术并进行了定制化改进：</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Font typeface="+mj-lt"/>
              <a:buAutoNum type="arabicPeriod"/>
            </a:pPr>
            <a:r>
              <a:rPr lang="en-US" sz="1200" b="1" i="0" u="none" strike="noStrike">
                <a:solidFill>
                  <a:srgbClr val="000000"/>
                </a:solidFill>
                <a:latin typeface="Google Sans Text"/>
                <a:ea typeface="Google Sans Text"/>
                <a:cs typeface="Google Sans Text"/>
                <a:sym typeface="Google Sans Text"/>
              </a:rPr>
              <a:t>PagedAttention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的深度优化</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Google Sans Text"/>
                <a:ea typeface="Google Sans Text"/>
                <a:cs typeface="Google Sans Text"/>
                <a:sym typeface="Google Sans Text"/>
              </a:rPr>
              <a:t>PagedAttention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是解决</a:t>
            </a:r>
            <a:r>
              <a:rPr lang="en-US" sz="1200" b="0" i="0" u="none" strike="noStrike">
                <a:solidFill>
                  <a:srgbClr val="000000"/>
                </a:solidFill>
                <a:latin typeface="Google Sans Text"/>
                <a:ea typeface="Google Sans Text"/>
                <a:cs typeface="Google Sans Text"/>
                <a:sym typeface="Google Sans Text"/>
              </a:rPr>
              <a:t> KV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缓存内存碎片化的关键。在</a:t>
            </a:r>
            <a:r>
              <a:rPr lang="en-US" sz="1200" b="0" i="0" u="none" strike="noStrike">
                <a:solidFill>
                  <a:srgbClr val="000000"/>
                </a:solidFill>
                <a:latin typeface="Google Sans Text"/>
                <a:ea typeface="Google Sans Text"/>
                <a:cs typeface="Google Sans Text"/>
                <a:sym typeface="Google Sans Text"/>
              </a:rPr>
              <a:t> Plugin-FL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a:t>
            </a:r>
            <a:r>
              <a:rPr lang="en-US" sz="1200" b="0" i="0" u="none" strike="noStrike">
                <a:solidFill>
                  <a:srgbClr val="000000"/>
                </a:solidFill>
                <a:latin typeface="Google Sans Text"/>
                <a:ea typeface="Google Sans Text"/>
                <a:cs typeface="Google Sans Text"/>
                <a:sym typeface="Google Sans Text"/>
              </a:rPr>
              <a:t>PagedAttention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的逻辑被重新实现并适配了</a:t>
            </a:r>
            <a:r>
              <a:rPr lang="en-US" sz="1200" b="0" i="0" u="none" strike="noStrike">
                <a:solidFill>
                  <a:srgbClr val="000000"/>
                </a:solidFill>
                <a:latin typeface="Google Sans Text"/>
                <a:ea typeface="Google Sans Text"/>
                <a:cs typeface="Google Sans Text"/>
                <a:sym typeface="Google Sans Text"/>
              </a:rPr>
              <a:t> FlagGems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a:t>
            </a:r>
            <a:r>
              <a:rPr lang="en-US" sz="1200" b="0" i="0" u="none" strike="noStrike">
                <a:solidFill>
                  <a:srgbClr val="000000"/>
                </a:solidFill>
                <a:latin typeface="Google Sans Text"/>
                <a:ea typeface="Google Sans Text"/>
                <a:cs typeface="Google Sans Text"/>
                <a:sym typeface="Google Sans Text"/>
              </a:rPr>
              <a:t> FlagTree</a:t>
            </a:r>
            <a:r>
              <a:rPr lang="en-US" sz="1200" b="0" i="0" u="none" strike="noStrike">
                <a:solidFill>
                  <a:srgbClr val="000000"/>
                </a:solidFill>
                <a:latin typeface="Google Sans Text"/>
                <a:ea typeface="Google Sans Text"/>
                <a:cs typeface="Google Sans Text"/>
                <a:sym typeface="Google Sans Text"/>
              </a:rPr>
              <a:t>。通过在不同芯片后端优化页面大小（</a:t>
            </a:r>
            <a:r>
              <a:rPr lang="en-US" sz="1200" b="0" i="0" u="none" strike="noStrike">
                <a:solidFill>
                  <a:srgbClr val="000000"/>
                </a:solidFill>
                <a:latin typeface="Google Sans Text"/>
                <a:ea typeface="Google Sans Text"/>
                <a:cs typeface="Google Sans Text"/>
                <a:sym typeface="Google Sans Text"/>
              </a:rPr>
              <a:t>Page Size</a:t>
            </a:r>
            <a:r>
              <a:rPr lang="en-US" sz="1200" b="0" i="0" u="none" strike="noStrike">
                <a:solidFill>
                  <a:srgbClr val="000000"/>
                </a:solidFill>
                <a:latin typeface="Google Sans Text"/>
                <a:ea typeface="Google Sans Text"/>
                <a:cs typeface="Google Sans Text"/>
                <a:sym typeface="Google Sans Text"/>
              </a:rPr>
              <a:t>）和块对齐策略，显存利用率得到了极大提升，支持了更大的批处理规模</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Google Sans Text"/>
                <a:ea typeface="Google Sans Text"/>
                <a:cs typeface="Google Sans Text"/>
                <a:sym typeface="Google Sans Text"/>
              </a:rPr>
              <a:t>。</a:t>
            </a:r>
            <a:endParaRPr lang="en-US" sz="1200" b="0" i="0" u="none" strike="noStrike">
              <a:solidFill>
                <a:srgbClr val="000000"/>
              </a:solidFill>
              <a:latin typeface="Google Sans Text"/>
              <a:ea typeface="Google Sans Text"/>
              <a:cs typeface="Google Sans Text"/>
              <a:sym typeface="Google Sans Text"/>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核心加速策略：Continuous Batching (动态批处理)</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传统 Static Batching 的低效</a:t>
            </a:r>
            <a:r>
              <a:rPr lang="en-US" sz="1200" b="0" i="0" u="none" strike="noStrike">
                <a:solidFill>
                  <a:srgbClr val="000000"/>
                </a:solidFill>
              </a:rPr>
              <a:t>：</a:t>
            </a:r>
            <a:endParaRPr lang="en-US" sz="1200" b="0" i="0" u="none" strike="noStrike">
              <a:solidFill>
                <a:srgbClr val="000000"/>
              </a:solidFill>
            </a:endParaRPr>
          </a:p>
          <a:p>
            <a:pPr marL="609600" lvl="1"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请求必须等待同 Batch 中的所有序列生成完毕才能返回，短序列的算力被严重浪费（气泡现象）。</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Continuous Batching (In-flight Batching)</a:t>
            </a:r>
            <a:r>
              <a:rPr lang="en-US" sz="1200" b="0" i="0" u="none" strike="noStrike">
                <a:solidFill>
                  <a:srgbClr val="000000"/>
                </a:solidFill>
              </a:rPr>
              <a:t>：</a:t>
            </a:r>
            <a:endParaRPr lang="en-US" sz="1200" b="0" i="0" u="none" strike="noStrike">
              <a:solidFill>
                <a:srgbClr val="000000"/>
              </a:solidFill>
            </a:endParaRPr>
          </a:p>
          <a:p>
            <a:pPr marL="609600" lvl="1"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细粒度的 iteration 级别调度。</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609600" lvl="1" indent="-152400" algn="l">
              <a:lnSpc>
                <a:spcPct val="100000"/>
              </a:lnSpc>
              <a:buClr>
                <a:srgbClr val="000000"/>
              </a:buClr>
              <a:buChar char="•"/>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一旦有请求生成遇到 EOS</a:t>
            </a:r>
            <a:r>
              <a:rPr lang="en-US" sz="1200" b="0" i="0" u="none" strike="noStrike">
                <a:solidFill>
                  <a:srgbClr val="000000"/>
                </a:solidFill>
              </a:rPr>
              <a:t>（结束符），立刻将其踢出</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Batch</a:t>
            </a:r>
            <a:r>
              <a:rPr lang="en-US" sz="1200" b="0" i="0" u="none" strike="noStrike">
                <a:solidFill>
                  <a:srgbClr val="000000"/>
                </a:solidFill>
              </a:rPr>
              <a:t>，并将新请求插入，保持</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GPU 始终高负荷运转。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marL="152400" indent="-152400" algn="l">
              <a:lnSpc>
                <a:spcPct val="100000"/>
              </a:lnSpc>
              <a:buClr>
                <a:srgbClr val="000000"/>
              </a:buClr>
              <a:buChar char="•"/>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吞吐量跃升</a:t>
            </a:r>
            <a:r>
              <a:rPr lang="en-US" sz="1200" b="0" i="0" u="none" strike="noStrike">
                <a:solidFill>
                  <a:srgbClr val="000000"/>
                </a:solidFill>
              </a:rPr>
              <a:t>：配合</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PagedAttention</a:t>
            </a:r>
            <a:r>
              <a:rPr lang="en-US" sz="1200" b="0" i="0" u="none" strike="noStrike">
                <a:solidFill>
                  <a:srgbClr val="000000"/>
                </a:solidFill>
              </a:rPr>
              <a:t>，实现</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2x - 4x 的推理吞吐提升。</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p>
          <a:p>
            <a:pPr indent="0" algn="l">
              <a:lnSpc>
                <a:spcPct val="100000"/>
              </a:lnSpc>
            </a:pPr>
          </a:p>
          <a:p>
            <a:pPr marL="152400" indent="-152400" algn="l">
              <a:lnSpc>
                <a:spcPct val="100000"/>
              </a:lnSpc>
              <a:buClr>
                <a:srgbClr val="000000"/>
              </a:buClr>
              <a:buFont typeface="+mj-lt"/>
              <a:buAutoNum type="arabicPeriod"/>
            </a:pPr>
            <a:r>
              <a:rPr lang="en-US" sz="1200" b="1" i="0" u="none" strike="noStrike">
                <a:solidFill>
                  <a:srgbClr val="000000"/>
                </a:solidFill>
                <a:latin typeface="Google Sans Text"/>
                <a:ea typeface="Google Sans Text"/>
                <a:cs typeface="Google Sans Text"/>
                <a:sym typeface="Google Sans Text"/>
              </a:rPr>
              <a:t>Continuous Batching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的定制改进</a:t>
            </a:r>
            <a:r>
              <a:rPr lang="en-US" sz="1200" b="0" i="0" u="none" strike="noStrike">
                <a:solidFill>
                  <a:srgbClr val="000000"/>
                </a:solidFill>
              </a:rPr>
              <a:t>：传统的批处理需要等待批次中所有序列完成，而</a:t>
            </a:r>
            <a:r>
              <a:rPr lang="en-US" sz="1200" b="0" i="0" u="none" strike="noStrike">
                <a:solidFill>
                  <a:srgbClr val="000000"/>
                </a:solidFill>
                <a:latin typeface="Google Sans Text"/>
                <a:ea typeface="Google Sans Text"/>
                <a:cs typeface="Google Sans Text"/>
                <a:sym typeface="Google Sans Text"/>
              </a:rPr>
              <a:t> Continuous Batching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允许在迭代级别动态插入新请求。</a:t>
            </a:r>
            <a:r>
              <a:rPr lang="en-US" sz="1200" b="0" i="0" u="none" strike="noStrike">
                <a:solidFill>
                  <a:srgbClr val="000000"/>
                </a:solidFill>
                <a:latin typeface="Google Sans Text"/>
                <a:ea typeface="Google Sans Text"/>
                <a:cs typeface="Google Sans Text"/>
                <a:sym typeface="Google Sans Text"/>
              </a:rPr>
              <a:t>Plugin-FL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通过与</a:t>
            </a:r>
            <a:r>
              <a:rPr lang="en-US" sz="1200" b="0" i="0" u="none" strike="noStrike">
                <a:solidFill>
                  <a:srgbClr val="000000"/>
                </a:solidFill>
                <a:latin typeface="Google Sans Text"/>
                <a:ea typeface="Google Sans Text"/>
                <a:cs typeface="Google Sans Text"/>
                <a:sym typeface="Google Sans Text"/>
              </a:rPr>
              <a:t> FlagScale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的自动调优器（</a:t>
            </a:r>
            <a:r>
              <a:rPr lang="en-US" sz="1200" b="0" i="0" u="none" strike="noStrike">
                <a:solidFill>
                  <a:srgbClr val="000000"/>
                </a:solidFill>
                <a:latin typeface="Google Sans Text"/>
                <a:ea typeface="Google Sans Text"/>
                <a:cs typeface="Google Sans Text"/>
                <a:sym typeface="Google Sans Text"/>
              </a:rPr>
              <a:t>Autotuner</a:t>
            </a:r>
            <a:r>
              <a:rPr lang="en-US" sz="1200" b="0" i="0" u="none" strike="noStrike">
                <a:solidFill>
                  <a:srgbClr val="000000"/>
                </a:solidFill>
              </a:rPr>
              <a:t>）协同，能够根据当前硬件的即时算力与带宽状态，动态调整</a:t>
            </a:r>
            <a:r>
              <a:rPr lang="en-US" sz="1200" b="0" i="0" u="none" strike="noStrike">
                <a:solidFill>
                  <a:srgbClr val="000000"/>
                </a:solidFill>
                <a:latin typeface="Google Sans Text"/>
                <a:ea typeface="Google Sans Text"/>
                <a:cs typeface="Google Sans Text"/>
                <a:sym typeface="Google Sans Text"/>
              </a:rPr>
              <a:t> max_num_batched_tokens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等关键参数，从而平滑推理延迟并提升总体吞吐量</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深度整合：</a:t>
            </a:r>
            <a:r>
              <a:rPr lang="en-US" sz="1200" b="1" i="0" u="none" strike="noStrike">
                <a:solidFill>
                  <a:srgbClr val="000000"/>
                </a:solidFill>
                <a:latin typeface="Google Sans"/>
                <a:ea typeface="Google Sans"/>
                <a:cs typeface="Google Sans"/>
                <a:sym typeface="Google Sans"/>
              </a:rPr>
              <a:t>vLLM-Plugin-FL + FlagGems + FlagTree</a:t>
            </a:r>
            <a:endParaRPr lang="en-US" sz="1200" b="1" i="0" u="none" strike="noStrike">
              <a:solidFill>
                <a:srgbClr val="000000"/>
              </a:solidFill>
              <a:latin typeface="Google Sans"/>
              <a:ea typeface="Google Sans"/>
              <a:cs typeface="Google Sans"/>
              <a:sym typeface="Google Sans"/>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这三个组件构成了</a:t>
            </a:r>
            <a:r>
              <a:rPr lang="en-US" sz="1200" b="0" i="0" u="none" strike="noStrike">
                <a:solidFill>
                  <a:srgbClr val="000000"/>
                </a:solidFill>
                <a:latin typeface="Google Sans Text"/>
                <a:ea typeface="Google Sans Text"/>
                <a:cs typeface="Google Sans Text"/>
                <a:sym typeface="Google Sans Text"/>
              </a:rPr>
              <a:t> FlagOS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智算底座的</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铁三角</a:t>
            </a:r>
            <a:r>
              <a:rPr lang="en-US" sz="1200" b="0" i="0" u="none" strike="noStrike">
                <a:solidFill>
                  <a:srgbClr val="000000"/>
                </a:solidFill>
                <a:latin typeface="Google Sans Text"/>
                <a:ea typeface="Google Sans Text"/>
                <a:cs typeface="Google Sans Text"/>
                <a:sym typeface="Google Sans Text"/>
              </a:rPr>
              <a:t>”</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，实现了从算子级到系统级的全面打通。</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组件协同机制：从算子到系统的闭环</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协同机制可以描述为以下流程：</a:t>
            </a:r>
            <a:r>
              <a:rPr lang="en-US" sz="1200" b="0" i="0" u="none" strike="noStrike">
                <a:solidFill>
                  <a:srgbClr val="000000"/>
                </a:solidFill>
                <a:latin typeface="Google Sans Text"/>
                <a:ea typeface="Google Sans Text"/>
                <a:cs typeface="Google Sans Text"/>
                <a:sym typeface="Google Sans Text"/>
              </a:rPr>
              <a:t>vLLM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负责全局的请求调度与批处理逻辑；当计算图执行到具体的算子（如</a:t>
            </a:r>
            <a:r>
              <a:rPr lang="en-US" sz="1200" b="0" i="0" u="none" strike="noStrike">
                <a:solidFill>
                  <a:srgbClr val="000000"/>
                </a:solidFill>
                <a:latin typeface="Google Sans Text"/>
                <a:ea typeface="Google Sans Text"/>
                <a:cs typeface="Google Sans Text"/>
                <a:sym typeface="Google Sans Text"/>
              </a:rPr>
              <a:t> RMSNorm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或</a:t>
            </a:r>
            <a:r>
              <a:rPr lang="en-US" sz="1200" b="0" i="0" u="none" strike="noStrike">
                <a:solidFill>
                  <a:srgbClr val="000000"/>
                </a:solidFill>
                <a:latin typeface="Google Sans Text"/>
                <a:ea typeface="Google Sans Text"/>
                <a:cs typeface="Google Sans Text"/>
                <a:sym typeface="Google Sans Text"/>
              </a:rPr>
              <a:t> Linear</a:t>
            </a:r>
            <a:r>
              <a:rPr lang="en-US" sz="1200" b="0" i="0" u="none" strike="noStrike">
                <a:solidFill>
                  <a:srgbClr val="000000"/>
                </a:solidFill>
              </a:rPr>
              <a:t>）时，</a:t>
            </a:r>
            <a:r>
              <a:rPr lang="en-US" sz="1200" b="0" i="0" u="none" strike="noStrike">
                <a:solidFill>
                  <a:srgbClr val="000000"/>
                </a:solidFill>
                <a:latin typeface="Google Sans Text"/>
                <a:ea typeface="Google Sans Text"/>
                <a:cs typeface="Google Sans Text"/>
                <a:sym typeface="Google Sans Text"/>
              </a:rPr>
              <a:t>vLLM-Plugin-FL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通过派发机制调用</a:t>
            </a:r>
            <a:r>
              <a:rPr lang="en-US" sz="1200" b="0" i="0" u="none" strike="noStrike">
                <a:solidFill>
                  <a:srgbClr val="000000"/>
                </a:solidFill>
                <a:latin typeface="Google Sans Text"/>
                <a:ea typeface="Google Sans Text"/>
                <a:cs typeface="Google Sans Text"/>
                <a:sym typeface="Google Sans Text"/>
              </a:rPr>
              <a:t> FlagGems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提供的预编译</a:t>
            </a:r>
            <a:r>
              <a:rPr lang="en-US" sz="1200" b="0" i="0" u="none" strike="noStrike">
                <a:solidFill>
                  <a:srgbClr val="000000"/>
                </a:solidFill>
                <a:latin typeface="Google Sans Text"/>
                <a:ea typeface="Google Sans Text"/>
                <a:cs typeface="Google Sans Text"/>
                <a:sym typeface="Google Sans Text"/>
              </a:rPr>
              <a:t> Kernel </a:t>
            </a:r>
            <a:r>
              <a:rPr lang="en-US" sz="1200" b="0" i="0" u="none" strike="noStrike">
                <a:solidFill>
                  <a:srgbClr val="000000"/>
                </a:solidFill>
              </a:rPr>
              <a:t>。如果面临全新的、未经调优的算子需求，</a:t>
            </a:r>
            <a:r>
              <a:rPr lang="en-US" sz="1200" b="0" i="0" u="none" strike="noStrike">
                <a:solidFill>
                  <a:srgbClr val="000000"/>
                </a:solidFill>
                <a:latin typeface="Google Sans Text"/>
                <a:ea typeface="Google Sans Text"/>
                <a:cs typeface="Google Sans Text"/>
                <a:sym typeface="Google Sans Text"/>
              </a:rPr>
              <a:t>FlagTree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编译器则负责即时（</a:t>
            </a:r>
            <a:r>
              <a:rPr lang="en-US" sz="1200" b="0" i="0" u="none" strike="noStrike">
                <a:solidFill>
                  <a:srgbClr val="000000"/>
                </a:solidFill>
                <a:latin typeface="Google Sans Text"/>
                <a:ea typeface="Google Sans Text"/>
                <a:cs typeface="Google Sans Text"/>
                <a:sym typeface="Google Sans Text"/>
              </a:rPr>
              <a:t>JIT</a:t>
            </a:r>
            <a:r>
              <a:rPr lang="en-US" sz="1200" b="0" i="0" u="none" strike="noStrike">
                <a:solidFill>
                  <a:srgbClr val="000000"/>
                </a:solidFill>
              </a:rPr>
              <a:t>）生成适配目标芯片的代码</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。这种分层协作确保了系统既有预置算子的高性能，又有应对模型快速迭代的灵活性</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特定场景下的推理延伸：具身智能与</a:t>
            </a:r>
            <a:r>
              <a:rPr lang="en-US" sz="1200" b="1" i="0" u="none" strike="noStrike">
                <a:solidFill>
                  <a:srgbClr val="000000"/>
                </a:solidFill>
                <a:latin typeface="Google Sans"/>
                <a:ea typeface="Google Sans"/>
                <a:cs typeface="Google Sans"/>
                <a:sym typeface="Google Sans"/>
              </a:rPr>
              <a:t> FlagOS-Robo</a:t>
            </a:r>
            <a:endParaRPr lang="en-US" sz="1200" b="1" i="0" u="none" strike="noStrike">
              <a:solidFill>
                <a:srgbClr val="000000"/>
              </a:solidFill>
              <a:latin typeface="Google Sans"/>
              <a:ea typeface="Google Sans"/>
              <a:cs typeface="Google Sans"/>
              <a:sym typeface="Google Sans"/>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端到端优化的影响力已延伸至具身智能（</a:t>
            </a:r>
            <a:r>
              <a:rPr lang="en-US" sz="1200" b="0" i="0" u="none" strike="noStrike">
                <a:solidFill>
                  <a:srgbClr val="000000"/>
                </a:solidFill>
                <a:latin typeface="Google Sans Text"/>
                <a:ea typeface="Google Sans Text"/>
                <a:cs typeface="Google Sans Text"/>
                <a:sym typeface="Google Sans Text"/>
              </a:rPr>
              <a:t>Embodied AI</a:t>
            </a:r>
            <a:r>
              <a:rPr lang="en-US" sz="1200" b="0" i="0" u="none" strike="noStrike">
                <a:solidFill>
                  <a:srgbClr val="000000"/>
                </a:solidFill>
              </a:rPr>
              <a:t>）等前沿领域。</a:t>
            </a:r>
            <a:r>
              <a:rPr lang="en-US" sz="1200" b="0" i="0" u="none" strike="noStrike">
                <a:solidFill>
                  <a:srgbClr val="000000"/>
                </a:solidFill>
                <a:latin typeface="Google Sans Text"/>
                <a:ea typeface="Google Sans Text"/>
                <a:cs typeface="Google Sans Text"/>
                <a:sym typeface="Google Sans Text"/>
              </a:rPr>
              <a:t>FlagOS-Robo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作为一个面向机器人大模型的端到端工具包，集成了数据加载、模型训练及云边端协同推理能力</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。在具身智能场景下，推理不仅要求高吞吐，更要求极低的端到端延迟（</a:t>
            </a:r>
            <a:r>
              <a:rPr lang="en-US" sz="1200" b="0" i="0" u="none" strike="noStrike">
                <a:solidFill>
                  <a:srgbClr val="000000"/>
                </a:solidFill>
                <a:latin typeface="Google Sans Text"/>
                <a:ea typeface="Google Sans Text"/>
                <a:cs typeface="Google Sans Text"/>
                <a:sym typeface="Google Sans Text"/>
              </a:rPr>
              <a:t>Latency</a:t>
            </a:r>
            <a:r>
              <a:rPr lang="en-US" sz="1200" b="0" i="0" u="none" strike="noStrike">
                <a:solidFill>
                  <a:srgbClr val="000000"/>
                </a:solidFill>
              </a:rPr>
              <a:t>）以保证实时控制。通过</a:t>
            </a:r>
            <a:r>
              <a:rPr lang="en-US" sz="1200" b="0" i="0" u="none" strike="noStrike">
                <a:solidFill>
                  <a:srgbClr val="000000"/>
                </a:solidFill>
                <a:latin typeface="Google Sans Text"/>
                <a:ea typeface="Google Sans Text"/>
                <a:cs typeface="Google Sans Text"/>
                <a:sym typeface="Google Sans Text"/>
              </a:rPr>
              <a:t> vLLM-Plugin-FL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对</a:t>
            </a:r>
            <a:r>
              <a:rPr lang="en-US" sz="1200" b="0" i="0" u="none" strike="noStrike">
                <a:solidFill>
                  <a:srgbClr val="000000"/>
                </a:solidFill>
                <a:latin typeface="Google Sans Text"/>
                <a:ea typeface="Google Sans Text"/>
                <a:cs typeface="Google Sans Text"/>
                <a:sym typeface="Google Sans Text"/>
              </a:rPr>
              <a:t> PI0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a:t>
            </a:r>
            <a:r>
              <a:rPr lang="en-US" sz="1200" b="0" i="0" u="none" strike="noStrike">
                <a:solidFill>
                  <a:srgbClr val="000000"/>
                </a:solidFill>
                <a:latin typeface="Google Sans Text"/>
                <a:ea typeface="Google Sans Text"/>
                <a:cs typeface="Google Sans Text"/>
                <a:sym typeface="Google Sans Text"/>
              </a:rPr>
              <a:t> RoboBrain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等视觉语言动作（</a:t>
            </a:r>
            <a:r>
              <a:rPr lang="en-US" sz="1200" b="0" i="0" u="none" strike="noStrike">
                <a:solidFill>
                  <a:srgbClr val="000000"/>
                </a:solidFill>
                <a:latin typeface="Google Sans Text"/>
                <a:ea typeface="Google Sans Text"/>
                <a:cs typeface="Google Sans Text"/>
                <a:sym typeface="Google Sans Text"/>
              </a:rPr>
              <a:t>VLA</a:t>
            </a:r>
            <a:r>
              <a:rPr lang="en-US" sz="1200" b="0" i="0" u="none" strike="noStrike">
                <a:solidFill>
                  <a:srgbClr val="000000"/>
                </a:solidFill>
              </a:rPr>
              <a:t>）模型的加速，</a:t>
            </a:r>
            <a:r>
              <a:rPr lang="en-US" sz="1200" b="0" i="0" u="none" strike="noStrike">
                <a:solidFill>
                  <a:srgbClr val="000000"/>
                </a:solidFill>
                <a:latin typeface="Google Sans Text"/>
                <a:ea typeface="Google Sans Text"/>
                <a:cs typeface="Google Sans Text"/>
                <a:sym typeface="Google Sans Text"/>
              </a:rPr>
              <a:t>FlagOS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实现了从云端大规模训练到边缘侧实时部署的高效迁移</a:t>
            </a:r>
            <a:r>
              <a:rPr lang="en-US" sz="1200" b="0" i="0" u="none" strike="noStrike">
                <a:solidFill>
                  <a:srgbClr val="000000"/>
                </a:solidFill>
                <a:latin typeface="Google Sans Text"/>
                <a:ea typeface="Google Sans Text"/>
                <a:cs typeface="Google Sans Text"/>
                <a:sym typeface="Google Sans Text"/>
              </a:rPr>
              <a: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1" i="0" u="none" strike="noStrike">
                <a:solidFill>
                  <a:srgbClr val="000000">
                    <a:alpha val="100000"/>
                  </a:srgbClr>
                </a:solidFill>
              </a:defRPr>
            </a:lvl1pPr>
          </a:lstStyle>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实验牵引环节：核心实战与收益展示</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实验是检验端到端优化成果的最终标准。通过在</a:t>
            </a:r>
            <a:r>
              <a:rPr lang="en-US" sz="1200" b="0" i="0" u="none" strike="noStrike">
                <a:solidFill>
                  <a:srgbClr val="000000"/>
                </a:solidFill>
                <a:latin typeface="Google Sans Text"/>
                <a:ea typeface="Google Sans Text"/>
                <a:cs typeface="Google Sans Text"/>
                <a:sym typeface="Google Sans Text"/>
              </a:rPr>
              <a:t> FlagScale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环境下部署</a:t>
            </a:r>
            <a:r>
              <a:rPr lang="en-US" sz="1200" b="0" i="0" u="none" strike="noStrike">
                <a:solidFill>
                  <a:srgbClr val="000000"/>
                </a:solidFill>
                <a:latin typeface="Google Sans Text"/>
                <a:ea typeface="Google Sans Text"/>
                <a:cs typeface="Google Sans Text"/>
                <a:sym typeface="Google Sans Text"/>
              </a:rPr>
              <a:t> vLLM-Plugin-FL</a:t>
            </a:r>
            <a:r>
              <a:rPr lang="en-US" sz="1200" b="0" i="0" u="none" strike="noStrike">
                <a:solidFill>
                  <a:srgbClr val="000000"/>
                </a:solidFill>
              </a:rPr>
              <a:t>，可以直观看到全链路优化的巨大潜力。</a:t>
            </a:r>
            <a:endParaRPr lang="en-US" sz="1200" b="0" i="0" u="none" strike="noStrike">
              <a:solidFill>
                <a:srgbClr val="000000"/>
              </a:solidFill>
            </a:endParaRPr>
          </a:p>
          <a:p>
            <a:pPr indent="0" algn="l">
              <a:lnSpc>
                <a:spcPct val="100000"/>
              </a:lnSpc>
            </a:pP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实验环境搭建：在</a:t>
            </a:r>
            <a:r>
              <a:rPr lang="en-US" sz="1200" b="1" i="0" u="none" strike="noStrike">
                <a:solidFill>
                  <a:srgbClr val="000000"/>
                </a:solidFill>
                <a:latin typeface="Google Sans"/>
                <a:ea typeface="Google Sans"/>
                <a:cs typeface="Google Sans"/>
                <a:sym typeface="Google Sans"/>
              </a:rPr>
              <a:t> FlagScale </a:t>
            </a:r>
            <a:r>
              <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中安装部署</a:t>
            </a:r>
            <a:endParaRPr lang="en-US" sz="1200" b="1"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部署流程强调了环境的一致性。首先需要安装</a:t>
            </a:r>
            <a:r>
              <a:rPr lang="en-US" sz="1200" b="0" i="0" u="none" strike="noStrike">
                <a:solidFill>
                  <a:srgbClr val="000000"/>
                </a:solidFill>
                <a:latin typeface="Google Sans Text"/>
                <a:ea typeface="Google Sans Text"/>
                <a:cs typeface="Google Sans Text"/>
                <a:sym typeface="Google Sans Text"/>
              </a:rPr>
              <a:t> vLLM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的</a:t>
            </a:r>
            <a:r>
              <a:rPr lang="en-US" sz="1200" b="0" i="0" u="none" strike="noStrike">
                <a:solidFill>
                  <a:srgbClr val="000000"/>
                </a:solidFill>
                <a:latin typeface="Google Sans Text"/>
                <a:ea typeface="Google Sans Text"/>
                <a:cs typeface="Google Sans Text"/>
                <a:sym typeface="Google Sans Text"/>
              </a:rPr>
              <a:t> FL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分支或官方版本，随后通过</a:t>
            </a:r>
            <a:r>
              <a:rPr lang="en-US" sz="1200" b="0" i="0" u="none" strike="noStrike">
                <a:solidFill>
                  <a:srgbClr val="000000"/>
                </a:solidFill>
                <a:latin typeface="Google Sans Text"/>
                <a:ea typeface="Google Sans Text"/>
                <a:cs typeface="Google Sans Text"/>
                <a:sym typeface="Google Sans Text"/>
              </a:rPr>
              <a:t> Git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克隆并安装</a:t>
            </a:r>
            <a:r>
              <a:rPr lang="en-US" sz="1200" b="0" i="0" u="none" strike="noStrike">
                <a:solidFill>
                  <a:srgbClr val="000000"/>
                </a:solidFill>
                <a:latin typeface="Google Sans Text"/>
                <a:ea typeface="Google Sans Text"/>
                <a:cs typeface="Google Sans Text"/>
                <a:sym typeface="Google Sans Text"/>
              </a:rPr>
              <a:t> vllm-plugin-FL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及其依赖项</a:t>
            </a:r>
            <a:r>
              <a:rPr lang="en-US" sz="1200" b="0" i="0" u="none" strike="noStrike">
                <a:solidFill>
                  <a:srgbClr val="000000"/>
                </a:solidFill>
                <a:latin typeface="Google Sans Text"/>
                <a:ea typeface="Google Sans Text"/>
                <a:cs typeface="Google Sans Text"/>
                <a:sym typeface="Google Sans Text"/>
              </a:rPr>
              <a:t> scikit-build-core </a:t>
            </a: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和</a:t>
            </a:r>
            <a:r>
              <a:rPr lang="en-US" sz="1200" b="0" i="0" u="none" strike="noStrike">
                <a:solidFill>
                  <a:srgbClr val="000000"/>
                </a:solidFill>
                <a:latin typeface="Google Sans Text"/>
                <a:ea typeface="Google Sans Text"/>
                <a:cs typeface="Google Sans Text"/>
                <a:sym typeface="Google Sans Text"/>
              </a:rPr>
              <a:t> ninja </a:t>
            </a:r>
            <a:r>
              <a:rPr lang="en-US" sz="1200" b="0" i="0" u="none" strike="noStrike">
                <a:solidFill>
                  <a:srgbClr val="000000"/>
                </a:solidFill>
              </a:rPr>
              <a:t>。</a:t>
            </a:r>
            <a:endParaRPr lang="en-US" sz="1200" b="0" i="0" u="none" strike="noStrike">
              <a:solidFill>
                <a:srgbClr val="000000"/>
              </a:solidFill>
            </a:endParaRPr>
          </a:p>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 </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单击此处添加文本</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defRPr>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内容：回顾 FlagOS 体系，探讨 AI 系统软件的未来（WebGPU, MoE, TPU 等）。FlagOS 结合： 展望 FlagOS-Robo (具身智能工具包) 等新兴方向。</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单击此处添加文本</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solidFill>
                  <a:srgbClr val="000000">
                    <a:alpha val="100000"/>
                  </a:srgbClr>
                </a:solidFill>
                <a:latin typeface="Calibri" panose="020F0502020204030204"/>
              </a:defRPr>
            </a:lvl1pPr>
          </a:lstStyle>
          <a:p>
            <a:pPr indent="0" algn="l">
              <a:lnSpc>
                <a:spcPct val="100000"/>
              </a:lnSpc>
            </a:pPr>
            <a:r>
              <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rPr>
              <a:t>Image: GPU compute resources severely wasted while “waiting for external environment feedback”</a:t>
            </a:r>
            <a:endParaRPr lang="en-US" sz="1200" b="0"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ph type="body" sz="quarter" idx="5"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9221415" y="158476"/>
            <a:ext cx="2580450" cy="547850"/>
            <a:chOff x="9221415" y="158476"/>
            <a:chExt cx="2580450" cy="547850"/>
          </a:xfrm>
        </p:grpSpPr>
        <p:pic>
          <p:nvPicPr>
            <p:cNvPr id="4" name="Picture 4"/>
            <p:cNvPicPr>
              <a:picLocks noChangeAspect="1"/>
            </p:cNvPicPr>
            <p:nvPr/>
          </p:nvPicPr>
          <p:blipFill>
            <a:blip r:embed="rId3"/>
            <a:srcRect/>
            <a:stretch>
              <a:fillRect/>
            </a:stretch>
          </p:blipFill>
          <p:spPr>
            <a:xfrm>
              <a:off x="9221415" y="260529"/>
              <a:ext cx="1096400" cy="336123"/>
            </a:xfrm>
            <a:prstGeom prst="rect">
              <a:avLst/>
            </a:prstGeom>
            <a:ln w="12700">
              <a:noFill/>
              <a:prstDash val="solid"/>
            </a:ln>
          </p:spPr>
        </p:pic>
        <p:pic>
          <p:nvPicPr>
            <p:cNvPr id="5" name="Picture 5"/>
            <p:cNvPicPr>
              <a:picLocks noChangeAspect="1"/>
            </p:cNvPicPr>
            <p:nvPr/>
          </p:nvPicPr>
          <p:blipFill>
            <a:blip r:embed="rId4"/>
            <a:srcRect l="13229" t="29812" r="10430" b="29795"/>
            <a:stretch>
              <a:fillRect/>
            </a:stretch>
          </p:blipFill>
          <p:spPr>
            <a:xfrm>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id="2" name="AutoShape 2"/>
          <p:cNvSpPr/>
          <p:nvPr>
            <p:ph type="body" sz="quarter" idx="6"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8"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xfrm>
            <a:off x="523874" y="1323975"/>
            <a:ext cx="11277601"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id="2" name="AutoShape 2"/>
          <p:cNvSpPr/>
          <p:nvPr>
            <p:ph type="body" sz="quarter" idx="10" hasCustomPrompt="1"/>
          </p:nvPr>
        </p:nvSpPr>
        <p:spPr>
          <a:xfrm>
            <a:off x="741680" y="431800"/>
            <a:ext cx="11059160" cy="701040"/>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1"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2" hasCustomPrompt="1"/>
          </p:nvPr>
        </p:nvSpPr>
        <p:spPr>
          <a:xfrm>
            <a:off x="523873" y="1323976"/>
            <a:ext cx="5591177" cy="4852988"/>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3"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6" name="AutoShape 6"/>
          <p:cNvSpPr/>
          <p:nvPr>
            <p:ph type="body" sz="quarter" idx="14" hasCustomPrompt="1"/>
          </p:nvPr>
        </p:nvSpPr>
        <p:spPr>
          <a:xfrm>
            <a:off x="6210297" y="1323977"/>
            <a:ext cx="5591177" cy="48561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id="2" name="AutoShape 2"/>
          <p:cNvSpPr/>
          <p:nvPr>
            <p:ph type="body" sz="quarter" idx="15" hasCustomPrompt="1"/>
          </p:nvPr>
        </p:nvSpPr>
        <p:spPr>
          <a:xfrm>
            <a:off x="666749" y="457201"/>
            <a:ext cx="2771775" cy="5719762"/>
          </a:xfrm>
          <a:prstGeom prst="rect">
            <a:avLst/>
          </a:prstGeom>
          <a:noFill/>
          <a:ln w="12700">
            <a:noFill/>
            <a:prstDash val="solid"/>
          </a:ln>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微软雅黑" panose="020B0503020204020204" charset="-122"/>
              </a:defRPr>
            </a:lvl1pPr>
          </a:lstStyle>
          <a:p>
            <a:pPr indent="0" algn="l">
              <a:lnSpc>
                <a:spcPct val="100000"/>
              </a:lnSpc>
            </a:pP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16" hasCustomPrompt="1"/>
          </p:nvPr>
        </p:nvSpPr>
        <p:spPr>
          <a:xfrm>
            <a:off x="1" y="593458"/>
            <a:ext cx="419099" cy="365125"/>
          </a:xfrm>
          <a:prstGeom prst="rect">
            <a:avLst/>
          </a:prstGeom>
          <a:noFill/>
          <a:ln w="12700">
            <a:noFill/>
            <a:prstDash val="solid"/>
          </a:ln>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indent="0" algn="r">
              <a:lnSpc>
                <a:spcPct val="100000"/>
              </a:lnSpc>
            </a:pPr>
            <a:r>
              <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rPr>
              <a:t>‹#›</a:t>
            </a:r>
            <a:endParaRPr lang="en-US" sz="1600" b="0" i="0" u="none" strike="noStrike">
              <a:solidFill>
                <a:srgbClr val="FFFFFF"/>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17" hasCustomPrompt="1"/>
          </p:nvPr>
        </p:nvSpPr>
        <p:spPr>
          <a:xfrm>
            <a:off x="3657600" y="457201"/>
            <a:ext cx="8001000" cy="5719763"/>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181100" lvl="3" indent="-152400" algn="l">
              <a:lnSpc>
                <a:spcPct val="100000"/>
              </a:lnSpc>
              <a:spcBef>
                <a:spcPts val="750"/>
              </a:spcBef>
              <a:buClr>
                <a:srgbClr val="404040"/>
              </a:buClr>
              <a:buChar char="•"/>
            </a:pPr>
            <a:r>
              <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2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18" hasCustomPrompt="1"/>
          </p:nvPr>
        </p:nvSpPr>
        <p:spPr>
          <a:xfrm>
            <a:off x="523873" y="6356351"/>
            <a:ext cx="11277601"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id="2" name="AutoShape 2"/>
          <p:cNvSpPr/>
          <p:nvPr>
            <p:ph type="body" sz="quarter" idx="19" hasCustomPrompt="1"/>
          </p:nvPr>
        </p:nvSpPr>
        <p:spPr>
          <a:xfrm>
            <a:off x="5452216" y="0"/>
            <a:ext cx="6110447" cy="6858000"/>
          </a:xfrm>
          <a:prstGeom prst="rect">
            <a:avLst/>
          </a:prstGeom>
          <a:noFill/>
          <a:ln w="12700">
            <a:noFill/>
            <a:prstDash val="solid"/>
          </a:ln>
        </p:spPr>
        <p:txBody>
          <a:bodyPr wrap="square" lIns="91440" tIns="45720" rIns="91440" bIns="45720" anchor="ctr">
            <a:noAutofit/>
          </a:bodyPr>
          <a:lstStyle>
            <a:lvl1pPr algn="l">
              <a:lnSpc>
                <a:spcPct val="100000"/>
              </a:lnSpc>
              <a:defRPr sz="2800" b="0" i="0" u="none" strike="noStrike" spc="0">
                <a:solidFill>
                  <a:srgbClr val="404040">
                    <a:alpha val="100000"/>
                  </a:srgbClr>
                </a:solidFill>
                <a:latin typeface="微软雅黑" panose="020B0503020204020204" charset="-122"/>
              </a:defRPr>
            </a:lvl1pPr>
          </a:lstStyle>
          <a:p>
            <a:pPr marL="355600" indent="-355600" algn="l">
              <a:lnSpc>
                <a:spcPct val="100000"/>
              </a:lnSpc>
              <a:spcBef>
                <a:spcPts val="3000"/>
              </a:spcBef>
              <a:buClr>
                <a:srgbClr val="404040"/>
              </a:buClr>
              <a:buChar char="•"/>
            </a:pPr>
            <a:r>
              <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编辑母版文本样式</a:t>
            </a:r>
            <a:endParaRPr lang="en-US" sz="28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647700" lvl="1" indent="-304800" algn="l">
              <a:lnSpc>
                <a:spcPct val="100000"/>
              </a:lnSpc>
              <a:spcBef>
                <a:spcPts val="750"/>
              </a:spcBef>
              <a:buClr>
                <a:srgbClr val="404040"/>
              </a:buClr>
              <a:buChar char="•"/>
            </a:pP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第二级</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939800" lvl="2" indent="-254000" algn="l">
              <a:lnSpc>
                <a:spcPct val="100000"/>
              </a:lnSpc>
              <a:spcBef>
                <a:spcPts val="750"/>
              </a:spcBef>
              <a:buClr>
                <a:srgbClr val="404040"/>
              </a:buClr>
              <a:buChar char="•"/>
            </a:pP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第三级</a:t>
            </a:r>
            <a:endPar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1231900" lvl="3" indent="-203200" algn="l">
              <a:lnSpc>
                <a:spcPct val="100000"/>
              </a:lnSpc>
              <a:spcBef>
                <a:spcPts val="750"/>
              </a:spcBef>
              <a:buClr>
                <a:srgbClr val="404040"/>
              </a:buClr>
              <a:buChar char="•"/>
            </a:pPr>
            <a:r>
              <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第四级</a:t>
            </a:r>
            <a:endParaRPr lang="en-US" sz="16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3" name="Group 3"/>
          <p:cNvGrpSpPr/>
          <p:nvPr/>
        </p:nvGrpSpPr>
        <p:grpSpPr>
          <a:xfrm>
            <a:off x="3057633" y="31667"/>
            <a:ext cx="9134367" cy="6838951"/>
            <a:chOff x="3057633" y="31667"/>
            <a:chExt cx="9134367" cy="6838951"/>
          </a:xfrm>
        </p:grpSpPr>
        <p:cxnSp>
          <p:nvCxnSpPr>
            <p:cNvPr id="4" name="Connector 4"/>
            <p:cNvCxnSpPr/>
            <p:nvPr/>
          </p:nvCxnSpPr>
          <p:spPr>
            <a:xfrm>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id="5" name="Group 5"/>
            <p:cNvGrpSpPr/>
            <p:nvPr/>
          </p:nvGrpSpPr>
          <p:grpSpPr>
            <a:xfrm>
              <a:off x="11586746" y="4889417"/>
              <a:ext cx="605254" cy="1981201"/>
              <a:chOff x="11586746" y="4889417"/>
              <a:chExt cx="605254" cy="1981201"/>
            </a:xfrm>
          </p:grpSpPr>
          <p:sp>
            <p:nvSpPr>
              <p:cNvPr id="6" name="Freeform 6"/>
              <p:cNvSpPr/>
              <p:nvPr/>
            </p:nvSpPr>
            <p:spPr>
              <a:xfrm>
                <a:off x="11678257" y="5716505"/>
                <a:ext cx="301824" cy="1154112"/>
              </a:xfrm>
              <a:custGeom>
                <a:avLst/>
                <a:gdLst/>
                <a:ahLst/>
                <a:cxnLst/>
                <a:rect l="l" t="t" r="r" b="b"/>
                <a:pathLst>
                  <a:path w="301824" h="1154112">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11922285" y="5573630"/>
                <a:ext cx="158940" cy="155575"/>
              </a:xfrm>
              <a:custGeom>
                <a:avLst/>
                <a:gdLst/>
                <a:ahLst/>
                <a:cxnLst/>
                <a:rect l="l" t="t" r="r" b="b"/>
                <a:pathLst>
                  <a:path w="158940" h="155575">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11784216" y="4889417"/>
                <a:ext cx="191049" cy="188912"/>
              </a:xfrm>
              <a:custGeom>
                <a:avLst/>
                <a:gdLst/>
                <a:ahLst/>
                <a:cxnLst/>
                <a:rect l="l" t="t" r="r" b="b"/>
                <a:pathLst>
                  <a:path w="191049" h="188912">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11586746" y="5068805"/>
                <a:ext cx="311457" cy="1801812"/>
              </a:xfrm>
              <a:custGeom>
                <a:avLst/>
                <a:gdLst/>
                <a:ahLst/>
                <a:cxnLst/>
                <a:rect l="l" t="t" r="r" b="b"/>
                <a:pathLst>
                  <a:path w="311457" h="1801812">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11999346" y="6438817"/>
                <a:ext cx="192654" cy="188913"/>
              </a:xfrm>
              <a:custGeom>
                <a:avLst/>
                <a:gdLst/>
                <a:ahLst/>
                <a:cxnLst/>
                <a:rect l="l" t="t" r="r" b="b"/>
                <a:pathLst>
                  <a:path w="192654" h="188913">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2090856" y="6618205"/>
                <a:ext cx="24082" cy="252413"/>
              </a:xfrm>
              <a:prstGeom prst="rect">
                <a:avLst/>
              </a:prstGeom>
              <a:solidFill>
                <a:srgbClr val="549E39">
                  <a:alpha val="100000"/>
                </a:srgbClr>
              </a:solidFill>
              <a:ln w="12700">
                <a:noFill/>
                <a:prstDash val="solid"/>
              </a:ln>
            </p:spPr>
            <p:txBody>
              <a:bodyPr wrap="square" lIns="91440" tIns="45720" rIns="91440" bIns="45720" rtlCol="0" anchor="t">
                <a:noAutofit/>
              </a:bodyPr>
              <a:lstStyle/>
              <a:p>
                <a:pPr algn="ctr">
                  <a:defRPr/>
                </a:pPr>
              </a:p>
            </p:txBody>
          </p:sp>
        </p:grpSp>
      </p:grpSp>
      <p:sp>
        <p:nvSpPr>
          <p:cNvPr id="12" name="AutoShape 12"/>
          <p:cNvSpPr/>
          <p:nvPr>
            <p:ph type="body" sz="quarter" idx="20" hasCustomPrompt="1"/>
          </p:nvPr>
        </p:nvSpPr>
        <p:spPr>
          <a:xfrm>
            <a:off x="0" y="0"/>
            <a:ext cx="4659313" cy="6858000"/>
          </a:xfrm>
          <a:prstGeom prst="rect">
            <a:avLst/>
          </a:prstGeom>
          <a:solidFill>
            <a:srgbClr val="8B0012">
              <a:alpha val="100000"/>
            </a:srgbClr>
          </a:solidFill>
          <a:ln w="12700">
            <a:noFill/>
            <a:prstDash val="solid"/>
          </a:ln>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Calibri" panose="020F0502020204030204"/>
              </a:defRPr>
            </a:lvl1pPr>
          </a:lstStyle>
          <a:p>
            <a:pPr indent="0" algn="ctr">
              <a:lnSpc>
                <a:spcPct val="100000"/>
              </a:lnSpc>
              <a:spcBef>
                <a:spcPts val="1500"/>
              </a:spcBef>
            </a:pPr>
            <a:r>
              <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rPr>
              <a:t>Outline</a:t>
            </a:r>
            <a:endParaRPr lang="en-US" sz="3200" b="1" i="0" u="none" strike="noStrike">
              <a:solidFill>
                <a:srgbClr val="FFFFFF"/>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AutoShape 2"/>
          <p:cNvSpPr/>
          <p:nvPr>
            <p:ph type="body" sz="quarter" idx="21" hasCustomPrompt="1"/>
          </p:nvPr>
        </p:nvSpPr>
        <p:spPr>
          <a:xfrm>
            <a:off x="1256418" y="5448300"/>
            <a:ext cx="10396122" cy="447675"/>
          </a:xfrm>
          <a:prstGeom prst="rect">
            <a:avLst/>
          </a:prstGeom>
          <a:noFill/>
          <a:ln w="12700">
            <a:noFill/>
            <a:prstDash val="solid"/>
          </a:ln>
        </p:spPr>
        <p:txBody>
          <a:bodyPr wrap="square" lIns="91440" tIns="45720" rIns="91440" bIns="45720" anchor="t">
            <a:noAutofit/>
          </a:bodyPr>
          <a:lstStyle>
            <a:lvl1pPr algn="ctr">
              <a:lnSpc>
                <a:spcPct val="100000"/>
              </a:lnSpc>
              <a:defRPr sz="2400" b="0" i="0" u="none" strike="noStrike" spc="0">
                <a:solidFill>
                  <a:srgbClr val="1F2329">
                    <a:alpha val="100000"/>
                  </a:srgbClr>
                </a:solidFill>
                <a:latin typeface="Noto Sans SC" panose="020B0200000000000000" charset="-122"/>
              </a:defRPr>
            </a:lvl1pPr>
          </a:lstStyle>
          <a:p>
            <a:pPr indent="0" algn="ctr">
              <a:lnSpc>
                <a:spcPct val="100000"/>
              </a:lnSpc>
            </a:pPr>
            <a:r>
              <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rPr>
              <a:t>日期</a:t>
            </a:r>
            <a:endParaRPr lang="en-US" sz="2400" b="0" i="0" u="none" strike="noStrike">
              <a:solidFill>
                <a:srgbClr val="262626"/>
              </a:solidFill>
              <a:latin typeface="Calibri Light" panose="020F0302020204030204"/>
              <a:ea typeface="Calibri Light" panose="020F0302020204030204"/>
              <a:cs typeface="Calibri Light" panose="020F0302020204030204"/>
              <a:sym typeface="Calibri Light" panose="020F0302020204030204"/>
            </a:endParaRPr>
          </a:p>
        </p:txBody>
      </p:sp>
      <p:sp>
        <p:nvSpPr>
          <p:cNvPr id="3" name="AutoShape 3"/>
          <p:cNvSpPr/>
          <p:nvPr>
            <p:ph type="body" sz="quarter" idx="22" hasCustomPrompt="1"/>
          </p:nvPr>
        </p:nvSpPr>
        <p:spPr>
          <a:xfrm>
            <a:off x="1256418" y="6356351"/>
            <a:ext cx="10396122" cy="365125"/>
          </a:xfrm>
          <a:prstGeom prst="rect">
            <a:avLst/>
          </a:prstGeom>
          <a:noFill/>
          <a:ln w="12700">
            <a:noFill/>
            <a:prstDash val="solid"/>
          </a:ln>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页脚</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4" name="AutoShape 4"/>
          <p:cNvSpPr/>
          <p:nvPr>
            <p:ph type="body" sz="quarter" idx="23" hasCustomPrompt="1"/>
          </p:nvPr>
        </p:nvSpPr>
        <p:spPr>
          <a:xfrm>
            <a:off x="1260390" y="1895447"/>
            <a:ext cx="10392032" cy="2387600"/>
          </a:xfrm>
          <a:prstGeom prst="rect">
            <a:avLst/>
          </a:prstGeom>
          <a:noFill/>
          <a:ln w="12700">
            <a:noFill/>
            <a:prstDash val="solid"/>
          </a:ln>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单击此处编辑母版标题样式</a:t>
            </a:r>
            <a:endParaRPr lang="en-US" sz="51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 name="AutoShape 5"/>
          <p:cNvSpPr/>
          <p:nvPr>
            <p:ph type="body" sz="quarter" idx="24" hasCustomPrompt="1"/>
          </p:nvPr>
        </p:nvSpPr>
        <p:spPr>
          <a:xfrm>
            <a:off x="1260390" y="4846320"/>
            <a:ext cx="10392032" cy="474980"/>
          </a:xfrm>
          <a:prstGeom prst="rect">
            <a:avLst/>
          </a:prstGeom>
          <a:noFill/>
          <a:ln w="12700">
            <a:noFill/>
            <a:prstDash val="solid"/>
          </a:ln>
        </p:spPr>
        <p:txBody>
          <a:bodyPr wrap="square" lIns="91440" tIns="45720" rIns="91440" bIns="45720" anchor="ctr">
            <a:noAutofit/>
          </a:bodyPr>
          <a:lstStyle>
            <a:lvl1pPr algn="ctr">
              <a:lnSpc>
                <a:spcPct val="100000"/>
              </a:lnSpc>
              <a:defRPr sz="2400" b="0" i="0" u="none" strike="noStrike" spc="0">
                <a:solidFill>
                  <a:srgbClr val="262626">
                    <a:alpha val="100000"/>
                  </a:srgbClr>
                </a:solidFill>
                <a:latin typeface="微软雅黑" panose="020B0503020204020204" charset="-122"/>
              </a:defRPr>
            </a:lvl1pPr>
          </a:lstStyle>
          <a:p>
            <a:pPr indent="0" algn="ctr">
              <a:lnSpc>
                <a:spcPct val="100000"/>
              </a:lnSpc>
              <a:spcBef>
                <a:spcPts val="1500"/>
              </a:spcBef>
            </a:pPr>
            <a:r>
              <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单击此处编辑母版副标题样式</a:t>
            </a:r>
            <a:endParaRPr lang="en-US" sz="24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id="2" name="AutoShape 2"/>
          <p:cNvSpPr/>
          <p:nvPr>
            <p:ph type="pic" sz="quarter" idx="25"/>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p:nvPr>
            <p:ph type="body" sz="quarter" idx="26" hasCustomPrompt="1"/>
          </p:nvPr>
        </p:nvSpPr>
        <p:spPr>
          <a:xfrm>
            <a:off x="727587" y="1622323"/>
            <a:ext cx="10943800" cy="3028335"/>
          </a:xfrm>
          <a:prstGeom prst="rect">
            <a:avLst/>
          </a:prstGeom>
          <a:noFill/>
          <a:ln w="12700">
            <a:noFill/>
            <a:prstDash val="solid"/>
          </a:ln>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Pretendard"/>
              </a:defRPr>
            </a:lvl1pPr>
          </a:lstStyle>
          <a:p>
            <a:pPr indent="0" algn="l">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id="2" name="AutoShape 2"/>
          <p:cNvSpPr/>
          <p:nvPr>
            <p:ph type="pic" sz="quarter" idx="27"/>
          </p:nvPr>
        </p:nvSpPr>
        <p:spPr>
          <a:xfrm>
            <a:off x="0" y="1"/>
            <a:ext cx="12192000" cy="6858000"/>
          </a:xfrm>
          <a:prstGeom prst="rect">
            <a:avLst/>
          </a:prstGeom>
          <a:noFill/>
          <a:ln w="12700">
            <a:noFill/>
            <a:prstDash val="solid"/>
          </a:ln>
        </p:spPr>
        <p:txBody>
          <a:bodyPr lIns="63500" tIns="63500" rIns="63500" bIns="63500" anchor="ctr"/>
          <a:lstStyle>
            <a:lvl1pPr algn="ctr">
              <a:defRPr sz="1600" b="0" i="0" u="none" strike="noStrike" spc="0">
                <a:solidFill>
                  <a:srgbClr val="1F2329">
                    <a:alpha val="100000"/>
                  </a:srgbClr>
                </a:solidFill>
                <a:latin typeface="Noto Sans SC" panose="020B0200000000000000" charset="-122"/>
              </a:defRPr>
            </a:lvl1pPr>
          </a:lstStyle>
          <a:p>
            <a:pPr algn="ctr"/>
          </a:p>
        </p:txBody>
      </p:sp>
      <p:sp>
        <p:nvSpPr>
          <p:cNvPr id="3" name="AutoShape 3"/>
          <p:cNvSpPr/>
          <p:nvPr>
            <p:ph type="body" sz="quarter" idx="28" hasCustomPrompt="1"/>
          </p:nvPr>
        </p:nvSpPr>
        <p:spPr>
          <a:xfrm>
            <a:off x="3136489" y="3716594"/>
            <a:ext cx="8534897" cy="2664541"/>
          </a:xfrm>
          <a:prstGeom prst="rect">
            <a:avLst/>
          </a:prstGeom>
          <a:noFill/>
          <a:ln w="12700">
            <a:noFill/>
            <a:prstDash val="solid"/>
          </a:ln>
        </p:spPr>
        <p:txBody>
          <a:bodyPr wrap="square" lIns="91440" tIns="45720" rIns="91440" bIns="45720" anchor="ctr">
            <a:noAutofit/>
          </a:bodyPr>
          <a:lstStyle>
            <a:lvl1pPr algn="r">
              <a:lnSpc>
                <a:spcPct val="92000"/>
              </a:lnSpc>
              <a:defRPr sz="4400" b="0" i="0" u="none" strike="noStrike" spc="0">
                <a:solidFill>
                  <a:srgbClr val="44546A">
                    <a:alpha val="100000"/>
                  </a:srgbClr>
                </a:solidFill>
                <a:latin typeface="Pretendard"/>
              </a:defRPr>
            </a:lvl1pPr>
          </a:lstStyle>
          <a:p>
            <a:pPr indent="0" algn="r">
              <a:lnSpc>
                <a:spcPct val="92000"/>
              </a:lnSpc>
            </a:pPr>
            <a:r>
              <a:rPr lang="en-US" sz="4400" b="0" i="0" u="none" strike="noStrike">
                <a:solidFill>
                  <a:srgbClr val="44546A"/>
                </a:solidFill>
                <a:latin typeface="Pretendard"/>
                <a:ea typeface="Pretendard"/>
                <a:cs typeface="Pretendard"/>
                <a:sym typeface="Pretendard"/>
              </a:rPr>
              <a:t>마스터</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제목</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스타일</a:t>
            </a:r>
            <a:r>
              <a:rPr lang="en-US" sz="4400" b="0" i="0" u="none" strike="noStrike">
                <a:solidFill>
                  <a:srgbClr val="44546A"/>
                </a:solidFill>
                <a:latin typeface="Montserrat SemiBold"/>
                <a:ea typeface="Montserrat SemiBold"/>
                <a:cs typeface="Montserrat SemiBold"/>
                <a:sym typeface="Montserrat SemiBold"/>
              </a:rPr>
              <a:t> </a:t>
            </a:r>
            <a:r>
              <a:rPr lang="en-US" sz="4400" b="0" i="0" u="none" strike="noStrike">
                <a:solidFill>
                  <a:srgbClr val="44546A"/>
                </a:solidFill>
                <a:latin typeface="Pretendard"/>
                <a:ea typeface="Pretendard"/>
                <a:cs typeface="Pretendard"/>
                <a:sym typeface="Pretendard"/>
              </a:rPr>
              <a:t>편집</a:t>
            </a:r>
            <a:endParaRPr lang="en-US" sz="4400" b="0" i="0" u="none" strike="noStrike">
              <a:solidFill>
                <a:srgbClr val="44546A"/>
              </a:solidFill>
              <a:latin typeface="Pretendard"/>
              <a:ea typeface="Pretendard"/>
              <a:cs typeface="Pretendard"/>
              <a:sym typeface="Pretendard"/>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6" Type="http://schemas.openxmlformats.org/officeDocument/2006/relationships/theme" Target="../theme/theme2.xml"/><Relationship Id="rId15" Type="http://schemas.openxmlformats.org/officeDocument/2006/relationships/image" Target="../media/image4.png"/><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5" name="Shape 5"/>
        <p:cNvGrpSpPr/>
        <p:nvPr/>
      </p:nvGrpSpPr>
      <p:grpSpPr>
        <a:xfrm>
          <a:off x="0" y="0"/>
          <a:ext cx="0" cy="0"/>
          <a:chOff x="0" y="0"/>
          <a:chExt cx="0" cy="0"/>
        </a:xfrm>
      </p:grpSpPr>
      <p:sp>
        <p:nvSpPr>
          <p:cNvPr id="1" name="Freeform 1"/>
          <p:cNvSpPr/>
          <p:nvPr userDrawn="1"/>
        </p:nvSpPr>
        <p:spPr>
          <a:xfrm flipV="1">
            <a:off x="-4185" y="529393"/>
            <a:ext cx="567982" cy="507999"/>
          </a:xfrm>
          <a:custGeom>
            <a:avLst/>
            <a:gdLst/>
            <a:ahLst/>
            <a:cxnLst/>
            <a:rect l="l" t="t" r="r" b="b"/>
            <a:pathLst>
              <a:path w="567982" h="507999">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grpSp>
        <p:nvGrpSpPr>
          <p:cNvPr id="2" name="Group 2"/>
          <p:cNvGrpSpPr/>
          <p:nvPr userDrawn="1"/>
        </p:nvGrpSpPr>
        <p:grpSpPr>
          <a:xfrm>
            <a:off x="9221415" y="158476"/>
            <a:ext cx="2580450" cy="547850"/>
            <a:chOff x="9221415" y="158476"/>
            <a:chExt cx="2580450" cy="547850"/>
          </a:xfrm>
        </p:grpSpPr>
        <p:pic>
          <p:nvPicPr>
            <p:cNvPr id="3" name="Picture 3"/>
            <p:cNvPicPr>
              <a:picLocks noChangeAspect="1"/>
            </p:cNvPicPr>
            <p:nvPr/>
          </p:nvPicPr>
          <p:blipFill>
            <a:blip r:embed="rId13"/>
            <a:srcRect/>
            <a:stretch>
              <a:fillRect/>
            </a:stretch>
          </p:blipFill>
          <p:spPr>
            <a:xfrm>
              <a:off x="9221415" y="260529"/>
              <a:ext cx="1096400" cy="336123"/>
            </a:xfrm>
            <a:prstGeom prst="rect">
              <a:avLst/>
            </a:prstGeom>
            <a:ln w="12700">
              <a:noFill/>
              <a:prstDash val="solid"/>
            </a:ln>
          </p:spPr>
        </p:pic>
        <p:pic>
          <p:nvPicPr>
            <p:cNvPr id="4" name="Picture 4"/>
            <p:cNvPicPr>
              <a:picLocks noChangeAspect="1"/>
            </p:cNvPicPr>
            <p:nvPr/>
          </p:nvPicPr>
          <p:blipFill>
            <a:blip r:embed="rId14"/>
            <a:srcRect l="13229" t="29812" r="10430" b="29795"/>
            <a:stretch>
              <a:fillRect/>
            </a:stretch>
          </p:blipFill>
          <p:spPr>
            <a:xfrm>
              <a:off x="10527164" y="158476"/>
              <a:ext cx="1274701" cy="547850"/>
            </a:xfrm>
            <a:prstGeom prst="rect">
              <a:avLst/>
            </a:prstGeom>
            <a:ln w="12700">
              <a:noFill/>
              <a:prstDash val="solid"/>
            </a:ln>
          </p:spPr>
        </p:pic>
      </p:grpSp>
      <p:pic>
        <p:nvPicPr>
          <p:cNvPr id="6" name="图片 5" descr="logo-africa"/>
          <p:cNvPicPr>
            <a:picLocks noChangeAspect="1"/>
          </p:cNvPicPr>
          <p:nvPr userDrawn="1"/>
        </p:nvPicPr>
        <p:blipFill>
          <a:blip r:embed="rId15"/>
          <a:stretch>
            <a:fillRect/>
          </a:stretch>
        </p:blipFill>
        <p:spPr>
          <a:xfrm>
            <a:off x="8076565" y="222885"/>
            <a:ext cx="897890" cy="374015"/>
          </a:xfrm>
          <a:prstGeom prst="rect">
            <a:avLst/>
          </a:prstGeom>
        </p:spPr>
      </p:pic>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21.xml"/><Relationship Id="rId4" Type="http://schemas.openxmlformats.org/officeDocument/2006/relationships/image" Target="../media/image6.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5.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8.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8.xml"/><Relationship Id="rId1"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8.xml"/><Relationship Id="rId1" Type="http://schemas.openxmlformats.org/officeDocument/2006/relationships/image" Target="../media/image9.GIF"/></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8.xml"/><Relationship Id="rId1"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8.xml"/><Relationship Id="rId1" Type="http://schemas.openxmlformats.org/officeDocument/2006/relationships/image" Target="../media/image11.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8.xml"/><Relationship Id="rId1"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8.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8.xml"/><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8.xml"/><Relationship Id="rId1"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8.xml"/><Relationship Id="rId1"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8.xml"/><Relationship Id="rId1"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8.xml"/><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8.xml"/><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8.xml"/><Relationship Id="rId1" Type="http://schemas.openxmlformats.org/officeDocument/2006/relationships/image" Target="../media/image2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22.jpeg"/><Relationship Id="rId1"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13.xml"/><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image" Target="../media/image23.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3.xml"/><Relationship Id="rId2" Type="http://schemas.openxmlformats.org/officeDocument/2006/relationships/image" Target="../media/image27.png"/><Relationship Id="rId1" Type="http://schemas.openxmlformats.org/officeDocument/2006/relationships/image" Target="../media/image2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3.xml"/><Relationship Id="rId2" Type="http://schemas.openxmlformats.org/officeDocument/2006/relationships/image" Target="../media/image28.png"/><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3.xml"/><Relationship Id="rId1" Type="http://schemas.openxmlformats.org/officeDocument/2006/relationships/image" Target="../media/image29.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3.xml"/><Relationship Id="rId2" Type="http://schemas.openxmlformats.org/officeDocument/2006/relationships/image" Target="../media/image31.png"/><Relationship Id="rId1" Type="http://schemas.openxmlformats.org/officeDocument/2006/relationships/image" Target="../media/image3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3.xml"/><Relationship Id="rId1"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3.xml"/><Relationship Id="rId1" Type="http://schemas.openxmlformats.org/officeDocument/2006/relationships/image" Target="../media/image33.png"/></Relationships>
</file>

<file path=ppt/slides/_rels/slide36.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3.xml"/><Relationship Id="rId2" Type="http://schemas.openxmlformats.org/officeDocument/2006/relationships/image" Target="../media/image35.jpeg"/><Relationship Id="rId1" Type="http://schemas.openxmlformats.org/officeDocument/2006/relationships/image" Target="../media/image34.jpe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3.xml"/><Relationship Id="rId1" Type="http://schemas.openxmlformats.org/officeDocument/2006/relationships/image" Target="../media/image36.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3.xml"/><Relationship Id="rId2" Type="http://schemas.openxmlformats.org/officeDocument/2006/relationships/image" Target="../media/image38.png"/><Relationship Id="rId1" Type="http://schemas.openxmlformats.org/officeDocument/2006/relationships/image" Target="../media/image37.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3.xml"/><Relationship Id="rId1" Type="http://schemas.openxmlformats.org/officeDocument/2006/relationships/image" Target="../media/image39.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41.png"/><Relationship Id="rId1" Type="http://schemas.openxmlformats.org/officeDocument/2006/relationships/image" Target="../media/image4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2.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3.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4.png"/></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45.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49.png"/><Relationship Id="rId1" Type="http://schemas.openxmlformats.org/officeDocument/2006/relationships/image" Target="../media/image48.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50.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1.png"/></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2.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53.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7" Type="http://schemas.openxmlformats.org/officeDocument/2006/relationships/notesSlide" Target="../notesSlides/notesSlide36.xml"/><Relationship Id="rId6" Type="http://schemas.openxmlformats.org/officeDocument/2006/relationships/slideLayout" Target="../slideLayouts/slideLayout13.xml"/><Relationship Id="rId5" Type="http://schemas.openxmlformats.org/officeDocument/2006/relationships/image" Target="../media/image58.jpeg"/><Relationship Id="rId4" Type="http://schemas.openxmlformats.org/officeDocument/2006/relationships/image" Target="../media/image57.png"/><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image" Target="../media/image54.png"/></Relationships>
</file>

<file path=ppt/slides/_rels/slide60.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65.png"/><Relationship Id="rId7" Type="http://schemas.openxmlformats.org/officeDocument/2006/relationships/image" Target="../media/image64.png"/><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54.png"/><Relationship Id="rId3" Type="http://schemas.openxmlformats.org/officeDocument/2006/relationships/image" Target="../media/image61.png"/><Relationship Id="rId2" Type="http://schemas.openxmlformats.org/officeDocument/2006/relationships/image" Target="../media/image60.jpeg"/><Relationship Id="rId10" Type="http://schemas.openxmlformats.org/officeDocument/2006/relationships/notesSlide" Target="../notesSlides/notesSlide37.xml"/><Relationship Id="rId1" Type="http://schemas.openxmlformats.org/officeDocument/2006/relationships/image" Target="../media/image59.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6" Type="http://schemas.openxmlformats.org/officeDocument/2006/relationships/notesSlide" Target="../notesSlides/notesSlide39.xml"/><Relationship Id="rId5" Type="http://schemas.openxmlformats.org/officeDocument/2006/relationships/slideLayout" Target="../slideLayouts/slideLayout13.xml"/><Relationship Id="rId4" Type="http://schemas.openxmlformats.org/officeDocument/2006/relationships/image" Target="../media/image68.png"/><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image" Target="../media/image59.png"/></Relationships>
</file>

<file path=ppt/slides/_rels/slide63.xml.rels><?xml version="1.0" encoding="UTF-8" standalone="yes"?>
<Relationships xmlns="http://schemas.openxmlformats.org/package/2006/relationships"><Relationship Id="rId7" Type="http://schemas.openxmlformats.org/officeDocument/2006/relationships/notesSlide" Target="../notesSlides/notesSlide40.xml"/><Relationship Id="rId6" Type="http://schemas.openxmlformats.org/officeDocument/2006/relationships/slideLayout" Target="../slideLayouts/slideLayout13.xml"/><Relationship Id="rId5" Type="http://schemas.openxmlformats.org/officeDocument/2006/relationships/image" Target="../media/image72.png"/><Relationship Id="rId4" Type="http://schemas.openxmlformats.org/officeDocument/2006/relationships/image" Target="../media/image71.png"/><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image" Target="../media/image66.png"/></Relationships>
</file>

<file path=ppt/slides/_rels/slide64.xml.rels><?xml version="1.0" encoding="UTF-8" standalone="yes"?>
<Relationships xmlns="http://schemas.openxmlformats.org/package/2006/relationships"><Relationship Id="rId6" Type="http://schemas.openxmlformats.org/officeDocument/2006/relationships/notesSlide" Target="../notesSlides/notesSlide41.xml"/><Relationship Id="rId5" Type="http://schemas.openxmlformats.org/officeDocument/2006/relationships/slideLayout" Target="../slideLayouts/slideLayout13.xml"/><Relationship Id="rId4" Type="http://schemas.openxmlformats.org/officeDocument/2006/relationships/image" Target="../media/image76.jpeg"/><Relationship Id="rId3" Type="http://schemas.openxmlformats.org/officeDocument/2006/relationships/image" Target="../media/image75.jpeg"/><Relationship Id="rId2" Type="http://schemas.openxmlformats.org/officeDocument/2006/relationships/image" Target="../media/image74.jpeg"/><Relationship Id="rId1" Type="http://schemas.openxmlformats.org/officeDocument/2006/relationships/image" Target="../media/image73.jpe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7" Type="http://schemas.openxmlformats.org/officeDocument/2006/relationships/notesSlide" Target="../notesSlides/notesSlide43.xml"/><Relationship Id="rId6" Type="http://schemas.openxmlformats.org/officeDocument/2006/relationships/slideLayout" Target="../slideLayouts/slideLayout13.xml"/><Relationship Id="rId5" Type="http://schemas.openxmlformats.org/officeDocument/2006/relationships/image" Target="../media/image81.png"/><Relationship Id="rId4" Type="http://schemas.openxmlformats.org/officeDocument/2006/relationships/image" Target="../media/image80.png"/><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image" Target="../media/image77.jpeg"/></Relationships>
</file>

<file path=ppt/slides/_rels/slide67.xml.rels><?xml version="1.0" encoding="UTF-8" standalone="yes"?>
<Relationships xmlns="http://schemas.openxmlformats.org/package/2006/relationships"><Relationship Id="rId7" Type="http://schemas.openxmlformats.org/officeDocument/2006/relationships/notesSlide" Target="../notesSlides/notesSlide44.xml"/><Relationship Id="rId6" Type="http://schemas.openxmlformats.org/officeDocument/2006/relationships/slideLayout" Target="../slideLayouts/slideLayout13.xml"/><Relationship Id="rId5" Type="http://schemas.openxmlformats.org/officeDocument/2006/relationships/image" Target="../media/image86.png"/><Relationship Id="rId4" Type="http://schemas.openxmlformats.org/officeDocument/2006/relationships/image" Target="../media/image85.png"/><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image" Target="../media/image82.png"/></Relationships>
</file>

<file path=ppt/slides/_rels/slide68.xml.rels><?xml version="1.0" encoding="UTF-8" standalone="yes"?>
<Relationships xmlns="http://schemas.openxmlformats.org/package/2006/relationships"><Relationship Id="rId7" Type="http://schemas.openxmlformats.org/officeDocument/2006/relationships/notesSlide" Target="../notesSlides/notesSlide45.xml"/><Relationship Id="rId6" Type="http://schemas.openxmlformats.org/officeDocument/2006/relationships/slideLayout" Target="../slideLayouts/slideLayout13.xml"/><Relationship Id="rId5" Type="http://schemas.openxmlformats.org/officeDocument/2006/relationships/image" Target="../media/image90.png"/><Relationship Id="rId4" Type="http://schemas.openxmlformats.org/officeDocument/2006/relationships/image" Target="../media/image89.png"/><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image" Target="../media/image66.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6" Type="http://schemas.openxmlformats.org/officeDocument/2006/relationships/notesSlide" Target="../notesSlides/notesSlide47.xml"/><Relationship Id="rId5" Type="http://schemas.openxmlformats.org/officeDocument/2006/relationships/slideLayout" Target="../slideLayouts/slideLayout13.xml"/><Relationship Id="rId4" Type="http://schemas.openxmlformats.org/officeDocument/2006/relationships/image" Target="../media/image92.jpeg"/><Relationship Id="rId3" Type="http://schemas.openxmlformats.org/officeDocument/2006/relationships/image" Target="../media/image61.png"/><Relationship Id="rId2" Type="http://schemas.openxmlformats.org/officeDocument/2006/relationships/image" Target="../media/image91.png"/><Relationship Id="rId1" Type="http://schemas.openxmlformats.org/officeDocument/2006/relationships/image" Target="../media/image59.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image" Target="../media/image93.png"/></Relationships>
</file>

<file path=ppt/slides/_rels/slide72.xml.rels><?xml version="1.0" encoding="UTF-8" standalone="yes"?>
<Relationships xmlns="http://schemas.openxmlformats.org/package/2006/relationships"><Relationship Id="rId7" Type="http://schemas.openxmlformats.org/officeDocument/2006/relationships/notesSlide" Target="../notesSlides/notesSlide49.xml"/><Relationship Id="rId6" Type="http://schemas.openxmlformats.org/officeDocument/2006/relationships/slideLayout" Target="../slideLayouts/slideLayout13.xml"/><Relationship Id="rId5" Type="http://schemas.openxmlformats.org/officeDocument/2006/relationships/image" Target="../media/image66.png"/><Relationship Id="rId4" Type="http://schemas.openxmlformats.org/officeDocument/2006/relationships/image" Target="../media/image59.png"/><Relationship Id="rId3" Type="http://schemas.openxmlformats.org/officeDocument/2006/relationships/image" Target="../media/image95.png"/><Relationship Id="rId2" Type="http://schemas.openxmlformats.org/officeDocument/2006/relationships/image" Target="../media/image91.png"/><Relationship Id="rId1" Type="http://schemas.openxmlformats.org/officeDocument/2006/relationships/image" Target="../media/image94.png"/></Relationships>
</file>

<file path=ppt/slides/_rels/slide73.xml.rels><?xml version="1.0" encoding="UTF-8" standalone="yes"?>
<Relationships xmlns="http://schemas.openxmlformats.org/package/2006/relationships"><Relationship Id="rId6" Type="http://schemas.openxmlformats.org/officeDocument/2006/relationships/notesSlide" Target="../notesSlides/notesSlide50.xml"/><Relationship Id="rId5" Type="http://schemas.openxmlformats.org/officeDocument/2006/relationships/slideLayout" Target="../slideLayouts/slideLayout13.xml"/><Relationship Id="rId4" Type="http://schemas.openxmlformats.org/officeDocument/2006/relationships/image" Target="../media/image99.png"/><Relationship Id="rId3" Type="http://schemas.openxmlformats.org/officeDocument/2006/relationships/image" Target="../media/image98.jpeg"/><Relationship Id="rId2" Type="http://schemas.openxmlformats.org/officeDocument/2006/relationships/image" Target="../media/image97.jpeg"/><Relationship Id="rId1" Type="http://schemas.openxmlformats.org/officeDocument/2006/relationships/image" Target="../media/image96.jpeg"/></Relationships>
</file>

<file path=ppt/slides/_rels/slide74.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image" Target="../media/image106.png"/><Relationship Id="rId7" Type="http://schemas.openxmlformats.org/officeDocument/2006/relationships/image" Target="../media/image105.png"/><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 Id="rId3" Type="http://schemas.openxmlformats.org/officeDocument/2006/relationships/image" Target="../media/image101.png"/><Relationship Id="rId2" Type="http://schemas.openxmlformats.org/officeDocument/2006/relationships/image" Target="../media/image54.png"/><Relationship Id="rId10" Type="http://schemas.openxmlformats.org/officeDocument/2006/relationships/notesSlide" Target="../notesSlides/notesSlide51.xml"/><Relationship Id="rId1" Type="http://schemas.openxmlformats.org/officeDocument/2006/relationships/image" Target="../media/image100.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7.xml.rels><?xml version="1.0" encoding="UTF-8" standalone="yes"?>
<Relationships xmlns="http://schemas.openxmlformats.org/package/2006/relationships"><Relationship Id="rId5" Type="http://schemas.openxmlformats.org/officeDocument/2006/relationships/slideLayout" Target="../slideLayouts/slideLayout14.xml"/><Relationship Id="rId4" Type="http://schemas.openxmlformats.org/officeDocument/2006/relationships/image" Target="../media/image92.jpeg"/><Relationship Id="rId3" Type="http://schemas.openxmlformats.org/officeDocument/2006/relationships/image" Target="../media/image61.png"/><Relationship Id="rId2" Type="http://schemas.openxmlformats.org/officeDocument/2006/relationships/image" Target="../media/image91.png"/><Relationship Id="rId1" Type="http://schemas.openxmlformats.org/officeDocument/2006/relationships/image" Target="../media/image59.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image" Target="../media/image93.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image" Target="../media/image107.png"/></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08.png"/><Relationship Id="rId1" Type="http://schemas.openxmlformats.org/officeDocument/2006/relationships/hyperlink" Target="https://kernelgen.flagos.io/home" TargetMode="External"/></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10.png"/><Relationship Id="rId1" Type="http://schemas.openxmlformats.org/officeDocument/2006/relationships/image" Target="../media/image109.png"/></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1.png"/></Relationships>
</file>

<file path=ppt/slides/_rels/slide8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2.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3.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4.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5.png"/></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6.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17.png"/></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19.png"/><Relationship Id="rId1" Type="http://schemas.openxmlformats.org/officeDocument/2006/relationships/image" Target="../media/image11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0.png"/></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1.png"/></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24.png"/><Relationship Id="rId1" Type="http://schemas.openxmlformats.org/officeDocument/2006/relationships/image" Target="../media/image123.png"/></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26.png"/><Relationship Id="rId1" Type="http://schemas.openxmlformats.org/officeDocument/2006/relationships/image" Target="../media/image125.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7.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29.png"/><Relationship Id="rId1" Type="http://schemas.openxmlformats.org/officeDocument/2006/relationships/image" Target="../media/image128.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30.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2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4" Type="http://schemas.openxmlformats.org/officeDocument/2006/relationships/notesSlide" Target="../notesSlides/notesSlide53.xml"/><Relationship Id="rId3" Type="http://schemas.openxmlformats.org/officeDocument/2006/relationships/slideLayout" Target="../slideLayouts/slideLayout13.xml"/><Relationship Id="rId2" Type="http://schemas.openxmlformats.org/officeDocument/2006/relationships/image" Target="../media/image132.png"/><Relationship Id="rId1" Type="http://schemas.openxmlformats.org/officeDocument/2006/relationships/image" Target="../media/image13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image" Target="../media/image133.png"/></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3.xml"/><Relationship Id="rId1" Type="http://schemas.openxmlformats.org/officeDocument/2006/relationships/image" Target="../media/image134.png"/></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3.xml"/><Relationship Id="rId1" Type="http://schemas.openxmlformats.org/officeDocument/2006/relationships/image" Target="../media/image135.png"/></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4" Type="http://schemas.openxmlformats.org/officeDocument/2006/relationships/notesSlide" Target="../notesSlides/notesSlide58.xml"/><Relationship Id="rId3" Type="http://schemas.openxmlformats.org/officeDocument/2006/relationships/slideLayout" Target="../slideLayouts/slideLayout13.xml"/><Relationship Id="rId2" Type="http://schemas.openxmlformats.org/officeDocument/2006/relationships/image" Target="../media/image137.png"/><Relationship Id="rId1" Type="http://schemas.openxmlformats.org/officeDocument/2006/relationships/image" Target="../media/image136.png"/></Relationships>
</file>

<file path=ppt/slides/_rels/slide129.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13.xml"/><Relationship Id="rId2" Type="http://schemas.openxmlformats.org/officeDocument/2006/relationships/image" Target="../media/image139.png"/><Relationship Id="rId1" Type="http://schemas.openxmlformats.org/officeDocument/2006/relationships/image" Target="../media/image138.png"/></Relationships>
</file>

<file path=ppt/slides/_rels/slide130.xml.rels><?xml version="1.0" encoding="UTF-8" standalone="yes"?>
<Relationships xmlns="http://schemas.openxmlformats.org/package/2006/relationships"><Relationship Id="rId4" Type="http://schemas.openxmlformats.org/officeDocument/2006/relationships/notesSlide" Target="../notesSlides/notesSlide60.xml"/><Relationship Id="rId3" Type="http://schemas.openxmlformats.org/officeDocument/2006/relationships/slideLayout" Target="../slideLayouts/slideLayout13.xml"/><Relationship Id="rId2" Type="http://schemas.openxmlformats.org/officeDocument/2006/relationships/image" Target="../media/image141.png"/><Relationship Id="rId1" Type="http://schemas.openxmlformats.org/officeDocument/2006/relationships/image" Target="../media/image140.png"/></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3.xml"/><Relationship Id="rId1" Type="http://schemas.openxmlformats.org/officeDocument/2006/relationships/image" Target="../media/image142.png"/></Relationships>
</file>

<file path=ppt/slides/_rels/slide132.xml.rels><?xml version="1.0" encoding="UTF-8" standalone="yes"?>
<Relationships xmlns="http://schemas.openxmlformats.org/package/2006/relationships"><Relationship Id="rId5" Type="http://schemas.openxmlformats.org/officeDocument/2006/relationships/notesSlide" Target="../notesSlides/notesSlide62.xml"/><Relationship Id="rId4" Type="http://schemas.openxmlformats.org/officeDocument/2006/relationships/slideLayout" Target="../slideLayouts/slideLayout13.xml"/><Relationship Id="rId3" Type="http://schemas.openxmlformats.org/officeDocument/2006/relationships/image" Target="../media/image145.png"/><Relationship Id="rId2" Type="http://schemas.openxmlformats.org/officeDocument/2006/relationships/image" Target="../media/image144.png"/><Relationship Id="rId1" Type="http://schemas.openxmlformats.org/officeDocument/2006/relationships/image" Target="../media/image143.png"/></Relationships>
</file>

<file path=ppt/slides/_rels/slide133.xml.rels><?xml version="1.0" encoding="UTF-8" standalone="yes"?>
<Relationships xmlns="http://schemas.openxmlformats.org/package/2006/relationships"><Relationship Id="rId4" Type="http://schemas.openxmlformats.org/officeDocument/2006/relationships/notesSlide" Target="../notesSlides/notesSlide63.xml"/><Relationship Id="rId3" Type="http://schemas.openxmlformats.org/officeDocument/2006/relationships/slideLayout" Target="../slideLayouts/slideLayout13.xml"/><Relationship Id="rId2" Type="http://schemas.openxmlformats.org/officeDocument/2006/relationships/image" Target="../media/image147.png"/><Relationship Id="rId1" Type="http://schemas.openxmlformats.org/officeDocument/2006/relationships/image" Target="../media/image146.jpeg"/></Relationships>
</file>

<file path=ppt/slides/_rels/slide134.xml.rels><?xml version="1.0" encoding="UTF-8" standalone="yes"?>
<Relationships xmlns="http://schemas.openxmlformats.org/package/2006/relationships"><Relationship Id="rId4" Type="http://schemas.openxmlformats.org/officeDocument/2006/relationships/notesSlide" Target="../notesSlides/notesSlide64.xml"/><Relationship Id="rId3" Type="http://schemas.openxmlformats.org/officeDocument/2006/relationships/slideLayout" Target="../slideLayouts/slideLayout13.xml"/><Relationship Id="rId2" Type="http://schemas.openxmlformats.org/officeDocument/2006/relationships/image" Target="../media/image149.png"/><Relationship Id="rId1" Type="http://schemas.openxmlformats.org/officeDocument/2006/relationships/image" Target="../media/image148.png"/></Relationships>
</file>

<file path=ppt/slides/_rels/slide135.xml.rels><?xml version="1.0" encoding="UTF-8" standalone="yes"?>
<Relationships xmlns="http://schemas.openxmlformats.org/package/2006/relationships"><Relationship Id="rId4" Type="http://schemas.openxmlformats.org/officeDocument/2006/relationships/slideLayout" Target="../slideLayouts/slideLayout13.xml"/><Relationship Id="rId3" Type="http://schemas.openxmlformats.org/officeDocument/2006/relationships/image" Target="../media/image152.png"/><Relationship Id="rId2" Type="http://schemas.openxmlformats.org/officeDocument/2006/relationships/image" Target="../media/image151.png"/><Relationship Id="rId1" Type="http://schemas.openxmlformats.org/officeDocument/2006/relationships/image" Target="../media/image150.png"/></Relationships>
</file>

<file path=ppt/slides/_rels/slide136.xml.rels><?xml version="1.0" encoding="UTF-8" standalone="yes"?>
<Relationships xmlns="http://schemas.openxmlformats.org/package/2006/relationships"><Relationship Id="rId4" Type="http://schemas.openxmlformats.org/officeDocument/2006/relationships/notesSlide" Target="../notesSlides/notesSlide65.xml"/><Relationship Id="rId3" Type="http://schemas.openxmlformats.org/officeDocument/2006/relationships/slideLayout" Target="../slideLayouts/slideLayout13.xml"/><Relationship Id="rId2" Type="http://schemas.openxmlformats.org/officeDocument/2006/relationships/image" Target="../media/image154.png"/><Relationship Id="rId1" Type="http://schemas.openxmlformats.org/officeDocument/2006/relationships/image" Target="../media/image153.png"/></Relationships>
</file>

<file path=ppt/slides/_rels/slide137.xml.rels><?xml version="1.0" encoding="UTF-8" standalone="yes"?>
<Relationships xmlns="http://schemas.openxmlformats.org/package/2006/relationships"><Relationship Id="rId4" Type="http://schemas.openxmlformats.org/officeDocument/2006/relationships/notesSlide" Target="../notesSlides/notesSlide66.xml"/><Relationship Id="rId3" Type="http://schemas.openxmlformats.org/officeDocument/2006/relationships/slideLayout" Target="../slideLayouts/slideLayout13.xml"/><Relationship Id="rId2" Type="http://schemas.openxmlformats.org/officeDocument/2006/relationships/image" Target="../media/image156.GIF"/><Relationship Id="rId1" Type="http://schemas.openxmlformats.org/officeDocument/2006/relationships/image" Target="../media/image155.png"/></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3.xml"/><Relationship Id="rId1" Type="http://schemas.openxmlformats.org/officeDocument/2006/relationships/image" Target="../media/image157.png"/></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3.xml"/><Relationship Id="rId1" Type="http://schemas.openxmlformats.org/officeDocument/2006/relationships/image" Target="../media/image158.png"/></Relationships>
</file>

<file path=ppt/slides/_rels/slide140.xml.rels><?xml version="1.0" encoding="UTF-8" standalone="yes"?>
<Relationships xmlns="http://schemas.openxmlformats.org/package/2006/relationships"><Relationship Id="rId4" Type="http://schemas.openxmlformats.org/officeDocument/2006/relationships/notesSlide" Target="../notesSlides/notesSlide69.xml"/><Relationship Id="rId3" Type="http://schemas.openxmlformats.org/officeDocument/2006/relationships/slideLayout" Target="../slideLayouts/slideLayout13.xml"/><Relationship Id="rId2" Type="http://schemas.openxmlformats.org/officeDocument/2006/relationships/image" Target="../media/image160.png"/><Relationship Id="rId1" Type="http://schemas.openxmlformats.org/officeDocument/2006/relationships/image" Target="../media/image159.png"/></Relationships>
</file>

<file path=ppt/slides/_rels/slide141.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3.xml"/><Relationship Id="rId1" Type="http://schemas.openxmlformats.org/officeDocument/2006/relationships/image" Target="../media/image161.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4.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18.xml"/><Relationship Id="rId1" Type="http://schemas.openxmlformats.org/officeDocument/2006/relationships/image" Target="../media/image162.png"/></Relationships>
</file>

<file path=ppt/slides/_rels/slide145.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8.xml"/><Relationship Id="rId1" Type="http://schemas.openxmlformats.org/officeDocument/2006/relationships/image" Target="../media/image163.png"/></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8.xml"/><Relationship Id="rId1" Type="http://schemas.openxmlformats.org/officeDocument/2006/relationships/image" Target="../media/image164.png"/></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8.xml"/></Relationships>
</file>

<file path=ppt/slides/_rels/slide148.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18.xml"/><Relationship Id="rId1" Type="http://schemas.openxmlformats.org/officeDocument/2006/relationships/image" Target="../media/image165.png"/></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8.xml"/></Relationships>
</file>

<file path=ppt/slides/_rels/slide150.xml.rels><?xml version="1.0" encoding="UTF-8" standalone="yes"?>
<Relationships xmlns="http://schemas.openxmlformats.org/package/2006/relationships"><Relationship Id="rId4" Type="http://schemas.openxmlformats.org/officeDocument/2006/relationships/notesSlide" Target="../notesSlides/notesSlide77.xml"/><Relationship Id="rId3" Type="http://schemas.openxmlformats.org/officeDocument/2006/relationships/slideLayout" Target="../slideLayouts/slideLayout18.xml"/><Relationship Id="rId2" Type="http://schemas.openxmlformats.org/officeDocument/2006/relationships/image" Target="../media/image167.png"/><Relationship Id="rId1" Type="http://schemas.openxmlformats.org/officeDocument/2006/relationships/image" Target="../media/image166.png"/></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8.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8.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8.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8.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8.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8.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8.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8.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8.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8.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8.xml"/></Relationships>
</file>

<file path=ppt/slides/_rels/slide162.xml.rels><?xml version="1.0" encoding="UTF-8" standalone="yes"?>
<Relationships xmlns="http://schemas.openxmlformats.org/package/2006/relationships"><Relationship Id="rId5" Type="http://schemas.openxmlformats.org/officeDocument/2006/relationships/notesSlide" Target="../notesSlides/notesSlide89.xml"/><Relationship Id="rId4" Type="http://schemas.openxmlformats.org/officeDocument/2006/relationships/slideLayout" Target="../slideLayouts/slideLayout18.xml"/><Relationship Id="rId3" Type="http://schemas.openxmlformats.org/officeDocument/2006/relationships/image" Target="../media/image168.png"/><Relationship Id="rId2" Type="http://schemas.openxmlformats.org/officeDocument/2006/relationships/hyperlink" Target="https://flagos.io/events?tab=competition" TargetMode="External"/><Relationship Id="rId1" Type="http://schemas.openxmlformats.org/officeDocument/2006/relationships/hyperlink" Target="https://flagos.io/RaceDetail" TargetMode="Externa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8.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0.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69.jpeg"/></Relationships>
</file>

<file path=ppt/slides/_rels/slide17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70.png"/></Relationships>
</file>

<file path=ppt/slides/_rels/slide175.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72.png"/><Relationship Id="rId1" Type="http://schemas.openxmlformats.org/officeDocument/2006/relationships/image" Target="../media/image171.png"/></Relationships>
</file>

<file path=ppt/slides/_rels/slide176.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image" Target="../media/image174.png"/><Relationship Id="rId1" Type="http://schemas.openxmlformats.org/officeDocument/2006/relationships/image" Target="../media/image173.png"/></Relationships>
</file>

<file path=ppt/slides/_rels/slide177.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176.png"/><Relationship Id="rId1" Type="http://schemas.openxmlformats.org/officeDocument/2006/relationships/image" Target="../media/image175.png"/></Relationships>
</file>

<file path=ppt/slides/_rels/slide178.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77.png"/></Relationships>
</file>

<file path=ppt/slides/_rels/slide179.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78.png"/></Relationships>
</file>

<file path=ppt/slides/_rels/slide180.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13.xml"/><Relationship Id="rId1" Type="http://schemas.openxmlformats.org/officeDocument/2006/relationships/image" Target="../media/image179.jpeg"/></Relationships>
</file>

<file path=ppt/slides/_rels/slide181.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13.xml"/><Relationship Id="rId1" Type="http://schemas.openxmlformats.org/officeDocument/2006/relationships/image" Target="../media/image180.png"/></Relationships>
</file>

<file path=ppt/slides/_rels/slide18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181.png"/></Relationships>
</file>

<file path=ppt/slides/_rels/slide183.xml.rels><?xml version="1.0" encoding="UTF-8" standalone="yes"?>
<Relationships xmlns="http://schemas.openxmlformats.org/package/2006/relationships"><Relationship Id="rId9" Type="http://schemas.openxmlformats.org/officeDocument/2006/relationships/hyperlink" Target="https://www.zhihu.com/people/95-22-20-18/posts" TargetMode="External"/><Relationship Id="rId8" Type="http://schemas.openxmlformats.org/officeDocument/2006/relationships/hyperlink" Target="https://space.bilibili.com/3546791834290849" TargetMode="External"/><Relationship Id="rId7" Type="http://schemas.openxmlformats.org/officeDocument/2006/relationships/hyperlink" Target="https://github.com/flagos-ai" TargetMode="External"/><Relationship Id="rId6" Type="http://schemas.openxmlformats.org/officeDocument/2006/relationships/image" Target="../media/image187.png"/><Relationship Id="rId5" Type="http://schemas.openxmlformats.org/officeDocument/2006/relationships/image" Target="../media/image186.png"/><Relationship Id="rId4" Type="http://schemas.openxmlformats.org/officeDocument/2006/relationships/image" Target="../media/image185.png"/><Relationship Id="rId3" Type="http://schemas.openxmlformats.org/officeDocument/2006/relationships/image" Target="../media/image184.png"/><Relationship Id="rId2" Type="http://schemas.openxmlformats.org/officeDocument/2006/relationships/image" Target="../media/image183.png"/><Relationship Id="rId13" Type="http://schemas.openxmlformats.org/officeDocument/2006/relationships/slideLayout" Target="../slideLayouts/slideLayout17.xml"/><Relationship Id="rId12" Type="http://schemas.openxmlformats.org/officeDocument/2006/relationships/image" Target="../media/image189.png"/><Relationship Id="rId11" Type="http://schemas.openxmlformats.org/officeDocument/2006/relationships/image" Target="../media/image188.jpeg"/><Relationship Id="rId10" Type="http://schemas.openxmlformats.org/officeDocument/2006/relationships/hyperlink" Target="https://flagos.io/Home" TargetMode="External"/><Relationship Id="rId1" Type="http://schemas.openxmlformats.org/officeDocument/2006/relationships/image" Target="../media/image182.png"/></Relationships>
</file>

<file path=ppt/slides/_rels/slide184.xml.rels><?xml version="1.0" encoding="UTF-8" standalone="yes"?>
<Relationships xmlns="http://schemas.openxmlformats.org/package/2006/relationships"><Relationship Id="rId5" Type="http://schemas.openxmlformats.org/officeDocument/2006/relationships/slideLayout" Target="../slideLayouts/slideLayout22.xml"/><Relationship Id="rId4" Type="http://schemas.openxmlformats.org/officeDocument/2006/relationships/image" Target="../media/image6.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9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ph type="pic" sz="quarter" idx="25"/>
          </p:nvPr>
        </p:nvPicPr>
        <p:blipFill>
          <a:blip r:embed="rId1"/>
          <a:srcRect t="349" b="349"/>
          <a:stretch>
            <a:fillRect/>
          </a:stretch>
        </p:blipFill>
        <p:spPr>
          <a:xfrm>
            <a:off x="0" y="1"/>
            <a:ext cx="12192000" cy="6858000"/>
          </a:xfrm>
          <a:prstGeom prst="rect">
            <a:avLst/>
          </a:prstGeom>
        </p:spPr>
      </p:pic>
      <p:sp>
        <p:nvSpPr>
          <p:cNvPr id="3" name="AutoShape 3"/>
          <p:cNvSpPr/>
          <p:nvPr>
            <p:ph type="body" sz="quarter" idx="26" hasCustomPrompt="1"/>
          </p:nvPr>
        </p:nvSpPr>
        <p:spPr>
          <a:xfrm>
            <a:off x="727710" y="1622425"/>
            <a:ext cx="5553710" cy="3028315"/>
          </a:xfrm>
          <a:prstGeom prst="rect">
            <a:avLst/>
          </a:prstGeom>
        </p:spPr>
        <p:txBody>
          <a:bodyPr wrap="square" lIns="91440" tIns="45720" rIns="91440" bIns="45720" anchor="ctr">
            <a:noAutofit/>
          </a:bodyPr>
          <a:lstStyle>
            <a:lvl1pPr algn="l">
              <a:lnSpc>
                <a:spcPct val="92000"/>
              </a:lnSpc>
              <a:defRPr sz="4000" b="0" i="0" u="none" strike="noStrike" spc="0">
                <a:solidFill>
                  <a:srgbClr val="44546A">
                    <a:alpha val="100000"/>
                  </a:srgbClr>
                </a:solidFill>
                <a:latin typeface="Montserrat SemiBold"/>
              </a:defRPr>
            </a:lvl1pPr>
          </a:lstStyle>
          <a:p>
            <a:pPr indent="0" algn="l">
              <a:lnSpc>
                <a:spcPct val="92000"/>
              </a:lnSpc>
            </a:pPr>
            <a:r>
              <a:rPr lang="en-US" sz="4000" b="0" i="0" u="none" strike="noStrike">
                <a:solidFill>
                  <a:srgbClr val="44546A"/>
                </a:solidFill>
                <a:latin typeface="Montserrat SemiBold"/>
                <a:ea typeface="Montserrat SemiBold"/>
                <a:cs typeface="Montserrat SemiBold"/>
                <a:sym typeface="Montserrat SemiBold"/>
              </a:rPr>
              <a:t>Hardware and Software Fundamentals of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Intelligent Computing </a:t>
            </a:r>
            <a:br>
              <a:rPr lang="en-US" sz="4000" b="0" i="0" u="none" strike="noStrike">
                <a:solidFill>
                  <a:srgbClr val="44546A"/>
                </a:solidFill>
                <a:latin typeface="Montserrat SemiBold"/>
                <a:ea typeface="Montserrat SemiBold"/>
                <a:cs typeface="Montserrat SemiBold"/>
                <a:sym typeface="Montserrat SemiBold"/>
              </a:rPr>
            </a:br>
            <a:r>
              <a:rPr lang="en-US" sz="4000" b="0" i="0" u="none" strike="noStrike">
                <a:solidFill>
                  <a:srgbClr val="44546A"/>
                </a:solidFill>
                <a:latin typeface="Montserrat SemiBold"/>
                <a:ea typeface="Montserrat SemiBold"/>
                <a:cs typeface="Montserrat SemiBold"/>
                <a:sym typeface="Montserrat SemiBold"/>
              </a:rPr>
              <a:t>Systems</a:t>
            </a:r>
            <a:endParaRPr lang="en-US" sz="4000" b="0" i="0" u="none" strike="noStrike">
              <a:solidFill>
                <a:srgbClr val="44546A"/>
              </a:solidFill>
              <a:latin typeface="Montserrat SemiBold"/>
              <a:ea typeface="Montserrat SemiBold"/>
              <a:cs typeface="Montserrat SemiBold"/>
              <a:sym typeface="Montserrat SemiBold"/>
            </a:endParaRPr>
          </a:p>
        </p:txBody>
      </p:sp>
      <p:grpSp>
        <p:nvGrpSpPr>
          <p:cNvPr id="4" name="Group 4"/>
          <p:cNvGrpSpPr/>
          <p:nvPr/>
        </p:nvGrpSpPr>
        <p:grpSpPr>
          <a:xfrm>
            <a:off x="364100" y="6255612"/>
            <a:ext cx="409904" cy="409904"/>
            <a:chOff x="364100" y="6255612"/>
            <a:chExt cx="409904" cy="409904"/>
          </a:xfrm>
        </p:grpSpPr>
        <p:sp>
          <p:nvSpPr>
            <p:cNvPr id="5" name="AutoShape 5"/>
            <p:cNvSpPr/>
            <p:nvPr/>
          </p:nvSpPr>
          <p:spPr>
            <a:xfrm>
              <a:off x="364100" y="6255612"/>
              <a:ext cx="409904" cy="409904"/>
            </a:xfrm>
            <a:prstGeom prst="ellipse">
              <a:avLst/>
            </a:prstGeom>
            <a:solidFill>
              <a:srgbClr val="ED7D31">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505546" y="6397058"/>
              <a:ext cx="127012" cy="127012"/>
            </a:xfrm>
            <a:prstGeom prst="chevron">
              <a:avLst>
                <a:gd name="adj" fmla="val 50000"/>
              </a:avLst>
            </a:prstGeom>
            <a:solidFill>
              <a:srgbClr val="DAE3F3">
                <a:alpha val="100000"/>
              </a:srgbClr>
            </a:solidFill>
            <a:ln w="12700" cap="flat">
              <a:no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grpSp>
        <p:nvGrpSpPr>
          <p:cNvPr id="7" name="Group 7"/>
          <p:cNvGrpSpPr/>
          <p:nvPr/>
        </p:nvGrpSpPr>
        <p:grpSpPr>
          <a:xfrm>
            <a:off x="9247450" y="217531"/>
            <a:ext cx="2580450" cy="547850"/>
            <a:chOff x="9247450" y="217531"/>
            <a:chExt cx="2580450" cy="547850"/>
          </a:xfrm>
        </p:grpSpPr>
        <p:pic>
          <p:nvPicPr>
            <p:cNvPr id="8" name="Picture 8"/>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9" name="Picture 9"/>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pic>
        <p:nvPicPr>
          <p:cNvPr id="10" name="图片 9" descr="/Users/jieran/Library/Containers/com.kingsoft.wpsoffice.mac/Data/tmp/picturecompress_20260414164557/output_1.pngoutput_1"/>
          <p:cNvPicPr>
            <a:picLocks noChangeAspect="1"/>
          </p:cNvPicPr>
          <p:nvPr/>
        </p:nvPicPr>
        <p:blipFill>
          <a:blip r:embed="rId4"/>
          <a:stretch>
            <a:fillRect/>
          </a:stretch>
        </p:blipFill>
        <p:spPr>
          <a:xfrm>
            <a:off x="7921625" y="217805"/>
            <a:ext cx="1116965" cy="46545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37: Performances Metrics</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4294967295" hasCustomPrompt="1"/>
          </p:nvPr>
        </p:nvSpPr>
        <p:spPr>
          <a:xfrm>
            <a:off x="1800225" y="4846638"/>
            <a:ext cx="10391775" cy="4746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FLOPS, Bandwidth, Latency, Utilization, Roofline Model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1878" y="628223"/>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Why Do We Need Performance Metrics?</a:t>
            </a:r>
            <a:endParaRPr lang="en-US" sz="1100"/>
          </a:p>
        </p:txBody>
      </p:sp>
      <p:sp>
        <p:nvSpPr>
          <p:cNvPr id="3" name="AutoShape 3"/>
          <p:cNvSpPr/>
          <p:nvPr/>
        </p:nvSpPr>
        <p:spPr>
          <a:xfrm>
            <a:off x="380956" y="1206068"/>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In High-Performance Computing (HPC) and system optimization,</a:t>
            </a:r>
            <a:endParaRPr lang="en-US" sz="1100"/>
          </a:p>
        </p:txBody>
      </p:sp>
      <p:sp>
        <p:nvSpPr>
          <p:cNvPr id="4" name="AutoShape 4"/>
          <p:cNvSpPr/>
          <p:nvPr/>
        </p:nvSpPr>
        <p:spPr>
          <a:xfrm>
            <a:off x="380956" y="1575916"/>
            <a:ext cx="5657850" cy="996079"/>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5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we need to </a:t>
            </a: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quantify </a:t>
            </a:r>
            <a:r>
              <a:rPr lang="en-US" sz="15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program and hardware performance — different metrics reveal bottlenecks at different levels</a:t>
            </a:r>
            <a:endParaRPr lang="en-US" sz="1100"/>
          </a:p>
        </p:txBody>
      </p:sp>
      <p:sp>
        <p:nvSpPr>
          <p:cNvPr id="5" name="Freeform 5"/>
          <p:cNvSpPr/>
          <p:nvPr/>
        </p:nvSpPr>
        <p:spPr>
          <a:xfrm>
            <a:off x="380956" y="3124280"/>
            <a:ext cx="5562600" cy="2895600"/>
          </a:xfrm>
          <a:custGeom>
            <a:avLst/>
            <a:gdLst/>
            <a:ahLst/>
            <a:cxnLst/>
            <a:rect l="l" t="t" r="r" b="b"/>
            <a:pathLst>
              <a:path w="5562600" h="2895600">
                <a:moveTo>
                  <a:pt x="76211" y="0"/>
                </a:moveTo>
                <a:lnTo>
                  <a:pt x="5486389" y="0"/>
                </a:lnTo>
                <a:cubicBezTo>
                  <a:pt x="5528479" y="0"/>
                  <a:pt x="5562600" y="34121"/>
                  <a:pt x="5562600" y="76211"/>
                </a:cubicBezTo>
                <a:lnTo>
                  <a:pt x="5562600" y="2819389"/>
                </a:lnTo>
                <a:cubicBezTo>
                  <a:pt x="5562600" y="2861479"/>
                  <a:pt x="5528479" y="2895600"/>
                  <a:pt x="5486389" y="2895600"/>
                </a:cubicBezTo>
                <a:lnTo>
                  <a:pt x="76211" y="2895600"/>
                </a:lnTo>
                <a:cubicBezTo>
                  <a:pt x="34121" y="2895600"/>
                  <a:pt x="0" y="2861479"/>
                  <a:pt x="0" y="2819389"/>
                </a:cubicBezTo>
                <a:lnTo>
                  <a:pt x="0" y="76211"/>
                </a:lnTo>
                <a:cubicBezTo>
                  <a:pt x="0" y="34150"/>
                  <a:pt x="34150" y="0"/>
                  <a:pt x="76211"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609529" y="3352853"/>
            <a:ext cx="52006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Common Performance Metrics</a:t>
            </a:r>
            <a:endParaRPr lang="en-US" sz="1100"/>
          </a:p>
        </p:txBody>
      </p:sp>
      <p:sp>
        <p:nvSpPr>
          <p:cNvPr id="7" name="Freeform 7"/>
          <p:cNvSpPr/>
          <p:nvPr/>
        </p:nvSpPr>
        <p:spPr>
          <a:xfrm>
            <a:off x="609529" y="3829103"/>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733309" y="3933801"/>
            <a:ext cx="128588" cy="171450"/>
          </a:xfrm>
          <a:custGeom>
            <a:avLst/>
            <a:gdLst/>
            <a:ahLst/>
            <a:cxnLst/>
            <a:rect l="l" t="t" r="r" b="b"/>
            <a:pathLst>
              <a:path w="128588" h="171450">
                <a:moveTo>
                  <a:pt x="21431" y="0"/>
                </a:moveTo>
                <a:cubicBezTo>
                  <a:pt x="9611" y="0"/>
                  <a:pt x="0" y="9611"/>
                  <a:pt x="0" y="21431"/>
                </a:cubicBezTo>
                <a:lnTo>
                  <a:pt x="0" y="150019"/>
                </a:lnTo>
                <a:cubicBezTo>
                  <a:pt x="0" y="161839"/>
                  <a:pt x="9611" y="171450"/>
                  <a:pt x="21431" y="171450"/>
                </a:cubicBezTo>
                <a:lnTo>
                  <a:pt x="107156" y="171450"/>
                </a:lnTo>
                <a:cubicBezTo>
                  <a:pt x="118977" y="171450"/>
                  <a:pt x="128587" y="161839"/>
                  <a:pt x="128587" y="150019"/>
                </a:cubicBezTo>
                <a:lnTo>
                  <a:pt x="128587" y="21431"/>
                </a:lnTo>
                <a:cubicBezTo>
                  <a:pt x="128587" y="9611"/>
                  <a:pt x="118977" y="0"/>
                  <a:pt x="107156" y="0"/>
                </a:cubicBezTo>
                <a:lnTo>
                  <a:pt x="21431" y="0"/>
                </a:lnTo>
                <a:close/>
                <a:moveTo>
                  <a:pt x="32148" y="21431"/>
                </a:moveTo>
                <a:lnTo>
                  <a:pt x="96441" y="21431"/>
                </a:lnTo>
                <a:cubicBezTo>
                  <a:pt x="102368" y="21431"/>
                  <a:pt x="107156" y="26220"/>
                  <a:pt x="107156" y="32148"/>
                </a:cubicBezTo>
                <a:lnTo>
                  <a:pt x="107156" y="42863"/>
                </a:lnTo>
                <a:cubicBezTo>
                  <a:pt x="107156" y="48790"/>
                  <a:pt x="102368" y="53577"/>
                  <a:pt x="96441" y="53577"/>
                </a:cubicBezTo>
                <a:lnTo>
                  <a:pt x="32148" y="53577"/>
                </a:lnTo>
                <a:cubicBezTo>
                  <a:pt x="26220" y="53577"/>
                  <a:pt x="21431" y="48790"/>
                  <a:pt x="21431" y="42863"/>
                </a:cubicBezTo>
                <a:lnTo>
                  <a:pt x="21431" y="32148"/>
                </a:lnTo>
                <a:cubicBezTo>
                  <a:pt x="21431" y="26220"/>
                  <a:pt x="26220" y="21431"/>
                  <a:pt x="32148" y="21431"/>
                </a:cubicBezTo>
                <a:close/>
                <a:moveTo>
                  <a:pt x="37504" y="77688"/>
                </a:moveTo>
                <a:cubicBezTo>
                  <a:pt x="37504" y="82125"/>
                  <a:pt x="33904" y="85725"/>
                  <a:pt x="29468" y="85725"/>
                </a:cubicBezTo>
                <a:cubicBezTo>
                  <a:pt x="25032" y="85725"/>
                  <a:pt x="21431" y="82125"/>
                  <a:pt x="21431" y="77688"/>
                </a:cubicBezTo>
                <a:cubicBezTo>
                  <a:pt x="21431" y="73254"/>
                  <a:pt x="25032" y="69652"/>
                  <a:pt x="29468" y="69652"/>
                </a:cubicBezTo>
                <a:cubicBezTo>
                  <a:pt x="33904" y="69652"/>
                  <a:pt x="37504" y="73254"/>
                  <a:pt x="37504" y="77688"/>
                </a:cubicBezTo>
                <a:close/>
                <a:moveTo>
                  <a:pt x="64294" y="85725"/>
                </a:moveTo>
                <a:cubicBezTo>
                  <a:pt x="59858" y="85725"/>
                  <a:pt x="56257" y="82125"/>
                  <a:pt x="56257" y="77688"/>
                </a:cubicBezTo>
                <a:cubicBezTo>
                  <a:pt x="56257" y="73254"/>
                  <a:pt x="59858" y="69652"/>
                  <a:pt x="64294" y="69652"/>
                </a:cubicBezTo>
                <a:cubicBezTo>
                  <a:pt x="68729" y="69652"/>
                  <a:pt x="72330" y="73254"/>
                  <a:pt x="72330" y="77688"/>
                </a:cubicBezTo>
                <a:cubicBezTo>
                  <a:pt x="72330" y="82125"/>
                  <a:pt x="68729" y="85725"/>
                  <a:pt x="64294" y="85725"/>
                </a:cubicBezTo>
                <a:close/>
                <a:moveTo>
                  <a:pt x="107156" y="77688"/>
                </a:moveTo>
                <a:cubicBezTo>
                  <a:pt x="107156" y="82125"/>
                  <a:pt x="103555" y="85725"/>
                  <a:pt x="99120" y="85725"/>
                </a:cubicBezTo>
                <a:cubicBezTo>
                  <a:pt x="94684" y="85725"/>
                  <a:pt x="91083" y="82125"/>
                  <a:pt x="91083" y="77688"/>
                </a:cubicBezTo>
                <a:cubicBezTo>
                  <a:pt x="91083" y="73254"/>
                  <a:pt x="94684" y="69652"/>
                  <a:pt x="99120" y="69652"/>
                </a:cubicBezTo>
                <a:cubicBezTo>
                  <a:pt x="103555" y="69652"/>
                  <a:pt x="107156" y="73254"/>
                  <a:pt x="107156" y="77688"/>
                </a:cubicBezTo>
                <a:close/>
                <a:moveTo>
                  <a:pt x="29468" y="117873"/>
                </a:moveTo>
                <a:cubicBezTo>
                  <a:pt x="25032" y="117873"/>
                  <a:pt x="21431" y="114271"/>
                  <a:pt x="21431" y="109835"/>
                </a:cubicBezTo>
                <a:cubicBezTo>
                  <a:pt x="21431" y="105400"/>
                  <a:pt x="25032" y="101798"/>
                  <a:pt x="29468" y="101798"/>
                </a:cubicBezTo>
                <a:cubicBezTo>
                  <a:pt x="33904" y="101798"/>
                  <a:pt x="37504" y="105400"/>
                  <a:pt x="37504" y="109835"/>
                </a:cubicBezTo>
                <a:cubicBezTo>
                  <a:pt x="37504" y="114271"/>
                  <a:pt x="33904" y="117873"/>
                  <a:pt x="29468" y="117873"/>
                </a:cubicBezTo>
                <a:close/>
                <a:moveTo>
                  <a:pt x="72330" y="109835"/>
                </a:moveTo>
                <a:cubicBezTo>
                  <a:pt x="72330" y="114271"/>
                  <a:pt x="68729" y="117873"/>
                  <a:pt x="64294" y="117873"/>
                </a:cubicBezTo>
                <a:cubicBezTo>
                  <a:pt x="59858" y="117873"/>
                  <a:pt x="56257" y="114271"/>
                  <a:pt x="56257" y="109835"/>
                </a:cubicBezTo>
                <a:cubicBezTo>
                  <a:pt x="56257" y="105400"/>
                  <a:pt x="59858" y="101798"/>
                  <a:pt x="64294" y="101798"/>
                </a:cubicBezTo>
                <a:cubicBezTo>
                  <a:pt x="68729" y="101798"/>
                  <a:pt x="72330" y="105400"/>
                  <a:pt x="72330" y="109835"/>
                </a:cubicBezTo>
                <a:close/>
                <a:moveTo>
                  <a:pt x="99120" y="117873"/>
                </a:moveTo>
                <a:cubicBezTo>
                  <a:pt x="94684" y="117873"/>
                  <a:pt x="91083" y="114271"/>
                  <a:pt x="91083" y="109835"/>
                </a:cubicBezTo>
                <a:cubicBezTo>
                  <a:pt x="91083" y="105400"/>
                  <a:pt x="94684" y="101798"/>
                  <a:pt x="99120" y="101798"/>
                </a:cubicBezTo>
                <a:cubicBezTo>
                  <a:pt x="103555" y="101798"/>
                  <a:pt x="107156" y="105400"/>
                  <a:pt x="107156" y="109835"/>
                </a:cubicBezTo>
                <a:cubicBezTo>
                  <a:pt x="107156" y="114271"/>
                  <a:pt x="103555" y="117873"/>
                  <a:pt x="99120" y="117873"/>
                </a:cubicBezTo>
                <a:close/>
                <a:moveTo>
                  <a:pt x="21431" y="141982"/>
                </a:moveTo>
                <a:cubicBezTo>
                  <a:pt x="21431" y="137528"/>
                  <a:pt x="25014" y="133946"/>
                  <a:pt x="29468" y="133946"/>
                </a:cubicBezTo>
                <a:lnTo>
                  <a:pt x="66973" y="133946"/>
                </a:lnTo>
                <a:cubicBezTo>
                  <a:pt x="71426" y="133946"/>
                  <a:pt x="75009" y="137528"/>
                  <a:pt x="75009" y="141982"/>
                </a:cubicBezTo>
                <a:cubicBezTo>
                  <a:pt x="75009" y="146436"/>
                  <a:pt x="71426" y="150019"/>
                  <a:pt x="66973" y="150019"/>
                </a:cubicBezTo>
                <a:lnTo>
                  <a:pt x="29468" y="150019"/>
                </a:lnTo>
                <a:cubicBezTo>
                  <a:pt x="25014" y="150019"/>
                  <a:pt x="21431" y="146436"/>
                  <a:pt x="21431" y="141982"/>
                </a:cubicBezTo>
                <a:close/>
                <a:moveTo>
                  <a:pt x="99120" y="133946"/>
                </a:moveTo>
                <a:cubicBezTo>
                  <a:pt x="103574" y="133946"/>
                  <a:pt x="107156" y="137528"/>
                  <a:pt x="107156" y="141982"/>
                </a:cubicBezTo>
                <a:cubicBezTo>
                  <a:pt x="107156" y="146436"/>
                  <a:pt x="103574" y="150019"/>
                  <a:pt x="99120" y="150019"/>
                </a:cubicBezTo>
                <a:cubicBezTo>
                  <a:pt x="94666" y="150019"/>
                  <a:pt x="91083" y="146436"/>
                  <a:pt x="91083" y="141982"/>
                </a:cubicBezTo>
                <a:cubicBezTo>
                  <a:pt x="91083" y="137528"/>
                  <a:pt x="94666" y="133946"/>
                  <a:pt x="99120" y="133946"/>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1104734" y="3771941"/>
            <a:ext cx="695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FLOPS</a:t>
            </a:r>
            <a:endParaRPr lang="en-US" sz="1100"/>
          </a:p>
        </p:txBody>
      </p:sp>
      <p:sp>
        <p:nvSpPr>
          <p:cNvPr id="10" name="AutoShape 10"/>
          <p:cNvSpPr/>
          <p:nvPr/>
        </p:nvSpPr>
        <p:spPr>
          <a:xfrm>
            <a:off x="1104733" y="4038647"/>
            <a:ext cx="1374697"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Compute Capacity</a:t>
            </a:r>
            <a:endParaRPr lang="en-US" sz="1100"/>
          </a:p>
        </p:txBody>
      </p:sp>
      <p:sp>
        <p:nvSpPr>
          <p:cNvPr id="11" name="Freeform 11"/>
          <p:cNvSpPr/>
          <p:nvPr/>
        </p:nvSpPr>
        <p:spPr>
          <a:xfrm>
            <a:off x="3238456" y="3829103"/>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3340805" y="3933801"/>
            <a:ext cx="171450" cy="171450"/>
          </a:xfrm>
          <a:custGeom>
            <a:avLst/>
            <a:gdLst/>
            <a:ahLst/>
            <a:cxnLst/>
            <a:rect l="l" t="t" r="r" b="b"/>
            <a:pathLst>
              <a:path w="171450" h="171450">
                <a:moveTo>
                  <a:pt x="0" y="85725"/>
                </a:moveTo>
                <a:cubicBezTo>
                  <a:pt x="0" y="38412"/>
                  <a:pt x="38412" y="0"/>
                  <a:pt x="85725" y="0"/>
                </a:cubicBezTo>
                <a:cubicBezTo>
                  <a:pt x="133038" y="0"/>
                  <a:pt x="171450" y="38412"/>
                  <a:pt x="171450" y="85725"/>
                </a:cubicBezTo>
                <a:cubicBezTo>
                  <a:pt x="171450" y="133038"/>
                  <a:pt x="133038" y="171450"/>
                  <a:pt x="85725" y="171450"/>
                </a:cubicBezTo>
                <a:cubicBezTo>
                  <a:pt x="38412" y="171450"/>
                  <a:pt x="0" y="133038"/>
                  <a:pt x="0" y="85725"/>
                </a:cubicBezTo>
                <a:close/>
                <a:moveTo>
                  <a:pt x="96441" y="32148"/>
                </a:moveTo>
                <a:cubicBezTo>
                  <a:pt x="96441" y="26233"/>
                  <a:pt x="91639" y="21431"/>
                  <a:pt x="85725" y="21431"/>
                </a:cubicBezTo>
                <a:cubicBezTo>
                  <a:pt x="79811" y="21431"/>
                  <a:pt x="75009" y="26233"/>
                  <a:pt x="75009" y="32148"/>
                </a:cubicBezTo>
                <a:cubicBezTo>
                  <a:pt x="75009" y="38061"/>
                  <a:pt x="79811" y="42863"/>
                  <a:pt x="85725" y="42863"/>
                </a:cubicBezTo>
                <a:cubicBezTo>
                  <a:pt x="91639" y="42863"/>
                  <a:pt x="96441" y="38061"/>
                  <a:pt x="96441" y="32148"/>
                </a:cubicBezTo>
                <a:close/>
                <a:moveTo>
                  <a:pt x="85725" y="139302"/>
                </a:moveTo>
                <a:cubicBezTo>
                  <a:pt x="97546" y="139302"/>
                  <a:pt x="107156" y="129692"/>
                  <a:pt x="107156" y="117873"/>
                </a:cubicBezTo>
                <a:cubicBezTo>
                  <a:pt x="107156" y="112447"/>
                  <a:pt x="105147" y="107459"/>
                  <a:pt x="101798" y="103707"/>
                </a:cubicBezTo>
                <a:lnTo>
                  <a:pt x="125071" y="57194"/>
                </a:lnTo>
                <a:cubicBezTo>
                  <a:pt x="127047" y="53210"/>
                  <a:pt x="125440" y="48388"/>
                  <a:pt x="121488" y="46412"/>
                </a:cubicBezTo>
                <a:cubicBezTo>
                  <a:pt x="117537" y="44436"/>
                  <a:pt x="112681" y="46044"/>
                  <a:pt x="110706" y="49995"/>
                </a:cubicBezTo>
                <a:lnTo>
                  <a:pt x="87433" y="96509"/>
                </a:lnTo>
                <a:cubicBezTo>
                  <a:pt x="86864" y="96474"/>
                  <a:pt x="86294" y="96441"/>
                  <a:pt x="85725" y="96441"/>
                </a:cubicBezTo>
                <a:cubicBezTo>
                  <a:pt x="73904" y="96441"/>
                  <a:pt x="64294" y="106051"/>
                  <a:pt x="64294" y="117873"/>
                </a:cubicBezTo>
                <a:cubicBezTo>
                  <a:pt x="64294" y="129692"/>
                  <a:pt x="73904" y="139302"/>
                  <a:pt x="85725" y="139302"/>
                </a:cubicBezTo>
                <a:close/>
                <a:moveTo>
                  <a:pt x="58936" y="48221"/>
                </a:moveTo>
                <a:cubicBezTo>
                  <a:pt x="58936" y="42306"/>
                  <a:pt x="54134" y="37504"/>
                  <a:pt x="48221" y="37504"/>
                </a:cubicBezTo>
                <a:cubicBezTo>
                  <a:pt x="42306" y="37504"/>
                  <a:pt x="37504" y="42306"/>
                  <a:pt x="37504" y="48221"/>
                </a:cubicBezTo>
                <a:cubicBezTo>
                  <a:pt x="37504" y="54134"/>
                  <a:pt x="42306" y="58936"/>
                  <a:pt x="48221" y="58936"/>
                </a:cubicBezTo>
                <a:cubicBezTo>
                  <a:pt x="54134" y="58936"/>
                  <a:pt x="58936" y="54134"/>
                  <a:pt x="58936" y="48221"/>
                </a:cubicBezTo>
                <a:close/>
                <a:moveTo>
                  <a:pt x="32148" y="96441"/>
                </a:moveTo>
                <a:cubicBezTo>
                  <a:pt x="38061" y="96441"/>
                  <a:pt x="42863" y="91639"/>
                  <a:pt x="42863" y="85725"/>
                </a:cubicBezTo>
                <a:cubicBezTo>
                  <a:pt x="42863" y="79811"/>
                  <a:pt x="38061" y="75009"/>
                  <a:pt x="32148" y="75009"/>
                </a:cubicBezTo>
                <a:cubicBezTo>
                  <a:pt x="26233" y="75009"/>
                  <a:pt x="21431" y="79811"/>
                  <a:pt x="21431" y="85725"/>
                </a:cubicBezTo>
                <a:cubicBezTo>
                  <a:pt x="21431" y="91639"/>
                  <a:pt x="26233" y="96441"/>
                  <a:pt x="32148" y="96441"/>
                </a:cubicBezTo>
                <a:close/>
                <a:moveTo>
                  <a:pt x="150019" y="85725"/>
                </a:moveTo>
                <a:cubicBezTo>
                  <a:pt x="150019" y="79811"/>
                  <a:pt x="145217" y="75009"/>
                  <a:pt x="139302" y="75009"/>
                </a:cubicBezTo>
                <a:cubicBezTo>
                  <a:pt x="133389" y="75009"/>
                  <a:pt x="128587" y="79811"/>
                  <a:pt x="128587" y="85725"/>
                </a:cubicBezTo>
                <a:cubicBezTo>
                  <a:pt x="128587" y="91639"/>
                  <a:pt x="133389" y="96441"/>
                  <a:pt x="139302" y="96441"/>
                </a:cubicBezTo>
                <a:cubicBezTo>
                  <a:pt x="145217" y="96441"/>
                  <a:pt x="150019" y="91639"/>
                  <a:pt x="150019" y="8572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3733661" y="3771941"/>
            <a:ext cx="10191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Bandwidth</a:t>
            </a:r>
            <a:endParaRPr lang="en-US" sz="1100"/>
          </a:p>
        </p:txBody>
      </p:sp>
      <p:sp>
        <p:nvSpPr>
          <p:cNvPr id="14" name="AutoShape 14"/>
          <p:cNvSpPr/>
          <p:nvPr/>
        </p:nvSpPr>
        <p:spPr>
          <a:xfrm>
            <a:off x="3733661" y="4038647"/>
            <a:ext cx="10096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Bandwidth</a:t>
            </a:r>
            <a:endParaRPr lang="en-US" sz="1100"/>
          </a:p>
        </p:txBody>
      </p:sp>
      <p:sp>
        <p:nvSpPr>
          <p:cNvPr id="15" name="Freeform 15"/>
          <p:cNvSpPr/>
          <p:nvPr/>
        </p:nvSpPr>
        <p:spPr>
          <a:xfrm>
            <a:off x="609529" y="447676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711878" y="4581463"/>
            <a:ext cx="171450" cy="171450"/>
          </a:xfrm>
          <a:custGeom>
            <a:avLst/>
            <a:gdLst/>
            <a:ahLst/>
            <a:cxnLst/>
            <a:rect l="l" t="t" r="r" b="b"/>
            <a:pathLst>
              <a:path w="171450" h="171450">
                <a:moveTo>
                  <a:pt x="85725" y="0"/>
                </a:moveTo>
                <a:cubicBezTo>
                  <a:pt x="133038" y="0"/>
                  <a:pt x="171450" y="38412"/>
                  <a:pt x="171450" y="85725"/>
                </a:cubicBezTo>
                <a:cubicBezTo>
                  <a:pt x="171450" y="133038"/>
                  <a:pt x="133038" y="171450"/>
                  <a:pt x="85725" y="171450"/>
                </a:cubicBezTo>
                <a:cubicBezTo>
                  <a:pt x="38412" y="171450"/>
                  <a:pt x="0" y="133038"/>
                  <a:pt x="0" y="85725"/>
                </a:cubicBezTo>
                <a:cubicBezTo>
                  <a:pt x="0" y="38412"/>
                  <a:pt x="38412" y="0"/>
                  <a:pt x="85725" y="0"/>
                </a:cubicBezTo>
                <a:close/>
                <a:moveTo>
                  <a:pt x="77688" y="40184"/>
                </a:moveTo>
                <a:lnTo>
                  <a:pt x="77688" y="85725"/>
                </a:lnTo>
                <a:cubicBezTo>
                  <a:pt x="77688" y="88403"/>
                  <a:pt x="79028" y="90915"/>
                  <a:pt x="81271" y="92422"/>
                </a:cubicBezTo>
                <a:lnTo>
                  <a:pt x="113419" y="113854"/>
                </a:lnTo>
                <a:cubicBezTo>
                  <a:pt x="117102" y="116332"/>
                  <a:pt x="122091" y="115327"/>
                  <a:pt x="124569" y="111610"/>
                </a:cubicBezTo>
                <a:cubicBezTo>
                  <a:pt x="127047" y="107893"/>
                  <a:pt x="126042" y="102937"/>
                  <a:pt x="122326" y="100460"/>
                </a:cubicBezTo>
                <a:lnTo>
                  <a:pt x="93762" y="81439"/>
                </a:lnTo>
                <a:lnTo>
                  <a:pt x="93762" y="40184"/>
                </a:lnTo>
                <a:cubicBezTo>
                  <a:pt x="93762" y="35730"/>
                  <a:pt x="90179" y="32148"/>
                  <a:pt x="85725" y="32148"/>
                </a:cubicBezTo>
                <a:cubicBezTo>
                  <a:pt x="81271" y="32148"/>
                  <a:pt x="77688" y="35730"/>
                  <a:pt x="77688" y="40184"/>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1104734" y="4419603"/>
            <a:ext cx="7429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Latency</a:t>
            </a:r>
            <a:endParaRPr lang="en-US" sz="1100"/>
          </a:p>
        </p:txBody>
      </p:sp>
      <p:sp>
        <p:nvSpPr>
          <p:cNvPr id="18" name="AutoShape 18"/>
          <p:cNvSpPr/>
          <p:nvPr/>
        </p:nvSpPr>
        <p:spPr>
          <a:xfrm>
            <a:off x="1104734" y="4686309"/>
            <a:ext cx="7334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Latency</a:t>
            </a:r>
            <a:endParaRPr lang="en-US" sz="1100"/>
          </a:p>
        </p:txBody>
      </p:sp>
      <p:sp>
        <p:nvSpPr>
          <p:cNvPr id="19" name="Freeform 19"/>
          <p:cNvSpPr/>
          <p:nvPr/>
        </p:nvSpPr>
        <p:spPr>
          <a:xfrm>
            <a:off x="3238456" y="4476765"/>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3340805" y="4592179"/>
            <a:ext cx="171450" cy="150017"/>
          </a:xfrm>
          <a:custGeom>
            <a:avLst/>
            <a:gdLst/>
            <a:ahLst/>
            <a:cxnLst/>
            <a:rect l="l" t="t" r="r" b="b"/>
            <a:pathLst>
              <a:path w="171450" h="150017">
                <a:moveTo>
                  <a:pt x="21431" y="10715"/>
                </a:moveTo>
                <a:cubicBezTo>
                  <a:pt x="21431" y="4788"/>
                  <a:pt x="16643" y="0"/>
                  <a:pt x="10716" y="0"/>
                </a:cubicBezTo>
                <a:cubicBezTo>
                  <a:pt x="4789" y="0"/>
                  <a:pt x="0" y="4788"/>
                  <a:pt x="0" y="10715"/>
                </a:cubicBezTo>
                <a:lnTo>
                  <a:pt x="0" y="123230"/>
                </a:lnTo>
                <a:cubicBezTo>
                  <a:pt x="0" y="138030"/>
                  <a:pt x="11988" y="150018"/>
                  <a:pt x="26789" y="150018"/>
                </a:cubicBezTo>
                <a:lnTo>
                  <a:pt x="160734" y="150018"/>
                </a:lnTo>
                <a:cubicBezTo>
                  <a:pt x="166661" y="150018"/>
                  <a:pt x="171450" y="145230"/>
                  <a:pt x="171450" y="139303"/>
                </a:cubicBezTo>
                <a:cubicBezTo>
                  <a:pt x="171450" y="133376"/>
                  <a:pt x="166661" y="128586"/>
                  <a:pt x="160734" y="128586"/>
                </a:cubicBezTo>
                <a:lnTo>
                  <a:pt x="26789" y="128586"/>
                </a:lnTo>
                <a:cubicBezTo>
                  <a:pt x="23842" y="128586"/>
                  <a:pt x="21431" y="126176"/>
                  <a:pt x="21431" y="123230"/>
                </a:cubicBezTo>
                <a:lnTo>
                  <a:pt x="21431" y="10715"/>
                </a:lnTo>
                <a:close/>
                <a:moveTo>
                  <a:pt x="157587" y="39714"/>
                </a:moveTo>
                <a:cubicBezTo>
                  <a:pt x="161773" y="35529"/>
                  <a:pt x="161773" y="28731"/>
                  <a:pt x="157587" y="24546"/>
                </a:cubicBezTo>
                <a:cubicBezTo>
                  <a:pt x="153401" y="20360"/>
                  <a:pt x="146602" y="20360"/>
                  <a:pt x="142417" y="24546"/>
                </a:cubicBezTo>
                <a:lnTo>
                  <a:pt x="107156" y="59840"/>
                </a:lnTo>
                <a:lnTo>
                  <a:pt x="87935" y="40652"/>
                </a:lnTo>
                <a:cubicBezTo>
                  <a:pt x="83749" y="36466"/>
                  <a:pt x="76952" y="36466"/>
                  <a:pt x="72766" y="40652"/>
                </a:cubicBezTo>
                <a:lnTo>
                  <a:pt x="40618" y="72799"/>
                </a:lnTo>
                <a:cubicBezTo>
                  <a:pt x="36432" y="76985"/>
                  <a:pt x="36432" y="83782"/>
                  <a:pt x="40618" y="87968"/>
                </a:cubicBezTo>
                <a:cubicBezTo>
                  <a:pt x="44806" y="92154"/>
                  <a:pt x="51601" y="92154"/>
                  <a:pt x="55789" y="87968"/>
                </a:cubicBezTo>
                <a:lnTo>
                  <a:pt x="80367" y="63389"/>
                </a:lnTo>
                <a:lnTo>
                  <a:pt x="99588" y="82610"/>
                </a:lnTo>
                <a:cubicBezTo>
                  <a:pt x="103774" y="86796"/>
                  <a:pt x="110573" y="86796"/>
                  <a:pt x="114758" y="82610"/>
                </a:cubicBezTo>
                <a:lnTo>
                  <a:pt x="157620" y="39747"/>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3733661" y="4419603"/>
            <a:ext cx="9715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Utilization</a:t>
            </a:r>
            <a:endParaRPr lang="en-US" sz="1100"/>
          </a:p>
        </p:txBody>
      </p:sp>
      <p:sp>
        <p:nvSpPr>
          <p:cNvPr id="22" name="AutoShape 22"/>
          <p:cNvSpPr/>
          <p:nvPr/>
        </p:nvSpPr>
        <p:spPr>
          <a:xfrm>
            <a:off x="3733661" y="4686309"/>
            <a:ext cx="1981078" cy="26661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Resource Utilization</a:t>
            </a:r>
            <a:endParaRPr lang="en-US" sz="1100"/>
          </a:p>
        </p:txBody>
      </p:sp>
      <p:sp>
        <p:nvSpPr>
          <p:cNvPr id="23" name="Freeform 23"/>
          <p:cNvSpPr/>
          <p:nvPr/>
        </p:nvSpPr>
        <p:spPr>
          <a:xfrm>
            <a:off x="628484" y="5067265"/>
            <a:ext cx="5086255" cy="723900"/>
          </a:xfrm>
          <a:custGeom>
            <a:avLst/>
            <a:gdLst/>
            <a:ahLst/>
            <a:cxnLst/>
            <a:rect l="l" t="t" r="r" b="b"/>
            <a:pathLst>
              <a:path w="5086255" h="723900">
                <a:moveTo>
                  <a:pt x="37910" y="0"/>
                </a:moveTo>
                <a:lnTo>
                  <a:pt x="5048156" y="0"/>
                </a:lnTo>
                <a:cubicBezTo>
                  <a:pt x="5069183" y="0"/>
                  <a:pt x="5086255" y="17073"/>
                  <a:pt x="5086255" y="38099"/>
                </a:cubicBezTo>
                <a:lnTo>
                  <a:pt x="5086255" y="685801"/>
                </a:lnTo>
                <a:cubicBezTo>
                  <a:pt x="5086255" y="706827"/>
                  <a:pt x="5069183" y="723900"/>
                  <a:pt x="5048156" y="723900"/>
                </a:cubicBezTo>
                <a:lnTo>
                  <a:pt x="37910" y="723900"/>
                </a:lnTo>
                <a:cubicBezTo>
                  <a:pt x="16974" y="723900"/>
                  <a:pt x="0" y="706926"/>
                  <a:pt x="0" y="685991"/>
                </a:cubicBezTo>
                <a:lnTo>
                  <a:pt x="0" y="37909"/>
                </a:lnTo>
                <a:cubicBezTo>
                  <a:pt x="0" y="16988"/>
                  <a:pt x="16988" y="0"/>
                  <a:pt x="3791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628484" y="5067265"/>
            <a:ext cx="37909" cy="723900"/>
          </a:xfrm>
          <a:custGeom>
            <a:avLst/>
            <a:gdLst/>
            <a:ahLst/>
            <a:cxnLst/>
            <a:rect l="l" t="t" r="r" b="b"/>
            <a:pathLst>
              <a:path w="37909" h="723900">
                <a:moveTo>
                  <a:pt x="37910" y="0"/>
                </a:moveTo>
                <a:lnTo>
                  <a:pt x="37910" y="0"/>
                </a:lnTo>
                <a:lnTo>
                  <a:pt x="37910" y="723900"/>
                </a:lnTo>
                <a:lnTo>
                  <a:pt x="37910" y="723900"/>
                </a:lnTo>
                <a:cubicBezTo>
                  <a:pt x="16974" y="723900"/>
                  <a:pt x="0" y="706926"/>
                  <a:pt x="0" y="685991"/>
                </a:cubicBezTo>
                <a:lnTo>
                  <a:pt x="0" y="37909"/>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761689" y="5181514"/>
            <a:ext cx="4924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Roofline Model</a:t>
            </a:r>
            <a:endParaRPr lang="en-US" sz="1100"/>
          </a:p>
        </p:txBody>
      </p:sp>
      <p:sp>
        <p:nvSpPr>
          <p:cNvPr id="26" name="AutoShape 26"/>
          <p:cNvSpPr/>
          <p:nvPr/>
        </p:nvSpPr>
        <p:spPr>
          <a:xfrm>
            <a:off x="761689" y="5448220"/>
            <a:ext cx="49149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Performance Ceiling Model</a:t>
            </a:r>
            <a:endParaRPr lang="en-US" sz="1100"/>
          </a:p>
        </p:txBody>
      </p:sp>
      <p:sp>
        <p:nvSpPr>
          <p:cNvPr id="27" name="Freeform 27"/>
          <p:cNvSpPr/>
          <p:nvPr/>
        </p:nvSpPr>
        <p:spPr>
          <a:xfrm>
            <a:off x="6248338" y="1066676"/>
            <a:ext cx="5562600" cy="4648200"/>
          </a:xfrm>
          <a:custGeom>
            <a:avLst/>
            <a:gdLst/>
            <a:ahLst/>
            <a:cxnLst/>
            <a:rect l="l" t="t" r="r" b="b"/>
            <a:pathLst>
              <a:path w="5562600" h="4648200">
                <a:moveTo>
                  <a:pt x="76183" y="0"/>
                </a:moveTo>
                <a:lnTo>
                  <a:pt x="5486417" y="0"/>
                </a:lnTo>
                <a:cubicBezTo>
                  <a:pt x="5528462" y="0"/>
                  <a:pt x="5562600" y="34138"/>
                  <a:pt x="5562600" y="76183"/>
                </a:cubicBezTo>
                <a:lnTo>
                  <a:pt x="5562600" y="4572017"/>
                </a:lnTo>
                <a:cubicBezTo>
                  <a:pt x="5562600" y="4614092"/>
                  <a:pt x="5528492" y="4648200"/>
                  <a:pt x="5486417" y="4648200"/>
                </a:cubicBezTo>
                <a:lnTo>
                  <a:pt x="76183" y="4648200"/>
                </a:lnTo>
                <a:cubicBezTo>
                  <a:pt x="34138" y="4648200"/>
                  <a:pt x="0" y="4614062"/>
                  <a:pt x="0" y="4572017"/>
                </a:cubicBezTo>
                <a:lnTo>
                  <a:pt x="0" y="76183"/>
                </a:lnTo>
                <a:cubicBezTo>
                  <a:pt x="0" y="34108"/>
                  <a:pt x="34108" y="0"/>
                  <a:pt x="7618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8" name="Picture 28"/>
          <p:cNvPicPr>
            <a:picLocks noChangeAspect="1"/>
          </p:cNvPicPr>
          <p:nvPr/>
        </p:nvPicPr>
        <p:blipFill>
          <a:blip r:embed="rId1"/>
          <a:srcRect t="5" b="4"/>
          <a:stretch>
            <a:fillRect/>
          </a:stretch>
        </p:blipFill>
        <p:spPr>
          <a:xfrm>
            <a:off x="6400720" y="1771351"/>
            <a:ext cx="5257800" cy="3238500"/>
          </a:xfrm>
          <a:prstGeom prst="roundRect">
            <a:avLst>
              <a:gd name="adj" fmla="val 0"/>
            </a:avLst>
          </a:prstGeom>
          <a:ln w="12700">
            <a:noFill/>
            <a:prstDash val="solid"/>
          </a:ln>
        </p:spPr>
      </p:pic>
      <p:sp>
        <p:nvSpPr>
          <p:cNvPr id="29" name="AutoShape 29"/>
          <p:cNvSpPr/>
          <p:nvPr/>
        </p:nvSpPr>
        <p:spPr>
          <a:xfrm>
            <a:off x="6210238" y="5791043"/>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Image source: Medium - CPU vs GPU Architecture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6233" y="607604"/>
            <a:ext cx="11629571" cy="362857"/>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Classification of Performance Metrics</a:t>
            </a:r>
            <a:endParaRPr lang="en-US" sz="1100"/>
          </a:p>
        </p:txBody>
      </p:sp>
      <p:sp>
        <p:nvSpPr>
          <p:cNvPr id="3" name="Freeform 3"/>
          <p:cNvSpPr/>
          <p:nvPr/>
        </p:nvSpPr>
        <p:spPr>
          <a:xfrm>
            <a:off x="371841" y="1194893"/>
            <a:ext cx="5569767" cy="4698910"/>
          </a:xfrm>
          <a:custGeom>
            <a:avLst/>
            <a:gdLst/>
            <a:ahLst/>
            <a:cxnLst/>
            <a:rect l="l" t="t" r="r" b="b"/>
            <a:pathLst>
              <a:path w="5569767" h="4698910">
                <a:moveTo>
                  <a:pt x="108875" y="0"/>
                </a:moveTo>
                <a:lnTo>
                  <a:pt x="5460893" y="0"/>
                </a:lnTo>
                <a:cubicBezTo>
                  <a:pt x="5521021" y="0"/>
                  <a:pt x="5569767" y="48744"/>
                  <a:pt x="5569767" y="108875"/>
                </a:cubicBezTo>
                <a:lnTo>
                  <a:pt x="5569767" y="4590037"/>
                </a:lnTo>
                <a:cubicBezTo>
                  <a:pt x="5569767" y="4650165"/>
                  <a:pt x="5521021" y="4698910"/>
                  <a:pt x="5460893" y="4698910"/>
                </a:cubicBezTo>
                <a:lnTo>
                  <a:pt x="108875" y="4698910"/>
                </a:lnTo>
                <a:cubicBezTo>
                  <a:pt x="48744" y="4698910"/>
                  <a:pt x="0" y="4650165"/>
                  <a:pt x="0" y="4590037"/>
                </a:cubicBezTo>
                <a:lnTo>
                  <a:pt x="0" y="108875"/>
                </a:lnTo>
                <a:cubicBezTo>
                  <a:pt x="0" y="48785"/>
                  <a:pt x="48785" y="0"/>
                  <a:pt x="108875" y="0"/>
                </a:cubicBezTo>
                <a:close/>
              </a:path>
            </a:pathLst>
          </a:custGeom>
          <a:gradFill rotWithShape="1">
            <a:gsLst>
              <a:gs pos="0">
                <a:srgbClr val="F9FAFB">
                  <a:alpha val="100000"/>
                </a:srgbClr>
              </a:gs>
              <a:gs pos="100000">
                <a:srgbClr val="FFFFFF">
                  <a:alpha val="100000"/>
                </a:srgbClr>
              </a:gs>
            </a:gsLst>
            <a:lin ang="2700000"/>
          </a:gradFill>
          <a:ln w="12700">
            <a:solidFill>
              <a:srgbClr val="E5E7EB">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598556" y="1421608"/>
            <a:ext cx="580572" cy="580572"/>
          </a:xfrm>
          <a:custGeom>
            <a:avLst/>
            <a:gdLst/>
            <a:ahLst/>
            <a:cxnLst/>
            <a:rect l="l" t="t" r="r" b="b"/>
            <a:pathLst>
              <a:path w="580572" h="580572">
                <a:moveTo>
                  <a:pt x="108857" y="0"/>
                </a:moveTo>
                <a:lnTo>
                  <a:pt x="471714" y="0"/>
                </a:lnTo>
                <a:cubicBezTo>
                  <a:pt x="531834" y="0"/>
                  <a:pt x="580572" y="48738"/>
                  <a:pt x="580572" y="108857"/>
                </a:cubicBezTo>
                <a:lnTo>
                  <a:pt x="580572" y="471714"/>
                </a:lnTo>
                <a:cubicBezTo>
                  <a:pt x="580572" y="531834"/>
                  <a:pt x="531834" y="580572"/>
                  <a:pt x="471714" y="580572"/>
                </a:cubicBezTo>
                <a:lnTo>
                  <a:pt x="108857" y="580572"/>
                </a:lnTo>
                <a:cubicBezTo>
                  <a:pt x="48738" y="580572"/>
                  <a:pt x="0" y="531834"/>
                  <a:pt x="0" y="471714"/>
                </a:cubicBezTo>
                <a:lnTo>
                  <a:pt x="0" y="108857"/>
                </a:lnTo>
                <a:cubicBezTo>
                  <a:pt x="0" y="48777"/>
                  <a:pt x="48777" y="0"/>
                  <a:pt x="108857" y="0"/>
                </a:cubicBezTo>
                <a:close/>
              </a:path>
            </a:pathLst>
          </a:custGeom>
          <a:solidFill>
            <a:srgbClr val="8B0000">
              <a:alpha val="100000"/>
            </a:srgbClr>
          </a:solidFill>
          <a:ln w="12700">
            <a:noFill/>
            <a:prstDash val="solid"/>
          </a:ln>
          <a:effectLst>
            <a:outerShdw blurRad="1270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755005" y="1575760"/>
            <a:ext cx="272143" cy="272143"/>
          </a:xfrm>
          <a:custGeom>
            <a:avLst/>
            <a:gdLst/>
            <a:ahLst/>
            <a:cxnLst/>
            <a:rect l="l" t="t" r="r" b="b"/>
            <a:pathLst>
              <a:path w="272143" h="272143">
                <a:moveTo>
                  <a:pt x="93549" y="12757"/>
                </a:moveTo>
                <a:cubicBezTo>
                  <a:pt x="93549" y="5687"/>
                  <a:pt x="87862" y="0"/>
                  <a:pt x="80792" y="0"/>
                </a:cubicBezTo>
                <a:cubicBezTo>
                  <a:pt x="73723" y="0"/>
                  <a:pt x="68036" y="5687"/>
                  <a:pt x="68036" y="12757"/>
                </a:cubicBezTo>
                <a:lnTo>
                  <a:pt x="68036" y="34018"/>
                </a:lnTo>
                <a:cubicBezTo>
                  <a:pt x="49273" y="34018"/>
                  <a:pt x="34018" y="49273"/>
                  <a:pt x="34018" y="68036"/>
                </a:cubicBezTo>
                <a:lnTo>
                  <a:pt x="12757" y="68036"/>
                </a:lnTo>
                <a:cubicBezTo>
                  <a:pt x="5687" y="68036"/>
                  <a:pt x="0" y="73724"/>
                  <a:pt x="0" y="80792"/>
                </a:cubicBezTo>
                <a:cubicBezTo>
                  <a:pt x="0" y="87862"/>
                  <a:pt x="5687" y="93549"/>
                  <a:pt x="12757" y="93549"/>
                </a:cubicBezTo>
                <a:lnTo>
                  <a:pt x="34018" y="93549"/>
                </a:lnTo>
                <a:lnTo>
                  <a:pt x="34018" y="123314"/>
                </a:lnTo>
                <a:lnTo>
                  <a:pt x="12757" y="123314"/>
                </a:lnTo>
                <a:cubicBezTo>
                  <a:pt x="5687" y="123314"/>
                  <a:pt x="0" y="129002"/>
                  <a:pt x="0" y="136072"/>
                </a:cubicBezTo>
                <a:cubicBezTo>
                  <a:pt x="0" y="143140"/>
                  <a:pt x="5687" y="148827"/>
                  <a:pt x="12757" y="148827"/>
                </a:cubicBezTo>
                <a:lnTo>
                  <a:pt x="34018" y="148827"/>
                </a:lnTo>
                <a:lnTo>
                  <a:pt x="34018" y="178594"/>
                </a:lnTo>
                <a:lnTo>
                  <a:pt x="12757" y="178594"/>
                </a:lnTo>
                <a:cubicBezTo>
                  <a:pt x="5687" y="178594"/>
                  <a:pt x="0" y="184281"/>
                  <a:pt x="0" y="191350"/>
                </a:cubicBezTo>
                <a:cubicBezTo>
                  <a:pt x="0" y="198420"/>
                  <a:pt x="5687" y="204107"/>
                  <a:pt x="12757" y="204107"/>
                </a:cubicBezTo>
                <a:lnTo>
                  <a:pt x="34018" y="204107"/>
                </a:lnTo>
                <a:cubicBezTo>
                  <a:pt x="34018" y="222870"/>
                  <a:pt x="49273" y="238125"/>
                  <a:pt x="68036" y="238125"/>
                </a:cubicBezTo>
                <a:lnTo>
                  <a:pt x="68036" y="259386"/>
                </a:lnTo>
                <a:cubicBezTo>
                  <a:pt x="68036" y="266455"/>
                  <a:pt x="73723" y="272143"/>
                  <a:pt x="80792" y="272143"/>
                </a:cubicBezTo>
                <a:cubicBezTo>
                  <a:pt x="87862" y="272143"/>
                  <a:pt x="93549" y="266455"/>
                  <a:pt x="93549" y="259386"/>
                </a:cubicBezTo>
                <a:lnTo>
                  <a:pt x="93549" y="238125"/>
                </a:lnTo>
                <a:lnTo>
                  <a:pt x="123314" y="238125"/>
                </a:lnTo>
                <a:lnTo>
                  <a:pt x="123314" y="259386"/>
                </a:lnTo>
                <a:cubicBezTo>
                  <a:pt x="123314" y="266455"/>
                  <a:pt x="129002" y="272143"/>
                  <a:pt x="136072" y="272143"/>
                </a:cubicBezTo>
                <a:cubicBezTo>
                  <a:pt x="143140" y="272143"/>
                  <a:pt x="148827" y="266455"/>
                  <a:pt x="148827" y="259386"/>
                </a:cubicBezTo>
                <a:lnTo>
                  <a:pt x="148827" y="238125"/>
                </a:lnTo>
                <a:lnTo>
                  <a:pt x="178594" y="238125"/>
                </a:lnTo>
                <a:lnTo>
                  <a:pt x="178594" y="259386"/>
                </a:lnTo>
                <a:cubicBezTo>
                  <a:pt x="178594" y="266455"/>
                  <a:pt x="184281" y="272143"/>
                  <a:pt x="191350" y="272143"/>
                </a:cubicBezTo>
                <a:cubicBezTo>
                  <a:pt x="198420" y="272143"/>
                  <a:pt x="204107" y="266455"/>
                  <a:pt x="204107" y="259386"/>
                </a:cubicBezTo>
                <a:lnTo>
                  <a:pt x="204107" y="238125"/>
                </a:lnTo>
                <a:cubicBezTo>
                  <a:pt x="222870" y="238125"/>
                  <a:pt x="238125" y="222870"/>
                  <a:pt x="238125" y="204107"/>
                </a:cubicBezTo>
                <a:lnTo>
                  <a:pt x="259386" y="204107"/>
                </a:lnTo>
                <a:cubicBezTo>
                  <a:pt x="266455" y="204107"/>
                  <a:pt x="272143" y="198420"/>
                  <a:pt x="272143" y="191350"/>
                </a:cubicBezTo>
                <a:cubicBezTo>
                  <a:pt x="272143" y="184281"/>
                  <a:pt x="266455" y="178594"/>
                  <a:pt x="259386" y="178594"/>
                </a:cubicBezTo>
                <a:lnTo>
                  <a:pt x="238125" y="178594"/>
                </a:lnTo>
                <a:lnTo>
                  <a:pt x="238125" y="148827"/>
                </a:lnTo>
                <a:lnTo>
                  <a:pt x="259386" y="148827"/>
                </a:lnTo>
                <a:cubicBezTo>
                  <a:pt x="266455" y="148827"/>
                  <a:pt x="272143" y="143140"/>
                  <a:pt x="272143" y="136072"/>
                </a:cubicBezTo>
                <a:cubicBezTo>
                  <a:pt x="272143" y="129002"/>
                  <a:pt x="266455" y="123314"/>
                  <a:pt x="259386" y="123314"/>
                </a:cubicBezTo>
                <a:lnTo>
                  <a:pt x="238125" y="123314"/>
                </a:lnTo>
                <a:lnTo>
                  <a:pt x="238125" y="93549"/>
                </a:lnTo>
                <a:lnTo>
                  <a:pt x="259386" y="93549"/>
                </a:lnTo>
                <a:cubicBezTo>
                  <a:pt x="266455" y="93549"/>
                  <a:pt x="272143" y="87862"/>
                  <a:pt x="272143" y="80792"/>
                </a:cubicBezTo>
                <a:cubicBezTo>
                  <a:pt x="272143" y="73724"/>
                  <a:pt x="266455" y="68036"/>
                  <a:pt x="259386" y="68036"/>
                </a:cubicBezTo>
                <a:lnTo>
                  <a:pt x="238125" y="68036"/>
                </a:lnTo>
                <a:cubicBezTo>
                  <a:pt x="238125" y="49273"/>
                  <a:pt x="222870" y="34018"/>
                  <a:pt x="204107" y="34018"/>
                </a:cubicBezTo>
                <a:lnTo>
                  <a:pt x="204107" y="12757"/>
                </a:lnTo>
                <a:cubicBezTo>
                  <a:pt x="204107" y="5687"/>
                  <a:pt x="198420" y="0"/>
                  <a:pt x="191350" y="0"/>
                </a:cubicBezTo>
                <a:cubicBezTo>
                  <a:pt x="184281" y="0"/>
                  <a:pt x="178594" y="5687"/>
                  <a:pt x="178594" y="12757"/>
                </a:cubicBezTo>
                <a:lnTo>
                  <a:pt x="178594" y="34018"/>
                </a:lnTo>
                <a:lnTo>
                  <a:pt x="148827" y="34018"/>
                </a:lnTo>
                <a:lnTo>
                  <a:pt x="148827" y="12757"/>
                </a:lnTo>
                <a:cubicBezTo>
                  <a:pt x="148827" y="5687"/>
                  <a:pt x="143140" y="0"/>
                  <a:pt x="136072" y="0"/>
                </a:cubicBezTo>
                <a:cubicBezTo>
                  <a:pt x="129002" y="0"/>
                  <a:pt x="123314" y="5687"/>
                  <a:pt x="123314" y="12757"/>
                </a:cubicBezTo>
                <a:lnTo>
                  <a:pt x="123314" y="34018"/>
                </a:lnTo>
                <a:lnTo>
                  <a:pt x="93549" y="34018"/>
                </a:lnTo>
                <a:lnTo>
                  <a:pt x="93549" y="12757"/>
                </a:lnTo>
                <a:close/>
                <a:moveTo>
                  <a:pt x="85046" y="68036"/>
                </a:moveTo>
                <a:lnTo>
                  <a:pt x="187098" y="68036"/>
                </a:lnTo>
                <a:cubicBezTo>
                  <a:pt x="196506" y="68036"/>
                  <a:pt x="204107" y="75637"/>
                  <a:pt x="204107" y="85046"/>
                </a:cubicBezTo>
                <a:lnTo>
                  <a:pt x="204107" y="187098"/>
                </a:lnTo>
                <a:cubicBezTo>
                  <a:pt x="204107" y="196506"/>
                  <a:pt x="196506" y="204107"/>
                  <a:pt x="187098" y="204107"/>
                </a:cubicBezTo>
                <a:lnTo>
                  <a:pt x="85046" y="204107"/>
                </a:lnTo>
                <a:cubicBezTo>
                  <a:pt x="75637" y="204107"/>
                  <a:pt x="68036" y="196506"/>
                  <a:pt x="68036" y="187098"/>
                </a:cubicBezTo>
                <a:lnTo>
                  <a:pt x="68036" y="85046"/>
                </a:lnTo>
                <a:cubicBezTo>
                  <a:pt x="68036" y="75637"/>
                  <a:pt x="75637" y="68036"/>
                  <a:pt x="85046" y="68036"/>
                </a:cubicBezTo>
                <a:close/>
                <a:moveTo>
                  <a:pt x="93549" y="93549"/>
                </a:moveTo>
                <a:lnTo>
                  <a:pt x="93549" y="178594"/>
                </a:lnTo>
                <a:lnTo>
                  <a:pt x="178594" y="178594"/>
                </a:lnTo>
                <a:lnTo>
                  <a:pt x="178594" y="93549"/>
                </a:lnTo>
                <a:lnTo>
                  <a:pt x="93549" y="93549"/>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1324186" y="1439731"/>
            <a:ext cx="2292383" cy="290286"/>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7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Compute Capacity</a:t>
            </a:r>
            <a:endParaRPr lang="en-US" sz="1100"/>
          </a:p>
        </p:txBody>
      </p:sp>
      <p:sp>
        <p:nvSpPr>
          <p:cNvPr id="7" name="AutoShape 7"/>
          <p:cNvSpPr/>
          <p:nvPr/>
        </p:nvSpPr>
        <p:spPr>
          <a:xfrm>
            <a:off x="1324186" y="1729912"/>
            <a:ext cx="1578429" cy="254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Compute Bound</a:t>
            </a:r>
            <a:endParaRPr lang="en-US" sz="1100"/>
          </a:p>
        </p:txBody>
      </p:sp>
      <p:sp>
        <p:nvSpPr>
          <p:cNvPr id="8" name="Freeform 8"/>
          <p:cNvSpPr/>
          <p:nvPr/>
        </p:nvSpPr>
        <p:spPr>
          <a:xfrm>
            <a:off x="616609" y="2505681"/>
            <a:ext cx="5098053" cy="1288143"/>
          </a:xfrm>
          <a:custGeom>
            <a:avLst/>
            <a:gdLst/>
            <a:ahLst/>
            <a:cxnLst/>
            <a:rect l="l" t="t" r="r" b="b"/>
            <a:pathLst>
              <a:path w="5098053" h="1288143">
                <a:moveTo>
                  <a:pt x="36105" y="0"/>
                </a:moveTo>
                <a:lnTo>
                  <a:pt x="5025479" y="0"/>
                </a:lnTo>
                <a:cubicBezTo>
                  <a:pt x="5065560" y="0"/>
                  <a:pt x="5098053" y="32492"/>
                  <a:pt x="5098053" y="72574"/>
                </a:cubicBezTo>
                <a:lnTo>
                  <a:pt x="5098053" y="1215569"/>
                </a:lnTo>
                <a:cubicBezTo>
                  <a:pt x="5098053" y="1255650"/>
                  <a:pt x="5065560" y="1288143"/>
                  <a:pt x="5025479" y="1288143"/>
                </a:cubicBezTo>
                <a:lnTo>
                  <a:pt x="36105" y="1288143"/>
                </a:lnTo>
                <a:cubicBezTo>
                  <a:pt x="16165" y="1288143"/>
                  <a:pt x="0" y="1271977"/>
                  <a:pt x="0" y="1252038"/>
                </a:cubicBezTo>
                <a:lnTo>
                  <a:pt x="0" y="36105"/>
                </a:lnTo>
                <a:cubicBezTo>
                  <a:pt x="0" y="16165"/>
                  <a:pt x="16165" y="0"/>
                  <a:pt x="36105"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9" name="Freeform 9"/>
          <p:cNvSpPr/>
          <p:nvPr/>
        </p:nvSpPr>
        <p:spPr>
          <a:xfrm>
            <a:off x="616609" y="2505681"/>
            <a:ext cx="36105" cy="1288143"/>
          </a:xfrm>
          <a:custGeom>
            <a:avLst/>
            <a:gdLst/>
            <a:ahLst/>
            <a:cxnLst/>
            <a:rect l="l" t="t" r="r" b="b"/>
            <a:pathLst>
              <a:path w="36105" h="1288143">
                <a:moveTo>
                  <a:pt x="36105" y="0"/>
                </a:moveTo>
                <a:lnTo>
                  <a:pt x="36105" y="0"/>
                </a:lnTo>
                <a:lnTo>
                  <a:pt x="36105" y="1288143"/>
                </a:lnTo>
                <a:lnTo>
                  <a:pt x="36105" y="1288143"/>
                </a:lnTo>
                <a:cubicBezTo>
                  <a:pt x="16165" y="1288143"/>
                  <a:pt x="0" y="1271977"/>
                  <a:pt x="0" y="1252038"/>
                </a:cubicBezTo>
                <a:lnTo>
                  <a:pt x="0" y="36105"/>
                </a:lnTo>
                <a:cubicBezTo>
                  <a:pt x="0" y="16165"/>
                  <a:pt x="16165" y="0"/>
                  <a:pt x="3610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897708" y="2759615"/>
            <a:ext cx="136072" cy="181428"/>
          </a:xfrm>
          <a:custGeom>
            <a:avLst/>
            <a:gdLst/>
            <a:ahLst/>
            <a:cxnLst/>
            <a:rect l="l" t="t" r="r" b="b"/>
            <a:pathLst>
              <a:path w="136072" h="181428">
                <a:moveTo>
                  <a:pt x="22678" y="0"/>
                </a:moveTo>
                <a:cubicBezTo>
                  <a:pt x="10170" y="0"/>
                  <a:pt x="0" y="10170"/>
                  <a:pt x="0" y="22678"/>
                </a:cubicBezTo>
                <a:lnTo>
                  <a:pt x="0" y="158750"/>
                </a:lnTo>
                <a:cubicBezTo>
                  <a:pt x="0" y="171259"/>
                  <a:pt x="10170" y="181428"/>
                  <a:pt x="22678" y="181428"/>
                </a:cubicBezTo>
                <a:lnTo>
                  <a:pt x="113393" y="181428"/>
                </a:lnTo>
                <a:cubicBezTo>
                  <a:pt x="125901" y="181428"/>
                  <a:pt x="136072" y="171259"/>
                  <a:pt x="136072" y="158750"/>
                </a:cubicBezTo>
                <a:lnTo>
                  <a:pt x="136072" y="22678"/>
                </a:lnTo>
                <a:cubicBezTo>
                  <a:pt x="136072" y="10170"/>
                  <a:pt x="125901" y="0"/>
                  <a:pt x="113393" y="0"/>
                </a:cubicBezTo>
                <a:lnTo>
                  <a:pt x="22678" y="0"/>
                </a:lnTo>
                <a:close/>
                <a:moveTo>
                  <a:pt x="34018" y="22678"/>
                </a:moveTo>
                <a:lnTo>
                  <a:pt x="102053" y="22678"/>
                </a:lnTo>
                <a:cubicBezTo>
                  <a:pt x="108326" y="22678"/>
                  <a:pt x="113393" y="27746"/>
                  <a:pt x="113393" y="34018"/>
                </a:cubicBezTo>
                <a:lnTo>
                  <a:pt x="113393" y="45357"/>
                </a:lnTo>
                <a:cubicBezTo>
                  <a:pt x="113393" y="51629"/>
                  <a:pt x="108326" y="56697"/>
                  <a:pt x="102053" y="56697"/>
                </a:cubicBezTo>
                <a:lnTo>
                  <a:pt x="34018" y="56697"/>
                </a:lnTo>
                <a:cubicBezTo>
                  <a:pt x="27746" y="56697"/>
                  <a:pt x="22678" y="51629"/>
                  <a:pt x="22678" y="45357"/>
                </a:cubicBezTo>
                <a:lnTo>
                  <a:pt x="22678" y="34018"/>
                </a:lnTo>
                <a:cubicBezTo>
                  <a:pt x="22678" y="27746"/>
                  <a:pt x="27746" y="22678"/>
                  <a:pt x="34018" y="22678"/>
                </a:cubicBezTo>
                <a:close/>
                <a:moveTo>
                  <a:pt x="39688" y="82210"/>
                </a:moveTo>
                <a:cubicBezTo>
                  <a:pt x="39688" y="86904"/>
                  <a:pt x="35878" y="90714"/>
                  <a:pt x="31184" y="90714"/>
                </a:cubicBezTo>
                <a:cubicBezTo>
                  <a:pt x="26488" y="90714"/>
                  <a:pt x="22678" y="86904"/>
                  <a:pt x="22678" y="82210"/>
                </a:cubicBezTo>
                <a:cubicBezTo>
                  <a:pt x="22678" y="77516"/>
                  <a:pt x="26488" y="73704"/>
                  <a:pt x="31184" y="73704"/>
                </a:cubicBezTo>
                <a:cubicBezTo>
                  <a:pt x="35878" y="73704"/>
                  <a:pt x="39688" y="77516"/>
                  <a:pt x="39688" y="82210"/>
                </a:cubicBezTo>
                <a:close/>
                <a:moveTo>
                  <a:pt x="68036" y="90714"/>
                </a:moveTo>
                <a:cubicBezTo>
                  <a:pt x="63343" y="90714"/>
                  <a:pt x="59531" y="86904"/>
                  <a:pt x="59531" y="82210"/>
                </a:cubicBezTo>
                <a:cubicBezTo>
                  <a:pt x="59531" y="77516"/>
                  <a:pt x="63343" y="73704"/>
                  <a:pt x="68036" y="73704"/>
                </a:cubicBezTo>
                <a:cubicBezTo>
                  <a:pt x="72729" y="73704"/>
                  <a:pt x="76540" y="77516"/>
                  <a:pt x="76540" y="82210"/>
                </a:cubicBezTo>
                <a:cubicBezTo>
                  <a:pt x="76540" y="86904"/>
                  <a:pt x="72729" y="90714"/>
                  <a:pt x="68036" y="90714"/>
                </a:cubicBezTo>
                <a:close/>
                <a:moveTo>
                  <a:pt x="113393" y="82210"/>
                </a:moveTo>
                <a:cubicBezTo>
                  <a:pt x="113393" y="86904"/>
                  <a:pt x="109582" y="90714"/>
                  <a:pt x="104888" y="90714"/>
                </a:cubicBezTo>
                <a:cubicBezTo>
                  <a:pt x="100195" y="90714"/>
                  <a:pt x="96384" y="86904"/>
                  <a:pt x="96384" y="82210"/>
                </a:cubicBezTo>
                <a:cubicBezTo>
                  <a:pt x="96384" y="77516"/>
                  <a:pt x="100195" y="73704"/>
                  <a:pt x="104888" y="73704"/>
                </a:cubicBezTo>
                <a:cubicBezTo>
                  <a:pt x="109582" y="73704"/>
                  <a:pt x="113393" y="77516"/>
                  <a:pt x="113393" y="82210"/>
                </a:cubicBezTo>
                <a:close/>
                <a:moveTo>
                  <a:pt x="31184" y="124732"/>
                </a:moveTo>
                <a:cubicBezTo>
                  <a:pt x="26488" y="124732"/>
                  <a:pt x="22678" y="120921"/>
                  <a:pt x="22678" y="116228"/>
                </a:cubicBezTo>
                <a:cubicBezTo>
                  <a:pt x="22678" y="111534"/>
                  <a:pt x="26488" y="107723"/>
                  <a:pt x="31184" y="107723"/>
                </a:cubicBezTo>
                <a:cubicBezTo>
                  <a:pt x="35878" y="107723"/>
                  <a:pt x="39688" y="111534"/>
                  <a:pt x="39688" y="116228"/>
                </a:cubicBezTo>
                <a:cubicBezTo>
                  <a:pt x="39688" y="120921"/>
                  <a:pt x="35878" y="124732"/>
                  <a:pt x="31184" y="124732"/>
                </a:cubicBezTo>
                <a:close/>
                <a:moveTo>
                  <a:pt x="76540" y="116228"/>
                </a:moveTo>
                <a:cubicBezTo>
                  <a:pt x="76540" y="120921"/>
                  <a:pt x="72729" y="124732"/>
                  <a:pt x="68036" y="124732"/>
                </a:cubicBezTo>
                <a:cubicBezTo>
                  <a:pt x="63343" y="124732"/>
                  <a:pt x="59531" y="120921"/>
                  <a:pt x="59531" y="116228"/>
                </a:cubicBezTo>
                <a:cubicBezTo>
                  <a:pt x="59531" y="111534"/>
                  <a:pt x="63343" y="107723"/>
                  <a:pt x="68036" y="107723"/>
                </a:cubicBezTo>
                <a:cubicBezTo>
                  <a:pt x="72729" y="107723"/>
                  <a:pt x="76540" y="111534"/>
                  <a:pt x="76540" y="116228"/>
                </a:cubicBezTo>
                <a:close/>
                <a:moveTo>
                  <a:pt x="104888" y="124732"/>
                </a:moveTo>
                <a:cubicBezTo>
                  <a:pt x="100195" y="124732"/>
                  <a:pt x="96384" y="120921"/>
                  <a:pt x="96384" y="116228"/>
                </a:cubicBezTo>
                <a:cubicBezTo>
                  <a:pt x="96384" y="111534"/>
                  <a:pt x="100195" y="107723"/>
                  <a:pt x="104888" y="107723"/>
                </a:cubicBezTo>
                <a:cubicBezTo>
                  <a:pt x="109582" y="107723"/>
                  <a:pt x="113393" y="111534"/>
                  <a:pt x="113393" y="116228"/>
                </a:cubicBezTo>
                <a:cubicBezTo>
                  <a:pt x="113393" y="120921"/>
                  <a:pt x="109582" y="124732"/>
                  <a:pt x="104888" y="124732"/>
                </a:cubicBezTo>
                <a:close/>
                <a:moveTo>
                  <a:pt x="22678" y="150246"/>
                </a:moveTo>
                <a:cubicBezTo>
                  <a:pt x="22678" y="145533"/>
                  <a:pt x="26471" y="141741"/>
                  <a:pt x="31184" y="141741"/>
                </a:cubicBezTo>
                <a:lnTo>
                  <a:pt x="70871" y="141741"/>
                </a:lnTo>
                <a:cubicBezTo>
                  <a:pt x="75583" y="141741"/>
                  <a:pt x="79375" y="145533"/>
                  <a:pt x="79375" y="150246"/>
                </a:cubicBezTo>
                <a:cubicBezTo>
                  <a:pt x="79375" y="154958"/>
                  <a:pt x="75583" y="158750"/>
                  <a:pt x="70871" y="158750"/>
                </a:cubicBezTo>
                <a:lnTo>
                  <a:pt x="31184" y="158750"/>
                </a:lnTo>
                <a:cubicBezTo>
                  <a:pt x="26471" y="158750"/>
                  <a:pt x="22678" y="154958"/>
                  <a:pt x="22678" y="150246"/>
                </a:cubicBezTo>
                <a:close/>
                <a:moveTo>
                  <a:pt x="104888" y="141741"/>
                </a:moveTo>
                <a:cubicBezTo>
                  <a:pt x="109601" y="141741"/>
                  <a:pt x="113393" y="145533"/>
                  <a:pt x="113393" y="150246"/>
                </a:cubicBezTo>
                <a:cubicBezTo>
                  <a:pt x="113393" y="154958"/>
                  <a:pt x="109601" y="158750"/>
                  <a:pt x="104888" y="158750"/>
                </a:cubicBezTo>
                <a:cubicBezTo>
                  <a:pt x="100176" y="158750"/>
                  <a:pt x="96384" y="154958"/>
                  <a:pt x="96384" y="150246"/>
                </a:cubicBezTo>
                <a:cubicBezTo>
                  <a:pt x="96384" y="145533"/>
                  <a:pt x="100176" y="141741"/>
                  <a:pt x="104888" y="141741"/>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187945" y="2723370"/>
            <a:ext cx="671286" cy="254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FLOPS</a:t>
            </a:r>
            <a:endParaRPr lang="en-US" sz="1100"/>
          </a:p>
        </p:txBody>
      </p:sp>
      <p:sp>
        <p:nvSpPr>
          <p:cNvPr id="12" name="AutoShape 12"/>
          <p:cNvSpPr/>
          <p:nvPr/>
        </p:nvSpPr>
        <p:spPr>
          <a:xfrm>
            <a:off x="852350" y="3049938"/>
            <a:ext cx="4726214" cy="535214"/>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3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Measures the number of floating-point operations a processor can execute per second — the core metric for compute-intensive task performance.</a:t>
            </a:r>
            <a:endParaRPr lang="en-US" sz="1100"/>
          </a:p>
        </p:txBody>
      </p:sp>
      <p:sp>
        <p:nvSpPr>
          <p:cNvPr id="13" name="Freeform 13"/>
          <p:cNvSpPr/>
          <p:nvPr/>
        </p:nvSpPr>
        <p:spPr>
          <a:xfrm>
            <a:off x="616609" y="4088597"/>
            <a:ext cx="5098053" cy="1288143"/>
          </a:xfrm>
          <a:custGeom>
            <a:avLst/>
            <a:gdLst/>
            <a:ahLst/>
            <a:cxnLst/>
            <a:rect l="l" t="t" r="r" b="b"/>
            <a:pathLst>
              <a:path w="5098053" h="1288143">
                <a:moveTo>
                  <a:pt x="36105" y="0"/>
                </a:moveTo>
                <a:lnTo>
                  <a:pt x="5025479" y="0"/>
                </a:lnTo>
                <a:cubicBezTo>
                  <a:pt x="5065560" y="0"/>
                  <a:pt x="5098053" y="32492"/>
                  <a:pt x="5098053" y="72574"/>
                </a:cubicBezTo>
                <a:lnTo>
                  <a:pt x="5098053" y="1215569"/>
                </a:lnTo>
                <a:cubicBezTo>
                  <a:pt x="5098053" y="1255650"/>
                  <a:pt x="5065560" y="1288143"/>
                  <a:pt x="5025479" y="1288143"/>
                </a:cubicBezTo>
                <a:lnTo>
                  <a:pt x="36105" y="1288143"/>
                </a:lnTo>
                <a:cubicBezTo>
                  <a:pt x="16165" y="1288143"/>
                  <a:pt x="0" y="1271977"/>
                  <a:pt x="0" y="1252038"/>
                </a:cubicBezTo>
                <a:lnTo>
                  <a:pt x="0" y="36105"/>
                </a:lnTo>
                <a:cubicBezTo>
                  <a:pt x="0" y="16165"/>
                  <a:pt x="16165" y="0"/>
                  <a:pt x="36105"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4" name="Freeform 14"/>
          <p:cNvSpPr/>
          <p:nvPr/>
        </p:nvSpPr>
        <p:spPr>
          <a:xfrm>
            <a:off x="616609" y="4088597"/>
            <a:ext cx="36105" cy="1288143"/>
          </a:xfrm>
          <a:custGeom>
            <a:avLst/>
            <a:gdLst/>
            <a:ahLst/>
            <a:cxnLst/>
            <a:rect l="l" t="t" r="r" b="b"/>
            <a:pathLst>
              <a:path w="36105" h="1288143">
                <a:moveTo>
                  <a:pt x="36105" y="0"/>
                </a:moveTo>
                <a:lnTo>
                  <a:pt x="36105" y="0"/>
                </a:lnTo>
                <a:lnTo>
                  <a:pt x="36105" y="1288143"/>
                </a:lnTo>
                <a:lnTo>
                  <a:pt x="36105" y="1288143"/>
                </a:lnTo>
                <a:cubicBezTo>
                  <a:pt x="16165" y="1288143"/>
                  <a:pt x="0" y="1271977"/>
                  <a:pt x="0" y="1252038"/>
                </a:cubicBezTo>
                <a:lnTo>
                  <a:pt x="0" y="36105"/>
                </a:lnTo>
                <a:cubicBezTo>
                  <a:pt x="0" y="16165"/>
                  <a:pt x="16165" y="0"/>
                  <a:pt x="3610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875029" y="4353871"/>
            <a:ext cx="181428" cy="158750"/>
          </a:xfrm>
          <a:custGeom>
            <a:avLst/>
            <a:gdLst/>
            <a:ahLst/>
            <a:cxnLst/>
            <a:rect l="l" t="t" r="r" b="b"/>
            <a:pathLst>
              <a:path w="181428" h="158750">
                <a:moveTo>
                  <a:pt x="22678" y="11339"/>
                </a:moveTo>
                <a:cubicBezTo>
                  <a:pt x="22678" y="5068"/>
                  <a:pt x="17611" y="0"/>
                  <a:pt x="11339" y="0"/>
                </a:cubicBezTo>
                <a:cubicBezTo>
                  <a:pt x="5067" y="0"/>
                  <a:pt x="0" y="5068"/>
                  <a:pt x="0" y="11339"/>
                </a:cubicBezTo>
                <a:lnTo>
                  <a:pt x="0" y="130402"/>
                </a:lnTo>
                <a:cubicBezTo>
                  <a:pt x="0" y="146064"/>
                  <a:pt x="12686" y="158750"/>
                  <a:pt x="28348" y="158750"/>
                </a:cubicBezTo>
                <a:lnTo>
                  <a:pt x="170089" y="158750"/>
                </a:lnTo>
                <a:cubicBezTo>
                  <a:pt x="176361" y="158750"/>
                  <a:pt x="181428" y="153684"/>
                  <a:pt x="181428" y="147411"/>
                </a:cubicBezTo>
                <a:cubicBezTo>
                  <a:pt x="181428" y="141138"/>
                  <a:pt x="176361" y="136072"/>
                  <a:pt x="170089" y="136072"/>
                </a:cubicBezTo>
                <a:lnTo>
                  <a:pt x="28348" y="136072"/>
                </a:lnTo>
                <a:cubicBezTo>
                  <a:pt x="25230" y="136072"/>
                  <a:pt x="22678" y="133520"/>
                  <a:pt x="22678" y="130402"/>
                </a:cubicBezTo>
                <a:lnTo>
                  <a:pt x="22678" y="11339"/>
                </a:lnTo>
                <a:close/>
                <a:moveTo>
                  <a:pt x="166759" y="42026"/>
                </a:moveTo>
                <a:cubicBezTo>
                  <a:pt x="171188" y="37597"/>
                  <a:pt x="171188" y="30405"/>
                  <a:pt x="166759" y="25974"/>
                </a:cubicBezTo>
                <a:cubicBezTo>
                  <a:pt x="162329" y="21545"/>
                  <a:pt x="155136" y="21545"/>
                  <a:pt x="150706" y="25974"/>
                </a:cubicBezTo>
                <a:lnTo>
                  <a:pt x="113393" y="63323"/>
                </a:lnTo>
                <a:lnTo>
                  <a:pt x="93053" y="43020"/>
                </a:lnTo>
                <a:cubicBezTo>
                  <a:pt x="88624" y="38589"/>
                  <a:pt x="81430" y="38589"/>
                  <a:pt x="77001" y="43020"/>
                </a:cubicBezTo>
                <a:lnTo>
                  <a:pt x="42983" y="77036"/>
                </a:lnTo>
                <a:cubicBezTo>
                  <a:pt x="38553" y="81466"/>
                  <a:pt x="38553" y="88660"/>
                  <a:pt x="42983" y="93089"/>
                </a:cubicBezTo>
                <a:cubicBezTo>
                  <a:pt x="47412" y="97518"/>
                  <a:pt x="54606" y="97518"/>
                  <a:pt x="59035" y="93089"/>
                </a:cubicBezTo>
                <a:lnTo>
                  <a:pt x="85046" y="67078"/>
                </a:lnTo>
                <a:lnTo>
                  <a:pt x="105385" y="87419"/>
                </a:lnTo>
                <a:cubicBezTo>
                  <a:pt x="109814" y="91849"/>
                  <a:pt x="117006" y="91849"/>
                  <a:pt x="121437" y="87419"/>
                </a:cubicBezTo>
                <a:lnTo>
                  <a:pt x="166794" y="4206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1187945" y="4306286"/>
            <a:ext cx="1034143" cy="254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Utilization</a:t>
            </a:r>
            <a:endParaRPr lang="en-US" sz="1100"/>
          </a:p>
        </p:txBody>
      </p:sp>
      <p:sp>
        <p:nvSpPr>
          <p:cNvPr id="17" name="AutoShape 17"/>
          <p:cNvSpPr/>
          <p:nvPr/>
        </p:nvSpPr>
        <p:spPr>
          <a:xfrm>
            <a:off x="852350" y="4632854"/>
            <a:ext cx="4726214" cy="535214"/>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3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Reflects the actual usage efficiency of hardware resources, helping identify whether compute units are fully utilized.</a:t>
            </a:r>
            <a:endParaRPr lang="en-US" sz="1100"/>
          </a:p>
        </p:txBody>
      </p:sp>
      <p:sp>
        <p:nvSpPr>
          <p:cNvPr id="18" name="Freeform 18"/>
          <p:cNvSpPr/>
          <p:nvPr/>
        </p:nvSpPr>
        <p:spPr>
          <a:xfrm>
            <a:off x="6250146" y="1194893"/>
            <a:ext cx="5569767" cy="4698910"/>
          </a:xfrm>
          <a:custGeom>
            <a:avLst/>
            <a:gdLst/>
            <a:ahLst/>
            <a:cxnLst/>
            <a:rect l="l" t="t" r="r" b="b"/>
            <a:pathLst>
              <a:path w="5569767" h="4698910">
                <a:moveTo>
                  <a:pt x="108875" y="0"/>
                </a:moveTo>
                <a:lnTo>
                  <a:pt x="5460893" y="0"/>
                </a:lnTo>
                <a:cubicBezTo>
                  <a:pt x="5521021" y="0"/>
                  <a:pt x="5569767" y="48744"/>
                  <a:pt x="5569767" y="108875"/>
                </a:cubicBezTo>
                <a:lnTo>
                  <a:pt x="5569767" y="4590037"/>
                </a:lnTo>
                <a:cubicBezTo>
                  <a:pt x="5569767" y="4650165"/>
                  <a:pt x="5521021" y="4698910"/>
                  <a:pt x="5460893" y="4698910"/>
                </a:cubicBezTo>
                <a:lnTo>
                  <a:pt x="108875" y="4698910"/>
                </a:lnTo>
                <a:cubicBezTo>
                  <a:pt x="48744" y="4698910"/>
                  <a:pt x="0" y="4650165"/>
                  <a:pt x="0" y="4590037"/>
                </a:cubicBezTo>
                <a:lnTo>
                  <a:pt x="0" y="108875"/>
                </a:lnTo>
                <a:cubicBezTo>
                  <a:pt x="0" y="48785"/>
                  <a:pt x="48785" y="0"/>
                  <a:pt x="108875" y="0"/>
                </a:cubicBezTo>
                <a:close/>
              </a:path>
            </a:pathLst>
          </a:custGeom>
          <a:gradFill rotWithShape="1">
            <a:gsLst>
              <a:gs pos="0">
                <a:srgbClr val="F9FAFB">
                  <a:alpha val="100000"/>
                </a:srgbClr>
              </a:gs>
              <a:gs pos="100000">
                <a:srgbClr val="FFFFFF">
                  <a:alpha val="100000"/>
                </a:srgbClr>
              </a:gs>
            </a:gsLst>
            <a:lin ang="2700000"/>
          </a:gradFill>
          <a:ln w="12700">
            <a:solidFill>
              <a:srgbClr val="E5E7EB">
                <a:alpha val="100000"/>
              </a:srgbClr>
            </a:solidFill>
            <a:prstDash val="solid"/>
          </a:ln>
        </p:spPr>
        <p:txBody>
          <a:bodyPr wrap="square" lIns="91440" tIns="45720" rIns="91440" bIns="45720" rtlCol="0" anchor="t">
            <a:noAutofit/>
          </a:bodyPr>
          <a:lstStyle/>
          <a:p>
            <a:pPr algn="ctr">
              <a:defRPr/>
            </a:pPr>
          </a:p>
        </p:txBody>
      </p:sp>
      <p:sp>
        <p:nvSpPr>
          <p:cNvPr id="19" name="Freeform 19"/>
          <p:cNvSpPr/>
          <p:nvPr/>
        </p:nvSpPr>
        <p:spPr>
          <a:xfrm>
            <a:off x="6476862" y="1421608"/>
            <a:ext cx="580572" cy="580572"/>
          </a:xfrm>
          <a:custGeom>
            <a:avLst/>
            <a:gdLst/>
            <a:ahLst/>
            <a:cxnLst/>
            <a:rect l="l" t="t" r="r" b="b"/>
            <a:pathLst>
              <a:path w="580572" h="580572">
                <a:moveTo>
                  <a:pt x="108857" y="0"/>
                </a:moveTo>
                <a:lnTo>
                  <a:pt x="471714" y="0"/>
                </a:lnTo>
                <a:cubicBezTo>
                  <a:pt x="531834" y="0"/>
                  <a:pt x="580572" y="48738"/>
                  <a:pt x="580572" y="108857"/>
                </a:cubicBezTo>
                <a:lnTo>
                  <a:pt x="580572" y="471714"/>
                </a:lnTo>
                <a:cubicBezTo>
                  <a:pt x="580572" y="531834"/>
                  <a:pt x="531834" y="580572"/>
                  <a:pt x="471714" y="580572"/>
                </a:cubicBezTo>
                <a:lnTo>
                  <a:pt x="108857" y="580572"/>
                </a:lnTo>
                <a:cubicBezTo>
                  <a:pt x="48738" y="580572"/>
                  <a:pt x="0" y="531834"/>
                  <a:pt x="0" y="471714"/>
                </a:cubicBezTo>
                <a:lnTo>
                  <a:pt x="0" y="108857"/>
                </a:lnTo>
                <a:cubicBezTo>
                  <a:pt x="0" y="48777"/>
                  <a:pt x="48777" y="0"/>
                  <a:pt x="108857" y="0"/>
                </a:cubicBezTo>
                <a:close/>
              </a:path>
            </a:pathLst>
          </a:custGeom>
          <a:solidFill>
            <a:srgbClr val="8B0000">
              <a:alpha val="100000"/>
            </a:srgbClr>
          </a:solidFill>
          <a:ln w="12700">
            <a:noFill/>
            <a:prstDash val="solid"/>
          </a:ln>
          <a:effectLst>
            <a:outerShdw blurRad="1270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0" name="Freeform 20"/>
          <p:cNvSpPr/>
          <p:nvPr/>
        </p:nvSpPr>
        <p:spPr>
          <a:xfrm>
            <a:off x="6650319" y="1575760"/>
            <a:ext cx="238125" cy="272143"/>
          </a:xfrm>
          <a:custGeom>
            <a:avLst/>
            <a:gdLst/>
            <a:ahLst/>
            <a:cxnLst/>
            <a:rect l="l" t="t" r="r" b="b"/>
            <a:pathLst>
              <a:path w="238125" h="272143">
                <a:moveTo>
                  <a:pt x="238125" y="109389"/>
                </a:moveTo>
                <a:cubicBezTo>
                  <a:pt x="230259" y="114598"/>
                  <a:pt x="221223" y="118797"/>
                  <a:pt x="211814" y="122145"/>
                </a:cubicBezTo>
                <a:cubicBezTo>
                  <a:pt x="186832" y="131075"/>
                  <a:pt x="154037" y="136072"/>
                  <a:pt x="119063" y="136072"/>
                </a:cubicBezTo>
                <a:cubicBezTo>
                  <a:pt x="84088" y="136072"/>
                  <a:pt x="51239" y="131022"/>
                  <a:pt x="26311" y="122145"/>
                </a:cubicBezTo>
                <a:cubicBezTo>
                  <a:pt x="16956" y="118797"/>
                  <a:pt x="7866" y="114598"/>
                  <a:pt x="0" y="109389"/>
                </a:cubicBezTo>
                <a:lnTo>
                  <a:pt x="0" y="153079"/>
                </a:lnTo>
                <a:cubicBezTo>
                  <a:pt x="0" y="176574"/>
                  <a:pt x="53312" y="195603"/>
                  <a:pt x="119063" y="195603"/>
                </a:cubicBezTo>
                <a:cubicBezTo>
                  <a:pt x="184813" y="195603"/>
                  <a:pt x="238125" y="176574"/>
                  <a:pt x="238125" y="153079"/>
                </a:cubicBezTo>
                <a:lnTo>
                  <a:pt x="238125" y="109389"/>
                </a:lnTo>
                <a:close/>
                <a:moveTo>
                  <a:pt x="238125" y="68036"/>
                </a:moveTo>
                <a:lnTo>
                  <a:pt x="238125" y="42522"/>
                </a:lnTo>
                <a:cubicBezTo>
                  <a:pt x="238125" y="19028"/>
                  <a:pt x="184813" y="0"/>
                  <a:pt x="119063" y="0"/>
                </a:cubicBezTo>
                <a:cubicBezTo>
                  <a:pt x="53312" y="0"/>
                  <a:pt x="0" y="19028"/>
                  <a:pt x="0" y="42522"/>
                </a:cubicBezTo>
                <a:lnTo>
                  <a:pt x="0" y="68036"/>
                </a:lnTo>
                <a:cubicBezTo>
                  <a:pt x="0" y="91529"/>
                  <a:pt x="53312" y="110559"/>
                  <a:pt x="119063" y="110559"/>
                </a:cubicBezTo>
                <a:cubicBezTo>
                  <a:pt x="184813" y="110559"/>
                  <a:pt x="238125" y="91529"/>
                  <a:pt x="238125" y="68036"/>
                </a:cubicBezTo>
                <a:close/>
                <a:moveTo>
                  <a:pt x="211814" y="207190"/>
                </a:moveTo>
                <a:cubicBezTo>
                  <a:pt x="186886" y="216066"/>
                  <a:pt x="154090" y="221116"/>
                  <a:pt x="119063" y="221116"/>
                </a:cubicBezTo>
                <a:cubicBezTo>
                  <a:pt x="84035" y="221116"/>
                  <a:pt x="51239" y="216066"/>
                  <a:pt x="26311" y="207190"/>
                </a:cubicBezTo>
                <a:cubicBezTo>
                  <a:pt x="16956" y="203841"/>
                  <a:pt x="7866" y="199641"/>
                  <a:pt x="0" y="194433"/>
                </a:cubicBezTo>
                <a:lnTo>
                  <a:pt x="0" y="229621"/>
                </a:lnTo>
                <a:cubicBezTo>
                  <a:pt x="0" y="253114"/>
                  <a:pt x="53312" y="272143"/>
                  <a:pt x="119063" y="272143"/>
                </a:cubicBezTo>
                <a:cubicBezTo>
                  <a:pt x="184813" y="272143"/>
                  <a:pt x="238125" y="253114"/>
                  <a:pt x="238125" y="229621"/>
                </a:cubicBezTo>
                <a:lnTo>
                  <a:pt x="238125" y="194433"/>
                </a:lnTo>
                <a:cubicBezTo>
                  <a:pt x="230259" y="199641"/>
                  <a:pt x="221223" y="203841"/>
                  <a:pt x="211814" y="20719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7202491" y="1439731"/>
            <a:ext cx="2545247" cy="290286"/>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7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Data Access Capability</a:t>
            </a:r>
            <a:endParaRPr lang="en-US" sz="1100"/>
          </a:p>
        </p:txBody>
      </p:sp>
      <p:sp>
        <p:nvSpPr>
          <p:cNvPr id="22" name="AutoShape 22"/>
          <p:cNvSpPr/>
          <p:nvPr/>
        </p:nvSpPr>
        <p:spPr>
          <a:xfrm>
            <a:off x="7202491" y="1729912"/>
            <a:ext cx="1514929" cy="254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Memory Bound</a:t>
            </a:r>
            <a:endParaRPr lang="en-US" sz="1100"/>
          </a:p>
        </p:txBody>
      </p:sp>
      <p:sp>
        <p:nvSpPr>
          <p:cNvPr id="23" name="Freeform 23"/>
          <p:cNvSpPr/>
          <p:nvPr/>
        </p:nvSpPr>
        <p:spPr>
          <a:xfrm>
            <a:off x="6494914" y="2505681"/>
            <a:ext cx="5098053" cy="1288143"/>
          </a:xfrm>
          <a:custGeom>
            <a:avLst/>
            <a:gdLst/>
            <a:ahLst/>
            <a:cxnLst/>
            <a:rect l="l" t="t" r="r" b="b"/>
            <a:pathLst>
              <a:path w="5098053" h="1288143">
                <a:moveTo>
                  <a:pt x="36105" y="0"/>
                </a:moveTo>
                <a:lnTo>
                  <a:pt x="5025479" y="0"/>
                </a:lnTo>
                <a:cubicBezTo>
                  <a:pt x="5065560" y="0"/>
                  <a:pt x="5098053" y="32492"/>
                  <a:pt x="5098053" y="72574"/>
                </a:cubicBezTo>
                <a:lnTo>
                  <a:pt x="5098053" y="1215569"/>
                </a:lnTo>
                <a:cubicBezTo>
                  <a:pt x="5098053" y="1255650"/>
                  <a:pt x="5065560" y="1288143"/>
                  <a:pt x="5025479" y="1288143"/>
                </a:cubicBezTo>
                <a:lnTo>
                  <a:pt x="36105" y="1288143"/>
                </a:lnTo>
                <a:cubicBezTo>
                  <a:pt x="16165" y="1288143"/>
                  <a:pt x="0" y="1271977"/>
                  <a:pt x="0" y="1252038"/>
                </a:cubicBezTo>
                <a:lnTo>
                  <a:pt x="0" y="36105"/>
                </a:lnTo>
                <a:cubicBezTo>
                  <a:pt x="0" y="16165"/>
                  <a:pt x="16165" y="0"/>
                  <a:pt x="36105"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4" name="Freeform 24"/>
          <p:cNvSpPr/>
          <p:nvPr/>
        </p:nvSpPr>
        <p:spPr>
          <a:xfrm>
            <a:off x="6494914" y="2505681"/>
            <a:ext cx="36105" cy="1288143"/>
          </a:xfrm>
          <a:custGeom>
            <a:avLst/>
            <a:gdLst/>
            <a:ahLst/>
            <a:cxnLst/>
            <a:rect l="l" t="t" r="r" b="b"/>
            <a:pathLst>
              <a:path w="36105" h="1288143">
                <a:moveTo>
                  <a:pt x="36105" y="0"/>
                </a:moveTo>
                <a:lnTo>
                  <a:pt x="36105" y="0"/>
                </a:lnTo>
                <a:lnTo>
                  <a:pt x="36105" y="1288143"/>
                </a:lnTo>
                <a:lnTo>
                  <a:pt x="36105" y="1288143"/>
                </a:lnTo>
                <a:cubicBezTo>
                  <a:pt x="16165" y="1288143"/>
                  <a:pt x="0" y="1271977"/>
                  <a:pt x="0" y="1252038"/>
                </a:cubicBezTo>
                <a:lnTo>
                  <a:pt x="0" y="36105"/>
                </a:lnTo>
                <a:cubicBezTo>
                  <a:pt x="0" y="16165"/>
                  <a:pt x="16165" y="0"/>
                  <a:pt x="3610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6753334" y="2759615"/>
            <a:ext cx="181428" cy="181428"/>
          </a:xfrm>
          <a:custGeom>
            <a:avLst/>
            <a:gdLst/>
            <a:ahLst/>
            <a:cxnLst/>
            <a:rect l="l" t="t" r="r" b="b"/>
            <a:pathLst>
              <a:path w="181428" h="181428">
                <a:moveTo>
                  <a:pt x="0" y="90714"/>
                </a:moveTo>
                <a:cubicBezTo>
                  <a:pt x="0" y="40648"/>
                  <a:pt x="40648" y="0"/>
                  <a:pt x="90714" y="0"/>
                </a:cubicBezTo>
                <a:cubicBezTo>
                  <a:pt x="140781" y="0"/>
                  <a:pt x="181428" y="40648"/>
                  <a:pt x="181428" y="90714"/>
                </a:cubicBezTo>
                <a:cubicBezTo>
                  <a:pt x="181428" y="140781"/>
                  <a:pt x="140781" y="181428"/>
                  <a:pt x="90714" y="181428"/>
                </a:cubicBezTo>
                <a:cubicBezTo>
                  <a:pt x="40648" y="181428"/>
                  <a:pt x="0" y="140781"/>
                  <a:pt x="0" y="90714"/>
                </a:cubicBezTo>
                <a:close/>
                <a:moveTo>
                  <a:pt x="102053" y="34018"/>
                </a:moveTo>
                <a:cubicBezTo>
                  <a:pt x="102053" y="27760"/>
                  <a:pt x="96973" y="22678"/>
                  <a:pt x="90714" y="22678"/>
                </a:cubicBezTo>
                <a:cubicBezTo>
                  <a:pt x="84456" y="22678"/>
                  <a:pt x="79375" y="27760"/>
                  <a:pt x="79375" y="34018"/>
                </a:cubicBezTo>
                <a:cubicBezTo>
                  <a:pt x="79375" y="40276"/>
                  <a:pt x="84456" y="45357"/>
                  <a:pt x="90714" y="45357"/>
                </a:cubicBezTo>
                <a:cubicBezTo>
                  <a:pt x="96973" y="45357"/>
                  <a:pt x="102053" y="40276"/>
                  <a:pt x="102053" y="34018"/>
                </a:cubicBezTo>
                <a:close/>
                <a:moveTo>
                  <a:pt x="90714" y="147411"/>
                </a:moveTo>
                <a:cubicBezTo>
                  <a:pt x="103223" y="147411"/>
                  <a:pt x="113393" y="137241"/>
                  <a:pt x="113393" y="124732"/>
                </a:cubicBezTo>
                <a:cubicBezTo>
                  <a:pt x="113393" y="118991"/>
                  <a:pt x="111267" y="113712"/>
                  <a:pt x="107723" y="109743"/>
                </a:cubicBezTo>
                <a:lnTo>
                  <a:pt x="132351" y="60523"/>
                </a:lnTo>
                <a:cubicBezTo>
                  <a:pt x="134441" y="56307"/>
                  <a:pt x="132740" y="51204"/>
                  <a:pt x="128560" y="49113"/>
                </a:cubicBezTo>
                <a:cubicBezTo>
                  <a:pt x="124377" y="47023"/>
                  <a:pt x="119240" y="48724"/>
                  <a:pt x="117149" y="52904"/>
                </a:cubicBezTo>
                <a:lnTo>
                  <a:pt x="92521" y="102125"/>
                </a:lnTo>
                <a:cubicBezTo>
                  <a:pt x="91919" y="102089"/>
                  <a:pt x="91317" y="102053"/>
                  <a:pt x="90714" y="102053"/>
                </a:cubicBezTo>
                <a:cubicBezTo>
                  <a:pt x="78207" y="102053"/>
                  <a:pt x="68036" y="112224"/>
                  <a:pt x="68036" y="124732"/>
                </a:cubicBezTo>
                <a:cubicBezTo>
                  <a:pt x="68036" y="137241"/>
                  <a:pt x="78207" y="147411"/>
                  <a:pt x="90714" y="147411"/>
                </a:cubicBezTo>
                <a:close/>
                <a:moveTo>
                  <a:pt x="62366" y="51027"/>
                </a:moveTo>
                <a:cubicBezTo>
                  <a:pt x="62366" y="44767"/>
                  <a:pt x="57285" y="39687"/>
                  <a:pt x="51027" y="39687"/>
                </a:cubicBezTo>
                <a:cubicBezTo>
                  <a:pt x="44768" y="39687"/>
                  <a:pt x="39688" y="44767"/>
                  <a:pt x="39688" y="51027"/>
                </a:cubicBezTo>
                <a:cubicBezTo>
                  <a:pt x="39688" y="57285"/>
                  <a:pt x="44768" y="62366"/>
                  <a:pt x="51027" y="62366"/>
                </a:cubicBezTo>
                <a:cubicBezTo>
                  <a:pt x="57285" y="62366"/>
                  <a:pt x="62366" y="57285"/>
                  <a:pt x="62366" y="51027"/>
                </a:cubicBezTo>
                <a:close/>
                <a:moveTo>
                  <a:pt x="34018" y="102053"/>
                </a:moveTo>
                <a:cubicBezTo>
                  <a:pt x="40276" y="102053"/>
                  <a:pt x="45357" y="96973"/>
                  <a:pt x="45357" y="90714"/>
                </a:cubicBezTo>
                <a:cubicBezTo>
                  <a:pt x="45357" y="84456"/>
                  <a:pt x="40276" y="79375"/>
                  <a:pt x="34018" y="79375"/>
                </a:cubicBezTo>
                <a:cubicBezTo>
                  <a:pt x="27760" y="79375"/>
                  <a:pt x="22678" y="84456"/>
                  <a:pt x="22678" y="90714"/>
                </a:cubicBezTo>
                <a:cubicBezTo>
                  <a:pt x="22678" y="96973"/>
                  <a:pt x="27760" y="102053"/>
                  <a:pt x="34018" y="102053"/>
                </a:cubicBezTo>
                <a:close/>
                <a:moveTo>
                  <a:pt x="158750" y="90714"/>
                </a:moveTo>
                <a:cubicBezTo>
                  <a:pt x="158750" y="84456"/>
                  <a:pt x="153669" y="79375"/>
                  <a:pt x="147411" y="79375"/>
                </a:cubicBezTo>
                <a:cubicBezTo>
                  <a:pt x="141152" y="79375"/>
                  <a:pt x="136072" y="84456"/>
                  <a:pt x="136072" y="90714"/>
                </a:cubicBezTo>
                <a:cubicBezTo>
                  <a:pt x="136072" y="96973"/>
                  <a:pt x="141152" y="102053"/>
                  <a:pt x="147411" y="102053"/>
                </a:cubicBezTo>
                <a:cubicBezTo>
                  <a:pt x="153669" y="102053"/>
                  <a:pt x="158750" y="96973"/>
                  <a:pt x="158750" y="90714"/>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7066251" y="2723370"/>
            <a:ext cx="1079500" cy="254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Bandwidth</a:t>
            </a:r>
            <a:endParaRPr lang="en-US" sz="1100"/>
          </a:p>
        </p:txBody>
      </p:sp>
      <p:sp>
        <p:nvSpPr>
          <p:cNvPr id="27" name="AutoShape 27"/>
          <p:cNvSpPr/>
          <p:nvPr/>
        </p:nvSpPr>
        <p:spPr>
          <a:xfrm>
            <a:off x="6730656" y="3049938"/>
            <a:ext cx="4726214" cy="535214"/>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3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Represents the amount of data transferable per unit time, determining throughput capacity for data-intensive applications.</a:t>
            </a:r>
            <a:endParaRPr lang="en-US" sz="1100"/>
          </a:p>
        </p:txBody>
      </p:sp>
      <p:sp>
        <p:nvSpPr>
          <p:cNvPr id="28" name="Freeform 28"/>
          <p:cNvSpPr/>
          <p:nvPr/>
        </p:nvSpPr>
        <p:spPr>
          <a:xfrm>
            <a:off x="6494914" y="4088597"/>
            <a:ext cx="5098053" cy="1288143"/>
          </a:xfrm>
          <a:custGeom>
            <a:avLst/>
            <a:gdLst/>
            <a:ahLst/>
            <a:cxnLst/>
            <a:rect l="l" t="t" r="r" b="b"/>
            <a:pathLst>
              <a:path w="5098053" h="1288143">
                <a:moveTo>
                  <a:pt x="36105" y="0"/>
                </a:moveTo>
                <a:lnTo>
                  <a:pt x="5025479" y="0"/>
                </a:lnTo>
                <a:cubicBezTo>
                  <a:pt x="5065560" y="0"/>
                  <a:pt x="5098053" y="32492"/>
                  <a:pt x="5098053" y="72574"/>
                </a:cubicBezTo>
                <a:lnTo>
                  <a:pt x="5098053" y="1215569"/>
                </a:lnTo>
                <a:cubicBezTo>
                  <a:pt x="5098053" y="1255650"/>
                  <a:pt x="5065560" y="1288143"/>
                  <a:pt x="5025479" y="1288143"/>
                </a:cubicBezTo>
                <a:lnTo>
                  <a:pt x="36105" y="1288143"/>
                </a:lnTo>
                <a:cubicBezTo>
                  <a:pt x="16165" y="1288143"/>
                  <a:pt x="0" y="1271977"/>
                  <a:pt x="0" y="1252038"/>
                </a:cubicBezTo>
                <a:lnTo>
                  <a:pt x="0" y="36105"/>
                </a:lnTo>
                <a:cubicBezTo>
                  <a:pt x="0" y="16165"/>
                  <a:pt x="16165" y="0"/>
                  <a:pt x="36105"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9" name="Freeform 29"/>
          <p:cNvSpPr/>
          <p:nvPr/>
        </p:nvSpPr>
        <p:spPr>
          <a:xfrm>
            <a:off x="6494914" y="4088597"/>
            <a:ext cx="36105" cy="1288143"/>
          </a:xfrm>
          <a:custGeom>
            <a:avLst/>
            <a:gdLst/>
            <a:ahLst/>
            <a:cxnLst/>
            <a:rect l="l" t="t" r="r" b="b"/>
            <a:pathLst>
              <a:path w="36105" h="1288143">
                <a:moveTo>
                  <a:pt x="36105" y="0"/>
                </a:moveTo>
                <a:lnTo>
                  <a:pt x="36105" y="0"/>
                </a:lnTo>
                <a:lnTo>
                  <a:pt x="36105" y="1288143"/>
                </a:lnTo>
                <a:lnTo>
                  <a:pt x="36105" y="1288143"/>
                </a:lnTo>
                <a:cubicBezTo>
                  <a:pt x="16165" y="1288143"/>
                  <a:pt x="0" y="1271977"/>
                  <a:pt x="0" y="1252038"/>
                </a:cubicBezTo>
                <a:lnTo>
                  <a:pt x="0" y="36105"/>
                </a:lnTo>
                <a:cubicBezTo>
                  <a:pt x="0" y="16165"/>
                  <a:pt x="16165" y="0"/>
                  <a:pt x="3610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6753334" y="4342532"/>
            <a:ext cx="181428" cy="181428"/>
          </a:xfrm>
          <a:custGeom>
            <a:avLst/>
            <a:gdLst/>
            <a:ahLst/>
            <a:cxnLst/>
            <a:rect l="l" t="t" r="r" b="b"/>
            <a:pathLst>
              <a:path w="181428" h="181428">
                <a:moveTo>
                  <a:pt x="90714" y="0"/>
                </a:moveTo>
                <a:cubicBezTo>
                  <a:pt x="140781" y="0"/>
                  <a:pt x="181428" y="40648"/>
                  <a:pt x="181428" y="90714"/>
                </a:cubicBezTo>
                <a:cubicBezTo>
                  <a:pt x="181428" y="140781"/>
                  <a:pt x="140781" y="181428"/>
                  <a:pt x="90714" y="181428"/>
                </a:cubicBezTo>
                <a:cubicBezTo>
                  <a:pt x="40648" y="181428"/>
                  <a:pt x="0" y="140781"/>
                  <a:pt x="0" y="90714"/>
                </a:cubicBezTo>
                <a:cubicBezTo>
                  <a:pt x="0" y="40648"/>
                  <a:pt x="40648" y="0"/>
                  <a:pt x="90714" y="0"/>
                </a:cubicBezTo>
                <a:close/>
                <a:moveTo>
                  <a:pt x="82210" y="42522"/>
                </a:moveTo>
                <a:lnTo>
                  <a:pt x="82210" y="90714"/>
                </a:lnTo>
                <a:cubicBezTo>
                  <a:pt x="82210" y="93549"/>
                  <a:pt x="83627" y="96208"/>
                  <a:pt x="86001" y="97801"/>
                </a:cubicBezTo>
                <a:lnTo>
                  <a:pt x="120019" y="120480"/>
                </a:lnTo>
                <a:cubicBezTo>
                  <a:pt x="123916" y="123102"/>
                  <a:pt x="129197" y="122039"/>
                  <a:pt x="131818" y="118106"/>
                </a:cubicBezTo>
                <a:cubicBezTo>
                  <a:pt x="134441" y="114172"/>
                  <a:pt x="133378" y="108928"/>
                  <a:pt x="129445" y="106307"/>
                </a:cubicBezTo>
                <a:lnTo>
                  <a:pt x="99219" y="86178"/>
                </a:lnTo>
                <a:lnTo>
                  <a:pt x="99219" y="42522"/>
                </a:lnTo>
                <a:cubicBezTo>
                  <a:pt x="99219" y="37809"/>
                  <a:pt x="95427" y="34018"/>
                  <a:pt x="90714" y="34018"/>
                </a:cubicBezTo>
                <a:cubicBezTo>
                  <a:pt x="86001" y="34018"/>
                  <a:pt x="82210" y="37809"/>
                  <a:pt x="82210" y="4252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7066251" y="4306286"/>
            <a:ext cx="789214" cy="2540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Latency</a:t>
            </a:r>
            <a:endParaRPr lang="en-US" sz="1100"/>
          </a:p>
        </p:txBody>
      </p:sp>
      <p:sp>
        <p:nvSpPr>
          <p:cNvPr id="32" name="AutoShape 32"/>
          <p:cNvSpPr/>
          <p:nvPr/>
        </p:nvSpPr>
        <p:spPr>
          <a:xfrm>
            <a:off x="6730656" y="4632854"/>
            <a:ext cx="4726214" cy="535214"/>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3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Represents the time required to complete one data access, directly affecting program responsiveness and real-time performance.</a:t>
            </a:r>
            <a:endParaRPr lang="en-US" sz="1100"/>
          </a:p>
        </p:txBody>
      </p:sp>
      <p:sp>
        <p:nvSpPr>
          <p:cNvPr id="33" name="Freeform 33"/>
          <p:cNvSpPr/>
          <p:nvPr/>
        </p:nvSpPr>
        <p:spPr>
          <a:xfrm>
            <a:off x="380867" y="5950657"/>
            <a:ext cx="11448053" cy="544286"/>
          </a:xfrm>
          <a:custGeom>
            <a:avLst/>
            <a:gdLst/>
            <a:ahLst/>
            <a:cxnLst/>
            <a:rect l="l" t="t" r="r" b="b"/>
            <a:pathLst>
              <a:path w="11448053" h="544286">
                <a:moveTo>
                  <a:pt x="36105" y="0"/>
                </a:moveTo>
                <a:lnTo>
                  <a:pt x="11375483" y="0"/>
                </a:lnTo>
                <a:cubicBezTo>
                  <a:pt x="11415561" y="0"/>
                  <a:pt x="11448053" y="32490"/>
                  <a:pt x="11448053" y="72570"/>
                </a:cubicBezTo>
                <a:lnTo>
                  <a:pt x="11448053" y="471716"/>
                </a:lnTo>
                <a:cubicBezTo>
                  <a:pt x="11448053" y="511795"/>
                  <a:pt x="11415561" y="544286"/>
                  <a:pt x="11375483" y="544286"/>
                </a:cubicBezTo>
                <a:lnTo>
                  <a:pt x="36105" y="544286"/>
                </a:lnTo>
                <a:cubicBezTo>
                  <a:pt x="16165" y="544286"/>
                  <a:pt x="0" y="528121"/>
                  <a:pt x="0" y="508182"/>
                </a:cubicBezTo>
                <a:lnTo>
                  <a:pt x="0" y="36105"/>
                </a:lnTo>
                <a:cubicBezTo>
                  <a:pt x="0" y="16165"/>
                  <a:pt x="16165" y="0"/>
                  <a:pt x="36105"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34" name="Freeform 34"/>
          <p:cNvSpPr/>
          <p:nvPr/>
        </p:nvSpPr>
        <p:spPr>
          <a:xfrm>
            <a:off x="380867" y="5950657"/>
            <a:ext cx="36105" cy="544286"/>
          </a:xfrm>
          <a:custGeom>
            <a:avLst/>
            <a:gdLst/>
            <a:ahLst/>
            <a:cxnLst/>
            <a:rect l="l" t="t" r="r" b="b"/>
            <a:pathLst>
              <a:path w="36105" h="544286">
                <a:moveTo>
                  <a:pt x="36105" y="0"/>
                </a:moveTo>
                <a:lnTo>
                  <a:pt x="36105" y="0"/>
                </a:lnTo>
                <a:lnTo>
                  <a:pt x="36105" y="544286"/>
                </a:lnTo>
                <a:lnTo>
                  <a:pt x="36105" y="544286"/>
                </a:lnTo>
                <a:cubicBezTo>
                  <a:pt x="16165" y="544286"/>
                  <a:pt x="0" y="528121"/>
                  <a:pt x="0" y="508182"/>
                </a:cubicBezTo>
                <a:lnTo>
                  <a:pt x="0" y="36105"/>
                </a:lnTo>
                <a:cubicBezTo>
                  <a:pt x="0" y="16165"/>
                  <a:pt x="16165" y="0"/>
                  <a:pt x="3610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544046" y="6095783"/>
            <a:ext cx="11221357" cy="2540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Roofline Model</a:t>
            </a:r>
            <a:r>
              <a:rPr lang="en-US" sz="13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used to analyze both bottleneck types, helping determine whether a program is compute-bound or memory-bound</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09202" y="619758"/>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What is FLOPS?</a:t>
            </a:r>
            <a:endParaRPr lang="en-US" sz="1100"/>
          </a:p>
        </p:txBody>
      </p:sp>
      <p:sp>
        <p:nvSpPr>
          <p:cNvPr id="3" name="Freeform 3"/>
          <p:cNvSpPr/>
          <p:nvPr/>
        </p:nvSpPr>
        <p:spPr>
          <a:xfrm>
            <a:off x="380956" y="1153721"/>
            <a:ext cx="5543455" cy="1409700"/>
          </a:xfrm>
          <a:custGeom>
            <a:avLst/>
            <a:gdLst/>
            <a:ahLst/>
            <a:cxnLst/>
            <a:rect l="l" t="t" r="r" b="b"/>
            <a:pathLst>
              <a:path w="5543455" h="1409700">
                <a:moveTo>
                  <a:pt x="37910" y="0"/>
                </a:moveTo>
                <a:lnTo>
                  <a:pt x="5429157" y="0"/>
                </a:lnTo>
                <a:cubicBezTo>
                  <a:pt x="5492281" y="0"/>
                  <a:pt x="5543455" y="51173"/>
                  <a:pt x="5543455" y="114297"/>
                </a:cubicBezTo>
                <a:lnTo>
                  <a:pt x="5543455" y="1295403"/>
                </a:lnTo>
                <a:cubicBezTo>
                  <a:pt x="5543455" y="1358527"/>
                  <a:pt x="5492281" y="1409700"/>
                  <a:pt x="5429157" y="1409700"/>
                </a:cubicBezTo>
                <a:lnTo>
                  <a:pt x="37910" y="1409700"/>
                </a:lnTo>
                <a:cubicBezTo>
                  <a:pt x="16974" y="1409700"/>
                  <a:pt x="0" y="1392726"/>
                  <a:pt x="0" y="1371790"/>
                </a:cubicBezTo>
                <a:lnTo>
                  <a:pt x="0" y="37909"/>
                </a:lnTo>
                <a:cubicBezTo>
                  <a:pt x="0" y="16988"/>
                  <a:pt x="16988" y="0"/>
                  <a:pt x="37910"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80956" y="1153721"/>
            <a:ext cx="37909" cy="1409700"/>
          </a:xfrm>
          <a:custGeom>
            <a:avLst/>
            <a:gdLst/>
            <a:ahLst/>
            <a:cxnLst/>
            <a:rect l="l" t="t" r="r" b="b"/>
            <a:pathLst>
              <a:path w="37909" h="1409700">
                <a:moveTo>
                  <a:pt x="37910" y="0"/>
                </a:moveTo>
                <a:lnTo>
                  <a:pt x="37910" y="0"/>
                </a:lnTo>
                <a:lnTo>
                  <a:pt x="37910" y="1409700"/>
                </a:lnTo>
                <a:lnTo>
                  <a:pt x="37910" y="1409700"/>
                </a:lnTo>
                <a:cubicBezTo>
                  <a:pt x="16974" y="1409700"/>
                  <a:pt x="0" y="1392726"/>
                  <a:pt x="0" y="1371790"/>
                </a:cubicBezTo>
                <a:lnTo>
                  <a:pt x="0" y="37909"/>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28484" y="1382294"/>
            <a:ext cx="5315072" cy="381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FLOPS = Floating Point Operations Per Second</a:t>
            </a:r>
            <a:endParaRPr lang="en-US" sz="1100"/>
          </a:p>
        </p:txBody>
      </p:sp>
      <p:sp>
        <p:nvSpPr>
          <p:cNvPr id="6" name="AutoShape 6"/>
          <p:cNvSpPr/>
          <p:nvPr/>
        </p:nvSpPr>
        <p:spPr>
          <a:xfrm>
            <a:off x="628484" y="2067866"/>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0" i="0" u="none" strike="noStrike">
                <a:solidFill>
                  <a:srgbClr val="364153"/>
                </a:solidFill>
                <a:latin typeface="Noto Sans SC" panose="020B0200000000000000" charset="-122"/>
                <a:ea typeface="Noto Sans SC" panose="020B0200000000000000" charset="-122"/>
                <a:cs typeface="Noto Sans SC" panose="020B0200000000000000" charset="-122"/>
                <a:sym typeface="Noto Sans SC" panose="020B0200000000000000" charset="-122"/>
              </a:rPr>
              <a:t>Represents how many floating-point operations can be executed per second</a:t>
            </a:r>
            <a:endParaRPr lang="en-US" sz="1100"/>
          </a:p>
        </p:txBody>
      </p:sp>
      <p:sp>
        <p:nvSpPr>
          <p:cNvPr id="7" name="AutoShape 7"/>
          <p:cNvSpPr/>
          <p:nvPr/>
        </p:nvSpPr>
        <p:spPr>
          <a:xfrm>
            <a:off x="380956" y="2628483"/>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Common Units</a:t>
            </a:r>
            <a:endParaRPr lang="en-US" sz="1100"/>
          </a:p>
        </p:txBody>
      </p:sp>
      <p:sp>
        <p:nvSpPr>
          <p:cNvPr id="8" name="Freeform 8"/>
          <p:cNvSpPr/>
          <p:nvPr/>
        </p:nvSpPr>
        <p:spPr>
          <a:xfrm>
            <a:off x="380956" y="3085556"/>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447580" y="3199805"/>
            <a:ext cx="857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MFLOPS</a:t>
            </a:r>
            <a:endParaRPr lang="en-US" sz="1100"/>
          </a:p>
        </p:txBody>
      </p:sp>
      <p:sp>
        <p:nvSpPr>
          <p:cNvPr id="10" name="AutoShape 10"/>
          <p:cNvSpPr/>
          <p:nvPr/>
        </p:nvSpPr>
        <p:spPr>
          <a:xfrm>
            <a:off x="1409573" y="3199805"/>
            <a:ext cx="5238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10⁶</a:t>
            </a:r>
            <a:endParaRPr lang="en-US" sz="1100"/>
          </a:p>
        </p:txBody>
      </p:sp>
      <p:sp>
        <p:nvSpPr>
          <p:cNvPr id="11" name="Freeform 11"/>
          <p:cNvSpPr/>
          <p:nvPr/>
        </p:nvSpPr>
        <p:spPr>
          <a:xfrm>
            <a:off x="380956" y="3695011"/>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447580" y="3809261"/>
            <a:ext cx="857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GFLOPS</a:t>
            </a:r>
            <a:endParaRPr lang="en-US" sz="1100"/>
          </a:p>
        </p:txBody>
      </p:sp>
      <p:sp>
        <p:nvSpPr>
          <p:cNvPr id="13" name="AutoShape 13"/>
          <p:cNvSpPr/>
          <p:nvPr/>
        </p:nvSpPr>
        <p:spPr>
          <a:xfrm>
            <a:off x="1409573" y="3809261"/>
            <a:ext cx="5238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10⁹</a:t>
            </a:r>
            <a:endParaRPr lang="en-US" sz="1100"/>
          </a:p>
        </p:txBody>
      </p:sp>
      <p:sp>
        <p:nvSpPr>
          <p:cNvPr id="14" name="Freeform 14"/>
          <p:cNvSpPr/>
          <p:nvPr/>
        </p:nvSpPr>
        <p:spPr>
          <a:xfrm>
            <a:off x="380956" y="4304465"/>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447580" y="4418714"/>
            <a:ext cx="857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TFLOPS</a:t>
            </a:r>
            <a:endParaRPr lang="en-US" sz="1100"/>
          </a:p>
        </p:txBody>
      </p:sp>
      <p:sp>
        <p:nvSpPr>
          <p:cNvPr id="16" name="AutoShape 16"/>
          <p:cNvSpPr/>
          <p:nvPr/>
        </p:nvSpPr>
        <p:spPr>
          <a:xfrm>
            <a:off x="1409573" y="4418714"/>
            <a:ext cx="6000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10¹²</a:t>
            </a:r>
            <a:endParaRPr lang="en-US" sz="1100"/>
          </a:p>
        </p:txBody>
      </p:sp>
      <p:sp>
        <p:nvSpPr>
          <p:cNvPr id="17" name="Freeform 17"/>
          <p:cNvSpPr/>
          <p:nvPr/>
        </p:nvSpPr>
        <p:spPr>
          <a:xfrm>
            <a:off x="380956" y="4913921"/>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447580" y="5028170"/>
            <a:ext cx="857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PFLOPS</a:t>
            </a:r>
            <a:endParaRPr lang="en-US" sz="1100"/>
          </a:p>
        </p:txBody>
      </p:sp>
      <p:sp>
        <p:nvSpPr>
          <p:cNvPr id="19" name="AutoShape 19"/>
          <p:cNvSpPr/>
          <p:nvPr/>
        </p:nvSpPr>
        <p:spPr>
          <a:xfrm>
            <a:off x="1409573" y="5028170"/>
            <a:ext cx="6000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10¹⁵</a:t>
            </a:r>
            <a:endParaRPr lang="en-US" sz="1100"/>
          </a:p>
        </p:txBody>
      </p:sp>
      <p:sp>
        <p:nvSpPr>
          <p:cNvPr id="20" name="Freeform 20"/>
          <p:cNvSpPr/>
          <p:nvPr/>
        </p:nvSpPr>
        <p:spPr>
          <a:xfrm>
            <a:off x="380956" y="5561507"/>
            <a:ext cx="5562600" cy="647700"/>
          </a:xfrm>
          <a:custGeom>
            <a:avLst/>
            <a:gdLst/>
            <a:ahLst/>
            <a:cxnLst/>
            <a:rect l="l" t="t" r="r" b="b"/>
            <a:pathLst>
              <a:path w="5562600" h="647700">
                <a:moveTo>
                  <a:pt x="114300" y="0"/>
                </a:moveTo>
                <a:lnTo>
                  <a:pt x="5448300" y="0"/>
                </a:lnTo>
                <a:cubicBezTo>
                  <a:pt x="5511427" y="0"/>
                  <a:pt x="5562600" y="51173"/>
                  <a:pt x="5562600" y="114300"/>
                </a:cubicBezTo>
                <a:lnTo>
                  <a:pt x="5562600" y="533400"/>
                </a:lnTo>
                <a:cubicBezTo>
                  <a:pt x="5562600" y="596527"/>
                  <a:pt x="5511427" y="647700"/>
                  <a:pt x="5448300" y="647700"/>
                </a:cubicBezTo>
                <a:lnTo>
                  <a:pt x="114300" y="647700"/>
                </a:lnTo>
                <a:cubicBezTo>
                  <a:pt x="51217" y="647700"/>
                  <a:pt x="0" y="596483"/>
                  <a:pt x="0" y="533400"/>
                </a:cubicBezTo>
                <a:lnTo>
                  <a:pt x="0" y="114300"/>
                </a:lnTo>
                <a:cubicBezTo>
                  <a:pt x="0" y="51217"/>
                  <a:pt x="51217" y="0"/>
                  <a:pt x="1143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504575" y="5751949"/>
            <a:ext cx="5410367"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FLOPS is the core metric for measuring compute capacity</a:t>
            </a:r>
            <a:endParaRPr lang="en-US" sz="1100"/>
          </a:p>
        </p:txBody>
      </p:sp>
      <p:sp>
        <p:nvSpPr>
          <p:cNvPr id="22" name="Freeform 22"/>
          <p:cNvSpPr/>
          <p:nvPr/>
        </p:nvSpPr>
        <p:spPr>
          <a:xfrm>
            <a:off x="6248338" y="990485"/>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3" name="Picture 23"/>
          <p:cNvPicPr>
            <a:picLocks noChangeAspect="1"/>
          </p:cNvPicPr>
          <p:nvPr/>
        </p:nvPicPr>
        <p:blipFill>
          <a:blip r:embed="rId1"/>
          <a:srcRect l="21" r="21"/>
          <a:stretch>
            <a:fillRect/>
          </a:stretch>
        </p:blipFill>
        <p:spPr>
          <a:xfrm>
            <a:off x="6400720" y="1400835"/>
            <a:ext cx="5257800" cy="4019550"/>
          </a:xfrm>
          <a:prstGeom prst="roundRect">
            <a:avLst>
              <a:gd name="adj" fmla="val 0"/>
            </a:avLst>
          </a:prstGeom>
          <a:ln w="12700">
            <a:noFill/>
            <a:prstDash val="solid"/>
          </a:ln>
        </p:spPr>
      </p:pic>
      <p:sp>
        <p:nvSpPr>
          <p:cNvPr id="24" name="AutoShape 24"/>
          <p:cNvSpPr/>
          <p:nvPr/>
        </p:nvSpPr>
        <p:spPr>
          <a:xfrm>
            <a:off x="6210238" y="5905367"/>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Image source: The FPS Review - GPU Performance Growth</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6213" y="599243"/>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FLOPS Calculation Example</a:t>
            </a:r>
            <a:endParaRPr lang="en-US" sz="1100"/>
          </a:p>
        </p:txBody>
      </p:sp>
      <p:sp>
        <p:nvSpPr>
          <p:cNvPr id="3" name="AutoShape 3"/>
          <p:cNvSpPr/>
          <p:nvPr/>
        </p:nvSpPr>
        <p:spPr>
          <a:xfrm>
            <a:off x="380956" y="1189787"/>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Assumed CPU Specs</a:t>
            </a:r>
            <a:endParaRPr lang="en-US" sz="1100"/>
          </a:p>
        </p:txBody>
      </p:sp>
      <p:sp>
        <p:nvSpPr>
          <p:cNvPr id="4" name="Freeform 4"/>
          <p:cNvSpPr/>
          <p:nvPr/>
        </p:nvSpPr>
        <p:spPr>
          <a:xfrm>
            <a:off x="380956" y="1652712"/>
            <a:ext cx="5562600" cy="876300"/>
          </a:xfrm>
          <a:custGeom>
            <a:avLst/>
            <a:gdLst/>
            <a:ahLst/>
            <a:cxnLst/>
            <a:rect l="l" t="t" r="r" b="b"/>
            <a:pathLst>
              <a:path w="5562600" h="876300">
                <a:moveTo>
                  <a:pt x="76203" y="0"/>
                </a:moveTo>
                <a:lnTo>
                  <a:pt x="5486397" y="0"/>
                </a:lnTo>
                <a:cubicBezTo>
                  <a:pt x="5528483" y="0"/>
                  <a:pt x="5562600" y="34117"/>
                  <a:pt x="5562600" y="76203"/>
                </a:cubicBezTo>
                <a:lnTo>
                  <a:pt x="5562600" y="800097"/>
                </a:lnTo>
                <a:cubicBezTo>
                  <a:pt x="5562600" y="842183"/>
                  <a:pt x="5528483" y="876300"/>
                  <a:pt x="5486397" y="876300"/>
                </a:cubicBezTo>
                <a:lnTo>
                  <a:pt x="76203" y="876300"/>
                </a:lnTo>
                <a:cubicBezTo>
                  <a:pt x="34117" y="876300"/>
                  <a:pt x="0" y="842183"/>
                  <a:pt x="0" y="8000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561913" y="1976506"/>
            <a:ext cx="228600" cy="228600"/>
          </a:xfrm>
          <a:custGeom>
            <a:avLst/>
            <a:gdLst/>
            <a:ahLst/>
            <a:cxnLst/>
            <a:rect l="l" t="t" r="r" b="b"/>
            <a:pathLst>
              <a:path w="228600" h="228600">
                <a:moveTo>
                  <a:pt x="78581" y="10716"/>
                </a:moveTo>
                <a:cubicBezTo>
                  <a:pt x="78581" y="4776"/>
                  <a:pt x="73804" y="0"/>
                  <a:pt x="67866" y="0"/>
                </a:cubicBezTo>
                <a:cubicBezTo>
                  <a:pt x="61926" y="0"/>
                  <a:pt x="57150" y="4776"/>
                  <a:pt x="57150" y="10716"/>
                </a:cubicBezTo>
                <a:lnTo>
                  <a:pt x="57150" y="28575"/>
                </a:lnTo>
                <a:cubicBezTo>
                  <a:pt x="41389" y="28575"/>
                  <a:pt x="28575" y="41389"/>
                  <a:pt x="28575" y="57150"/>
                </a:cubicBezTo>
                <a:lnTo>
                  <a:pt x="10716" y="57150"/>
                </a:lnTo>
                <a:cubicBezTo>
                  <a:pt x="4776" y="57150"/>
                  <a:pt x="0" y="61926"/>
                  <a:pt x="0" y="67866"/>
                </a:cubicBezTo>
                <a:cubicBezTo>
                  <a:pt x="0" y="73804"/>
                  <a:pt x="4776" y="78581"/>
                  <a:pt x="10716" y="78581"/>
                </a:cubicBezTo>
                <a:lnTo>
                  <a:pt x="28575" y="78581"/>
                </a:lnTo>
                <a:lnTo>
                  <a:pt x="28575" y="103584"/>
                </a:lnTo>
                <a:lnTo>
                  <a:pt x="10716" y="103584"/>
                </a:lnTo>
                <a:cubicBezTo>
                  <a:pt x="4776" y="103584"/>
                  <a:pt x="0" y="108361"/>
                  <a:pt x="0" y="114300"/>
                </a:cubicBezTo>
                <a:cubicBezTo>
                  <a:pt x="0" y="120239"/>
                  <a:pt x="4776" y="125016"/>
                  <a:pt x="10716" y="125016"/>
                </a:cubicBezTo>
                <a:lnTo>
                  <a:pt x="28575" y="125016"/>
                </a:lnTo>
                <a:lnTo>
                  <a:pt x="28575" y="150019"/>
                </a:lnTo>
                <a:lnTo>
                  <a:pt x="10716" y="150019"/>
                </a:lnTo>
                <a:cubicBezTo>
                  <a:pt x="4776" y="150019"/>
                  <a:pt x="0" y="154796"/>
                  <a:pt x="0" y="160734"/>
                </a:cubicBezTo>
                <a:cubicBezTo>
                  <a:pt x="0" y="166674"/>
                  <a:pt x="4776" y="171450"/>
                  <a:pt x="10716" y="171450"/>
                </a:cubicBezTo>
                <a:lnTo>
                  <a:pt x="28575" y="171450"/>
                </a:lnTo>
                <a:cubicBezTo>
                  <a:pt x="28575" y="187211"/>
                  <a:pt x="41389" y="200025"/>
                  <a:pt x="57150" y="200025"/>
                </a:cubicBezTo>
                <a:lnTo>
                  <a:pt x="57150" y="217884"/>
                </a:lnTo>
                <a:cubicBezTo>
                  <a:pt x="57150" y="223824"/>
                  <a:pt x="61926" y="228600"/>
                  <a:pt x="67866" y="228600"/>
                </a:cubicBezTo>
                <a:cubicBezTo>
                  <a:pt x="73804" y="228600"/>
                  <a:pt x="78581" y="223824"/>
                  <a:pt x="78581" y="217884"/>
                </a:cubicBezTo>
                <a:lnTo>
                  <a:pt x="78581" y="200025"/>
                </a:lnTo>
                <a:lnTo>
                  <a:pt x="103584" y="200025"/>
                </a:lnTo>
                <a:lnTo>
                  <a:pt x="103584" y="217884"/>
                </a:lnTo>
                <a:cubicBezTo>
                  <a:pt x="103584" y="223824"/>
                  <a:pt x="108361" y="228600"/>
                  <a:pt x="114300" y="228600"/>
                </a:cubicBezTo>
                <a:cubicBezTo>
                  <a:pt x="120239" y="228600"/>
                  <a:pt x="125016" y="223824"/>
                  <a:pt x="125016" y="217884"/>
                </a:cubicBezTo>
                <a:lnTo>
                  <a:pt x="125016" y="200025"/>
                </a:lnTo>
                <a:lnTo>
                  <a:pt x="150019" y="200025"/>
                </a:lnTo>
                <a:lnTo>
                  <a:pt x="150019" y="217884"/>
                </a:lnTo>
                <a:cubicBezTo>
                  <a:pt x="150019" y="223824"/>
                  <a:pt x="154796" y="228600"/>
                  <a:pt x="160734" y="228600"/>
                </a:cubicBezTo>
                <a:cubicBezTo>
                  <a:pt x="166674" y="228600"/>
                  <a:pt x="171450" y="223824"/>
                  <a:pt x="171450" y="217884"/>
                </a:cubicBezTo>
                <a:lnTo>
                  <a:pt x="171450" y="200025"/>
                </a:lnTo>
                <a:cubicBezTo>
                  <a:pt x="187211" y="200025"/>
                  <a:pt x="200025" y="187211"/>
                  <a:pt x="200025" y="171450"/>
                </a:cubicBezTo>
                <a:lnTo>
                  <a:pt x="217884" y="171450"/>
                </a:lnTo>
                <a:cubicBezTo>
                  <a:pt x="223824" y="171450"/>
                  <a:pt x="228600" y="166674"/>
                  <a:pt x="228600" y="160734"/>
                </a:cubicBezTo>
                <a:cubicBezTo>
                  <a:pt x="228600" y="154796"/>
                  <a:pt x="223824" y="150019"/>
                  <a:pt x="217884" y="150019"/>
                </a:cubicBezTo>
                <a:lnTo>
                  <a:pt x="200025" y="150019"/>
                </a:lnTo>
                <a:lnTo>
                  <a:pt x="200025" y="125016"/>
                </a:lnTo>
                <a:lnTo>
                  <a:pt x="217884" y="125016"/>
                </a:lnTo>
                <a:cubicBezTo>
                  <a:pt x="223824" y="125016"/>
                  <a:pt x="228600" y="120239"/>
                  <a:pt x="228600" y="114300"/>
                </a:cubicBezTo>
                <a:cubicBezTo>
                  <a:pt x="228600" y="108361"/>
                  <a:pt x="223824" y="103584"/>
                  <a:pt x="217884" y="103584"/>
                </a:cubicBezTo>
                <a:lnTo>
                  <a:pt x="200025" y="103584"/>
                </a:lnTo>
                <a:lnTo>
                  <a:pt x="200025" y="78581"/>
                </a:lnTo>
                <a:lnTo>
                  <a:pt x="217884" y="78581"/>
                </a:lnTo>
                <a:cubicBezTo>
                  <a:pt x="223824" y="78581"/>
                  <a:pt x="228600" y="73804"/>
                  <a:pt x="228600" y="67866"/>
                </a:cubicBezTo>
                <a:cubicBezTo>
                  <a:pt x="228600" y="61926"/>
                  <a:pt x="223824" y="57150"/>
                  <a:pt x="217884" y="57150"/>
                </a:cubicBezTo>
                <a:lnTo>
                  <a:pt x="200025" y="57150"/>
                </a:lnTo>
                <a:cubicBezTo>
                  <a:pt x="200025" y="41389"/>
                  <a:pt x="187211" y="28575"/>
                  <a:pt x="171450" y="28575"/>
                </a:cubicBezTo>
                <a:lnTo>
                  <a:pt x="171450" y="10716"/>
                </a:lnTo>
                <a:cubicBezTo>
                  <a:pt x="171450" y="4776"/>
                  <a:pt x="166674" y="0"/>
                  <a:pt x="160734" y="0"/>
                </a:cubicBezTo>
                <a:cubicBezTo>
                  <a:pt x="154796" y="0"/>
                  <a:pt x="150019" y="4776"/>
                  <a:pt x="150019" y="10716"/>
                </a:cubicBezTo>
                <a:lnTo>
                  <a:pt x="150019" y="28575"/>
                </a:lnTo>
                <a:lnTo>
                  <a:pt x="125016" y="28575"/>
                </a:lnTo>
                <a:lnTo>
                  <a:pt x="125016" y="10716"/>
                </a:lnTo>
                <a:cubicBezTo>
                  <a:pt x="125016" y="4776"/>
                  <a:pt x="120239" y="0"/>
                  <a:pt x="114300" y="0"/>
                </a:cubicBezTo>
                <a:cubicBezTo>
                  <a:pt x="108361" y="0"/>
                  <a:pt x="103584" y="4776"/>
                  <a:pt x="103584" y="10716"/>
                </a:cubicBezTo>
                <a:lnTo>
                  <a:pt x="103584" y="28575"/>
                </a:lnTo>
                <a:lnTo>
                  <a:pt x="78581" y="28575"/>
                </a:lnTo>
                <a:lnTo>
                  <a:pt x="78581" y="10716"/>
                </a:lnTo>
                <a:close/>
                <a:moveTo>
                  <a:pt x="71437" y="57150"/>
                </a:moveTo>
                <a:lnTo>
                  <a:pt x="157163" y="57150"/>
                </a:lnTo>
                <a:cubicBezTo>
                  <a:pt x="165064" y="57150"/>
                  <a:pt x="171450" y="63536"/>
                  <a:pt x="171450" y="71438"/>
                </a:cubicBezTo>
                <a:lnTo>
                  <a:pt x="171450" y="157162"/>
                </a:lnTo>
                <a:cubicBezTo>
                  <a:pt x="171450" y="165064"/>
                  <a:pt x="165064" y="171450"/>
                  <a:pt x="157163" y="171450"/>
                </a:cubicBezTo>
                <a:lnTo>
                  <a:pt x="71437" y="171450"/>
                </a:lnTo>
                <a:cubicBezTo>
                  <a:pt x="63536" y="171450"/>
                  <a:pt x="57150" y="165064"/>
                  <a:pt x="57150" y="157162"/>
                </a:cubicBezTo>
                <a:lnTo>
                  <a:pt x="57150" y="71438"/>
                </a:lnTo>
                <a:cubicBezTo>
                  <a:pt x="57150" y="63536"/>
                  <a:pt x="63536" y="57150"/>
                  <a:pt x="71437" y="57150"/>
                </a:cubicBezTo>
                <a:close/>
                <a:moveTo>
                  <a:pt x="78581" y="78581"/>
                </a:moveTo>
                <a:lnTo>
                  <a:pt x="78581" y="150019"/>
                </a:lnTo>
                <a:lnTo>
                  <a:pt x="150019" y="150019"/>
                </a:lnTo>
                <a:lnTo>
                  <a:pt x="150019" y="78581"/>
                </a:lnTo>
                <a:lnTo>
                  <a:pt x="78581" y="78581"/>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971455" y="1805093"/>
            <a:ext cx="1531422"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Clock Frequency</a:t>
            </a:r>
            <a:endParaRPr lang="en-US" sz="1100"/>
          </a:p>
        </p:txBody>
      </p:sp>
      <p:sp>
        <p:nvSpPr>
          <p:cNvPr id="7" name="AutoShape 7"/>
          <p:cNvSpPr/>
          <p:nvPr/>
        </p:nvSpPr>
        <p:spPr>
          <a:xfrm>
            <a:off x="971455" y="2071800"/>
            <a:ext cx="8001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3 GHz</a:t>
            </a:r>
            <a:endParaRPr lang="en-US" sz="1100"/>
          </a:p>
        </p:txBody>
      </p:sp>
      <p:sp>
        <p:nvSpPr>
          <p:cNvPr id="8" name="Freeform 8"/>
          <p:cNvSpPr/>
          <p:nvPr/>
        </p:nvSpPr>
        <p:spPr>
          <a:xfrm>
            <a:off x="380956" y="2681256"/>
            <a:ext cx="5562600" cy="876300"/>
          </a:xfrm>
          <a:custGeom>
            <a:avLst/>
            <a:gdLst/>
            <a:ahLst/>
            <a:cxnLst/>
            <a:rect l="l" t="t" r="r" b="b"/>
            <a:pathLst>
              <a:path w="5562600" h="876300">
                <a:moveTo>
                  <a:pt x="76203" y="0"/>
                </a:moveTo>
                <a:lnTo>
                  <a:pt x="5486397" y="0"/>
                </a:lnTo>
                <a:cubicBezTo>
                  <a:pt x="5528483" y="0"/>
                  <a:pt x="5562600" y="34117"/>
                  <a:pt x="5562600" y="76203"/>
                </a:cubicBezTo>
                <a:lnTo>
                  <a:pt x="5562600" y="800097"/>
                </a:lnTo>
                <a:cubicBezTo>
                  <a:pt x="5562600" y="842183"/>
                  <a:pt x="5528483" y="876300"/>
                  <a:pt x="5486397" y="876300"/>
                </a:cubicBezTo>
                <a:lnTo>
                  <a:pt x="76203" y="876300"/>
                </a:lnTo>
                <a:cubicBezTo>
                  <a:pt x="34117" y="876300"/>
                  <a:pt x="0" y="842183"/>
                  <a:pt x="0" y="8000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540348" y="2983304"/>
            <a:ext cx="272132" cy="272132"/>
          </a:xfrm>
          <a:custGeom>
            <a:avLst/>
            <a:gdLst/>
            <a:ahLst/>
            <a:cxnLst/>
            <a:rect l="l" t="t" r="r" b="b"/>
            <a:pathLst>
              <a:path w="272132" h="272132">
                <a:moveTo>
                  <a:pt x="178683" y="115729"/>
                </a:moveTo>
                <a:cubicBezTo>
                  <a:pt x="184130" y="114256"/>
                  <a:pt x="189845" y="116845"/>
                  <a:pt x="192301" y="121890"/>
                </a:cubicBezTo>
                <a:lnTo>
                  <a:pt x="200605" y="138678"/>
                </a:lnTo>
                <a:cubicBezTo>
                  <a:pt x="205204" y="139303"/>
                  <a:pt x="209714" y="140552"/>
                  <a:pt x="213955" y="142295"/>
                </a:cubicBezTo>
                <a:lnTo>
                  <a:pt x="229582" y="131892"/>
                </a:lnTo>
                <a:cubicBezTo>
                  <a:pt x="234270" y="128766"/>
                  <a:pt x="240476" y="129390"/>
                  <a:pt x="244450" y="133366"/>
                </a:cubicBezTo>
                <a:lnTo>
                  <a:pt x="253022" y="141938"/>
                </a:lnTo>
                <a:cubicBezTo>
                  <a:pt x="256996" y="145911"/>
                  <a:pt x="257621" y="152162"/>
                  <a:pt x="254496" y="156806"/>
                </a:cubicBezTo>
                <a:lnTo>
                  <a:pt x="244093" y="172388"/>
                </a:lnTo>
                <a:cubicBezTo>
                  <a:pt x="244941" y="174486"/>
                  <a:pt x="245700" y="176674"/>
                  <a:pt x="246325" y="178951"/>
                </a:cubicBezTo>
                <a:cubicBezTo>
                  <a:pt x="246951" y="181228"/>
                  <a:pt x="247352" y="183461"/>
                  <a:pt x="247664" y="185738"/>
                </a:cubicBezTo>
                <a:lnTo>
                  <a:pt x="264497" y="194042"/>
                </a:lnTo>
                <a:cubicBezTo>
                  <a:pt x="269541" y="196543"/>
                  <a:pt x="272132" y="202258"/>
                  <a:pt x="270659" y="207661"/>
                </a:cubicBezTo>
                <a:lnTo>
                  <a:pt x="267534" y="219359"/>
                </a:lnTo>
                <a:cubicBezTo>
                  <a:pt x="266060" y="224760"/>
                  <a:pt x="261015" y="228423"/>
                  <a:pt x="255389" y="228064"/>
                </a:cubicBezTo>
                <a:lnTo>
                  <a:pt x="236637" y="226859"/>
                </a:lnTo>
                <a:cubicBezTo>
                  <a:pt x="233824" y="230475"/>
                  <a:pt x="230564" y="233824"/>
                  <a:pt x="226859" y="236683"/>
                </a:cubicBezTo>
                <a:lnTo>
                  <a:pt x="228064" y="255388"/>
                </a:lnTo>
                <a:cubicBezTo>
                  <a:pt x="228421" y="261015"/>
                  <a:pt x="224760" y="266105"/>
                  <a:pt x="219359" y="267533"/>
                </a:cubicBezTo>
                <a:lnTo>
                  <a:pt x="207659" y="270659"/>
                </a:lnTo>
                <a:cubicBezTo>
                  <a:pt x="202214" y="272132"/>
                  <a:pt x="196542" y="269543"/>
                  <a:pt x="194042" y="264498"/>
                </a:cubicBezTo>
                <a:lnTo>
                  <a:pt x="185737" y="247710"/>
                </a:lnTo>
                <a:cubicBezTo>
                  <a:pt x="181139" y="247085"/>
                  <a:pt x="176629" y="245836"/>
                  <a:pt x="172386" y="244093"/>
                </a:cubicBezTo>
                <a:lnTo>
                  <a:pt x="156760" y="254496"/>
                </a:lnTo>
                <a:cubicBezTo>
                  <a:pt x="152071" y="257622"/>
                  <a:pt x="145866" y="256998"/>
                  <a:pt x="141892" y="253022"/>
                </a:cubicBezTo>
                <a:lnTo>
                  <a:pt x="133320" y="244450"/>
                </a:lnTo>
                <a:cubicBezTo>
                  <a:pt x="129346" y="240477"/>
                  <a:pt x="128721" y="234271"/>
                  <a:pt x="131847" y="229582"/>
                </a:cubicBezTo>
                <a:lnTo>
                  <a:pt x="142251" y="213956"/>
                </a:lnTo>
                <a:cubicBezTo>
                  <a:pt x="141401" y="211857"/>
                  <a:pt x="140641" y="209668"/>
                  <a:pt x="140017" y="207393"/>
                </a:cubicBezTo>
                <a:cubicBezTo>
                  <a:pt x="139392" y="205115"/>
                  <a:pt x="138990" y="202838"/>
                  <a:pt x="138678" y="200606"/>
                </a:cubicBezTo>
                <a:lnTo>
                  <a:pt x="121845" y="192301"/>
                </a:lnTo>
                <a:cubicBezTo>
                  <a:pt x="116800" y="189801"/>
                  <a:pt x="114255" y="184086"/>
                  <a:pt x="115683" y="178683"/>
                </a:cubicBezTo>
                <a:lnTo>
                  <a:pt x="118809" y="166985"/>
                </a:lnTo>
                <a:cubicBezTo>
                  <a:pt x="120283" y="161582"/>
                  <a:pt x="125328" y="157922"/>
                  <a:pt x="130954" y="158279"/>
                </a:cubicBezTo>
                <a:lnTo>
                  <a:pt x="149661" y="159484"/>
                </a:lnTo>
                <a:cubicBezTo>
                  <a:pt x="152474" y="155867"/>
                  <a:pt x="155734" y="152518"/>
                  <a:pt x="159439" y="149662"/>
                </a:cubicBezTo>
                <a:lnTo>
                  <a:pt x="158234" y="131000"/>
                </a:lnTo>
                <a:cubicBezTo>
                  <a:pt x="157877" y="125373"/>
                  <a:pt x="161538" y="120283"/>
                  <a:pt x="166941" y="118855"/>
                </a:cubicBezTo>
                <a:lnTo>
                  <a:pt x="178639" y="115729"/>
                </a:lnTo>
                <a:close/>
                <a:moveTo>
                  <a:pt x="193194" y="173548"/>
                </a:moveTo>
                <a:cubicBezTo>
                  <a:pt x="182351" y="173561"/>
                  <a:pt x="173559" y="182374"/>
                  <a:pt x="173571" y="193216"/>
                </a:cubicBezTo>
                <a:cubicBezTo>
                  <a:pt x="173583" y="204059"/>
                  <a:pt x="182397" y="212852"/>
                  <a:pt x="193239" y="212840"/>
                </a:cubicBezTo>
                <a:cubicBezTo>
                  <a:pt x="204081" y="212827"/>
                  <a:pt x="212874" y="204014"/>
                  <a:pt x="212861" y="193172"/>
                </a:cubicBezTo>
                <a:cubicBezTo>
                  <a:pt x="212849" y="182329"/>
                  <a:pt x="204036" y="173536"/>
                  <a:pt x="193194" y="173548"/>
                </a:cubicBezTo>
                <a:close/>
                <a:moveTo>
                  <a:pt x="93404" y="1429"/>
                </a:moveTo>
                <a:lnTo>
                  <a:pt x="105102" y="4555"/>
                </a:lnTo>
                <a:cubicBezTo>
                  <a:pt x="110504" y="6028"/>
                  <a:pt x="114166" y="11118"/>
                  <a:pt x="113809" y="16700"/>
                </a:cubicBezTo>
                <a:lnTo>
                  <a:pt x="112602" y="35362"/>
                </a:lnTo>
                <a:cubicBezTo>
                  <a:pt x="116310" y="38218"/>
                  <a:pt x="119568" y="41523"/>
                  <a:pt x="122381" y="45184"/>
                </a:cubicBezTo>
                <a:lnTo>
                  <a:pt x="141134" y="43979"/>
                </a:lnTo>
                <a:cubicBezTo>
                  <a:pt x="146715" y="43622"/>
                  <a:pt x="151804" y="47282"/>
                  <a:pt x="153278" y="52685"/>
                </a:cubicBezTo>
                <a:lnTo>
                  <a:pt x="156403" y="64383"/>
                </a:lnTo>
                <a:cubicBezTo>
                  <a:pt x="157832" y="69786"/>
                  <a:pt x="155287" y="75501"/>
                  <a:pt x="150241" y="78001"/>
                </a:cubicBezTo>
                <a:lnTo>
                  <a:pt x="133409" y="86306"/>
                </a:lnTo>
                <a:cubicBezTo>
                  <a:pt x="133096" y="88583"/>
                  <a:pt x="132651" y="90860"/>
                  <a:pt x="132070" y="93093"/>
                </a:cubicBezTo>
                <a:cubicBezTo>
                  <a:pt x="131489" y="95325"/>
                  <a:pt x="130686" y="97557"/>
                  <a:pt x="129838" y="99656"/>
                </a:cubicBezTo>
                <a:lnTo>
                  <a:pt x="140241" y="115282"/>
                </a:lnTo>
                <a:cubicBezTo>
                  <a:pt x="143366" y="119971"/>
                  <a:pt x="142741" y="126177"/>
                  <a:pt x="138767" y="130150"/>
                </a:cubicBezTo>
                <a:lnTo>
                  <a:pt x="130194" y="138722"/>
                </a:lnTo>
                <a:cubicBezTo>
                  <a:pt x="126221" y="142698"/>
                  <a:pt x="120015" y="143322"/>
                  <a:pt x="115327" y="140196"/>
                </a:cubicBezTo>
                <a:lnTo>
                  <a:pt x="99700" y="129793"/>
                </a:lnTo>
                <a:cubicBezTo>
                  <a:pt x="95457" y="131536"/>
                  <a:pt x="90949" y="132785"/>
                  <a:pt x="86350" y="133410"/>
                </a:cubicBezTo>
                <a:lnTo>
                  <a:pt x="78044" y="150198"/>
                </a:lnTo>
                <a:cubicBezTo>
                  <a:pt x="75545" y="155243"/>
                  <a:pt x="69830" y="157788"/>
                  <a:pt x="64428" y="156359"/>
                </a:cubicBezTo>
                <a:lnTo>
                  <a:pt x="52730" y="153233"/>
                </a:lnTo>
                <a:cubicBezTo>
                  <a:pt x="47282" y="151760"/>
                  <a:pt x="43666" y="146670"/>
                  <a:pt x="44022" y="141088"/>
                </a:cubicBezTo>
                <a:lnTo>
                  <a:pt x="45229" y="122383"/>
                </a:lnTo>
                <a:cubicBezTo>
                  <a:pt x="41523" y="119524"/>
                  <a:pt x="38264" y="116221"/>
                  <a:pt x="35451" y="112559"/>
                </a:cubicBezTo>
                <a:lnTo>
                  <a:pt x="16698" y="113764"/>
                </a:lnTo>
                <a:cubicBezTo>
                  <a:pt x="11117" y="114123"/>
                  <a:pt x="6027" y="110460"/>
                  <a:pt x="4555" y="105059"/>
                </a:cubicBezTo>
                <a:lnTo>
                  <a:pt x="1429" y="93361"/>
                </a:lnTo>
                <a:cubicBezTo>
                  <a:pt x="0" y="87958"/>
                  <a:pt x="2545" y="82243"/>
                  <a:pt x="7590" y="79742"/>
                </a:cubicBezTo>
                <a:lnTo>
                  <a:pt x="24422" y="71438"/>
                </a:lnTo>
                <a:cubicBezTo>
                  <a:pt x="24735" y="69161"/>
                  <a:pt x="25182" y="66928"/>
                  <a:pt x="25762" y="64651"/>
                </a:cubicBezTo>
                <a:cubicBezTo>
                  <a:pt x="26387" y="62374"/>
                  <a:pt x="27101" y="60186"/>
                  <a:pt x="27994" y="58088"/>
                </a:cubicBezTo>
                <a:lnTo>
                  <a:pt x="17591" y="42506"/>
                </a:lnTo>
                <a:cubicBezTo>
                  <a:pt x="14466" y="37817"/>
                  <a:pt x="15091" y="31611"/>
                  <a:pt x="19064" y="27638"/>
                </a:cubicBezTo>
                <a:lnTo>
                  <a:pt x="27637" y="19066"/>
                </a:lnTo>
                <a:cubicBezTo>
                  <a:pt x="31611" y="15090"/>
                  <a:pt x="37817" y="14466"/>
                  <a:pt x="42505" y="17592"/>
                </a:cubicBezTo>
                <a:lnTo>
                  <a:pt x="58132" y="27995"/>
                </a:lnTo>
                <a:cubicBezTo>
                  <a:pt x="62374" y="26252"/>
                  <a:pt x="66882" y="25003"/>
                  <a:pt x="71482" y="24378"/>
                </a:cubicBezTo>
                <a:lnTo>
                  <a:pt x="79787" y="7590"/>
                </a:lnTo>
                <a:cubicBezTo>
                  <a:pt x="82288" y="2545"/>
                  <a:pt x="87957" y="0"/>
                  <a:pt x="93404" y="1429"/>
                </a:cubicBezTo>
                <a:close/>
                <a:moveTo>
                  <a:pt x="78894" y="59248"/>
                </a:moveTo>
                <a:cubicBezTo>
                  <a:pt x="68051" y="59248"/>
                  <a:pt x="59248" y="68051"/>
                  <a:pt x="59248" y="78894"/>
                </a:cubicBezTo>
                <a:cubicBezTo>
                  <a:pt x="59248" y="89737"/>
                  <a:pt x="68051" y="98540"/>
                  <a:pt x="78894" y="98540"/>
                </a:cubicBezTo>
                <a:cubicBezTo>
                  <a:pt x="89736" y="98540"/>
                  <a:pt x="98538" y="89737"/>
                  <a:pt x="98538" y="78894"/>
                </a:cubicBezTo>
                <a:cubicBezTo>
                  <a:pt x="98538" y="68051"/>
                  <a:pt x="89736" y="59248"/>
                  <a:pt x="78894" y="59248"/>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971455" y="2833637"/>
            <a:ext cx="1578314"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FLOPs per Cycle</a:t>
            </a:r>
            <a:endParaRPr lang="en-US" sz="1100"/>
          </a:p>
        </p:txBody>
      </p:sp>
      <p:sp>
        <p:nvSpPr>
          <p:cNvPr id="11" name="AutoShape 11"/>
          <p:cNvSpPr/>
          <p:nvPr/>
        </p:nvSpPr>
        <p:spPr>
          <a:xfrm>
            <a:off x="971455" y="3100344"/>
            <a:ext cx="10477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8 FLOP</a:t>
            </a:r>
            <a:endParaRPr lang="en-US" sz="1100"/>
          </a:p>
        </p:txBody>
      </p:sp>
      <p:sp>
        <p:nvSpPr>
          <p:cNvPr id="12" name="AutoShape 12"/>
          <p:cNvSpPr/>
          <p:nvPr/>
        </p:nvSpPr>
        <p:spPr>
          <a:xfrm>
            <a:off x="380956" y="3657023"/>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Theoretical Performance Calculation</a:t>
            </a:r>
            <a:endParaRPr lang="en-US" sz="1100"/>
          </a:p>
        </p:txBody>
      </p:sp>
      <p:sp>
        <p:nvSpPr>
          <p:cNvPr id="13" name="Freeform 13"/>
          <p:cNvSpPr/>
          <p:nvPr/>
        </p:nvSpPr>
        <p:spPr>
          <a:xfrm>
            <a:off x="399911" y="4114098"/>
            <a:ext cx="5543455" cy="1562100"/>
          </a:xfrm>
          <a:custGeom>
            <a:avLst/>
            <a:gdLst/>
            <a:ahLst/>
            <a:cxnLst/>
            <a:rect l="l" t="t" r="r" b="b"/>
            <a:pathLst>
              <a:path w="5543455" h="1562100">
                <a:moveTo>
                  <a:pt x="37909" y="0"/>
                </a:moveTo>
                <a:lnTo>
                  <a:pt x="5429156" y="0"/>
                </a:lnTo>
                <a:cubicBezTo>
                  <a:pt x="5492281" y="0"/>
                  <a:pt x="5543455" y="51173"/>
                  <a:pt x="5543455" y="114299"/>
                </a:cubicBezTo>
                <a:lnTo>
                  <a:pt x="5543455" y="1447801"/>
                </a:lnTo>
                <a:cubicBezTo>
                  <a:pt x="5543455" y="1510927"/>
                  <a:pt x="5492281" y="1562100"/>
                  <a:pt x="5429156" y="1562100"/>
                </a:cubicBezTo>
                <a:lnTo>
                  <a:pt x="37909" y="1562100"/>
                </a:lnTo>
                <a:cubicBezTo>
                  <a:pt x="16974" y="1562100"/>
                  <a:pt x="0" y="1545126"/>
                  <a:pt x="0" y="1524190"/>
                </a:cubicBezTo>
                <a:lnTo>
                  <a:pt x="0" y="37910"/>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399911" y="4114098"/>
            <a:ext cx="37909" cy="1562100"/>
          </a:xfrm>
          <a:custGeom>
            <a:avLst/>
            <a:gdLst/>
            <a:ahLst/>
            <a:cxnLst/>
            <a:rect l="l" t="t" r="r" b="b"/>
            <a:pathLst>
              <a:path w="37909" h="1562100">
                <a:moveTo>
                  <a:pt x="37909" y="0"/>
                </a:moveTo>
                <a:lnTo>
                  <a:pt x="37909" y="0"/>
                </a:lnTo>
                <a:lnTo>
                  <a:pt x="37909" y="1562100"/>
                </a:lnTo>
                <a:lnTo>
                  <a:pt x="37909" y="1562100"/>
                </a:lnTo>
                <a:cubicBezTo>
                  <a:pt x="16974" y="1562100"/>
                  <a:pt x="0" y="1545126"/>
                  <a:pt x="0" y="15241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647439" y="4342670"/>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FLOPS = Frequency × FLOPs per Cycle</a:t>
            </a:r>
            <a:endParaRPr lang="en-US" sz="1100"/>
          </a:p>
        </p:txBody>
      </p:sp>
      <p:sp>
        <p:nvSpPr>
          <p:cNvPr id="16" name="AutoShape 16"/>
          <p:cNvSpPr/>
          <p:nvPr/>
        </p:nvSpPr>
        <p:spPr>
          <a:xfrm>
            <a:off x="647439" y="4723626"/>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3×10⁹ × 8</a:t>
            </a:r>
            <a:endParaRPr lang="en-US" sz="1100"/>
          </a:p>
        </p:txBody>
      </p:sp>
      <p:sp>
        <p:nvSpPr>
          <p:cNvPr id="17" name="AutoShape 17"/>
          <p:cNvSpPr/>
          <p:nvPr/>
        </p:nvSpPr>
        <p:spPr>
          <a:xfrm>
            <a:off x="647439" y="5104581"/>
            <a:ext cx="52101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24 GFLOPS</a:t>
            </a:r>
            <a:endParaRPr lang="en-US" sz="1100"/>
          </a:p>
        </p:txBody>
      </p:sp>
      <p:sp>
        <p:nvSpPr>
          <p:cNvPr id="18" name="Freeform 18"/>
          <p:cNvSpPr/>
          <p:nvPr/>
        </p:nvSpPr>
        <p:spPr>
          <a:xfrm>
            <a:off x="399911" y="5828361"/>
            <a:ext cx="5543455" cy="571500"/>
          </a:xfrm>
          <a:custGeom>
            <a:avLst/>
            <a:gdLst/>
            <a:ahLst/>
            <a:cxnLst/>
            <a:rect l="l" t="t" r="r" b="b"/>
            <a:pathLst>
              <a:path w="5543455" h="571500">
                <a:moveTo>
                  <a:pt x="37909" y="0"/>
                </a:moveTo>
                <a:lnTo>
                  <a:pt x="5467257" y="0"/>
                </a:lnTo>
                <a:cubicBezTo>
                  <a:pt x="5509340" y="0"/>
                  <a:pt x="5543455" y="34115"/>
                  <a:pt x="5543455" y="76197"/>
                </a:cubicBezTo>
                <a:lnTo>
                  <a:pt x="5543455" y="495303"/>
                </a:lnTo>
                <a:cubicBezTo>
                  <a:pt x="5543455" y="537385"/>
                  <a:pt x="5509340" y="571500"/>
                  <a:pt x="5467257" y="571500"/>
                </a:cubicBezTo>
                <a:lnTo>
                  <a:pt x="37909" y="571500"/>
                </a:lnTo>
                <a:cubicBezTo>
                  <a:pt x="16974" y="571500"/>
                  <a:pt x="0" y="554526"/>
                  <a:pt x="0" y="533591"/>
                </a:cubicBezTo>
                <a:lnTo>
                  <a:pt x="0" y="37909"/>
                </a:lnTo>
                <a:cubicBezTo>
                  <a:pt x="0" y="16988"/>
                  <a:pt x="16988" y="0"/>
                  <a:pt x="37909" y="0"/>
                </a:cubicBezTo>
                <a:close/>
              </a:path>
            </a:pathLst>
          </a:custGeom>
          <a:solidFill>
            <a:srgbClr val="FEFCE8">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399911" y="5828361"/>
            <a:ext cx="37909" cy="571500"/>
          </a:xfrm>
          <a:custGeom>
            <a:avLst/>
            <a:gdLst/>
            <a:ahLst/>
            <a:cxnLst/>
            <a:rect l="l" t="t" r="r" b="b"/>
            <a:pathLst>
              <a:path w="37909" h="571500">
                <a:moveTo>
                  <a:pt x="37909" y="0"/>
                </a:moveTo>
                <a:lnTo>
                  <a:pt x="37909" y="0"/>
                </a:lnTo>
                <a:lnTo>
                  <a:pt x="37909" y="571500"/>
                </a:lnTo>
                <a:lnTo>
                  <a:pt x="37909" y="571500"/>
                </a:lnTo>
                <a:cubicBezTo>
                  <a:pt x="16974" y="571500"/>
                  <a:pt x="0" y="554526"/>
                  <a:pt x="0" y="533591"/>
                </a:cubicBezTo>
                <a:lnTo>
                  <a:pt x="0" y="37909"/>
                </a:lnTo>
                <a:cubicBezTo>
                  <a:pt x="0" y="16988"/>
                  <a:pt x="16988" y="0"/>
                  <a:pt x="37909" y="0"/>
                </a:cubicBezTo>
                <a:close/>
              </a:path>
            </a:pathLst>
          </a:custGeom>
          <a:solidFill>
            <a:srgbClr val="F0B100">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571248" y="5980742"/>
            <a:ext cx="5305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Note:</a:t>
            </a: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This is the theoretical peak; actual performance is typically lower</a:t>
            </a:r>
            <a:endParaRPr lang="en-US" sz="1100"/>
          </a:p>
        </p:txBody>
      </p:sp>
      <p:sp>
        <p:nvSpPr>
          <p:cNvPr id="21" name="Freeform 21"/>
          <p:cNvSpPr/>
          <p:nvPr/>
        </p:nvSpPr>
        <p:spPr>
          <a:xfrm>
            <a:off x="6248338" y="990484"/>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2" name="Picture 22"/>
          <p:cNvPicPr>
            <a:picLocks noChangeAspect="1"/>
          </p:cNvPicPr>
          <p:nvPr/>
        </p:nvPicPr>
        <p:blipFill>
          <a:blip r:embed="rId1"/>
          <a:srcRect l="59" r="58"/>
          <a:stretch>
            <a:fillRect/>
          </a:stretch>
        </p:blipFill>
        <p:spPr>
          <a:xfrm>
            <a:off x="6400720" y="1863830"/>
            <a:ext cx="5257800" cy="3095625"/>
          </a:xfrm>
          <a:prstGeom prst="roundRect">
            <a:avLst>
              <a:gd name="adj" fmla="val 0"/>
            </a:avLst>
          </a:prstGeom>
          <a:ln w="12700">
            <a:noFill/>
            <a:prstDash val="solid"/>
          </a:ln>
        </p:spPr>
      </p:pic>
      <p:sp>
        <p:nvSpPr>
          <p:cNvPr id="23" name="AutoShape 23"/>
          <p:cNvSpPr/>
          <p:nvPr/>
        </p:nvSpPr>
        <p:spPr>
          <a:xfrm>
            <a:off x="6210238" y="5905365"/>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Image source: University of Florida - CPU Pipeline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2406" y="638738"/>
            <a:ext cx="11685701" cy="326644"/>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3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Actual FLOPS vs Theoretical FLOPS</a:t>
            </a:r>
            <a:endParaRPr lang="en-US" sz="1100"/>
          </a:p>
        </p:txBody>
      </p:sp>
      <p:sp>
        <p:nvSpPr>
          <p:cNvPr id="3" name="Freeform 3"/>
          <p:cNvSpPr/>
          <p:nvPr/>
        </p:nvSpPr>
        <p:spPr>
          <a:xfrm>
            <a:off x="334732" y="1162104"/>
            <a:ext cx="5626368" cy="4393286"/>
          </a:xfrm>
          <a:custGeom>
            <a:avLst/>
            <a:gdLst/>
            <a:ahLst/>
            <a:cxnLst/>
            <a:rect l="l" t="t" r="r" b="b"/>
            <a:pathLst>
              <a:path w="5626368" h="4393286">
                <a:moveTo>
                  <a:pt x="98014" y="0"/>
                </a:moveTo>
                <a:lnTo>
                  <a:pt x="5528353" y="0"/>
                </a:lnTo>
                <a:cubicBezTo>
                  <a:pt x="5582484" y="0"/>
                  <a:pt x="5626368" y="43882"/>
                  <a:pt x="5626368" y="98014"/>
                </a:cubicBezTo>
                <a:lnTo>
                  <a:pt x="5626368" y="4295271"/>
                </a:lnTo>
                <a:cubicBezTo>
                  <a:pt x="5626368" y="4349403"/>
                  <a:pt x="5582484" y="4393286"/>
                  <a:pt x="5528353" y="4393286"/>
                </a:cubicBezTo>
                <a:lnTo>
                  <a:pt x="98014" y="4393286"/>
                </a:lnTo>
                <a:cubicBezTo>
                  <a:pt x="43882" y="4393286"/>
                  <a:pt x="0" y="4349403"/>
                  <a:pt x="0" y="4295271"/>
                </a:cubicBezTo>
                <a:lnTo>
                  <a:pt x="0" y="98014"/>
                </a:lnTo>
                <a:cubicBezTo>
                  <a:pt x="0" y="43919"/>
                  <a:pt x="43919" y="0"/>
                  <a:pt x="98014" y="0"/>
                </a:cubicBezTo>
                <a:close/>
              </a:path>
            </a:pathLst>
          </a:custGeom>
          <a:gradFill rotWithShape="1">
            <a:gsLst>
              <a:gs pos="0">
                <a:srgbClr val="F9FAFB">
                  <a:alpha val="100000"/>
                </a:srgbClr>
              </a:gs>
              <a:gs pos="100000">
                <a:srgbClr val="FFFFFF">
                  <a:alpha val="100000"/>
                </a:srgbClr>
              </a:gs>
            </a:gsLst>
            <a:lin ang="2700000"/>
          </a:gradFill>
          <a:ln w="12700">
            <a:solidFill>
              <a:srgbClr val="E5E7EB">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538821" y="1366194"/>
            <a:ext cx="457302" cy="457302"/>
          </a:xfrm>
          <a:custGeom>
            <a:avLst/>
            <a:gdLst/>
            <a:ahLst/>
            <a:cxnLst/>
            <a:rect l="l" t="t" r="r" b="b"/>
            <a:pathLst>
              <a:path w="457302" h="457302">
                <a:moveTo>
                  <a:pt x="97994" y="0"/>
                </a:moveTo>
                <a:lnTo>
                  <a:pt x="359307" y="0"/>
                </a:lnTo>
                <a:cubicBezTo>
                  <a:pt x="413428" y="0"/>
                  <a:pt x="457302" y="43873"/>
                  <a:pt x="457302" y="97994"/>
                </a:cubicBezTo>
                <a:lnTo>
                  <a:pt x="457302" y="359307"/>
                </a:lnTo>
                <a:cubicBezTo>
                  <a:pt x="457302" y="413428"/>
                  <a:pt x="413428" y="457302"/>
                  <a:pt x="359307" y="457302"/>
                </a:cubicBezTo>
                <a:lnTo>
                  <a:pt x="97994" y="457302"/>
                </a:lnTo>
                <a:cubicBezTo>
                  <a:pt x="43873" y="457302"/>
                  <a:pt x="0" y="413428"/>
                  <a:pt x="0" y="359307"/>
                </a:cubicBezTo>
                <a:lnTo>
                  <a:pt x="0" y="97994"/>
                </a:lnTo>
                <a:cubicBezTo>
                  <a:pt x="0" y="43873"/>
                  <a:pt x="43873" y="0"/>
                  <a:pt x="97994" y="0"/>
                </a:cubicBezTo>
                <a:close/>
              </a:path>
            </a:pathLst>
          </a:custGeom>
          <a:solidFill>
            <a:srgbClr val="8B0000">
              <a:alpha val="100000"/>
            </a:srgbClr>
          </a:solidFill>
          <a:ln w="12700">
            <a:noFill/>
            <a:prstDash val="solid"/>
          </a:ln>
          <a:effectLst>
            <a:outerShdw blurRad="381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663448" y="1506253"/>
            <a:ext cx="192580" cy="192579"/>
          </a:xfrm>
          <a:custGeom>
            <a:avLst/>
            <a:gdLst/>
            <a:ahLst/>
            <a:cxnLst/>
            <a:rect l="l" t="t" r="r" b="b"/>
            <a:pathLst>
              <a:path w="192580" h="192579">
                <a:moveTo>
                  <a:pt x="55007" y="113074"/>
                </a:moveTo>
                <a:lnTo>
                  <a:pt x="15388" y="113074"/>
                </a:lnTo>
                <a:cubicBezTo>
                  <a:pt x="5858" y="113074"/>
                  <a:pt x="0" y="102701"/>
                  <a:pt x="4900" y="94508"/>
                </a:cubicBezTo>
                <a:lnTo>
                  <a:pt x="25149" y="60748"/>
                </a:lnTo>
                <a:cubicBezTo>
                  <a:pt x="28480" y="55197"/>
                  <a:pt x="34450" y="51829"/>
                  <a:pt x="40920" y="51829"/>
                </a:cubicBezTo>
                <a:lnTo>
                  <a:pt x="77285" y="51829"/>
                </a:lnTo>
                <a:cubicBezTo>
                  <a:pt x="106415" y="2488"/>
                  <a:pt x="149862" y="0"/>
                  <a:pt x="178915" y="4248"/>
                </a:cubicBezTo>
                <a:cubicBezTo>
                  <a:pt x="183814" y="4976"/>
                  <a:pt x="187642" y="8804"/>
                  <a:pt x="188331" y="13665"/>
                </a:cubicBezTo>
                <a:cubicBezTo>
                  <a:pt x="192581" y="42718"/>
                  <a:pt x="190091" y="86164"/>
                  <a:pt x="140751" y="115294"/>
                </a:cubicBezTo>
                <a:lnTo>
                  <a:pt x="140751" y="151658"/>
                </a:lnTo>
                <a:cubicBezTo>
                  <a:pt x="140751" y="158129"/>
                  <a:pt x="137383" y="164101"/>
                  <a:pt x="131831" y="167431"/>
                </a:cubicBezTo>
                <a:lnTo>
                  <a:pt x="98070" y="187679"/>
                </a:lnTo>
                <a:cubicBezTo>
                  <a:pt x="89918" y="192579"/>
                  <a:pt x="79505" y="186684"/>
                  <a:pt x="79505" y="177190"/>
                </a:cubicBezTo>
                <a:lnTo>
                  <a:pt x="79505" y="137573"/>
                </a:lnTo>
                <a:cubicBezTo>
                  <a:pt x="79505" y="124061"/>
                  <a:pt x="68519" y="113074"/>
                  <a:pt x="55007" y="113074"/>
                </a:cubicBezTo>
                <a:lnTo>
                  <a:pt x="54968" y="113074"/>
                </a:lnTo>
                <a:close/>
                <a:moveTo>
                  <a:pt x="159125" y="51829"/>
                </a:moveTo>
                <a:cubicBezTo>
                  <a:pt x="159125" y="41688"/>
                  <a:pt x="150892" y="33454"/>
                  <a:pt x="140751" y="33454"/>
                </a:cubicBezTo>
                <a:cubicBezTo>
                  <a:pt x="130610" y="33454"/>
                  <a:pt x="122378" y="41688"/>
                  <a:pt x="122378" y="51829"/>
                </a:cubicBezTo>
                <a:cubicBezTo>
                  <a:pt x="122378" y="61970"/>
                  <a:pt x="130610" y="70203"/>
                  <a:pt x="140751" y="70203"/>
                </a:cubicBezTo>
                <a:cubicBezTo>
                  <a:pt x="150892" y="70203"/>
                  <a:pt x="159125" y="61970"/>
                  <a:pt x="159125" y="51829"/>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1126712" y="1464207"/>
            <a:ext cx="1921288" cy="26131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5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Theoretical Peak</a:t>
            </a:r>
            <a:endParaRPr lang="en-US" sz="1100"/>
          </a:p>
        </p:txBody>
      </p:sp>
      <p:sp>
        <p:nvSpPr>
          <p:cNvPr id="7" name="Freeform 7"/>
          <p:cNvSpPr/>
          <p:nvPr/>
        </p:nvSpPr>
        <p:spPr>
          <a:xfrm>
            <a:off x="538821" y="2557801"/>
            <a:ext cx="5218143" cy="2196683"/>
          </a:xfrm>
          <a:custGeom>
            <a:avLst/>
            <a:gdLst/>
            <a:ahLst/>
            <a:cxnLst/>
            <a:rect l="l" t="t" r="r" b="b"/>
            <a:pathLst>
              <a:path w="5218143" h="2196683">
                <a:moveTo>
                  <a:pt x="65329" y="0"/>
                </a:moveTo>
                <a:lnTo>
                  <a:pt x="5152814" y="0"/>
                </a:lnTo>
                <a:cubicBezTo>
                  <a:pt x="5188894" y="0"/>
                  <a:pt x="5218143" y="29249"/>
                  <a:pt x="5218143" y="65329"/>
                </a:cubicBezTo>
                <a:lnTo>
                  <a:pt x="5218143" y="2131353"/>
                </a:lnTo>
                <a:cubicBezTo>
                  <a:pt x="5218143" y="2167434"/>
                  <a:pt x="5188894" y="2196683"/>
                  <a:pt x="5152814" y="2196683"/>
                </a:cubicBezTo>
                <a:lnTo>
                  <a:pt x="65329" y="2196683"/>
                </a:lnTo>
                <a:cubicBezTo>
                  <a:pt x="29249" y="2196683"/>
                  <a:pt x="0" y="2167434"/>
                  <a:pt x="0" y="2131353"/>
                </a:cubicBezTo>
                <a:lnTo>
                  <a:pt x="0" y="65329"/>
                </a:lnTo>
                <a:cubicBezTo>
                  <a:pt x="0" y="29273"/>
                  <a:pt x="29273" y="0"/>
                  <a:pt x="65329" y="0"/>
                </a:cubicBezTo>
                <a:close/>
              </a:path>
            </a:pathLst>
          </a:custGeom>
          <a:solidFill>
            <a:srgbClr val="FFFFFF">
              <a:alpha val="100000"/>
            </a:srgbClr>
          </a:solidFill>
          <a:ln w="12700">
            <a:noFill/>
            <a:prstDash val="solid"/>
          </a:ln>
          <a:effectLst>
            <a:outerShdw blurRad="127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8" name="AutoShape 8"/>
          <p:cNvSpPr/>
          <p:nvPr/>
        </p:nvSpPr>
        <p:spPr>
          <a:xfrm>
            <a:off x="800106" y="2848396"/>
            <a:ext cx="4777173" cy="530797"/>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3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The theoretical peak is entirely determined by </a:t>
            </a:r>
            <a:r>
              <a:rPr lang="en-US" sz="13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hardware specifications</a:t>
            </a:r>
            <a:r>
              <a:rPr lang="en-US" sz="13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representing the maximum performance a processor can achieve under ideal conditions.</a:t>
            </a:r>
            <a:endParaRPr lang="en-US" sz="1100"/>
          </a:p>
        </p:txBody>
      </p:sp>
      <p:sp>
        <p:nvSpPr>
          <p:cNvPr id="9" name="Freeform 9"/>
          <p:cNvSpPr/>
          <p:nvPr/>
        </p:nvSpPr>
        <p:spPr>
          <a:xfrm>
            <a:off x="820521" y="3607810"/>
            <a:ext cx="163322" cy="163322"/>
          </a:xfrm>
          <a:custGeom>
            <a:avLst/>
            <a:gdLst/>
            <a:ahLst/>
            <a:cxnLst/>
            <a:rect l="l" t="t" r="r" b="b"/>
            <a:pathLst>
              <a:path w="163322" h="163322">
                <a:moveTo>
                  <a:pt x="81661" y="163322"/>
                </a:moveTo>
                <a:cubicBezTo>
                  <a:pt x="126731" y="163322"/>
                  <a:pt x="163322" y="126731"/>
                  <a:pt x="163322" y="81661"/>
                </a:cubicBezTo>
                <a:cubicBezTo>
                  <a:pt x="163322" y="36591"/>
                  <a:pt x="126731" y="0"/>
                  <a:pt x="81661" y="0"/>
                </a:cubicBezTo>
                <a:cubicBezTo>
                  <a:pt x="36591" y="0"/>
                  <a:pt x="0" y="36591"/>
                  <a:pt x="0" y="81661"/>
                </a:cubicBezTo>
                <a:cubicBezTo>
                  <a:pt x="0" y="126731"/>
                  <a:pt x="36591" y="163322"/>
                  <a:pt x="81661" y="163322"/>
                </a:cubicBezTo>
                <a:close/>
                <a:moveTo>
                  <a:pt x="108584" y="67848"/>
                </a:moveTo>
                <a:lnTo>
                  <a:pt x="83066" y="108679"/>
                </a:lnTo>
                <a:cubicBezTo>
                  <a:pt x="81724" y="110816"/>
                  <a:pt x="79428" y="112156"/>
                  <a:pt x="76907" y="112285"/>
                </a:cubicBezTo>
                <a:cubicBezTo>
                  <a:pt x="74388" y="112412"/>
                  <a:pt x="71965" y="111263"/>
                  <a:pt x="70465" y="109223"/>
                </a:cubicBezTo>
                <a:lnTo>
                  <a:pt x="55154" y="88806"/>
                </a:lnTo>
                <a:cubicBezTo>
                  <a:pt x="52601" y="85425"/>
                  <a:pt x="53303" y="80640"/>
                  <a:pt x="56684" y="78088"/>
                </a:cubicBezTo>
                <a:cubicBezTo>
                  <a:pt x="60066" y="75537"/>
                  <a:pt x="64850" y="76238"/>
                  <a:pt x="67401" y="79620"/>
                </a:cubicBezTo>
                <a:lnTo>
                  <a:pt x="76015" y="91103"/>
                </a:lnTo>
                <a:lnTo>
                  <a:pt x="95601" y="59747"/>
                </a:lnTo>
                <a:cubicBezTo>
                  <a:pt x="97834" y="56173"/>
                  <a:pt x="102555" y="55057"/>
                  <a:pt x="106159" y="57321"/>
                </a:cubicBezTo>
                <a:cubicBezTo>
                  <a:pt x="109764" y="59587"/>
                  <a:pt x="110849" y="64276"/>
                  <a:pt x="108584" y="6788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1102208" y="3575182"/>
            <a:ext cx="2519889" cy="26126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Based on CPU/GPU core count</a:t>
            </a:r>
            <a:endParaRPr lang="en-US" sz="1100"/>
          </a:p>
        </p:txBody>
      </p:sp>
      <p:sp>
        <p:nvSpPr>
          <p:cNvPr id="11" name="Freeform 11"/>
          <p:cNvSpPr/>
          <p:nvPr/>
        </p:nvSpPr>
        <p:spPr>
          <a:xfrm>
            <a:off x="820521" y="3967109"/>
            <a:ext cx="163322" cy="163322"/>
          </a:xfrm>
          <a:custGeom>
            <a:avLst/>
            <a:gdLst/>
            <a:ahLst/>
            <a:cxnLst/>
            <a:rect l="l" t="t" r="r" b="b"/>
            <a:pathLst>
              <a:path w="163322" h="163322">
                <a:moveTo>
                  <a:pt x="81661" y="163322"/>
                </a:moveTo>
                <a:cubicBezTo>
                  <a:pt x="126731" y="163322"/>
                  <a:pt x="163322" y="126731"/>
                  <a:pt x="163322" y="81661"/>
                </a:cubicBezTo>
                <a:cubicBezTo>
                  <a:pt x="163322" y="36591"/>
                  <a:pt x="126731" y="0"/>
                  <a:pt x="81661" y="0"/>
                </a:cubicBezTo>
                <a:cubicBezTo>
                  <a:pt x="36591" y="0"/>
                  <a:pt x="0" y="36591"/>
                  <a:pt x="0" y="81661"/>
                </a:cubicBezTo>
                <a:cubicBezTo>
                  <a:pt x="0" y="126731"/>
                  <a:pt x="36591" y="163322"/>
                  <a:pt x="81661" y="163322"/>
                </a:cubicBezTo>
                <a:close/>
                <a:moveTo>
                  <a:pt x="108584" y="67848"/>
                </a:moveTo>
                <a:lnTo>
                  <a:pt x="83066" y="108679"/>
                </a:lnTo>
                <a:cubicBezTo>
                  <a:pt x="81724" y="110816"/>
                  <a:pt x="79428" y="112156"/>
                  <a:pt x="76907" y="112285"/>
                </a:cubicBezTo>
                <a:cubicBezTo>
                  <a:pt x="74388" y="112412"/>
                  <a:pt x="71965" y="111263"/>
                  <a:pt x="70465" y="109223"/>
                </a:cubicBezTo>
                <a:lnTo>
                  <a:pt x="55154" y="88806"/>
                </a:lnTo>
                <a:cubicBezTo>
                  <a:pt x="52601" y="85425"/>
                  <a:pt x="53303" y="80640"/>
                  <a:pt x="56684" y="78088"/>
                </a:cubicBezTo>
                <a:cubicBezTo>
                  <a:pt x="60066" y="75537"/>
                  <a:pt x="64850" y="76238"/>
                  <a:pt x="67401" y="79620"/>
                </a:cubicBezTo>
                <a:lnTo>
                  <a:pt x="76015" y="91103"/>
                </a:lnTo>
                <a:lnTo>
                  <a:pt x="95601" y="59747"/>
                </a:lnTo>
                <a:cubicBezTo>
                  <a:pt x="97834" y="56173"/>
                  <a:pt x="102555" y="55057"/>
                  <a:pt x="106159" y="57321"/>
                </a:cubicBezTo>
                <a:cubicBezTo>
                  <a:pt x="109764" y="59587"/>
                  <a:pt x="110849" y="64276"/>
                  <a:pt x="108584" y="6788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1102209" y="3934481"/>
            <a:ext cx="1998545" cy="29661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Based on clock frequency</a:t>
            </a:r>
            <a:endParaRPr lang="en-US" sz="1100"/>
          </a:p>
        </p:txBody>
      </p:sp>
      <p:sp>
        <p:nvSpPr>
          <p:cNvPr id="13" name="Freeform 13"/>
          <p:cNvSpPr/>
          <p:nvPr/>
        </p:nvSpPr>
        <p:spPr>
          <a:xfrm>
            <a:off x="820521" y="4326408"/>
            <a:ext cx="163322" cy="163322"/>
          </a:xfrm>
          <a:custGeom>
            <a:avLst/>
            <a:gdLst/>
            <a:ahLst/>
            <a:cxnLst/>
            <a:rect l="l" t="t" r="r" b="b"/>
            <a:pathLst>
              <a:path w="163322" h="163322">
                <a:moveTo>
                  <a:pt x="81661" y="163322"/>
                </a:moveTo>
                <a:cubicBezTo>
                  <a:pt x="126731" y="163322"/>
                  <a:pt x="163322" y="126731"/>
                  <a:pt x="163322" y="81661"/>
                </a:cubicBezTo>
                <a:cubicBezTo>
                  <a:pt x="163322" y="36591"/>
                  <a:pt x="126731" y="0"/>
                  <a:pt x="81661" y="0"/>
                </a:cubicBezTo>
                <a:cubicBezTo>
                  <a:pt x="36591" y="0"/>
                  <a:pt x="0" y="36591"/>
                  <a:pt x="0" y="81661"/>
                </a:cubicBezTo>
                <a:cubicBezTo>
                  <a:pt x="0" y="126731"/>
                  <a:pt x="36591" y="163322"/>
                  <a:pt x="81661" y="163322"/>
                </a:cubicBezTo>
                <a:close/>
                <a:moveTo>
                  <a:pt x="108584" y="67848"/>
                </a:moveTo>
                <a:lnTo>
                  <a:pt x="83066" y="108679"/>
                </a:lnTo>
                <a:cubicBezTo>
                  <a:pt x="81724" y="110816"/>
                  <a:pt x="79428" y="112156"/>
                  <a:pt x="76907" y="112285"/>
                </a:cubicBezTo>
                <a:cubicBezTo>
                  <a:pt x="74388" y="112412"/>
                  <a:pt x="71965" y="111263"/>
                  <a:pt x="70465" y="109223"/>
                </a:cubicBezTo>
                <a:lnTo>
                  <a:pt x="55154" y="88806"/>
                </a:lnTo>
                <a:cubicBezTo>
                  <a:pt x="52601" y="85425"/>
                  <a:pt x="53303" y="80640"/>
                  <a:pt x="56684" y="78088"/>
                </a:cubicBezTo>
                <a:cubicBezTo>
                  <a:pt x="60066" y="75537"/>
                  <a:pt x="64850" y="76238"/>
                  <a:pt x="67401" y="79620"/>
                </a:cubicBezTo>
                <a:lnTo>
                  <a:pt x="76015" y="91103"/>
                </a:lnTo>
                <a:lnTo>
                  <a:pt x="95601" y="59747"/>
                </a:lnTo>
                <a:cubicBezTo>
                  <a:pt x="97834" y="56173"/>
                  <a:pt x="102555" y="55057"/>
                  <a:pt x="106159" y="57321"/>
                </a:cubicBezTo>
                <a:cubicBezTo>
                  <a:pt x="109764" y="59587"/>
                  <a:pt x="110849" y="64276"/>
                  <a:pt x="108584" y="6788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1102209" y="4293780"/>
            <a:ext cx="3399453" cy="29661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Based on instructions per cycle</a:t>
            </a:r>
            <a:endParaRPr lang="en-US" sz="1100"/>
          </a:p>
        </p:txBody>
      </p:sp>
      <p:sp>
        <p:nvSpPr>
          <p:cNvPr id="15" name="Freeform 15"/>
          <p:cNvSpPr/>
          <p:nvPr/>
        </p:nvSpPr>
        <p:spPr>
          <a:xfrm>
            <a:off x="6236116" y="1162104"/>
            <a:ext cx="5626368" cy="4393286"/>
          </a:xfrm>
          <a:custGeom>
            <a:avLst/>
            <a:gdLst/>
            <a:ahLst/>
            <a:cxnLst/>
            <a:rect l="l" t="t" r="r" b="b"/>
            <a:pathLst>
              <a:path w="5626368" h="4393286">
                <a:moveTo>
                  <a:pt x="98014" y="0"/>
                </a:moveTo>
                <a:lnTo>
                  <a:pt x="5528353" y="0"/>
                </a:lnTo>
                <a:cubicBezTo>
                  <a:pt x="5582484" y="0"/>
                  <a:pt x="5626368" y="43882"/>
                  <a:pt x="5626368" y="98014"/>
                </a:cubicBezTo>
                <a:lnTo>
                  <a:pt x="5626368" y="4295271"/>
                </a:lnTo>
                <a:cubicBezTo>
                  <a:pt x="5626368" y="4349403"/>
                  <a:pt x="5582484" y="4393286"/>
                  <a:pt x="5528353" y="4393286"/>
                </a:cubicBezTo>
                <a:lnTo>
                  <a:pt x="98014" y="4393286"/>
                </a:lnTo>
                <a:cubicBezTo>
                  <a:pt x="43882" y="4393286"/>
                  <a:pt x="0" y="4349403"/>
                  <a:pt x="0" y="4295271"/>
                </a:cubicBezTo>
                <a:lnTo>
                  <a:pt x="0" y="98014"/>
                </a:lnTo>
                <a:cubicBezTo>
                  <a:pt x="0" y="43919"/>
                  <a:pt x="43919" y="0"/>
                  <a:pt x="98014" y="0"/>
                </a:cubicBezTo>
                <a:close/>
              </a:path>
            </a:pathLst>
          </a:custGeom>
          <a:gradFill rotWithShape="1">
            <a:gsLst>
              <a:gs pos="0">
                <a:srgbClr val="F9FAFB">
                  <a:alpha val="100000"/>
                </a:srgbClr>
              </a:gs>
              <a:gs pos="100000">
                <a:srgbClr val="FFFFFF">
                  <a:alpha val="100000"/>
                </a:srgbClr>
              </a:gs>
            </a:gsLst>
            <a:lin ang="2700000"/>
          </a:gradFill>
          <a:ln w="12700">
            <a:solidFill>
              <a:srgbClr val="E5E7EB">
                <a:alpha val="100000"/>
              </a:srgbClr>
            </a:solidFill>
            <a:prstDash val="solid"/>
          </a:ln>
        </p:spPr>
        <p:txBody>
          <a:bodyPr wrap="square" lIns="91440" tIns="45720" rIns="91440" bIns="45720" rtlCol="0" anchor="t">
            <a:noAutofit/>
          </a:bodyPr>
          <a:lstStyle/>
          <a:p>
            <a:pPr algn="ctr">
              <a:defRPr/>
            </a:pPr>
          </a:p>
        </p:txBody>
      </p:sp>
      <p:sp>
        <p:nvSpPr>
          <p:cNvPr id="16" name="Freeform 16"/>
          <p:cNvSpPr/>
          <p:nvPr/>
        </p:nvSpPr>
        <p:spPr>
          <a:xfrm>
            <a:off x="6440206" y="1366194"/>
            <a:ext cx="457302" cy="457302"/>
          </a:xfrm>
          <a:custGeom>
            <a:avLst/>
            <a:gdLst/>
            <a:ahLst/>
            <a:cxnLst/>
            <a:rect l="l" t="t" r="r" b="b"/>
            <a:pathLst>
              <a:path w="457302" h="457302">
                <a:moveTo>
                  <a:pt x="97994" y="0"/>
                </a:moveTo>
                <a:lnTo>
                  <a:pt x="359307" y="0"/>
                </a:lnTo>
                <a:cubicBezTo>
                  <a:pt x="413428" y="0"/>
                  <a:pt x="457302" y="43873"/>
                  <a:pt x="457302" y="97994"/>
                </a:cubicBezTo>
                <a:lnTo>
                  <a:pt x="457302" y="359307"/>
                </a:lnTo>
                <a:cubicBezTo>
                  <a:pt x="457302" y="413428"/>
                  <a:pt x="413428" y="457302"/>
                  <a:pt x="359307" y="457302"/>
                </a:cubicBezTo>
                <a:lnTo>
                  <a:pt x="97994" y="457302"/>
                </a:lnTo>
                <a:cubicBezTo>
                  <a:pt x="43873" y="457302"/>
                  <a:pt x="0" y="413428"/>
                  <a:pt x="0" y="359307"/>
                </a:cubicBezTo>
                <a:lnTo>
                  <a:pt x="0" y="97994"/>
                </a:lnTo>
                <a:cubicBezTo>
                  <a:pt x="0" y="43873"/>
                  <a:pt x="43873" y="0"/>
                  <a:pt x="97994" y="0"/>
                </a:cubicBezTo>
                <a:close/>
              </a:path>
            </a:pathLst>
          </a:custGeom>
          <a:solidFill>
            <a:srgbClr val="8B0000">
              <a:alpha val="100000"/>
            </a:srgbClr>
          </a:solidFill>
          <a:ln w="12700">
            <a:noFill/>
            <a:prstDash val="solid"/>
          </a:ln>
          <a:effectLst>
            <a:outerShdw blurRad="381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7" name="Freeform 17"/>
          <p:cNvSpPr/>
          <p:nvPr/>
        </p:nvSpPr>
        <p:spPr>
          <a:xfrm>
            <a:off x="6570843" y="1509085"/>
            <a:ext cx="195986" cy="171488"/>
          </a:xfrm>
          <a:custGeom>
            <a:avLst/>
            <a:gdLst/>
            <a:ahLst/>
            <a:cxnLst/>
            <a:rect l="l" t="t" r="r" b="b"/>
            <a:pathLst>
              <a:path w="195986" h="171488">
                <a:moveTo>
                  <a:pt x="24498" y="12249"/>
                </a:moveTo>
                <a:cubicBezTo>
                  <a:pt x="24498" y="5474"/>
                  <a:pt x="19025" y="0"/>
                  <a:pt x="12249" y="0"/>
                </a:cubicBezTo>
                <a:cubicBezTo>
                  <a:pt x="5474" y="0"/>
                  <a:pt x="0" y="5474"/>
                  <a:pt x="0" y="12249"/>
                </a:cubicBezTo>
                <a:lnTo>
                  <a:pt x="0" y="140866"/>
                </a:lnTo>
                <a:cubicBezTo>
                  <a:pt x="0" y="157785"/>
                  <a:pt x="13705" y="171488"/>
                  <a:pt x="30624" y="171488"/>
                </a:cubicBezTo>
                <a:lnTo>
                  <a:pt x="183737" y="171488"/>
                </a:lnTo>
                <a:cubicBezTo>
                  <a:pt x="190513" y="171488"/>
                  <a:pt x="195986" y="166015"/>
                  <a:pt x="195986" y="159239"/>
                </a:cubicBezTo>
                <a:cubicBezTo>
                  <a:pt x="195986" y="152464"/>
                  <a:pt x="190513" y="146990"/>
                  <a:pt x="183737" y="146990"/>
                </a:cubicBezTo>
                <a:lnTo>
                  <a:pt x="30624" y="146990"/>
                </a:lnTo>
                <a:cubicBezTo>
                  <a:pt x="27254" y="146990"/>
                  <a:pt x="24498" y="144234"/>
                  <a:pt x="24498" y="140866"/>
                </a:cubicBezTo>
                <a:lnTo>
                  <a:pt x="24498" y="12249"/>
                </a:lnTo>
                <a:close/>
                <a:moveTo>
                  <a:pt x="180139" y="45399"/>
                </a:moveTo>
                <a:cubicBezTo>
                  <a:pt x="184923" y="40613"/>
                  <a:pt x="184923" y="32844"/>
                  <a:pt x="180139" y="28058"/>
                </a:cubicBezTo>
                <a:cubicBezTo>
                  <a:pt x="175354" y="23274"/>
                  <a:pt x="167584" y="23274"/>
                  <a:pt x="162799" y="28058"/>
                </a:cubicBezTo>
                <a:lnTo>
                  <a:pt x="122491" y="68404"/>
                </a:lnTo>
                <a:lnTo>
                  <a:pt x="100520" y="46469"/>
                </a:lnTo>
                <a:cubicBezTo>
                  <a:pt x="95735" y="41687"/>
                  <a:pt x="87964" y="41687"/>
                  <a:pt x="83179" y="46469"/>
                </a:cubicBezTo>
                <a:lnTo>
                  <a:pt x="46432" y="83218"/>
                </a:lnTo>
                <a:cubicBezTo>
                  <a:pt x="41647" y="88004"/>
                  <a:pt x="41647" y="95773"/>
                  <a:pt x="46432" y="100557"/>
                </a:cubicBezTo>
                <a:cubicBezTo>
                  <a:pt x="51217" y="105343"/>
                  <a:pt x="58986" y="105343"/>
                  <a:pt x="63772" y="100557"/>
                </a:cubicBezTo>
                <a:lnTo>
                  <a:pt x="91869" y="72463"/>
                </a:lnTo>
                <a:lnTo>
                  <a:pt x="113842" y="94434"/>
                </a:lnTo>
                <a:cubicBezTo>
                  <a:pt x="118626" y="99218"/>
                  <a:pt x="126395" y="99218"/>
                  <a:pt x="131181" y="94434"/>
                </a:cubicBezTo>
                <a:lnTo>
                  <a:pt x="180177" y="45437"/>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7028097" y="1464207"/>
            <a:ext cx="1683512" cy="261315"/>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5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Actual FLOPS</a:t>
            </a:r>
            <a:endParaRPr lang="en-US" sz="1100"/>
          </a:p>
        </p:txBody>
      </p:sp>
      <p:sp>
        <p:nvSpPr>
          <p:cNvPr id="19" name="Freeform 19"/>
          <p:cNvSpPr/>
          <p:nvPr/>
        </p:nvSpPr>
        <p:spPr>
          <a:xfrm>
            <a:off x="6440206" y="2587111"/>
            <a:ext cx="5218143" cy="2196683"/>
          </a:xfrm>
          <a:custGeom>
            <a:avLst/>
            <a:gdLst/>
            <a:ahLst/>
            <a:cxnLst/>
            <a:rect l="l" t="t" r="r" b="b"/>
            <a:pathLst>
              <a:path w="5218143" h="2196683">
                <a:moveTo>
                  <a:pt x="65329" y="0"/>
                </a:moveTo>
                <a:lnTo>
                  <a:pt x="5152814" y="0"/>
                </a:lnTo>
                <a:cubicBezTo>
                  <a:pt x="5188894" y="0"/>
                  <a:pt x="5218143" y="29249"/>
                  <a:pt x="5218143" y="65329"/>
                </a:cubicBezTo>
                <a:lnTo>
                  <a:pt x="5218143" y="2131353"/>
                </a:lnTo>
                <a:cubicBezTo>
                  <a:pt x="5218143" y="2167434"/>
                  <a:pt x="5188894" y="2196683"/>
                  <a:pt x="5152814" y="2196683"/>
                </a:cubicBezTo>
                <a:lnTo>
                  <a:pt x="65329" y="2196683"/>
                </a:lnTo>
                <a:cubicBezTo>
                  <a:pt x="29249" y="2196683"/>
                  <a:pt x="0" y="2167434"/>
                  <a:pt x="0" y="2131353"/>
                </a:cubicBezTo>
                <a:lnTo>
                  <a:pt x="0" y="65329"/>
                </a:lnTo>
                <a:cubicBezTo>
                  <a:pt x="0" y="29273"/>
                  <a:pt x="29274" y="0"/>
                  <a:pt x="65329" y="0"/>
                </a:cubicBezTo>
                <a:close/>
              </a:path>
            </a:pathLst>
          </a:custGeom>
          <a:solidFill>
            <a:srgbClr val="FFFFFF">
              <a:alpha val="100000"/>
            </a:srgbClr>
          </a:solidFill>
          <a:ln w="12700">
            <a:noFill/>
            <a:prstDash val="solid"/>
          </a:ln>
          <a:effectLst>
            <a:outerShdw blurRad="127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0" name="AutoShape 20"/>
          <p:cNvSpPr/>
          <p:nvPr/>
        </p:nvSpPr>
        <p:spPr>
          <a:xfrm>
            <a:off x="6701490" y="2848396"/>
            <a:ext cx="4777173" cy="530797"/>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3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Actual FLOPS is determined by </a:t>
            </a:r>
            <a:r>
              <a:rPr lang="en-US" sz="13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program execution conditions</a:t>
            </a:r>
            <a:r>
              <a:rPr lang="en-US" sz="13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influenced by a variety of complex factors.</a:t>
            </a:r>
            <a:endParaRPr lang="en-US" sz="1100"/>
          </a:p>
        </p:txBody>
      </p:sp>
      <p:sp>
        <p:nvSpPr>
          <p:cNvPr id="21" name="Freeform 21"/>
          <p:cNvSpPr/>
          <p:nvPr/>
        </p:nvSpPr>
        <p:spPr>
          <a:xfrm>
            <a:off x="6721906" y="3607810"/>
            <a:ext cx="163322" cy="163322"/>
          </a:xfrm>
          <a:custGeom>
            <a:avLst/>
            <a:gdLst/>
            <a:ahLst/>
            <a:cxnLst/>
            <a:rect l="l" t="t" r="r" b="b"/>
            <a:pathLst>
              <a:path w="163322" h="163322">
                <a:moveTo>
                  <a:pt x="81661" y="163322"/>
                </a:moveTo>
                <a:cubicBezTo>
                  <a:pt x="126731" y="163322"/>
                  <a:pt x="163322" y="126731"/>
                  <a:pt x="163322" y="81661"/>
                </a:cubicBezTo>
                <a:cubicBezTo>
                  <a:pt x="163322" y="36591"/>
                  <a:pt x="126731" y="0"/>
                  <a:pt x="81661" y="0"/>
                </a:cubicBezTo>
                <a:cubicBezTo>
                  <a:pt x="36591" y="0"/>
                  <a:pt x="0" y="36591"/>
                  <a:pt x="0" y="81661"/>
                </a:cubicBezTo>
                <a:cubicBezTo>
                  <a:pt x="0" y="126731"/>
                  <a:pt x="36591" y="163322"/>
                  <a:pt x="81661" y="163322"/>
                </a:cubicBezTo>
                <a:close/>
                <a:moveTo>
                  <a:pt x="53271" y="53271"/>
                </a:moveTo>
                <a:cubicBezTo>
                  <a:pt x="56270" y="50273"/>
                  <a:pt x="61117" y="50273"/>
                  <a:pt x="64085" y="53271"/>
                </a:cubicBezTo>
                <a:lnTo>
                  <a:pt x="81629" y="70815"/>
                </a:lnTo>
                <a:lnTo>
                  <a:pt x="99174" y="53271"/>
                </a:lnTo>
                <a:cubicBezTo>
                  <a:pt x="102171" y="50273"/>
                  <a:pt x="107022" y="50273"/>
                  <a:pt x="109987" y="53271"/>
                </a:cubicBezTo>
                <a:cubicBezTo>
                  <a:pt x="112954" y="56270"/>
                  <a:pt x="112986" y="61117"/>
                  <a:pt x="109987" y="64085"/>
                </a:cubicBezTo>
                <a:lnTo>
                  <a:pt x="92443" y="81629"/>
                </a:lnTo>
                <a:lnTo>
                  <a:pt x="109987" y="99174"/>
                </a:lnTo>
                <a:cubicBezTo>
                  <a:pt x="112986" y="102172"/>
                  <a:pt x="112986" y="107022"/>
                  <a:pt x="109987" y="109987"/>
                </a:cubicBezTo>
                <a:cubicBezTo>
                  <a:pt x="106989" y="112954"/>
                  <a:pt x="102140" y="112986"/>
                  <a:pt x="99174" y="109987"/>
                </a:cubicBezTo>
                <a:lnTo>
                  <a:pt x="81629" y="92443"/>
                </a:lnTo>
                <a:lnTo>
                  <a:pt x="64085" y="109987"/>
                </a:lnTo>
                <a:cubicBezTo>
                  <a:pt x="61086" y="112986"/>
                  <a:pt x="56238" y="112986"/>
                  <a:pt x="53271" y="109987"/>
                </a:cubicBezTo>
                <a:cubicBezTo>
                  <a:pt x="50305" y="106989"/>
                  <a:pt x="50273" y="102140"/>
                  <a:pt x="53271" y="99174"/>
                </a:cubicBezTo>
                <a:lnTo>
                  <a:pt x="70815" y="81629"/>
                </a:lnTo>
                <a:lnTo>
                  <a:pt x="53271" y="64085"/>
                </a:lnTo>
                <a:cubicBezTo>
                  <a:pt x="50273" y="61086"/>
                  <a:pt x="50273" y="56238"/>
                  <a:pt x="53271" y="53271"/>
                </a:cubicBezTo>
                <a:close/>
              </a:path>
            </a:pathLst>
          </a:custGeom>
          <a:solidFill>
            <a:srgbClr val="E7000B">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7003593" y="3575182"/>
            <a:ext cx="2843792" cy="26126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Usually far below the theoretical peak</a:t>
            </a:r>
            <a:endParaRPr lang="en-US" sz="1100"/>
          </a:p>
        </p:txBody>
      </p:sp>
      <p:sp>
        <p:nvSpPr>
          <p:cNvPr id="23" name="Freeform 23"/>
          <p:cNvSpPr/>
          <p:nvPr/>
        </p:nvSpPr>
        <p:spPr>
          <a:xfrm>
            <a:off x="6721906" y="3967109"/>
            <a:ext cx="163322" cy="163322"/>
          </a:xfrm>
          <a:custGeom>
            <a:avLst/>
            <a:gdLst/>
            <a:ahLst/>
            <a:cxnLst/>
            <a:rect l="l" t="t" r="r" b="b"/>
            <a:pathLst>
              <a:path w="163322" h="163322">
                <a:moveTo>
                  <a:pt x="81661" y="163322"/>
                </a:moveTo>
                <a:cubicBezTo>
                  <a:pt x="126731" y="163322"/>
                  <a:pt x="163322" y="126731"/>
                  <a:pt x="163322" y="81661"/>
                </a:cubicBezTo>
                <a:cubicBezTo>
                  <a:pt x="163322" y="36591"/>
                  <a:pt x="126731" y="0"/>
                  <a:pt x="81661" y="0"/>
                </a:cubicBezTo>
                <a:cubicBezTo>
                  <a:pt x="36591" y="0"/>
                  <a:pt x="0" y="36591"/>
                  <a:pt x="0" y="81661"/>
                </a:cubicBezTo>
                <a:cubicBezTo>
                  <a:pt x="0" y="126731"/>
                  <a:pt x="36591" y="163322"/>
                  <a:pt x="81661" y="163322"/>
                </a:cubicBezTo>
                <a:close/>
                <a:moveTo>
                  <a:pt x="53271" y="53271"/>
                </a:moveTo>
                <a:cubicBezTo>
                  <a:pt x="56270" y="50273"/>
                  <a:pt x="61117" y="50273"/>
                  <a:pt x="64085" y="53271"/>
                </a:cubicBezTo>
                <a:lnTo>
                  <a:pt x="81629" y="70815"/>
                </a:lnTo>
                <a:lnTo>
                  <a:pt x="99174" y="53271"/>
                </a:lnTo>
                <a:cubicBezTo>
                  <a:pt x="102171" y="50273"/>
                  <a:pt x="107022" y="50273"/>
                  <a:pt x="109987" y="53271"/>
                </a:cubicBezTo>
                <a:cubicBezTo>
                  <a:pt x="112954" y="56270"/>
                  <a:pt x="112986" y="61117"/>
                  <a:pt x="109987" y="64085"/>
                </a:cubicBezTo>
                <a:lnTo>
                  <a:pt x="92443" y="81629"/>
                </a:lnTo>
                <a:lnTo>
                  <a:pt x="109987" y="99174"/>
                </a:lnTo>
                <a:cubicBezTo>
                  <a:pt x="112986" y="102172"/>
                  <a:pt x="112986" y="107022"/>
                  <a:pt x="109987" y="109987"/>
                </a:cubicBezTo>
                <a:cubicBezTo>
                  <a:pt x="106989" y="112954"/>
                  <a:pt x="102140" y="112986"/>
                  <a:pt x="99174" y="109987"/>
                </a:cubicBezTo>
                <a:lnTo>
                  <a:pt x="81629" y="92443"/>
                </a:lnTo>
                <a:lnTo>
                  <a:pt x="64085" y="109987"/>
                </a:lnTo>
                <a:cubicBezTo>
                  <a:pt x="61086" y="112986"/>
                  <a:pt x="56238" y="112986"/>
                  <a:pt x="53271" y="109987"/>
                </a:cubicBezTo>
                <a:cubicBezTo>
                  <a:pt x="50305" y="106989"/>
                  <a:pt x="50273" y="102140"/>
                  <a:pt x="53271" y="99174"/>
                </a:cubicBezTo>
                <a:lnTo>
                  <a:pt x="70815" y="81629"/>
                </a:lnTo>
                <a:lnTo>
                  <a:pt x="53271" y="64085"/>
                </a:lnTo>
                <a:cubicBezTo>
                  <a:pt x="50273" y="61086"/>
                  <a:pt x="50273" y="56238"/>
                  <a:pt x="53271" y="53271"/>
                </a:cubicBezTo>
                <a:close/>
              </a:path>
            </a:pathLst>
          </a:custGeom>
          <a:solidFill>
            <a:srgbClr val="E7000B">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7003593" y="3934481"/>
            <a:ext cx="2597607" cy="26126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Affected by multiple factors</a:t>
            </a:r>
            <a:endParaRPr lang="en-US" sz="1100"/>
          </a:p>
        </p:txBody>
      </p:sp>
      <p:sp>
        <p:nvSpPr>
          <p:cNvPr id="25" name="Freeform 25"/>
          <p:cNvSpPr/>
          <p:nvPr/>
        </p:nvSpPr>
        <p:spPr>
          <a:xfrm>
            <a:off x="6721906" y="4326408"/>
            <a:ext cx="163322" cy="163322"/>
          </a:xfrm>
          <a:custGeom>
            <a:avLst/>
            <a:gdLst/>
            <a:ahLst/>
            <a:cxnLst/>
            <a:rect l="l" t="t" r="r" b="b"/>
            <a:pathLst>
              <a:path w="163322" h="163322">
                <a:moveTo>
                  <a:pt x="81661" y="163322"/>
                </a:moveTo>
                <a:cubicBezTo>
                  <a:pt x="126731" y="163322"/>
                  <a:pt x="163322" y="126731"/>
                  <a:pt x="163322" y="81661"/>
                </a:cubicBezTo>
                <a:cubicBezTo>
                  <a:pt x="163322" y="36591"/>
                  <a:pt x="126731" y="0"/>
                  <a:pt x="81661" y="0"/>
                </a:cubicBezTo>
                <a:cubicBezTo>
                  <a:pt x="36591" y="0"/>
                  <a:pt x="0" y="36591"/>
                  <a:pt x="0" y="81661"/>
                </a:cubicBezTo>
                <a:cubicBezTo>
                  <a:pt x="0" y="126731"/>
                  <a:pt x="36591" y="163322"/>
                  <a:pt x="81661" y="163322"/>
                </a:cubicBezTo>
                <a:close/>
                <a:moveTo>
                  <a:pt x="53271" y="53271"/>
                </a:moveTo>
                <a:cubicBezTo>
                  <a:pt x="56270" y="50273"/>
                  <a:pt x="61117" y="50273"/>
                  <a:pt x="64085" y="53271"/>
                </a:cubicBezTo>
                <a:lnTo>
                  <a:pt x="81629" y="70815"/>
                </a:lnTo>
                <a:lnTo>
                  <a:pt x="99174" y="53271"/>
                </a:lnTo>
                <a:cubicBezTo>
                  <a:pt x="102171" y="50273"/>
                  <a:pt x="107022" y="50273"/>
                  <a:pt x="109987" y="53271"/>
                </a:cubicBezTo>
                <a:cubicBezTo>
                  <a:pt x="112954" y="56270"/>
                  <a:pt x="112986" y="61117"/>
                  <a:pt x="109987" y="64085"/>
                </a:cubicBezTo>
                <a:lnTo>
                  <a:pt x="92443" y="81629"/>
                </a:lnTo>
                <a:lnTo>
                  <a:pt x="109987" y="99174"/>
                </a:lnTo>
                <a:cubicBezTo>
                  <a:pt x="112986" y="102172"/>
                  <a:pt x="112986" y="107022"/>
                  <a:pt x="109987" y="109987"/>
                </a:cubicBezTo>
                <a:cubicBezTo>
                  <a:pt x="106989" y="112954"/>
                  <a:pt x="102140" y="112986"/>
                  <a:pt x="99174" y="109987"/>
                </a:cubicBezTo>
                <a:lnTo>
                  <a:pt x="81629" y="92443"/>
                </a:lnTo>
                <a:lnTo>
                  <a:pt x="64085" y="109987"/>
                </a:lnTo>
                <a:cubicBezTo>
                  <a:pt x="61086" y="112986"/>
                  <a:pt x="56238" y="112986"/>
                  <a:pt x="53271" y="109987"/>
                </a:cubicBezTo>
                <a:cubicBezTo>
                  <a:pt x="50305" y="106989"/>
                  <a:pt x="50273" y="102140"/>
                  <a:pt x="53271" y="99174"/>
                </a:cubicBezTo>
                <a:lnTo>
                  <a:pt x="70815" y="81629"/>
                </a:lnTo>
                <a:lnTo>
                  <a:pt x="53271" y="64085"/>
                </a:lnTo>
                <a:cubicBezTo>
                  <a:pt x="50273" y="61086"/>
                  <a:pt x="50273" y="56238"/>
                  <a:pt x="53271" y="53271"/>
                </a:cubicBezTo>
                <a:close/>
              </a:path>
            </a:pathLst>
          </a:custGeom>
          <a:solidFill>
            <a:srgbClr val="E7000B">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7003593" y="4293780"/>
            <a:ext cx="2691392" cy="26126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Requires optimization to improve</a:t>
            </a:r>
            <a:endParaRPr lang="en-US" sz="1100"/>
          </a:p>
        </p:txBody>
      </p:sp>
      <p:sp>
        <p:nvSpPr>
          <p:cNvPr id="27" name="Freeform 27"/>
          <p:cNvSpPr/>
          <p:nvPr/>
        </p:nvSpPr>
        <p:spPr>
          <a:xfrm>
            <a:off x="342857" y="5454801"/>
            <a:ext cx="11522299" cy="1077926"/>
          </a:xfrm>
          <a:custGeom>
            <a:avLst/>
            <a:gdLst/>
            <a:ahLst/>
            <a:cxnLst/>
            <a:rect l="l" t="t" r="r" b="b"/>
            <a:pathLst>
              <a:path w="11522299" h="1077926">
                <a:moveTo>
                  <a:pt x="32502" y="0"/>
                </a:moveTo>
                <a:lnTo>
                  <a:pt x="11424304" y="0"/>
                </a:lnTo>
                <a:cubicBezTo>
                  <a:pt x="11478424" y="0"/>
                  <a:pt x="11522299" y="43873"/>
                  <a:pt x="11522299" y="97994"/>
                </a:cubicBezTo>
                <a:lnTo>
                  <a:pt x="11522299" y="979932"/>
                </a:lnTo>
                <a:cubicBezTo>
                  <a:pt x="11522299" y="1034053"/>
                  <a:pt x="11478424" y="1077926"/>
                  <a:pt x="11424304" y="1077926"/>
                </a:cubicBezTo>
                <a:lnTo>
                  <a:pt x="32502" y="1077926"/>
                </a:lnTo>
                <a:cubicBezTo>
                  <a:pt x="14552" y="1077926"/>
                  <a:pt x="0" y="1063375"/>
                  <a:pt x="0" y="1045425"/>
                </a:cubicBezTo>
                <a:lnTo>
                  <a:pt x="0" y="32502"/>
                </a:lnTo>
                <a:cubicBezTo>
                  <a:pt x="0" y="14564"/>
                  <a:pt x="14564" y="0"/>
                  <a:pt x="32502"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28" name="Freeform 28"/>
          <p:cNvSpPr/>
          <p:nvPr/>
        </p:nvSpPr>
        <p:spPr>
          <a:xfrm>
            <a:off x="342857" y="5454801"/>
            <a:ext cx="32502" cy="1077926"/>
          </a:xfrm>
          <a:custGeom>
            <a:avLst/>
            <a:gdLst/>
            <a:ahLst/>
            <a:cxnLst/>
            <a:rect l="l" t="t" r="r" b="b"/>
            <a:pathLst>
              <a:path w="32502" h="1077926">
                <a:moveTo>
                  <a:pt x="32502" y="0"/>
                </a:moveTo>
                <a:lnTo>
                  <a:pt x="32502" y="0"/>
                </a:lnTo>
                <a:lnTo>
                  <a:pt x="32502" y="1077926"/>
                </a:lnTo>
                <a:lnTo>
                  <a:pt x="32502" y="1077926"/>
                </a:lnTo>
                <a:cubicBezTo>
                  <a:pt x="14552" y="1077926"/>
                  <a:pt x="0" y="1063375"/>
                  <a:pt x="0" y="1045425"/>
                </a:cubicBezTo>
                <a:lnTo>
                  <a:pt x="0" y="32502"/>
                </a:lnTo>
                <a:cubicBezTo>
                  <a:pt x="0" y="14564"/>
                  <a:pt x="14564" y="0"/>
                  <a:pt x="32502"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9" name="AutoShape 29"/>
          <p:cNvSpPr/>
          <p:nvPr/>
        </p:nvSpPr>
        <p:spPr>
          <a:xfrm>
            <a:off x="522380" y="5618071"/>
            <a:ext cx="11261064" cy="228651"/>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Key Influencing Factors</a:t>
            </a:r>
            <a:endParaRPr lang="en-US" sz="1100"/>
          </a:p>
        </p:txBody>
      </p:sp>
      <p:sp>
        <p:nvSpPr>
          <p:cNvPr id="30" name="Freeform 30"/>
          <p:cNvSpPr/>
          <p:nvPr/>
        </p:nvSpPr>
        <p:spPr>
          <a:xfrm>
            <a:off x="522380" y="5944678"/>
            <a:ext cx="2694816" cy="424638"/>
          </a:xfrm>
          <a:custGeom>
            <a:avLst/>
            <a:gdLst/>
            <a:ahLst/>
            <a:cxnLst/>
            <a:rect l="l" t="t" r="r" b="b"/>
            <a:pathLst>
              <a:path w="2694816" h="424638">
                <a:moveTo>
                  <a:pt x="65331" y="0"/>
                </a:moveTo>
                <a:lnTo>
                  <a:pt x="2629485" y="0"/>
                </a:lnTo>
                <a:cubicBezTo>
                  <a:pt x="2665566" y="0"/>
                  <a:pt x="2694816" y="29249"/>
                  <a:pt x="2694816" y="65331"/>
                </a:cubicBezTo>
                <a:lnTo>
                  <a:pt x="2694816" y="359307"/>
                </a:lnTo>
                <a:cubicBezTo>
                  <a:pt x="2694816" y="395388"/>
                  <a:pt x="2665566" y="424638"/>
                  <a:pt x="2629485" y="424638"/>
                </a:cubicBezTo>
                <a:lnTo>
                  <a:pt x="65331" y="424638"/>
                </a:lnTo>
                <a:cubicBezTo>
                  <a:pt x="29249" y="424638"/>
                  <a:pt x="0" y="395388"/>
                  <a:pt x="0" y="359307"/>
                </a:cubicBezTo>
                <a:lnTo>
                  <a:pt x="0" y="65331"/>
                </a:lnTo>
                <a:cubicBezTo>
                  <a:pt x="0" y="29274"/>
                  <a:pt x="29273" y="0"/>
                  <a:pt x="65331" y="0"/>
                </a:cubicBezTo>
                <a:close/>
              </a:path>
            </a:pathLst>
          </a:custGeom>
          <a:solidFill>
            <a:srgbClr val="FFFFFF">
              <a:alpha val="100000"/>
            </a:srgbClr>
          </a:solidFill>
          <a:ln w="12700">
            <a:noFill/>
            <a:prstDash val="solid"/>
          </a:ln>
          <a:effectLst>
            <a:outerShdw blurRad="127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31" name="Freeform 31"/>
          <p:cNvSpPr/>
          <p:nvPr/>
        </p:nvSpPr>
        <p:spPr>
          <a:xfrm>
            <a:off x="640745" y="6095673"/>
            <a:ext cx="163322" cy="122491"/>
          </a:xfrm>
          <a:custGeom>
            <a:avLst/>
            <a:gdLst/>
            <a:ahLst/>
            <a:cxnLst/>
            <a:rect l="l" t="t" r="r" b="b"/>
            <a:pathLst>
              <a:path w="163322" h="122491">
                <a:moveTo>
                  <a:pt x="20415" y="0"/>
                </a:moveTo>
                <a:cubicBezTo>
                  <a:pt x="9155" y="0"/>
                  <a:pt x="0" y="9154"/>
                  <a:pt x="0" y="20415"/>
                </a:cubicBezTo>
                <a:lnTo>
                  <a:pt x="0" y="22776"/>
                </a:lnTo>
                <a:cubicBezTo>
                  <a:pt x="0" y="24946"/>
                  <a:pt x="1405" y="26795"/>
                  <a:pt x="3222" y="27976"/>
                </a:cubicBezTo>
                <a:cubicBezTo>
                  <a:pt x="7432" y="30719"/>
                  <a:pt x="10208" y="35440"/>
                  <a:pt x="10208" y="40831"/>
                </a:cubicBezTo>
                <a:cubicBezTo>
                  <a:pt x="10208" y="46222"/>
                  <a:pt x="7432" y="50942"/>
                  <a:pt x="3222" y="53686"/>
                </a:cubicBezTo>
                <a:cubicBezTo>
                  <a:pt x="1405" y="54866"/>
                  <a:pt x="0" y="56716"/>
                  <a:pt x="0" y="58886"/>
                </a:cubicBezTo>
                <a:lnTo>
                  <a:pt x="0" y="76558"/>
                </a:lnTo>
                <a:lnTo>
                  <a:pt x="163322" y="76558"/>
                </a:lnTo>
                <a:lnTo>
                  <a:pt x="163322" y="58886"/>
                </a:lnTo>
                <a:cubicBezTo>
                  <a:pt x="163322" y="56716"/>
                  <a:pt x="161919" y="54866"/>
                  <a:pt x="160100" y="53686"/>
                </a:cubicBezTo>
                <a:cubicBezTo>
                  <a:pt x="155890" y="50942"/>
                  <a:pt x="153115" y="46222"/>
                  <a:pt x="153115" y="40831"/>
                </a:cubicBezTo>
                <a:cubicBezTo>
                  <a:pt x="153115" y="35440"/>
                  <a:pt x="155890" y="30719"/>
                  <a:pt x="160100" y="27976"/>
                </a:cubicBezTo>
                <a:cubicBezTo>
                  <a:pt x="161919" y="26795"/>
                  <a:pt x="163322" y="24946"/>
                  <a:pt x="163322" y="22776"/>
                </a:cubicBezTo>
                <a:lnTo>
                  <a:pt x="163322" y="20415"/>
                </a:lnTo>
                <a:cubicBezTo>
                  <a:pt x="163322" y="9154"/>
                  <a:pt x="154167" y="0"/>
                  <a:pt x="142907" y="0"/>
                </a:cubicBezTo>
                <a:lnTo>
                  <a:pt x="20415" y="0"/>
                </a:lnTo>
                <a:close/>
                <a:moveTo>
                  <a:pt x="163322" y="112283"/>
                </a:moveTo>
                <a:lnTo>
                  <a:pt x="163322" y="91870"/>
                </a:lnTo>
                <a:lnTo>
                  <a:pt x="0" y="91870"/>
                </a:lnTo>
                <a:lnTo>
                  <a:pt x="0" y="112283"/>
                </a:lnTo>
                <a:cubicBezTo>
                  <a:pt x="0" y="117930"/>
                  <a:pt x="4562" y="122492"/>
                  <a:pt x="10208" y="122492"/>
                </a:cubicBezTo>
                <a:lnTo>
                  <a:pt x="30624" y="122492"/>
                </a:lnTo>
                <a:lnTo>
                  <a:pt x="30624" y="114836"/>
                </a:lnTo>
                <a:cubicBezTo>
                  <a:pt x="30624" y="110594"/>
                  <a:pt x="34036" y="107181"/>
                  <a:pt x="38279" y="107181"/>
                </a:cubicBezTo>
                <a:cubicBezTo>
                  <a:pt x="42521" y="107181"/>
                  <a:pt x="45935" y="110594"/>
                  <a:pt x="45935" y="114836"/>
                </a:cubicBezTo>
                <a:lnTo>
                  <a:pt x="45935" y="122492"/>
                </a:lnTo>
                <a:lnTo>
                  <a:pt x="74005" y="122492"/>
                </a:lnTo>
                <a:lnTo>
                  <a:pt x="74005" y="114836"/>
                </a:lnTo>
                <a:cubicBezTo>
                  <a:pt x="74005" y="110594"/>
                  <a:pt x="77419" y="107181"/>
                  <a:pt x="81661" y="107181"/>
                </a:cubicBezTo>
                <a:cubicBezTo>
                  <a:pt x="85904" y="107181"/>
                  <a:pt x="89317" y="110594"/>
                  <a:pt x="89317" y="114836"/>
                </a:cubicBezTo>
                <a:lnTo>
                  <a:pt x="89317" y="122492"/>
                </a:lnTo>
                <a:lnTo>
                  <a:pt x="117387" y="122492"/>
                </a:lnTo>
                <a:lnTo>
                  <a:pt x="117387" y="114836"/>
                </a:lnTo>
                <a:cubicBezTo>
                  <a:pt x="117387" y="110594"/>
                  <a:pt x="120801" y="107181"/>
                  <a:pt x="125044" y="107181"/>
                </a:cubicBezTo>
                <a:cubicBezTo>
                  <a:pt x="129286" y="107181"/>
                  <a:pt x="132698" y="110594"/>
                  <a:pt x="132698" y="114836"/>
                </a:cubicBezTo>
                <a:lnTo>
                  <a:pt x="132698" y="122492"/>
                </a:lnTo>
                <a:lnTo>
                  <a:pt x="153115" y="122492"/>
                </a:lnTo>
                <a:cubicBezTo>
                  <a:pt x="158761" y="122492"/>
                  <a:pt x="163322" y="117930"/>
                  <a:pt x="163322" y="112283"/>
                </a:cubicBezTo>
                <a:close/>
                <a:moveTo>
                  <a:pt x="51037" y="30622"/>
                </a:moveTo>
                <a:lnTo>
                  <a:pt x="51037" y="51038"/>
                </a:lnTo>
                <a:cubicBezTo>
                  <a:pt x="51037" y="56685"/>
                  <a:pt x="46477" y="61246"/>
                  <a:pt x="40831" y="61246"/>
                </a:cubicBezTo>
                <a:cubicBezTo>
                  <a:pt x="35184" y="61246"/>
                  <a:pt x="30624" y="56685"/>
                  <a:pt x="30624" y="51038"/>
                </a:cubicBezTo>
                <a:lnTo>
                  <a:pt x="30624" y="30622"/>
                </a:lnTo>
                <a:cubicBezTo>
                  <a:pt x="30624" y="24977"/>
                  <a:pt x="35184" y="20415"/>
                  <a:pt x="40831" y="20415"/>
                </a:cubicBezTo>
                <a:cubicBezTo>
                  <a:pt x="46477" y="20415"/>
                  <a:pt x="51037" y="24977"/>
                  <a:pt x="51037" y="30622"/>
                </a:cubicBezTo>
                <a:close/>
                <a:moveTo>
                  <a:pt x="91869" y="30622"/>
                </a:moveTo>
                <a:lnTo>
                  <a:pt x="91869" y="51038"/>
                </a:lnTo>
                <a:cubicBezTo>
                  <a:pt x="91869" y="56685"/>
                  <a:pt x="87307" y="61246"/>
                  <a:pt x="81661" y="61246"/>
                </a:cubicBezTo>
                <a:cubicBezTo>
                  <a:pt x="76015" y="61246"/>
                  <a:pt x="71453" y="56685"/>
                  <a:pt x="71453" y="51038"/>
                </a:cubicBezTo>
                <a:lnTo>
                  <a:pt x="71453" y="30622"/>
                </a:lnTo>
                <a:cubicBezTo>
                  <a:pt x="71453" y="24977"/>
                  <a:pt x="76015" y="20415"/>
                  <a:pt x="81661" y="20415"/>
                </a:cubicBezTo>
                <a:cubicBezTo>
                  <a:pt x="87307" y="20415"/>
                  <a:pt x="91869" y="24977"/>
                  <a:pt x="91869" y="30622"/>
                </a:cubicBezTo>
                <a:close/>
                <a:moveTo>
                  <a:pt x="132698" y="30622"/>
                </a:moveTo>
                <a:lnTo>
                  <a:pt x="132698" y="51038"/>
                </a:lnTo>
                <a:cubicBezTo>
                  <a:pt x="132698" y="56685"/>
                  <a:pt x="128138" y="61246"/>
                  <a:pt x="122491" y="61246"/>
                </a:cubicBezTo>
                <a:cubicBezTo>
                  <a:pt x="116846" y="61246"/>
                  <a:pt x="112285" y="56685"/>
                  <a:pt x="112285" y="51038"/>
                </a:cubicBezTo>
                <a:lnTo>
                  <a:pt x="112285" y="30622"/>
                </a:lnTo>
                <a:cubicBezTo>
                  <a:pt x="112285" y="24977"/>
                  <a:pt x="116846" y="20415"/>
                  <a:pt x="122491" y="20415"/>
                </a:cubicBezTo>
                <a:cubicBezTo>
                  <a:pt x="128138" y="20415"/>
                  <a:pt x="132698" y="24977"/>
                  <a:pt x="132698" y="3062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922433" y="6042627"/>
            <a:ext cx="1351844" cy="213079"/>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Memory Access</a:t>
            </a:r>
            <a:endParaRPr lang="en-US" sz="1100"/>
          </a:p>
        </p:txBody>
      </p:sp>
      <p:sp>
        <p:nvSpPr>
          <p:cNvPr id="33" name="Freeform 33"/>
          <p:cNvSpPr/>
          <p:nvPr/>
        </p:nvSpPr>
        <p:spPr>
          <a:xfrm>
            <a:off x="3350618" y="5944678"/>
            <a:ext cx="2694816" cy="424638"/>
          </a:xfrm>
          <a:custGeom>
            <a:avLst/>
            <a:gdLst/>
            <a:ahLst/>
            <a:cxnLst/>
            <a:rect l="l" t="t" r="r" b="b"/>
            <a:pathLst>
              <a:path w="2694816" h="424638">
                <a:moveTo>
                  <a:pt x="65331" y="0"/>
                </a:moveTo>
                <a:lnTo>
                  <a:pt x="2629485" y="0"/>
                </a:lnTo>
                <a:cubicBezTo>
                  <a:pt x="2665566" y="0"/>
                  <a:pt x="2694816" y="29249"/>
                  <a:pt x="2694816" y="65331"/>
                </a:cubicBezTo>
                <a:lnTo>
                  <a:pt x="2694816" y="359307"/>
                </a:lnTo>
                <a:cubicBezTo>
                  <a:pt x="2694816" y="395388"/>
                  <a:pt x="2665566" y="424638"/>
                  <a:pt x="2629485" y="424638"/>
                </a:cubicBezTo>
                <a:lnTo>
                  <a:pt x="65331" y="424638"/>
                </a:lnTo>
                <a:cubicBezTo>
                  <a:pt x="29249" y="424638"/>
                  <a:pt x="0" y="395388"/>
                  <a:pt x="0" y="359307"/>
                </a:cubicBezTo>
                <a:lnTo>
                  <a:pt x="0" y="65331"/>
                </a:lnTo>
                <a:cubicBezTo>
                  <a:pt x="0" y="29274"/>
                  <a:pt x="29274" y="0"/>
                  <a:pt x="65331" y="0"/>
                </a:cubicBezTo>
                <a:close/>
              </a:path>
            </a:pathLst>
          </a:custGeom>
          <a:solidFill>
            <a:srgbClr val="FFFFFF">
              <a:alpha val="100000"/>
            </a:srgbClr>
          </a:solidFill>
          <a:ln w="12700">
            <a:noFill/>
            <a:prstDash val="solid"/>
          </a:ln>
          <a:effectLst>
            <a:outerShdw blurRad="127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34" name="Freeform 34"/>
          <p:cNvSpPr/>
          <p:nvPr/>
        </p:nvSpPr>
        <p:spPr>
          <a:xfrm>
            <a:off x="3479191" y="6075258"/>
            <a:ext cx="142907" cy="163322"/>
          </a:xfrm>
          <a:custGeom>
            <a:avLst/>
            <a:gdLst/>
            <a:ahLst/>
            <a:cxnLst/>
            <a:rect l="l" t="t" r="r" b="b"/>
            <a:pathLst>
              <a:path w="142907" h="163322">
                <a:moveTo>
                  <a:pt x="25519" y="33175"/>
                </a:moveTo>
                <a:cubicBezTo>
                  <a:pt x="29743" y="33175"/>
                  <a:pt x="33175" y="29743"/>
                  <a:pt x="33175" y="25519"/>
                </a:cubicBezTo>
                <a:cubicBezTo>
                  <a:pt x="33175" y="21294"/>
                  <a:pt x="29743" y="17863"/>
                  <a:pt x="25519" y="17863"/>
                </a:cubicBezTo>
                <a:cubicBezTo>
                  <a:pt x="21294" y="17863"/>
                  <a:pt x="17863" y="21294"/>
                  <a:pt x="17863" y="25519"/>
                </a:cubicBezTo>
                <a:cubicBezTo>
                  <a:pt x="17863" y="29743"/>
                  <a:pt x="21294" y="33175"/>
                  <a:pt x="25519" y="33175"/>
                </a:cubicBezTo>
                <a:close/>
                <a:moveTo>
                  <a:pt x="51037" y="25519"/>
                </a:moveTo>
                <a:cubicBezTo>
                  <a:pt x="51037" y="35982"/>
                  <a:pt x="44754" y="44977"/>
                  <a:pt x="35726" y="48901"/>
                </a:cubicBezTo>
                <a:lnTo>
                  <a:pt x="35726" y="71453"/>
                </a:lnTo>
                <a:lnTo>
                  <a:pt x="91869" y="71453"/>
                </a:lnTo>
                <a:cubicBezTo>
                  <a:pt x="100322" y="71453"/>
                  <a:pt x="107180" y="64595"/>
                  <a:pt x="107180" y="56142"/>
                </a:cubicBezTo>
                <a:lnTo>
                  <a:pt x="107180" y="48901"/>
                </a:lnTo>
                <a:cubicBezTo>
                  <a:pt x="98153" y="44977"/>
                  <a:pt x="91869" y="35982"/>
                  <a:pt x="91869" y="25519"/>
                </a:cubicBezTo>
                <a:cubicBezTo>
                  <a:pt x="91869" y="11420"/>
                  <a:pt x="103289" y="0"/>
                  <a:pt x="117387" y="0"/>
                </a:cubicBezTo>
                <a:cubicBezTo>
                  <a:pt x="131487" y="0"/>
                  <a:pt x="142907" y="11420"/>
                  <a:pt x="142907" y="25519"/>
                </a:cubicBezTo>
                <a:cubicBezTo>
                  <a:pt x="142907" y="35982"/>
                  <a:pt x="136623" y="44977"/>
                  <a:pt x="127596" y="48901"/>
                </a:cubicBezTo>
                <a:lnTo>
                  <a:pt x="127596" y="56142"/>
                </a:lnTo>
                <a:cubicBezTo>
                  <a:pt x="127596" y="75888"/>
                  <a:pt x="111614" y="91869"/>
                  <a:pt x="91869" y="91869"/>
                </a:cubicBezTo>
                <a:lnTo>
                  <a:pt x="35726" y="91869"/>
                </a:lnTo>
                <a:lnTo>
                  <a:pt x="35726" y="114421"/>
                </a:lnTo>
                <a:cubicBezTo>
                  <a:pt x="44754" y="118345"/>
                  <a:pt x="51037" y="127340"/>
                  <a:pt x="51037" y="137803"/>
                </a:cubicBezTo>
                <a:cubicBezTo>
                  <a:pt x="51037" y="151902"/>
                  <a:pt x="39618" y="163322"/>
                  <a:pt x="25519" y="163322"/>
                </a:cubicBezTo>
                <a:cubicBezTo>
                  <a:pt x="11420" y="163322"/>
                  <a:pt x="0" y="151902"/>
                  <a:pt x="0" y="137803"/>
                </a:cubicBezTo>
                <a:cubicBezTo>
                  <a:pt x="0" y="127340"/>
                  <a:pt x="6284" y="118345"/>
                  <a:pt x="15311" y="114421"/>
                </a:cubicBezTo>
                <a:lnTo>
                  <a:pt x="15311" y="48933"/>
                </a:lnTo>
                <a:cubicBezTo>
                  <a:pt x="6284" y="44977"/>
                  <a:pt x="0" y="35982"/>
                  <a:pt x="0" y="25519"/>
                </a:cubicBezTo>
                <a:cubicBezTo>
                  <a:pt x="0" y="11420"/>
                  <a:pt x="11420" y="0"/>
                  <a:pt x="25519" y="0"/>
                </a:cubicBezTo>
                <a:cubicBezTo>
                  <a:pt x="39618" y="0"/>
                  <a:pt x="51037" y="11420"/>
                  <a:pt x="51037" y="25519"/>
                </a:cubicBezTo>
                <a:close/>
                <a:moveTo>
                  <a:pt x="125044" y="25519"/>
                </a:moveTo>
                <a:cubicBezTo>
                  <a:pt x="125044" y="21294"/>
                  <a:pt x="121613" y="17863"/>
                  <a:pt x="117387" y="17863"/>
                </a:cubicBezTo>
                <a:cubicBezTo>
                  <a:pt x="113162" y="17863"/>
                  <a:pt x="109732" y="21294"/>
                  <a:pt x="109732" y="25519"/>
                </a:cubicBezTo>
                <a:cubicBezTo>
                  <a:pt x="109732" y="29743"/>
                  <a:pt x="113162" y="33175"/>
                  <a:pt x="117387" y="33175"/>
                </a:cubicBezTo>
                <a:cubicBezTo>
                  <a:pt x="121613" y="33175"/>
                  <a:pt x="125044" y="29743"/>
                  <a:pt x="125044" y="25519"/>
                </a:cubicBezTo>
                <a:close/>
                <a:moveTo>
                  <a:pt x="25519" y="145459"/>
                </a:moveTo>
                <a:cubicBezTo>
                  <a:pt x="29743" y="145459"/>
                  <a:pt x="33175" y="142028"/>
                  <a:pt x="33175" y="137803"/>
                </a:cubicBezTo>
                <a:cubicBezTo>
                  <a:pt x="33175" y="133579"/>
                  <a:pt x="29743" y="130147"/>
                  <a:pt x="25519" y="130147"/>
                </a:cubicBezTo>
                <a:cubicBezTo>
                  <a:pt x="21294" y="130147"/>
                  <a:pt x="17863" y="133579"/>
                  <a:pt x="17863" y="137803"/>
                </a:cubicBezTo>
                <a:cubicBezTo>
                  <a:pt x="17863" y="142028"/>
                  <a:pt x="21294" y="145459"/>
                  <a:pt x="25519" y="145459"/>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3750671" y="6042627"/>
            <a:ext cx="1542298" cy="213079"/>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Branch Prediction</a:t>
            </a:r>
            <a:endParaRPr lang="en-US" sz="1100"/>
          </a:p>
        </p:txBody>
      </p:sp>
      <p:sp>
        <p:nvSpPr>
          <p:cNvPr id="36" name="Freeform 36"/>
          <p:cNvSpPr/>
          <p:nvPr/>
        </p:nvSpPr>
        <p:spPr>
          <a:xfrm>
            <a:off x="6178921" y="5944678"/>
            <a:ext cx="2694816" cy="424638"/>
          </a:xfrm>
          <a:custGeom>
            <a:avLst/>
            <a:gdLst/>
            <a:ahLst/>
            <a:cxnLst/>
            <a:rect l="l" t="t" r="r" b="b"/>
            <a:pathLst>
              <a:path w="2694816" h="424638">
                <a:moveTo>
                  <a:pt x="65331" y="0"/>
                </a:moveTo>
                <a:lnTo>
                  <a:pt x="2629485" y="0"/>
                </a:lnTo>
                <a:cubicBezTo>
                  <a:pt x="2665566" y="0"/>
                  <a:pt x="2694816" y="29249"/>
                  <a:pt x="2694816" y="65331"/>
                </a:cubicBezTo>
                <a:lnTo>
                  <a:pt x="2694816" y="359307"/>
                </a:lnTo>
                <a:cubicBezTo>
                  <a:pt x="2694816" y="395388"/>
                  <a:pt x="2665566" y="424638"/>
                  <a:pt x="2629485" y="424638"/>
                </a:cubicBezTo>
                <a:lnTo>
                  <a:pt x="65331" y="424638"/>
                </a:lnTo>
                <a:cubicBezTo>
                  <a:pt x="29249" y="424638"/>
                  <a:pt x="0" y="395388"/>
                  <a:pt x="0" y="359307"/>
                </a:cubicBezTo>
                <a:lnTo>
                  <a:pt x="0" y="65331"/>
                </a:lnTo>
                <a:cubicBezTo>
                  <a:pt x="0" y="29274"/>
                  <a:pt x="29273" y="0"/>
                  <a:pt x="65331" y="0"/>
                </a:cubicBezTo>
                <a:close/>
              </a:path>
            </a:pathLst>
          </a:custGeom>
          <a:solidFill>
            <a:srgbClr val="FFFFFF">
              <a:alpha val="100000"/>
            </a:srgbClr>
          </a:solidFill>
          <a:ln w="12700">
            <a:noFill/>
            <a:prstDash val="solid"/>
          </a:ln>
          <a:effectLst>
            <a:outerShdw blurRad="127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37" name="Freeform 37"/>
          <p:cNvSpPr/>
          <p:nvPr/>
        </p:nvSpPr>
        <p:spPr>
          <a:xfrm>
            <a:off x="6287078" y="6085466"/>
            <a:ext cx="183737" cy="142970"/>
          </a:xfrm>
          <a:custGeom>
            <a:avLst/>
            <a:gdLst/>
            <a:ahLst/>
            <a:cxnLst/>
            <a:rect l="l" t="t" r="r" b="b"/>
            <a:pathLst>
              <a:path w="183737" h="142970">
                <a:moveTo>
                  <a:pt x="133816" y="20416"/>
                </a:moveTo>
                <a:cubicBezTo>
                  <a:pt x="128521" y="20416"/>
                  <a:pt x="123386" y="21851"/>
                  <a:pt x="118887" y="24466"/>
                </a:cubicBezTo>
                <a:cubicBezTo>
                  <a:pt x="113847" y="19361"/>
                  <a:pt x="107978" y="15088"/>
                  <a:pt x="101502" y="11866"/>
                </a:cubicBezTo>
                <a:cubicBezTo>
                  <a:pt x="110498" y="4210"/>
                  <a:pt x="121949" y="0"/>
                  <a:pt x="133816" y="0"/>
                </a:cubicBezTo>
                <a:cubicBezTo>
                  <a:pt x="161376" y="0"/>
                  <a:pt x="183737" y="22329"/>
                  <a:pt x="183737" y="49921"/>
                </a:cubicBezTo>
                <a:cubicBezTo>
                  <a:pt x="183737" y="63159"/>
                  <a:pt x="178474" y="75855"/>
                  <a:pt x="169128" y="85201"/>
                </a:cubicBezTo>
                <a:lnTo>
                  <a:pt x="146448" y="107882"/>
                </a:lnTo>
                <a:cubicBezTo>
                  <a:pt x="137102" y="117228"/>
                  <a:pt x="124405" y="122490"/>
                  <a:pt x="111168" y="122490"/>
                </a:cubicBezTo>
                <a:cubicBezTo>
                  <a:pt x="83607" y="122490"/>
                  <a:pt x="61246" y="100163"/>
                  <a:pt x="61246" y="72571"/>
                </a:cubicBezTo>
                <a:cubicBezTo>
                  <a:pt x="61246" y="72091"/>
                  <a:pt x="61246" y="71613"/>
                  <a:pt x="61278" y="71134"/>
                </a:cubicBezTo>
                <a:cubicBezTo>
                  <a:pt x="61438" y="65488"/>
                  <a:pt x="66126" y="61054"/>
                  <a:pt x="71772" y="61214"/>
                </a:cubicBezTo>
                <a:cubicBezTo>
                  <a:pt x="77419" y="61373"/>
                  <a:pt x="81852" y="66062"/>
                  <a:pt x="81693" y="71708"/>
                </a:cubicBezTo>
                <a:cubicBezTo>
                  <a:pt x="81693" y="71995"/>
                  <a:pt x="81693" y="72282"/>
                  <a:pt x="81693" y="72538"/>
                </a:cubicBezTo>
                <a:cubicBezTo>
                  <a:pt x="81693" y="88838"/>
                  <a:pt x="94899" y="102043"/>
                  <a:pt x="111199" y="102043"/>
                </a:cubicBezTo>
                <a:cubicBezTo>
                  <a:pt x="119016" y="102043"/>
                  <a:pt x="126511" y="98950"/>
                  <a:pt x="132061" y="93400"/>
                </a:cubicBezTo>
                <a:lnTo>
                  <a:pt x="154741" y="70719"/>
                </a:lnTo>
                <a:cubicBezTo>
                  <a:pt x="160260" y="65201"/>
                  <a:pt x="163386" y="57674"/>
                  <a:pt x="163386" y="49858"/>
                </a:cubicBezTo>
                <a:cubicBezTo>
                  <a:pt x="163386" y="33557"/>
                  <a:pt x="150180" y="20351"/>
                  <a:pt x="133880" y="20351"/>
                </a:cubicBezTo>
                <a:close/>
                <a:moveTo>
                  <a:pt x="87786" y="45073"/>
                </a:moveTo>
                <a:cubicBezTo>
                  <a:pt x="87180" y="44819"/>
                  <a:pt x="86575" y="44467"/>
                  <a:pt x="86031" y="44084"/>
                </a:cubicBezTo>
                <a:cubicBezTo>
                  <a:pt x="82012" y="42011"/>
                  <a:pt x="77419" y="40829"/>
                  <a:pt x="72602" y="40829"/>
                </a:cubicBezTo>
                <a:cubicBezTo>
                  <a:pt x="64787" y="40829"/>
                  <a:pt x="57290" y="43924"/>
                  <a:pt x="51740" y="49474"/>
                </a:cubicBezTo>
                <a:lnTo>
                  <a:pt x="29060" y="72155"/>
                </a:lnTo>
                <a:cubicBezTo>
                  <a:pt x="23541" y="77673"/>
                  <a:pt x="20415" y="85201"/>
                  <a:pt x="20415" y="93018"/>
                </a:cubicBezTo>
                <a:cubicBezTo>
                  <a:pt x="20415" y="109317"/>
                  <a:pt x="33621" y="122524"/>
                  <a:pt x="49922" y="122524"/>
                </a:cubicBezTo>
                <a:cubicBezTo>
                  <a:pt x="55185" y="122524"/>
                  <a:pt x="60321" y="121120"/>
                  <a:pt x="64818" y="118504"/>
                </a:cubicBezTo>
                <a:cubicBezTo>
                  <a:pt x="69859" y="123608"/>
                  <a:pt x="75728" y="127882"/>
                  <a:pt x="82235" y="131104"/>
                </a:cubicBezTo>
                <a:cubicBezTo>
                  <a:pt x="73240" y="138727"/>
                  <a:pt x="61820" y="142971"/>
                  <a:pt x="49922" y="142971"/>
                </a:cubicBezTo>
                <a:cubicBezTo>
                  <a:pt x="22361" y="142971"/>
                  <a:pt x="0" y="120641"/>
                  <a:pt x="0" y="93049"/>
                </a:cubicBezTo>
                <a:cubicBezTo>
                  <a:pt x="0" y="79811"/>
                  <a:pt x="5263" y="67115"/>
                  <a:pt x="14610" y="57767"/>
                </a:cubicBezTo>
                <a:lnTo>
                  <a:pt x="37290" y="35088"/>
                </a:lnTo>
                <a:cubicBezTo>
                  <a:pt x="46636" y="25742"/>
                  <a:pt x="59332" y="20479"/>
                  <a:pt x="72570" y="20479"/>
                </a:cubicBezTo>
                <a:cubicBezTo>
                  <a:pt x="100194" y="20479"/>
                  <a:pt x="122492" y="42999"/>
                  <a:pt x="122492" y="70528"/>
                </a:cubicBezTo>
                <a:cubicBezTo>
                  <a:pt x="122492" y="70942"/>
                  <a:pt x="122492" y="71356"/>
                  <a:pt x="122492" y="71772"/>
                </a:cubicBezTo>
                <a:cubicBezTo>
                  <a:pt x="122364" y="77418"/>
                  <a:pt x="117674" y="81852"/>
                  <a:pt x="112029" y="81725"/>
                </a:cubicBezTo>
                <a:cubicBezTo>
                  <a:pt x="106383" y="81596"/>
                  <a:pt x="101949" y="76908"/>
                  <a:pt x="102076" y="71262"/>
                </a:cubicBezTo>
                <a:cubicBezTo>
                  <a:pt x="102076" y="71007"/>
                  <a:pt x="102076" y="70782"/>
                  <a:pt x="102076" y="70528"/>
                </a:cubicBezTo>
                <a:cubicBezTo>
                  <a:pt x="102076" y="59778"/>
                  <a:pt x="96335" y="50335"/>
                  <a:pt x="87786" y="4513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8" name="AutoShape 38"/>
          <p:cNvSpPr/>
          <p:nvPr/>
        </p:nvSpPr>
        <p:spPr>
          <a:xfrm>
            <a:off x="6578973" y="6042627"/>
            <a:ext cx="2265006" cy="270288"/>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Instruction Dependencies</a:t>
            </a:r>
            <a:endParaRPr lang="en-US" sz="1100"/>
          </a:p>
        </p:txBody>
      </p:sp>
      <p:sp>
        <p:nvSpPr>
          <p:cNvPr id="39" name="Freeform 39"/>
          <p:cNvSpPr/>
          <p:nvPr/>
        </p:nvSpPr>
        <p:spPr>
          <a:xfrm>
            <a:off x="9007159" y="5944678"/>
            <a:ext cx="2694816" cy="424638"/>
          </a:xfrm>
          <a:custGeom>
            <a:avLst/>
            <a:gdLst/>
            <a:ahLst/>
            <a:cxnLst/>
            <a:rect l="l" t="t" r="r" b="b"/>
            <a:pathLst>
              <a:path w="2694816" h="424638">
                <a:moveTo>
                  <a:pt x="65331" y="0"/>
                </a:moveTo>
                <a:lnTo>
                  <a:pt x="2629485" y="0"/>
                </a:lnTo>
                <a:cubicBezTo>
                  <a:pt x="2665566" y="0"/>
                  <a:pt x="2694816" y="29249"/>
                  <a:pt x="2694816" y="65331"/>
                </a:cubicBezTo>
                <a:lnTo>
                  <a:pt x="2694816" y="359307"/>
                </a:lnTo>
                <a:cubicBezTo>
                  <a:pt x="2694816" y="395388"/>
                  <a:pt x="2665566" y="424638"/>
                  <a:pt x="2629485" y="424638"/>
                </a:cubicBezTo>
                <a:lnTo>
                  <a:pt x="65331" y="424638"/>
                </a:lnTo>
                <a:cubicBezTo>
                  <a:pt x="29249" y="424638"/>
                  <a:pt x="0" y="395388"/>
                  <a:pt x="0" y="359307"/>
                </a:cubicBezTo>
                <a:lnTo>
                  <a:pt x="0" y="65331"/>
                </a:lnTo>
                <a:cubicBezTo>
                  <a:pt x="0" y="29274"/>
                  <a:pt x="29273" y="0"/>
                  <a:pt x="65331" y="0"/>
                </a:cubicBezTo>
                <a:close/>
              </a:path>
            </a:pathLst>
          </a:custGeom>
          <a:solidFill>
            <a:srgbClr val="FFFFFF">
              <a:alpha val="100000"/>
            </a:srgbClr>
          </a:solidFill>
          <a:ln w="12700">
            <a:noFill/>
            <a:prstDash val="solid"/>
          </a:ln>
          <a:effectLst>
            <a:outerShdw blurRad="127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40" name="Freeform 40"/>
          <p:cNvSpPr/>
          <p:nvPr/>
        </p:nvSpPr>
        <p:spPr>
          <a:xfrm>
            <a:off x="9145079" y="6094653"/>
            <a:ext cx="124534" cy="124532"/>
          </a:xfrm>
          <a:custGeom>
            <a:avLst/>
            <a:gdLst/>
            <a:ahLst/>
            <a:cxnLst/>
            <a:rect l="l" t="t" r="r" b="b"/>
            <a:pathLst>
              <a:path w="124534" h="124532">
                <a:moveTo>
                  <a:pt x="18437" y="4019"/>
                </a:moveTo>
                <a:cubicBezTo>
                  <a:pt x="14450" y="31"/>
                  <a:pt x="7974" y="31"/>
                  <a:pt x="3986" y="4019"/>
                </a:cubicBezTo>
                <a:cubicBezTo>
                  <a:pt x="0" y="8007"/>
                  <a:pt x="0" y="14482"/>
                  <a:pt x="3986" y="18469"/>
                </a:cubicBezTo>
                <a:lnTo>
                  <a:pt x="47815" y="62266"/>
                </a:lnTo>
                <a:lnTo>
                  <a:pt x="4019" y="106095"/>
                </a:lnTo>
                <a:cubicBezTo>
                  <a:pt x="32" y="110081"/>
                  <a:pt x="32" y="116559"/>
                  <a:pt x="4019" y="120545"/>
                </a:cubicBezTo>
                <a:cubicBezTo>
                  <a:pt x="8006" y="124533"/>
                  <a:pt x="14482" y="124533"/>
                  <a:pt x="18470" y="120545"/>
                </a:cubicBezTo>
                <a:lnTo>
                  <a:pt x="62266" y="76716"/>
                </a:lnTo>
                <a:lnTo>
                  <a:pt x="106094" y="120513"/>
                </a:lnTo>
                <a:cubicBezTo>
                  <a:pt x="110084" y="124501"/>
                  <a:pt x="116558" y="124501"/>
                  <a:pt x="120546" y="120513"/>
                </a:cubicBezTo>
                <a:cubicBezTo>
                  <a:pt x="124534" y="116525"/>
                  <a:pt x="124534" y="110051"/>
                  <a:pt x="120546" y="106063"/>
                </a:cubicBezTo>
                <a:lnTo>
                  <a:pt x="76716" y="62266"/>
                </a:lnTo>
                <a:lnTo>
                  <a:pt x="120514" y="18437"/>
                </a:lnTo>
                <a:cubicBezTo>
                  <a:pt x="124501" y="14451"/>
                  <a:pt x="124501" y="7973"/>
                  <a:pt x="120514" y="3987"/>
                </a:cubicBezTo>
                <a:cubicBezTo>
                  <a:pt x="116526" y="0"/>
                  <a:pt x="110051" y="0"/>
                  <a:pt x="106063" y="3987"/>
                </a:cubicBezTo>
                <a:lnTo>
                  <a:pt x="62266" y="47816"/>
                </a:lnTo>
                <a:lnTo>
                  <a:pt x="18437" y="401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1" name="AutoShape 41"/>
          <p:cNvSpPr/>
          <p:nvPr/>
        </p:nvSpPr>
        <p:spPr>
          <a:xfrm>
            <a:off x="9407212" y="6042627"/>
            <a:ext cx="890106" cy="22865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Cache miss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6787" y="603479"/>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Bandwidth</a:t>
            </a:r>
            <a:endParaRPr lang="en-US" sz="1100"/>
          </a:p>
        </p:txBody>
      </p:sp>
      <p:sp>
        <p:nvSpPr>
          <p:cNvPr id="3" name="Freeform 3"/>
          <p:cNvSpPr/>
          <p:nvPr/>
        </p:nvSpPr>
        <p:spPr>
          <a:xfrm>
            <a:off x="399911" y="1213226"/>
            <a:ext cx="5543455" cy="1104900"/>
          </a:xfrm>
          <a:custGeom>
            <a:avLst/>
            <a:gdLst/>
            <a:ahLst/>
            <a:cxnLst/>
            <a:rect l="l" t="t" r="r" b="b"/>
            <a:pathLst>
              <a:path w="5543455" h="1104900">
                <a:moveTo>
                  <a:pt x="37909" y="0"/>
                </a:moveTo>
                <a:lnTo>
                  <a:pt x="5429153" y="0"/>
                </a:lnTo>
                <a:cubicBezTo>
                  <a:pt x="5492281" y="0"/>
                  <a:pt x="5543455" y="51175"/>
                  <a:pt x="5543455" y="114303"/>
                </a:cubicBezTo>
                <a:lnTo>
                  <a:pt x="5543455" y="990597"/>
                </a:lnTo>
                <a:cubicBezTo>
                  <a:pt x="5543455" y="1053725"/>
                  <a:pt x="5492281" y="1104900"/>
                  <a:pt x="5429153" y="1104900"/>
                </a:cubicBezTo>
                <a:lnTo>
                  <a:pt x="37909" y="1104900"/>
                </a:lnTo>
                <a:cubicBezTo>
                  <a:pt x="16974" y="1104900"/>
                  <a:pt x="0" y="1087926"/>
                  <a:pt x="0" y="1066990"/>
                </a:cubicBezTo>
                <a:lnTo>
                  <a:pt x="0" y="37910"/>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99911" y="1213226"/>
            <a:ext cx="37909" cy="1104900"/>
          </a:xfrm>
          <a:custGeom>
            <a:avLst/>
            <a:gdLst/>
            <a:ahLst/>
            <a:cxnLst/>
            <a:rect l="l" t="t" r="r" b="b"/>
            <a:pathLst>
              <a:path w="37909" h="1104900">
                <a:moveTo>
                  <a:pt x="37909" y="0"/>
                </a:moveTo>
                <a:lnTo>
                  <a:pt x="37909" y="0"/>
                </a:lnTo>
                <a:lnTo>
                  <a:pt x="37909" y="1104900"/>
                </a:lnTo>
                <a:lnTo>
                  <a:pt x="37909" y="1104900"/>
                </a:lnTo>
                <a:cubicBezTo>
                  <a:pt x="16974" y="1104900"/>
                  <a:pt x="0" y="1087926"/>
                  <a:pt x="0" y="10669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47439" y="1441800"/>
            <a:ext cx="51816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Bandwidth</a:t>
            </a:r>
            <a:endParaRPr lang="en-US" sz="1100"/>
          </a:p>
        </p:txBody>
      </p:sp>
      <p:sp>
        <p:nvSpPr>
          <p:cNvPr id="6" name="AutoShape 6"/>
          <p:cNvSpPr/>
          <p:nvPr/>
        </p:nvSpPr>
        <p:spPr>
          <a:xfrm>
            <a:off x="647439" y="1822679"/>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0" i="0" u="none" strike="noStrike">
                <a:solidFill>
                  <a:srgbClr val="364153"/>
                </a:solidFill>
                <a:latin typeface="Noto Sans SC" panose="020B0200000000000000" charset="-122"/>
                <a:ea typeface="Noto Sans SC" panose="020B0200000000000000" charset="-122"/>
                <a:cs typeface="Noto Sans SC" panose="020B0200000000000000" charset="-122"/>
                <a:sym typeface="Noto Sans SC" panose="020B0200000000000000" charset="-122"/>
              </a:rPr>
              <a:t>Represents the amount of data transferable per unit time</a:t>
            </a:r>
            <a:endParaRPr lang="en-US" sz="1100"/>
          </a:p>
        </p:txBody>
      </p:sp>
      <p:sp>
        <p:nvSpPr>
          <p:cNvPr id="7" name="AutoShape 7"/>
          <p:cNvSpPr/>
          <p:nvPr/>
        </p:nvSpPr>
        <p:spPr>
          <a:xfrm>
            <a:off x="380956" y="2546533"/>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Common Units</a:t>
            </a:r>
            <a:endParaRPr lang="en-US" sz="1100"/>
          </a:p>
        </p:txBody>
      </p:sp>
      <p:sp>
        <p:nvSpPr>
          <p:cNvPr id="8" name="Freeform 8"/>
          <p:cNvSpPr/>
          <p:nvPr/>
        </p:nvSpPr>
        <p:spPr>
          <a:xfrm>
            <a:off x="380956" y="3003607"/>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447580" y="3117856"/>
            <a:ext cx="1009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MB/s</a:t>
            </a:r>
            <a:endParaRPr lang="en-US" sz="1100"/>
          </a:p>
        </p:txBody>
      </p:sp>
      <p:sp>
        <p:nvSpPr>
          <p:cNvPr id="10" name="AutoShape 10"/>
          <p:cNvSpPr/>
          <p:nvPr/>
        </p:nvSpPr>
        <p:spPr>
          <a:xfrm>
            <a:off x="1561955" y="3117856"/>
            <a:ext cx="2476601"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Megabytes/second</a:t>
            </a:r>
            <a:endParaRPr lang="en-US" sz="1100"/>
          </a:p>
        </p:txBody>
      </p:sp>
      <p:sp>
        <p:nvSpPr>
          <p:cNvPr id="11" name="Freeform 11"/>
          <p:cNvSpPr/>
          <p:nvPr/>
        </p:nvSpPr>
        <p:spPr>
          <a:xfrm>
            <a:off x="380956" y="3613063"/>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447580" y="3727312"/>
            <a:ext cx="1009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GB/s</a:t>
            </a:r>
            <a:endParaRPr lang="en-US" sz="1100"/>
          </a:p>
        </p:txBody>
      </p:sp>
      <p:sp>
        <p:nvSpPr>
          <p:cNvPr id="13" name="AutoShape 13"/>
          <p:cNvSpPr/>
          <p:nvPr/>
        </p:nvSpPr>
        <p:spPr>
          <a:xfrm>
            <a:off x="1561955" y="3727312"/>
            <a:ext cx="1966691"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Gigabytes/second</a:t>
            </a:r>
            <a:endParaRPr lang="en-US" sz="1100"/>
          </a:p>
        </p:txBody>
      </p:sp>
      <p:sp>
        <p:nvSpPr>
          <p:cNvPr id="14" name="Freeform 14"/>
          <p:cNvSpPr/>
          <p:nvPr/>
        </p:nvSpPr>
        <p:spPr>
          <a:xfrm>
            <a:off x="380956" y="4222514"/>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447580" y="4336763"/>
            <a:ext cx="1009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TB/s</a:t>
            </a:r>
            <a:endParaRPr lang="en-US" sz="1100"/>
          </a:p>
        </p:txBody>
      </p:sp>
      <p:sp>
        <p:nvSpPr>
          <p:cNvPr id="16" name="AutoShape 16"/>
          <p:cNvSpPr/>
          <p:nvPr/>
        </p:nvSpPr>
        <p:spPr>
          <a:xfrm>
            <a:off x="1561955" y="4336763"/>
            <a:ext cx="2025307"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Terabytes/second</a:t>
            </a:r>
            <a:endParaRPr lang="en-US" sz="1100"/>
          </a:p>
        </p:txBody>
      </p:sp>
      <p:sp>
        <p:nvSpPr>
          <p:cNvPr id="17" name="AutoShape 17"/>
          <p:cNvSpPr/>
          <p:nvPr/>
        </p:nvSpPr>
        <p:spPr>
          <a:xfrm>
            <a:off x="380956" y="4743471"/>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Use Cases</a:t>
            </a:r>
            <a:endParaRPr lang="en-US" sz="1100"/>
          </a:p>
        </p:txBody>
      </p:sp>
      <p:sp>
        <p:nvSpPr>
          <p:cNvPr id="18" name="Freeform 18"/>
          <p:cNvSpPr/>
          <p:nvPr/>
        </p:nvSpPr>
        <p:spPr>
          <a:xfrm>
            <a:off x="380956" y="5200541"/>
            <a:ext cx="1752600" cy="933450"/>
          </a:xfrm>
          <a:custGeom>
            <a:avLst/>
            <a:gdLst/>
            <a:ahLst/>
            <a:cxnLst/>
            <a:rect l="l" t="t" r="r" b="b"/>
            <a:pathLst>
              <a:path w="1752600" h="933450">
                <a:moveTo>
                  <a:pt x="76197" y="0"/>
                </a:moveTo>
                <a:lnTo>
                  <a:pt x="1676403" y="0"/>
                </a:lnTo>
                <a:cubicBezTo>
                  <a:pt x="1718485" y="0"/>
                  <a:pt x="1752600" y="34115"/>
                  <a:pt x="1752600" y="76197"/>
                </a:cubicBezTo>
                <a:lnTo>
                  <a:pt x="1752600" y="857253"/>
                </a:lnTo>
                <a:cubicBezTo>
                  <a:pt x="1752600" y="899335"/>
                  <a:pt x="1718485" y="933450"/>
                  <a:pt x="1676403" y="933450"/>
                </a:cubicBezTo>
                <a:lnTo>
                  <a:pt x="76197" y="933450"/>
                </a:lnTo>
                <a:cubicBezTo>
                  <a:pt x="34115" y="933450"/>
                  <a:pt x="0" y="899335"/>
                  <a:pt x="0" y="857253"/>
                </a:cubicBezTo>
                <a:lnTo>
                  <a:pt x="0" y="76197"/>
                </a:lnTo>
                <a:cubicBezTo>
                  <a:pt x="0" y="34115"/>
                  <a:pt x="34115"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1116771" y="5388646"/>
            <a:ext cx="285750" cy="214312"/>
          </a:xfrm>
          <a:custGeom>
            <a:avLst/>
            <a:gdLst/>
            <a:ahLst/>
            <a:cxnLst/>
            <a:rect l="l" t="t" r="r" b="b"/>
            <a:pathLst>
              <a:path w="285750" h="214312">
                <a:moveTo>
                  <a:pt x="35719" y="0"/>
                </a:moveTo>
                <a:cubicBezTo>
                  <a:pt x="16019" y="0"/>
                  <a:pt x="0" y="16017"/>
                  <a:pt x="0" y="35718"/>
                </a:cubicBezTo>
                <a:lnTo>
                  <a:pt x="0" y="39849"/>
                </a:lnTo>
                <a:cubicBezTo>
                  <a:pt x="0" y="43645"/>
                  <a:pt x="2456" y="46881"/>
                  <a:pt x="5638" y="48946"/>
                </a:cubicBezTo>
                <a:cubicBezTo>
                  <a:pt x="13004" y="53745"/>
                  <a:pt x="17859" y="62005"/>
                  <a:pt x="17859" y="71437"/>
                </a:cubicBezTo>
                <a:cubicBezTo>
                  <a:pt x="17859" y="80870"/>
                  <a:pt x="13004" y="89130"/>
                  <a:pt x="5638" y="93929"/>
                </a:cubicBezTo>
                <a:cubicBezTo>
                  <a:pt x="2456" y="95994"/>
                  <a:pt x="0" y="99231"/>
                  <a:pt x="0" y="103026"/>
                </a:cubicBezTo>
                <a:lnTo>
                  <a:pt x="0" y="133945"/>
                </a:lnTo>
                <a:lnTo>
                  <a:pt x="285750" y="133945"/>
                </a:lnTo>
                <a:lnTo>
                  <a:pt x="285750" y="103026"/>
                </a:lnTo>
                <a:cubicBezTo>
                  <a:pt x="285750" y="99231"/>
                  <a:pt x="283294" y="95994"/>
                  <a:pt x="280112" y="93929"/>
                </a:cubicBezTo>
                <a:cubicBezTo>
                  <a:pt x="272746" y="89130"/>
                  <a:pt x="267891" y="80870"/>
                  <a:pt x="267891" y="71437"/>
                </a:cubicBezTo>
                <a:cubicBezTo>
                  <a:pt x="267891" y="62005"/>
                  <a:pt x="272746" y="53745"/>
                  <a:pt x="280112" y="48946"/>
                </a:cubicBezTo>
                <a:cubicBezTo>
                  <a:pt x="283294" y="46881"/>
                  <a:pt x="285750" y="43645"/>
                  <a:pt x="285750" y="39849"/>
                </a:cubicBezTo>
                <a:lnTo>
                  <a:pt x="285750" y="35718"/>
                </a:lnTo>
                <a:cubicBezTo>
                  <a:pt x="285750" y="16017"/>
                  <a:pt x="269731" y="0"/>
                  <a:pt x="250031" y="0"/>
                </a:cubicBezTo>
                <a:lnTo>
                  <a:pt x="35719" y="0"/>
                </a:lnTo>
                <a:close/>
                <a:moveTo>
                  <a:pt x="285750" y="196454"/>
                </a:moveTo>
                <a:lnTo>
                  <a:pt x="285750" y="160733"/>
                </a:lnTo>
                <a:lnTo>
                  <a:pt x="0" y="160733"/>
                </a:lnTo>
                <a:lnTo>
                  <a:pt x="0" y="196454"/>
                </a:lnTo>
                <a:cubicBezTo>
                  <a:pt x="0" y="206332"/>
                  <a:pt x="7981" y="214312"/>
                  <a:pt x="17859" y="214312"/>
                </a:cubicBezTo>
                <a:lnTo>
                  <a:pt x="53577" y="214312"/>
                </a:lnTo>
                <a:lnTo>
                  <a:pt x="53577" y="200918"/>
                </a:lnTo>
                <a:cubicBezTo>
                  <a:pt x="53577" y="193494"/>
                  <a:pt x="59550" y="187523"/>
                  <a:pt x="66973" y="187523"/>
                </a:cubicBezTo>
                <a:cubicBezTo>
                  <a:pt x="74395" y="187523"/>
                  <a:pt x="80367" y="193494"/>
                  <a:pt x="80367" y="200918"/>
                </a:cubicBezTo>
                <a:lnTo>
                  <a:pt x="80367" y="214312"/>
                </a:lnTo>
                <a:lnTo>
                  <a:pt x="129480" y="214312"/>
                </a:lnTo>
                <a:lnTo>
                  <a:pt x="129480" y="200918"/>
                </a:lnTo>
                <a:cubicBezTo>
                  <a:pt x="129480" y="193494"/>
                  <a:pt x="135452" y="187523"/>
                  <a:pt x="142875" y="187523"/>
                </a:cubicBezTo>
                <a:cubicBezTo>
                  <a:pt x="150298" y="187523"/>
                  <a:pt x="156270" y="193494"/>
                  <a:pt x="156270" y="200918"/>
                </a:cubicBezTo>
                <a:lnTo>
                  <a:pt x="156270" y="214312"/>
                </a:lnTo>
                <a:lnTo>
                  <a:pt x="205383" y="214312"/>
                </a:lnTo>
                <a:lnTo>
                  <a:pt x="205383" y="200918"/>
                </a:lnTo>
                <a:cubicBezTo>
                  <a:pt x="205383" y="193494"/>
                  <a:pt x="211355" y="187523"/>
                  <a:pt x="218777" y="187523"/>
                </a:cubicBezTo>
                <a:cubicBezTo>
                  <a:pt x="226200" y="187523"/>
                  <a:pt x="232173" y="193494"/>
                  <a:pt x="232173" y="200918"/>
                </a:cubicBezTo>
                <a:lnTo>
                  <a:pt x="232173" y="214312"/>
                </a:lnTo>
                <a:lnTo>
                  <a:pt x="267891" y="214312"/>
                </a:lnTo>
                <a:cubicBezTo>
                  <a:pt x="277769" y="214312"/>
                  <a:pt x="285750" y="206332"/>
                  <a:pt x="285750" y="196454"/>
                </a:cubicBezTo>
                <a:close/>
                <a:moveTo>
                  <a:pt x="89298" y="53579"/>
                </a:moveTo>
                <a:lnTo>
                  <a:pt x="89298" y="89297"/>
                </a:lnTo>
                <a:cubicBezTo>
                  <a:pt x="89298" y="99175"/>
                  <a:pt x="81316" y="107156"/>
                  <a:pt x="71437" y="107156"/>
                </a:cubicBezTo>
                <a:cubicBezTo>
                  <a:pt x="61559" y="107156"/>
                  <a:pt x="53577" y="99175"/>
                  <a:pt x="53577" y="89297"/>
                </a:cubicBezTo>
                <a:lnTo>
                  <a:pt x="53577" y="53579"/>
                </a:lnTo>
                <a:cubicBezTo>
                  <a:pt x="53577" y="43699"/>
                  <a:pt x="61559" y="35718"/>
                  <a:pt x="71437" y="35718"/>
                </a:cubicBezTo>
                <a:cubicBezTo>
                  <a:pt x="81316" y="35718"/>
                  <a:pt x="89298" y="43699"/>
                  <a:pt x="89298" y="53579"/>
                </a:cubicBezTo>
                <a:close/>
                <a:moveTo>
                  <a:pt x="160734" y="53579"/>
                </a:moveTo>
                <a:lnTo>
                  <a:pt x="160734" y="89297"/>
                </a:lnTo>
                <a:cubicBezTo>
                  <a:pt x="160734" y="99175"/>
                  <a:pt x="152753" y="107156"/>
                  <a:pt x="142875" y="107156"/>
                </a:cubicBezTo>
                <a:cubicBezTo>
                  <a:pt x="132997" y="107156"/>
                  <a:pt x="125016" y="99175"/>
                  <a:pt x="125016" y="89297"/>
                </a:cubicBezTo>
                <a:lnTo>
                  <a:pt x="125016" y="53579"/>
                </a:lnTo>
                <a:cubicBezTo>
                  <a:pt x="125016" y="43699"/>
                  <a:pt x="132997" y="35718"/>
                  <a:pt x="142875" y="35718"/>
                </a:cubicBezTo>
                <a:cubicBezTo>
                  <a:pt x="152753" y="35718"/>
                  <a:pt x="160734" y="43699"/>
                  <a:pt x="160734" y="53579"/>
                </a:cubicBezTo>
                <a:close/>
                <a:moveTo>
                  <a:pt x="232173" y="53579"/>
                </a:moveTo>
                <a:lnTo>
                  <a:pt x="232173" y="89297"/>
                </a:lnTo>
                <a:cubicBezTo>
                  <a:pt x="232173" y="99175"/>
                  <a:pt x="224191" y="107156"/>
                  <a:pt x="214313" y="107156"/>
                </a:cubicBezTo>
                <a:cubicBezTo>
                  <a:pt x="204434" y="107156"/>
                  <a:pt x="196452" y="99175"/>
                  <a:pt x="196452" y="89297"/>
                </a:cubicBezTo>
                <a:lnTo>
                  <a:pt x="196452" y="53579"/>
                </a:lnTo>
                <a:cubicBezTo>
                  <a:pt x="196452" y="43699"/>
                  <a:pt x="204434" y="35718"/>
                  <a:pt x="214313" y="35718"/>
                </a:cubicBezTo>
                <a:cubicBezTo>
                  <a:pt x="224191" y="35718"/>
                  <a:pt x="232173" y="43699"/>
                  <a:pt x="232173" y="53579"/>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490475" y="5714849"/>
            <a:ext cx="1533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Memory Bandwidth</a:t>
            </a:r>
            <a:endParaRPr lang="en-US" sz="1100"/>
          </a:p>
        </p:txBody>
      </p:sp>
      <p:sp>
        <p:nvSpPr>
          <p:cNvPr id="21" name="Freeform 21"/>
          <p:cNvSpPr/>
          <p:nvPr/>
        </p:nvSpPr>
        <p:spPr>
          <a:xfrm>
            <a:off x="2285956" y="5200541"/>
            <a:ext cx="1752600" cy="933450"/>
          </a:xfrm>
          <a:custGeom>
            <a:avLst/>
            <a:gdLst/>
            <a:ahLst/>
            <a:cxnLst/>
            <a:rect l="l" t="t" r="r" b="b"/>
            <a:pathLst>
              <a:path w="1752600" h="933450">
                <a:moveTo>
                  <a:pt x="76197" y="0"/>
                </a:moveTo>
                <a:lnTo>
                  <a:pt x="1676403" y="0"/>
                </a:lnTo>
                <a:cubicBezTo>
                  <a:pt x="1718485" y="0"/>
                  <a:pt x="1752600" y="34115"/>
                  <a:pt x="1752600" y="76197"/>
                </a:cubicBezTo>
                <a:lnTo>
                  <a:pt x="1752600" y="857253"/>
                </a:lnTo>
                <a:cubicBezTo>
                  <a:pt x="1752600" y="899335"/>
                  <a:pt x="1718485" y="933450"/>
                  <a:pt x="1676403" y="933450"/>
                </a:cubicBezTo>
                <a:lnTo>
                  <a:pt x="76197" y="933450"/>
                </a:lnTo>
                <a:cubicBezTo>
                  <a:pt x="34115" y="933450"/>
                  <a:pt x="0" y="899335"/>
                  <a:pt x="0" y="857253"/>
                </a:cubicBezTo>
                <a:lnTo>
                  <a:pt x="0" y="76197"/>
                </a:lnTo>
                <a:cubicBezTo>
                  <a:pt x="0" y="34115"/>
                  <a:pt x="34115"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3039630" y="5370786"/>
            <a:ext cx="250031" cy="250033"/>
          </a:xfrm>
          <a:custGeom>
            <a:avLst/>
            <a:gdLst/>
            <a:ahLst/>
            <a:cxnLst/>
            <a:rect l="l" t="t" r="r" b="b"/>
            <a:pathLst>
              <a:path w="250031" h="250033">
                <a:moveTo>
                  <a:pt x="35719" y="0"/>
                </a:moveTo>
                <a:cubicBezTo>
                  <a:pt x="16019" y="0"/>
                  <a:pt x="0" y="16018"/>
                  <a:pt x="0" y="35718"/>
                </a:cubicBezTo>
                <a:lnTo>
                  <a:pt x="0" y="127305"/>
                </a:lnTo>
                <a:cubicBezTo>
                  <a:pt x="10102" y="120215"/>
                  <a:pt x="22436" y="116087"/>
                  <a:pt x="35719" y="116087"/>
                </a:cubicBezTo>
                <a:lnTo>
                  <a:pt x="214312" y="116087"/>
                </a:lnTo>
                <a:cubicBezTo>
                  <a:pt x="227595" y="116087"/>
                  <a:pt x="239930" y="120215"/>
                  <a:pt x="250031" y="127305"/>
                </a:cubicBezTo>
                <a:lnTo>
                  <a:pt x="250031" y="35718"/>
                </a:lnTo>
                <a:cubicBezTo>
                  <a:pt x="250031" y="16018"/>
                  <a:pt x="234014" y="0"/>
                  <a:pt x="214312" y="0"/>
                </a:cubicBezTo>
                <a:lnTo>
                  <a:pt x="35719" y="0"/>
                </a:lnTo>
                <a:close/>
                <a:moveTo>
                  <a:pt x="250031" y="178593"/>
                </a:moveTo>
                <a:cubicBezTo>
                  <a:pt x="250031" y="158893"/>
                  <a:pt x="234014" y="142875"/>
                  <a:pt x="214312" y="142875"/>
                </a:cubicBezTo>
                <a:lnTo>
                  <a:pt x="35719" y="142875"/>
                </a:lnTo>
                <a:cubicBezTo>
                  <a:pt x="16019" y="142875"/>
                  <a:pt x="0" y="158893"/>
                  <a:pt x="0" y="178593"/>
                </a:cubicBezTo>
                <a:lnTo>
                  <a:pt x="0" y="214314"/>
                </a:lnTo>
                <a:cubicBezTo>
                  <a:pt x="0" y="234014"/>
                  <a:pt x="16019" y="250032"/>
                  <a:pt x="35719" y="250032"/>
                </a:cubicBezTo>
                <a:lnTo>
                  <a:pt x="214312" y="250032"/>
                </a:lnTo>
                <a:cubicBezTo>
                  <a:pt x="234014" y="250032"/>
                  <a:pt x="250031" y="234014"/>
                  <a:pt x="250031" y="214314"/>
                </a:cubicBezTo>
                <a:lnTo>
                  <a:pt x="250031" y="178593"/>
                </a:lnTo>
                <a:close/>
                <a:moveTo>
                  <a:pt x="125016" y="196454"/>
                </a:moveTo>
                <a:cubicBezTo>
                  <a:pt x="125016" y="186597"/>
                  <a:pt x="133019" y="178593"/>
                  <a:pt x="142875" y="178593"/>
                </a:cubicBezTo>
                <a:cubicBezTo>
                  <a:pt x="152731" y="178593"/>
                  <a:pt x="160734" y="186597"/>
                  <a:pt x="160734" y="196454"/>
                </a:cubicBezTo>
                <a:cubicBezTo>
                  <a:pt x="160734" y="206310"/>
                  <a:pt x="152731" y="214314"/>
                  <a:pt x="142875" y="214314"/>
                </a:cubicBezTo>
                <a:cubicBezTo>
                  <a:pt x="133019" y="214314"/>
                  <a:pt x="125016" y="206310"/>
                  <a:pt x="125016" y="196454"/>
                </a:cubicBezTo>
                <a:close/>
                <a:moveTo>
                  <a:pt x="196452" y="178593"/>
                </a:moveTo>
                <a:cubicBezTo>
                  <a:pt x="206310" y="178593"/>
                  <a:pt x="214312" y="186597"/>
                  <a:pt x="214312" y="196454"/>
                </a:cubicBezTo>
                <a:cubicBezTo>
                  <a:pt x="214312" y="206310"/>
                  <a:pt x="206310" y="214314"/>
                  <a:pt x="196452" y="214314"/>
                </a:cubicBezTo>
                <a:cubicBezTo>
                  <a:pt x="186596" y="214314"/>
                  <a:pt x="178594" y="206310"/>
                  <a:pt x="178594" y="196454"/>
                </a:cubicBezTo>
                <a:cubicBezTo>
                  <a:pt x="178594" y="186597"/>
                  <a:pt x="186596" y="178593"/>
                  <a:pt x="196452" y="17859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2395475" y="5714849"/>
            <a:ext cx="1533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Disk Bandwidth</a:t>
            </a:r>
            <a:endParaRPr lang="en-US" sz="1100"/>
          </a:p>
        </p:txBody>
      </p:sp>
      <p:sp>
        <p:nvSpPr>
          <p:cNvPr id="24" name="Freeform 24"/>
          <p:cNvSpPr/>
          <p:nvPr/>
        </p:nvSpPr>
        <p:spPr>
          <a:xfrm>
            <a:off x="4190956" y="5200541"/>
            <a:ext cx="1752600" cy="933450"/>
          </a:xfrm>
          <a:custGeom>
            <a:avLst/>
            <a:gdLst/>
            <a:ahLst/>
            <a:cxnLst/>
            <a:rect l="l" t="t" r="r" b="b"/>
            <a:pathLst>
              <a:path w="1752600" h="933450">
                <a:moveTo>
                  <a:pt x="76197" y="0"/>
                </a:moveTo>
                <a:lnTo>
                  <a:pt x="1676403" y="0"/>
                </a:lnTo>
                <a:cubicBezTo>
                  <a:pt x="1718485" y="0"/>
                  <a:pt x="1752600" y="34115"/>
                  <a:pt x="1752600" y="76197"/>
                </a:cubicBezTo>
                <a:lnTo>
                  <a:pt x="1752600" y="857253"/>
                </a:lnTo>
                <a:cubicBezTo>
                  <a:pt x="1752600" y="899335"/>
                  <a:pt x="1718485" y="933450"/>
                  <a:pt x="1676403" y="933450"/>
                </a:cubicBezTo>
                <a:lnTo>
                  <a:pt x="76197" y="933450"/>
                </a:lnTo>
                <a:cubicBezTo>
                  <a:pt x="34115" y="933450"/>
                  <a:pt x="0" y="899335"/>
                  <a:pt x="0" y="857253"/>
                </a:cubicBezTo>
                <a:lnTo>
                  <a:pt x="0" y="76197"/>
                </a:lnTo>
                <a:cubicBezTo>
                  <a:pt x="0" y="34115"/>
                  <a:pt x="34115"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4908911" y="5370786"/>
            <a:ext cx="321469" cy="250033"/>
          </a:xfrm>
          <a:custGeom>
            <a:avLst/>
            <a:gdLst/>
            <a:ahLst/>
            <a:cxnLst/>
            <a:rect l="l" t="t" r="r" b="b"/>
            <a:pathLst>
              <a:path w="321469" h="250033">
                <a:moveTo>
                  <a:pt x="138410" y="31254"/>
                </a:moveTo>
                <a:lnTo>
                  <a:pt x="183059" y="31254"/>
                </a:lnTo>
                <a:lnTo>
                  <a:pt x="183059" y="58043"/>
                </a:lnTo>
                <a:lnTo>
                  <a:pt x="138410" y="58043"/>
                </a:lnTo>
                <a:lnTo>
                  <a:pt x="138410" y="31254"/>
                </a:lnTo>
                <a:close/>
                <a:moveTo>
                  <a:pt x="133946" y="0"/>
                </a:moveTo>
                <a:cubicBezTo>
                  <a:pt x="119156" y="0"/>
                  <a:pt x="107156" y="12000"/>
                  <a:pt x="107156" y="26789"/>
                </a:cubicBezTo>
                <a:lnTo>
                  <a:pt x="107156" y="62508"/>
                </a:lnTo>
                <a:cubicBezTo>
                  <a:pt x="107156" y="77298"/>
                  <a:pt x="119156" y="89297"/>
                  <a:pt x="133946" y="89297"/>
                </a:cubicBezTo>
                <a:lnTo>
                  <a:pt x="142875" y="89297"/>
                </a:lnTo>
                <a:lnTo>
                  <a:pt x="142875" y="107157"/>
                </a:lnTo>
                <a:lnTo>
                  <a:pt x="17859" y="107157"/>
                </a:lnTo>
                <a:cubicBezTo>
                  <a:pt x="7981" y="107157"/>
                  <a:pt x="0" y="115138"/>
                  <a:pt x="0" y="125016"/>
                </a:cubicBezTo>
                <a:cubicBezTo>
                  <a:pt x="0" y="134894"/>
                  <a:pt x="7981" y="142875"/>
                  <a:pt x="17859" y="142875"/>
                </a:cubicBezTo>
                <a:lnTo>
                  <a:pt x="71437" y="142875"/>
                </a:lnTo>
                <a:lnTo>
                  <a:pt x="71437" y="160735"/>
                </a:lnTo>
                <a:lnTo>
                  <a:pt x="62508" y="160735"/>
                </a:lnTo>
                <a:cubicBezTo>
                  <a:pt x="47718" y="160735"/>
                  <a:pt x="35719" y="172734"/>
                  <a:pt x="35719" y="187524"/>
                </a:cubicBezTo>
                <a:lnTo>
                  <a:pt x="35719" y="223243"/>
                </a:lnTo>
                <a:cubicBezTo>
                  <a:pt x="35719" y="238032"/>
                  <a:pt x="47718" y="250032"/>
                  <a:pt x="62508" y="250032"/>
                </a:cubicBezTo>
                <a:lnTo>
                  <a:pt x="116086" y="250032"/>
                </a:lnTo>
                <a:cubicBezTo>
                  <a:pt x="130876" y="250032"/>
                  <a:pt x="142875" y="238032"/>
                  <a:pt x="142875" y="223243"/>
                </a:cubicBezTo>
                <a:lnTo>
                  <a:pt x="142875" y="187524"/>
                </a:lnTo>
                <a:cubicBezTo>
                  <a:pt x="142875" y="172734"/>
                  <a:pt x="130876" y="160735"/>
                  <a:pt x="116086" y="160735"/>
                </a:cubicBezTo>
                <a:lnTo>
                  <a:pt x="107156" y="160735"/>
                </a:lnTo>
                <a:lnTo>
                  <a:pt x="107156" y="142875"/>
                </a:lnTo>
                <a:lnTo>
                  <a:pt x="214313" y="142875"/>
                </a:lnTo>
                <a:lnTo>
                  <a:pt x="214313" y="160735"/>
                </a:lnTo>
                <a:lnTo>
                  <a:pt x="205383" y="160735"/>
                </a:lnTo>
                <a:cubicBezTo>
                  <a:pt x="190593" y="160735"/>
                  <a:pt x="178594" y="172734"/>
                  <a:pt x="178594" y="187524"/>
                </a:cubicBezTo>
                <a:lnTo>
                  <a:pt x="178594" y="223243"/>
                </a:lnTo>
                <a:cubicBezTo>
                  <a:pt x="178594" y="238032"/>
                  <a:pt x="190593" y="250032"/>
                  <a:pt x="205383" y="250032"/>
                </a:cubicBezTo>
                <a:lnTo>
                  <a:pt x="258961" y="250032"/>
                </a:lnTo>
                <a:cubicBezTo>
                  <a:pt x="273751" y="250032"/>
                  <a:pt x="285750" y="238032"/>
                  <a:pt x="285750" y="223243"/>
                </a:cubicBezTo>
                <a:lnTo>
                  <a:pt x="285750" y="187524"/>
                </a:lnTo>
                <a:cubicBezTo>
                  <a:pt x="285750" y="172734"/>
                  <a:pt x="273751" y="160735"/>
                  <a:pt x="258961" y="160735"/>
                </a:cubicBezTo>
                <a:lnTo>
                  <a:pt x="250031" y="160735"/>
                </a:lnTo>
                <a:lnTo>
                  <a:pt x="250031" y="142875"/>
                </a:lnTo>
                <a:lnTo>
                  <a:pt x="303609" y="142875"/>
                </a:lnTo>
                <a:cubicBezTo>
                  <a:pt x="313488" y="142875"/>
                  <a:pt x="321469" y="134894"/>
                  <a:pt x="321469" y="125016"/>
                </a:cubicBezTo>
                <a:cubicBezTo>
                  <a:pt x="321469" y="115138"/>
                  <a:pt x="313488" y="107157"/>
                  <a:pt x="303609" y="107157"/>
                </a:cubicBezTo>
                <a:lnTo>
                  <a:pt x="178594" y="107157"/>
                </a:lnTo>
                <a:lnTo>
                  <a:pt x="178594" y="89297"/>
                </a:lnTo>
                <a:lnTo>
                  <a:pt x="187523" y="89297"/>
                </a:lnTo>
                <a:cubicBezTo>
                  <a:pt x="202314" y="89297"/>
                  <a:pt x="214313" y="77298"/>
                  <a:pt x="214313" y="62508"/>
                </a:cubicBezTo>
                <a:lnTo>
                  <a:pt x="214313" y="26789"/>
                </a:lnTo>
                <a:cubicBezTo>
                  <a:pt x="214313" y="12000"/>
                  <a:pt x="202314" y="0"/>
                  <a:pt x="187523" y="0"/>
                </a:cubicBezTo>
                <a:lnTo>
                  <a:pt x="133946" y="0"/>
                </a:lnTo>
                <a:close/>
                <a:moveTo>
                  <a:pt x="250031" y="191989"/>
                </a:moveTo>
                <a:lnTo>
                  <a:pt x="254497" y="191989"/>
                </a:lnTo>
                <a:lnTo>
                  <a:pt x="254497" y="218778"/>
                </a:lnTo>
                <a:lnTo>
                  <a:pt x="209848" y="218778"/>
                </a:lnTo>
                <a:lnTo>
                  <a:pt x="209848" y="191989"/>
                </a:lnTo>
                <a:lnTo>
                  <a:pt x="250031" y="191989"/>
                </a:lnTo>
                <a:close/>
                <a:moveTo>
                  <a:pt x="107156" y="191989"/>
                </a:moveTo>
                <a:lnTo>
                  <a:pt x="111622" y="191989"/>
                </a:lnTo>
                <a:lnTo>
                  <a:pt x="111622" y="218778"/>
                </a:lnTo>
                <a:lnTo>
                  <a:pt x="66973" y="218778"/>
                </a:lnTo>
                <a:lnTo>
                  <a:pt x="66973" y="191989"/>
                </a:lnTo>
                <a:lnTo>
                  <a:pt x="107156" y="19198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4300475" y="5714849"/>
            <a:ext cx="15335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Network Bandwidth</a:t>
            </a:r>
            <a:endParaRPr lang="en-US" sz="1100"/>
          </a:p>
        </p:txBody>
      </p:sp>
      <p:sp>
        <p:nvSpPr>
          <p:cNvPr id="27" name="Freeform 27"/>
          <p:cNvSpPr/>
          <p:nvPr/>
        </p:nvSpPr>
        <p:spPr>
          <a:xfrm>
            <a:off x="6248338" y="990484"/>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8" name="Picture 28"/>
          <p:cNvPicPr>
            <a:picLocks noChangeAspect="1"/>
          </p:cNvPicPr>
          <p:nvPr/>
        </p:nvPicPr>
        <p:blipFill>
          <a:blip r:embed="rId1"/>
          <a:srcRect t="49" b="49"/>
          <a:stretch>
            <a:fillRect/>
          </a:stretch>
        </p:blipFill>
        <p:spPr>
          <a:xfrm>
            <a:off x="6400720" y="1989188"/>
            <a:ext cx="5257800" cy="2838450"/>
          </a:xfrm>
          <a:prstGeom prst="roundRect">
            <a:avLst>
              <a:gd name="adj" fmla="val 0"/>
            </a:avLst>
          </a:prstGeom>
          <a:ln w="12700">
            <a:noFill/>
            <a:prstDash val="solid"/>
          </a:ln>
        </p:spPr>
      </p:pic>
      <p:sp>
        <p:nvSpPr>
          <p:cNvPr id="29" name="AutoShape 29"/>
          <p:cNvSpPr/>
          <p:nvPr/>
        </p:nvSpPr>
        <p:spPr>
          <a:xfrm>
            <a:off x="6210238" y="5905367"/>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Image source: ForrestTheWoods - Memory Bandwidth</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06244" y="629883"/>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Bandwidth Example</a:t>
            </a:r>
            <a:endParaRPr lang="en-US" sz="1100"/>
          </a:p>
        </p:txBody>
      </p:sp>
      <p:sp>
        <p:nvSpPr>
          <p:cNvPr id="3" name="AutoShape 3"/>
          <p:cNvSpPr/>
          <p:nvPr/>
        </p:nvSpPr>
        <p:spPr>
          <a:xfrm>
            <a:off x="380956" y="1148750"/>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Assumed Conditions</a:t>
            </a:r>
            <a:endParaRPr lang="en-US" sz="1100"/>
          </a:p>
        </p:txBody>
      </p:sp>
      <p:sp>
        <p:nvSpPr>
          <p:cNvPr id="4" name="Freeform 4"/>
          <p:cNvSpPr/>
          <p:nvPr/>
        </p:nvSpPr>
        <p:spPr>
          <a:xfrm>
            <a:off x="380956" y="1605824"/>
            <a:ext cx="5562600" cy="1104900"/>
          </a:xfrm>
          <a:custGeom>
            <a:avLst/>
            <a:gdLst/>
            <a:ahLst/>
            <a:cxnLst/>
            <a:rect l="l" t="t" r="r" b="b"/>
            <a:pathLst>
              <a:path w="5562600" h="1104900">
                <a:moveTo>
                  <a:pt x="114303" y="0"/>
                </a:moveTo>
                <a:lnTo>
                  <a:pt x="5448297" y="0"/>
                </a:lnTo>
                <a:cubicBezTo>
                  <a:pt x="5511425" y="0"/>
                  <a:pt x="5562600" y="51175"/>
                  <a:pt x="5562600" y="114303"/>
                </a:cubicBezTo>
                <a:lnTo>
                  <a:pt x="5562600" y="990597"/>
                </a:lnTo>
                <a:cubicBezTo>
                  <a:pt x="5562600" y="1053725"/>
                  <a:pt x="5511425" y="1104900"/>
                  <a:pt x="5448297" y="1104900"/>
                </a:cubicBezTo>
                <a:lnTo>
                  <a:pt x="114303" y="1104900"/>
                </a:lnTo>
                <a:cubicBezTo>
                  <a:pt x="51175" y="1104900"/>
                  <a:pt x="0" y="1053725"/>
                  <a:pt x="0" y="990597"/>
                </a:cubicBezTo>
                <a:lnTo>
                  <a:pt x="0" y="114303"/>
                </a:lnTo>
                <a:cubicBezTo>
                  <a:pt x="0" y="51217"/>
                  <a:pt x="51217" y="0"/>
                  <a:pt x="1143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647629" y="2015362"/>
            <a:ext cx="285750" cy="285750"/>
          </a:xfrm>
          <a:custGeom>
            <a:avLst/>
            <a:gdLst/>
            <a:ahLst/>
            <a:cxnLst/>
            <a:rect l="l" t="t" r="r" b="b"/>
            <a:pathLst>
              <a:path w="285750" h="285750">
                <a:moveTo>
                  <a:pt x="0" y="142875"/>
                </a:moveTo>
                <a:cubicBezTo>
                  <a:pt x="0" y="64019"/>
                  <a:pt x="64019" y="0"/>
                  <a:pt x="142875" y="0"/>
                </a:cubicBezTo>
                <a:cubicBezTo>
                  <a:pt x="221731" y="0"/>
                  <a:pt x="285750" y="64019"/>
                  <a:pt x="285750" y="142875"/>
                </a:cubicBezTo>
                <a:cubicBezTo>
                  <a:pt x="285750" y="221731"/>
                  <a:pt x="221731" y="285750"/>
                  <a:pt x="142875" y="285750"/>
                </a:cubicBezTo>
                <a:cubicBezTo>
                  <a:pt x="64019" y="285750"/>
                  <a:pt x="0" y="221731"/>
                  <a:pt x="0" y="142875"/>
                </a:cubicBezTo>
                <a:close/>
                <a:moveTo>
                  <a:pt x="160734" y="53577"/>
                </a:moveTo>
                <a:cubicBezTo>
                  <a:pt x="160734" y="43721"/>
                  <a:pt x="152731" y="35719"/>
                  <a:pt x="142875" y="35719"/>
                </a:cubicBezTo>
                <a:cubicBezTo>
                  <a:pt x="133019" y="35719"/>
                  <a:pt x="125016" y="43721"/>
                  <a:pt x="125016" y="53577"/>
                </a:cubicBezTo>
                <a:cubicBezTo>
                  <a:pt x="125016" y="63435"/>
                  <a:pt x="133019" y="71438"/>
                  <a:pt x="142875" y="71438"/>
                </a:cubicBezTo>
                <a:cubicBezTo>
                  <a:pt x="152731" y="71438"/>
                  <a:pt x="160734" y="63435"/>
                  <a:pt x="160734" y="53577"/>
                </a:cubicBezTo>
                <a:close/>
                <a:moveTo>
                  <a:pt x="142875" y="232173"/>
                </a:moveTo>
                <a:cubicBezTo>
                  <a:pt x="162577" y="232173"/>
                  <a:pt x="178594" y="216154"/>
                  <a:pt x="178594" y="196452"/>
                </a:cubicBezTo>
                <a:cubicBezTo>
                  <a:pt x="178594" y="187413"/>
                  <a:pt x="175245" y="179095"/>
                  <a:pt x="169664" y="172844"/>
                </a:cubicBezTo>
                <a:lnTo>
                  <a:pt x="208451" y="95324"/>
                </a:lnTo>
                <a:cubicBezTo>
                  <a:pt x="211745" y="88683"/>
                  <a:pt x="209066" y="80646"/>
                  <a:pt x="202481" y="77353"/>
                </a:cubicBezTo>
                <a:cubicBezTo>
                  <a:pt x="195895" y="74061"/>
                  <a:pt x="187803" y="76740"/>
                  <a:pt x="184509" y="83325"/>
                </a:cubicBezTo>
                <a:lnTo>
                  <a:pt x="145721" y="160846"/>
                </a:lnTo>
                <a:cubicBezTo>
                  <a:pt x="144772" y="160790"/>
                  <a:pt x="143824" y="160734"/>
                  <a:pt x="142875" y="160734"/>
                </a:cubicBezTo>
                <a:cubicBezTo>
                  <a:pt x="123173" y="160734"/>
                  <a:pt x="107156" y="176752"/>
                  <a:pt x="107156" y="196452"/>
                </a:cubicBezTo>
                <a:cubicBezTo>
                  <a:pt x="107156" y="216154"/>
                  <a:pt x="123173" y="232173"/>
                  <a:pt x="142875" y="232173"/>
                </a:cubicBezTo>
                <a:close/>
                <a:moveTo>
                  <a:pt x="98227" y="80367"/>
                </a:moveTo>
                <a:cubicBezTo>
                  <a:pt x="98227" y="70510"/>
                  <a:pt x="90225" y="62508"/>
                  <a:pt x="80367" y="62508"/>
                </a:cubicBezTo>
                <a:cubicBezTo>
                  <a:pt x="70510" y="62508"/>
                  <a:pt x="62508" y="70510"/>
                  <a:pt x="62508" y="80367"/>
                </a:cubicBezTo>
                <a:cubicBezTo>
                  <a:pt x="62508" y="90225"/>
                  <a:pt x="70510" y="98227"/>
                  <a:pt x="80367" y="98227"/>
                </a:cubicBezTo>
                <a:cubicBezTo>
                  <a:pt x="90225" y="98227"/>
                  <a:pt x="98227" y="90225"/>
                  <a:pt x="98227" y="80367"/>
                </a:cubicBezTo>
                <a:close/>
                <a:moveTo>
                  <a:pt x="53577" y="160734"/>
                </a:moveTo>
                <a:cubicBezTo>
                  <a:pt x="63435" y="160734"/>
                  <a:pt x="71437" y="152731"/>
                  <a:pt x="71437" y="142875"/>
                </a:cubicBezTo>
                <a:cubicBezTo>
                  <a:pt x="71437" y="133019"/>
                  <a:pt x="63435" y="125016"/>
                  <a:pt x="53577" y="125016"/>
                </a:cubicBezTo>
                <a:cubicBezTo>
                  <a:pt x="43721" y="125016"/>
                  <a:pt x="35719" y="133019"/>
                  <a:pt x="35719" y="142875"/>
                </a:cubicBezTo>
                <a:cubicBezTo>
                  <a:pt x="35719" y="152731"/>
                  <a:pt x="43721" y="160734"/>
                  <a:pt x="53577" y="160734"/>
                </a:cubicBezTo>
                <a:close/>
                <a:moveTo>
                  <a:pt x="250031" y="142875"/>
                </a:moveTo>
                <a:cubicBezTo>
                  <a:pt x="250031" y="133019"/>
                  <a:pt x="242029" y="125016"/>
                  <a:pt x="232173" y="125016"/>
                </a:cubicBezTo>
                <a:cubicBezTo>
                  <a:pt x="222315" y="125016"/>
                  <a:pt x="214313" y="133019"/>
                  <a:pt x="214313" y="142875"/>
                </a:cubicBezTo>
                <a:cubicBezTo>
                  <a:pt x="214313" y="152731"/>
                  <a:pt x="222315" y="160734"/>
                  <a:pt x="232173" y="160734"/>
                </a:cubicBezTo>
                <a:cubicBezTo>
                  <a:pt x="242029" y="160734"/>
                  <a:pt x="250031" y="152731"/>
                  <a:pt x="250031" y="142875"/>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1119099" y="1834396"/>
            <a:ext cx="16478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Memory Bandwidth</a:t>
            </a:r>
            <a:endParaRPr lang="en-US" sz="1100"/>
          </a:p>
        </p:txBody>
      </p:sp>
      <p:sp>
        <p:nvSpPr>
          <p:cNvPr id="7" name="AutoShape 7"/>
          <p:cNvSpPr/>
          <p:nvPr/>
        </p:nvSpPr>
        <p:spPr>
          <a:xfrm>
            <a:off x="1119099" y="2101101"/>
            <a:ext cx="17335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100 GB/s</a:t>
            </a:r>
            <a:endParaRPr lang="en-US" sz="1100"/>
          </a:p>
        </p:txBody>
      </p:sp>
      <p:sp>
        <p:nvSpPr>
          <p:cNvPr id="8" name="Freeform 8"/>
          <p:cNvSpPr/>
          <p:nvPr/>
        </p:nvSpPr>
        <p:spPr>
          <a:xfrm>
            <a:off x="399911" y="2939203"/>
            <a:ext cx="5543455" cy="1028700"/>
          </a:xfrm>
          <a:custGeom>
            <a:avLst/>
            <a:gdLst/>
            <a:ahLst/>
            <a:cxnLst/>
            <a:rect l="l" t="t" r="r" b="b"/>
            <a:pathLst>
              <a:path w="5543455" h="1028700">
                <a:moveTo>
                  <a:pt x="37909" y="0"/>
                </a:moveTo>
                <a:lnTo>
                  <a:pt x="5429156" y="0"/>
                </a:lnTo>
                <a:cubicBezTo>
                  <a:pt x="5492281" y="0"/>
                  <a:pt x="5543455" y="51173"/>
                  <a:pt x="5543455" y="114299"/>
                </a:cubicBezTo>
                <a:lnTo>
                  <a:pt x="5543455" y="914401"/>
                </a:lnTo>
                <a:cubicBezTo>
                  <a:pt x="5543455" y="977527"/>
                  <a:pt x="5492281" y="1028700"/>
                  <a:pt x="5429156" y="1028700"/>
                </a:cubicBezTo>
                <a:lnTo>
                  <a:pt x="37909" y="1028700"/>
                </a:lnTo>
                <a:cubicBezTo>
                  <a:pt x="16974" y="1028700"/>
                  <a:pt x="0" y="1011726"/>
                  <a:pt x="0" y="990790"/>
                </a:cubicBezTo>
                <a:lnTo>
                  <a:pt x="0" y="37909"/>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399911" y="2939203"/>
            <a:ext cx="37909" cy="1028700"/>
          </a:xfrm>
          <a:custGeom>
            <a:avLst/>
            <a:gdLst/>
            <a:ahLst/>
            <a:cxnLst/>
            <a:rect l="l" t="t" r="r" b="b"/>
            <a:pathLst>
              <a:path w="37909" h="1028700">
                <a:moveTo>
                  <a:pt x="37909" y="0"/>
                </a:moveTo>
                <a:lnTo>
                  <a:pt x="37909" y="0"/>
                </a:lnTo>
                <a:lnTo>
                  <a:pt x="37909" y="1028700"/>
                </a:lnTo>
                <a:lnTo>
                  <a:pt x="37909" y="1028700"/>
                </a:lnTo>
                <a:cubicBezTo>
                  <a:pt x="16974" y="1028700"/>
                  <a:pt x="0" y="1011726"/>
                  <a:pt x="0" y="990790"/>
                </a:cubicBezTo>
                <a:lnTo>
                  <a:pt x="0" y="37909"/>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609307" y="3129647"/>
            <a:ext cx="5238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This means:</a:t>
            </a:r>
            <a:endParaRPr lang="en-US" sz="1100"/>
          </a:p>
        </p:txBody>
      </p:sp>
      <p:sp>
        <p:nvSpPr>
          <p:cNvPr id="11" name="AutoShape 11"/>
          <p:cNvSpPr/>
          <p:nvPr/>
        </p:nvSpPr>
        <p:spPr>
          <a:xfrm>
            <a:off x="609307" y="3472543"/>
            <a:ext cx="52578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Up to 100 GB of data can be read per second</a:t>
            </a:r>
            <a:endParaRPr lang="en-US" sz="1100"/>
          </a:p>
        </p:txBody>
      </p:sp>
      <p:sp>
        <p:nvSpPr>
          <p:cNvPr id="12" name="AutoShape 12"/>
          <p:cNvSpPr/>
          <p:nvPr/>
        </p:nvSpPr>
        <p:spPr>
          <a:xfrm>
            <a:off x="380956" y="4037981"/>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Calculation Example</a:t>
            </a:r>
            <a:endParaRPr lang="en-US" sz="1100"/>
          </a:p>
        </p:txBody>
      </p:sp>
      <p:sp>
        <p:nvSpPr>
          <p:cNvPr id="13" name="Freeform 13"/>
          <p:cNvSpPr/>
          <p:nvPr/>
        </p:nvSpPr>
        <p:spPr>
          <a:xfrm>
            <a:off x="380956" y="4495056"/>
            <a:ext cx="5562600" cy="914400"/>
          </a:xfrm>
          <a:custGeom>
            <a:avLst/>
            <a:gdLst/>
            <a:ahLst/>
            <a:cxnLst/>
            <a:rect l="l" t="t" r="r" b="b"/>
            <a:pathLst>
              <a:path w="5562600" h="914400">
                <a:moveTo>
                  <a:pt x="76197" y="0"/>
                </a:moveTo>
                <a:lnTo>
                  <a:pt x="5486403" y="0"/>
                </a:lnTo>
                <a:cubicBezTo>
                  <a:pt x="5528485" y="0"/>
                  <a:pt x="5562600" y="34115"/>
                  <a:pt x="5562600" y="76197"/>
                </a:cubicBezTo>
                <a:lnTo>
                  <a:pt x="5562600" y="838203"/>
                </a:lnTo>
                <a:cubicBezTo>
                  <a:pt x="5562600" y="880285"/>
                  <a:pt x="5528485" y="914400"/>
                  <a:pt x="5486403" y="914400"/>
                </a:cubicBezTo>
                <a:lnTo>
                  <a:pt x="76197" y="914400"/>
                </a:lnTo>
                <a:cubicBezTo>
                  <a:pt x="34115" y="914400"/>
                  <a:pt x="0" y="880285"/>
                  <a:pt x="0" y="8382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533338" y="4647437"/>
            <a:ext cx="5343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If the program needs to read</a:t>
            </a:r>
            <a:endParaRPr lang="en-US" sz="1100"/>
          </a:p>
        </p:txBody>
      </p:sp>
      <p:sp>
        <p:nvSpPr>
          <p:cNvPr id="15" name="AutoShape 15"/>
          <p:cNvSpPr/>
          <p:nvPr/>
        </p:nvSpPr>
        <p:spPr>
          <a:xfrm>
            <a:off x="533338" y="4952200"/>
            <a:ext cx="53721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200 GB of data</a:t>
            </a:r>
            <a:endParaRPr lang="en-US" sz="1100"/>
          </a:p>
        </p:txBody>
      </p:sp>
      <p:sp>
        <p:nvSpPr>
          <p:cNvPr id="16" name="Freeform 16"/>
          <p:cNvSpPr/>
          <p:nvPr/>
        </p:nvSpPr>
        <p:spPr>
          <a:xfrm>
            <a:off x="399911" y="5561656"/>
            <a:ext cx="5543455" cy="1295400"/>
          </a:xfrm>
          <a:custGeom>
            <a:avLst/>
            <a:gdLst/>
            <a:ahLst/>
            <a:cxnLst/>
            <a:rect l="l" t="t" r="r" b="b"/>
            <a:pathLst>
              <a:path w="5543455" h="1295400">
                <a:moveTo>
                  <a:pt x="37909" y="0"/>
                </a:moveTo>
                <a:lnTo>
                  <a:pt x="5467260" y="0"/>
                </a:lnTo>
                <a:cubicBezTo>
                  <a:pt x="5509313" y="0"/>
                  <a:pt x="5543455" y="34141"/>
                  <a:pt x="5543455" y="76195"/>
                </a:cubicBezTo>
                <a:lnTo>
                  <a:pt x="5543455" y="1219205"/>
                </a:lnTo>
                <a:cubicBezTo>
                  <a:pt x="5543455" y="1261287"/>
                  <a:pt x="5509341" y="1295400"/>
                  <a:pt x="5467260" y="1295400"/>
                </a:cubicBezTo>
                <a:lnTo>
                  <a:pt x="37909" y="1295400"/>
                </a:lnTo>
                <a:cubicBezTo>
                  <a:pt x="16974" y="1295400"/>
                  <a:pt x="0" y="1278426"/>
                  <a:pt x="0" y="1257491"/>
                </a:cubicBezTo>
                <a:lnTo>
                  <a:pt x="0" y="37910"/>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399911" y="5561656"/>
            <a:ext cx="37909" cy="1295400"/>
          </a:xfrm>
          <a:custGeom>
            <a:avLst/>
            <a:gdLst/>
            <a:ahLst/>
            <a:cxnLst/>
            <a:rect l="l" t="t" r="r" b="b"/>
            <a:pathLst>
              <a:path w="37909" h="1295400">
                <a:moveTo>
                  <a:pt x="37909" y="0"/>
                </a:moveTo>
                <a:lnTo>
                  <a:pt x="37909" y="0"/>
                </a:lnTo>
                <a:lnTo>
                  <a:pt x="37909" y="1295400"/>
                </a:lnTo>
                <a:lnTo>
                  <a:pt x="37909" y="1295400"/>
                </a:lnTo>
                <a:cubicBezTo>
                  <a:pt x="16974" y="1295400"/>
                  <a:pt x="0" y="1278426"/>
                  <a:pt x="0" y="1257491"/>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571248" y="5714037"/>
            <a:ext cx="5305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Theoretical minimum time</a:t>
            </a:r>
            <a:endParaRPr lang="en-US" sz="1100"/>
          </a:p>
        </p:txBody>
      </p:sp>
      <p:sp>
        <p:nvSpPr>
          <p:cNvPr id="19" name="AutoShape 19"/>
          <p:cNvSpPr/>
          <p:nvPr/>
        </p:nvSpPr>
        <p:spPr>
          <a:xfrm>
            <a:off x="571248" y="6018800"/>
            <a:ext cx="53149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200 GB ÷ 100 GB/s</a:t>
            </a:r>
            <a:endParaRPr lang="en-US" sz="1100"/>
          </a:p>
        </p:txBody>
      </p:sp>
      <p:sp>
        <p:nvSpPr>
          <p:cNvPr id="20" name="AutoShape 20"/>
          <p:cNvSpPr/>
          <p:nvPr/>
        </p:nvSpPr>
        <p:spPr>
          <a:xfrm>
            <a:off x="571248" y="6361700"/>
            <a:ext cx="53625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2 seconds</a:t>
            </a:r>
            <a:endParaRPr lang="en-US" sz="1100"/>
          </a:p>
        </p:txBody>
      </p:sp>
      <p:sp>
        <p:nvSpPr>
          <p:cNvPr id="21" name="Freeform 21"/>
          <p:cNvSpPr/>
          <p:nvPr/>
        </p:nvSpPr>
        <p:spPr>
          <a:xfrm>
            <a:off x="6248338" y="990484"/>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2" name="Picture 22"/>
          <p:cNvPicPr>
            <a:picLocks noChangeAspect="1"/>
          </p:cNvPicPr>
          <p:nvPr/>
        </p:nvPicPr>
        <p:blipFill>
          <a:blip r:embed="rId1"/>
          <a:srcRect/>
          <a:stretch>
            <a:fillRect/>
          </a:stretch>
        </p:blipFill>
        <p:spPr>
          <a:xfrm>
            <a:off x="6900886" y="2443079"/>
            <a:ext cx="4257675" cy="1933575"/>
          </a:xfrm>
          <a:prstGeom prst="roundRect">
            <a:avLst>
              <a:gd name="adj" fmla="val 0"/>
            </a:avLst>
          </a:prstGeom>
          <a:ln w="12700">
            <a:noFill/>
            <a:prstDash val="solid"/>
          </a:ln>
        </p:spPr>
      </p:pic>
      <p:sp>
        <p:nvSpPr>
          <p:cNvPr id="23" name="AutoShape 23"/>
          <p:cNvSpPr/>
          <p:nvPr/>
        </p:nvSpPr>
        <p:spPr>
          <a:xfrm>
            <a:off x="6210238" y="5905365"/>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Image source: University of Pittsburgh - Memory Controller</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1424" y="609484"/>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What is Latency?</a:t>
            </a:r>
            <a:endParaRPr lang="en-US" sz="1100"/>
          </a:p>
        </p:txBody>
      </p:sp>
      <p:sp>
        <p:nvSpPr>
          <p:cNvPr id="3" name="Freeform 3"/>
          <p:cNvSpPr/>
          <p:nvPr/>
        </p:nvSpPr>
        <p:spPr>
          <a:xfrm>
            <a:off x="399911" y="1178058"/>
            <a:ext cx="5543455" cy="1104900"/>
          </a:xfrm>
          <a:custGeom>
            <a:avLst/>
            <a:gdLst/>
            <a:ahLst/>
            <a:cxnLst/>
            <a:rect l="l" t="t" r="r" b="b"/>
            <a:pathLst>
              <a:path w="5543455" h="1104900">
                <a:moveTo>
                  <a:pt x="37909" y="0"/>
                </a:moveTo>
                <a:lnTo>
                  <a:pt x="5429153" y="0"/>
                </a:lnTo>
                <a:cubicBezTo>
                  <a:pt x="5492281" y="0"/>
                  <a:pt x="5543455" y="51175"/>
                  <a:pt x="5543455" y="114303"/>
                </a:cubicBezTo>
                <a:lnTo>
                  <a:pt x="5543455" y="990597"/>
                </a:lnTo>
                <a:cubicBezTo>
                  <a:pt x="5543455" y="1053725"/>
                  <a:pt x="5492281" y="1104900"/>
                  <a:pt x="5429153" y="1104900"/>
                </a:cubicBezTo>
                <a:lnTo>
                  <a:pt x="37909" y="1104900"/>
                </a:lnTo>
                <a:cubicBezTo>
                  <a:pt x="16974" y="1104900"/>
                  <a:pt x="0" y="1087926"/>
                  <a:pt x="0" y="1066990"/>
                </a:cubicBezTo>
                <a:lnTo>
                  <a:pt x="0" y="37910"/>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99911" y="1178058"/>
            <a:ext cx="37909" cy="1104900"/>
          </a:xfrm>
          <a:custGeom>
            <a:avLst/>
            <a:gdLst/>
            <a:ahLst/>
            <a:cxnLst/>
            <a:rect l="l" t="t" r="r" b="b"/>
            <a:pathLst>
              <a:path w="37909" h="1104900">
                <a:moveTo>
                  <a:pt x="37909" y="0"/>
                </a:moveTo>
                <a:lnTo>
                  <a:pt x="37909" y="0"/>
                </a:lnTo>
                <a:lnTo>
                  <a:pt x="37909" y="1104900"/>
                </a:lnTo>
                <a:lnTo>
                  <a:pt x="37909" y="1104900"/>
                </a:lnTo>
                <a:cubicBezTo>
                  <a:pt x="16974" y="1104900"/>
                  <a:pt x="0" y="1087926"/>
                  <a:pt x="0" y="10669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47439" y="1406630"/>
            <a:ext cx="51816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Latency</a:t>
            </a:r>
            <a:endParaRPr lang="en-US" sz="1100"/>
          </a:p>
        </p:txBody>
      </p:sp>
      <p:sp>
        <p:nvSpPr>
          <p:cNvPr id="6" name="AutoShape 6"/>
          <p:cNvSpPr/>
          <p:nvPr/>
        </p:nvSpPr>
        <p:spPr>
          <a:xfrm>
            <a:off x="647439" y="1787514"/>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0" i="0" u="none" strike="noStrike">
                <a:solidFill>
                  <a:srgbClr val="364153"/>
                </a:solidFill>
                <a:latin typeface="Noto Sans SC" panose="020B0200000000000000" charset="-122"/>
                <a:ea typeface="Noto Sans SC" panose="020B0200000000000000" charset="-122"/>
                <a:cs typeface="Noto Sans SC" panose="020B0200000000000000" charset="-122"/>
                <a:sym typeface="Noto Sans SC" panose="020B0200000000000000" charset="-122"/>
              </a:rPr>
              <a:t>Represents the time required to complete one operation</a:t>
            </a:r>
            <a:endParaRPr lang="en-US" sz="1100"/>
          </a:p>
        </p:txBody>
      </p:sp>
      <p:sp>
        <p:nvSpPr>
          <p:cNvPr id="7" name="AutoShape 7"/>
          <p:cNvSpPr/>
          <p:nvPr/>
        </p:nvSpPr>
        <p:spPr>
          <a:xfrm>
            <a:off x="380956" y="2323788"/>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Typical Scenarios</a:t>
            </a:r>
            <a:endParaRPr lang="en-US" sz="1100"/>
          </a:p>
        </p:txBody>
      </p:sp>
      <p:sp>
        <p:nvSpPr>
          <p:cNvPr id="8" name="Freeform 8"/>
          <p:cNvSpPr/>
          <p:nvPr/>
        </p:nvSpPr>
        <p:spPr>
          <a:xfrm>
            <a:off x="380956" y="2780863"/>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519018" y="2956982"/>
            <a:ext cx="190500" cy="142875"/>
          </a:xfrm>
          <a:custGeom>
            <a:avLst/>
            <a:gdLst/>
            <a:ahLst/>
            <a:cxnLst/>
            <a:rect l="l" t="t" r="r" b="b"/>
            <a:pathLst>
              <a:path w="190500" h="142875">
                <a:moveTo>
                  <a:pt x="23812" y="0"/>
                </a:moveTo>
                <a:cubicBezTo>
                  <a:pt x="10678" y="0"/>
                  <a:pt x="0" y="10679"/>
                  <a:pt x="0" y="23813"/>
                </a:cubicBezTo>
                <a:lnTo>
                  <a:pt x="0" y="26566"/>
                </a:lnTo>
                <a:cubicBezTo>
                  <a:pt x="0" y="29096"/>
                  <a:pt x="1637" y="31254"/>
                  <a:pt x="3758" y="32631"/>
                </a:cubicBezTo>
                <a:cubicBezTo>
                  <a:pt x="8669" y="35831"/>
                  <a:pt x="11906" y="41338"/>
                  <a:pt x="11906" y="47626"/>
                </a:cubicBezTo>
                <a:cubicBezTo>
                  <a:pt x="11906" y="53913"/>
                  <a:pt x="8669" y="59420"/>
                  <a:pt x="3758" y="62620"/>
                </a:cubicBezTo>
                <a:cubicBezTo>
                  <a:pt x="1637" y="63997"/>
                  <a:pt x="0" y="66155"/>
                  <a:pt x="0" y="68685"/>
                </a:cubicBezTo>
                <a:lnTo>
                  <a:pt x="0" y="89297"/>
                </a:lnTo>
                <a:lnTo>
                  <a:pt x="190500" y="89297"/>
                </a:lnTo>
                <a:lnTo>
                  <a:pt x="190500" y="68685"/>
                </a:lnTo>
                <a:cubicBezTo>
                  <a:pt x="190500" y="66155"/>
                  <a:pt x="188863" y="63997"/>
                  <a:pt x="186742" y="62620"/>
                </a:cubicBezTo>
                <a:cubicBezTo>
                  <a:pt x="181831" y="59420"/>
                  <a:pt x="178594" y="53913"/>
                  <a:pt x="178594" y="47626"/>
                </a:cubicBezTo>
                <a:cubicBezTo>
                  <a:pt x="178594" y="41338"/>
                  <a:pt x="181831" y="35831"/>
                  <a:pt x="186742" y="32631"/>
                </a:cubicBezTo>
                <a:cubicBezTo>
                  <a:pt x="188863" y="31254"/>
                  <a:pt x="190500" y="29096"/>
                  <a:pt x="190500" y="26566"/>
                </a:cubicBezTo>
                <a:lnTo>
                  <a:pt x="190500" y="23813"/>
                </a:lnTo>
                <a:cubicBezTo>
                  <a:pt x="190500" y="10679"/>
                  <a:pt x="179822" y="0"/>
                  <a:pt x="166688" y="0"/>
                </a:cubicBezTo>
                <a:lnTo>
                  <a:pt x="23812" y="0"/>
                </a:lnTo>
                <a:close/>
                <a:moveTo>
                  <a:pt x="190500" y="130969"/>
                </a:moveTo>
                <a:lnTo>
                  <a:pt x="190500" y="107157"/>
                </a:lnTo>
                <a:lnTo>
                  <a:pt x="0" y="107157"/>
                </a:lnTo>
                <a:lnTo>
                  <a:pt x="0" y="130969"/>
                </a:lnTo>
                <a:cubicBezTo>
                  <a:pt x="0" y="137555"/>
                  <a:pt x="5321" y="142876"/>
                  <a:pt x="11906" y="142876"/>
                </a:cubicBezTo>
                <a:lnTo>
                  <a:pt x="35719" y="142876"/>
                </a:lnTo>
                <a:lnTo>
                  <a:pt x="35719" y="133946"/>
                </a:lnTo>
                <a:cubicBezTo>
                  <a:pt x="35719" y="128997"/>
                  <a:pt x="39700" y="125015"/>
                  <a:pt x="44648" y="125015"/>
                </a:cubicBezTo>
                <a:cubicBezTo>
                  <a:pt x="49597" y="125015"/>
                  <a:pt x="53577" y="128997"/>
                  <a:pt x="53577" y="133946"/>
                </a:cubicBezTo>
                <a:lnTo>
                  <a:pt x="53577" y="142876"/>
                </a:lnTo>
                <a:lnTo>
                  <a:pt x="86321" y="142876"/>
                </a:lnTo>
                <a:lnTo>
                  <a:pt x="86321" y="133946"/>
                </a:lnTo>
                <a:cubicBezTo>
                  <a:pt x="86321" y="128997"/>
                  <a:pt x="90301" y="125015"/>
                  <a:pt x="95250" y="125015"/>
                </a:cubicBezTo>
                <a:cubicBezTo>
                  <a:pt x="100199" y="125015"/>
                  <a:pt x="104179" y="128997"/>
                  <a:pt x="104179" y="133946"/>
                </a:cubicBezTo>
                <a:lnTo>
                  <a:pt x="104179" y="142876"/>
                </a:lnTo>
                <a:lnTo>
                  <a:pt x="136923" y="142876"/>
                </a:lnTo>
                <a:lnTo>
                  <a:pt x="136923" y="133946"/>
                </a:lnTo>
                <a:cubicBezTo>
                  <a:pt x="136923" y="128997"/>
                  <a:pt x="140903" y="125015"/>
                  <a:pt x="145852" y="125015"/>
                </a:cubicBezTo>
                <a:cubicBezTo>
                  <a:pt x="150800" y="125015"/>
                  <a:pt x="154781" y="128997"/>
                  <a:pt x="154781" y="133946"/>
                </a:cubicBezTo>
                <a:lnTo>
                  <a:pt x="154781" y="142876"/>
                </a:lnTo>
                <a:lnTo>
                  <a:pt x="178594" y="142876"/>
                </a:lnTo>
                <a:cubicBezTo>
                  <a:pt x="185179" y="142876"/>
                  <a:pt x="190500" y="137555"/>
                  <a:pt x="190500" y="130969"/>
                </a:cubicBezTo>
                <a:close/>
                <a:moveTo>
                  <a:pt x="59531" y="35719"/>
                </a:moveTo>
                <a:lnTo>
                  <a:pt x="59531" y="59532"/>
                </a:lnTo>
                <a:cubicBezTo>
                  <a:pt x="59531" y="66117"/>
                  <a:pt x="54211" y="71438"/>
                  <a:pt x="47625" y="71438"/>
                </a:cubicBezTo>
                <a:cubicBezTo>
                  <a:pt x="41039" y="71438"/>
                  <a:pt x="35719" y="66117"/>
                  <a:pt x="35719" y="59532"/>
                </a:cubicBezTo>
                <a:lnTo>
                  <a:pt x="35719" y="35719"/>
                </a:lnTo>
                <a:cubicBezTo>
                  <a:pt x="35719" y="29134"/>
                  <a:pt x="41039" y="23813"/>
                  <a:pt x="47625" y="23813"/>
                </a:cubicBezTo>
                <a:cubicBezTo>
                  <a:pt x="54211" y="23813"/>
                  <a:pt x="59531" y="29134"/>
                  <a:pt x="59531" y="35719"/>
                </a:cubicBezTo>
                <a:close/>
                <a:moveTo>
                  <a:pt x="107156" y="35719"/>
                </a:moveTo>
                <a:lnTo>
                  <a:pt x="107156" y="59532"/>
                </a:lnTo>
                <a:cubicBezTo>
                  <a:pt x="107156" y="66117"/>
                  <a:pt x="101836" y="71438"/>
                  <a:pt x="95250" y="71438"/>
                </a:cubicBezTo>
                <a:cubicBezTo>
                  <a:pt x="88664" y="71438"/>
                  <a:pt x="83344" y="66117"/>
                  <a:pt x="83344" y="59532"/>
                </a:cubicBezTo>
                <a:lnTo>
                  <a:pt x="83344" y="35719"/>
                </a:lnTo>
                <a:cubicBezTo>
                  <a:pt x="83344" y="29134"/>
                  <a:pt x="88664" y="23813"/>
                  <a:pt x="95250" y="23813"/>
                </a:cubicBezTo>
                <a:cubicBezTo>
                  <a:pt x="101836" y="23813"/>
                  <a:pt x="107156" y="29134"/>
                  <a:pt x="107156" y="35719"/>
                </a:cubicBezTo>
                <a:close/>
                <a:moveTo>
                  <a:pt x="154781" y="35719"/>
                </a:moveTo>
                <a:lnTo>
                  <a:pt x="154781" y="59532"/>
                </a:lnTo>
                <a:cubicBezTo>
                  <a:pt x="154781" y="66117"/>
                  <a:pt x="149461" y="71438"/>
                  <a:pt x="142875" y="71438"/>
                </a:cubicBezTo>
                <a:cubicBezTo>
                  <a:pt x="136289" y="71438"/>
                  <a:pt x="130969" y="66117"/>
                  <a:pt x="130969" y="59532"/>
                </a:cubicBezTo>
                <a:lnTo>
                  <a:pt x="130969" y="35719"/>
                </a:lnTo>
                <a:cubicBezTo>
                  <a:pt x="130969" y="29134"/>
                  <a:pt x="136289" y="23813"/>
                  <a:pt x="142875" y="23813"/>
                </a:cubicBezTo>
                <a:cubicBezTo>
                  <a:pt x="149461" y="23813"/>
                  <a:pt x="154781" y="29134"/>
                  <a:pt x="154781" y="35719"/>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885712" y="2895112"/>
            <a:ext cx="2033588"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Memory Access Latency</a:t>
            </a:r>
            <a:endParaRPr lang="en-US" sz="1100"/>
          </a:p>
        </p:txBody>
      </p:sp>
      <p:sp>
        <p:nvSpPr>
          <p:cNvPr id="11" name="Freeform 11"/>
          <p:cNvSpPr/>
          <p:nvPr/>
        </p:nvSpPr>
        <p:spPr>
          <a:xfrm>
            <a:off x="380956" y="3390319"/>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507111" y="3554532"/>
            <a:ext cx="214312" cy="166688"/>
          </a:xfrm>
          <a:custGeom>
            <a:avLst/>
            <a:gdLst/>
            <a:ahLst/>
            <a:cxnLst/>
            <a:rect l="l" t="t" r="r" b="b"/>
            <a:pathLst>
              <a:path w="214312" h="166688">
                <a:moveTo>
                  <a:pt x="92273" y="20836"/>
                </a:moveTo>
                <a:lnTo>
                  <a:pt x="122039" y="20836"/>
                </a:lnTo>
                <a:lnTo>
                  <a:pt x="122039" y="38696"/>
                </a:lnTo>
                <a:lnTo>
                  <a:pt x="92273" y="38696"/>
                </a:lnTo>
                <a:lnTo>
                  <a:pt x="92273" y="20836"/>
                </a:lnTo>
                <a:close/>
                <a:moveTo>
                  <a:pt x="89298" y="0"/>
                </a:moveTo>
                <a:cubicBezTo>
                  <a:pt x="79437" y="0"/>
                  <a:pt x="71437" y="8000"/>
                  <a:pt x="71437" y="17860"/>
                </a:cubicBezTo>
                <a:lnTo>
                  <a:pt x="71437" y="41671"/>
                </a:lnTo>
                <a:cubicBezTo>
                  <a:pt x="71437" y="51532"/>
                  <a:pt x="79437" y="59531"/>
                  <a:pt x="89298" y="59531"/>
                </a:cubicBezTo>
                <a:lnTo>
                  <a:pt x="95250" y="59531"/>
                </a:lnTo>
                <a:lnTo>
                  <a:pt x="95250" y="71438"/>
                </a:lnTo>
                <a:lnTo>
                  <a:pt x="11906" y="71438"/>
                </a:lnTo>
                <a:cubicBezTo>
                  <a:pt x="5321" y="71438"/>
                  <a:pt x="0" y="76758"/>
                  <a:pt x="0" y="83344"/>
                </a:cubicBezTo>
                <a:cubicBezTo>
                  <a:pt x="0" y="89930"/>
                  <a:pt x="5321" y="95250"/>
                  <a:pt x="11906" y="95250"/>
                </a:cubicBezTo>
                <a:lnTo>
                  <a:pt x="47625" y="95250"/>
                </a:lnTo>
                <a:lnTo>
                  <a:pt x="47625" y="107156"/>
                </a:lnTo>
                <a:lnTo>
                  <a:pt x="41673" y="107156"/>
                </a:lnTo>
                <a:cubicBezTo>
                  <a:pt x="31812" y="107156"/>
                  <a:pt x="23813" y="115156"/>
                  <a:pt x="23813" y="125017"/>
                </a:cubicBezTo>
                <a:lnTo>
                  <a:pt x="23813" y="148828"/>
                </a:lnTo>
                <a:cubicBezTo>
                  <a:pt x="23813" y="158688"/>
                  <a:pt x="31812" y="166688"/>
                  <a:pt x="41673" y="166688"/>
                </a:cubicBezTo>
                <a:lnTo>
                  <a:pt x="77391" y="166688"/>
                </a:lnTo>
                <a:cubicBezTo>
                  <a:pt x="87250" y="166688"/>
                  <a:pt x="95250" y="158688"/>
                  <a:pt x="95250" y="148828"/>
                </a:cubicBezTo>
                <a:lnTo>
                  <a:pt x="95250" y="125017"/>
                </a:lnTo>
                <a:cubicBezTo>
                  <a:pt x="95250" y="115156"/>
                  <a:pt x="87250" y="107156"/>
                  <a:pt x="77391" y="107156"/>
                </a:cubicBezTo>
                <a:lnTo>
                  <a:pt x="71437" y="107156"/>
                </a:lnTo>
                <a:lnTo>
                  <a:pt x="71437" y="95250"/>
                </a:lnTo>
                <a:lnTo>
                  <a:pt x="142875" y="95250"/>
                </a:lnTo>
                <a:lnTo>
                  <a:pt x="142875" y="107156"/>
                </a:lnTo>
                <a:lnTo>
                  <a:pt x="136923" y="107156"/>
                </a:lnTo>
                <a:cubicBezTo>
                  <a:pt x="127062" y="107156"/>
                  <a:pt x="119063" y="115156"/>
                  <a:pt x="119063" y="125017"/>
                </a:cubicBezTo>
                <a:lnTo>
                  <a:pt x="119063" y="148828"/>
                </a:lnTo>
                <a:cubicBezTo>
                  <a:pt x="119063" y="158688"/>
                  <a:pt x="127062" y="166688"/>
                  <a:pt x="136923" y="166688"/>
                </a:cubicBezTo>
                <a:lnTo>
                  <a:pt x="172641" y="166688"/>
                </a:lnTo>
                <a:cubicBezTo>
                  <a:pt x="182500" y="166688"/>
                  <a:pt x="190500" y="158688"/>
                  <a:pt x="190500" y="148828"/>
                </a:cubicBezTo>
                <a:lnTo>
                  <a:pt x="190500" y="125017"/>
                </a:lnTo>
                <a:cubicBezTo>
                  <a:pt x="190500" y="115156"/>
                  <a:pt x="182500" y="107156"/>
                  <a:pt x="172641" y="107156"/>
                </a:cubicBezTo>
                <a:lnTo>
                  <a:pt x="166687" y="107156"/>
                </a:lnTo>
                <a:lnTo>
                  <a:pt x="166687" y="95250"/>
                </a:lnTo>
                <a:lnTo>
                  <a:pt x="202406" y="95250"/>
                </a:lnTo>
                <a:cubicBezTo>
                  <a:pt x="208992" y="95250"/>
                  <a:pt x="214313" y="89930"/>
                  <a:pt x="214313" y="83344"/>
                </a:cubicBezTo>
                <a:cubicBezTo>
                  <a:pt x="214313" y="76758"/>
                  <a:pt x="208992" y="71438"/>
                  <a:pt x="202406" y="71438"/>
                </a:cubicBezTo>
                <a:lnTo>
                  <a:pt x="119063" y="71438"/>
                </a:lnTo>
                <a:lnTo>
                  <a:pt x="119063" y="59531"/>
                </a:lnTo>
                <a:lnTo>
                  <a:pt x="125016" y="59531"/>
                </a:lnTo>
                <a:cubicBezTo>
                  <a:pt x="134875" y="59531"/>
                  <a:pt x="142875" y="51532"/>
                  <a:pt x="142875" y="41671"/>
                </a:cubicBezTo>
                <a:lnTo>
                  <a:pt x="142875" y="17860"/>
                </a:lnTo>
                <a:cubicBezTo>
                  <a:pt x="142875" y="8000"/>
                  <a:pt x="134875" y="0"/>
                  <a:pt x="125016" y="0"/>
                </a:cubicBezTo>
                <a:lnTo>
                  <a:pt x="89298" y="0"/>
                </a:lnTo>
                <a:close/>
                <a:moveTo>
                  <a:pt x="166687" y="127992"/>
                </a:moveTo>
                <a:lnTo>
                  <a:pt x="169664" y="127992"/>
                </a:lnTo>
                <a:lnTo>
                  <a:pt x="169664" y="145852"/>
                </a:lnTo>
                <a:lnTo>
                  <a:pt x="139898" y="145852"/>
                </a:lnTo>
                <a:lnTo>
                  <a:pt x="139898" y="127992"/>
                </a:lnTo>
                <a:lnTo>
                  <a:pt x="166687" y="127992"/>
                </a:lnTo>
                <a:close/>
                <a:moveTo>
                  <a:pt x="71437" y="127992"/>
                </a:moveTo>
                <a:lnTo>
                  <a:pt x="74414" y="127992"/>
                </a:lnTo>
                <a:lnTo>
                  <a:pt x="74414" y="145852"/>
                </a:lnTo>
                <a:lnTo>
                  <a:pt x="44648" y="145852"/>
                </a:lnTo>
                <a:lnTo>
                  <a:pt x="44648" y="127992"/>
                </a:lnTo>
                <a:lnTo>
                  <a:pt x="71437" y="12799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885712" y="3504567"/>
            <a:ext cx="2097811"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Network Latency</a:t>
            </a:r>
            <a:endParaRPr lang="en-US" sz="1100"/>
          </a:p>
        </p:txBody>
      </p:sp>
      <p:sp>
        <p:nvSpPr>
          <p:cNvPr id="14" name="Freeform 14"/>
          <p:cNvSpPr/>
          <p:nvPr/>
        </p:nvSpPr>
        <p:spPr>
          <a:xfrm>
            <a:off x="380956" y="3999774"/>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530924" y="4163987"/>
            <a:ext cx="166688" cy="166688"/>
          </a:xfrm>
          <a:custGeom>
            <a:avLst/>
            <a:gdLst/>
            <a:ahLst/>
            <a:cxnLst/>
            <a:rect l="l" t="t" r="r" b="b"/>
            <a:pathLst>
              <a:path w="166688" h="166688">
                <a:moveTo>
                  <a:pt x="23812" y="0"/>
                </a:moveTo>
                <a:cubicBezTo>
                  <a:pt x="10678" y="0"/>
                  <a:pt x="0" y="10678"/>
                  <a:pt x="0" y="23813"/>
                </a:cubicBezTo>
                <a:lnTo>
                  <a:pt x="0" y="84869"/>
                </a:lnTo>
                <a:cubicBezTo>
                  <a:pt x="6734" y="80144"/>
                  <a:pt x="14957" y="77392"/>
                  <a:pt x="23812" y="77392"/>
                </a:cubicBezTo>
                <a:lnTo>
                  <a:pt x="142875" y="77392"/>
                </a:lnTo>
                <a:cubicBezTo>
                  <a:pt x="151729" y="77392"/>
                  <a:pt x="159953" y="80144"/>
                  <a:pt x="166688" y="84869"/>
                </a:cubicBezTo>
                <a:lnTo>
                  <a:pt x="166688" y="23813"/>
                </a:lnTo>
                <a:cubicBezTo>
                  <a:pt x="166688" y="10678"/>
                  <a:pt x="156009" y="0"/>
                  <a:pt x="142875" y="0"/>
                </a:cubicBezTo>
                <a:lnTo>
                  <a:pt x="23812" y="0"/>
                </a:lnTo>
                <a:close/>
                <a:moveTo>
                  <a:pt x="166688" y="119063"/>
                </a:moveTo>
                <a:cubicBezTo>
                  <a:pt x="166688" y="105928"/>
                  <a:pt x="156009" y="95250"/>
                  <a:pt x="142875" y="95250"/>
                </a:cubicBezTo>
                <a:lnTo>
                  <a:pt x="23812" y="95250"/>
                </a:lnTo>
                <a:cubicBezTo>
                  <a:pt x="10678" y="95250"/>
                  <a:pt x="0" y="105928"/>
                  <a:pt x="0" y="119063"/>
                </a:cubicBezTo>
                <a:lnTo>
                  <a:pt x="0" y="142875"/>
                </a:lnTo>
                <a:cubicBezTo>
                  <a:pt x="0" y="156010"/>
                  <a:pt x="10678" y="166688"/>
                  <a:pt x="23812" y="166688"/>
                </a:cubicBezTo>
                <a:lnTo>
                  <a:pt x="142875" y="166688"/>
                </a:lnTo>
                <a:cubicBezTo>
                  <a:pt x="156009" y="166688"/>
                  <a:pt x="166688" y="156010"/>
                  <a:pt x="166688" y="142875"/>
                </a:cubicBezTo>
                <a:lnTo>
                  <a:pt x="166688" y="119063"/>
                </a:lnTo>
                <a:close/>
                <a:moveTo>
                  <a:pt x="83344" y="130969"/>
                </a:moveTo>
                <a:cubicBezTo>
                  <a:pt x="83344" y="124398"/>
                  <a:pt x="88679" y="119063"/>
                  <a:pt x="95250" y="119063"/>
                </a:cubicBezTo>
                <a:cubicBezTo>
                  <a:pt x="101821" y="119063"/>
                  <a:pt x="107156" y="124398"/>
                  <a:pt x="107156" y="130969"/>
                </a:cubicBezTo>
                <a:cubicBezTo>
                  <a:pt x="107156" y="137540"/>
                  <a:pt x="101821" y="142875"/>
                  <a:pt x="95250" y="142875"/>
                </a:cubicBezTo>
                <a:cubicBezTo>
                  <a:pt x="88679" y="142875"/>
                  <a:pt x="83344" y="137540"/>
                  <a:pt x="83344" y="130969"/>
                </a:cubicBezTo>
                <a:close/>
                <a:moveTo>
                  <a:pt x="130969" y="119063"/>
                </a:moveTo>
                <a:cubicBezTo>
                  <a:pt x="137540" y="119063"/>
                  <a:pt x="142875" y="124398"/>
                  <a:pt x="142875" y="130969"/>
                </a:cubicBezTo>
                <a:cubicBezTo>
                  <a:pt x="142875" y="137540"/>
                  <a:pt x="137540" y="142875"/>
                  <a:pt x="130969" y="142875"/>
                </a:cubicBezTo>
                <a:cubicBezTo>
                  <a:pt x="124398" y="142875"/>
                  <a:pt x="119062" y="137540"/>
                  <a:pt x="119062" y="130969"/>
                </a:cubicBezTo>
                <a:cubicBezTo>
                  <a:pt x="119062" y="124398"/>
                  <a:pt x="124398" y="119063"/>
                  <a:pt x="130969" y="11906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885712" y="4114023"/>
            <a:ext cx="2185734"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Disk Access Latency</a:t>
            </a:r>
            <a:endParaRPr lang="en-US" sz="1100"/>
          </a:p>
        </p:txBody>
      </p:sp>
      <p:sp>
        <p:nvSpPr>
          <p:cNvPr id="17" name="AutoShape 17"/>
          <p:cNvSpPr/>
          <p:nvPr/>
        </p:nvSpPr>
        <p:spPr>
          <a:xfrm>
            <a:off x="380956" y="4647358"/>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Common Units</a:t>
            </a:r>
            <a:endParaRPr lang="en-US" sz="1100"/>
          </a:p>
        </p:txBody>
      </p:sp>
      <p:sp>
        <p:nvSpPr>
          <p:cNvPr id="18" name="Freeform 18"/>
          <p:cNvSpPr/>
          <p:nvPr/>
        </p:nvSpPr>
        <p:spPr>
          <a:xfrm>
            <a:off x="380956" y="5104433"/>
            <a:ext cx="1752600" cy="1066800"/>
          </a:xfrm>
          <a:custGeom>
            <a:avLst/>
            <a:gdLst/>
            <a:ahLst/>
            <a:cxnLst/>
            <a:rect l="l" t="t" r="r" b="b"/>
            <a:pathLst>
              <a:path w="1752600" h="1066800">
                <a:moveTo>
                  <a:pt x="76203" y="0"/>
                </a:moveTo>
                <a:lnTo>
                  <a:pt x="1676397" y="0"/>
                </a:lnTo>
                <a:cubicBezTo>
                  <a:pt x="1718483" y="0"/>
                  <a:pt x="1752600" y="34117"/>
                  <a:pt x="1752600" y="76203"/>
                </a:cubicBezTo>
                <a:lnTo>
                  <a:pt x="1752600" y="990597"/>
                </a:lnTo>
                <a:cubicBezTo>
                  <a:pt x="1752600" y="1032683"/>
                  <a:pt x="1718483" y="1066800"/>
                  <a:pt x="1676397" y="1066800"/>
                </a:cubicBezTo>
                <a:lnTo>
                  <a:pt x="76203" y="1066800"/>
                </a:lnTo>
                <a:cubicBezTo>
                  <a:pt x="34117" y="1066800"/>
                  <a:pt x="0" y="1032683"/>
                  <a:pt x="0" y="9905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476188" y="5256814"/>
            <a:ext cx="15621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ns</a:t>
            </a:r>
            <a:endParaRPr lang="en-US" sz="1100"/>
          </a:p>
        </p:txBody>
      </p:sp>
      <p:sp>
        <p:nvSpPr>
          <p:cNvPr id="20" name="AutoShape 20"/>
          <p:cNvSpPr/>
          <p:nvPr/>
        </p:nvSpPr>
        <p:spPr>
          <a:xfrm>
            <a:off x="495238" y="5599565"/>
            <a:ext cx="1524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Nanosecond</a:t>
            </a:r>
            <a:endParaRPr lang="en-US" sz="1100"/>
          </a:p>
        </p:txBody>
      </p:sp>
      <p:sp>
        <p:nvSpPr>
          <p:cNvPr id="21" name="AutoShape 21"/>
          <p:cNvSpPr/>
          <p:nvPr/>
        </p:nvSpPr>
        <p:spPr>
          <a:xfrm>
            <a:off x="500000" y="5828137"/>
            <a:ext cx="15144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10⁻⁹ second</a:t>
            </a:r>
            <a:endParaRPr lang="en-US" sz="1100"/>
          </a:p>
        </p:txBody>
      </p:sp>
      <p:sp>
        <p:nvSpPr>
          <p:cNvPr id="22" name="Freeform 22"/>
          <p:cNvSpPr/>
          <p:nvPr/>
        </p:nvSpPr>
        <p:spPr>
          <a:xfrm>
            <a:off x="2285956" y="5104433"/>
            <a:ext cx="1752600" cy="1066800"/>
          </a:xfrm>
          <a:custGeom>
            <a:avLst/>
            <a:gdLst/>
            <a:ahLst/>
            <a:cxnLst/>
            <a:rect l="l" t="t" r="r" b="b"/>
            <a:pathLst>
              <a:path w="1752600" h="1066800">
                <a:moveTo>
                  <a:pt x="76203" y="0"/>
                </a:moveTo>
                <a:lnTo>
                  <a:pt x="1676397" y="0"/>
                </a:lnTo>
                <a:cubicBezTo>
                  <a:pt x="1718483" y="0"/>
                  <a:pt x="1752600" y="34117"/>
                  <a:pt x="1752600" y="76203"/>
                </a:cubicBezTo>
                <a:lnTo>
                  <a:pt x="1752600" y="990597"/>
                </a:lnTo>
                <a:cubicBezTo>
                  <a:pt x="1752600" y="1032683"/>
                  <a:pt x="1718483" y="1066800"/>
                  <a:pt x="1676397" y="1066800"/>
                </a:cubicBezTo>
                <a:lnTo>
                  <a:pt x="76203" y="1066800"/>
                </a:lnTo>
                <a:cubicBezTo>
                  <a:pt x="34117" y="1066800"/>
                  <a:pt x="0" y="1032683"/>
                  <a:pt x="0" y="9905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2381188" y="5256814"/>
            <a:ext cx="15621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μs</a:t>
            </a:r>
            <a:endParaRPr lang="en-US" sz="1100"/>
          </a:p>
        </p:txBody>
      </p:sp>
      <p:sp>
        <p:nvSpPr>
          <p:cNvPr id="24" name="AutoShape 24"/>
          <p:cNvSpPr/>
          <p:nvPr/>
        </p:nvSpPr>
        <p:spPr>
          <a:xfrm>
            <a:off x="2400238" y="5599565"/>
            <a:ext cx="1524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Microsecond</a:t>
            </a:r>
            <a:endParaRPr lang="en-US" sz="1100"/>
          </a:p>
        </p:txBody>
      </p:sp>
      <p:sp>
        <p:nvSpPr>
          <p:cNvPr id="25" name="AutoShape 25"/>
          <p:cNvSpPr/>
          <p:nvPr/>
        </p:nvSpPr>
        <p:spPr>
          <a:xfrm>
            <a:off x="2405000" y="5828137"/>
            <a:ext cx="15144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10⁻⁶ second</a:t>
            </a:r>
            <a:endParaRPr lang="en-US" sz="1100"/>
          </a:p>
        </p:txBody>
      </p:sp>
      <p:sp>
        <p:nvSpPr>
          <p:cNvPr id="26" name="Freeform 26"/>
          <p:cNvSpPr/>
          <p:nvPr/>
        </p:nvSpPr>
        <p:spPr>
          <a:xfrm>
            <a:off x="4190956" y="5104433"/>
            <a:ext cx="1752600" cy="1066800"/>
          </a:xfrm>
          <a:custGeom>
            <a:avLst/>
            <a:gdLst/>
            <a:ahLst/>
            <a:cxnLst/>
            <a:rect l="l" t="t" r="r" b="b"/>
            <a:pathLst>
              <a:path w="1752600" h="1066800">
                <a:moveTo>
                  <a:pt x="76203" y="0"/>
                </a:moveTo>
                <a:lnTo>
                  <a:pt x="1676397" y="0"/>
                </a:lnTo>
                <a:cubicBezTo>
                  <a:pt x="1718483" y="0"/>
                  <a:pt x="1752600" y="34117"/>
                  <a:pt x="1752600" y="76203"/>
                </a:cubicBezTo>
                <a:lnTo>
                  <a:pt x="1752600" y="990597"/>
                </a:lnTo>
                <a:cubicBezTo>
                  <a:pt x="1752600" y="1032683"/>
                  <a:pt x="1718483" y="1066800"/>
                  <a:pt x="1676397" y="1066800"/>
                </a:cubicBezTo>
                <a:lnTo>
                  <a:pt x="76203" y="1066800"/>
                </a:lnTo>
                <a:cubicBezTo>
                  <a:pt x="34117" y="1066800"/>
                  <a:pt x="0" y="1032683"/>
                  <a:pt x="0" y="9905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4286188" y="5256814"/>
            <a:ext cx="1562100"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ms</a:t>
            </a:r>
            <a:endParaRPr lang="en-US" sz="1100"/>
          </a:p>
        </p:txBody>
      </p:sp>
      <p:sp>
        <p:nvSpPr>
          <p:cNvPr id="28" name="AutoShape 28"/>
          <p:cNvSpPr/>
          <p:nvPr/>
        </p:nvSpPr>
        <p:spPr>
          <a:xfrm>
            <a:off x="4305238" y="5599565"/>
            <a:ext cx="15240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Millisecond</a:t>
            </a:r>
            <a:endParaRPr lang="en-US" sz="1100"/>
          </a:p>
        </p:txBody>
      </p:sp>
      <p:sp>
        <p:nvSpPr>
          <p:cNvPr id="29" name="AutoShape 29"/>
          <p:cNvSpPr/>
          <p:nvPr/>
        </p:nvSpPr>
        <p:spPr>
          <a:xfrm>
            <a:off x="4310000" y="5828137"/>
            <a:ext cx="15144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10⁻³ second</a:t>
            </a:r>
            <a:endParaRPr lang="en-US" sz="1100"/>
          </a:p>
        </p:txBody>
      </p:sp>
      <p:sp>
        <p:nvSpPr>
          <p:cNvPr id="30" name="Freeform 30"/>
          <p:cNvSpPr/>
          <p:nvPr/>
        </p:nvSpPr>
        <p:spPr>
          <a:xfrm>
            <a:off x="6248338" y="990484"/>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31" name="Picture 31"/>
          <p:cNvPicPr>
            <a:picLocks noChangeAspect="1"/>
          </p:cNvPicPr>
          <p:nvPr/>
        </p:nvPicPr>
        <p:blipFill>
          <a:blip r:embed="rId1"/>
          <a:srcRect t="109" b="109"/>
          <a:stretch>
            <a:fillRect/>
          </a:stretch>
        </p:blipFill>
        <p:spPr>
          <a:xfrm>
            <a:off x="6400720" y="2631811"/>
            <a:ext cx="5257800" cy="1552575"/>
          </a:xfrm>
          <a:prstGeom prst="roundRect">
            <a:avLst>
              <a:gd name="adj" fmla="val 0"/>
            </a:avLst>
          </a:prstGeom>
          <a:ln w="12700">
            <a:noFill/>
            <a:prstDash val="solid"/>
          </a:ln>
        </p:spPr>
      </p:pic>
      <p:sp>
        <p:nvSpPr>
          <p:cNvPr id="32" name="AutoShape 32"/>
          <p:cNvSpPr/>
          <p:nvPr/>
        </p:nvSpPr>
        <p:spPr>
          <a:xfrm>
            <a:off x="6210238" y="5905365"/>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Image source: Scalable Developer - Latency Timeline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1618" y="615552"/>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Latency Examples</a:t>
            </a:r>
            <a:endParaRPr lang="en-US" sz="1100"/>
          </a:p>
        </p:txBody>
      </p:sp>
      <p:sp>
        <p:nvSpPr>
          <p:cNvPr id="3" name="AutoShape 3"/>
          <p:cNvSpPr/>
          <p:nvPr/>
        </p:nvSpPr>
        <p:spPr>
          <a:xfrm>
            <a:off x="380956" y="1261307"/>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Typical Memory Hierarchy Latency</a:t>
            </a:r>
            <a:endParaRPr lang="en-US" sz="1100"/>
          </a:p>
        </p:txBody>
      </p:sp>
      <p:sp>
        <p:nvSpPr>
          <p:cNvPr id="4" name="Freeform 4"/>
          <p:cNvSpPr/>
          <p:nvPr/>
        </p:nvSpPr>
        <p:spPr>
          <a:xfrm>
            <a:off x="399911" y="1898890"/>
            <a:ext cx="5543455" cy="876300"/>
          </a:xfrm>
          <a:custGeom>
            <a:avLst/>
            <a:gdLst/>
            <a:ahLst/>
            <a:cxnLst/>
            <a:rect l="l" t="t" r="r" b="b"/>
            <a:pathLst>
              <a:path w="5543455" h="876300">
                <a:moveTo>
                  <a:pt x="37909" y="0"/>
                </a:moveTo>
                <a:lnTo>
                  <a:pt x="5429159" y="0"/>
                </a:lnTo>
                <a:cubicBezTo>
                  <a:pt x="5492283" y="0"/>
                  <a:pt x="5543455" y="51172"/>
                  <a:pt x="5543455" y="114296"/>
                </a:cubicBezTo>
                <a:lnTo>
                  <a:pt x="5543455" y="762004"/>
                </a:lnTo>
                <a:cubicBezTo>
                  <a:pt x="5543455" y="825128"/>
                  <a:pt x="5492283" y="876300"/>
                  <a:pt x="5429159" y="876300"/>
                </a:cubicBezTo>
                <a:lnTo>
                  <a:pt x="37909" y="876300"/>
                </a:lnTo>
                <a:cubicBezTo>
                  <a:pt x="16974" y="876300"/>
                  <a:pt x="0" y="859326"/>
                  <a:pt x="0" y="838390"/>
                </a:cubicBezTo>
                <a:lnTo>
                  <a:pt x="0" y="37910"/>
                </a:lnTo>
                <a:cubicBezTo>
                  <a:pt x="0" y="16988"/>
                  <a:pt x="16988" y="0"/>
                  <a:pt x="37909" y="0"/>
                </a:cubicBezTo>
                <a:close/>
              </a:path>
            </a:pathLst>
          </a:custGeom>
          <a:gradFill rotWithShape="1">
            <a:gsLst>
              <a:gs pos="0">
                <a:srgbClr val="F0FDF4">
                  <a:alpha val="100000"/>
                </a:srgbClr>
              </a:gs>
              <a:gs pos="100000">
                <a:srgbClr val="FFFFFF">
                  <a:alpha val="100000"/>
                </a:srgbClr>
              </a:gs>
            </a:gsLst>
            <a:lin ang="0"/>
          </a:gra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399911" y="1898890"/>
            <a:ext cx="37909" cy="876300"/>
          </a:xfrm>
          <a:custGeom>
            <a:avLst/>
            <a:gdLst/>
            <a:ahLst/>
            <a:cxnLst/>
            <a:rect l="l" t="t" r="r" b="b"/>
            <a:pathLst>
              <a:path w="37909" h="876300">
                <a:moveTo>
                  <a:pt x="37909" y="0"/>
                </a:moveTo>
                <a:lnTo>
                  <a:pt x="37909" y="0"/>
                </a:lnTo>
                <a:lnTo>
                  <a:pt x="37909" y="876300"/>
                </a:lnTo>
                <a:lnTo>
                  <a:pt x="37909" y="876300"/>
                </a:lnTo>
                <a:cubicBezTo>
                  <a:pt x="16974" y="876300"/>
                  <a:pt x="0" y="859326"/>
                  <a:pt x="0" y="838390"/>
                </a:cubicBezTo>
                <a:lnTo>
                  <a:pt x="0" y="37910"/>
                </a:lnTo>
                <a:cubicBezTo>
                  <a:pt x="0" y="16988"/>
                  <a:pt x="16988" y="0"/>
                  <a:pt x="37909" y="0"/>
                </a:cubicBezTo>
                <a:close/>
              </a:path>
            </a:pathLst>
          </a:custGeom>
          <a:solidFill>
            <a:srgbClr val="00C950">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609307" y="2108361"/>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00C950">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753531" y="2234758"/>
            <a:ext cx="168697" cy="204267"/>
          </a:xfrm>
          <a:custGeom>
            <a:avLst/>
            <a:gdLst/>
            <a:ahLst/>
            <a:cxnLst/>
            <a:rect l="l" t="t" r="r" b="b"/>
            <a:pathLst>
              <a:path w="168697" h="204267">
                <a:moveTo>
                  <a:pt x="127061" y="3200"/>
                </a:moveTo>
                <a:cubicBezTo>
                  <a:pt x="131490" y="6399"/>
                  <a:pt x="133127" y="12204"/>
                  <a:pt x="131118" y="17264"/>
                </a:cubicBezTo>
                <a:lnTo>
                  <a:pt x="101948" y="90227"/>
                </a:lnTo>
                <a:lnTo>
                  <a:pt x="155786" y="90227"/>
                </a:lnTo>
                <a:cubicBezTo>
                  <a:pt x="160809" y="90227"/>
                  <a:pt x="165274" y="93352"/>
                  <a:pt x="166986" y="98077"/>
                </a:cubicBezTo>
                <a:cubicBezTo>
                  <a:pt x="168697" y="102804"/>
                  <a:pt x="167245" y="108085"/>
                  <a:pt x="163414" y="111286"/>
                </a:cubicBezTo>
                <a:lnTo>
                  <a:pt x="56258" y="200583"/>
                </a:lnTo>
                <a:cubicBezTo>
                  <a:pt x="52053" y="204080"/>
                  <a:pt x="46063" y="204266"/>
                  <a:pt x="41635" y="201066"/>
                </a:cubicBezTo>
                <a:cubicBezTo>
                  <a:pt x="37208" y="197867"/>
                  <a:pt x="35571" y="192062"/>
                  <a:pt x="37580" y="187002"/>
                </a:cubicBezTo>
                <a:lnTo>
                  <a:pt x="66750" y="114039"/>
                </a:lnTo>
                <a:lnTo>
                  <a:pt x="12911" y="114039"/>
                </a:lnTo>
                <a:cubicBezTo>
                  <a:pt x="7888" y="114039"/>
                  <a:pt x="3423" y="110914"/>
                  <a:pt x="1712" y="106189"/>
                </a:cubicBezTo>
                <a:cubicBezTo>
                  <a:pt x="0" y="101462"/>
                  <a:pt x="1451" y="96181"/>
                  <a:pt x="5284" y="92980"/>
                </a:cubicBezTo>
                <a:lnTo>
                  <a:pt x="112440" y="3683"/>
                </a:lnTo>
                <a:cubicBezTo>
                  <a:pt x="116644" y="186"/>
                  <a:pt x="122635" y="0"/>
                  <a:pt x="127061" y="320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1218836" y="2089334"/>
            <a:ext cx="9429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L1 Cache</a:t>
            </a:r>
            <a:endParaRPr lang="en-US" sz="1100"/>
          </a:p>
        </p:txBody>
      </p:sp>
      <p:sp>
        <p:nvSpPr>
          <p:cNvPr id="9" name="AutoShape 9"/>
          <p:cNvSpPr/>
          <p:nvPr/>
        </p:nvSpPr>
        <p:spPr>
          <a:xfrm>
            <a:off x="1218836" y="2356039"/>
            <a:ext cx="9239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L1 Cache</a:t>
            </a:r>
            <a:endParaRPr lang="en-US" sz="1100"/>
          </a:p>
        </p:txBody>
      </p:sp>
      <p:sp>
        <p:nvSpPr>
          <p:cNvPr id="10" name="AutoShape 10"/>
          <p:cNvSpPr/>
          <p:nvPr/>
        </p:nvSpPr>
        <p:spPr>
          <a:xfrm>
            <a:off x="4948054" y="2165525"/>
            <a:ext cx="952500"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00A63E"/>
                </a:solidFill>
                <a:latin typeface="Noto Sans SC" panose="020B0200000000000000" charset="-122"/>
                <a:ea typeface="Noto Sans SC" panose="020B0200000000000000" charset="-122"/>
                <a:cs typeface="Noto Sans SC" panose="020B0200000000000000" charset="-122"/>
                <a:sym typeface="Noto Sans SC" panose="020B0200000000000000" charset="-122"/>
              </a:rPr>
              <a:t>~1 ns</a:t>
            </a:r>
            <a:endParaRPr lang="en-US" sz="1100"/>
          </a:p>
        </p:txBody>
      </p:sp>
      <p:sp>
        <p:nvSpPr>
          <p:cNvPr id="11" name="Freeform 11"/>
          <p:cNvSpPr/>
          <p:nvPr/>
        </p:nvSpPr>
        <p:spPr>
          <a:xfrm>
            <a:off x="399911" y="2965495"/>
            <a:ext cx="5543455" cy="876300"/>
          </a:xfrm>
          <a:custGeom>
            <a:avLst/>
            <a:gdLst/>
            <a:ahLst/>
            <a:cxnLst/>
            <a:rect l="l" t="t" r="r" b="b"/>
            <a:pathLst>
              <a:path w="5543455" h="876300">
                <a:moveTo>
                  <a:pt x="37909" y="0"/>
                </a:moveTo>
                <a:lnTo>
                  <a:pt x="5429159" y="0"/>
                </a:lnTo>
                <a:cubicBezTo>
                  <a:pt x="5492283" y="0"/>
                  <a:pt x="5543455" y="51172"/>
                  <a:pt x="5543455" y="114296"/>
                </a:cubicBezTo>
                <a:lnTo>
                  <a:pt x="5543455" y="762004"/>
                </a:lnTo>
                <a:cubicBezTo>
                  <a:pt x="5543455" y="825128"/>
                  <a:pt x="5492283" y="876300"/>
                  <a:pt x="5429159" y="876300"/>
                </a:cubicBezTo>
                <a:lnTo>
                  <a:pt x="37909" y="876300"/>
                </a:lnTo>
                <a:cubicBezTo>
                  <a:pt x="16974" y="876300"/>
                  <a:pt x="0" y="859326"/>
                  <a:pt x="0" y="838390"/>
                </a:cubicBezTo>
                <a:lnTo>
                  <a:pt x="0" y="37909"/>
                </a:lnTo>
                <a:cubicBezTo>
                  <a:pt x="0" y="16988"/>
                  <a:pt x="16988" y="0"/>
                  <a:pt x="37909" y="0"/>
                </a:cubicBezTo>
                <a:close/>
              </a:path>
            </a:pathLst>
          </a:custGeom>
          <a:gradFill rotWithShape="1">
            <a:gsLst>
              <a:gs pos="0">
                <a:srgbClr val="FEFCE8">
                  <a:alpha val="100000"/>
                </a:srgbClr>
              </a:gs>
              <a:gs pos="100000">
                <a:srgbClr val="FFFFFF">
                  <a:alpha val="100000"/>
                </a:srgbClr>
              </a:gs>
            </a:gsLst>
            <a:lin ang="0"/>
          </a:gra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399911" y="2965495"/>
            <a:ext cx="37909" cy="876300"/>
          </a:xfrm>
          <a:custGeom>
            <a:avLst/>
            <a:gdLst/>
            <a:ahLst/>
            <a:cxnLst/>
            <a:rect l="l" t="t" r="r" b="b"/>
            <a:pathLst>
              <a:path w="37909" h="876300">
                <a:moveTo>
                  <a:pt x="37909" y="0"/>
                </a:moveTo>
                <a:lnTo>
                  <a:pt x="37909" y="0"/>
                </a:lnTo>
                <a:lnTo>
                  <a:pt x="37909" y="876300"/>
                </a:lnTo>
                <a:lnTo>
                  <a:pt x="37909" y="876300"/>
                </a:lnTo>
                <a:cubicBezTo>
                  <a:pt x="16974" y="876300"/>
                  <a:pt x="0" y="859326"/>
                  <a:pt x="0" y="838390"/>
                </a:cubicBezTo>
                <a:lnTo>
                  <a:pt x="0" y="37909"/>
                </a:lnTo>
                <a:cubicBezTo>
                  <a:pt x="0" y="16988"/>
                  <a:pt x="16988" y="0"/>
                  <a:pt x="37909" y="0"/>
                </a:cubicBezTo>
                <a:close/>
              </a:path>
            </a:pathLst>
          </a:custGeom>
          <a:solidFill>
            <a:srgbClr val="F0B100">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609307" y="3174961"/>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F0B100">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753531" y="3301358"/>
            <a:ext cx="168697" cy="204267"/>
          </a:xfrm>
          <a:custGeom>
            <a:avLst/>
            <a:gdLst/>
            <a:ahLst/>
            <a:cxnLst/>
            <a:rect l="l" t="t" r="r" b="b"/>
            <a:pathLst>
              <a:path w="168697" h="204267">
                <a:moveTo>
                  <a:pt x="127061" y="3200"/>
                </a:moveTo>
                <a:cubicBezTo>
                  <a:pt x="131490" y="6399"/>
                  <a:pt x="133127" y="12204"/>
                  <a:pt x="131118" y="17264"/>
                </a:cubicBezTo>
                <a:lnTo>
                  <a:pt x="101948" y="90227"/>
                </a:lnTo>
                <a:lnTo>
                  <a:pt x="155786" y="90227"/>
                </a:lnTo>
                <a:cubicBezTo>
                  <a:pt x="160809" y="90227"/>
                  <a:pt x="165274" y="93352"/>
                  <a:pt x="166986" y="98077"/>
                </a:cubicBezTo>
                <a:cubicBezTo>
                  <a:pt x="168697" y="102804"/>
                  <a:pt x="167245" y="108085"/>
                  <a:pt x="163414" y="111286"/>
                </a:cubicBezTo>
                <a:lnTo>
                  <a:pt x="56258" y="200583"/>
                </a:lnTo>
                <a:cubicBezTo>
                  <a:pt x="52053" y="204080"/>
                  <a:pt x="46063" y="204266"/>
                  <a:pt x="41635" y="201066"/>
                </a:cubicBezTo>
                <a:cubicBezTo>
                  <a:pt x="37208" y="197867"/>
                  <a:pt x="35571" y="192062"/>
                  <a:pt x="37580" y="187002"/>
                </a:cubicBezTo>
                <a:lnTo>
                  <a:pt x="66750" y="114039"/>
                </a:lnTo>
                <a:lnTo>
                  <a:pt x="12911" y="114039"/>
                </a:lnTo>
                <a:cubicBezTo>
                  <a:pt x="7888" y="114039"/>
                  <a:pt x="3423" y="110914"/>
                  <a:pt x="1712" y="106189"/>
                </a:cubicBezTo>
                <a:cubicBezTo>
                  <a:pt x="0" y="101462"/>
                  <a:pt x="1451" y="96181"/>
                  <a:pt x="5284" y="92980"/>
                </a:cubicBezTo>
                <a:lnTo>
                  <a:pt x="112440" y="3683"/>
                </a:lnTo>
                <a:cubicBezTo>
                  <a:pt x="116644" y="186"/>
                  <a:pt x="122635" y="0"/>
                  <a:pt x="127061" y="320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1218836" y="3155934"/>
            <a:ext cx="9429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L2 Cache</a:t>
            </a:r>
            <a:endParaRPr lang="en-US" sz="1100"/>
          </a:p>
        </p:txBody>
      </p:sp>
      <p:sp>
        <p:nvSpPr>
          <p:cNvPr id="16" name="AutoShape 16"/>
          <p:cNvSpPr/>
          <p:nvPr/>
        </p:nvSpPr>
        <p:spPr>
          <a:xfrm>
            <a:off x="1218836" y="3422639"/>
            <a:ext cx="9239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L2 Cache</a:t>
            </a:r>
            <a:endParaRPr lang="en-US" sz="1100"/>
          </a:p>
        </p:txBody>
      </p:sp>
      <p:sp>
        <p:nvSpPr>
          <p:cNvPr id="17" name="AutoShape 17"/>
          <p:cNvSpPr/>
          <p:nvPr/>
        </p:nvSpPr>
        <p:spPr>
          <a:xfrm>
            <a:off x="4948054" y="3232125"/>
            <a:ext cx="952500"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D08700"/>
                </a:solidFill>
                <a:latin typeface="Noto Sans SC" panose="020B0200000000000000" charset="-122"/>
                <a:ea typeface="Noto Sans SC" panose="020B0200000000000000" charset="-122"/>
                <a:cs typeface="Noto Sans SC" panose="020B0200000000000000" charset="-122"/>
                <a:sym typeface="Noto Sans SC" panose="020B0200000000000000" charset="-122"/>
              </a:rPr>
              <a:t>~4 ns</a:t>
            </a:r>
            <a:endParaRPr lang="en-US" sz="1100"/>
          </a:p>
        </p:txBody>
      </p:sp>
      <p:sp>
        <p:nvSpPr>
          <p:cNvPr id="18" name="Freeform 18"/>
          <p:cNvSpPr/>
          <p:nvPr/>
        </p:nvSpPr>
        <p:spPr>
          <a:xfrm>
            <a:off x="399911" y="4032095"/>
            <a:ext cx="5543455" cy="876300"/>
          </a:xfrm>
          <a:custGeom>
            <a:avLst/>
            <a:gdLst/>
            <a:ahLst/>
            <a:cxnLst/>
            <a:rect l="l" t="t" r="r" b="b"/>
            <a:pathLst>
              <a:path w="5543455" h="876300">
                <a:moveTo>
                  <a:pt x="37909" y="0"/>
                </a:moveTo>
                <a:lnTo>
                  <a:pt x="5429159" y="0"/>
                </a:lnTo>
                <a:cubicBezTo>
                  <a:pt x="5492283" y="0"/>
                  <a:pt x="5543455" y="51172"/>
                  <a:pt x="5543455" y="114296"/>
                </a:cubicBezTo>
                <a:lnTo>
                  <a:pt x="5543455" y="762004"/>
                </a:lnTo>
                <a:cubicBezTo>
                  <a:pt x="5543455" y="825128"/>
                  <a:pt x="5492283" y="876300"/>
                  <a:pt x="5429159" y="876300"/>
                </a:cubicBezTo>
                <a:lnTo>
                  <a:pt x="37909" y="876300"/>
                </a:lnTo>
                <a:cubicBezTo>
                  <a:pt x="16974" y="876300"/>
                  <a:pt x="0" y="859326"/>
                  <a:pt x="0" y="838391"/>
                </a:cubicBezTo>
                <a:lnTo>
                  <a:pt x="0" y="37909"/>
                </a:lnTo>
                <a:cubicBezTo>
                  <a:pt x="0" y="16988"/>
                  <a:pt x="16988" y="0"/>
                  <a:pt x="37909" y="0"/>
                </a:cubicBezTo>
                <a:close/>
              </a:path>
            </a:pathLst>
          </a:custGeom>
          <a:gradFill rotWithShape="1">
            <a:gsLst>
              <a:gs pos="0">
                <a:srgbClr val="FEF2F2">
                  <a:alpha val="100000"/>
                </a:srgbClr>
              </a:gs>
              <a:gs pos="100000">
                <a:srgbClr val="FFFFFF">
                  <a:alpha val="100000"/>
                </a:srgbClr>
              </a:gs>
            </a:gsLst>
            <a:lin ang="0"/>
          </a:gra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399911" y="4032095"/>
            <a:ext cx="37909" cy="876300"/>
          </a:xfrm>
          <a:custGeom>
            <a:avLst/>
            <a:gdLst/>
            <a:ahLst/>
            <a:cxnLst/>
            <a:rect l="l" t="t" r="r" b="b"/>
            <a:pathLst>
              <a:path w="37909" h="876300">
                <a:moveTo>
                  <a:pt x="37909" y="0"/>
                </a:moveTo>
                <a:lnTo>
                  <a:pt x="37909" y="0"/>
                </a:lnTo>
                <a:lnTo>
                  <a:pt x="37909" y="876300"/>
                </a:lnTo>
                <a:lnTo>
                  <a:pt x="37909" y="876300"/>
                </a:lnTo>
                <a:cubicBezTo>
                  <a:pt x="16974" y="876300"/>
                  <a:pt x="0" y="859326"/>
                  <a:pt x="0" y="838391"/>
                </a:cubicBezTo>
                <a:lnTo>
                  <a:pt x="0" y="37909"/>
                </a:lnTo>
                <a:cubicBezTo>
                  <a:pt x="0" y="16988"/>
                  <a:pt x="16988" y="0"/>
                  <a:pt x="37909" y="0"/>
                </a:cubicBezTo>
                <a:close/>
              </a:path>
            </a:pathLst>
          </a:custGeom>
          <a:solidFill>
            <a:srgbClr val="FB2C36">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609307" y="4241565"/>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FB2C36">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742630" y="4398654"/>
            <a:ext cx="190500" cy="142875"/>
          </a:xfrm>
          <a:custGeom>
            <a:avLst/>
            <a:gdLst/>
            <a:ahLst/>
            <a:cxnLst/>
            <a:rect l="l" t="t" r="r" b="b"/>
            <a:pathLst>
              <a:path w="190500" h="142875">
                <a:moveTo>
                  <a:pt x="23812" y="0"/>
                </a:moveTo>
                <a:cubicBezTo>
                  <a:pt x="10678" y="0"/>
                  <a:pt x="0" y="10678"/>
                  <a:pt x="0" y="23812"/>
                </a:cubicBezTo>
                <a:lnTo>
                  <a:pt x="0" y="26565"/>
                </a:lnTo>
                <a:cubicBezTo>
                  <a:pt x="0" y="29095"/>
                  <a:pt x="1637" y="31253"/>
                  <a:pt x="3758" y="32630"/>
                </a:cubicBezTo>
                <a:cubicBezTo>
                  <a:pt x="8669" y="35830"/>
                  <a:pt x="11906" y="41337"/>
                  <a:pt x="11906" y="47624"/>
                </a:cubicBezTo>
                <a:cubicBezTo>
                  <a:pt x="11906" y="53912"/>
                  <a:pt x="8669" y="59419"/>
                  <a:pt x="3758" y="62619"/>
                </a:cubicBezTo>
                <a:cubicBezTo>
                  <a:pt x="1637" y="63996"/>
                  <a:pt x="0" y="66154"/>
                  <a:pt x="0" y="68684"/>
                </a:cubicBezTo>
                <a:lnTo>
                  <a:pt x="0" y="89296"/>
                </a:lnTo>
                <a:lnTo>
                  <a:pt x="190500" y="89296"/>
                </a:lnTo>
                <a:lnTo>
                  <a:pt x="190500" y="68684"/>
                </a:lnTo>
                <a:cubicBezTo>
                  <a:pt x="190500" y="66154"/>
                  <a:pt x="188863" y="63996"/>
                  <a:pt x="186742" y="62619"/>
                </a:cubicBezTo>
                <a:cubicBezTo>
                  <a:pt x="181831" y="59419"/>
                  <a:pt x="178594" y="53912"/>
                  <a:pt x="178594" y="47624"/>
                </a:cubicBezTo>
                <a:cubicBezTo>
                  <a:pt x="178594" y="41337"/>
                  <a:pt x="181831" y="35830"/>
                  <a:pt x="186742" y="32630"/>
                </a:cubicBezTo>
                <a:cubicBezTo>
                  <a:pt x="188863" y="31253"/>
                  <a:pt x="190500" y="29095"/>
                  <a:pt x="190500" y="26565"/>
                </a:cubicBezTo>
                <a:lnTo>
                  <a:pt x="190500" y="23812"/>
                </a:lnTo>
                <a:cubicBezTo>
                  <a:pt x="190500" y="10678"/>
                  <a:pt x="179822" y="0"/>
                  <a:pt x="166688" y="0"/>
                </a:cubicBezTo>
                <a:lnTo>
                  <a:pt x="23812" y="0"/>
                </a:lnTo>
                <a:close/>
                <a:moveTo>
                  <a:pt x="190500" y="130968"/>
                </a:moveTo>
                <a:lnTo>
                  <a:pt x="190500" y="107156"/>
                </a:lnTo>
                <a:lnTo>
                  <a:pt x="0" y="107156"/>
                </a:lnTo>
                <a:lnTo>
                  <a:pt x="0" y="130968"/>
                </a:lnTo>
                <a:cubicBezTo>
                  <a:pt x="0" y="137554"/>
                  <a:pt x="5321" y="142874"/>
                  <a:pt x="11906" y="142874"/>
                </a:cubicBezTo>
                <a:lnTo>
                  <a:pt x="35719" y="142874"/>
                </a:lnTo>
                <a:lnTo>
                  <a:pt x="35719" y="133945"/>
                </a:lnTo>
                <a:cubicBezTo>
                  <a:pt x="35719" y="128996"/>
                  <a:pt x="39700" y="125014"/>
                  <a:pt x="44648" y="125014"/>
                </a:cubicBezTo>
                <a:cubicBezTo>
                  <a:pt x="49597" y="125014"/>
                  <a:pt x="53577" y="128996"/>
                  <a:pt x="53577" y="133945"/>
                </a:cubicBezTo>
                <a:lnTo>
                  <a:pt x="53577" y="142874"/>
                </a:lnTo>
                <a:lnTo>
                  <a:pt x="86321" y="142874"/>
                </a:lnTo>
                <a:lnTo>
                  <a:pt x="86321" y="133945"/>
                </a:lnTo>
                <a:cubicBezTo>
                  <a:pt x="86321" y="128996"/>
                  <a:pt x="90301" y="125014"/>
                  <a:pt x="95250" y="125014"/>
                </a:cubicBezTo>
                <a:cubicBezTo>
                  <a:pt x="100199" y="125014"/>
                  <a:pt x="104179" y="128996"/>
                  <a:pt x="104179" y="133945"/>
                </a:cubicBezTo>
                <a:lnTo>
                  <a:pt x="104179" y="142874"/>
                </a:lnTo>
                <a:lnTo>
                  <a:pt x="136923" y="142874"/>
                </a:lnTo>
                <a:lnTo>
                  <a:pt x="136923" y="133945"/>
                </a:lnTo>
                <a:cubicBezTo>
                  <a:pt x="136923" y="128996"/>
                  <a:pt x="140903" y="125014"/>
                  <a:pt x="145852" y="125014"/>
                </a:cubicBezTo>
                <a:cubicBezTo>
                  <a:pt x="150800" y="125014"/>
                  <a:pt x="154781" y="128996"/>
                  <a:pt x="154781" y="133945"/>
                </a:cubicBezTo>
                <a:lnTo>
                  <a:pt x="154781" y="142874"/>
                </a:lnTo>
                <a:lnTo>
                  <a:pt x="178594" y="142874"/>
                </a:lnTo>
                <a:cubicBezTo>
                  <a:pt x="185179" y="142874"/>
                  <a:pt x="190500" y="137554"/>
                  <a:pt x="190500" y="130968"/>
                </a:cubicBezTo>
                <a:close/>
                <a:moveTo>
                  <a:pt x="59531" y="35718"/>
                </a:moveTo>
                <a:lnTo>
                  <a:pt x="59531" y="59531"/>
                </a:lnTo>
                <a:cubicBezTo>
                  <a:pt x="59531" y="66116"/>
                  <a:pt x="54211" y="71437"/>
                  <a:pt x="47625" y="71437"/>
                </a:cubicBezTo>
                <a:cubicBezTo>
                  <a:pt x="41039" y="71437"/>
                  <a:pt x="35719" y="66116"/>
                  <a:pt x="35719" y="59531"/>
                </a:cubicBezTo>
                <a:lnTo>
                  <a:pt x="35719" y="35718"/>
                </a:lnTo>
                <a:cubicBezTo>
                  <a:pt x="35719" y="29133"/>
                  <a:pt x="41039" y="23812"/>
                  <a:pt x="47625" y="23812"/>
                </a:cubicBezTo>
                <a:cubicBezTo>
                  <a:pt x="54211" y="23812"/>
                  <a:pt x="59531" y="29133"/>
                  <a:pt x="59531" y="35718"/>
                </a:cubicBezTo>
                <a:close/>
                <a:moveTo>
                  <a:pt x="107156" y="35718"/>
                </a:moveTo>
                <a:lnTo>
                  <a:pt x="107156" y="59531"/>
                </a:lnTo>
                <a:cubicBezTo>
                  <a:pt x="107156" y="66116"/>
                  <a:pt x="101836" y="71437"/>
                  <a:pt x="95250" y="71437"/>
                </a:cubicBezTo>
                <a:cubicBezTo>
                  <a:pt x="88664" y="71437"/>
                  <a:pt x="83344" y="66116"/>
                  <a:pt x="83344" y="59531"/>
                </a:cubicBezTo>
                <a:lnTo>
                  <a:pt x="83344" y="35718"/>
                </a:lnTo>
                <a:cubicBezTo>
                  <a:pt x="83344" y="29133"/>
                  <a:pt x="88664" y="23812"/>
                  <a:pt x="95250" y="23812"/>
                </a:cubicBezTo>
                <a:cubicBezTo>
                  <a:pt x="101836" y="23812"/>
                  <a:pt x="107156" y="29133"/>
                  <a:pt x="107156" y="35718"/>
                </a:cubicBezTo>
                <a:close/>
                <a:moveTo>
                  <a:pt x="154781" y="35718"/>
                </a:moveTo>
                <a:lnTo>
                  <a:pt x="154781" y="59531"/>
                </a:lnTo>
                <a:cubicBezTo>
                  <a:pt x="154781" y="66116"/>
                  <a:pt x="149461" y="71437"/>
                  <a:pt x="142875" y="71437"/>
                </a:cubicBezTo>
                <a:cubicBezTo>
                  <a:pt x="136289" y="71437"/>
                  <a:pt x="130969" y="66116"/>
                  <a:pt x="130969" y="59531"/>
                </a:cubicBezTo>
                <a:lnTo>
                  <a:pt x="130969" y="35718"/>
                </a:lnTo>
                <a:cubicBezTo>
                  <a:pt x="130969" y="29133"/>
                  <a:pt x="136289" y="23812"/>
                  <a:pt x="142875" y="23812"/>
                </a:cubicBezTo>
                <a:cubicBezTo>
                  <a:pt x="149461" y="23812"/>
                  <a:pt x="154781" y="29133"/>
                  <a:pt x="154781" y="3571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1218836" y="4222534"/>
            <a:ext cx="7143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DRAM</a:t>
            </a:r>
            <a:endParaRPr lang="en-US" sz="1100"/>
          </a:p>
        </p:txBody>
      </p:sp>
      <p:sp>
        <p:nvSpPr>
          <p:cNvPr id="23" name="AutoShape 23"/>
          <p:cNvSpPr/>
          <p:nvPr/>
        </p:nvSpPr>
        <p:spPr>
          <a:xfrm>
            <a:off x="1218836" y="4489239"/>
            <a:ext cx="1386808"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Main Memory</a:t>
            </a:r>
            <a:endParaRPr lang="en-US" sz="1100"/>
          </a:p>
        </p:txBody>
      </p:sp>
      <p:sp>
        <p:nvSpPr>
          <p:cNvPr id="24" name="AutoShape 24"/>
          <p:cNvSpPr/>
          <p:nvPr/>
        </p:nvSpPr>
        <p:spPr>
          <a:xfrm>
            <a:off x="4595605" y="4298725"/>
            <a:ext cx="130492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E7000B"/>
                </a:solidFill>
                <a:latin typeface="Noto Sans SC" panose="020B0200000000000000" charset="-122"/>
                <a:ea typeface="Noto Sans SC" panose="020B0200000000000000" charset="-122"/>
                <a:cs typeface="Noto Sans SC" panose="020B0200000000000000" charset="-122"/>
                <a:sym typeface="Noto Sans SC" panose="020B0200000000000000" charset="-122"/>
              </a:rPr>
              <a:t>~100 ns</a:t>
            </a:r>
            <a:endParaRPr lang="en-US" sz="1100"/>
          </a:p>
        </p:txBody>
      </p:sp>
      <p:sp>
        <p:nvSpPr>
          <p:cNvPr id="25" name="Freeform 25"/>
          <p:cNvSpPr/>
          <p:nvPr/>
        </p:nvSpPr>
        <p:spPr>
          <a:xfrm>
            <a:off x="399911" y="5486353"/>
            <a:ext cx="5543455" cy="647700"/>
          </a:xfrm>
          <a:custGeom>
            <a:avLst/>
            <a:gdLst/>
            <a:ahLst/>
            <a:cxnLst/>
            <a:rect l="l" t="t" r="r" b="b"/>
            <a:pathLst>
              <a:path w="5543455" h="647700">
                <a:moveTo>
                  <a:pt x="37909" y="0"/>
                </a:moveTo>
                <a:lnTo>
                  <a:pt x="5429156" y="0"/>
                </a:lnTo>
                <a:cubicBezTo>
                  <a:pt x="5492281" y="0"/>
                  <a:pt x="5543455" y="51173"/>
                  <a:pt x="5543455" y="114300"/>
                </a:cubicBezTo>
                <a:lnTo>
                  <a:pt x="5543455" y="533400"/>
                </a:lnTo>
                <a:cubicBezTo>
                  <a:pt x="5543455" y="596527"/>
                  <a:pt x="5492281" y="647700"/>
                  <a:pt x="5429156" y="647700"/>
                </a:cubicBezTo>
                <a:lnTo>
                  <a:pt x="37909" y="647700"/>
                </a:lnTo>
                <a:cubicBezTo>
                  <a:pt x="16974" y="647700"/>
                  <a:pt x="0" y="630726"/>
                  <a:pt x="0" y="609791"/>
                </a:cubicBezTo>
                <a:lnTo>
                  <a:pt x="0" y="37909"/>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399911" y="5486353"/>
            <a:ext cx="37909" cy="647700"/>
          </a:xfrm>
          <a:custGeom>
            <a:avLst/>
            <a:gdLst/>
            <a:ahLst/>
            <a:cxnLst/>
            <a:rect l="l" t="t" r="r" b="b"/>
            <a:pathLst>
              <a:path w="37909" h="647700">
                <a:moveTo>
                  <a:pt x="37909" y="0"/>
                </a:moveTo>
                <a:lnTo>
                  <a:pt x="37909" y="0"/>
                </a:lnTo>
                <a:lnTo>
                  <a:pt x="37909" y="647700"/>
                </a:lnTo>
                <a:lnTo>
                  <a:pt x="37909" y="647700"/>
                </a:lnTo>
                <a:cubicBezTo>
                  <a:pt x="16974" y="647700"/>
                  <a:pt x="0" y="630726"/>
                  <a:pt x="0" y="609791"/>
                </a:cubicBezTo>
                <a:lnTo>
                  <a:pt x="0" y="37909"/>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609307" y="5676793"/>
            <a:ext cx="5238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Note:</a:t>
            </a:r>
            <a:r>
              <a:rPr lang="en-US" sz="15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The farther the memory level, the greater the latency</a:t>
            </a:r>
            <a:endParaRPr lang="en-US" sz="1100"/>
          </a:p>
        </p:txBody>
      </p:sp>
      <p:sp>
        <p:nvSpPr>
          <p:cNvPr id="28" name="Freeform 28"/>
          <p:cNvSpPr/>
          <p:nvPr/>
        </p:nvSpPr>
        <p:spPr>
          <a:xfrm>
            <a:off x="6248338" y="990488"/>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9" name="Picture 29"/>
          <p:cNvPicPr>
            <a:picLocks noChangeAspect="1"/>
          </p:cNvPicPr>
          <p:nvPr/>
        </p:nvPicPr>
        <p:blipFill>
          <a:blip r:embed="rId1"/>
          <a:srcRect l="77" r="76"/>
          <a:stretch>
            <a:fillRect/>
          </a:stretch>
        </p:blipFill>
        <p:spPr>
          <a:xfrm>
            <a:off x="6400720" y="1921441"/>
            <a:ext cx="5257800" cy="2981325"/>
          </a:xfrm>
          <a:prstGeom prst="roundRect">
            <a:avLst>
              <a:gd name="adj" fmla="val 0"/>
            </a:avLst>
          </a:prstGeom>
          <a:ln w="12700">
            <a:noFill/>
            <a:prstDash val="solid"/>
          </a:ln>
        </p:spPr>
      </p:pic>
      <p:sp>
        <p:nvSpPr>
          <p:cNvPr id="30" name="AutoShape 30"/>
          <p:cNvSpPr/>
          <p:nvPr/>
        </p:nvSpPr>
        <p:spPr>
          <a:xfrm>
            <a:off x="6210238" y="5905370"/>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Image source: Brown University - Memory Hierarchy</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0331" y="664813"/>
            <a:ext cx="11699875" cy="3175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3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Latency vs Bandwidth</a:t>
            </a:r>
            <a:endParaRPr lang="en-US" sz="1100"/>
          </a:p>
        </p:txBody>
      </p:sp>
      <p:sp>
        <p:nvSpPr>
          <p:cNvPr id="3" name="Freeform 3"/>
          <p:cNvSpPr/>
          <p:nvPr/>
        </p:nvSpPr>
        <p:spPr>
          <a:xfrm>
            <a:off x="325361" y="1349161"/>
            <a:ext cx="5635546" cy="3754435"/>
          </a:xfrm>
          <a:custGeom>
            <a:avLst/>
            <a:gdLst/>
            <a:ahLst/>
            <a:cxnLst/>
            <a:rect l="l" t="t" r="r" b="b"/>
            <a:pathLst>
              <a:path w="5635546" h="3754435">
                <a:moveTo>
                  <a:pt x="95270" y="0"/>
                </a:moveTo>
                <a:lnTo>
                  <a:pt x="5540276" y="0"/>
                </a:lnTo>
                <a:cubicBezTo>
                  <a:pt x="5592892" y="0"/>
                  <a:pt x="5635546" y="37502"/>
                  <a:pt x="5635546" y="83762"/>
                </a:cubicBezTo>
                <a:lnTo>
                  <a:pt x="5635546" y="3670673"/>
                </a:lnTo>
                <a:cubicBezTo>
                  <a:pt x="5635546" y="3716933"/>
                  <a:pt x="5592892" y="3754435"/>
                  <a:pt x="5540276" y="3754435"/>
                </a:cubicBezTo>
                <a:lnTo>
                  <a:pt x="95270" y="3754435"/>
                </a:lnTo>
                <a:cubicBezTo>
                  <a:pt x="42654" y="3754435"/>
                  <a:pt x="0" y="3716933"/>
                  <a:pt x="0" y="3670673"/>
                </a:cubicBezTo>
                <a:lnTo>
                  <a:pt x="0" y="83762"/>
                </a:lnTo>
                <a:cubicBezTo>
                  <a:pt x="0" y="37532"/>
                  <a:pt x="42689" y="0"/>
                  <a:pt x="95270" y="0"/>
                </a:cubicBezTo>
                <a:close/>
              </a:path>
            </a:pathLst>
          </a:custGeom>
          <a:gradFill rotWithShape="1">
            <a:gsLst>
              <a:gs pos="0">
                <a:srgbClr val="F9FAFB">
                  <a:alpha val="100000"/>
                </a:srgbClr>
              </a:gs>
              <a:gs pos="100000">
                <a:srgbClr val="FFFFFF">
                  <a:alpha val="100000"/>
                </a:srgbClr>
              </a:gs>
            </a:gsLst>
            <a:lin ang="2700000"/>
          </a:gradFill>
          <a:ln w="12700">
            <a:solidFill>
              <a:srgbClr val="E5E7EB">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523737" y="1500609"/>
            <a:ext cx="444500" cy="444500"/>
          </a:xfrm>
          <a:custGeom>
            <a:avLst/>
            <a:gdLst/>
            <a:ahLst/>
            <a:cxnLst/>
            <a:rect l="l" t="t" r="r" b="b"/>
            <a:pathLst>
              <a:path w="444500" h="444500">
                <a:moveTo>
                  <a:pt x="95253" y="0"/>
                </a:moveTo>
                <a:lnTo>
                  <a:pt x="349247" y="0"/>
                </a:lnTo>
                <a:cubicBezTo>
                  <a:pt x="401819" y="0"/>
                  <a:pt x="444500" y="42681"/>
                  <a:pt x="444500" y="95253"/>
                </a:cubicBezTo>
                <a:lnTo>
                  <a:pt x="444500" y="349247"/>
                </a:lnTo>
                <a:cubicBezTo>
                  <a:pt x="444500" y="401853"/>
                  <a:pt x="401853" y="444500"/>
                  <a:pt x="349247" y="444500"/>
                </a:cubicBezTo>
                <a:lnTo>
                  <a:pt x="95253" y="444500"/>
                </a:lnTo>
                <a:cubicBezTo>
                  <a:pt x="42681" y="444500"/>
                  <a:pt x="0" y="401819"/>
                  <a:pt x="0" y="349247"/>
                </a:cubicBezTo>
                <a:lnTo>
                  <a:pt x="0" y="95253"/>
                </a:lnTo>
                <a:cubicBezTo>
                  <a:pt x="0" y="42647"/>
                  <a:pt x="42647" y="0"/>
                  <a:pt x="95253" y="0"/>
                </a:cubicBezTo>
                <a:close/>
              </a:path>
            </a:pathLst>
          </a:custGeom>
          <a:solidFill>
            <a:srgbClr val="8B0000">
              <a:alpha val="100000"/>
            </a:srgbClr>
          </a:solidFill>
          <a:ln w="12700">
            <a:noFill/>
            <a:prstDash val="solid"/>
          </a:ln>
          <a:effectLst>
            <a:outerShdw blurRad="381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650717" y="1627594"/>
            <a:ext cx="190500" cy="190500"/>
          </a:xfrm>
          <a:custGeom>
            <a:avLst/>
            <a:gdLst/>
            <a:ahLst/>
            <a:cxnLst/>
            <a:rect l="l" t="t" r="r" b="b"/>
            <a:pathLst>
              <a:path w="190500" h="190500">
                <a:moveTo>
                  <a:pt x="95250" y="0"/>
                </a:moveTo>
                <a:cubicBezTo>
                  <a:pt x="147820" y="0"/>
                  <a:pt x="190500" y="42680"/>
                  <a:pt x="190500" y="95250"/>
                </a:cubicBezTo>
                <a:cubicBezTo>
                  <a:pt x="190500" y="147820"/>
                  <a:pt x="147820" y="190500"/>
                  <a:pt x="95250" y="190500"/>
                </a:cubicBezTo>
                <a:cubicBezTo>
                  <a:pt x="42680" y="190500"/>
                  <a:pt x="0" y="147820"/>
                  <a:pt x="0" y="95250"/>
                </a:cubicBezTo>
                <a:cubicBezTo>
                  <a:pt x="0" y="42680"/>
                  <a:pt x="42680" y="0"/>
                  <a:pt x="95250" y="0"/>
                </a:cubicBezTo>
                <a:close/>
                <a:moveTo>
                  <a:pt x="86321" y="44648"/>
                </a:moveTo>
                <a:lnTo>
                  <a:pt x="86321" y="95250"/>
                </a:lnTo>
                <a:cubicBezTo>
                  <a:pt x="86321" y="98227"/>
                  <a:pt x="87809" y="101017"/>
                  <a:pt x="90301" y="102691"/>
                </a:cubicBezTo>
                <a:lnTo>
                  <a:pt x="126020" y="126503"/>
                </a:lnTo>
                <a:cubicBezTo>
                  <a:pt x="130113" y="129257"/>
                  <a:pt x="135658" y="128140"/>
                  <a:pt x="138410" y="124010"/>
                </a:cubicBezTo>
                <a:cubicBezTo>
                  <a:pt x="141163" y="119880"/>
                  <a:pt x="140047" y="114374"/>
                  <a:pt x="135917" y="111622"/>
                </a:cubicBezTo>
                <a:lnTo>
                  <a:pt x="104179" y="90488"/>
                </a:lnTo>
                <a:lnTo>
                  <a:pt x="104179" y="44648"/>
                </a:lnTo>
                <a:cubicBezTo>
                  <a:pt x="104179" y="39700"/>
                  <a:pt x="100199" y="35719"/>
                  <a:pt x="95250" y="35719"/>
                </a:cubicBezTo>
                <a:cubicBezTo>
                  <a:pt x="90301" y="35719"/>
                  <a:pt x="86321" y="39700"/>
                  <a:pt x="86321" y="4464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1095170" y="1595879"/>
            <a:ext cx="833438"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5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Latency</a:t>
            </a:r>
            <a:endParaRPr lang="en-US" sz="1100"/>
          </a:p>
        </p:txBody>
      </p:sp>
      <p:sp>
        <p:nvSpPr>
          <p:cNvPr id="7" name="Freeform 7"/>
          <p:cNvSpPr/>
          <p:nvPr/>
        </p:nvSpPr>
        <p:spPr>
          <a:xfrm>
            <a:off x="523737" y="2583575"/>
            <a:ext cx="5238750" cy="1404938"/>
          </a:xfrm>
          <a:custGeom>
            <a:avLst/>
            <a:gdLst/>
            <a:ahLst/>
            <a:cxnLst/>
            <a:rect l="l" t="t" r="r" b="b"/>
            <a:pathLst>
              <a:path w="5238750" h="1404938">
                <a:moveTo>
                  <a:pt x="63503" y="0"/>
                </a:moveTo>
                <a:lnTo>
                  <a:pt x="5175247" y="0"/>
                </a:lnTo>
                <a:cubicBezTo>
                  <a:pt x="5210319" y="0"/>
                  <a:pt x="5238750" y="28431"/>
                  <a:pt x="5238750" y="63503"/>
                </a:cubicBezTo>
                <a:lnTo>
                  <a:pt x="5238750" y="1341434"/>
                </a:lnTo>
                <a:cubicBezTo>
                  <a:pt x="5238750" y="1376506"/>
                  <a:pt x="5210319" y="1404937"/>
                  <a:pt x="5175247" y="1404937"/>
                </a:cubicBezTo>
                <a:lnTo>
                  <a:pt x="63503" y="1404937"/>
                </a:lnTo>
                <a:cubicBezTo>
                  <a:pt x="28431" y="1404937"/>
                  <a:pt x="0" y="1376506"/>
                  <a:pt x="0" y="1341434"/>
                </a:cubicBezTo>
                <a:lnTo>
                  <a:pt x="0" y="63503"/>
                </a:lnTo>
                <a:cubicBezTo>
                  <a:pt x="0" y="28431"/>
                  <a:pt x="28431" y="0"/>
                  <a:pt x="63503" y="0"/>
                </a:cubicBezTo>
                <a:close/>
              </a:path>
            </a:pathLst>
          </a:custGeom>
          <a:solidFill>
            <a:srgbClr val="FFFFFF">
              <a:alpha val="100000"/>
            </a:srgbClr>
          </a:solidFill>
          <a:ln w="12700">
            <a:noFill/>
            <a:prstDash val="solid"/>
          </a:ln>
          <a:effectLst>
            <a:outerShdw blurRad="127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8" name="AutoShape 8"/>
          <p:cNvSpPr/>
          <p:nvPr/>
        </p:nvSpPr>
        <p:spPr>
          <a:xfrm>
            <a:off x="777707" y="2837544"/>
            <a:ext cx="482600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How long does a single access take?</a:t>
            </a:r>
            <a:endParaRPr lang="en-US" sz="1100"/>
          </a:p>
        </p:txBody>
      </p:sp>
      <p:sp>
        <p:nvSpPr>
          <p:cNvPr id="9" name="AutoShape 9"/>
          <p:cNvSpPr/>
          <p:nvPr/>
        </p:nvSpPr>
        <p:spPr>
          <a:xfrm>
            <a:off x="777707" y="3218439"/>
            <a:ext cx="4810125" cy="515938"/>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300" b="0" i="0" u="none" strike="noStrike">
                <a:solidFill>
                  <a:srgbClr val="364153"/>
                </a:solidFill>
                <a:latin typeface="Noto Sans SC" panose="020B0200000000000000" charset="-122"/>
                <a:ea typeface="Noto Sans SC" panose="020B0200000000000000" charset="-122"/>
                <a:cs typeface="Noto Sans SC" panose="020B0200000000000000" charset="-122"/>
                <a:sym typeface="Noto Sans SC" panose="020B0200000000000000" charset="-122"/>
              </a:rPr>
              <a:t>Measures the time to complete one independent operation, focusing on the response speed of individual requests.</a:t>
            </a:r>
            <a:endParaRPr lang="en-US" sz="1100"/>
          </a:p>
        </p:txBody>
      </p:sp>
      <p:sp>
        <p:nvSpPr>
          <p:cNvPr id="10" name="Freeform 10"/>
          <p:cNvSpPr/>
          <p:nvPr/>
        </p:nvSpPr>
        <p:spPr>
          <a:xfrm>
            <a:off x="6230851" y="1349161"/>
            <a:ext cx="5635546" cy="3754435"/>
          </a:xfrm>
          <a:custGeom>
            <a:avLst/>
            <a:gdLst/>
            <a:ahLst/>
            <a:cxnLst/>
            <a:rect l="l" t="t" r="r" b="b"/>
            <a:pathLst>
              <a:path w="5635546" h="3754435">
                <a:moveTo>
                  <a:pt x="95270" y="0"/>
                </a:moveTo>
                <a:lnTo>
                  <a:pt x="5540276" y="0"/>
                </a:lnTo>
                <a:cubicBezTo>
                  <a:pt x="5592892" y="0"/>
                  <a:pt x="5635546" y="37502"/>
                  <a:pt x="5635546" y="83762"/>
                </a:cubicBezTo>
                <a:lnTo>
                  <a:pt x="5635546" y="3670673"/>
                </a:lnTo>
                <a:cubicBezTo>
                  <a:pt x="5635546" y="3716933"/>
                  <a:pt x="5592892" y="3754435"/>
                  <a:pt x="5540276" y="3754435"/>
                </a:cubicBezTo>
                <a:lnTo>
                  <a:pt x="95270" y="3754435"/>
                </a:lnTo>
                <a:cubicBezTo>
                  <a:pt x="42654" y="3754435"/>
                  <a:pt x="0" y="3716933"/>
                  <a:pt x="0" y="3670673"/>
                </a:cubicBezTo>
                <a:lnTo>
                  <a:pt x="0" y="83762"/>
                </a:lnTo>
                <a:cubicBezTo>
                  <a:pt x="0" y="37532"/>
                  <a:pt x="42689" y="0"/>
                  <a:pt x="95270" y="0"/>
                </a:cubicBezTo>
                <a:close/>
              </a:path>
            </a:pathLst>
          </a:custGeom>
          <a:gradFill rotWithShape="1">
            <a:gsLst>
              <a:gs pos="0">
                <a:srgbClr val="F9FAFB">
                  <a:alpha val="100000"/>
                </a:srgbClr>
              </a:gs>
              <a:gs pos="100000">
                <a:srgbClr val="FFFFFF">
                  <a:alpha val="100000"/>
                </a:srgbClr>
              </a:gs>
            </a:gsLst>
            <a:lin ang="2700000"/>
          </a:gradFill>
          <a:ln w="12700">
            <a:solidFill>
              <a:srgbClr val="E5E7EB">
                <a:alpha val="100000"/>
              </a:srgbClr>
            </a:solidFill>
            <a:prstDash val="solid"/>
          </a:ln>
        </p:spPr>
        <p:txBody>
          <a:bodyPr wrap="square" lIns="91440" tIns="45720" rIns="91440" bIns="45720" rtlCol="0" anchor="t">
            <a:noAutofit/>
          </a:bodyPr>
          <a:lstStyle/>
          <a:p>
            <a:pPr algn="ctr">
              <a:defRPr/>
            </a:pPr>
          </a:p>
        </p:txBody>
      </p:sp>
      <p:sp>
        <p:nvSpPr>
          <p:cNvPr id="11" name="Freeform 11"/>
          <p:cNvSpPr/>
          <p:nvPr/>
        </p:nvSpPr>
        <p:spPr>
          <a:xfrm>
            <a:off x="6429227" y="1547493"/>
            <a:ext cx="444500" cy="444500"/>
          </a:xfrm>
          <a:custGeom>
            <a:avLst/>
            <a:gdLst/>
            <a:ahLst/>
            <a:cxnLst/>
            <a:rect l="l" t="t" r="r" b="b"/>
            <a:pathLst>
              <a:path w="444500" h="444500">
                <a:moveTo>
                  <a:pt x="95253" y="0"/>
                </a:moveTo>
                <a:lnTo>
                  <a:pt x="349247" y="0"/>
                </a:lnTo>
                <a:cubicBezTo>
                  <a:pt x="401819" y="0"/>
                  <a:pt x="444500" y="42681"/>
                  <a:pt x="444500" y="95253"/>
                </a:cubicBezTo>
                <a:lnTo>
                  <a:pt x="444500" y="349247"/>
                </a:lnTo>
                <a:cubicBezTo>
                  <a:pt x="444500" y="401853"/>
                  <a:pt x="401853" y="444500"/>
                  <a:pt x="349247" y="444500"/>
                </a:cubicBezTo>
                <a:lnTo>
                  <a:pt x="95253" y="444500"/>
                </a:lnTo>
                <a:cubicBezTo>
                  <a:pt x="42681" y="444500"/>
                  <a:pt x="0" y="401819"/>
                  <a:pt x="0" y="349247"/>
                </a:cubicBezTo>
                <a:lnTo>
                  <a:pt x="0" y="95253"/>
                </a:lnTo>
                <a:cubicBezTo>
                  <a:pt x="0" y="42647"/>
                  <a:pt x="42647" y="0"/>
                  <a:pt x="95253" y="0"/>
                </a:cubicBezTo>
                <a:close/>
              </a:path>
            </a:pathLst>
          </a:custGeom>
          <a:solidFill>
            <a:srgbClr val="8B0000">
              <a:alpha val="100000"/>
            </a:srgbClr>
          </a:solidFill>
          <a:ln w="12700">
            <a:noFill/>
            <a:prstDash val="solid"/>
          </a:ln>
          <a:effectLst>
            <a:outerShdw blurRad="381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2" name="Freeform 12"/>
          <p:cNvSpPr/>
          <p:nvPr/>
        </p:nvSpPr>
        <p:spPr>
          <a:xfrm>
            <a:off x="6556207" y="1674478"/>
            <a:ext cx="190500" cy="190500"/>
          </a:xfrm>
          <a:custGeom>
            <a:avLst/>
            <a:gdLst/>
            <a:ahLst/>
            <a:cxnLst/>
            <a:rect l="l" t="t" r="r" b="b"/>
            <a:pathLst>
              <a:path w="190500" h="190500">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107156" y="35719"/>
                </a:moveTo>
                <a:cubicBezTo>
                  <a:pt x="107156" y="29148"/>
                  <a:pt x="101821" y="23812"/>
                  <a:pt x="95250" y="23812"/>
                </a:cubicBezTo>
                <a:cubicBezTo>
                  <a:pt x="88679" y="23812"/>
                  <a:pt x="83344" y="29148"/>
                  <a:pt x="83344" y="35719"/>
                </a:cubicBezTo>
                <a:cubicBezTo>
                  <a:pt x="83344" y="42290"/>
                  <a:pt x="88679" y="47625"/>
                  <a:pt x="95250" y="47625"/>
                </a:cubicBezTo>
                <a:cubicBezTo>
                  <a:pt x="101821" y="47625"/>
                  <a:pt x="107156" y="42290"/>
                  <a:pt x="107156" y="35719"/>
                </a:cubicBezTo>
                <a:close/>
                <a:moveTo>
                  <a:pt x="95250" y="154781"/>
                </a:moveTo>
                <a:cubicBezTo>
                  <a:pt x="108384" y="154781"/>
                  <a:pt x="119063" y="144103"/>
                  <a:pt x="119063" y="130969"/>
                </a:cubicBezTo>
                <a:cubicBezTo>
                  <a:pt x="119063" y="124941"/>
                  <a:pt x="116830" y="119397"/>
                  <a:pt x="113109" y="115230"/>
                </a:cubicBezTo>
                <a:lnTo>
                  <a:pt x="138968" y="63550"/>
                </a:lnTo>
                <a:cubicBezTo>
                  <a:pt x="141163" y="59122"/>
                  <a:pt x="139377" y="53764"/>
                  <a:pt x="134987" y="51570"/>
                </a:cubicBezTo>
                <a:cubicBezTo>
                  <a:pt x="130597" y="49374"/>
                  <a:pt x="125202" y="51159"/>
                  <a:pt x="123006" y="55550"/>
                </a:cubicBezTo>
                <a:lnTo>
                  <a:pt x="97147" y="107231"/>
                </a:lnTo>
                <a:cubicBezTo>
                  <a:pt x="96515" y="107193"/>
                  <a:pt x="95882" y="107156"/>
                  <a:pt x="95250" y="107156"/>
                </a:cubicBezTo>
                <a:cubicBezTo>
                  <a:pt x="82116" y="107156"/>
                  <a:pt x="71437" y="117834"/>
                  <a:pt x="71437" y="130969"/>
                </a:cubicBezTo>
                <a:cubicBezTo>
                  <a:pt x="71437" y="144103"/>
                  <a:pt x="82116" y="154781"/>
                  <a:pt x="95250" y="154781"/>
                </a:cubicBezTo>
                <a:close/>
                <a:moveTo>
                  <a:pt x="65484" y="53577"/>
                </a:moveTo>
                <a:cubicBezTo>
                  <a:pt x="65484" y="47007"/>
                  <a:pt x="60148" y="41673"/>
                  <a:pt x="53577" y="41673"/>
                </a:cubicBezTo>
                <a:cubicBezTo>
                  <a:pt x="47007" y="41673"/>
                  <a:pt x="41673" y="47007"/>
                  <a:pt x="41673" y="53577"/>
                </a:cubicBezTo>
                <a:cubicBezTo>
                  <a:pt x="41673" y="60148"/>
                  <a:pt x="47007" y="65484"/>
                  <a:pt x="53577" y="65484"/>
                </a:cubicBezTo>
                <a:cubicBezTo>
                  <a:pt x="60148" y="65484"/>
                  <a:pt x="65484" y="60148"/>
                  <a:pt x="65484" y="53577"/>
                </a:cubicBezTo>
                <a:close/>
                <a:moveTo>
                  <a:pt x="35719" y="107156"/>
                </a:moveTo>
                <a:cubicBezTo>
                  <a:pt x="42290" y="107156"/>
                  <a:pt x="47625" y="101821"/>
                  <a:pt x="47625" y="95250"/>
                </a:cubicBezTo>
                <a:cubicBezTo>
                  <a:pt x="47625" y="88679"/>
                  <a:pt x="42290" y="83344"/>
                  <a:pt x="35719" y="83344"/>
                </a:cubicBezTo>
                <a:cubicBezTo>
                  <a:pt x="29148" y="83344"/>
                  <a:pt x="23813" y="88679"/>
                  <a:pt x="23813" y="95250"/>
                </a:cubicBezTo>
                <a:cubicBezTo>
                  <a:pt x="23813" y="101821"/>
                  <a:pt x="29148" y="107156"/>
                  <a:pt x="35719" y="107156"/>
                </a:cubicBezTo>
                <a:close/>
                <a:moveTo>
                  <a:pt x="166687" y="95250"/>
                </a:moveTo>
                <a:cubicBezTo>
                  <a:pt x="166687" y="88679"/>
                  <a:pt x="161352" y="83344"/>
                  <a:pt x="154781" y="83344"/>
                </a:cubicBezTo>
                <a:cubicBezTo>
                  <a:pt x="148210" y="83344"/>
                  <a:pt x="142875" y="88679"/>
                  <a:pt x="142875" y="95250"/>
                </a:cubicBezTo>
                <a:cubicBezTo>
                  <a:pt x="142875" y="101821"/>
                  <a:pt x="148210" y="107156"/>
                  <a:pt x="154781" y="107156"/>
                </a:cubicBezTo>
                <a:cubicBezTo>
                  <a:pt x="161352" y="107156"/>
                  <a:pt x="166687" y="101821"/>
                  <a:pt x="166687" y="9525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7000660" y="1642763"/>
            <a:ext cx="1135063"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5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Bandwidth</a:t>
            </a:r>
            <a:endParaRPr lang="en-US" sz="1100"/>
          </a:p>
        </p:txBody>
      </p:sp>
      <p:sp>
        <p:nvSpPr>
          <p:cNvPr id="14" name="Freeform 14"/>
          <p:cNvSpPr/>
          <p:nvPr/>
        </p:nvSpPr>
        <p:spPr>
          <a:xfrm>
            <a:off x="6429227" y="2583575"/>
            <a:ext cx="5238750" cy="1404938"/>
          </a:xfrm>
          <a:custGeom>
            <a:avLst/>
            <a:gdLst/>
            <a:ahLst/>
            <a:cxnLst/>
            <a:rect l="l" t="t" r="r" b="b"/>
            <a:pathLst>
              <a:path w="5238750" h="1404938">
                <a:moveTo>
                  <a:pt x="63503" y="0"/>
                </a:moveTo>
                <a:lnTo>
                  <a:pt x="5175247" y="0"/>
                </a:lnTo>
                <a:cubicBezTo>
                  <a:pt x="5210319" y="0"/>
                  <a:pt x="5238750" y="28431"/>
                  <a:pt x="5238750" y="63503"/>
                </a:cubicBezTo>
                <a:lnTo>
                  <a:pt x="5238750" y="1341434"/>
                </a:lnTo>
                <a:cubicBezTo>
                  <a:pt x="5238750" y="1376506"/>
                  <a:pt x="5210319" y="1404937"/>
                  <a:pt x="5175247" y="1404937"/>
                </a:cubicBezTo>
                <a:lnTo>
                  <a:pt x="63503" y="1404937"/>
                </a:lnTo>
                <a:cubicBezTo>
                  <a:pt x="28431" y="1404937"/>
                  <a:pt x="0" y="1376506"/>
                  <a:pt x="0" y="1341434"/>
                </a:cubicBezTo>
                <a:lnTo>
                  <a:pt x="0" y="63503"/>
                </a:lnTo>
                <a:cubicBezTo>
                  <a:pt x="0" y="28431"/>
                  <a:pt x="28431" y="0"/>
                  <a:pt x="63503" y="0"/>
                </a:cubicBezTo>
                <a:close/>
              </a:path>
            </a:pathLst>
          </a:custGeom>
          <a:solidFill>
            <a:srgbClr val="FFFFFF">
              <a:alpha val="100000"/>
            </a:srgbClr>
          </a:solidFill>
          <a:ln w="12700">
            <a:noFill/>
            <a:prstDash val="solid"/>
          </a:ln>
          <a:effectLst>
            <a:outerShdw blurRad="127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5" name="AutoShape 15"/>
          <p:cNvSpPr/>
          <p:nvPr/>
        </p:nvSpPr>
        <p:spPr>
          <a:xfrm>
            <a:off x="6683197" y="2837544"/>
            <a:ext cx="4826000" cy="2540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How much data can be processed per unit time?</a:t>
            </a:r>
            <a:endParaRPr lang="en-US" sz="1100"/>
          </a:p>
        </p:txBody>
      </p:sp>
      <p:sp>
        <p:nvSpPr>
          <p:cNvPr id="16" name="AutoShape 16"/>
          <p:cNvSpPr/>
          <p:nvPr/>
        </p:nvSpPr>
        <p:spPr>
          <a:xfrm>
            <a:off x="6683197" y="3218439"/>
            <a:ext cx="4810125" cy="515938"/>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300" b="0" i="0" u="none" strike="noStrike">
                <a:solidFill>
                  <a:srgbClr val="364153"/>
                </a:solidFill>
                <a:latin typeface="Noto Sans SC" panose="020B0200000000000000" charset="-122"/>
                <a:ea typeface="Noto Sans SC" panose="020B0200000000000000" charset="-122"/>
                <a:cs typeface="Noto Sans SC" panose="020B0200000000000000" charset="-122"/>
                <a:sym typeface="Noto Sans SC" panose="020B0200000000000000" charset="-122"/>
              </a:rPr>
              <a:t>Measures the total data a system can process per unit time, focusing on overall throughput capacity.</a:t>
            </a:r>
            <a:endParaRPr lang="en-US" sz="1100"/>
          </a:p>
        </p:txBody>
      </p:sp>
      <p:sp>
        <p:nvSpPr>
          <p:cNvPr id="17" name="Freeform 17"/>
          <p:cNvSpPr/>
          <p:nvPr/>
        </p:nvSpPr>
        <p:spPr>
          <a:xfrm>
            <a:off x="333259" y="5302095"/>
            <a:ext cx="11541046" cy="1397000"/>
          </a:xfrm>
          <a:custGeom>
            <a:avLst/>
            <a:gdLst/>
            <a:ahLst/>
            <a:cxnLst/>
            <a:rect l="l" t="t" r="r" b="b"/>
            <a:pathLst>
              <a:path w="11541046" h="1397000">
                <a:moveTo>
                  <a:pt x="31593" y="0"/>
                </a:moveTo>
                <a:lnTo>
                  <a:pt x="11445799" y="0"/>
                </a:lnTo>
                <a:cubicBezTo>
                  <a:pt x="11498402" y="0"/>
                  <a:pt x="11541046" y="42644"/>
                  <a:pt x="11541046" y="95247"/>
                </a:cubicBezTo>
                <a:lnTo>
                  <a:pt x="11541046" y="1301753"/>
                </a:lnTo>
                <a:cubicBezTo>
                  <a:pt x="11541046" y="1354356"/>
                  <a:pt x="11498402" y="1397000"/>
                  <a:pt x="11445799" y="1397000"/>
                </a:cubicBezTo>
                <a:lnTo>
                  <a:pt x="31593" y="1397000"/>
                </a:lnTo>
                <a:cubicBezTo>
                  <a:pt x="14144" y="1397000"/>
                  <a:pt x="0" y="1382856"/>
                  <a:pt x="0" y="1365407"/>
                </a:cubicBezTo>
                <a:lnTo>
                  <a:pt x="0" y="31593"/>
                </a:lnTo>
                <a:cubicBezTo>
                  <a:pt x="0" y="14155"/>
                  <a:pt x="14155" y="0"/>
                  <a:pt x="31593"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333259" y="5302095"/>
            <a:ext cx="31593" cy="1397000"/>
          </a:xfrm>
          <a:custGeom>
            <a:avLst/>
            <a:gdLst/>
            <a:ahLst/>
            <a:cxnLst/>
            <a:rect l="l" t="t" r="r" b="b"/>
            <a:pathLst>
              <a:path w="31593" h="1397000">
                <a:moveTo>
                  <a:pt x="31593" y="0"/>
                </a:moveTo>
                <a:lnTo>
                  <a:pt x="31593" y="0"/>
                </a:lnTo>
                <a:lnTo>
                  <a:pt x="31593" y="1397000"/>
                </a:lnTo>
                <a:lnTo>
                  <a:pt x="31593" y="1397000"/>
                </a:lnTo>
                <a:cubicBezTo>
                  <a:pt x="14144" y="1397000"/>
                  <a:pt x="0" y="1382856"/>
                  <a:pt x="0" y="1365407"/>
                </a:cubicBezTo>
                <a:lnTo>
                  <a:pt x="0" y="31593"/>
                </a:lnTo>
                <a:cubicBezTo>
                  <a:pt x="0" y="14155"/>
                  <a:pt x="14155" y="0"/>
                  <a:pt x="3159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539533" y="5492572"/>
            <a:ext cx="11223625" cy="2222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3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Analogy</a:t>
            </a:r>
            <a:endParaRPr lang="en-US" sz="1100"/>
          </a:p>
        </p:txBody>
      </p:sp>
      <p:sp>
        <p:nvSpPr>
          <p:cNvPr id="20" name="Freeform 20"/>
          <p:cNvSpPr/>
          <p:nvPr/>
        </p:nvSpPr>
        <p:spPr>
          <a:xfrm>
            <a:off x="539533" y="5841814"/>
            <a:ext cx="5476875" cy="666750"/>
          </a:xfrm>
          <a:custGeom>
            <a:avLst/>
            <a:gdLst/>
            <a:ahLst/>
            <a:cxnLst/>
            <a:rect l="l" t="t" r="r" b="b"/>
            <a:pathLst>
              <a:path w="5476875" h="666750">
                <a:moveTo>
                  <a:pt x="63501" y="0"/>
                </a:moveTo>
                <a:lnTo>
                  <a:pt x="5413374" y="0"/>
                </a:lnTo>
                <a:cubicBezTo>
                  <a:pt x="5448445" y="0"/>
                  <a:pt x="5476875" y="28430"/>
                  <a:pt x="5476875" y="63501"/>
                </a:cubicBezTo>
                <a:lnTo>
                  <a:pt x="5476875" y="603249"/>
                </a:lnTo>
                <a:cubicBezTo>
                  <a:pt x="5476875" y="638320"/>
                  <a:pt x="5448445" y="666750"/>
                  <a:pt x="5413374" y="666750"/>
                </a:cubicBezTo>
                <a:lnTo>
                  <a:pt x="63501" y="666750"/>
                </a:lnTo>
                <a:cubicBezTo>
                  <a:pt x="28430" y="666750"/>
                  <a:pt x="0" y="638320"/>
                  <a:pt x="0" y="603249"/>
                </a:cubicBezTo>
                <a:lnTo>
                  <a:pt x="0" y="63501"/>
                </a:lnTo>
                <a:cubicBezTo>
                  <a:pt x="0" y="28454"/>
                  <a:pt x="28454" y="0"/>
                  <a:pt x="63501" y="0"/>
                </a:cubicBezTo>
                <a:close/>
              </a:path>
            </a:pathLst>
          </a:custGeom>
          <a:solidFill>
            <a:srgbClr val="FFFFFF">
              <a:alpha val="100000"/>
            </a:srgbClr>
          </a:solidFill>
          <a:ln w="12700">
            <a:noFill/>
            <a:prstDash val="solid"/>
          </a:ln>
          <a:effectLst>
            <a:outerShdw blurRad="127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1" name="Freeform 21"/>
          <p:cNvSpPr/>
          <p:nvPr/>
        </p:nvSpPr>
        <p:spPr>
          <a:xfrm>
            <a:off x="690331" y="6091829"/>
            <a:ext cx="190500" cy="166688"/>
          </a:xfrm>
          <a:custGeom>
            <a:avLst/>
            <a:gdLst/>
            <a:ahLst/>
            <a:cxnLst/>
            <a:rect l="l" t="t" r="r" b="b"/>
            <a:pathLst>
              <a:path w="190500" h="166688">
                <a:moveTo>
                  <a:pt x="50303" y="31774"/>
                </a:moveTo>
                <a:lnTo>
                  <a:pt x="40593" y="59531"/>
                </a:lnTo>
                <a:lnTo>
                  <a:pt x="149907" y="59531"/>
                </a:lnTo>
                <a:lnTo>
                  <a:pt x="140197" y="31774"/>
                </a:lnTo>
                <a:cubicBezTo>
                  <a:pt x="138521" y="27013"/>
                  <a:pt x="134021" y="23813"/>
                  <a:pt x="128960" y="23813"/>
                </a:cubicBezTo>
                <a:lnTo>
                  <a:pt x="61540" y="23813"/>
                </a:lnTo>
                <a:cubicBezTo>
                  <a:pt x="56479" y="23813"/>
                  <a:pt x="51979" y="27013"/>
                  <a:pt x="50303" y="31774"/>
                </a:cubicBezTo>
                <a:close/>
                <a:moveTo>
                  <a:pt x="14735" y="61317"/>
                </a:moveTo>
                <a:lnTo>
                  <a:pt x="27831" y="23925"/>
                </a:lnTo>
                <a:cubicBezTo>
                  <a:pt x="32854" y="9600"/>
                  <a:pt x="46360" y="0"/>
                  <a:pt x="61540" y="0"/>
                </a:cubicBezTo>
                <a:lnTo>
                  <a:pt x="128960" y="0"/>
                </a:lnTo>
                <a:cubicBezTo>
                  <a:pt x="144140" y="0"/>
                  <a:pt x="157646" y="9600"/>
                  <a:pt x="162669" y="23925"/>
                </a:cubicBezTo>
                <a:lnTo>
                  <a:pt x="175765" y="61317"/>
                </a:lnTo>
                <a:cubicBezTo>
                  <a:pt x="184398" y="64890"/>
                  <a:pt x="190500" y="73410"/>
                  <a:pt x="190500" y="83344"/>
                </a:cubicBezTo>
                <a:lnTo>
                  <a:pt x="190500" y="154781"/>
                </a:lnTo>
                <a:cubicBezTo>
                  <a:pt x="190500" y="161366"/>
                  <a:pt x="185179" y="166688"/>
                  <a:pt x="178594" y="166688"/>
                </a:cubicBezTo>
                <a:lnTo>
                  <a:pt x="166687" y="166688"/>
                </a:lnTo>
                <a:cubicBezTo>
                  <a:pt x="160103" y="166688"/>
                  <a:pt x="154781" y="161366"/>
                  <a:pt x="154781" y="154781"/>
                </a:cubicBezTo>
                <a:lnTo>
                  <a:pt x="154781" y="142875"/>
                </a:lnTo>
                <a:lnTo>
                  <a:pt x="35719" y="142875"/>
                </a:lnTo>
                <a:lnTo>
                  <a:pt x="35719" y="154781"/>
                </a:lnTo>
                <a:cubicBezTo>
                  <a:pt x="35719" y="161366"/>
                  <a:pt x="30397" y="166688"/>
                  <a:pt x="23813" y="166688"/>
                </a:cubicBezTo>
                <a:lnTo>
                  <a:pt x="11906" y="166688"/>
                </a:lnTo>
                <a:cubicBezTo>
                  <a:pt x="5321" y="166688"/>
                  <a:pt x="0" y="161366"/>
                  <a:pt x="0" y="154781"/>
                </a:cubicBezTo>
                <a:lnTo>
                  <a:pt x="0" y="83344"/>
                </a:lnTo>
                <a:cubicBezTo>
                  <a:pt x="0" y="73410"/>
                  <a:pt x="6102" y="64890"/>
                  <a:pt x="14735" y="61317"/>
                </a:cubicBezTo>
                <a:close/>
                <a:moveTo>
                  <a:pt x="47625" y="101203"/>
                </a:moveTo>
                <a:cubicBezTo>
                  <a:pt x="47625" y="94632"/>
                  <a:pt x="42290" y="89296"/>
                  <a:pt x="35719" y="89296"/>
                </a:cubicBezTo>
                <a:cubicBezTo>
                  <a:pt x="29148" y="89296"/>
                  <a:pt x="23813" y="94632"/>
                  <a:pt x="23813" y="101203"/>
                </a:cubicBezTo>
                <a:cubicBezTo>
                  <a:pt x="23813" y="107775"/>
                  <a:pt x="29148" y="113110"/>
                  <a:pt x="35719" y="113110"/>
                </a:cubicBezTo>
                <a:cubicBezTo>
                  <a:pt x="42290" y="113110"/>
                  <a:pt x="47625" y="107775"/>
                  <a:pt x="47625" y="101203"/>
                </a:cubicBezTo>
                <a:close/>
                <a:moveTo>
                  <a:pt x="154781" y="113110"/>
                </a:moveTo>
                <a:cubicBezTo>
                  <a:pt x="161352" y="113110"/>
                  <a:pt x="166687" y="107775"/>
                  <a:pt x="166687" y="101203"/>
                </a:cubicBezTo>
                <a:cubicBezTo>
                  <a:pt x="166687" y="94632"/>
                  <a:pt x="161352" y="89296"/>
                  <a:pt x="154781" y="89296"/>
                </a:cubicBezTo>
                <a:cubicBezTo>
                  <a:pt x="148210" y="89296"/>
                  <a:pt x="142875" y="94632"/>
                  <a:pt x="142875" y="101203"/>
                </a:cubicBezTo>
                <a:cubicBezTo>
                  <a:pt x="142875" y="107775"/>
                  <a:pt x="148210" y="113110"/>
                  <a:pt x="154781" y="11311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1055513" y="5909211"/>
            <a:ext cx="2436898"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Latency = Car startup time</a:t>
            </a:r>
            <a:endParaRPr lang="en-US" sz="1100"/>
          </a:p>
        </p:txBody>
      </p:sp>
      <p:sp>
        <p:nvSpPr>
          <p:cNvPr id="23" name="AutoShape 23"/>
          <p:cNvSpPr/>
          <p:nvPr/>
        </p:nvSpPr>
        <p:spPr>
          <a:xfrm>
            <a:off x="1031616" y="6191052"/>
            <a:ext cx="3288338"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Time required to start moving from a standstill</a:t>
            </a:r>
            <a:endParaRPr lang="en-US" sz="1100"/>
          </a:p>
        </p:txBody>
      </p:sp>
      <p:sp>
        <p:nvSpPr>
          <p:cNvPr id="24" name="Freeform 24"/>
          <p:cNvSpPr/>
          <p:nvPr/>
        </p:nvSpPr>
        <p:spPr>
          <a:xfrm>
            <a:off x="6207033" y="5841814"/>
            <a:ext cx="5476875" cy="666750"/>
          </a:xfrm>
          <a:custGeom>
            <a:avLst/>
            <a:gdLst/>
            <a:ahLst/>
            <a:cxnLst/>
            <a:rect l="l" t="t" r="r" b="b"/>
            <a:pathLst>
              <a:path w="5476875" h="666750">
                <a:moveTo>
                  <a:pt x="63501" y="0"/>
                </a:moveTo>
                <a:lnTo>
                  <a:pt x="5413374" y="0"/>
                </a:lnTo>
                <a:cubicBezTo>
                  <a:pt x="5448445" y="0"/>
                  <a:pt x="5476875" y="28430"/>
                  <a:pt x="5476875" y="63501"/>
                </a:cubicBezTo>
                <a:lnTo>
                  <a:pt x="5476875" y="603249"/>
                </a:lnTo>
                <a:cubicBezTo>
                  <a:pt x="5476875" y="638320"/>
                  <a:pt x="5448445" y="666750"/>
                  <a:pt x="5413374" y="666750"/>
                </a:cubicBezTo>
                <a:lnTo>
                  <a:pt x="63501" y="666750"/>
                </a:lnTo>
                <a:cubicBezTo>
                  <a:pt x="28430" y="666750"/>
                  <a:pt x="0" y="638320"/>
                  <a:pt x="0" y="603249"/>
                </a:cubicBezTo>
                <a:lnTo>
                  <a:pt x="0" y="63501"/>
                </a:lnTo>
                <a:cubicBezTo>
                  <a:pt x="0" y="28454"/>
                  <a:pt x="28454" y="0"/>
                  <a:pt x="63501" y="0"/>
                </a:cubicBezTo>
                <a:close/>
              </a:path>
            </a:pathLst>
          </a:custGeom>
          <a:solidFill>
            <a:srgbClr val="FFFFFF">
              <a:alpha val="100000"/>
            </a:srgbClr>
          </a:solidFill>
          <a:ln w="12700">
            <a:noFill/>
            <a:prstDash val="solid"/>
          </a:ln>
          <a:effectLst>
            <a:outerShdw blurRad="127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5" name="Freeform 25"/>
          <p:cNvSpPr/>
          <p:nvPr/>
        </p:nvSpPr>
        <p:spPr>
          <a:xfrm>
            <a:off x="6355562" y="6091829"/>
            <a:ext cx="195039" cy="166688"/>
          </a:xfrm>
          <a:custGeom>
            <a:avLst/>
            <a:gdLst/>
            <a:ahLst/>
            <a:cxnLst/>
            <a:rect l="l" t="t" r="r" b="b"/>
            <a:pathLst>
              <a:path w="195039" h="166688">
                <a:moveTo>
                  <a:pt x="85576" y="0"/>
                </a:moveTo>
                <a:lnTo>
                  <a:pt x="57224" y="0"/>
                </a:lnTo>
                <a:cubicBezTo>
                  <a:pt x="46285" y="0"/>
                  <a:pt x="36723" y="7479"/>
                  <a:pt x="34118" y="18083"/>
                </a:cubicBezTo>
                <a:lnTo>
                  <a:pt x="2790" y="144550"/>
                </a:lnTo>
                <a:cubicBezTo>
                  <a:pt x="0" y="155786"/>
                  <a:pt x="8520" y="166688"/>
                  <a:pt x="20128" y="166688"/>
                </a:cubicBezTo>
                <a:lnTo>
                  <a:pt x="85576" y="166688"/>
                </a:lnTo>
                <a:lnTo>
                  <a:pt x="85576" y="142875"/>
                </a:lnTo>
                <a:cubicBezTo>
                  <a:pt x="85576" y="136290"/>
                  <a:pt x="90896" y="130969"/>
                  <a:pt x="97482" y="130969"/>
                </a:cubicBezTo>
                <a:cubicBezTo>
                  <a:pt x="104067" y="130969"/>
                  <a:pt x="109388" y="136290"/>
                  <a:pt x="109388" y="142875"/>
                </a:cubicBezTo>
                <a:lnTo>
                  <a:pt x="109388" y="166688"/>
                </a:lnTo>
                <a:lnTo>
                  <a:pt x="174910" y="166688"/>
                </a:lnTo>
                <a:cubicBezTo>
                  <a:pt x="186518" y="166688"/>
                  <a:pt x="195038" y="155786"/>
                  <a:pt x="192248" y="144550"/>
                </a:cubicBezTo>
                <a:lnTo>
                  <a:pt x="160957" y="18083"/>
                </a:lnTo>
                <a:cubicBezTo>
                  <a:pt x="158315" y="7479"/>
                  <a:pt x="148790" y="0"/>
                  <a:pt x="137814" y="0"/>
                </a:cubicBezTo>
                <a:lnTo>
                  <a:pt x="109388" y="0"/>
                </a:lnTo>
                <a:lnTo>
                  <a:pt x="109388" y="23813"/>
                </a:lnTo>
                <a:cubicBezTo>
                  <a:pt x="109388" y="30398"/>
                  <a:pt x="104067" y="35719"/>
                  <a:pt x="97482" y="35719"/>
                </a:cubicBezTo>
                <a:cubicBezTo>
                  <a:pt x="90896" y="35719"/>
                  <a:pt x="85576" y="30398"/>
                  <a:pt x="85576" y="23813"/>
                </a:cubicBezTo>
                <a:lnTo>
                  <a:pt x="85576" y="0"/>
                </a:lnTo>
                <a:close/>
                <a:moveTo>
                  <a:pt x="109388" y="71438"/>
                </a:moveTo>
                <a:lnTo>
                  <a:pt x="109388" y="95250"/>
                </a:lnTo>
                <a:cubicBezTo>
                  <a:pt x="109388" y="101836"/>
                  <a:pt x="104067" y="107157"/>
                  <a:pt x="97482" y="107157"/>
                </a:cubicBezTo>
                <a:cubicBezTo>
                  <a:pt x="90896" y="107157"/>
                  <a:pt x="85576" y="101836"/>
                  <a:pt x="85576" y="95250"/>
                </a:cubicBezTo>
                <a:lnTo>
                  <a:pt x="85576" y="71438"/>
                </a:lnTo>
                <a:cubicBezTo>
                  <a:pt x="85576" y="64852"/>
                  <a:pt x="90896" y="59531"/>
                  <a:pt x="97482" y="59531"/>
                </a:cubicBezTo>
                <a:cubicBezTo>
                  <a:pt x="104067" y="59531"/>
                  <a:pt x="109388" y="64852"/>
                  <a:pt x="109388" y="71438"/>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6699116" y="5968798"/>
            <a:ext cx="3306529" cy="11112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Bandwidth = Number of highway lanes</a:t>
            </a:r>
            <a:endParaRPr lang="en-US" sz="1100"/>
          </a:p>
        </p:txBody>
      </p:sp>
      <p:sp>
        <p:nvSpPr>
          <p:cNvPr id="27" name="AutoShape 27"/>
          <p:cNvSpPr/>
          <p:nvPr/>
        </p:nvSpPr>
        <p:spPr>
          <a:xfrm>
            <a:off x="6699117" y="6191052"/>
            <a:ext cx="3447206" cy="1905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Number of vehicles that can pass simultaneously</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1617" y="590685"/>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Utilization</a:t>
            </a:r>
            <a:endParaRPr lang="en-US" sz="1100"/>
          </a:p>
        </p:txBody>
      </p:sp>
      <p:sp>
        <p:nvSpPr>
          <p:cNvPr id="3" name="Freeform 3"/>
          <p:cNvSpPr/>
          <p:nvPr/>
        </p:nvSpPr>
        <p:spPr>
          <a:xfrm>
            <a:off x="399911" y="1172200"/>
            <a:ext cx="5543455" cy="1104900"/>
          </a:xfrm>
          <a:custGeom>
            <a:avLst/>
            <a:gdLst/>
            <a:ahLst/>
            <a:cxnLst/>
            <a:rect l="l" t="t" r="r" b="b"/>
            <a:pathLst>
              <a:path w="5543455" h="1104900">
                <a:moveTo>
                  <a:pt x="37909" y="0"/>
                </a:moveTo>
                <a:lnTo>
                  <a:pt x="5429153" y="0"/>
                </a:lnTo>
                <a:cubicBezTo>
                  <a:pt x="5492281" y="0"/>
                  <a:pt x="5543455" y="51175"/>
                  <a:pt x="5543455" y="114303"/>
                </a:cubicBezTo>
                <a:lnTo>
                  <a:pt x="5543455" y="990597"/>
                </a:lnTo>
                <a:cubicBezTo>
                  <a:pt x="5543455" y="1053725"/>
                  <a:pt x="5492281" y="1104900"/>
                  <a:pt x="5429153" y="1104900"/>
                </a:cubicBezTo>
                <a:lnTo>
                  <a:pt x="37909" y="1104900"/>
                </a:lnTo>
                <a:cubicBezTo>
                  <a:pt x="16974" y="1104900"/>
                  <a:pt x="0" y="1087926"/>
                  <a:pt x="0" y="1066990"/>
                </a:cubicBezTo>
                <a:lnTo>
                  <a:pt x="0" y="37909"/>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99911" y="1172200"/>
            <a:ext cx="37909" cy="1104900"/>
          </a:xfrm>
          <a:custGeom>
            <a:avLst/>
            <a:gdLst/>
            <a:ahLst/>
            <a:cxnLst/>
            <a:rect l="l" t="t" r="r" b="b"/>
            <a:pathLst>
              <a:path w="37909" h="1104900">
                <a:moveTo>
                  <a:pt x="37909" y="0"/>
                </a:moveTo>
                <a:lnTo>
                  <a:pt x="37909" y="0"/>
                </a:lnTo>
                <a:lnTo>
                  <a:pt x="37909" y="1104900"/>
                </a:lnTo>
                <a:lnTo>
                  <a:pt x="37909" y="1104900"/>
                </a:lnTo>
                <a:cubicBezTo>
                  <a:pt x="16974" y="1104900"/>
                  <a:pt x="0" y="1087926"/>
                  <a:pt x="0" y="1066990"/>
                </a:cubicBezTo>
                <a:lnTo>
                  <a:pt x="0" y="37909"/>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47439" y="1400776"/>
            <a:ext cx="51816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Utilization</a:t>
            </a:r>
            <a:endParaRPr lang="en-US" sz="1100"/>
          </a:p>
        </p:txBody>
      </p:sp>
      <p:sp>
        <p:nvSpPr>
          <p:cNvPr id="6" name="AutoShape 6"/>
          <p:cNvSpPr/>
          <p:nvPr/>
        </p:nvSpPr>
        <p:spPr>
          <a:xfrm>
            <a:off x="647439" y="1781656"/>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0" i="0" u="none" strike="noStrike">
                <a:solidFill>
                  <a:srgbClr val="364153"/>
                </a:solidFill>
                <a:latin typeface="Noto Sans SC" panose="020B0200000000000000" charset="-122"/>
                <a:ea typeface="Noto Sans SC" panose="020B0200000000000000" charset="-122"/>
                <a:cs typeface="Noto Sans SC" panose="020B0200000000000000" charset="-122"/>
                <a:sym typeface="Noto Sans SC" panose="020B0200000000000000" charset="-122"/>
              </a:rPr>
              <a:t>Actual usage level of hardware resources</a:t>
            </a:r>
            <a:endParaRPr lang="en-US" sz="1100"/>
          </a:p>
        </p:txBody>
      </p:sp>
      <p:sp>
        <p:nvSpPr>
          <p:cNvPr id="7" name="AutoShape 7"/>
          <p:cNvSpPr/>
          <p:nvPr/>
        </p:nvSpPr>
        <p:spPr>
          <a:xfrm>
            <a:off x="380956" y="2417580"/>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Formula</a:t>
            </a:r>
            <a:endParaRPr lang="en-US" sz="1100"/>
          </a:p>
        </p:txBody>
      </p:sp>
      <p:sp>
        <p:nvSpPr>
          <p:cNvPr id="8" name="Freeform 8"/>
          <p:cNvSpPr/>
          <p:nvPr/>
        </p:nvSpPr>
        <p:spPr>
          <a:xfrm>
            <a:off x="380956" y="2874654"/>
            <a:ext cx="5562600" cy="1352550"/>
          </a:xfrm>
          <a:custGeom>
            <a:avLst/>
            <a:gdLst/>
            <a:ahLst/>
            <a:cxnLst/>
            <a:rect l="l" t="t" r="r" b="b"/>
            <a:pathLst>
              <a:path w="5562600" h="1352550">
                <a:moveTo>
                  <a:pt x="114304" y="0"/>
                </a:moveTo>
                <a:lnTo>
                  <a:pt x="5448296" y="0"/>
                </a:lnTo>
                <a:cubicBezTo>
                  <a:pt x="5511424" y="0"/>
                  <a:pt x="5562600" y="51176"/>
                  <a:pt x="5562600" y="114304"/>
                </a:cubicBezTo>
                <a:lnTo>
                  <a:pt x="5562600" y="1238246"/>
                </a:lnTo>
                <a:cubicBezTo>
                  <a:pt x="5562600" y="1301374"/>
                  <a:pt x="5511424" y="1352550"/>
                  <a:pt x="5448296" y="1352550"/>
                </a:cubicBezTo>
                <a:lnTo>
                  <a:pt x="114304" y="1352550"/>
                </a:lnTo>
                <a:cubicBezTo>
                  <a:pt x="51176" y="1352550"/>
                  <a:pt x="0" y="1301374"/>
                  <a:pt x="0" y="1238246"/>
                </a:cubicBezTo>
                <a:lnTo>
                  <a:pt x="0" y="114304"/>
                </a:lnTo>
                <a:cubicBezTo>
                  <a:pt x="0" y="51176"/>
                  <a:pt x="51176" y="0"/>
                  <a:pt x="114304"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456943" y="3107507"/>
            <a:ext cx="5543541"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Utilization = Actual Performance / Theoretical Peak</a:t>
            </a:r>
            <a:endParaRPr lang="en-US" sz="1100"/>
          </a:p>
        </p:txBody>
      </p:sp>
      <p:sp>
        <p:nvSpPr>
          <p:cNvPr id="10" name="Freeform 10"/>
          <p:cNvSpPr/>
          <p:nvPr/>
        </p:nvSpPr>
        <p:spPr>
          <a:xfrm>
            <a:off x="609529" y="3569774"/>
            <a:ext cx="5105400" cy="18955"/>
          </a:xfrm>
          <a:custGeom>
            <a:avLst/>
            <a:gdLst/>
            <a:ahLst/>
            <a:cxnLst/>
            <a:rect l="l" t="t" r="r" b="b"/>
            <a:pathLst>
              <a:path w="5105400" h="18955">
                <a:moveTo>
                  <a:pt x="0" y="0"/>
                </a:moveTo>
                <a:lnTo>
                  <a:pt x="5105400" y="0"/>
                </a:lnTo>
                <a:lnTo>
                  <a:pt x="5105400" y="18955"/>
                </a:lnTo>
                <a:lnTo>
                  <a:pt x="0" y="18955"/>
                </a:lnTo>
                <a:lnTo>
                  <a:pt x="0" y="0"/>
                </a:lnTo>
                <a:close/>
              </a:path>
            </a:pathLst>
          </a:custGeom>
          <a:solidFill>
            <a:srgbClr val="D1D5DC">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566666" y="3731635"/>
            <a:ext cx="5191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Typically expressed as a percentage</a:t>
            </a:r>
            <a:endParaRPr lang="en-US" sz="1100"/>
          </a:p>
        </p:txBody>
      </p:sp>
      <p:sp>
        <p:nvSpPr>
          <p:cNvPr id="12" name="AutoShape 12"/>
          <p:cNvSpPr/>
          <p:nvPr/>
        </p:nvSpPr>
        <p:spPr>
          <a:xfrm>
            <a:off x="380956" y="4361701"/>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Calculation Example</a:t>
            </a:r>
            <a:endParaRPr lang="en-US" sz="1100"/>
          </a:p>
        </p:txBody>
      </p:sp>
      <p:sp>
        <p:nvSpPr>
          <p:cNvPr id="13" name="Freeform 13"/>
          <p:cNvSpPr/>
          <p:nvPr/>
        </p:nvSpPr>
        <p:spPr>
          <a:xfrm>
            <a:off x="380956" y="4818771"/>
            <a:ext cx="5562600" cy="571500"/>
          </a:xfrm>
          <a:custGeom>
            <a:avLst/>
            <a:gdLst/>
            <a:ahLst/>
            <a:cxnLst/>
            <a:rect l="l" t="t" r="r" b="b"/>
            <a:pathLst>
              <a:path w="5562600" h="571500">
                <a:moveTo>
                  <a:pt x="76197" y="0"/>
                </a:moveTo>
                <a:lnTo>
                  <a:pt x="5486403" y="0"/>
                </a:lnTo>
                <a:cubicBezTo>
                  <a:pt x="5528485" y="0"/>
                  <a:pt x="5562600" y="34115"/>
                  <a:pt x="5562600" y="76197"/>
                </a:cubicBezTo>
                <a:lnTo>
                  <a:pt x="5562600" y="495303"/>
                </a:lnTo>
                <a:cubicBezTo>
                  <a:pt x="5562600" y="537385"/>
                  <a:pt x="5528485" y="571500"/>
                  <a:pt x="5486403" y="571500"/>
                </a:cubicBezTo>
                <a:lnTo>
                  <a:pt x="76197" y="571500"/>
                </a:lnTo>
                <a:cubicBezTo>
                  <a:pt x="34115" y="571500"/>
                  <a:pt x="0" y="537385"/>
                  <a:pt x="0" y="495303"/>
                </a:cubicBezTo>
                <a:lnTo>
                  <a:pt x="0" y="76197"/>
                </a:lnTo>
                <a:cubicBezTo>
                  <a:pt x="0" y="34115"/>
                  <a:pt x="34115"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533338" y="4971152"/>
            <a:ext cx="3464231"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GPU Theoretical Performance</a:t>
            </a:r>
            <a:endParaRPr lang="en-US" sz="1100"/>
          </a:p>
        </p:txBody>
      </p:sp>
      <p:sp>
        <p:nvSpPr>
          <p:cNvPr id="15" name="AutoShape 15"/>
          <p:cNvSpPr/>
          <p:nvPr/>
        </p:nvSpPr>
        <p:spPr>
          <a:xfrm>
            <a:off x="4774125" y="4971152"/>
            <a:ext cx="11144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10 TFLOPS</a:t>
            </a:r>
            <a:endParaRPr lang="en-US" sz="1100"/>
          </a:p>
        </p:txBody>
      </p:sp>
      <p:sp>
        <p:nvSpPr>
          <p:cNvPr id="16" name="Freeform 16"/>
          <p:cNvSpPr/>
          <p:nvPr/>
        </p:nvSpPr>
        <p:spPr>
          <a:xfrm>
            <a:off x="380956" y="5504497"/>
            <a:ext cx="5562600" cy="571500"/>
          </a:xfrm>
          <a:custGeom>
            <a:avLst/>
            <a:gdLst/>
            <a:ahLst/>
            <a:cxnLst/>
            <a:rect l="l" t="t" r="r" b="b"/>
            <a:pathLst>
              <a:path w="5562600" h="571500">
                <a:moveTo>
                  <a:pt x="76197" y="0"/>
                </a:moveTo>
                <a:lnTo>
                  <a:pt x="5486403" y="0"/>
                </a:lnTo>
                <a:cubicBezTo>
                  <a:pt x="5528485" y="0"/>
                  <a:pt x="5562600" y="34115"/>
                  <a:pt x="5562600" y="76197"/>
                </a:cubicBezTo>
                <a:lnTo>
                  <a:pt x="5562600" y="495303"/>
                </a:lnTo>
                <a:cubicBezTo>
                  <a:pt x="5562600" y="537385"/>
                  <a:pt x="5528485" y="571500"/>
                  <a:pt x="5486403" y="571500"/>
                </a:cubicBezTo>
                <a:lnTo>
                  <a:pt x="76197" y="571500"/>
                </a:lnTo>
                <a:cubicBezTo>
                  <a:pt x="34115" y="571500"/>
                  <a:pt x="0" y="537385"/>
                  <a:pt x="0" y="495303"/>
                </a:cubicBezTo>
                <a:lnTo>
                  <a:pt x="0" y="76197"/>
                </a:lnTo>
                <a:cubicBezTo>
                  <a:pt x="0" y="34115"/>
                  <a:pt x="34115"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533338" y="5656878"/>
            <a:ext cx="3065647"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Actual Program Performance</a:t>
            </a:r>
            <a:endParaRPr lang="en-US" sz="1100"/>
          </a:p>
        </p:txBody>
      </p:sp>
      <p:sp>
        <p:nvSpPr>
          <p:cNvPr id="18" name="AutoShape 18"/>
          <p:cNvSpPr/>
          <p:nvPr/>
        </p:nvSpPr>
        <p:spPr>
          <a:xfrm>
            <a:off x="4891558" y="5656878"/>
            <a:ext cx="9906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5 TFLOPS</a:t>
            </a:r>
            <a:endParaRPr lang="en-US" sz="1100"/>
          </a:p>
        </p:txBody>
      </p:sp>
      <p:sp>
        <p:nvSpPr>
          <p:cNvPr id="19" name="Freeform 19"/>
          <p:cNvSpPr/>
          <p:nvPr/>
        </p:nvSpPr>
        <p:spPr>
          <a:xfrm>
            <a:off x="380956" y="6190213"/>
            <a:ext cx="5562600" cy="609600"/>
          </a:xfrm>
          <a:custGeom>
            <a:avLst/>
            <a:gdLst/>
            <a:ahLst/>
            <a:cxnLst/>
            <a:rect l="l" t="t" r="r" b="b"/>
            <a:pathLst>
              <a:path w="5562600" h="609600">
                <a:moveTo>
                  <a:pt x="76200" y="0"/>
                </a:moveTo>
                <a:lnTo>
                  <a:pt x="5486400" y="0"/>
                </a:lnTo>
                <a:cubicBezTo>
                  <a:pt x="5528456" y="0"/>
                  <a:pt x="5562600" y="34144"/>
                  <a:pt x="5562600" y="76200"/>
                </a:cubicBezTo>
                <a:lnTo>
                  <a:pt x="5562600" y="533400"/>
                </a:lnTo>
                <a:cubicBezTo>
                  <a:pt x="5562600" y="575456"/>
                  <a:pt x="5528456" y="609600"/>
                  <a:pt x="5486400" y="609600"/>
                </a:cubicBezTo>
                <a:lnTo>
                  <a:pt x="76200" y="609600"/>
                </a:lnTo>
                <a:cubicBezTo>
                  <a:pt x="34144" y="609600"/>
                  <a:pt x="0" y="575456"/>
                  <a:pt x="0" y="5334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533338" y="6361551"/>
            <a:ext cx="91440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Utilization</a:t>
            </a:r>
            <a:endParaRPr lang="en-US" sz="1100"/>
          </a:p>
        </p:txBody>
      </p:sp>
      <p:sp>
        <p:nvSpPr>
          <p:cNvPr id="21" name="AutoShape 21"/>
          <p:cNvSpPr/>
          <p:nvPr/>
        </p:nvSpPr>
        <p:spPr>
          <a:xfrm>
            <a:off x="5296356" y="6342594"/>
            <a:ext cx="6096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50%</a:t>
            </a:r>
            <a:endParaRPr lang="en-US" sz="1100"/>
          </a:p>
        </p:txBody>
      </p:sp>
      <p:sp>
        <p:nvSpPr>
          <p:cNvPr id="22" name="Freeform 22"/>
          <p:cNvSpPr/>
          <p:nvPr/>
        </p:nvSpPr>
        <p:spPr>
          <a:xfrm>
            <a:off x="6248338" y="990484"/>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3" name="Picture 23"/>
          <p:cNvPicPr>
            <a:picLocks noChangeAspect="1"/>
          </p:cNvPicPr>
          <p:nvPr/>
        </p:nvPicPr>
        <p:blipFill>
          <a:blip r:embed="rId1"/>
          <a:srcRect l="85" r="84"/>
          <a:stretch>
            <a:fillRect/>
          </a:stretch>
        </p:blipFill>
        <p:spPr>
          <a:xfrm>
            <a:off x="6400720" y="2045238"/>
            <a:ext cx="5257800" cy="2733675"/>
          </a:xfrm>
          <a:prstGeom prst="roundRect">
            <a:avLst>
              <a:gd name="adj" fmla="val 0"/>
            </a:avLst>
          </a:prstGeom>
          <a:ln w="12700">
            <a:noFill/>
            <a:prstDash val="solid"/>
          </a:ln>
        </p:spPr>
      </p:pic>
      <p:sp>
        <p:nvSpPr>
          <p:cNvPr id="24" name="AutoShape 24"/>
          <p:cNvSpPr/>
          <p:nvPr/>
        </p:nvSpPr>
        <p:spPr>
          <a:xfrm>
            <a:off x="6210238" y="5905365"/>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Image source: Grafana - GPU Metrics Dashboard</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28558" y="571463"/>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Why Utilization Matters</a:t>
            </a:r>
            <a:endParaRPr lang="en-US" sz="1100"/>
          </a:p>
        </p:txBody>
      </p:sp>
      <p:sp>
        <p:nvSpPr>
          <p:cNvPr id="3" name="Freeform 3"/>
          <p:cNvSpPr/>
          <p:nvPr/>
        </p:nvSpPr>
        <p:spPr>
          <a:xfrm>
            <a:off x="399911" y="1178060"/>
            <a:ext cx="5543455" cy="1104900"/>
          </a:xfrm>
          <a:custGeom>
            <a:avLst/>
            <a:gdLst/>
            <a:ahLst/>
            <a:cxnLst/>
            <a:rect l="l" t="t" r="r" b="b"/>
            <a:pathLst>
              <a:path w="5543455" h="1104900">
                <a:moveTo>
                  <a:pt x="37909" y="0"/>
                </a:moveTo>
                <a:lnTo>
                  <a:pt x="5429153" y="0"/>
                </a:lnTo>
                <a:cubicBezTo>
                  <a:pt x="5492281" y="0"/>
                  <a:pt x="5543455" y="51175"/>
                  <a:pt x="5543455" y="114303"/>
                </a:cubicBezTo>
                <a:lnTo>
                  <a:pt x="5543455" y="990597"/>
                </a:lnTo>
                <a:cubicBezTo>
                  <a:pt x="5543455" y="1053725"/>
                  <a:pt x="5492281" y="1104900"/>
                  <a:pt x="5429153" y="1104900"/>
                </a:cubicBezTo>
                <a:lnTo>
                  <a:pt x="37909" y="1104900"/>
                </a:lnTo>
                <a:cubicBezTo>
                  <a:pt x="16974" y="1104900"/>
                  <a:pt x="0" y="1087926"/>
                  <a:pt x="0" y="1066990"/>
                </a:cubicBezTo>
                <a:lnTo>
                  <a:pt x="0" y="37910"/>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99911" y="1178060"/>
            <a:ext cx="37909" cy="1104900"/>
          </a:xfrm>
          <a:custGeom>
            <a:avLst/>
            <a:gdLst/>
            <a:ahLst/>
            <a:cxnLst/>
            <a:rect l="l" t="t" r="r" b="b"/>
            <a:pathLst>
              <a:path w="37909" h="1104900">
                <a:moveTo>
                  <a:pt x="37909" y="0"/>
                </a:moveTo>
                <a:lnTo>
                  <a:pt x="37909" y="0"/>
                </a:lnTo>
                <a:lnTo>
                  <a:pt x="37909" y="1104900"/>
                </a:lnTo>
                <a:lnTo>
                  <a:pt x="37909" y="1104900"/>
                </a:lnTo>
                <a:cubicBezTo>
                  <a:pt x="16974" y="1104900"/>
                  <a:pt x="0" y="1087926"/>
                  <a:pt x="0" y="10669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47439" y="1406632"/>
            <a:ext cx="51816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Even with powerful hardware</a:t>
            </a:r>
            <a:endParaRPr lang="en-US" sz="1100"/>
          </a:p>
        </p:txBody>
      </p:sp>
      <p:sp>
        <p:nvSpPr>
          <p:cNvPr id="6" name="AutoShape 6"/>
          <p:cNvSpPr/>
          <p:nvPr/>
        </p:nvSpPr>
        <p:spPr>
          <a:xfrm>
            <a:off x="647439" y="1787512"/>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0" i="0" u="none" strike="noStrike">
                <a:solidFill>
                  <a:srgbClr val="364153"/>
                </a:solidFill>
                <a:latin typeface="Noto Sans SC" panose="020B0200000000000000" charset="-122"/>
                <a:ea typeface="Noto Sans SC" panose="020B0200000000000000" charset="-122"/>
                <a:cs typeface="Noto Sans SC" panose="020B0200000000000000" charset="-122"/>
                <a:sym typeface="Noto Sans SC" panose="020B0200000000000000" charset="-122"/>
              </a:rPr>
              <a:t>if utilization is low → </a:t>
            </a: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performance will still be poor</a:t>
            </a:r>
            <a:endParaRPr lang="en-US" sz="1100"/>
          </a:p>
        </p:txBody>
      </p:sp>
      <p:sp>
        <p:nvSpPr>
          <p:cNvPr id="7" name="AutoShape 7"/>
          <p:cNvSpPr/>
          <p:nvPr/>
        </p:nvSpPr>
        <p:spPr>
          <a:xfrm>
            <a:off x="380956" y="2323793"/>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Common Causes of Low Utilization</a:t>
            </a:r>
            <a:endParaRPr lang="en-US" sz="1100"/>
          </a:p>
        </p:txBody>
      </p:sp>
      <p:sp>
        <p:nvSpPr>
          <p:cNvPr id="8" name="Freeform 8"/>
          <p:cNvSpPr/>
          <p:nvPr/>
        </p:nvSpPr>
        <p:spPr>
          <a:xfrm>
            <a:off x="380956" y="2780872"/>
            <a:ext cx="5562600" cy="800100"/>
          </a:xfrm>
          <a:custGeom>
            <a:avLst/>
            <a:gdLst/>
            <a:ahLst/>
            <a:cxnLst/>
            <a:rect l="l" t="t" r="r" b="b"/>
            <a:pathLst>
              <a:path w="5562600" h="800100">
                <a:moveTo>
                  <a:pt x="76203" y="0"/>
                </a:moveTo>
                <a:lnTo>
                  <a:pt x="5486397" y="0"/>
                </a:lnTo>
                <a:cubicBezTo>
                  <a:pt x="5528483" y="0"/>
                  <a:pt x="5562600" y="34117"/>
                  <a:pt x="5562600" y="76203"/>
                </a:cubicBezTo>
                <a:lnTo>
                  <a:pt x="5562600" y="723897"/>
                </a:lnTo>
                <a:cubicBezTo>
                  <a:pt x="5562600" y="765983"/>
                  <a:pt x="5528483" y="800100"/>
                  <a:pt x="5486397" y="800100"/>
                </a:cubicBezTo>
                <a:lnTo>
                  <a:pt x="76203" y="800100"/>
                </a:lnTo>
                <a:cubicBezTo>
                  <a:pt x="34117" y="800100"/>
                  <a:pt x="0" y="765983"/>
                  <a:pt x="0" y="7238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533338" y="2990413"/>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647608" y="3123716"/>
            <a:ext cx="152400" cy="114300"/>
          </a:xfrm>
          <a:custGeom>
            <a:avLst/>
            <a:gdLst/>
            <a:ahLst/>
            <a:cxnLst/>
            <a:rect l="l" t="t" r="r" b="b"/>
            <a:pathLst>
              <a:path w="152400" h="114300">
                <a:moveTo>
                  <a:pt x="19050" y="0"/>
                </a:moveTo>
                <a:cubicBezTo>
                  <a:pt x="8543" y="0"/>
                  <a:pt x="0" y="8543"/>
                  <a:pt x="0" y="19050"/>
                </a:cubicBezTo>
                <a:lnTo>
                  <a:pt x="0" y="21253"/>
                </a:lnTo>
                <a:cubicBezTo>
                  <a:pt x="0" y="23277"/>
                  <a:pt x="1309" y="25002"/>
                  <a:pt x="3006" y="26104"/>
                </a:cubicBezTo>
                <a:cubicBezTo>
                  <a:pt x="6935" y="28664"/>
                  <a:pt x="9525" y="33070"/>
                  <a:pt x="9525" y="38100"/>
                </a:cubicBezTo>
                <a:cubicBezTo>
                  <a:pt x="9525" y="43130"/>
                  <a:pt x="6935" y="47536"/>
                  <a:pt x="3006" y="50096"/>
                </a:cubicBezTo>
                <a:cubicBezTo>
                  <a:pt x="1309" y="51198"/>
                  <a:pt x="0" y="52923"/>
                  <a:pt x="0" y="54947"/>
                </a:cubicBezTo>
                <a:lnTo>
                  <a:pt x="0" y="71438"/>
                </a:lnTo>
                <a:lnTo>
                  <a:pt x="152400" y="71438"/>
                </a:lnTo>
                <a:lnTo>
                  <a:pt x="152400" y="54947"/>
                </a:lnTo>
                <a:cubicBezTo>
                  <a:pt x="152400" y="52923"/>
                  <a:pt x="151091" y="51198"/>
                  <a:pt x="149394" y="50096"/>
                </a:cubicBezTo>
                <a:cubicBezTo>
                  <a:pt x="145465" y="47536"/>
                  <a:pt x="142875" y="43130"/>
                  <a:pt x="142875" y="38100"/>
                </a:cubicBezTo>
                <a:cubicBezTo>
                  <a:pt x="142875" y="33070"/>
                  <a:pt x="145465" y="28664"/>
                  <a:pt x="149394" y="26104"/>
                </a:cubicBezTo>
                <a:cubicBezTo>
                  <a:pt x="151091" y="25002"/>
                  <a:pt x="152400" y="23277"/>
                  <a:pt x="152400" y="21253"/>
                </a:cubicBezTo>
                <a:lnTo>
                  <a:pt x="152400" y="19050"/>
                </a:lnTo>
                <a:cubicBezTo>
                  <a:pt x="152400" y="8543"/>
                  <a:pt x="143857" y="0"/>
                  <a:pt x="133350" y="0"/>
                </a:cubicBezTo>
                <a:lnTo>
                  <a:pt x="19050" y="0"/>
                </a:lnTo>
                <a:close/>
                <a:moveTo>
                  <a:pt x="152400" y="104775"/>
                </a:moveTo>
                <a:lnTo>
                  <a:pt x="152400" y="85725"/>
                </a:lnTo>
                <a:lnTo>
                  <a:pt x="0" y="85725"/>
                </a:lnTo>
                <a:lnTo>
                  <a:pt x="0" y="104775"/>
                </a:lnTo>
                <a:cubicBezTo>
                  <a:pt x="0" y="110044"/>
                  <a:pt x="4256" y="114300"/>
                  <a:pt x="9525" y="114300"/>
                </a:cubicBezTo>
                <a:lnTo>
                  <a:pt x="28575" y="114300"/>
                </a:lnTo>
                <a:lnTo>
                  <a:pt x="28575" y="107156"/>
                </a:lnTo>
                <a:cubicBezTo>
                  <a:pt x="28575" y="103196"/>
                  <a:pt x="31760" y="100012"/>
                  <a:pt x="35719" y="100012"/>
                </a:cubicBezTo>
                <a:cubicBezTo>
                  <a:pt x="39679" y="100012"/>
                  <a:pt x="42862" y="103196"/>
                  <a:pt x="42862" y="107156"/>
                </a:cubicBezTo>
                <a:lnTo>
                  <a:pt x="42862" y="114300"/>
                </a:lnTo>
                <a:lnTo>
                  <a:pt x="69056" y="114300"/>
                </a:lnTo>
                <a:lnTo>
                  <a:pt x="69056" y="107156"/>
                </a:lnTo>
                <a:cubicBezTo>
                  <a:pt x="69056" y="103196"/>
                  <a:pt x="72241" y="100012"/>
                  <a:pt x="76200" y="100012"/>
                </a:cubicBezTo>
                <a:cubicBezTo>
                  <a:pt x="80159" y="100012"/>
                  <a:pt x="83344" y="103196"/>
                  <a:pt x="83344" y="107156"/>
                </a:cubicBezTo>
                <a:lnTo>
                  <a:pt x="83344" y="114300"/>
                </a:lnTo>
                <a:lnTo>
                  <a:pt x="109538" y="114300"/>
                </a:lnTo>
                <a:lnTo>
                  <a:pt x="109538" y="107156"/>
                </a:lnTo>
                <a:cubicBezTo>
                  <a:pt x="109538" y="103196"/>
                  <a:pt x="112721" y="100012"/>
                  <a:pt x="116681" y="100012"/>
                </a:cubicBezTo>
                <a:cubicBezTo>
                  <a:pt x="120640" y="100012"/>
                  <a:pt x="123825" y="103196"/>
                  <a:pt x="123825" y="107156"/>
                </a:cubicBezTo>
                <a:lnTo>
                  <a:pt x="123825" y="114300"/>
                </a:lnTo>
                <a:lnTo>
                  <a:pt x="142875" y="114300"/>
                </a:lnTo>
                <a:cubicBezTo>
                  <a:pt x="148144" y="114300"/>
                  <a:pt x="152400" y="110044"/>
                  <a:pt x="152400" y="104775"/>
                </a:cubicBezTo>
                <a:close/>
                <a:moveTo>
                  <a:pt x="47625" y="28575"/>
                </a:moveTo>
                <a:lnTo>
                  <a:pt x="47625" y="47625"/>
                </a:lnTo>
                <a:cubicBezTo>
                  <a:pt x="47625" y="52894"/>
                  <a:pt x="43369" y="57150"/>
                  <a:pt x="38100" y="57150"/>
                </a:cubicBezTo>
                <a:cubicBezTo>
                  <a:pt x="32831" y="57150"/>
                  <a:pt x="28575" y="52894"/>
                  <a:pt x="28575" y="47625"/>
                </a:cubicBezTo>
                <a:lnTo>
                  <a:pt x="28575" y="28575"/>
                </a:lnTo>
                <a:cubicBezTo>
                  <a:pt x="28575" y="23306"/>
                  <a:pt x="32831" y="19050"/>
                  <a:pt x="38100" y="19050"/>
                </a:cubicBezTo>
                <a:cubicBezTo>
                  <a:pt x="43369" y="19050"/>
                  <a:pt x="47625" y="23306"/>
                  <a:pt x="47625" y="28575"/>
                </a:cubicBezTo>
                <a:close/>
                <a:moveTo>
                  <a:pt x="85725" y="28575"/>
                </a:moveTo>
                <a:lnTo>
                  <a:pt x="85725" y="47625"/>
                </a:lnTo>
                <a:cubicBezTo>
                  <a:pt x="85725" y="52894"/>
                  <a:pt x="81469" y="57150"/>
                  <a:pt x="76200" y="57150"/>
                </a:cubicBezTo>
                <a:cubicBezTo>
                  <a:pt x="70931" y="57150"/>
                  <a:pt x="66675" y="52894"/>
                  <a:pt x="66675" y="47625"/>
                </a:cubicBezTo>
                <a:lnTo>
                  <a:pt x="66675" y="28575"/>
                </a:lnTo>
                <a:cubicBezTo>
                  <a:pt x="66675" y="23306"/>
                  <a:pt x="70931" y="19050"/>
                  <a:pt x="76200" y="19050"/>
                </a:cubicBezTo>
                <a:cubicBezTo>
                  <a:pt x="81469" y="19050"/>
                  <a:pt x="85725" y="23306"/>
                  <a:pt x="85725" y="28575"/>
                </a:cubicBezTo>
                <a:close/>
                <a:moveTo>
                  <a:pt x="123825" y="28575"/>
                </a:moveTo>
                <a:lnTo>
                  <a:pt x="123825" y="47625"/>
                </a:lnTo>
                <a:cubicBezTo>
                  <a:pt x="123825" y="52894"/>
                  <a:pt x="119569" y="57150"/>
                  <a:pt x="114300" y="57150"/>
                </a:cubicBezTo>
                <a:cubicBezTo>
                  <a:pt x="109031" y="57150"/>
                  <a:pt x="104775" y="52894"/>
                  <a:pt x="104775" y="47625"/>
                </a:cubicBezTo>
                <a:lnTo>
                  <a:pt x="104775" y="28575"/>
                </a:lnTo>
                <a:cubicBezTo>
                  <a:pt x="104775" y="23306"/>
                  <a:pt x="109031" y="19050"/>
                  <a:pt x="114300" y="19050"/>
                </a:cubicBezTo>
                <a:cubicBezTo>
                  <a:pt x="119569" y="19050"/>
                  <a:pt x="123825" y="23306"/>
                  <a:pt x="123825" y="2857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066676" y="2933254"/>
            <a:ext cx="17621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Memory Bottleneck</a:t>
            </a:r>
            <a:endParaRPr lang="en-US" sz="1100"/>
          </a:p>
        </p:txBody>
      </p:sp>
      <p:sp>
        <p:nvSpPr>
          <p:cNvPr id="12" name="AutoShape 12"/>
          <p:cNvSpPr/>
          <p:nvPr/>
        </p:nvSpPr>
        <p:spPr>
          <a:xfrm>
            <a:off x="1066676" y="3199953"/>
            <a:ext cx="4161816" cy="266569"/>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Data supply cannot keep up with computation speed</a:t>
            </a:r>
            <a:endParaRPr lang="en-US" sz="1100"/>
          </a:p>
        </p:txBody>
      </p:sp>
      <p:sp>
        <p:nvSpPr>
          <p:cNvPr id="13" name="Freeform 13"/>
          <p:cNvSpPr/>
          <p:nvPr/>
        </p:nvSpPr>
        <p:spPr>
          <a:xfrm>
            <a:off x="380956" y="3695160"/>
            <a:ext cx="5562600" cy="800100"/>
          </a:xfrm>
          <a:custGeom>
            <a:avLst/>
            <a:gdLst/>
            <a:ahLst/>
            <a:cxnLst/>
            <a:rect l="l" t="t" r="r" b="b"/>
            <a:pathLst>
              <a:path w="5562600" h="800100">
                <a:moveTo>
                  <a:pt x="76203" y="0"/>
                </a:moveTo>
                <a:lnTo>
                  <a:pt x="5486397" y="0"/>
                </a:lnTo>
                <a:cubicBezTo>
                  <a:pt x="5528483" y="0"/>
                  <a:pt x="5562600" y="34117"/>
                  <a:pt x="5562600" y="76203"/>
                </a:cubicBezTo>
                <a:lnTo>
                  <a:pt x="5562600" y="723897"/>
                </a:lnTo>
                <a:cubicBezTo>
                  <a:pt x="5562600" y="765983"/>
                  <a:pt x="5528483" y="800100"/>
                  <a:pt x="5486397" y="800100"/>
                </a:cubicBezTo>
                <a:lnTo>
                  <a:pt x="76203" y="800100"/>
                </a:lnTo>
                <a:cubicBezTo>
                  <a:pt x="34117" y="800100"/>
                  <a:pt x="0" y="765983"/>
                  <a:pt x="0" y="7238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533338" y="3904710"/>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647608" y="4018955"/>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66675" y="57150"/>
                </a:moveTo>
                <a:lnTo>
                  <a:pt x="66675" y="95250"/>
                </a:lnTo>
                <a:cubicBezTo>
                  <a:pt x="66675" y="100519"/>
                  <a:pt x="62419" y="104775"/>
                  <a:pt x="57150" y="104775"/>
                </a:cubicBezTo>
                <a:cubicBezTo>
                  <a:pt x="51881" y="104775"/>
                  <a:pt x="47625" y="100519"/>
                  <a:pt x="47625" y="95250"/>
                </a:cubicBezTo>
                <a:lnTo>
                  <a:pt x="47625" y="57150"/>
                </a:lnTo>
                <a:cubicBezTo>
                  <a:pt x="47625" y="51881"/>
                  <a:pt x="51881" y="47625"/>
                  <a:pt x="57150" y="47625"/>
                </a:cubicBezTo>
                <a:cubicBezTo>
                  <a:pt x="62419" y="47625"/>
                  <a:pt x="66675" y="51881"/>
                  <a:pt x="66675" y="57150"/>
                </a:cubicBezTo>
                <a:close/>
                <a:moveTo>
                  <a:pt x="104775" y="57150"/>
                </a:moveTo>
                <a:lnTo>
                  <a:pt x="104775" y="95250"/>
                </a:lnTo>
                <a:cubicBezTo>
                  <a:pt x="104775" y="100519"/>
                  <a:pt x="100519" y="104775"/>
                  <a:pt x="95250" y="104775"/>
                </a:cubicBezTo>
                <a:cubicBezTo>
                  <a:pt x="89981" y="104775"/>
                  <a:pt x="85725" y="100519"/>
                  <a:pt x="85725" y="95250"/>
                </a:cubicBezTo>
                <a:lnTo>
                  <a:pt x="85725" y="57150"/>
                </a:lnTo>
                <a:cubicBezTo>
                  <a:pt x="85725" y="51881"/>
                  <a:pt x="89981" y="47625"/>
                  <a:pt x="95250" y="47625"/>
                </a:cubicBezTo>
                <a:cubicBezTo>
                  <a:pt x="100519" y="47625"/>
                  <a:pt x="104775" y="51881"/>
                  <a:pt x="104775" y="5715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1066676" y="3847541"/>
            <a:ext cx="2262678" cy="266709"/>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Synchronization Wait</a:t>
            </a:r>
            <a:endParaRPr lang="en-US" sz="1100"/>
          </a:p>
        </p:txBody>
      </p:sp>
      <p:sp>
        <p:nvSpPr>
          <p:cNvPr id="17" name="AutoShape 17"/>
          <p:cNvSpPr/>
          <p:nvPr/>
        </p:nvSpPr>
        <p:spPr>
          <a:xfrm>
            <a:off x="1066676" y="4114251"/>
            <a:ext cx="3739786" cy="26657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Threads/processes waiting for synchronization</a:t>
            </a:r>
            <a:endParaRPr lang="en-US" sz="1100"/>
          </a:p>
        </p:txBody>
      </p:sp>
      <p:sp>
        <p:nvSpPr>
          <p:cNvPr id="18" name="Freeform 18"/>
          <p:cNvSpPr/>
          <p:nvPr/>
        </p:nvSpPr>
        <p:spPr>
          <a:xfrm>
            <a:off x="380956" y="4609458"/>
            <a:ext cx="5562600" cy="800100"/>
          </a:xfrm>
          <a:custGeom>
            <a:avLst/>
            <a:gdLst/>
            <a:ahLst/>
            <a:cxnLst/>
            <a:rect l="l" t="t" r="r" b="b"/>
            <a:pathLst>
              <a:path w="5562600" h="800100">
                <a:moveTo>
                  <a:pt x="76203" y="0"/>
                </a:moveTo>
                <a:lnTo>
                  <a:pt x="5486397" y="0"/>
                </a:lnTo>
                <a:cubicBezTo>
                  <a:pt x="5528483" y="0"/>
                  <a:pt x="5562600" y="34117"/>
                  <a:pt x="5562600" y="76203"/>
                </a:cubicBezTo>
                <a:lnTo>
                  <a:pt x="5562600" y="723897"/>
                </a:lnTo>
                <a:cubicBezTo>
                  <a:pt x="5562600" y="765983"/>
                  <a:pt x="5528483" y="800100"/>
                  <a:pt x="5486397" y="800100"/>
                </a:cubicBezTo>
                <a:lnTo>
                  <a:pt x="76203" y="800100"/>
                </a:lnTo>
                <a:cubicBezTo>
                  <a:pt x="34117" y="800100"/>
                  <a:pt x="0" y="765983"/>
                  <a:pt x="0" y="7238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533338" y="4818999"/>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628053" y="4933252"/>
            <a:ext cx="191185" cy="152400"/>
          </a:xfrm>
          <a:custGeom>
            <a:avLst/>
            <a:gdLst/>
            <a:ahLst/>
            <a:cxnLst/>
            <a:rect l="l" t="t" r="r" b="b"/>
            <a:pathLst>
              <a:path w="191185" h="152400">
                <a:moveTo>
                  <a:pt x="114805" y="9525"/>
                </a:moveTo>
                <a:lnTo>
                  <a:pt x="152905" y="9525"/>
                </a:lnTo>
                <a:cubicBezTo>
                  <a:pt x="158174" y="9525"/>
                  <a:pt x="162430" y="13781"/>
                  <a:pt x="162430" y="19050"/>
                </a:cubicBezTo>
                <a:cubicBezTo>
                  <a:pt x="162430" y="24319"/>
                  <a:pt x="158174" y="28575"/>
                  <a:pt x="152905" y="28575"/>
                </a:cubicBezTo>
                <a:lnTo>
                  <a:pt x="119091" y="28575"/>
                </a:lnTo>
                <a:cubicBezTo>
                  <a:pt x="117543" y="36255"/>
                  <a:pt x="112275" y="42595"/>
                  <a:pt x="105280" y="45631"/>
                </a:cubicBezTo>
                <a:lnTo>
                  <a:pt x="105280" y="133350"/>
                </a:lnTo>
                <a:lnTo>
                  <a:pt x="152905" y="133350"/>
                </a:lnTo>
                <a:cubicBezTo>
                  <a:pt x="158174" y="133350"/>
                  <a:pt x="162430" y="137606"/>
                  <a:pt x="162430" y="142875"/>
                </a:cubicBezTo>
                <a:cubicBezTo>
                  <a:pt x="162430" y="148144"/>
                  <a:pt x="158174" y="152400"/>
                  <a:pt x="152905" y="152400"/>
                </a:cubicBezTo>
                <a:lnTo>
                  <a:pt x="38605" y="152400"/>
                </a:lnTo>
                <a:cubicBezTo>
                  <a:pt x="33336" y="152400"/>
                  <a:pt x="29080" y="148144"/>
                  <a:pt x="29080" y="142875"/>
                </a:cubicBezTo>
                <a:cubicBezTo>
                  <a:pt x="29080" y="137606"/>
                  <a:pt x="33336" y="133350"/>
                  <a:pt x="38605" y="133350"/>
                </a:cubicBezTo>
                <a:lnTo>
                  <a:pt x="86230" y="133350"/>
                </a:lnTo>
                <a:lnTo>
                  <a:pt x="86230" y="45631"/>
                </a:lnTo>
                <a:cubicBezTo>
                  <a:pt x="79235" y="42565"/>
                  <a:pt x="73967" y="36225"/>
                  <a:pt x="72419" y="28575"/>
                </a:cubicBezTo>
                <a:lnTo>
                  <a:pt x="38605" y="28575"/>
                </a:lnTo>
                <a:cubicBezTo>
                  <a:pt x="33336" y="28575"/>
                  <a:pt x="29080" y="24319"/>
                  <a:pt x="29080" y="19050"/>
                </a:cubicBezTo>
                <a:cubicBezTo>
                  <a:pt x="29080" y="13781"/>
                  <a:pt x="33336" y="9525"/>
                  <a:pt x="38605" y="9525"/>
                </a:cubicBezTo>
                <a:lnTo>
                  <a:pt x="76705" y="9525"/>
                </a:lnTo>
                <a:cubicBezTo>
                  <a:pt x="81051" y="3750"/>
                  <a:pt x="87956" y="0"/>
                  <a:pt x="95755" y="0"/>
                </a:cubicBezTo>
                <a:cubicBezTo>
                  <a:pt x="103554" y="0"/>
                  <a:pt x="110459" y="3750"/>
                  <a:pt x="114805" y="9525"/>
                </a:cubicBezTo>
                <a:close/>
                <a:moveTo>
                  <a:pt x="131354" y="95250"/>
                </a:moveTo>
                <a:lnTo>
                  <a:pt x="174456" y="95250"/>
                </a:lnTo>
                <a:lnTo>
                  <a:pt x="152905" y="58282"/>
                </a:lnTo>
                <a:lnTo>
                  <a:pt x="131354" y="95250"/>
                </a:lnTo>
                <a:close/>
                <a:moveTo>
                  <a:pt x="152905" y="123825"/>
                </a:moveTo>
                <a:cubicBezTo>
                  <a:pt x="134181" y="123825"/>
                  <a:pt x="118615" y="113704"/>
                  <a:pt x="115401" y="100340"/>
                </a:cubicBezTo>
                <a:cubicBezTo>
                  <a:pt x="114626" y="97066"/>
                  <a:pt x="115698" y="93702"/>
                  <a:pt x="117395" y="90785"/>
                </a:cubicBezTo>
                <a:lnTo>
                  <a:pt x="145731" y="42208"/>
                </a:lnTo>
                <a:cubicBezTo>
                  <a:pt x="147220" y="39648"/>
                  <a:pt x="149959" y="38100"/>
                  <a:pt x="152905" y="38100"/>
                </a:cubicBezTo>
                <a:cubicBezTo>
                  <a:pt x="155851" y="38100"/>
                  <a:pt x="158590" y="39679"/>
                  <a:pt x="160079" y="42208"/>
                </a:cubicBezTo>
                <a:lnTo>
                  <a:pt x="188415" y="90785"/>
                </a:lnTo>
                <a:cubicBezTo>
                  <a:pt x="190112" y="93702"/>
                  <a:pt x="191184" y="97066"/>
                  <a:pt x="190409" y="100340"/>
                </a:cubicBezTo>
                <a:cubicBezTo>
                  <a:pt x="187195" y="113675"/>
                  <a:pt x="171629" y="123825"/>
                  <a:pt x="152905" y="123825"/>
                </a:cubicBezTo>
                <a:close/>
                <a:moveTo>
                  <a:pt x="38248" y="58282"/>
                </a:moveTo>
                <a:lnTo>
                  <a:pt x="16697" y="95250"/>
                </a:lnTo>
                <a:lnTo>
                  <a:pt x="59828" y="95250"/>
                </a:lnTo>
                <a:lnTo>
                  <a:pt x="38248" y="58282"/>
                </a:lnTo>
                <a:close/>
                <a:moveTo>
                  <a:pt x="773" y="100340"/>
                </a:moveTo>
                <a:cubicBezTo>
                  <a:pt x="0" y="97066"/>
                  <a:pt x="1071" y="93702"/>
                  <a:pt x="2767" y="90785"/>
                </a:cubicBezTo>
                <a:lnTo>
                  <a:pt x="31104" y="42208"/>
                </a:lnTo>
                <a:cubicBezTo>
                  <a:pt x="32592" y="39648"/>
                  <a:pt x="35331" y="38100"/>
                  <a:pt x="38279" y="38100"/>
                </a:cubicBezTo>
                <a:cubicBezTo>
                  <a:pt x="41224" y="38100"/>
                  <a:pt x="43963" y="39679"/>
                  <a:pt x="45452" y="42208"/>
                </a:cubicBezTo>
                <a:lnTo>
                  <a:pt x="73788" y="90785"/>
                </a:lnTo>
                <a:cubicBezTo>
                  <a:pt x="75485" y="93702"/>
                  <a:pt x="76556" y="97066"/>
                  <a:pt x="75782" y="100340"/>
                </a:cubicBezTo>
                <a:cubicBezTo>
                  <a:pt x="72569" y="113675"/>
                  <a:pt x="57000" y="123825"/>
                  <a:pt x="38279" y="123825"/>
                </a:cubicBezTo>
                <a:cubicBezTo>
                  <a:pt x="19555" y="123825"/>
                  <a:pt x="3989" y="113704"/>
                  <a:pt x="773" y="10034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1066676" y="4761840"/>
            <a:ext cx="17621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Load Imbalance</a:t>
            </a:r>
            <a:endParaRPr lang="en-US" sz="1100"/>
          </a:p>
        </p:txBody>
      </p:sp>
      <p:sp>
        <p:nvSpPr>
          <p:cNvPr id="22" name="AutoShape 22"/>
          <p:cNvSpPr/>
          <p:nvPr/>
        </p:nvSpPr>
        <p:spPr>
          <a:xfrm>
            <a:off x="1066676" y="5028540"/>
            <a:ext cx="3405678"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Some cores idle, others overloaded</a:t>
            </a:r>
            <a:endParaRPr lang="en-US" sz="1100"/>
          </a:p>
        </p:txBody>
      </p:sp>
      <p:sp>
        <p:nvSpPr>
          <p:cNvPr id="23" name="Freeform 23"/>
          <p:cNvSpPr/>
          <p:nvPr/>
        </p:nvSpPr>
        <p:spPr>
          <a:xfrm>
            <a:off x="380956" y="5523747"/>
            <a:ext cx="5562600" cy="800100"/>
          </a:xfrm>
          <a:custGeom>
            <a:avLst/>
            <a:gdLst/>
            <a:ahLst/>
            <a:cxnLst/>
            <a:rect l="l" t="t" r="r" b="b"/>
            <a:pathLst>
              <a:path w="5562600" h="800100">
                <a:moveTo>
                  <a:pt x="76203" y="0"/>
                </a:moveTo>
                <a:lnTo>
                  <a:pt x="5486397" y="0"/>
                </a:lnTo>
                <a:cubicBezTo>
                  <a:pt x="5528483" y="0"/>
                  <a:pt x="5562600" y="34117"/>
                  <a:pt x="5562600" y="76203"/>
                </a:cubicBezTo>
                <a:lnTo>
                  <a:pt x="5562600" y="723897"/>
                </a:lnTo>
                <a:cubicBezTo>
                  <a:pt x="5562600" y="765983"/>
                  <a:pt x="5528483" y="800100"/>
                  <a:pt x="5486397" y="800100"/>
                </a:cubicBezTo>
                <a:lnTo>
                  <a:pt x="76203" y="800100"/>
                </a:lnTo>
                <a:cubicBezTo>
                  <a:pt x="34117" y="800100"/>
                  <a:pt x="0" y="765983"/>
                  <a:pt x="0" y="7238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533338" y="5733297"/>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657133" y="5847541"/>
            <a:ext cx="133350" cy="152400"/>
          </a:xfrm>
          <a:custGeom>
            <a:avLst/>
            <a:gdLst/>
            <a:ahLst/>
            <a:cxnLst/>
            <a:rect l="l" t="t" r="r" b="b"/>
            <a:pathLst>
              <a:path w="133350" h="152400">
                <a:moveTo>
                  <a:pt x="133350" y="61258"/>
                </a:moveTo>
                <a:cubicBezTo>
                  <a:pt x="128944" y="64174"/>
                  <a:pt x="123885" y="66526"/>
                  <a:pt x="118615" y="68401"/>
                </a:cubicBezTo>
                <a:cubicBezTo>
                  <a:pt x="104626" y="73402"/>
                  <a:pt x="86261" y="76200"/>
                  <a:pt x="66675" y="76200"/>
                </a:cubicBezTo>
                <a:cubicBezTo>
                  <a:pt x="47089" y="76200"/>
                  <a:pt x="28694" y="73372"/>
                  <a:pt x="14735" y="68401"/>
                </a:cubicBezTo>
                <a:cubicBezTo>
                  <a:pt x="9495" y="66526"/>
                  <a:pt x="4406" y="64174"/>
                  <a:pt x="0" y="61258"/>
                </a:cubicBezTo>
                <a:lnTo>
                  <a:pt x="0" y="85725"/>
                </a:lnTo>
                <a:cubicBezTo>
                  <a:pt x="0" y="98881"/>
                  <a:pt x="29855" y="109537"/>
                  <a:pt x="66675" y="109537"/>
                </a:cubicBezTo>
                <a:cubicBezTo>
                  <a:pt x="103495" y="109537"/>
                  <a:pt x="133350" y="98881"/>
                  <a:pt x="133350" y="85725"/>
                </a:cubicBezTo>
                <a:lnTo>
                  <a:pt x="133350" y="61258"/>
                </a:lnTo>
                <a:close/>
                <a:moveTo>
                  <a:pt x="133350" y="38100"/>
                </a:moveTo>
                <a:lnTo>
                  <a:pt x="133350" y="23813"/>
                </a:lnTo>
                <a:cubicBezTo>
                  <a:pt x="133350" y="10657"/>
                  <a:pt x="103495" y="0"/>
                  <a:pt x="66675" y="0"/>
                </a:cubicBezTo>
                <a:cubicBezTo>
                  <a:pt x="29855" y="0"/>
                  <a:pt x="0" y="10657"/>
                  <a:pt x="0" y="23813"/>
                </a:cubicBezTo>
                <a:lnTo>
                  <a:pt x="0" y="38100"/>
                </a:lnTo>
                <a:cubicBezTo>
                  <a:pt x="0" y="51256"/>
                  <a:pt x="29855" y="61913"/>
                  <a:pt x="66675" y="61913"/>
                </a:cubicBezTo>
                <a:cubicBezTo>
                  <a:pt x="103495" y="61913"/>
                  <a:pt x="133350" y="51256"/>
                  <a:pt x="133350" y="38100"/>
                </a:cubicBezTo>
                <a:close/>
                <a:moveTo>
                  <a:pt x="118615" y="116026"/>
                </a:moveTo>
                <a:cubicBezTo>
                  <a:pt x="104656" y="120997"/>
                  <a:pt x="86291" y="123825"/>
                  <a:pt x="66675" y="123825"/>
                </a:cubicBezTo>
                <a:cubicBezTo>
                  <a:pt x="47059" y="123825"/>
                  <a:pt x="28694" y="120997"/>
                  <a:pt x="14735" y="116026"/>
                </a:cubicBezTo>
                <a:cubicBezTo>
                  <a:pt x="9495" y="114151"/>
                  <a:pt x="4406" y="111799"/>
                  <a:pt x="0" y="108883"/>
                </a:cubicBezTo>
                <a:lnTo>
                  <a:pt x="0" y="128587"/>
                </a:lnTo>
                <a:cubicBezTo>
                  <a:pt x="0" y="141743"/>
                  <a:pt x="29855" y="152400"/>
                  <a:pt x="66675" y="152400"/>
                </a:cubicBezTo>
                <a:cubicBezTo>
                  <a:pt x="103495" y="152400"/>
                  <a:pt x="133350" y="141743"/>
                  <a:pt x="133350" y="128587"/>
                </a:cubicBezTo>
                <a:lnTo>
                  <a:pt x="133350" y="108883"/>
                </a:lnTo>
                <a:cubicBezTo>
                  <a:pt x="128944" y="111799"/>
                  <a:pt x="123885" y="114151"/>
                  <a:pt x="118615" y="116026"/>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1066676" y="5676128"/>
            <a:ext cx="16287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I/O Wait</a:t>
            </a:r>
            <a:endParaRPr lang="en-US" sz="1100"/>
          </a:p>
        </p:txBody>
      </p:sp>
      <p:sp>
        <p:nvSpPr>
          <p:cNvPr id="27" name="AutoShape 27"/>
          <p:cNvSpPr/>
          <p:nvPr/>
        </p:nvSpPr>
        <p:spPr>
          <a:xfrm>
            <a:off x="1066676" y="5942837"/>
            <a:ext cx="4161816" cy="19113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Waiting for disk or network I/O to complete</a:t>
            </a:r>
            <a:endParaRPr lang="en-US" sz="1100"/>
          </a:p>
        </p:txBody>
      </p:sp>
      <p:sp>
        <p:nvSpPr>
          <p:cNvPr id="28" name="Freeform 28"/>
          <p:cNvSpPr/>
          <p:nvPr/>
        </p:nvSpPr>
        <p:spPr>
          <a:xfrm>
            <a:off x="6248338" y="990488"/>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9" name="Picture 29"/>
          <p:cNvPicPr>
            <a:picLocks noChangeAspect="1"/>
          </p:cNvPicPr>
          <p:nvPr/>
        </p:nvPicPr>
        <p:blipFill>
          <a:blip r:embed="rId1"/>
          <a:srcRect t="46" b="45"/>
          <a:stretch>
            <a:fillRect/>
          </a:stretch>
        </p:blipFill>
        <p:spPr>
          <a:xfrm>
            <a:off x="6400720" y="1617418"/>
            <a:ext cx="5257800" cy="3581400"/>
          </a:xfrm>
          <a:prstGeom prst="roundRect">
            <a:avLst>
              <a:gd name="adj" fmla="val 0"/>
            </a:avLst>
          </a:prstGeom>
          <a:ln w="12700">
            <a:noFill/>
            <a:prstDash val="solid"/>
          </a:ln>
        </p:spPr>
      </p:pic>
      <p:sp>
        <p:nvSpPr>
          <p:cNvPr id="30" name="AutoShape 30"/>
          <p:cNvSpPr/>
          <p:nvPr/>
        </p:nvSpPr>
        <p:spPr>
          <a:xfrm>
            <a:off x="6210238" y="5905370"/>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Image source: Lambda Labs - GPU Monitoring Tools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2846" y="622613"/>
            <a:ext cx="11644243" cy="353391"/>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5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Two Types of Performance Bottlenecks</a:t>
            </a:r>
            <a:endParaRPr lang="en-US" sz="1100"/>
          </a:p>
        </p:txBody>
      </p:sp>
      <p:sp>
        <p:nvSpPr>
          <p:cNvPr id="3" name="Freeform 3"/>
          <p:cNvSpPr/>
          <p:nvPr/>
        </p:nvSpPr>
        <p:spPr>
          <a:xfrm>
            <a:off x="362141" y="1179555"/>
            <a:ext cx="5583495" cy="4753025"/>
          </a:xfrm>
          <a:custGeom>
            <a:avLst/>
            <a:gdLst/>
            <a:ahLst/>
            <a:cxnLst/>
            <a:rect l="l" t="t" r="r" b="b"/>
            <a:pathLst>
              <a:path w="5583495" h="4753025">
                <a:moveTo>
                  <a:pt x="106040" y="0"/>
                </a:moveTo>
                <a:lnTo>
                  <a:pt x="5477455" y="0"/>
                </a:lnTo>
                <a:cubicBezTo>
                  <a:pt x="5536019" y="0"/>
                  <a:pt x="5583495" y="47476"/>
                  <a:pt x="5583495" y="106040"/>
                </a:cubicBezTo>
                <a:lnTo>
                  <a:pt x="5583495" y="4646985"/>
                </a:lnTo>
                <a:cubicBezTo>
                  <a:pt x="5583495" y="4705549"/>
                  <a:pt x="5536019" y="4753025"/>
                  <a:pt x="5477455" y="4753025"/>
                </a:cubicBezTo>
                <a:lnTo>
                  <a:pt x="106040" y="4753025"/>
                </a:lnTo>
                <a:cubicBezTo>
                  <a:pt x="47476" y="4753025"/>
                  <a:pt x="0" y="4705549"/>
                  <a:pt x="0" y="4646985"/>
                </a:cubicBezTo>
                <a:lnTo>
                  <a:pt x="0" y="106040"/>
                </a:lnTo>
                <a:cubicBezTo>
                  <a:pt x="0" y="47515"/>
                  <a:pt x="47515" y="0"/>
                  <a:pt x="106040" y="0"/>
                </a:cubicBezTo>
                <a:close/>
              </a:path>
            </a:pathLst>
          </a:custGeom>
          <a:gradFill rotWithShape="1">
            <a:gsLst>
              <a:gs pos="0">
                <a:srgbClr val="F9FAFB">
                  <a:alpha val="100000"/>
                </a:srgbClr>
              </a:gs>
              <a:gs pos="100000">
                <a:srgbClr val="FFFFFF">
                  <a:alpha val="100000"/>
                </a:srgbClr>
              </a:gs>
            </a:gsLst>
            <a:lin ang="2700000"/>
          </a:gradFill>
          <a:ln w="12700">
            <a:solidFill>
              <a:srgbClr val="E5E7EB">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582942" y="1418008"/>
            <a:ext cx="494748" cy="494748"/>
          </a:xfrm>
          <a:custGeom>
            <a:avLst/>
            <a:gdLst/>
            <a:ahLst/>
            <a:cxnLst/>
            <a:rect l="l" t="t" r="r" b="b"/>
            <a:pathLst>
              <a:path w="494748" h="494748">
                <a:moveTo>
                  <a:pt x="106020" y="0"/>
                </a:moveTo>
                <a:lnTo>
                  <a:pt x="388728" y="0"/>
                </a:lnTo>
                <a:cubicBezTo>
                  <a:pt x="447242" y="0"/>
                  <a:pt x="494748" y="47506"/>
                  <a:pt x="494748" y="106020"/>
                </a:cubicBezTo>
                <a:lnTo>
                  <a:pt x="494748" y="388728"/>
                </a:lnTo>
                <a:cubicBezTo>
                  <a:pt x="494748" y="447242"/>
                  <a:pt x="447242" y="494748"/>
                  <a:pt x="388728" y="494748"/>
                </a:cubicBezTo>
                <a:lnTo>
                  <a:pt x="106020" y="494748"/>
                </a:lnTo>
                <a:cubicBezTo>
                  <a:pt x="47506" y="494748"/>
                  <a:pt x="0" y="447242"/>
                  <a:pt x="0" y="388728"/>
                </a:cubicBezTo>
                <a:lnTo>
                  <a:pt x="0" y="106020"/>
                </a:lnTo>
                <a:cubicBezTo>
                  <a:pt x="0" y="47506"/>
                  <a:pt x="47506" y="0"/>
                  <a:pt x="106020" y="0"/>
                </a:cubicBezTo>
                <a:close/>
              </a:path>
            </a:pathLst>
          </a:custGeom>
          <a:solidFill>
            <a:srgbClr val="8B0000">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724276" y="1559348"/>
            <a:ext cx="212035" cy="212035"/>
          </a:xfrm>
          <a:custGeom>
            <a:avLst/>
            <a:gdLst/>
            <a:ahLst/>
            <a:cxnLst/>
            <a:rect l="l" t="t" r="r" b="b"/>
            <a:pathLst>
              <a:path w="212035" h="212035">
                <a:moveTo>
                  <a:pt x="72887" y="9939"/>
                </a:moveTo>
                <a:cubicBezTo>
                  <a:pt x="72887" y="4431"/>
                  <a:pt x="68456" y="0"/>
                  <a:pt x="62948" y="0"/>
                </a:cubicBezTo>
                <a:cubicBezTo>
                  <a:pt x="57440" y="0"/>
                  <a:pt x="53009" y="4431"/>
                  <a:pt x="53009" y="9939"/>
                </a:cubicBezTo>
                <a:lnTo>
                  <a:pt x="53009" y="26504"/>
                </a:lnTo>
                <a:cubicBezTo>
                  <a:pt x="38390" y="26504"/>
                  <a:pt x="26504" y="38390"/>
                  <a:pt x="26504" y="53009"/>
                </a:cubicBezTo>
                <a:lnTo>
                  <a:pt x="9939" y="53009"/>
                </a:lnTo>
                <a:cubicBezTo>
                  <a:pt x="4431" y="53009"/>
                  <a:pt x="0" y="57440"/>
                  <a:pt x="0" y="62948"/>
                </a:cubicBezTo>
                <a:cubicBezTo>
                  <a:pt x="0" y="68456"/>
                  <a:pt x="4431" y="72887"/>
                  <a:pt x="9939" y="72887"/>
                </a:cubicBezTo>
                <a:lnTo>
                  <a:pt x="26504" y="72887"/>
                </a:lnTo>
                <a:lnTo>
                  <a:pt x="26504" y="96078"/>
                </a:lnTo>
                <a:lnTo>
                  <a:pt x="9939" y="96078"/>
                </a:lnTo>
                <a:cubicBezTo>
                  <a:pt x="4431" y="96078"/>
                  <a:pt x="0" y="100509"/>
                  <a:pt x="0" y="106017"/>
                </a:cubicBezTo>
                <a:cubicBezTo>
                  <a:pt x="0" y="111525"/>
                  <a:pt x="4431" y="115957"/>
                  <a:pt x="9939" y="115957"/>
                </a:cubicBezTo>
                <a:lnTo>
                  <a:pt x="26504" y="115957"/>
                </a:lnTo>
                <a:lnTo>
                  <a:pt x="26504" y="139148"/>
                </a:lnTo>
                <a:lnTo>
                  <a:pt x="9939" y="139148"/>
                </a:lnTo>
                <a:cubicBezTo>
                  <a:pt x="4431" y="139148"/>
                  <a:pt x="0" y="143579"/>
                  <a:pt x="0" y="149087"/>
                </a:cubicBezTo>
                <a:cubicBezTo>
                  <a:pt x="0" y="154595"/>
                  <a:pt x="4431" y="159026"/>
                  <a:pt x="9939" y="159026"/>
                </a:cubicBezTo>
                <a:lnTo>
                  <a:pt x="26504" y="159026"/>
                </a:lnTo>
                <a:cubicBezTo>
                  <a:pt x="26504" y="173645"/>
                  <a:pt x="38390" y="185530"/>
                  <a:pt x="53009" y="185530"/>
                </a:cubicBezTo>
                <a:lnTo>
                  <a:pt x="53009" y="202096"/>
                </a:lnTo>
                <a:cubicBezTo>
                  <a:pt x="53009" y="207604"/>
                  <a:pt x="57440" y="212035"/>
                  <a:pt x="62948" y="212035"/>
                </a:cubicBezTo>
                <a:cubicBezTo>
                  <a:pt x="68456" y="212035"/>
                  <a:pt x="72887" y="207604"/>
                  <a:pt x="72887" y="202096"/>
                </a:cubicBezTo>
                <a:lnTo>
                  <a:pt x="72887" y="185530"/>
                </a:lnTo>
                <a:lnTo>
                  <a:pt x="96078" y="185530"/>
                </a:lnTo>
                <a:lnTo>
                  <a:pt x="96078" y="202096"/>
                </a:lnTo>
                <a:cubicBezTo>
                  <a:pt x="96078" y="207604"/>
                  <a:pt x="100509" y="212035"/>
                  <a:pt x="106017" y="212035"/>
                </a:cubicBezTo>
                <a:cubicBezTo>
                  <a:pt x="111525" y="212035"/>
                  <a:pt x="115957" y="207604"/>
                  <a:pt x="115957" y="202096"/>
                </a:cubicBezTo>
                <a:lnTo>
                  <a:pt x="115957" y="185530"/>
                </a:lnTo>
                <a:lnTo>
                  <a:pt x="139148" y="185530"/>
                </a:lnTo>
                <a:lnTo>
                  <a:pt x="139148" y="202096"/>
                </a:lnTo>
                <a:cubicBezTo>
                  <a:pt x="139148" y="207604"/>
                  <a:pt x="143579" y="212035"/>
                  <a:pt x="149087" y="212035"/>
                </a:cubicBezTo>
                <a:cubicBezTo>
                  <a:pt x="154595" y="212035"/>
                  <a:pt x="159026" y="207604"/>
                  <a:pt x="159026" y="202096"/>
                </a:cubicBezTo>
                <a:lnTo>
                  <a:pt x="159026" y="185530"/>
                </a:lnTo>
                <a:cubicBezTo>
                  <a:pt x="173645" y="185530"/>
                  <a:pt x="185530" y="173645"/>
                  <a:pt x="185530" y="159026"/>
                </a:cubicBezTo>
                <a:lnTo>
                  <a:pt x="202096" y="159026"/>
                </a:lnTo>
                <a:cubicBezTo>
                  <a:pt x="207604" y="159026"/>
                  <a:pt x="212035" y="154595"/>
                  <a:pt x="212035" y="149087"/>
                </a:cubicBezTo>
                <a:cubicBezTo>
                  <a:pt x="212035" y="143579"/>
                  <a:pt x="207604" y="139148"/>
                  <a:pt x="202096" y="139148"/>
                </a:cubicBezTo>
                <a:lnTo>
                  <a:pt x="185530" y="139148"/>
                </a:lnTo>
                <a:lnTo>
                  <a:pt x="185530" y="115957"/>
                </a:lnTo>
                <a:lnTo>
                  <a:pt x="202096" y="115957"/>
                </a:lnTo>
                <a:cubicBezTo>
                  <a:pt x="207604" y="115957"/>
                  <a:pt x="212035" y="111525"/>
                  <a:pt x="212035" y="106017"/>
                </a:cubicBezTo>
                <a:cubicBezTo>
                  <a:pt x="212035" y="100509"/>
                  <a:pt x="207604" y="96078"/>
                  <a:pt x="202096" y="96078"/>
                </a:cubicBezTo>
                <a:lnTo>
                  <a:pt x="185530" y="96078"/>
                </a:lnTo>
                <a:lnTo>
                  <a:pt x="185530" y="72887"/>
                </a:lnTo>
                <a:lnTo>
                  <a:pt x="202096" y="72887"/>
                </a:lnTo>
                <a:cubicBezTo>
                  <a:pt x="207604" y="72887"/>
                  <a:pt x="212035" y="68456"/>
                  <a:pt x="212035" y="62948"/>
                </a:cubicBezTo>
                <a:cubicBezTo>
                  <a:pt x="212035" y="57440"/>
                  <a:pt x="207604" y="53009"/>
                  <a:pt x="202096" y="53009"/>
                </a:cubicBezTo>
                <a:lnTo>
                  <a:pt x="185530" y="53009"/>
                </a:lnTo>
                <a:cubicBezTo>
                  <a:pt x="185530" y="38390"/>
                  <a:pt x="173645" y="26504"/>
                  <a:pt x="159026" y="26504"/>
                </a:cubicBezTo>
                <a:lnTo>
                  <a:pt x="159026" y="9939"/>
                </a:lnTo>
                <a:cubicBezTo>
                  <a:pt x="159026" y="4431"/>
                  <a:pt x="154595" y="0"/>
                  <a:pt x="149087" y="0"/>
                </a:cubicBezTo>
                <a:cubicBezTo>
                  <a:pt x="143579" y="0"/>
                  <a:pt x="139148" y="4431"/>
                  <a:pt x="139148" y="9939"/>
                </a:cubicBezTo>
                <a:lnTo>
                  <a:pt x="139148" y="26504"/>
                </a:lnTo>
                <a:lnTo>
                  <a:pt x="115957" y="26504"/>
                </a:lnTo>
                <a:lnTo>
                  <a:pt x="115957" y="9939"/>
                </a:lnTo>
                <a:cubicBezTo>
                  <a:pt x="115957" y="4431"/>
                  <a:pt x="111525" y="0"/>
                  <a:pt x="106017" y="0"/>
                </a:cubicBezTo>
                <a:cubicBezTo>
                  <a:pt x="100509" y="0"/>
                  <a:pt x="96078" y="4431"/>
                  <a:pt x="96078" y="9939"/>
                </a:cubicBezTo>
                <a:lnTo>
                  <a:pt x="96078" y="26504"/>
                </a:lnTo>
                <a:lnTo>
                  <a:pt x="72887" y="26504"/>
                </a:lnTo>
                <a:lnTo>
                  <a:pt x="72887" y="9939"/>
                </a:lnTo>
                <a:close/>
                <a:moveTo>
                  <a:pt x="66261" y="53009"/>
                </a:moveTo>
                <a:lnTo>
                  <a:pt x="145774" y="53009"/>
                </a:lnTo>
                <a:cubicBezTo>
                  <a:pt x="153104" y="53009"/>
                  <a:pt x="159026" y="58931"/>
                  <a:pt x="159026" y="66261"/>
                </a:cubicBezTo>
                <a:lnTo>
                  <a:pt x="159026" y="145774"/>
                </a:lnTo>
                <a:cubicBezTo>
                  <a:pt x="159026" y="153104"/>
                  <a:pt x="153104" y="159026"/>
                  <a:pt x="145774" y="159026"/>
                </a:cubicBezTo>
                <a:lnTo>
                  <a:pt x="66261" y="159026"/>
                </a:lnTo>
                <a:cubicBezTo>
                  <a:pt x="58931" y="159026"/>
                  <a:pt x="53009" y="153104"/>
                  <a:pt x="53009" y="145774"/>
                </a:cubicBezTo>
                <a:lnTo>
                  <a:pt x="53009" y="66261"/>
                </a:lnTo>
                <a:cubicBezTo>
                  <a:pt x="53009" y="58931"/>
                  <a:pt x="58931" y="53009"/>
                  <a:pt x="66261" y="53009"/>
                </a:cubicBezTo>
                <a:close/>
                <a:moveTo>
                  <a:pt x="72887" y="72887"/>
                </a:moveTo>
                <a:lnTo>
                  <a:pt x="72887" y="139148"/>
                </a:lnTo>
                <a:lnTo>
                  <a:pt x="139148" y="139148"/>
                </a:lnTo>
                <a:lnTo>
                  <a:pt x="139148" y="72887"/>
                </a:lnTo>
                <a:lnTo>
                  <a:pt x="72887" y="72887"/>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1218972" y="1400356"/>
            <a:ext cx="2292090" cy="282713"/>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7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Compute Bottleneck</a:t>
            </a:r>
            <a:endParaRPr lang="en-US" sz="1100"/>
          </a:p>
        </p:txBody>
      </p:sp>
      <p:sp>
        <p:nvSpPr>
          <p:cNvPr id="7" name="AutoShape 7"/>
          <p:cNvSpPr/>
          <p:nvPr/>
        </p:nvSpPr>
        <p:spPr>
          <a:xfrm>
            <a:off x="1218972" y="1682966"/>
            <a:ext cx="1537252" cy="24737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Compute Bound</a:t>
            </a:r>
            <a:endParaRPr lang="en-US" sz="1100"/>
          </a:p>
        </p:txBody>
      </p:sp>
      <p:sp>
        <p:nvSpPr>
          <p:cNvPr id="8" name="Freeform 8"/>
          <p:cNvSpPr/>
          <p:nvPr/>
        </p:nvSpPr>
        <p:spPr>
          <a:xfrm>
            <a:off x="582942" y="2655111"/>
            <a:ext cx="5141843" cy="883478"/>
          </a:xfrm>
          <a:custGeom>
            <a:avLst/>
            <a:gdLst/>
            <a:ahLst/>
            <a:cxnLst/>
            <a:rect l="l" t="t" r="r" b="b"/>
            <a:pathLst>
              <a:path w="5141843" h="883478">
                <a:moveTo>
                  <a:pt x="70678" y="0"/>
                </a:moveTo>
                <a:lnTo>
                  <a:pt x="5071165" y="0"/>
                </a:lnTo>
                <a:cubicBezTo>
                  <a:pt x="5110201" y="0"/>
                  <a:pt x="5141843" y="31645"/>
                  <a:pt x="5141843" y="70678"/>
                </a:cubicBezTo>
                <a:lnTo>
                  <a:pt x="5141843" y="812800"/>
                </a:lnTo>
                <a:cubicBezTo>
                  <a:pt x="5141843" y="851835"/>
                  <a:pt x="5110201" y="883478"/>
                  <a:pt x="5071165" y="883478"/>
                </a:cubicBezTo>
                <a:lnTo>
                  <a:pt x="70678" y="883478"/>
                </a:lnTo>
                <a:cubicBezTo>
                  <a:pt x="31645" y="883478"/>
                  <a:pt x="0" y="851835"/>
                  <a:pt x="0" y="812800"/>
                </a:cubicBezTo>
                <a:lnTo>
                  <a:pt x="0" y="70678"/>
                </a:lnTo>
                <a:cubicBezTo>
                  <a:pt x="0" y="31645"/>
                  <a:pt x="31645" y="0"/>
                  <a:pt x="70678"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9" name="AutoShape 9"/>
          <p:cNvSpPr/>
          <p:nvPr/>
        </p:nvSpPr>
        <p:spPr>
          <a:xfrm>
            <a:off x="759582" y="2849329"/>
            <a:ext cx="2751480" cy="20658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Characteristics:</a:t>
            </a:r>
            <a:endParaRPr lang="en-US" sz="1100"/>
          </a:p>
        </p:txBody>
      </p:sp>
      <p:sp>
        <p:nvSpPr>
          <p:cNvPr id="10" name="AutoShape 10"/>
          <p:cNvSpPr/>
          <p:nvPr/>
        </p:nvSpPr>
        <p:spPr>
          <a:xfrm>
            <a:off x="759582" y="3149798"/>
            <a:ext cx="4859130" cy="21203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FLOPS-limited, compute units at full load</a:t>
            </a:r>
            <a:endParaRPr lang="en-US" sz="1100"/>
          </a:p>
        </p:txBody>
      </p:sp>
      <p:sp>
        <p:nvSpPr>
          <p:cNvPr id="11" name="Freeform 11"/>
          <p:cNvSpPr/>
          <p:nvPr/>
        </p:nvSpPr>
        <p:spPr>
          <a:xfrm>
            <a:off x="582942" y="3679790"/>
            <a:ext cx="5141843" cy="883478"/>
          </a:xfrm>
          <a:custGeom>
            <a:avLst/>
            <a:gdLst/>
            <a:ahLst/>
            <a:cxnLst/>
            <a:rect l="l" t="t" r="r" b="b"/>
            <a:pathLst>
              <a:path w="5141843" h="883478">
                <a:moveTo>
                  <a:pt x="70678" y="0"/>
                </a:moveTo>
                <a:lnTo>
                  <a:pt x="5071165" y="0"/>
                </a:lnTo>
                <a:cubicBezTo>
                  <a:pt x="5110201" y="0"/>
                  <a:pt x="5141843" y="31645"/>
                  <a:pt x="5141843" y="70678"/>
                </a:cubicBezTo>
                <a:lnTo>
                  <a:pt x="5141843" y="812800"/>
                </a:lnTo>
                <a:cubicBezTo>
                  <a:pt x="5141843" y="851835"/>
                  <a:pt x="5110201" y="883478"/>
                  <a:pt x="5071165" y="883478"/>
                </a:cubicBezTo>
                <a:lnTo>
                  <a:pt x="70678" y="883478"/>
                </a:lnTo>
                <a:cubicBezTo>
                  <a:pt x="31645" y="883478"/>
                  <a:pt x="0" y="851835"/>
                  <a:pt x="0" y="812800"/>
                </a:cubicBezTo>
                <a:lnTo>
                  <a:pt x="0" y="70678"/>
                </a:lnTo>
                <a:cubicBezTo>
                  <a:pt x="0" y="31645"/>
                  <a:pt x="31645" y="0"/>
                  <a:pt x="70678"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2" name="AutoShape 12"/>
          <p:cNvSpPr/>
          <p:nvPr/>
        </p:nvSpPr>
        <p:spPr>
          <a:xfrm>
            <a:off x="759582" y="3874009"/>
            <a:ext cx="2487710" cy="20658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Optimization Approach:</a:t>
            </a:r>
            <a:endParaRPr lang="en-US" sz="1100"/>
          </a:p>
        </p:txBody>
      </p:sp>
      <p:sp>
        <p:nvSpPr>
          <p:cNvPr id="13" name="AutoShape 13"/>
          <p:cNvSpPr/>
          <p:nvPr/>
        </p:nvSpPr>
        <p:spPr>
          <a:xfrm>
            <a:off x="759582" y="4174478"/>
            <a:ext cx="4859130" cy="21203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Algorithm optimization, parallelization, SIMD</a:t>
            </a:r>
            <a:endParaRPr lang="en-US" sz="1100"/>
          </a:p>
        </p:txBody>
      </p:sp>
      <p:sp>
        <p:nvSpPr>
          <p:cNvPr id="14" name="Freeform 14"/>
          <p:cNvSpPr/>
          <p:nvPr/>
        </p:nvSpPr>
        <p:spPr>
          <a:xfrm>
            <a:off x="600523" y="4704470"/>
            <a:ext cx="5124086" cy="494748"/>
          </a:xfrm>
          <a:custGeom>
            <a:avLst/>
            <a:gdLst/>
            <a:ahLst/>
            <a:cxnLst/>
            <a:rect l="l" t="t" r="r" b="b"/>
            <a:pathLst>
              <a:path w="5124086" h="494748">
                <a:moveTo>
                  <a:pt x="35162" y="0"/>
                </a:moveTo>
                <a:lnTo>
                  <a:pt x="5053406" y="0"/>
                </a:lnTo>
                <a:cubicBezTo>
                  <a:pt x="5092442" y="0"/>
                  <a:pt x="5124086" y="31645"/>
                  <a:pt x="5124086" y="70681"/>
                </a:cubicBezTo>
                <a:lnTo>
                  <a:pt x="5124086" y="424068"/>
                </a:lnTo>
                <a:cubicBezTo>
                  <a:pt x="5124086" y="463078"/>
                  <a:pt x="5092416" y="494748"/>
                  <a:pt x="5053406" y="494748"/>
                </a:cubicBezTo>
                <a:lnTo>
                  <a:pt x="35162" y="494748"/>
                </a:lnTo>
                <a:cubicBezTo>
                  <a:pt x="15756" y="494748"/>
                  <a:pt x="0" y="478992"/>
                  <a:pt x="0" y="459585"/>
                </a:cubicBezTo>
                <a:lnTo>
                  <a:pt x="0" y="35162"/>
                </a:lnTo>
                <a:cubicBezTo>
                  <a:pt x="0" y="15756"/>
                  <a:pt x="15756" y="0"/>
                  <a:pt x="35162"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600523" y="4704470"/>
            <a:ext cx="35162" cy="494748"/>
          </a:xfrm>
          <a:custGeom>
            <a:avLst/>
            <a:gdLst/>
            <a:ahLst/>
            <a:cxnLst/>
            <a:rect l="l" t="t" r="r" b="b"/>
            <a:pathLst>
              <a:path w="35162" h="494748">
                <a:moveTo>
                  <a:pt x="35162" y="0"/>
                </a:moveTo>
                <a:lnTo>
                  <a:pt x="35162" y="0"/>
                </a:lnTo>
                <a:lnTo>
                  <a:pt x="35162" y="494748"/>
                </a:lnTo>
                <a:lnTo>
                  <a:pt x="35162" y="494748"/>
                </a:lnTo>
                <a:cubicBezTo>
                  <a:pt x="15756" y="494748"/>
                  <a:pt x="0" y="478992"/>
                  <a:pt x="0" y="459585"/>
                </a:cubicBezTo>
                <a:lnTo>
                  <a:pt x="0" y="35162"/>
                </a:lnTo>
                <a:cubicBezTo>
                  <a:pt x="0" y="15756"/>
                  <a:pt x="15756" y="0"/>
                  <a:pt x="35162"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794784" y="4876576"/>
            <a:ext cx="106017" cy="145774"/>
          </a:xfrm>
          <a:custGeom>
            <a:avLst/>
            <a:gdLst/>
            <a:ahLst/>
            <a:cxnLst/>
            <a:rect l="l" t="t" r="r" b="b"/>
            <a:pathLst>
              <a:path w="106017" h="145774">
                <a:moveTo>
                  <a:pt x="80866" y="106017"/>
                </a:moveTo>
                <a:cubicBezTo>
                  <a:pt x="82881" y="99861"/>
                  <a:pt x="86912" y="94284"/>
                  <a:pt x="91468" y="89480"/>
                </a:cubicBezTo>
                <a:cubicBezTo>
                  <a:pt x="100496" y="79982"/>
                  <a:pt x="106017" y="67144"/>
                  <a:pt x="106017" y="53009"/>
                </a:cubicBezTo>
                <a:cubicBezTo>
                  <a:pt x="106017" y="23743"/>
                  <a:pt x="82274" y="0"/>
                  <a:pt x="53009" y="0"/>
                </a:cubicBezTo>
                <a:cubicBezTo>
                  <a:pt x="23743" y="0"/>
                  <a:pt x="0" y="23743"/>
                  <a:pt x="0" y="53009"/>
                </a:cubicBezTo>
                <a:cubicBezTo>
                  <a:pt x="0" y="67144"/>
                  <a:pt x="5522" y="79982"/>
                  <a:pt x="14550" y="89480"/>
                </a:cubicBezTo>
                <a:cubicBezTo>
                  <a:pt x="19105" y="94284"/>
                  <a:pt x="23164" y="99861"/>
                  <a:pt x="25152" y="106017"/>
                </a:cubicBezTo>
                <a:lnTo>
                  <a:pt x="80838" y="106017"/>
                </a:lnTo>
                <a:close/>
                <a:moveTo>
                  <a:pt x="79513" y="119270"/>
                </a:moveTo>
                <a:lnTo>
                  <a:pt x="26504" y="119270"/>
                </a:lnTo>
                <a:lnTo>
                  <a:pt x="26504" y="123687"/>
                </a:lnTo>
                <a:cubicBezTo>
                  <a:pt x="26504" y="135890"/>
                  <a:pt x="36388" y="145774"/>
                  <a:pt x="48591" y="145774"/>
                </a:cubicBezTo>
                <a:lnTo>
                  <a:pt x="57426" y="145774"/>
                </a:lnTo>
                <a:cubicBezTo>
                  <a:pt x="69629" y="145774"/>
                  <a:pt x="79513" y="135890"/>
                  <a:pt x="79513" y="123687"/>
                </a:cubicBezTo>
                <a:lnTo>
                  <a:pt x="79513" y="119270"/>
                </a:lnTo>
                <a:close/>
                <a:moveTo>
                  <a:pt x="50800" y="30922"/>
                </a:moveTo>
                <a:cubicBezTo>
                  <a:pt x="39812" y="30922"/>
                  <a:pt x="30922" y="39812"/>
                  <a:pt x="30922" y="50800"/>
                </a:cubicBezTo>
                <a:cubicBezTo>
                  <a:pt x="30922" y="54472"/>
                  <a:pt x="27968" y="57426"/>
                  <a:pt x="24296" y="57426"/>
                </a:cubicBezTo>
                <a:cubicBezTo>
                  <a:pt x="20624" y="57426"/>
                  <a:pt x="17670" y="54472"/>
                  <a:pt x="17670" y="50800"/>
                </a:cubicBezTo>
                <a:cubicBezTo>
                  <a:pt x="17670" y="32495"/>
                  <a:pt x="32495" y="17670"/>
                  <a:pt x="50800" y="17670"/>
                </a:cubicBezTo>
                <a:cubicBezTo>
                  <a:pt x="54472" y="17670"/>
                  <a:pt x="57426" y="20624"/>
                  <a:pt x="57426" y="24296"/>
                </a:cubicBezTo>
                <a:cubicBezTo>
                  <a:pt x="57426" y="27968"/>
                  <a:pt x="54472" y="30922"/>
                  <a:pt x="50800" y="3092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985308" y="4845809"/>
            <a:ext cx="4668606" cy="21203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Need to improve compute efficiency</a:t>
            </a:r>
            <a:endParaRPr lang="en-US" sz="1100"/>
          </a:p>
        </p:txBody>
      </p:sp>
      <p:sp>
        <p:nvSpPr>
          <p:cNvPr id="18" name="Freeform 18"/>
          <p:cNvSpPr/>
          <p:nvPr/>
        </p:nvSpPr>
        <p:spPr>
          <a:xfrm>
            <a:off x="6244167" y="1179555"/>
            <a:ext cx="5583495" cy="4753025"/>
          </a:xfrm>
          <a:custGeom>
            <a:avLst/>
            <a:gdLst/>
            <a:ahLst/>
            <a:cxnLst/>
            <a:rect l="l" t="t" r="r" b="b"/>
            <a:pathLst>
              <a:path w="5583495" h="4753025">
                <a:moveTo>
                  <a:pt x="106040" y="0"/>
                </a:moveTo>
                <a:lnTo>
                  <a:pt x="5477455" y="0"/>
                </a:lnTo>
                <a:cubicBezTo>
                  <a:pt x="5536019" y="0"/>
                  <a:pt x="5583495" y="47476"/>
                  <a:pt x="5583495" y="106040"/>
                </a:cubicBezTo>
                <a:lnTo>
                  <a:pt x="5583495" y="4646985"/>
                </a:lnTo>
                <a:cubicBezTo>
                  <a:pt x="5583495" y="4705549"/>
                  <a:pt x="5536019" y="4753025"/>
                  <a:pt x="5477455" y="4753025"/>
                </a:cubicBezTo>
                <a:lnTo>
                  <a:pt x="106040" y="4753025"/>
                </a:lnTo>
                <a:cubicBezTo>
                  <a:pt x="47476" y="4753025"/>
                  <a:pt x="0" y="4705549"/>
                  <a:pt x="0" y="4646985"/>
                </a:cubicBezTo>
                <a:lnTo>
                  <a:pt x="0" y="106040"/>
                </a:lnTo>
                <a:cubicBezTo>
                  <a:pt x="0" y="47515"/>
                  <a:pt x="47515" y="0"/>
                  <a:pt x="106040" y="0"/>
                </a:cubicBezTo>
                <a:close/>
              </a:path>
            </a:pathLst>
          </a:custGeom>
          <a:gradFill rotWithShape="1">
            <a:gsLst>
              <a:gs pos="0">
                <a:srgbClr val="F9FAFB">
                  <a:alpha val="100000"/>
                </a:srgbClr>
              </a:gs>
              <a:gs pos="100000">
                <a:srgbClr val="FFFFFF">
                  <a:alpha val="100000"/>
                </a:srgbClr>
              </a:gs>
            </a:gsLst>
            <a:lin ang="2700000"/>
          </a:gradFill>
          <a:ln w="12700">
            <a:solidFill>
              <a:srgbClr val="E5E7EB">
                <a:alpha val="100000"/>
              </a:srgbClr>
            </a:solidFill>
            <a:prstDash val="solid"/>
          </a:ln>
        </p:spPr>
        <p:txBody>
          <a:bodyPr wrap="square" lIns="91440" tIns="45720" rIns="91440" bIns="45720" rtlCol="0" anchor="t">
            <a:noAutofit/>
          </a:bodyPr>
          <a:lstStyle/>
          <a:p>
            <a:pPr algn="ctr">
              <a:defRPr/>
            </a:pPr>
          </a:p>
        </p:txBody>
      </p:sp>
      <p:sp>
        <p:nvSpPr>
          <p:cNvPr id="19" name="Freeform 19"/>
          <p:cNvSpPr/>
          <p:nvPr/>
        </p:nvSpPr>
        <p:spPr>
          <a:xfrm>
            <a:off x="6464968" y="1418008"/>
            <a:ext cx="494748" cy="494748"/>
          </a:xfrm>
          <a:custGeom>
            <a:avLst/>
            <a:gdLst/>
            <a:ahLst/>
            <a:cxnLst/>
            <a:rect l="l" t="t" r="r" b="b"/>
            <a:pathLst>
              <a:path w="494748" h="494748">
                <a:moveTo>
                  <a:pt x="106020" y="0"/>
                </a:moveTo>
                <a:lnTo>
                  <a:pt x="388728" y="0"/>
                </a:lnTo>
                <a:cubicBezTo>
                  <a:pt x="447242" y="0"/>
                  <a:pt x="494748" y="47506"/>
                  <a:pt x="494748" y="106020"/>
                </a:cubicBezTo>
                <a:lnTo>
                  <a:pt x="494748" y="388728"/>
                </a:lnTo>
                <a:cubicBezTo>
                  <a:pt x="494748" y="447242"/>
                  <a:pt x="447242" y="494748"/>
                  <a:pt x="388728" y="494748"/>
                </a:cubicBezTo>
                <a:lnTo>
                  <a:pt x="106020" y="494748"/>
                </a:lnTo>
                <a:cubicBezTo>
                  <a:pt x="47506" y="494748"/>
                  <a:pt x="0" y="447242"/>
                  <a:pt x="0" y="388728"/>
                </a:cubicBezTo>
                <a:lnTo>
                  <a:pt x="0" y="106020"/>
                </a:lnTo>
                <a:cubicBezTo>
                  <a:pt x="0" y="47506"/>
                  <a:pt x="47506" y="0"/>
                  <a:pt x="106020" y="0"/>
                </a:cubicBezTo>
                <a:close/>
              </a:path>
            </a:pathLst>
          </a:custGeom>
          <a:solidFill>
            <a:srgbClr val="8B0000">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0" name="Freeform 20"/>
          <p:cNvSpPr/>
          <p:nvPr/>
        </p:nvSpPr>
        <p:spPr>
          <a:xfrm>
            <a:off x="6619554" y="1559348"/>
            <a:ext cx="185530" cy="212035"/>
          </a:xfrm>
          <a:custGeom>
            <a:avLst/>
            <a:gdLst/>
            <a:ahLst/>
            <a:cxnLst/>
            <a:rect l="l" t="t" r="r" b="b"/>
            <a:pathLst>
              <a:path w="185530" h="212035">
                <a:moveTo>
                  <a:pt x="185530" y="85228"/>
                </a:moveTo>
                <a:cubicBezTo>
                  <a:pt x="179401" y="89287"/>
                  <a:pt x="172361" y="92558"/>
                  <a:pt x="165031" y="95167"/>
                </a:cubicBezTo>
                <a:cubicBezTo>
                  <a:pt x="145567" y="102125"/>
                  <a:pt x="120015" y="106017"/>
                  <a:pt x="92765" y="106017"/>
                </a:cubicBezTo>
                <a:cubicBezTo>
                  <a:pt x="65515" y="106017"/>
                  <a:pt x="39922" y="102083"/>
                  <a:pt x="20499" y="95167"/>
                </a:cubicBezTo>
                <a:cubicBezTo>
                  <a:pt x="13211" y="92558"/>
                  <a:pt x="6129" y="89287"/>
                  <a:pt x="0" y="85228"/>
                </a:cubicBezTo>
                <a:lnTo>
                  <a:pt x="0" y="119270"/>
                </a:lnTo>
                <a:cubicBezTo>
                  <a:pt x="0" y="137574"/>
                  <a:pt x="41537" y="152400"/>
                  <a:pt x="92765" y="152400"/>
                </a:cubicBezTo>
                <a:cubicBezTo>
                  <a:pt x="143993" y="152400"/>
                  <a:pt x="185530" y="137574"/>
                  <a:pt x="185530" y="119270"/>
                </a:cubicBezTo>
                <a:lnTo>
                  <a:pt x="185530" y="85228"/>
                </a:lnTo>
                <a:close/>
                <a:moveTo>
                  <a:pt x="185530" y="53009"/>
                </a:moveTo>
                <a:lnTo>
                  <a:pt x="185530" y="33130"/>
                </a:lnTo>
                <a:cubicBezTo>
                  <a:pt x="185530" y="14826"/>
                  <a:pt x="143993" y="0"/>
                  <a:pt x="92765" y="0"/>
                </a:cubicBezTo>
                <a:cubicBezTo>
                  <a:pt x="41537" y="0"/>
                  <a:pt x="0" y="14826"/>
                  <a:pt x="0" y="33130"/>
                </a:cubicBezTo>
                <a:lnTo>
                  <a:pt x="0" y="53009"/>
                </a:lnTo>
                <a:cubicBezTo>
                  <a:pt x="0" y="71313"/>
                  <a:pt x="41537" y="86139"/>
                  <a:pt x="92765" y="86139"/>
                </a:cubicBezTo>
                <a:cubicBezTo>
                  <a:pt x="143993" y="86139"/>
                  <a:pt x="185530" y="71313"/>
                  <a:pt x="185530" y="53009"/>
                </a:cubicBezTo>
                <a:close/>
                <a:moveTo>
                  <a:pt x="165031" y="161428"/>
                </a:moveTo>
                <a:cubicBezTo>
                  <a:pt x="145608" y="168344"/>
                  <a:pt x="120056" y="172278"/>
                  <a:pt x="92765" y="172278"/>
                </a:cubicBezTo>
                <a:cubicBezTo>
                  <a:pt x="65474" y="172278"/>
                  <a:pt x="39922" y="168344"/>
                  <a:pt x="20499" y="161428"/>
                </a:cubicBezTo>
                <a:cubicBezTo>
                  <a:pt x="13211" y="158819"/>
                  <a:pt x="6129" y="155547"/>
                  <a:pt x="0" y="151489"/>
                </a:cubicBezTo>
                <a:lnTo>
                  <a:pt x="0" y="178904"/>
                </a:lnTo>
                <a:cubicBezTo>
                  <a:pt x="0" y="197209"/>
                  <a:pt x="41537" y="212035"/>
                  <a:pt x="92765" y="212035"/>
                </a:cubicBezTo>
                <a:cubicBezTo>
                  <a:pt x="143993" y="212035"/>
                  <a:pt x="185530" y="197209"/>
                  <a:pt x="185530" y="178904"/>
                </a:cubicBezTo>
                <a:lnTo>
                  <a:pt x="185530" y="151489"/>
                </a:lnTo>
                <a:cubicBezTo>
                  <a:pt x="179401" y="155547"/>
                  <a:pt x="172361" y="158819"/>
                  <a:pt x="165031" y="16142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7100997" y="1400356"/>
            <a:ext cx="2693633" cy="282713"/>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7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Memory Bottleneck</a:t>
            </a:r>
            <a:endParaRPr lang="en-US" sz="1100"/>
          </a:p>
        </p:txBody>
      </p:sp>
      <p:sp>
        <p:nvSpPr>
          <p:cNvPr id="22" name="AutoShape 22"/>
          <p:cNvSpPr/>
          <p:nvPr/>
        </p:nvSpPr>
        <p:spPr>
          <a:xfrm>
            <a:off x="7100998" y="1682966"/>
            <a:ext cx="1475409" cy="24737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Memory Bound</a:t>
            </a:r>
            <a:endParaRPr lang="en-US" sz="1100"/>
          </a:p>
        </p:txBody>
      </p:sp>
      <p:sp>
        <p:nvSpPr>
          <p:cNvPr id="23" name="Freeform 23"/>
          <p:cNvSpPr/>
          <p:nvPr/>
        </p:nvSpPr>
        <p:spPr>
          <a:xfrm>
            <a:off x="6464968" y="2655111"/>
            <a:ext cx="5141843" cy="883478"/>
          </a:xfrm>
          <a:custGeom>
            <a:avLst/>
            <a:gdLst/>
            <a:ahLst/>
            <a:cxnLst/>
            <a:rect l="l" t="t" r="r" b="b"/>
            <a:pathLst>
              <a:path w="5141843" h="883478">
                <a:moveTo>
                  <a:pt x="70678" y="0"/>
                </a:moveTo>
                <a:lnTo>
                  <a:pt x="5071165" y="0"/>
                </a:lnTo>
                <a:cubicBezTo>
                  <a:pt x="5110201" y="0"/>
                  <a:pt x="5141843" y="31645"/>
                  <a:pt x="5141843" y="70678"/>
                </a:cubicBezTo>
                <a:lnTo>
                  <a:pt x="5141843" y="812800"/>
                </a:lnTo>
                <a:cubicBezTo>
                  <a:pt x="5141843" y="851835"/>
                  <a:pt x="5110201" y="883478"/>
                  <a:pt x="5071165" y="883478"/>
                </a:cubicBezTo>
                <a:lnTo>
                  <a:pt x="70678" y="883478"/>
                </a:lnTo>
                <a:cubicBezTo>
                  <a:pt x="31645" y="883478"/>
                  <a:pt x="0" y="851835"/>
                  <a:pt x="0" y="812800"/>
                </a:cubicBezTo>
                <a:lnTo>
                  <a:pt x="0" y="70678"/>
                </a:lnTo>
                <a:cubicBezTo>
                  <a:pt x="0" y="31645"/>
                  <a:pt x="31645" y="0"/>
                  <a:pt x="70678"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4" name="AutoShape 24"/>
          <p:cNvSpPr/>
          <p:nvPr/>
        </p:nvSpPr>
        <p:spPr>
          <a:xfrm>
            <a:off x="6641607" y="2849329"/>
            <a:ext cx="1552823" cy="20658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Characteristics:</a:t>
            </a:r>
            <a:endParaRPr lang="en-US" sz="1100"/>
          </a:p>
        </p:txBody>
      </p:sp>
      <p:sp>
        <p:nvSpPr>
          <p:cNvPr id="25" name="AutoShape 25"/>
          <p:cNvSpPr/>
          <p:nvPr/>
        </p:nvSpPr>
        <p:spPr>
          <a:xfrm>
            <a:off x="6641608" y="3149798"/>
            <a:ext cx="4859130" cy="21203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Bandwidth-limited, insufficient data supply</a:t>
            </a:r>
            <a:endParaRPr lang="en-US" sz="1100"/>
          </a:p>
        </p:txBody>
      </p:sp>
      <p:sp>
        <p:nvSpPr>
          <p:cNvPr id="26" name="Freeform 26"/>
          <p:cNvSpPr/>
          <p:nvPr/>
        </p:nvSpPr>
        <p:spPr>
          <a:xfrm>
            <a:off x="6464968" y="3679790"/>
            <a:ext cx="5141843" cy="883478"/>
          </a:xfrm>
          <a:custGeom>
            <a:avLst/>
            <a:gdLst/>
            <a:ahLst/>
            <a:cxnLst/>
            <a:rect l="l" t="t" r="r" b="b"/>
            <a:pathLst>
              <a:path w="5141843" h="883478">
                <a:moveTo>
                  <a:pt x="70678" y="0"/>
                </a:moveTo>
                <a:lnTo>
                  <a:pt x="5071165" y="0"/>
                </a:lnTo>
                <a:cubicBezTo>
                  <a:pt x="5110201" y="0"/>
                  <a:pt x="5141843" y="31645"/>
                  <a:pt x="5141843" y="70678"/>
                </a:cubicBezTo>
                <a:lnTo>
                  <a:pt x="5141843" y="812800"/>
                </a:lnTo>
                <a:cubicBezTo>
                  <a:pt x="5141843" y="851835"/>
                  <a:pt x="5110201" y="883478"/>
                  <a:pt x="5071165" y="883478"/>
                </a:cubicBezTo>
                <a:lnTo>
                  <a:pt x="70678" y="883478"/>
                </a:lnTo>
                <a:cubicBezTo>
                  <a:pt x="31645" y="883478"/>
                  <a:pt x="0" y="851835"/>
                  <a:pt x="0" y="812800"/>
                </a:cubicBezTo>
                <a:lnTo>
                  <a:pt x="0" y="70678"/>
                </a:lnTo>
                <a:cubicBezTo>
                  <a:pt x="0" y="31645"/>
                  <a:pt x="31645" y="0"/>
                  <a:pt x="70678"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7" name="AutoShape 27"/>
          <p:cNvSpPr/>
          <p:nvPr/>
        </p:nvSpPr>
        <p:spPr>
          <a:xfrm>
            <a:off x="6641608" y="3874009"/>
            <a:ext cx="2144838" cy="20658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Optimization Approach:</a:t>
            </a:r>
            <a:endParaRPr lang="en-US" sz="1100"/>
          </a:p>
        </p:txBody>
      </p:sp>
      <p:sp>
        <p:nvSpPr>
          <p:cNvPr id="28" name="AutoShape 28"/>
          <p:cNvSpPr/>
          <p:nvPr/>
        </p:nvSpPr>
        <p:spPr>
          <a:xfrm>
            <a:off x="6641608" y="4174478"/>
            <a:ext cx="4859130" cy="21203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Data layout optimization, cache optimization, blocking</a:t>
            </a:r>
            <a:endParaRPr lang="en-US" sz="1100"/>
          </a:p>
        </p:txBody>
      </p:sp>
      <p:sp>
        <p:nvSpPr>
          <p:cNvPr id="29" name="Freeform 29"/>
          <p:cNvSpPr/>
          <p:nvPr/>
        </p:nvSpPr>
        <p:spPr>
          <a:xfrm>
            <a:off x="6482549" y="4704470"/>
            <a:ext cx="5124086" cy="494748"/>
          </a:xfrm>
          <a:custGeom>
            <a:avLst/>
            <a:gdLst/>
            <a:ahLst/>
            <a:cxnLst/>
            <a:rect l="l" t="t" r="r" b="b"/>
            <a:pathLst>
              <a:path w="5124086" h="494748">
                <a:moveTo>
                  <a:pt x="35162" y="0"/>
                </a:moveTo>
                <a:lnTo>
                  <a:pt x="5053406" y="0"/>
                </a:lnTo>
                <a:cubicBezTo>
                  <a:pt x="5092442" y="0"/>
                  <a:pt x="5124086" y="31645"/>
                  <a:pt x="5124086" y="70681"/>
                </a:cubicBezTo>
                <a:lnTo>
                  <a:pt x="5124086" y="424068"/>
                </a:lnTo>
                <a:cubicBezTo>
                  <a:pt x="5124086" y="463078"/>
                  <a:pt x="5092416" y="494748"/>
                  <a:pt x="5053406" y="494748"/>
                </a:cubicBezTo>
                <a:lnTo>
                  <a:pt x="35162" y="494748"/>
                </a:lnTo>
                <a:cubicBezTo>
                  <a:pt x="15756" y="494748"/>
                  <a:pt x="0" y="478992"/>
                  <a:pt x="0" y="459585"/>
                </a:cubicBezTo>
                <a:lnTo>
                  <a:pt x="0" y="35162"/>
                </a:lnTo>
                <a:cubicBezTo>
                  <a:pt x="0" y="15756"/>
                  <a:pt x="15756" y="0"/>
                  <a:pt x="35162"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6482549" y="4704470"/>
            <a:ext cx="35162" cy="494748"/>
          </a:xfrm>
          <a:custGeom>
            <a:avLst/>
            <a:gdLst/>
            <a:ahLst/>
            <a:cxnLst/>
            <a:rect l="l" t="t" r="r" b="b"/>
            <a:pathLst>
              <a:path w="35162" h="494748">
                <a:moveTo>
                  <a:pt x="35162" y="0"/>
                </a:moveTo>
                <a:lnTo>
                  <a:pt x="35162" y="0"/>
                </a:lnTo>
                <a:lnTo>
                  <a:pt x="35162" y="494748"/>
                </a:lnTo>
                <a:lnTo>
                  <a:pt x="35162" y="494748"/>
                </a:lnTo>
                <a:cubicBezTo>
                  <a:pt x="15756" y="494748"/>
                  <a:pt x="0" y="478992"/>
                  <a:pt x="0" y="459585"/>
                </a:cubicBezTo>
                <a:lnTo>
                  <a:pt x="0" y="35162"/>
                </a:lnTo>
                <a:cubicBezTo>
                  <a:pt x="0" y="15756"/>
                  <a:pt x="15756" y="0"/>
                  <a:pt x="35162"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6676810" y="4876576"/>
            <a:ext cx="106017" cy="145774"/>
          </a:xfrm>
          <a:custGeom>
            <a:avLst/>
            <a:gdLst/>
            <a:ahLst/>
            <a:cxnLst/>
            <a:rect l="l" t="t" r="r" b="b"/>
            <a:pathLst>
              <a:path w="106017" h="145774">
                <a:moveTo>
                  <a:pt x="80866" y="106017"/>
                </a:moveTo>
                <a:cubicBezTo>
                  <a:pt x="82881" y="99861"/>
                  <a:pt x="86912" y="94284"/>
                  <a:pt x="91468" y="89480"/>
                </a:cubicBezTo>
                <a:cubicBezTo>
                  <a:pt x="100496" y="79982"/>
                  <a:pt x="106017" y="67144"/>
                  <a:pt x="106017" y="53009"/>
                </a:cubicBezTo>
                <a:cubicBezTo>
                  <a:pt x="106017" y="23743"/>
                  <a:pt x="82274" y="0"/>
                  <a:pt x="53009" y="0"/>
                </a:cubicBezTo>
                <a:cubicBezTo>
                  <a:pt x="23743" y="0"/>
                  <a:pt x="0" y="23743"/>
                  <a:pt x="0" y="53009"/>
                </a:cubicBezTo>
                <a:cubicBezTo>
                  <a:pt x="0" y="67144"/>
                  <a:pt x="5522" y="79982"/>
                  <a:pt x="14550" y="89480"/>
                </a:cubicBezTo>
                <a:cubicBezTo>
                  <a:pt x="19105" y="94284"/>
                  <a:pt x="23164" y="99861"/>
                  <a:pt x="25152" y="106017"/>
                </a:cubicBezTo>
                <a:lnTo>
                  <a:pt x="80838" y="106017"/>
                </a:lnTo>
                <a:close/>
                <a:moveTo>
                  <a:pt x="79513" y="119270"/>
                </a:moveTo>
                <a:lnTo>
                  <a:pt x="26504" y="119270"/>
                </a:lnTo>
                <a:lnTo>
                  <a:pt x="26504" y="123687"/>
                </a:lnTo>
                <a:cubicBezTo>
                  <a:pt x="26504" y="135890"/>
                  <a:pt x="36388" y="145774"/>
                  <a:pt x="48591" y="145774"/>
                </a:cubicBezTo>
                <a:lnTo>
                  <a:pt x="57426" y="145774"/>
                </a:lnTo>
                <a:cubicBezTo>
                  <a:pt x="69629" y="145774"/>
                  <a:pt x="79513" y="135890"/>
                  <a:pt x="79513" y="123687"/>
                </a:cubicBezTo>
                <a:lnTo>
                  <a:pt x="79513" y="119270"/>
                </a:lnTo>
                <a:close/>
                <a:moveTo>
                  <a:pt x="50800" y="30922"/>
                </a:moveTo>
                <a:cubicBezTo>
                  <a:pt x="39812" y="30922"/>
                  <a:pt x="30922" y="39812"/>
                  <a:pt x="30922" y="50800"/>
                </a:cubicBezTo>
                <a:cubicBezTo>
                  <a:pt x="30922" y="54472"/>
                  <a:pt x="27968" y="57426"/>
                  <a:pt x="24296" y="57426"/>
                </a:cubicBezTo>
                <a:cubicBezTo>
                  <a:pt x="20624" y="57426"/>
                  <a:pt x="17670" y="54472"/>
                  <a:pt x="17670" y="50800"/>
                </a:cubicBezTo>
                <a:cubicBezTo>
                  <a:pt x="17670" y="32495"/>
                  <a:pt x="32495" y="17670"/>
                  <a:pt x="50800" y="17670"/>
                </a:cubicBezTo>
                <a:cubicBezTo>
                  <a:pt x="54472" y="17670"/>
                  <a:pt x="57426" y="20624"/>
                  <a:pt x="57426" y="24296"/>
                </a:cubicBezTo>
                <a:cubicBezTo>
                  <a:pt x="57426" y="27968"/>
                  <a:pt x="54472" y="30922"/>
                  <a:pt x="50800" y="3092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6867334" y="4845809"/>
            <a:ext cx="4668606" cy="21203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Need to improve data access efficiency</a:t>
            </a:r>
            <a:endParaRPr lang="en-US" sz="1100"/>
          </a:p>
        </p:txBody>
      </p:sp>
      <p:sp>
        <p:nvSpPr>
          <p:cNvPr id="33" name="Freeform 33"/>
          <p:cNvSpPr/>
          <p:nvPr/>
        </p:nvSpPr>
        <p:spPr>
          <a:xfrm>
            <a:off x="370932" y="5901462"/>
            <a:ext cx="11467460" cy="600765"/>
          </a:xfrm>
          <a:custGeom>
            <a:avLst/>
            <a:gdLst/>
            <a:ahLst/>
            <a:cxnLst/>
            <a:rect l="l" t="t" r="r" b="b"/>
            <a:pathLst>
              <a:path w="11467460" h="600765">
                <a:moveTo>
                  <a:pt x="35162" y="0"/>
                </a:moveTo>
                <a:lnTo>
                  <a:pt x="11361443" y="0"/>
                </a:lnTo>
                <a:cubicBezTo>
                  <a:pt x="11419994" y="0"/>
                  <a:pt x="11467460" y="47465"/>
                  <a:pt x="11467460" y="106017"/>
                </a:cubicBezTo>
                <a:lnTo>
                  <a:pt x="11467460" y="494748"/>
                </a:lnTo>
                <a:cubicBezTo>
                  <a:pt x="11467460" y="553300"/>
                  <a:pt x="11419994" y="600765"/>
                  <a:pt x="11361443" y="600765"/>
                </a:cubicBezTo>
                <a:lnTo>
                  <a:pt x="35162" y="600765"/>
                </a:lnTo>
                <a:cubicBezTo>
                  <a:pt x="15743" y="600765"/>
                  <a:pt x="0" y="585022"/>
                  <a:pt x="0" y="565602"/>
                </a:cubicBezTo>
                <a:lnTo>
                  <a:pt x="0" y="35162"/>
                </a:lnTo>
                <a:cubicBezTo>
                  <a:pt x="0" y="15756"/>
                  <a:pt x="15756" y="0"/>
                  <a:pt x="35162"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34" name="Freeform 34"/>
          <p:cNvSpPr/>
          <p:nvPr/>
        </p:nvSpPr>
        <p:spPr>
          <a:xfrm>
            <a:off x="370932" y="5901462"/>
            <a:ext cx="35162" cy="600765"/>
          </a:xfrm>
          <a:custGeom>
            <a:avLst/>
            <a:gdLst/>
            <a:ahLst/>
            <a:cxnLst/>
            <a:rect l="l" t="t" r="r" b="b"/>
            <a:pathLst>
              <a:path w="35162" h="600765">
                <a:moveTo>
                  <a:pt x="35162" y="0"/>
                </a:moveTo>
                <a:lnTo>
                  <a:pt x="35162" y="0"/>
                </a:lnTo>
                <a:lnTo>
                  <a:pt x="35162" y="600765"/>
                </a:lnTo>
                <a:lnTo>
                  <a:pt x="35162" y="600765"/>
                </a:lnTo>
                <a:cubicBezTo>
                  <a:pt x="15756" y="600765"/>
                  <a:pt x="0" y="585009"/>
                  <a:pt x="0" y="565602"/>
                </a:cubicBezTo>
                <a:lnTo>
                  <a:pt x="0" y="35162"/>
                </a:lnTo>
                <a:cubicBezTo>
                  <a:pt x="0" y="15756"/>
                  <a:pt x="15756" y="0"/>
                  <a:pt x="35162"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565154" y="6078106"/>
            <a:ext cx="11184835" cy="24737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Key Insight:</a:t>
            </a:r>
            <a:r>
              <a:rPr 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Different bottlenecks require different optimization strategies — identifying the bottleneck type is the first step</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47608" y="647541"/>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Introducing the Roofline Model</a:t>
            </a:r>
            <a:endParaRPr lang="en-US" sz="1100"/>
          </a:p>
        </p:txBody>
      </p:sp>
      <p:sp>
        <p:nvSpPr>
          <p:cNvPr id="3" name="Freeform 3"/>
          <p:cNvSpPr/>
          <p:nvPr/>
        </p:nvSpPr>
        <p:spPr>
          <a:xfrm>
            <a:off x="399911" y="1195650"/>
            <a:ext cx="5543455" cy="1104900"/>
          </a:xfrm>
          <a:custGeom>
            <a:avLst/>
            <a:gdLst/>
            <a:ahLst/>
            <a:cxnLst/>
            <a:rect l="l" t="t" r="r" b="b"/>
            <a:pathLst>
              <a:path w="5543455" h="1104900">
                <a:moveTo>
                  <a:pt x="37909" y="0"/>
                </a:moveTo>
                <a:lnTo>
                  <a:pt x="5429153" y="0"/>
                </a:lnTo>
                <a:cubicBezTo>
                  <a:pt x="5492281" y="0"/>
                  <a:pt x="5543455" y="51175"/>
                  <a:pt x="5543455" y="114303"/>
                </a:cubicBezTo>
                <a:lnTo>
                  <a:pt x="5543455" y="990597"/>
                </a:lnTo>
                <a:cubicBezTo>
                  <a:pt x="5543455" y="1053725"/>
                  <a:pt x="5492281" y="1104900"/>
                  <a:pt x="5429153" y="1104900"/>
                </a:cubicBezTo>
                <a:lnTo>
                  <a:pt x="37909" y="1104900"/>
                </a:lnTo>
                <a:cubicBezTo>
                  <a:pt x="16974" y="1104900"/>
                  <a:pt x="0" y="1087926"/>
                  <a:pt x="0" y="1066990"/>
                </a:cubicBezTo>
                <a:lnTo>
                  <a:pt x="0" y="37910"/>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99911" y="1195650"/>
            <a:ext cx="37909" cy="1104900"/>
          </a:xfrm>
          <a:custGeom>
            <a:avLst/>
            <a:gdLst/>
            <a:ahLst/>
            <a:cxnLst/>
            <a:rect l="l" t="t" r="r" b="b"/>
            <a:pathLst>
              <a:path w="37909" h="1104900">
                <a:moveTo>
                  <a:pt x="37909" y="0"/>
                </a:moveTo>
                <a:lnTo>
                  <a:pt x="37909" y="0"/>
                </a:lnTo>
                <a:lnTo>
                  <a:pt x="37909" y="1104900"/>
                </a:lnTo>
                <a:lnTo>
                  <a:pt x="37909" y="1104900"/>
                </a:lnTo>
                <a:cubicBezTo>
                  <a:pt x="16974" y="1104900"/>
                  <a:pt x="0" y="1087926"/>
                  <a:pt x="0" y="10669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47439" y="1424222"/>
            <a:ext cx="51816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Roofline Model</a:t>
            </a:r>
            <a:endParaRPr lang="en-US" sz="1100"/>
          </a:p>
        </p:txBody>
      </p:sp>
      <p:sp>
        <p:nvSpPr>
          <p:cNvPr id="6" name="AutoShape 6"/>
          <p:cNvSpPr/>
          <p:nvPr/>
        </p:nvSpPr>
        <p:spPr>
          <a:xfrm>
            <a:off x="647439" y="1805102"/>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0" i="0" u="none" strike="noStrike">
                <a:solidFill>
                  <a:srgbClr val="364153"/>
                </a:solidFill>
                <a:latin typeface="Noto Sans SC" panose="020B0200000000000000" charset="-122"/>
                <a:ea typeface="Noto Sans SC" panose="020B0200000000000000" charset="-122"/>
                <a:cs typeface="Noto Sans SC" panose="020B0200000000000000" charset="-122"/>
                <a:sym typeface="Noto Sans SC" panose="020B0200000000000000" charset="-122"/>
              </a:rPr>
              <a:t>A visual performance analysis model</a:t>
            </a:r>
            <a:endParaRPr lang="en-US" sz="1100"/>
          </a:p>
        </p:txBody>
      </p:sp>
      <p:sp>
        <p:nvSpPr>
          <p:cNvPr id="7" name="Freeform 7"/>
          <p:cNvSpPr/>
          <p:nvPr/>
        </p:nvSpPr>
        <p:spPr>
          <a:xfrm>
            <a:off x="380956" y="2323793"/>
            <a:ext cx="5562600" cy="990600"/>
          </a:xfrm>
          <a:custGeom>
            <a:avLst/>
            <a:gdLst/>
            <a:ahLst/>
            <a:cxnLst/>
            <a:rect l="l" t="t" r="r" b="b"/>
            <a:pathLst>
              <a:path w="5562600" h="990600">
                <a:moveTo>
                  <a:pt x="114295" y="0"/>
                </a:moveTo>
                <a:lnTo>
                  <a:pt x="5448305" y="0"/>
                </a:lnTo>
                <a:cubicBezTo>
                  <a:pt x="5511386" y="0"/>
                  <a:pt x="5562600" y="51214"/>
                  <a:pt x="5562600" y="114295"/>
                </a:cubicBezTo>
                <a:lnTo>
                  <a:pt x="5562600" y="876305"/>
                </a:lnTo>
                <a:cubicBezTo>
                  <a:pt x="5562600" y="939386"/>
                  <a:pt x="5511386" y="990600"/>
                  <a:pt x="5448305" y="990600"/>
                </a:cubicBezTo>
                <a:lnTo>
                  <a:pt x="114295" y="990600"/>
                </a:lnTo>
                <a:cubicBezTo>
                  <a:pt x="51214" y="990600"/>
                  <a:pt x="0" y="939386"/>
                  <a:pt x="0" y="876305"/>
                </a:cubicBezTo>
                <a:lnTo>
                  <a:pt x="0" y="114295"/>
                </a:lnTo>
                <a:cubicBezTo>
                  <a:pt x="0" y="51214"/>
                  <a:pt x="51214" y="0"/>
                  <a:pt x="1142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571396" y="2537617"/>
            <a:ext cx="3631327"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Proposed by:</a:t>
            </a: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Berkeley Lab</a:t>
            </a:r>
            <a:endParaRPr lang="en-US" sz="1100"/>
          </a:p>
        </p:txBody>
      </p:sp>
      <p:sp>
        <p:nvSpPr>
          <p:cNvPr id="9" name="AutoShape 9"/>
          <p:cNvSpPr/>
          <p:nvPr/>
        </p:nvSpPr>
        <p:spPr>
          <a:xfrm>
            <a:off x="571396" y="2895191"/>
            <a:ext cx="5257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Lawrence Berkeley National Laboratory</a:t>
            </a:r>
            <a:endParaRPr lang="en-US" sz="1100"/>
          </a:p>
        </p:txBody>
      </p:sp>
      <p:sp>
        <p:nvSpPr>
          <p:cNvPr id="10" name="AutoShape 10"/>
          <p:cNvSpPr/>
          <p:nvPr/>
        </p:nvSpPr>
        <p:spPr>
          <a:xfrm>
            <a:off x="380956" y="3962530"/>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Purpose</a:t>
            </a:r>
            <a:endParaRPr lang="en-US" sz="1100"/>
          </a:p>
        </p:txBody>
      </p:sp>
      <p:sp>
        <p:nvSpPr>
          <p:cNvPr id="11" name="Freeform 11"/>
          <p:cNvSpPr/>
          <p:nvPr/>
        </p:nvSpPr>
        <p:spPr>
          <a:xfrm>
            <a:off x="380956" y="4419609"/>
            <a:ext cx="5562600" cy="800100"/>
          </a:xfrm>
          <a:custGeom>
            <a:avLst/>
            <a:gdLst/>
            <a:ahLst/>
            <a:cxnLst/>
            <a:rect l="l" t="t" r="r" b="b"/>
            <a:pathLst>
              <a:path w="5562600" h="800100">
                <a:moveTo>
                  <a:pt x="76203" y="0"/>
                </a:moveTo>
                <a:lnTo>
                  <a:pt x="5486397" y="0"/>
                </a:lnTo>
                <a:cubicBezTo>
                  <a:pt x="5528483" y="0"/>
                  <a:pt x="5562600" y="34117"/>
                  <a:pt x="5562600" y="76203"/>
                </a:cubicBezTo>
                <a:lnTo>
                  <a:pt x="5562600" y="723897"/>
                </a:lnTo>
                <a:cubicBezTo>
                  <a:pt x="5562600" y="765983"/>
                  <a:pt x="5528483" y="800100"/>
                  <a:pt x="5486397" y="800100"/>
                </a:cubicBezTo>
                <a:lnTo>
                  <a:pt x="76203" y="800100"/>
                </a:lnTo>
                <a:cubicBezTo>
                  <a:pt x="34117" y="800100"/>
                  <a:pt x="0" y="765983"/>
                  <a:pt x="0" y="7238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533338" y="4571991"/>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647608" y="4686235"/>
            <a:ext cx="153323" cy="153352"/>
          </a:xfrm>
          <a:custGeom>
            <a:avLst/>
            <a:gdLst/>
            <a:ahLst/>
            <a:cxnLst/>
            <a:rect l="l" t="t" r="r" b="b"/>
            <a:pathLst>
              <a:path w="153323" h="153352">
                <a:moveTo>
                  <a:pt x="123825" y="61913"/>
                </a:moveTo>
                <a:cubicBezTo>
                  <a:pt x="123825" y="75575"/>
                  <a:pt x="119390" y="88196"/>
                  <a:pt x="111919" y="98435"/>
                </a:cubicBezTo>
                <a:lnTo>
                  <a:pt x="149602" y="136148"/>
                </a:lnTo>
                <a:cubicBezTo>
                  <a:pt x="153323" y="139869"/>
                  <a:pt x="153323" y="145912"/>
                  <a:pt x="149602" y="149631"/>
                </a:cubicBezTo>
                <a:cubicBezTo>
                  <a:pt x="145881" y="153353"/>
                  <a:pt x="139838" y="153353"/>
                  <a:pt x="136119" y="149631"/>
                </a:cubicBezTo>
                <a:lnTo>
                  <a:pt x="98435" y="111919"/>
                </a:lnTo>
                <a:cubicBezTo>
                  <a:pt x="88196" y="119390"/>
                  <a:pt x="75575" y="123825"/>
                  <a:pt x="61912" y="123825"/>
                </a:cubicBezTo>
                <a:cubicBezTo>
                  <a:pt x="27711" y="123825"/>
                  <a:pt x="0" y="96114"/>
                  <a:pt x="0" y="61913"/>
                </a:cubicBezTo>
                <a:cubicBezTo>
                  <a:pt x="0" y="27711"/>
                  <a:pt x="27711" y="0"/>
                  <a:pt x="61912" y="0"/>
                </a:cubicBezTo>
                <a:cubicBezTo>
                  <a:pt x="96114" y="0"/>
                  <a:pt x="123825" y="27711"/>
                  <a:pt x="123825" y="61913"/>
                </a:cubicBezTo>
                <a:close/>
                <a:moveTo>
                  <a:pt x="61912" y="104775"/>
                </a:moveTo>
                <a:cubicBezTo>
                  <a:pt x="85569" y="104775"/>
                  <a:pt x="104775" y="85569"/>
                  <a:pt x="104775" y="61913"/>
                </a:cubicBezTo>
                <a:cubicBezTo>
                  <a:pt x="104775" y="38256"/>
                  <a:pt x="85569" y="19050"/>
                  <a:pt x="61912" y="19050"/>
                </a:cubicBezTo>
                <a:cubicBezTo>
                  <a:pt x="38256" y="19050"/>
                  <a:pt x="19050" y="38256"/>
                  <a:pt x="19050" y="61913"/>
                </a:cubicBezTo>
                <a:cubicBezTo>
                  <a:pt x="19050" y="85569"/>
                  <a:pt x="38256" y="104775"/>
                  <a:pt x="61912" y="10477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1066676" y="4571991"/>
            <a:ext cx="31813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Identify program bottleneck</a:t>
            </a:r>
            <a:endParaRPr lang="en-US" sz="1100"/>
          </a:p>
        </p:txBody>
      </p:sp>
      <p:sp>
        <p:nvSpPr>
          <p:cNvPr id="15" name="AutoShape 15"/>
          <p:cNvSpPr/>
          <p:nvPr/>
        </p:nvSpPr>
        <p:spPr>
          <a:xfrm>
            <a:off x="1066676" y="4838691"/>
            <a:ext cx="3991832"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Determine if it's Compute Bound or Memory Bound</a:t>
            </a:r>
            <a:endParaRPr lang="en-US" sz="1100"/>
          </a:p>
        </p:txBody>
      </p:sp>
      <p:sp>
        <p:nvSpPr>
          <p:cNvPr id="16" name="Freeform 16"/>
          <p:cNvSpPr/>
          <p:nvPr/>
        </p:nvSpPr>
        <p:spPr>
          <a:xfrm>
            <a:off x="380956" y="5333898"/>
            <a:ext cx="5562600" cy="800100"/>
          </a:xfrm>
          <a:custGeom>
            <a:avLst/>
            <a:gdLst/>
            <a:ahLst/>
            <a:cxnLst/>
            <a:rect l="l" t="t" r="r" b="b"/>
            <a:pathLst>
              <a:path w="5562600" h="800100">
                <a:moveTo>
                  <a:pt x="76203" y="0"/>
                </a:moveTo>
                <a:lnTo>
                  <a:pt x="5486397" y="0"/>
                </a:lnTo>
                <a:cubicBezTo>
                  <a:pt x="5528483" y="0"/>
                  <a:pt x="5562600" y="34117"/>
                  <a:pt x="5562600" y="76203"/>
                </a:cubicBezTo>
                <a:lnTo>
                  <a:pt x="5562600" y="723897"/>
                </a:lnTo>
                <a:cubicBezTo>
                  <a:pt x="5562600" y="765983"/>
                  <a:pt x="5528483" y="800100"/>
                  <a:pt x="5486397" y="800100"/>
                </a:cubicBezTo>
                <a:lnTo>
                  <a:pt x="76203" y="800100"/>
                </a:lnTo>
                <a:cubicBezTo>
                  <a:pt x="34117" y="800100"/>
                  <a:pt x="0" y="765983"/>
                  <a:pt x="0" y="7238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533338" y="5486279"/>
            <a:ext cx="381000" cy="381000"/>
          </a:xfrm>
          <a:custGeom>
            <a:avLst/>
            <a:gdLst/>
            <a:ahLst/>
            <a:cxnLst/>
            <a:rect l="l" t="t" r="r" b="b"/>
            <a:pathLst>
              <a:path w="381000" h="381000">
                <a:moveTo>
                  <a:pt x="76200" y="0"/>
                </a:moveTo>
                <a:lnTo>
                  <a:pt x="304800" y="0"/>
                </a:lnTo>
                <a:cubicBezTo>
                  <a:pt x="346856" y="0"/>
                  <a:pt x="381000" y="34144"/>
                  <a:pt x="381000" y="76200"/>
                </a:cubicBezTo>
                <a:lnTo>
                  <a:pt x="381000" y="304800"/>
                </a:lnTo>
                <a:cubicBezTo>
                  <a:pt x="381000" y="346856"/>
                  <a:pt x="346856" y="381000"/>
                  <a:pt x="304800" y="381000"/>
                </a:cubicBezTo>
                <a:lnTo>
                  <a:pt x="76200" y="381000"/>
                </a:lnTo>
                <a:cubicBezTo>
                  <a:pt x="34144" y="381000"/>
                  <a:pt x="0" y="346856"/>
                  <a:pt x="0" y="3048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647608" y="5600533"/>
            <a:ext cx="152400" cy="152400"/>
          </a:xfrm>
          <a:custGeom>
            <a:avLst/>
            <a:gdLst/>
            <a:ahLst/>
            <a:cxnLst/>
            <a:rect l="l" t="t" r="r" b="b"/>
            <a:pathLst>
              <a:path w="152400" h="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91291" y="96768"/>
                </a:moveTo>
                <a:lnTo>
                  <a:pt x="48339" y="113288"/>
                </a:lnTo>
                <a:cubicBezTo>
                  <a:pt x="42565" y="115520"/>
                  <a:pt x="36880" y="109835"/>
                  <a:pt x="39112" y="104061"/>
                </a:cubicBezTo>
                <a:lnTo>
                  <a:pt x="55632" y="61109"/>
                </a:lnTo>
                <a:cubicBezTo>
                  <a:pt x="56614" y="58579"/>
                  <a:pt x="58579" y="56614"/>
                  <a:pt x="61109" y="55632"/>
                </a:cubicBezTo>
                <a:lnTo>
                  <a:pt x="104061" y="39112"/>
                </a:lnTo>
                <a:cubicBezTo>
                  <a:pt x="109835" y="36880"/>
                  <a:pt x="115520" y="42565"/>
                  <a:pt x="113288" y="48339"/>
                </a:cubicBezTo>
                <a:lnTo>
                  <a:pt x="96768" y="91291"/>
                </a:lnTo>
                <a:cubicBezTo>
                  <a:pt x="95816" y="93821"/>
                  <a:pt x="93821" y="95786"/>
                  <a:pt x="91291" y="96768"/>
                </a:cubicBezTo>
                <a:close/>
                <a:moveTo>
                  <a:pt x="85725" y="76200"/>
                </a:moveTo>
                <a:cubicBezTo>
                  <a:pt x="85725" y="70943"/>
                  <a:pt x="81457" y="66675"/>
                  <a:pt x="76200" y="66675"/>
                </a:cubicBezTo>
                <a:cubicBezTo>
                  <a:pt x="70943" y="66675"/>
                  <a:pt x="66675" y="70943"/>
                  <a:pt x="66675" y="76200"/>
                </a:cubicBezTo>
                <a:cubicBezTo>
                  <a:pt x="66675" y="81457"/>
                  <a:pt x="70943" y="85725"/>
                  <a:pt x="76200" y="85725"/>
                </a:cubicBezTo>
                <a:cubicBezTo>
                  <a:pt x="81457" y="85725"/>
                  <a:pt x="85725" y="81457"/>
                  <a:pt x="85725" y="7620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1066676" y="5486279"/>
            <a:ext cx="2813662"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Guide optimization direction</a:t>
            </a:r>
            <a:endParaRPr lang="en-US" sz="1100"/>
          </a:p>
        </p:txBody>
      </p:sp>
      <p:sp>
        <p:nvSpPr>
          <p:cNvPr id="20" name="AutoShape 20"/>
          <p:cNvSpPr/>
          <p:nvPr/>
        </p:nvSpPr>
        <p:spPr>
          <a:xfrm>
            <a:off x="1066676" y="5752988"/>
            <a:ext cx="4109062"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Choose optimization strategy based on bottleneck type</a:t>
            </a:r>
            <a:endParaRPr lang="en-US" sz="1100"/>
          </a:p>
        </p:txBody>
      </p:sp>
      <p:sp>
        <p:nvSpPr>
          <p:cNvPr id="21" name="Freeform 21"/>
          <p:cNvSpPr/>
          <p:nvPr/>
        </p:nvSpPr>
        <p:spPr>
          <a:xfrm>
            <a:off x="6248338" y="990488"/>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2" name="Picture 22"/>
          <p:cNvPicPr>
            <a:picLocks noChangeAspect="1"/>
          </p:cNvPicPr>
          <p:nvPr/>
        </p:nvPicPr>
        <p:blipFill>
          <a:blip r:embed="rId1"/>
          <a:srcRect t="19" b="19"/>
          <a:stretch>
            <a:fillRect/>
          </a:stretch>
        </p:blipFill>
        <p:spPr>
          <a:xfrm>
            <a:off x="6400720" y="1399208"/>
            <a:ext cx="5257800" cy="4019550"/>
          </a:xfrm>
          <a:prstGeom prst="roundRect">
            <a:avLst>
              <a:gd name="adj" fmla="val 0"/>
            </a:avLst>
          </a:prstGeom>
          <a:ln w="12700">
            <a:noFill/>
            <a:prstDash val="solid"/>
          </a:ln>
        </p:spPr>
      </p:pic>
      <p:sp>
        <p:nvSpPr>
          <p:cNvPr id="23" name="AutoShape 23"/>
          <p:cNvSpPr/>
          <p:nvPr/>
        </p:nvSpPr>
        <p:spPr>
          <a:xfrm>
            <a:off x="6210238" y="5905370"/>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Image source: NERSC - Roofline Performance Model</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7479" y="627026"/>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Roofline Model Axes</a:t>
            </a:r>
            <a:endParaRPr lang="en-US" sz="1100"/>
          </a:p>
        </p:txBody>
      </p:sp>
      <p:sp>
        <p:nvSpPr>
          <p:cNvPr id="3" name="Freeform 3"/>
          <p:cNvSpPr/>
          <p:nvPr/>
        </p:nvSpPr>
        <p:spPr>
          <a:xfrm>
            <a:off x="390433" y="1281318"/>
            <a:ext cx="5543455" cy="2495455"/>
          </a:xfrm>
          <a:custGeom>
            <a:avLst/>
            <a:gdLst/>
            <a:ahLst/>
            <a:cxnLst/>
            <a:rect l="l" t="t" r="r" b="b"/>
            <a:pathLst>
              <a:path w="5543455" h="2495455">
                <a:moveTo>
                  <a:pt x="114292" y="0"/>
                </a:moveTo>
                <a:lnTo>
                  <a:pt x="5429162" y="0"/>
                </a:lnTo>
                <a:cubicBezTo>
                  <a:pt x="5492285" y="0"/>
                  <a:pt x="5543455" y="51170"/>
                  <a:pt x="5543455" y="114292"/>
                </a:cubicBezTo>
                <a:lnTo>
                  <a:pt x="5543455" y="2381162"/>
                </a:lnTo>
                <a:cubicBezTo>
                  <a:pt x="5543455" y="2444285"/>
                  <a:pt x="5492285" y="2495455"/>
                  <a:pt x="5429162" y="2495455"/>
                </a:cubicBezTo>
                <a:lnTo>
                  <a:pt x="114292" y="2495455"/>
                </a:lnTo>
                <a:cubicBezTo>
                  <a:pt x="51170" y="2495455"/>
                  <a:pt x="0" y="2444285"/>
                  <a:pt x="0" y="2381162"/>
                </a:cubicBezTo>
                <a:lnTo>
                  <a:pt x="0" y="114292"/>
                </a:lnTo>
                <a:cubicBezTo>
                  <a:pt x="0" y="51211"/>
                  <a:pt x="51211" y="0"/>
                  <a:pt x="114292" y="0"/>
                </a:cubicBezTo>
                <a:close/>
              </a:path>
            </a:pathLst>
          </a:custGeom>
          <a:gradFill rotWithShape="1">
            <a:gsLst>
              <a:gs pos="0">
                <a:srgbClr val="F9FAFB">
                  <a:alpha val="100000"/>
                </a:srgbClr>
              </a:gs>
              <a:gs pos="100000">
                <a:srgbClr val="FFFFFF">
                  <a:alpha val="100000"/>
                </a:srgbClr>
              </a:gs>
            </a:gsLst>
            <a:lin ang="2700000"/>
          </a:gradFill>
          <a:ln w="12700">
            <a:solidFill>
              <a:srgbClr val="E5E7EB">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628484" y="1519369"/>
            <a:ext cx="533400" cy="533400"/>
          </a:xfrm>
          <a:custGeom>
            <a:avLst/>
            <a:gdLst/>
            <a:ahLst/>
            <a:cxnLst/>
            <a:rect l="l" t="t" r="r" b="b"/>
            <a:pathLst>
              <a:path w="533400" h="533400">
                <a:moveTo>
                  <a:pt x="114303" y="0"/>
                </a:moveTo>
                <a:lnTo>
                  <a:pt x="419097" y="0"/>
                </a:lnTo>
                <a:cubicBezTo>
                  <a:pt x="482183" y="0"/>
                  <a:pt x="533400" y="51217"/>
                  <a:pt x="533400" y="114303"/>
                </a:cubicBezTo>
                <a:lnTo>
                  <a:pt x="533400" y="419097"/>
                </a:lnTo>
                <a:cubicBezTo>
                  <a:pt x="533400" y="482183"/>
                  <a:pt x="482183" y="533400"/>
                  <a:pt x="419097" y="533400"/>
                </a:cubicBezTo>
                <a:lnTo>
                  <a:pt x="114303" y="533400"/>
                </a:lnTo>
                <a:cubicBezTo>
                  <a:pt x="51217" y="533400"/>
                  <a:pt x="0" y="482183"/>
                  <a:pt x="0" y="419097"/>
                </a:cubicBezTo>
                <a:lnTo>
                  <a:pt x="0" y="114303"/>
                </a:lnTo>
                <a:cubicBezTo>
                  <a:pt x="0" y="51217"/>
                  <a:pt x="51217" y="0"/>
                  <a:pt x="114303" y="0"/>
                </a:cubicBezTo>
                <a:close/>
              </a:path>
            </a:pathLst>
          </a:custGeom>
          <a:solidFill>
            <a:srgbClr val="8B0000">
              <a:alpha val="100000"/>
            </a:srgbClr>
          </a:solidFill>
          <a:ln w="12700">
            <a:noFill/>
            <a:prstDash val="solid"/>
          </a:ln>
          <a:effectLst>
            <a:outerShdw blurRad="50800" dist="381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779476" y="1670590"/>
            <a:ext cx="231413" cy="230877"/>
          </a:xfrm>
          <a:custGeom>
            <a:avLst/>
            <a:gdLst/>
            <a:ahLst/>
            <a:cxnLst/>
            <a:rect l="l" t="t" r="r" b="b"/>
            <a:pathLst>
              <a:path w="231413" h="230877">
                <a:moveTo>
                  <a:pt x="225787" y="182702"/>
                </a:moveTo>
                <a:lnTo>
                  <a:pt x="182925" y="225564"/>
                </a:lnTo>
                <a:cubicBezTo>
                  <a:pt x="178817" y="229672"/>
                  <a:pt x="172699" y="230877"/>
                  <a:pt x="167343" y="228645"/>
                </a:cubicBezTo>
                <a:cubicBezTo>
                  <a:pt x="161984" y="226412"/>
                  <a:pt x="158546" y="221233"/>
                  <a:pt x="158546" y="215474"/>
                </a:cubicBezTo>
                <a:lnTo>
                  <a:pt x="158546" y="186898"/>
                </a:lnTo>
                <a:lnTo>
                  <a:pt x="15672" y="186898"/>
                </a:lnTo>
                <a:cubicBezTo>
                  <a:pt x="7770" y="186898"/>
                  <a:pt x="1384" y="180514"/>
                  <a:pt x="1384" y="172611"/>
                </a:cubicBezTo>
                <a:cubicBezTo>
                  <a:pt x="1384" y="164708"/>
                  <a:pt x="7770" y="158324"/>
                  <a:pt x="15672" y="158324"/>
                </a:cubicBezTo>
                <a:lnTo>
                  <a:pt x="158546" y="158324"/>
                </a:lnTo>
                <a:lnTo>
                  <a:pt x="158546" y="129748"/>
                </a:lnTo>
                <a:cubicBezTo>
                  <a:pt x="158546" y="123989"/>
                  <a:pt x="162029" y="118766"/>
                  <a:pt x="167387" y="116533"/>
                </a:cubicBezTo>
                <a:cubicBezTo>
                  <a:pt x="172745" y="114300"/>
                  <a:pt x="178861" y="115550"/>
                  <a:pt x="182969" y="119613"/>
                </a:cubicBezTo>
                <a:lnTo>
                  <a:pt x="225832" y="162476"/>
                </a:lnTo>
                <a:cubicBezTo>
                  <a:pt x="231413" y="168057"/>
                  <a:pt x="231413" y="177119"/>
                  <a:pt x="225832" y="182702"/>
                </a:cubicBezTo>
                <a:close/>
                <a:moveTo>
                  <a:pt x="5581" y="68402"/>
                </a:moveTo>
                <a:cubicBezTo>
                  <a:pt x="0" y="62819"/>
                  <a:pt x="0" y="53757"/>
                  <a:pt x="5581" y="48176"/>
                </a:cubicBezTo>
                <a:lnTo>
                  <a:pt x="48443" y="5313"/>
                </a:lnTo>
                <a:cubicBezTo>
                  <a:pt x="52551" y="1205"/>
                  <a:pt x="58669" y="0"/>
                  <a:pt x="64025" y="2233"/>
                </a:cubicBezTo>
                <a:cubicBezTo>
                  <a:pt x="69384" y="4466"/>
                  <a:pt x="72822" y="9689"/>
                  <a:pt x="72822" y="15448"/>
                </a:cubicBezTo>
                <a:lnTo>
                  <a:pt x="72822" y="44024"/>
                </a:lnTo>
                <a:lnTo>
                  <a:pt x="215696" y="44024"/>
                </a:lnTo>
                <a:cubicBezTo>
                  <a:pt x="223598" y="44024"/>
                  <a:pt x="229984" y="50408"/>
                  <a:pt x="229984" y="58311"/>
                </a:cubicBezTo>
                <a:cubicBezTo>
                  <a:pt x="229984" y="66214"/>
                  <a:pt x="223598" y="72598"/>
                  <a:pt x="215696" y="72598"/>
                </a:cubicBezTo>
                <a:lnTo>
                  <a:pt x="72822" y="72598"/>
                </a:lnTo>
                <a:lnTo>
                  <a:pt x="72822" y="101174"/>
                </a:lnTo>
                <a:cubicBezTo>
                  <a:pt x="72822" y="106933"/>
                  <a:pt x="69339" y="112156"/>
                  <a:pt x="63981" y="114389"/>
                </a:cubicBezTo>
                <a:cubicBezTo>
                  <a:pt x="58623" y="116622"/>
                  <a:pt x="52507" y="115372"/>
                  <a:pt x="48399" y="111309"/>
                </a:cubicBezTo>
                <a:lnTo>
                  <a:pt x="5536" y="68446"/>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1314203" y="1633688"/>
            <a:ext cx="152114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X-Axis</a:t>
            </a:r>
            <a:endParaRPr lang="en-US" sz="1100"/>
          </a:p>
        </p:txBody>
      </p:sp>
      <p:sp>
        <p:nvSpPr>
          <p:cNvPr id="7" name="Freeform 7"/>
          <p:cNvSpPr/>
          <p:nvPr/>
        </p:nvSpPr>
        <p:spPr>
          <a:xfrm>
            <a:off x="628484" y="2205086"/>
            <a:ext cx="5067300" cy="1333500"/>
          </a:xfrm>
          <a:custGeom>
            <a:avLst/>
            <a:gdLst/>
            <a:ahLst/>
            <a:cxnLst/>
            <a:rect l="l" t="t" r="r" b="b"/>
            <a:pathLst>
              <a:path w="5067300" h="1333500">
                <a:moveTo>
                  <a:pt x="76196" y="0"/>
                </a:moveTo>
                <a:lnTo>
                  <a:pt x="4991104" y="0"/>
                </a:lnTo>
                <a:cubicBezTo>
                  <a:pt x="5033187" y="0"/>
                  <a:pt x="5067300" y="34113"/>
                  <a:pt x="5067300" y="76196"/>
                </a:cubicBezTo>
                <a:lnTo>
                  <a:pt x="5067300" y="1257304"/>
                </a:lnTo>
                <a:cubicBezTo>
                  <a:pt x="5067300" y="1299387"/>
                  <a:pt x="5033187" y="1333500"/>
                  <a:pt x="4991104" y="1333500"/>
                </a:cubicBezTo>
                <a:lnTo>
                  <a:pt x="76196" y="1333500"/>
                </a:lnTo>
                <a:cubicBezTo>
                  <a:pt x="34113" y="1333500"/>
                  <a:pt x="0" y="1299387"/>
                  <a:pt x="0" y="1257304"/>
                </a:cubicBezTo>
                <a:lnTo>
                  <a:pt x="0" y="76196"/>
                </a:lnTo>
                <a:cubicBezTo>
                  <a:pt x="0" y="34141"/>
                  <a:pt x="34141" y="0"/>
                  <a:pt x="76196"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8" name="AutoShape 8"/>
          <p:cNvSpPr/>
          <p:nvPr/>
        </p:nvSpPr>
        <p:spPr>
          <a:xfrm>
            <a:off x="818925" y="2395530"/>
            <a:ext cx="4781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Arithmetic Intensity</a:t>
            </a:r>
            <a:endParaRPr lang="en-US" sz="1100"/>
          </a:p>
        </p:txBody>
      </p:sp>
      <p:sp>
        <p:nvSpPr>
          <p:cNvPr id="9" name="AutoShape 9"/>
          <p:cNvSpPr/>
          <p:nvPr/>
        </p:nvSpPr>
        <p:spPr>
          <a:xfrm>
            <a:off x="818925" y="2738421"/>
            <a:ext cx="47720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FLOPs / Byte</a:t>
            </a:r>
            <a:endParaRPr lang="en-US" sz="1100"/>
          </a:p>
        </p:txBody>
      </p:sp>
      <p:sp>
        <p:nvSpPr>
          <p:cNvPr id="10" name="AutoShape 10"/>
          <p:cNvSpPr/>
          <p:nvPr/>
        </p:nvSpPr>
        <p:spPr>
          <a:xfrm>
            <a:off x="818925" y="3119383"/>
            <a:ext cx="47625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Arithmetic Intensity: floating-point operations per byte of data</a:t>
            </a:r>
            <a:endParaRPr lang="en-US" sz="1100"/>
          </a:p>
        </p:txBody>
      </p:sp>
      <p:sp>
        <p:nvSpPr>
          <p:cNvPr id="11" name="Freeform 11"/>
          <p:cNvSpPr/>
          <p:nvPr/>
        </p:nvSpPr>
        <p:spPr>
          <a:xfrm>
            <a:off x="390433" y="3910683"/>
            <a:ext cx="5543455" cy="2495455"/>
          </a:xfrm>
          <a:custGeom>
            <a:avLst/>
            <a:gdLst/>
            <a:ahLst/>
            <a:cxnLst/>
            <a:rect l="l" t="t" r="r" b="b"/>
            <a:pathLst>
              <a:path w="5543455" h="2495455">
                <a:moveTo>
                  <a:pt x="114292" y="0"/>
                </a:moveTo>
                <a:lnTo>
                  <a:pt x="5429162" y="0"/>
                </a:lnTo>
                <a:cubicBezTo>
                  <a:pt x="5492285" y="0"/>
                  <a:pt x="5543455" y="51170"/>
                  <a:pt x="5543455" y="114292"/>
                </a:cubicBezTo>
                <a:lnTo>
                  <a:pt x="5543455" y="2381162"/>
                </a:lnTo>
                <a:cubicBezTo>
                  <a:pt x="5543455" y="2444285"/>
                  <a:pt x="5492285" y="2495455"/>
                  <a:pt x="5429162" y="2495455"/>
                </a:cubicBezTo>
                <a:lnTo>
                  <a:pt x="114292" y="2495455"/>
                </a:lnTo>
                <a:cubicBezTo>
                  <a:pt x="51170" y="2495455"/>
                  <a:pt x="0" y="2444285"/>
                  <a:pt x="0" y="2381162"/>
                </a:cubicBezTo>
                <a:lnTo>
                  <a:pt x="0" y="114292"/>
                </a:lnTo>
                <a:cubicBezTo>
                  <a:pt x="0" y="51211"/>
                  <a:pt x="51211" y="0"/>
                  <a:pt x="114292" y="0"/>
                </a:cubicBezTo>
                <a:close/>
              </a:path>
            </a:pathLst>
          </a:custGeom>
          <a:gradFill rotWithShape="1">
            <a:gsLst>
              <a:gs pos="0">
                <a:srgbClr val="F9FAFB">
                  <a:alpha val="100000"/>
                </a:srgbClr>
              </a:gs>
              <a:gs pos="100000">
                <a:srgbClr val="FFFFFF">
                  <a:alpha val="100000"/>
                </a:srgbClr>
              </a:gs>
            </a:gsLst>
            <a:lin ang="2700000"/>
          </a:gradFill>
          <a:ln w="12700">
            <a:solidFill>
              <a:srgbClr val="E5E7EB">
                <a:alpha val="100000"/>
              </a:srgbClr>
            </a:solidFill>
            <a:prstDash val="solid"/>
          </a:ln>
        </p:spPr>
        <p:txBody>
          <a:bodyPr wrap="square" lIns="91440" tIns="45720" rIns="91440" bIns="45720" rtlCol="0" anchor="t">
            <a:noAutofit/>
          </a:bodyPr>
          <a:lstStyle/>
          <a:p>
            <a:pPr algn="ctr">
              <a:defRPr/>
            </a:pPr>
          </a:p>
        </p:txBody>
      </p:sp>
      <p:sp>
        <p:nvSpPr>
          <p:cNvPr id="12" name="Freeform 12"/>
          <p:cNvSpPr/>
          <p:nvPr/>
        </p:nvSpPr>
        <p:spPr>
          <a:xfrm>
            <a:off x="628484" y="4148735"/>
            <a:ext cx="533400" cy="533400"/>
          </a:xfrm>
          <a:custGeom>
            <a:avLst/>
            <a:gdLst/>
            <a:ahLst/>
            <a:cxnLst/>
            <a:rect l="l" t="t" r="r" b="b"/>
            <a:pathLst>
              <a:path w="533400" h="533400">
                <a:moveTo>
                  <a:pt x="114303" y="0"/>
                </a:moveTo>
                <a:lnTo>
                  <a:pt x="419097" y="0"/>
                </a:lnTo>
                <a:cubicBezTo>
                  <a:pt x="482183" y="0"/>
                  <a:pt x="533400" y="51217"/>
                  <a:pt x="533400" y="114303"/>
                </a:cubicBezTo>
                <a:lnTo>
                  <a:pt x="533400" y="419097"/>
                </a:lnTo>
                <a:cubicBezTo>
                  <a:pt x="533400" y="482183"/>
                  <a:pt x="482183" y="533400"/>
                  <a:pt x="419097" y="533400"/>
                </a:cubicBezTo>
                <a:lnTo>
                  <a:pt x="114303" y="533400"/>
                </a:lnTo>
                <a:cubicBezTo>
                  <a:pt x="51217" y="533400"/>
                  <a:pt x="0" y="482183"/>
                  <a:pt x="0" y="419097"/>
                </a:cubicBezTo>
                <a:lnTo>
                  <a:pt x="0" y="114303"/>
                </a:lnTo>
                <a:cubicBezTo>
                  <a:pt x="0" y="51217"/>
                  <a:pt x="51217" y="0"/>
                  <a:pt x="114303" y="0"/>
                </a:cubicBezTo>
                <a:close/>
              </a:path>
            </a:pathLst>
          </a:custGeom>
          <a:solidFill>
            <a:srgbClr val="8B0000">
              <a:alpha val="100000"/>
            </a:srgbClr>
          </a:solidFill>
          <a:ln w="12700">
            <a:noFill/>
            <a:prstDash val="solid"/>
          </a:ln>
          <a:effectLst>
            <a:outerShdw blurRad="50800" dist="381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3" name="Freeform 13"/>
          <p:cNvSpPr/>
          <p:nvPr/>
        </p:nvSpPr>
        <p:spPr>
          <a:xfrm>
            <a:off x="779699" y="4299732"/>
            <a:ext cx="230877" cy="231413"/>
          </a:xfrm>
          <a:custGeom>
            <a:avLst/>
            <a:gdLst/>
            <a:ahLst/>
            <a:cxnLst/>
            <a:rect l="l" t="t" r="r" b="b"/>
            <a:pathLst>
              <a:path w="230877" h="231413">
                <a:moveTo>
                  <a:pt x="182702" y="225787"/>
                </a:moveTo>
                <a:lnTo>
                  <a:pt x="225564" y="182925"/>
                </a:lnTo>
                <a:cubicBezTo>
                  <a:pt x="229672" y="178817"/>
                  <a:pt x="230877" y="172699"/>
                  <a:pt x="228645" y="167343"/>
                </a:cubicBezTo>
                <a:cubicBezTo>
                  <a:pt x="226412" y="161984"/>
                  <a:pt x="221233" y="158546"/>
                  <a:pt x="215473" y="158546"/>
                </a:cubicBezTo>
                <a:lnTo>
                  <a:pt x="186899" y="158546"/>
                </a:lnTo>
                <a:lnTo>
                  <a:pt x="186899" y="15672"/>
                </a:lnTo>
                <a:cubicBezTo>
                  <a:pt x="186899" y="7770"/>
                  <a:pt x="180514" y="1384"/>
                  <a:pt x="172611" y="1384"/>
                </a:cubicBezTo>
                <a:cubicBezTo>
                  <a:pt x="164708" y="1384"/>
                  <a:pt x="158323" y="7770"/>
                  <a:pt x="158323" y="15672"/>
                </a:cubicBezTo>
                <a:lnTo>
                  <a:pt x="158323" y="158546"/>
                </a:lnTo>
                <a:lnTo>
                  <a:pt x="129749" y="158546"/>
                </a:lnTo>
                <a:cubicBezTo>
                  <a:pt x="123989" y="158546"/>
                  <a:pt x="118766" y="162029"/>
                  <a:pt x="116533" y="167387"/>
                </a:cubicBezTo>
                <a:cubicBezTo>
                  <a:pt x="114300" y="172745"/>
                  <a:pt x="115550" y="178861"/>
                  <a:pt x="119613" y="182969"/>
                </a:cubicBezTo>
                <a:lnTo>
                  <a:pt x="162476" y="225832"/>
                </a:lnTo>
                <a:cubicBezTo>
                  <a:pt x="168057" y="231413"/>
                  <a:pt x="177119" y="231413"/>
                  <a:pt x="182702" y="225832"/>
                </a:cubicBezTo>
                <a:close/>
                <a:moveTo>
                  <a:pt x="68402" y="5581"/>
                </a:moveTo>
                <a:cubicBezTo>
                  <a:pt x="62819" y="0"/>
                  <a:pt x="53757" y="0"/>
                  <a:pt x="48176" y="5581"/>
                </a:cubicBezTo>
                <a:lnTo>
                  <a:pt x="5313" y="48443"/>
                </a:lnTo>
                <a:cubicBezTo>
                  <a:pt x="1205" y="52551"/>
                  <a:pt x="0" y="58669"/>
                  <a:pt x="2233" y="64025"/>
                </a:cubicBezTo>
                <a:cubicBezTo>
                  <a:pt x="4466" y="69384"/>
                  <a:pt x="9689" y="72822"/>
                  <a:pt x="15449" y="72822"/>
                </a:cubicBezTo>
                <a:lnTo>
                  <a:pt x="44023" y="72822"/>
                </a:lnTo>
                <a:lnTo>
                  <a:pt x="44023" y="215696"/>
                </a:lnTo>
                <a:cubicBezTo>
                  <a:pt x="44023" y="223598"/>
                  <a:pt x="50408" y="229984"/>
                  <a:pt x="58311" y="229984"/>
                </a:cubicBezTo>
                <a:cubicBezTo>
                  <a:pt x="66214" y="229984"/>
                  <a:pt x="72599" y="223598"/>
                  <a:pt x="72599" y="215696"/>
                </a:cubicBezTo>
                <a:lnTo>
                  <a:pt x="72599" y="72822"/>
                </a:lnTo>
                <a:lnTo>
                  <a:pt x="101173" y="72822"/>
                </a:lnTo>
                <a:cubicBezTo>
                  <a:pt x="106933" y="72822"/>
                  <a:pt x="112156" y="69339"/>
                  <a:pt x="114389" y="63981"/>
                </a:cubicBezTo>
                <a:cubicBezTo>
                  <a:pt x="116622" y="58623"/>
                  <a:pt x="115372" y="52507"/>
                  <a:pt x="111309" y="48399"/>
                </a:cubicBezTo>
                <a:lnTo>
                  <a:pt x="68446" y="5536"/>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1314203" y="4263062"/>
            <a:ext cx="130140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Y-Axis</a:t>
            </a:r>
            <a:endParaRPr lang="en-US" sz="1100"/>
          </a:p>
        </p:txBody>
      </p:sp>
      <p:sp>
        <p:nvSpPr>
          <p:cNvPr id="15" name="Freeform 15"/>
          <p:cNvSpPr/>
          <p:nvPr/>
        </p:nvSpPr>
        <p:spPr>
          <a:xfrm>
            <a:off x="628484" y="4834460"/>
            <a:ext cx="5067300" cy="1333500"/>
          </a:xfrm>
          <a:custGeom>
            <a:avLst/>
            <a:gdLst/>
            <a:ahLst/>
            <a:cxnLst/>
            <a:rect l="l" t="t" r="r" b="b"/>
            <a:pathLst>
              <a:path w="5067300" h="1333500">
                <a:moveTo>
                  <a:pt x="76196" y="0"/>
                </a:moveTo>
                <a:lnTo>
                  <a:pt x="4991104" y="0"/>
                </a:lnTo>
                <a:cubicBezTo>
                  <a:pt x="5033187" y="0"/>
                  <a:pt x="5067300" y="34113"/>
                  <a:pt x="5067300" y="76196"/>
                </a:cubicBezTo>
                <a:lnTo>
                  <a:pt x="5067300" y="1257304"/>
                </a:lnTo>
                <a:cubicBezTo>
                  <a:pt x="5067300" y="1299387"/>
                  <a:pt x="5033187" y="1333500"/>
                  <a:pt x="4991104" y="1333500"/>
                </a:cubicBezTo>
                <a:lnTo>
                  <a:pt x="76196" y="1333500"/>
                </a:lnTo>
                <a:cubicBezTo>
                  <a:pt x="34113" y="1333500"/>
                  <a:pt x="0" y="1299387"/>
                  <a:pt x="0" y="1257304"/>
                </a:cubicBezTo>
                <a:lnTo>
                  <a:pt x="0" y="76196"/>
                </a:lnTo>
                <a:cubicBezTo>
                  <a:pt x="0" y="34141"/>
                  <a:pt x="34141" y="0"/>
                  <a:pt x="76196"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6" name="AutoShape 16"/>
          <p:cNvSpPr/>
          <p:nvPr/>
        </p:nvSpPr>
        <p:spPr>
          <a:xfrm>
            <a:off x="818925" y="5024895"/>
            <a:ext cx="4781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Performance</a:t>
            </a:r>
            <a:endParaRPr lang="en-US" sz="1100"/>
          </a:p>
        </p:txBody>
      </p:sp>
      <p:sp>
        <p:nvSpPr>
          <p:cNvPr id="17" name="AutoShape 17"/>
          <p:cNvSpPr/>
          <p:nvPr/>
        </p:nvSpPr>
        <p:spPr>
          <a:xfrm>
            <a:off x="818925" y="5367795"/>
            <a:ext cx="47720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FLOPS</a:t>
            </a:r>
            <a:endParaRPr lang="en-US" sz="1100"/>
          </a:p>
        </p:txBody>
      </p:sp>
      <p:sp>
        <p:nvSpPr>
          <p:cNvPr id="18" name="AutoShape 18"/>
          <p:cNvSpPr/>
          <p:nvPr/>
        </p:nvSpPr>
        <p:spPr>
          <a:xfrm>
            <a:off x="818925" y="5748749"/>
            <a:ext cx="47625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Performance: floating-point operations per second</a:t>
            </a:r>
            <a:endParaRPr lang="en-US" sz="1100"/>
          </a:p>
        </p:txBody>
      </p:sp>
      <p:sp>
        <p:nvSpPr>
          <p:cNvPr id="19" name="Freeform 19"/>
          <p:cNvSpPr/>
          <p:nvPr/>
        </p:nvSpPr>
        <p:spPr>
          <a:xfrm>
            <a:off x="6248338" y="990488"/>
            <a:ext cx="5562600" cy="4905375"/>
          </a:xfrm>
          <a:custGeom>
            <a:avLst/>
            <a:gdLst/>
            <a:ahLst/>
            <a:cxnLst/>
            <a:rect l="l" t="t" r="r" b="b"/>
            <a:pathLst>
              <a:path w="5562600" h="4905375">
                <a:moveTo>
                  <a:pt x="76180" y="0"/>
                </a:moveTo>
                <a:lnTo>
                  <a:pt x="5486420" y="0"/>
                </a:lnTo>
                <a:cubicBezTo>
                  <a:pt x="5528493" y="0"/>
                  <a:pt x="5562600" y="34107"/>
                  <a:pt x="5562600" y="76180"/>
                </a:cubicBezTo>
                <a:lnTo>
                  <a:pt x="5562600" y="4829195"/>
                </a:lnTo>
                <a:cubicBezTo>
                  <a:pt x="5562600" y="4871268"/>
                  <a:pt x="5528493" y="4905375"/>
                  <a:pt x="5486420" y="4905375"/>
                </a:cubicBezTo>
                <a:lnTo>
                  <a:pt x="76180" y="4905375"/>
                </a:lnTo>
                <a:cubicBezTo>
                  <a:pt x="34107" y="4905375"/>
                  <a:pt x="0" y="4871268"/>
                  <a:pt x="0" y="4829195"/>
                </a:cubicBezTo>
                <a:lnTo>
                  <a:pt x="0" y="76180"/>
                </a:lnTo>
                <a:cubicBezTo>
                  <a:pt x="0" y="34135"/>
                  <a:pt x="34135" y="0"/>
                  <a:pt x="7618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0" name="Picture 20"/>
          <p:cNvPicPr>
            <a:picLocks noChangeAspect="1"/>
          </p:cNvPicPr>
          <p:nvPr/>
        </p:nvPicPr>
        <p:blipFill>
          <a:blip r:embed="rId1"/>
          <a:srcRect t="24" b="24"/>
          <a:stretch>
            <a:fillRect/>
          </a:stretch>
        </p:blipFill>
        <p:spPr>
          <a:xfrm>
            <a:off x="6400720" y="1142870"/>
            <a:ext cx="5257800" cy="4600575"/>
          </a:xfrm>
          <a:prstGeom prst="roundRect">
            <a:avLst>
              <a:gd name="adj" fmla="val 0"/>
            </a:avLst>
          </a:prstGeom>
          <a:ln w="12700">
            <a:noFill/>
            <a:prstDash val="solid"/>
          </a:ln>
        </p:spPr>
      </p:pic>
      <p:sp>
        <p:nvSpPr>
          <p:cNvPr id="21" name="AutoShape 21"/>
          <p:cNvSpPr/>
          <p:nvPr/>
        </p:nvSpPr>
        <p:spPr>
          <a:xfrm>
            <a:off x="6210238" y="5974380"/>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Image source: NERSC - Roofline Hierarchy</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79894" y="632887"/>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Two Constraints in the Roofline Model</a:t>
            </a:r>
            <a:endParaRPr lang="en-US" sz="1100"/>
          </a:p>
        </p:txBody>
      </p:sp>
      <p:sp>
        <p:nvSpPr>
          <p:cNvPr id="3" name="Freeform 3"/>
          <p:cNvSpPr/>
          <p:nvPr/>
        </p:nvSpPr>
        <p:spPr>
          <a:xfrm>
            <a:off x="399911" y="1658704"/>
            <a:ext cx="5543455" cy="1524000"/>
          </a:xfrm>
          <a:custGeom>
            <a:avLst/>
            <a:gdLst/>
            <a:ahLst/>
            <a:cxnLst/>
            <a:rect l="l" t="t" r="r" b="b"/>
            <a:pathLst>
              <a:path w="5543455" h="1524000">
                <a:moveTo>
                  <a:pt x="37909" y="0"/>
                </a:moveTo>
                <a:lnTo>
                  <a:pt x="5429155" y="0"/>
                </a:lnTo>
                <a:cubicBezTo>
                  <a:pt x="5492239" y="0"/>
                  <a:pt x="5543455" y="51217"/>
                  <a:pt x="5543455" y="114300"/>
                </a:cubicBezTo>
                <a:lnTo>
                  <a:pt x="5543455" y="1409700"/>
                </a:lnTo>
                <a:cubicBezTo>
                  <a:pt x="5543455" y="1472783"/>
                  <a:pt x="5492239" y="1524000"/>
                  <a:pt x="5429155" y="1524000"/>
                </a:cubicBezTo>
                <a:lnTo>
                  <a:pt x="37909" y="1524000"/>
                </a:lnTo>
                <a:cubicBezTo>
                  <a:pt x="16974" y="1524000"/>
                  <a:pt x="0" y="1507026"/>
                  <a:pt x="0" y="1486090"/>
                </a:cubicBezTo>
                <a:lnTo>
                  <a:pt x="0" y="37910"/>
                </a:lnTo>
                <a:cubicBezTo>
                  <a:pt x="0" y="16988"/>
                  <a:pt x="16988" y="0"/>
                  <a:pt x="37909" y="0"/>
                </a:cubicBezTo>
                <a:close/>
              </a:path>
            </a:pathLst>
          </a:custGeom>
          <a:gradFill rotWithShape="1">
            <a:gsLst>
              <a:gs pos="0">
                <a:srgbClr val="EFF6FF">
                  <a:alpha val="100000"/>
                </a:srgbClr>
              </a:gs>
              <a:gs pos="100000">
                <a:srgbClr val="FFFFFF">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399911" y="1658704"/>
            <a:ext cx="37909" cy="1524000"/>
          </a:xfrm>
          <a:custGeom>
            <a:avLst/>
            <a:gdLst/>
            <a:ahLst/>
            <a:cxnLst/>
            <a:rect l="l" t="t" r="r" b="b"/>
            <a:pathLst>
              <a:path w="37909" h="1524000">
                <a:moveTo>
                  <a:pt x="37909" y="0"/>
                </a:moveTo>
                <a:lnTo>
                  <a:pt x="37909" y="0"/>
                </a:lnTo>
                <a:lnTo>
                  <a:pt x="37909" y="1524000"/>
                </a:lnTo>
                <a:lnTo>
                  <a:pt x="37909" y="1524000"/>
                </a:lnTo>
                <a:cubicBezTo>
                  <a:pt x="16974" y="1524000"/>
                  <a:pt x="0" y="1507026"/>
                  <a:pt x="0" y="1486090"/>
                </a:cubicBezTo>
                <a:lnTo>
                  <a:pt x="0" y="37910"/>
                </a:lnTo>
                <a:cubicBezTo>
                  <a:pt x="0" y="16988"/>
                  <a:pt x="16988" y="0"/>
                  <a:pt x="37909" y="0"/>
                </a:cubicBezTo>
                <a:close/>
              </a:path>
            </a:pathLst>
          </a:custGeom>
          <a:solidFill>
            <a:srgbClr val="2B7FFF">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609307" y="1849139"/>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2B7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779089" y="1944361"/>
            <a:ext cx="209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endParaRPr lang="en-US" sz="1100"/>
          </a:p>
        </p:txBody>
      </p:sp>
      <p:sp>
        <p:nvSpPr>
          <p:cNvPr id="7" name="AutoShape 7"/>
          <p:cNvSpPr/>
          <p:nvPr/>
        </p:nvSpPr>
        <p:spPr>
          <a:xfrm>
            <a:off x="1180703" y="1944361"/>
            <a:ext cx="15811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Bandwidth Line</a:t>
            </a:r>
            <a:endParaRPr lang="en-US" sz="1100"/>
          </a:p>
        </p:txBody>
      </p:sp>
      <p:sp>
        <p:nvSpPr>
          <p:cNvPr id="8" name="AutoShape 8"/>
          <p:cNvSpPr/>
          <p:nvPr/>
        </p:nvSpPr>
        <p:spPr>
          <a:xfrm>
            <a:off x="609307" y="2420537"/>
            <a:ext cx="5229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Memory Constraint</a:t>
            </a:r>
            <a:endParaRPr lang="en-US" sz="1100"/>
          </a:p>
        </p:txBody>
      </p:sp>
      <p:sp>
        <p:nvSpPr>
          <p:cNvPr id="9" name="AutoShape 9"/>
          <p:cNvSpPr/>
          <p:nvPr/>
        </p:nvSpPr>
        <p:spPr>
          <a:xfrm>
            <a:off x="609307" y="2763437"/>
            <a:ext cx="5219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Diagonal line representing memory bandwidth limit</a:t>
            </a:r>
            <a:endParaRPr lang="en-US" sz="1100"/>
          </a:p>
        </p:txBody>
      </p:sp>
      <p:sp>
        <p:nvSpPr>
          <p:cNvPr id="10" name="Freeform 10"/>
          <p:cNvSpPr/>
          <p:nvPr/>
        </p:nvSpPr>
        <p:spPr>
          <a:xfrm>
            <a:off x="399911" y="3334835"/>
            <a:ext cx="5543455" cy="1524000"/>
          </a:xfrm>
          <a:custGeom>
            <a:avLst/>
            <a:gdLst/>
            <a:ahLst/>
            <a:cxnLst/>
            <a:rect l="l" t="t" r="r" b="b"/>
            <a:pathLst>
              <a:path w="5543455" h="1524000">
                <a:moveTo>
                  <a:pt x="37909" y="0"/>
                </a:moveTo>
                <a:lnTo>
                  <a:pt x="5429155" y="0"/>
                </a:lnTo>
                <a:cubicBezTo>
                  <a:pt x="5492239" y="0"/>
                  <a:pt x="5543455" y="51217"/>
                  <a:pt x="5543455" y="114300"/>
                </a:cubicBezTo>
                <a:lnTo>
                  <a:pt x="5543455" y="1409700"/>
                </a:lnTo>
                <a:cubicBezTo>
                  <a:pt x="5543455" y="1472783"/>
                  <a:pt x="5492239" y="1524000"/>
                  <a:pt x="5429155" y="1524000"/>
                </a:cubicBezTo>
                <a:lnTo>
                  <a:pt x="37909" y="1524000"/>
                </a:lnTo>
                <a:cubicBezTo>
                  <a:pt x="16974" y="1524000"/>
                  <a:pt x="0" y="1507026"/>
                  <a:pt x="0" y="1486091"/>
                </a:cubicBezTo>
                <a:lnTo>
                  <a:pt x="0" y="37909"/>
                </a:lnTo>
                <a:cubicBezTo>
                  <a:pt x="0" y="16988"/>
                  <a:pt x="16988" y="0"/>
                  <a:pt x="37909" y="0"/>
                </a:cubicBezTo>
                <a:close/>
              </a:path>
            </a:pathLst>
          </a:custGeom>
          <a:gradFill rotWithShape="1">
            <a:gsLst>
              <a:gs pos="0">
                <a:srgbClr val="FEF2F2">
                  <a:alpha val="100000"/>
                </a:srgbClr>
              </a:gs>
              <a:gs pos="100000">
                <a:srgbClr val="FFFFFF">
                  <a:alpha val="100000"/>
                </a:srgbClr>
              </a:gs>
            </a:gsLst>
            <a:lin ang="2700000"/>
          </a:gra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399911" y="3334835"/>
            <a:ext cx="37909" cy="1524000"/>
          </a:xfrm>
          <a:custGeom>
            <a:avLst/>
            <a:gdLst/>
            <a:ahLst/>
            <a:cxnLst/>
            <a:rect l="l" t="t" r="r" b="b"/>
            <a:pathLst>
              <a:path w="37909" h="1524000">
                <a:moveTo>
                  <a:pt x="37909" y="0"/>
                </a:moveTo>
                <a:lnTo>
                  <a:pt x="37909" y="0"/>
                </a:lnTo>
                <a:lnTo>
                  <a:pt x="37909" y="1524000"/>
                </a:lnTo>
                <a:lnTo>
                  <a:pt x="37909" y="1524000"/>
                </a:lnTo>
                <a:cubicBezTo>
                  <a:pt x="16974" y="1524000"/>
                  <a:pt x="0" y="1507026"/>
                  <a:pt x="0" y="1486091"/>
                </a:cubicBezTo>
                <a:lnTo>
                  <a:pt x="0" y="37909"/>
                </a:lnTo>
                <a:cubicBezTo>
                  <a:pt x="0" y="16988"/>
                  <a:pt x="16988" y="0"/>
                  <a:pt x="37909" y="0"/>
                </a:cubicBezTo>
                <a:close/>
              </a:path>
            </a:pathLst>
          </a:custGeom>
          <a:solidFill>
            <a:srgbClr val="FB2C36">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609307" y="3525270"/>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FB2C36">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779089" y="3620492"/>
            <a:ext cx="209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sz="1100"/>
          </a:p>
        </p:txBody>
      </p:sp>
      <p:sp>
        <p:nvSpPr>
          <p:cNvPr id="14" name="AutoShape 14"/>
          <p:cNvSpPr/>
          <p:nvPr/>
        </p:nvSpPr>
        <p:spPr>
          <a:xfrm>
            <a:off x="1180703" y="3620492"/>
            <a:ext cx="14954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Compute Roof</a:t>
            </a:r>
            <a:endParaRPr lang="en-US" sz="1100"/>
          </a:p>
        </p:txBody>
      </p:sp>
      <p:sp>
        <p:nvSpPr>
          <p:cNvPr id="15" name="AutoShape 15"/>
          <p:cNvSpPr/>
          <p:nvPr/>
        </p:nvSpPr>
        <p:spPr>
          <a:xfrm>
            <a:off x="609307" y="4096667"/>
            <a:ext cx="5229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Compute Ceiling</a:t>
            </a:r>
            <a:endParaRPr lang="en-US" sz="1100"/>
          </a:p>
        </p:txBody>
      </p:sp>
      <p:sp>
        <p:nvSpPr>
          <p:cNvPr id="16" name="AutoShape 16"/>
          <p:cNvSpPr/>
          <p:nvPr/>
        </p:nvSpPr>
        <p:spPr>
          <a:xfrm>
            <a:off x="609307" y="4439567"/>
            <a:ext cx="5219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Horizontal line representing theoretical peak performance</a:t>
            </a:r>
            <a:endParaRPr lang="en-US" sz="1100"/>
          </a:p>
        </p:txBody>
      </p:sp>
      <p:sp>
        <p:nvSpPr>
          <p:cNvPr id="17" name="Freeform 17"/>
          <p:cNvSpPr/>
          <p:nvPr/>
        </p:nvSpPr>
        <p:spPr>
          <a:xfrm>
            <a:off x="399911" y="5486353"/>
            <a:ext cx="5543455" cy="647700"/>
          </a:xfrm>
          <a:custGeom>
            <a:avLst/>
            <a:gdLst/>
            <a:ahLst/>
            <a:cxnLst/>
            <a:rect l="l" t="t" r="r" b="b"/>
            <a:pathLst>
              <a:path w="5543455" h="647700">
                <a:moveTo>
                  <a:pt x="37909" y="0"/>
                </a:moveTo>
                <a:lnTo>
                  <a:pt x="5429156" y="0"/>
                </a:lnTo>
                <a:cubicBezTo>
                  <a:pt x="5492281" y="0"/>
                  <a:pt x="5543455" y="51173"/>
                  <a:pt x="5543455" y="114300"/>
                </a:cubicBezTo>
                <a:lnTo>
                  <a:pt x="5543455" y="533400"/>
                </a:lnTo>
                <a:cubicBezTo>
                  <a:pt x="5543455" y="596527"/>
                  <a:pt x="5492281" y="647700"/>
                  <a:pt x="5429156" y="647700"/>
                </a:cubicBezTo>
                <a:lnTo>
                  <a:pt x="37909" y="647700"/>
                </a:lnTo>
                <a:cubicBezTo>
                  <a:pt x="16974" y="647700"/>
                  <a:pt x="0" y="630726"/>
                  <a:pt x="0" y="609791"/>
                </a:cubicBezTo>
                <a:lnTo>
                  <a:pt x="0" y="37909"/>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399911" y="5486353"/>
            <a:ext cx="37909" cy="647700"/>
          </a:xfrm>
          <a:custGeom>
            <a:avLst/>
            <a:gdLst/>
            <a:ahLst/>
            <a:cxnLst/>
            <a:rect l="l" t="t" r="r" b="b"/>
            <a:pathLst>
              <a:path w="37909" h="647700">
                <a:moveTo>
                  <a:pt x="37909" y="0"/>
                </a:moveTo>
                <a:lnTo>
                  <a:pt x="37909" y="0"/>
                </a:lnTo>
                <a:lnTo>
                  <a:pt x="37909" y="647700"/>
                </a:lnTo>
                <a:lnTo>
                  <a:pt x="37909" y="647700"/>
                </a:lnTo>
                <a:cubicBezTo>
                  <a:pt x="16974" y="647700"/>
                  <a:pt x="0" y="630726"/>
                  <a:pt x="0" y="609791"/>
                </a:cubicBezTo>
                <a:lnTo>
                  <a:pt x="0" y="37909"/>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609307" y="5676798"/>
            <a:ext cx="5238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Key Constraint:</a:t>
            </a:r>
            <a:r>
              <a:rPr lang="en-US" sz="15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Program performance cannot exceed either of these two lines</a:t>
            </a:r>
            <a:endParaRPr lang="en-US" sz="1100"/>
          </a:p>
        </p:txBody>
      </p:sp>
      <p:sp>
        <p:nvSpPr>
          <p:cNvPr id="20" name="Freeform 20"/>
          <p:cNvSpPr/>
          <p:nvPr/>
        </p:nvSpPr>
        <p:spPr>
          <a:xfrm>
            <a:off x="6248338" y="990488"/>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1" name="Picture 21"/>
          <p:cNvPicPr>
            <a:picLocks noChangeAspect="1"/>
          </p:cNvPicPr>
          <p:nvPr/>
        </p:nvPicPr>
        <p:blipFill>
          <a:blip r:embed="rId1"/>
          <a:srcRect t="8" b="9"/>
          <a:stretch>
            <a:fillRect/>
          </a:stretch>
        </p:blipFill>
        <p:spPr>
          <a:xfrm>
            <a:off x="6400720" y="1218614"/>
            <a:ext cx="5257800" cy="4381500"/>
          </a:xfrm>
          <a:prstGeom prst="roundRect">
            <a:avLst>
              <a:gd name="adj" fmla="val 0"/>
            </a:avLst>
          </a:prstGeom>
          <a:ln w="12700">
            <a:noFill/>
            <a:prstDash val="solid"/>
          </a:ln>
        </p:spPr>
      </p:pic>
      <p:sp>
        <p:nvSpPr>
          <p:cNvPr id="22" name="AutoShape 22"/>
          <p:cNvSpPr/>
          <p:nvPr/>
        </p:nvSpPr>
        <p:spPr>
          <a:xfrm>
            <a:off x="6210238" y="5905370"/>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Image source: JAX-ML - Roofline Model</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1617" y="618267"/>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Arithmetic Intensity Example</a:t>
            </a:r>
            <a:endParaRPr lang="en-US" sz="1100"/>
          </a:p>
        </p:txBody>
      </p:sp>
      <p:sp>
        <p:nvSpPr>
          <p:cNvPr id="3" name="AutoShape 3"/>
          <p:cNvSpPr/>
          <p:nvPr/>
        </p:nvSpPr>
        <p:spPr>
          <a:xfrm>
            <a:off x="380956" y="1389082"/>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Matrix Multiplication</a:t>
            </a:r>
            <a:endParaRPr lang="en-US" sz="1100"/>
          </a:p>
        </p:txBody>
      </p:sp>
      <p:sp>
        <p:nvSpPr>
          <p:cNvPr id="4" name="Freeform 4"/>
          <p:cNvSpPr/>
          <p:nvPr/>
        </p:nvSpPr>
        <p:spPr>
          <a:xfrm>
            <a:off x="380956" y="1846152"/>
            <a:ext cx="5562600" cy="914400"/>
          </a:xfrm>
          <a:custGeom>
            <a:avLst/>
            <a:gdLst/>
            <a:ahLst/>
            <a:cxnLst/>
            <a:rect l="l" t="t" r="r" b="b"/>
            <a:pathLst>
              <a:path w="5562600" h="914400">
                <a:moveTo>
                  <a:pt x="76197" y="0"/>
                </a:moveTo>
                <a:lnTo>
                  <a:pt x="5486403" y="0"/>
                </a:lnTo>
                <a:cubicBezTo>
                  <a:pt x="5528485" y="0"/>
                  <a:pt x="5562600" y="34115"/>
                  <a:pt x="5562600" y="76197"/>
                </a:cubicBezTo>
                <a:lnTo>
                  <a:pt x="5562600" y="838203"/>
                </a:lnTo>
                <a:cubicBezTo>
                  <a:pt x="5562600" y="880285"/>
                  <a:pt x="5528485" y="914400"/>
                  <a:pt x="5486403" y="914400"/>
                </a:cubicBezTo>
                <a:lnTo>
                  <a:pt x="76197" y="914400"/>
                </a:lnTo>
                <a:cubicBezTo>
                  <a:pt x="34115" y="914400"/>
                  <a:pt x="0" y="880285"/>
                  <a:pt x="0" y="8382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533338" y="1998534"/>
            <a:ext cx="5343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Computation</a:t>
            </a:r>
            <a:endParaRPr lang="en-US" sz="1100"/>
          </a:p>
        </p:txBody>
      </p:sp>
      <p:sp>
        <p:nvSpPr>
          <p:cNvPr id="6" name="AutoShape 6"/>
          <p:cNvSpPr/>
          <p:nvPr/>
        </p:nvSpPr>
        <p:spPr>
          <a:xfrm>
            <a:off x="533338" y="2303296"/>
            <a:ext cx="53721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O(n³)</a:t>
            </a:r>
            <a:endParaRPr lang="en-US" sz="1100"/>
          </a:p>
        </p:txBody>
      </p:sp>
      <p:sp>
        <p:nvSpPr>
          <p:cNvPr id="7" name="Freeform 7"/>
          <p:cNvSpPr/>
          <p:nvPr/>
        </p:nvSpPr>
        <p:spPr>
          <a:xfrm>
            <a:off x="380956" y="2912748"/>
            <a:ext cx="5562600" cy="914400"/>
          </a:xfrm>
          <a:custGeom>
            <a:avLst/>
            <a:gdLst/>
            <a:ahLst/>
            <a:cxnLst/>
            <a:rect l="l" t="t" r="r" b="b"/>
            <a:pathLst>
              <a:path w="5562600" h="914400">
                <a:moveTo>
                  <a:pt x="76197" y="0"/>
                </a:moveTo>
                <a:lnTo>
                  <a:pt x="5486403" y="0"/>
                </a:lnTo>
                <a:cubicBezTo>
                  <a:pt x="5528485" y="0"/>
                  <a:pt x="5562600" y="34115"/>
                  <a:pt x="5562600" y="76197"/>
                </a:cubicBezTo>
                <a:lnTo>
                  <a:pt x="5562600" y="838203"/>
                </a:lnTo>
                <a:cubicBezTo>
                  <a:pt x="5562600" y="880285"/>
                  <a:pt x="5528485" y="914400"/>
                  <a:pt x="5486403" y="914400"/>
                </a:cubicBezTo>
                <a:lnTo>
                  <a:pt x="76197" y="914400"/>
                </a:lnTo>
                <a:cubicBezTo>
                  <a:pt x="34115" y="914400"/>
                  <a:pt x="0" y="880285"/>
                  <a:pt x="0" y="838203"/>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533338" y="3065138"/>
            <a:ext cx="5343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Data Volume</a:t>
            </a:r>
            <a:endParaRPr lang="en-US" sz="1100"/>
          </a:p>
        </p:txBody>
      </p:sp>
      <p:sp>
        <p:nvSpPr>
          <p:cNvPr id="9" name="AutoShape 9"/>
          <p:cNvSpPr/>
          <p:nvPr/>
        </p:nvSpPr>
        <p:spPr>
          <a:xfrm>
            <a:off x="533338" y="3369901"/>
            <a:ext cx="53721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O(n²)</a:t>
            </a:r>
            <a:endParaRPr lang="en-US" sz="1100"/>
          </a:p>
        </p:txBody>
      </p:sp>
      <p:sp>
        <p:nvSpPr>
          <p:cNvPr id="10" name="Freeform 10"/>
          <p:cNvSpPr/>
          <p:nvPr/>
        </p:nvSpPr>
        <p:spPr>
          <a:xfrm>
            <a:off x="399911" y="4055543"/>
            <a:ext cx="5543455" cy="990600"/>
          </a:xfrm>
          <a:custGeom>
            <a:avLst/>
            <a:gdLst/>
            <a:ahLst/>
            <a:cxnLst/>
            <a:rect l="l" t="t" r="r" b="b"/>
            <a:pathLst>
              <a:path w="5543455" h="990600">
                <a:moveTo>
                  <a:pt x="37909" y="0"/>
                </a:moveTo>
                <a:lnTo>
                  <a:pt x="5429160" y="0"/>
                </a:lnTo>
                <a:cubicBezTo>
                  <a:pt x="5492241" y="0"/>
                  <a:pt x="5543455" y="51214"/>
                  <a:pt x="5543455" y="114295"/>
                </a:cubicBezTo>
                <a:lnTo>
                  <a:pt x="5543455" y="876305"/>
                </a:lnTo>
                <a:cubicBezTo>
                  <a:pt x="5543455" y="939386"/>
                  <a:pt x="5492241" y="990600"/>
                  <a:pt x="5429160" y="990600"/>
                </a:cubicBezTo>
                <a:lnTo>
                  <a:pt x="37909" y="990600"/>
                </a:lnTo>
                <a:cubicBezTo>
                  <a:pt x="16974" y="990600"/>
                  <a:pt x="0" y="973626"/>
                  <a:pt x="0" y="952690"/>
                </a:cubicBezTo>
                <a:lnTo>
                  <a:pt x="0" y="37909"/>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399911" y="4055543"/>
            <a:ext cx="37909" cy="990600"/>
          </a:xfrm>
          <a:custGeom>
            <a:avLst/>
            <a:gdLst/>
            <a:ahLst/>
            <a:cxnLst/>
            <a:rect l="l" t="t" r="r" b="b"/>
            <a:pathLst>
              <a:path w="37909" h="990600">
                <a:moveTo>
                  <a:pt x="37909" y="0"/>
                </a:moveTo>
                <a:lnTo>
                  <a:pt x="37909" y="0"/>
                </a:lnTo>
                <a:lnTo>
                  <a:pt x="37909" y="990600"/>
                </a:lnTo>
                <a:lnTo>
                  <a:pt x="37909" y="990600"/>
                </a:lnTo>
                <a:cubicBezTo>
                  <a:pt x="16974" y="990600"/>
                  <a:pt x="0" y="973626"/>
                  <a:pt x="0" y="952690"/>
                </a:cubicBezTo>
                <a:lnTo>
                  <a:pt x="0" y="37909"/>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609307" y="4245987"/>
            <a:ext cx="5238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Therefore: Arithmetic Intensity is </a:t>
            </a: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very high</a:t>
            </a:r>
            <a:endParaRPr lang="en-US" sz="1100"/>
          </a:p>
        </p:txBody>
      </p:sp>
      <p:sp>
        <p:nvSpPr>
          <p:cNvPr id="13" name="AutoShape 13"/>
          <p:cNvSpPr/>
          <p:nvPr/>
        </p:nvSpPr>
        <p:spPr>
          <a:xfrm>
            <a:off x="609307" y="4588887"/>
            <a:ext cx="5229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 O(n³) / O(n²) = O(n)</a:t>
            </a:r>
            <a:endParaRPr lang="en-US" sz="1100"/>
          </a:p>
        </p:txBody>
      </p:sp>
      <p:sp>
        <p:nvSpPr>
          <p:cNvPr id="14" name="Freeform 14"/>
          <p:cNvSpPr/>
          <p:nvPr/>
        </p:nvSpPr>
        <p:spPr>
          <a:xfrm>
            <a:off x="399911" y="5486353"/>
            <a:ext cx="5543455" cy="647700"/>
          </a:xfrm>
          <a:custGeom>
            <a:avLst/>
            <a:gdLst/>
            <a:ahLst/>
            <a:cxnLst/>
            <a:rect l="l" t="t" r="r" b="b"/>
            <a:pathLst>
              <a:path w="5543455" h="647700">
                <a:moveTo>
                  <a:pt x="37909" y="0"/>
                </a:moveTo>
                <a:lnTo>
                  <a:pt x="5429156" y="0"/>
                </a:lnTo>
                <a:cubicBezTo>
                  <a:pt x="5492281" y="0"/>
                  <a:pt x="5543455" y="51173"/>
                  <a:pt x="5543455" y="114300"/>
                </a:cubicBezTo>
                <a:lnTo>
                  <a:pt x="5543455" y="533400"/>
                </a:lnTo>
                <a:cubicBezTo>
                  <a:pt x="5543455" y="596527"/>
                  <a:pt x="5492281" y="647700"/>
                  <a:pt x="5429156" y="647700"/>
                </a:cubicBezTo>
                <a:lnTo>
                  <a:pt x="37909" y="647700"/>
                </a:lnTo>
                <a:cubicBezTo>
                  <a:pt x="16974" y="647700"/>
                  <a:pt x="0" y="630726"/>
                  <a:pt x="0" y="609791"/>
                </a:cubicBezTo>
                <a:lnTo>
                  <a:pt x="0" y="37909"/>
                </a:lnTo>
                <a:cubicBezTo>
                  <a:pt x="0" y="16988"/>
                  <a:pt x="16988" y="0"/>
                  <a:pt x="37909" y="0"/>
                </a:cubicBezTo>
                <a:close/>
              </a:path>
            </a:pathLst>
          </a:custGeom>
          <a:solidFill>
            <a:srgbClr val="F0FDF4">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399911" y="5486353"/>
            <a:ext cx="37909" cy="647700"/>
          </a:xfrm>
          <a:custGeom>
            <a:avLst/>
            <a:gdLst/>
            <a:ahLst/>
            <a:cxnLst/>
            <a:rect l="l" t="t" r="r" b="b"/>
            <a:pathLst>
              <a:path w="37909" h="647700">
                <a:moveTo>
                  <a:pt x="37909" y="0"/>
                </a:moveTo>
                <a:lnTo>
                  <a:pt x="37909" y="0"/>
                </a:lnTo>
                <a:lnTo>
                  <a:pt x="37909" y="647700"/>
                </a:lnTo>
                <a:lnTo>
                  <a:pt x="37909" y="647700"/>
                </a:lnTo>
                <a:cubicBezTo>
                  <a:pt x="16974" y="647700"/>
                  <a:pt x="0" y="630726"/>
                  <a:pt x="0" y="609791"/>
                </a:cubicBezTo>
                <a:lnTo>
                  <a:pt x="0" y="37909"/>
                </a:lnTo>
                <a:cubicBezTo>
                  <a:pt x="0" y="16988"/>
                  <a:pt x="16988" y="0"/>
                  <a:pt x="37909" y="0"/>
                </a:cubicBezTo>
                <a:close/>
              </a:path>
            </a:pathLst>
          </a:custGeom>
          <a:solidFill>
            <a:srgbClr val="00C950">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09307" y="5676788"/>
            <a:ext cx="5238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Note:</a:t>
            </a:r>
            <a:r>
              <a:rPr lang="en-US" sz="15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more likely to be </a:t>
            </a:r>
            <a:r>
              <a:rPr lang="en-US" sz="1500" b="1" i="0" u="none" strike="noStrike">
                <a:solidFill>
                  <a:srgbClr val="00A63E"/>
                </a:solidFill>
                <a:latin typeface="Noto Sans SC" panose="020B0200000000000000" charset="-122"/>
                <a:ea typeface="Noto Sans SC" panose="020B0200000000000000" charset="-122"/>
                <a:cs typeface="Noto Sans SC" panose="020B0200000000000000" charset="-122"/>
                <a:sym typeface="Noto Sans SC" panose="020B0200000000000000" charset="-122"/>
              </a:rPr>
              <a:t>Compute Bound</a:t>
            </a:r>
            <a:endParaRPr lang="en-US" sz="1100"/>
          </a:p>
        </p:txBody>
      </p:sp>
      <p:sp>
        <p:nvSpPr>
          <p:cNvPr id="17" name="Freeform 17"/>
          <p:cNvSpPr/>
          <p:nvPr/>
        </p:nvSpPr>
        <p:spPr>
          <a:xfrm>
            <a:off x="6248338" y="990488"/>
            <a:ext cx="5562600" cy="5438775"/>
          </a:xfrm>
          <a:custGeom>
            <a:avLst/>
            <a:gdLst/>
            <a:ahLst/>
            <a:cxnLst/>
            <a:rect l="l" t="t" r="r" b="b"/>
            <a:pathLst>
              <a:path w="5562600" h="5438775">
                <a:moveTo>
                  <a:pt x="76197" y="0"/>
                </a:moveTo>
                <a:lnTo>
                  <a:pt x="5486403" y="0"/>
                </a:lnTo>
                <a:cubicBezTo>
                  <a:pt x="5528485" y="0"/>
                  <a:pt x="5562600" y="34115"/>
                  <a:pt x="5562600" y="76197"/>
                </a:cubicBezTo>
                <a:lnTo>
                  <a:pt x="5562600" y="5362578"/>
                </a:lnTo>
                <a:cubicBezTo>
                  <a:pt x="5562600" y="5404660"/>
                  <a:pt x="5528485" y="5438775"/>
                  <a:pt x="5486403" y="5438775"/>
                </a:cubicBezTo>
                <a:lnTo>
                  <a:pt x="76197" y="5438775"/>
                </a:lnTo>
                <a:cubicBezTo>
                  <a:pt x="34115" y="5438775"/>
                  <a:pt x="0" y="5404660"/>
                  <a:pt x="0" y="5362578"/>
                </a:cubicBezTo>
                <a:lnTo>
                  <a:pt x="0" y="76197"/>
                </a:lnTo>
                <a:cubicBezTo>
                  <a:pt x="0" y="34143"/>
                  <a:pt x="34143"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18" name="Picture 18"/>
          <p:cNvPicPr>
            <a:picLocks noChangeAspect="1"/>
          </p:cNvPicPr>
          <p:nvPr/>
        </p:nvPicPr>
        <p:blipFill>
          <a:blip r:embed="rId1"/>
          <a:srcRect/>
          <a:stretch>
            <a:fillRect/>
          </a:stretch>
        </p:blipFill>
        <p:spPr>
          <a:xfrm>
            <a:off x="7043791" y="1142870"/>
            <a:ext cx="3971925" cy="5133975"/>
          </a:xfrm>
          <a:prstGeom prst="roundRect">
            <a:avLst>
              <a:gd name="adj" fmla="val 0"/>
            </a:avLst>
          </a:prstGeom>
          <a:ln w="12700">
            <a:noFill/>
            <a:prstDash val="solid"/>
          </a:ln>
        </p:spPr>
      </p:pic>
      <p:sp>
        <p:nvSpPr>
          <p:cNvPr id="19" name="AutoShape 19"/>
          <p:cNvSpPr/>
          <p:nvPr/>
        </p:nvSpPr>
        <p:spPr>
          <a:xfrm>
            <a:off x="6210238" y="6505268"/>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Image source: Eli Bendersky - Matrix Multiplication</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85705" y="615294"/>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Memory Bound Example</a:t>
            </a:r>
            <a:endParaRPr lang="en-US" sz="1100"/>
          </a:p>
        </p:txBody>
      </p:sp>
      <p:sp>
        <p:nvSpPr>
          <p:cNvPr id="3" name="AutoShape 3"/>
          <p:cNvSpPr/>
          <p:nvPr/>
        </p:nvSpPr>
        <p:spPr>
          <a:xfrm>
            <a:off x="380956" y="1131161"/>
            <a:ext cx="56769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Vector Addition</a:t>
            </a:r>
            <a:endParaRPr lang="en-US" sz="1100"/>
          </a:p>
        </p:txBody>
      </p:sp>
      <p:sp>
        <p:nvSpPr>
          <p:cNvPr id="4" name="Freeform 4"/>
          <p:cNvSpPr/>
          <p:nvPr/>
        </p:nvSpPr>
        <p:spPr>
          <a:xfrm>
            <a:off x="380956" y="1605824"/>
            <a:ext cx="5562600" cy="1504950"/>
          </a:xfrm>
          <a:custGeom>
            <a:avLst/>
            <a:gdLst/>
            <a:ahLst/>
            <a:cxnLst/>
            <a:rect l="l" t="t" r="r" b="b"/>
            <a:pathLst>
              <a:path w="5562600" h="1504950">
                <a:moveTo>
                  <a:pt x="114301" y="0"/>
                </a:moveTo>
                <a:lnTo>
                  <a:pt x="5448299" y="0"/>
                </a:lnTo>
                <a:cubicBezTo>
                  <a:pt x="5511427" y="0"/>
                  <a:pt x="5562600" y="51173"/>
                  <a:pt x="5562600" y="114301"/>
                </a:cubicBezTo>
                <a:lnTo>
                  <a:pt x="5562600" y="1390649"/>
                </a:lnTo>
                <a:cubicBezTo>
                  <a:pt x="5562600" y="1453777"/>
                  <a:pt x="5511427" y="1504950"/>
                  <a:pt x="5448299" y="1504950"/>
                </a:cubicBezTo>
                <a:lnTo>
                  <a:pt x="114301" y="1504950"/>
                </a:lnTo>
                <a:cubicBezTo>
                  <a:pt x="51173" y="1504950"/>
                  <a:pt x="0" y="1453777"/>
                  <a:pt x="0" y="1390649"/>
                </a:cubicBezTo>
                <a:lnTo>
                  <a:pt x="0" y="114301"/>
                </a:lnTo>
                <a:cubicBezTo>
                  <a:pt x="0" y="51217"/>
                  <a:pt x="51217" y="0"/>
                  <a:pt x="114301"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571396" y="1796259"/>
            <a:ext cx="5276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C[i] = A[i] + B[i]</a:t>
            </a:r>
            <a:endParaRPr lang="en-US" sz="1100"/>
          </a:p>
        </p:txBody>
      </p:sp>
      <p:sp>
        <p:nvSpPr>
          <p:cNvPr id="6" name="Freeform 6"/>
          <p:cNvSpPr/>
          <p:nvPr/>
        </p:nvSpPr>
        <p:spPr>
          <a:xfrm>
            <a:off x="571396" y="2186699"/>
            <a:ext cx="5181600" cy="18955"/>
          </a:xfrm>
          <a:custGeom>
            <a:avLst/>
            <a:gdLst/>
            <a:ahLst/>
            <a:cxnLst/>
            <a:rect l="l" t="t" r="r" b="b"/>
            <a:pathLst>
              <a:path w="5181600" h="18955">
                <a:moveTo>
                  <a:pt x="0" y="0"/>
                </a:moveTo>
                <a:lnTo>
                  <a:pt x="5181600" y="0"/>
                </a:lnTo>
                <a:lnTo>
                  <a:pt x="5181600" y="18955"/>
                </a:lnTo>
                <a:lnTo>
                  <a:pt x="0" y="18955"/>
                </a:lnTo>
                <a:lnTo>
                  <a:pt x="0" y="0"/>
                </a:lnTo>
                <a:close/>
              </a:path>
            </a:pathLst>
          </a:custGeom>
          <a:solidFill>
            <a:srgbClr val="D1D5DC">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571396" y="2310423"/>
            <a:ext cx="5267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Operation:</a:t>
            </a: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1 addition</a:t>
            </a:r>
            <a:endParaRPr lang="en-US" sz="1100"/>
          </a:p>
        </p:txBody>
      </p:sp>
      <p:sp>
        <p:nvSpPr>
          <p:cNvPr id="8" name="AutoShape 8"/>
          <p:cNvSpPr/>
          <p:nvPr/>
        </p:nvSpPr>
        <p:spPr>
          <a:xfrm>
            <a:off x="571396" y="2653323"/>
            <a:ext cx="5267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Data:</a:t>
            </a: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 Read A[i], B[i], write C[i]</a:t>
            </a:r>
            <a:endParaRPr lang="en-US" sz="1100"/>
          </a:p>
        </p:txBody>
      </p:sp>
      <p:sp>
        <p:nvSpPr>
          <p:cNvPr id="9" name="Freeform 9"/>
          <p:cNvSpPr/>
          <p:nvPr/>
        </p:nvSpPr>
        <p:spPr>
          <a:xfrm>
            <a:off x="380956" y="3339039"/>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542830" y="3491346"/>
            <a:ext cx="142875" cy="190500"/>
          </a:xfrm>
          <a:custGeom>
            <a:avLst/>
            <a:gdLst/>
            <a:ahLst/>
            <a:cxnLst/>
            <a:rect l="l" t="t" r="r" b="b"/>
            <a:pathLst>
              <a:path w="142875" h="190500">
                <a:moveTo>
                  <a:pt x="23812" y="0"/>
                </a:moveTo>
                <a:cubicBezTo>
                  <a:pt x="10678" y="0"/>
                  <a:pt x="0" y="10678"/>
                  <a:pt x="0" y="23812"/>
                </a:cubicBezTo>
                <a:lnTo>
                  <a:pt x="0" y="166687"/>
                </a:lnTo>
                <a:cubicBezTo>
                  <a:pt x="0" y="179822"/>
                  <a:pt x="10678" y="190500"/>
                  <a:pt x="23812" y="190500"/>
                </a:cubicBezTo>
                <a:lnTo>
                  <a:pt x="119062" y="190500"/>
                </a:lnTo>
                <a:cubicBezTo>
                  <a:pt x="132197" y="190500"/>
                  <a:pt x="142875" y="179822"/>
                  <a:pt x="142875" y="166687"/>
                </a:cubicBezTo>
                <a:lnTo>
                  <a:pt x="142875" y="23812"/>
                </a:lnTo>
                <a:cubicBezTo>
                  <a:pt x="142875" y="10678"/>
                  <a:pt x="132197" y="0"/>
                  <a:pt x="119062" y="0"/>
                </a:cubicBezTo>
                <a:lnTo>
                  <a:pt x="23812" y="0"/>
                </a:lnTo>
                <a:close/>
                <a:moveTo>
                  <a:pt x="35719" y="23812"/>
                </a:moveTo>
                <a:lnTo>
                  <a:pt x="107156" y="23812"/>
                </a:lnTo>
                <a:cubicBezTo>
                  <a:pt x="113742" y="23812"/>
                  <a:pt x="119062" y="29133"/>
                  <a:pt x="119062" y="35719"/>
                </a:cubicBezTo>
                <a:lnTo>
                  <a:pt x="119062" y="47625"/>
                </a:lnTo>
                <a:cubicBezTo>
                  <a:pt x="119062" y="54211"/>
                  <a:pt x="113742" y="59531"/>
                  <a:pt x="107156" y="59531"/>
                </a:cubicBezTo>
                <a:lnTo>
                  <a:pt x="35719" y="59531"/>
                </a:lnTo>
                <a:cubicBezTo>
                  <a:pt x="29133" y="59531"/>
                  <a:pt x="23812" y="54211"/>
                  <a:pt x="23812" y="47625"/>
                </a:cubicBezTo>
                <a:lnTo>
                  <a:pt x="23812" y="35719"/>
                </a:lnTo>
                <a:cubicBezTo>
                  <a:pt x="23812" y="29133"/>
                  <a:pt x="29133" y="23812"/>
                  <a:pt x="35719" y="23812"/>
                </a:cubicBezTo>
                <a:close/>
                <a:moveTo>
                  <a:pt x="41673" y="86321"/>
                </a:moveTo>
                <a:cubicBezTo>
                  <a:pt x="41673" y="91249"/>
                  <a:pt x="37671" y="95250"/>
                  <a:pt x="32742" y="95250"/>
                </a:cubicBezTo>
                <a:cubicBezTo>
                  <a:pt x="27814" y="95250"/>
                  <a:pt x="23812" y="91249"/>
                  <a:pt x="23812" y="86321"/>
                </a:cubicBezTo>
                <a:cubicBezTo>
                  <a:pt x="23812" y="81392"/>
                  <a:pt x="27814" y="77391"/>
                  <a:pt x="32742" y="77391"/>
                </a:cubicBezTo>
                <a:cubicBezTo>
                  <a:pt x="37671" y="77391"/>
                  <a:pt x="41673" y="81392"/>
                  <a:pt x="41673" y="86321"/>
                </a:cubicBezTo>
                <a:close/>
                <a:moveTo>
                  <a:pt x="71438" y="95250"/>
                </a:moveTo>
                <a:cubicBezTo>
                  <a:pt x="66509" y="95250"/>
                  <a:pt x="62508" y="91249"/>
                  <a:pt x="62508" y="86321"/>
                </a:cubicBezTo>
                <a:cubicBezTo>
                  <a:pt x="62508" y="81392"/>
                  <a:pt x="66509" y="77391"/>
                  <a:pt x="71438" y="77391"/>
                </a:cubicBezTo>
                <a:cubicBezTo>
                  <a:pt x="76366" y="77391"/>
                  <a:pt x="80367" y="81392"/>
                  <a:pt x="80367" y="86321"/>
                </a:cubicBezTo>
                <a:cubicBezTo>
                  <a:pt x="80367" y="91249"/>
                  <a:pt x="76366" y="95250"/>
                  <a:pt x="71438" y="95250"/>
                </a:cubicBezTo>
                <a:close/>
                <a:moveTo>
                  <a:pt x="119062" y="86321"/>
                </a:moveTo>
                <a:cubicBezTo>
                  <a:pt x="119062" y="91249"/>
                  <a:pt x="115061" y="95250"/>
                  <a:pt x="110133" y="95250"/>
                </a:cubicBezTo>
                <a:cubicBezTo>
                  <a:pt x="105204" y="95250"/>
                  <a:pt x="101202" y="91249"/>
                  <a:pt x="101202" y="86321"/>
                </a:cubicBezTo>
                <a:cubicBezTo>
                  <a:pt x="101202" y="81392"/>
                  <a:pt x="105204" y="77391"/>
                  <a:pt x="110133" y="77391"/>
                </a:cubicBezTo>
                <a:cubicBezTo>
                  <a:pt x="115061" y="77391"/>
                  <a:pt x="119062" y="81392"/>
                  <a:pt x="119062" y="86321"/>
                </a:cubicBezTo>
                <a:close/>
                <a:moveTo>
                  <a:pt x="32742" y="130969"/>
                </a:moveTo>
                <a:cubicBezTo>
                  <a:pt x="27814" y="130969"/>
                  <a:pt x="23812" y="126967"/>
                  <a:pt x="23812" y="122039"/>
                </a:cubicBezTo>
                <a:cubicBezTo>
                  <a:pt x="23812" y="117111"/>
                  <a:pt x="27814" y="113109"/>
                  <a:pt x="32742" y="113109"/>
                </a:cubicBezTo>
                <a:cubicBezTo>
                  <a:pt x="37671" y="113109"/>
                  <a:pt x="41673" y="117111"/>
                  <a:pt x="41673" y="122039"/>
                </a:cubicBezTo>
                <a:cubicBezTo>
                  <a:pt x="41673" y="126967"/>
                  <a:pt x="37671" y="130969"/>
                  <a:pt x="32742" y="130969"/>
                </a:cubicBezTo>
                <a:close/>
                <a:moveTo>
                  <a:pt x="80367" y="122039"/>
                </a:moveTo>
                <a:cubicBezTo>
                  <a:pt x="80367" y="126967"/>
                  <a:pt x="76366" y="130969"/>
                  <a:pt x="71438" y="130969"/>
                </a:cubicBezTo>
                <a:cubicBezTo>
                  <a:pt x="66509" y="130969"/>
                  <a:pt x="62508" y="126967"/>
                  <a:pt x="62508" y="122039"/>
                </a:cubicBezTo>
                <a:cubicBezTo>
                  <a:pt x="62508" y="117111"/>
                  <a:pt x="66509" y="113109"/>
                  <a:pt x="71438" y="113109"/>
                </a:cubicBezTo>
                <a:cubicBezTo>
                  <a:pt x="76366" y="113109"/>
                  <a:pt x="80367" y="117111"/>
                  <a:pt x="80367" y="122039"/>
                </a:cubicBezTo>
                <a:close/>
                <a:moveTo>
                  <a:pt x="110133" y="130969"/>
                </a:moveTo>
                <a:cubicBezTo>
                  <a:pt x="105204" y="130969"/>
                  <a:pt x="101202" y="126967"/>
                  <a:pt x="101202" y="122039"/>
                </a:cubicBezTo>
                <a:cubicBezTo>
                  <a:pt x="101202" y="117111"/>
                  <a:pt x="105204" y="113109"/>
                  <a:pt x="110133" y="113109"/>
                </a:cubicBezTo>
                <a:cubicBezTo>
                  <a:pt x="115061" y="113109"/>
                  <a:pt x="119062" y="117111"/>
                  <a:pt x="119062" y="122039"/>
                </a:cubicBezTo>
                <a:cubicBezTo>
                  <a:pt x="119062" y="126967"/>
                  <a:pt x="115061" y="130969"/>
                  <a:pt x="110133" y="130969"/>
                </a:cubicBezTo>
                <a:close/>
                <a:moveTo>
                  <a:pt x="23812" y="157758"/>
                </a:moveTo>
                <a:cubicBezTo>
                  <a:pt x="23812" y="152809"/>
                  <a:pt x="27794" y="148827"/>
                  <a:pt x="32742" y="148827"/>
                </a:cubicBezTo>
                <a:lnTo>
                  <a:pt x="74414" y="148827"/>
                </a:lnTo>
                <a:cubicBezTo>
                  <a:pt x="79364" y="148827"/>
                  <a:pt x="83344" y="152809"/>
                  <a:pt x="83344" y="157758"/>
                </a:cubicBezTo>
                <a:cubicBezTo>
                  <a:pt x="83344" y="162706"/>
                  <a:pt x="79364" y="166687"/>
                  <a:pt x="74414" y="166687"/>
                </a:cubicBezTo>
                <a:lnTo>
                  <a:pt x="32742" y="166687"/>
                </a:lnTo>
                <a:cubicBezTo>
                  <a:pt x="27794" y="166687"/>
                  <a:pt x="23812" y="162706"/>
                  <a:pt x="23812" y="157758"/>
                </a:cubicBezTo>
                <a:close/>
                <a:moveTo>
                  <a:pt x="110133" y="148827"/>
                </a:moveTo>
                <a:cubicBezTo>
                  <a:pt x="115081" y="148827"/>
                  <a:pt x="119062" y="152809"/>
                  <a:pt x="119062" y="157758"/>
                </a:cubicBezTo>
                <a:cubicBezTo>
                  <a:pt x="119062" y="162706"/>
                  <a:pt x="115081" y="166687"/>
                  <a:pt x="110133" y="166687"/>
                </a:cubicBezTo>
                <a:cubicBezTo>
                  <a:pt x="105184" y="166687"/>
                  <a:pt x="101202" y="162706"/>
                  <a:pt x="101202" y="157758"/>
                </a:cubicBezTo>
                <a:cubicBezTo>
                  <a:pt x="101202" y="152809"/>
                  <a:pt x="105184" y="148827"/>
                  <a:pt x="110133" y="14882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847580" y="3453293"/>
            <a:ext cx="2745543"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Few computations</a:t>
            </a:r>
            <a:endParaRPr lang="en-US" sz="1100"/>
          </a:p>
        </p:txBody>
      </p:sp>
      <p:sp>
        <p:nvSpPr>
          <p:cNvPr id="12" name="Freeform 12"/>
          <p:cNvSpPr/>
          <p:nvPr/>
        </p:nvSpPr>
        <p:spPr>
          <a:xfrm>
            <a:off x="380956" y="3948490"/>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530924" y="4100807"/>
            <a:ext cx="166688" cy="190500"/>
          </a:xfrm>
          <a:custGeom>
            <a:avLst/>
            <a:gdLst/>
            <a:ahLst/>
            <a:cxnLst/>
            <a:rect l="l" t="t" r="r" b="b"/>
            <a:pathLst>
              <a:path w="166688" h="190500">
                <a:moveTo>
                  <a:pt x="166688" y="76572"/>
                </a:moveTo>
                <a:cubicBezTo>
                  <a:pt x="161181" y="80218"/>
                  <a:pt x="154856" y="83158"/>
                  <a:pt x="148270" y="85501"/>
                </a:cubicBezTo>
                <a:cubicBezTo>
                  <a:pt x="130783" y="91752"/>
                  <a:pt x="107826" y="95250"/>
                  <a:pt x="83344" y="95250"/>
                </a:cubicBezTo>
                <a:cubicBezTo>
                  <a:pt x="58862" y="95250"/>
                  <a:pt x="35869" y="91716"/>
                  <a:pt x="18418" y="85501"/>
                </a:cubicBezTo>
                <a:cubicBezTo>
                  <a:pt x="11869" y="83158"/>
                  <a:pt x="5507" y="80218"/>
                  <a:pt x="0" y="76572"/>
                </a:cubicBezTo>
                <a:lnTo>
                  <a:pt x="0" y="107156"/>
                </a:lnTo>
                <a:cubicBezTo>
                  <a:pt x="0" y="123601"/>
                  <a:pt x="37319" y="136923"/>
                  <a:pt x="83344" y="136923"/>
                </a:cubicBezTo>
                <a:cubicBezTo>
                  <a:pt x="129369" y="136923"/>
                  <a:pt x="166688" y="123601"/>
                  <a:pt x="166688" y="107156"/>
                </a:cubicBezTo>
                <a:lnTo>
                  <a:pt x="166688" y="76572"/>
                </a:lnTo>
                <a:close/>
                <a:moveTo>
                  <a:pt x="166688" y="47625"/>
                </a:moveTo>
                <a:lnTo>
                  <a:pt x="166688" y="29766"/>
                </a:lnTo>
                <a:cubicBezTo>
                  <a:pt x="166688" y="13320"/>
                  <a:pt x="129369" y="0"/>
                  <a:pt x="83344" y="0"/>
                </a:cubicBezTo>
                <a:cubicBezTo>
                  <a:pt x="37319" y="0"/>
                  <a:pt x="0" y="13320"/>
                  <a:pt x="0" y="29766"/>
                </a:cubicBezTo>
                <a:lnTo>
                  <a:pt x="0" y="47625"/>
                </a:lnTo>
                <a:cubicBezTo>
                  <a:pt x="0" y="64072"/>
                  <a:pt x="37319" y="77391"/>
                  <a:pt x="83344" y="77391"/>
                </a:cubicBezTo>
                <a:cubicBezTo>
                  <a:pt x="129369" y="77391"/>
                  <a:pt x="166688" y="64072"/>
                  <a:pt x="166688" y="47625"/>
                </a:cubicBezTo>
                <a:close/>
                <a:moveTo>
                  <a:pt x="148270" y="145033"/>
                </a:moveTo>
                <a:cubicBezTo>
                  <a:pt x="130820" y="151247"/>
                  <a:pt x="107862" y="154781"/>
                  <a:pt x="83344" y="154781"/>
                </a:cubicBezTo>
                <a:cubicBezTo>
                  <a:pt x="58824" y="154781"/>
                  <a:pt x="35869" y="151247"/>
                  <a:pt x="18418" y="145033"/>
                </a:cubicBezTo>
                <a:cubicBezTo>
                  <a:pt x="11869" y="142690"/>
                  <a:pt x="5507" y="139750"/>
                  <a:pt x="0" y="136103"/>
                </a:cubicBezTo>
                <a:lnTo>
                  <a:pt x="0" y="160734"/>
                </a:lnTo>
                <a:cubicBezTo>
                  <a:pt x="0" y="177180"/>
                  <a:pt x="37319" y="190500"/>
                  <a:pt x="83344" y="190500"/>
                </a:cubicBezTo>
                <a:cubicBezTo>
                  <a:pt x="129369" y="190500"/>
                  <a:pt x="166688" y="177180"/>
                  <a:pt x="166688" y="160734"/>
                </a:cubicBezTo>
                <a:lnTo>
                  <a:pt x="166688" y="136103"/>
                </a:lnTo>
                <a:cubicBezTo>
                  <a:pt x="161181" y="139750"/>
                  <a:pt x="154856" y="142690"/>
                  <a:pt x="148270" y="14503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847580" y="4062744"/>
            <a:ext cx="2223866"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Many data accesses</a:t>
            </a:r>
            <a:endParaRPr lang="en-US" sz="1100"/>
          </a:p>
        </p:txBody>
      </p:sp>
      <p:sp>
        <p:nvSpPr>
          <p:cNvPr id="15" name="Freeform 15"/>
          <p:cNvSpPr/>
          <p:nvPr/>
        </p:nvSpPr>
        <p:spPr>
          <a:xfrm>
            <a:off x="399911" y="4672270"/>
            <a:ext cx="5543455" cy="571500"/>
          </a:xfrm>
          <a:custGeom>
            <a:avLst/>
            <a:gdLst/>
            <a:ahLst/>
            <a:cxnLst/>
            <a:rect l="l" t="t" r="r" b="b"/>
            <a:pathLst>
              <a:path w="5543455" h="571500">
                <a:moveTo>
                  <a:pt x="37909" y="0"/>
                </a:moveTo>
                <a:lnTo>
                  <a:pt x="5429155" y="0"/>
                </a:lnTo>
                <a:cubicBezTo>
                  <a:pt x="5492239" y="0"/>
                  <a:pt x="5543455" y="51217"/>
                  <a:pt x="5543455" y="114300"/>
                </a:cubicBezTo>
                <a:lnTo>
                  <a:pt x="5543455" y="457200"/>
                </a:lnTo>
                <a:cubicBezTo>
                  <a:pt x="5543455" y="520283"/>
                  <a:pt x="5492239" y="571500"/>
                  <a:pt x="5429155" y="571500"/>
                </a:cubicBezTo>
                <a:lnTo>
                  <a:pt x="37909" y="571500"/>
                </a:lnTo>
                <a:cubicBezTo>
                  <a:pt x="16974" y="571500"/>
                  <a:pt x="0" y="554526"/>
                  <a:pt x="0" y="533590"/>
                </a:cubicBezTo>
                <a:lnTo>
                  <a:pt x="0" y="37910"/>
                </a:lnTo>
                <a:cubicBezTo>
                  <a:pt x="0" y="16988"/>
                  <a:pt x="16988" y="0"/>
                  <a:pt x="37909"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399911" y="4672270"/>
            <a:ext cx="37909" cy="571500"/>
          </a:xfrm>
          <a:custGeom>
            <a:avLst/>
            <a:gdLst/>
            <a:ahLst/>
            <a:cxnLst/>
            <a:rect l="l" t="t" r="r" b="b"/>
            <a:pathLst>
              <a:path w="37909" h="571500">
                <a:moveTo>
                  <a:pt x="37909" y="0"/>
                </a:moveTo>
                <a:lnTo>
                  <a:pt x="37909" y="0"/>
                </a:lnTo>
                <a:lnTo>
                  <a:pt x="37909" y="571500"/>
                </a:lnTo>
                <a:lnTo>
                  <a:pt x="37909" y="571500"/>
                </a:lnTo>
                <a:cubicBezTo>
                  <a:pt x="16974" y="571500"/>
                  <a:pt x="0" y="554526"/>
                  <a:pt x="0" y="5335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571248" y="4824651"/>
            <a:ext cx="53054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Arithmetic Intensity </a:t>
            </a:r>
            <a:r>
              <a:rPr lang="en-US" sz="14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Low</a:t>
            </a:r>
            <a:endParaRPr lang="en-US" sz="1100"/>
          </a:p>
        </p:txBody>
      </p:sp>
      <p:sp>
        <p:nvSpPr>
          <p:cNvPr id="18" name="Freeform 18"/>
          <p:cNvSpPr/>
          <p:nvPr/>
        </p:nvSpPr>
        <p:spPr>
          <a:xfrm>
            <a:off x="399911" y="5486353"/>
            <a:ext cx="5543455" cy="647700"/>
          </a:xfrm>
          <a:custGeom>
            <a:avLst/>
            <a:gdLst/>
            <a:ahLst/>
            <a:cxnLst/>
            <a:rect l="l" t="t" r="r" b="b"/>
            <a:pathLst>
              <a:path w="5543455" h="647700">
                <a:moveTo>
                  <a:pt x="37909" y="0"/>
                </a:moveTo>
                <a:lnTo>
                  <a:pt x="5429156" y="0"/>
                </a:lnTo>
                <a:cubicBezTo>
                  <a:pt x="5492281" y="0"/>
                  <a:pt x="5543455" y="51173"/>
                  <a:pt x="5543455" y="114300"/>
                </a:cubicBezTo>
                <a:lnTo>
                  <a:pt x="5543455" y="533400"/>
                </a:lnTo>
                <a:cubicBezTo>
                  <a:pt x="5543455" y="596527"/>
                  <a:pt x="5492281" y="647700"/>
                  <a:pt x="5429156" y="647700"/>
                </a:cubicBezTo>
                <a:lnTo>
                  <a:pt x="37909" y="647700"/>
                </a:lnTo>
                <a:cubicBezTo>
                  <a:pt x="16974" y="647700"/>
                  <a:pt x="0" y="630726"/>
                  <a:pt x="0" y="609791"/>
                </a:cubicBezTo>
                <a:lnTo>
                  <a:pt x="0" y="37909"/>
                </a:lnTo>
                <a:cubicBezTo>
                  <a:pt x="0" y="16988"/>
                  <a:pt x="16988" y="0"/>
                  <a:pt x="37909" y="0"/>
                </a:cubicBezTo>
                <a:close/>
              </a:path>
            </a:pathLst>
          </a:custGeom>
          <a:solidFill>
            <a:srgbClr val="FEF2F2">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399911" y="5486353"/>
            <a:ext cx="37909" cy="647700"/>
          </a:xfrm>
          <a:custGeom>
            <a:avLst/>
            <a:gdLst/>
            <a:ahLst/>
            <a:cxnLst/>
            <a:rect l="l" t="t" r="r" b="b"/>
            <a:pathLst>
              <a:path w="37909" h="647700">
                <a:moveTo>
                  <a:pt x="37909" y="0"/>
                </a:moveTo>
                <a:lnTo>
                  <a:pt x="37909" y="0"/>
                </a:lnTo>
                <a:lnTo>
                  <a:pt x="37909" y="647700"/>
                </a:lnTo>
                <a:lnTo>
                  <a:pt x="37909" y="647700"/>
                </a:lnTo>
                <a:cubicBezTo>
                  <a:pt x="16974" y="647700"/>
                  <a:pt x="0" y="630726"/>
                  <a:pt x="0" y="609791"/>
                </a:cubicBezTo>
                <a:lnTo>
                  <a:pt x="0" y="37909"/>
                </a:lnTo>
                <a:cubicBezTo>
                  <a:pt x="0" y="16988"/>
                  <a:pt x="16988" y="0"/>
                  <a:pt x="37909" y="0"/>
                </a:cubicBezTo>
                <a:close/>
              </a:path>
            </a:pathLst>
          </a:custGeom>
          <a:solidFill>
            <a:srgbClr val="FB2C36">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09307" y="5676788"/>
            <a:ext cx="52387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Conclusion:</a:t>
            </a:r>
            <a:r>
              <a:rPr lang="en-US" sz="15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typically </a:t>
            </a:r>
            <a:r>
              <a:rPr lang="en-US" sz="1500" b="1" i="0" u="none" strike="noStrike">
                <a:solidFill>
                  <a:srgbClr val="E7000B"/>
                </a:solidFill>
                <a:latin typeface="Noto Sans SC" panose="020B0200000000000000" charset="-122"/>
                <a:ea typeface="Noto Sans SC" panose="020B0200000000000000" charset="-122"/>
                <a:cs typeface="Noto Sans SC" panose="020B0200000000000000" charset="-122"/>
                <a:sym typeface="Noto Sans SC" panose="020B0200000000000000" charset="-122"/>
              </a:rPr>
              <a:t>Memory Bound</a:t>
            </a:r>
            <a:endParaRPr lang="en-US" sz="1100"/>
          </a:p>
        </p:txBody>
      </p:sp>
      <p:sp>
        <p:nvSpPr>
          <p:cNvPr id="21" name="Freeform 21"/>
          <p:cNvSpPr/>
          <p:nvPr/>
        </p:nvSpPr>
        <p:spPr>
          <a:xfrm>
            <a:off x="6248338" y="990479"/>
            <a:ext cx="5562600" cy="4838700"/>
          </a:xfrm>
          <a:custGeom>
            <a:avLst/>
            <a:gdLst/>
            <a:ahLst/>
            <a:cxnLst/>
            <a:rect l="l" t="t" r="r" b="b"/>
            <a:pathLst>
              <a:path w="5562600" h="4838700">
                <a:moveTo>
                  <a:pt x="76210" y="0"/>
                </a:moveTo>
                <a:lnTo>
                  <a:pt x="5486390" y="0"/>
                </a:lnTo>
                <a:cubicBezTo>
                  <a:pt x="5528480" y="0"/>
                  <a:pt x="5562600" y="34120"/>
                  <a:pt x="5562600" y="76210"/>
                </a:cubicBezTo>
                <a:lnTo>
                  <a:pt x="5562600" y="4762490"/>
                </a:lnTo>
                <a:cubicBezTo>
                  <a:pt x="5562600" y="4804580"/>
                  <a:pt x="5528480" y="4838700"/>
                  <a:pt x="5486390" y="4838700"/>
                </a:cubicBezTo>
                <a:lnTo>
                  <a:pt x="76210" y="4838700"/>
                </a:lnTo>
                <a:cubicBezTo>
                  <a:pt x="34120" y="4838700"/>
                  <a:pt x="0" y="4804580"/>
                  <a:pt x="0" y="47624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pic>
        <p:nvPicPr>
          <p:cNvPr id="22" name="Picture 22"/>
          <p:cNvPicPr>
            <a:picLocks noChangeAspect="1"/>
          </p:cNvPicPr>
          <p:nvPr/>
        </p:nvPicPr>
        <p:blipFill>
          <a:blip r:embed="rId1"/>
          <a:srcRect/>
          <a:stretch>
            <a:fillRect/>
          </a:stretch>
        </p:blipFill>
        <p:spPr>
          <a:xfrm>
            <a:off x="7596158" y="1990595"/>
            <a:ext cx="2867025" cy="2838450"/>
          </a:xfrm>
          <a:prstGeom prst="roundRect">
            <a:avLst>
              <a:gd name="adj" fmla="val 0"/>
            </a:avLst>
          </a:prstGeom>
          <a:ln w="12700">
            <a:noFill/>
            <a:prstDash val="solid"/>
          </a:ln>
        </p:spPr>
      </p:pic>
      <p:sp>
        <p:nvSpPr>
          <p:cNvPr id="23" name="AutoShape 23"/>
          <p:cNvSpPr/>
          <p:nvPr/>
        </p:nvSpPr>
        <p:spPr>
          <a:xfrm>
            <a:off x="6210238" y="5905360"/>
            <a:ext cx="5638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Image source: HyperPhysics - Vector Addition</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4276" y="599347"/>
            <a:ext cx="11644243" cy="353391"/>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5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How Roofline Guides Optimization</a:t>
            </a:r>
            <a:endParaRPr lang="en-US" sz="1100"/>
          </a:p>
        </p:txBody>
      </p:sp>
      <p:sp>
        <p:nvSpPr>
          <p:cNvPr id="3" name="Freeform 3"/>
          <p:cNvSpPr/>
          <p:nvPr/>
        </p:nvSpPr>
        <p:spPr>
          <a:xfrm>
            <a:off x="362141" y="1165950"/>
            <a:ext cx="5583495" cy="4514571"/>
          </a:xfrm>
          <a:custGeom>
            <a:avLst/>
            <a:gdLst/>
            <a:ahLst/>
            <a:cxnLst/>
            <a:rect l="l" t="t" r="r" b="b"/>
            <a:pathLst>
              <a:path w="5583495" h="4514571">
                <a:moveTo>
                  <a:pt x="106040" y="0"/>
                </a:moveTo>
                <a:lnTo>
                  <a:pt x="5477455" y="0"/>
                </a:lnTo>
                <a:cubicBezTo>
                  <a:pt x="5536019" y="0"/>
                  <a:pt x="5583495" y="45094"/>
                  <a:pt x="5583495" y="100720"/>
                </a:cubicBezTo>
                <a:lnTo>
                  <a:pt x="5583495" y="4413851"/>
                </a:lnTo>
                <a:cubicBezTo>
                  <a:pt x="5583495" y="4469477"/>
                  <a:pt x="5536019" y="4514571"/>
                  <a:pt x="5477455" y="4514571"/>
                </a:cubicBezTo>
                <a:lnTo>
                  <a:pt x="106040" y="4514571"/>
                </a:lnTo>
                <a:cubicBezTo>
                  <a:pt x="47476" y="4514571"/>
                  <a:pt x="0" y="4469477"/>
                  <a:pt x="0" y="4413851"/>
                </a:cubicBezTo>
                <a:lnTo>
                  <a:pt x="0" y="100720"/>
                </a:lnTo>
                <a:cubicBezTo>
                  <a:pt x="0" y="45131"/>
                  <a:pt x="47515" y="0"/>
                  <a:pt x="106040" y="0"/>
                </a:cubicBezTo>
                <a:close/>
              </a:path>
            </a:pathLst>
          </a:custGeom>
          <a:gradFill rotWithShape="1">
            <a:gsLst>
              <a:gs pos="0">
                <a:srgbClr val="EFF6FF">
                  <a:alpha val="100000"/>
                </a:srgbClr>
              </a:gs>
              <a:gs pos="100000">
                <a:srgbClr val="FFFFFF">
                  <a:alpha val="100000"/>
                </a:srgbClr>
              </a:gs>
            </a:gsLst>
            <a:lin ang="2700000"/>
          </a:gradFill>
          <a:ln w="12700">
            <a:solidFill>
              <a:srgbClr val="8EC5FF">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582942" y="1376968"/>
            <a:ext cx="494748" cy="494748"/>
          </a:xfrm>
          <a:custGeom>
            <a:avLst/>
            <a:gdLst/>
            <a:ahLst/>
            <a:cxnLst/>
            <a:rect l="l" t="t" r="r" b="b"/>
            <a:pathLst>
              <a:path w="494748" h="494748">
                <a:moveTo>
                  <a:pt x="106020" y="0"/>
                </a:moveTo>
                <a:lnTo>
                  <a:pt x="388728" y="0"/>
                </a:lnTo>
                <a:cubicBezTo>
                  <a:pt x="447242" y="0"/>
                  <a:pt x="494748" y="47506"/>
                  <a:pt x="494748" y="106020"/>
                </a:cubicBezTo>
                <a:lnTo>
                  <a:pt x="494748" y="388728"/>
                </a:lnTo>
                <a:cubicBezTo>
                  <a:pt x="494748" y="447242"/>
                  <a:pt x="447242" y="494748"/>
                  <a:pt x="388728" y="494748"/>
                </a:cubicBezTo>
                <a:lnTo>
                  <a:pt x="106020" y="494748"/>
                </a:lnTo>
                <a:cubicBezTo>
                  <a:pt x="47506" y="494748"/>
                  <a:pt x="0" y="447242"/>
                  <a:pt x="0" y="388728"/>
                </a:cubicBezTo>
                <a:lnTo>
                  <a:pt x="0" y="106020"/>
                </a:lnTo>
                <a:cubicBezTo>
                  <a:pt x="0" y="47506"/>
                  <a:pt x="47506" y="0"/>
                  <a:pt x="106020" y="0"/>
                </a:cubicBezTo>
                <a:close/>
              </a:path>
            </a:pathLst>
          </a:custGeom>
          <a:solidFill>
            <a:srgbClr val="2B7FFF">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Freeform 5"/>
          <p:cNvSpPr/>
          <p:nvPr/>
        </p:nvSpPr>
        <p:spPr>
          <a:xfrm>
            <a:off x="724276" y="1544811"/>
            <a:ext cx="212035" cy="159027"/>
          </a:xfrm>
          <a:custGeom>
            <a:avLst/>
            <a:gdLst/>
            <a:ahLst/>
            <a:cxnLst/>
            <a:rect l="l" t="t" r="r" b="b"/>
            <a:pathLst>
              <a:path w="212035" h="159027">
                <a:moveTo>
                  <a:pt x="26504" y="0"/>
                </a:moveTo>
                <a:cubicBezTo>
                  <a:pt x="11886" y="0"/>
                  <a:pt x="0" y="11886"/>
                  <a:pt x="0" y="26505"/>
                </a:cubicBezTo>
                <a:lnTo>
                  <a:pt x="0" y="29569"/>
                </a:lnTo>
                <a:cubicBezTo>
                  <a:pt x="0" y="32385"/>
                  <a:pt x="1822" y="34787"/>
                  <a:pt x="4183" y="36320"/>
                </a:cubicBezTo>
                <a:cubicBezTo>
                  <a:pt x="9649" y="39881"/>
                  <a:pt x="13252" y="46010"/>
                  <a:pt x="13252" y="53009"/>
                </a:cubicBezTo>
                <a:cubicBezTo>
                  <a:pt x="13252" y="60008"/>
                  <a:pt x="9649" y="66137"/>
                  <a:pt x="4183" y="69699"/>
                </a:cubicBezTo>
                <a:cubicBezTo>
                  <a:pt x="1822" y="71231"/>
                  <a:pt x="0" y="73633"/>
                  <a:pt x="0" y="76449"/>
                </a:cubicBezTo>
                <a:lnTo>
                  <a:pt x="0" y="99392"/>
                </a:lnTo>
                <a:lnTo>
                  <a:pt x="212035" y="99392"/>
                </a:lnTo>
                <a:lnTo>
                  <a:pt x="212035" y="76449"/>
                </a:lnTo>
                <a:cubicBezTo>
                  <a:pt x="212035" y="73633"/>
                  <a:pt x="210213" y="71231"/>
                  <a:pt x="207852" y="69699"/>
                </a:cubicBezTo>
                <a:cubicBezTo>
                  <a:pt x="202386" y="66137"/>
                  <a:pt x="198783" y="60008"/>
                  <a:pt x="198783" y="53009"/>
                </a:cubicBezTo>
                <a:cubicBezTo>
                  <a:pt x="198783" y="46010"/>
                  <a:pt x="202386" y="39881"/>
                  <a:pt x="207852" y="36320"/>
                </a:cubicBezTo>
                <a:cubicBezTo>
                  <a:pt x="210213" y="34787"/>
                  <a:pt x="212035" y="32385"/>
                  <a:pt x="212035" y="29569"/>
                </a:cubicBezTo>
                <a:lnTo>
                  <a:pt x="212035" y="26505"/>
                </a:lnTo>
                <a:cubicBezTo>
                  <a:pt x="212035" y="11886"/>
                  <a:pt x="200149" y="0"/>
                  <a:pt x="185530" y="0"/>
                </a:cubicBezTo>
                <a:lnTo>
                  <a:pt x="26504" y="0"/>
                </a:lnTo>
                <a:close/>
                <a:moveTo>
                  <a:pt x="212035" y="145774"/>
                </a:moveTo>
                <a:lnTo>
                  <a:pt x="212035" y="119270"/>
                </a:lnTo>
                <a:lnTo>
                  <a:pt x="0" y="119270"/>
                </a:lnTo>
                <a:lnTo>
                  <a:pt x="0" y="145774"/>
                </a:lnTo>
                <a:cubicBezTo>
                  <a:pt x="0" y="153104"/>
                  <a:pt x="5922" y="159026"/>
                  <a:pt x="13252" y="159026"/>
                </a:cubicBezTo>
                <a:lnTo>
                  <a:pt x="39757" y="159026"/>
                </a:lnTo>
                <a:lnTo>
                  <a:pt x="39757" y="149087"/>
                </a:lnTo>
                <a:cubicBezTo>
                  <a:pt x="39757" y="143579"/>
                  <a:pt x="44188" y="139148"/>
                  <a:pt x="49696" y="139148"/>
                </a:cubicBezTo>
                <a:cubicBezTo>
                  <a:pt x="55204" y="139148"/>
                  <a:pt x="59635" y="143579"/>
                  <a:pt x="59635" y="149087"/>
                </a:cubicBezTo>
                <a:lnTo>
                  <a:pt x="59635" y="159026"/>
                </a:lnTo>
                <a:lnTo>
                  <a:pt x="96078" y="159026"/>
                </a:lnTo>
                <a:lnTo>
                  <a:pt x="96078" y="149087"/>
                </a:lnTo>
                <a:cubicBezTo>
                  <a:pt x="96078" y="143579"/>
                  <a:pt x="100509" y="139148"/>
                  <a:pt x="106017" y="139148"/>
                </a:cubicBezTo>
                <a:cubicBezTo>
                  <a:pt x="111525" y="139148"/>
                  <a:pt x="115957" y="143579"/>
                  <a:pt x="115957" y="149087"/>
                </a:cubicBezTo>
                <a:lnTo>
                  <a:pt x="115957" y="159026"/>
                </a:lnTo>
                <a:lnTo>
                  <a:pt x="152400" y="159026"/>
                </a:lnTo>
                <a:lnTo>
                  <a:pt x="152400" y="149087"/>
                </a:lnTo>
                <a:cubicBezTo>
                  <a:pt x="152400" y="143579"/>
                  <a:pt x="156831" y="139148"/>
                  <a:pt x="162339" y="139148"/>
                </a:cubicBezTo>
                <a:cubicBezTo>
                  <a:pt x="167847" y="139148"/>
                  <a:pt x="172278" y="143579"/>
                  <a:pt x="172278" y="149087"/>
                </a:cubicBezTo>
                <a:lnTo>
                  <a:pt x="172278" y="159026"/>
                </a:lnTo>
                <a:lnTo>
                  <a:pt x="198783" y="159026"/>
                </a:lnTo>
                <a:cubicBezTo>
                  <a:pt x="206113" y="159026"/>
                  <a:pt x="212035" y="153104"/>
                  <a:pt x="212035" y="145774"/>
                </a:cubicBezTo>
                <a:close/>
                <a:moveTo>
                  <a:pt x="66261" y="39757"/>
                </a:moveTo>
                <a:lnTo>
                  <a:pt x="66261" y="66261"/>
                </a:lnTo>
                <a:cubicBezTo>
                  <a:pt x="66261" y="73591"/>
                  <a:pt x="60339" y="79513"/>
                  <a:pt x="53009" y="79513"/>
                </a:cubicBezTo>
                <a:cubicBezTo>
                  <a:pt x="45679" y="79513"/>
                  <a:pt x="39757" y="73591"/>
                  <a:pt x="39757" y="66261"/>
                </a:cubicBezTo>
                <a:lnTo>
                  <a:pt x="39757" y="39757"/>
                </a:lnTo>
                <a:cubicBezTo>
                  <a:pt x="39757" y="32427"/>
                  <a:pt x="45679" y="26505"/>
                  <a:pt x="53009" y="26505"/>
                </a:cubicBezTo>
                <a:cubicBezTo>
                  <a:pt x="60339" y="26505"/>
                  <a:pt x="66261" y="32427"/>
                  <a:pt x="66261" y="39757"/>
                </a:cubicBezTo>
                <a:close/>
                <a:moveTo>
                  <a:pt x="119270" y="39757"/>
                </a:moveTo>
                <a:lnTo>
                  <a:pt x="119270" y="66261"/>
                </a:lnTo>
                <a:cubicBezTo>
                  <a:pt x="119270" y="73591"/>
                  <a:pt x="113347" y="79513"/>
                  <a:pt x="106017" y="79513"/>
                </a:cubicBezTo>
                <a:cubicBezTo>
                  <a:pt x="98687" y="79513"/>
                  <a:pt x="92765" y="73591"/>
                  <a:pt x="92765" y="66261"/>
                </a:cubicBezTo>
                <a:lnTo>
                  <a:pt x="92765" y="39757"/>
                </a:lnTo>
                <a:cubicBezTo>
                  <a:pt x="92765" y="32427"/>
                  <a:pt x="98687" y="26505"/>
                  <a:pt x="106017" y="26505"/>
                </a:cubicBezTo>
                <a:cubicBezTo>
                  <a:pt x="113347" y="26505"/>
                  <a:pt x="119270" y="32427"/>
                  <a:pt x="119270" y="39757"/>
                </a:cubicBezTo>
                <a:close/>
                <a:moveTo>
                  <a:pt x="172278" y="39757"/>
                </a:moveTo>
                <a:lnTo>
                  <a:pt x="172278" y="66261"/>
                </a:lnTo>
                <a:cubicBezTo>
                  <a:pt x="172278" y="73591"/>
                  <a:pt x="166356" y="79513"/>
                  <a:pt x="159026" y="79513"/>
                </a:cubicBezTo>
                <a:cubicBezTo>
                  <a:pt x="151696" y="79513"/>
                  <a:pt x="145774" y="73591"/>
                  <a:pt x="145774" y="66261"/>
                </a:cubicBezTo>
                <a:lnTo>
                  <a:pt x="145774" y="39757"/>
                </a:lnTo>
                <a:cubicBezTo>
                  <a:pt x="145774" y="32427"/>
                  <a:pt x="151696" y="26505"/>
                  <a:pt x="159026" y="26505"/>
                </a:cubicBezTo>
                <a:cubicBezTo>
                  <a:pt x="166356" y="26505"/>
                  <a:pt x="172278" y="32427"/>
                  <a:pt x="172278" y="39757"/>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1218972" y="1359315"/>
            <a:ext cx="2727953" cy="282713"/>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7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Bandwidth Region</a:t>
            </a:r>
            <a:endParaRPr lang="en-US" sz="1100"/>
          </a:p>
        </p:txBody>
      </p:sp>
      <p:sp>
        <p:nvSpPr>
          <p:cNvPr id="7" name="AutoShape 7"/>
          <p:cNvSpPr/>
          <p:nvPr/>
        </p:nvSpPr>
        <p:spPr>
          <a:xfrm>
            <a:off x="1218972" y="1641925"/>
            <a:ext cx="1722783" cy="24737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155DFC"/>
                </a:solidFill>
                <a:latin typeface="MiSans" panose="00000500000000000000" charset="-122"/>
                <a:ea typeface="MiSans" panose="00000500000000000000" charset="-122"/>
                <a:cs typeface="MiSans" panose="00000500000000000000" charset="-122"/>
                <a:sym typeface="MiSans" panose="00000500000000000000" charset="-122"/>
              </a:rPr>
              <a:t>Memory Bound</a:t>
            </a:r>
            <a:endParaRPr lang="en-US" sz="1100"/>
          </a:p>
        </p:txBody>
      </p:sp>
      <p:sp>
        <p:nvSpPr>
          <p:cNvPr id="8" name="Freeform 8"/>
          <p:cNvSpPr/>
          <p:nvPr/>
        </p:nvSpPr>
        <p:spPr>
          <a:xfrm>
            <a:off x="582942" y="2880096"/>
            <a:ext cx="5141843" cy="1590261"/>
          </a:xfrm>
          <a:custGeom>
            <a:avLst/>
            <a:gdLst/>
            <a:ahLst/>
            <a:cxnLst/>
            <a:rect l="l" t="t" r="r" b="b"/>
            <a:pathLst>
              <a:path w="5141843" h="1590261">
                <a:moveTo>
                  <a:pt x="70670" y="0"/>
                </a:moveTo>
                <a:lnTo>
                  <a:pt x="5071172" y="0"/>
                </a:lnTo>
                <a:cubicBezTo>
                  <a:pt x="5110176" y="0"/>
                  <a:pt x="5141843" y="31667"/>
                  <a:pt x="5141843" y="70670"/>
                </a:cubicBezTo>
                <a:lnTo>
                  <a:pt x="5141843" y="1519591"/>
                </a:lnTo>
                <a:cubicBezTo>
                  <a:pt x="5141843" y="1558594"/>
                  <a:pt x="5110176" y="1590261"/>
                  <a:pt x="5071172" y="1590261"/>
                </a:cubicBezTo>
                <a:lnTo>
                  <a:pt x="70670" y="1590261"/>
                </a:lnTo>
                <a:cubicBezTo>
                  <a:pt x="31667" y="1590261"/>
                  <a:pt x="0" y="1558594"/>
                  <a:pt x="0" y="1519591"/>
                </a:cubicBezTo>
                <a:lnTo>
                  <a:pt x="0" y="70670"/>
                </a:lnTo>
                <a:cubicBezTo>
                  <a:pt x="0" y="31641"/>
                  <a:pt x="31641" y="0"/>
                  <a:pt x="70670"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9" name="AutoShape 9"/>
          <p:cNvSpPr/>
          <p:nvPr/>
        </p:nvSpPr>
        <p:spPr>
          <a:xfrm>
            <a:off x="759582" y="3056731"/>
            <a:ext cx="4867965" cy="24737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Optimization Approach:</a:t>
            </a:r>
            <a:endParaRPr lang="en-US" sz="1100"/>
          </a:p>
        </p:txBody>
      </p:sp>
      <p:sp>
        <p:nvSpPr>
          <p:cNvPr id="10" name="Freeform 10"/>
          <p:cNvSpPr/>
          <p:nvPr/>
        </p:nvSpPr>
        <p:spPr>
          <a:xfrm>
            <a:off x="777252" y="3480749"/>
            <a:ext cx="159026" cy="159026"/>
          </a:xfrm>
          <a:custGeom>
            <a:avLst/>
            <a:gdLst/>
            <a:ahLst/>
            <a:cxnLst/>
            <a:rect l="l" t="t" r="r" b="b"/>
            <a:pathLst>
              <a:path w="159026" h="159026">
                <a:moveTo>
                  <a:pt x="79513" y="159026"/>
                </a:moveTo>
                <a:cubicBezTo>
                  <a:pt x="123397" y="159026"/>
                  <a:pt x="159026" y="123397"/>
                  <a:pt x="159026" y="79513"/>
                </a:cubicBezTo>
                <a:cubicBezTo>
                  <a:pt x="159026" y="35629"/>
                  <a:pt x="123397" y="0"/>
                  <a:pt x="79513" y="0"/>
                </a:cubicBezTo>
                <a:cubicBezTo>
                  <a:pt x="35629" y="0"/>
                  <a:pt x="0" y="35629"/>
                  <a:pt x="0" y="79513"/>
                </a:cubicBezTo>
                <a:cubicBezTo>
                  <a:pt x="0" y="123397"/>
                  <a:pt x="35629" y="159026"/>
                  <a:pt x="79513" y="159026"/>
                </a:cubicBezTo>
                <a:close/>
                <a:moveTo>
                  <a:pt x="105727" y="66064"/>
                </a:moveTo>
                <a:lnTo>
                  <a:pt x="80880" y="105821"/>
                </a:lnTo>
                <a:cubicBezTo>
                  <a:pt x="79574" y="107902"/>
                  <a:pt x="77339" y="109206"/>
                  <a:pt x="74886" y="109330"/>
                </a:cubicBezTo>
                <a:cubicBezTo>
                  <a:pt x="72431" y="109455"/>
                  <a:pt x="70071" y="108337"/>
                  <a:pt x="68610" y="106349"/>
                </a:cubicBezTo>
                <a:lnTo>
                  <a:pt x="53702" y="86470"/>
                </a:lnTo>
                <a:cubicBezTo>
                  <a:pt x="51218" y="83177"/>
                  <a:pt x="51901" y="78519"/>
                  <a:pt x="55193" y="76034"/>
                </a:cubicBezTo>
                <a:cubicBezTo>
                  <a:pt x="58486" y="73550"/>
                  <a:pt x="63144" y="74233"/>
                  <a:pt x="65629" y="77525"/>
                </a:cubicBezTo>
                <a:lnTo>
                  <a:pt x="74016" y="88707"/>
                </a:lnTo>
                <a:lnTo>
                  <a:pt x="93086" y="58175"/>
                </a:lnTo>
                <a:cubicBezTo>
                  <a:pt x="95260" y="54696"/>
                  <a:pt x="99858" y="53609"/>
                  <a:pt x="103367" y="55814"/>
                </a:cubicBezTo>
                <a:cubicBezTo>
                  <a:pt x="106877" y="58020"/>
                  <a:pt x="107933" y="62586"/>
                  <a:pt x="105727" y="66095"/>
                </a:cubicBezTo>
                <a:close/>
              </a:path>
            </a:pathLst>
          </a:custGeom>
          <a:solidFill>
            <a:srgbClr val="2B7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064308" y="3445453"/>
            <a:ext cx="1960246" cy="21203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Increase data reuse</a:t>
            </a:r>
            <a:endParaRPr lang="en-US" sz="1100"/>
          </a:p>
        </p:txBody>
      </p:sp>
      <p:sp>
        <p:nvSpPr>
          <p:cNvPr id="12" name="Freeform 12"/>
          <p:cNvSpPr/>
          <p:nvPr/>
        </p:nvSpPr>
        <p:spPr>
          <a:xfrm>
            <a:off x="777252" y="3798732"/>
            <a:ext cx="159026" cy="159026"/>
          </a:xfrm>
          <a:custGeom>
            <a:avLst/>
            <a:gdLst/>
            <a:ahLst/>
            <a:cxnLst/>
            <a:rect l="l" t="t" r="r" b="b"/>
            <a:pathLst>
              <a:path w="159026" h="159026">
                <a:moveTo>
                  <a:pt x="79513" y="159026"/>
                </a:moveTo>
                <a:cubicBezTo>
                  <a:pt x="123397" y="159026"/>
                  <a:pt x="159026" y="123397"/>
                  <a:pt x="159026" y="79513"/>
                </a:cubicBezTo>
                <a:cubicBezTo>
                  <a:pt x="159026" y="35629"/>
                  <a:pt x="123397" y="0"/>
                  <a:pt x="79513" y="0"/>
                </a:cubicBezTo>
                <a:cubicBezTo>
                  <a:pt x="35629" y="0"/>
                  <a:pt x="0" y="35629"/>
                  <a:pt x="0" y="79513"/>
                </a:cubicBezTo>
                <a:cubicBezTo>
                  <a:pt x="0" y="123397"/>
                  <a:pt x="35629" y="159026"/>
                  <a:pt x="79513" y="159026"/>
                </a:cubicBezTo>
                <a:close/>
                <a:moveTo>
                  <a:pt x="105727" y="66064"/>
                </a:moveTo>
                <a:lnTo>
                  <a:pt x="80880" y="105821"/>
                </a:lnTo>
                <a:cubicBezTo>
                  <a:pt x="79574" y="107902"/>
                  <a:pt x="77339" y="109206"/>
                  <a:pt x="74886" y="109330"/>
                </a:cubicBezTo>
                <a:cubicBezTo>
                  <a:pt x="72431" y="109455"/>
                  <a:pt x="70071" y="108337"/>
                  <a:pt x="68610" y="106349"/>
                </a:cubicBezTo>
                <a:lnTo>
                  <a:pt x="53702" y="86470"/>
                </a:lnTo>
                <a:cubicBezTo>
                  <a:pt x="51218" y="83177"/>
                  <a:pt x="51901" y="78519"/>
                  <a:pt x="55193" y="76034"/>
                </a:cubicBezTo>
                <a:cubicBezTo>
                  <a:pt x="58486" y="73550"/>
                  <a:pt x="63144" y="74233"/>
                  <a:pt x="65629" y="77525"/>
                </a:cubicBezTo>
                <a:lnTo>
                  <a:pt x="74016" y="88707"/>
                </a:lnTo>
                <a:lnTo>
                  <a:pt x="93086" y="58175"/>
                </a:lnTo>
                <a:cubicBezTo>
                  <a:pt x="95260" y="54696"/>
                  <a:pt x="99858" y="53609"/>
                  <a:pt x="103367" y="55814"/>
                </a:cubicBezTo>
                <a:cubicBezTo>
                  <a:pt x="106877" y="58020"/>
                  <a:pt x="107933" y="62586"/>
                  <a:pt x="105727" y="66095"/>
                </a:cubicBezTo>
                <a:close/>
              </a:path>
            </a:pathLst>
          </a:custGeom>
          <a:solidFill>
            <a:srgbClr val="2B7FFF">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1064307" y="3763436"/>
            <a:ext cx="2018861" cy="24737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Cache optimization</a:t>
            </a:r>
            <a:endParaRPr lang="en-US" sz="1100"/>
          </a:p>
        </p:txBody>
      </p:sp>
      <p:sp>
        <p:nvSpPr>
          <p:cNvPr id="14" name="Freeform 14"/>
          <p:cNvSpPr/>
          <p:nvPr/>
        </p:nvSpPr>
        <p:spPr>
          <a:xfrm>
            <a:off x="777252" y="4116715"/>
            <a:ext cx="159026" cy="159026"/>
          </a:xfrm>
          <a:custGeom>
            <a:avLst/>
            <a:gdLst/>
            <a:ahLst/>
            <a:cxnLst/>
            <a:rect l="l" t="t" r="r" b="b"/>
            <a:pathLst>
              <a:path w="159026" h="159026">
                <a:moveTo>
                  <a:pt x="79513" y="159026"/>
                </a:moveTo>
                <a:cubicBezTo>
                  <a:pt x="123397" y="159026"/>
                  <a:pt x="159026" y="123397"/>
                  <a:pt x="159026" y="79513"/>
                </a:cubicBezTo>
                <a:cubicBezTo>
                  <a:pt x="159026" y="35629"/>
                  <a:pt x="123397" y="0"/>
                  <a:pt x="79513" y="0"/>
                </a:cubicBezTo>
                <a:cubicBezTo>
                  <a:pt x="35629" y="0"/>
                  <a:pt x="0" y="35629"/>
                  <a:pt x="0" y="79513"/>
                </a:cubicBezTo>
                <a:cubicBezTo>
                  <a:pt x="0" y="123397"/>
                  <a:pt x="35629" y="159026"/>
                  <a:pt x="79513" y="159026"/>
                </a:cubicBezTo>
                <a:close/>
                <a:moveTo>
                  <a:pt x="105727" y="66064"/>
                </a:moveTo>
                <a:lnTo>
                  <a:pt x="80880" y="105821"/>
                </a:lnTo>
                <a:cubicBezTo>
                  <a:pt x="79574" y="107902"/>
                  <a:pt x="77339" y="109206"/>
                  <a:pt x="74886" y="109330"/>
                </a:cubicBezTo>
                <a:cubicBezTo>
                  <a:pt x="72431" y="109455"/>
                  <a:pt x="70071" y="108337"/>
                  <a:pt x="68610" y="106349"/>
                </a:cubicBezTo>
                <a:lnTo>
                  <a:pt x="53702" y="86470"/>
                </a:lnTo>
                <a:cubicBezTo>
                  <a:pt x="51218" y="83177"/>
                  <a:pt x="51901" y="78519"/>
                  <a:pt x="55193" y="76034"/>
                </a:cubicBezTo>
                <a:cubicBezTo>
                  <a:pt x="58486" y="73550"/>
                  <a:pt x="63144" y="74233"/>
                  <a:pt x="65629" y="77525"/>
                </a:cubicBezTo>
                <a:lnTo>
                  <a:pt x="74016" y="88707"/>
                </a:lnTo>
                <a:lnTo>
                  <a:pt x="93086" y="58175"/>
                </a:lnTo>
                <a:cubicBezTo>
                  <a:pt x="95260" y="54696"/>
                  <a:pt x="99858" y="53609"/>
                  <a:pt x="103367" y="55814"/>
                </a:cubicBezTo>
                <a:cubicBezTo>
                  <a:pt x="106877" y="58020"/>
                  <a:pt x="107933" y="62586"/>
                  <a:pt x="105727" y="66095"/>
                </a:cubicBezTo>
                <a:close/>
              </a:path>
            </a:pathLst>
          </a:custGeom>
          <a:solidFill>
            <a:srgbClr val="2B7FFF">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1064308" y="4081411"/>
            <a:ext cx="1790261" cy="24737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Blocking technique</a:t>
            </a:r>
            <a:endParaRPr lang="en-US" sz="1100"/>
          </a:p>
        </p:txBody>
      </p:sp>
      <p:sp>
        <p:nvSpPr>
          <p:cNvPr id="16" name="Freeform 16"/>
          <p:cNvSpPr/>
          <p:nvPr/>
        </p:nvSpPr>
        <p:spPr>
          <a:xfrm>
            <a:off x="6244167" y="1165950"/>
            <a:ext cx="5583495" cy="4514571"/>
          </a:xfrm>
          <a:custGeom>
            <a:avLst/>
            <a:gdLst/>
            <a:ahLst/>
            <a:cxnLst/>
            <a:rect l="l" t="t" r="r" b="b"/>
            <a:pathLst>
              <a:path w="5583495" h="4514571">
                <a:moveTo>
                  <a:pt x="106040" y="0"/>
                </a:moveTo>
                <a:lnTo>
                  <a:pt x="5477455" y="0"/>
                </a:lnTo>
                <a:cubicBezTo>
                  <a:pt x="5536019" y="0"/>
                  <a:pt x="5583495" y="45094"/>
                  <a:pt x="5583495" y="100720"/>
                </a:cubicBezTo>
                <a:lnTo>
                  <a:pt x="5583495" y="4413851"/>
                </a:lnTo>
                <a:cubicBezTo>
                  <a:pt x="5583495" y="4469477"/>
                  <a:pt x="5536019" y="4514571"/>
                  <a:pt x="5477455" y="4514571"/>
                </a:cubicBezTo>
                <a:lnTo>
                  <a:pt x="106040" y="4514571"/>
                </a:lnTo>
                <a:cubicBezTo>
                  <a:pt x="47476" y="4514571"/>
                  <a:pt x="0" y="4469477"/>
                  <a:pt x="0" y="4413851"/>
                </a:cubicBezTo>
                <a:lnTo>
                  <a:pt x="0" y="100720"/>
                </a:lnTo>
                <a:cubicBezTo>
                  <a:pt x="0" y="45131"/>
                  <a:pt x="47515" y="0"/>
                  <a:pt x="106040" y="0"/>
                </a:cubicBezTo>
                <a:close/>
              </a:path>
            </a:pathLst>
          </a:custGeom>
          <a:gradFill rotWithShape="1">
            <a:gsLst>
              <a:gs pos="0">
                <a:srgbClr val="FEF2F2">
                  <a:alpha val="100000"/>
                </a:srgbClr>
              </a:gs>
              <a:gs pos="100000">
                <a:srgbClr val="FFFFFF">
                  <a:alpha val="100000"/>
                </a:srgbClr>
              </a:gs>
            </a:gsLst>
            <a:lin ang="2700000"/>
          </a:gradFill>
          <a:ln w="12700">
            <a:solidFill>
              <a:srgbClr val="FFA2A2">
                <a:alpha val="100000"/>
              </a:srgbClr>
            </a:solidFill>
            <a:prstDash val="solid"/>
          </a:ln>
        </p:spPr>
        <p:txBody>
          <a:bodyPr wrap="square" lIns="91440" tIns="45720" rIns="91440" bIns="45720" rtlCol="0" anchor="t">
            <a:noAutofit/>
          </a:bodyPr>
          <a:lstStyle/>
          <a:p>
            <a:pPr algn="ctr">
              <a:defRPr/>
            </a:pPr>
          </a:p>
        </p:txBody>
      </p:sp>
      <p:sp>
        <p:nvSpPr>
          <p:cNvPr id="17" name="Freeform 17"/>
          <p:cNvSpPr/>
          <p:nvPr/>
        </p:nvSpPr>
        <p:spPr>
          <a:xfrm>
            <a:off x="6464968" y="1429722"/>
            <a:ext cx="494748" cy="494748"/>
          </a:xfrm>
          <a:custGeom>
            <a:avLst/>
            <a:gdLst/>
            <a:ahLst/>
            <a:cxnLst/>
            <a:rect l="l" t="t" r="r" b="b"/>
            <a:pathLst>
              <a:path w="494748" h="494748">
                <a:moveTo>
                  <a:pt x="106020" y="0"/>
                </a:moveTo>
                <a:lnTo>
                  <a:pt x="388728" y="0"/>
                </a:lnTo>
                <a:cubicBezTo>
                  <a:pt x="447242" y="0"/>
                  <a:pt x="494748" y="47506"/>
                  <a:pt x="494748" y="106020"/>
                </a:cubicBezTo>
                <a:lnTo>
                  <a:pt x="494748" y="388728"/>
                </a:lnTo>
                <a:cubicBezTo>
                  <a:pt x="494748" y="447242"/>
                  <a:pt x="447242" y="494748"/>
                  <a:pt x="388728" y="494748"/>
                </a:cubicBezTo>
                <a:lnTo>
                  <a:pt x="106020" y="494748"/>
                </a:lnTo>
                <a:cubicBezTo>
                  <a:pt x="47506" y="494748"/>
                  <a:pt x="0" y="447242"/>
                  <a:pt x="0" y="388728"/>
                </a:cubicBezTo>
                <a:lnTo>
                  <a:pt x="0" y="106020"/>
                </a:lnTo>
                <a:cubicBezTo>
                  <a:pt x="0" y="47506"/>
                  <a:pt x="47506" y="0"/>
                  <a:pt x="106020" y="0"/>
                </a:cubicBezTo>
                <a:close/>
              </a:path>
            </a:pathLst>
          </a:custGeom>
          <a:solidFill>
            <a:srgbClr val="FB2C36">
              <a:alpha val="100000"/>
            </a:srgbClr>
          </a:solidFill>
          <a:ln w="12700">
            <a:noFill/>
            <a:prstDash val="solid"/>
          </a:ln>
          <a:effectLst>
            <a:outerShdw blurRad="50800" dist="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8" name="Freeform 18"/>
          <p:cNvSpPr/>
          <p:nvPr/>
        </p:nvSpPr>
        <p:spPr>
          <a:xfrm>
            <a:off x="6606302" y="1571061"/>
            <a:ext cx="212035" cy="212035"/>
          </a:xfrm>
          <a:custGeom>
            <a:avLst/>
            <a:gdLst/>
            <a:ahLst/>
            <a:cxnLst/>
            <a:rect l="l" t="t" r="r" b="b"/>
            <a:pathLst>
              <a:path w="212035" h="212035">
                <a:moveTo>
                  <a:pt x="72887" y="9939"/>
                </a:moveTo>
                <a:cubicBezTo>
                  <a:pt x="72887" y="4431"/>
                  <a:pt x="68456" y="0"/>
                  <a:pt x="62948" y="0"/>
                </a:cubicBezTo>
                <a:cubicBezTo>
                  <a:pt x="57440" y="0"/>
                  <a:pt x="53009" y="4431"/>
                  <a:pt x="53009" y="9939"/>
                </a:cubicBezTo>
                <a:lnTo>
                  <a:pt x="53009" y="26504"/>
                </a:lnTo>
                <a:cubicBezTo>
                  <a:pt x="38390" y="26504"/>
                  <a:pt x="26504" y="38390"/>
                  <a:pt x="26504" y="53009"/>
                </a:cubicBezTo>
                <a:lnTo>
                  <a:pt x="9939" y="53009"/>
                </a:lnTo>
                <a:cubicBezTo>
                  <a:pt x="4431" y="53009"/>
                  <a:pt x="0" y="57440"/>
                  <a:pt x="0" y="62948"/>
                </a:cubicBezTo>
                <a:cubicBezTo>
                  <a:pt x="0" y="68456"/>
                  <a:pt x="4431" y="72887"/>
                  <a:pt x="9939" y="72887"/>
                </a:cubicBezTo>
                <a:lnTo>
                  <a:pt x="26504" y="72887"/>
                </a:lnTo>
                <a:lnTo>
                  <a:pt x="26504" y="96078"/>
                </a:lnTo>
                <a:lnTo>
                  <a:pt x="9939" y="96078"/>
                </a:lnTo>
                <a:cubicBezTo>
                  <a:pt x="4431" y="96078"/>
                  <a:pt x="0" y="100509"/>
                  <a:pt x="0" y="106017"/>
                </a:cubicBezTo>
                <a:cubicBezTo>
                  <a:pt x="0" y="111525"/>
                  <a:pt x="4431" y="115957"/>
                  <a:pt x="9939" y="115957"/>
                </a:cubicBezTo>
                <a:lnTo>
                  <a:pt x="26504" y="115957"/>
                </a:lnTo>
                <a:lnTo>
                  <a:pt x="26504" y="139148"/>
                </a:lnTo>
                <a:lnTo>
                  <a:pt x="9939" y="139148"/>
                </a:lnTo>
                <a:cubicBezTo>
                  <a:pt x="4431" y="139148"/>
                  <a:pt x="0" y="143579"/>
                  <a:pt x="0" y="149087"/>
                </a:cubicBezTo>
                <a:cubicBezTo>
                  <a:pt x="0" y="154595"/>
                  <a:pt x="4431" y="159026"/>
                  <a:pt x="9939" y="159026"/>
                </a:cubicBezTo>
                <a:lnTo>
                  <a:pt x="26504" y="159026"/>
                </a:lnTo>
                <a:cubicBezTo>
                  <a:pt x="26504" y="173645"/>
                  <a:pt x="38390" y="185530"/>
                  <a:pt x="53009" y="185530"/>
                </a:cubicBezTo>
                <a:lnTo>
                  <a:pt x="53009" y="202096"/>
                </a:lnTo>
                <a:cubicBezTo>
                  <a:pt x="53009" y="207604"/>
                  <a:pt x="57440" y="212035"/>
                  <a:pt x="62948" y="212035"/>
                </a:cubicBezTo>
                <a:cubicBezTo>
                  <a:pt x="68456" y="212035"/>
                  <a:pt x="72887" y="207604"/>
                  <a:pt x="72887" y="202096"/>
                </a:cubicBezTo>
                <a:lnTo>
                  <a:pt x="72887" y="185530"/>
                </a:lnTo>
                <a:lnTo>
                  <a:pt x="96078" y="185530"/>
                </a:lnTo>
                <a:lnTo>
                  <a:pt x="96078" y="202096"/>
                </a:lnTo>
                <a:cubicBezTo>
                  <a:pt x="96078" y="207604"/>
                  <a:pt x="100509" y="212035"/>
                  <a:pt x="106017" y="212035"/>
                </a:cubicBezTo>
                <a:cubicBezTo>
                  <a:pt x="111525" y="212035"/>
                  <a:pt x="115957" y="207604"/>
                  <a:pt x="115957" y="202096"/>
                </a:cubicBezTo>
                <a:lnTo>
                  <a:pt x="115957" y="185530"/>
                </a:lnTo>
                <a:lnTo>
                  <a:pt x="139148" y="185530"/>
                </a:lnTo>
                <a:lnTo>
                  <a:pt x="139148" y="202096"/>
                </a:lnTo>
                <a:cubicBezTo>
                  <a:pt x="139148" y="207604"/>
                  <a:pt x="143579" y="212035"/>
                  <a:pt x="149087" y="212035"/>
                </a:cubicBezTo>
                <a:cubicBezTo>
                  <a:pt x="154595" y="212035"/>
                  <a:pt x="159026" y="207604"/>
                  <a:pt x="159026" y="202096"/>
                </a:cubicBezTo>
                <a:lnTo>
                  <a:pt x="159026" y="185530"/>
                </a:lnTo>
                <a:cubicBezTo>
                  <a:pt x="173645" y="185530"/>
                  <a:pt x="185530" y="173645"/>
                  <a:pt x="185530" y="159026"/>
                </a:cubicBezTo>
                <a:lnTo>
                  <a:pt x="202096" y="159026"/>
                </a:lnTo>
                <a:cubicBezTo>
                  <a:pt x="207604" y="159026"/>
                  <a:pt x="212035" y="154595"/>
                  <a:pt x="212035" y="149087"/>
                </a:cubicBezTo>
                <a:cubicBezTo>
                  <a:pt x="212035" y="143579"/>
                  <a:pt x="207604" y="139148"/>
                  <a:pt x="202096" y="139148"/>
                </a:cubicBezTo>
                <a:lnTo>
                  <a:pt x="185530" y="139148"/>
                </a:lnTo>
                <a:lnTo>
                  <a:pt x="185530" y="115957"/>
                </a:lnTo>
                <a:lnTo>
                  <a:pt x="202096" y="115957"/>
                </a:lnTo>
                <a:cubicBezTo>
                  <a:pt x="207604" y="115957"/>
                  <a:pt x="212035" y="111525"/>
                  <a:pt x="212035" y="106017"/>
                </a:cubicBezTo>
                <a:cubicBezTo>
                  <a:pt x="212035" y="100509"/>
                  <a:pt x="207604" y="96078"/>
                  <a:pt x="202096" y="96078"/>
                </a:cubicBezTo>
                <a:lnTo>
                  <a:pt x="185530" y="96078"/>
                </a:lnTo>
                <a:lnTo>
                  <a:pt x="185530" y="72887"/>
                </a:lnTo>
                <a:lnTo>
                  <a:pt x="202096" y="72887"/>
                </a:lnTo>
                <a:cubicBezTo>
                  <a:pt x="207604" y="72887"/>
                  <a:pt x="212035" y="68456"/>
                  <a:pt x="212035" y="62948"/>
                </a:cubicBezTo>
                <a:cubicBezTo>
                  <a:pt x="212035" y="57440"/>
                  <a:pt x="207604" y="53009"/>
                  <a:pt x="202096" y="53009"/>
                </a:cubicBezTo>
                <a:lnTo>
                  <a:pt x="185530" y="53009"/>
                </a:lnTo>
                <a:cubicBezTo>
                  <a:pt x="185530" y="38390"/>
                  <a:pt x="173645" y="26504"/>
                  <a:pt x="159026" y="26504"/>
                </a:cubicBezTo>
                <a:lnTo>
                  <a:pt x="159026" y="9939"/>
                </a:lnTo>
                <a:cubicBezTo>
                  <a:pt x="159026" y="4431"/>
                  <a:pt x="154595" y="0"/>
                  <a:pt x="149087" y="0"/>
                </a:cubicBezTo>
                <a:cubicBezTo>
                  <a:pt x="143579" y="0"/>
                  <a:pt x="139148" y="4431"/>
                  <a:pt x="139148" y="9939"/>
                </a:cubicBezTo>
                <a:lnTo>
                  <a:pt x="139148" y="26504"/>
                </a:lnTo>
                <a:lnTo>
                  <a:pt x="115957" y="26504"/>
                </a:lnTo>
                <a:lnTo>
                  <a:pt x="115957" y="9939"/>
                </a:lnTo>
                <a:cubicBezTo>
                  <a:pt x="115957" y="4431"/>
                  <a:pt x="111525" y="0"/>
                  <a:pt x="106017" y="0"/>
                </a:cubicBezTo>
                <a:cubicBezTo>
                  <a:pt x="100509" y="0"/>
                  <a:pt x="96078" y="4431"/>
                  <a:pt x="96078" y="9939"/>
                </a:cubicBezTo>
                <a:lnTo>
                  <a:pt x="96078" y="26504"/>
                </a:lnTo>
                <a:lnTo>
                  <a:pt x="72887" y="26504"/>
                </a:lnTo>
                <a:lnTo>
                  <a:pt x="72887" y="9939"/>
                </a:lnTo>
                <a:close/>
                <a:moveTo>
                  <a:pt x="66261" y="53009"/>
                </a:moveTo>
                <a:lnTo>
                  <a:pt x="145774" y="53009"/>
                </a:lnTo>
                <a:cubicBezTo>
                  <a:pt x="153104" y="53009"/>
                  <a:pt x="159026" y="58931"/>
                  <a:pt x="159026" y="66261"/>
                </a:cubicBezTo>
                <a:lnTo>
                  <a:pt x="159026" y="145774"/>
                </a:lnTo>
                <a:cubicBezTo>
                  <a:pt x="159026" y="153104"/>
                  <a:pt x="153104" y="159026"/>
                  <a:pt x="145774" y="159026"/>
                </a:cubicBezTo>
                <a:lnTo>
                  <a:pt x="66261" y="159026"/>
                </a:lnTo>
                <a:cubicBezTo>
                  <a:pt x="58931" y="159026"/>
                  <a:pt x="53009" y="153104"/>
                  <a:pt x="53009" y="145774"/>
                </a:cubicBezTo>
                <a:lnTo>
                  <a:pt x="53009" y="66261"/>
                </a:lnTo>
                <a:cubicBezTo>
                  <a:pt x="53009" y="58931"/>
                  <a:pt x="58931" y="53009"/>
                  <a:pt x="66261" y="53009"/>
                </a:cubicBezTo>
                <a:close/>
                <a:moveTo>
                  <a:pt x="72887" y="72887"/>
                </a:moveTo>
                <a:lnTo>
                  <a:pt x="72887" y="139148"/>
                </a:lnTo>
                <a:lnTo>
                  <a:pt x="139148" y="139148"/>
                </a:lnTo>
                <a:lnTo>
                  <a:pt x="139148" y="72887"/>
                </a:lnTo>
                <a:lnTo>
                  <a:pt x="72887" y="72887"/>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7100998" y="1412069"/>
            <a:ext cx="2769833" cy="282713"/>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7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Compute Region</a:t>
            </a:r>
            <a:endParaRPr lang="en-US" sz="1100"/>
          </a:p>
        </p:txBody>
      </p:sp>
      <p:sp>
        <p:nvSpPr>
          <p:cNvPr id="20" name="AutoShape 20"/>
          <p:cNvSpPr/>
          <p:nvPr/>
        </p:nvSpPr>
        <p:spPr>
          <a:xfrm>
            <a:off x="7100998" y="1694679"/>
            <a:ext cx="1546087" cy="24737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E7000B"/>
                </a:solidFill>
                <a:latin typeface="MiSans" panose="00000500000000000000" charset="-122"/>
                <a:ea typeface="MiSans" panose="00000500000000000000" charset="-122"/>
                <a:cs typeface="MiSans" panose="00000500000000000000" charset="-122"/>
                <a:sym typeface="MiSans" panose="00000500000000000000" charset="-122"/>
              </a:rPr>
              <a:t>Compute Bound</a:t>
            </a:r>
            <a:endParaRPr lang="en-US" sz="1100"/>
          </a:p>
        </p:txBody>
      </p:sp>
      <p:sp>
        <p:nvSpPr>
          <p:cNvPr id="21" name="Freeform 21"/>
          <p:cNvSpPr/>
          <p:nvPr/>
        </p:nvSpPr>
        <p:spPr>
          <a:xfrm>
            <a:off x="6467215" y="2887305"/>
            <a:ext cx="5141843" cy="1590261"/>
          </a:xfrm>
          <a:custGeom>
            <a:avLst/>
            <a:gdLst/>
            <a:ahLst/>
            <a:cxnLst/>
            <a:rect l="l" t="t" r="r" b="b"/>
            <a:pathLst>
              <a:path w="5141843" h="1590261">
                <a:moveTo>
                  <a:pt x="70670" y="0"/>
                </a:moveTo>
                <a:lnTo>
                  <a:pt x="5071172" y="0"/>
                </a:lnTo>
                <a:cubicBezTo>
                  <a:pt x="5110176" y="0"/>
                  <a:pt x="5141843" y="31667"/>
                  <a:pt x="5141843" y="70670"/>
                </a:cubicBezTo>
                <a:lnTo>
                  <a:pt x="5141843" y="1519591"/>
                </a:lnTo>
                <a:cubicBezTo>
                  <a:pt x="5141843" y="1558594"/>
                  <a:pt x="5110176" y="1590261"/>
                  <a:pt x="5071172" y="1590261"/>
                </a:cubicBezTo>
                <a:lnTo>
                  <a:pt x="70670" y="1590261"/>
                </a:lnTo>
                <a:cubicBezTo>
                  <a:pt x="31667" y="1590261"/>
                  <a:pt x="0" y="1558594"/>
                  <a:pt x="0" y="1519591"/>
                </a:cubicBezTo>
                <a:lnTo>
                  <a:pt x="0" y="70670"/>
                </a:lnTo>
                <a:cubicBezTo>
                  <a:pt x="0" y="31641"/>
                  <a:pt x="31641" y="0"/>
                  <a:pt x="70670"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2" name="AutoShape 22"/>
          <p:cNvSpPr/>
          <p:nvPr/>
        </p:nvSpPr>
        <p:spPr>
          <a:xfrm>
            <a:off x="6641608" y="3056731"/>
            <a:ext cx="4867965" cy="24737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000000"/>
                </a:solidFill>
                <a:latin typeface="MiSans" panose="00000500000000000000" charset="-122"/>
                <a:ea typeface="MiSans" panose="00000500000000000000" charset="-122"/>
                <a:cs typeface="MiSans" panose="00000500000000000000" charset="-122"/>
                <a:sym typeface="MiSans" panose="00000500000000000000" charset="-122"/>
              </a:rPr>
              <a:t>Optimization Approach:</a:t>
            </a:r>
            <a:endParaRPr lang="en-US" sz="1100"/>
          </a:p>
        </p:txBody>
      </p:sp>
      <p:sp>
        <p:nvSpPr>
          <p:cNvPr id="23" name="Freeform 23"/>
          <p:cNvSpPr/>
          <p:nvPr/>
        </p:nvSpPr>
        <p:spPr>
          <a:xfrm>
            <a:off x="6659278" y="3480749"/>
            <a:ext cx="159026" cy="159026"/>
          </a:xfrm>
          <a:custGeom>
            <a:avLst/>
            <a:gdLst/>
            <a:ahLst/>
            <a:cxnLst/>
            <a:rect l="l" t="t" r="r" b="b"/>
            <a:pathLst>
              <a:path w="159026" h="159026">
                <a:moveTo>
                  <a:pt x="79513" y="159026"/>
                </a:moveTo>
                <a:cubicBezTo>
                  <a:pt x="123397" y="159026"/>
                  <a:pt x="159026" y="123397"/>
                  <a:pt x="159026" y="79513"/>
                </a:cubicBezTo>
                <a:cubicBezTo>
                  <a:pt x="159026" y="35629"/>
                  <a:pt x="123397" y="0"/>
                  <a:pt x="79513" y="0"/>
                </a:cubicBezTo>
                <a:cubicBezTo>
                  <a:pt x="35629" y="0"/>
                  <a:pt x="0" y="35629"/>
                  <a:pt x="0" y="79513"/>
                </a:cubicBezTo>
                <a:cubicBezTo>
                  <a:pt x="0" y="123397"/>
                  <a:pt x="35629" y="159026"/>
                  <a:pt x="79513" y="159026"/>
                </a:cubicBezTo>
                <a:close/>
                <a:moveTo>
                  <a:pt x="105728" y="66064"/>
                </a:moveTo>
                <a:lnTo>
                  <a:pt x="80880" y="105821"/>
                </a:lnTo>
                <a:cubicBezTo>
                  <a:pt x="79574" y="107902"/>
                  <a:pt x="77339" y="109206"/>
                  <a:pt x="74886" y="109330"/>
                </a:cubicBezTo>
                <a:cubicBezTo>
                  <a:pt x="72431" y="109455"/>
                  <a:pt x="70071" y="108337"/>
                  <a:pt x="68610" y="106349"/>
                </a:cubicBezTo>
                <a:lnTo>
                  <a:pt x="53702" y="86470"/>
                </a:lnTo>
                <a:cubicBezTo>
                  <a:pt x="51218" y="83177"/>
                  <a:pt x="51901" y="78519"/>
                  <a:pt x="55193" y="76034"/>
                </a:cubicBezTo>
                <a:cubicBezTo>
                  <a:pt x="58486" y="73550"/>
                  <a:pt x="63144" y="74233"/>
                  <a:pt x="65629" y="77525"/>
                </a:cubicBezTo>
                <a:lnTo>
                  <a:pt x="74016" y="88707"/>
                </a:lnTo>
                <a:lnTo>
                  <a:pt x="93086" y="58175"/>
                </a:lnTo>
                <a:cubicBezTo>
                  <a:pt x="95260" y="54696"/>
                  <a:pt x="99858" y="53609"/>
                  <a:pt x="103367" y="55814"/>
                </a:cubicBezTo>
                <a:cubicBezTo>
                  <a:pt x="106877" y="58020"/>
                  <a:pt x="107933" y="62586"/>
                  <a:pt x="105728" y="66095"/>
                </a:cubicBezTo>
                <a:close/>
              </a:path>
            </a:pathLst>
          </a:custGeom>
          <a:solidFill>
            <a:srgbClr val="FB2C36">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6946334" y="3445453"/>
            <a:ext cx="1640820" cy="31798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SIMD vectorization</a:t>
            </a:r>
            <a:endParaRPr lang="en-US" sz="1100"/>
          </a:p>
        </p:txBody>
      </p:sp>
      <p:sp>
        <p:nvSpPr>
          <p:cNvPr id="25" name="Freeform 25"/>
          <p:cNvSpPr/>
          <p:nvPr/>
        </p:nvSpPr>
        <p:spPr>
          <a:xfrm>
            <a:off x="6659278" y="3798732"/>
            <a:ext cx="159026" cy="159026"/>
          </a:xfrm>
          <a:custGeom>
            <a:avLst/>
            <a:gdLst/>
            <a:ahLst/>
            <a:cxnLst/>
            <a:rect l="l" t="t" r="r" b="b"/>
            <a:pathLst>
              <a:path w="159026" h="159026">
                <a:moveTo>
                  <a:pt x="79513" y="159026"/>
                </a:moveTo>
                <a:cubicBezTo>
                  <a:pt x="123397" y="159026"/>
                  <a:pt x="159026" y="123397"/>
                  <a:pt x="159026" y="79513"/>
                </a:cubicBezTo>
                <a:cubicBezTo>
                  <a:pt x="159026" y="35629"/>
                  <a:pt x="123397" y="0"/>
                  <a:pt x="79513" y="0"/>
                </a:cubicBezTo>
                <a:cubicBezTo>
                  <a:pt x="35629" y="0"/>
                  <a:pt x="0" y="35629"/>
                  <a:pt x="0" y="79513"/>
                </a:cubicBezTo>
                <a:cubicBezTo>
                  <a:pt x="0" y="123397"/>
                  <a:pt x="35629" y="159026"/>
                  <a:pt x="79513" y="159026"/>
                </a:cubicBezTo>
                <a:close/>
                <a:moveTo>
                  <a:pt x="105728" y="66064"/>
                </a:moveTo>
                <a:lnTo>
                  <a:pt x="80880" y="105821"/>
                </a:lnTo>
                <a:cubicBezTo>
                  <a:pt x="79574" y="107902"/>
                  <a:pt x="77339" y="109206"/>
                  <a:pt x="74886" y="109330"/>
                </a:cubicBezTo>
                <a:cubicBezTo>
                  <a:pt x="72431" y="109455"/>
                  <a:pt x="70071" y="108337"/>
                  <a:pt x="68610" y="106349"/>
                </a:cubicBezTo>
                <a:lnTo>
                  <a:pt x="53702" y="86470"/>
                </a:lnTo>
                <a:cubicBezTo>
                  <a:pt x="51218" y="83177"/>
                  <a:pt x="51901" y="78519"/>
                  <a:pt x="55193" y="76034"/>
                </a:cubicBezTo>
                <a:cubicBezTo>
                  <a:pt x="58486" y="73550"/>
                  <a:pt x="63144" y="74233"/>
                  <a:pt x="65629" y="77525"/>
                </a:cubicBezTo>
                <a:lnTo>
                  <a:pt x="74016" y="88707"/>
                </a:lnTo>
                <a:lnTo>
                  <a:pt x="93086" y="58175"/>
                </a:lnTo>
                <a:cubicBezTo>
                  <a:pt x="95260" y="54696"/>
                  <a:pt x="99858" y="53609"/>
                  <a:pt x="103367" y="55814"/>
                </a:cubicBezTo>
                <a:cubicBezTo>
                  <a:pt x="106877" y="58020"/>
                  <a:pt x="107933" y="62586"/>
                  <a:pt x="105728" y="66095"/>
                </a:cubicBezTo>
                <a:close/>
              </a:path>
            </a:pathLst>
          </a:custGeom>
          <a:solidFill>
            <a:srgbClr val="FB2C36">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6946334" y="3763436"/>
            <a:ext cx="1312574" cy="24737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Parallelization</a:t>
            </a:r>
            <a:endParaRPr lang="en-US" sz="1100"/>
          </a:p>
        </p:txBody>
      </p:sp>
      <p:sp>
        <p:nvSpPr>
          <p:cNvPr id="27" name="Freeform 27"/>
          <p:cNvSpPr/>
          <p:nvPr/>
        </p:nvSpPr>
        <p:spPr>
          <a:xfrm>
            <a:off x="6659278" y="4116715"/>
            <a:ext cx="159026" cy="159026"/>
          </a:xfrm>
          <a:custGeom>
            <a:avLst/>
            <a:gdLst/>
            <a:ahLst/>
            <a:cxnLst/>
            <a:rect l="l" t="t" r="r" b="b"/>
            <a:pathLst>
              <a:path w="159026" h="159026">
                <a:moveTo>
                  <a:pt x="79513" y="159026"/>
                </a:moveTo>
                <a:cubicBezTo>
                  <a:pt x="123397" y="159026"/>
                  <a:pt x="159026" y="123397"/>
                  <a:pt x="159026" y="79513"/>
                </a:cubicBezTo>
                <a:cubicBezTo>
                  <a:pt x="159026" y="35629"/>
                  <a:pt x="123397" y="0"/>
                  <a:pt x="79513" y="0"/>
                </a:cubicBezTo>
                <a:cubicBezTo>
                  <a:pt x="35629" y="0"/>
                  <a:pt x="0" y="35629"/>
                  <a:pt x="0" y="79513"/>
                </a:cubicBezTo>
                <a:cubicBezTo>
                  <a:pt x="0" y="123397"/>
                  <a:pt x="35629" y="159026"/>
                  <a:pt x="79513" y="159026"/>
                </a:cubicBezTo>
                <a:close/>
                <a:moveTo>
                  <a:pt x="105728" y="66064"/>
                </a:moveTo>
                <a:lnTo>
                  <a:pt x="80880" y="105821"/>
                </a:lnTo>
                <a:cubicBezTo>
                  <a:pt x="79574" y="107902"/>
                  <a:pt x="77339" y="109206"/>
                  <a:pt x="74886" y="109330"/>
                </a:cubicBezTo>
                <a:cubicBezTo>
                  <a:pt x="72431" y="109455"/>
                  <a:pt x="70071" y="108337"/>
                  <a:pt x="68610" y="106349"/>
                </a:cubicBezTo>
                <a:lnTo>
                  <a:pt x="53702" y="86470"/>
                </a:lnTo>
                <a:cubicBezTo>
                  <a:pt x="51218" y="83177"/>
                  <a:pt x="51901" y="78519"/>
                  <a:pt x="55193" y="76034"/>
                </a:cubicBezTo>
                <a:cubicBezTo>
                  <a:pt x="58486" y="73550"/>
                  <a:pt x="63144" y="74233"/>
                  <a:pt x="65629" y="77525"/>
                </a:cubicBezTo>
                <a:lnTo>
                  <a:pt x="74016" y="88707"/>
                </a:lnTo>
                <a:lnTo>
                  <a:pt x="93086" y="58175"/>
                </a:lnTo>
                <a:cubicBezTo>
                  <a:pt x="95260" y="54696"/>
                  <a:pt x="99858" y="53609"/>
                  <a:pt x="103367" y="55814"/>
                </a:cubicBezTo>
                <a:cubicBezTo>
                  <a:pt x="106877" y="58020"/>
                  <a:pt x="107933" y="62586"/>
                  <a:pt x="105728" y="66095"/>
                </a:cubicBezTo>
                <a:close/>
              </a:path>
            </a:pathLst>
          </a:custGeom>
          <a:solidFill>
            <a:srgbClr val="FB2C36">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6946333" y="4081411"/>
            <a:ext cx="1910451" cy="32060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GPU acceleration</a:t>
            </a:r>
            <a:endParaRPr lang="en-US" sz="1100"/>
          </a:p>
        </p:txBody>
      </p:sp>
      <p:sp>
        <p:nvSpPr>
          <p:cNvPr id="29" name="Freeform 29"/>
          <p:cNvSpPr/>
          <p:nvPr/>
        </p:nvSpPr>
        <p:spPr>
          <a:xfrm>
            <a:off x="370932" y="5901462"/>
            <a:ext cx="11467460" cy="600765"/>
          </a:xfrm>
          <a:custGeom>
            <a:avLst/>
            <a:gdLst/>
            <a:ahLst/>
            <a:cxnLst/>
            <a:rect l="l" t="t" r="r" b="b"/>
            <a:pathLst>
              <a:path w="11467460" h="600765">
                <a:moveTo>
                  <a:pt x="35162" y="0"/>
                </a:moveTo>
                <a:lnTo>
                  <a:pt x="11361443" y="0"/>
                </a:lnTo>
                <a:cubicBezTo>
                  <a:pt x="11419994" y="0"/>
                  <a:pt x="11467460" y="47465"/>
                  <a:pt x="11467460" y="106017"/>
                </a:cubicBezTo>
                <a:lnTo>
                  <a:pt x="11467460" y="494748"/>
                </a:lnTo>
                <a:cubicBezTo>
                  <a:pt x="11467460" y="553300"/>
                  <a:pt x="11419994" y="600765"/>
                  <a:pt x="11361443" y="600765"/>
                </a:cubicBezTo>
                <a:lnTo>
                  <a:pt x="35162" y="600765"/>
                </a:lnTo>
                <a:cubicBezTo>
                  <a:pt x="15743" y="600765"/>
                  <a:pt x="0" y="585022"/>
                  <a:pt x="0" y="565602"/>
                </a:cubicBezTo>
                <a:lnTo>
                  <a:pt x="0" y="35162"/>
                </a:lnTo>
                <a:cubicBezTo>
                  <a:pt x="0" y="15756"/>
                  <a:pt x="15756" y="0"/>
                  <a:pt x="35162" y="0"/>
                </a:cubicBezTo>
                <a:close/>
              </a:path>
            </a:pathLst>
          </a:custGeom>
          <a:solidFill>
            <a:srgbClr val="8B0000">
              <a:alpha val="10196"/>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370932" y="5901462"/>
            <a:ext cx="35162" cy="600765"/>
          </a:xfrm>
          <a:custGeom>
            <a:avLst/>
            <a:gdLst/>
            <a:ahLst/>
            <a:cxnLst/>
            <a:rect l="l" t="t" r="r" b="b"/>
            <a:pathLst>
              <a:path w="35162" h="600765">
                <a:moveTo>
                  <a:pt x="35162" y="0"/>
                </a:moveTo>
                <a:lnTo>
                  <a:pt x="35162" y="0"/>
                </a:lnTo>
                <a:lnTo>
                  <a:pt x="35162" y="600765"/>
                </a:lnTo>
                <a:lnTo>
                  <a:pt x="35162" y="600765"/>
                </a:lnTo>
                <a:cubicBezTo>
                  <a:pt x="15756" y="600765"/>
                  <a:pt x="0" y="585009"/>
                  <a:pt x="0" y="565602"/>
                </a:cubicBezTo>
                <a:lnTo>
                  <a:pt x="0" y="35162"/>
                </a:lnTo>
                <a:cubicBezTo>
                  <a:pt x="0" y="15756"/>
                  <a:pt x="15756" y="0"/>
                  <a:pt x="35162"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565154" y="6078097"/>
            <a:ext cx="11184835" cy="24737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Idea:</a:t>
            </a:r>
            <a:r>
              <a:rPr lang="en-US" sz="14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 Select targeted optimization strategies based on where the program falls in the Roofline chart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04720" y="608842"/>
            <a:ext cx="11601450" cy="381000"/>
          </a:xfrm>
          <a:prstGeom prst="rect">
            <a:avLst/>
          </a:prstGeom>
          <a:noFill/>
          <a:ln w="12700">
            <a:noFill/>
            <a:prstDash val="solid"/>
          </a:ln>
        </p:spPr>
        <p:txBody>
          <a:bodyPr wrap="square" lIns="0" tIns="0" rIns="0" bIns="0" rtlCol="0" anchor="ctr">
            <a:noAutofit/>
          </a:bodyPr>
          <a:lstStyle/>
          <a:p>
            <a:pPr indent="0" algn="l">
              <a:lnSpc>
                <a:spcPct val="92000"/>
              </a:lnSpc>
              <a:defRPr/>
            </a:pPr>
            <a:r>
              <a:rPr lang="en-US" sz="27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Summary</a:t>
            </a:r>
            <a:endParaRPr lang="en-US" sz="1100"/>
          </a:p>
        </p:txBody>
      </p:sp>
      <p:sp>
        <p:nvSpPr>
          <p:cNvPr id="3" name="AutoShape 3"/>
          <p:cNvSpPr/>
          <p:nvPr/>
        </p:nvSpPr>
        <p:spPr>
          <a:xfrm>
            <a:off x="380956" y="1236667"/>
            <a:ext cx="115443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Key Performance Metrics</a:t>
            </a:r>
            <a:endParaRPr lang="en-US" sz="1100"/>
          </a:p>
        </p:txBody>
      </p:sp>
      <p:sp>
        <p:nvSpPr>
          <p:cNvPr id="4" name="Freeform 4"/>
          <p:cNvSpPr/>
          <p:nvPr/>
        </p:nvSpPr>
        <p:spPr>
          <a:xfrm>
            <a:off x="380956" y="1731800"/>
            <a:ext cx="3686175" cy="1181100"/>
          </a:xfrm>
          <a:custGeom>
            <a:avLst/>
            <a:gdLst/>
            <a:ahLst/>
            <a:cxnLst/>
            <a:rect l="l" t="t" r="r" b="b"/>
            <a:pathLst>
              <a:path w="3686175" h="1181100">
                <a:moveTo>
                  <a:pt x="114295" y="0"/>
                </a:moveTo>
                <a:lnTo>
                  <a:pt x="3571880" y="0"/>
                </a:lnTo>
                <a:cubicBezTo>
                  <a:pt x="3635003" y="0"/>
                  <a:pt x="3686175" y="51172"/>
                  <a:pt x="3686175" y="114295"/>
                </a:cubicBezTo>
                <a:lnTo>
                  <a:pt x="3686175" y="1066805"/>
                </a:lnTo>
                <a:cubicBezTo>
                  <a:pt x="3686175" y="1129928"/>
                  <a:pt x="3635003" y="1181100"/>
                  <a:pt x="3571880" y="1181100"/>
                </a:cubicBezTo>
                <a:lnTo>
                  <a:pt x="114295" y="1181100"/>
                </a:lnTo>
                <a:cubicBezTo>
                  <a:pt x="51172" y="1181100"/>
                  <a:pt x="0" y="1129928"/>
                  <a:pt x="0" y="1066805"/>
                </a:cubicBezTo>
                <a:lnTo>
                  <a:pt x="0" y="114295"/>
                </a:lnTo>
                <a:cubicBezTo>
                  <a:pt x="0" y="51214"/>
                  <a:pt x="51214" y="0"/>
                  <a:pt x="1142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571396" y="1922244"/>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728532" y="2055519"/>
            <a:ext cx="142875" cy="190500"/>
          </a:xfrm>
          <a:custGeom>
            <a:avLst/>
            <a:gdLst/>
            <a:ahLst/>
            <a:cxnLst/>
            <a:rect l="l" t="t" r="r" b="b"/>
            <a:pathLst>
              <a:path w="142875" h="190500">
                <a:moveTo>
                  <a:pt x="23812" y="0"/>
                </a:moveTo>
                <a:cubicBezTo>
                  <a:pt x="10678" y="0"/>
                  <a:pt x="0" y="10678"/>
                  <a:pt x="0" y="23813"/>
                </a:cubicBezTo>
                <a:lnTo>
                  <a:pt x="0" y="166687"/>
                </a:lnTo>
                <a:cubicBezTo>
                  <a:pt x="0" y="179822"/>
                  <a:pt x="10678" y="190500"/>
                  <a:pt x="23812" y="190500"/>
                </a:cubicBezTo>
                <a:lnTo>
                  <a:pt x="119063" y="190500"/>
                </a:lnTo>
                <a:cubicBezTo>
                  <a:pt x="132197" y="190500"/>
                  <a:pt x="142875" y="179822"/>
                  <a:pt x="142875" y="166687"/>
                </a:cubicBezTo>
                <a:lnTo>
                  <a:pt x="142875" y="23813"/>
                </a:lnTo>
                <a:cubicBezTo>
                  <a:pt x="142875" y="10678"/>
                  <a:pt x="132197" y="0"/>
                  <a:pt x="119063" y="0"/>
                </a:cubicBezTo>
                <a:lnTo>
                  <a:pt x="23812" y="0"/>
                </a:lnTo>
                <a:close/>
                <a:moveTo>
                  <a:pt x="35719" y="23813"/>
                </a:moveTo>
                <a:lnTo>
                  <a:pt x="107156" y="23813"/>
                </a:lnTo>
                <a:cubicBezTo>
                  <a:pt x="113742" y="23813"/>
                  <a:pt x="119063" y="29133"/>
                  <a:pt x="119063" y="35719"/>
                </a:cubicBezTo>
                <a:lnTo>
                  <a:pt x="119063" y="47625"/>
                </a:lnTo>
                <a:cubicBezTo>
                  <a:pt x="119063" y="54211"/>
                  <a:pt x="113742" y="59531"/>
                  <a:pt x="107156" y="59531"/>
                </a:cubicBezTo>
                <a:lnTo>
                  <a:pt x="35719" y="59531"/>
                </a:lnTo>
                <a:cubicBezTo>
                  <a:pt x="29133" y="59531"/>
                  <a:pt x="23812" y="54211"/>
                  <a:pt x="23812" y="47625"/>
                </a:cubicBezTo>
                <a:lnTo>
                  <a:pt x="23812" y="35719"/>
                </a:lnTo>
                <a:cubicBezTo>
                  <a:pt x="23812" y="29133"/>
                  <a:pt x="29133" y="23813"/>
                  <a:pt x="35719" y="23813"/>
                </a:cubicBezTo>
                <a:close/>
                <a:moveTo>
                  <a:pt x="41673" y="86321"/>
                </a:moveTo>
                <a:cubicBezTo>
                  <a:pt x="41673" y="91249"/>
                  <a:pt x="37671" y="95250"/>
                  <a:pt x="32742" y="95250"/>
                </a:cubicBezTo>
                <a:cubicBezTo>
                  <a:pt x="27814" y="95250"/>
                  <a:pt x="23812" y="91249"/>
                  <a:pt x="23812" y="86321"/>
                </a:cubicBezTo>
                <a:cubicBezTo>
                  <a:pt x="23812" y="81392"/>
                  <a:pt x="27814" y="77391"/>
                  <a:pt x="32742" y="77391"/>
                </a:cubicBezTo>
                <a:cubicBezTo>
                  <a:pt x="37671" y="77391"/>
                  <a:pt x="41673" y="81392"/>
                  <a:pt x="41673" y="86321"/>
                </a:cubicBezTo>
                <a:close/>
                <a:moveTo>
                  <a:pt x="71438" y="95250"/>
                </a:moveTo>
                <a:cubicBezTo>
                  <a:pt x="66509" y="95250"/>
                  <a:pt x="62508" y="91249"/>
                  <a:pt x="62508" y="86321"/>
                </a:cubicBezTo>
                <a:cubicBezTo>
                  <a:pt x="62508" y="81392"/>
                  <a:pt x="66509" y="77391"/>
                  <a:pt x="71438" y="77391"/>
                </a:cubicBezTo>
                <a:cubicBezTo>
                  <a:pt x="76366" y="77391"/>
                  <a:pt x="80367" y="81392"/>
                  <a:pt x="80367" y="86321"/>
                </a:cubicBezTo>
                <a:cubicBezTo>
                  <a:pt x="80367" y="91249"/>
                  <a:pt x="76366" y="95250"/>
                  <a:pt x="71438" y="95250"/>
                </a:cubicBezTo>
                <a:close/>
                <a:moveTo>
                  <a:pt x="119063" y="86321"/>
                </a:moveTo>
                <a:cubicBezTo>
                  <a:pt x="119063" y="91249"/>
                  <a:pt x="115061" y="95250"/>
                  <a:pt x="110133" y="95250"/>
                </a:cubicBezTo>
                <a:cubicBezTo>
                  <a:pt x="105204" y="95250"/>
                  <a:pt x="101202" y="91249"/>
                  <a:pt x="101202" y="86321"/>
                </a:cubicBezTo>
                <a:cubicBezTo>
                  <a:pt x="101202" y="81392"/>
                  <a:pt x="105204" y="77391"/>
                  <a:pt x="110133" y="77391"/>
                </a:cubicBezTo>
                <a:cubicBezTo>
                  <a:pt x="115061" y="77391"/>
                  <a:pt x="119063" y="81392"/>
                  <a:pt x="119063" y="86321"/>
                </a:cubicBezTo>
                <a:close/>
                <a:moveTo>
                  <a:pt x="32742" y="130969"/>
                </a:moveTo>
                <a:cubicBezTo>
                  <a:pt x="27814" y="130969"/>
                  <a:pt x="23812" y="126967"/>
                  <a:pt x="23812" y="122039"/>
                </a:cubicBezTo>
                <a:cubicBezTo>
                  <a:pt x="23812" y="117111"/>
                  <a:pt x="27814" y="113109"/>
                  <a:pt x="32742" y="113109"/>
                </a:cubicBezTo>
                <a:cubicBezTo>
                  <a:pt x="37671" y="113109"/>
                  <a:pt x="41673" y="117111"/>
                  <a:pt x="41673" y="122039"/>
                </a:cubicBezTo>
                <a:cubicBezTo>
                  <a:pt x="41673" y="126967"/>
                  <a:pt x="37671" y="130969"/>
                  <a:pt x="32742" y="130969"/>
                </a:cubicBezTo>
                <a:close/>
                <a:moveTo>
                  <a:pt x="80367" y="122039"/>
                </a:moveTo>
                <a:cubicBezTo>
                  <a:pt x="80367" y="126967"/>
                  <a:pt x="76366" y="130969"/>
                  <a:pt x="71438" y="130969"/>
                </a:cubicBezTo>
                <a:cubicBezTo>
                  <a:pt x="66509" y="130969"/>
                  <a:pt x="62508" y="126967"/>
                  <a:pt x="62508" y="122039"/>
                </a:cubicBezTo>
                <a:cubicBezTo>
                  <a:pt x="62508" y="117111"/>
                  <a:pt x="66509" y="113109"/>
                  <a:pt x="71438" y="113109"/>
                </a:cubicBezTo>
                <a:cubicBezTo>
                  <a:pt x="76366" y="113109"/>
                  <a:pt x="80367" y="117111"/>
                  <a:pt x="80367" y="122039"/>
                </a:cubicBezTo>
                <a:close/>
                <a:moveTo>
                  <a:pt x="110133" y="130969"/>
                </a:moveTo>
                <a:cubicBezTo>
                  <a:pt x="105204" y="130969"/>
                  <a:pt x="101202" y="126967"/>
                  <a:pt x="101202" y="122039"/>
                </a:cubicBezTo>
                <a:cubicBezTo>
                  <a:pt x="101202" y="117111"/>
                  <a:pt x="105204" y="113109"/>
                  <a:pt x="110133" y="113109"/>
                </a:cubicBezTo>
                <a:cubicBezTo>
                  <a:pt x="115061" y="113109"/>
                  <a:pt x="119063" y="117111"/>
                  <a:pt x="119063" y="122039"/>
                </a:cubicBezTo>
                <a:cubicBezTo>
                  <a:pt x="119063" y="126967"/>
                  <a:pt x="115061" y="130969"/>
                  <a:pt x="110133" y="130969"/>
                </a:cubicBezTo>
                <a:close/>
                <a:moveTo>
                  <a:pt x="23812" y="157758"/>
                </a:moveTo>
                <a:cubicBezTo>
                  <a:pt x="23812" y="152809"/>
                  <a:pt x="27794" y="148827"/>
                  <a:pt x="32742" y="148827"/>
                </a:cubicBezTo>
                <a:lnTo>
                  <a:pt x="74414" y="148827"/>
                </a:lnTo>
                <a:cubicBezTo>
                  <a:pt x="79364" y="148827"/>
                  <a:pt x="83344" y="152809"/>
                  <a:pt x="83344" y="157758"/>
                </a:cubicBezTo>
                <a:cubicBezTo>
                  <a:pt x="83344" y="162706"/>
                  <a:pt x="79364" y="166687"/>
                  <a:pt x="74414" y="166687"/>
                </a:cubicBezTo>
                <a:lnTo>
                  <a:pt x="32742" y="166687"/>
                </a:lnTo>
                <a:cubicBezTo>
                  <a:pt x="27794" y="166687"/>
                  <a:pt x="23812" y="162706"/>
                  <a:pt x="23812" y="157758"/>
                </a:cubicBezTo>
                <a:close/>
                <a:moveTo>
                  <a:pt x="110133" y="148827"/>
                </a:moveTo>
                <a:cubicBezTo>
                  <a:pt x="115081" y="148827"/>
                  <a:pt x="119063" y="152809"/>
                  <a:pt x="119063" y="157758"/>
                </a:cubicBezTo>
                <a:cubicBezTo>
                  <a:pt x="119063" y="162706"/>
                  <a:pt x="115081" y="166687"/>
                  <a:pt x="110133" y="166687"/>
                </a:cubicBezTo>
                <a:cubicBezTo>
                  <a:pt x="105184" y="166687"/>
                  <a:pt x="101202" y="162706"/>
                  <a:pt x="101202" y="157758"/>
                </a:cubicBezTo>
                <a:cubicBezTo>
                  <a:pt x="101202" y="152809"/>
                  <a:pt x="105184" y="148827"/>
                  <a:pt x="110133" y="148827"/>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1142793" y="2017466"/>
            <a:ext cx="704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FLOPS</a:t>
            </a:r>
            <a:endParaRPr lang="en-US" sz="1100"/>
          </a:p>
        </p:txBody>
      </p:sp>
      <p:sp>
        <p:nvSpPr>
          <p:cNvPr id="8" name="AutoShape 8"/>
          <p:cNvSpPr/>
          <p:nvPr/>
        </p:nvSpPr>
        <p:spPr>
          <a:xfrm>
            <a:off x="571396" y="2493642"/>
            <a:ext cx="33813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Compute Capacity</a:t>
            </a:r>
            <a:endParaRPr lang="en-US" sz="1100"/>
          </a:p>
        </p:txBody>
      </p:sp>
      <p:sp>
        <p:nvSpPr>
          <p:cNvPr id="9" name="Freeform 9"/>
          <p:cNvSpPr/>
          <p:nvPr/>
        </p:nvSpPr>
        <p:spPr>
          <a:xfrm>
            <a:off x="4254411" y="1731800"/>
            <a:ext cx="3686175" cy="1181100"/>
          </a:xfrm>
          <a:custGeom>
            <a:avLst/>
            <a:gdLst/>
            <a:ahLst/>
            <a:cxnLst/>
            <a:rect l="l" t="t" r="r" b="b"/>
            <a:pathLst>
              <a:path w="3686175" h="1181100">
                <a:moveTo>
                  <a:pt x="114295" y="0"/>
                </a:moveTo>
                <a:lnTo>
                  <a:pt x="3571880" y="0"/>
                </a:lnTo>
                <a:cubicBezTo>
                  <a:pt x="3635003" y="0"/>
                  <a:pt x="3686175" y="51172"/>
                  <a:pt x="3686175" y="114295"/>
                </a:cubicBezTo>
                <a:lnTo>
                  <a:pt x="3686175" y="1066805"/>
                </a:lnTo>
                <a:cubicBezTo>
                  <a:pt x="3686175" y="1129928"/>
                  <a:pt x="3635003" y="1181100"/>
                  <a:pt x="3571880" y="1181100"/>
                </a:cubicBezTo>
                <a:lnTo>
                  <a:pt x="114295" y="1181100"/>
                </a:lnTo>
                <a:cubicBezTo>
                  <a:pt x="51172" y="1181100"/>
                  <a:pt x="0" y="1129928"/>
                  <a:pt x="0" y="1066805"/>
                </a:cubicBezTo>
                <a:lnTo>
                  <a:pt x="0" y="114295"/>
                </a:lnTo>
                <a:cubicBezTo>
                  <a:pt x="0" y="51214"/>
                  <a:pt x="51214" y="0"/>
                  <a:pt x="1142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4444852" y="1922244"/>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4578175" y="2055519"/>
            <a:ext cx="190500" cy="190500"/>
          </a:xfrm>
          <a:custGeom>
            <a:avLst/>
            <a:gdLst/>
            <a:ahLst/>
            <a:cxnLst/>
            <a:rect l="l" t="t" r="r" b="b"/>
            <a:pathLst>
              <a:path w="190500" h="190500">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107156" y="35719"/>
                </a:moveTo>
                <a:cubicBezTo>
                  <a:pt x="107156" y="29148"/>
                  <a:pt x="101821" y="23813"/>
                  <a:pt x="95250" y="23813"/>
                </a:cubicBezTo>
                <a:cubicBezTo>
                  <a:pt x="88679" y="23813"/>
                  <a:pt x="83344" y="29148"/>
                  <a:pt x="83344" y="35719"/>
                </a:cubicBezTo>
                <a:cubicBezTo>
                  <a:pt x="83344" y="42290"/>
                  <a:pt x="88679" y="47625"/>
                  <a:pt x="95250" y="47625"/>
                </a:cubicBezTo>
                <a:cubicBezTo>
                  <a:pt x="101821" y="47625"/>
                  <a:pt x="107156" y="42290"/>
                  <a:pt x="107156" y="35719"/>
                </a:cubicBezTo>
                <a:close/>
                <a:moveTo>
                  <a:pt x="95250" y="154781"/>
                </a:moveTo>
                <a:cubicBezTo>
                  <a:pt x="108384" y="154781"/>
                  <a:pt x="119063" y="144103"/>
                  <a:pt x="119063" y="130969"/>
                </a:cubicBezTo>
                <a:cubicBezTo>
                  <a:pt x="119063" y="124941"/>
                  <a:pt x="116830" y="119397"/>
                  <a:pt x="113109" y="115230"/>
                </a:cubicBezTo>
                <a:lnTo>
                  <a:pt x="138968" y="63550"/>
                </a:lnTo>
                <a:cubicBezTo>
                  <a:pt x="141163" y="59122"/>
                  <a:pt x="139377" y="53764"/>
                  <a:pt x="134987" y="51570"/>
                </a:cubicBezTo>
                <a:cubicBezTo>
                  <a:pt x="130597" y="49374"/>
                  <a:pt x="125202" y="51159"/>
                  <a:pt x="123006" y="55550"/>
                </a:cubicBezTo>
                <a:lnTo>
                  <a:pt x="97147" y="107231"/>
                </a:lnTo>
                <a:cubicBezTo>
                  <a:pt x="96515" y="107193"/>
                  <a:pt x="95882" y="107156"/>
                  <a:pt x="95250" y="107156"/>
                </a:cubicBezTo>
                <a:cubicBezTo>
                  <a:pt x="82116" y="107156"/>
                  <a:pt x="71437" y="117834"/>
                  <a:pt x="71437" y="130969"/>
                </a:cubicBezTo>
                <a:cubicBezTo>
                  <a:pt x="71437" y="144103"/>
                  <a:pt x="82116" y="154781"/>
                  <a:pt x="95250" y="154781"/>
                </a:cubicBezTo>
                <a:close/>
                <a:moveTo>
                  <a:pt x="65484" y="53577"/>
                </a:moveTo>
                <a:cubicBezTo>
                  <a:pt x="65484" y="47007"/>
                  <a:pt x="60148" y="41673"/>
                  <a:pt x="53577" y="41673"/>
                </a:cubicBezTo>
                <a:cubicBezTo>
                  <a:pt x="47007" y="41673"/>
                  <a:pt x="41673" y="47007"/>
                  <a:pt x="41673" y="53577"/>
                </a:cubicBezTo>
                <a:cubicBezTo>
                  <a:pt x="41673" y="60148"/>
                  <a:pt x="47007" y="65484"/>
                  <a:pt x="53577" y="65484"/>
                </a:cubicBezTo>
                <a:cubicBezTo>
                  <a:pt x="60148" y="65484"/>
                  <a:pt x="65484" y="60148"/>
                  <a:pt x="65484" y="53577"/>
                </a:cubicBezTo>
                <a:close/>
                <a:moveTo>
                  <a:pt x="35719" y="107156"/>
                </a:moveTo>
                <a:cubicBezTo>
                  <a:pt x="42290" y="107156"/>
                  <a:pt x="47625" y="101821"/>
                  <a:pt x="47625" y="95250"/>
                </a:cubicBezTo>
                <a:cubicBezTo>
                  <a:pt x="47625" y="88679"/>
                  <a:pt x="42290" y="83344"/>
                  <a:pt x="35719" y="83344"/>
                </a:cubicBezTo>
                <a:cubicBezTo>
                  <a:pt x="29148" y="83344"/>
                  <a:pt x="23813" y="88679"/>
                  <a:pt x="23813" y="95250"/>
                </a:cubicBezTo>
                <a:cubicBezTo>
                  <a:pt x="23813" y="101821"/>
                  <a:pt x="29148" y="107156"/>
                  <a:pt x="35719" y="107156"/>
                </a:cubicBezTo>
                <a:close/>
                <a:moveTo>
                  <a:pt x="166687" y="95250"/>
                </a:moveTo>
                <a:cubicBezTo>
                  <a:pt x="166687" y="88679"/>
                  <a:pt x="161352" y="83344"/>
                  <a:pt x="154781" y="83344"/>
                </a:cubicBezTo>
                <a:cubicBezTo>
                  <a:pt x="148210" y="83344"/>
                  <a:pt x="142875" y="88679"/>
                  <a:pt x="142875" y="95250"/>
                </a:cubicBezTo>
                <a:cubicBezTo>
                  <a:pt x="142875" y="101821"/>
                  <a:pt x="148210" y="107156"/>
                  <a:pt x="154781" y="107156"/>
                </a:cubicBezTo>
                <a:cubicBezTo>
                  <a:pt x="161352" y="107156"/>
                  <a:pt x="166687" y="101821"/>
                  <a:pt x="166687" y="9525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5016248" y="2017466"/>
            <a:ext cx="11334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Bandwidth</a:t>
            </a:r>
            <a:endParaRPr lang="en-US" sz="1100"/>
          </a:p>
        </p:txBody>
      </p:sp>
      <p:sp>
        <p:nvSpPr>
          <p:cNvPr id="13" name="AutoShape 13"/>
          <p:cNvSpPr/>
          <p:nvPr/>
        </p:nvSpPr>
        <p:spPr>
          <a:xfrm>
            <a:off x="4444852" y="2493642"/>
            <a:ext cx="33813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Data Throughput</a:t>
            </a:r>
            <a:endParaRPr lang="en-US" sz="1100"/>
          </a:p>
        </p:txBody>
      </p:sp>
      <p:sp>
        <p:nvSpPr>
          <p:cNvPr id="14" name="Freeform 14"/>
          <p:cNvSpPr/>
          <p:nvPr/>
        </p:nvSpPr>
        <p:spPr>
          <a:xfrm>
            <a:off x="8127941" y="1731800"/>
            <a:ext cx="3686175" cy="1181100"/>
          </a:xfrm>
          <a:custGeom>
            <a:avLst/>
            <a:gdLst/>
            <a:ahLst/>
            <a:cxnLst/>
            <a:rect l="l" t="t" r="r" b="b"/>
            <a:pathLst>
              <a:path w="3686175" h="1181100">
                <a:moveTo>
                  <a:pt x="114295" y="0"/>
                </a:moveTo>
                <a:lnTo>
                  <a:pt x="3571880" y="0"/>
                </a:lnTo>
                <a:cubicBezTo>
                  <a:pt x="3635003" y="0"/>
                  <a:pt x="3686175" y="51172"/>
                  <a:pt x="3686175" y="114295"/>
                </a:cubicBezTo>
                <a:lnTo>
                  <a:pt x="3686175" y="1066805"/>
                </a:lnTo>
                <a:cubicBezTo>
                  <a:pt x="3686175" y="1129928"/>
                  <a:pt x="3635003" y="1181100"/>
                  <a:pt x="3571880" y="1181100"/>
                </a:cubicBezTo>
                <a:lnTo>
                  <a:pt x="114295" y="1181100"/>
                </a:lnTo>
                <a:cubicBezTo>
                  <a:pt x="51172" y="1181100"/>
                  <a:pt x="0" y="1129928"/>
                  <a:pt x="0" y="1066805"/>
                </a:cubicBezTo>
                <a:lnTo>
                  <a:pt x="0" y="114295"/>
                </a:lnTo>
                <a:cubicBezTo>
                  <a:pt x="0" y="51214"/>
                  <a:pt x="51214" y="0"/>
                  <a:pt x="1142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8318381" y="1922244"/>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8451704" y="2055519"/>
            <a:ext cx="190500" cy="190500"/>
          </a:xfrm>
          <a:custGeom>
            <a:avLst/>
            <a:gdLst/>
            <a:ahLst/>
            <a:cxnLst/>
            <a:rect l="l" t="t" r="r" b="b"/>
            <a:pathLst>
              <a:path w="190500" h="190500">
                <a:moveTo>
                  <a:pt x="95250" y="0"/>
                </a:moveTo>
                <a:cubicBezTo>
                  <a:pt x="147820" y="0"/>
                  <a:pt x="190500" y="42680"/>
                  <a:pt x="190500" y="95250"/>
                </a:cubicBezTo>
                <a:cubicBezTo>
                  <a:pt x="190500" y="147820"/>
                  <a:pt x="147820" y="190500"/>
                  <a:pt x="95250" y="190500"/>
                </a:cubicBezTo>
                <a:cubicBezTo>
                  <a:pt x="42680" y="190500"/>
                  <a:pt x="0" y="147820"/>
                  <a:pt x="0" y="95250"/>
                </a:cubicBezTo>
                <a:cubicBezTo>
                  <a:pt x="0" y="42680"/>
                  <a:pt x="42680" y="0"/>
                  <a:pt x="95250" y="0"/>
                </a:cubicBezTo>
                <a:close/>
                <a:moveTo>
                  <a:pt x="86321" y="44648"/>
                </a:moveTo>
                <a:lnTo>
                  <a:pt x="86321" y="95250"/>
                </a:lnTo>
                <a:cubicBezTo>
                  <a:pt x="86321" y="98227"/>
                  <a:pt x="87809" y="101017"/>
                  <a:pt x="90301" y="102691"/>
                </a:cubicBezTo>
                <a:lnTo>
                  <a:pt x="126020" y="126503"/>
                </a:lnTo>
                <a:cubicBezTo>
                  <a:pt x="130113" y="129257"/>
                  <a:pt x="135658" y="128140"/>
                  <a:pt x="138410" y="124010"/>
                </a:cubicBezTo>
                <a:cubicBezTo>
                  <a:pt x="141163" y="119880"/>
                  <a:pt x="140047" y="114374"/>
                  <a:pt x="135917" y="111622"/>
                </a:cubicBezTo>
                <a:lnTo>
                  <a:pt x="104179" y="90487"/>
                </a:lnTo>
                <a:lnTo>
                  <a:pt x="104179" y="44648"/>
                </a:lnTo>
                <a:cubicBezTo>
                  <a:pt x="104179" y="39700"/>
                  <a:pt x="100199" y="35719"/>
                  <a:pt x="95250" y="35719"/>
                </a:cubicBezTo>
                <a:cubicBezTo>
                  <a:pt x="90301" y="35719"/>
                  <a:pt x="86321" y="39700"/>
                  <a:pt x="86321" y="4464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8889778" y="2017466"/>
            <a:ext cx="82867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Latency</a:t>
            </a:r>
            <a:endParaRPr lang="en-US" sz="1100"/>
          </a:p>
        </p:txBody>
      </p:sp>
      <p:sp>
        <p:nvSpPr>
          <p:cNvPr id="18" name="AutoShape 18"/>
          <p:cNvSpPr/>
          <p:nvPr/>
        </p:nvSpPr>
        <p:spPr>
          <a:xfrm>
            <a:off x="8318381" y="2493642"/>
            <a:ext cx="33813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Single Access Time</a:t>
            </a:r>
            <a:endParaRPr lang="en-US" sz="1100"/>
          </a:p>
        </p:txBody>
      </p:sp>
      <p:sp>
        <p:nvSpPr>
          <p:cNvPr id="19" name="Freeform 19"/>
          <p:cNvSpPr/>
          <p:nvPr/>
        </p:nvSpPr>
        <p:spPr>
          <a:xfrm>
            <a:off x="380956" y="3103093"/>
            <a:ext cx="3686175" cy="1181100"/>
          </a:xfrm>
          <a:custGeom>
            <a:avLst/>
            <a:gdLst/>
            <a:ahLst/>
            <a:cxnLst/>
            <a:rect l="l" t="t" r="r" b="b"/>
            <a:pathLst>
              <a:path w="3686175" h="1181100">
                <a:moveTo>
                  <a:pt x="114295" y="0"/>
                </a:moveTo>
                <a:lnTo>
                  <a:pt x="3571880" y="0"/>
                </a:lnTo>
                <a:cubicBezTo>
                  <a:pt x="3635003" y="0"/>
                  <a:pt x="3686175" y="51172"/>
                  <a:pt x="3686175" y="114295"/>
                </a:cubicBezTo>
                <a:lnTo>
                  <a:pt x="3686175" y="1066805"/>
                </a:lnTo>
                <a:cubicBezTo>
                  <a:pt x="3686175" y="1129928"/>
                  <a:pt x="3635003" y="1181100"/>
                  <a:pt x="3571880" y="1181100"/>
                </a:cubicBezTo>
                <a:lnTo>
                  <a:pt x="114295" y="1181100"/>
                </a:lnTo>
                <a:cubicBezTo>
                  <a:pt x="51172" y="1181100"/>
                  <a:pt x="0" y="1129928"/>
                  <a:pt x="0" y="1066805"/>
                </a:cubicBezTo>
                <a:lnTo>
                  <a:pt x="0" y="114295"/>
                </a:lnTo>
                <a:cubicBezTo>
                  <a:pt x="0" y="51214"/>
                  <a:pt x="51214" y="0"/>
                  <a:pt x="1142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571396" y="3293537"/>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704720" y="3438718"/>
            <a:ext cx="190500" cy="166688"/>
          </a:xfrm>
          <a:custGeom>
            <a:avLst/>
            <a:gdLst/>
            <a:ahLst/>
            <a:cxnLst/>
            <a:rect l="l" t="t" r="r" b="b"/>
            <a:pathLst>
              <a:path w="190500" h="166688">
                <a:moveTo>
                  <a:pt x="23812" y="11906"/>
                </a:moveTo>
                <a:cubicBezTo>
                  <a:pt x="23812" y="5322"/>
                  <a:pt x="18492" y="0"/>
                  <a:pt x="11906" y="0"/>
                </a:cubicBezTo>
                <a:cubicBezTo>
                  <a:pt x="5321" y="0"/>
                  <a:pt x="0" y="5322"/>
                  <a:pt x="0" y="11906"/>
                </a:cubicBezTo>
                <a:lnTo>
                  <a:pt x="0" y="136921"/>
                </a:lnTo>
                <a:cubicBezTo>
                  <a:pt x="0" y="153368"/>
                  <a:pt x="13320" y="166688"/>
                  <a:pt x="29766" y="166688"/>
                </a:cubicBezTo>
                <a:lnTo>
                  <a:pt x="178594" y="166688"/>
                </a:lnTo>
                <a:cubicBezTo>
                  <a:pt x="185179" y="166688"/>
                  <a:pt x="190500" y="161366"/>
                  <a:pt x="190500" y="154782"/>
                </a:cubicBezTo>
                <a:cubicBezTo>
                  <a:pt x="190500" y="148197"/>
                  <a:pt x="185179" y="142875"/>
                  <a:pt x="178594" y="142875"/>
                </a:cubicBezTo>
                <a:lnTo>
                  <a:pt x="29766" y="142875"/>
                </a:lnTo>
                <a:cubicBezTo>
                  <a:pt x="26491" y="142875"/>
                  <a:pt x="23812" y="140196"/>
                  <a:pt x="23812" y="136921"/>
                </a:cubicBezTo>
                <a:lnTo>
                  <a:pt x="23812" y="11906"/>
                </a:lnTo>
                <a:close/>
                <a:moveTo>
                  <a:pt x="175096" y="44128"/>
                </a:moveTo>
                <a:cubicBezTo>
                  <a:pt x="179747" y="39477"/>
                  <a:pt x="179747" y="31924"/>
                  <a:pt x="175096" y="27273"/>
                </a:cubicBezTo>
                <a:cubicBezTo>
                  <a:pt x="170445" y="22621"/>
                  <a:pt x="162891" y="22621"/>
                  <a:pt x="158242" y="27273"/>
                </a:cubicBezTo>
                <a:lnTo>
                  <a:pt x="119062" y="66489"/>
                </a:lnTo>
                <a:lnTo>
                  <a:pt x="97706" y="45170"/>
                </a:lnTo>
                <a:cubicBezTo>
                  <a:pt x="93055" y="40520"/>
                  <a:pt x="85501" y="40520"/>
                  <a:pt x="80851" y="45170"/>
                </a:cubicBezTo>
                <a:lnTo>
                  <a:pt x="45132" y="80888"/>
                </a:lnTo>
                <a:cubicBezTo>
                  <a:pt x="40481" y="85539"/>
                  <a:pt x="40481" y="93093"/>
                  <a:pt x="45132" y="97743"/>
                </a:cubicBezTo>
                <a:cubicBezTo>
                  <a:pt x="49783" y="102394"/>
                  <a:pt x="57335" y="102394"/>
                  <a:pt x="61987" y="97743"/>
                </a:cubicBezTo>
                <a:lnTo>
                  <a:pt x="89298" y="70433"/>
                </a:lnTo>
                <a:lnTo>
                  <a:pt x="110654" y="91790"/>
                </a:lnTo>
                <a:cubicBezTo>
                  <a:pt x="115305" y="96442"/>
                  <a:pt x="122859" y="96442"/>
                  <a:pt x="127508" y="91790"/>
                </a:cubicBezTo>
                <a:lnTo>
                  <a:pt x="175133" y="44165"/>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1142793" y="3388759"/>
            <a:ext cx="1085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Utilization</a:t>
            </a:r>
            <a:endParaRPr lang="en-US" sz="1100"/>
          </a:p>
        </p:txBody>
      </p:sp>
      <p:sp>
        <p:nvSpPr>
          <p:cNvPr id="23" name="AutoShape 23"/>
          <p:cNvSpPr/>
          <p:nvPr/>
        </p:nvSpPr>
        <p:spPr>
          <a:xfrm>
            <a:off x="571396" y="3864935"/>
            <a:ext cx="33813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Resource Utilization</a:t>
            </a:r>
            <a:endParaRPr lang="en-US" sz="1100"/>
          </a:p>
        </p:txBody>
      </p:sp>
      <p:sp>
        <p:nvSpPr>
          <p:cNvPr id="24" name="Freeform 24"/>
          <p:cNvSpPr/>
          <p:nvPr/>
        </p:nvSpPr>
        <p:spPr>
          <a:xfrm>
            <a:off x="4254411" y="3103093"/>
            <a:ext cx="7553325" cy="1181100"/>
          </a:xfrm>
          <a:custGeom>
            <a:avLst/>
            <a:gdLst/>
            <a:ahLst/>
            <a:cxnLst/>
            <a:rect l="l" t="t" r="r" b="b"/>
            <a:pathLst>
              <a:path w="7553325" h="1181100">
                <a:moveTo>
                  <a:pt x="114295" y="0"/>
                </a:moveTo>
                <a:lnTo>
                  <a:pt x="7439030" y="0"/>
                </a:lnTo>
                <a:cubicBezTo>
                  <a:pt x="7502153" y="0"/>
                  <a:pt x="7553325" y="51172"/>
                  <a:pt x="7553325" y="114295"/>
                </a:cubicBezTo>
                <a:lnTo>
                  <a:pt x="7553325" y="1066805"/>
                </a:lnTo>
                <a:cubicBezTo>
                  <a:pt x="7553325" y="1129928"/>
                  <a:pt x="7502153" y="1181100"/>
                  <a:pt x="7439030" y="1181100"/>
                </a:cubicBezTo>
                <a:lnTo>
                  <a:pt x="114295" y="1181100"/>
                </a:lnTo>
                <a:cubicBezTo>
                  <a:pt x="51172" y="1181100"/>
                  <a:pt x="0" y="1129928"/>
                  <a:pt x="0" y="1066805"/>
                </a:cubicBezTo>
                <a:lnTo>
                  <a:pt x="0" y="114295"/>
                </a:lnTo>
                <a:cubicBezTo>
                  <a:pt x="0" y="51214"/>
                  <a:pt x="51214" y="0"/>
                  <a:pt x="11429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4444852" y="3293537"/>
            <a:ext cx="457200" cy="457200"/>
          </a:xfrm>
          <a:custGeom>
            <a:avLst/>
            <a:gdLst/>
            <a:ahLst/>
            <a:cxnLst/>
            <a:rect l="l" t="t" r="r" b="b"/>
            <a:pathLst>
              <a:path w="457200" h="457200">
                <a:moveTo>
                  <a:pt x="76203" y="0"/>
                </a:moveTo>
                <a:lnTo>
                  <a:pt x="380997" y="0"/>
                </a:lnTo>
                <a:cubicBezTo>
                  <a:pt x="423055" y="0"/>
                  <a:pt x="457200" y="34145"/>
                  <a:pt x="457200" y="76203"/>
                </a:cubicBezTo>
                <a:lnTo>
                  <a:pt x="457200" y="380997"/>
                </a:lnTo>
                <a:cubicBezTo>
                  <a:pt x="457200" y="423055"/>
                  <a:pt x="423055" y="457200"/>
                  <a:pt x="380997" y="457200"/>
                </a:cubicBezTo>
                <a:lnTo>
                  <a:pt x="76203" y="457200"/>
                </a:lnTo>
                <a:cubicBezTo>
                  <a:pt x="34145" y="457200"/>
                  <a:pt x="0" y="423055"/>
                  <a:pt x="0" y="380997"/>
                </a:cubicBezTo>
                <a:lnTo>
                  <a:pt x="0" y="76203"/>
                </a:lnTo>
                <a:cubicBezTo>
                  <a:pt x="0" y="34145"/>
                  <a:pt x="34145"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4578175" y="3438718"/>
            <a:ext cx="190500" cy="166688"/>
          </a:xfrm>
          <a:custGeom>
            <a:avLst/>
            <a:gdLst/>
            <a:ahLst/>
            <a:cxnLst/>
            <a:rect l="l" t="t" r="r" b="b"/>
            <a:pathLst>
              <a:path w="190500" h="166688">
                <a:moveTo>
                  <a:pt x="0" y="17860"/>
                </a:moveTo>
                <a:cubicBezTo>
                  <a:pt x="0" y="8000"/>
                  <a:pt x="8000" y="0"/>
                  <a:pt x="17859" y="0"/>
                </a:cubicBezTo>
                <a:lnTo>
                  <a:pt x="53577" y="0"/>
                </a:lnTo>
                <a:cubicBezTo>
                  <a:pt x="63438" y="0"/>
                  <a:pt x="71437" y="8000"/>
                  <a:pt x="71437" y="17860"/>
                </a:cubicBezTo>
                <a:lnTo>
                  <a:pt x="71437" y="23813"/>
                </a:lnTo>
                <a:lnTo>
                  <a:pt x="119063" y="23813"/>
                </a:lnTo>
                <a:lnTo>
                  <a:pt x="119063" y="17860"/>
                </a:lnTo>
                <a:cubicBezTo>
                  <a:pt x="119063" y="8000"/>
                  <a:pt x="127062" y="0"/>
                  <a:pt x="136923" y="0"/>
                </a:cubicBezTo>
                <a:lnTo>
                  <a:pt x="172641" y="0"/>
                </a:lnTo>
                <a:cubicBezTo>
                  <a:pt x="182500" y="0"/>
                  <a:pt x="190500" y="8000"/>
                  <a:pt x="190500" y="17860"/>
                </a:cubicBezTo>
                <a:lnTo>
                  <a:pt x="190500" y="53578"/>
                </a:lnTo>
                <a:cubicBezTo>
                  <a:pt x="190500" y="63438"/>
                  <a:pt x="182500" y="71438"/>
                  <a:pt x="172641" y="71438"/>
                </a:cubicBezTo>
                <a:lnTo>
                  <a:pt x="136923" y="71438"/>
                </a:lnTo>
                <a:cubicBezTo>
                  <a:pt x="127062" y="71438"/>
                  <a:pt x="119063" y="63438"/>
                  <a:pt x="119063" y="53578"/>
                </a:cubicBezTo>
                <a:lnTo>
                  <a:pt x="119063" y="47625"/>
                </a:lnTo>
                <a:lnTo>
                  <a:pt x="71437" y="47625"/>
                </a:lnTo>
                <a:lnTo>
                  <a:pt x="71437" y="53578"/>
                </a:lnTo>
                <a:cubicBezTo>
                  <a:pt x="71437" y="56294"/>
                  <a:pt x="70805" y="58899"/>
                  <a:pt x="69726" y="61207"/>
                </a:cubicBezTo>
                <a:lnTo>
                  <a:pt x="95250" y="95250"/>
                </a:lnTo>
                <a:lnTo>
                  <a:pt x="125016" y="95250"/>
                </a:lnTo>
                <a:cubicBezTo>
                  <a:pt x="134875" y="95250"/>
                  <a:pt x="142875" y="103250"/>
                  <a:pt x="142875" y="113110"/>
                </a:cubicBezTo>
                <a:lnTo>
                  <a:pt x="142875" y="148828"/>
                </a:lnTo>
                <a:cubicBezTo>
                  <a:pt x="142875" y="158688"/>
                  <a:pt x="134875" y="166688"/>
                  <a:pt x="125016" y="166688"/>
                </a:cubicBezTo>
                <a:lnTo>
                  <a:pt x="89298" y="166688"/>
                </a:lnTo>
                <a:cubicBezTo>
                  <a:pt x="79437" y="166688"/>
                  <a:pt x="71437" y="158688"/>
                  <a:pt x="71437" y="148828"/>
                </a:cubicBezTo>
                <a:lnTo>
                  <a:pt x="71437" y="113110"/>
                </a:lnTo>
                <a:cubicBezTo>
                  <a:pt x="71437" y="110394"/>
                  <a:pt x="72070" y="107789"/>
                  <a:pt x="73149" y="105481"/>
                </a:cubicBezTo>
                <a:lnTo>
                  <a:pt x="47625" y="71438"/>
                </a:lnTo>
                <a:lnTo>
                  <a:pt x="17859" y="71438"/>
                </a:lnTo>
                <a:cubicBezTo>
                  <a:pt x="8000" y="71438"/>
                  <a:pt x="0" y="63438"/>
                  <a:pt x="0" y="53578"/>
                </a:cubicBezTo>
                <a:lnTo>
                  <a:pt x="0" y="17860"/>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5016248" y="3388759"/>
            <a:ext cx="15716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Roofline Model</a:t>
            </a:r>
            <a:endParaRPr lang="en-US" sz="1100"/>
          </a:p>
        </p:txBody>
      </p:sp>
      <p:sp>
        <p:nvSpPr>
          <p:cNvPr id="28" name="AutoShape 28"/>
          <p:cNvSpPr/>
          <p:nvPr/>
        </p:nvSpPr>
        <p:spPr>
          <a:xfrm>
            <a:off x="4444852" y="3864935"/>
            <a:ext cx="724852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364153"/>
                </a:solidFill>
                <a:latin typeface="MiSans" panose="00000500000000000000" charset="-122"/>
                <a:ea typeface="MiSans" panose="00000500000000000000" charset="-122"/>
                <a:cs typeface="MiSans" panose="00000500000000000000" charset="-122"/>
                <a:sym typeface="MiSans" panose="00000500000000000000" charset="-122"/>
              </a:rPr>
              <a:t>Performance analysis tool for identifying bottleneck types and guiding optimization</a:t>
            </a:r>
            <a:endParaRPr lang="en-US" sz="1100"/>
          </a:p>
        </p:txBody>
      </p:sp>
      <p:sp>
        <p:nvSpPr>
          <p:cNvPr id="29" name="Freeform 29"/>
          <p:cNvSpPr/>
          <p:nvPr/>
        </p:nvSpPr>
        <p:spPr>
          <a:xfrm>
            <a:off x="380956" y="5029200"/>
            <a:ext cx="11430000" cy="1104900"/>
          </a:xfrm>
          <a:custGeom>
            <a:avLst/>
            <a:gdLst/>
            <a:ahLst/>
            <a:cxnLst/>
            <a:rect l="l" t="t" r="r" b="b"/>
            <a:pathLst>
              <a:path w="11430000" h="1104900">
                <a:moveTo>
                  <a:pt x="114303" y="0"/>
                </a:moveTo>
                <a:lnTo>
                  <a:pt x="11315697" y="0"/>
                </a:lnTo>
                <a:cubicBezTo>
                  <a:pt x="11378825" y="0"/>
                  <a:pt x="11430000" y="51175"/>
                  <a:pt x="11430000" y="114303"/>
                </a:cubicBezTo>
                <a:lnTo>
                  <a:pt x="11430000" y="990597"/>
                </a:lnTo>
                <a:cubicBezTo>
                  <a:pt x="11430000" y="1053725"/>
                  <a:pt x="11378825" y="1104900"/>
                  <a:pt x="11315697" y="1104900"/>
                </a:cubicBezTo>
                <a:lnTo>
                  <a:pt x="114303" y="1104900"/>
                </a:lnTo>
                <a:cubicBezTo>
                  <a:pt x="51175" y="1104900"/>
                  <a:pt x="0" y="1053725"/>
                  <a:pt x="0" y="990597"/>
                </a:cubicBezTo>
                <a:lnTo>
                  <a:pt x="0" y="114303"/>
                </a:lnTo>
                <a:cubicBezTo>
                  <a:pt x="0" y="51217"/>
                  <a:pt x="51217" y="0"/>
                  <a:pt x="1143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630960" y="5431519"/>
            <a:ext cx="385763" cy="300038"/>
          </a:xfrm>
          <a:custGeom>
            <a:avLst/>
            <a:gdLst/>
            <a:ahLst/>
            <a:cxnLst/>
            <a:rect l="l" t="t" r="r" b="b"/>
            <a:pathLst>
              <a:path w="385763" h="300038">
                <a:moveTo>
                  <a:pt x="32148" y="109702"/>
                </a:moveTo>
                <a:lnTo>
                  <a:pt x="172254" y="167365"/>
                </a:lnTo>
                <a:cubicBezTo>
                  <a:pt x="178817" y="170044"/>
                  <a:pt x="185782" y="171450"/>
                  <a:pt x="192881" y="171450"/>
                </a:cubicBezTo>
                <a:cubicBezTo>
                  <a:pt x="199981" y="171450"/>
                  <a:pt x="206946" y="170044"/>
                  <a:pt x="213509" y="167365"/>
                </a:cubicBezTo>
                <a:lnTo>
                  <a:pt x="375851" y="100526"/>
                </a:lnTo>
                <a:cubicBezTo>
                  <a:pt x="381878" y="98048"/>
                  <a:pt x="385763" y="92223"/>
                  <a:pt x="385763" y="85725"/>
                </a:cubicBezTo>
                <a:cubicBezTo>
                  <a:pt x="385763" y="79229"/>
                  <a:pt x="381878" y="73402"/>
                  <a:pt x="375851" y="70923"/>
                </a:cubicBezTo>
                <a:lnTo>
                  <a:pt x="213509" y="4086"/>
                </a:lnTo>
                <a:cubicBezTo>
                  <a:pt x="206946" y="1407"/>
                  <a:pt x="199981" y="0"/>
                  <a:pt x="192881" y="0"/>
                </a:cubicBezTo>
                <a:cubicBezTo>
                  <a:pt x="185782" y="0"/>
                  <a:pt x="178817" y="1407"/>
                  <a:pt x="172254" y="4086"/>
                </a:cubicBezTo>
                <a:lnTo>
                  <a:pt x="9912" y="70923"/>
                </a:lnTo>
                <a:cubicBezTo>
                  <a:pt x="3884" y="73402"/>
                  <a:pt x="0" y="79229"/>
                  <a:pt x="0" y="85725"/>
                </a:cubicBezTo>
                <a:lnTo>
                  <a:pt x="0" y="283965"/>
                </a:lnTo>
                <a:cubicBezTo>
                  <a:pt x="0" y="292872"/>
                  <a:pt x="7167" y="300038"/>
                  <a:pt x="16073" y="300038"/>
                </a:cubicBezTo>
                <a:cubicBezTo>
                  <a:pt x="24981" y="300038"/>
                  <a:pt x="32148" y="292872"/>
                  <a:pt x="32148" y="283965"/>
                </a:cubicBezTo>
                <a:lnTo>
                  <a:pt x="32148" y="109702"/>
                </a:lnTo>
                <a:close/>
                <a:moveTo>
                  <a:pt x="64294" y="157722"/>
                </a:moveTo>
                <a:lnTo>
                  <a:pt x="64294" y="235744"/>
                </a:lnTo>
                <a:cubicBezTo>
                  <a:pt x="64294" y="271241"/>
                  <a:pt x="121890" y="300038"/>
                  <a:pt x="192881" y="300038"/>
                </a:cubicBezTo>
                <a:cubicBezTo>
                  <a:pt x="263872" y="300038"/>
                  <a:pt x="321469" y="271241"/>
                  <a:pt x="321469" y="235744"/>
                </a:cubicBezTo>
                <a:lnTo>
                  <a:pt x="321469" y="157654"/>
                </a:lnTo>
                <a:lnTo>
                  <a:pt x="225765" y="197100"/>
                </a:lnTo>
                <a:cubicBezTo>
                  <a:pt x="215317" y="201387"/>
                  <a:pt x="204199" y="203596"/>
                  <a:pt x="192881" y="203596"/>
                </a:cubicBezTo>
                <a:cubicBezTo>
                  <a:pt x="181563" y="203596"/>
                  <a:pt x="170445" y="201387"/>
                  <a:pt x="159998" y="197100"/>
                </a:cubicBezTo>
                <a:lnTo>
                  <a:pt x="64294" y="157654"/>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1190476" y="5257781"/>
            <a:ext cx="10421231"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Understanding these metrics is the foundation of high-performance computing optimization</a:t>
            </a:r>
            <a:endParaRPr lang="en-US" sz="1100"/>
          </a:p>
        </p:txBody>
      </p:sp>
      <p:sp>
        <p:nvSpPr>
          <p:cNvPr id="32" name="AutoShape 32"/>
          <p:cNvSpPr/>
          <p:nvPr/>
        </p:nvSpPr>
        <p:spPr>
          <a:xfrm>
            <a:off x="1190477" y="5638660"/>
            <a:ext cx="830521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Mastering performance analysis is the key to writing efficient programs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38-en: Auto-Tuning</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Automatic Tuning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2" hasCustomPrompt="1"/>
          </p:nvPr>
        </p:nvSpPr>
        <p:spPr>
          <a:xfrm>
            <a:off x="523875" y="1323975"/>
            <a:ext cx="1125474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Automatic Tuning Algorithm and Underlying Implementation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From Template Search to AI-Driven Operator Tuning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nvSpPr>
        <p:spPr>
          <a:xfrm>
            <a:off x="5943600" y="32766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nvPicPr>
        <p:blipFill>
          <a:blip r:embed="rId1"/>
          <a:srcRect/>
          <a:stretch>
            <a:fillRect/>
          </a:stretch>
        </p:blipFill>
        <p:spPr>
          <a:xfrm>
            <a:off x="492345" y="2666468"/>
            <a:ext cx="4566590" cy="314285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5943595" y="2597888"/>
            <a:ext cx="5990338" cy="336956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Outline of Automatic Tuning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2" hasCustomPrompt="1"/>
          </p:nvPr>
        </p:nvSpPr>
        <p:spPr>
          <a:xfrm>
            <a:off x="523875" y="1323975"/>
            <a:ext cx="11276965" cy="4853305"/>
          </a:xfrm>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Background and Challenges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Framework and Workflow</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TVM, AutoTVM, and Template Search Analysis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Classic Heuristic Search Algorithms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Simulated Annealing and Genetic Algorithms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Machine Learning-Based Optimization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Bayesian Optimization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Reinforcement Learning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Experimental Guidance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Kernel Performance Evaluation Based on FlagPerf</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Why is automatic tuning necessary?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increasing complexity of hardware architecture: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The proliferation of heterogeneous chips such as GPUs and NPUs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Complex memory hierarchies (Registers, Shared Memory)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Bottlenecks of traditional manual optimization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Extremely high labor costs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Poor portability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Rapid evolution of AI models and new operators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8122285" y="1078865"/>
            <a:ext cx="3816350" cy="2524125"/>
          </a:xfrm>
          <a:prstGeom prst="rect">
            <a:avLst/>
          </a:prstGeom>
          <a:ln w="12700">
            <a:noFill/>
            <a:prstDash val="solid"/>
          </a:ln>
        </p:spPr>
      </p:pic>
      <p:pic>
        <p:nvPicPr>
          <p:cNvPr id="6" name="Picture 6"/>
          <p:cNvPicPr>
            <a:picLocks noChangeAspect="1"/>
          </p:cNvPicPr>
          <p:nvPr/>
        </p:nvPicPr>
        <p:blipFill>
          <a:blip r:embed="rId2"/>
          <a:srcRect/>
          <a:stretch>
            <a:fillRect/>
          </a:stretch>
        </p:blipFill>
        <p:spPr>
          <a:xfrm>
            <a:off x="8122194" y="3651783"/>
            <a:ext cx="3815799" cy="3069693"/>
          </a:xfrm>
          <a:prstGeom prst="rect">
            <a:avLst/>
          </a:prstGeom>
          <a:ln w="12700">
            <a:noFill/>
            <a:prstDash val="solid"/>
          </a:ln>
        </p:spPr>
      </p:pic>
      <p:pic>
        <p:nvPicPr>
          <p:cNvPr id="7" name="Picture 7"/>
          <p:cNvPicPr>
            <a:picLocks noChangeAspect="1"/>
          </p:cNvPicPr>
          <p:nvPr/>
        </p:nvPicPr>
        <p:blipFill>
          <a:blip r:embed="rId3"/>
          <a:srcRect t="7278" b="11922"/>
          <a:stretch>
            <a:fillRect/>
          </a:stretch>
        </p:blipFill>
        <p:spPr>
          <a:xfrm>
            <a:off x="1131683" y="4531814"/>
            <a:ext cx="5196689" cy="218966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What is Kernel Auto-tuning?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Automation of Code Generation: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Input: Mathematical calculation expressions (e.g., tensor multiplication, convolution).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Output: Low-level code optimized for specific hardware (e.g., CUDA, LLVM IR).</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Common Tuning Dimensions (Schedule Primitives):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Tiling: Improves cache hit rate.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Unrolling: Reduces branch overhead.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Vectorization: Utilizes SIMD instructions (e.g., AVX, TensorCore).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Binding: Block/Thread mapping in the GPU.</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1744498" y="4942682"/>
            <a:ext cx="1323975" cy="1323975"/>
          </a:xfrm>
          <a:prstGeom prst="rect">
            <a:avLst/>
          </a:prstGeom>
          <a:ln w="12700">
            <a:noFill/>
            <a:prstDash val="solid"/>
          </a:ln>
        </p:spPr>
      </p:pic>
      <p:pic>
        <p:nvPicPr>
          <p:cNvPr id="6" name="Picture 6"/>
          <p:cNvPicPr>
            <a:picLocks noChangeAspect="1"/>
          </p:cNvPicPr>
          <p:nvPr/>
        </p:nvPicPr>
        <p:blipFill>
          <a:blip r:embed="rId2"/>
          <a:srcRect/>
          <a:stretch>
            <a:fillRect/>
          </a:stretch>
        </p:blipFill>
        <p:spPr>
          <a:xfrm>
            <a:off x="7867650" y="3429000"/>
            <a:ext cx="4431665" cy="27476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Evolution of Mainstream Tuning Frameworks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First Generation: Manual Scheduling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Representative: Early Halide.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Characteristics: Algorithm and scheduling are separated, but scheduling still requires manual implementation by experts.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Second Generation: Template-based Tuning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Representative: TVM AutoTVM.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Characteristics: Experts write parameterized templates, and the algorithm searches for the optimal value in the parameter space.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Third Generation: Template-free Tuning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Representative: TVM Ansor (AutoScheduler).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Characteristics: Automatically generates a huge search space based on rules, without requiring manually preset templates.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Classic Framework Analysis: TVM and AutoTVM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AutoTVM’s Core Innovations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Introduces index-based parameterized templates.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Introduces a Statistical Cost Model to replace traditional analytical models.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Advantages of the Cost Model: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Complex GPU architectures are difficult to model precisely with formulas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AutoTVM uses machine learning models such as XGBoost/TreeGRU to predict performance by "feeding" real-device running data.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5893067" y="3910306"/>
            <a:ext cx="4283027" cy="2947694"/>
          </a:xfrm>
          <a:prstGeom prst="rect">
            <a:avLst/>
          </a:prstGeom>
          <a:ln w="12700">
            <a:noFill/>
            <a:prstDash val="solid"/>
          </a:ln>
        </p:spPr>
      </p:pic>
      <p:pic>
        <p:nvPicPr>
          <p:cNvPr id="6" name="Picture 6"/>
          <p:cNvPicPr>
            <a:picLocks noChangeAspect="1"/>
          </p:cNvPicPr>
          <p:nvPr/>
        </p:nvPicPr>
        <p:blipFill>
          <a:blip r:embed="rId2"/>
          <a:srcRect/>
          <a:stretch>
            <a:fillRect/>
          </a:stretch>
        </p:blipFill>
        <p:spPr>
          <a:xfrm>
            <a:off x="1950505" y="4377609"/>
            <a:ext cx="2067902" cy="231283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Complete AutoTVM Workflow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Template Definition: Developers write scheduling templates for operators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Configuration Generation: Features are extracted and a batch of candidate parameter configurations is generated.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Model Prediction: The XGBoost cost model scores the top-K configurations.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Hardware-in-the-loop: The top-K configurations are compiled and sent to real hardware (e.g., a GPU cluster) for performance testing.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Model Update: Real-world latency data from the test is fed back to the cost model, XGBoost is retrained and updated, and the next iteration begins.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1179590" y="4664197"/>
            <a:ext cx="5518086" cy="210336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 Deeper Understanding of Template-Based Search</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What is a "Template"?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 template is a coded representation of expert experience.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For example: Define a two-nested loop, but the step size (Tile Size) is an unknown variable.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size of the search space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Depends on the number of variables defined in the template and their range of values.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Typically, it is a discrete, bounded, multi-dimensional space (e.g., 10^4 ~ 10^9 combinations).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How to search?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Within this space, we need efficient exploration algorithms.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7556391" y="4048616"/>
            <a:ext cx="4481596" cy="2211357"/>
          </a:xfrm>
          <a:prstGeom prst="rect">
            <a:avLst/>
          </a:prstGeom>
          <a:ln w="12700">
            <a:noFill/>
            <a:prstDash val="solid"/>
          </a:ln>
        </p:spPr>
      </p:pic>
      <p:sp>
        <p:nvSpPr>
          <p:cNvPr id="6" name="AutoShape 6"/>
          <p:cNvSpPr/>
          <p:nvPr/>
        </p:nvSpPr>
        <p:spPr>
          <a:xfrm>
            <a:off x="2362954" y="6356351"/>
            <a:ext cx="5378395" cy="369332"/>
          </a:xfrm>
          <a:prstGeom prst="rect">
            <a:avLst/>
          </a:prstGeom>
          <a:noFill/>
          <a:ln w="12700">
            <a:noFill/>
            <a:prstDash val="solid"/>
          </a:ln>
        </p:spPr>
        <p:txBody>
          <a:bodyPr wrap="none" lIns="91440" tIns="45720" rIns="91440" bIns="45720" rtlCol="0" anchor="t">
            <a:spAutoFit/>
          </a:bodyPr>
          <a:lstStyle/>
          <a:p>
            <a:pPr indent="0" algn="l">
              <a:lnSpc>
                <a:spcPct val="100000"/>
              </a:lnSpc>
              <a:defRPr/>
            </a:pPr>
            <a:r>
              <a:rPr lang="en-US" sz="1800" b="0" i="0" u="none" strike="noStrike">
                <a:solidFill>
                  <a:srgbClr val="A6A6A6"/>
                </a:solidFill>
                <a:latin typeface="Arial" panose="020B0604020202020204"/>
                <a:ea typeface="Arial" panose="020B0604020202020204"/>
                <a:cs typeface="Arial" panose="020B0604020202020204"/>
                <a:sym typeface="Arial" panose="020B0604020202020204"/>
              </a:rPr>
              <a:t>For example: template-based video search engine</a:t>
            </a:r>
            <a:endParaRPr lang="en-US" sz="1100"/>
          </a:p>
        </p:txBody>
      </p:sp>
      <p:pic>
        <p:nvPicPr>
          <p:cNvPr id="7" name="Picture 7"/>
          <p:cNvPicPr>
            <a:picLocks noChangeAspect="1"/>
          </p:cNvPicPr>
          <p:nvPr/>
        </p:nvPicPr>
        <p:blipFill>
          <a:blip r:embed="rId2"/>
          <a:srcRect/>
          <a:stretch>
            <a:fillRect/>
          </a:stretch>
        </p:blipFill>
        <p:spPr>
          <a:xfrm>
            <a:off x="1189311" y="4885270"/>
            <a:ext cx="3924610" cy="147099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Limitations of Template Search</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Advantages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Relatively small search space, fast convergence speed.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quality of generated code has a lower bound guarantee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Limitations (Pain Points)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High development cost: For each new operator or hardware, experts must rewrite a template.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Non-global optimum: If the optimal code structure is not within the scope of the expert-defined template, the search algorithm will never find it.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Classical Exploratory Algorithm: Simulated Annealing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Inspiration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annealing process in metallurgy (heating a solid to a high temperature and then slowly cooling it to bring its internal crystal structure to its lowest energy, most stable state).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Algorithm Logic</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Randomly walk through the search space.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If a better configuration is found, accept it directly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If a worse configuration is found, accept it with a certain probability!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Why accept a worse solution?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To escape local optima and find the global optimum.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8333419" y="3358980"/>
            <a:ext cx="3757766" cy="299737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Advantages of Genetic Algorithms in Spatial Search</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Multi-point Parallel Search: Unlike the single-point walk of simulated annealing, genetic algorithms maintain a population, allowing simultaneous exploration of multiple regions in the search space.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Suitable for Discrete and Irregular Spaces: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Hardware tuning spaces are often discontinuous (e.g., GPU block sizes must be multiples of 32).</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Traditional gradient descent methods are ineffective here, while genetic algorithms have no requirement for the differentiability of the objective function.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Evolutionary Search of TVM Ansors extensively utilizes genetic algorithms to efficiently mutate the scheduling space.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Application of Simulated Annealing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State Representation: The current set of template parameters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Neighbor Transition: Fine-tuning one of the parameters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Cooling Schedule: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Initial High Temperature: High probability of accepting poor solutions (large-scale exploration).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Later Low Temperature: Almost only accepting good solutions (local convergence exploration).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Early versions of AutoTVM widely used simulated annealing to find optimal parameters in the candidate space.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5613150" y="4261910"/>
            <a:ext cx="5576934" cy="259609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Advanced Exploration Algorithm: Genetic Algorithm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Inspiration: Darwin's theory of evolution, "survival of the fittest."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Core Algorithm Steps: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Population: Randomly generate a batch of initial configurations.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Fitness Evaluation: Evaluate performance using a cost model.</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Crossover: Swap some parameters between two superior configurations to produce offspring.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Mutation: Randomly change some parameters (introducing new genes to prevent premature convergence).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Selection: Eliminate poorly performing configurations and retain the better ones for the next generation.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8705850" y="1052195"/>
            <a:ext cx="2604135" cy="1970405"/>
          </a:xfrm>
          <a:prstGeom prst="rect">
            <a:avLst/>
          </a:prstGeom>
          <a:ln w="12700">
            <a:noFill/>
            <a:prstDash val="solid"/>
          </a:ln>
        </p:spPr>
      </p:pic>
      <p:pic>
        <p:nvPicPr>
          <p:cNvPr id="6" name="Picture 6"/>
          <p:cNvPicPr>
            <a:picLocks noChangeAspect="1"/>
          </p:cNvPicPr>
          <p:nvPr/>
        </p:nvPicPr>
        <p:blipFill>
          <a:blip r:embed="rId2"/>
          <a:srcRect t="30204" b="3862"/>
          <a:stretch>
            <a:fillRect/>
          </a:stretch>
        </p:blipFill>
        <p:spPr>
          <a:xfrm>
            <a:off x="4234475" y="4450602"/>
            <a:ext cx="4601707" cy="2277858"/>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Bayesian Optimization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Suitable Scenarios: Optimization of black-box functions where a single evaluation is extremely costly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Core Components: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Surrogate Model: Typically uses a Gaussian process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Acquisition Function: Often uses EI (Expected Improvement).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Art of Trade-offs (Exploration vs. Exploitation):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Exploitation: Searches well performs.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Exploration: Searches for "uncertain" (hasn't been to before).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7537303" y="2132162"/>
            <a:ext cx="4489047" cy="44316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Reinforcement Learning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Tuning from a Reinforcement Learning Perspective (MDP - Markov Decision Process):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Agent: Tuner.</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Environment: Compiler + underlying hardware.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State: The current computation graph or AST tree structure.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Action: Applying a scheduling strategy (e.g., performing a tiling or unrolling operation).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Reward: The throughput (GFLOPS) or latency reduction returned after running on a real machine.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6575626" y="3811204"/>
            <a:ext cx="3140316" cy="3043902"/>
          </a:xfrm>
          <a:prstGeom prst="rect">
            <a:avLst/>
          </a:prstGeom>
          <a:ln w="12700">
            <a:noFill/>
            <a:prstDash val="solid"/>
          </a:ln>
        </p:spPr>
      </p:pic>
      <p:pic>
        <p:nvPicPr>
          <p:cNvPr id="6" name="Picture 6"/>
          <p:cNvPicPr>
            <a:picLocks noChangeAspect="1"/>
          </p:cNvPicPr>
          <p:nvPr/>
        </p:nvPicPr>
        <p:blipFill>
          <a:blip r:embed="rId2"/>
          <a:srcRect/>
          <a:stretch>
            <a:fillRect/>
          </a:stretch>
        </p:blipFill>
        <p:spPr>
          <a:xfrm>
            <a:off x="1003500" y="3811204"/>
            <a:ext cx="5092500" cy="304679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Search Algorithm Comparison Summary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pic>
        <p:nvPicPr>
          <p:cNvPr id="6" name="Picture 6"/>
          <p:cNvPicPr>
            <a:picLocks noChangeAspect="1"/>
          </p:cNvPicPr>
          <p:nvPr/>
        </p:nvPicPr>
        <p:blipFill>
          <a:blip r:embed="rId1"/>
          <a:srcRect/>
          <a:stretch>
            <a:fillRect/>
          </a:stretch>
        </p:blipFill>
        <p:spPr>
          <a:xfrm>
            <a:off x="1" y="1059274"/>
            <a:ext cx="12192000" cy="595261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Practical Application of Automatic Tuning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Experiment Topic: Evaluating Kernel Performance Using FlagPerf.</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Experiment Background: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When executing a kernel on a GPU, Block Size (the number of threads per thread block) is a critical parameter determining performance.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Too small: Cannot mask memory access latency, resulting in low occupancy.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Too large: Register spills or insufficient shared memory, leading to queuing.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Experiment Tool: FlagPerf</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An open-source AI hardware evaluation platform from the Beijing Academy of Artificial Intelligence.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Provides standardized, reproducible operator-level and end-to-end evaluation capabilities.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Summary of Automatic Tuning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Automatic tuning solves the pain point of operator performance migration across hardware platforms.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From template-based to template-free, manual intervention is decreasing.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combination of multiple AI search algorithms (GA, BO, RL) significantly improves the efficiency of optimization in high-dimensional spaces.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Future Evolution Trends: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LLM for Compiler: Utilizing large models to directly understand hardware semantics, generating or guiding operator tuning.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Multi-chip and Cluster-Aware Tuning: Not only tuning single-card kernels, but also combining with platforms like FlagScale for distributed operator joint tuning across multi-card communication architectures.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39: In-Depth Operator Performance Profiling Lab</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GPU Architecture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Execution model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GPU execution without/with batched thread groups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Single-instruction multiple threads (SIMT)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Hierachical thread execution model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5814695" y="2959735"/>
            <a:ext cx="5760000" cy="3070468"/>
          </a:xfrm>
          <a:prstGeom prst="rect">
            <a:avLst/>
          </a:prstGeom>
          <a:ln w="12700">
            <a:noFill/>
            <a:prstDash val="solid"/>
          </a:ln>
        </p:spPr>
      </p:pic>
      <p:pic>
        <p:nvPicPr>
          <p:cNvPr id="6" name="Picture 6"/>
          <p:cNvPicPr>
            <a:picLocks noChangeAspect="1"/>
          </p:cNvPicPr>
          <p:nvPr/>
        </p:nvPicPr>
        <p:blipFill>
          <a:blip r:embed="rId2"/>
          <a:srcRect/>
          <a:stretch>
            <a:fillRect/>
          </a:stretch>
        </p:blipFill>
        <p:spPr>
          <a:xfrm>
            <a:off x="984250" y="3527425"/>
            <a:ext cx="4320000" cy="193396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Occupancy – Registers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availability of registers is one of the major limiting factor for larger kernels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Example: Consider a GPU with 16384 registers per SM running a kernel that requires 35 registers per thread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Each SM can execute at most 468 threads</a:t>
            </a:r>
            <a:endPar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This affects the choice of block size</a:t>
            </a:r>
            <a:endPar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A block size of 512 is not possible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Only 1 block of 256 threads is allowed at a time, even though 212 more threads could be running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3 blockss of 128 threads are allowed, providing 384 threads to be scheduled, etc.</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Occupancy – Registers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Consider another example: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A GPU has 16384 registers per SM</a:t>
            </a:r>
            <a:endPar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The block size of a kernel is fixed at 256 threads</a:t>
            </a:r>
            <a:endPar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The kernel currently requires 17 registers per thread</a:t>
            </a:r>
            <a:endPar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Given the information, each block requires 4352 registers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This allows for 3 active blocks if registers are the only limiting factor</a:t>
            </a:r>
            <a:endPar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If the code can be restructured to only use 16 registers, then 4 active blocks would be possible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Occupancy – Shared Memory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GPUs have a limited amount of shared memory on each SM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tens or a hundred KB of shared memory on recent GPUs</a:t>
            </a:r>
            <a:endPar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Shared memory limits the number of active blocks per SM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Depending on the kernel, the data per block may be fixed regardless of number of threads (e.g., histograms), or may vary based on the number of threads (e.g., matrix multiplication, convolution)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Occupancy – Threads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GPUs have hardware limitations on the maximum number of threads per block</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256 threads per block on AMD GPUs</a:t>
            </a:r>
            <a:endPar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512 threads per block on NVIDIA GPUs</a:t>
            </a:r>
            <a:endPar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NVIDIA GPUs have per-SM limits on the number of active threads and blocks (depending on the GPU model)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for example, 768 or 1024 threads per SM</a:t>
            </a:r>
            <a:endPar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for example, 8 or 16 warps per SM</a:t>
            </a:r>
            <a:endPar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AMD GPUs have GPU-wide limits on the number of wavefronts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100000"/>
              </a:lnSpc>
              <a:spcBef>
                <a:spcPts val="750"/>
              </a:spcBef>
              <a:buClr>
                <a:srgbClr val="8B0012"/>
              </a:buClr>
              <a:buChar char="•"/>
            </a:pPr>
            <a:r>
              <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rPr>
              <a:t>496 wavefronts on the 5870 GPU (~25 wavefronts or ~1600 threads per compute unit)</a:t>
            </a:r>
            <a:endParaRPr lang="en-US" sz="2400" b="0" i="0" u="none" strike="noStrike">
              <a:solidFill>
                <a:srgbClr val="8B0012"/>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Occupancy – Limiting Factors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minimum of these three factors is what limits the active number of threads (or occupancy) of a compute unit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interactions between the factors are complex</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100000"/>
              </a:lnSpc>
              <a:spcBef>
                <a:spcPts val="750"/>
              </a:spcBef>
              <a:buClr>
                <a:srgbClr val="8B0012"/>
              </a:buClr>
              <a:buChar char="•"/>
            </a:pPr>
            <a:r>
              <a:rPr lang="en-US" sz="2000" b="0" i="0" u="none" strike="noStrike">
                <a:solidFill>
                  <a:srgbClr val="8B0012"/>
                </a:solidFill>
                <a:latin typeface="Calibri" panose="020F0502020204030204"/>
                <a:ea typeface="Calibri" panose="020F0502020204030204"/>
                <a:cs typeface="Calibri" panose="020F0502020204030204"/>
                <a:sym typeface="Calibri" panose="020F0502020204030204"/>
              </a:rPr>
              <a:t>The limiting factor may have either thread or wavefront granularity</a:t>
            </a:r>
            <a:endParaRPr lang="en-US" sz="2000" b="0" i="0" u="none" strike="noStrike">
              <a:solidFill>
                <a:srgbClr val="8B0012"/>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100000"/>
              </a:lnSpc>
              <a:spcBef>
                <a:spcPts val="750"/>
              </a:spcBef>
              <a:buClr>
                <a:srgbClr val="8B0012"/>
              </a:buClr>
              <a:buChar char="•"/>
            </a:pPr>
            <a:r>
              <a:rPr lang="en-US" sz="2000" b="0" i="0" u="none" strike="noStrike">
                <a:solidFill>
                  <a:srgbClr val="8B0012"/>
                </a:solidFill>
                <a:latin typeface="Calibri" panose="020F0502020204030204"/>
                <a:ea typeface="Calibri" panose="020F0502020204030204"/>
                <a:cs typeface="Calibri" panose="020F0502020204030204"/>
                <a:sym typeface="Calibri" panose="020F0502020204030204"/>
              </a:rPr>
              <a:t>Changing work group size may affect register or shared memory usage</a:t>
            </a:r>
            <a:endParaRPr lang="en-US" sz="2000" b="0" i="0" u="none" strike="noStrike">
              <a:solidFill>
                <a:srgbClr val="8B0012"/>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100000"/>
              </a:lnSpc>
              <a:spcBef>
                <a:spcPts val="750"/>
              </a:spcBef>
              <a:buClr>
                <a:srgbClr val="8B0012"/>
              </a:buClr>
              <a:buChar char="•"/>
            </a:pPr>
            <a:r>
              <a:rPr lang="en-US" sz="2000" b="0" i="0" u="none" strike="noStrike">
                <a:solidFill>
                  <a:srgbClr val="8B0012"/>
                </a:solidFill>
                <a:latin typeface="Calibri" panose="020F0502020204030204"/>
                <a:ea typeface="Calibri" panose="020F0502020204030204"/>
                <a:cs typeface="Calibri" panose="020F0502020204030204"/>
                <a:sym typeface="Calibri" panose="020F0502020204030204"/>
              </a:rPr>
              <a:t>Reducing any factor (such as register usage) slightly may have allow another work group to be active</a:t>
            </a:r>
            <a:endParaRPr lang="en-US" sz="2000" b="0" i="0" u="none" strike="noStrike">
              <a:solidFill>
                <a:srgbClr val="8B0012"/>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Nsight occupancy calculator from NVIDIA plots these factors visually allowing the tradeoffs to be visualized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7623175" y="4791075"/>
            <a:ext cx="3486150" cy="188595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timing>
    <p:tnLst>
      <p:par>
        <p:cTn id="1" dur="indefinite" restart="never" nodeType="tmRoot">
          <p:childTnLst>
            <p:seq concurrent="0"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Occupancy: Tradeoffs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xfrm>
            <a:off x="523875" y="1323975"/>
            <a:ext cx="8452485" cy="4853305"/>
          </a:xfrm>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Shared memory and registers are persistent within SM when other warps execute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92000"/>
              </a:lnSpc>
              <a:spcBef>
                <a:spcPts val="75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Allows for lower overhead context switch</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number of active warps that can be supported per SM is limited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647700" lvl="1" indent="-304800" algn="l">
              <a:lnSpc>
                <a:spcPct val="92000"/>
              </a:lnSpc>
              <a:spcBef>
                <a:spcPts val="75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Decided by the </a:t>
            </a:r>
            <a:r>
              <a:rPr lang="en-US" sz="2400" b="0" i="0" u="sng" strike="noStrike">
                <a:solidFill>
                  <a:srgbClr val="404040"/>
                </a:solidFill>
                <a:latin typeface="Calibri" panose="020F0502020204030204"/>
                <a:ea typeface="Calibri" panose="020F0502020204030204"/>
                <a:cs typeface="Calibri" panose="020F0502020204030204"/>
                <a:sym typeface="Calibri" panose="020F0502020204030204"/>
              </a:rPr>
              <a:t>shared memory per block</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and </a:t>
            </a:r>
            <a:r>
              <a:rPr lang="en-US" sz="2400" b="0" i="0" u="sng" strike="noStrike">
                <a:solidFill>
                  <a:srgbClr val="404040"/>
                </a:solidFill>
                <a:latin typeface="Calibri" panose="020F0502020204030204"/>
                <a:ea typeface="Calibri" panose="020F0502020204030204"/>
                <a:cs typeface="Calibri" panose="020F0502020204030204"/>
                <a:sym typeface="Calibri" panose="020F0502020204030204"/>
              </a:rPr>
              <a:t>register usage per thread</a:t>
            </a:r>
            <a:endParaRPr lang="en-US" sz="2400" b="0" i="0" u="sng"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number of active warps possible on an SM can be expressed using a metric called utilization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Larger numbers of active warps allow for better latency hiding on both NV and AMD hardware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9150350" y="1370330"/>
            <a:ext cx="2520000" cy="411793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Nsight Compute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CUDA kernel profiler.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Curates performance statistics into targeted metrics.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Able to select amount of data to collect and how it’s presented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Fully featured Command Line and User Friendly GUI interfaces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2228850" y="3741420"/>
            <a:ext cx="7734300" cy="261493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Nsight Compute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Nsight Compute CLI Options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523875" y="2557780"/>
            <a:ext cx="5751195" cy="1214755"/>
          </a:xfrm>
          <a:prstGeom prst="rect">
            <a:avLst/>
          </a:prstGeom>
          <a:ln w="12700">
            <a:noFill/>
            <a:prstDash val="solid"/>
          </a:ln>
        </p:spPr>
      </p:pic>
      <p:pic>
        <p:nvPicPr>
          <p:cNvPr id="6" name="Picture 6"/>
          <p:cNvPicPr>
            <a:picLocks noChangeAspect="1"/>
          </p:cNvPicPr>
          <p:nvPr/>
        </p:nvPicPr>
        <p:blipFill>
          <a:blip r:embed="rId2"/>
          <a:srcRect/>
          <a:stretch>
            <a:fillRect/>
          </a:stretch>
        </p:blipFill>
        <p:spPr>
          <a:xfrm>
            <a:off x="523875" y="3772535"/>
            <a:ext cx="5295265" cy="1522730"/>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6275070" y="2571115"/>
            <a:ext cx="5321935" cy="2656840"/>
          </a:xfrm>
          <a:prstGeom prst="rect">
            <a:avLst/>
          </a:prstGeom>
          <a:ln w="12700">
            <a:noFill/>
            <a:prstDash val="solid"/>
          </a:ln>
        </p:spPr>
      </p:pic>
      <p:sp>
        <p:nvSpPr>
          <p:cNvPr id="8" name="AutoShape 8"/>
          <p:cNvSpPr/>
          <p:nvPr/>
        </p:nvSpPr>
        <p:spPr>
          <a:xfrm>
            <a:off x="6096000" y="1323975"/>
            <a:ext cx="5893435" cy="4853305"/>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Nsight Compute - GPU Speed of Light</a:t>
            </a:r>
            <a:endParaRPr lang="en-US" sz="1100"/>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Nsight Compute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Nsight Compute - Roofline Analysis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Nsight Compute - Memory Workload Analysis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23875" y="2514600"/>
            <a:ext cx="5306060" cy="312483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115050" y="2549525"/>
            <a:ext cx="5641975" cy="308991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Nsight Compute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2" hasCustomPrompt="1"/>
          </p:nvPr>
        </p:nvSpPr>
        <p:spPr>
          <a:xfrm>
            <a:off x="523875" y="1323975"/>
            <a:ext cx="10632440" cy="4853305"/>
          </a:xfrm>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Nsight Compute - Source/SASS and Instruction Hotspots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5" name="Picture 5"/>
          <p:cNvPicPr>
            <a:picLocks noChangeAspect="1"/>
          </p:cNvPicPr>
          <p:nvPr/>
        </p:nvPicPr>
        <p:blipFill>
          <a:blip r:embed="rId1"/>
          <a:srcRect/>
          <a:stretch>
            <a:fillRect/>
          </a:stretch>
        </p:blipFill>
        <p:spPr>
          <a:xfrm>
            <a:off x="1016000" y="2025650"/>
            <a:ext cx="7567930" cy="42970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Nsight Compute Profiling Report Example (1/3)</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pic>
        <p:nvPicPr>
          <p:cNvPr id="4" name="Picture 4"/>
          <p:cNvPicPr>
            <a:picLocks noChangeAspect="1"/>
          </p:cNvPicPr>
          <p:nvPr/>
        </p:nvPicPr>
        <p:blipFill>
          <a:blip r:embed="rId1"/>
          <a:srcRect/>
          <a:stretch>
            <a:fillRect/>
          </a:stretch>
        </p:blipFill>
        <p:spPr>
          <a:xfrm>
            <a:off x="402590" y="1913890"/>
            <a:ext cx="11520000" cy="367369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Nsight Compute Profiling Report Example (2/3)</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pic>
        <p:nvPicPr>
          <p:cNvPr id="4" name="Picture 4"/>
          <p:cNvPicPr>
            <a:picLocks noChangeAspect="1"/>
          </p:cNvPicPr>
          <p:nvPr/>
        </p:nvPicPr>
        <p:blipFill>
          <a:blip r:embed="rId1"/>
          <a:srcRect/>
          <a:stretch>
            <a:fillRect/>
          </a:stretch>
        </p:blipFill>
        <p:spPr>
          <a:xfrm>
            <a:off x="2022475" y="1323975"/>
            <a:ext cx="8280000" cy="518107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Nsight Compute Profiling Report Example (3/3)</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pic>
        <p:nvPicPr>
          <p:cNvPr id="4" name="Picture 4"/>
          <p:cNvPicPr>
            <a:picLocks noChangeAspect="1"/>
          </p:cNvPicPr>
          <p:nvPr/>
        </p:nvPicPr>
        <p:blipFill>
          <a:blip r:embed="rId1"/>
          <a:srcRect/>
          <a:stretch>
            <a:fillRect/>
          </a:stretch>
        </p:blipFill>
        <p:spPr>
          <a:xfrm>
            <a:off x="1955800" y="1323975"/>
            <a:ext cx="8280000" cy="513196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40: Overview of LLM-Assisted Programming</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12" y="1548557"/>
            <a:ext cx="10159988" cy="2011548"/>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4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01 A New Era of Programming: The Rise of Large Models</a:t>
            </a:r>
            <a:endParaRPr lang="en-US" sz="1100"/>
          </a:p>
          <a:p>
            <a:pPr indent="0" algn="l">
              <a:lnSpc>
                <a:spcPct val="125000"/>
              </a:lnSpc>
            </a:pPr>
            <a:r>
              <a:rPr lang="en-US" sz="4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40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3" name="AutoShape 3"/>
          <p:cNvSpPr/>
          <p:nvPr/>
        </p:nvSpPr>
        <p:spPr>
          <a:xfrm>
            <a:off x="1016000" y="3429000"/>
            <a:ext cx="1016000" cy="50800"/>
          </a:xfrm>
          <a:prstGeom prst="roundRect">
            <a:avLst>
              <a:gd name="adj" fmla="val 0"/>
            </a:avLst>
          </a:prstGeom>
          <a:solidFill>
            <a:srgbClr val="DC2626">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1016000" y="3683000"/>
            <a:ext cx="10160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2000" b="0" i="0" u="none" strike="noStrike">
                <a:solidFill>
                  <a:srgbClr val="000000">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From Manual Coding to Intelligent Assistance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Noto Sans SC" panose="020B0200000000000000" charset="-122"/>
              </a:defRPr>
            </a:lvl1pPr>
          </a:lstStyle>
          <a:p>
            <a:pPr indent="0" algn="l">
              <a:lnSpc>
                <a:spcPct val="100000"/>
              </a:lnSpc>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Challenges of Traditional Programming Mode</a:t>
            </a:r>
            <a:endPar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nvSpPr>
        <p:spPr>
          <a:xfrm>
            <a:off x="741680" y="1435100"/>
            <a:ext cx="5080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5" name="Picture 5"/>
          <p:cNvPicPr>
            <a:picLocks noChangeAspect="1"/>
          </p:cNvPicPr>
          <p:nvPr/>
        </p:nvPicPr>
        <p:blipFill>
          <a:blip r:embed="rId1"/>
          <a:srcRect/>
          <a:stretch>
            <a:fillRect/>
          </a:stretch>
        </p:blipFill>
        <p:spPr>
          <a:xfrm>
            <a:off x="932180" y="1625600"/>
            <a:ext cx="406400" cy="406400"/>
          </a:xfrm>
          <a:prstGeom prst="rect">
            <a:avLst/>
          </a:prstGeom>
          <a:ln w="12700">
            <a:noFill/>
            <a:prstDash val="solid"/>
          </a:ln>
        </p:spPr>
      </p:pic>
      <p:sp>
        <p:nvSpPr>
          <p:cNvPr id="6" name="AutoShape 6"/>
          <p:cNvSpPr/>
          <p:nvPr/>
        </p:nvSpPr>
        <p:spPr>
          <a:xfrm>
            <a:off x="1440180" y="1587500"/>
            <a:ext cx="4191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efficiency bottleneck</a:t>
            </a:r>
            <a:endParaRPr lang="en-US" sz="1100"/>
          </a:p>
        </p:txBody>
      </p:sp>
      <p:sp>
        <p:nvSpPr>
          <p:cNvPr id="7" name="AutoShape 7"/>
          <p:cNvSpPr/>
          <p:nvPr/>
        </p:nvSpPr>
        <p:spPr>
          <a:xfrm>
            <a:off x="1440180" y="1917700"/>
            <a:ext cx="4191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Repetitive code writing and tedious syntax memorization consume much development time.</a:t>
            </a:r>
            <a:endParaRPr lang="en-US" sz="1100"/>
          </a:p>
        </p:txBody>
      </p:sp>
      <p:sp>
        <p:nvSpPr>
          <p:cNvPr id="8" name="AutoShape 8"/>
          <p:cNvSpPr/>
          <p:nvPr/>
        </p:nvSpPr>
        <p:spPr>
          <a:xfrm>
            <a:off x="741680" y="2641600"/>
            <a:ext cx="5080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9" name="Picture 9"/>
          <p:cNvPicPr>
            <a:picLocks noChangeAspect="1"/>
          </p:cNvPicPr>
          <p:nvPr/>
        </p:nvPicPr>
        <p:blipFill>
          <a:blip r:embed="rId2"/>
          <a:srcRect/>
          <a:stretch>
            <a:fillRect/>
          </a:stretch>
        </p:blipFill>
        <p:spPr>
          <a:xfrm>
            <a:off x="932180" y="2832100"/>
            <a:ext cx="406400" cy="406400"/>
          </a:xfrm>
          <a:prstGeom prst="rect">
            <a:avLst/>
          </a:prstGeom>
          <a:ln w="12700">
            <a:noFill/>
            <a:prstDash val="solid"/>
          </a:ln>
        </p:spPr>
      </p:pic>
      <p:sp>
        <p:nvSpPr>
          <p:cNvPr id="10" name="AutoShape 10"/>
          <p:cNvSpPr/>
          <p:nvPr/>
        </p:nvSpPr>
        <p:spPr>
          <a:xfrm>
            <a:off x="1440180" y="2794000"/>
            <a:ext cx="4191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steep learning curve</a:t>
            </a:r>
            <a:endParaRPr lang="en-US" sz="1100"/>
          </a:p>
        </p:txBody>
      </p:sp>
      <p:sp>
        <p:nvSpPr>
          <p:cNvPr id="11" name="AutoShape 11"/>
          <p:cNvSpPr/>
          <p:nvPr/>
        </p:nvSpPr>
        <p:spPr>
          <a:xfrm>
            <a:off x="1440180" y="3124200"/>
            <a:ext cx="4191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New technologies and frameworks emerging constantly force developers to keep learning costly.</a:t>
            </a:r>
            <a:endParaRPr lang="en-US" sz="1100"/>
          </a:p>
        </p:txBody>
      </p:sp>
      <p:sp>
        <p:nvSpPr>
          <p:cNvPr id="12" name="AutoShape 12"/>
          <p:cNvSpPr/>
          <p:nvPr/>
        </p:nvSpPr>
        <p:spPr>
          <a:xfrm>
            <a:off x="741680" y="3848100"/>
            <a:ext cx="5080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3" name="Picture 13"/>
          <p:cNvPicPr>
            <a:picLocks noChangeAspect="1"/>
          </p:cNvPicPr>
          <p:nvPr/>
        </p:nvPicPr>
        <p:blipFill>
          <a:blip r:embed="rId3"/>
          <a:srcRect/>
          <a:stretch>
            <a:fillRect/>
          </a:stretch>
        </p:blipFill>
        <p:spPr>
          <a:xfrm>
            <a:off x="932180" y="4038600"/>
            <a:ext cx="406400" cy="406400"/>
          </a:xfrm>
          <a:prstGeom prst="rect">
            <a:avLst/>
          </a:prstGeom>
          <a:ln w="12700">
            <a:noFill/>
            <a:prstDash val="solid"/>
          </a:ln>
        </p:spPr>
      </p:pic>
      <p:sp>
        <p:nvSpPr>
          <p:cNvPr id="14" name="AutoShape 14"/>
          <p:cNvSpPr/>
          <p:nvPr/>
        </p:nvSpPr>
        <p:spPr>
          <a:xfrm>
            <a:off x="1440180" y="4000500"/>
            <a:ext cx="4191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knowledge blind spot</a:t>
            </a:r>
            <a:endParaRPr lang="en-US" sz="1100"/>
          </a:p>
        </p:txBody>
      </p:sp>
      <p:sp>
        <p:nvSpPr>
          <p:cNvPr id="15" name="AutoShape 15"/>
          <p:cNvSpPr/>
          <p:nvPr/>
        </p:nvSpPr>
        <p:spPr>
          <a:xfrm>
            <a:off x="1440180" y="4330700"/>
            <a:ext cx="4191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Mastering all APIs and best practices is challenging, and researching them takes much daily work.</a:t>
            </a:r>
            <a:endParaRPr lang="en-US" sz="1100"/>
          </a:p>
        </p:txBody>
      </p:sp>
      <p:sp>
        <p:nvSpPr>
          <p:cNvPr id="16" name="AutoShape 16"/>
          <p:cNvSpPr/>
          <p:nvPr/>
        </p:nvSpPr>
        <p:spPr>
          <a:xfrm>
            <a:off x="741680" y="5054600"/>
            <a:ext cx="5080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7" name="Picture 17"/>
          <p:cNvPicPr>
            <a:picLocks noChangeAspect="1"/>
          </p:cNvPicPr>
          <p:nvPr/>
        </p:nvPicPr>
        <p:blipFill>
          <a:blip r:embed="rId4"/>
          <a:srcRect/>
          <a:stretch>
            <a:fillRect/>
          </a:stretch>
        </p:blipFill>
        <p:spPr>
          <a:xfrm>
            <a:off x="932180" y="5245100"/>
            <a:ext cx="406400" cy="406400"/>
          </a:xfrm>
          <a:prstGeom prst="rect">
            <a:avLst/>
          </a:prstGeom>
          <a:ln w="12700">
            <a:noFill/>
            <a:prstDash val="solid"/>
          </a:ln>
        </p:spPr>
      </p:pic>
      <p:sp>
        <p:nvSpPr>
          <p:cNvPr id="18" name="AutoShape 18"/>
          <p:cNvSpPr/>
          <p:nvPr/>
        </p:nvSpPr>
        <p:spPr>
          <a:xfrm>
            <a:off x="1440180" y="5207000"/>
            <a:ext cx="4191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debugging time</a:t>
            </a:r>
            <a:endParaRPr lang="en-US" sz="1100"/>
          </a:p>
        </p:txBody>
      </p:sp>
      <p:sp>
        <p:nvSpPr>
          <p:cNvPr id="19" name="AutoShape 19"/>
          <p:cNvSpPr/>
          <p:nvPr/>
        </p:nvSpPr>
        <p:spPr>
          <a:xfrm>
            <a:off x="1440180" y="5537200"/>
            <a:ext cx="4191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64748B"/>
                </a:solidFill>
                <a:latin typeface="Noto Sans SC" panose="020B0200000000000000" charset="-122"/>
                <a:ea typeface="Noto Sans SC" panose="020B0200000000000000" charset="-122"/>
                <a:cs typeface="Noto Sans SC" panose="020B0200000000000000" charset="-122"/>
                <a:sym typeface="Noto Sans SC" panose="020B0200000000000000" charset="-122"/>
              </a:rPr>
              <a:t>Bug localization and resolution can take hours or even days, resulting in inefficiency.</a:t>
            </a:r>
            <a:endParaRPr lang="en-US" sz="1100"/>
          </a:p>
        </p:txBody>
      </p:sp>
      <p:pic>
        <p:nvPicPr>
          <p:cNvPr id="20" name="Picture 20"/>
          <p:cNvPicPr>
            <a:picLocks noChangeAspect="1"/>
          </p:cNvPicPr>
          <p:nvPr/>
        </p:nvPicPr>
        <p:blipFill>
          <a:blip r:embed="rId5"/>
          <a:srcRect l="18102" r="18101"/>
          <a:stretch>
            <a:fillRect/>
          </a:stretch>
        </p:blipFill>
        <p:spPr>
          <a:xfrm>
            <a:off x="6075680" y="1435100"/>
            <a:ext cx="5334000" cy="4699000"/>
          </a:xfrm>
          <a:prstGeom prst="roundRect">
            <a:avLst>
              <a:gd name="adj" fmla="val 2702"/>
            </a:avLst>
          </a:prstGeom>
          <a:ln w="12700" cap="flat" cmpd="sng">
            <a:noFill/>
            <a:prstDash val="solid"/>
            <a:roun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44323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AI-assisted programming</a:t>
            </a:r>
            <a:endParaRPr lang="en-US" sz="1100"/>
          </a:p>
        </p:txBody>
      </p:sp>
      <p:sp>
        <p:nvSpPr>
          <p:cNvPr id="4" name="AutoShape 4"/>
          <p:cNvSpPr/>
          <p:nvPr/>
        </p:nvSpPr>
        <p:spPr>
          <a:xfrm>
            <a:off x="762000" y="1272540"/>
            <a:ext cx="1016000" cy="50800"/>
          </a:xfrm>
          <a:prstGeom prst="roundRect">
            <a:avLst>
              <a:gd name="adj" fmla="val 0"/>
            </a:avLst>
          </a:prstGeom>
          <a:solidFill>
            <a:srgbClr val="DC2626">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5" name="Picture 5"/>
          <p:cNvPicPr>
            <a:picLocks noChangeAspect="1"/>
          </p:cNvPicPr>
          <p:nvPr/>
        </p:nvPicPr>
        <p:blipFill>
          <a:blip r:embed="rId1"/>
          <a:srcRect/>
          <a:stretch>
            <a:fillRect/>
          </a:stretch>
        </p:blipFill>
        <p:spPr>
          <a:xfrm>
            <a:off x="762000" y="1651000"/>
            <a:ext cx="304800" cy="304800"/>
          </a:xfrm>
          <a:prstGeom prst="rect">
            <a:avLst/>
          </a:prstGeom>
          <a:ln w="12700">
            <a:noFill/>
            <a:prstDash val="solid"/>
          </a:ln>
        </p:spPr>
      </p:pic>
      <p:sp>
        <p:nvSpPr>
          <p:cNvPr id="6" name="AutoShape 6"/>
          <p:cNvSpPr/>
          <p:nvPr/>
        </p:nvSpPr>
        <p:spPr>
          <a:xfrm>
            <a:off x="1143000" y="1625600"/>
            <a:ext cx="4826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definition</a:t>
            </a:r>
            <a:endParaRPr lang="en-US" sz="1100"/>
          </a:p>
        </p:txBody>
      </p:sp>
      <p:sp>
        <p:nvSpPr>
          <p:cNvPr id="7" name="AutoShape 7"/>
          <p:cNvSpPr/>
          <p:nvPr/>
        </p:nvSpPr>
        <p:spPr>
          <a:xfrm>
            <a:off x="762000" y="2032000"/>
            <a:ext cx="5207000" cy="762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Leveraging artificial intelligence technologies like large language models (LLMs), developers can accomplish diverse coding tasks—from code completion to complex feature generation—with enhanced support.</a:t>
            </a:r>
            <a:endParaRPr lang="en-US" sz="1100"/>
          </a:p>
        </p:txBody>
      </p:sp>
      <p:pic>
        <p:nvPicPr>
          <p:cNvPr id="8" name="Picture 8"/>
          <p:cNvPicPr>
            <a:picLocks noChangeAspect="1"/>
          </p:cNvPicPr>
          <p:nvPr/>
        </p:nvPicPr>
        <p:blipFill>
          <a:blip r:embed="rId2"/>
          <a:srcRect t="9628" b="9628"/>
          <a:stretch>
            <a:fillRect/>
          </a:stretch>
        </p:blipFill>
        <p:spPr>
          <a:xfrm>
            <a:off x="762000" y="2984500"/>
            <a:ext cx="5207000" cy="2540000"/>
          </a:xfrm>
          <a:prstGeom prst="roundRect">
            <a:avLst>
              <a:gd name="adj" fmla="val 5000"/>
            </a:avLst>
          </a:prstGeom>
          <a:ln w="12700" cap="flat" cmpd="sng">
            <a:noFill/>
            <a:prstDash val="solid"/>
            <a:round/>
          </a:ln>
        </p:spPr>
      </p:pic>
      <p:pic>
        <p:nvPicPr>
          <p:cNvPr id="9" name="Picture 9"/>
          <p:cNvPicPr>
            <a:picLocks noChangeAspect="1"/>
          </p:cNvPicPr>
          <p:nvPr/>
        </p:nvPicPr>
        <p:blipFill>
          <a:blip r:embed="rId3"/>
          <a:srcRect/>
          <a:stretch>
            <a:fillRect/>
          </a:stretch>
        </p:blipFill>
        <p:spPr>
          <a:xfrm>
            <a:off x="6350000" y="1651000"/>
            <a:ext cx="304800" cy="304800"/>
          </a:xfrm>
          <a:prstGeom prst="rect">
            <a:avLst/>
          </a:prstGeom>
          <a:ln w="12700">
            <a:noFill/>
            <a:prstDash val="solid"/>
          </a:ln>
        </p:spPr>
      </p:pic>
      <p:sp>
        <p:nvSpPr>
          <p:cNvPr id="10" name="AutoShape 10"/>
          <p:cNvSpPr/>
          <p:nvPr/>
        </p:nvSpPr>
        <p:spPr>
          <a:xfrm>
            <a:off x="6731000" y="1625600"/>
            <a:ext cx="4699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advantages</a:t>
            </a:r>
            <a:endParaRPr lang="en-US" sz="1100"/>
          </a:p>
        </p:txBody>
      </p:sp>
      <p:sp>
        <p:nvSpPr>
          <p:cNvPr id="11" name="AutoShape 11"/>
          <p:cNvSpPr/>
          <p:nvPr/>
        </p:nvSpPr>
        <p:spPr>
          <a:xfrm>
            <a:off x="6350000" y="2095500"/>
            <a:ext cx="2349500" cy="1079500"/>
          </a:xfrm>
          <a:prstGeom prst="roundRect">
            <a:avLst>
              <a:gd name="adj" fmla="val 11764"/>
            </a:avLst>
          </a:prstGeom>
          <a:solidFill>
            <a:srgbClr val="FEF2F2">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2" name="Picture 12"/>
          <p:cNvPicPr>
            <a:picLocks noChangeAspect="1"/>
          </p:cNvPicPr>
          <p:nvPr/>
        </p:nvPicPr>
        <p:blipFill>
          <a:blip r:embed="rId4"/>
          <a:srcRect/>
          <a:stretch>
            <a:fillRect/>
          </a:stretch>
        </p:blipFill>
        <p:spPr>
          <a:xfrm>
            <a:off x="6477000" y="2222500"/>
            <a:ext cx="254000" cy="254000"/>
          </a:xfrm>
          <a:prstGeom prst="rect">
            <a:avLst/>
          </a:prstGeom>
          <a:ln w="12700">
            <a:noFill/>
            <a:prstDash val="solid"/>
          </a:ln>
        </p:spPr>
      </p:pic>
      <p:sp>
        <p:nvSpPr>
          <p:cNvPr id="13" name="AutoShape 13"/>
          <p:cNvSpPr/>
          <p:nvPr/>
        </p:nvSpPr>
        <p:spPr>
          <a:xfrm>
            <a:off x="6731037" y="2476463"/>
            <a:ext cx="1778000" cy="3048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Increase encoding speed</a:t>
            </a:r>
            <a:endParaRPr lang="en-US" sz="1100"/>
          </a:p>
        </p:txBody>
      </p:sp>
      <p:sp>
        <p:nvSpPr>
          <p:cNvPr id="14" name="AutoShape 14"/>
          <p:cNvSpPr/>
          <p:nvPr/>
        </p:nvSpPr>
        <p:spPr>
          <a:xfrm>
            <a:off x="8826500" y="2095500"/>
            <a:ext cx="2349500" cy="1079500"/>
          </a:xfrm>
          <a:prstGeom prst="roundRect">
            <a:avLst>
              <a:gd name="adj" fmla="val 11764"/>
            </a:avLst>
          </a:prstGeom>
          <a:solidFill>
            <a:srgbClr val="FEF2F2">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5" name="Picture 15"/>
          <p:cNvPicPr>
            <a:picLocks noChangeAspect="1"/>
          </p:cNvPicPr>
          <p:nvPr/>
        </p:nvPicPr>
        <p:blipFill>
          <a:blip r:embed="rId5"/>
          <a:srcRect/>
          <a:stretch>
            <a:fillRect/>
          </a:stretch>
        </p:blipFill>
        <p:spPr>
          <a:xfrm>
            <a:off x="8953500" y="2222500"/>
            <a:ext cx="254000" cy="254000"/>
          </a:xfrm>
          <a:prstGeom prst="rect">
            <a:avLst/>
          </a:prstGeom>
          <a:ln w="12700">
            <a:noFill/>
            <a:prstDash val="solid"/>
          </a:ln>
        </p:spPr>
      </p:pic>
      <p:sp>
        <p:nvSpPr>
          <p:cNvPr id="16" name="AutoShape 16"/>
          <p:cNvSpPr/>
          <p:nvPr/>
        </p:nvSpPr>
        <p:spPr>
          <a:xfrm>
            <a:off x="9271037" y="2436412"/>
            <a:ext cx="1778000" cy="3048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Lowering the learning threshold</a:t>
            </a:r>
            <a:endParaRPr lang="en-US" sz="1100"/>
          </a:p>
        </p:txBody>
      </p:sp>
      <p:sp>
        <p:nvSpPr>
          <p:cNvPr id="17" name="AutoShape 17"/>
          <p:cNvSpPr/>
          <p:nvPr/>
        </p:nvSpPr>
        <p:spPr>
          <a:xfrm>
            <a:off x="6350000" y="3302000"/>
            <a:ext cx="2349500" cy="1079500"/>
          </a:xfrm>
          <a:prstGeom prst="roundRect">
            <a:avLst>
              <a:gd name="adj" fmla="val 11764"/>
            </a:avLst>
          </a:prstGeom>
          <a:solidFill>
            <a:srgbClr val="FEF2F2">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8" name="Picture 18"/>
          <p:cNvPicPr>
            <a:picLocks noChangeAspect="1"/>
          </p:cNvPicPr>
          <p:nvPr/>
        </p:nvPicPr>
        <p:blipFill>
          <a:blip r:embed="rId6"/>
          <a:srcRect/>
          <a:stretch>
            <a:fillRect/>
          </a:stretch>
        </p:blipFill>
        <p:spPr>
          <a:xfrm>
            <a:off x="6477000" y="3429000"/>
            <a:ext cx="254000" cy="254000"/>
          </a:xfrm>
          <a:prstGeom prst="rect">
            <a:avLst/>
          </a:prstGeom>
          <a:ln w="12700">
            <a:noFill/>
            <a:prstDash val="solid"/>
          </a:ln>
        </p:spPr>
      </p:pic>
      <p:sp>
        <p:nvSpPr>
          <p:cNvPr id="19" name="AutoShape 19"/>
          <p:cNvSpPr/>
          <p:nvPr/>
        </p:nvSpPr>
        <p:spPr>
          <a:xfrm>
            <a:off x="6731037" y="3620630"/>
            <a:ext cx="1778000" cy="3048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Reduce code errors</a:t>
            </a:r>
            <a:endParaRPr lang="en-US" sz="1100"/>
          </a:p>
        </p:txBody>
      </p:sp>
      <p:sp>
        <p:nvSpPr>
          <p:cNvPr id="20" name="AutoShape 20"/>
          <p:cNvSpPr/>
          <p:nvPr/>
        </p:nvSpPr>
        <p:spPr>
          <a:xfrm>
            <a:off x="8826500" y="3302000"/>
            <a:ext cx="2349500" cy="1079500"/>
          </a:xfrm>
          <a:prstGeom prst="roundRect">
            <a:avLst>
              <a:gd name="adj" fmla="val 11764"/>
            </a:avLst>
          </a:prstGeom>
          <a:solidFill>
            <a:srgbClr val="FEF2F2">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1" name="Picture 21"/>
          <p:cNvPicPr>
            <a:picLocks noChangeAspect="1"/>
          </p:cNvPicPr>
          <p:nvPr/>
        </p:nvPicPr>
        <p:blipFill>
          <a:blip r:embed="rId7"/>
          <a:srcRect/>
          <a:stretch>
            <a:fillRect/>
          </a:stretch>
        </p:blipFill>
        <p:spPr>
          <a:xfrm>
            <a:off x="8953500" y="3429000"/>
            <a:ext cx="254000" cy="254000"/>
          </a:xfrm>
          <a:prstGeom prst="rect">
            <a:avLst/>
          </a:prstGeom>
          <a:ln w="12700">
            <a:noFill/>
            <a:prstDash val="solid"/>
          </a:ln>
        </p:spPr>
      </p:pic>
      <p:sp>
        <p:nvSpPr>
          <p:cNvPr id="22" name="AutoShape 22"/>
          <p:cNvSpPr/>
          <p:nvPr/>
        </p:nvSpPr>
        <p:spPr>
          <a:xfrm>
            <a:off x="9271037" y="3620603"/>
            <a:ext cx="1778000" cy="3048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Stimulate creative thinking</a:t>
            </a:r>
            <a:endParaRPr lang="en-US" sz="1100"/>
          </a:p>
        </p:txBody>
      </p:sp>
      <p:pic>
        <p:nvPicPr>
          <p:cNvPr id="23" name="Picture 23"/>
          <p:cNvPicPr>
            <a:picLocks noChangeAspect="1"/>
          </p:cNvPicPr>
          <p:nvPr/>
        </p:nvPicPr>
        <p:blipFill>
          <a:blip r:embed="rId8"/>
          <a:srcRect/>
          <a:stretch>
            <a:fillRect/>
          </a:stretch>
        </p:blipFill>
        <p:spPr>
          <a:xfrm>
            <a:off x="6350000" y="4572000"/>
            <a:ext cx="304800" cy="304800"/>
          </a:xfrm>
          <a:prstGeom prst="rect">
            <a:avLst/>
          </a:prstGeom>
          <a:ln w="12700">
            <a:noFill/>
            <a:prstDash val="solid"/>
          </a:ln>
        </p:spPr>
      </p:pic>
      <p:sp>
        <p:nvSpPr>
          <p:cNvPr id="24" name="AutoShape 24"/>
          <p:cNvSpPr/>
          <p:nvPr/>
        </p:nvSpPr>
        <p:spPr>
          <a:xfrm>
            <a:off x="6731000" y="4546600"/>
            <a:ext cx="4699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Development status</a:t>
            </a:r>
            <a:endParaRPr lang="en-US" sz="1100"/>
          </a:p>
        </p:txBody>
      </p:sp>
      <p:sp>
        <p:nvSpPr>
          <p:cNvPr id="25" name="AutoShape 25"/>
          <p:cNvSpPr/>
          <p:nvPr/>
        </p:nvSpPr>
        <p:spPr>
          <a:xfrm>
            <a:off x="6350000" y="4953000"/>
            <a:ext cx="4826000" cy="762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From simple code completion to complex feature generation, application scenarios continue to expand, with AI becoming an indispensable intelligent assistant for developers.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1016000" y="1915226"/>
            <a:ext cx="10160000" cy="1259774"/>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02 The Mystery of Code Generation: Core Technologies of LLM</a:t>
            </a:r>
            <a:endParaRPr lang="en-US" sz="1100"/>
          </a:p>
        </p:txBody>
      </p:sp>
      <p:cxnSp>
        <p:nvCxnSpPr>
          <p:cNvPr id="4" name="Connector 4"/>
          <p:cNvCxnSpPr/>
          <p:nvPr/>
        </p:nvCxnSpPr>
        <p:spPr>
          <a:xfrm rot="-34376">
            <a:off x="1016032" y="3295650"/>
            <a:ext cx="1270000" cy="12700"/>
          </a:xfrm>
          <a:prstGeom prst="straightConnector1">
            <a:avLst/>
          </a:prstGeom>
          <a:solidFill>
            <a:srgbClr val="DEE0E3">
              <a:alpha val="100000"/>
            </a:srgbClr>
          </a:solidFill>
          <a:ln w="38100" cap="flat" cmpd="sng">
            <a:solidFill>
              <a:srgbClr val="FFFFFF">
                <a:alpha val="100000"/>
              </a:srgbClr>
            </a:solidFill>
            <a:prstDash val="solid"/>
            <a:round/>
            <a:headEnd type="none" w="lg" len="lg"/>
            <a:tailEnd type="none" w="lg" len="lg"/>
          </a:ln>
        </p:spPr>
      </p:cxnSp>
      <p:sp>
        <p:nvSpPr>
          <p:cNvPr id="5" name="AutoShape 5"/>
          <p:cNvSpPr/>
          <p:nvPr/>
        </p:nvSpPr>
        <p:spPr>
          <a:xfrm>
            <a:off x="1016000" y="3556000"/>
            <a:ext cx="10160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2000" b="0" i="0" u="none" strike="noStrike">
                <a:solidFill>
                  <a:srgbClr val="000000">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Understanding how large models "learn" to program</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458470"/>
            <a:ext cx="11101248"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Foundational Aspects of Large Language Models </a:t>
            </a:r>
            <a:endParaRPr lang="en-US" sz="1100"/>
          </a:p>
        </p:txBody>
      </p:sp>
      <p:sp>
        <p:nvSpPr>
          <p:cNvPr id="4" name="AutoShape 4"/>
          <p:cNvSpPr/>
          <p:nvPr/>
        </p:nvSpPr>
        <p:spPr>
          <a:xfrm>
            <a:off x="762000" y="1524000"/>
            <a:ext cx="5334000" cy="1397000"/>
          </a:xfrm>
          <a:prstGeom prst="roundRect">
            <a:avLst>
              <a:gd name="adj" fmla="val 9089"/>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5" name="Picture 5"/>
          <p:cNvPicPr>
            <a:picLocks noChangeAspect="1"/>
          </p:cNvPicPr>
          <p:nvPr/>
        </p:nvPicPr>
        <p:blipFill>
          <a:blip r:embed="rId1"/>
          <a:srcRect/>
          <a:stretch>
            <a:fillRect/>
          </a:stretch>
        </p:blipFill>
        <p:spPr>
          <a:xfrm>
            <a:off x="1016000" y="1714500"/>
            <a:ext cx="304800" cy="304800"/>
          </a:xfrm>
          <a:prstGeom prst="rect">
            <a:avLst/>
          </a:prstGeom>
          <a:ln w="12700">
            <a:noFill/>
            <a:prstDash val="solid"/>
          </a:ln>
        </p:spPr>
      </p:pic>
      <p:sp>
        <p:nvSpPr>
          <p:cNvPr id="6" name="AutoShape 6"/>
          <p:cNvSpPr/>
          <p:nvPr/>
        </p:nvSpPr>
        <p:spPr>
          <a:xfrm>
            <a:off x="1365235" y="1714463"/>
            <a:ext cx="4635482" cy="1055969"/>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essence: Transformer architecture broussonetia papyrifera</a:t>
            </a:r>
            <a:endParaRPr lang="en-US" sz="1100"/>
          </a:p>
        </p:txBody>
      </p:sp>
      <p:sp>
        <p:nvSpPr>
          <p:cNvPr id="7" name="AutoShape 7"/>
          <p:cNvSpPr/>
          <p:nvPr/>
        </p:nvSpPr>
        <p:spPr>
          <a:xfrm>
            <a:off x="762000" y="3111500"/>
            <a:ext cx="5334000" cy="1397000"/>
          </a:xfrm>
          <a:prstGeom prst="roundRect">
            <a:avLst>
              <a:gd name="adj" fmla="val 9089"/>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8" name="Picture 8"/>
          <p:cNvPicPr>
            <a:picLocks noChangeAspect="1"/>
          </p:cNvPicPr>
          <p:nvPr/>
        </p:nvPicPr>
        <p:blipFill>
          <a:blip r:embed="rId2"/>
          <a:srcRect/>
          <a:stretch>
            <a:fillRect/>
          </a:stretch>
        </p:blipFill>
        <p:spPr>
          <a:xfrm>
            <a:off x="1016000" y="3302000"/>
            <a:ext cx="304800" cy="304800"/>
          </a:xfrm>
          <a:prstGeom prst="rect">
            <a:avLst/>
          </a:prstGeom>
          <a:ln w="12700">
            <a:noFill/>
            <a:prstDash val="solid"/>
          </a:ln>
        </p:spPr>
      </p:pic>
      <p:sp>
        <p:nvSpPr>
          <p:cNvPr id="9" name="AutoShape 9"/>
          <p:cNvSpPr/>
          <p:nvPr/>
        </p:nvSpPr>
        <p:spPr>
          <a:xfrm>
            <a:off x="1365192" y="3301994"/>
            <a:ext cx="4445000" cy="1094033"/>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Competencies: Comprehension and Generation</a:t>
            </a:r>
            <a:endParaRPr lang="en-US" sz="1100"/>
          </a:p>
        </p:txBody>
      </p:sp>
      <p:sp>
        <p:nvSpPr>
          <p:cNvPr id="10" name="AutoShape 10"/>
          <p:cNvSpPr/>
          <p:nvPr/>
        </p:nvSpPr>
        <p:spPr>
          <a:xfrm>
            <a:off x="762000" y="4699000"/>
            <a:ext cx="5334000" cy="1397000"/>
          </a:xfrm>
          <a:prstGeom prst="roundRect">
            <a:avLst>
              <a:gd name="adj" fmla="val 9089"/>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1" name="Picture 11"/>
          <p:cNvPicPr>
            <a:picLocks noChangeAspect="1"/>
          </p:cNvPicPr>
          <p:nvPr/>
        </p:nvPicPr>
        <p:blipFill>
          <a:blip r:embed="rId3"/>
          <a:srcRect/>
          <a:stretch>
            <a:fillRect/>
          </a:stretch>
        </p:blipFill>
        <p:spPr>
          <a:xfrm>
            <a:off x="1016000" y="4889500"/>
            <a:ext cx="304800" cy="304800"/>
          </a:xfrm>
          <a:prstGeom prst="rect">
            <a:avLst/>
          </a:prstGeom>
          <a:ln w="12700">
            <a:noFill/>
            <a:prstDash val="solid"/>
          </a:ln>
        </p:spPr>
      </p:pic>
      <p:sp>
        <p:nvSpPr>
          <p:cNvPr id="12" name="AutoShape 12"/>
          <p:cNvSpPr/>
          <p:nvPr/>
        </p:nvSpPr>
        <p:spPr>
          <a:xfrm>
            <a:off x="1320761" y="4889525"/>
            <a:ext cx="4445000" cy="887992"/>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Training Mechanism: Massive Pre-training</a:t>
            </a:r>
            <a:endParaRPr lang="en-US" sz="1100"/>
          </a:p>
        </p:txBody>
      </p:sp>
      <p:sp>
        <p:nvSpPr>
          <p:cNvPr id="13" name="AutoShape 13"/>
          <p:cNvSpPr/>
          <p:nvPr/>
        </p:nvSpPr>
        <p:spPr>
          <a:xfrm>
            <a:off x="6350000" y="1524000"/>
            <a:ext cx="5080000" cy="4572000"/>
          </a:xfrm>
          <a:prstGeom prst="roundRect">
            <a:avLst>
              <a:gd name="adj" fmla="val 2777"/>
            </a:avLst>
          </a:prstGeom>
          <a:solidFill>
            <a:srgbClr val="F3F4F6">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4" name="Picture 14"/>
          <p:cNvPicPr>
            <a:picLocks noChangeAspect="1"/>
          </p:cNvPicPr>
          <p:nvPr/>
        </p:nvPicPr>
        <p:blipFill>
          <a:blip r:embed="rId4"/>
          <a:srcRect/>
          <a:stretch>
            <a:fillRect/>
          </a:stretch>
        </p:blipFill>
        <p:spPr>
          <a:xfrm>
            <a:off x="6104890" y="1515110"/>
            <a:ext cx="5691505" cy="457136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Workflow of LLM Code Generation</a:t>
            </a:r>
            <a:endParaRPr lang="en-US" sz="1100"/>
          </a:p>
        </p:txBody>
      </p:sp>
      <p:sp>
        <p:nvSpPr>
          <p:cNvPr id="5" name="AutoShape 5"/>
          <p:cNvSpPr/>
          <p:nvPr/>
        </p:nvSpPr>
        <p:spPr>
          <a:xfrm>
            <a:off x="927100" y="1706245"/>
            <a:ext cx="2540000" cy="1905000"/>
          </a:xfrm>
          <a:prstGeom prst="roundRect">
            <a:avLst>
              <a:gd name="adj" fmla="val 666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nvPicPr>
        <p:blipFill>
          <a:blip r:embed="rId1"/>
          <a:srcRect/>
          <a:stretch>
            <a:fillRect/>
          </a:stretch>
        </p:blipFill>
        <p:spPr>
          <a:xfrm>
            <a:off x="1117600" y="1896745"/>
            <a:ext cx="304800" cy="304800"/>
          </a:xfrm>
          <a:prstGeom prst="rect">
            <a:avLst/>
          </a:prstGeom>
          <a:ln w="12700">
            <a:noFill/>
            <a:prstDash val="solid"/>
          </a:ln>
        </p:spPr>
      </p:pic>
      <p:sp>
        <p:nvSpPr>
          <p:cNvPr id="7" name="AutoShape 7"/>
          <p:cNvSpPr/>
          <p:nvPr/>
        </p:nvSpPr>
        <p:spPr>
          <a:xfrm>
            <a:off x="1498600" y="1858645"/>
            <a:ext cx="18415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01 Input (Prompt)</a:t>
            </a:r>
            <a:endParaRPr lang="en-US" sz="1100"/>
          </a:p>
        </p:txBody>
      </p:sp>
      <p:sp>
        <p:nvSpPr>
          <p:cNvPr id="8" name="AutoShape 8"/>
          <p:cNvSpPr/>
          <p:nvPr/>
        </p:nvSpPr>
        <p:spPr>
          <a:xfrm>
            <a:off x="1117600" y="2277745"/>
            <a:ext cx="21590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Developers provide natural language descriptions (such as comments) or a code snippet as prompts.</a:t>
            </a:r>
            <a:endParaRPr lang="en-US" sz="1100"/>
          </a:p>
        </p:txBody>
      </p:sp>
      <p:sp>
        <p:nvSpPr>
          <p:cNvPr id="9" name="AutoShape 9"/>
          <p:cNvSpPr/>
          <p:nvPr/>
        </p:nvSpPr>
        <p:spPr>
          <a:xfrm>
            <a:off x="3632200" y="1706245"/>
            <a:ext cx="2540000" cy="1905000"/>
          </a:xfrm>
          <a:prstGeom prst="roundRect">
            <a:avLst>
              <a:gd name="adj" fmla="val 666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0" name="Picture 10"/>
          <p:cNvPicPr>
            <a:picLocks noChangeAspect="1"/>
          </p:cNvPicPr>
          <p:nvPr/>
        </p:nvPicPr>
        <p:blipFill>
          <a:blip r:embed="rId2"/>
          <a:srcRect/>
          <a:stretch>
            <a:fillRect/>
          </a:stretch>
        </p:blipFill>
        <p:spPr>
          <a:xfrm>
            <a:off x="3822700" y="1896745"/>
            <a:ext cx="304800" cy="304800"/>
          </a:xfrm>
          <a:prstGeom prst="rect">
            <a:avLst/>
          </a:prstGeom>
          <a:ln w="12700">
            <a:noFill/>
            <a:prstDash val="solid"/>
          </a:ln>
        </p:spPr>
      </p:pic>
      <p:sp>
        <p:nvSpPr>
          <p:cNvPr id="11" name="AutoShape 11"/>
          <p:cNvSpPr/>
          <p:nvPr/>
        </p:nvSpPr>
        <p:spPr>
          <a:xfrm>
            <a:off x="4203700" y="1858645"/>
            <a:ext cx="18415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02 Contextual Understanding</a:t>
            </a:r>
            <a:endParaRPr lang="en-US" sz="1100"/>
          </a:p>
        </p:txBody>
      </p:sp>
      <p:sp>
        <p:nvSpPr>
          <p:cNvPr id="12" name="AutoShape 12"/>
          <p:cNvSpPr/>
          <p:nvPr/>
        </p:nvSpPr>
        <p:spPr>
          <a:xfrm>
            <a:off x="3822700" y="2277745"/>
            <a:ext cx="21590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LLMs analyze the input intent, contextual environment, and relevant programming knowledge.</a:t>
            </a:r>
            <a:endParaRPr lang="en-US" sz="1100"/>
          </a:p>
        </p:txBody>
      </p:sp>
      <p:sp>
        <p:nvSpPr>
          <p:cNvPr id="13" name="AutoShape 13"/>
          <p:cNvSpPr/>
          <p:nvPr/>
        </p:nvSpPr>
        <p:spPr>
          <a:xfrm>
            <a:off x="6337300" y="1706245"/>
            <a:ext cx="2540000" cy="1905000"/>
          </a:xfrm>
          <a:prstGeom prst="roundRect">
            <a:avLst>
              <a:gd name="adj" fmla="val 666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4" name="Picture 14"/>
          <p:cNvPicPr>
            <a:picLocks noChangeAspect="1"/>
          </p:cNvPicPr>
          <p:nvPr/>
        </p:nvPicPr>
        <p:blipFill>
          <a:blip r:embed="rId3"/>
          <a:srcRect/>
          <a:stretch>
            <a:fillRect/>
          </a:stretch>
        </p:blipFill>
        <p:spPr>
          <a:xfrm>
            <a:off x="6527800" y="1896745"/>
            <a:ext cx="304800" cy="304800"/>
          </a:xfrm>
          <a:prstGeom prst="rect">
            <a:avLst/>
          </a:prstGeom>
          <a:ln w="12700">
            <a:noFill/>
            <a:prstDash val="solid"/>
          </a:ln>
        </p:spPr>
      </p:pic>
      <p:sp>
        <p:nvSpPr>
          <p:cNvPr id="15" name="AutoShape 15"/>
          <p:cNvSpPr/>
          <p:nvPr/>
        </p:nvSpPr>
        <p:spPr>
          <a:xfrm>
            <a:off x="6908800" y="1858645"/>
            <a:ext cx="2072556"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03 Code Generation</a:t>
            </a:r>
            <a:endParaRPr lang="en-US" sz="1100"/>
          </a:p>
        </p:txBody>
      </p:sp>
      <p:sp>
        <p:nvSpPr>
          <p:cNvPr id="16" name="AutoShape 16"/>
          <p:cNvSpPr/>
          <p:nvPr/>
        </p:nvSpPr>
        <p:spPr>
          <a:xfrm>
            <a:off x="6509364" y="2277745"/>
            <a:ext cx="21590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Based on the learned knowledge and patterns, the model predicts and generates the most intent-compliant subsequent code.</a:t>
            </a:r>
            <a:endParaRPr lang="en-US" sz="1100"/>
          </a:p>
        </p:txBody>
      </p:sp>
      <p:sp>
        <p:nvSpPr>
          <p:cNvPr id="17" name="AutoShape 17"/>
          <p:cNvSpPr/>
          <p:nvPr/>
        </p:nvSpPr>
        <p:spPr>
          <a:xfrm>
            <a:off x="9055100" y="1706245"/>
            <a:ext cx="2540000" cy="1905000"/>
          </a:xfrm>
          <a:prstGeom prst="roundRect">
            <a:avLst>
              <a:gd name="adj" fmla="val 6665"/>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8" name="Picture 18"/>
          <p:cNvPicPr>
            <a:picLocks noChangeAspect="1"/>
          </p:cNvPicPr>
          <p:nvPr/>
        </p:nvPicPr>
        <p:blipFill>
          <a:blip r:embed="rId4"/>
          <a:srcRect/>
          <a:stretch>
            <a:fillRect/>
          </a:stretch>
        </p:blipFill>
        <p:spPr>
          <a:xfrm>
            <a:off x="9245600" y="1896745"/>
            <a:ext cx="304800" cy="304800"/>
          </a:xfrm>
          <a:prstGeom prst="rect">
            <a:avLst/>
          </a:prstGeom>
          <a:ln w="12700">
            <a:noFill/>
            <a:prstDash val="solid"/>
          </a:ln>
        </p:spPr>
      </p:pic>
      <p:sp>
        <p:nvSpPr>
          <p:cNvPr id="19" name="AutoShape 19"/>
          <p:cNvSpPr/>
          <p:nvPr/>
        </p:nvSpPr>
        <p:spPr>
          <a:xfrm>
            <a:off x="9626600" y="1858645"/>
            <a:ext cx="18415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04 Output and Optimization</a:t>
            </a:r>
            <a:endParaRPr lang="en-US" sz="1100"/>
          </a:p>
        </p:txBody>
      </p:sp>
      <p:sp>
        <p:nvSpPr>
          <p:cNvPr id="20" name="AutoShape 20"/>
          <p:cNvSpPr/>
          <p:nvPr/>
        </p:nvSpPr>
        <p:spPr>
          <a:xfrm>
            <a:off x="9245600" y="2277745"/>
            <a:ext cx="21590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2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Return the generated code to the user and iteratively optimize it based on feedback or interaction.</a:t>
            </a:r>
            <a:endParaRPr lang="en-US" sz="1100"/>
          </a:p>
        </p:txBody>
      </p:sp>
      <p:pic>
        <p:nvPicPr>
          <p:cNvPr id="21" name="Picture 21"/>
          <p:cNvPicPr>
            <a:picLocks noChangeAspect="1"/>
          </p:cNvPicPr>
          <p:nvPr/>
        </p:nvPicPr>
        <p:blipFill>
          <a:blip r:embed="rId5"/>
          <a:srcRect t="34960" b="35496"/>
          <a:stretch>
            <a:fillRect/>
          </a:stretch>
        </p:blipFill>
        <p:spPr>
          <a:xfrm>
            <a:off x="1117600" y="4151630"/>
            <a:ext cx="10019665" cy="166433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40640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Key technologies for code generation</a:t>
            </a:r>
            <a:endParaRPr lang="en-US" sz="1100"/>
          </a:p>
        </p:txBody>
      </p:sp>
      <p:sp>
        <p:nvSpPr>
          <p:cNvPr id="4" name="AutoShape 4"/>
          <p:cNvSpPr/>
          <p:nvPr/>
        </p:nvSpPr>
        <p:spPr>
          <a:xfrm>
            <a:off x="762000" y="1219200"/>
            <a:ext cx="1016000" cy="50800"/>
          </a:xfrm>
          <a:prstGeom prst="roundRect">
            <a:avLst>
              <a:gd name="adj" fmla="val 0"/>
            </a:avLst>
          </a:prstGeom>
          <a:solidFill>
            <a:srgbClr val="DC2626">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762000" y="1651000"/>
            <a:ext cx="5207000" cy="2286000"/>
          </a:xfrm>
          <a:prstGeom prst="roundRect">
            <a:avLst>
              <a:gd name="adj" fmla="val 5554"/>
            </a:avLst>
          </a:prstGeom>
          <a:solidFill>
            <a:srgbClr val="FAFAFA">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nvPicPr>
        <p:blipFill>
          <a:blip r:embed="rId1"/>
          <a:srcRect/>
          <a:stretch>
            <a:fillRect/>
          </a:stretch>
        </p:blipFill>
        <p:spPr>
          <a:xfrm>
            <a:off x="1016000" y="1905000"/>
            <a:ext cx="762000" cy="762000"/>
          </a:xfrm>
          <a:prstGeom prst="ellipse">
            <a:avLst/>
          </a:prstGeom>
          <a:ln w="12700" cap="flat" cmpd="sng">
            <a:noFill/>
            <a:prstDash val="solid"/>
            <a:round/>
          </a:ln>
        </p:spPr>
      </p:pic>
      <p:sp>
        <p:nvSpPr>
          <p:cNvPr id="7" name="AutoShape 7"/>
          <p:cNvSpPr/>
          <p:nvPr/>
        </p:nvSpPr>
        <p:spPr>
          <a:xfrm>
            <a:off x="1905000" y="1905000"/>
            <a:ext cx="3683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Prompt Engineering</a:t>
            </a:r>
            <a:endParaRPr lang="en-US" sz="1100"/>
          </a:p>
        </p:txBody>
      </p:sp>
      <p:sp>
        <p:nvSpPr>
          <p:cNvPr id="8" name="AutoShape 8"/>
          <p:cNvSpPr/>
          <p:nvPr/>
        </p:nvSpPr>
        <p:spPr>
          <a:xfrm>
            <a:off x="1905000" y="2286000"/>
            <a:ext cx="3683000" cy="1397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Designing effective input prompts to guide models in generating high-quality code is a core skill in using AI tools, which determines the precision of the output.</a:t>
            </a:r>
            <a:endParaRPr lang="en-US" sz="1100"/>
          </a:p>
        </p:txBody>
      </p:sp>
      <p:sp>
        <p:nvSpPr>
          <p:cNvPr id="9" name="AutoShape 9"/>
          <p:cNvSpPr/>
          <p:nvPr/>
        </p:nvSpPr>
        <p:spPr>
          <a:xfrm>
            <a:off x="6223000" y="1651000"/>
            <a:ext cx="5207000" cy="2286000"/>
          </a:xfrm>
          <a:prstGeom prst="roundRect">
            <a:avLst>
              <a:gd name="adj" fmla="val 5554"/>
            </a:avLst>
          </a:prstGeom>
          <a:solidFill>
            <a:srgbClr val="FAFAFA">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0" name="Picture 10"/>
          <p:cNvPicPr>
            <a:picLocks noChangeAspect="1"/>
          </p:cNvPicPr>
          <p:nvPr/>
        </p:nvPicPr>
        <p:blipFill>
          <a:blip r:embed="rId2"/>
          <a:srcRect/>
          <a:stretch>
            <a:fillRect/>
          </a:stretch>
        </p:blipFill>
        <p:spPr>
          <a:xfrm>
            <a:off x="6477000" y="1905000"/>
            <a:ext cx="762000" cy="762000"/>
          </a:xfrm>
          <a:prstGeom prst="ellipse">
            <a:avLst/>
          </a:prstGeom>
          <a:ln w="12700" cap="flat" cmpd="sng">
            <a:noFill/>
            <a:prstDash val="solid"/>
            <a:round/>
          </a:ln>
        </p:spPr>
      </p:pic>
      <p:sp>
        <p:nvSpPr>
          <p:cNvPr id="11" name="AutoShape 11"/>
          <p:cNvSpPr/>
          <p:nvPr/>
        </p:nvSpPr>
        <p:spPr>
          <a:xfrm>
            <a:off x="7366000" y="1905000"/>
            <a:ext cx="3683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Fine-tuning</a:t>
            </a:r>
            <a:endParaRPr lang="en-US" sz="1100"/>
          </a:p>
        </p:txBody>
      </p:sp>
      <p:sp>
        <p:nvSpPr>
          <p:cNvPr id="12" name="AutoShape 12"/>
          <p:cNvSpPr/>
          <p:nvPr/>
        </p:nvSpPr>
        <p:spPr>
          <a:xfrm>
            <a:off x="7366000" y="2286000"/>
            <a:ext cx="3683000" cy="1397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Based on a general pre-training model, secondary training is conducted using domain-specific code datasets, significantly enhancing the model's professional coding capabilities in vertical domains.</a:t>
            </a:r>
            <a:endParaRPr lang="en-US" sz="1100"/>
          </a:p>
        </p:txBody>
      </p:sp>
      <p:sp>
        <p:nvSpPr>
          <p:cNvPr id="13" name="AutoShape 13"/>
          <p:cNvSpPr/>
          <p:nvPr/>
        </p:nvSpPr>
        <p:spPr>
          <a:xfrm>
            <a:off x="762000" y="4191000"/>
            <a:ext cx="5207000" cy="2286000"/>
          </a:xfrm>
          <a:prstGeom prst="roundRect">
            <a:avLst>
              <a:gd name="adj" fmla="val 5554"/>
            </a:avLst>
          </a:prstGeom>
          <a:solidFill>
            <a:srgbClr val="FAFAFA">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4" name="Picture 14"/>
          <p:cNvPicPr>
            <a:picLocks noChangeAspect="1"/>
          </p:cNvPicPr>
          <p:nvPr/>
        </p:nvPicPr>
        <p:blipFill>
          <a:blip r:embed="rId3"/>
          <a:srcRect/>
          <a:stretch>
            <a:fillRect/>
          </a:stretch>
        </p:blipFill>
        <p:spPr>
          <a:xfrm>
            <a:off x="1016000" y="4445000"/>
            <a:ext cx="762000" cy="762000"/>
          </a:xfrm>
          <a:prstGeom prst="ellipse">
            <a:avLst/>
          </a:prstGeom>
          <a:ln w="12700" cap="flat" cmpd="sng">
            <a:noFill/>
            <a:prstDash val="solid"/>
            <a:round/>
          </a:ln>
        </p:spPr>
      </p:pic>
      <p:sp>
        <p:nvSpPr>
          <p:cNvPr id="15" name="AutoShape 15"/>
          <p:cNvSpPr/>
          <p:nvPr/>
        </p:nvSpPr>
        <p:spPr>
          <a:xfrm>
            <a:off x="1905000" y="4445000"/>
            <a:ext cx="3683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RAG</a:t>
            </a:r>
            <a:endParaRPr lang="en-US" sz="1100"/>
          </a:p>
        </p:txBody>
      </p:sp>
      <p:sp>
        <p:nvSpPr>
          <p:cNvPr id="16" name="AutoShape 16"/>
          <p:cNvSpPr/>
          <p:nvPr/>
        </p:nvSpPr>
        <p:spPr>
          <a:xfrm>
            <a:off x="1905000" y="4826000"/>
            <a:ext cx="3683000" cy="1650963"/>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By integrating external knowledge base retrieval (such as API documentation, code examples) to supplement real-time model information, it effectively addresses hallucination issues and enhances generation accuracy.</a:t>
            </a:r>
            <a:endParaRPr lang="en-US" sz="1100"/>
          </a:p>
        </p:txBody>
      </p:sp>
      <p:sp>
        <p:nvSpPr>
          <p:cNvPr id="17" name="AutoShape 17"/>
          <p:cNvSpPr/>
          <p:nvPr/>
        </p:nvSpPr>
        <p:spPr>
          <a:xfrm>
            <a:off x="6223000" y="4191000"/>
            <a:ext cx="5207000" cy="2286000"/>
          </a:xfrm>
          <a:prstGeom prst="roundRect">
            <a:avLst>
              <a:gd name="adj" fmla="val 5554"/>
            </a:avLst>
          </a:prstGeom>
          <a:solidFill>
            <a:srgbClr val="FAFAFA">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8" name="Picture 18"/>
          <p:cNvPicPr>
            <a:picLocks noChangeAspect="1"/>
          </p:cNvPicPr>
          <p:nvPr/>
        </p:nvPicPr>
        <p:blipFill>
          <a:blip r:embed="rId4"/>
          <a:srcRect/>
          <a:stretch>
            <a:fillRect/>
          </a:stretch>
        </p:blipFill>
        <p:spPr>
          <a:xfrm>
            <a:off x="6477000" y="4445000"/>
            <a:ext cx="762000" cy="762000"/>
          </a:xfrm>
          <a:prstGeom prst="ellipse">
            <a:avLst/>
          </a:prstGeom>
          <a:ln w="12700" cap="flat" cmpd="sng">
            <a:noFill/>
            <a:prstDash val="solid"/>
            <a:round/>
          </a:ln>
        </p:spPr>
      </p:pic>
      <p:sp>
        <p:nvSpPr>
          <p:cNvPr id="19" name="AutoShape 19"/>
          <p:cNvSpPr/>
          <p:nvPr/>
        </p:nvSpPr>
        <p:spPr>
          <a:xfrm>
            <a:off x="7366000" y="4445000"/>
            <a:ext cx="3683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Multimodal</a:t>
            </a:r>
            <a:endParaRPr lang="en-US" sz="1100"/>
          </a:p>
        </p:txBody>
      </p:sp>
      <p:sp>
        <p:nvSpPr>
          <p:cNvPr id="20" name="AutoShape 20"/>
          <p:cNvSpPr/>
          <p:nvPr/>
        </p:nvSpPr>
        <p:spPr>
          <a:xfrm>
            <a:off x="7366000" y="4826000"/>
            <a:ext cx="3683000" cy="1397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Breaking through the limitations of plain text, it supports various input formats such as images (UI design drafts) and voice, making the interaction method of code generation more natural and intuitive.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09600" y="2286000"/>
            <a:ext cx="152400" cy="1778000"/>
          </a:xfrm>
          <a:prstGeom prst="roundRect">
            <a:avLst>
              <a:gd name="adj" fmla="val 0"/>
            </a:avLst>
          </a:prstGeom>
          <a:solidFill>
            <a:srgbClr val="F85149">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1016012" y="2028921"/>
            <a:ext cx="7620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2400" b="1" i="0" u="none" strike="noStrike">
                <a:solidFill>
                  <a:srgbClr val="F85149"/>
                </a:solidFill>
                <a:latin typeface="Noto Sans SC" panose="020B0200000000000000" charset="-122"/>
                <a:ea typeface="Noto Sans SC" panose="020B0200000000000000" charset="-122"/>
                <a:cs typeface="Noto Sans SC" panose="020B0200000000000000" charset="-122"/>
                <a:sym typeface="Noto Sans SC" panose="020B0200000000000000" charset="-122"/>
              </a:rPr>
              <a:t>03 / CHAPTER</a:t>
            </a:r>
            <a:endParaRPr lang="en-US" sz="1100"/>
          </a:p>
        </p:txBody>
      </p:sp>
      <p:sp>
        <p:nvSpPr>
          <p:cNvPr id="4" name="AutoShape 4"/>
          <p:cNvSpPr/>
          <p:nvPr/>
        </p:nvSpPr>
        <p:spPr>
          <a:xfrm>
            <a:off x="1016000" y="2730500"/>
            <a:ext cx="11072586" cy="762000"/>
          </a:xfrm>
          <a:prstGeom prst="rect">
            <a:avLst/>
          </a:prstGeom>
          <a:noFill/>
          <a:ln w="12700" cap="flat" cmpd="sng">
            <a:noFill/>
            <a:prstDash val="solid"/>
            <a:round/>
          </a:ln>
        </p:spPr>
        <p:txBody>
          <a:bodyPr vert="horz" wrap="square" lIns="0" tIns="0" rIns="0" bIns="0" rtlCol="0" anchor="ctr">
            <a:noAutofit/>
          </a:bodyPr>
          <a:lstStyle/>
          <a:p>
            <a:pPr indent="0" algn="l">
              <a:lnSpc>
                <a:spcPct val="83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GitHub Copilot: The Intelligent Assistant in Practice</a:t>
            </a:r>
            <a:endParaRPr lang="en-US" sz="1100"/>
          </a:p>
        </p:txBody>
      </p:sp>
      <p:sp>
        <p:nvSpPr>
          <p:cNvPr id="5" name="AutoShape 5"/>
          <p:cNvSpPr/>
          <p:nvPr/>
        </p:nvSpPr>
        <p:spPr>
          <a:xfrm>
            <a:off x="1016000" y="3492500"/>
            <a:ext cx="10160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0"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From theory to practice, experience the powerful capabilities of Copilot</a:t>
            </a:r>
            <a:endParaRPr lang="en-US" sz="1100"/>
          </a:p>
        </p:txBody>
      </p:sp>
      <p:cxnSp>
        <p:nvCxnSpPr>
          <p:cNvPr id="6" name="Connector 6"/>
          <p:cNvCxnSpPr/>
          <p:nvPr/>
        </p:nvCxnSpPr>
        <p:spPr>
          <a:xfrm rot="-42969">
            <a:off x="1016040" y="4184650"/>
            <a:ext cx="1016000" cy="12700"/>
          </a:xfrm>
          <a:prstGeom prst="straightConnector1">
            <a:avLst/>
          </a:prstGeom>
          <a:solidFill>
            <a:srgbClr val="DEE0E3">
              <a:alpha val="100000"/>
            </a:srgbClr>
          </a:solidFill>
          <a:ln w="38100" cap="flat" cmpd="sng">
            <a:solidFill>
              <a:srgbClr val="F85149">
                <a:alpha val="100000"/>
              </a:srgbClr>
            </a:solidFill>
            <a:prstDash val="solid"/>
            <a:round/>
            <a:headEnd type="none" w="lg" len="lg"/>
            <a:tailEnd type="none" w="lg" len="lg"/>
          </a:ln>
        </p:spPr>
      </p:cxn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nvSpPr>
        <p:spPr>
          <a:xfrm>
            <a:off x="762000" y="45847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GitHub Copilot</a:t>
            </a:r>
            <a:endParaRPr lang="en-US" sz="1100"/>
          </a:p>
        </p:txBody>
      </p:sp>
      <p:sp>
        <p:nvSpPr>
          <p:cNvPr id="4" name="AutoShape 4"/>
          <p:cNvSpPr/>
          <p:nvPr/>
        </p:nvSpPr>
        <p:spPr>
          <a:xfrm>
            <a:off x="762000" y="1524000"/>
            <a:ext cx="4318000" cy="4318000"/>
          </a:xfrm>
          <a:prstGeom prst="roundRect">
            <a:avLst>
              <a:gd name="adj" fmla="val 5882"/>
            </a:avLst>
          </a:prstGeom>
          <a:solidFill>
            <a:srgbClr val="F8F8F8">
              <a:alpha val="100000"/>
            </a:srgbClr>
          </a:solidFill>
          <a:ln w="12700" cap="flat" cmpd="sng">
            <a:solidFill>
              <a:srgbClr val="DFC8C8">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5" name="Picture 5"/>
          <p:cNvPicPr>
            <a:picLocks noChangeAspect="1"/>
          </p:cNvPicPr>
          <p:nvPr/>
        </p:nvPicPr>
        <p:blipFill>
          <a:blip r:embed="rId1"/>
          <a:srcRect/>
          <a:stretch>
            <a:fillRect/>
          </a:stretch>
        </p:blipFill>
        <p:spPr>
          <a:xfrm>
            <a:off x="1016000" y="1778000"/>
            <a:ext cx="3810000" cy="3810000"/>
          </a:xfrm>
          <a:prstGeom prst="roundRect">
            <a:avLst>
              <a:gd name="adj" fmla="val 6665"/>
            </a:avLst>
          </a:prstGeom>
          <a:ln w="12700" cap="flat" cmpd="sng">
            <a:noFill/>
            <a:prstDash val="solid"/>
            <a:round/>
          </a:ln>
        </p:spPr>
      </p:pic>
      <p:pic>
        <p:nvPicPr>
          <p:cNvPr id="6" name="Picture 6"/>
          <p:cNvPicPr>
            <a:picLocks noChangeAspect="1"/>
          </p:cNvPicPr>
          <p:nvPr/>
        </p:nvPicPr>
        <p:blipFill>
          <a:blip r:embed="rId2"/>
          <a:srcRect/>
          <a:stretch>
            <a:fillRect/>
          </a:stretch>
        </p:blipFill>
        <p:spPr>
          <a:xfrm>
            <a:off x="5588000" y="1524000"/>
            <a:ext cx="304800" cy="304800"/>
          </a:xfrm>
          <a:prstGeom prst="rect">
            <a:avLst/>
          </a:prstGeom>
          <a:ln w="12700">
            <a:noFill/>
            <a:prstDash val="solid"/>
          </a:ln>
        </p:spPr>
      </p:pic>
      <p:sp>
        <p:nvSpPr>
          <p:cNvPr id="7" name="AutoShape 7"/>
          <p:cNvSpPr/>
          <p:nvPr/>
        </p:nvSpPr>
        <p:spPr>
          <a:xfrm>
            <a:off x="5969000" y="1498600"/>
            <a:ext cx="54610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F03434"/>
                </a:solidFill>
                <a:latin typeface="Noto Sans SC" panose="020B0200000000000000" charset="-122"/>
                <a:ea typeface="Noto Sans SC" panose="020B0200000000000000" charset="-122"/>
                <a:cs typeface="Noto Sans SC" panose="020B0200000000000000" charset="-122"/>
                <a:sym typeface="Noto Sans SC" panose="020B0200000000000000" charset="-122"/>
              </a:rPr>
              <a:t>Joint development background</a:t>
            </a:r>
            <a:endParaRPr lang="en-US" sz="1100"/>
          </a:p>
        </p:txBody>
      </p:sp>
      <p:sp>
        <p:nvSpPr>
          <p:cNvPr id="8" name="AutoShape 8"/>
          <p:cNvSpPr/>
          <p:nvPr/>
        </p:nvSpPr>
        <p:spPr>
          <a:xfrm>
            <a:off x="5969000" y="1828800"/>
            <a:ext cx="5461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Developed in collaboration with GitHub, the world's largest code hosting platform, and OpenAI, a pioneer in the field of AI.</a:t>
            </a:r>
            <a:endParaRPr lang="en-US" sz="1100"/>
          </a:p>
        </p:txBody>
      </p:sp>
      <p:cxnSp>
        <p:nvCxnSpPr>
          <p:cNvPr id="9" name="Connector 9"/>
          <p:cNvCxnSpPr/>
          <p:nvPr/>
        </p:nvCxnSpPr>
        <p:spPr>
          <a:xfrm rot="-7473">
            <a:off x="5588007" y="2406650"/>
            <a:ext cx="5842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pic>
        <p:nvPicPr>
          <p:cNvPr id="10" name="Picture 10"/>
          <p:cNvPicPr>
            <a:picLocks noChangeAspect="1"/>
          </p:cNvPicPr>
          <p:nvPr/>
        </p:nvPicPr>
        <p:blipFill>
          <a:blip r:embed="rId3"/>
          <a:srcRect/>
          <a:stretch>
            <a:fillRect/>
          </a:stretch>
        </p:blipFill>
        <p:spPr>
          <a:xfrm>
            <a:off x="5588000" y="2603500"/>
            <a:ext cx="304800" cy="304800"/>
          </a:xfrm>
          <a:prstGeom prst="rect">
            <a:avLst/>
          </a:prstGeom>
          <a:ln w="12700">
            <a:noFill/>
            <a:prstDash val="solid"/>
          </a:ln>
        </p:spPr>
      </p:pic>
      <p:sp>
        <p:nvSpPr>
          <p:cNvPr id="11" name="AutoShape 11"/>
          <p:cNvSpPr/>
          <p:nvPr/>
        </p:nvSpPr>
        <p:spPr>
          <a:xfrm>
            <a:off x="5969000" y="2578100"/>
            <a:ext cx="54610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F03434"/>
                </a:solidFill>
                <a:latin typeface="Noto Sans SC" panose="020B0200000000000000" charset="-122"/>
                <a:ea typeface="Noto Sans SC" panose="020B0200000000000000" charset="-122"/>
                <a:cs typeface="Noto Sans SC" panose="020B0200000000000000" charset="-122"/>
                <a:sym typeface="Noto Sans SC" panose="020B0200000000000000" charset="-122"/>
              </a:rPr>
              <a:t>Powerful model support</a:t>
            </a:r>
            <a:endParaRPr lang="en-US" sz="1100"/>
          </a:p>
        </p:txBody>
      </p:sp>
      <p:sp>
        <p:nvSpPr>
          <p:cNvPr id="12" name="AutoShape 12"/>
          <p:cNvSpPr/>
          <p:nvPr/>
        </p:nvSpPr>
        <p:spPr>
          <a:xfrm>
            <a:off x="5969000" y="2908300"/>
            <a:ext cx="5832487"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Based on OpenAI's specially trained Codex model, it has been upgraded to the more powerful GPT-4 architecture broussonetia papyrifera.</a:t>
            </a:r>
            <a:endParaRPr lang="en-US" sz="1100"/>
          </a:p>
        </p:txBody>
      </p:sp>
      <p:cxnSp>
        <p:nvCxnSpPr>
          <p:cNvPr id="13" name="Connector 13"/>
          <p:cNvCxnSpPr/>
          <p:nvPr/>
        </p:nvCxnSpPr>
        <p:spPr>
          <a:xfrm rot="-7473">
            <a:off x="5588007" y="3486150"/>
            <a:ext cx="5842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pic>
        <p:nvPicPr>
          <p:cNvPr id="14" name="Picture 14"/>
          <p:cNvPicPr>
            <a:picLocks noChangeAspect="1"/>
          </p:cNvPicPr>
          <p:nvPr/>
        </p:nvPicPr>
        <p:blipFill>
          <a:blip r:embed="rId4"/>
          <a:srcRect/>
          <a:stretch>
            <a:fillRect/>
          </a:stretch>
        </p:blipFill>
        <p:spPr>
          <a:xfrm>
            <a:off x="5588000" y="3683000"/>
            <a:ext cx="304800" cy="304800"/>
          </a:xfrm>
          <a:prstGeom prst="rect">
            <a:avLst/>
          </a:prstGeom>
          <a:ln w="12700">
            <a:noFill/>
            <a:prstDash val="solid"/>
          </a:ln>
        </p:spPr>
      </p:pic>
      <p:sp>
        <p:nvSpPr>
          <p:cNvPr id="15" name="AutoShape 15"/>
          <p:cNvSpPr/>
          <p:nvPr/>
        </p:nvSpPr>
        <p:spPr>
          <a:xfrm>
            <a:off x="5969000" y="3657600"/>
            <a:ext cx="54610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F03434"/>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feature highlights</a:t>
            </a:r>
            <a:endParaRPr lang="en-US" sz="1100"/>
          </a:p>
        </p:txBody>
      </p:sp>
      <p:sp>
        <p:nvSpPr>
          <p:cNvPr id="16" name="AutoShape 16"/>
          <p:cNvSpPr/>
          <p:nvPr/>
        </p:nvSpPr>
        <p:spPr>
          <a:xfrm>
            <a:off x="5969000" y="3987800"/>
            <a:ext cx="5461000" cy="762000"/>
          </a:xfrm>
          <a:prstGeom prst="rect">
            <a:avLst/>
          </a:prstGeom>
          <a:noFill/>
          <a:ln w="12700" cap="flat" cmpd="sng">
            <a:noFill/>
            <a:prstDash val="solid"/>
            <a:round/>
          </a:ln>
        </p:spPr>
        <p:txBody>
          <a:bodyPr vert="horz" wrap="square" lIns="0" tIns="0" rIns="0" bIns="0" rtlCol="0" anchor="ctr">
            <a:noAutofit/>
          </a:bodyPr>
          <a:lstStyle/>
          <a:p>
            <a:pPr marL="165100" indent="-165100" algn="l">
              <a:lnSpc>
                <a:spcPct val="125000"/>
              </a:lnSpc>
              <a:buClr>
                <a:srgbClr val="505050"/>
              </a:buClr>
              <a:buChar char="•"/>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Real-time code completion and natural language to code conversion;</a:t>
            </a:r>
            <a:endParaRPr lang="en-US" sz="1100"/>
          </a:p>
          <a:p>
            <a:pPr marL="165100" indent="-165100" algn="l">
              <a:lnSpc>
                <a:spcPct val="125000"/>
              </a:lnSpc>
              <a:buClr>
                <a:srgbClr val="505050"/>
              </a:buClr>
              <a:buChar cha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Automatically generate function/class summary for broussonetia papyrifera, supporting code interpretation and comment generation.</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17" name="Connector 17"/>
          <p:cNvCxnSpPr/>
          <p:nvPr/>
        </p:nvCxnSpPr>
        <p:spPr>
          <a:xfrm rot="-7473">
            <a:off x="5588007" y="4819650"/>
            <a:ext cx="5842000" cy="12700"/>
          </a:xfrm>
          <a:prstGeom prst="straightConnector1">
            <a:avLst/>
          </a:prstGeom>
          <a:solidFill>
            <a:srgbClr val="DEE0E3">
              <a:alpha val="100000"/>
            </a:srgbClr>
          </a:solidFill>
          <a:ln w="12700" cap="flat" cmpd="sng">
            <a:solidFill>
              <a:srgbClr val="E6E6E6">
                <a:alpha val="100000"/>
              </a:srgbClr>
            </a:solidFill>
            <a:prstDash val="solid"/>
            <a:round/>
            <a:headEnd type="none" w="med" len="med"/>
            <a:tailEnd type="none" w="med" len="med"/>
          </a:ln>
        </p:spPr>
      </p:cxnSp>
      <p:pic>
        <p:nvPicPr>
          <p:cNvPr id="18" name="Picture 18"/>
          <p:cNvPicPr>
            <a:picLocks noChangeAspect="1"/>
          </p:cNvPicPr>
          <p:nvPr/>
        </p:nvPicPr>
        <p:blipFill>
          <a:blip r:embed="rId5"/>
          <a:srcRect/>
          <a:stretch>
            <a:fillRect/>
          </a:stretch>
        </p:blipFill>
        <p:spPr>
          <a:xfrm>
            <a:off x="5588000" y="5016500"/>
            <a:ext cx="304800" cy="304800"/>
          </a:xfrm>
          <a:prstGeom prst="rect">
            <a:avLst/>
          </a:prstGeom>
          <a:ln w="12700">
            <a:noFill/>
            <a:prstDash val="solid"/>
          </a:ln>
        </p:spPr>
      </p:pic>
      <p:sp>
        <p:nvSpPr>
          <p:cNvPr id="19" name="AutoShape 19"/>
          <p:cNvSpPr/>
          <p:nvPr/>
        </p:nvSpPr>
        <p:spPr>
          <a:xfrm>
            <a:off x="5969000" y="4991100"/>
            <a:ext cx="54610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F03434"/>
                </a:solidFill>
                <a:latin typeface="Noto Sans SC" panose="020B0200000000000000" charset="-122"/>
                <a:ea typeface="Noto Sans SC" panose="020B0200000000000000" charset="-122"/>
                <a:cs typeface="Noto Sans SC" panose="020B0200000000000000" charset="-122"/>
                <a:sym typeface="Noto Sans SC" panose="020B0200000000000000" charset="-122"/>
              </a:rPr>
              <a:t>Extensive ecological compatibility</a:t>
            </a:r>
            <a:endParaRPr lang="en-US" sz="1100"/>
          </a:p>
        </p:txBody>
      </p:sp>
      <p:sp>
        <p:nvSpPr>
          <p:cNvPr id="20" name="AutoShape 20"/>
          <p:cNvSpPr/>
          <p:nvPr/>
        </p:nvSpPr>
        <p:spPr>
          <a:xfrm>
            <a:off x="5969000" y="5321300"/>
            <a:ext cx="5461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Supports mainstream programming languages such as Python, Java, C++, and seamlessly integrates with IDEs like VS Code and JetBrains.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nvSpPr>
        <p:spPr>
          <a:xfrm>
            <a:off x="762000" y="40640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GitHub Copilot workflow</a:t>
            </a:r>
            <a:endParaRPr lang="en-US" sz="1100"/>
          </a:p>
        </p:txBody>
      </p:sp>
      <p:pic>
        <p:nvPicPr>
          <p:cNvPr id="5" name="Picture 5"/>
          <p:cNvPicPr>
            <a:picLocks noChangeAspect="1"/>
          </p:cNvPicPr>
          <p:nvPr/>
        </p:nvPicPr>
        <p:blipFill>
          <a:blip r:embed="rId1"/>
          <a:srcRect l="3904" t="10021" r="4715" b="9706"/>
          <a:stretch>
            <a:fillRect/>
          </a:stretch>
        </p:blipFill>
        <p:spPr>
          <a:xfrm>
            <a:off x="1798955" y="3641090"/>
            <a:ext cx="7391400" cy="3155950"/>
          </a:xfrm>
          <a:prstGeom prst="rect">
            <a:avLst/>
          </a:prstGeom>
          <a:ln w="12700">
            <a:noFill/>
            <a:prstDash val="solid"/>
          </a:ln>
        </p:spPr>
      </p:pic>
      <p:pic>
        <p:nvPicPr>
          <p:cNvPr id="6" name="Picture 6"/>
          <p:cNvPicPr>
            <a:picLocks noChangeAspect="1"/>
          </p:cNvPicPr>
          <p:nvPr/>
        </p:nvPicPr>
        <p:blipFill>
          <a:blip r:embed="rId2"/>
          <a:srcRect/>
          <a:stretch>
            <a:fillRect/>
          </a:stretch>
        </p:blipFill>
        <p:spPr>
          <a:xfrm>
            <a:off x="938578" y="1288168"/>
            <a:ext cx="5322119" cy="1170500"/>
          </a:xfrm>
          <a:prstGeom prst="rect">
            <a:avLst/>
          </a:prstGeom>
          <a:ln w="12700">
            <a:noFill/>
            <a:prstDash val="solid"/>
          </a:ln>
        </p:spPr>
      </p:pic>
      <p:pic>
        <p:nvPicPr>
          <p:cNvPr id="7" name="Picture 7"/>
          <p:cNvPicPr>
            <a:picLocks noChangeAspect="1"/>
          </p:cNvPicPr>
          <p:nvPr/>
        </p:nvPicPr>
        <p:blipFill>
          <a:blip r:embed="rId3"/>
          <a:srcRect/>
          <a:stretch>
            <a:fillRect/>
          </a:stretch>
        </p:blipFill>
        <p:spPr>
          <a:xfrm>
            <a:off x="6335424" y="1318587"/>
            <a:ext cx="5291185" cy="1109739"/>
          </a:xfrm>
          <a:prstGeom prst="rect">
            <a:avLst/>
          </a:prstGeom>
          <a:ln w="12700">
            <a:noFill/>
            <a:prstDash val="solid"/>
          </a:ln>
        </p:spPr>
      </p:pic>
      <p:pic>
        <p:nvPicPr>
          <p:cNvPr id="8" name="Picture 8"/>
          <p:cNvPicPr>
            <a:picLocks noChangeAspect="1"/>
          </p:cNvPicPr>
          <p:nvPr/>
        </p:nvPicPr>
        <p:blipFill>
          <a:blip r:embed="rId4"/>
          <a:srcRect/>
          <a:stretch>
            <a:fillRect/>
          </a:stretch>
        </p:blipFill>
        <p:spPr>
          <a:xfrm>
            <a:off x="938578" y="2496117"/>
            <a:ext cx="5106334" cy="1069451"/>
          </a:xfrm>
          <a:prstGeom prst="rect">
            <a:avLst/>
          </a:prstGeom>
          <a:ln w="12700">
            <a:noFill/>
            <a:prstDash val="solid"/>
          </a:ln>
        </p:spPr>
      </p:pic>
      <p:pic>
        <p:nvPicPr>
          <p:cNvPr id="9" name="Picture 9"/>
          <p:cNvPicPr>
            <a:picLocks noChangeAspect="1"/>
          </p:cNvPicPr>
          <p:nvPr/>
        </p:nvPicPr>
        <p:blipFill>
          <a:blip r:embed="rId5"/>
          <a:srcRect/>
          <a:stretch>
            <a:fillRect/>
          </a:stretch>
        </p:blipFill>
        <p:spPr>
          <a:xfrm>
            <a:off x="6402669" y="2504113"/>
            <a:ext cx="5027331" cy="106145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nvSpPr>
        <p:spPr>
          <a:xfrm>
            <a:off x="762000" y="45847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Practical application scenarios of Copilot</a:t>
            </a:r>
            <a:endParaRPr lang="en-US" sz="1100"/>
          </a:p>
        </p:txBody>
      </p:sp>
      <p:sp>
        <p:nvSpPr>
          <p:cNvPr id="5" name="AutoShape 5"/>
          <p:cNvSpPr/>
          <p:nvPr/>
        </p:nvSpPr>
        <p:spPr>
          <a:xfrm>
            <a:off x="762000" y="1524000"/>
            <a:ext cx="3302000" cy="2286000"/>
          </a:xfrm>
          <a:prstGeom prst="roundRect">
            <a:avLst>
              <a:gd name="adj" fmla="val 5554"/>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nvPicPr>
        <p:blipFill>
          <a:blip r:embed="rId1"/>
          <a:srcRect/>
          <a:stretch>
            <a:fillRect/>
          </a:stretch>
        </p:blipFill>
        <p:spPr>
          <a:xfrm>
            <a:off x="1016000" y="1778000"/>
            <a:ext cx="406400" cy="406400"/>
          </a:xfrm>
          <a:prstGeom prst="rect">
            <a:avLst/>
          </a:prstGeom>
          <a:ln w="12700">
            <a:noFill/>
            <a:prstDash val="solid"/>
          </a:ln>
        </p:spPr>
      </p:pic>
      <p:sp>
        <p:nvSpPr>
          <p:cNvPr id="7" name="AutoShape 7"/>
          <p:cNvSpPr/>
          <p:nvPr/>
        </p:nvSpPr>
        <p:spPr>
          <a:xfrm>
            <a:off x="1524000" y="1778000"/>
            <a:ext cx="2687173" cy="4064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Code completion</a:t>
            </a:r>
            <a:endParaRPr lang="en-US" sz="1100"/>
          </a:p>
        </p:txBody>
      </p:sp>
      <p:cxnSp>
        <p:nvCxnSpPr>
          <p:cNvPr id="8" name="Connector 8"/>
          <p:cNvCxnSpPr/>
          <p:nvPr/>
        </p:nvCxnSpPr>
        <p:spPr>
          <a:xfrm rot="-15626">
            <a:off x="1016014" y="2279650"/>
            <a:ext cx="27940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9" name="AutoShape 9"/>
          <p:cNvSpPr/>
          <p:nvPr/>
        </p:nvSpPr>
        <p:spPr>
          <a:xfrm>
            <a:off x="1016000" y="2413000"/>
            <a:ext cx="27940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Auto-completing variable names, function calls, and logical statements significantly enhances coding fluency and reduces repetitive input.</a:t>
            </a:r>
            <a:endParaRPr lang="en-US" sz="1100"/>
          </a:p>
        </p:txBody>
      </p:sp>
      <p:sp>
        <p:nvSpPr>
          <p:cNvPr id="10" name="AutoShape 10"/>
          <p:cNvSpPr/>
          <p:nvPr/>
        </p:nvSpPr>
        <p:spPr>
          <a:xfrm>
            <a:off x="4445000" y="1524000"/>
            <a:ext cx="3302000" cy="2286000"/>
          </a:xfrm>
          <a:prstGeom prst="roundRect">
            <a:avLst>
              <a:gd name="adj" fmla="val 5554"/>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1" name="Picture 11"/>
          <p:cNvPicPr>
            <a:picLocks noChangeAspect="1"/>
          </p:cNvPicPr>
          <p:nvPr/>
        </p:nvPicPr>
        <p:blipFill>
          <a:blip r:embed="rId2"/>
          <a:srcRect/>
          <a:stretch>
            <a:fillRect/>
          </a:stretch>
        </p:blipFill>
        <p:spPr>
          <a:xfrm>
            <a:off x="4699000" y="1778000"/>
            <a:ext cx="406400" cy="406400"/>
          </a:xfrm>
          <a:prstGeom prst="rect">
            <a:avLst/>
          </a:prstGeom>
          <a:ln w="12700">
            <a:noFill/>
            <a:prstDash val="solid"/>
          </a:ln>
        </p:spPr>
      </p:pic>
      <p:sp>
        <p:nvSpPr>
          <p:cNvPr id="12" name="AutoShape 12"/>
          <p:cNvSpPr/>
          <p:nvPr/>
        </p:nvSpPr>
        <p:spPr>
          <a:xfrm>
            <a:off x="5207000" y="1778000"/>
            <a:ext cx="2286000" cy="4064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Function logic generation</a:t>
            </a:r>
            <a:endParaRPr lang="en-US" sz="1100"/>
          </a:p>
        </p:txBody>
      </p:sp>
      <p:cxnSp>
        <p:nvCxnSpPr>
          <p:cNvPr id="13" name="Connector 13"/>
          <p:cNvCxnSpPr/>
          <p:nvPr/>
        </p:nvCxnSpPr>
        <p:spPr>
          <a:xfrm rot="-15626">
            <a:off x="4699014" y="2279650"/>
            <a:ext cx="27940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4" name="AutoShape 14"/>
          <p:cNvSpPr/>
          <p:nvPr/>
        </p:nvSpPr>
        <p:spPr>
          <a:xfrm>
            <a:off x="4699000" y="2413000"/>
            <a:ext cx="27940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Only functional annotations describing inputs and outputs are required to automatically generate complete function implementation code.</a:t>
            </a:r>
            <a:endParaRPr lang="en-US" sz="1100"/>
          </a:p>
        </p:txBody>
      </p:sp>
      <p:sp>
        <p:nvSpPr>
          <p:cNvPr id="15" name="AutoShape 15"/>
          <p:cNvSpPr/>
          <p:nvPr/>
        </p:nvSpPr>
        <p:spPr>
          <a:xfrm>
            <a:off x="8128000" y="1524000"/>
            <a:ext cx="3302000" cy="2286000"/>
          </a:xfrm>
          <a:prstGeom prst="roundRect">
            <a:avLst>
              <a:gd name="adj" fmla="val 5554"/>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6" name="Picture 16"/>
          <p:cNvPicPr>
            <a:picLocks noChangeAspect="1"/>
          </p:cNvPicPr>
          <p:nvPr/>
        </p:nvPicPr>
        <p:blipFill>
          <a:blip r:embed="rId3"/>
          <a:srcRect/>
          <a:stretch>
            <a:fillRect/>
          </a:stretch>
        </p:blipFill>
        <p:spPr>
          <a:xfrm>
            <a:off x="8382000" y="1778000"/>
            <a:ext cx="406400" cy="406400"/>
          </a:xfrm>
          <a:prstGeom prst="rect">
            <a:avLst/>
          </a:prstGeom>
          <a:ln w="12700">
            <a:noFill/>
            <a:prstDash val="solid"/>
          </a:ln>
        </p:spPr>
      </p:pic>
      <p:sp>
        <p:nvSpPr>
          <p:cNvPr id="17" name="AutoShape 17"/>
          <p:cNvSpPr/>
          <p:nvPr/>
        </p:nvSpPr>
        <p:spPr>
          <a:xfrm>
            <a:off x="8890000" y="1778000"/>
            <a:ext cx="2286000" cy="4064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Automated unit test generation</a:t>
            </a:r>
            <a:endParaRPr lang="en-US" sz="1100"/>
          </a:p>
        </p:txBody>
      </p:sp>
      <p:cxnSp>
        <p:nvCxnSpPr>
          <p:cNvPr id="18" name="Connector 18"/>
          <p:cNvCxnSpPr/>
          <p:nvPr/>
        </p:nvCxnSpPr>
        <p:spPr>
          <a:xfrm rot="-15626">
            <a:off x="8382014" y="2279650"/>
            <a:ext cx="27940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9" name="AutoShape 19"/>
          <p:cNvSpPr/>
          <p:nvPr/>
        </p:nvSpPr>
        <p:spPr>
          <a:xfrm>
            <a:off x="8382000" y="2413000"/>
            <a:ext cx="27940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Based on the existing business code, automatically generate corresponding unit test cases to quickly achieve test coverage.</a:t>
            </a:r>
            <a:endParaRPr lang="en-US" sz="1100"/>
          </a:p>
        </p:txBody>
      </p:sp>
      <p:sp>
        <p:nvSpPr>
          <p:cNvPr id="20" name="AutoShape 20"/>
          <p:cNvSpPr/>
          <p:nvPr/>
        </p:nvSpPr>
        <p:spPr>
          <a:xfrm>
            <a:off x="762000" y="4064000"/>
            <a:ext cx="5143500" cy="2286000"/>
          </a:xfrm>
          <a:prstGeom prst="roundRect">
            <a:avLst>
              <a:gd name="adj" fmla="val 5554"/>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1" name="Picture 21"/>
          <p:cNvPicPr>
            <a:picLocks noChangeAspect="1"/>
          </p:cNvPicPr>
          <p:nvPr/>
        </p:nvPicPr>
        <p:blipFill>
          <a:blip r:embed="rId4"/>
          <a:srcRect/>
          <a:stretch>
            <a:fillRect/>
          </a:stretch>
        </p:blipFill>
        <p:spPr>
          <a:xfrm>
            <a:off x="1016000" y="4318000"/>
            <a:ext cx="406400" cy="406400"/>
          </a:xfrm>
          <a:prstGeom prst="rect">
            <a:avLst/>
          </a:prstGeom>
          <a:ln w="12700">
            <a:noFill/>
            <a:prstDash val="solid"/>
          </a:ln>
        </p:spPr>
      </p:pic>
      <p:sp>
        <p:nvSpPr>
          <p:cNvPr id="22" name="AutoShape 22"/>
          <p:cNvSpPr/>
          <p:nvPr/>
        </p:nvSpPr>
        <p:spPr>
          <a:xfrm>
            <a:off x="1524000" y="4318000"/>
            <a:ext cx="4064000" cy="4064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Code refactoring of Broussonetia papyrifera and optimization</a:t>
            </a:r>
            <a:endParaRPr lang="en-US" sz="1100"/>
          </a:p>
        </p:txBody>
      </p:sp>
      <p:cxnSp>
        <p:nvCxnSpPr>
          <p:cNvPr id="23" name="Connector 23"/>
          <p:cNvCxnSpPr/>
          <p:nvPr/>
        </p:nvCxnSpPr>
        <p:spPr>
          <a:xfrm rot="-9418">
            <a:off x="1016009" y="4819650"/>
            <a:ext cx="46355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4" name="AutoShape 24"/>
          <p:cNvSpPr/>
          <p:nvPr/>
        </p:nvSpPr>
        <p:spPr>
          <a:xfrm>
            <a:off x="1016000" y="4953000"/>
            <a:ext cx="46355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For the selected code snippet, provide refactoring suggestions for Broussonetia papyrifera, optimize complex code into a more concise and efficient writing style, and enhance code quality.</a:t>
            </a:r>
            <a:endParaRPr lang="en-US" sz="1100"/>
          </a:p>
        </p:txBody>
      </p:sp>
      <p:sp>
        <p:nvSpPr>
          <p:cNvPr id="25" name="AutoShape 25"/>
          <p:cNvSpPr/>
          <p:nvPr/>
        </p:nvSpPr>
        <p:spPr>
          <a:xfrm>
            <a:off x="6286500" y="4064000"/>
            <a:ext cx="5143500" cy="2286000"/>
          </a:xfrm>
          <a:prstGeom prst="roundRect">
            <a:avLst>
              <a:gd name="adj" fmla="val 5554"/>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6" name="Picture 26"/>
          <p:cNvPicPr>
            <a:picLocks noChangeAspect="1"/>
          </p:cNvPicPr>
          <p:nvPr/>
        </p:nvPicPr>
        <p:blipFill>
          <a:blip r:embed="rId5"/>
          <a:srcRect/>
          <a:stretch>
            <a:fillRect/>
          </a:stretch>
        </p:blipFill>
        <p:spPr>
          <a:xfrm>
            <a:off x="6540500" y="4318000"/>
            <a:ext cx="406400" cy="406400"/>
          </a:xfrm>
          <a:prstGeom prst="rect">
            <a:avLst/>
          </a:prstGeom>
          <a:ln w="12700">
            <a:noFill/>
            <a:prstDash val="solid"/>
          </a:ln>
        </p:spPr>
      </p:pic>
      <p:sp>
        <p:nvSpPr>
          <p:cNvPr id="27" name="AutoShape 27"/>
          <p:cNvSpPr/>
          <p:nvPr/>
        </p:nvSpPr>
        <p:spPr>
          <a:xfrm>
            <a:off x="7048500" y="4318000"/>
            <a:ext cx="4064000" cy="4064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Explanation of code logic</a:t>
            </a:r>
            <a:endParaRPr lang="en-US" sz="1100"/>
          </a:p>
        </p:txBody>
      </p:sp>
      <p:cxnSp>
        <p:nvCxnSpPr>
          <p:cNvPr id="28" name="Connector 28"/>
          <p:cNvCxnSpPr/>
          <p:nvPr/>
        </p:nvCxnSpPr>
        <p:spPr>
          <a:xfrm rot="-9418">
            <a:off x="6540509" y="4819650"/>
            <a:ext cx="4635500" cy="12700"/>
          </a:xfrm>
          <a:prstGeom prst="line">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29" name="AutoShape 29"/>
          <p:cNvSpPr/>
          <p:nvPr/>
        </p:nvSpPr>
        <p:spPr>
          <a:xfrm>
            <a:off x="6540500" y="4953000"/>
            <a:ext cx="4635500" cy="1143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For complex or unfamiliar code blocks, use natural language to explain their core functionality and execution logic, aiding developers in rapid comprehension.</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037" y="1863813"/>
            <a:ext cx="10160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2400" b="1" i="0" u="none" strike="noStrike">
                <a:solidFill>
                  <a:srgbClr val="F85149"/>
                </a:solidFill>
                <a:latin typeface="Noto Sans SC" panose="020B0200000000000000" charset="-122"/>
                <a:ea typeface="Noto Sans SC" panose="020B0200000000000000" charset="-122"/>
                <a:cs typeface="Noto Sans SC" panose="020B0200000000000000" charset="-122"/>
                <a:sym typeface="Noto Sans SC" panose="020B0200000000000000" charset="-122"/>
              </a:rPr>
              <a:t>CHAPTER 04</a:t>
            </a:r>
            <a:endParaRPr lang="en-US" sz="1100"/>
          </a:p>
        </p:txBody>
      </p:sp>
      <p:sp>
        <p:nvSpPr>
          <p:cNvPr id="3" name="AutoShape 3"/>
          <p:cNvSpPr/>
          <p:nvPr/>
        </p:nvSpPr>
        <p:spPr>
          <a:xfrm>
            <a:off x="1016000" y="2667000"/>
            <a:ext cx="11225185" cy="889000"/>
          </a:xfrm>
          <a:prstGeom prst="rect">
            <a:avLst/>
          </a:prstGeom>
          <a:noFill/>
          <a:ln w="12700" cap="flat" cmpd="sng">
            <a:noFill/>
            <a:prstDash val="solid"/>
            <a:round/>
          </a:ln>
        </p:spPr>
        <p:txBody>
          <a:bodyPr vert="horz" wrap="square" lIns="0" tIns="0" rIns="0" bIns="0" rtlCol="0" anchor="ctr">
            <a:noAutofit/>
          </a:bodyPr>
          <a:lstStyle/>
          <a:p>
            <a:pPr indent="0" algn="l">
              <a:lnSpc>
                <a:spcPct val="83000"/>
              </a:lnSpc>
              <a:defRPr/>
            </a:pPr>
            <a:r>
              <a:rPr lang="en-US" sz="40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From General to Specialized: Analysis of the KernelGen</a:t>
            </a:r>
            <a:endParaRPr lang="en-US" sz="1100"/>
          </a:p>
        </p:txBody>
      </p:sp>
      <p:cxnSp>
        <p:nvCxnSpPr>
          <p:cNvPr id="4" name="Connector 4"/>
          <p:cNvCxnSpPr/>
          <p:nvPr/>
        </p:nvCxnSpPr>
        <p:spPr>
          <a:xfrm rot="-34376">
            <a:off x="1016032" y="3676650"/>
            <a:ext cx="1270000" cy="12700"/>
          </a:xfrm>
          <a:prstGeom prst="straightConnector1">
            <a:avLst/>
          </a:prstGeom>
          <a:solidFill>
            <a:srgbClr val="DEE0E3">
              <a:alpha val="100000"/>
            </a:srgbClr>
          </a:solidFill>
          <a:ln w="38100" cap="flat" cmpd="sng">
            <a:solidFill>
              <a:srgbClr val="FFFFFF">
                <a:alpha val="100000"/>
              </a:srgbClr>
            </a:solidFill>
            <a:prstDash val="solid"/>
            <a:round/>
            <a:headEnd type="none" w="lg" len="lg"/>
            <a:tailEnd type="none" w="lg" len="lg"/>
          </a:ln>
        </p:spPr>
      </p:cxnSp>
      <p:sp>
        <p:nvSpPr>
          <p:cNvPr id="5" name="AutoShape 5"/>
          <p:cNvSpPr/>
          <p:nvPr/>
        </p:nvSpPr>
        <p:spPr>
          <a:xfrm>
            <a:off x="1016000" y="3937000"/>
            <a:ext cx="10160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2000" b="0" i="0" u="none" strike="noStrike">
                <a:solidFill>
                  <a:srgbClr val="000000">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AI-Driven GPU Kernel Generation</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nvSpPr>
        <p:spPr>
          <a:xfrm>
            <a:off x="762000" y="57150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KernelGen background</a:t>
            </a:r>
            <a:endParaRPr lang="en-US" sz="1100"/>
          </a:p>
        </p:txBody>
      </p:sp>
      <p:sp>
        <p:nvSpPr>
          <p:cNvPr id="5" name="AutoShape 5"/>
          <p:cNvSpPr/>
          <p:nvPr/>
        </p:nvSpPr>
        <p:spPr>
          <a:xfrm>
            <a:off x="523875" y="1968500"/>
            <a:ext cx="5334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nvPicPr>
        <p:blipFill>
          <a:blip r:embed="rId1"/>
          <a:srcRect/>
          <a:stretch>
            <a:fillRect/>
          </a:stretch>
        </p:blipFill>
        <p:spPr>
          <a:xfrm>
            <a:off x="714375" y="2159000"/>
            <a:ext cx="304800" cy="304800"/>
          </a:xfrm>
          <a:prstGeom prst="rect">
            <a:avLst/>
          </a:prstGeom>
          <a:ln w="12700">
            <a:noFill/>
            <a:prstDash val="solid"/>
          </a:ln>
        </p:spPr>
      </p:pic>
      <p:sp>
        <p:nvSpPr>
          <p:cNvPr id="7" name="AutoShape 7"/>
          <p:cNvSpPr/>
          <p:nvPr/>
        </p:nvSpPr>
        <p:spPr>
          <a:xfrm>
            <a:off x="1095375" y="2120900"/>
            <a:ext cx="4572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KernelGen core objectives</a:t>
            </a:r>
            <a:endParaRPr lang="en-US" sz="1100"/>
          </a:p>
        </p:txBody>
      </p:sp>
      <p:sp>
        <p:nvSpPr>
          <p:cNvPr id="8" name="AutoShape 8"/>
          <p:cNvSpPr/>
          <p:nvPr/>
        </p:nvSpPr>
        <p:spPr>
          <a:xfrm>
            <a:off x="1095375" y="2476500"/>
            <a:ext cx="4572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Utilizing AI technology to automatically generate GPU kernel code, achieving ultimate performance optimization for target hardware and resolving the challenges of manual programming.</a:t>
            </a:r>
            <a:endParaRPr lang="en-US" sz="1100"/>
          </a:p>
        </p:txBody>
      </p:sp>
      <p:sp>
        <p:nvSpPr>
          <p:cNvPr id="9" name="AutoShape 9"/>
          <p:cNvSpPr/>
          <p:nvPr/>
        </p:nvSpPr>
        <p:spPr>
          <a:xfrm>
            <a:off x="523875" y="3175000"/>
            <a:ext cx="5334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0" name="Picture 10"/>
          <p:cNvPicPr>
            <a:picLocks noChangeAspect="1"/>
          </p:cNvPicPr>
          <p:nvPr/>
        </p:nvPicPr>
        <p:blipFill>
          <a:blip r:embed="rId2"/>
          <a:srcRect/>
          <a:stretch>
            <a:fillRect/>
          </a:stretch>
        </p:blipFill>
        <p:spPr>
          <a:xfrm>
            <a:off x="714375" y="3365500"/>
            <a:ext cx="304800" cy="304800"/>
          </a:xfrm>
          <a:prstGeom prst="rect">
            <a:avLst/>
          </a:prstGeom>
          <a:ln w="12700">
            <a:noFill/>
            <a:prstDash val="solid"/>
          </a:ln>
        </p:spPr>
      </p:pic>
      <p:sp>
        <p:nvSpPr>
          <p:cNvPr id="11" name="AutoShape 11"/>
          <p:cNvSpPr/>
          <p:nvPr/>
        </p:nvSpPr>
        <p:spPr>
          <a:xfrm>
            <a:off x="1095375" y="3327400"/>
            <a:ext cx="4572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The industry faces challenges</a:t>
            </a:r>
            <a:endParaRPr lang="en-US" sz="1100"/>
          </a:p>
        </p:txBody>
      </p:sp>
      <p:sp>
        <p:nvSpPr>
          <p:cNvPr id="12" name="AutoShape 12"/>
          <p:cNvSpPr/>
          <p:nvPr/>
        </p:nvSpPr>
        <p:spPr>
          <a:xfrm>
            <a:off x="1095375" y="3683000"/>
            <a:ext cx="4572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The GPU programming model is complex, with large differences between architectures, lacking general optimization strategies, and having extremely high thresholds for parallel computing scheduling and memory management.</a:t>
            </a:r>
            <a:endParaRPr lang="en-US" sz="1100"/>
          </a:p>
        </p:txBody>
      </p:sp>
      <p:sp>
        <p:nvSpPr>
          <p:cNvPr id="13" name="AutoShape 13"/>
          <p:cNvSpPr/>
          <p:nvPr/>
        </p:nvSpPr>
        <p:spPr>
          <a:xfrm>
            <a:off x="523875" y="4381500"/>
            <a:ext cx="5334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4" name="Picture 14"/>
          <p:cNvPicPr>
            <a:picLocks noChangeAspect="1"/>
          </p:cNvPicPr>
          <p:nvPr/>
        </p:nvPicPr>
        <p:blipFill>
          <a:blip r:embed="rId3"/>
          <a:srcRect/>
          <a:stretch>
            <a:fillRect/>
          </a:stretch>
        </p:blipFill>
        <p:spPr>
          <a:xfrm>
            <a:off x="714375" y="4572000"/>
            <a:ext cx="304800" cy="304800"/>
          </a:xfrm>
          <a:prstGeom prst="rect">
            <a:avLst/>
          </a:prstGeom>
          <a:ln w="12700">
            <a:noFill/>
            <a:prstDash val="solid"/>
          </a:ln>
        </p:spPr>
      </p:pic>
      <p:sp>
        <p:nvSpPr>
          <p:cNvPr id="15" name="AutoShape 15"/>
          <p:cNvSpPr/>
          <p:nvPr/>
        </p:nvSpPr>
        <p:spPr>
          <a:xfrm>
            <a:off x="1095375" y="4533900"/>
            <a:ext cx="4572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value of the project</a:t>
            </a:r>
            <a:endParaRPr lang="en-US" sz="1100"/>
          </a:p>
        </p:txBody>
      </p:sp>
      <p:sp>
        <p:nvSpPr>
          <p:cNvPr id="16" name="AutoShape 16"/>
          <p:cNvSpPr/>
          <p:nvPr/>
        </p:nvSpPr>
        <p:spPr>
          <a:xfrm>
            <a:off x="1095375" y="4889500"/>
            <a:ext cx="4572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Significantly lowering the threshold for GPU application development, unleashing the potential of hardware computing power, and improving the execution efficiency of computing tasks as well as resource utilization.</a:t>
            </a:r>
            <a:endParaRPr lang="en-US" sz="1100"/>
          </a:p>
        </p:txBody>
      </p:sp>
      <p:pic>
        <p:nvPicPr>
          <p:cNvPr id="17" name="Picture 17"/>
          <p:cNvPicPr>
            <a:picLocks noChangeAspect="1"/>
          </p:cNvPicPr>
          <p:nvPr/>
        </p:nvPicPr>
        <p:blipFill>
          <a:blip r:embed="rId4"/>
          <a:srcRect/>
          <a:stretch>
            <a:fillRect/>
          </a:stretch>
        </p:blipFill>
        <p:spPr>
          <a:xfrm>
            <a:off x="6597650" y="1139825"/>
            <a:ext cx="4832350" cy="514921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Noto Sans SC" panose="020B0200000000000000" charset="-122"/>
              </a:defRPr>
            </a:lvl1pPr>
          </a:lstStyle>
          <a:p>
            <a:pPr indent="0" algn="l">
              <a:lnSpc>
                <a:spcPct val="100000"/>
              </a:lnSpc>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KernelGen workflow</a:t>
            </a:r>
            <a:endPar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922135" cy="4853305"/>
          </a:xfrm>
          <a:prstGeom prst="rect">
            <a:avLst/>
          </a:prstGeom>
        </p:spPr>
        <p:txBody>
          <a:bodyPr wrap="square" lIns="91440" tIns="45720" rIns="91440" bIns="45720" anchor="t">
            <a:normAutofit lnSpcReduction="10000"/>
          </a:bodyPr>
          <a:lstStyle>
            <a:lvl1pPr algn="l">
              <a:lnSpc>
                <a:spcPct val="125000"/>
              </a:lnSpc>
              <a:defRPr sz="1800" b="0" i="0" u="none" strike="noStrike" spc="0">
                <a:solidFill>
                  <a:srgbClr val="404040">
                    <a:alpha val="100000"/>
                  </a:srgbClr>
                </a:solidFill>
                <a:latin typeface="Calibri" panose="020F0502020204030204"/>
              </a:defRPr>
            </a:lvl1pPr>
          </a:lstStyle>
          <a:p>
            <a:pPr marL="228600" indent="-228600" algn="l">
              <a:lnSpc>
                <a:spcPct val="125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Collect kernel information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125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The user inputs the operator definition semantics to KernelGen.</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25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Search code snippets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125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KernelGen searches for code snippets similar to user-defined ones as referencesKernelGen.</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25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Generate kernel code and CUDA version benchmark implementation code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125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KernelGen generates Kernel code and CUDA-based benchmark implementation code.</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25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Based on the CUDA version of the benchmark implementation code, test the Kernel</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33400" lvl="1" indent="-190500" algn="l">
              <a:lnSpc>
                <a:spcPct val="125000"/>
              </a:lnSpc>
              <a:spcBef>
                <a:spcPts val="750"/>
              </a:spcBef>
              <a:buClr>
                <a:srgbClr val="404040"/>
              </a:buClr>
              <a:buChar char="•"/>
            </a:pPr>
            <a:r>
              <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rPr>
              <a:t>KernelGen benchmarks kernels based on PyTorch and outputs test results for correctness and speedup ratios.</a:t>
            </a:r>
            <a:endParaRPr lang="en-US" sz="15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t="1307" b="1307"/>
          <a:stretch>
            <a:fillRect/>
          </a:stretch>
        </p:blipFill>
        <p:spPr>
          <a:xfrm>
            <a:off x="8360410" y="1017270"/>
            <a:ext cx="2863215" cy="533908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nvSpPr>
        <p:spPr>
          <a:xfrm>
            <a:off x="762000" y="44450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KernelGen vs General LLM (like ChatGPT)</a:t>
            </a:r>
            <a:endParaRPr lang="en-US" sz="1100"/>
          </a:p>
        </p:txBody>
      </p:sp>
      <p:sp>
        <p:nvSpPr>
          <p:cNvPr id="5" name="AutoShape 5"/>
          <p:cNvSpPr/>
          <p:nvPr/>
        </p:nvSpPr>
        <p:spPr>
          <a:xfrm>
            <a:off x="2714098" y="1397000"/>
            <a:ext cx="4397902" cy="508000"/>
          </a:xfrm>
          <a:prstGeom prst="roundRect">
            <a:avLst>
              <a:gd name="adj" fmla="val 25000"/>
            </a:avLst>
          </a:prstGeom>
          <a:solidFill>
            <a:srgbClr val="DC2626">
              <a:alpha val="100000"/>
            </a:srgbClr>
          </a:solidFill>
          <a:ln w="12700" cap="flat" cmpd="sng">
            <a:noFill/>
            <a:prstDash val="solid"/>
            <a:round/>
          </a:ln>
        </p:spPr>
        <p:txBody>
          <a:bodyPr vert="horz" wrap="square" lIns="0" tIns="0" rIns="0" bIns="0" rtlCol="0" anchor="ctr">
            <a:noAutofit/>
          </a:bodyPr>
          <a:lstStyle/>
          <a:p>
            <a:pPr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KernelGen (Specialized Optimization)</a:t>
            </a:r>
            <a:endParaRPr lang="en-US" sz="1100"/>
          </a:p>
        </p:txBody>
      </p:sp>
      <p:sp>
        <p:nvSpPr>
          <p:cNvPr id="6" name="AutoShape 6"/>
          <p:cNvSpPr/>
          <p:nvPr/>
        </p:nvSpPr>
        <p:spPr>
          <a:xfrm>
            <a:off x="7366000" y="1397000"/>
            <a:ext cx="3937000" cy="508000"/>
          </a:xfrm>
          <a:prstGeom prst="roundRect">
            <a:avLst>
              <a:gd name="adj" fmla="val 25000"/>
            </a:avLst>
          </a:prstGeom>
          <a:solidFill>
            <a:srgbClr val="6B7280">
              <a:alpha val="100000"/>
            </a:srgbClr>
          </a:solidFill>
          <a:ln w="12700" cap="flat" cmpd="sng">
            <a:noFill/>
            <a:prstDash val="solid"/>
            <a:round/>
          </a:ln>
        </p:spPr>
        <p:txBody>
          <a:bodyPr vert="horz" wrap="square" lIns="0" tIns="0" rIns="0" bIns="0" rtlCol="0" anchor="ctr">
            <a:noAutofit/>
          </a:bodyPr>
          <a:lstStyle/>
          <a:p>
            <a:pPr indent="0" algn="ctr">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General LLM (like ChatGPT)</a:t>
            </a:r>
            <a:endParaRPr lang="en-US" sz="1100"/>
          </a:p>
        </p:txBody>
      </p:sp>
      <p:sp>
        <p:nvSpPr>
          <p:cNvPr id="7" name="AutoShape 7"/>
          <p:cNvSpPr/>
          <p:nvPr/>
        </p:nvSpPr>
        <p:spPr>
          <a:xfrm>
            <a:off x="762000" y="2032000"/>
            <a:ext cx="10668000" cy="762000"/>
          </a:xfrm>
          <a:prstGeom prst="roundRect">
            <a:avLst>
              <a:gd name="adj" fmla="val 0"/>
            </a:avLst>
          </a:prstGeom>
          <a:solidFill>
            <a:srgbClr val="F9FAFB">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8" name="Picture 8"/>
          <p:cNvPicPr>
            <a:picLocks noChangeAspect="1"/>
          </p:cNvPicPr>
          <p:nvPr/>
        </p:nvPicPr>
        <p:blipFill>
          <a:blip r:embed="rId1"/>
          <a:srcRect/>
          <a:stretch>
            <a:fillRect/>
          </a:stretch>
        </p:blipFill>
        <p:spPr>
          <a:xfrm>
            <a:off x="952500" y="2222500"/>
            <a:ext cx="304800" cy="304800"/>
          </a:xfrm>
          <a:prstGeom prst="rect">
            <a:avLst/>
          </a:prstGeom>
          <a:ln w="12700">
            <a:noFill/>
            <a:prstDash val="solid"/>
          </a:ln>
        </p:spPr>
      </p:pic>
      <p:sp>
        <p:nvSpPr>
          <p:cNvPr id="9" name="AutoShape 9"/>
          <p:cNvSpPr/>
          <p:nvPr/>
        </p:nvSpPr>
        <p:spPr>
          <a:xfrm>
            <a:off x="1333500" y="2184400"/>
            <a:ext cx="1651000" cy="457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objectives</a:t>
            </a:r>
            <a:endParaRPr lang="en-US" sz="1100"/>
          </a:p>
        </p:txBody>
      </p:sp>
      <p:sp>
        <p:nvSpPr>
          <p:cNvPr id="10" name="AutoShape 10"/>
          <p:cNvSpPr/>
          <p:nvPr/>
        </p:nvSpPr>
        <p:spPr>
          <a:xfrm>
            <a:off x="3175000" y="2159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Generate dedicated, high-performance GPU kernel code</a:t>
            </a:r>
            <a:endParaRPr lang="en-US" sz="1100"/>
          </a:p>
        </p:txBody>
      </p:sp>
      <p:sp>
        <p:nvSpPr>
          <p:cNvPr id="11" name="AutoShape 11"/>
          <p:cNvSpPr/>
          <p:nvPr/>
        </p:nvSpPr>
        <p:spPr>
          <a:xfrm>
            <a:off x="7366000" y="2159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Provide general programming assistance to enhance coding efficiency</a:t>
            </a:r>
            <a:endParaRPr lang="en-US" sz="1100"/>
          </a:p>
        </p:txBody>
      </p:sp>
      <p:pic>
        <p:nvPicPr>
          <p:cNvPr id="12" name="Picture 12"/>
          <p:cNvPicPr>
            <a:picLocks noChangeAspect="1"/>
          </p:cNvPicPr>
          <p:nvPr/>
        </p:nvPicPr>
        <p:blipFill>
          <a:blip r:embed="rId2"/>
          <a:srcRect/>
          <a:stretch>
            <a:fillRect/>
          </a:stretch>
        </p:blipFill>
        <p:spPr>
          <a:xfrm>
            <a:off x="952500" y="2984500"/>
            <a:ext cx="304800" cy="304800"/>
          </a:xfrm>
          <a:prstGeom prst="rect">
            <a:avLst/>
          </a:prstGeom>
          <a:ln w="12700">
            <a:noFill/>
            <a:prstDash val="solid"/>
          </a:ln>
        </p:spPr>
      </p:pic>
      <p:sp>
        <p:nvSpPr>
          <p:cNvPr id="13" name="AutoShape 13"/>
          <p:cNvSpPr/>
          <p:nvPr/>
        </p:nvSpPr>
        <p:spPr>
          <a:xfrm>
            <a:off x="1333500" y="2946400"/>
            <a:ext cx="1651000" cy="457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Optimization objective</a:t>
            </a:r>
            <a:endParaRPr lang="en-US" sz="1100"/>
          </a:p>
        </p:txBody>
      </p:sp>
      <p:sp>
        <p:nvSpPr>
          <p:cNvPr id="14" name="AutoShape 14"/>
          <p:cNvSpPr/>
          <p:nvPr/>
        </p:nvSpPr>
        <p:spPr>
          <a:xfrm>
            <a:off x="3175000" y="2921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Ultimate execution efficiency and hardware resource utilization</a:t>
            </a:r>
            <a:endParaRPr lang="en-US" sz="1100"/>
          </a:p>
        </p:txBody>
      </p:sp>
      <p:sp>
        <p:nvSpPr>
          <p:cNvPr id="15" name="AutoShape 15"/>
          <p:cNvSpPr/>
          <p:nvPr/>
        </p:nvSpPr>
        <p:spPr>
          <a:xfrm>
            <a:off x="7366000" y="2921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Code correctness, readability, and development efficiency</a:t>
            </a:r>
            <a:endParaRPr lang="en-US" sz="1100"/>
          </a:p>
        </p:txBody>
      </p:sp>
      <p:sp>
        <p:nvSpPr>
          <p:cNvPr id="16" name="AutoShape 16"/>
          <p:cNvSpPr/>
          <p:nvPr/>
        </p:nvSpPr>
        <p:spPr>
          <a:xfrm>
            <a:off x="762000" y="3556000"/>
            <a:ext cx="10668000" cy="762000"/>
          </a:xfrm>
          <a:prstGeom prst="roundRect">
            <a:avLst>
              <a:gd name="adj" fmla="val 0"/>
            </a:avLst>
          </a:prstGeom>
          <a:solidFill>
            <a:srgbClr val="F9FAFB">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7" name="Picture 17"/>
          <p:cNvPicPr>
            <a:picLocks noChangeAspect="1"/>
          </p:cNvPicPr>
          <p:nvPr/>
        </p:nvPicPr>
        <p:blipFill>
          <a:blip r:embed="rId3"/>
          <a:srcRect/>
          <a:stretch>
            <a:fillRect/>
          </a:stretch>
        </p:blipFill>
        <p:spPr>
          <a:xfrm>
            <a:off x="952500" y="3746500"/>
            <a:ext cx="304800" cy="304800"/>
          </a:xfrm>
          <a:prstGeom prst="rect">
            <a:avLst/>
          </a:prstGeom>
          <a:ln w="12700">
            <a:noFill/>
            <a:prstDash val="solid"/>
          </a:ln>
        </p:spPr>
      </p:pic>
      <p:sp>
        <p:nvSpPr>
          <p:cNvPr id="18" name="AutoShape 18"/>
          <p:cNvSpPr/>
          <p:nvPr/>
        </p:nvSpPr>
        <p:spPr>
          <a:xfrm>
            <a:off x="1333500" y="3708400"/>
            <a:ext cx="1651000" cy="457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Arial" panose="020B0604020202020204"/>
                <a:ea typeface="Arial" panose="020B0604020202020204"/>
                <a:cs typeface="Arial" panose="020B0604020202020204"/>
                <a:sym typeface="Arial" panose="020B0604020202020204"/>
              </a:rPr>
              <a:t>Input</a:t>
            </a:r>
            <a:endParaRPr lang="en-US" sz="1100"/>
          </a:p>
        </p:txBody>
      </p:sp>
      <p:sp>
        <p:nvSpPr>
          <p:cNvPr id="19" name="AutoShape 19"/>
          <p:cNvSpPr/>
          <p:nvPr/>
        </p:nvSpPr>
        <p:spPr>
          <a:xfrm>
            <a:off x="3175000" y="3683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Domain-Specific Language (DSL) or Task Description</a:t>
            </a:r>
            <a:endParaRPr lang="en-US" sz="1100"/>
          </a:p>
        </p:txBody>
      </p:sp>
      <p:sp>
        <p:nvSpPr>
          <p:cNvPr id="20" name="AutoShape 20"/>
          <p:cNvSpPr/>
          <p:nvPr/>
        </p:nvSpPr>
        <p:spPr>
          <a:xfrm>
            <a:off x="7366000" y="3683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Natural language annotations or code snippets</a:t>
            </a:r>
            <a:endParaRPr lang="en-US" sz="1100"/>
          </a:p>
        </p:txBody>
      </p:sp>
      <p:pic>
        <p:nvPicPr>
          <p:cNvPr id="21" name="Picture 21"/>
          <p:cNvPicPr>
            <a:picLocks noChangeAspect="1"/>
          </p:cNvPicPr>
          <p:nvPr/>
        </p:nvPicPr>
        <p:blipFill>
          <a:blip r:embed="rId4"/>
          <a:srcRect/>
          <a:stretch>
            <a:fillRect/>
          </a:stretch>
        </p:blipFill>
        <p:spPr>
          <a:xfrm>
            <a:off x="952500" y="4508500"/>
            <a:ext cx="304800" cy="304800"/>
          </a:xfrm>
          <a:prstGeom prst="rect">
            <a:avLst/>
          </a:prstGeom>
          <a:ln w="12700">
            <a:noFill/>
            <a:prstDash val="solid"/>
          </a:ln>
        </p:spPr>
      </p:pic>
      <p:sp>
        <p:nvSpPr>
          <p:cNvPr id="22" name="AutoShape 22"/>
          <p:cNvSpPr/>
          <p:nvPr/>
        </p:nvSpPr>
        <p:spPr>
          <a:xfrm>
            <a:off x="1333500" y="4470400"/>
            <a:ext cx="1651000" cy="457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Knowledge dependence</a:t>
            </a:r>
            <a:endParaRPr lang="en-US" sz="1100"/>
          </a:p>
        </p:txBody>
      </p:sp>
      <p:sp>
        <p:nvSpPr>
          <p:cNvPr id="23" name="AutoShape 23"/>
          <p:cNvSpPr/>
          <p:nvPr/>
        </p:nvSpPr>
        <p:spPr>
          <a:xfrm>
            <a:off x="3175000" y="4445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Deep integration of hardware architecture broussonetia papyrifera knowledge and parallel computing theory</a:t>
            </a:r>
            <a:endParaRPr lang="en-US" sz="1100"/>
          </a:p>
        </p:txBody>
      </p:sp>
      <p:sp>
        <p:nvSpPr>
          <p:cNvPr id="24" name="AutoShape 24"/>
          <p:cNvSpPr/>
          <p:nvPr/>
        </p:nvSpPr>
        <p:spPr>
          <a:xfrm>
            <a:off x="7366000" y="4445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General knowledge of code syntax and semantics</a:t>
            </a:r>
            <a:endParaRPr lang="en-US" sz="1100"/>
          </a:p>
        </p:txBody>
      </p:sp>
      <p:sp>
        <p:nvSpPr>
          <p:cNvPr id="25" name="AutoShape 25"/>
          <p:cNvSpPr/>
          <p:nvPr/>
        </p:nvSpPr>
        <p:spPr>
          <a:xfrm>
            <a:off x="762000" y="5080000"/>
            <a:ext cx="10668000" cy="762000"/>
          </a:xfrm>
          <a:prstGeom prst="roundRect">
            <a:avLst>
              <a:gd name="adj" fmla="val 0"/>
            </a:avLst>
          </a:prstGeom>
          <a:solidFill>
            <a:srgbClr val="F9FAFB">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26" name="Picture 26"/>
          <p:cNvPicPr>
            <a:picLocks noChangeAspect="1"/>
          </p:cNvPicPr>
          <p:nvPr/>
        </p:nvPicPr>
        <p:blipFill>
          <a:blip r:embed="rId5"/>
          <a:srcRect/>
          <a:stretch>
            <a:fillRect/>
          </a:stretch>
        </p:blipFill>
        <p:spPr>
          <a:xfrm>
            <a:off x="952500" y="5270500"/>
            <a:ext cx="304800" cy="304800"/>
          </a:xfrm>
          <a:prstGeom prst="rect">
            <a:avLst/>
          </a:prstGeom>
          <a:ln w="12700">
            <a:noFill/>
            <a:prstDash val="solid"/>
          </a:ln>
        </p:spPr>
      </p:pic>
      <p:sp>
        <p:nvSpPr>
          <p:cNvPr id="27" name="AutoShape 27"/>
          <p:cNvSpPr/>
          <p:nvPr/>
        </p:nvSpPr>
        <p:spPr>
          <a:xfrm>
            <a:off x="1333500" y="5232400"/>
            <a:ext cx="1651000" cy="457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937"/>
                </a:solidFill>
                <a:latin typeface="Arial" panose="020B0604020202020204"/>
                <a:ea typeface="Arial" panose="020B0604020202020204"/>
                <a:cs typeface="Arial" panose="020B0604020202020204"/>
                <a:sym typeface="Arial" panose="020B0604020202020204"/>
              </a:rPr>
              <a:t>Output</a:t>
            </a:r>
            <a:endParaRPr lang="en-US" sz="1100"/>
          </a:p>
        </p:txBody>
      </p:sp>
      <p:sp>
        <p:nvSpPr>
          <p:cNvPr id="28" name="AutoShape 28"/>
          <p:cNvSpPr/>
          <p:nvPr/>
        </p:nvSpPr>
        <p:spPr>
          <a:xfrm>
            <a:off x="3175000" y="5207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 code optimized for specific GPUs, highly specialized</a:t>
            </a:r>
            <a:endParaRPr lang="en-US" sz="1100"/>
          </a:p>
        </p:txBody>
      </p:sp>
      <p:sp>
        <p:nvSpPr>
          <p:cNvPr id="29" name="AutoShape 29"/>
          <p:cNvSpPr/>
          <p:nvPr/>
        </p:nvSpPr>
        <p:spPr>
          <a:xfrm>
            <a:off x="7366000" y="5207000"/>
            <a:ext cx="3937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Universal, code snippets applicable to multiple scenarios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nvSpPr>
        <p:spPr>
          <a:xfrm>
            <a:off x="762000" y="39370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Application Prospects of the KernelGen Project</a:t>
            </a:r>
            <a:endParaRPr lang="en-US" sz="1100"/>
          </a:p>
        </p:txBody>
      </p:sp>
      <p:sp>
        <p:nvSpPr>
          <p:cNvPr id="5" name="AutoShape 5"/>
          <p:cNvSpPr/>
          <p:nvPr/>
        </p:nvSpPr>
        <p:spPr>
          <a:xfrm>
            <a:off x="762000" y="1219200"/>
            <a:ext cx="1016000" cy="50800"/>
          </a:xfrm>
          <a:prstGeom prst="roundRect">
            <a:avLst>
              <a:gd name="adj" fmla="val 0"/>
            </a:avLst>
          </a:prstGeom>
          <a:solidFill>
            <a:srgbClr val="DC2626">
              <a:alpha val="100000"/>
            </a:srgbClr>
          </a:solidFill>
          <a:ln w="12700" cap="flat" cmpd="sng">
            <a:no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762000" y="1651000"/>
            <a:ext cx="5207000" cy="2286000"/>
          </a:xfrm>
          <a:prstGeom prst="roundRect">
            <a:avLst>
              <a:gd name="adj" fmla="val 555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7" name="Picture 7"/>
          <p:cNvPicPr>
            <a:picLocks noChangeAspect="1"/>
          </p:cNvPicPr>
          <p:nvPr/>
        </p:nvPicPr>
        <p:blipFill>
          <a:blip r:embed="rId1"/>
          <a:srcRect l="3998" r="4000"/>
          <a:stretch>
            <a:fillRect/>
          </a:stretch>
        </p:blipFill>
        <p:spPr>
          <a:xfrm>
            <a:off x="1016000" y="1905000"/>
            <a:ext cx="812800" cy="812800"/>
          </a:xfrm>
          <a:prstGeom prst="rect">
            <a:avLst/>
          </a:prstGeom>
          <a:ln w="12700" cap="flat" cmpd="sng">
            <a:noFill/>
            <a:prstDash val="solid"/>
            <a:round/>
          </a:ln>
        </p:spPr>
      </p:pic>
      <p:sp>
        <p:nvSpPr>
          <p:cNvPr id="8" name="AutoShape 8"/>
          <p:cNvSpPr/>
          <p:nvPr/>
        </p:nvSpPr>
        <p:spPr>
          <a:xfrm>
            <a:off x="2032000" y="1905000"/>
            <a:ext cx="3683000"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Simplifying GPU Development</a:t>
            </a:r>
            <a:endParaRPr lang="en-US" sz="1100"/>
          </a:p>
        </p:txBody>
      </p:sp>
      <p:sp>
        <p:nvSpPr>
          <p:cNvPr id="9" name="AutoShape 9"/>
          <p:cNvSpPr/>
          <p:nvPr/>
        </p:nvSpPr>
        <p:spPr>
          <a:xfrm>
            <a:off x="2032000" y="2286000"/>
            <a:ext cx="3683000" cy="1397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100" b="0" i="0" u="none" strike="noStrike">
                <a:solidFill>
                  <a:srgbClr val="000000"/>
                </a:solidFill>
                <a:latin typeface="Arial" panose="020B0604020202020204"/>
                <a:ea typeface="Arial" panose="020B0604020202020204"/>
                <a:cs typeface="Arial" panose="020B0604020202020204"/>
                <a:sym typeface="Arial" panose="020B0604020202020204"/>
              </a:rPr>
              <a:t>Significantly reduce the technical barriers to developing and optimizing GPU applications, enabling scientists and engineers across more fields to easily leverage the powerful computing capabilities of GPUs for research and development.</a:t>
            </a:r>
            <a:endParaRPr lang="en-US" sz="1100"/>
          </a:p>
        </p:txBody>
      </p:sp>
      <p:sp>
        <p:nvSpPr>
          <p:cNvPr id="10" name="AutoShape 10"/>
          <p:cNvSpPr/>
          <p:nvPr/>
        </p:nvSpPr>
        <p:spPr>
          <a:xfrm>
            <a:off x="6223000" y="1651000"/>
            <a:ext cx="5207000" cy="2286000"/>
          </a:xfrm>
          <a:prstGeom prst="roundRect">
            <a:avLst>
              <a:gd name="adj" fmla="val 555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1" name="Picture 11"/>
          <p:cNvPicPr>
            <a:picLocks noChangeAspect="1"/>
          </p:cNvPicPr>
          <p:nvPr/>
        </p:nvPicPr>
        <p:blipFill>
          <a:blip r:embed="rId2"/>
          <a:srcRect/>
          <a:stretch>
            <a:fillRect/>
          </a:stretch>
        </p:blipFill>
        <p:spPr>
          <a:xfrm>
            <a:off x="6477000" y="1905000"/>
            <a:ext cx="812800" cy="812800"/>
          </a:xfrm>
          <a:prstGeom prst="rect">
            <a:avLst/>
          </a:prstGeom>
          <a:ln w="12700" cap="flat" cmpd="sng">
            <a:noFill/>
            <a:prstDash val="solid"/>
            <a:round/>
          </a:ln>
        </p:spPr>
      </p:pic>
      <p:sp>
        <p:nvSpPr>
          <p:cNvPr id="12" name="AutoShape 12"/>
          <p:cNvSpPr/>
          <p:nvPr/>
        </p:nvSpPr>
        <p:spPr>
          <a:xfrm>
            <a:off x="7493000" y="1905000"/>
            <a:ext cx="4355917"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Empowering Scientific Computing</a:t>
            </a:r>
            <a:endParaRPr lang="en-US" sz="1100"/>
          </a:p>
        </p:txBody>
      </p:sp>
      <p:sp>
        <p:nvSpPr>
          <p:cNvPr id="13" name="AutoShape 13"/>
          <p:cNvSpPr/>
          <p:nvPr/>
        </p:nvSpPr>
        <p:spPr>
          <a:xfrm>
            <a:off x="7493000" y="2286000"/>
            <a:ext cx="3683000" cy="1397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100" b="0" i="0" u="none" strike="noStrike">
                <a:solidFill>
                  <a:srgbClr val="000000"/>
                </a:solidFill>
                <a:latin typeface="Arial" panose="020B0604020202020204"/>
                <a:ea typeface="Arial" panose="020B0604020202020204"/>
                <a:cs typeface="Arial" panose="020B0604020202020204"/>
                <a:sym typeface="Arial" panose="020B0604020202020204"/>
              </a:rPr>
              <a:t>In the fields of large-scale parallel computing such as AI model training and fluid dynamics simulation, it significantly accelerates the computational process, shortens research cycles, and enhances scientific research efficiency.</a:t>
            </a:r>
            <a:endParaRPr lang="en-US" sz="1100"/>
          </a:p>
        </p:txBody>
      </p:sp>
      <p:sp>
        <p:nvSpPr>
          <p:cNvPr id="14" name="AutoShape 14"/>
          <p:cNvSpPr/>
          <p:nvPr/>
        </p:nvSpPr>
        <p:spPr>
          <a:xfrm>
            <a:off x="762000" y="4191000"/>
            <a:ext cx="5207000" cy="2286000"/>
          </a:xfrm>
          <a:prstGeom prst="roundRect">
            <a:avLst>
              <a:gd name="adj" fmla="val 555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5" name="Picture 15"/>
          <p:cNvPicPr>
            <a:picLocks noChangeAspect="1"/>
          </p:cNvPicPr>
          <p:nvPr/>
        </p:nvPicPr>
        <p:blipFill>
          <a:blip r:embed="rId3"/>
          <a:srcRect/>
          <a:stretch>
            <a:fillRect/>
          </a:stretch>
        </p:blipFill>
        <p:spPr>
          <a:xfrm>
            <a:off x="1016000" y="4445000"/>
            <a:ext cx="812800" cy="812800"/>
          </a:xfrm>
          <a:prstGeom prst="rect">
            <a:avLst/>
          </a:prstGeom>
          <a:ln w="12700" cap="flat" cmpd="sng">
            <a:noFill/>
            <a:prstDash val="solid"/>
            <a:round/>
          </a:ln>
        </p:spPr>
      </p:pic>
      <p:sp>
        <p:nvSpPr>
          <p:cNvPr id="16" name="AutoShape 16"/>
          <p:cNvSpPr/>
          <p:nvPr/>
        </p:nvSpPr>
        <p:spPr>
          <a:xfrm>
            <a:off x="2032000" y="4445000"/>
            <a:ext cx="4355917"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Hardware Adaptation Automation</a:t>
            </a:r>
            <a:endParaRPr lang="en-US" sz="1100"/>
          </a:p>
        </p:txBody>
      </p:sp>
      <p:sp>
        <p:nvSpPr>
          <p:cNvPr id="17" name="AutoShape 17"/>
          <p:cNvSpPr/>
          <p:nvPr/>
        </p:nvSpPr>
        <p:spPr>
          <a:xfrm>
            <a:off x="2032000" y="4826000"/>
            <a:ext cx="3683000" cy="1397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100" b="0" i="0" u="none" strike="noStrike">
                <a:solidFill>
                  <a:srgbClr val="000000"/>
                </a:solidFill>
                <a:latin typeface="Arial" panose="020B0604020202020204"/>
                <a:ea typeface="Arial" panose="020B0604020202020204"/>
                <a:cs typeface="Arial" panose="020B0604020202020204"/>
                <a:sym typeface="Arial" panose="020B0604020202020204"/>
              </a:rPr>
              <a:t>Targeting the new GPU architecture broussonetia papyrifera to rapidly generate optimized code, significantly shortening the software ecosystem adaptation cycle for new hardware and accelerating the industrial adoption of cutting-edge technologies.</a:t>
            </a:r>
            <a:endParaRPr lang="en-US" sz="1100"/>
          </a:p>
        </p:txBody>
      </p:sp>
      <p:sp>
        <p:nvSpPr>
          <p:cNvPr id="18" name="AutoShape 18"/>
          <p:cNvSpPr/>
          <p:nvPr/>
        </p:nvSpPr>
        <p:spPr>
          <a:xfrm>
            <a:off x="6223000" y="4191000"/>
            <a:ext cx="5207000" cy="2286000"/>
          </a:xfrm>
          <a:prstGeom prst="roundRect">
            <a:avLst>
              <a:gd name="adj" fmla="val 555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9" name="Picture 19"/>
          <p:cNvPicPr>
            <a:picLocks noChangeAspect="1"/>
          </p:cNvPicPr>
          <p:nvPr/>
        </p:nvPicPr>
        <p:blipFill>
          <a:blip r:embed="rId4"/>
          <a:srcRect/>
          <a:stretch>
            <a:fillRect/>
          </a:stretch>
        </p:blipFill>
        <p:spPr>
          <a:xfrm>
            <a:off x="6477000" y="4445000"/>
            <a:ext cx="812800" cy="812800"/>
          </a:xfrm>
          <a:prstGeom prst="rect">
            <a:avLst/>
          </a:prstGeom>
          <a:ln w="12700">
            <a:noFill/>
            <a:prstDash val="solid"/>
          </a:ln>
        </p:spPr>
      </p:pic>
      <p:sp>
        <p:nvSpPr>
          <p:cNvPr id="20" name="AutoShape 20"/>
          <p:cNvSpPr/>
          <p:nvPr/>
        </p:nvSpPr>
        <p:spPr>
          <a:xfrm>
            <a:off x="7493000" y="4445000"/>
            <a:ext cx="3627692" cy="381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8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Promote hardware-software co-design</a:t>
            </a:r>
            <a:endParaRPr lang="en-US" sz="1100"/>
          </a:p>
        </p:txBody>
      </p:sp>
      <p:sp>
        <p:nvSpPr>
          <p:cNvPr id="21" name="AutoShape 21"/>
          <p:cNvSpPr/>
          <p:nvPr/>
        </p:nvSpPr>
        <p:spPr>
          <a:xfrm>
            <a:off x="7493000" y="4826000"/>
            <a:ext cx="3683000" cy="1397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100" b="0" i="0" u="none" strike="noStrike">
                <a:solidFill>
                  <a:srgbClr val="000000"/>
                </a:solidFill>
                <a:latin typeface="Arial" panose="020B0604020202020204"/>
                <a:ea typeface="Arial" panose="020B0604020202020204"/>
                <a:cs typeface="Arial" panose="020B0604020202020204"/>
                <a:sym typeface="Arial" panose="020B0604020202020204"/>
              </a:rPr>
              <a:t>AI-driven code generation technology will reciprocally benefit hardware architecture broussonetia papyrifera design, making hardware designs more amenable to AI optimization and fostering a virtuous cycle of software-hardware co-evolution.</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nvSpPr>
        <p:spPr>
          <a:xfrm>
            <a:off x="762000" y="441325"/>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Summary and Outlook</a:t>
            </a:r>
            <a:endParaRPr lang="en-US" sz="1100"/>
          </a:p>
        </p:txBody>
      </p:sp>
      <p:sp>
        <p:nvSpPr>
          <p:cNvPr id="5" name="AutoShape 5"/>
          <p:cNvSpPr/>
          <p:nvPr/>
        </p:nvSpPr>
        <p:spPr>
          <a:xfrm>
            <a:off x="762000" y="1397000"/>
            <a:ext cx="5143500" cy="4953000"/>
          </a:xfrm>
          <a:prstGeom prst="roundRect">
            <a:avLst>
              <a:gd name="adj" fmla="val 25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nvPicPr>
        <p:blipFill>
          <a:blip r:embed="rId1"/>
          <a:srcRect/>
          <a:stretch>
            <a:fillRect/>
          </a:stretch>
        </p:blipFill>
        <p:spPr>
          <a:xfrm>
            <a:off x="1016000" y="1651000"/>
            <a:ext cx="355600" cy="355600"/>
          </a:xfrm>
          <a:prstGeom prst="rect">
            <a:avLst/>
          </a:prstGeom>
          <a:ln w="12700">
            <a:noFill/>
            <a:prstDash val="solid"/>
          </a:ln>
        </p:spPr>
      </p:pic>
      <p:sp>
        <p:nvSpPr>
          <p:cNvPr id="7" name="AutoShape 7"/>
          <p:cNvSpPr/>
          <p:nvPr/>
        </p:nvSpPr>
        <p:spPr>
          <a:xfrm>
            <a:off x="1460500" y="1625600"/>
            <a:ext cx="3810000" cy="406400"/>
          </a:xfrm>
          <a:prstGeom prst="rect">
            <a:avLst/>
          </a:prstGeom>
          <a:noFill/>
          <a:ln w="12700" cap="flat" cmpd="sng">
            <a:noFill/>
            <a:prstDash val="solid"/>
            <a:round/>
          </a:ln>
        </p:spPr>
        <p:txBody>
          <a:bodyPr vert="horz" wrap="square" lIns="0" tIns="0" rIns="0" bIns="0" rtlCol="0" anchor="ctr">
            <a:noAutofit/>
          </a:bodyPr>
          <a:lstStyle/>
          <a:p>
            <a:pPr indent="0" algn="l">
              <a:lnSpc>
                <a:spcPct val="83000"/>
              </a:lnSpc>
              <a:defRPr/>
            </a:pPr>
            <a:r>
              <a:rPr lang="en-US" sz="20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Review: Current Status and Transformation</a:t>
            </a:r>
            <a:endParaRPr lang="en-US" sz="1100"/>
          </a:p>
        </p:txBody>
      </p:sp>
      <p:cxnSp>
        <p:nvCxnSpPr>
          <p:cNvPr id="8" name="Connector 8"/>
          <p:cNvCxnSpPr/>
          <p:nvPr/>
        </p:nvCxnSpPr>
        <p:spPr>
          <a:xfrm rot="-9418">
            <a:off x="1016009" y="2089150"/>
            <a:ext cx="4635500" cy="12700"/>
          </a:xfrm>
          <a:prstGeom prst="straightConnector1">
            <a:avLst/>
          </a:prstGeom>
          <a:solidFill>
            <a:srgbClr val="DEE0E3">
              <a:alpha val="100000"/>
            </a:srgbClr>
          </a:solidFill>
          <a:ln w="12700" cap="flat" cmpd="sng">
            <a:solidFill>
              <a:srgbClr val="FCA5A5">
                <a:alpha val="100000"/>
              </a:srgbClr>
            </a:solidFill>
            <a:prstDash val="solid"/>
            <a:round/>
            <a:headEnd type="none" w="med" len="med"/>
            <a:tailEnd type="none" w="med" len="med"/>
          </a:ln>
        </p:spPr>
      </p:cxnSp>
      <p:pic>
        <p:nvPicPr>
          <p:cNvPr id="9" name="Picture 9"/>
          <p:cNvPicPr>
            <a:picLocks noChangeAspect="1"/>
          </p:cNvPicPr>
          <p:nvPr/>
        </p:nvPicPr>
        <p:blipFill>
          <a:blip r:embed="rId2"/>
          <a:srcRect/>
          <a:stretch>
            <a:fillRect/>
          </a:stretch>
        </p:blipFill>
        <p:spPr>
          <a:xfrm>
            <a:off x="1016012" y="2495156"/>
            <a:ext cx="304800" cy="304800"/>
          </a:xfrm>
          <a:prstGeom prst="rect">
            <a:avLst/>
          </a:prstGeom>
          <a:ln w="12700">
            <a:noFill/>
            <a:prstDash val="solid"/>
          </a:ln>
        </p:spPr>
      </p:pic>
      <p:sp>
        <p:nvSpPr>
          <p:cNvPr id="10" name="AutoShape 10"/>
          <p:cNvSpPr/>
          <p:nvPr/>
        </p:nvSpPr>
        <p:spPr>
          <a:xfrm>
            <a:off x="1397000" y="2324100"/>
            <a:ext cx="4254500" cy="657523"/>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Efficiency revolution: AI-assisted programming is irreversible</a:t>
            </a:r>
            <a:endParaRPr lang="en-US" sz="1100"/>
          </a:p>
        </p:txBody>
      </p:sp>
      <p:pic>
        <p:nvPicPr>
          <p:cNvPr id="11" name="Picture 11"/>
          <p:cNvPicPr>
            <a:picLocks noChangeAspect="1"/>
          </p:cNvPicPr>
          <p:nvPr/>
        </p:nvPicPr>
        <p:blipFill>
          <a:blip r:embed="rId3"/>
          <a:srcRect/>
          <a:stretch>
            <a:fillRect/>
          </a:stretch>
        </p:blipFill>
        <p:spPr>
          <a:xfrm>
            <a:off x="1016000" y="3302000"/>
            <a:ext cx="304800" cy="304800"/>
          </a:xfrm>
          <a:prstGeom prst="rect">
            <a:avLst/>
          </a:prstGeom>
          <a:ln w="12700">
            <a:noFill/>
            <a:prstDash val="solid"/>
          </a:ln>
        </p:spPr>
      </p:pic>
      <p:sp>
        <p:nvSpPr>
          <p:cNvPr id="12" name="AutoShape 12"/>
          <p:cNvSpPr/>
          <p:nvPr/>
        </p:nvSpPr>
        <p:spPr>
          <a:xfrm>
            <a:off x="1397000" y="3276600"/>
            <a:ext cx="42545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General-purpose and specialized applications go hand in hand: a dual-track parallel approach</a:t>
            </a:r>
            <a:endParaRPr lang="en-US" sz="1100"/>
          </a:p>
        </p:txBody>
      </p:sp>
      <p:pic>
        <p:nvPicPr>
          <p:cNvPr id="13" name="Picture 13"/>
          <p:cNvPicPr>
            <a:picLocks noChangeAspect="1"/>
          </p:cNvPicPr>
          <p:nvPr/>
        </p:nvPicPr>
        <p:blipFill>
          <a:blip r:embed="rId4"/>
          <a:srcRect/>
          <a:stretch>
            <a:fillRect/>
          </a:stretch>
        </p:blipFill>
        <p:spPr>
          <a:xfrm>
            <a:off x="1016000" y="4254500"/>
            <a:ext cx="304800" cy="304800"/>
          </a:xfrm>
          <a:prstGeom prst="rect">
            <a:avLst/>
          </a:prstGeom>
          <a:ln w="12700">
            <a:noFill/>
            <a:prstDash val="solid"/>
          </a:ln>
        </p:spPr>
      </p:pic>
      <p:sp>
        <p:nvSpPr>
          <p:cNvPr id="14" name="AutoShape 14"/>
          <p:cNvSpPr/>
          <p:nvPr/>
        </p:nvSpPr>
        <p:spPr>
          <a:xfrm>
            <a:off x="1397000" y="4229100"/>
            <a:ext cx="42545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4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Homo sapiens-machine collaboration new paradigm: role transformation</a:t>
            </a:r>
            <a:endParaRPr lang="en-US" sz="1100"/>
          </a:p>
        </p:txBody>
      </p:sp>
      <p:sp>
        <p:nvSpPr>
          <p:cNvPr id="15" name="AutoShape 15"/>
          <p:cNvSpPr/>
          <p:nvPr/>
        </p:nvSpPr>
        <p:spPr>
          <a:xfrm>
            <a:off x="6286500" y="1397000"/>
            <a:ext cx="5143500" cy="4953000"/>
          </a:xfrm>
          <a:prstGeom prst="roundRect">
            <a:avLst>
              <a:gd name="adj" fmla="val 2564"/>
            </a:avLst>
          </a:prstGeom>
          <a:solidFill>
            <a:srgbClr val="F8FAFC">
              <a:alpha val="100000"/>
            </a:srgbClr>
          </a:solidFill>
          <a:ln w="12700" cap="flat" cmpd="sng">
            <a:solidFill>
              <a:srgbClr val="E2E8F0">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6" name="Picture 16"/>
          <p:cNvPicPr>
            <a:picLocks noChangeAspect="1"/>
          </p:cNvPicPr>
          <p:nvPr/>
        </p:nvPicPr>
        <p:blipFill>
          <a:blip r:embed="rId5"/>
          <a:srcRect/>
          <a:stretch>
            <a:fillRect/>
          </a:stretch>
        </p:blipFill>
        <p:spPr>
          <a:xfrm>
            <a:off x="6540500" y="1651000"/>
            <a:ext cx="355600" cy="355600"/>
          </a:xfrm>
          <a:prstGeom prst="rect">
            <a:avLst/>
          </a:prstGeom>
          <a:ln w="12700">
            <a:noFill/>
            <a:prstDash val="solid"/>
          </a:ln>
        </p:spPr>
      </p:pic>
      <p:sp>
        <p:nvSpPr>
          <p:cNvPr id="17" name="AutoShape 17"/>
          <p:cNvSpPr/>
          <p:nvPr/>
        </p:nvSpPr>
        <p:spPr>
          <a:xfrm>
            <a:off x="6985000" y="1625600"/>
            <a:ext cx="3810000" cy="406400"/>
          </a:xfrm>
          <a:prstGeom prst="rect">
            <a:avLst/>
          </a:prstGeom>
          <a:noFill/>
          <a:ln w="12700" cap="flat" cmpd="sng">
            <a:noFill/>
            <a:prstDash val="solid"/>
            <a:round/>
          </a:ln>
        </p:spPr>
        <p:txBody>
          <a:bodyPr vert="horz" wrap="square" lIns="0" tIns="0" rIns="0" bIns="0" rtlCol="0" anchor="ctr">
            <a:noAutofit/>
          </a:bodyPr>
          <a:lstStyle/>
          <a:p>
            <a:pPr indent="0" algn="l">
              <a:lnSpc>
                <a:spcPct val="83000"/>
              </a:lnSpc>
              <a:defRPr/>
            </a:pPr>
            <a:r>
              <a:rPr lang="en-US" sz="20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Future Outlook: Trends and Possibilities</a:t>
            </a:r>
            <a:endParaRPr lang="en-US" sz="1100"/>
          </a:p>
        </p:txBody>
      </p:sp>
      <p:cxnSp>
        <p:nvCxnSpPr>
          <p:cNvPr id="18" name="Connector 18"/>
          <p:cNvCxnSpPr/>
          <p:nvPr/>
        </p:nvCxnSpPr>
        <p:spPr>
          <a:xfrm rot="-9418">
            <a:off x="6540509" y="2089150"/>
            <a:ext cx="46355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pic>
        <p:nvPicPr>
          <p:cNvPr id="19" name="Picture 19"/>
          <p:cNvPicPr>
            <a:picLocks noChangeAspect="1"/>
          </p:cNvPicPr>
          <p:nvPr/>
        </p:nvPicPr>
        <p:blipFill>
          <a:blip r:embed="rId6"/>
          <a:srcRect/>
          <a:stretch>
            <a:fillRect/>
          </a:stretch>
        </p:blipFill>
        <p:spPr>
          <a:xfrm>
            <a:off x="6540500" y="2349500"/>
            <a:ext cx="304800" cy="304800"/>
          </a:xfrm>
          <a:prstGeom prst="rect">
            <a:avLst/>
          </a:prstGeom>
          <a:ln w="12700">
            <a:noFill/>
            <a:prstDash val="solid"/>
          </a:ln>
        </p:spPr>
      </p:pic>
      <p:sp>
        <p:nvSpPr>
          <p:cNvPr id="20" name="AutoShape 20"/>
          <p:cNvSpPr/>
          <p:nvPr/>
        </p:nvSpPr>
        <p:spPr>
          <a:xfrm>
            <a:off x="6921500" y="2324100"/>
            <a:ext cx="4641658"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Smarter collaboration: in-depth interaction</a:t>
            </a:r>
            <a:endParaRPr lang="en-US" sz="1100"/>
          </a:p>
        </p:txBody>
      </p:sp>
      <p:pic>
        <p:nvPicPr>
          <p:cNvPr id="21" name="Picture 21"/>
          <p:cNvPicPr>
            <a:picLocks noChangeAspect="1"/>
          </p:cNvPicPr>
          <p:nvPr/>
        </p:nvPicPr>
        <p:blipFill>
          <a:blip r:embed="rId7"/>
          <a:srcRect/>
          <a:stretch>
            <a:fillRect/>
          </a:stretch>
        </p:blipFill>
        <p:spPr>
          <a:xfrm>
            <a:off x="6540500" y="3302000"/>
            <a:ext cx="304800" cy="304800"/>
          </a:xfrm>
          <a:prstGeom prst="rect">
            <a:avLst/>
          </a:prstGeom>
          <a:ln w="12700">
            <a:noFill/>
            <a:prstDash val="solid"/>
          </a:ln>
        </p:spPr>
      </p:pic>
      <p:sp>
        <p:nvSpPr>
          <p:cNvPr id="22" name="AutoShape 22"/>
          <p:cNvSpPr/>
          <p:nvPr/>
        </p:nvSpPr>
        <p:spPr>
          <a:xfrm>
            <a:off x="6921500" y="3276600"/>
            <a:ext cx="42545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Vertical domain deepening: industry customization</a:t>
            </a:r>
            <a:endParaRPr lang="en-US" sz="1100"/>
          </a:p>
        </p:txBody>
      </p:sp>
      <p:pic>
        <p:nvPicPr>
          <p:cNvPr id="23" name="Picture 23"/>
          <p:cNvPicPr>
            <a:picLocks noChangeAspect="1"/>
          </p:cNvPicPr>
          <p:nvPr/>
        </p:nvPicPr>
        <p:blipFill>
          <a:blip r:embed="rId8"/>
          <a:srcRect/>
          <a:stretch>
            <a:fillRect/>
          </a:stretch>
        </p:blipFill>
        <p:spPr>
          <a:xfrm>
            <a:off x="6540500" y="4254500"/>
            <a:ext cx="304800" cy="304800"/>
          </a:xfrm>
          <a:prstGeom prst="rect">
            <a:avLst/>
          </a:prstGeom>
          <a:ln w="12700">
            <a:noFill/>
            <a:prstDash val="solid"/>
          </a:ln>
        </p:spPr>
      </p:pic>
      <p:sp>
        <p:nvSpPr>
          <p:cNvPr id="24" name="AutoShape 24"/>
          <p:cNvSpPr/>
          <p:nvPr/>
        </p:nvSpPr>
        <p:spPr>
          <a:xfrm>
            <a:off x="6921500" y="4229100"/>
            <a:ext cx="4254500" cy="3302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Independent programming exploration: high-level automation</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41: KernelGen Architecture and Prompt Engineering</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9" hasCustomPrompt="1"/>
          </p:nvPr>
        </p:nvSpPr>
        <p:spPr>
          <a:prstGeom prst="rect">
            <a:avLst/>
          </a:prstGeom>
        </p:spPr>
        <p:txBody>
          <a:bodyPr wrap="square" lIns="91440" tIns="45720" rIns="91440" bIns="45720" anchor="ctr">
            <a:noAutofit/>
          </a:bodyPr>
          <a:lstStyle>
            <a:lvl1pPr algn="l">
              <a:lnSpc>
                <a:spcPct val="100000"/>
              </a:lnSpc>
              <a:defRPr sz="2800" b="1" i="0" u="none" strike="noStrike" spc="0">
                <a:solidFill>
                  <a:srgbClr val="000000">
                    <a:alpha val="100000"/>
                  </a:srgbClr>
                </a:solidFill>
                <a:latin typeface="Calibri" panose="020F0502020204030204"/>
              </a:defRPr>
            </a:lvl1pPr>
          </a:lstStyle>
          <a:p>
            <a:pPr marL="355600" indent="-355600" algn="l">
              <a:lnSpc>
                <a:spcPct val="100000"/>
              </a:lnSpc>
              <a:spcBef>
                <a:spcPts val="3000"/>
              </a:spcBef>
              <a:buClr>
                <a:srgbClr val="000000"/>
              </a:buClr>
              <a:buChar char="•"/>
            </a:pPr>
            <a:r>
              <a:rPr lang="en-US" sz="2800" b="1" i="0" u="none" strike="noStrike">
                <a:solidFill>
                  <a:srgbClr val="000000"/>
                </a:solidFill>
                <a:latin typeface="Calibri" panose="020F0502020204030204"/>
                <a:ea typeface="Calibri" panose="020F0502020204030204"/>
                <a:cs typeface="Calibri" panose="020F0502020204030204"/>
                <a:sym typeface="Calibri" panose="020F0502020204030204"/>
              </a:rPr>
              <a:t>KernelGen background</a:t>
            </a:r>
            <a:endParaRPr lang="en-US" sz="28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355600" indent="-355600" algn="l">
              <a:lnSpc>
                <a:spcPct val="100000"/>
              </a:lnSpc>
              <a:spcBef>
                <a:spcPts val="3000"/>
              </a:spcBef>
              <a:buClr>
                <a:srgbClr val="000000"/>
              </a:buClr>
              <a:buChar char="•"/>
            </a:pPr>
            <a:r>
              <a:rPr lang="en-US" sz="2800" b="1" i="0" u="none" strike="noStrike">
                <a:solidFill>
                  <a:srgbClr val="000000"/>
                </a:solidFill>
                <a:latin typeface="Calibri" panose="020F0502020204030204"/>
                <a:ea typeface="Calibri" panose="020F0502020204030204"/>
                <a:cs typeface="Calibri" panose="020F0502020204030204"/>
                <a:sym typeface="Calibri" panose="020F0502020204030204"/>
              </a:rPr>
              <a:t>KernelGen workflow</a:t>
            </a:r>
            <a:endParaRPr lang="en-US" sz="28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355600" indent="-355600" algn="l">
              <a:lnSpc>
                <a:spcPct val="100000"/>
              </a:lnSpc>
              <a:spcBef>
                <a:spcPts val="3000"/>
              </a:spcBef>
              <a:buClr>
                <a:srgbClr val="000000"/>
              </a:buClr>
              <a:buChar char="•"/>
            </a:pPr>
            <a:r>
              <a:rPr lang="en-US" sz="2800" b="1" i="0" u="none" strike="noStrike">
                <a:solidFill>
                  <a:srgbClr val="000000"/>
                </a:solidFill>
                <a:latin typeface="Calibri" panose="020F0502020204030204"/>
                <a:ea typeface="Calibri" panose="020F0502020204030204"/>
                <a:cs typeface="Calibri" panose="020F0502020204030204"/>
                <a:sym typeface="Calibri" panose="020F0502020204030204"/>
              </a:rPr>
              <a:t>Prompt engineering</a:t>
            </a:r>
            <a:endParaRPr lang="en-US" sz="28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marL="355600" indent="-355600" algn="l">
              <a:lnSpc>
                <a:spcPct val="100000"/>
              </a:lnSpc>
              <a:spcBef>
                <a:spcPts val="3000"/>
              </a:spcBef>
              <a:buClr>
                <a:srgbClr val="000000"/>
              </a:buClr>
              <a:buChar char="•"/>
            </a:pPr>
            <a:r>
              <a:rPr lang="en-US" sz="2800" b="1" i="0" u="none" strike="noStrike">
                <a:solidFill>
                  <a:srgbClr val="000000"/>
                </a:solidFill>
                <a:latin typeface="Calibri" panose="020F0502020204030204"/>
                <a:ea typeface="Calibri" panose="020F0502020204030204"/>
                <a:cs typeface="Calibri" panose="020F0502020204030204"/>
                <a:sym typeface="Calibri" panose="020F0502020204030204"/>
              </a:rPr>
              <a:t>KernelGen usage example</a:t>
            </a:r>
            <a:endParaRPr lang="en-US" sz="2800" b="1" i="0" u="none" strike="noStrike">
              <a:solidFill>
                <a:srgbClr val="00000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3000"/>
              </a:spcBef>
            </a:pPr>
          </a:p>
          <a:p>
            <a:pPr indent="0" algn="l">
              <a:lnSpc>
                <a:spcPct val="100000"/>
              </a:lnSpc>
              <a:spcBef>
                <a:spcPts val="3000"/>
              </a:spcBef>
            </a:pPr>
            <a:r>
              <a:rPr lang="en-US" sz="2800" b="0" i="0" u="none" strike="noStrike">
                <a:solidFill>
                  <a:srgbClr val="404040"/>
                </a:solidFill>
                <a:latin typeface="Ebrima" panose="02000000000000000000"/>
                <a:ea typeface="Ebrima" panose="02000000000000000000"/>
                <a:cs typeface="Ebrima" panose="02000000000000000000"/>
                <a:sym typeface="Ebrima" panose="02000000000000000000"/>
              </a:rPr>
              <a:t> </a:t>
            </a:r>
            <a:endParaRPr lang="en-US" sz="2800" b="0" i="0" u="none" strike="noStrike">
              <a:solidFill>
                <a:srgbClr val="404040"/>
              </a:solidFill>
              <a:latin typeface="Ebrima" panose="02000000000000000000"/>
              <a:ea typeface="Ebrima" panose="02000000000000000000"/>
              <a:cs typeface="Ebrima" panose="02000000000000000000"/>
              <a:sym typeface="Ebrima" panose="02000000000000000000"/>
            </a:endParaRPr>
          </a:p>
        </p:txBody>
      </p:sp>
      <p:sp>
        <p:nvSpPr>
          <p:cNvPr id="3" name="AutoShape 3"/>
          <p:cNvSpPr/>
          <p:nvPr>
            <p:ph type="body" sz="quarter" idx="20" hasCustomPrompt="1"/>
          </p:nvPr>
        </p:nvSpPr>
        <p:spPr>
          <a:prstGeom prst="rect">
            <a:avLst/>
          </a:prstGeom>
        </p:spPr>
        <p:txBody>
          <a:bodyPr wrap="square" lIns="91440" tIns="45720" rIns="91440" bIns="45720" anchor="ctr">
            <a:normAutofit/>
          </a:bodyPr>
          <a:lstStyle>
            <a:lvl1pPr algn="ctr">
              <a:lnSpc>
                <a:spcPct val="100000"/>
              </a:lnSpc>
              <a:defRPr sz="3200" b="1" i="0" u="none" strike="noStrike" spc="0">
                <a:solidFill>
                  <a:srgbClr val="FFFFFF">
                    <a:alpha val="100000"/>
                  </a:srgbClr>
                </a:solidFill>
                <a:latin typeface="微软雅黑" panose="020B0503020204020204" charset="-122"/>
              </a:defRPr>
            </a:lvl1pPr>
          </a:lstStyle>
          <a:p>
            <a:pPr indent="0" algn="ctr">
              <a:lnSpc>
                <a:spcPct val="100000"/>
              </a:lnSpc>
              <a:spcBef>
                <a:spcPts val="1500"/>
              </a:spcBef>
            </a:pPr>
            <a:r>
              <a:rPr lang="en-US" sz="3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目录</a:t>
            </a:r>
            <a:endParaRPr lang="en-US" sz="3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AutoShape 3"/>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nvSpPr>
        <p:spPr>
          <a:xfrm>
            <a:off x="762000" y="444500"/>
            <a:ext cx="10668000" cy="635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KernelGen background</a:t>
            </a:r>
            <a:endParaRPr lang="en-US" sz="1100"/>
          </a:p>
        </p:txBody>
      </p:sp>
      <p:sp>
        <p:nvSpPr>
          <p:cNvPr id="5" name="AutoShape 5"/>
          <p:cNvSpPr/>
          <p:nvPr/>
        </p:nvSpPr>
        <p:spPr>
          <a:xfrm>
            <a:off x="523875" y="1968500"/>
            <a:ext cx="5334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6" name="Picture 6"/>
          <p:cNvPicPr>
            <a:picLocks noChangeAspect="1"/>
          </p:cNvPicPr>
          <p:nvPr/>
        </p:nvPicPr>
        <p:blipFill>
          <a:blip r:embed="rId1"/>
          <a:srcRect/>
          <a:stretch>
            <a:fillRect/>
          </a:stretch>
        </p:blipFill>
        <p:spPr>
          <a:xfrm>
            <a:off x="714375" y="2159000"/>
            <a:ext cx="304800" cy="304800"/>
          </a:xfrm>
          <a:prstGeom prst="rect">
            <a:avLst/>
          </a:prstGeom>
          <a:ln w="12700">
            <a:noFill/>
            <a:prstDash val="solid"/>
          </a:ln>
        </p:spPr>
      </p:pic>
      <p:sp>
        <p:nvSpPr>
          <p:cNvPr id="7" name="AutoShape 7"/>
          <p:cNvSpPr/>
          <p:nvPr/>
        </p:nvSpPr>
        <p:spPr>
          <a:xfrm>
            <a:off x="1095375" y="2120900"/>
            <a:ext cx="4572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KernelGen core objectives</a:t>
            </a:r>
            <a:endParaRPr lang="en-US" sz="1100"/>
          </a:p>
        </p:txBody>
      </p:sp>
      <p:sp>
        <p:nvSpPr>
          <p:cNvPr id="8" name="AutoShape 8"/>
          <p:cNvSpPr/>
          <p:nvPr/>
        </p:nvSpPr>
        <p:spPr>
          <a:xfrm>
            <a:off x="1095375" y="2476500"/>
            <a:ext cx="4572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Utilizing AI technology to automatically generate GPU kernel code, achieving ultimate performance optimization for target hardware and resolving the challenges of manual programming.</a:t>
            </a:r>
            <a:endParaRPr lang="en-US" sz="1100"/>
          </a:p>
        </p:txBody>
      </p:sp>
      <p:sp>
        <p:nvSpPr>
          <p:cNvPr id="9" name="AutoShape 9"/>
          <p:cNvSpPr/>
          <p:nvPr/>
        </p:nvSpPr>
        <p:spPr>
          <a:xfrm>
            <a:off x="523875" y="3175000"/>
            <a:ext cx="5334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0" name="Picture 10"/>
          <p:cNvPicPr>
            <a:picLocks noChangeAspect="1"/>
          </p:cNvPicPr>
          <p:nvPr/>
        </p:nvPicPr>
        <p:blipFill>
          <a:blip r:embed="rId2"/>
          <a:srcRect/>
          <a:stretch>
            <a:fillRect/>
          </a:stretch>
        </p:blipFill>
        <p:spPr>
          <a:xfrm>
            <a:off x="714375" y="3365500"/>
            <a:ext cx="304800" cy="304800"/>
          </a:xfrm>
          <a:prstGeom prst="rect">
            <a:avLst/>
          </a:prstGeom>
          <a:ln w="12700">
            <a:noFill/>
            <a:prstDash val="solid"/>
          </a:ln>
        </p:spPr>
      </p:pic>
      <p:sp>
        <p:nvSpPr>
          <p:cNvPr id="11" name="AutoShape 11"/>
          <p:cNvSpPr/>
          <p:nvPr/>
        </p:nvSpPr>
        <p:spPr>
          <a:xfrm>
            <a:off x="1095375" y="3327400"/>
            <a:ext cx="4572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The industry faces challenges</a:t>
            </a:r>
            <a:endParaRPr lang="en-US" sz="1100"/>
          </a:p>
        </p:txBody>
      </p:sp>
      <p:sp>
        <p:nvSpPr>
          <p:cNvPr id="12" name="AutoShape 12"/>
          <p:cNvSpPr/>
          <p:nvPr/>
        </p:nvSpPr>
        <p:spPr>
          <a:xfrm>
            <a:off x="1095375" y="3683000"/>
            <a:ext cx="4572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The GPU programming model is complex, with large differences between architectures, lacking general optimization strategies, and having extremely high thresholds for parallel computing scheduling and memory management.</a:t>
            </a:r>
            <a:endParaRPr lang="en-US" sz="1100"/>
          </a:p>
        </p:txBody>
      </p:sp>
      <p:sp>
        <p:nvSpPr>
          <p:cNvPr id="13" name="AutoShape 13"/>
          <p:cNvSpPr/>
          <p:nvPr/>
        </p:nvSpPr>
        <p:spPr>
          <a:xfrm>
            <a:off x="523875" y="4381500"/>
            <a:ext cx="5334000" cy="1079500"/>
          </a:xfrm>
          <a:prstGeom prst="roundRect">
            <a:avLst>
              <a:gd name="adj" fmla="val 11764"/>
            </a:avLst>
          </a:prstGeom>
          <a:solidFill>
            <a:srgbClr val="FEF2F2">
              <a:alpha val="100000"/>
            </a:srgbClr>
          </a:solidFill>
          <a:ln w="12700" cap="flat" cmpd="sng">
            <a:solidFill>
              <a:srgbClr val="E5C3C3">
                <a:alpha val="100000"/>
              </a:srgbClr>
            </a:solidFill>
            <a:prstDash val="solid"/>
            <a:round/>
          </a:ln>
        </p:spPr>
        <p:txBody>
          <a:bodyPr vert="horz" wrap="square" lIns="63500" tIns="63500" rIns="63500" bIns="63500" rtlCol="0" anchor="ctr">
            <a:noAutofit/>
          </a:bodyPr>
          <a:lstStyle/>
          <a:p>
            <a:pPr indent="0" algn="ctr">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14" name="Picture 14"/>
          <p:cNvPicPr>
            <a:picLocks noChangeAspect="1"/>
          </p:cNvPicPr>
          <p:nvPr/>
        </p:nvPicPr>
        <p:blipFill>
          <a:blip r:embed="rId3"/>
          <a:srcRect/>
          <a:stretch>
            <a:fillRect/>
          </a:stretch>
        </p:blipFill>
        <p:spPr>
          <a:xfrm>
            <a:off x="714375" y="4572000"/>
            <a:ext cx="304800" cy="304800"/>
          </a:xfrm>
          <a:prstGeom prst="rect">
            <a:avLst/>
          </a:prstGeom>
          <a:ln w="12700">
            <a:noFill/>
            <a:prstDash val="solid"/>
          </a:ln>
        </p:spPr>
      </p:pic>
      <p:sp>
        <p:nvSpPr>
          <p:cNvPr id="15" name="AutoShape 15"/>
          <p:cNvSpPr/>
          <p:nvPr/>
        </p:nvSpPr>
        <p:spPr>
          <a:xfrm>
            <a:off x="1095375" y="4533900"/>
            <a:ext cx="4572000" cy="3556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600" b="1" i="0" u="none" strike="noStrike">
                <a:solidFill>
                  <a:srgbClr val="DC2626"/>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value of the project</a:t>
            </a:r>
            <a:endParaRPr lang="en-US" sz="1100"/>
          </a:p>
        </p:txBody>
      </p:sp>
      <p:sp>
        <p:nvSpPr>
          <p:cNvPr id="16" name="AutoShape 16"/>
          <p:cNvSpPr/>
          <p:nvPr/>
        </p:nvSpPr>
        <p:spPr>
          <a:xfrm>
            <a:off x="1095375" y="4889500"/>
            <a:ext cx="4572000" cy="508000"/>
          </a:xfrm>
          <a:prstGeom prst="rect">
            <a:avLst/>
          </a:prstGeom>
          <a:noFill/>
          <a:ln w="12700" cap="flat" cmpd="sng">
            <a:noFill/>
            <a:prstDash val="solid"/>
            <a:round/>
          </a:ln>
        </p:spPr>
        <p:txBody>
          <a:bodyPr vert="horz" wrap="square" lIns="0" tIns="0" rIns="0" bIns="0" rtlCol="0" anchor="ctr">
            <a:noAutofit/>
          </a:bodyPr>
          <a:lstStyle/>
          <a:p>
            <a:pPr indent="0" algn="l">
              <a:lnSpc>
                <a:spcPct val="125000"/>
              </a:lnSpc>
              <a:defRPr/>
            </a:pPr>
            <a:r>
              <a:rPr lang="en-US" sz="10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Significantly lowering the threshold for GPU application development, unleashing the potential of hardware computing power, and improving the execution efficiency of computing tasks as well as resource utilization.</a:t>
            </a:r>
            <a:endParaRPr lang="en-US" sz="1100"/>
          </a:p>
        </p:txBody>
      </p:sp>
      <p:pic>
        <p:nvPicPr>
          <p:cNvPr id="17" name="Picture 17"/>
          <p:cNvPicPr>
            <a:picLocks noChangeAspect="1"/>
          </p:cNvPicPr>
          <p:nvPr/>
        </p:nvPicPr>
        <p:blipFill>
          <a:blip r:embed="rId4"/>
          <a:srcRect/>
          <a:stretch>
            <a:fillRect/>
          </a:stretch>
        </p:blipFill>
        <p:spPr>
          <a:xfrm>
            <a:off x="6597650" y="1139825"/>
            <a:ext cx="4832350" cy="514921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Noto Sans SC" panose="020B0200000000000000" charset="-122"/>
              </a:defRPr>
            </a:lvl1pPr>
          </a:lstStyle>
          <a:p>
            <a:pPr indent="0" algn="l">
              <a:lnSpc>
                <a:spcPct val="100000"/>
              </a:lnSpc>
            </a:pPr>
            <a:r>
              <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KernelGen workflow</a:t>
            </a:r>
            <a:endParaRPr lang="en-US" sz="3600" b="1" i="0" u="none" strike="noStrike">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4" name="AutoShape 4"/>
          <p:cNvSpPr/>
          <p:nvPr>
            <p:ph type="body" sz="quarter" idx="12" hasCustomPrompt="1"/>
          </p:nvPr>
        </p:nvSpPr>
        <p:spPr>
          <a:prstGeom prst="rect">
            <a:avLst/>
          </a:prstGeom>
        </p:spPr>
        <p:txBody>
          <a:bodyPr wrap="square" lIns="91440" tIns="45720" rIns="91440" bIns="45720" anchor="t">
            <a:normAutofit lnSpcReduction="20000"/>
          </a:bodyPr>
          <a:lstStyle>
            <a:lvl1pPr algn="l">
              <a:lnSpc>
                <a:spcPct val="108000"/>
              </a:lnSpc>
              <a:defRPr sz="1700" b="0" i="0" u="none" strike="noStrike" spc="0">
                <a:solidFill>
                  <a:srgbClr val="404040">
                    <a:alpha val="100000"/>
                  </a:srgbClr>
                </a:solidFill>
                <a:latin typeface="Calibri" panose="020F0502020204030204"/>
              </a:defRPr>
            </a:lvl1pPr>
          </a:lstStyle>
          <a:p>
            <a:pPr marL="215900" indent="-215900" algn="l">
              <a:lnSpc>
                <a:spcPct val="108000"/>
              </a:lnSpc>
              <a:spcBef>
                <a:spcPts val="150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Collect kernel information</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8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The user inputs the operator definition semantics to KernelGen.</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15900" indent="-215900" algn="l">
              <a:lnSpc>
                <a:spcPct val="108000"/>
              </a:lnSpc>
              <a:spcBef>
                <a:spcPts val="150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Search code snippets</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8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KernelGen searches for code snippets similar to user-defined ones as referencesKernelGen.</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15900" indent="-215900" algn="l">
              <a:lnSpc>
                <a:spcPct val="108000"/>
              </a:lnSpc>
              <a:spcBef>
                <a:spcPts val="150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Generate kernel code and CUDA version benchmark implementation code</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8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KernelGen generates Kernel code and CUDA-based benchmark implementation code.</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15900" indent="-215900" algn="l">
              <a:lnSpc>
                <a:spcPct val="108000"/>
              </a:lnSpc>
              <a:spcBef>
                <a:spcPts val="1500"/>
              </a:spcBef>
              <a:buClr>
                <a:srgbClr val="404040"/>
              </a:buClr>
              <a:buChar char="•"/>
            </a:pPr>
            <a:r>
              <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rPr>
              <a:t>Based on the CUDA version of the benchmark implementation code, test the Kernel</a:t>
            </a:r>
            <a:endParaRPr lang="en-US" sz="17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8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KernelGen benchmarks kernels based on PyTorch and outputs test results for correctness and speedup ratios.</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6" name="Picture 6"/>
          <p:cNvPicPr>
            <a:picLocks noChangeAspect="1"/>
          </p:cNvPicPr>
          <p:nvPr/>
        </p:nvPicPr>
        <p:blipFill>
          <a:blip r:embed="rId1"/>
          <a:srcRect t="1310" b="1309"/>
          <a:stretch>
            <a:fillRect/>
          </a:stretch>
        </p:blipFill>
        <p:spPr>
          <a:xfrm>
            <a:off x="8107045" y="883285"/>
            <a:ext cx="3319780" cy="583819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262626">
                    <a:alpha val="100000"/>
                  </a:srgbClr>
                </a:solidFill>
                <a:latin typeface="Calibri" panose="020F0502020204030204"/>
              </a:defRPr>
            </a:lvl1pPr>
          </a:lstStyle>
          <a:p>
            <a:pPr indent="0" algn="l">
              <a:lnSpc>
                <a:spcPct val="100000"/>
              </a:lnSpc>
            </a:pPr>
            <a:r>
              <a:rPr lang="en-US" sz="3600" b="1" i="0" u="none" strike="noStrike">
                <a:solidFill>
                  <a:srgbClr val="262626"/>
                </a:solidFill>
                <a:latin typeface="Calibri" panose="020F0502020204030204"/>
                <a:ea typeface="Calibri" panose="020F0502020204030204"/>
                <a:cs typeface="Calibri" panose="020F0502020204030204"/>
                <a:sym typeface="Calibri" panose="020F0502020204030204"/>
              </a:rPr>
              <a:t>Prompt engineering</a:t>
            </a:r>
            <a:endParaRPr lang="en-US" sz="3600" b="1"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ChangeAspect="1"/>
          </p:cNvPicPr>
          <p:nvPr/>
        </p:nvPicPr>
        <p:blipFill>
          <a:blip r:embed="rId1"/>
          <a:srcRect/>
          <a:stretch>
            <a:fillRect/>
          </a:stretch>
        </p:blipFill>
        <p:spPr>
          <a:xfrm>
            <a:off x="1687577" y="1378026"/>
            <a:ext cx="8950286" cy="474485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Calibri" panose="020F0502020204030204"/>
              </a:defRPr>
            </a:lvl1pPr>
          </a:lstStyle>
          <a:p>
            <a:pPr indent="0" algn="l">
              <a:lnSpc>
                <a:spcPct val="100000"/>
              </a:lnSpc>
            </a:pP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KernelGen usage example</a:t>
            </a:r>
            <a:endPar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Generate a ReLU Kernel using KernelGen</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hlinkClick r:id="rId1" tooltip="https://kernelgen.flagos.io/home"/>
              </a:rPr>
              <a:t>https://kernelgen.flagos.io/home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2"/>
          <a:srcRect t="3784" b="3784"/>
          <a:stretch>
            <a:fillRect/>
          </a:stretch>
        </p:blipFill>
        <p:spPr>
          <a:xfrm>
            <a:off x="1868805" y="2009775"/>
            <a:ext cx="8238490" cy="450532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262626">
                    <a:alpha val="100000"/>
                  </a:srgbClr>
                </a:solidFill>
                <a:latin typeface="Calibri" panose="020F0502020204030204"/>
              </a:defRPr>
            </a:lvl1pPr>
          </a:lstStyle>
          <a:p>
            <a:pPr indent="0" algn="l">
              <a:lnSpc>
                <a:spcPct val="100000"/>
              </a:lnSpc>
            </a:pPr>
            <a:r>
              <a:rPr lang="en-US" sz="3600" b="1" i="0" u="none" strike="noStrike">
                <a:solidFill>
                  <a:srgbClr val="262626"/>
                </a:solidFill>
                <a:latin typeface="Calibri" panose="020F0502020204030204"/>
                <a:ea typeface="Calibri" panose="020F0502020204030204"/>
                <a:cs typeface="Calibri" panose="020F0502020204030204"/>
                <a:sym typeface="Calibri" panose="020F0502020204030204"/>
              </a:rPr>
              <a:t>KernelGen usage example</a:t>
            </a:r>
            <a:endParaRPr lang="en-US" sz="3600" b="1"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Clear, high-quality prompt</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41680" y="1870075"/>
            <a:ext cx="11236325" cy="1723390"/>
          </a:xfrm>
          <a:prstGeom prst="rect">
            <a:avLst/>
          </a:prstGeom>
          <a:ln w="12700">
            <a:noFill/>
            <a:prstDash val="solid"/>
          </a:ln>
        </p:spPr>
      </p:pic>
      <p:sp>
        <p:nvSpPr>
          <p:cNvPr id="7" name="AutoShape 7"/>
          <p:cNvSpPr/>
          <p:nvPr/>
        </p:nvSpPr>
        <p:spPr>
          <a:xfrm>
            <a:off x="523875" y="3843020"/>
            <a:ext cx="11404600" cy="2461260"/>
          </a:xfrm>
          <a:prstGeom prst="rect">
            <a:avLst/>
          </a:prstGeom>
          <a:noFill/>
          <a:ln w="12700">
            <a:noFill/>
            <a:prstDash val="solid"/>
          </a:ln>
        </p:spPr>
        <p:txBody>
          <a:bodyPr vert="horz" wrap="square" lIns="91440" tIns="45720" rIns="91440" bIns="45720" rtlCol="0" anchor="t">
            <a:normAutofit/>
          </a:bodyPr>
          <a:lstStyle/>
          <a:p>
            <a:pPr marL="304800" indent="-304800" algn="l">
              <a:lnSpc>
                <a:spcPct val="100000"/>
              </a:lnSpc>
              <a:spcBef>
                <a:spcPts val="1500"/>
              </a:spcBef>
              <a:buClr>
                <a:srgbClr val="404040"/>
              </a:buClr>
              <a:buChar char="•"/>
              <a:defRP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Vague, low-quality prompt</a:t>
            </a:r>
            <a:r>
              <a:rPr lang="en-US" sz="24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8" name="Picture 8"/>
          <p:cNvPicPr>
            <a:picLocks noChangeAspect="1"/>
          </p:cNvPicPr>
          <p:nvPr/>
        </p:nvPicPr>
        <p:blipFill>
          <a:blip r:embed="rId2"/>
          <a:srcRect/>
          <a:stretch>
            <a:fillRect/>
          </a:stretch>
        </p:blipFill>
        <p:spPr>
          <a:xfrm>
            <a:off x="741680" y="4418965"/>
            <a:ext cx="10930890" cy="166560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262626">
                    <a:alpha val="100000"/>
                  </a:srgbClr>
                </a:solidFill>
                <a:latin typeface="Calibri" panose="020F0502020204030204"/>
              </a:defRPr>
            </a:lvl1pPr>
          </a:lstStyle>
          <a:p>
            <a:pPr indent="0" algn="l">
              <a:lnSpc>
                <a:spcPct val="100000"/>
              </a:lnSpc>
            </a:pPr>
            <a:r>
              <a:rPr lang="en-US" sz="3600" b="1" i="0" u="none" strike="noStrike">
                <a:solidFill>
                  <a:srgbClr val="262626"/>
                </a:solidFill>
                <a:latin typeface="Calibri" panose="020F0502020204030204"/>
                <a:ea typeface="Calibri" panose="020F0502020204030204"/>
                <a:cs typeface="Calibri" panose="020F0502020204030204"/>
                <a:sym typeface="Calibri" panose="020F0502020204030204"/>
              </a:rPr>
              <a:t>KernelGen usage example</a:t>
            </a:r>
            <a:endParaRPr lang="en-US" sz="3600" b="1"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ChangeAspect="1"/>
          </p:cNvPicPr>
          <p:nvPr>
            <p:ph type="body" sz="quarter" idx="9"/>
          </p:nvPr>
        </p:nvPicPr>
        <p:blipFill>
          <a:blip r:embed="rId1"/>
          <a:srcRect/>
          <a:stretch>
            <a:fillRect/>
          </a:stretch>
        </p:blipFill>
        <p:spPr>
          <a:xfrm>
            <a:off x="523875" y="1565475"/>
            <a:ext cx="11277600" cy="4369987"/>
          </a:xfrm>
          <a:prstGeom prst="rect">
            <a:avLst/>
          </a:prstGeom>
        </p:spPr>
      </p:pic>
      <p:sp>
        <p:nvSpPr>
          <p:cNvPr id="6" name="AutoShape 6"/>
          <p:cNvSpPr/>
          <p:nvPr/>
        </p:nvSpPr>
        <p:spPr>
          <a:xfrm>
            <a:off x="8154670" y="3931920"/>
            <a:ext cx="2770505" cy="92202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ED7D31"/>
                </a:solidFill>
                <a:latin typeface="Arial" panose="020B0604020202020204"/>
                <a:ea typeface="Arial" panose="020B0604020202020204"/>
                <a:cs typeface="Arial" panose="020B0604020202020204"/>
                <a:sym typeface="Arial" panose="020B0604020202020204"/>
              </a:rPr>
              <a:t>Select the appropriate reference code and click next.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262626">
                    <a:alpha val="100000"/>
                  </a:srgbClr>
                </a:solidFill>
                <a:latin typeface="Calibri" panose="020F0502020204030204"/>
              </a:defRPr>
            </a:lvl1pPr>
          </a:lstStyle>
          <a:p>
            <a:pPr indent="0" algn="l">
              <a:lnSpc>
                <a:spcPct val="100000"/>
              </a:lnSpc>
            </a:pPr>
            <a:r>
              <a:rPr lang="en-US" sz="3600" b="1" i="0" u="none" strike="noStrike">
                <a:solidFill>
                  <a:srgbClr val="262626"/>
                </a:solidFill>
                <a:latin typeface="Calibri" panose="020F0502020204030204"/>
                <a:ea typeface="Calibri" panose="020F0502020204030204"/>
                <a:cs typeface="Calibri" panose="020F0502020204030204"/>
                <a:sym typeface="Calibri" panose="020F0502020204030204"/>
              </a:rPr>
              <a:t>KernelGen usage example</a:t>
            </a:r>
            <a:endParaRPr lang="en-US" sz="3600" b="1"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ChangeAspect="1"/>
          </p:cNvPicPr>
          <p:nvPr>
            <p:ph type="body" sz="quarter" idx="9"/>
          </p:nvPr>
        </p:nvPicPr>
        <p:blipFill>
          <a:blip r:embed="rId1"/>
          <a:srcRect/>
          <a:stretch>
            <a:fillRect/>
          </a:stretch>
        </p:blipFill>
        <p:spPr>
          <a:xfrm>
            <a:off x="2518480" y="1749425"/>
            <a:ext cx="6754990" cy="4852988"/>
          </a:xfrm>
          <a:prstGeom prst="rect">
            <a:avLst/>
          </a:prstGeom>
        </p:spPr>
      </p:pic>
      <p:sp>
        <p:nvSpPr>
          <p:cNvPr id="6" name="AutoShape 6"/>
          <p:cNvSpPr/>
          <p:nvPr/>
        </p:nvSpPr>
        <p:spPr>
          <a:xfrm>
            <a:off x="523875" y="1152525"/>
            <a:ext cx="6976803" cy="693268"/>
          </a:xfrm>
          <a:prstGeom prst="rect">
            <a:avLst/>
          </a:prstGeom>
          <a:noFill/>
          <a:ln w="12700">
            <a:noFill/>
            <a:prstDash val="solid"/>
          </a:ln>
        </p:spPr>
        <p:txBody>
          <a:bodyPr wrap="square" lIns="91440" tIns="45720" rIns="91440" bIns="45720" rtlCol="0" anchor="t">
            <a:noAutofit/>
          </a:bodyPr>
          <a:lstStyle/>
          <a:p>
            <a:pPr indent="0" algn="l">
              <a:lnSpc>
                <a:spcPct val="108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Fill in the operator details to further enhance the prompt:</a:t>
            </a:r>
            <a:endParaRPr lang="en-US" sz="1100"/>
          </a:p>
        </p:txBody>
      </p:sp>
      <p:sp>
        <p:nvSpPr>
          <p:cNvPr id="7" name="AutoShape 7"/>
          <p:cNvSpPr/>
          <p:nvPr/>
        </p:nvSpPr>
        <p:spPr>
          <a:xfrm>
            <a:off x="9472930" y="2423160"/>
            <a:ext cx="2407285" cy="52197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400" b="0" i="0" u="none" strike="noStrike">
                <a:solidFill>
                  <a:srgbClr val="ED7D31"/>
                </a:solidFill>
                <a:latin typeface="Arial" panose="020B0604020202020204"/>
                <a:ea typeface="Arial" panose="020B0604020202020204"/>
                <a:cs typeface="Arial" panose="020B0604020202020204"/>
                <a:sym typeface="Arial" panose="020B0604020202020204"/>
              </a:rPr>
              <a:t>The operator name must be in English.</a:t>
            </a:r>
            <a:endParaRPr lang="en-US" sz="1100"/>
          </a:p>
        </p:txBody>
      </p:sp>
      <p:sp>
        <p:nvSpPr>
          <p:cNvPr id="8" name="AutoShape 8"/>
          <p:cNvSpPr/>
          <p:nvPr/>
        </p:nvSpPr>
        <p:spPr>
          <a:xfrm>
            <a:off x="327620" y="2708529"/>
            <a:ext cx="1809790" cy="2250186"/>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ED7D31"/>
                </a:solidFill>
                <a:latin typeface="Arial" panose="020B0604020202020204"/>
                <a:ea typeface="Arial" panose="020B0604020202020204"/>
                <a:cs typeface="Arial" panose="020B0604020202020204"/>
                <a:sym typeface="Arial" panose="020B0604020202020204"/>
              </a:rPr>
              <a:t>The evaluation equipment currently supports NVIDIA, Tianshu, Hygon, Huawei, and Moore Threads.</a:t>
            </a:r>
            <a:endParaRPr lang="en-US" sz="1100"/>
          </a:p>
        </p:txBody>
      </p:sp>
      <p:sp>
        <p:nvSpPr>
          <p:cNvPr id="9" name="AutoShape 9"/>
          <p:cNvSpPr/>
          <p:nvPr/>
        </p:nvSpPr>
        <p:spPr>
          <a:xfrm>
            <a:off x="426062" y="4500923"/>
            <a:ext cx="1711325" cy="2030095"/>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400" b="0" i="0" u="none" strike="noStrike">
                <a:solidFill>
                  <a:srgbClr val="ED7D31"/>
                </a:solidFill>
                <a:latin typeface="Arial" panose="020B0604020202020204"/>
                <a:ea typeface="Arial" panose="020B0604020202020204"/>
                <a:cs typeface="Arial" panose="020B0604020202020204"/>
                <a:sym typeface="Arial" panose="020B0604020202020204"/>
              </a:rPr>
              <a:t>A higher number of iterations typically results in better-generated operators, with a single iteration of a simple operator usually taking 2~3 minutes.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Calibri" panose="020F0502020204030204"/>
              </a:defRPr>
            </a:lvl1pPr>
          </a:lstStyle>
          <a:p>
            <a:pPr indent="0" algn="l">
              <a:lnSpc>
                <a:spcPct val="100000"/>
              </a:lnSpc>
            </a:pP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KernelGen usage example</a:t>
            </a:r>
            <a:endPar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ChangeAspect="1"/>
          </p:cNvPicPr>
          <p:nvPr>
            <p:ph type="body" sz="quarter" idx="9"/>
          </p:nvPr>
        </p:nvPicPr>
        <p:blipFill>
          <a:blip r:embed="rId1"/>
          <a:srcRect/>
          <a:stretch>
            <a:fillRect/>
          </a:stretch>
        </p:blipFill>
        <p:spPr>
          <a:xfrm>
            <a:off x="858119" y="1685925"/>
            <a:ext cx="9237512" cy="4852988"/>
          </a:xfrm>
          <a:prstGeom prst="rect">
            <a:avLst/>
          </a:prstGeom>
        </p:spPr>
      </p:pic>
      <p:sp>
        <p:nvSpPr>
          <p:cNvPr id="6" name="AutoShape 6"/>
          <p:cNvSpPr/>
          <p:nvPr/>
        </p:nvSpPr>
        <p:spPr>
          <a:xfrm>
            <a:off x="799465" y="1228725"/>
            <a:ext cx="10382664" cy="645160"/>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Start generating kernel, CUDA implementation, correctness test cases, and speedup test cases: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Calibri" panose="020F0502020204030204"/>
              </a:defRPr>
            </a:lvl1pPr>
          </a:lstStyle>
          <a:p>
            <a:pPr indent="0" algn="l">
              <a:lnSpc>
                <a:spcPct val="100000"/>
              </a:lnSpc>
            </a:pP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KernelGen usage example</a:t>
            </a:r>
            <a:endPar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ChangeAspect="1"/>
          </p:cNvPicPr>
          <p:nvPr>
            <p:ph type="body" sz="quarter" idx="9"/>
          </p:nvPr>
        </p:nvPicPr>
        <p:blipFill>
          <a:blip r:embed="rId1"/>
          <a:srcRect/>
          <a:stretch>
            <a:fillRect/>
          </a:stretch>
        </p:blipFill>
        <p:spPr>
          <a:xfrm>
            <a:off x="3385542" y="1323975"/>
            <a:ext cx="5554265" cy="4852988"/>
          </a:xfrm>
          <a:prstGeom prst="rect">
            <a:avLst/>
          </a:prstGeom>
        </p:spPr>
      </p:pic>
      <p:sp>
        <p:nvSpPr>
          <p:cNvPr id="6" name="AutoShape 6"/>
          <p:cNvSpPr/>
          <p:nvPr/>
        </p:nvSpPr>
        <p:spPr>
          <a:xfrm>
            <a:off x="799465" y="1228725"/>
            <a:ext cx="8354695"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kernel</a:t>
            </a: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Calibri" panose="020F0502020204030204"/>
              </a:defRPr>
            </a:lvl1pPr>
          </a:lstStyle>
          <a:p>
            <a:pPr indent="0" algn="l">
              <a:lnSpc>
                <a:spcPct val="100000"/>
              </a:lnSpc>
            </a:pP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KernelGen usage example</a:t>
            </a:r>
            <a:endPar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ChangeAspect="1"/>
          </p:cNvPicPr>
          <p:nvPr>
            <p:ph type="body" sz="quarter" idx="9"/>
          </p:nvPr>
        </p:nvPicPr>
        <p:blipFill>
          <a:blip r:embed="rId1"/>
          <a:srcRect/>
          <a:stretch>
            <a:fillRect/>
          </a:stretch>
        </p:blipFill>
        <p:spPr>
          <a:xfrm>
            <a:off x="523875" y="1631189"/>
            <a:ext cx="11277600" cy="4238560"/>
          </a:xfrm>
          <a:prstGeom prst="rect">
            <a:avLst/>
          </a:prstGeom>
        </p:spPr>
      </p:pic>
      <p:sp>
        <p:nvSpPr>
          <p:cNvPr id="6" name="AutoShape 6"/>
          <p:cNvSpPr/>
          <p:nvPr/>
        </p:nvSpPr>
        <p:spPr>
          <a:xfrm>
            <a:off x="799465" y="1228725"/>
            <a:ext cx="8354695"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CUDA</a:t>
            </a: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Calibri" panose="020F0502020204030204"/>
              </a:defRPr>
            </a:lvl1pPr>
          </a:lstStyle>
          <a:p>
            <a:pPr indent="0" algn="l">
              <a:lnSpc>
                <a:spcPct val="100000"/>
              </a:lnSpc>
            </a:pP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KernelGen usage example</a:t>
            </a:r>
            <a:endPar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ChangeAspect="1"/>
          </p:cNvPicPr>
          <p:nvPr>
            <p:ph type="body" sz="quarter" idx="9"/>
          </p:nvPr>
        </p:nvPicPr>
        <p:blipFill>
          <a:blip r:embed="rId1"/>
          <a:srcRect/>
          <a:stretch>
            <a:fillRect/>
          </a:stretch>
        </p:blipFill>
        <p:spPr>
          <a:xfrm>
            <a:off x="906694" y="1592580"/>
            <a:ext cx="9288951" cy="4852988"/>
          </a:xfrm>
          <a:prstGeom prst="rect">
            <a:avLst/>
          </a:prstGeom>
        </p:spPr>
      </p:pic>
      <p:sp>
        <p:nvSpPr>
          <p:cNvPr id="6" name="AutoShape 6"/>
          <p:cNvSpPr/>
          <p:nvPr/>
        </p:nvSpPr>
        <p:spPr>
          <a:xfrm>
            <a:off x="839470" y="1178560"/>
            <a:ext cx="3192780"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correctness test cases</a:t>
            </a: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Calibri" panose="020F0502020204030204"/>
              </a:defRPr>
            </a:lvl1pPr>
          </a:lstStyle>
          <a:p>
            <a:pPr indent="0" algn="l">
              <a:lnSpc>
                <a:spcPct val="100000"/>
              </a:lnSpc>
            </a:pP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KernelGen usage example</a:t>
            </a:r>
            <a:endPar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ChangeAspect="1"/>
          </p:cNvPicPr>
          <p:nvPr>
            <p:ph type="body" sz="quarter" idx="9"/>
          </p:nvPr>
        </p:nvPicPr>
        <p:blipFill>
          <a:blip r:embed="rId1"/>
          <a:srcRect/>
          <a:stretch>
            <a:fillRect/>
          </a:stretch>
        </p:blipFill>
        <p:spPr>
          <a:xfrm>
            <a:off x="981156" y="1503045"/>
            <a:ext cx="6375238" cy="4852988"/>
          </a:xfrm>
          <a:prstGeom prst="rect">
            <a:avLst/>
          </a:prstGeom>
        </p:spPr>
      </p:pic>
      <p:sp>
        <p:nvSpPr>
          <p:cNvPr id="6" name="AutoShape 6"/>
          <p:cNvSpPr/>
          <p:nvPr/>
        </p:nvSpPr>
        <p:spPr>
          <a:xfrm>
            <a:off x="939800" y="1087755"/>
            <a:ext cx="4584700" cy="36830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speedup test cases</a:t>
            </a:r>
            <a:r>
              <a:rPr lang="en-US" sz="18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000000">
                    <a:alpha val="100000"/>
                  </a:srgbClr>
                </a:solidFill>
                <a:latin typeface="Calibri" panose="020F0502020204030204"/>
              </a:defRPr>
            </a:lvl1pPr>
          </a:lstStyle>
          <a:p>
            <a:pPr indent="0" algn="l">
              <a:lnSpc>
                <a:spcPct val="100000"/>
              </a:lnSpc>
            </a:pPr>
            <a:r>
              <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rPr>
              <a:t>KernelGen usage example</a:t>
            </a:r>
            <a:endParaRPr lang="en-US" sz="3600" b="1" i="0" u="none" strike="noStrike">
              <a:solidFill>
                <a:srgbClr val="000000"/>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5" name="Picture 5"/>
          <p:cNvPicPr>
            <a:picLocks noChangeAspect="1"/>
          </p:cNvPicPr>
          <p:nvPr>
            <p:ph type="body" sz="quarter" idx="9"/>
          </p:nvPr>
        </p:nvPicPr>
        <p:blipFill>
          <a:blip r:embed="rId1"/>
          <a:srcRect/>
          <a:stretch>
            <a:fillRect/>
          </a:stretch>
        </p:blipFill>
        <p:spPr>
          <a:xfrm>
            <a:off x="4911605" y="1323975"/>
            <a:ext cx="2502139" cy="4852988"/>
          </a:xfrm>
          <a:prstGeom prst="rect">
            <a:avLst/>
          </a:prstGeom>
        </p:spPr>
      </p:pic>
      <p:pic>
        <p:nvPicPr>
          <p:cNvPr id="6" name="Picture 6"/>
          <p:cNvPicPr>
            <a:picLocks noChangeAspect="1"/>
          </p:cNvPicPr>
          <p:nvPr/>
        </p:nvPicPr>
        <p:blipFill>
          <a:blip r:embed="rId2"/>
          <a:srcRect/>
          <a:stretch>
            <a:fillRect/>
          </a:stretch>
        </p:blipFill>
        <p:spPr>
          <a:xfrm>
            <a:off x="3921125" y="1094740"/>
            <a:ext cx="5493385" cy="5394325"/>
          </a:xfrm>
          <a:prstGeom prst="rect">
            <a:avLst/>
          </a:prstGeom>
          <a:ln w="12700">
            <a:noFill/>
            <a:prstDash val="solid"/>
          </a:ln>
        </p:spPr>
      </p:pic>
      <p:sp>
        <p:nvSpPr>
          <p:cNvPr id="7" name="AutoShape 7"/>
          <p:cNvSpPr/>
          <p:nvPr/>
        </p:nvSpPr>
        <p:spPr>
          <a:xfrm>
            <a:off x="523875" y="2009140"/>
            <a:ext cx="1584960" cy="2527935"/>
          </a:xfrm>
          <a:prstGeom prst="rect">
            <a:avLst/>
          </a:prstGeom>
          <a:noFill/>
          <a:ln w="12700">
            <a:noFill/>
            <a:prstDash val="solid"/>
          </a:ln>
        </p:spPr>
        <p:txBody>
          <a:bodyPr wrap="square" lIns="91440" tIns="45720" rIns="91440" bIns="45720" rtlCol="0" anchor="t">
            <a:spAutoFit/>
          </a:bodyPr>
          <a:lstStyle/>
          <a:p>
            <a:pPr indent="0" algn="l">
              <a:lnSpc>
                <a:spcPct val="108000"/>
              </a:lnSpc>
              <a:defRPr/>
            </a:pPr>
            <a:r>
              <a:rPr lang="en-US" sz="1800" b="0" i="0" u="none" strike="noStrike">
                <a:solidFill>
                  <a:srgbClr val="ED7D31"/>
                </a:solidFill>
                <a:latin typeface="Arial" panose="020B0604020202020204"/>
                <a:ea typeface="Arial" panose="020B0604020202020204"/>
                <a:cs typeface="Arial" panose="020B0604020202020204"/>
                <a:sym typeface="Arial" panose="020B0604020202020204"/>
              </a:rPr>
              <a:t>After each iteration, you may choose to use the existing code or manually modify and test it again.</a:t>
            </a:r>
            <a:endParaRPr lang="en-US" sz="1100"/>
          </a:p>
        </p:txBody>
      </p:sp>
      <p:sp>
        <p:nvSpPr>
          <p:cNvPr id="8" name="AutoShape 8"/>
          <p:cNvSpPr/>
          <p:nvPr/>
        </p:nvSpPr>
        <p:spPr>
          <a:xfrm>
            <a:off x="10707370" y="1946910"/>
            <a:ext cx="1544955" cy="3138170"/>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800" b="0" i="0" u="none" strike="noStrike">
                <a:solidFill>
                  <a:srgbClr val="ED7D31"/>
                </a:solidFill>
                <a:latin typeface="Arial" panose="020B0604020202020204"/>
                <a:ea typeface="Arial" panose="020B0604020202020204"/>
                <a:cs typeface="Arial" panose="020B0604020202020204"/>
                <a:sym typeface="Arial" panose="020B0604020202020204"/>
              </a:rPr>
              <a:t>The specific time consumption of the kernel and corresponding CUDA implementation across various test cases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1" i="0" u="none" strike="noStrike" spc="0">
                <a:solidFill>
                  <a:srgbClr val="262626">
                    <a:alpha val="100000"/>
                  </a:srgbClr>
                </a:solidFill>
                <a:latin typeface="Calibri" panose="020F0502020204030204"/>
              </a:defRPr>
            </a:lvl1pPr>
          </a:lstStyle>
          <a:p>
            <a:pPr indent="0" algn="l">
              <a:lnSpc>
                <a:spcPct val="100000"/>
              </a:lnSpc>
            </a:pPr>
            <a:r>
              <a:rPr lang="en-US" sz="3600" b="1" i="0" u="none" strike="noStrike">
                <a:solidFill>
                  <a:srgbClr val="262626"/>
                </a:solidFill>
                <a:latin typeface="Calibri" panose="020F0502020204030204"/>
                <a:ea typeface="Calibri" panose="020F0502020204030204"/>
                <a:cs typeface="Calibri" panose="020F0502020204030204"/>
                <a:sym typeface="Calibri" panose="020F0502020204030204"/>
              </a:rPr>
              <a:t>Tips</a:t>
            </a:r>
            <a:endParaRPr lang="en-US" sz="3600" b="1"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8000"/>
              </a:lnSpc>
              <a:defRPr sz="2400" b="0" i="0" u="none" strike="noStrike" spc="0">
                <a:solidFill>
                  <a:srgbClr val="404040">
                    <a:alpha val="100000"/>
                  </a:srgbClr>
                </a:solidFill>
                <a:latin typeface="Calibri" panose="020F0502020204030204"/>
              </a:defRPr>
            </a:lvl1pPr>
          </a:lstStyle>
          <a:p>
            <a:pPr marL="304800" indent="-304800" algn="l">
              <a:lnSpc>
                <a:spcPct val="108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Currently, KernelGen only supports single-round prompts, with a new version to be released later that will enable multi-round prompt iterations for specific test cases;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8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Integration with the FlagOS ecosystem: Specialized tools on GitHub are available to convert KernelGen-generated code into FlagGems format;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8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KernelGen officially plans to integrate KernelGen into IDEs such as vscode by the end of March, further simplifying kernel development.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46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t>Lecture 42:</a:t>
            </a:r>
            <a:b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br>
            <a: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t>From Generation to Deployment</a:t>
            </a:r>
            <a:b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br>
            <a:r>
              <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rPr>
              <a:t>Integration of Generated Code</a:t>
            </a:r>
            <a:endParaRPr lang="en-US" sz="4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FlagOS  Ecosystem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https://docs.flagos.io/en/latest/overview.html</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Design Philosophy:“ model- system- chip” decoupling,“ Write Once, Run Anywhere”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KernelGen (Intelligent Source):LLM -driven operator generation and test verification agent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FlagGems (High-Performance Operator Library): Based on Triton , a high-performance generalized operator library.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FlagTree (Compilation Engine): A unified MLIR  compiler connecting operators with over ten types of heterogeneous chips.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3663950" y="3429000"/>
            <a:ext cx="5407571" cy="2578100"/>
            <a:chOff x="3663950" y="3429000"/>
            <a:chExt cx="5407571" cy="2578100"/>
          </a:xfrm>
        </p:grpSpPr>
        <p:pic>
          <p:nvPicPr>
            <p:cNvPr id="7" name="Picture 7"/>
            <p:cNvPicPr>
              <a:picLocks noChangeAspect="1"/>
            </p:cNvPicPr>
            <p:nvPr/>
          </p:nvPicPr>
          <p:blipFill>
            <a:blip r:embed="rId1"/>
            <a:srcRect/>
            <a:stretch>
              <a:fillRect/>
            </a:stretch>
          </p:blipFill>
          <p:spPr>
            <a:xfrm>
              <a:off x="3663950" y="3429000"/>
              <a:ext cx="5407571" cy="2578100"/>
            </a:xfrm>
            <a:prstGeom prst="rect">
              <a:avLst/>
            </a:prstGeom>
            <a:ln w="12700">
              <a:noFill/>
              <a:prstDash val="solid"/>
            </a:ln>
          </p:spPr>
        </p:pic>
        <p:sp>
          <p:nvSpPr>
            <p:cNvPr id="8" name="AutoShape 8"/>
            <p:cNvSpPr/>
            <p:nvPr/>
          </p:nvSpPr>
          <p:spPr>
            <a:xfrm>
              <a:off x="3663950" y="4657795"/>
              <a:ext cx="1712334" cy="1349305"/>
            </a:xfrm>
            <a:prstGeom prst="rect">
              <a:avLst/>
            </a:prstGeom>
            <a:noFill/>
            <a:ln w="38100" cap="flat">
              <a:solidFill>
                <a:srgbClr val="8B0012">
                  <a:alpha val="100000"/>
                </a:srgbClr>
              </a:solidFill>
              <a:prstDash val="solid"/>
            </a:ln>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FlagGems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447155" cy="4853305"/>
          </a:xfrm>
          <a:prstGeom prst="rect">
            <a:avLst/>
          </a:prstGeom>
        </p:spPr>
        <p:txBody>
          <a:bodyPr wrap="square" lIns="91440" tIns="45720" rIns="91440" bIns="45720" anchor="t">
            <a:noAutofit/>
          </a:bodyPr>
          <a:lstStyle>
            <a:lvl1pPr algn="l">
              <a:lnSpc>
                <a:spcPct val="92000"/>
              </a:lnSpc>
              <a:defRPr sz="1800" b="0" i="0" u="none" strike="noStrike" spc="0">
                <a:solidFill>
                  <a:srgbClr val="404040">
                    <a:alpha val="100000"/>
                  </a:srgbClr>
                </a:solidFill>
                <a:latin typeface="Calibri" panose="020F0502020204030204"/>
              </a:defRPr>
            </a:lvl1pPr>
          </a:lstStyle>
          <a:p>
            <a:pPr marL="228600" indent="-228600" algn="l">
              <a:lnSpc>
                <a:spcPct val="92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Triton -written, Cross-Hardware Unified: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92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Natively supports CUDA,MLU,XPU,NPU  etc. 10+  hardware backends</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92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High-Performance Operators: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92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Core training and inference operators including matrix operations, attention mechanisms, normalization, and activation functions</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92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LibEntry  Kernel Cache: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92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In-house dispatch layer replacing Triton  native Autotuner, significantly reducing first-compilation overhead and dispatch  dispatch latency</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92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Dual-Mode Deployment: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92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Pure Python  package (quick validation) and C++  extension (production acceleration) freely switchable;C++  path eliminates Python  call frame overhead</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92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Configuration-Driven Tuning: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92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LibTuner  automatically searches for optimal hyperparameters and persists them as YAML; cold start directly reuses them without re-running benchmark</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990715" y="1323975"/>
            <a:ext cx="4810760" cy="472186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FlagGems Operator Registration and Dispatch</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190615" cy="4853305"/>
          </a:xfrm>
          <a:prstGeom prst="rect">
            <a:avLst/>
          </a:prstGeom>
        </p:spPr>
        <p:txBody>
          <a:bodyPr wrap="square" lIns="91440" tIns="45720" rIns="91440" bIns="45720" anchor="t">
            <a:normAutofit/>
          </a:bodyPr>
          <a:lstStyle>
            <a:lvl1pPr algn="l">
              <a:lnSpc>
                <a:spcPct val="100000"/>
              </a:lnSpc>
              <a:defRPr sz="2000" b="0" i="0" u="none" strike="noStrike" spc="0">
                <a:solidFill>
                  <a:srgbClr val="0F172A">
                    <a:alpha val="100000"/>
                  </a:srgbClr>
                </a:solidFill>
                <a:latin typeface="Calibri" panose="020F0502020204030204"/>
              </a:defRPr>
            </a:lvl1pPr>
          </a:lstStyle>
          <a:p>
            <a:pPr marL="254000" indent="-254000" algn="l">
              <a:lnSpc>
                <a:spcPct val="100000"/>
              </a:lnSpc>
              <a:spcBef>
                <a:spcPts val="1500"/>
              </a:spcBef>
              <a:buClr>
                <a:srgbClr val="0F172A"/>
              </a:buClr>
              <a:buChar char="•"/>
            </a:pPr>
            <a:r>
              <a:rPr lang="en-US" sz="2000" b="0" i="0" u="none" strike="noStrike">
                <a:solidFill>
                  <a:srgbClr val="0F172A"/>
                </a:solidFill>
                <a:latin typeface="Calibri" panose="020F0502020204030204"/>
                <a:ea typeface="Calibri" panose="020F0502020204030204"/>
                <a:cs typeface="Calibri" panose="020F0502020204030204"/>
                <a:sym typeface="Calibri" panose="020F0502020204030204"/>
              </a:rPr>
              <a:t>User calls</a:t>
            </a:r>
            <a:endParaRPr lang="en-US" sz="2000" b="0" i="0" u="none" strike="noStrike">
              <a:solidFill>
                <a:srgbClr val="0F172A"/>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flag_gems.enable()  or flag_gems.use_gems()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Triggers module initialization, traversing ops/init.py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0F172A"/>
              </a:buClr>
              <a:buChar char="•"/>
            </a:pPr>
            <a:r>
              <a:rPr lang="en-US" sz="2000" b="0" i="0" u="none" strike="noStrike">
                <a:solidFill>
                  <a:srgbClr val="0F172A"/>
                </a:solidFill>
                <a:latin typeface="Calibri" panose="020F0502020204030204"/>
                <a:ea typeface="Calibri" panose="020F0502020204030204"/>
                <a:cs typeface="Calibri" panose="020F0502020204030204"/>
                <a:sym typeface="Calibri" panose="020F0502020204030204"/>
              </a:rPr>
              <a:t>Library Registration</a:t>
            </a:r>
            <a:endParaRPr lang="en-US" sz="2000" b="0" i="0" u="none" strike="noStrike">
              <a:solidFill>
                <a:srgbClr val="0F172A"/>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torch.library.Library("aten", "IMPL")</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registers implementations by dispatch key(CUDA/XPU…</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0F172A"/>
              </a:buClr>
              <a:buChar char="•"/>
            </a:pPr>
            <a:r>
              <a:rPr lang="en-US" sz="2000" b="0" i="0" u="none" strike="noStrike">
                <a:solidFill>
                  <a:srgbClr val="0F172A"/>
                </a:solidFill>
                <a:latin typeface="Calibri" panose="020F0502020204030204"/>
                <a:ea typeface="Calibri" panose="020F0502020204030204"/>
                <a:cs typeface="Calibri" panose="020F0502020204030204"/>
                <a:sym typeface="Calibri" panose="020F0502020204030204"/>
              </a:rPr>
              <a:t>TORCH_LIBRARY_IMPL</a:t>
            </a:r>
            <a:endParaRPr lang="en-US" sz="2000" b="0" i="0" u="none" strike="noStrike">
              <a:solidFill>
                <a:srgbClr val="0F172A"/>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 side: aten::mm → mm,aten::add.Tensor → add, overridesATen operator table default implementations in.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0F172A"/>
              </a:buClr>
              <a:buChar char="•"/>
            </a:pPr>
            <a:r>
              <a:rPr lang="en-US" sz="2000" b="0" i="0" u="none" strike="noStrike">
                <a:solidFill>
                  <a:srgbClr val="0F172A"/>
                </a:solidFill>
                <a:latin typeface="Calibri" panose="020F0502020204030204"/>
                <a:ea typeface="Calibri" panose="020F0502020204030204"/>
                <a:cs typeface="Calibri" panose="020F0502020204030204"/>
                <a:sym typeface="Calibri" panose="020F0502020204030204"/>
              </a:rPr>
              <a:t>ATen Dispatcher Routing</a:t>
            </a:r>
            <a:endParaRPr lang="en-US" sz="2000" b="0" i="0" u="none" strike="noStrike">
              <a:solidFill>
                <a:srgbClr val="0F172A"/>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334155"/>
              </a:buClr>
              <a:buChar char="•"/>
            </a:pPr>
            <a:r>
              <a:rPr lang="en-US" sz="1800" b="0" i="0" u="none" strike="noStrike">
                <a:solidFill>
                  <a:srgbClr val="334155"/>
                </a:solidFill>
                <a:latin typeface="Calibri" panose="020F0502020204030204"/>
                <a:ea typeface="Calibri" panose="020F0502020204030204"/>
                <a:cs typeface="Calibri" panose="020F0502020204030204"/>
                <a:sym typeface="Calibri" panose="020F0502020204030204"/>
              </a:rPr>
              <a:t>config.aten_patch_list decision</a:t>
            </a:r>
            <a:endParaRPr lang="en-US" sz="1800" b="0" i="0" u="none" strike="noStrike">
              <a:solidFill>
                <a:srgbClr val="334155"/>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728460" y="1334135"/>
            <a:ext cx="5073015" cy="484314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FlagGems Operator Compilation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8000"/>
              </a:lnSpc>
              <a:defRPr sz="1800" b="0" i="0" u="none" strike="noStrike" spc="0">
                <a:solidFill>
                  <a:srgbClr val="404040">
                    <a:alpha val="100000"/>
                  </a:srgbClr>
                </a:solidFill>
                <a:latin typeface="Calibri" panose="020F0502020204030204"/>
              </a:defRPr>
            </a:lvl1pPr>
          </a:lstStyle>
          <a:p>
            <a:pPr marL="228600" indent="-228600" algn="l">
              <a:lnSpc>
                <a:spcPct val="108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Triton  source code (.py)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Operators are written in Triton DSL  (ops/mm.py,ops/attention.py , etc.)</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decorator @triton.jit  marks JIT  JIT compilation entry point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08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@libentry()  decorator —  replaces Autotuner</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LibEntry  independently manages kernel_cache, bypassing Triton  native Autotuner  runtime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08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First call triggers JIT  compilation;LibEntry  independently manages cache to avoid Autotuner  overhead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@triton.jit → Triton Compiler → PTX / ISA (varies by backend)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Compiled artifacts cached in kernel_cache; subsequent calls directly hit the cache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28600" indent="-228600" algn="l">
              <a:lnSpc>
                <a:spcPct val="108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LibTuner — Hyperparameter Search</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BenchmarkCache  records BLOCK_M/N/K,num_warps,stages  and other optimal configurations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8000"/>
              </a:lnSpc>
              <a:spcBef>
                <a:spcPts val="1500"/>
              </a:spcBef>
            </a:pPr>
          </a:p>
          <a:p>
            <a:pPr indent="0" algn="l">
              <a:lnSpc>
                <a:spcPct val="108000"/>
              </a:lnSpc>
              <a:spcBef>
                <a:spcPts val="150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741680" y="5811520"/>
            <a:ext cx="10874375" cy="365760"/>
          </a:xfrm>
          <a:prstGeom prst="rect">
            <a:avLst/>
          </a:prstGeom>
          <a:solidFill>
            <a:srgbClr val="8B0012">
              <a:alpha val="100000"/>
            </a:srgbClr>
          </a:solidFill>
          <a:ln w="12700">
            <a:noFill/>
            <a:prstDash val="solid"/>
          </a:ln>
          <a:effectLst>
            <a:outerShdw blurRad="101600" dist="38100" dir="8100000" algn="bl" rotWithShape="0">
              <a:srgbClr val="000000">
                <a:alpha val="18000"/>
              </a:srgbClr>
            </a:outerShdw>
          </a:effectLst>
        </p:spPr>
        <p:txBody>
          <a:bodyPr wrap="square" lIns="91440" tIns="45720" rIns="91440" bIns="45720" rtlCol="0" anchor="t">
            <a:noAutofit/>
          </a:bodyPr>
          <a:lstStyle/>
          <a:p>
            <a:pPr algn="ctr">
              <a:defRPr/>
            </a:pPr>
          </a:p>
        </p:txBody>
      </p:sp>
      <p:sp>
        <p:nvSpPr>
          <p:cNvPr id="7" name="AutoShape 7"/>
          <p:cNvSpPr/>
          <p:nvPr/>
        </p:nvSpPr>
        <p:spPr>
          <a:xfrm>
            <a:off x="787400" y="5811520"/>
            <a:ext cx="10758805" cy="36576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FFFFFF"/>
                </a:solidFill>
                <a:latin typeface="Calibri" panose="020F0502020204030204"/>
                <a:ea typeface="Calibri" panose="020F0502020204030204"/>
                <a:cs typeface="Calibri" panose="020F0502020204030204"/>
                <a:sym typeface="Calibri" panose="020F0502020204030204"/>
              </a:rPr>
              <a:t>★  1st call → Triton JIT compilation (slow)    |    Subsequent calls → kernel_cache direct hit (fast)    |    Cold start optimization: Preload ConfigCache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FlagGems Runtime Loading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4669155" cy="4853305"/>
          </a:xfrm>
          <a:prstGeom prst="rect">
            <a:avLst/>
          </a:prstGeom>
        </p:spPr>
        <p:txBody>
          <a:bodyPr wrap="square" lIns="91440" tIns="45720" rIns="91440" bIns="45720" anchor="t">
            <a:noAutofit/>
          </a:bodyPr>
          <a:lstStyle>
            <a:lvl1pPr algn="l">
              <a:lnSpc>
                <a:spcPct val="117000"/>
              </a:lnSpc>
              <a:defRPr sz="2000" b="0" i="0" u="none" strike="noStrike" spc="0">
                <a:solidFill>
                  <a:srgbClr val="404040">
                    <a:alpha val="100000"/>
                  </a:srgbClr>
                </a:solidFill>
                <a:latin typeface="Calibri" panose="020F0502020204030204"/>
              </a:defRPr>
            </a:lvl1pPr>
          </a:lstStyle>
          <a:p>
            <a:pPr marL="254000" indent="-254000" algn="l">
              <a:lnSpc>
                <a:spcPct val="117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[PY] Pure Python  Mode (Pure Package)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pip install flaggems (no C++  compilation)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ops/__init__.py  Verify via torch.library  registration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dispatch path:Python  function call stack</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Suitable for quick validation / CI  testing environments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Overhead:Python  call frame + GIL  contention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17000"/>
              </a:lnSpc>
              <a:spcBef>
                <a:spcPts val="150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5995035" y="1327785"/>
            <a:ext cx="6196965" cy="4853305"/>
          </a:xfrm>
          <a:prstGeom prst="rect">
            <a:avLst/>
          </a:prstGeom>
          <a:noFill/>
          <a:ln w="12700">
            <a:noFill/>
            <a:prstDash val="solid"/>
          </a:ln>
        </p:spPr>
        <p:txBody>
          <a:bodyPr vert="horz" wrap="square" lIns="91440" tIns="45720" rIns="91440" bIns="45720" rtlCol="0" anchor="t">
            <a:normAutofit/>
          </a:bodyPr>
          <a:lstStyle/>
          <a:p>
            <a:pPr marL="254000" indent="-254000" algn="l">
              <a:lnSpc>
                <a:spcPct val="117000"/>
              </a:lnSpc>
              <a:spcBef>
                <a:spcPts val="1500"/>
              </a:spcBef>
              <a:buClr>
                <a:srgbClr val="404040"/>
              </a:buClr>
              <a:buChar char="•"/>
              <a:defRP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 C++  Extension Mode (with C++ Runtime)</a:t>
            </a:r>
            <a:endParaRPr lang="en-US" sz="1100"/>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pip install flaggems[cpp] (compiles cstub.cpp)</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lib/cstub.cpp → TORCH_LIBRARY_IMPL  macro registration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dispatch path:C++  function pointers, zero Python  overhead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Suitable for production deployment /  inference acceleration scenarios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17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Significantly reduces short-operator dispatch  dispatch latency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17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7" name="AutoShape 7"/>
          <p:cNvSpPr/>
          <p:nvPr/>
        </p:nvSpPr>
        <p:spPr>
          <a:xfrm>
            <a:off x="5589905" y="2496820"/>
            <a:ext cx="594360" cy="594360"/>
          </a:xfrm>
          <a:prstGeom prst="ellipse">
            <a:avLst/>
          </a:prstGeom>
          <a:solidFill>
            <a:srgbClr val="8B0012">
              <a:alpha val="100000"/>
            </a:srgbClr>
          </a:solidFill>
          <a:ln w="12700">
            <a:noFill/>
            <a:prstDash val="solid"/>
          </a:ln>
          <a:effectLst>
            <a:outerShdw blurRad="101600" dist="38100" dir="8100000" algn="bl" rotWithShape="0">
              <a:srgbClr val="000000">
                <a:alpha val="18000"/>
              </a:srgbClr>
            </a:outerShdw>
          </a:effectLst>
        </p:spPr>
        <p:txBody>
          <a:bodyPr wrap="square" lIns="91440" tIns="45720" rIns="91440" bIns="45720" rtlCol="0" anchor="t">
            <a:noAutofit/>
          </a:bodyPr>
          <a:lstStyle/>
          <a:p>
            <a:pPr algn="ctr">
              <a:defRPr/>
            </a:pPr>
          </a:p>
        </p:txBody>
      </p:sp>
      <p:sp>
        <p:nvSpPr>
          <p:cNvPr id="8" name="AutoShape 8"/>
          <p:cNvSpPr/>
          <p:nvPr/>
        </p:nvSpPr>
        <p:spPr>
          <a:xfrm>
            <a:off x="5589905" y="2496820"/>
            <a:ext cx="594360" cy="594360"/>
          </a:xfrm>
          <a:prstGeom prst="rect">
            <a:avLst/>
          </a:prstGeom>
          <a:noFill/>
          <a:ln w="12700">
            <a:noFill/>
            <a:prstDash val="solid"/>
          </a:ln>
        </p:spPr>
        <p:txBody>
          <a:bodyPr wrap="square" lIns="91440" tIns="45720" rIns="91440" bIns="45720" rtlCol="0" anchor="ctr">
            <a:noAutofit/>
          </a:bodyPr>
          <a:lstStyle/>
          <a:p>
            <a:pPr indent="0" algn="ctr">
              <a:lnSpc>
                <a:spcPct val="100000"/>
              </a:lnSpc>
              <a:defRPr/>
            </a:pPr>
            <a:r>
              <a:rPr lang="en-US" sz="1300" b="1" i="0" u="none" strike="noStrike">
                <a:solidFill>
                  <a:srgbClr val="FFFFFF"/>
                </a:solidFill>
                <a:latin typeface="Calibri" panose="020F0502020204030204"/>
                <a:ea typeface="Calibri" panose="020F0502020204030204"/>
                <a:cs typeface="Calibri" panose="020F0502020204030204"/>
                <a:sym typeface="Calibri" panose="020F0502020204030204"/>
              </a:rPr>
              <a:t>VS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FlagTree System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8000"/>
              </a:lnSpc>
              <a:defRPr sz="2000" b="0" i="0" u="none" strike="noStrike" spc="0">
                <a:solidFill>
                  <a:srgbClr val="404040">
                    <a:alpha val="100000"/>
                  </a:srgbClr>
                </a:solidFill>
                <a:latin typeface="Calibri" panose="020F0502020204030204"/>
              </a:defRPr>
            </a:lvl1pPr>
          </a:lstStyle>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Unified Multi-Chip AI  Operator Compiler · Based on Triton &amp; MLIR  Ecosystem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Supported Chip Backends (10+  domestic and international mainstream AI  chips)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NVIDIA,Cambricon,Tsingmicro,Huawei Ascend,Moore Threads, etc.</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Multiple Triton  version branches (v3.1 ~ v3.5) maintained in parallel; independent CI/CD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8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741680" y="3359150"/>
            <a:ext cx="10964545" cy="2765907"/>
            <a:chOff x="741680" y="3359150"/>
            <a:chExt cx="10964545" cy="2765907"/>
          </a:xfrm>
        </p:grpSpPr>
        <p:sp>
          <p:nvSpPr>
            <p:cNvPr id="7" name="AutoShape 7"/>
            <p:cNvSpPr/>
            <p:nvPr/>
          </p:nvSpPr>
          <p:spPr>
            <a:xfrm>
              <a:off x="741680" y="3359150"/>
              <a:ext cx="2582578" cy="2765907"/>
            </a:xfrm>
            <a:prstGeom prst="rect">
              <a:avLst/>
            </a:prstGeom>
            <a:solidFill>
              <a:srgbClr val="FBF0F1">
                <a:alpha val="100000"/>
              </a:srgbClr>
            </a:solidFill>
            <a:ln w="25400">
              <a:solidFill>
                <a:srgbClr val="8B0012">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8" name="AutoShape 8"/>
            <p:cNvSpPr/>
            <p:nvPr/>
          </p:nvSpPr>
          <p:spPr>
            <a:xfrm>
              <a:off x="741680" y="3359150"/>
              <a:ext cx="2582578" cy="176428"/>
            </a:xfrm>
            <a:prstGeom prst="rect">
              <a:avLst/>
            </a:prstGeom>
            <a:solidFill>
              <a:srgbClr val="8B0012">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9" name="AutoShape 9"/>
            <p:cNvSpPr/>
            <p:nvPr/>
          </p:nvSpPr>
          <p:spPr>
            <a:xfrm>
              <a:off x="741680" y="3552328"/>
              <a:ext cx="2582578" cy="6108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800" b="1" i="0" u="none" strike="noStrike">
                  <a:solidFill>
                    <a:srgbClr val="1C1C1C"/>
                  </a:solidFill>
                  <a:latin typeface="Arial" panose="020B0604020202020204"/>
                  <a:ea typeface="Arial" panose="020B0604020202020204"/>
                  <a:cs typeface="Arial" panose="020B0604020202020204"/>
                  <a:sym typeface="Arial" panose="020B0604020202020204"/>
                </a:rPr>
                <a:t>Python Frontend</a:t>
              </a:r>
              <a:endParaRPr lang="en-US" sz="1100"/>
            </a:p>
          </p:txBody>
        </p:sp>
        <p:sp>
          <p:nvSpPr>
            <p:cNvPr id="10" name="AutoShape 10"/>
            <p:cNvSpPr/>
            <p:nvPr/>
          </p:nvSpPr>
          <p:spPr>
            <a:xfrm>
              <a:off x="741680" y="4227893"/>
              <a:ext cx="2582578" cy="1801133"/>
            </a:xfrm>
            <a:prstGeom prst="rect">
              <a:avLst/>
            </a:prstGeom>
            <a:noFill/>
            <a:ln w="12700">
              <a:noFill/>
              <a:prstDash val="solid"/>
            </a:ln>
          </p:spPr>
          <p:txBody>
            <a:bodyPr wrap="square" lIns="50800" tIns="50800" rIns="50800" bIns="50800" rtlCol="0" anchor="ctr">
              <a:noAutofit/>
            </a:bodyPr>
            <a:lstStyle/>
            <a:p>
              <a:pPr indent="0" algn="ctr">
                <a:lnSpc>
                  <a:spcPct val="100000"/>
                </a:lnSpc>
                <a:defRPr/>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@triton.jit</a:t>
              </a:r>
              <a:endParaRPr lang="en-US" sz="1100"/>
            </a:p>
            <a:p>
              <a:pPr indent="0" algn="ctr">
                <a:lnSpc>
                  <a:spcPct val="100000"/>
                </a:lnSpc>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FlagGems LibEntry</a:t>
              </a:r>
              <a:endParaRPr lang="en-US" sz="1600" b="1" i="0" u="none" strike="noStrike">
                <a:solidFill>
                  <a:srgbClr val="7A6065"/>
                </a:solidFill>
                <a:latin typeface="Arial" panose="020B0604020202020204"/>
                <a:ea typeface="Arial" panose="020B0604020202020204"/>
                <a:cs typeface="Arial" panose="020B0604020202020204"/>
                <a:sym typeface="Arial" panose="020B0604020202020204"/>
              </a:endParaRPr>
            </a:p>
          </p:txBody>
        </p:sp>
        <p:sp>
          <p:nvSpPr>
            <p:cNvPr id="11" name="AutoShape 11"/>
            <p:cNvSpPr/>
            <p:nvPr/>
          </p:nvSpPr>
          <p:spPr>
            <a:xfrm>
              <a:off x="3324258" y="4645514"/>
              <a:ext cx="211139" cy="80398"/>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p>
          </p:txBody>
        </p:sp>
        <p:sp>
          <p:nvSpPr>
            <p:cNvPr id="12" name="AutoShape 12"/>
            <p:cNvSpPr/>
            <p:nvPr/>
          </p:nvSpPr>
          <p:spPr>
            <a:xfrm>
              <a:off x="3465289" y="4509285"/>
              <a:ext cx="164672" cy="35397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7A606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
          <p:nvSpPr>
            <p:cNvPr id="13" name="AutoShape 13"/>
            <p:cNvSpPr/>
            <p:nvPr/>
          </p:nvSpPr>
          <p:spPr>
            <a:xfrm>
              <a:off x="3535397" y="3359150"/>
              <a:ext cx="2582578" cy="2765907"/>
            </a:xfrm>
            <a:prstGeom prst="rect">
              <a:avLst/>
            </a:prstGeom>
            <a:solidFill>
              <a:srgbClr val="FBF0F1">
                <a:alpha val="100000"/>
              </a:srgbClr>
            </a:solidFill>
            <a:ln w="25400">
              <a:solidFill>
                <a:srgbClr val="B8860B">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14" name="AutoShape 14"/>
            <p:cNvSpPr/>
            <p:nvPr/>
          </p:nvSpPr>
          <p:spPr>
            <a:xfrm>
              <a:off x="3535397" y="3359150"/>
              <a:ext cx="2582578" cy="176428"/>
            </a:xfrm>
            <a:prstGeom prst="rect">
              <a:avLst/>
            </a:prstGeom>
            <a:solidFill>
              <a:srgbClr val="B8860B">
                <a:alpha val="100000"/>
              </a:srgbClr>
            </a:solidFill>
            <a:ln w="12700">
              <a:solidFill>
                <a:srgbClr val="B8860B">
                  <a:alpha val="100000"/>
                </a:srgbClr>
              </a:solidFill>
              <a:prstDash val="solid"/>
            </a:ln>
          </p:spPr>
          <p:txBody>
            <a:bodyPr wrap="square" lIns="91440" tIns="45720" rIns="91440" bIns="45720" rtlCol="0" anchor="t">
              <a:noAutofit/>
            </a:bodyPr>
            <a:lstStyle/>
            <a:p>
              <a:pPr algn="ctr">
                <a:defRPr/>
              </a:pPr>
            </a:p>
          </p:txBody>
        </p:sp>
        <p:sp>
          <p:nvSpPr>
            <p:cNvPr id="15" name="AutoShape 15"/>
            <p:cNvSpPr/>
            <p:nvPr/>
          </p:nvSpPr>
          <p:spPr>
            <a:xfrm>
              <a:off x="3535397" y="3552328"/>
              <a:ext cx="2582578" cy="6108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800" b="1" i="0" u="none" strike="noStrike">
                  <a:solidFill>
                    <a:srgbClr val="1C1C1C"/>
                  </a:solidFill>
                  <a:latin typeface="Arial" panose="020B0604020202020204"/>
                  <a:ea typeface="Arial" panose="020B0604020202020204"/>
                  <a:cs typeface="Arial" panose="020B0604020202020204"/>
                  <a:sym typeface="Arial" panose="020B0604020202020204"/>
                </a:rPr>
                <a:t>Compiler Middle Layer</a:t>
              </a:r>
              <a:endParaRPr lang="en-US" sz="1100"/>
            </a:p>
          </p:txBody>
        </p:sp>
        <p:sp>
          <p:nvSpPr>
            <p:cNvPr id="16" name="AutoShape 16"/>
            <p:cNvSpPr/>
            <p:nvPr/>
          </p:nvSpPr>
          <p:spPr>
            <a:xfrm>
              <a:off x="3535397" y="4227893"/>
              <a:ext cx="2582578" cy="1801133"/>
            </a:xfrm>
            <a:prstGeom prst="rect">
              <a:avLst/>
            </a:prstGeom>
            <a:noFill/>
            <a:ln w="12700">
              <a:noFill/>
              <a:prstDash val="solid"/>
            </a:ln>
          </p:spPr>
          <p:txBody>
            <a:bodyPr wrap="square" lIns="50800" tIns="50800" rIns="50800" bIns="50800" rtlCol="0" anchor="ctr">
              <a:noAutofit/>
            </a:bodyPr>
            <a:lstStyle/>
            <a:p>
              <a:pPr indent="0" algn="ctr">
                <a:lnSpc>
                  <a:spcPct val="100000"/>
                </a:lnSpc>
                <a:defRPr/>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MLIR Dialects</a:t>
              </a:r>
              <a:endParaRPr lang="en-US" sz="1100"/>
            </a:p>
            <a:p>
              <a:pPr indent="0" algn="ctr">
                <a:lnSpc>
                  <a:spcPct val="100000"/>
                </a:lnSpc>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Triton-IR / TTGIR</a:t>
              </a:r>
              <a:endParaRPr lang="en-US" sz="1600" b="1" i="0" u="none" strike="noStrike">
                <a:solidFill>
                  <a:srgbClr val="7A6065"/>
                </a:solidFill>
                <a:latin typeface="Arial" panose="020B0604020202020204"/>
                <a:ea typeface="Arial" panose="020B0604020202020204"/>
                <a:cs typeface="Arial" panose="020B0604020202020204"/>
                <a:sym typeface="Arial" panose="020B0604020202020204"/>
              </a:endParaRPr>
            </a:p>
          </p:txBody>
        </p:sp>
        <p:sp>
          <p:nvSpPr>
            <p:cNvPr id="17" name="AutoShape 17"/>
            <p:cNvSpPr/>
            <p:nvPr/>
          </p:nvSpPr>
          <p:spPr>
            <a:xfrm>
              <a:off x="6117975" y="4645514"/>
              <a:ext cx="211139" cy="80398"/>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p>
          </p:txBody>
        </p:sp>
        <p:sp>
          <p:nvSpPr>
            <p:cNvPr id="18" name="AutoShape 18"/>
            <p:cNvSpPr/>
            <p:nvPr/>
          </p:nvSpPr>
          <p:spPr>
            <a:xfrm>
              <a:off x="6259006" y="4509285"/>
              <a:ext cx="164672" cy="35397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7A606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
          <p:nvSpPr>
            <p:cNvPr id="19" name="AutoShape 19"/>
            <p:cNvSpPr/>
            <p:nvPr/>
          </p:nvSpPr>
          <p:spPr>
            <a:xfrm>
              <a:off x="6329930" y="3359150"/>
              <a:ext cx="2582578" cy="2765907"/>
            </a:xfrm>
            <a:prstGeom prst="rect">
              <a:avLst/>
            </a:prstGeom>
            <a:solidFill>
              <a:srgbClr val="FBF0F1">
                <a:alpha val="100000"/>
              </a:srgbClr>
            </a:solidFill>
            <a:ln w="25400">
              <a:solidFill>
                <a:srgbClr val="C4314A">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20" name="AutoShape 20"/>
            <p:cNvSpPr/>
            <p:nvPr/>
          </p:nvSpPr>
          <p:spPr>
            <a:xfrm>
              <a:off x="6329930" y="3359150"/>
              <a:ext cx="2582578" cy="176428"/>
            </a:xfrm>
            <a:prstGeom prst="rect">
              <a:avLst/>
            </a:prstGeom>
            <a:solidFill>
              <a:srgbClr val="C4314A">
                <a:alpha val="100000"/>
              </a:srgbClr>
            </a:solidFill>
            <a:ln w="12700">
              <a:solidFill>
                <a:srgbClr val="C4314A">
                  <a:alpha val="100000"/>
                </a:srgbClr>
              </a:solidFill>
              <a:prstDash val="solid"/>
            </a:ln>
          </p:spPr>
          <p:txBody>
            <a:bodyPr wrap="square" lIns="91440" tIns="45720" rIns="91440" bIns="45720" rtlCol="0" anchor="t">
              <a:noAutofit/>
            </a:bodyPr>
            <a:lstStyle/>
            <a:p>
              <a:pPr algn="ctr">
                <a:defRPr/>
              </a:pPr>
            </a:p>
          </p:txBody>
        </p:sp>
        <p:sp>
          <p:nvSpPr>
            <p:cNvPr id="21" name="AutoShape 21"/>
            <p:cNvSpPr/>
            <p:nvPr/>
          </p:nvSpPr>
          <p:spPr>
            <a:xfrm>
              <a:off x="6329930" y="3552328"/>
              <a:ext cx="2582578" cy="6108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800" b="1" i="0" u="none" strike="noStrike">
                  <a:solidFill>
                    <a:srgbClr val="1C1C1C"/>
                  </a:solidFill>
                  <a:latin typeface="Arial" panose="020B0604020202020204"/>
                  <a:ea typeface="Arial" panose="020B0604020202020204"/>
                  <a:cs typeface="Arial" panose="020B0604020202020204"/>
                  <a:sym typeface="Arial" panose="020B0604020202020204"/>
                </a:rPr>
                <a:t>Backend Code Generation</a:t>
              </a:r>
              <a:endParaRPr lang="en-US" sz="1100"/>
            </a:p>
          </p:txBody>
        </p:sp>
        <p:sp>
          <p:nvSpPr>
            <p:cNvPr id="22" name="AutoShape 22"/>
            <p:cNvSpPr/>
            <p:nvPr/>
          </p:nvSpPr>
          <p:spPr>
            <a:xfrm>
              <a:off x="6329930" y="4227893"/>
              <a:ext cx="2582578" cy="1801133"/>
            </a:xfrm>
            <a:prstGeom prst="rect">
              <a:avLst/>
            </a:prstGeom>
            <a:noFill/>
            <a:ln w="12700">
              <a:noFill/>
              <a:prstDash val="solid"/>
            </a:ln>
          </p:spPr>
          <p:txBody>
            <a:bodyPr wrap="square" lIns="50800" tIns="50800" rIns="50800" bIns="50800" rtlCol="0" anchor="ctr">
              <a:noAutofit/>
            </a:bodyPr>
            <a:lstStyle/>
            <a:p>
              <a:pPr indent="0" algn="ctr">
                <a:lnSpc>
                  <a:spcPct val="100000"/>
                </a:lnSpc>
                <a:defRPr/>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LLVM-IR → PTX</a:t>
              </a:r>
              <a:endParaRPr lang="en-US" sz="1100"/>
            </a:p>
            <a:p>
              <a:pPr indent="0" algn="ctr">
                <a:lnSpc>
                  <a:spcPct val="100000"/>
                </a:lnSpc>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ASM / Vendor Toolchain</a:t>
              </a:r>
              <a:endParaRPr lang="en-US" sz="1600" b="1" i="0" u="none" strike="noStrike">
                <a:solidFill>
                  <a:srgbClr val="7A6065"/>
                </a:solidFill>
                <a:latin typeface="Arial" panose="020B0604020202020204"/>
                <a:ea typeface="Arial" panose="020B0604020202020204"/>
                <a:cs typeface="Arial" panose="020B0604020202020204"/>
                <a:sym typeface="Arial" panose="020B0604020202020204"/>
              </a:endParaRPr>
            </a:p>
          </p:txBody>
        </p:sp>
        <p:sp>
          <p:nvSpPr>
            <p:cNvPr id="23" name="AutoShape 23"/>
            <p:cNvSpPr/>
            <p:nvPr/>
          </p:nvSpPr>
          <p:spPr>
            <a:xfrm>
              <a:off x="8912508" y="4645514"/>
              <a:ext cx="211139" cy="80398"/>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p>
          </p:txBody>
        </p:sp>
        <p:sp>
          <p:nvSpPr>
            <p:cNvPr id="24" name="AutoShape 24"/>
            <p:cNvSpPr/>
            <p:nvPr/>
          </p:nvSpPr>
          <p:spPr>
            <a:xfrm>
              <a:off x="9052724" y="4509285"/>
              <a:ext cx="164672" cy="35397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7A606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
          <p:nvSpPr>
            <p:cNvPr id="25" name="AutoShape 25"/>
            <p:cNvSpPr/>
            <p:nvPr/>
          </p:nvSpPr>
          <p:spPr>
            <a:xfrm>
              <a:off x="9123647" y="3359150"/>
              <a:ext cx="2582578" cy="2765907"/>
            </a:xfrm>
            <a:prstGeom prst="rect">
              <a:avLst/>
            </a:prstGeom>
            <a:solidFill>
              <a:srgbClr val="FBF0F1">
                <a:alpha val="100000"/>
              </a:srgbClr>
            </a:solidFill>
            <a:ln w="25400">
              <a:solidFill>
                <a:srgbClr val="5C0009">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26" name="AutoShape 26"/>
            <p:cNvSpPr/>
            <p:nvPr/>
          </p:nvSpPr>
          <p:spPr>
            <a:xfrm>
              <a:off x="9123647" y="3359150"/>
              <a:ext cx="2582578" cy="176428"/>
            </a:xfrm>
            <a:prstGeom prst="rect">
              <a:avLst/>
            </a:prstGeom>
            <a:solidFill>
              <a:srgbClr val="5C0009">
                <a:alpha val="100000"/>
              </a:srgbClr>
            </a:solidFill>
            <a:ln w="12700">
              <a:solidFill>
                <a:srgbClr val="5C0009">
                  <a:alpha val="100000"/>
                </a:srgbClr>
              </a:solidFill>
              <a:prstDash val="solid"/>
            </a:ln>
          </p:spPr>
          <p:txBody>
            <a:bodyPr wrap="square" lIns="91440" tIns="45720" rIns="91440" bIns="45720" rtlCol="0" anchor="t">
              <a:noAutofit/>
            </a:bodyPr>
            <a:lstStyle/>
            <a:p>
              <a:pPr algn="ctr">
                <a:defRPr/>
              </a:pPr>
            </a:p>
          </p:txBody>
        </p:sp>
        <p:sp>
          <p:nvSpPr>
            <p:cNvPr id="27" name="AutoShape 27"/>
            <p:cNvSpPr/>
            <p:nvPr/>
          </p:nvSpPr>
          <p:spPr>
            <a:xfrm>
              <a:off x="9123647" y="3552328"/>
              <a:ext cx="2582578" cy="6108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800" b="1" i="0" u="none" strike="noStrike">
                  <a:solidFill>
                    <a:srgbClr val="1C1C1C"/>
                  </a:solidFill>
                  <a:latin typeface="Arial" panose="020B0604020202020204"/>
                  <a:ea typeface="Arial" panose="020B0604020202020204"/>
                  <a:cs typeface="Arial" panose="020B0604020202020204"/>
                  <a:sym typeface="Arial" panose="020B0604020202020204"/>
                </a:rPr>
                <a:t>Runtime Loading</a:t>
              </a:r>
              <a:endParaRPr lang="en-US" sz="1100"/>
            </a:p>
          </p:txBody>
        </p:sp>
        <p:sp>
          <p:nvSpPr>
            <p:cNvPr id="28" name="AutoShape 28"/>
            <p:cNvSpPr/>
            <p:nvPr/>
          </p:nvSpPr>
          <p:spPr>
            <a:xfrm>
              <a:off x="9123647" y="4227893"/>
              <a:ext cx="2582578" cy="1801133"/>
            </a:xfrm>
            <a:prstGeom prst="rect">
              <a:avLst/>
            </a:prstGeom>
            <a:noFill/>
            <a:ln w="12700">
              <a:noFill/>
              <a:prstDash val="solid"/>
            </a:ln>
          </p:spPr>
          <p:txBody>
            <a:bodyPr wrap="square" lIns="50800" tIns="50800" rIns="50800" bIns="50800" rtlCol="0" anchor="ctr">
              <a:noAutofit/>
            </a:bodyPr>
            <a:lstStyle/>
            <a:p>
              <a:pPr indent="0" algn="ctr">
                <a:lnSpc>
                  <a:spcPct val="100000"/>
                </a:lnSpc>
                <a:defRPr/>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JIT Cache</a:t>
              </a:r>
              <a:endParaRPr lang="en-US" sz="1100"/>
            </a:p>
            <a:p>
              <a:pPr indent="0" algn="ctr">
                <a:lnSpc>
                  <a:spcPct val="100000"/>
                </a:lnSpc>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Unified HW Manager</a:t>
              </a:r>
              <a:endParaRPr lang="en-US" sz="1600" b="1" i="0" u="none" strike="noStrike">
                <a:solidFill>
                  <a:srgbClr val="7A6065"/>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FlagTree Operator Compilation Pipeline </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①</a:t>
            </a:r>
            <a:endPar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Frontend Parsing · Triton-IR  · TritonGPU-IR Optimization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Python  kernel + AST  parsing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8B0012"/>
              </a:buClr>
              <a:buChar char="•"/>
            </a:pPr>
            <a:r>
              <a:rPr lang="en-US" sz="2000" b="0" i="0" u="none" strike="noStrike">
                <a:solidFill>
                  <a:srgbClr val="8B0012"/>
                </a:solidFill>
                <a:latin typeface="Calibri" panose="020F0502020204030204"/>
                <a:ea typeface="Calibri" panose="020F0502020204030204"/>
                <a:cs typeface="Calibri" panose="020F0502020204030204"/>
                <a:sym typeface="Calibri" panose="020F0502020204030204"/>
              </a:rPr>
              <a:t>@triton.jit  decorator triggers JIT; the frontend traverses the Python AST AST, identifies tile-level tensor operations, and builds Triton-IR. tile  Triton-IR.</a:t>
            </a:r>
            <a:endParaRPr lang="en-US" sz="2000" b="0" i="0" u="none" strike="noStrike">
              <a:solidFill>
                <a:srgbClr val="8B0012"/>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Triton-IR → TritonGPU-IR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8B0012"/>
              </a:buClr>
              <a:buChar char="•"/>
            </a:pPr>
            <a:r>
              <a:rPr lang="en-US" sz="2000" b="0" i="0" u="none" strike="noStrike">
                <a:solidFill>
                  <a:srgbClr val="8B0012"/>
                </a:solidFill>
                <a:latin typeface="Calibri" panose="020F0502020204030204"/>
                <a:ea typeface="Calibri" panose="020F0502020204030204"/>
                <a:cs typeface="Calibri" panose="020F0502020204030204"/>
                <a:sym typeface="Calibri" panose="020F0502020204030204"/>
              </a:rPr>
              <a:t>The optimization module injects Layout Encoding,, generates TritonGPU IR, and executes common passes: pass:CSE,DCE inline, etc..</a:t>
            </a:r>
            <a:endParaRPr lang="en-US" sz="2000" b="0" i="0" u="none" strike="noStrike">
              <a:solidFill>
                <a:srgbClr val="8B0012"/>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TritonGPU-IR → LLVM-IR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8B0012"/>
              </a:buClr>
              <a:buChar char="•"/>
            </a:pPr>
            <a:r>
              <a:rPr lang="en-US" sz="2000" b="0" i="0" u="none" strike="noStrike">
                <a:solidFill>
                  <a:srgbClr val="8B0012"/>
                </a:solidFill>
                <a:latin typeface="Calibri" panose="020F0502020204030204"/>
                <a:ea typeface="Calibri" panose="020F0502020204030204"/>
                <a:cs typeface="Calibri" panose="020F0502020204030204"/>
                <a:sym typeface="Calibri" panose="020F0502020204030204"/>
              </a:rPr>
              <a:t>Vendor-specific pass  passes further optimize TTGIR; finally, through the MLIR → LLVM  bridge layer, outputs LLVM-IR, completing the high-level optimization phase.</a:t>
            </a:r>
            <a:endParaRPr lang="en-US" sz="2000" b="0" i="0" u="none" strike="noStrike">
              <a:solidFill>
                <a:srgbClr val="8B0012"/>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FlagTree  Operator Compilation Pipeline </a:t>
            </a:r>
            <a:r>
              <a:rPr lang="en-US" sz="3600" b="0"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②</a:t>
            </a: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 </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LLVM-IR →  Assembly →  binary  ·  Pluggable Backend  ·  Compilation Cache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Backend pluggable architecture (third_party/)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Compilation result caching mechanism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aphicFrame>
        <p:nvGraphicFramePr>
          <p:cNvPr id="6" name="Table 6"/>
          <p:cNvGraphicFramePr>
            <a:graphicFrameLocks noGrp="1"/>
          </p:cNvGraphicFramePr>
          <p:nvPr/>
        </p:nvGraphicFramePr>
        <p:xfrm>
          <a:off x="523240" y="3288030"/>
          <a:ext cx="11263630" cy="2841625"/>
        </p:xfrm>
        <a:graphic>
          <a:graphicData uri="http://schemas.openxmlformats.org/drawingml/2006/table">
            <a:tbl>
              <a:tblPr>
                <a:effectLst/>
              </a:tblPr>
              <a:tblGrid>
                <a:gridCol w="2011680"/>
                <a:gridCol w="2010410"/>
                <a:gridCol w="3431540"/>
                <a:gridCol w="3810000"/>
              </a:tblGrid>
              <a:tr h="568325">
                <a:tc>
                  <a:txBody>
                    <a:bodyPr rtlCol="0"/>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Phase</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8B0012">
                        <a:alpha val="100000"/>
                      </a:srgbClr>
                    </a:solidFill>
                  </a:tcPr>
                </a:tc>
                <a:tc>
                  <a:txBody>
                    <a:bodyPr rtlCol="0"/>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Input</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8B0012">
                        <a:alpha val="100000"/>
                      </a:srgbClr>
                    </a:solidFill>
                  </a:tcPr>
                </a:tc>
                <a:tc>
                  <a:txBody>
                    <a:bodyPr rtlCol="0"/>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Output</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8B0012">
                        <a:alpha val="100000"/>
                      </a:srgbClr>
                    </a:solidFill>
                  </a:tcPr>
                </a:tc>
                <a:tc>
                  <a:txBody>
                    <a:bodyPr rtlCol="0"/>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Toolchain</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8B0012">
                        <a:alpha val="100000"/>
                      </a:srgbClr>
                    </a:solidFill>
                  </a:tcPr>
                </a:tc>
              </a:tr>
              <a:tr h="568325">
                <a:tc>
                  <a:txBody>
                    <a:bodyPr rtlCol="0"/>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LLVM Optimization</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LLVM-IR</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Optimized LLVM-IR</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LLVM opt passes</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tr>
              <a:tr h="568325">
                <a:tc>
                  <a:txBody>
                    <a:bodyPr rtlCol="0"/>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Assembly Generation</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tc>
                  <a:txBody>
                    <a:bodyPr rtlCol="0"/>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LLVM-IR</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tc>
                  <a:txBody>
                    <a:bodyPr rtlCol="0"/>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PTX / AMDGCN / Vendor ASM</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tc>
                  <a:txBody>
                    <a:bodyPr rtlCol="0"/>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LLVM backend + Vendor Driver</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tr>
              <a:tr h="568325">
                <a:tc>
                  <a:txBody>
                    <a:bodyPr rtlCol="0"/>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Device Compilation</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ASM / BC</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.cubin / .hsaco / binary</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tc>
                  <a:txBody>
                    <a:bodyPr rtlCol="0"/>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NVCC / HIPCC / Vendor Compiler</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FFFFF">
                        <a:alpha val="100000"/>
                      </a:srgbClr>
                    </a:solidFill>
                  </a:tcPr>
                </a:tc>
              </a:tr>
              <a:tr h="568325">
                <a:tc>
                  <a:txBody>
                    <a:bodyPr rtlCol="0"/>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Cache Write</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tc>
                  <a:txBody>
                    <a:bodyPr rtlCol="0"/>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Compiled artifacts</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tc>
                  <a:txBody>
                    <a:bodyPr rtlCol="0"/>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kernel_hash.bin</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tc>
                  <a:txBody>
                    <a:bodyPr rtlCol="0"/>
                    <a:lstStyle/>
                    <a:p>
                      <a:pPr indent="0" algn="l">
                        <a:lnSpc>
                          <a:spcPct val="100000"/>
                        </a:lnSpc>
                        <a:defRPr/>
                      </a:pPr>
                      <a:r>
                        <a:rPr lang="en-US" sz="1400" b="0" i="0" u="none" strike="noStrike">
                          <a:solidFill>
                            <a:srgbClr val="1C1C1C"/>
                          </a:solidFill>
                          <a:latin typeface="Arial" panose="020B0604020202020204"/>
                          <a:ea typeface="Arial" panose="020B0604020202020204"/>
                          <a:cs typeface="Arial" panose="020B0604020202020204"/>
                          <a:sym typeface="Arial" panose="020B0604020202020204"/>
                        </a:rPr>
                        <a:t>~/.triton/cache/</a:t>
                      </a:r>
                      <a:endParaRPr lang="en-US" sz="1100"/>
                    </a:p>
                  </a:txBody>
                  <a:tcPr marL="101600" marR="101600" marT="50800" marB="50800" anchor="t">
                    <a:lnL w="6350" cap="flat" cmpd="sng" algn="ctr">
                      <a:solidFill>
                        <a:srgbClr val="D9B8BB"/>
                      </a:solidFill>
                      <a:prstDash val="solid"/>
                      <a:round/>
                      <a:headEnd type="none" w="med" len="med"/>
                      <a:tailEnd type="none" w="med" len="med"/>
                    </a:lnL>
                    <a:lnR w="6350" cap="flat" cmpd="sng" algn="ctr">
                      <a:solidFill>
                        <a:srgbClr val="D9B8BB"/>
                      </a:solidFill>
                      <a:prstDash val="solid"/>
                      <a:round/>
                      <a:headEnd type="none" w="med" len="med"/>
                      <a:tailEnd type="none" w="med" len="med"/>
                    </a:lnR>
                    <a:lnT w="6350" cap="flat" cmpd="sng" algn="ctr">
                      <a:solidFill>
                        <a:srgbClr val="D9B8BB"/>
                      </a:solidFill>
                      <a:prstDash val="solid"/>
                      <a:round/>
                      <a:headEnd type="none" w="med" len="med"/>
                      <a:tailEnd type="none" w="med" len="med"/>
                    </a:lnT>
                    <a:lnB w="6350" cap="flat" cmpd="sng" algn="ctr">
                      <a:solidFill>
                        <a:srgbClr val="D9B8BB"/>
                      </a:solidFill>
                      <a:prstDash val="solid"/>
                      <a:round/>
                      <a:headEnd type="none" w="med" len="med"/>
                      <a:tailEnd type="none" w="med" len="med"/>
                    </a:lnB>
                    <a:solidFill>
                      <a:srgbClr val="FBF0F1">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FlagTree Runtime Loading and Unified Hardware Abstraction Layer</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FlagTree Hints —— Runtime Behavior Extension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flagtree_hints (shared_mem)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flagtree_hints (async_dma)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FLIR  Middle Layer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523875" y="3602355"/>
            <a:ext cx="11277600" cy="2574925"/>
            <a:chOff x="523875" y="3602355"/>
            <a:chExt cx="11277600" cy="2574925"/>
          </a:xfrm>
        </p:grpSpPr>
        <p:sp>
          <p:nvSpPr>
            <p:cNvPr id="7" name="AutoShape 7"/>
            <p:cNvSpPr/>
            <p:nvPr/>
          </p:nvSpPr>
          <p:spPr>
            <a:xfrm>
              <a:off x="523875" y="3602355"/>
              <a:ext cx="2685143" cy="2574925"/>
            </a:xfrm>
            <a:prstGeom prst="rect">
              <a:avLst/>
            </a:prstGeom>
            <a:solidFill>
              <a:srgbClr val="FBF0F1">
                <a:alpha val="100000"/>
              </a:srgbClr>
            </a:solidFill>
            <a:ln w="25400">
              <a:solidFill>
                <a:srgbClr val="8B0012">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8" name="AutoShape 8"/>
            <p:cNvSpPr/>
            <p:nvPr/>
          </p:nvSpPr>
          <p:spPr>
            <a:xfrm>
              <a:off x="523875" y="3602355"/>
              <a:ext cx="2685143" cy="116229"/>
            </a:xfrm>
            <a:prstGeom prst="rect">
              <a:avLst/>
            </a:prstGeom>
            <a:solidFill>
              <a:srgbClr val="8B0012">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9" name="AutoShape 9"/>
            <p:cNvSpPr/>
            <p:nvPr/>
          </p:nvSpPr>
          <p:spPr>
            <a:xfrm>
              <a:off x="523875" y="3731101"/>
              <a:ext cx="2685143" cy="51498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800" b="1" i="0" u="none" strike="noStrike">
                  <a:solidFill>
                    <a:srgbClr val="8B0012"/>
                  </a:solidFill>
                  <a:latin typeface="Arial" panose="020B0604020202020204"/>
                  <a:ea typeface="Arial" panose="020B0604020202020204"/>
                  <a:cs typeface="Arial" panose="020B0604020202020204"/>
                  <a:sym typeface="Arial" panose="020B0604020202020204"/>
                </a:rPr>
                <a:t>①</a:t>
              </a:r>
              <a:endParaRPr lang="en-US" sz="1100"/>
            </a:p>
          </p:txBody>
        </p:sp>
        <p:sp>
          <p:nvSpPr>
            <p:cNvPr id="10" name="AutoShape 10"/>
            <p:cNvSpPr/>
            <p:nvPr/>
          </p:nvSpPr>
          <p:spPr>
            <a:xfrm>
              <a:off x="643215" y="4272014"/>
              <a:ext cx="2446463" cy="463129"/>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1" i="0" u="none" strike="noStrike">
                  <a:solidFill>
                    <a:srgbClr val="1C1C1C"/>
                  </a:solidFill>
                  <a:latin typeface="Arial" panose="020B0604020202020204"/>
                  <a:ea typeface="Arial" panose="020B0604020202020204"/>
                  <a:cs typeface="Arial" panose="020B0604020202020204"/>
                  <a:sym typeface="Arial" panose="020B0604020202020204"/>
                </a:rPr>
                <a:t>First call triggers JIT</a:t>
              </a:r>
              <a:endParaRPr lang="en-US" sz="1100"/>
            </a:p>
          </p:txBody>
        </p:sp>
        <p:sp>
          <p:nvSpPr>
            <p:cNvPr id="11" name="AutoShape 11"/>
            <p:cNvSpPr/>
            <p:nvPr/>
          </p:nvSpPr>
          <p:spPr>
            <a:xfrm>
              <a:off x="643215" y="4761071"/>
              <a:ext cx="2446463" cy="1351836"/>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400" b="0" i="0" u="none" strike="noStrike">
                  <a:solidFill>
                    <a:srgbClr val="4A3A3B"/>
                  </a:solidFill>
                  <a:latin typeface="Arial" panose="020B0604020202020204"/>
                  <a:ea typeface="Arial" panose="020B0604020202020204"/>
                  <a:cs typeface="Arial" panose="020B0604020202020204"/>
                  <a:sym typeface="Arial" panose="020B0604020202020204"/>
                </a:rPr>
                <a:t>The kernel wrapped by @triton.jit is called for the first time; a specialization key based on actual dtype/shape is used to query the disk cache.</a:t>
              </a:r>
              <a:endParaRPr lang="en-US" sz="1100"/>
            </a:p>
          </p:txBody>
        </p:sp>
        <p:sp>
          <p:nvSpPr>
            <p:cNvPr id="12" name="AutoShape 12"/>
            <p:cNvSpPr/>
            <p:nvPr/>
          </p:nvSpPr>
          <p:spPr>
            <a:xfrm>
              <a:off x="3209018" y="4825444"/>
              <a:ext cx="179010" cy="64373"/>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p>
          </p:txBody>
        </p:sp>
        <p:sp>
          <p:nvSpPr>
            <p:cNvPr id="13" name="AutoShape 13"/>
            <p:cNvSpPr/>
            <p:nvPr/>
          </p:nvSpPr>
          <p:spPr>
            <a:xfrm>
              <a:off x="3304324" y="4728885"/>
              <a:ext cx="143373" cy="257492"/>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000" b="0" i="0" u="none" strike="noStrike">
                  <a:solidFill>
                    <a:srgbClr val="7A606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
          <p:nvSpPr>
            <p:cNvPr id="14" name="AutoShape 14"/>
            <p:cNvSpPr/>
            <p:nvPr/>
          </p:nvSpPr>
          <p:spPr>
            <a:xfrm>
              <a:off x="3388027" y="3602355"/>
              <a:ext cx="2685143" cy="2574925"/>
            </a:xfrm>
            <a:prstGeom prst="rect">
              <a:avLst/>
            </a:prstGeom>
            <a:solidFill>
              <a:srgbClr val="FBF0F1">
                <a:alpha val="100000"/>
              </a:srgbClr>
            </a:solidFill>
            <a:ln w="25400">
              <a:solidFill>
                <a:srgbClr val="B8860B">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15" name="AutoShape 15"/>
            <p:cNvSpPr/>
            <p:nvPr/>
          </p:nvSpPr>
          <p:spPr>
            <a:xfrm>
              <a:off x="3388027" y="3602355"/>
              <a:ext cx="2685143" cy="116229"/>
            </a:xfrm>
            <a:prstGeom prst="rect">
              <a:avLst/>
            </a:prstGeom>
            <a:solidFill>
              <a:srgbClr val="B8860B">
                <a:alpha val="100000"/>
              </a:srgbClr>
            </a:solidFill>
            <a:ln w="12700">
              <a:solidFill>
                <a:srgbClr val="B8860B">
                  <a:alpha val="100000"/>
                </a:srgbClr>
              </a:solidFill>
              <a:prstDash val="solid"/>
            </a:ln>
          </p:spPr>
          <p:txBody>
            <a:bodyPr wrap="square" lIns="91440" tIns="45720" rIns="91440" bIns="45720" rtlCol="0" anchor="t">
              <a:noAutofit/>
            </a:bodyPr>
            <a:lstStyle/>
            <a:p>
              <a:pPr algn="ctr">
                <a:defRPr/>
              </a:pPr>
            </a:p>
          </p:txBody>
        </p:sp>
        <p:sp>
          <p:nvSpPr>
            <p:cNvPr id="16" name="AutoShape 16"/>
            <p:cNvSpPr/>
            <p:nvPr/>
          </p:nvSpPr>
          <p:spPr>
            <a:xfrm>
              <a:off x="3388027" y="3731101"/>
              <a:ext cx="2685143" cy="51498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800" b="1" i="0" u="none" strike="noStrike">
                  <a:solidFill>
                    <a:srgbClr val="B8860B"/>
                  </a:solidFill>
                  <a:latin typeface="Arial" panose="020B0604020202020204"/>
                  <a:ea typeface="Arial" panose="020B0604020202020204"/>
                  <a:cs typeface="Arial" panose="020B0604020202020204"/>
                  <a:sym typeface="Arial" panose="020B0604020202020204"/>
                </a:rPr>
                <a:t>②</a:t>
              </a:r>
              <a:endParaRPr lang="en-US" sz="1100"/>
            </a:p>
          </p:txBody>
        </p:sp>
        <p:sp>
          <p:nvSpPr>
            <p:cNvPr id="17" name="AutoShape 17"/>
            <p:cNvSpPr/>
            <p:nvPr/>
          </p:nvSpPr>
          <p:spPr>
            <a:xfrm>
              <a:off x="3507367" y="4272014"/>
              <a:ext cx="2446463" cy="463129"/>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1" i="0" u="none" strike="noStrike">
                  <a:solidFill>
                    <a:srgbClr val="1C1C1C"/>
                  </a:solidFill>
                  <a:latin typeface="Arial" panose="020B0604020202020204"/>
                  <a:ea typeface="Arial" panose="020B0604020202020204"/>
                  <a:cs typeface="Arial" panose="020B0604020202020204"/>
                  <a:sym typeface="Arial" panose="020B0604020202020204"/>
                </a:rPr>
                <a:t>Compilation or cache hit</a:t>
              </a:r>
              <a:endParaRPr lang="en-US" sz="1100"/>
            </a:p>
          </p:txBody>
        </p:sp>
        <p:sp>
          <p:nvSpPr>
            <p:cNvPr id="18" name="AutoShape 18"/>
            <p:cNvSpPr/>
            <p:nvPr/>
          </p:nvSpPr>
          <p:spPr>
            <a:xfrm>
              <a:off x="3507367" y="4761071"/>
              <a:ext cx="2446463" cy="1351836"/>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400" b="0" i="0" u="none" strike="noStrike">
                  <a:solidFill>
                    <a:srgbClr val="4A3A3B"/>
                  </a:solidFill>
                  <a:latin typeface="Arial" panose="020B0604020202020204"/>
                  <a:ea typeface="Arial" panose="020B0604020202020204"/>
                  <a:cs typeface="Arial" panose="020B0604020202020204"/>
                  <a:sym typeface="Arial" panose="020B0604020202020204"/>
                </a:rPr>
                <a:t>On cache miss, the full compilation pipeline starts and results are written to disk; on cache hit, the pre-compiled binary is read directly.</a:t>
              </a:r>
              <a:endParaRPr lang="en-US" sz="1100"/>
            </a:p>
          </p:txBody>
        </p:sp>
        <p:sp>
          <p:nvSpPr>
            <p:cNvPr id="19" name="AutoShape 19"/>
            <p:cNvSpPr/>
            <p:nvPr/>
          </p:nvSpPr>
          <p:spPr>
            <a:xfrm>
              <a:off x="6073170" y="4825444"/>
              <a:ext cx="179010" cy="64373"/>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p>
          </p:txBody>
        </p:sp>
        <p:sp>
          <p:nvSpPr>
            <p:cNvPr id="20" name="AutoShape 20"/>
            <p:cNvSpPr/>
            <p:nvPr/>
          </p:nvSpPr>
          <p:spPr>
            <a:xfrm>
              <a:off x="6168476" y="4728885"/>
              <a:ext cx="143373" cy="257492"/>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000" b="0" i="0" u="none" strike="noStrike">
                  <a:solidFill>
                    <a:srgbClr val="7A606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
          <p:nvSpPr>
            <p:cNvPr id="21" name="AutoShape 21"/>
            <p:cNvSpPr/>
            <p:nvPr/>
          </p:nvSpPr>
          <p:spPr>
            <a:xfrm>
              <a:off x="6252180" y="3602355"/>
              <a:ext cx="2685143" cy="2574925"/>
            </a:xfrm>
            <a:prstGeom prst="rect">
              <a:avLst/>
            </a:prstGeom>
            <a:solidFill>
              <a:srgbClr val="FBF0F1">
                <a:alpha val="100000"/>
              </a:srgbClr>
            </a:solidFill>
            <a:ln w="25400">
              <a:solidFill>
                <a:srgbClr val="C4314A">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22" name="AutoShape 22"/>
            <p:cNvSpPr/>
            <p:nvPr/>
          </p:nvSpPr>
          <p:spPr>
            <a:xfrm>
              <a:off x="6252180" y="3602355"/>
              <a:ext cx="2685143" cy="116229"/>
            </a:xfrm>
            <a:prstGeom prst="rect">
              <a:avLst/>
            </a:prstGeom>
            <a:solidFill>
              <a:srgbClr val="C4314A">
                <a:alpha val="100000"/>
              </a:srgbClr>
            </a:solidFill>
            <a:ln w="12700">
              <a:solidFill>
                <a:srgbClr val="C4314A">
                  <a:alpha val="100000"/>
                </a:srgbClr>
              </a:solidFill>
              <a:prstDash val="solid"/>
            </a:ln>
          </p:spPr>
          <p:txBody>
            <a:bodyPr wrap="square" lIns="91440" tIns="45720" rIns="91440" bIns="45720" rtlCol="0" anchor="t">
              <a:noAutofit/>
            </a:bodyPr>
            <a:lstStyle/>
            <a:p>
              <a:pPr algn="ctr">
                <a:defRPr/>
              </a:pPr>
            </a:p>
          </p:txBody>
        </p:sp>
        <p:sp>
          <p:nvSpPr>
            <p:cNvPr id="23" name="AutoShape 23"/>
            <p:cNvSpPr/>
            <p:nvPr/>
          </p:nvSpPr>
          <p:spPr>
            <a:xfrm>
              <a:off x="6252180" y="3731101"/>
              <a:ext cx="2685143" cy="51498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800" b="1" i="0" u="none" strike="noStrike">
                  <a:solidFill>
                    <a:srgbClr val="C4314A"/>
                  </a:solidFill>
                  <a:latin typeface="Arial" panose="020B0604020202020204"/>
                  <a:ea typeface="Arial" panose="020B0604020202020204"/>
                  <a:cs typeface="Arial" panose="020B0604020202020204"/>
                  <a:sym typeface="Arial" panose="020B0604020202020204"/>
                </a:rPr>
                <a:t>③</a:t>
              </a:r>
              <a:endParaRPr lang="en-US" sz="1100"/>
            </a:p>
          </p:txBody>
        </p:sp>
        <p:sp>
          <p:nvSpPr>
            <p:cNvPr id="24" name="AutoShape 24"/>
            <p:cNvSpPr/>
            <p:nvPr/>
          </p:nvSpPr>
          <p:spPr>
            <a:xfrm>
              <a:off x="6371519" y="4272014"/>
              <a:ext cx="2446463" cy="463129"/>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1" i="0" u="none" strike="noStrike">
                  <a:solidFill>
                    <a:srgbClr val="1C1C1C"/>
                  </a:solidFill>
                  <a:latin typeface="Arial" panose="020B0604020202020204"/>
                  <a:ea typeface="Arial" panose="020B0604020202020204"/>
                  <a:cs typeface="Arial" panose="020B0604020202020204"/>
                  <a:sym typeface="Arial" panose="020B0604020202020204"/>
                </a:rPr>
                <a:t>Dynamic library loading</a:t>
              </a:r>
              <a:endParaRPr lang="en-US" sz="1100"/>
            </a:p>
          </p:txBody>
        </p:sp>
        <p:sp>
          <p:nvSpPr>
            <p:cNvPr id="25" name="AutoShape 25"/>
            <p:cNvSpPr/>
            <p:nvPr/>
          </p:nvSpPr>
          <p:spPr>
            <a:xfrm>
              <a:off x="6371519" y="4761071"/>
              <a:ext cx="2446463" cy="1351836"/>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400" b="0" i="0" u="none" strike="noStrike">
                  <a:solidFill>
                    <a:srgbClr val="4A3A3B"/>
                  </a:solidFill>
                  <a:latin typeface="Arial" panose="020B0604020202020204"/>
                  <a:ea typeface="Arial" panose="020B0604020202020204"/>
                  <a:cs typeface="Arial" panose="020B0604020202020204"/>
                  <a:sym typeface="Arial" panose="020B0604020202020204"/>
                </a:rPr>
                <a:t>Via cuModuleLoadData (NVIDIA) / hipModuleLoad (AMD) or vendor-equivalent API to load onto the device and obtain the kernel handle.</a:t>
              </a:r>
              <a:endParaRPr lang="en-US" sz="1100"/>
            </a:p>
          </p:txBody>
        </p:sp>
        <p:sp>
          <p:nvSpPr>
            <p:cNvPr id="26" name="AutoShape 26"/>
            <p:cNvSpPr/>
            <p:nvPr/>
          </p:nvSpPr>
          <p:spPr>
            <a:xfrm>
              <a:off x="8937323" y="4825444"/>
              <a:ext cx="179010" cy="64373"/>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p>
          </p:txBody>
        </p:sp>
        <p:sp>
          <p:nvSpPr>
            <p:cNvPr id="27" name="AutoShape 27"/>
            <p:cNvSpPr/>
            <p:nvPr/>
          </p:nvSpPr>
          <p:spPr>
            <a:xfrm>
              <a:off x="9032629" y="4728885"/>
              <a:ext cx="143373" cy="257492"/>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000" b="0" i="0" u="none" strike="noStrike">
                  <a:solidFill>
                    <a:srgbClr val="7A606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
          <p:nvSpPr>
            <p:cNvPr id="28" name="AutoShape 28"/>
            <p:cNvSpPr/>
            <p:nvPr/>
          </p:nvSpPr>
          <p:spPr>
            <a:xfrm>
              <a:off x="9116332" y="3602355"/>
              <a:ext cx="2685143" cy="2574925"/>
            </a:xfrm>
            <a:prstGeom prst="rect">
              <a:avLst/>
            </a:prstGeom>
            <a:solidFill>
              <a:srgbClr val="FBF0F1">
                <a:alpha val="100000"/>
              </a:srgbClr>
            </a:solidFill>
            <a:ln w="25400">
              <a:solidFill>
                <a:srgbClr val="5C0009">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29" name="AutoShape 29"/>
            <p:cNvSpPr/>
            <p:nvPr/>
          </p:nvSpPr>
          <p:spPr>
            <a:xfrm>
              <a:off x="9116332" y="3602355"/>
              <a:ext cx="2685143" cy="116229"/>
            </a:xfrm>
            <a:prstGeom prst="rect">
              <a:avLst/>
            </a:prstGeom>
            <a:solidFill>
              <a:srgbClr val="5C0009">
                <a:alpha val="100000"/>
              </a:srgbClr>
            </a:solidFill>
            <a:ln w="12700">
              <a:solidFill>
                <a:srgbClr val="5C0009">
                  <a:alpha val="100000"/>
                </a:srgbClr>
              </a:solidFill>
              <a:prstDash val="solid"/>
            </a:ln>
          </p:spPr>
          <p:txBody>
            <a:bodyPr wrap="square" lIns="91440" tIns="45720" rIns="91440" bIns="45720" rtlCol="0" anchor="t">
              <a:noAutofit/>
            </a:bodyPr>
            <a:lstStyle/>
            <a:p>
              <a:pPr algn="ctr">
                <a:defRPr/>
              </a:pPr>
            </a:p>
          </p:txBody>
        </p:sp>
        <p:sp>
          <p:nvSpPr>
            <p:cNvPr id="30" name="AutoShape 30"/>
            <p:cNvSpPr/>
            <p:nvPr/>
          </p:nvSpPr>
          <p:spPr>
            <a:xfrm>
              <a:off x="9116332" y="3731101"/>
              <a:ext cx="2685143" cy="51498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2800" b="1" i="0" u="none" strike="noStrike">
                  <a:solidFill>
                    <a:srgbClr val="5C0009"/>
                  </a:solidFill>
                  <a:latin typeface="Arial" panose="020B0604020202020204"/>
                  <a:ea typeface="Arial" panose="020B0604020202020204"/>
                  <a:cs typeface="Arial" panose="020B0604020202020204"/>
                  <a:sym typeface="Arial" panose="020B0604020202020204"/>
                </a:rPr>
                <a:t>④</a:t>
              </a:r>
              <a:endParaRPr lang="en-US" sz="1100"/>
            </a:p>
          </p:txBody>
        </p:sp>
        <p:sp>
          <p:nvSpPr>
            <p:cNvPr id="31" name="AutoShape 31"/>
            <p:cNvSpPr/>
            <p:nvPr/>
          </p:nvSpPr>
          <p:spPr>
            <a:xfrm>
              <a:off x="9235672" y="4272014"/>
              <a:ext cx="2446463" cy="463129"/>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600" b="1" i="0" u="none" strike="noStrike">
                  <a:solidFill>
                    <a:srgbClr val="1C1C1C"/>
                  </a:solidFill>
                  <a:latin typeface="Arial" panose="020B0604020202020204"/>
                  <a:ea typeface="Arial" panose="020B0604020202020204"/>
                  <a:cs typeface="Arial" panose="020B0604020202020204"/>
                  <a:sym typeface="Arial" panose="020B0604020202020204"/>
                </a:rPr>
                <a:t>Kernel dispatch and execution</a:t>
              </a:r>
              <a:endParaRPr lang="en-US" sz="1100"/>
            </a:p>
          </p:txBody>
        </p:sp>
        <p:sp>
          <p:nvSpPr>
            <p:cNvPr id="32" name="AutoShape 32"/>
            <p:cNvSpPr/>
            <p:nvPr/>
          </p:nvSpPr>
          <p:spPr>
            <a:xfrm>
              <a:off x="9235672" y="4761071"/>
              <a:ext cx="2446463" cy="1351836"/>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400" b="0" i="0" u="none" strike="noStrike">
                  <a:solidFill>
                    <a:srgbClr val="4A3A3B"/>
                  </a:solidFill>
                  <a:latin typeface="Arial" panose="020B0604020202020204"/>
                  <a:ea typeface="Arial" panose="020B0604020202020204"/>
                  <a:cs typeface="Arial" panose="020B0604020202020204"/>
                  <a:sym typeface="Arial" panose="020B0604020202020204"/>
                </a:rPr>
                <a:t>UnifiedHardware Manager provides unified launch API wrapping, shielding vendor differences; FlagTree replaces the system triton package for seamless upper-layer framework switching.</a:t>
              </a:r>
              <a:endParaRPr lang="en-US" sz="1100"/>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KernelGen  Generated Code Examples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KernelGen The code generated by KernelGen is functionally complete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 terms of engineering structure, it typically manifests as a hybrid single file containing business logic, test utilities, and plotting scripts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18490" y="2918460"/>
            <a:ext cx="5240655" cy="197675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316345" y="2497455"/>
            <a:ext cx="5485130" cy="350012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Engineering Criteria for Operator Integration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KernelGen 's generated operators must satisfy: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Pass correctness verification in an isolated environment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 andCUDA baseline implementation comparison</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The baseline implementation is also generated byKernelGen</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Meet preset benchmarks in performance testing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193280" y="1464945"/>
            <a:ext cx="4057650" cy="503237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06120" y="3429000"/>
            <a:ext cx="5534660" cy="128143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Standardized Refactoring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https://github.com/flagos-ai/KernelGen/tree/main/tools</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Execution Logic:AST  parsing and structural cleanup, transforming the original code into standardized operator library modules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Kernel Extraction: Strip benchmarking code, dynamize grid configuration.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Dependency Injection: Mount FlagGems 's dedicated @libentry  decorator to integrate with the cache dispatch mechanism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Test Migration: Refactor assertions into the standard pytest  parameterized test framework.</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Standardized Refactoring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https://github.com/flagos-ai/KernelGen/tree/main/tools</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graphicFrame>
        <p:nvGraphicFramePr>
          <p:cNvPr id="5" name="Table 5"/>
          <p:cNvGraphicFramePr>
            <a:graphicFrameLocks noGrp="1"/>
          </p:cNvGraphicFramePr>
          <p:nvPr/>
        </p:nvGraphicFramePr>
        <p:xfrm>
          <a:off x="215900" y="2198079"/>
          <a:ext cx="11760200" cy="3414395"/>
        </p:xfrm>
        <a:graphic>
          <a:graphicData uri="http://schemas.openxmlformats.org/drawingml/2006/table">
            <a:tbl>
              <a:tblPr>
                <a:effectLst/>
              </a:tblPr>
              <a:tblGrid>
                <a:gridCol w="2910840"/>
                <a:gridCol w="5627370"/>
                <a:gridCol w="3221990"/>
              </a:tblGrid>
              <a:tr h="346075">
                <a:tc>
                  <a:txBody>
                    <a:bodyPr rtlCol="0"/>
                    <a:lstStyle/>
                    <a:p>
                      <a:pPr indent="0" algn="ctr">
                        <a:lnSpc>
                          <a:spcPct val="117000"/>
                        </a:lnSpc>
                        <a:defRPr/>
                      </a:pPr>
                      <a:r>
                        <a:rPr lang="en-US" sz="1200" b="1" i="0" u="none" strike="noStrike" spc="120">
                          <a:solidFill>
                            <a:srgbClr val="000000"/>
                          </a:solidFill>
                          <a:latin typeface="Arial" panose="020B0604020202020204"/>
                          <a:ea typeface="Arial" panose="020B0604020202020204"/>
                          <a:cs typeface="Arial" panose="020B0604020202020204"/>
                          <a:sym typeface="Arial" panose="020B0604020202020204"/>
                        </a:rPr>
                        <a:t>KernelGen Original File Output</a:t>
                      </a:r>
                      <a:endParaRPr lang="en-US" sz="1100"/>
                    </a:p>
                  </a:txBody>
                  <a:tcPr marL="107950" marR="107950" marT="63500" marB="635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8B0012">
                        <a:alpha val="100000"/>
                      </a:srgbClr>
                    </a:solidFill>
                  </a:tcPr>
                </a:tc>
                <a:tc>
                  <a:txBody>
                    <a:bodyPr rtlCol="0"/>
                    <a:lstStyle/>
                    <a:p>
                      <a:pPr indent="0" algn="ctr">
                        <a:lnSpc>
                          <a:spcPct val="117000"/>
                        </a:lnSpc>
                        <a:defRPr/>
                      </a:pPr>
                      <a:r>
                        <a:rPr lang="en-US" sz="1200" b="1" i="0" u="none" strike="noStrike" spc="120">
                          <a:solidFill>
                            <a:srgbClr val="000000"/>
                          </a:solidFill>
                          <a:latin typeface="Arial" panose="020B0604020202020204"/>
                          <a:ea typeface="Arial" panose="020B0604020202020204"/>
                          <a:cs typeface="Arial" panose="020B0604020202020204"/>
                          <a:sym typeface="Arial" panose="020B0604020202020204"/>
                        </a:rPr>
                        <a:t>convert.py  Parsing Behavior and Structural Cleanup</a:t>
                      </a:r>
                      <a:endParaRPr lang="en-US" sz="1100"/>
                    </a:p>
                  </a:txBody>
                  <a:tcPr marL="107950" marR="107950" marT="63500" marB="635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8B0012">
                        <a:alpha val="100000"/>
                      </a:srgbClr>
                    </a:solidFill>
                  </a:tcPr>
                </a:tc>
                <a:tc>
                  <a:txBody>
                    <a:bodyPr rtlCol="0"/>
                    <a:lstStyle/>
                    <a:p>
                      <a:pPr indent="0" algn="ctr">
                        <a:lnSpc>
                          <a:spcPct val="117000"/>
                        </a:lnSpc>
                        <a:defRPr/>
                      </a:pPr>
                      <a:r>
                        <a:rPr lang="en-US" sz="1200" b="1" i="0" u="none" strike="noStrike" spc="120">
                          <a:solidFill>
                            <a:srgbClr val="000000"/>
                          </a:solidFill>
                          <a:latin typeface="Arial" panose="020B0604020202020204"/>
                          <a:ea typeface="Arial" panose="020B0604020202020204"/>
                          <a:cs typeface="Arial" panose="020B0604020202020204"/>
                          <a:sym typeface="Arial" panose="020B0604020202020204"/>
                        </a:rPr>
                        <a:t>FlagGems  Target Module Mapping</a:t>
                      </a:r>
                      <a:endParaRPr lang="en-US" sz="1100"/>
                    </a:p>
                  </a:txBody>
                  <a:tcPr marL="107950" marR="107950" marT="63500" marB="635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8B0012">
                        <a:alpha val="100000"/>
                      </a:srgbClr>
                    </a:solidFill>
                  </a:tcPr>
                </a:tc>
              </a:tr>
              <a:tr h="858520">
                <a:tc>
                  <a:txBody>
                    <a:bodyPr rtlCol="0"/>
                    <a:lstStyle/>
                    <a:p>
                      <a:pPr indent="0" algn="ctr">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[operator]_triton.py</a:t>
                      </a:r>
                      <a:endParaRPr lang="en-US" sz="1100"/>
                    </a:p>
                  </a:txBody>
                  <a:tcPr marL="107950" marR="107950" marT="63500" marB="635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Strip all performance benchmarks and test stub code. Extract the main kernel function containing @triton.jit. Convert KernelGen-generated hardcoded launch parameters to dynamic grid configurations; inject FlagGems' dedicated @libentry decorator for mounting auto-tuning and heuristic rule caching mechanisms.</a:t>
                      </a:r>
                      <a:endParaRPr lang="en-US" sz="1100"/>
                    </a:p>
                  </a:txBody>
                  <a:tcPr marL="107950" marR="107950" marT="63500" marB="635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src/flag_gems/ops/[operator].py</a:t>
                      </a:r>
                      <a:endParaRPr lang="en-US" sz="1100"/>
                    </a:p>
                  </a:txBody>
                  <a:tcPr marL="107950" marR="107950" marT="63500" marB="635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r>
              <a:tr h="492760">
                <a:tc>
                  <a:txBody>
                    <a:bodyPr rtlCol="0"/>
                    <a:lstStyle/>
                    <a:p>
                      <a:pPr indent="0" algn="ctr">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[operator]_baseline.py</a:t>
                      </a:r>
                      <a:endParaRPr lang="en-US" sz="1100"/>
                    </a:p>
                  </a:txBody>
                  <a:tcPr marL="107950" marR="107950" marT="63500" marB="635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Extract the native PyTorch  or CUDA  operator implementation as the baseline reference, wrapping it as the benchmark function in the test suite.</a:t>
                      </a:r>
                      <a:endParaRPr lang="en-US" sz="1100"/>
                    </a:p>
                  </a:txBody>
                  <a:tcPr marL="107950" marR="107950" marT="63500" marB="635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Extracted for test module invocation.</a:t>
                      </a:r>
                      <a:endParaRPr lang="en-US" sz="1100"/>
                    </a:p>
                  </a:txBody>
                  <a:tcPr marL="107950" marR="107950" marT="63500" marB="635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r>
              <a:tr h="858520">
                <a:tc>
                  <a:txBody>
                    <a:bodyPr rtlCol="0"/>
                    <a:lstStyle/>
                    <a:p>
                      <a:pPr indent="0" algn="ctr">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test_[op]_accuracy.py</a:t>
                      </a:r>
                      <a:endParaRPr lang="en-US" sz="1100"/>
                    </a:p>
                  </a:txBody>
                  <a:tcPr marL="107950" marR="107950" marT="63500" marB="635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Refactor assertion logic. Transform standalone assertion scripts into standard pytest  framework unit test classes. Inject parameterized decorators for different data types (FP16, BF16, FP32) parameterized decorators, and add boundary tests for NaN,Inf  and other atypical values with boundary condition handling.</a:t>
                      </a:r>
                      <a:endParaRPr lang="en-US" sz="1100"/>
                    </a:p>
                  </a:txBody>
                  <a:tcPr marL="107950" marR="107950" marT="63500" marB="635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tests/[operator]_test.py</a:t>
                      </a:r>
                      <a:endParaRPr lang="en-US" sz="1100"/>
                    </a:p>
                  </a:txBody>
                  <a:tcPr marL="107950" marR="107950" marT="63500" marB="635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r>
              <a:tr h="858520">
                <a:tc>
                  <a:txBody>
                    <a:bodyPr rtlCol="0"/>
                    <a:lstStyle/>
                    <a:p>
                      <a:pPr indent="0" algn="ctr">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test_[op]_performance.py</a:t>
                      </a:r>
                      <a:endParaRPr lang="en-US" sz="1100"/>
                    </a:p>
                  </a:txBody>
                  <a:tcPr marL="107950" marR="107950" marT="63500" marB="635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Clean up chart generation code. Retain key Throughput (Throughput) and Latency (Latency) evaluation logic, and integrate into FlagGems 's automated CI/CD  performance benchmark (Benchmark) evaluation pipeline to ensure regression test stability.</a:t>
                      </a:r>
                      <a:endParaRPr lang="en-US" sz="1100"/>
                    </a:p>
                  </a:txBody>
                  <a:tcPr marL="107950" marR="107950" marT="63500" marB="635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000" b="0" i="0" u="none" strike="noStrike" spc="60">
                          <a:solidFill>
                            <a:srgbClr val="000000"/>
                          </a:solidFill>
                          <a:latin typeface="Arial" panose="020B0604020202020204"/>
                          <a:ea typeface="Arial" panose="020B0604020202020204"/>
                          <a:cs typeface="Arial" panose="020B0604020202020204"/>
                          <a:sym typeface="Arial" panose="020B0604020202020204"/>
                        </a:rPr>
                        <a:t>tests/[operator]_test.py</a:t>
                      </a:r>
                      <a:endParaRPr lang="en-US" sz="1100"/>
                    </a:p>
                  </a:txBody>
                  <a:tcPr marL="107950" marR="107950" marT="63500" marB="63500" anchor="t">
                    <a:lnL w="0" cap="flat" cmpd="sng" algn="ctr">
                      <a:prstDash val="solid"/>
                      <a:round/>
                      <a:headEnd type="none" w="med" len="med"/>
                      <a:tailEnd type="none" w="med" len="med"/>
                    </a:lnL>
                    <a:lnR w="0" cap="flat" cmpd="sng" algn="ctr">
                      <a:prstDash val="solid"/>
                      <a:round/>
                      <a:headEnd type="none" w="med" len="med"/>
                      <a:tailEnd type="none" w="med" len="med"/>
                    </a:lnR>
                    <a:lnT w="12700" cap="flat" cmpd="sng" algn="ctr">
                      <a:solidFill>
                        <a:srgbClr val="8B0012"/>
                      </a:solidFill>
                      <a:prstDash val="solid"/>
                      <a:round/>
                      <a:headEnd type="none" w="med" len="med"/>
                      <a:tailEnd type="none" w="med" len="med"/>
                    </a:lnT>
                    <a:lnB w="12700" cap="flat" cmpd="sng" algn="ctr">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SubmitPR toexperimental_ops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https://github.com/flagos-ai/FlagGems/tree/master/src/flag_gems/experimental_ops</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pic>
        <p:nvPicPr>
          <p:cNvPr id="5" name="Picture 5"/>
          <p:cNvPicPr>
            <a:picLocks noChangeAspect="1"/>
          </p:cNvPicPr>
          <p:nvPr>
            <p:ph type="body" sz="quarter" idx="9"/>
          </p:nvPr>
        </p:nvPicPr>
        <p:blipFill>
          <a:blip r:embed="rId1"/>
          <a:srcRect/>
          <a:stretch>
            <a:fillRect/>
          </a:stretch>
        </p:blipFill>
        <p:spPr>
          <a:xfrm>
            <a:off x="1945272" y="1323975"/>
            <a:ext cx="8434806" cy="4852988"/>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43: Extreme Optimization of Heterogeneous Systems</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Microarchitecture of Heterogeneous Systems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Architecture Evolution: From a single SIMT  model toward architectures integrating tensor engines, asynchronous memory, and massive on-chip caches.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Ecosystem Differences: Fundamental differences exist in instruction throughput, register file sizes, and memory topologies across different hardware.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Optimization Requirements: Relying on abstract general-purpose compilers often leads to pipeline stalls or idle bandwidth; targeted specialization is essential.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Typical Domestic GPU  Microarchitecture Examples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Moore Threads (Moore Threads): Fifth-generation“Huagang” architecture, supporting next-generation asynchronous programming models and FP4  quantized data format, supporting clusters of over 100,000 cards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Biren Technology (Biren):BR100  architecture, equipped with 300MB  massive on-chip cache and 64GB HBM2E, minimizing global memory access latency to the extreme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052195" y="3154680"/>
            <a:ext cx="4868545" cy="343027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002655" y="3429000"/>
            <a:ext cx="5925820" cy="260731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Case Study:Background and Challenges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Garamond" panose="02020404030301010803"/>
              </a:defRPr>
            </a:lvl1pPr>
          </a:lstStyle>
          <a:p>
            <a:pPr indent="0" algn="l">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https://github.com/flagos-ai/FlagTree/pull/333</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Objective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Taking tle.gpu.local_ptr  as an example, introduce how toimplement microarchitecture optimization for specific architectures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Code Location:https://github.com/flagos-ai/FlagTree/pull/333</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Core Challenges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Generic optimizations cannot reach the low-level details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Shared memory access bottleneck</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Significant operator performance gaps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63600" lvl="2"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e.g.,moe_align_block_size, topk etc.</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Software stack fragmentation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466080" y="3775710"/>
            <a:ext cx="5852795" cy="227203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Memory Access Optimization Fundamentals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290945" cy="4853305"/>
          </a:xfrm>
          <a:prstGeom prst="rect">
            <a:avLst/>
          </a:prstGeom>
        </p:spPr>
        <p:txBody>
          <a:bodyPr wrap="square" lIns="91440" tIns="45720" rIns="91440" bIns="45720" anchor="t">
            <a:noAutofit/>
          </a:bodyPr>
          <a:lstStyle>
            <a:lvl1pPr algn="l">
              <a:lnSpc>
                <a:spcPct val="108000"/>
              </a:lnSpc>
              <a:defRPr sz="2000" b="0" i="0" u="none" strike="noStrike" spc="0">
                <a:solidFill>
                  <a:srgbClr val="404040">
                    <a:alpha val="100000"/>
                  </a:srgbClr>
                </a:solidFill>
                <a:latin typeface="Calibri" panose="020F0502020204030204"/>
              </a:defRPr>
            </a:lvl1pPr>
          </a:lstStyle>
          <a:p>
            <a:pPr marL="254000" indent="-254000" algn="l">
              <a:lnSpc>
                <a:spcPct val="108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Shared Memory  Core Characteristics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Bank  Structure: divided into 32  bankss, every 4 bytes spanning across banks; parallel access without conflicts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Thread Block Visible: the same CTA  share it, requiring __syncthreads()  for synchronization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Explicit Management:Programmer//compiler explicitly controls allocation; not a transparent cache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Domestic Chip Differences:Some domestic GPU 's bank  bank width and address mapping differ from NVIDIA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8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local_ptr  Significance: Verify via local_ptr  abstraction, uniformly express shared mem  pointer operations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8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7071366" y="2126956"/>
            <a:ext cx="4728706" cy="3424542"/>
            <a:chOff x="7071366" y="2126956"/>
            <a:chExt cx="4728706" cy="3424542"/>
          </a:xfrm>
        </p:grpSpPr>
        <p:sp>
          <p:nvSpPr>
            <p:cNvPr id="7" name="AutoShape 7"/>
            <p:cNvSpPr/>
            <p:nvPr/>
          </p:nvSpPr>
          <p:spPr>
            <a:xfrm>
              <a:off x="7071366" y="2126956"/>
              <a:ext cx="4727205" cy="457436"/>
            </a:xfrm>
            <a:prstGeom prst="rect">
              <a:avLst/>
            </a:prstGeom>
            <a:solidFill>
              <a:srgbClr val="C62828">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7248477" y="2191711"/>
              <a:ext cx="3308818" cy="327096"/>
            </a:xfrm>
            <a:prstGeom prst="rect">
              <a:avLst/>
            </a:prstGeom>
            <a:noFill/>
            <a:ln w="12700">
              <a:noFill/>
              <a:prstDash val="solid"/>
            </a:ln>
          </p:spPr>
          <p:txBody>
            <a:bodyPr wrap="square" lIns="91440" tIns="45720" rIns="91440" bIns="45720" rtlCol="0" anchor="t">
              <a:normAutofit lnSpcReduction="10000"/>
            </a:bodyPr>
            <a:lstStyle/>
            <a:p>
              <a:pPr indent="0" algn="l">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Register</a:t>
              </a:r>
              <a:endParaRPr lang="en-US" sz="1100"/>
            </a:p>
          </p:txBody>
        </p:sp>
        <p:sp>
          <p:nvSpPr>
            <p:cNvPr id="9" name="AutoShape 9"/>
            <p:cNvSpPr/>
            <p:nvPr/>
          </p:nvSpPr>
          <p:spPr>
            <a:xfrm>
              <a:off x="10380935" y="2191711"/>
              <a:ext cx="1418387" cy="327096"/>
            </a:xfrm>
            <a:prstGeom prst="rect">
              <a:avLst/>
            </a:prstGeom>
            <a:noFill/>
            <a:ln w="12700">
              <a:noFill/>
              <a:prstDash val="solid"/>
            </a:ln>
          </p:spPr>
          <p:txBody>
            <a:bodyPr wrap="square" lIns="91440" tIns="45720" rIns="91440" bIns="45720" rtlCol="0" anchor="t">
              <a:normAutofit/>
            </a:bodyPr>
            <a:lstStyle/>
            <a:p>
              <a:pPr indent="0" algn="r">
                <a:lnSpc>
                  <a:spcPct val="100000"/>
                </a:lnSpc>
                <a:defRPr/>
              </a:pPr>
              <a:r>
                <a:rPr lang="en-US" sz="1300" b="0" i="0" u="none" strike="noStrike">
                  <a:solidFill>
                    <a:srgbClr val="FFFFFF"/>
                  </a:solidFill>
                  <a:latin typeface="Arial" panose="020B0604020202020204"/>
                  <a:ea typeface="Arial" panose="020B0604020202020204"/>
                  <a:cs typeface="Arial" panose="020B0604020202020204"/>
                  <a:sym typeface="Arial" panose="020B0604020202020204"/>
                </a:rPr>
                <a:t>Fastest ~1 cycle</a:t>
              </a:r>
              <a:endParaRPr lang="en-US" sz="1100"/>
            </a:p>
          </p:txBody>
        </p:sp>
        <p:sp>
          <p:nvSpPr>
            <p:cNvPr id="10" name="AutoShape 10"/>
            <p:cNvSpPr/>
            <p:nvPr/>
          </p:nvSpPr>
          <p:spPr>
            <a:xfrm>
              <a:off x="7071366" y="2688996"/>
              <a:ext cx="4727205" cy="496455"/>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7248477" y="2754581"/>
              <a:ext cx="3308818" cy="366115"/>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Shared Memory</a:t>
              </a:r>
              <a:endParaRPr lang="en-US" sz="1100"/>
            </a:p>
          </p:txBody>
        </p:sp>
        <p:sp>
          <p:nvSpPr>
            <p:cNvPr id="12" name="AutoShape 12"/>
            <p:cNvSpPr/>
            <p:nvPr/>
          </p:nvSpPr>
          <p:spPr>
            <a:xfrm>
              <a:off x="10380935" y="2786959"/>
              <a:ext cx="1418387" cy="366115"/>
            </a:xfrm>
            <a:prstGeom prst="rect">
              <a:avLst/>
            </a:prstGeom>
            <a:noFill/>
            <a:ln w="12700">
              <a:noFill/>
              <a:prstDash val="solid"/>
            </a:ln>
          </p:spPr>
          <p:txBody>
            <a:bodyPr wrap="square" lIns="91440" tIns="45720" rIns="91440" bIns="45720" rtlCol="0" anchor="t">
              <a:normAutofit lnSpcReduction="10000"/>
            </a:bodyPr>
            <a:lstStyle/>
            <a:p>
              <a:pPr indent="0" algn="r">
                <a:lnSpc>
                  <a:spcPct val="100000"/>
                </a:lnSpc>
                <a:defRPr/>
              </a:pPr>
              <a:r>
                <a:rPr lang="en-US" sz="1000" b="0" i="0" u="none" strike="noStrike">
                  <a:solidFill>
                    <a:srgbClr val="FFFFFF"/>
                  </a:solidFill>
                  <a:latin typeface="Arial" panose="020B0604020202020204"/>
                  <a:ea typeface="Arial" panose="020B0604020202020204"/>
                  <a:cs typeface="Arial" panose="020B0604020202020204"/>
                  <a:sym typeface="Arial" panose="020B0604020202020204"/>
                </a:rPr>
                <a:t>Very Fast ~5 cycles, thread block shared</a:t>
              </a:r>
              <a:endParaRPr lang="en-US" sz="1100"/>
            </a:p>
          </p:txBody>
        </p:sp>
        <p:sp>
          <p:nvSpPr>
            <p:cNvPr id="13" name="AutoShape 13"/>
            <p:cNvSpPr/>
            <p:nvPr/>
          </p:nvSpPr>
          <p:spPr>
            <a:xfrm>
              <a:off x="7071366" y="3290055"/>
              <a:ext cx="4727205" cy="496455"/>
            </a:xfrm>
            <a:prstGeom prst="rect">
              <a:avLst/>
            </a:prstGeom>
            <a:solidFill>
              <a:srgbClr val="E57373">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7248477" y="3355640"/>
              <a:ext cx="3308818" cy="366115"/>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L1 Cache / Texture</a:t>
              </a:r>
              <a:endParaRPr lang="en-US" sz="1100"/>
            </a:p>
          </p:txBody>
        </p:sp>
        <p:sp>
          <p:nvSpPr>
            <p:cNvPr id="15" name="AutoShape 15"/>
            <p:cNvSpPr/>
            <p:nvPr/>
          </p:nvSpPr>
          <p:spPr>
            <a:xfrm>
              <a:off x="10380935" y="3355640"/>
              <a:ext cx="1418387" cy="366115"/>
            </a:xfrm>
            <a:prstGeom prst="rect">
              <a:avLst/>
            </a:prstGeom>
            <a:noFill/>
            <a:ln w="12700">
              <a:noFill/>
              <a:prstDash val="solid"/>
            </a:ln>
          </p:spPr>
          <p:txBody>
            <a:bodyPr wrap="square" lIns="91440" tIns="45720" rIns="91440" bIns="45720" rtlCol="0" anchor="t">
              <a:normAutofit/>
            </a:bodyPr>
            <a:lstStyle/>
            <a:p>
              <a:pPr indent="0" algn="r">
                <a:lnSpc>
                  <a:spcPct val="100000"/>
                </a:lnSpc>
                <a:defRPr/>
              </a:pPr>
              <a:r>
                <a:rPr lang="en-US" sz="1300" b="0" i="0" u="none" strike="noStrike">
                  <a:solidFill>
                    <a:srgbClr val="FFFFFF"/>
                  </a:solidFill>
                  <a:latin typeface="Arial" panose="020B0604020202020204"/>
                  <a:ea typeface="Arial" panose="020B0604020202020204"/>
                  <a:cs typeface="Arial" panose="020B0604020202020204"/>
                  <a:sym typeface="Arial" panose="020B0604020202020204"/>
                </a:rPr>
                <a:t>Fast ~30 cycles</a:t>
              </a:r>
              <a:endParaRPr lang="en-US" sz="1100"/>
            </a:p>
          </p:txBody>
        </p:sp>
        <p:sp>
          <p:nvSpPr>
            <p:cNvPr id="16" name="AutoShape 16"/>
            <p:cNvSpPr/>
            <p:nvPr/>
          </p:nvSpPr>
          <p:spPr>
            <a:xfrm>
              <a:off x="7071366" y="3891944"/>
              <a:ext cx="4727205" cy="496455"/>
            </a:xfrm>
            <a:prstGeom prst="rect">
              <a:avLst/>
            </a:prstGeom>
            <a:solidFill>
              <a:srgbClr val="EF9A9A">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7" name="AutoShape 17"/>
            <p:cNvSpPr/>
            <p:nvPr/>
          </p:nvSpPr>
          <p:spPr>
            <a:xfrm>
              <a:off x="7248477" y="3956699"/>
              <a:ext cx="3308818" cy="366115"/>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L2 Cache</a:t>
              </a:r>
              <a:endParaRPr lang="en-US" sz="1100"/>
            </a:p>
          </p:txBody>
        </p:sp>
        <p:sp>
          <p:nvSpPr>
            <p:cNvPr id="18" name="AutoShape 18"/>
            <p:cNvSpPr/>
            <p:nvPr/>
          </p:nvSpPr>
          <p:spPr>
            <a:xfrm>
              <a:off x="10380935" y="3956699"/>
              <a:ext cx="1418387" cy="366115"/>
            </a:xfrm>
            <a:prstGeom prst="rect">
              <a:avLst/>
            </a:prstGeom>
            <a:noFill/>
            <a:ln w="12700">
              <a:noFill/>
              <a:prstDash val="solid"/>
            </a:ln>
          </p:spPr>
          <p:txBody>
            <a:bodyPr wrap="square" lIns="91440" tIns="45720" rIns="91440" bIns="45720" rtlCol="0" anchor="t">
              <a:normAutofit lnSpcReduction="20000"/>
            </a:bodyPr>
            <a:lstStyle/>
            <a:p>
              <a:pPr indent="0" algn="r">
                <a:lnSpc>
                  <a:spcPct val="100000"/>
                </a:lnSpc>
                <a:defRPr/>
              </a:pPr>
              <a:r>
                <a:rPr lang="en-US" sz="1100" b="0" i="0" u="none" strike="noStrike">
                  <a:solidFill>
                    <a:srgbClr val="FFFFFF"/>
                  </a:solidFill>
                  <a:latin typeface="Arial" panose="020B0604020202020204"/>
                  <a:ea typeface="Arial" panose="020B0604020202020204"/>
                  <a:cs typeface="Arial" panose="020B0604020202020204"/>
                  <a:sym typeface="Arial" panose="020B0604020202020204"/>
                </a:rPr>
                <a:t>Moderately Fast ~100 cycles</a:t>
              </a:r>
              <a:endParaRPr lang="en-US" sz="1100"/>
            </a:p>
          </p:txBody>
        </p:sp>
        <p:sp>
          <p:nvSpPr>
            <p:cNvPr id="19" name="AutoShape 19"/>
            <p:cNvSpPr/>
            <p:nvPr/>
          </p:nvSpPr>
          <p:spPr>
            <a:xfrm>
              <a:off x="7071366" y="4493003"/>
              <a:ext cx="4727205" cy="496455"/>
            </a:xfrm>
            <a:prstGeom prst="rect">
              <a:avLst/>
            </a:prstGeom>
            <a:solidFill>
              <a:srgbClr val="FFCCBC">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0" name="AutoShape 20"/>
            <p:cNvSpPr/>
            <p:nvPr/>
          </p:nvSpPr>
          <p:spPr>
            <a:xfrm>
              <a:off x="7248477" y="4558588"/>
              <a:ext cx="3308818" cy="366115"/>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Global Memory (HBM)</a:t>
              </a:r>
              <a:endParaRPr lang="en-US" sz="1100"/>
            </a:p>
          </p:txBody>
        </p:sp>
        <p:sp>
          <p:nvSpPr>
            <p:cNvPr id="21" name="AutoShape 21"/>
            <p:cNvSpPr/>
            <p:nvPr/>
          </p:nvSpPr>
          <p:spPr>
            <a:xfrm>
              <a:off x="10381685" y="4571871"/>
              <a:ext cx="1418387" cy="366115"/>
            </a:xfrm>
            <a:prstGeom prst="rect">
              <a:avLst/>
            </a:prstGeom>
            <a:noFill/>
            <a:ln w="12700">
              <a:noFill/>
              <a:prstDash val="solid"/>
            </a:ln>
          </p:spPr>
          <p:txBody>
            <a:bodyPr wrap="square" lIns="91440" tIns="45720" rIns="91440" bIns="45720" rtlCol="0" anchor="t">
              <a:normAutofit lnSpcReduction="10000"/>
            </a:bodyPr>
            <a:lstStyle/>
            <a:p>
              <a:pPr indent="0" algn="r">
                <a:lnSpc>
                  <a:spcPct val="100000"/>
                </a:lnSpc>
                <a:defRPr/>
              </a:pPr>
              <a:r>
                <a:rPr lang="en-US" sz="1100" b="0" i="0" u="none" strike="noStrike">
                  <a:solidFill>
                    <a:srgbClr val="FFFFFF"/>
                  </a:solidFill>
                  <a:latin typeface="Arial" panose="020B0604020202020204"/>
                  <a:ea typeface="Arial" panose="020B0604020202020204"/>
                  <a:cs typeface="Arial" panose="020B0604020202020204"/>
                  <a:sym typeface="Arial" panose="020B0604020202020204"/>
                </a:rPr>
                <a:t>Slow ~400+ cycles</a:t>
              </a:r>
              <a:endParaRPr lang="en-US" sz="1100"/>
            </a:p>
          </p:txBody>
        </p:sp>
        <p:sp>
          <p:nvSpPr>
            <p:cNvPr id="22" name="AutoShape 22"/>
            <p:cNvSpPr/>
            <p:nvPr/>
          </p:nvSpPr>
          <p:spPr>
            <a:xfrm>
              <a:off x="7071366" y="5159647"/>
              <a:ext cx="4727205" cy="391851"/>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400" b="0" i="0" u="none" strike="noStrike">
                  <a:solidFill>
                    <a:srgbClr val="666666"/>
                  </a:solidFill>
                  <a:latin typeface="Arial" panose="020B0604020202020204"/>
                  <a:ea typeface="Arial" panose="020B0604020202020204"/>
                  <a:cs typeface="Arial" panose="020B0604020202020204"/>
                  <a:sym typeface="Arial" panose="020B0604020202020204"/>
                </a:rPr>
                <a:t>Latency increases from top to bottom  </a:t>
              </a:r>
              <a:r>
                <a:rPr lang="en-US" sz="1400" b="0" i="0" u="none" strike="noStrike">
                  <a:solidFill>
                    <a:srgbClr val="666666"/>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FlagGems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265545" cy="4853305"/>
          </a:xfrm>
          <a:prstGeom prst="rect">
            <a:avLst/>
          </a:prstGeom>
        </p:spPr>
        <p:txBody>
          <a:bodyPr wrap="square" lIns="91440" tIns="45720" rIns="91440" bIns="45720" anchor="t">
            <a:noAutofit/>
          </a:bodyPr>
          <a:lstStyle>
            <a:lvl1pPr algn="l">
              <a:lnSpc>
                <a:spcPct val="108000"/>
              </a:lnSpc>
              <a:defRPr sz="1600" b="0" i="0" u="none" strike="noStrike" spc="0">
                <a:solidFill>
                  <a:srgbClr val="404040">
                    <a:alpha val="100000"/>
                  </a:srgbClr>
                </a:solidFill>
                <a:latin typeface="Calibri" panose="020F0502020204030204"/>
              </a:defRPr>
            </a:lvl1pPr>
          </a:lstStyle>
          <a:p>
            <a:pPr marL="203200" indent="-203200" algn="l">
              <a:lnSpc>
                <a:spcPct val="108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Triton -written, Cross-Hardware Unified:</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495300" lvl="1" indent="-152400" algn="l">
              <a:lnSpc>
                <a:spcPct val="108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Natively supports CUDA,MLU,XPU,NPU  etc. 10+  hardware backends</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03200" indent="-203200" algn="l">
              <a:lnSpc>
                <a:spcPct val="108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High-Performance Operators: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495300" lvl="1" indent="-152400" algn="l">
              <a:lnSpc>
                <a:spcPct val="108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Core training and inference operators including matrix operations, attention mechanisms, normalization, and activation functions</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03200" indent="-203200" algn="l">
              <a:lnSpc>
                <a:spcPct val="108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LibEntry  Kernel Cache: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495300" lvl="1" indent="-152400" algn="l">
              <a:lnSpc>
                <a:spcPct val="108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In-house dispatch layer replacing Triton  native Autotuner, significantly reducing first-compilation overhead and dispatch  dispatch latency</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03200" indent="-203200" algn="l">
              <a:lnSpc>
                <a:spcPct val="108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Dual-Mode Deployment:</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495300" lvl="1" indent="-152400" algn="l">
              <a:lnSpc>
                <a:spcPct val="108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Pure Python  package (quick validation) and C++  extension (production acceleration) freely switchable;C++  path eliminates Python  call frame overhead</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03200" indent="-203200" algn="l">
              <a:lnSpc>
                <a:spcPct val="108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Configuration-Driven Tuning: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495300" lvl="1" indent="-152400" algn="l">
              <a:lnSpc>
                <a:spcPct val="108000"/>
              </a:lnSpc>
              <a:spcBef>
                <a:spcPts val="750"/>
              </a:spcBef>
              <a:buClr>
                <a:srgbClr val="404040"/>
              </a:buClr>
              <a:buChar char="•"/>
            </a:pPr>
            <a:r>
              <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rPr>
              <a:t>LibTuner  automatically searches for optimal hyperparameters and persists them as YAML; cold start directly reuses them without re-running benchmark</a:t>
            </a:r>
            <a:endParaRPr lang="en-US" sz="12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6990715" y="1323975"/>
            <a:ext cx="4810760" cy="472186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FlagTree  System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Unified Multi-Chip AI  Operator Compiler · Based on Triton &amp; MLIR  Ecosystem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Supported Chip Backends (10+  domestic and international mainstream AI  chips)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NVIDIA,Cambricon,Tsingmicro,Huawei Ascend,Moore Threads, etc.</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Multiple Triton  version branches (v3.1 ~ v3.5) maintained in parallel; independent CI/CD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741680" y="3359150"/>
            <a:ext cx="10964545" cy="2765907"/>
            <a:chOff x="741680" y="3359150"/>
            <a:chExt cx="10964545" cy="2765907"/>
          </a:xfrm>
        </p:grpSpPr>
        <p:sp>
          <p:nvSpPr>
            <p:cNvPr id="7" name="AutoShape 7"/>
            <p:cNvSpPr/>
            <p:nvPr/>
          </p:nvSpPr>
          <p:spPr>
            <a:xfrm>
              <a:off x="741680" y="3359150"/>
              <a:ext cx="2582578" cy="2765907"/>
            </a:xfrm>
            <a:prstGeom prst="rect">
              <a:avLst/>
            </a:prstGeom>
            <a:solidFill>
              <a:srgbClr val="FBF0F1">
                <a:alpha val="100000"/>
              </a:srgbClr>
            </a:solidFill>
            <a:ln w="25400">
              <a:solidFill>
                <a:srgbClr val="8B0012">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8" name="AutoShape 8"/>
            <p:cNvSpPr/>
            <p:nvPr/>
          </p:nvSpPr>
          <p:spPr>
            <a:xfrm>
              <a:off x="741680" y="3359150"/>
              <a:ext cx="2582578" cy="176428"/>
            </a:xfrm>
            <a:prstGeom prst="rect">
              <a:avLst/>
            </a:prstGeom>
            <a:solidFill>
              <a:srgbClr val="8B0012">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9" name="AutoShape 9"/>
            <p:cNvSpPr/>
            <p:nvPr/>
          </p:nvSpPr>
          <p:spPr>
            <a:xfrm>
              <a:off x="741680" y="3552328"/>
              <a:ext cx="2582578" cy="6108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800" b="1" i="0" u="none" strike="noStrike">
                  <a:solidFill>
                    <a:srgbClr val="1C1C1C"/>
                  </a:solidFill>
                  <a:latin typeface="Arial" panose="020B0604020202020204"/>
                  <a:ea typeface="Arial" panose="020B0604020202020204"/>
                  <a:cs typeface="Arial" panose="020B0604020202020204"/>
                  <a:sym typeface="Arial" panose="020B0604020202020204"/>
                </a:rPr>
                <a:t>Python Frontend</a:t>
              </a:r>
              <a:endParaRPr lang="en-US" sz="1100"/>
            </a:p>
          </p:txBody>
        </p:sp>
        <p:sp>
          <p:nvSpPr>
            <p:cNvPr id="10" name="AutoShape 10"/>
            <p:cNvSpPr/>
            <p:nvPr/>
          </p:nvSpPr>
          <p:spPr>
            <a:xfrm>
              <a:off x="741680" y="4227893"/>
              <a:ext cx="2582578" cy="1801133"/>
            </a:xfrm>
            <a:prstGeom prst="rect">
              <a:avLst/>
            </a:prstGeom>
            <a:noFill/>
            <a:ln w="12700">
              <a:noFill/>
              <a:prstDash val="solid"/>
            </a:ln>
          </p:spPr>
          <p:txBody>
            <a:bodyPr wrap="square" lIns="50800" tIns="50800" rIns="50800" bIns="50800" rtlCol="0" anchor="ctr">
              <a:noAutofit/>
            </a:bodyPr>
            <a:lstStyle/>
            <a:p>
              <a:pPr indent="0" algn="ctr">
                <a:lnSpc>
                  <a:spcPct val="100000"/>
                </a:lnSpc>
                <a:defRPr/>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@triton.jit</a:t>
              </a:r>
              <a:endParaRPr lang="en-US" sz="1100"/>
            </a:p>
            <a:p>
              <a:pPr indent="0" algn="ctr">
                <a:lnSpc>
                  <a:spcPct val="100000"/>
                </a:lnSpc>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FlagGems LibEntry</a:t>
              </a:r>
              <a:endParaRPr lang="en-US" sz="1600" b="1" i="0" u="none" strike="noStrike">
                <a:solidFill>
                  <a:srgbClr val="7A6065"/>
                </a:solidFill>
                <a:latin typeface="Arial" panose="020B0604020202020204"/>
                <a:ea typeface="Arial" panose="020B0604020202020204"/>
                <a:cs typeface="Arial" panose="020B0604020202020204"/>
                <a:sym typeface="Arial" panose="020B0604020202020204"/>
              </a:endParaRPr>
            </a:p>
          </p:txBody>
        </p:sp>
        <p:sp>
          <p:nvSpPr>
            <p:cNvPr id="11" name="AutoShape 11"/>
            <p:cNvSpPr/>
            <p:nvPr/>
          </p:nvSpPr>
          <p:spPr>
            <a:xfrm>
              <a:off x="3324258" y="4645514"/>
              <a:ext cx="211139" cy="80398"/>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p>
          </p:txBody>
        </p:sp>
        <p:sp>
          <p:nvSpPr>
            <p:cNvPr id="12" name="AutoShape 12"/>
            <p:cNvSpPr/>
            <p:nvPr/>
          </p:nvSpPr>
          <p:spPr>
            <a:xfrm>
              <a:off x="3465289" y="4509285"/>
              <a:ext cx="164672" cy="35397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7A606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
          <p:nvSpPr>
            <p:cNvPr id="13" name="AutoShape 13"/>
            <p:cNvSpPr/>
            <p:nvPr/>
          </p:nvSpPr>
          <p:spPr>
            <a:xfrm>
              <a:off x="3535397" y="3359150"/>
              <a:ext cx="2582578" cy="2765907"/>
            </a:xfrm>
            <a:prstGeom prst="rect">
              <a:avLst/>
            </a:prstGeom>
            <a:solidFill>
              <a:srgbClr val="FBF0F1">
                <a:alpha val="100000"/>
              </a:srgbClr>
            </a:solidFill>
            <a:ln w="25400">
              <a:solidFill>
                <a:srgbClr val="B8860B">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14" name="AutoShape 14"/>
            <p:cNvSpPr/>
            <p:nvPr/>
          </p:nvSpPr>
          <p:spPr>
            <a:xfrm>
              <a:off x="3535397" y="3359150"/>
              <a:ext cx="2582578" cy="176428"/>
            </a:xfrm>
            <a:prstGeom prst="rect">
              <a:avLst/>
            </a:prstGeom>
            <a:solidFill>
              <a:srgbClr val="B8860B">
                <a:alpha val="100000"/>
              </a:srgbClr>
            </a:solidFill>
            <a:ln w="12700">
              <a:solidFill>
                <a:srgbClr val="B8860B">
                  <a:alpha val="100000"/>
                </a:srgbClr>
              </a:solidFill>
              <a:prstDash val="solid"/>
            </a:ln>
          </p:spPr>
          <p:txBody>
            <a:bodyPr wrap="square" lIns="91440" tIns="45720" rIns="91440" bIns="45720" rtlCol="0" anchor="t">
              <a:noAutofit/>
            </a:bodyPr>
            <a:lstStyle/>
            <a:p>
              <a:pPr algn="ctr">
                <a:defRPr/>
              </a:pPr>
            </a:p>
          </p:txBody>
        </p:sp>
        <p:sp>
          <p:nvSpPr>
            <p:cNvPr id="15" name="AutoShape 15"/>
            <p:cNvSpPr/>
            <p:nvPr/>
          </p:nvSpPr>
          <p:spPr>
            <a:xfrm>
              <a:off x="3535397" y="3552328"/>
              <a:ext cx="2582578" cy="6108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800" b="1" i="0" u="none" strike="noStrike">
                  <a:solidFill>
                    <a:srgbClr val="1C1C1C"/>
                  </a:solidFill>
                  <a:latin typeface="Arial" panose="020B0604020202020204"/>
                  <a:ea typeface="Arial" panose="020B0604020202020204"/>
                  <a:cs typeface="Arial" panose="020B0604020202020204"/>
                  <a:sym typeface="Arial" panose="020B0604020202020204"/>
                </a:rPr>
                <a:t>Compiler Middle Layer</a:t>
              </a:r>
              <a:endParaRPr lang="en-US" sz="1100"/>
            </a:p>
          </p:txBody>
        </p:sp>
        <p:sp>
          <p:nvSpPr>
            <p:cNvPr id="16" name="AutoShape 16"/>
            <p:cNvSpPr/>
            <p:nvPr/>
          </p:nvSpPr>
          <p:spPr>
            <a:xfrm>
              <a:off x="3535397" y="4227893"/>
              <a:ext cx="2582578" cy="1801133"/>
            </a:xfrm>
            <a:prstGeom prst="rect">
              <a:avLst/>
            </a:prstGeom>
            <a:noFill/>
            <a:ln w="12700">
              <a:noFill/>
              <a:prstDash val="solid"/>
            </a:ln>
          </p:spPr>
          <p:txBody>
            <a:bodyPr wrap="square" lIns="50800" tIns="50800" rIns="50800" bIns="50800" rtlCol="0" anchor="ctr">
              <a:noAutofit/>
            </a:bodyPr>
            <a:lstStyle/>
            <a:p>
              <a:pPr indent="0" algn="ctr">
                <a:lnSpc>
                  <a:spcPct val="100000"/>
                </a:lnSpc>
                <a:defRPr/>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MLIR Dialects</a:t>
              </a:r>
              <a:endParaRPr lang="en-US" sz="1100"/>
            </a:p>
            <a:p>
              <a:pPr indent="0" algn="ctr">
                <a:lnSpc>
                  <a:spcPct val="100000"/>
                </a:lnSpc>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Triton-IR / TTGIR</a:t>
              </a:r>
              <a:endParaRPr lang="en-US" sz="1600" b="1" i="0" u="none" strike="noStrike">
                <a:solidFill>
                  <a:srgbClr val="7A6065"/>
                </a:solidFill>
                <a:latin typeface="Arial" panose="020B0604020202020204"/>
                <a:ea typeface="Arial" panose="020B0604020202020204"/>
                <a:cs typeface="Arial" panose="020B0604020202020204"/>
                <a:sym typeface="Arial" panose="020B0604020202020204"/>
              </a:endParaRPr>
            </a:p>
          </p:txBody>
        </p:sp>
        <p:sp>
          <p:nvSpPr>
            <p:cNvPr id="17" name="AutoShape 17"/>
            <p:cNvSpPr/>
            <p:nvPr/>
          </p:nvSpPr>
          <p:spPr>
            <a:xfrm>
              <a:off x="6117975" y="4645514"/>
              <a:ext cx="211139" cy="80398"/>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p>
          </p:txBody>
        </p:sp>
        <p:sp>
          <p:nvSpPr>
            <p:cNvPr id="18" name="AutoShape 18"/>
            <p:cNvSpPr/>
            <p:nvPr/>
          </p:nvSpPr>
          <p:spPr>
            <a:xfrm>
              <a:off x="6259006" y="4509285"/>
              <a:ext cx="164672" cy="35397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7A606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
          <p:nvSpPr>
            <p:cNvPr id="19" name="AutoShape 19"/>
            <p:cNvSpPr/>
            <p:nvPr/>
          </p:nvSpPr>
          <p:spPr>
            <a:xfrm>
              <a:off x="6329930" y="3359150"/>
              <a:ext cx="2582578" cy="2765907"/>
            </a:xfrm>
            <a:prstGeom prst="rect">
              <a:avLst/>
            </a:prstGeom>
            <a:solidFill>
              <a:srgbClr val="FBF0F1">
                <a:alpha val="100000"/>
              </a:srgbClr>
            </a:solidFill>
            <a:ln w="25400">
              <a:solidFill>
                <a:srgbClr val="C4314A">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20" name="AutoShape 20"/>
            <p:cNvSpPr/>
            <p:nvPr/>
          </p:nvSpPr>
          <p:spPr>
            <a:xfrm>
              <a:off x="6329930" y="3359150"/>
              <a:ext cx="2582578" cy="176428"/>
            </a:xfrm>
            <a:prstGeom prst="rect">
              <a:avLst/>
            </a:prstGeom>
            <a:solidFill>
              <a:srgbClr val="C4314A">
                <a:alpha val="100000"/>
              </a:srgbClr>
            </a:solidFill>
            <a:ln w="12700">
              <a:solidFill>
                <a:srgbClr val="C4314A">
                  <a:alpha val="100000"/>
                </a:srgbClr>
              </a:solidFill>
              <a:prstDash val="solid"/>
            </a:ln>
          </p:spPr>
          <p:txBody>
            <a:bodyPr wrap="square" lIns="91440" tIns="45720" rIns="91440" bIns="45720" rtlCol="0" anchor="t">
              <a:noAutofit/>
            </a:bodyPr>
            <a:lstStyle/>
            <a:p>
              <a:pPr algn="ctr">
                <a:defRPr/>
              </a:pPr>
            </a:p>
          </p:txBody>
        </p:sp>
        <p:sp>
          <p:nvSpPr>
            <p:cNvPr id="21" name="AutoShape 21"/>
            <p:cNvSpPr/>
            <p:nvPr/>
          </p:nvSpPr>
          <p:spPr>
            <a:xfrm>
              <a:off x="6329930" y="3552328"/>
              <a:ext cx="2582578" cy="6108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800" b="1" i="0" u="none" strike="noStrike">
                  <a:solidFill>
                    <a:srgbClr val="1C1C1C"/>
                  </a:solidFill>
                  <a:latin typeface="Arial" panose="020B0604020202020204"/>
                  <a:ea typeface="Arial" panose="020B0604020202020204"/>
                  <a:cs typeface="Arial" panose="020B0604020202020204"/>
                  <a:sym typeface="Arial" panose="020B0604020202020204"/>
                </a:rPr>
                <a:t>Backend Code Generation</a:t>
              </a:r>
              <a:endParaRPr lang="en-US" sz="1100"/>
            </a:p>
          </p:txBody>
        </p:sp>
        <p:sp>
          <p:nvSpPr>
            <p:cNvPr id="22" name="AutoShape 22"/>
            <p:cNvSpPr/>
            <p:nvPr/>
          </p:nvSpPr>
          <p:spPr>
            <a:xfrm>
              <a:off x="6329930" y="4227893"/>
              <a:ext cx="2582578" cy="1801133"/>
            </a:xfrm>
            <a:prstGeom prst="rect">
              <a:avLst/>
            </a:prstGeom>
            <a:noFill/>
            <a:ln w="12700">
              <a:noFill/>
              <a:prstDash val="solid"/>
            </a:ln>
          </p:spPr>
          <p:txBody>
            <a:bodyPr wrap="square" lIns="50800" tIns="50800" rIns="50800" bIns="50800" rtlCol="0" anchor="ctr">
              <a:noAutofit/>
            </a:bodyPr>
            <a:lstStyle/>
            <a:p>
              <a:pPr indent="0" algn="ctr">
                <a:lnSpc>
                  <a:spcPct val="100000"/>
                </a:lnSpc>
                <a:defRPr/>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LLVM-IR → PTX</a:t>
              </a:r>
              <a:endParaRPr lang="en-US" sz="1100"/>
            </a:p>
            <a:p>
              <a:pPr indent="0" algn="ctr">
                <a:lnSpc>
                  <a:spcPct val="100000"/>
                </a:lnSpc>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ASM / Vendor Toolchain</a:t>
              </a:r>
              <a:endParaRPr lang="en-US" sz="1600" b="1" i="0" u="none" strike="noStrike">
                <a:solidFill>
                  <a:srgbClr val="7A6065"/>
                </a:solidFill>
                <a:latin typeface="Arial" panose="020B0604020202020204"/>
                <a:ea typeface="Arial" panose="020B0604020202020204"/>
                <a:cs typeface="Arial" panose="020B0604020202020204"/>
                <a:sym typeface="Arial" panose="020B0604020202020204"/>
              </a:endParaRPr>
            </a:p>
          </p:txBody>
        </p:sp>
        <p:sp>
          <p:nvSpPr>
            <p:cNvPr id="23" name="AutoShape 23"/>
            <p:cNvSpPr/>
            <p:nvPr/>
          </p:nvSpPr>
          <p:spPr>
            <a:xfrm>
              <a:off x="8912508" y="4645514"/>
              <a:ext cx="211139" cy="80398"/>
            </a:xfrm>
            <a:prstGeom prst="rect">
              <a:avLst/>
            </a:prstGeom>
            <a:solidFill>
              <a:srgbClr val="7A6065">
                <a:alpha val="100000"/>
              </a:srgbClr>
            </a:solidFill>
            <a:ln w="12700">
              <a:solidFill>
                <a:srgbClr val="7A6065">
                  <a:alpha val="100000"/>
                </a:srgbClr>
              </a:solidFill>
              <a:prstDash val="solid"/>
            </a:ln>
          </p:spPr>
          <p:txBody>
            <a:bodyPr wrap="square" lIns="91440" tIns="45720" rIns="91440" bIns="45720" rtlCol="0" anchor="t">
              <a:noAutofit/>
            </a:bodyPr>
            <a:lstStyle/>
            <a:p>
              <a:pPr algn="ctr">
                <a:defRPr/>
              </a:pPr>
            </a:p>
          </p:txBody>
        </p:sp>
        <p:sp>
          <p:nvSpPr>
            <p:cNvPr id="24" name="AutoShape 24"/>
            <p:cNvSpPr/>
            <p:nvPr/>
          </p:nvSpPr>
          <p:spPr>
            <a:xfrm>
              <a:off x="9052724" y="4509285"/>
              <a:ext cx="164672" cy="35397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7A606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sz="1100"/>
            </a:p>
          </p:txBody>
        </p:sp>
        <p:sp>
          <p:nvSpPr>
            <p:cNvPr id="25" name="AutoShape 25"/>
            <p:cNvSpPr/>
            <p:nvPr/>
          </p:nvSpPr>
          <p:spPr>
            <a:xfrm>
              <a:off x="9123647" y="3359150"/>
              <a:ext cx="2582578" cy="2765907"/>
            </a:xfrm>
            <a:prstGeom prst="rect">
              <a:avLst/>
            </a:prstGeom>
            <a:solidFill>
              <a:srgbClr val="FBF0F1">
                <a:alpha val="100000"/>
              </a:srgbClr>
            </a:solidFill>
            <a:ln w="25400">
              <a:solidFill>
                <a:srgbClr val="5C0009">
                  <a:alpha val="100000"/>
                </a:srgbClr>
              </a:solidFill>
              <a:prstDash val="solid"/>
            </a:ln>
            <a:effectLst>
              <a:outerShdw blurRad="63500" dist="25400" dir="8100000" algn="bl" rotWithShape="0">
                <a:srgbClr val="8B0012">
                  <a:alpha val="12000"/>
                </a:srgbClr>
              </a:outerShdw>
            </a:effectLst>
          </p:spPr>
          <p:txBody>
            <a:bodyPr wrap="square" lIns="91440" tIns="45720" rIns="91440" bIns="45720" rtlCol="0" anchor="t">
              <a:noAutofit/>
            </a:bodyPr>
            <a:lstStyle/>
            <a:p>
              <a:pPr algn="ctr">
                <a:defRPr/>
              </a:pPr>
            </a:p>
          </p:txBody>
        </p:sp>
        <p:sp>
          <p:nvSpPr>
            <p:cNvPr id="26" name="AutoShape 26"/>
            <p:cNvSpPr/>
            <p:nvPr/>
          </p:nvSpPr>
          <p:spPr>
            <a:xfrm>
              <a:off x="9123647" y="3359150"/>
              <a:ext cx="2582578" cy="176428"/>
            </a:xfrm>
            <a:prstGeom prst="rect">
              <a:avLst/>
            </a:prstGeom>
            <a:solidFill>
              <a:srgbClr val="5C0009">
                <a:alpha val="100000"/>
              </a:srgbClr>
            </a:solidFill>
            <a:ln w="12700">
              <a:solidFill>
                <a:srgbClr val="5C0009">
                  <a:alpha val="100000"/>
                </a:srgbClr>
              </a:solidFill>
              <a:prstDash val="solid"/>
            </a:ln>
          </p:spPr>
          <p:txBody>
            <a:bodyPr wrap="square" lIns="91440" tIns="45720" rIns="91440" bIns="45720" rtlCol="0" anchor="t">
              <a:noAutofit/>
            </a:bodyPr>
            <a:lstStyle/>
            <a:p>
              <a:pPr algn="ctr">
                <a:defRPr/>
              </a:pPr>
            </a:p>
          </p:txBody>
        </p:sp>
        <p:sp>
          <p:nvSpPr>
            <p:cNvPr id="27" name="AutoShape 27"/>
            <p:cNvSpPr/>
            <p:nvPr/>
          </p:nvSpPr>
          <p:spPr>
            <a:xfrm>
              <a:off x="9123647" y="3552328"/>
              <a:ext cx="2582578" cy="61080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800" b="1" i="0" u="none" strike="noStrike">
                  <a:solidFill>
                    <a:srgbClr val="1C1C1C"/>
                  </a:solidFill>
                  <a:latin typeface="Arial" panose="020B0604020202020204"/>
                  <a:ea typeface="Arial" panose="020B0604020202020204"/>
                  <a:cs typeface="Arial" panose="020B0604020202020204"/>
                  <a:sym typeface="Arial" panose="020B0604020202020204"/>
                </a:rPr>
                <a:t>Runtime Loading</a:t>
              </a:r>
              <a:endParaRPr lang="en-US" sz="1100"/>
            </a:p>
          </p:txBody>
        </p:sp>
        <p:sp>
          <p:nvSpPr>
            <p:cNvPr id="28" name="AutoShape 28"/>
            <p:cNvSpPr/>
            <p:nvPr/>
          </p:nvSpPr>
          <p:spPr>
            <a:xfrm>
              <a:off x="9123647" y="4227893"/>
              <a:ext cx="2582578" cy="1801133"/>
            </a:xfrm>
            <a:prstGeom prst="rect">
              <a:avLst/>
            </a:prstGeom>
            <a:noFill/>
            <a:ln w="12700">
              <a:noFill/>
              <a:prstDash val="solid"/>
            </a:ln>
          </p:spPr>
          <p:txBody>
            <a:bodyPr wrap="square" lIns="50800" tIns="50800" rIns="50800" bIns="50800" rtlCol="0" anchor="ctr">
              <a:noAutofit/>
            </a:bodyPr>
            <a:lstStyle/>
            <a:p>
              <a:pPr indent="0" algn="ctr">
                <a:lnSpc>
                  <a:spcPct val="100000"/>
                </a:lnSpc>
                <a:defRPr/>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JIT Cache</a:t>
              </a:r>
              <a:endParaRPr lang="en-US" sz="1100"/>
            </a:p>
            <a:p>
              <a:pPr indent="0" algn="ctr">
                <a:lnSpc>
                  <a:spcPct val="100000"/>
                </a:lnSpc>
              </a:pPr>
              <a:r>
                <a:rPr lang="en-US" sz="1600" b="1" i="0" u="none" strike="noStrike">
                  <a:solidFill>
                    <a:srgbClr val="7A6065"/>
                  </a:solidFill>
                  <a:latin typeface="Arial" panose="020B0604020202020204"/>
                  <a:ea typeface="Arial" panose="020B0604020202020204"/>
                  <a:cs typeface="Arial" panose="020B0604020202020204"/>
                  <a:sym typeface="Arial" panose="020B0604020202020204"/>
                </a:rPr>
                <a:t>Unified HW Manager</a:t>
              </a:r>
              <a:endParaRPr lang="en-US" sz="1600" b="1" i="0" u="none" strike="noStrike">
                <a:solidFill>
                  <a:srgbClr val="7A6065"/>
                </a:solidFill>
                <a:latin typeface="Arial" panose="020B0604020202020204"/>
                <a:ea typeface="Arial" panose="020B0604020202020204"/>
                <a:cs typeface="Arial" panose="020B0604020202020204"/>
                <a:sym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tle.gpu.local_ptr  Design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FlagTree TLE  Extension:Shared Memory  Pointer Primitive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Core Idea: Introduce dedicated primitives at the Triton  language layer so the compiler can recognize shared memory  pointer operations and generate specialized instructions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5169535" y="3141345"/>
            <a:ext cx="6773545" cy="2553335"/>
          </a:xfrm>
          <a:prstGeom prst="rect">
            <a:avLst/>
          </a:prstGeom>
          <a:no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tle.gpu.local_ptr:  Obtain shared memory  pointer at a specified position in</a:t>
            </a:r>
            <a:endParaRPr lang="en-US" sz="1100"/>
          </a:p>
          <a:p>
            <a:pPr indent="0" algn="l">
              <a:lnSpc>
                <a:spcPct val="100000"/>
              </a:lnSpc>
            </a:pPr>
            <a:r>
              <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def local_ptr(ptr: tl.tensor, offset: tl.tensor) -&gt; tl.tensor:</a:t>
            </a:r>
            <a:endPar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a:t>
            </a:r>
            <a:endPar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Returns a pointer to the ( GPU Shared Memory  in (ptr + offset) ) location in</a:t>
            </a:r>
            <a:endPar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and tl.make_block_ptr : directly operates on raw shared memory </a:t>
            </a:r>
            <a:br>
              <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br>
            <a:r>
              <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addresses, enabling the compiler to emit architecture-specific local load/store  instructions</a:t>
            </a:r>
            <a:endPar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a:t>
            </a:r>
            <a:endPar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7" name="AutoShape 7"/>
          <p:cNvSpPr/>
          <p:nvPr/>
        </p:nvSpPr>
        <p:spPr>
          <a:xfrm>
            <a:off x="260350" y="2764155"/>
            <a:ext cx="4909185" cy="3592195"/>
          </a:xfrm>
          <a:prstGeom prst="rect">
            <a:avLst/>
          </a:prstGeom>
          <a:noFill/>
          <a:ln w="12700">
            <a:noFill/>
            <a:prstDash val="solid"/>
          </a:ln>
        </p:spPr>
        <p:txBody>
          <a:bodyPr vert="horz" wrap="square" lIns="91440" tIns="45720" rIns="91440" bIns="45720" rtlCol="0" anchor="t">
            <a:normAutofit/>
          </a:bodyPr>
          <a:lstStyle/>
          <a:p>
            <a:pPr marL="254000" indent="-254000" algn="l">
              <a:lnSpc>
                <a:spcPct val="100000"/>
              </a:lnSpc>
              <a:spcBef>
                <a:spcPts val="1500"/>
              </a:spcBef>
              <a:buClr>
                <a:srgbClr val="404040"/>
              </a:buClr>
              <a:buChar char="•"/>
              <a:defRP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Design Points</a:t>
            </a:r>
            <a:endParaRPr lang="en-US" sz="1100"/>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Explicitly declare operations on shared memory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Compiler-visible,lowering pass  pass can recognize them</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Under TLE  layer provides unified definitions; each chip backend</a:t>
            </a:r>
            <a:b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b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implements local_ptr 's lowering</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Zero runtime overhead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marL="342900" lvl="1" indent="0" algn="l">
              <a:lnSpc>
                <a:spcPct val="100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 Compiler Pass  Integration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Read from tle.gpu.local_ptr  to Architecture-Specialized Instruction Transformation Pipeline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p>
          <a:p>
            <a:pPr indent="0" algn="l">
              <a:lnSpc>
                <a:spcPct val="100000"/>
              </a:lnSpc>
              <a:spcBef>
                <a:spcPts val="1500"/>
              </a:spcBef>
            </a:pPr>
          </a:p>
          <a:p>
            <a:pPr indent="0" algn="l">
              <a:lnSpc>
                <a:spcPct val="100000"/>
              </a:lnSpc>
              <a:spcBef>
                <a:spcPts val="1500"/>
              </a:spcBef>
            </a:pPr>
          </a:p>
          <a:p>
            <a:pPr marL="342900" lvl="1" indent="0" algn="l">
              <a:lnSpc>
                <a:spcPct val="100000"/>
              </a:lnSpc>
              <a:spcBef>
                <a:spcPts val="750"/>
              </a:spcBef>
            </a:pPr>
          </a:p>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Key Pass:LocalPtrToSharedMemPass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1313180" y="2091055"/>
            <a:ext cx="9988568" cy="1191381"/>
            <a:chOff x="1313180" y="2091055"/>
            <a:chExt cx="9988568" cy="1191381"/>
          </a:xfrm>
        </p:grpSpPr>
        <p:sp>
          <p:nvSpPr>
            <p:cNvPr id="7" name="AutoShape 7"/>
            <p:cNvSpPr/>
            <p:nvPr/>
          </p:nvSpPr>
          <p:spPr>
            <a:xfrm>
              <a:off x="1313180" y="2091055"/>
              <a:ext cx="1750533" cy="1191381"/>
            </a:xfrm>
            <a:prstGeom prst="rect">
              <a:avLst/>
            </a:prstGeom>
            <a:solidFill>
              <a:srgbClr val="F5F5F5">
                <a:alpha val="100000"/>
              </a:srgbClr>
            </a:solid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1313180" y="2150813"/>
              <a:ext cx="1750533" cy="476553"/>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400" b="1" i="0" u="none" strike="noStrike">
                  <a:solidFill>
                    <a:srgbClr val="1A1A1A"/>
                  </a:solidFill>
                  <a:latin typeface="Arial" panose="020B0604020202020204"/>
                  <a:ea typeface="Arial" panose="020B0604020202020204"/>
                  <a:cs typeface="Arial" panose="020B0604020202020204"/>
                  <a:sym typeface="Arial" panose="020B0604020202020204"/>
                </a:rPr>
                <a:t>Triton Python</a:t>
              </a:r>
              <a:endParaRPr lang="en-US" sz="1100"/>
            </a:p>
            <a:p>
              <a:pPr indent="0" algn="ctr">
                <a:lnSpc>
                  <a:spcPct val="100000"/>
                </a:lnSpc>
              </a:pPr>
              <a:r>
                <a:rPr lang="en-US" sz="1400" b="1" i="0" u="none" strike="noStrike">
                  <a:solidFill>
                    <a:srgbClr val="1A1A1A"/>
                  </a:solidFill>
                  <a:latin typeface="Arial" panose="020B0604020202020204"/>
                  <a:ea typeface="Arial" panose="020B0604020202020204"/>
                  <a:cs typeface="Arial" panose="020B0604020202020204"/>
                  <a:sym typeface="Arial" panose="020B0604020202020204"/>
                </a:rPr>
                <a:t>Source Code</a:t>
              </a:r>
              <a:endParaRPr lang="en-US" sz="1400" b="1" i="0" u="none" strike="noStrike">
                <a:solidFill>
                  <a:srgbClr val="1A1A1A"/>
                </a:solidFill>
                <a:latin typeface="Arial" panose="020B0604020202020204"/>
                <a:ea typeface="Arial" panose="020B0604020202020204"/>
                <a:cs typeface="Arial" panose="020B0604020202020204"/>
                <a:sym typeface="Arial" panose="020B0604020202020204"/>
              </a:endParaRPr>
            </a:p>
          </p:txBody>
        </p:sp>
        <p:sp>
          <p:nvSpPr>
            <p:cNvPr id="9" name="AutoShape 9"/>
            <p:cNvSpPr/>
            <p:nvPr/>
          </p:nvSpPr>
          <p:spPr>
            <a:xfrm>
              <a:off x="1313180" y="2686368"/>
              <a:ext cx="1750533" cy="536311"/>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200" b="0" i="0" u="none" strike="noStrike">
                  <a:solidFill>
                    <a:srgbClr val="666666"/>
                  </a:solidFill>
                  <a:latin typeface="Arial" panose="020B0604020202020204"/>
                  <a:ea typeface="Arial" panose="020B0604020202020204"/>
                  <a:cs typeface="Arial" panose="020B0604020202020204"/>
                  <a:sym typeface="Arial" panose="020B0604020202020204"/>
                </a:rPr>
                <a:t>FlagGems operator</a:t>
              </a:r>
              <a:endParaRPr lang="en-US" sz="1100"/>
            </a:p>
            <a:p>
              <a:pPr indent="0" algn="ctr">
                <a:lnSpc>
                  <a:spcPct val="100000"/>
                </a:lnSpc>
              </a:pPr>
              <a:r>
                <a:rPr lang="en-US" sz="1200" b="0" i="0" u="none" strike="noStrike">
                  <a:solidFill>
                    <a:srgbClr val="666666"/>
                  </a:solidFill>
                  <a:latin typeface="Arial" panose="020B0604020202020204"/>
                  <a:ea typeface="Arial" panose="020B0604020202020204"/>
                  <a:cs typeface="Arial" panose="020B0604020202020204"/>
                  <a:sym typeface="Arial" panose="020B0604020202020204"/>
                </a:rPr>
                <a:t>calls local_ptr</a:t>
              </a:r>
              <a:endParaRPr lang="en-US" sz="1200" b="0" i="0" u="none" strike="noStrike">
                <a:solidFill>
                  <a:srgbClr val="666666"/>
                </a:solidFill>
                <a:latin typeface="Arial" panose="020B0604020202020204"/>
                <a:ea typeface="Arial" panose="020B0604020202020204"/>
                <a:cs typeface="Arial" panose="020B0604020202020204"/>
                <a:sym typeface="Arial" panose="020B0604020202020204"/>
              </a:endParaRPr>
            </a:p>
          </p:txBody>
        </p:sp>
        <p:sp>
          <p:nvSpPr>
            <p:cNvPr id="10" name="AutoShape 10"/>
            <p:cNvSpPr/>
            <p:nvPr/>
          </p:nvSpPr>
          <p:spPr>
            <a:xfrm>
              <a:off x="3115373" y="2567608"/>
              <a:ext cx="205984" cy="59758"/>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3373016" y="2091055"/>
              <a:ext cx="1750533" cy="1191381"/>
            </a:xfrm>
            <a:prstGeom prst="rect">
              <a:avLst/>
            </a:prstGeom>
            <a:solidFill>
              <a:srgbClr val="FFF3E0">
                <a:alpha val="100000"/>
              </a:srgbClr>
            </a:solid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3373016" y="2150813"/>
              <a:ext cx="1750533" cy="476553"/>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400" b="1" i="0" u="none" strike="noStrike">
                  <a:solidFill>
                    <a:srgbClr val="E65100"/>
                  </a:solidFill>
                  <a:latin typeface="Arial" panose="020B0604020202020204"/>
                  <a:ea typeface="Arial" panose="020B0604020202020204"/>
                  <a:cs typeface="Arial" panose="020B0604020202020204"/>
                  <a:sym typeface="Arial" panose="020B0604020202020204"/>
                </a:rPr>
                <a:t>Triton IR</a:t>
              </a:r>
              <a:endParaRPr lang="en-US" sz="1100"/>
            </a:p>
            <a:p>
              <a:pPr indent="0" algn="ctr">
                <a:lnSpc>
                  <a:spcPct val="100000"/>
                </a:lnSpc>
              </a:pPr>
              <a:r>
                <a:rPr lang="en-US" sz="1400" b="1" i="0" u="none" strike="noStrike">
                  <a:solidFill>
                    <a:srgbClr val="E65100"/>
                  </a:solidFill>
                  <a:latin typeface="Arial" panose="020B0604020202020204"/>
                  <a:ea typeface="Arial" panose="020B0604020202020204"/>
                  <a:cs typeface="Arial" panose="020B0604020202020204"/>
                  <a:sym typeface="Arial" panose="020B0604020202020204"/>
                </a:rPr>
                <a:t>(TTIR)</a:t>
              </a:r>
              <a:endParaRPr lang="en-US" sz="1400" b="1" i="0" u="none" strike="noStrike">
                <a:solidFill>
                  <a:srgbClr val="E65100"/>
                </a:solidFill>
                <a:latin typeface="Arial" panose="020B0604020202020204"/>
                <a:ea typeface="Arial" panose="020B0604020202020204"/>
                <a:cs typeface="Arial" panose="020B0604020202020204"/>
                <a:sym typeface="Arial" panose="020B0604020202020204"/>
              </a:endParaRPr>
            </a:p>
          </p:txBody>
        </p:sp>
        <p:sp>
          <p:nvSpPr>
            <p:cNvPr id="13" name="AutoShape 13"/>
            <p:cNvSpPr/>
            <p:nvPr/>
          </p:nvSpPr>
          <p:spPr>
            <a:xfrm>
              <a:off x="3373016" y="2686368"/>
              <a:ext cx="1750533" cy="536311"/>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200" b="0" i="0" u="none" strike="noStrike">
                  <a:solidFill>
                    <a:srgbClr val="666666"/>
                  </a:solidFill>
                  <a:latin typeface="Arial" panose="020B0604020202020204"/>
                  <a:ea typeface="Arial" panose="020B0604020202020204"/>
                  <a:cs typeface="Arial" panose="020B0604020202020204"/>
                  <a:sym typeface="Arial" panose="020B0604020202020204"/>
                </a:rPr>
                <a:t>local_ptr node</a:t>
              </a:r>
              <a:endParaRPr lang="en-US" sz="1100"/>
            </a:p>
            <a:p>
              <a:pPr indent="0" algn="ctr">
                <a:lnSpc>
                  <a:spcPct val="100000"/>
                </a:lnSpc>
              </a:pPr>
              <a:r>
                <a:rPr lang="en-US" sz="1200" b="0" i="0" u="none" strike="noStrike">
                  <a:solidFill>
                    <a:srgbClr val="666666"/>
                  </a:solidFill>
                  <a:latin typeface="Arial" panose="020B0604020202020204"/>
                  <a:ea typeface="Arial" panose="020B0604020202020204"/>
                  <a:cs typeface="Arial" panose="020B0604020202020204"/>
                  <a:sym typeface="Arial" panose="020B0604020202020204"/>
                </a:rPr>
                <a:t> preserved in IR</a:t>
              </a:r>
              <a:endParaRPr lang="en-US" sz="1200" b="0" i="0" u="none" strike="noStrike">
                <a:solidFill>
                  <a:srgbClr val="666666"/>
                </a:solidFill>
                <a:latin typeface="Arial" panose="020B0604020202020204"/>
                <a:ea typeface="Arial" panose="020B0604020202020204"/>
                <a:cs typeface="Arial" panose="020B0604020202020204"/>
                <a:sym typeface="Arial" panose="020B0604020202020204"/>
              </a:endParaRPr>
            </a:p>
          </p:txBody>
        </p:sp>
        <p:sp>
          <p:nvSpPr>
            <p:cNvPr id="14" name="AutoShape 14"/>
            <p:cNvSpPr/>
            <p:nvPr/>
          </p:nvSpPr>
          <p:spPr>
            <a:xfrm>
              <a:off x="5175209" y="2567608"/>
              <a:ext cx="205984" cy="59758"/>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5" name="AutoShape 15"/>
            <p:cNvSpPr/>
            <p:nvPr/>
          </p:nvSpPr>
          <p:spPr>
            <a:xfrm>
              <a:off x="5432198" y="2091055"/>
              <a:ext cx="1750533" cy="1191381"/>
            </a:xfrm>
            <a:prstGeom prst="rect">
              <a:avLst/>
            </a:prstGeom>
            <a:solidFill>
              <a:srgbClr val="FCE4EC">
                <a:alpha val="100000"/>
              </a:srgbClr>
            </a:solid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6" name="AutoShape 16"/>
            <p:cNvSpPr/>
            <p:nvPr/>
          </p:nvSpPr>
          <p:spPr>
            <a:xfrm>
              <a:off x="5432198" y="2150813"/>
              <a:ext cx="1750533" cy="476553"/>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400" b="1" i="0" u="none" strike="noStrike">
                  <a:solidFill>
                    <a:srgbClr val="8B0012"/>
                  </a:solidFill>
                  <a:latin typeface="Arial" panose="020B0604020202020204"/>
                  <a:ea typeface="Arial" panose="020B0604020202020204"/>
                  <a:cs typeface="Arial" panose="020B0604020202020204"/>
                  <a:sym typeface="Arial" panose="020B0604020202020204"/>
                </a:rPr>
                <a:t>TTGIR</a:t>
              </a:r>
              <a:endParaRPr lang="en-US" sz="1100"/>
            </a:p>
            <a:p>
              <a:pPr indent="0" algn="ctr">
                <a:lnSpc>
                  <a:spcPct val="100000"/>
                </a:lnSpc>
              </a:pPr>
              <a:r>
                <a:rPr lang="en-US" sz="1400" b="1" i="0" u="none" strike="noStrike">
                  <a:solidFill>
                    <a:srgbClr val="8B0012"/>
                  </a:solidFill>
                  <a:latin typeface="Arial" panose="020B0604020202020204"/>
                  <a:ea typeface="Arial" panose="020B0604020202020204"/>
                  <a:cs typeface="Arial" panose="020B0604020202020204"/>
                  <a:sym typeface="Arial" panose="020B0604020202020204"/>
                </a:rPr>
                <a:t>(Triton GPU IR)</a:t>
              </a:r>
              <a:endParaRPr lang="en-US" sz="1400" b="1" i="0" u="none" strike="noStrike">
                <a:solidFill>
                  <a:srgbClr val="8B0012"/>
                </a:solidFill>
                <a:latin typeface="Arial" panose="020B0604020202020204"/>
                <a:ea typeface="Arial" panose="020B0604020202020204"/>
                <a:cs typeface="Arial" panose="020B0604020202020204"/>
                <a:sym typeface="Arial" panose="020B0604020202020204"/>
              </a:endParaRPr>
            </a:p>
          </p:txBody>
        </p:sp>
        <p:sp>
          <p:nvSpPr>
            <p:cNvPr id="17" name="AutoShape 17"/>
            <p:cNvSpPr/>
            <p:nvPr/>
          </p:nvSpPr>
          <p:spPr>
            <a:xfrm>
              <a:off x="5432198" y="2686368"/>
              <a:ext cx="1750533" cy="536311"/>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200" b="0" i="0" u="none" strike="noStrike">
                  <a:solidFill>
                    <a:srgbClr val="666666"/>
                  </a:solidFill>
                  <a:latin typeface="Arial" panose="020B0604020202020204"/>
                  <a:ea typeface="Arial" panose="020B0604020202020204"/>
                  <a:cs typeface="Arial" panose="020B0604020202020204"/>
                  <a:sym typeface="Arial" panose="020B0604020202020204"/>
                </a:rPr>
                <a:t>Pass identifies</a:t>
              </a:r>
              <a:endParaRPr lang="en-US" sz="1100"/>
            </a:p>
            <a:p>
              <a:pPr indent="0" algn="ctr">
                <a:lnSpc>
                  <a:spcPct val="100000"/>
                </a:lnSpc>
              </a:pPr>
              <a:r>
                <a:rPr lang="en-US" sz="1200" b="0" i="0" u="none" strike="noStrike">
                  <a:solidFill>
                    <a:srgbClr val="666666"/>
                  </a:solidFill>
                  <a:latin typeface="Arial" panose="020B0604020202020204"/>
                  <a:ea typeface="Arial" panose="020B0604020202020204"/>
                  <a:cs typeface="Arial" panose="020B0604020202020204"/>
                  <a:sym typeface="Arial" panose="020B0604020202020204"/>
                </a:rPr>
                <a:t>local_ptr node</a:t>
              </a:r>
              <a:endParaRPr lang="en-US" sz="1200" b="0" i="0" u="none" strike="noStrike">
                <a:solidFill>
                  <a:srgbClr val="666666"/>
                </a:solidFill>
                <a:latin typeface="Arial" panose="020B0604020202020204"/>
                <a:ea typeface="Arial" panose="020B0604020202020204"/>
                <a:cs typeface="Arial" panose="020B0604020202020204"/>
                <a:sym typeface="Arial" panose="020B0604020202020204"/>
              </a:endParaRPr>
            </a:p>
          </p:txBody>
        </p:sp>
        <p:sp>
          <p:nvSpPr>
            <p:cNvPr id="18" name="AutoShape 18"/>
            <p:cNvSpPr/>
            <p:nvPr/>
          </p:nvSpPr>
          <p:spPr>
            <a:xfrm>
              <a:off x="7234391" y="2567608"/>
              <a:ext cx="205984" cy="59758"/>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9" name="AutoShape 19"/>
            <p:cNvSpPr/>
            <p:nvPr/>
          </p:nvSpPr>
          <p:spPr>
            <a:xfrm>
              <a:off x="7492034" y="2091055"/>
              <a:ext cx="1750533" cy="1191381"/>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0" name="AutoShape 20"/>
            <p:cNvSpPr/>
            <p:nvPr/>
          </p:nvSpPr>
          <p:spPr>
            <a:xfrm>
              <a:off x="7492034" y="2150813"/>
              <a:ext cx="1750533" cy="476553"/>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Specialized Pass</a:t>
              </a:r>
              <a:endParaRPr lang="en-US" sz="1100"/>
            </a:p>
            <a:p>
              <a:pPr indent="0" algn="ctr">
                <a:lnSpc>
                  <a:spcPct val="100000"/>
                </a:lnSpc>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 Processing</a:t>
              </a:r>
              <a:endParaRPr lang="en-US" sz="1400" b="1" i="0" u="none"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21" name="AutoShape 21"/>
            <p:cNvSpPr/>
            <p:nvPr/>
          </p:nvSpPr>
          <p:spPr>
            <a:xfrm>
              <a:off x="7492034" y="2686368"/>
              <a:ext cx="1750533" cy="536311"/>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Replaced with target architecture</a:t>
              </a:r>
              <a:endParaRPr lang="en-US" sz="1100"/>
            </a:p>
            <a:p>
              <a:pPr indent="0" algn="ctr">
                <a:lnSpc>
                  <a:spcPct val="100000"/>
                </a:lnSpc>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local load/store</a:t>
              </a:r>
              <a:endParaRPr lang="en-US" sz="1200" b="0" i="0" u="none" strike="noStrike">
                <a:solidFill>
                  <a:srgbClr val="FFFFFF"/>
                </a:solidFill>
                <a:latin typeface="Arial" panose="020B0604020202020204"/>
                <a:ea typeface="Arial" panose="020B0604020202020204"/>
                <a:cs typeface="Arial" panose="020B0604020202020204"/>
                <a:sym typeface="Arial" panose="020B0604020202020204"/>
              </a:endParaRPr>
            </a:p>
          </p:txBody>
        </p:sp>
        <p:sp>
          <p:nvSpPr>
            <p:cNvPr id="22" name="AutoShape 22"/>
            <p:cNvSpPr/>
            <p:nvPr/>
          </p:nvSpPr>
          <p:spPr>
            <a:xfrm>
              <a:off x="9294226" y="2567608"/>
              <a:ext cx="205984" cy="59758"/>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3" name="AutoShape 23"/>
            <p:cNvSpPr/>
            <p:nvPr/>
          </p:nvSpPr>
          <p:spPr>
            <a:xfrm>
              <a:off x="9551215" y="2091055"/>
              <a:ext cx="1750533" cy="1191381"/>
            </a:xfrm>
            <a:prstGeom prst="rect">
              <a:avLst/>
            </a:prstGeom>
            <a:solidFill>
              <a:srgbClr val="E8F5E9">
                <a:alpha val="100000"/>
              </a:srgbClr>
            </a:solid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20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4" name="AutoShape 24"/>
            <p:cNvSpPr/>
            <p:nvPr/>
          </p:nvSpPr>
          <p:spPr>
            <a:xfrm>
              <a:off x="9551215" y="2150813"/>
              <a:ext cx="1750533" cy="476553"/>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400" b="1" i="0" u="none" strike="noStrike">
                  <a:solidFill>
                    <a:srgbClr val="2E7D32"/>
                  </a:solidFill>
                  <a:latin typeface="Arial" panose="020B0604020202020204"/>
                  <a:ea typeface="Arial" panose="020B0604020202020204"/>
                  <a:cs typeface="Arial" panose="020B0604020202020204"/>
                  <a:sym typeface="Arial" panose="020B0604020202020204"/>
                </a:rPr>
                <a:t>LLVM IR /</a:t>
              </a:r>
              <a:endParaRPr lang="en-US" sz="1100"/>
            </a:p>
            <a:p>
              <a:pPr indent="0" algn="ctr">
                <a:lnSpc>
                  <a:spcPct val="100000"/>
                </a:lnSpc>
              </a:pPr>
              <a:r>
                <a:rPr lang="en-US" sz="1400" b="1" i="0" u="none" strike="noStrike">
                  <a:solidFill>
                    <a:srgbClr val="2E7D32"/>
                  </a:solidFill>
                  <a:latin typeface="Arial" panose="020B0604020202020204"/>
                  <a:ea typeface="Arial" panose="020B0604020202020204"/>
                  <a:cs typeface="Arial" panose="020B0604020202020204"/>
                  <a:sym typeface="Arial" panose="020B0604020202020204"/>
                </a:rPr>
                <a:t>Target Assembly</a:t>
              </a:r>
              <a:endParaRPr lang="en-US" sz="1400" b="1" i="0" u="none" strike="noStrike">
                <a:solidFill>
                  <a:srgbClr val="2E7D32"/>
                </a:solidFill>
                <a:latin typeface="Arial" panose="020B0604020202020204"/>
                <a:ea typeface="Arial" panose="020B0604020202020204"/>
                <a:cs typeface="Arial" panose="020B0604020202020204"/>
                <a:sym typeface="Arial" panose="020B0604020202020204"/>
              </a:endParaRPr>
            </a:p>
          </p:txBody>
        </p:sp>
        <p:sp>
          <p:nvSpPr>
            <p:cNvPr id="25" name="AutoShape 25"/>
            <p:cNvSpPr/>
            <p:nvPr/>
          </p:nvSpPr>
          <p:spPr>
            <a:xfrm>
              <a:off x="9551215" y="2686368"/>
              <a:ext cx="1750533" cy="536311"/>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200" b="0" i="0" u="none" strike="noStrike">
                  <a:solidFill>
                    <a:srgbClr val="666666"/>
                  </a:solidFill>
                  <a:latin typeface="Arial" panose="020B0604020202020204"/>
                  <a:ea typeface="Arial" panose="020B0604020202020204"/>
                  <a:cs typeface="Arial" panose="020B0604020202020204"/>
                  <a:sym typeface="Arial" panose="020B0604020202020204"/>
                </a:rPr>
                <a:t>Generates optimal</a:t>
              </a:r>
              <a:endParaRPr lang="en-US" sz="1100"/>
            </a:p>
            <a:p>
              <a:pPr indent="0" algn="ctr">
                <a:lnSpc>
                  <a:spcPct val="100000"/>
                </a:lnSpc>
              </a:pPr>
              <a:r>
                <a:rPr lang="en-US" sz="1200" b="0" i="0" u="none" strike="noStrike">
                  <a:solidFill>
                    <a:srgbClr val="666666"/>
                  </a:solidFill>
                  <a:latin typeface="Arial" panose="020B0604020202020204"/>
                  <a:ea typeface="Arial" panose="020B0604020202020204"/>
                  <a:cs typeface="Arial" panose="020B0604020202020204"/>
                  <a:sym typeface="Arial" panose="020B0604020202020204"/>
                </a:rPr>
                <a:t>memory access instruction sequence</a:t>
              </a:r>
              <a:endParaRPr lang="en-US" sz="1200" b="0" i="0" u="none" strike="noStrike">
                <a:solidFill>
                  <a:srgbClr val="666666"/>
                </a:solidFill>
                <a:latin typeface="Arial" panose="020B0604020202020204"/>
                <a:ea typeface="Arial" panose="020B0604020202020204"/>
                <a:cs typeface="Arial" panose="020B0604020202020204"/>
                <a:sym typeface="Arial" panose="020B0604020202020204"/>
              </a:endParaRPr>
            </a:p>
          </p:txBody>
        </p:sp>
      </p:grpSp>
      <p:sp>
        <p:nvSpPr>
          <p:cNvPr id="26" name="AutoShape 26"/>
          <p:cNvSpPr/>
          <p:nvPr/>
        </p:nvSpPr>
        <p:spPr>
          <a:xfrm>
            <a:off x="1241425" y="4070350"/>
            <a:ext cx="9761855" cy="2553335"/>
          </a:xfrm>
          <a:prstGeom prst="rect">
            <a:avLst/>
          </a:prstGeom>
          <a:noFill/>
          <a:ln w="12700">
            <a:solidFill>
              <a:srgbClr val="8B0012">
                <a:alpha val="100000"/>
              </a:srgbClr>
            </a:solidFill>
            <a:prstDash val="solid"/>
          </a:ln>
        </p:spPr>
        <p:txBody>
          <a:bodyPr wrap="square" lIns="91440" tIns="45720" rIns="91440" bIns="45720" rtlCol="0" anchor="t">
            <a:spAutoFit/>
          </a:bodyPr>
          <a:lstStyle/>
          <a:p>
            <a:pPr indent="0" algn="l">
              <a:lnSpc>
                <a:spcPct val="100000"/>
              </a:lnSpc>
              <a:defRPr/>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FlagTree: lib/Dialect/TritonGPU/Transforms/LocalPtrToSharedMem.cpp</a:t>
            </a:r>
            <a:endParaRPr lang="en-US" sz="1100"/>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class LocalPtrToSharedMemPass : public ...&lt;LocalPtrToSharedMemPass&gt; {</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void runOnOperation() override {</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  Traverse all tle.gpu.local_ptr  operation nodes</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getOperation()-&gt;walk([&amp;](tle::gpu::LocalPtrOp op) {</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 Replace local_ptr  with target chip's shared memory intrinsic</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rewriter.replaceOpWithNewOp&lt;gpu::SharedMemLoadOp&gt;(op, ...);</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Pass  Registration and Backend Integration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000" b="0" i="0" u="none" strike="noStrike" spc="0">
                <a:solidFill>
                  <a:srgbClr val="404040">
                    <a:alpha val="100000"/>
                  </a:srgbClr>
                </a:solidFill>
                <a:latin typeface="Calibri" panose="020F0502020204030204"/>
              </a:defRPr>
            </a:lvl1pPr>
          </a:lstStyle>
          <a:p>
            <a:pPr marL="254000" indent="-2540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Optimization Results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Reduce global memory  round-trip overhead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Hit shared mem bank  locality</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Reduce memory access latency 5~10x</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71500" lvl="1" indent="-2286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Improve warp  instruction-level parallelism</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4825365" y="3326130"/>
            <a:ext cx="1819910" cy="91376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800" b="1" i="0" u="none" strike="noStrike">
                <a:solidFill>
                  <a:srgbClr val="8B0012"/>
                </a:solidFill>
                <a:latin typeface="Arial" panose="020B0604020202020204"/>
                <a:ea typeface="Arial" panose="020B0604020202020204"/>
                <a:cs typeface="Arial" panose="020B0604020202020204"/>
                <a:sym typeface="Arial" panose="020B0604020202020204"/>
              </a:rPr>
              <a:t>Pass Registration Pipeline</a:t>
            </a:r>
            <a:endParaRPr lang="en-US" sz="1100"/>
          </a:p>
        </p:txBody>
      </p:sp>
      <p:sp>
        <p:nvSpPr>
          <p:cNvPr id="7" name="AutoShape 7"/>
          <p:cNvSpPr/>
          <p:nvPr/>
        </p:nvSpPr>
        <p:spPr>
          <a:xfrm>
            <a:off x="6798310" y="1258570"/>
            <a:ext cx="5003165" cy="3290570"/>
          </a:xfrm>
          <a:prstGeom prst="rect">
            <a:avLst/>
          </a:prstGeom>
          <a:no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Register Pass in backend pipeline  Pass</a:t>
            </a:r>
            <a:endParaRPr lang="en-US" sz="1100"/>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void addPasses(PassManager &amp;pm,</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BackendType backend) {</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 Common Pass</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pm.addPass(createTritonGPUIRPass());</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 Specialized Pass (target backend only)</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if (backend == BackendType::DCU) {</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pm.addPass(</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createLocalPtrToSharedMemPass()</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pm.addPass(createLLVMLoweringPass());</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8" name="AutoShape 8"/>
          <p:cNvSpPr/>
          <p:nvPr/>
        </p:nvSpPr>
        <p:spPr>
          <a:xfrm>
            <a:off x="169545" y="5051425"/>
            <a:ext cx="1595120" cy="91376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800" b="1" i="0" u="none" strike="noStrike">
                <a:solidFill>
                  <a:srgbClr val="8B0012"/>
                </a:solidFill>
                <a:latin typeface="Arial" panose="020B0604020202020204"/>
                <a:ea typeface="Arial" panose="020B0604020202020204"/>
                <a:cs typeface="Arial" panose="020B0604020202020204"/>
                <a:sym typeface="Arial" panose="020B0604020202020204"/>
              </a:rPr>
              <a:t>IR Transformation Example</a:t>
            </a:r>
            <a:endParaRPr lang="en-US" sz="1100"/>
          </a:p>
        </p:txBody>
      </p:sp>
      <p:sp>
        <p:nvSpPr>
          <p:cNvPr id="9" name="AutoShape 9"/>
          <p:cNvSpPr/>
          <p:nvPr/>
        </p:nvSpPr>
        <p:spPr>
          <a:xfrm>
            <a:off x="1764665" y="4977130"/>
            <a:ext cx="4471670" cy="988060"/>
          </a:xfrm>
          <a:prstGeom prst="rect">
            <a:avLst/>
          </a:prstGeom>
          <a:no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%ptr = tle.gpu.local_ptr %base,</a:t>
            </a:r>
            <a:endParaRPr lang="en-US" sz="1100"/>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%offset : !tt.ptr&lt;f32&gt;</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%val = tt.load %ptr : f32</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0" name="AutoShape 10"/>
          <p:cNvSpPr/>
          <p:nvPr/>
        </p:nvSpPr>
        <p:spPr>
          <a:xfrm>
            <a:off x="7148195" y="4947285"/>
            <a:ext cx="4653280" cy="1229360"/>
          </a:xfrm>
          <a:prstGeom prst="rect">
            <a:avLst/>
          </a:prstGeom>
          <a:no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Domestic DCU  architecture shared mem  access</a:t>
            </a:r>
            <a:endParaRPr lang="en-US" sz="1100"/>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%ptr = gpu.shared_mem_ptr %base,</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%offset</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%val = gpu.ds_read_b32 %ptr : i32</a:t>
            </a:r>
            <a:endParaRPr lang="en-US" sz="16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00000"/>
              </a:lnSpc>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11" name="AutoShape 11"/>
          <p:cNvSpPr/>
          <p:nvPr/>
        </p:nvSpPr>
        <p:spPr>
          <a:xfrm>
            <a:off x="6248400" y="5102225"/>
            <a:ext cx="815975" cy="1602105"/>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600" b="1" i="0" u="none" strike="noStrike">
                <a:solidFill>
                  <a:srgbClr val="8B0012"/>
                </a:solidFill>
                <a:latin typeface="Arial" panose="020B0604020202020204"/>
                <a:ea typeface="Arial" panose="020B0604020202020204"/>
                <a:cs typeface="Arial" panose="020B0604020202020204"/>
                <a:sym typeface="Arial" panose="020B0604020202020204"/>
              </a:rPr>
              <a:t> Pass</a:t>
            </a:r>
            <a:br>
              <a:rPr lang="en-US" sz="1600" b="1" i="0" u="none" strike="noStrike">
                <a:solidFill>
                  <a:srgbClr val="8B0012"/>
                </a:solidFill>
                <a:latin typeface="Arial" panose="020B0604020202020204"/>
                <a:ea typeface="Arial" panose="020B0604020202020204"/>
                <a:cs typeface="Arial" panose="020B0604020202020204"/>
                <a:sym typeface="Arial" panose="020B0604020202020204"/>
              </a:rPr>
            </a:br>
            <a:r>
              <a:rPr lang="en-US" sz="1600" b="1" i="0" u="none" strike="noStrike">
                <a:solidFill>
                  <a:srgbClr val="8B0012"/>
                </a:solidFill>
                <a:latin typeface="Arial" panose="020B0604020202020204"/>
                <a:ea typeface="Arial" panose="020B0604020202020204"/>
                <a:cs typeface="Arial" panose="020B0604020202020204"/>
                <a:sym typeface="Arial" panose="020B0604020202020204"/>
              </a:rPr>
              <a:t>==&gt;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FlagGems  Operator Layer Architecture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to integrate local_ptr  optimization into FlagGems  operators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1831340" y="1884680"/>
            <a:ext cx="9199880" cy="4350385"/>
            <a:chOff x="1831340" y="1884680"/>
            <a:chExt cx="9199880" cy="4350385"/>
          </a:xfrm>
        </p:grpSpPr>
        <p:sp>
          <p:nvSpPr>
            <p:cNvPr id="7" name="AutoShape 7"/>
            <p:cNvSpPr/>
            <p:nvPr/>
          </p:nvSpPr>
          <p:spPr>
            <a:xfrm>
              <a:off x="1831340" y="1884680"/>
              <a:ext cx="9199880" cy="699770"/>
            </a:xfrm>
            <a:prstGeom prst="rect">
              <a:avLst/>
            </a:prstGeom>
            <a:solidFill>
              <a:srgbClr val="1A237E">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1931035" y="1954530"/>
              <a:ext cx="8999855" cy="560070"/>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2000" b="1" i="0" u="none" strike="noStrike">
                  <a:solidFill>
                    <a:srgbClr val="FFFFFF"/>
                  </a:solidFill>
                  <a:latin typeface="Arial" panose="020B0604020202020204"/>
                  <a:ea typeface="Arial" panose="020B0604020202020204"/>
                  <a:cs typeface="Arial" panose="020B0604020202020204"/>
                  <a:sym typeface="Arial" panose="020B0604020202020204"/>
                </a:rPr>
                <a:t>FlagGems  —  PyTorch ATen Operator Registration Layer</a:t>
              </a:r>
              <a:endParaRPr lang="en-US" sz="1100"/>
            </a:p>
          </p:txBody>
        </p:sp>
        <p:sp>
          <p:nvSpPr>
            <p:cNvPr id="9" name="AutoShape 9"/>
            <p:cNvSpPr/>
            <p:nvPr/>
          </p:nvSpPr>
          <p:spPr>
            <a:xfrm>
              <a:off x="1831340" y="2734310"/>
              <a:ext cx="9199880" cy="699770"/>
            </a:xfrm>
            <a:prstGeom prst="rect">
              <a:avLst/>
            </a:prstGeom>
            <a:solidFill>
              <a:srgbClr val="283593">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1931035" y="2804795"/>
              <a:ext cx="8999855" cy="560070"/>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LibEntry / LibTuner  —  Kernel Cache and Auto-Tuning Management</a:t>
              </a:r>
              <a:endParaRPr lang="en-US" sz="1100"/>
            </a:p>
          </p:txBody>
        </p:sp>
        <p:sp>
          <p:nvSpPr>
            <p:cNvPr id="11" name="AutoShape 11"/>
            <p:cNvSpPr/>
            <p:nvPr/>
          </p:nvSpPr>
          <p:spPr>
            <a:xfrm>
              <a:off x="1831340" y="3584575"/>
              <a:ext cx="9199880" cy="699770"/>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1931035" y="3654425"/>
              <a:ext cx="8999855" cy="560070"/>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700" b="1" i="0" u="none" strike="noStrike">
                  <a:solidFill>
                    <a:srgbClr val="FFFFFF"/>
                  </a:solidFill>
                  <a:latin typeface="Arial" panose="020B0604020202020204"/>
                  <a:ea typeface="Arial" panose="020B0604020202020204"/>
                  <a:cs typeface="Arial" panose="020B0604020202020204"/>
                  <a:sym typeface="Arial" panose="020B0604020202020204"/>
                </a:rPr>
                <a:t>Triton Kernel  —  Operator Implementation ( .py )  ←  tle.gpu.local_ptr Injection Point</a:t>
              </a:r>
              <a:endParaRPr lang="en-US" sz="1100"/>
            </a:p>
          </p:txBody>
        </p:sp>
        <p:sp>
          <p:nvSpPr>
            <p:cNvPr id="13" name="AutoShape 13"/>
            <p:cNvSpPr/>
            <p:nvPr/>
          </p:nvSpPr>
          <p:spPr>
            <a:xfrm>
              <a:off x="1831340" y="4434840"/>
              <a:ext cx="9199880" cy="699770"/>
            </a:xfrm>
            <a:prstGeom prst="rect">
              <a:avLst/>
            </a:prstGeom>
            <a:solidFill>
              <a:srgbClr val="B71C1C">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931035" y="4504690"/>
              <a:ext cx="8999855" cy="560070"/>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700" b="0" i="0" u="none" strike="noStrike">
                  <a:solidFill>
                    <a:srgbClr val="FFFFFF"/>
                  </a:solidFill>
                  <a:latin typeface="Arial" panose="020B0604020202020204"/>
                  <a:ea typeface="Arial" panose="020B0604020202020204"/>
                  <a:cs typeface="Arial" panose="020B0604020202020204"/>
                  <a:sym typeface="Arial" panose="020B0604020202020204"/>
                </a:rPr>
                <a:t>FlagTree Compiler  —  Specialized Pass Processing local_ptr → Architecture Instructions</a:t>
              </a:r>
              <a:endParaRPr lang="en-US" sz="1100"/>
            </a:p>
          </p:txBody>
        </p:sp>
        <p:sp>
          <p:nvSpPr>
            <p:cNvPr id="15" name="AutoShape 15"/>
            <p:cNvSpPr/>
            <p:nvPr/>
          </p:nvSpPr>
          <p:spPr>
            <a:xfrm>
              <a:off x="1831340" y="5334635"/>
              <a:ext cx="9199880" cy="37973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800" b="1" i="0" u="none" strike="noStrike">
                  <a:solidFill>
                    <a:srgbClr val="8B0012"/>
                  </a:solidFill>
                  <a:latin typeface="Arial" panose="020B0604020202020204"/>
                  <a:ea typeface="Arial" panose="020B0604020202020204"/>
                  <a:cs typeface="Arial" panose="020B0604020202020204"/>
                  <a:sym typeface="Arial" panose="020B0604020202020204"/>
                </a:rPr>
                <a:t>Operators optimized with local_ptr (covered in PR #333)</a:t>
              </a:r>
              <a:endParaRPr lang="en-US" sz="1100"/>
            </a:p>
          </p:txBody>
        </p:sp>
        <p:sp>
          <p:nvSpPr>
            <p:cNvPr id="16" name="AutoShape 16"/>
            <p:cNvSpPr/>
            <p:nvPr/>
          </p:nvSpPr>
          <p:spPr>
            <a:xfrm>
              <a:off x="1831340" y="5784850"/>
              <a:ext cx="1449705" cy="450215"/>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7" name="AutoShape 17"/>
            <p:cNvSpPr/>
            <p:nvPr/>
          </p:nvSpPr>
          <p:spPr>
            <a:xfrm>
              <a:off x="1831340" y="5814695"/>
              <a:ext cx="1449705" cy="389890"/>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700" b="1" i="0" u="none" strike="noStrike">
                  <a:solidFill>
                    <a:srgbClr val="FFFFFF"/>
                  </a:solidFill>
                  <a:latin typeface="Arial" panose="020B0604020202020204"/>
                  <a:ea typeface="Arial" panose="020B0604020202020204"/>
                  <a:cs typeface="Arial" panose="020B0604020202020204"/>
                  <a:sym typeface="Arial" panose="020B0604020202020204"/>
                </a:rPr>
                <a:t>topk</a:t>
              </a:r>
              <a:endParaRPr lang="en-US" sz="1100"/>
            </a:p>
          </p:txBody>
        </p:sp>
        <p:sp>
          <p:nvSpPr>
            <p:cNvPr id="18" name="AutoShape 18"/>
            <p:cNvSpPr/>
            <p:nvPr/>
          </p:nvSpPr>
          <p:spPr>
            <a:xfrm>
              <a:off x="3371215" y="5784850"/>
              <a:ext cx="1449705" cy="450215"/>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9" name="AutoShape 19"/>
            <p:cNvSpPr/>
            <p:nvPr/>
          </p:nvSpPr>
          <p:spPr>
            <a:xfrm>
              <a:off x="3371215" y="5814695"/>
              <a:ext cx="1449705" cy="389890"/>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700" b="1" i="0" u="none" strike="noStrike">
                  <a:solidFill>
                    <a:srgbClr val="FFFFFF"/>
                  </a:solidFill>
                  <a:latin typeface="Arial" panose="020B0604020202020204"/>
                  <a:ea typeface="Arial" panose="020B0604020202020204"/>
                  <a:cs typeface="Arial" panose="020B0604020202020204"/>
                  <a:sym typeface="Arial" panose="020B0604020202020204"/>
                </a:rPr>
                <a:t>sort</a:t>
              </a:r>
              <a:endParaRPr lang="en-US" sz="1100"/>
            </a:p>
          </p:txBody>
        </p:sp>
        <p:sp>
          <p:nvSpPr>
            <p:cNvPr id="20" name="AutoShape 20"/>
            <p:cNvSpPr/>
            <p:nvPr/>
          </p:nvSpPr>
          <p:spPr>
            <a:xfrm>
              <a:off x="4911090" y="5784850"/>
              <a:ext cx="1449705" cy="450215"/>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1" name="AutoShape 21"/>
            <p:cNvSpPr/>
            <p:nvPr/>
          </p:nvSpPr>
          <p:spPr>
            <a:xfrm>
              <a:off x="4911090" y="5814695"/>
              <a:ext cx="1449705" cy="389890"/>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700" b="1" i="0" u="none" strike="noStrike">
                  <a:solidFill>
                    <a:srgbClr val="FFFFFF"/>
                  </a:solidFill>
                  <a:latin typeface="Arial" panose="020B0604020202020204"/>
                  <a:ea typeface="Arial" panose="020B0604020202020204"/>
                  <a:cs typeface="Arial" panose="020B0604020202020204"/>
                  <a:sym typeface="Arial" panose="020B0604020202020204"/>
                </a:rPr>
                <a:t>argsort</a:t>
              </a:r>
              <a:endParaRPr lang="en-US" sz="1100"/>
            </a:p>
          </p:txBody>
        </p:sp>
        <p:sp>
          <p:nvSpPr>
            <p:cNvPr id="22" name="AutoShape 22"/>
            <p:cNvSpPr/>
            <p:nvPr/>
          </p:nvSpPr>
          <p:spPr>
            <a:xfrm>
              <a:off x="6451600" y="5784850"/>
              <a:ext cx="1449705" cy="450215"/>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3" name="AutoShape 23"/>
            <p:cNvSpPr/>
            <p:nvPr/>
          </p:nvSpPr>
          <p:spPr>
            <a:xfrm>
              <a:off x="6451600" y="5814695"/>
              <a:ext cx="1449705" cy="389890"/>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700" b="1" i="0" u="none" strike="noStrike">
                  <a:solidFill>
                    <a:srgbClr val="FFFFFF"/>
                  </a:solidFill>
                  <a:latin typeface="Arial" panose="020B0604020202020204"/>
                  <a:ea typeface="Arial" panose="020B0604020202020204"/>
                  <a:cs typeface="Arial" panose="020B0604020202020204"/>
                  <a:sym typeface="Arial" panose="020B0604020202020204"/>
                </a:rPr>
                <a:t>median</a:t>
              </a:r>
              <a:endParaRPr lang="en-US" sz="1100"/>
            </a:p>
          </p:txBody>
        </p:sp>
        <p:sp>
          <p:nvSpPr>
            <p:cNvPr id="24" name="AutoShape 24"/>
            <p:cNvSpPr/>
            <p:nvPr/>
          </p:nvSpPr>
          <p:spPr>
            <a:xfrm>
              <a:off x="7991475" y="5784850"/>
              <a:ext cx="1449705" cy="450215"/>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5" name="AutoShape 25"/>
            <p:cNvSpPr/>
            <p:nvPr/>
          </p:nvSpPr>
          <p:spPr>
            <a:xfrm>
              <a:off x="7991475" y="5814695"/>
              <a:ext cx="1449705" cy="389890"/>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700" b="1" i="0" u="none" strike="noStrike">
                  <a:solidFill>
                    <a:srgbClr val="FFFFFF"/>
                  </a:solidFill>
                  <a:latin typeface="Arial" panose="020B0604020202020204"/>
                  <a:ea typeface="Arial" panose="020B0604020202020204"/>
                  <a:cs typeface="Arial" panose="020B0604020202020204"/>
                  <a:sym typeface="Arial" panose="020B0604020202020204"/>
                </a:rPr>
                <a:t>kthvalue</a:t>
              </a:r>
              <a:endParaRPr lang="en-US" sz="1100"/>
            </a:p>
          </p:txBody>
        </p:sp>
        <p:sp>
          <p:nvSpPr>
            <p:cNvPr id="26" name="AutoShape 26"/>
            <p:cNvSpPr/>
            <p:nvPr/>
          </p:nvSpPr>
          <p:spPr>
            <a:xfrm>
              <a:off x="9531350" y="5784850"/>
              <a:ext cx="1449705" cy="450215"/>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7" name="AutoShape 27"/>
            <p:cNvSpPr/>
            <p:nvPr/>
          </p:nvSpPr>
          <p:spPr>
            <a:xfrm>
              <a:off x="9531350" y="5814695"/>
              <a:ext cx="1449705" cy="389890"/>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700" b="1" i="0" u="none" strike="noStrike">
                  <a:solidFill>
                    <a:srgbClr val="FFFFFF"/>
                  </a:solidFill>
                  <a:latin typeface="Arial" panose="020B0604020202020204"/>
                  <a:ea typeface="Arial" panose="020B0604020202020204"/>
                  <a:cs typeface="Arial" panose="020B0604020202020204"/>
                  <a:sym typeface="Arial" panose="020B0604020202020204"/>
                </a:rPr>
                <a:t>mode</a:t>
              </a:r>
              <a:endParaRPr lang="en-US" sz="1100"/>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TopK  Operator Optimization Case Study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5782945" cy="4853305"/>
          </a:xfrm>
          <a:prstGeom prst="rect">
            <a:avLst/>
          </a:prstGeom>
        </p:spPr>
        <p:txBody>
          <a:bodyPr wrap="square" lIns="91440" tIns="45720" rIns="91440" bIns="45720" anchor="t">
            <a:noAutofit/>
          </a:bodyPr>
          <a:lstStyle>
            <a:lvl1pPr algn="l">
              <a:lnSpc>
                <a:spcPct val="150000"/>
              </a:lnSpc>
              <a:defRPr sz="1800" b="0" i="0" u="none" strike="noStrike" spc="0">
                <a:solidFill>
                  <a:srgbClr val="404040">
                    <a:alpha val="100000"/>
                  </a:srgbClr>
                </a:solidFill>
                <a:latin typeface="Calibri" panose="020F0502020204030204"/>
              </a:defRPr>
            </a:lvl1pPr>
          </a:lstStyle>
          <a:p>
            <a:pPr marL="228600" indent="-228600" algn="l">
              <a:lnSpc>
                <a:spcPct val="15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local_ptr  Microarchitecture Optimization in Practice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Data Proximity Storage: Store intermediate sorting results in shared memory; avoid writing back to global memory  and re-reading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Bank  Access Optimization: local_ptr  carries offset  offset information, enabling the compiler to analyze bank conflict  and reorder access patterns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Instruction Fusion: Pass Replace local_ptr + load  into a single ds_read  instruction, reducing instruction count</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5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Latency Hiding: shared memory  dispatch latency~5 cycles;warp  switching can effectively hide it, significantly improving throughput</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6466205" y="2042160"/>
            <a:ext cx="5324475" cy="3577590"/>
          </a:xfrm>
          <a:prstGeom prst="rect">
            <a:avLst/>
          </a:prstGeom>
          <a:noFill/>
          <a:ln w="12700">
            <a:solidFill>
              <a:srgbClr val="8B0012">
                <a:alpha val="100000"/>
              </a:srgbClr>
            </a:solidFill>
            <a:prstDash val="solid"/>
          </a:ln>
        </p:spPr>
        <p:txBody>
          <a:bodyPr wrap="square" lIns="91440" tIns="45720" rIns="91440" bIns="45720" rtlCol="0" anchor="t">
            <a:noAutofit/>
          </a:bodyPr>
          <a:lstStyle/>
          <a:p>
            <a:pPr indent="0" algn="l">
              <a:lnSpc>
                <a:spcPct val="133000"/>
              </a:lnSpc>
              <a:defRPr/>
            </a:pPr>
            <a:r>
              <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local_ptr  optimization: via shared memory</a:t>
            </a:r>
            <a:endParaRPr lang="en-US" sz="1100"/>
          </a:p>
          <a:p>
            <a:pPr indent="0" algn="l">
              <a:lnSpc>
                <a:spcPct val="133000"/>
              </a:lnSpc>
            </a:pPr>
            <a:r>
              <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@triton.jit</a:t>
            </a:r>
            <a:endPar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33000"/>
              </a:lnSpc>
            </a:pPr>
            <a:r>
              <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def topk_kernel_opt(X, OUT_VAL, OUT_IDX,</a:t>
            </a:r>
            <a:endPar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33000"/>
              </a:lnSpc>
            </a:pPr>
            <a:r>
              <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BLOCK: tl.constexpr):</a:t>
            </a:r>
            <a:endPar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33000"/>
              </a:lnSpc>
            </a:pPr>
            <a:r>
              <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smem = tl.zeros([BLOCK], dtype=tl.float32)</a:t>
            </a:r>
            <a:endPar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33000"/>
              </a:lnSpc>
            </a:pPr>
            <a:r>
              <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  Use local_ptr  to write to shared mem</a:t>
            </a:r>
            <a:endPar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33000"/>
              </a:lnSpc>
            </a:pPr>
            <a:r>
              <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ptr = tle.gpu.local_ptr(smem, xidx)</a:t>
            </a:r>
            <a:endPar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33000"/>
              </a:lnSpc>
            </a:pPr>
            <a:r>
              <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tl.store(ptr, tl.load(X + xidx))</a:t>
            </a:r>
            <a:endPar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33000"/>
              </a:lnSpc>
            </a:pPr>
            <a:r>
              <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tl.debug_barrier()  #  for synchronization</a:t>
            </a:r>
            <a:endPar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33000"/>
              </a:lnSpc>
            </a:pPr>
            <a:r>
              <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  Read from shared mem  for sorting</a:t>
            </a:r>
            <a:endPar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33000"/>
              </a:lnSpc>
            </a:pPr>
            <a:r>
              <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rPr>
              <a:t>    vals = tl.load(tle.gpu.local_ptr(smem, ...))</a:t>
            </a:r>
            <a:endParaRPr lang="en-US" sz="1400" b="0" i="0" u="none" strike="noStrike">
              <a:solidFill>
                <a:srgbClr val="000000"/>
              </a:solidFill>
              <a:latin typeface="Courier New Regular" panose="02070409020205090404"/>
              <a:ea typeface="Courier New Regular" panose="02070409020205090404"/>
              <a:cs typeface="Courier New Regular" panose="02070409020205090404"/>
              <a:sym typeface="Courier New Regular" panose="02070409020205090404"/>
            </a:endParaRPr>
          </a:p>
          <a:p>
            <a:pPr indent="0" algn="l">
              <a:lnSpc>
                <a:spcPct val="133000"/>
              </a:lnSpc>
            </a:pPr>
            <a:r>
              <a:rPr lang="en-US" sz="14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4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sp>
        <p:nvSpPr>
          <p:cNvPr id="7" name="AutoShape 7"/>
          <p:cNvSpPr/>
          <p:nvPr/>
        </p:nvSpPr>
        <p:spPr>
          <a:xfrm>
            <a:off x="6728525" y="1662370"/>
            <a:ext cx="4800000" cy="380000"/>
          </a:xfrm>
          <a:prstGeom prst="rect">
            <a:avLst/>
          </a:prstGeom>
          <a:noFill/>
          <a:ln w="12700">
            <a:noFill/>
            <a:prstDash val="solid"/>
          </a:ln>
        </p:spPr>
        <p:txBody>
          <a:bodyPr wrap="square" lIns="91440" tIns="45720" rIns="91440" bIns="45720" rtlCol="0" anchor="t">
            <a:normAutofit lnSpcReduction="10000"/>
          </a:bodyPr>
          <a:lstStyle/>
          <a:p>
            <a:pPr indent="0" algn="ctr">
              <a:lnSpc>
                <a:spcPct val="100000"/>
              </a:lnSpc>
              <a:defRPr/>
            </a:pPr>
            <a:r>
              <a:rPr lang="en-US" sz="1900" b="1" i="0" u="none" strike="noStrike">
                <a:solidFill>
                  <a:srgbClr val="8B0012"/>
                </a:solidFill>
                <a:latin typeface="Arial" panose="020B0604020202020204"/>
                <a:ea typeface="Arial" panose="020B0604020202020204"/>
                <a:cs typeface="Arial" panose="020B0604020202020204"/>
                <a:sym typeface="Arial" panose="020B0604020202020204"/>
              </a:rPr>
              <a:t>Optimized: local_ptr Shared Memory</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FlagGems TopK  Complete Optimization Path</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grpSp>
        <p:nvGrpSpPr>
          <p:cNvPr id="5" name="Group 5"/>
          <p:cNvGrpSpPr/>
          <p:nvPr/>
        </p:nvGrpSpPr>
        <p:grpSpPr>
          <a:xfrm>
            <a:off x="1429385" y="1750060"/>
            <a:ext cx="9299575" cy="4349750"/>
            <a:chOff x="1429385" y="1750060"/>
            <a:chExt cx="9299575" cy="4349750"/>
          </a:xfrm>
        </p:grpSpPr>
        <p:sp>
          <p:nvSpPr>
            <p:cNvPr id="6" name="AutoShape 6"/>
            <p:cNvSpPr/>
            <p:nvPr/>
          </p:nvSpPr>
          <p:spPr>
            <a:xfrm>
              <a:off x="1429385" y="1750060"/>
              <a:ext cx="299720" cy="899795"/>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1429385" y="2000250"/>
              <a:ext cx="299720" cy="400050"/>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1</a:t>
              </a:r>
              <a:endParaRPr lang="en-US" sz="1100"/>
            </a:p>
          </p:txBody>
        </p:sp>
        <p:sp>
          <p:nvSpPr>
            <p:cNvPr id="8" name="AutoShape 8"/>
            <p:cNvSpPr/>
            <p:nvPr/>
          </p:nvSpPr>
          <p:spPr>
            <a:xfrm>
              <a:off x="1809115" y="1800225"/>
              <a:ext cx="2999740" cy="34988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400" b="1" i="0" u="none" strike="noStrike">
                  <a:solidFill>
                    <a:srgbClr val="8B0012"/>
                  </a:solidFill>
                  <a:latin typeface="Arial" panose="020B0604020202020204"/>
                  <a:ea typeface="Arial" panose="020B0604020202020204"/>
                  <a:cs typeface="Arial" panose="020B0604020202020204"/>
                  <a:sym typeface="Arial" panose="020B0604020202020204"/>
                </a:rPr>
                <a:t>FlagGems Registration Layer</a:t>
              </a:r>
              <a:endParaRPr lang="en-US" sz="1100"/>
            </a:p>
          </p:txBody>
        </p:sp>
        <p:sp>
          <p:nvSpPr>
            <p:cNvPr id="9" name="AutoShape 9"/>
            <p:cNvSpPr/>
            <p:nvPr/>
          </p:nvSpPr>
          <p:spPr>
            <a:xfrm>
              <a:off x="1809115" y="2129790"/>
              <a:ext cx="2999740" cy="29972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200" b="0" i="1" u="none" strike="noStrike">
                  <a:solidFill>
                    <a:srgbClr val="666666"/>
                  </a:solidFill>
                  <a:latin typeface="Arial" panose="020B0604020202020204"/>
                  <a:ea typeface="Arial" panose="020B0604020202020204"/>
                  <a:cs typeface="Arial" panose="020B0604020202020204"/>
                  <a:sym typeface="Arial" panose="020B0604020202020204"/>
                </a:rPr>
                <a:t>src/flag_gems/ops/topk.py</a:t>
              </a:r>
              <a:endParaRPr lang="en-US" sz="1100"/>
            </a:p>
          </p:txBody>
        </p:sp>
        <p:sp>
          <p:nvSpPr>
            <p:cNvPr id="10" name="AutoShape 10"/>
            <p:cNvSpPr/>
            <p:nvPr/>
          </p:nvSpPr>
          <p:spPr>
            <a:xfrm>
              <a:off x="5029200" y="1750060"/>
              <a:ext cx="5699760" cy="899795"/>
            </a:xfrm>
            <a:prstGeom prst="rect">
              <a:avLst/>
            </a:prstGeom>
            <a:solidFill>
              <a:srgbClr val="1E1E1E">
                <a:alpha val="100000"/>
              </a:srgbClr>
            </a:solidFill>
            <a:ln w="12700">
              <a:noFill/>
              <a:prstDash val="solid"/>
            </a:ln>
          </p:spPr>
          <p:txBody>
            <a:bodyPr wrap="square" lIns="182880" tIns="182880" rIns="182880" bIns="182880" rtlCol="0" anchor="t">
              <a:normAutofit/>
            </a:bodyPr>
            <a:lstStyle/>
            <a:p>
              <a:pPr indent="0" algn="l">
                <a:lnSpc>
                  <a:spcPct val="100000"/>
                </a:lnSpc>
                <a:defRPr/>
              </a:pP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def topk(input, k, dim=-1, largest=True, sorted=True):</a:t>
              </a:r>
              <a:endParaRPr lang="en-US" sz="1100"/>
            </a:p>
            <a:p>
              <a:pPr indent="0" algn="l">
                <a:lnSpc>
                  <a:spcPct val="100000"/>
                </a:lnSpc>
              </a:pP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    ...call Triton kernel...</a:t>
              </a:r>
              <a:endPar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p:txBody>
        </p:sp>
        <p:sp>
          <p:nvSpPr>
            <p:cNvPr id="11" name="AutoShape 11"/>
            <p:cNvSpPr/>
            <p:nvPr/>
          </p:nvSpPr>
          <p:spPr>
            <a:xfrm>
              <a:off x="1569085" y="2649855"/>
              <a:ext cx="19685" cy="149860"/>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1429385" y="2900045"/>
              <a:ext cx="299720" cy="899795"/>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1429385" y="3150235"/>
              <a:ext cx="299720" cy="400050"/>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2</a:t>
              </a:r>
              <a:endParaRPr lang="en-US" sz="1100"/>
            </a:p>
          </p:txBody>
        </p:sp>
        <p:sp>
          <p:nvSpPr>
            <p:cNvPr id="14" name="AutoShape 14"/>
            <p:cNvSpPr/>
            <p:nvPr/>
          </p:nvSpPr>
          <p:spPr>
            <a:xfrm>
              <a:off x="1809115" y="2950210"/>
              <a:ext cx="2999740" cy="34988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400" b="1" i="0" u="none" strike="noStrike">
                  <a:solidFill>
                    <a:srgbClr val="8B0012"/>
                  </a:solidFill>
                  <a:latin typeface="Arial" panose="020B0604020202020204"/>
                  <a:ea typeface="Arial" panose="020B0604020202020204"/>
                  <a:cs typeface="Arial" panose="020B0604020202020204"/>
                  <a:sym typeface="Arial" panose="020B0604020202020204"/>
                </a:rPr>
                <a:t>Triton Kernel Layer</a:t>
              </a:r>
              <a:endParaRPr lang="en-US" sz="1100"/>
            </a:p>
          </p:txBody>
        </p:sp>
        <p:sp>
          <p:nvSpPr>
            <p:cNvPr id="15" name="AutoShape 15"/>
            <p:cNvSpPr/>
            <p:nvPr/>
          </p:nvSpPr>
          <p:spPr>
            <a:xfrm>
              <a:off x="1809115" y="3279775"/>
              <a:ext cx="2999740" cy="29972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200" b="0" i="1" u="none" strike="noStrike">
                  <a:solidFill>
                    <a:srgbClr val="666666"/>
                  </a:solidFill>
                  <a:latin typeface="Arial" panose="020B0604020202020204"/>
                  <a:ea typeface="Arial" panose="020B0604020202020204"/>
                  <a:cs typeface="Arial" panose="020B0604020202020204"/>
                  <a:sym typeface="Arial" panose="020B0604020202020204"/>
                </a:rPr>
                <a:t>Introduce tle.gpu.local_ptr</a:t>
              </a:r>
              <a:endParaRPr lang="en-US" sz="1100"/>
            </a:p>
          </p:txBody>
        </p:sp>
        <p:sp>
          <p:nvSpPr>
            <p:cNvPr id="16" name="AutoShape 16"/>
            <p:cNvSpPr/>
            <p:nvPr/>
          </p:nvSpPr>
          <p:spPr>
            <a:xfrm>
              <a:off x="5029200" y="2900045"/>
              <a:ext cx="5699760" cy="899795"/>
            </a:xfrm>
            <a:prstGeom prst="rect">
              <a:avLst/>
            </a:prstGeom>
            <a:solidFill>
              <a:srgbClr val="1E1E1E">
                <a:alpha val="100000"/>
              </a:srgbClr>
            </a:solidFill>
            <a:ln w="12700">
              <a:noFill/>
              <a:prstDash val="solid"/>
            </a:ln>
          </p:spPr>
          <p:txBody>
            <a:bodyPr wrap="square" lIns="182880" tIns="182880" rIns="182880" bIns="182880" rtlCol="0" anchor="t">
              <a:normAutofit/>
            </a:bodyPr>
            <a:lstStyle/>
            <a:p>
              <a:pPr indent="0" algn="l">
                <a:lnSpc>
                  <a:spcPct val="100000"/>
                </a:lnSpc>
                <a:defRPr/>
              </a:pP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ptr = tle.gpu.local_ptr(shared_buf, lane_offset)</a:t>
              </a:r>
              <a:endParaRPr lang="en-US" sz="1100"/>
            </a:p>
            <a:p>
              <a:pPr indent="0" algn="l">
                <a:lnSpc>
                  <a:spcPct val="100000"/>
                </a:lnSpc>
              </a:pP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tl.store(ptr, val)  # → shared mem write</a:t>
              </a:r>
              <a:endPar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p:txBody>
        </p:sp>
        <p:sp>
          <p:nvSpPr>
            <p:cNvPr id="17" name="AutoShape 17"/>
            <p:cNvSpPr/>
            <p:nvPr/>
          </p:nvSpPr>
          <p:spPr>
            <a:xfrm>
              <a:off x="1569085" y="3799840"/>
              <a:ext cx="19685" cy="149860"/>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8" name="AutoShape 18"/>
            <p:cNvSpPr/>
            <p:nvPr/>
          </p:nvSpPr>
          <p:spPr>
            <a:xfrm>
              <a:off x="1429385" y="4050030"/>
              <a:ext cx="299720" cy="899795"/>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9" name="AutoShape 19"/>
            <p:cNvSpPr/>
            <p:nvPr/>
          </p:nvSpPr>
          <p:spPr>
            <a:xfrm>
              <a:off x="1429385" y="4300220"/>
              <a:ext cx="299720" cy="400050"/>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3</a:t>
              </a:r>
              <a:endParaRPr lang="en-US" sz="1100"/>
            </a:p>
          </p:txBody>
        </p:sp>
        <p:sp>
          <p:nvSpPr>
            <p:cNvPr id="20" name="AutoShape 20"/>
            <p:cNvSpPr/>
            <p:nvPr/>
          </p:nvSpPr>
          <p:spPr>
            <a:xfrm>
              <a:off x="1809115" y="4100195"/>
              <a:ext cx="2999740" cy="34988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400" b="1" i="0" u="none" strike="noStrike">
                  <a:solidFill>
                    <a:srgbClr val="8B0012"/>
                  </a:solidFill>
                  <a:latin typeface="Arial" panose="020B0604020202020204"/>
                  <a:ea typeface="Arial" panose="020B0604020202020204"/>
                  <a:cs typeface="Arial" panose="020B0604020202020204"/>
                  <a:sym typeface="Arial" panose="020B0604020202020204"/>
                </a:rPr>
                <a:t>FlagTree Compilation</a:t>
              </a:r>
              <a:endParaRPr lang="en-US" sz="1100"/>
            </a:p>
          </p:txBody>
        </p:sp>
        <p:sp>
          <p:nvSpPr>
            <p:cNvPr id="21" name="AutoShape 21"/>
            <p:cNvSpPr/>
            <p:nvPr/>
          </p:nvSpPr>
          <p:spPr>
            <a:xfrm>
              <a:off x="1809115" y="4429760"/>
              <a:ext cx="2999740" cy="29972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200" b="0" i="1" u="none" strike="noStrike">
                  <a:solidFill>
                    <a:srgbClr val="666666"/>
                  </a:solidFill>
                  <a:latin typeface="Arial" panose="020B0604020202020204"/>
                  <a:ea typeface="Arial" panose="020B0604020202020204"/>
                  <a:cs typeface="Arial" panose="020B0604020202020204"/>
                  <a:sym typeface="Arial" panose="020B0604020202020204"/>
                </a:rPr>
                <a:t>LocalPtrToSharedMemPass Processing</a:t>
              </a:r>
              <a:endParaRPr lang="en-US" sz="1100"/>
            </a:p>
          </p:txBody>
        </p:sp>
        <p:sp>
          <p:nvSpPr>
            <p:cNvPr id="22" name="AutoShape 22"/>
            <p:cNvSpPr/>
            <p:nvPr/>
          </p:nvSpPr>
          <p:spPr>
            <a:xfrm>
              <a:off x="5029200" y="4050030"/>
              <a:ext cx="5699760" cy="899795"/>
            </a:xfrm>
            <a:prstGeom prst="rect">
              <a:avLst/>
            </a:prstGeom>
            <a:solidFill>
              <a:srgbClr val="1E1E1E">
                <a:alpha val="100000"/>
              </a:srgbClr>
            </a:solidFill>
            <a:ln w="12700">
              <a:noFill/>
              <a:prstDash val="solid"/>
            </a:ln>
          </p:spPr>
          <p:txBody>
            <a:bodyPr wrap="square" lIns="182880" tIns="182880" rIns="182880" bIns="182880" rtlCol="0" anchor="t">
              <a:normAutofit/>
            </a:bodyPr>
            <a:lstStyle/>
            <a:p>
              <a:pPr indent="0" algn="l">
                <a:lnSpc>
                  <a:spcPct val="100000"/>
                </a:lnSpc>
                <a:defRPr/>
              </a:pP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tle.gpu.local_ptr → gpu.ds_write_b32</a:t>
              </a:r>
              <a:endParaRPr lang="en-US" sz="1100"/>
            </a:p>
            <a:p>
              <a:pPr indent="0" algn="l">
                <a:lnSpc>
                  <a:spcPct val="100000"/>
                </a:lnSpc>
              </a:pP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(Domestic DCU shared memory write instruction)</a:t>
              </a:r>
              <a:endPar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p:txBody>
        </p:sp>
        <p:sp>
          <p:nvSpPr>
            <p:cNvPr id="23" name="AutoShape 23"/>
            <p:cNvSpPr/>
            <p:nvPr/>
          </p:nvSpPr>
          <p:spPr>
            <a:xfrm>
              <a:off x="1569085" y="4949825"/>
              <a:ext cx="19685" cy="149860"/>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4" name="AutoShape 24"/>
            <p:cNvSpPr/>
            <p:nvPr/>
          </p:nvSpPr>
          <p:spPr>
            <a:xfrm>
              <a:off x="1429385" y="5200015"/>
              <a:ext cx="299720" cy="899795"/>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5" name="AutoShape 25"/>
            <p:cNvSpPr/>
            <p:nvPr/>
          </p:nvSpPr>
          <p:spPr>
            <a:xfrm>
              <a:off x="1429385" y="5450205"/>
              <a:ext cx="299720" cy="400050"/>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600" b="1" i="0" u="none" strike="noStrike">
                  <a:solidFill>
                    <a:srgbClr val="FFFFFF"/>
                  </a:solidFill>
                  <a:latin typeface="Arial" panose="020B0604020202020204"/>
                  <a:ea typeface="Arial" panose="020B0604020202020204"/>
                  <a:cs typeface="Arial" panose="020B0604020202020204"/>
                  <a:sym typeface="Arial" panose="020B0604020202020204"/>
                </a:rPr>
                <a:t>4</a:t>
              </a:r>
              <a:endParaRPr lang="en-US" sz="1100"/>
            </a:p>
          </p:txBody>
        </p:sp>
        <p:sp>
          <p:nvSpPr>
            <p:cNvPr id="26" name="AutoShape 26"/>
            <p:cNvSpPr/>
            <p:nvPr/>
          </p:nvSpPr>
          <p:spPr>
            <a:xfrm>
              <a:off x="1809115" y="5250180"/>
              <a:ext cx="2999740" cy="34988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400" b="1" i="0" u="none" strike="noStrike">
                  <a:solidFill>
                    <a:srgbClr val="8B0012"/>
                  </a:solidFill>
                  <a:latin typeface="Arial" panose="020B0604020202020204"/>
                  <a:ea typeface="Arial" panose="020B0604020202020204"/>
                  <a:cs typeface="Arial" panose="020B0604020202020204"/>
                  <a:sym typeface="Arial" panose="020B0604020202020204"/>
                </a:rPr>
                <a:t>Target Code Generation</a:t>
              </a:r>
              <a:endParaRPr lang="en-US" sz="1100"/>
            </a:p>
          </p:txBody>
        </p:sp>
        <p:sp>
          <p:nvSpPr>
            <p:cNvPr id="27" name="AutoShape 27"/>
            <p:cNvSpPr/>
            <p:nvPr/>
          </p:nvSpPr>
          <p:spPr>
            <a:xfrm>
              <a:off x="1809115" y="5579745"/>
              <a:ext cx="2999740" cy="299720"/>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200" b="0" i="1" u="none" strike="noStrike">
                  <a:solidFill>
                    <a:srgbClr val="666666"/>
                  </a:solidFill>
                  <a:latin typeface="Arial" panose="020B0604020202020204"/>
                  <a:ea typeface="Arial" panose="020B0604020202020204"/>
                  <a:cs typeface="Arial" panose="020B0604020202020204"/>
                  <a:sym typeface="Arial" panose="020B0604020202020204"/>
                </a:rPr>
                <a:t>Architecture-Optimal Instruction Sequence</a:t>
              </a:r>
              <a:endParaRPr lang="en-US" sz="1100"/>
            </a:p>
          </p:txBody>
        </p:sp>
        <p:sp>
          <p:nvSpPr>
            <p:cNvPr id="28" name="AutoShape 28"/>
            <p:cNvSpPr/>
            <p:nvPr/>
          </p:nvSpPr>
          <p:spPr>
            <a:xfrm>
              <a:off x="5029200" y="5200015"/>
              <a:ext cx="5699760" cy="899795"/>
            </a:xfrm>
            <a:prstGeom prst="rect">
              <a:avLst/>
            </a:prstGeom>
            <a:solidFill>
              <a:srgbClr val="1E1E1E">
                <a:alpha val="100000"/>
              </a:srgbClr>
            </a:solidFill>
            <a:ln w="12700">
              <a:noFill/>
              <a:prstDash val="solid"/>
            </a:ln>
          </p:spPr>
          <p:txBody>
            <a:bodyPr wrap="square" lIns="182880" tIns="182880" rIns="182880" bIns="182880" rtlCol="0" anchor="t">
              <a:normAutofit/>
            </a:bodyPr>
            <a:lstStyle/>
            <a:p>
              <a:pPr indent="0" algn="l">
                <a:lnSpc>
                  <a:spcPct val="100000"/>
                </a:lnSpc>
                <a:defRPr/>
              </a:pP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ds_write_b32 v[addr], v[data]</a:t>
              </a:r>
              <a:endParaRPr lang="en-US" sz="1100"/>
            </a:p>
            <a:p>
              <a:pPr indent="0" algn="l">
                <a:lnSpc>
                  <a:spcPct val="100000"/>
                </a:lnSpc>
              </a:pPr>
              <a:r>
                <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rPr>
                <a:t>ds_read_b32  v[out], v[addr]</a:t>
              </a:r>
              <a:endParaRPr lang="en-US" sz="1200" b="0" i="0" u="none" strike="noStrike">
                <a:solidFill>
                  <a:srgbClr val="D4D4D4"/>
                </a:solidFill>
                <a:latin typeface="Consolas" panose="020B0609020204030204"/>
                <a:ea typeface="Consolas" panose="020B0609020204030204"/>
                <a:cs typeface="Consolas" panose="020B0609020204030204"/>
                <a:sym typeface="Consolas" panose="020B0609020204030204"/>
              </a:endParaRPr>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Performance Improvement Results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Per-operator performance improvement (relative to pre-optimization, test environment: domestic DCU GPU)</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7481570" y="2264410"/>
            <a:ext cx="4430395" cy="3243580"/>
            <a:chOff x="7481570" y="2264410"/>
            <a:chExt cx="4430395" cy="3243580"/>
          </a:xfrm>
        </p:grpSpPr>
        <p:sp>
          <p:nvSpPr>
            <p:cNvPr id="7" name="AutoShape 7"/>
            <p:cNvSpPr/>
            <p:nvPr/>
          </p:nvSpPr>
          <p:spPr>
            <a:xfrm>
              <a:off x="7481570" y="2264410"/>
              <a:ext cx="2150110" cy="1550035"/>
            </a:xfrm>
            <a:prstGeom prst="rect">
              <a:avLst/>
            </a:prstGeom>
            <a:solidFill>
              <a:srgbClr val="F8F8F8">
                <a:alpha val="100000"/>
              </a:srgbClr>
            </a:solid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7481570" y="2364105"/>
              <a:ext cx="2150110" cy="774700"/>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4400" b="1" i="0" u="none" strike="noStrike">
                  <a:solidFill>
                    <a:srgbClr val="8B0012"/>
                  </a:solidFill>
                  <a:latin typeface="Arial Black" panose="020B0A04020102020204"/>
                  <a:ea typeface="Arial Black" panose="020B0A04020102020204"/>
                  <a:cs typeface="Arial Black" panose="020B0A04020102020204"/>
                  <a:sym typeface="Arial Black" panose="020B0A04020102020204"/>
                </a:rPr>
                <a:t>~60%</a:t>
              </a:r>
              <a:endParaRPr lang="en-US" sz="1100"/>
            </a:p>
          </p:txBody>
        </p:sp>
        <p:sp>
          <p:nvSpPr>
            <p:cNvPr id="9" name="AutoShape 9"/>
            <p:cNvSpPr/>
            <p:nvPr/>
          </p:nvSpPr>
          <p:spPr>
            <a:xfrm>
              <a:off x="7481570" y="3089275"/>
              <a:ext cx="2150110" cy="675005"/>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500" b="0" i="0" u="none" strike="noStrike">
                  <a:solidFill>
                    <a:srgbClr val="666666"/>
                  </a:solidFill>
                  <a:latin typeface="Arial" panose="020B0604020202020204"/>
                  <a:ea typeface="Arial" panose="020B0604020202020204"/>
                  <a:cs typeface="Arial" panose="020B0604020202020204"/>
                  <a:sym typeface="Arial" panose="020B0604020202020204"/>
                </a:rPr>
                <a:t>TopK-class operators</a:t>
              </a:r>
              <a:endParaRPr lang="en-US" sz="1100"/>
            </a:p>
            <a:p>
              <a:pPr indent="0" algn="ctr">
                <a:lnSpc>
                  <a:spcPct val="125000"/>
                </a:lnSpc>
              </a:pPr>
              <a:r>
                <a:rPr lang="en-US" sz="1500" b="0" i="0" u="none" strike="noStrike">
                  <a:solidFill>
                    <a:srgbClr val="666666"/>
                  </a:solidFill>
                  <a:latin typeface="Arial" panose="020B0604020202020204"/>
                  <a:ea typeface="Arial" panose="020B0604020202020204"/>
                  <a:cs typeface="Arial" panose="020B0604020202020204"/>
                  <a:sym typeface="Arial" panose="020B0604020202020204"/>
                </a:rPr>
                <a:t>Average Improvement</a:t>
              </a:r>
              <a:endParaRPr lang="en-US" sz="1500" b="0" i="0" u="none" strike="noStrike">
                <a:solidFill>
                  <a:srgbClr val="666666"/>
                </a:solidFill>
                <a:latin typeface="Arial" panose="020B0604020202020204"/>
                <a:ea typeface="Arial" panose="020B0604020202020204"/>
                <a:cs typeface="Arial" panose="020B0604020202020204"/>
                <a:sym typeface="Arial" panose="020B0604020202020204"/>
              </a:endParaRPr>
            </a:p>
          </p:txBody>
        </p:sp>
        <p:sp>
          <p:nvSpPr>
            <p:cNvPr id="10" name="AutoShape 10"/>
            <p:cNvSpPr/>
            <p:nvPr/>
          </p:nvSpPr>
          <p:spPr>
            <a:xfrm>
              <a:off x="9761855" y="2264410"/>
              <a:ext cx="2150110" cy="1550035"/>
            </a:xfrm>
            <a:prstGeom prst="rect">
              <a:avLst/>
            </a:prstGeom>
            <a:solidFill>
              <a:srgbClr val="F8F8F8">
                <a:alpha val="100000"/>
              </a:srgbClr>
            </a:solid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9761855" y="2364105"/>
              <a:ext cx="2150110" cy="774700"/>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4400" b="1" i="0" u="none" strike="noStrike">
                  <a:solidFill>
                    <a:srgbClr val="8B0012"/>
                  </a:solidFill>
                  <a:latin typeface="Arial Black" panose="020B0A04020102020204"/>
                  <a:ea typeface="Arial Black" panose="020B0A04020102020204"/>
                  <a:cs typeface="Arial Black" panose="020B0A04020102020204"/>
                  <a:sym typeface="Arial Black" panose="020B0A04020102020204"/>
                </a:rPr>
                <a:t>~40%</a:t>
              </a:r>
              <a:endParaRPr lang="en-US" sz="1100"/>
            </a:p>
          </p:txBody>
        </p:sp>
        <p:sp>
          <p:nvSpPr>
            <p:cNvPr id="12" name="AutoShape 12"/>
            <p:cNvSpPr/>
            <p:nvPr/>
          </p:nvSpPr>
          <p:spPr>
            <a:xfrm>
              <a:off x="9761855" y="3089275"/>
              <a:ext cx="2150110" cy="675005"/>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500" b="0" i="0" u="none" strike="noStrike">
                  <a:solidFill>
                    <a:srgbClr val="666666"/>
                  </a:solidFill>
                  <a:latin typeface="Arial" panose="020B0604020202020204"/>
                  <a:ea typeface="Arial" panose="020B0604020202020204"/>
                  <a:cs typeface="Arial" panose="020B0604020202020204"/>
                  <a:sym typeface="Arial" panose="020B0604020202020204"/>
                </a:rPr>
                <a:t>Sort-class operators</a:t>
              </a:r>
              <a:endParaRPr lang="en-US" sz="1100"/>
            </a:p>
            <a:p>
              <a:pPr indent="0" algn="ctr">
                <a:lnSpc>
                  <a:spcPct val="125000"/>
                </a:lnSpc>
              </a:pPr>
              <a:r>
                <a:rPr lang="en-US" sz="1500" b="0" i="0" u="none" strike="noStrike">
                  <a:solidFill>
                    <a:srgbClr val="666666"/>
                  </a:solidFill>
                  <a:latin typeface="Arial" panose="020B0604020202020204"/>
                  <a:ea typeface="Arial" panose="020B0604020202020204"/>
                  <a:cs typeface="Arial" panose="020B0604020202020204"/>
                  <a:sym typeface="Arial" panose="020B0604020202020204"/>
                </a:rPr>
                <a:t>Average Improvement</a:t>
              </a:r>
              <a:endParaRPr lang="en-US" sz="1500" b="0" i="0" u="none" strike="noStrike">
                <a:solidFill>
                  <a:srgbClr val="666666"/>
                </a:solidFill>
                <a:latin typeface="Arial" panose="020B0604020202020204"/>
                <a:ea typeface="Arial" panose="020B0604020202020204"/>
                <a:cs typeface="Arial" panose="020B0604020202020204"/>
                <a:sym typeface="Arial" panose="020B0604020202020204"/>
              </a:endParaRPr>
            </a:p>
          </p:txBody>
        </p:sp>
        <p:sp>
          <p:nvSpPr>
            <p:cNvPr id="13" name="AutoShape 13"/>
            <p:cNvSpPr/>
            <p:nvPr/>
          </p:nvSpPr>
          <p:spPr>
            <a:xfrm>
              <a:off x="7481570" y="3957955"/>
              <a:ext cx="2150110" cy="1550035"/>
            </a:xfrm>
            <a:prstGeom prst="rect">
              <a:avLst/>
            </a:prstGeom>
            <a:solidFill>
              <a:srgbClr val="F8F8F8">
                <a:alpha val="100000"/>
              </a:srgbClr>
            </a:solid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7481570" y="4057650"/>
              <a:ext cx="2150110" cy="774700"/>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4400" b="1" i="0" u="none" strike="noStrike">
                  <a:solidFill>
                    <a:srgbClr val="8B0012"/>
                  </a:solidFill>
                  <a:latin typeface="Arial Black" panose="020B0A04020102020204"/>
                  <a:ea typeface="Arial Black" panose="020B0A04020102020204"/>
                  <a:cs typeface="Arial Black" panose="020B0A04020102020204"/>
                  <a:sym typeface="Arial Black" panose="020B0A04020102020204"/>
                </a:rPr>
                <a:t>5~10x</a:t>
              </a:r>
              <a:endParaRPr lang="en-US" sz="1100"/>
            </a:p>
          </p:txBody>
        </p:sp>
        <p:sp>
          <p:nvSpPr>
            <p:cNvPr id="15" name="AutoShape 15"/>
            <p:cNvSpPr/>
            <p:nvPr/>
          </p:nvSpPr>
          <p:spPr>
            <a:xfrm>
              <a:off x="7481570" y="4782820"/>
              <a:ext cx="2150110" cy="675005"/>
            </a:xfrm>
            <a:prstGeom prst="rect">
              <a:avLst/>
            </a:prstGeom>
            <a:noFill/>
            <a:ln w="12700">
              <a:noFill/>
              <a:prstDash val="solid"/>
            </a:ln>
          </p:spPr>
          <p:txBody>
            <a:bodyPr wrap="square" lIns="91440" tIns="45720" rIns="91440" bIns="45720" rtlCol="0" anchor="t">
              <a:normAutofit/>
            </a:bodyPr>
            <a:lstStyle/>
            <a:p>
              <a:pPr indent="0" algn="ctr">
                <a:lnSpc>
                  <a:spcPct val="100000"/>
                </a:lnSpc>
                <a:defRPr/>
              </a:pPr>
              <a:r>
                <a:rPr lang="en-US" sz="1400" b="0" i="0" u="none" strike="noStrike">
                  <a:solidFill>
                    <a:srgbClr val="666666"/>
                  </a:solidFill>
                  <a:latin typeface="Arial" panose="020B0604020202020204"/>
                  <a:ea typeface="Arial" panose="020B0604020202020204"/>
                  <a:cs typeface="Arial" panose="020B0604020202020204"/>
                  <a:sym typeface="Arial" panose="020B0604020202020204"/>
                </a:rPr>
                <a:t>shared mem vs.</a:t>
              </a:r>
              <a:endParaRPr lang="en-US" sz="1100"/>
            </a:p>
            <a:p>
              <a:pPr indent="0" algn="ctr">
                <a:lnSpc>
                  <a:spcPct val="125000"/>
                </a:lnSpc>
              </a:pPr>
              <a:r>
                <a:rPr lang="en-US" sz="1400" b="0" i="0" u="none" strike="noStrike">
                  <a:solidFill>
                    <a:srgbClr val="666666"/>
                  </a:solidFill>
                  <a:latin typeface="Arial" panose="020B0604020202020204"/>
                  <a:ea typeface="Arial" panose="020B0604020202020204"/>
                  <a:cs typeface="Arial" panose="020B0604020202020204"/>
                  <a:sym typeface="Arial" panose="020B0604020202020204"/>
                </a:rPr>
                <a:t>global mem latency ratio</a:t>
              </a:r>
              <a:endParaRPr lang="en-US" sz="1400" b="0" i="0" u="none" strike="noStrike">
                <a:solidFill>
                  <a:srgbClr val="666666"/>
                </a:solidFill>
                <a:latin typeface="Arial" panose="020B0604020202020204"/>
                <a:ea typeface="Arial" panose="020B0604020202020204"/>
                <a:cs typeface="Arial" panose="020B0604020202020204"/>
                <a:sym typeface="Arial" panose="020B0604020202020204"/>
              </a:endParaRPr>
            </a:p>
          </p:txBody>
        </p:sp>
        <p:sp>
          <p:nvSpPr>
            <p:cNvPr id="16" name="AutoShape 16"/>
            <p:cNvSpPr/>
            <p:nvPr/>
          </p:nvSpPr>
          <p:spPr>
            <a:xfrm>
              <a:off x="9761855" y="3957955"/>
              <a:ext cx="2150110" cy="1550035"/>
            </a:xfrm>
            <a:prstGeom prst="rect">
              <a:avLst/>
            </a:prstGeom>
            <a:solidFill>
              <a:srgbClr val="F8F8F8">
                <a:alpha val="100000"/>
              </a:srgbClr>
            </a:solid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7" name="AutoShape 17"/>
            <p:cNvSpPr/>
            <p:nvPr/>
          </p:nvSpPr>
          <p:spPr>
            <a:xfrm>
              <a:off x="9761855" y="4057650"/>
              <a:ext cx="2150110" cy="774700"/>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4400" b="1" i="0" u="none" strike="noStrike">
                  <a:solidFill>
                    <a:srgbClr val="8B0012"/>
                  </a:solidFill>
                  <a:latin typeface="Arial Black" panose="020B0A04020102020204"/>
                  <a:ea typeface="Arial Black" panose="020B0A04020102020204"/>
                  <a:cs typeface="Arial Black" panose="020B0A04020102020204"/>
                  <a:sym typeface="Arial Black" panose="020B0A04020102020204"/>
                </a:rPr>
                <a:t>0</a:t>
              </a:r>
              <a:endParaRPr lang="en-US" sz="1100"/>
            </a:p>
          </p:txBody>
        </p:sp>
        <p:sp>
          <p:nvSpPr>
            <p:cNvPr id="18" name="AutoShape 18"/>
            <p:cNvSpPr/>
            <p:nvPr/>
          </p:nvSpPr>
          <p:spPr>
            <a:xfrm>
              <a:off x="9761855" y="4782820"/>
              <a:ext cx="2150110" cy="675005"/>
            </a:xfrm>
            <a:prstGeom prst="rect">
              <a:avLst/>
            </a:prstGeom>
            <a:noFill/>
            <a:ln w="12700">
              <a:noFill/>
              <a:prstDash val="solid"/>
            </a:ln>
          </p:spPr>
          <p:txBody>
            <a:bodyPr wrap="square" lIns="91440" tIns="45720" rIns="91440" bIns="45720" rtlCol="0" anchor="t">
              <a:normAutofit lnSpcReduction="10000"/>
            </a:bodyPr>
            <a:lstStyle/>
            <a:p>
              <a:pPr indent="0" algn="ctr">
                <a:lnSpc>
                  <a:spcPct val="100000"/>
                </a:lnSpc>
                <a:defRPr/>
              </a:pPr>
              <a:r>
                <a:rPr lang="en-US" sz="1400" b="0" i="0" u="none" strike="noStrike">
                  <a:solidFill>
                    <a:srgbClr val="666666"/>
                  </a:solidFill>
                  <a:latin typeface="Arial" panose="020B0604020202020204"/>
                  <a:ea typeface="Arial" panose="020B0604020202020204"/>
                  <a:cs typeface="Arial" panose="020B0604020202020204"/>
                  <a:sym typeface="Arial" panose="020B0604020202020204"/>
                </a:rPr>
                <a:t>Code Intrusiveness</a:t>
              </a:r>
              <a:endParaRPr lang="en-US" sz="1100"/>
            </a:p>
            <a:p>
              <a:pPr indent="0" algn="ctr">
                <a:lnSpc>
                  <a:spcPct val="125000"/>
                </a:lnSpc>
              </a:pPr>
              <a:r>
                <a:rPr lang="en-US" sz="1400" b="0" i="0" u="none" strike="noStrike">
                  <a:solidFill>
                    <a:srgbClr val="666666"/>
                  </a:solidFill>
                  <a:latin typeface="Arial" panose="020B0604020202020204"/>
                  <a:ea typeface="Arial" panose="020B0604020202020204"/>
                  <a:cs typeface="Arial" panose="020B0604020202020204"/>
                  <a:sym typeface="Arial" panose="020B0604020202020204"/>
                </a:rPr>
                <a:t>(Operator code unchanged)</a:t>
              </a:r>
              <a:endParaRPr lang="en-US" sz="1400" b="0" i="0" u="none" strike="noStrike">
                <a:solidFill>
                  <a:srgbClr val="666666"/>
                </a:solidFill>
                <a:latin typeface="Arial" panose="020B0604020202020204"/>
                <a:ea typeface="Arial" panose="020B0604020202020204"/>
                <a:cs typeface="Arial" panose="020B0604020202020204"/>
                <a:sym typeface="Arial" panose="020B0604020202020204"/>
              </a:endParaRPr>
            </a:p>
          </p:txBody>
        </p:sp>
      </p:grpSp>
      <p:grpSp>
        <p:nvGrpSpPr>
          <p:cNvPr id="19" name="Group 19"/>
          <p:cNvGrpSpPr/>
          <p:nvPr/>
        </p:nvGrpSpPr>
        <p:grpSpPr>
          <a:xfrm>
            <a:off x="249555" y="2304415"/>
            <a:ext cx="6800215" cy="3180080"/>
            <a:chOff x="249555" y="2304415"/>
            <a:chExt cx="6800215" cy="3180080"/>
          </a:xfrm>
        </p:grpSpPr>
        <p:sp>
          <p:nvSpPr>
            <p:cNvPr id="20" name="AutoShape 20"/>
            <p:cNvSpPr/>
            <p:nvPr/>
          </p:nvSpPr>
          <p:spPr>
            <a:xfrm>
              <a:off x="249555" y="2304415"/>
              <a:ext cx="2200275" cy="379730"/>
            </a:xfrm>
            <a:prstGeom prst="rect">
              <a:avLst/>
            </a:prstGeom>
            <a:noFill/>
            <a:ln w="12700">
              <a:noFill/>
              <a:prstDash val="solid"/>
            </a:ln>
          </p:spPr>
          <p:txBody>
            <a:bodyPr wrap="square" lIns="91440" tIns="45720" rIns="91440" bIns="45720" rtlCol="0" anchor="t">
              <a:normAutofit/>
            </a:bodyPr>
            <a:lstStyle/>
            <a:p>
              <a:pPr indent="0" algn="r">
                <a:lnSpc>
                  <a:spcPct val="100000"/>
                </a:lnSpc>
                <a:defRPr/>
              </a:pPr>
              <a:r>
                <a:rPr lang="en-US" sz="1600" b="0" i="0" u="none" strike="noStrike">
                  <a:solidFill>
                    <a:srgbClr val="1A1A1A"/>
                  </a:solidFill>
                  <a:latin typeface="Arial" panose="020B0604020202020204"/>
                  <a:ea typeface="Arial" panose="020B0604020202020204"/>
                  <a:cs typeface="Arial" panose="020B0604020202020204"/>
                  <a:sym typeface="Arial" panose="020B0604020202020204"/>
                </a:rPr>
                <a:t>topk (K=10)</a:t>
              </a:r>
              <a:endParaRPr lang="en-US" sz="1100"/>
            </a:p>
          </p:txBody>
        </p:sp>
        <p:sp>
          <p:nvSpPr>
            <p:cNvPr id="21" name="AutoShape 21"/>
            <p:cNvSpPr/>
            <p:nvPr/>
          </p:nvSpPr>
          <p:spPr>
            <a:xfrm>
              <a:off x="2549525" y="2344420"/>
              <a:ext cx="4500245" cy="299720"/>
            </a:xfrm>
            <a:prstGeom prst="rect">
              <a:avLst/>
            </a:prstGeom>
            <a:solidFill>
              <a:srgbClr val="F0F0F0">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2" name="AutoShape 22"/>
            <p:cNvSpPr/>
            <p:nvPr/>
          </p:nvSpPr>
          <p:spPr>
            <a:xfrm>
              <a:off x="2549525" y="2344420"/>
              <a:ext cx="3060065" cy="299720"/>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3" name="AutoShape 23"/>
            <p:cNvSpPr/>
            <p:nvPr/>
          </p:nvSpPr>
          <p:spPr>
            <a:xfrm>
              <a:off x="5709285" y="2304415"/>
              <a:ext cx="800100" cy="37973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700" b="1" i="0" u="none" strike="noStrike">
                  <a:solidFill>
                    <a:srgbClr val="8B0012"/>
                  </a:solidFill>
                  <a:latin typeface="Arial" panose="020B0604020202020204"/>
                  <a:ea typeface="Arial" panose="020B0604020202020204"/>
                  <a:cs typeface="Arial" panose="020B0604020202020204"/>
                  <a:sym typeface="Arial" panose="020B0604020202020204"/>
                </a:rPr>
                <a:t>+68%</a:t>
              </a:r>
              <a:endParaRPr lang="en-US" sz="1100"/>
            </a:p>
          </p:txBody>
        </p:sp>
        <p:sp>
          <p:nvSpPr>
            <p:cNvPr id="24" name="AutoShape 24"/>
            <p:cNvSpPr/>
            <p:nvPr/>
          </p:nvSpPr>
          <p:spPr>
            <a:xfrm>
              <a:off x="249555" y="2864485"/>
              <a:ext cx="2200275" cy="379730"/>
            </a:xfrm>
            <a:prstGeom prst="rect">
              <a:avLst/>
            </a:prstGeom>
            <a:noFill/>
            <a:ln w="12700">
              <a:noFill/>
              <a:prstDash val="solid"/>
            </a:ln>
          </p:spPr>
          <p:txBody>
            <a:bodyPr wrap="square" lIns="91440" tIns="45720" rIns="91440" bIns="45720" rtlCol="0" anchor="t">
              <a:normAutofit/>
            </a:bodyPr>
            <a:lstStyle/>
            <a:p>
              <a:pPr indent="0" algn="r">
                <a:lnSpc>
                  <a:spcPct val="100000"/>
                </a:lnSpc>
                <a:defRPr/>
              </a:pPr>
              <a:r>
                <a:rPr lang="en-US" sz="1600" b="0" i="0" u="none" strike="noStrike">
                  <a:solidFill>
                    <a:srgbClr val="1A1A1A"/>
                  </a:solidFill>
                  <a:latin typeface="Arial" panose="020B0604020202020204"/>
                  <a:ea typeface="Arial" panose="020B0604020202020204"/>
                  <a:cs typeface="Arial" panose="020B0604020202020204"/>
                  <a:sym typeface="Arial" panose="020B0604020202020204"/>
                </a:rPr>
                <a:t>topk (K=100)</a:t>
              </a:r>
              <a:endParaRPr lang="en-US" sz="1100"/>
            </a:p>
          </p:txBody>
        </p:sp>
        <p:sp>
          <p:nvSpPr>
            <p:cNvPr id="25" name="AutoShape 25"/>
            <p:cNvSpPr/>
            <p:nvPr/>
          </p:nvSpPr>
          <p:spPr>
            <a:xfrm>
              <a:off x="2549525" y="2904490"/>
              <a:ext cx="4500245" cy="299720"/>
            </a:xfrm>
            <a:prstGeom prst="rect">
              <a:avLst/>
            </a:prstGeom>
            <a:solidFill>
              <a:srgbClr val="F0F0F0">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6" name="AutoShape 26"/>
            <p:cNvSpPr/>
            <p:nvPr/>
          </p:nvSpPr>
          <p:spPr>
            <a:xfrm>
              <a:off x="2549525" y="2904490"/>
              <a:ext cx="2339975" cy="299720"/>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7" name="AutoShape 27"/>
            <p:cNvSpPr/>
            <p:nvPr/>
          </p:nvSpPr>
          <p:spPr>
            <a:xfrm>
              <a:off x="4989830" y="2864485"/>
              <a:ext cx="800100" cy="37973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700" b="1" i="0" u="none" strike="noStrike">
                  <a:solidFill>
                    <a:srgbClr val="8B0012"/>
                  </a:solidFill>
                  <a:latin typeface="Arial" panose="020B0604020202020204"/>
                  <a:ea typeface="Arial" panose="020B0604020202020204"/>
                  <a:cs typeface="Arial" panose="020B0604020202020204"/>
                  <a:sym typeface="Arial" panose="020B0604020202020204"/>
                </a:rPr>
                <a:t>+52%</a:t>
              </a:r>
              <a:endParaRPr lang="en-US" sz="1100"/>
            </a:p>
          </p:txBody>
        </p:sp>
        <p:sp>
          <p:nvSpPr>
            <p:cNvPr id="28" name="AutoShape 28"/>
            <p:cNvSpPr/>
            <p:nvPr/>
          </p:nvSpPr>
          <p:spPr>
            <a:xfrm>
              <a:off x="249555" y="3424555"/>
              <a:ext cx="2200275" cy="379730"/>
            </a:xfrm>
            <a:prstGeom prst="rect">
              <a:avLst/>
            </a:prstGeom>
            <a:noFill/>
            <a:ln w="12700">
              <a:noFill/>
              <a:prstDash val="solid"/>
            </a:ln>
          </p:spPr>
          <p:txBody>
            <a:bodyPr wrap="square" lIns="91440" tIns="45720" rIns="91440" bIns="45720" rtlCol="0" anchor="t">
              <a:normAutofit/>
            </a:bodyPr>
            <a:lstStyle/>
            <a:p>
              <a:pPr indent="0" algn="r">
                <a:lnSpc>
                  <a:spcPct val="100000"/>
                </a:lnSpc>
                <a:defRPr/>
              </a:pPr>
              <a:r>
                <a:rPr lang="en-US" sz="1600" b="0" i="0" u="none" strike="noStrike">
                  <a:solidFill>
                    <a:srgbClr val="1A1A1A"/>
                  </a:solidFill>
                  <a:latin typeface="Arial" panose="020B0604020202020204"/>
                  <a:ea typeface="Arial" panose="020B0604020202020204"/>
                  <a:cs typeface="Arial" panose="020B0604020202020204"/>
                  <a:sym typeface="Arial" panose="020B0604020202020204"/>
                </a:rPr>
                <a:t>sort (BitonicSort)</a:t>
              </a:r>
              <a:endParaRPr lang="en-US" sz="1100"/>
            </a:p>
          </p:txBody>
        </p:sp>
        <p:sp>
          <p:nvSpPr>
            <p:cNvPr id="29" name="AutoShape 29"/>
            <p:cNvSpPr/>
            <p:nvPr/>
          </p:nvSpPr>
          <p:spPr>
            <a:xfrm>
              <a:off x="2549525" y="3464560"/>
              <a:ext cx="4500245" cy="299720"/>
            </a:xfrm>
            <a:prstGeom prst="rect">
              <a:avLst/>
            </a:prstGeom>
            <a:solidFill>
              <a:srgbClr val="F0F0F0">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0" name="AutoShape 30"/>
            <p:cNvSpPr/>
            <p:nvPr/>
          </p:nvSpPr>
          <p:spPr>
            <a:xfrm>
              <a:off x="2549525" y="3464560"/>
              <a:ext cx="2025015" cy="299720"/>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1" name="AutoShape 31"/>
            <p:cNvSpPr/>
            <p:nvPr/>
          </p:nvSpPr>
          <p:spPr>
            <a:xfrm>
              <a:off x="4674870" y="3424555"/>
              <a:ext cx="800100" cy="37973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700" b="1" i="0" u="none" strike="noStrike">
                  <a:solidFill>
                    <a:srgbClr val="8B0012"/>
                  </a:solidFill>
                  <a:latin typeface="Arial" panose="020B0604020202020204"/>
                  <a:ea typeface="Arial" panose="020B0604020202020204"/>
                  <a:cs typeface="Arial" panose="020B0604020202020204"/>
                  <a:sym typeface="Arial" panose="020B0604020202020204"/>
                </a:rPr>
                <a:t>+45%</a:t>
              </a:r>
              <a:endParaRPr lang="en-US" sz="1100"/>
            </a:p>
          </p:txBody>
        </p:sp>
        <p:sp>
          <p:nvSpPr>
            <p:cNvPr id="32" name="AutoShape 32"/>
            <p:cNvSpPr/>
            <p:nvPr/>
          </p:nvSpPr>
          <p:spPr>
            <a:xfrm>
              <a:off x="249555" y="3984625"/>
              <a:ext cx="2200275" cy="379730"/>
            </a:xfrm>
            <a:prstGeom prst="rect">
              <a:avLst/>
            </a:prstGeom>
            <a:noFill/>
            <a:ln w="12700">
              <a:noFill/>
              <a:prstDash val="solid"/>
            </a:ln>
          </p:spPr>
          <p:txBody>
            <a:bodyPr wrap="square" lIns="91440" tIns="45720" rIns="91440" bIns="45720" rtlCol="0" anchor="t">
              <a:normAutofit/>
            </a:bodyPr>
            <a:lstStyle/>
            <a:p>
              <a:pPr indent="0" algn="r">
                <a:lnSpc>
                  <a:spcPct val="100000"/>
                </a:lnSpc>
                <a:defRPr/>
              </a:pPr>
              <a:r>
                <a:rPr lang="en-US" sz="1600" b="0" i="0" u="none" strike="noStrike">
                  <a:solidFill>
                    <a:srgbClr val="1A1A1A"/>
                  </a:solidFill>
                  <a:latin typeface="Arial" panose="020B0604020202020204"/>
                  <a:ea typeface="Arial" panose="020B0604020202020204"/>
                  <a:cs typeface="Arial" panose="020B0604020202020204"/>
                  <a:sym typeface="Arial" panose="020B0604020202020204"/>
                </a:rPr>
                <a:t>argsort</a:t>
              </a:r>
              <a:endParaRPr lang="en-US" sz="1100"/>
            </a:p>
          </p:txBody>
        </p:sp>
        <p:sp>
          <p:nvSpPr>
            <p:cNvPr id="33" name="AutoShape 33"/>
            <p:cNvSpPr/>
            <p:nvPr/>
          </p:nvSpPr>
          <p:spPr>
            <a:xfrm>
              <a:off x="2549525" y="4024630"/>
              <a:ext cx="4500245" cy="299720"/>
            </a:xfrm>
            <a:prstGeom prst="rect">
              <a:avLst/>
            </a:prstGeom>
            <a:solidFill>
              <a:srgbClr val="F0F0F0">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4" name="AutoShape 34"/>
            <p:cNvSpPr/>
            <p:nvPr/>
          </p:nvSpPr>
          <p:spPr>
            <a:xfrm>
              <a:off x="2549525" y="4024630"/>
              <a:ext cx="1845310" cy="299720"/>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5" name="AutoShape 35"/>
            <p:cNvSpPr/>
            <p:nvPr/>
          </p:nvSpPr>
          <p:spPr>
            <a:xfrm>
              <a:off x="4494530" y="3984625"/>
              <a:ext cx="800100" cy="37973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700" b="1" i="0" u="none" strike="noStrike">
                  <a:solidFill>
                    <a:srgbClr val="8B0012"/>
                  </a:solidFill>
                  <a:latin typeface="Arial" panose="020B0604020202020204"/>
                  <a:ea typeface="Arial" panose="020B0604020202020204"/>
                  <a:cs typeface="Arial" panose="020B0604020202020204"/>
                  <a:sym typeface="Arial" panose="020B0604020202020204"/>
                </a:rPr>
                <a:t>+41%</a:t>
              </a:r>
              <a:endParaRPr lang="en-US" sz="1100"/>
            </a:p>
          </p:txBody>
        </p:sp>
        <p:sp>
          <p:nvSpPr>
            <p:cNvPr id="36" name="AutoShape 36"/>
            <p:cNvSpPr/>
            <p:nvPr/>
          </p:nvSpPr>
          <p:spPr>
            <a:xfrm>
              <a:off x="249555" y="4544695"/>
              <a:ext cx="2200275" cy="379730"/>
            </a:xfrm>
            <a:prstGeom prst="rect">
              <a:avLst/>
            </a:prstGeom>
            <a:noFill/>
            <a:ln w="12700">
              <a:noFill/>
              <a:prstDash val="solid"/>
            </a:ln>
          </p:spPr>
          <p:txBody>
            <a:bodyPr wrap="square" lIns="91440" tIns="45720" rIns="91440" bIns="45720" rtlCol="0" anchor="t">
              <a:normAutofit/>
            </a:bodyPr>
            <a:lstStyle/>
            <a:p>
              <a:pPr indent="0" algn="r">
                <a:lnSpc>
                  <a:spcPct val="100000"/>
                </a:lnSpc>
                <a:defRPr/>
              </a:pPr>
              <a:r>
                <a:rPr lang="en-US" sz="1600" b="0" i="0" u="none" strike="noStrike">
                  <a:solidFill>
                    <a:srgbClr val="1A1A1A"/>
                  </a:solidFill>
                  <a:latin typeface="Arial" panose="020B0604020202020204"/>
                  <a:ea typeface="Arial" panose="020B0604020202020204"/>
                  <a:cs typeface="Arial" panose="020B0604020202020204"/>
                  <a:sym typeface="Arial" panose="020B0604020202020204"/>
                </a:rPr>
                <a:t>median</a:t>
              </a:r>
              <a:endParaRPr lang="en-US" sz="1100"/>
            </a:p>
          </p:txBody>
        </p:sp>
        <p:sp>
          <p:nvSpPr>
            <p:cNvPr id="37" name="AutoShape 37"/>
            <p:cNvSpPr/>
            <p:nvPr/>
          </p:nvSpPr>
          <p:spPr>
            <a:xfrm>
              <a:off x="2549525" y="4584700"/>
              <a:ext cx="4500245" cy="299720"/>
            </a:xfrm>
            <a:prstGeom prst="rect">
              <a:avLst/>
            </a:prstGeom>
            <a:solidFill>
              <a:srgbClr val="F0F0F0">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8" name="AutoShape 38"/>
            <p:cNvSpPr/>
            <p:nvPr/>
          </p:nvSpPr>
          <p:spPr>
            <a:xfrm>
              <a:off x="2549525" y="4584700"/>
              <a:ext cx="1574800" cy="299720"/>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39" name="AutoShape 39"/>
            <p:cNvSpPr/>
            <p:nvPr/>
          </p:nvSpPr>
          <p:spPr>
            <a:xfrm>
              <a:off x="4224655" y="4544695"/>
              <a:ext cx="800100" cy="37973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700" b="1" i="0" u="none" strike="noStrike">
                  <a:solidFill>
                    <a:srgbClr val="8B0012"/>
                  </a:solidFill>
                  <a:latin typeface="Arial" panose="020B0604020202020204"/>
                  <a:ea typeface="Arial" panose="020B0604020202020204"/>
                  <a:cs typeface="Arial" panose="020B0604020202020204"/>
                  <a:sym typeface="Arial" panose="020B0604020202020204"/>
                </a:rPr>
                <a:t>+35%</a:t>
              </a:r>
              <a:endParaRPr lang="en-US" sz="1100"/>
            </a:p>
          </p:txBody>
        </p:sp>
        <p:sp>
          <p:nvSpPr>
            <p:cNvPr id="40" name="AutoShape 40"/>
            <p:cNvSpPr/>
            <p:nvPr/>
          </p:nvSpPr>
          <p:spPr>
            <a:xfrm>
              <a:off x="249555" y="5104765"/>
              <a:ext cx="2200275" cy="379730"/>
            </a:xfrm>
            <a:prstGeom prst="rect">
              <a:avLst/>
            </a:prstGeom>
            <a:noFill/>
            <a:ln w="12700">
              <a:noFill/>
              <a:prstDash val="solid"/>
            </a:ln>
          </p:spPr>
          <p:txBody>
            <a:bodyPr wrap="square" lIns="91440" tIns="45720" rIns="91440" bIns="45720" rtlCol="0" anchor="t">
              <a:normAutofit/>
            </a:bodyPr>
            <a:lstStyle/>
            <a:p>
              <a:pPr indent="0" algn="r">
                <a:lnSpc>
                  <a:spcPct val="100000"/>
                </a:lnSpc>
                <a:defRPr/>
              </a:pPr>
              <a:r>
                <a:rPr lang="en-US" sz="1600" b="0" i="0" u="none" strike="noStrike">
                  <a:solidFill>
                    <a:srgbClr val="1A1A1A"/>
                  </a:solidFill>
                  <a:latin typeface="Arial" panose="020B0604020202020204"/>
                  <a:ea typeface="Arial" panose="020B0604020202020204"/>
                  <a:cs typeface="Arial" panose="020B0604020202020204"/>
                  <a:sym typeface="Arial" panose="020B0604020202020204"/>
                </a:rPr>
                <a:t>kthvalue</a:t>
              </a:r>
              <a:endParaRPr lang="en-US" sz="1100"/>
            </a:p>
          </p:txBody>
        </p:sp>
        <p:sp>
          <p:nvSpPr>
            <p:cNvPr id="41" name="AutoShape 41"/>
            <p:cNvSpPr/>
            <p:nvPr/>
          </p:nvSpPr>
          <p:spPr>
            <a:xfrm>
              <a:off x="2549525" y="5144770"/>
              <a:ext cx="4500245" cy="299720"/>
            </a:xfrm>
            <a:prstGeom prst="rect">
              <a:avLst/>
            </a:prstGeom>
            <a:solidFill>
              <a:srgbClr val="F0F0F0">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2" name="AutoShape 42"/>
            <p:cNvSpPr/>
            <p:nvPr/>
          </p:nvSpPr>
          <p:spPr>
            <a:xfrm>
              <a:off x="2549525" y="5144770"/>
              <a:ext cx="1710055" cy="299720"/>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43" name="AutoShape 43"/>
            <p:cNvSpPr/>
            <p:nvPr/>
          </p:nvSpPr>
          <p:spPr>
            <a:xfrm>
              <a:off x="4359275" y="5104765"/>
              <a:ext cx="800100" cy="37973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700" b="1" i="0" u="none" strike="noStrike">
                  <a:solidFill>
                    <a:srgbClr val="8B0012"/>
                  </a:solidFill>
                  <a:latin typeface="Arial" panose="020B0604020202020204"/>
                  <a:ea typeface="Arial" panose="020B0604020202020204"/>
                  <a:cs typeface="Arial" panose="020B0604020202020204"/>
                  <a:sym typeface="Arial" panose="020B0604020202020204"/>
                </a:rPr>
                <a:t>+38%</a:t>
              </a:r>
              <a:endParaRPr lang="en-US" sz="1100"/>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Extensibility: Optimization Patterns for Other Op.s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grpSp>
        <p:nvGrpSpPr>
          <p:cNvPr id="5" name="Group 5"/>
          <p:cNvGrpSpPr/>
          <p:nvPr/>
        </p:nvGrpSpPr>
        <p:grpSpPr>
          <a:xfrm>
            <a:off x="1612265" y="1531620"/>
            <a:ext cx="9399905" cy="4700270"/>
            <a:chOff x="1612265" y="1531620"/>
            <a:chExt cx="9399905" cy="4700270"/>
          </a:xfrm>
        </p:grpSpPr>
        <p:sp>
          <p:nvSpPr>
            <p:cNvPr id="6" name="AutoShape 6"/>
            <p:cNvSpPr/>
            <p:nvPr/>
          </p:nvSpPr>
          <p:spPr>
            <a:xfrm>
              <a:off x="1612265" y="1531620"/>
              <a:ext cx="4399915" cy="4700270"/>
            </a:xfrm>
            <a:prstGeom prst="rect">
              <a:avLst/>
            </a:prstGeom>
            <a:solidFill>
              <a:srgbClr val="FFF5F5">
                <a:alpha val="100000"/>
              </a:srgbClr>
            </a:solidFill>
            <a:ln w="12700">
              <a:solidFill>
                <a:srgbClr val="8B0012">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1612265" y="1531620"/>
              <a:ext cx="4399915" cy="560070"/>
            </a:xfrm>
            <a:prstGeom prst="rect">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1711960" y="1601470"/>
              <a:ext cx="4199890" cy="41973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Operator Patterns Suitable for local_ptr Optimization</a:t>
              </a:r>
              <a:endParaRPr lang="en-US" sz="1100"/>
            </a:p>
          </p:txBody>
        </p:sp>
        <p:sp>
          <p:nvSpPr>
            <p:cNvPr id="9" name="AutoShape 9"/>
            <p:cNvSpPr/>
            <p:nvPr/>
          </p:nvSpPr>
          <p:spPr>
            <a:xfrm>
              <a:off x="1711960" y="2311400"/>
              <a:ext cx="120015" cy="120015"/>
            </a:xfrm>
            <a:prstGeom prst="ellipse">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1951990" y="2211705"/>
              <a:ext cx="3930015" cy="349885"/>
            </a:xfrm>
            <a:prstGeom prst="rect">
              <a:avLst/>
            </a:prstGeom>
            <a:noFill/>
            <a:ln w="12700">
              <a:noFill/>
              <a:prstDash val="solid"/>
            </a:ln>
          </p:spPr>
          <p:txBody>
            <a:bodyPr wrap="square" lIns="0" tIns="0" rIns="91440" bIns="0" rtlCol="0" anchor="t">
              <a:normAutofit/>
            </a:bodyPr>
            <a:lstStyle/>
            <a:p>
              <a:pPr indent="0" algn="l">
                <a:lnSpc>
                  <a:spcPct val="100000"/>
                </a:lnSpc>
                <a:defRPr/>
              </a:pPr>
              <a:r>
                <a:rPr lang="en-US" sz="1600" b="1" i="0" u="none" strike="noStrike">
                  <a:solidFill>
                    <a:srgbClr val="1A1A1A"/>
                  </a:solidFill>
                  <a:latin typeface="Arial" panose="020B0604020202020204"/>
                  <a:ea typeface="Arial" panose="020B0604020202020204"/>
                  <a:cs typeface="Arial" panose="020B0604020202020204"/>
                  <a:sym typeface="Arial" panose="020B0604020202020204"/>
                </a:rPr>
                <a:t>Intermediate Result Reuse</a:t>
              </a:r>
              <a:endParaRPr lang="en-US" sz="1100"/>
            </a:p>
          </p:txBody>
        </p:sp>
        <p:sp>
          <p:nvSpPr>
            <p:cNvPr id="11" name="AutoShape 11"/>
            <p:cNvSpPr/>
            <p:nvPr/>
          </p:nvSpPr>
          <p:spPr>
            <a:xfrm>
              <a:off x="1892300" y="2521585"/>
              <a:ext cx="4050030" cy="280035"/>
            </a:xfrm>
            <a:prstGeom prst="rect">
              <a:avLst/>
            </a:prstGeom>
            <a:noFill/>
            <a:ln w="12700">
              <a:noFill/>
              <a:prstDash val="solid"/>
            </a:ln>
          </p:spPr>
          <p:txBody>
            <a:bodyPr wrap="square" lIns="91440" tIns="45720" rIns="91440" bIns="45720" rtlCol="0" anchor="t">
              <a:normAutofit lnSpcReduction="20000"/>
            </a:bodyPr>
            <a:lstStyle/>
            <a:p>
              <a:pPr indent="0" algn="l">
                <a:lnSpc>
                  <a:spcPct val="100000"/>
                </a:lnSpc>
                <a:defRPr/>
              </a:pPr>
              <a:r>
                <a:rPr lang="en-US" sz="1000" b="0" i="0" u="none" strike="noStrike">
                  <a:solidFill>
                    <a:srgbClr val="666666"/>
                  </a:solidFill>
                  <a:latin typeface="Arial" panose="020B0604020202020204"/>
                  <a:ea typeface="Arial" panose="020B0604020202020204"/>
                  <a:cs typeface="Arial" panose="020B0604020202020204"/>
                  <a:sym typeface="Arial" panose="020B0604020202020204"/>
                </a:rPr>
                <a:t>Operators that read/write the same data multiple times internally</a:t>
              </a:r>
              <a:endParaRPr lang="en-US" sz="1100"/>
            </a:p>
          </p:txBody>
        </p:sp>
        <p:sp>
          <p:nvSpPr>
            <p:cNvPr id="12" name="AutoShape 12"/>
            <p:cNvSpPr/>
            <p:nvPr/>
          </p:nvSpPr>
          <p:spPr>
            <a:xfrm>
              <a:off x="1892300" y="2801620"/>
              <a:ext cx="4050030" cy="280035"/>
            </a:xfrm>
            <a:prstGeom prst="rect">
              <a:avLst/>
            </a:prstGeom>
            <a:noFill/>
            <a:ln w="12700">
              <a:noFill/>
              <a:prstDash val="solid"/>
            </a:ln>
          </p:spPr>
          <p:txBody>
            <a:bodyPr wrap="square" lIns="91440" tIns="45720" rIns="91440" bIns="45720" rtlCol="0" anchor="t">
              <a:normAutofit lnSpcReduction="20000"/>
            </a:bodyPr>
            <a:lstStyle/>
            <a:p>
              <a:pPr indent="0" algn="l">
                <a:lnSpc>
                  <a:spcPct val="100000"/>
                </a:lnSpc>
                <a:defRPr/>
              </a:pPr>
              <a:r>
                <a:rPr lang="en-US" sz="1200" b="0" i="0" u="none" strike="noStrike">
                  <a:solidFill>
                    <a:srgbClr val="666666"/>
                  </a:solidFill>
                  <a:latin typeface="Arial" panose="020B0604020202020204"/>
                  <a:ea typeface="Arial" panose="020B0604020202020204"/>
                  <a:cs typeface="Arial" panose="020B0604020202020204"/>
                  <a:sym typeface="Arial" panose="020B0604020202020204"/>
                </a:rPr>
                <a:t>→ Store in shared mem to avoid multiple global accesses</a:t>
              </a:r>
              <a:endParaRPr lang="en-US" sz="1100"/>
            </a:p>
          </p:txBody>
        </p:sp>
        <p:sp>
          <p:nvSpPr>
            <p:cNvPr id="13" name="AutoShape 13"/>
            <p:cNvSpPr/>
            <p:nvPr/>
          </p:nvSpPr>
          <p:spPr>
            <a:xfrm>
              <a:off x="1711960" y="3221355"/>
              <a:ext cx="120015" cy="120015"/>
            </a:xfrm>
            <a:prstGeom prst="ellipse">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951990" y="3121660"/>
              <a:ext cx="3930015" cy="349885"/>
            </a:xfrm>
            <a:prstGeom prst="rect">
              <a:avLst/>
            </a:prstGeom>
            <a:noFill/>
            <a:ln w="12700">
              <a:noFill/>
              <a:prstDash val="solid"/>
            </a:ln>
          </p:spPr>
          <p:txBody>
            <a:bodyPr wrap="square" lIns="0" tIns="0" rIns="91440" bIns="0" rtlCol="0" anchor="t">
              <a:normAutofit/>
            </a:bodyPr>
            <a:lstStyle/>
            <a:p>
              <a:pPr indent="0" algn="l">
                <a:lnSpc>
                  <a:spcPct val="100000"/>
                </a:lnSpc>
                <a:defRPr/>
              </a:pPr>
              <a:r>
                <a:rPr lang="en-US" sz="1600" b="1" i="0" u="none" strike="noStrike">
                  <a:solidFill>
                    <a:srgbClr val="1A1A1A"/>
                  </a:solidFill>
                  <a:latin typeface="Arial" panose="020B0604020202020204"/>
                  <a:ea typeface="Arial" panose="020B0604020202020204"/>
                  <a:cs typeface="Arial" panose="020B0604020202020204"/>
                  <a:sym typeface="Arial" panose="020B0604020202020204"/>
                </a:rPr>
                <a:t>Inter-Warp Communication</a:t>
              </a:r>
              <a:endParaRPr lang="en-US" sz="1100"/>
            </a:p>
          </p:txBody>
        </p:sp>
        <p:sp>
          <p:nvSpPr>
            <p:cNvPr id="15" name="AutoShape 15"/>
            <p:cNvSpPr/>
            <p:nvPr/>
          </p:nvSpPr>
          <p:spPr>
            <a:xfrm>
              <a:off x="1892300" y="3431540"/>
              <a:ext cx="4050030" cy="280035"/>
            </a:xfrm>
            <a:prstGeom prst="rect">
              <a:avLst/>
            </a:prstGeom>
            <a:noFill/>
            <a:ln w="12700">
              <a:noFill/>
              <a:prstDash val="solid"/>
            </a:ln>
          </p:spPr>
          <p:txBody>
            <a:bodyPr wrap="square" lIns="91440" tIns="45720" rIns="91440" bIns="45720" rtlCol="0" anchor="t">
              <a:normAutofit lnSpcReduction="10000"/>
            </a:bodyPr>
            <a:lstStyle/>
            <a:p>
              <a:pPr indent="0" algn="l">
                <a:lnSpc>
                  <a:spcPct val="100000"/>
                </a:lnSpc>
                <a:defRPr/>
              </a:pPr>
              <a:r>
                <a:rPr lang="en-US" sz="1300" b="0" i="0" u="none" strike="noStrike">
                  <a:solidFill>
                    <a:srgbClr val="666666"/>
                  </a:solidFill>
                  <a:latin typeface="Arial" panose="020B0604020202020204"/>
                  <a:ea typeface="Arial" panose="020B0604020202020204"/>
                  <a:cs typeface="Arial" panose="020B0604020202020204"/>
                  <a:sym typeface="Arial" panose="020B0604020202020204"/>
                </a:rPr>
                <a:t>Warps within the same CTA need to exchange data</a:t>
              </a:r>
              <a:endParaRPr lang="en-US" sz="1100"/>
            </a:p>
          </p:txBody>
        </p:sp>
        <p:sp>
          <p:nvSpPr>
            <p:cNvPr id="16" name="AutoShape 16"/>
            <p:cNvSpPr/>
            <p:nvPr/>
          </p:nvSpPr>
          <p:spPr>
            <a:xfrm>
              <a:off x="1892300" y="3711575"/>
              <a:ext cx="4050030" cy="280035"/>
            </a:xfrm>
            <a:prstGeom prst="rect">
              <a:avLst/>
            </a:prstGeom>
            <a:noFill/>
            <a:ln w="12700">
              <a:noFill/>
              <a:prstDash val="solid"/>
            </a:ln>
          </p:spPr>
          <p:txBody>
            <a:bodyPr wrap="square" lIns="91440" tIns="45720" rIns="91440" bIns="45720" rtlCol="0" anchor="t">
              <a:normAutofit lnSpcReduction="10000"/>
            </a:bodyPr>
            <a:lstStyle/>
            <a:p>
              <a:pPr indent="0" algn="l">
                <a:lnSpc>
                  <a:spcPct val="100000"/>
                </a:lnSpc>
                <a:defRPr/>
              </a:pPr>
              <a:r>
                <a:rPr lang="en-US" sz="1300" b="0" i="0" u="none" strike="noStrike">
                  <a:solidFill>
                    <a:srgbClr val="666666"/>
                  </a:solidFill>
                  <a:latin typeface="Arial" panose="020B0604020202020204"/>
                  <a:ea typeface="Arial" panose="020B0604020202020204"/>
                  <a:cs typeface="Arial" panose="020B0604020202020204"/>
                  <a:sym typeface="Arial" panose="020B0604020202020204"/>
                </a:rPr>
                <a:t>→ Achieve efficient communication via shared mem</a:t>
              </a:r>
              <a:endParaRPr lang="en-US" sz="1100"/>
            </a:p>
          </p:txBody>
        </p:sp>
        <p:sp>
          <p:nvSpPr>
            <p:cNvPr id="17" name="AutoShape 17"/>
            <p:cNvSpPr/>
            <p:nvPr/>
          </p:nvSpPr>
          <p:spPr>
            <a:xfrm>
              <a:off x="1711960" y="4131310"/>
              <a:ext cx="120015" cy="120015"/>
            </a:xfrm>
            <a:prstGeom prst="ellipse">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8" name="AutoShape 18"/>
            <p:cNvSpPr/>
            <p:nvPr/>
          </p:nvSpPr>
          <p:spPr>
            <a:xfrm>
              <a:off x="1951990" y="4031615"/>
              <a:ext cx="3930015" cy="349885"/>
            </a:xfrm>
            <a:prstGeom prst="rect">
              <a:avLst/>
            </a:prstGeom>
            <a:noFill/>
            <a:ln w="12700">
              <a:noFill/>
              <a:prstDash val="solid"/>
            </a:ln>
          </p:spPr>
          <p:txBody>
            <a:bodyPr wrap="square" lIns="0" tIns="0" rIns="91440" bIns="0" rtlCol="0" anchor="t">
              <a:normAutofit/>
            </a:bodyPr>
            <a:lstStyle/>
            <a:p>
              <a:pPr indent="0" algn="l">
                <a:lnSpc>
                  <a:spcPct val="100000"/>
                </a:lnSpc>
                <a:defRPr/>
              </a:pPr>
              <a:r>
                <a:rPr lang="en-US" sz="1600" b="1" i="0" u="none" strike="noStrike">
                  <a:solidFill>
                    <a:srgbClr val="1A1A1A"/>
                  </a:solidFill>
                  <a:latin typeface="Arial" panose="020B0604020202020204"/>
                  <a:ea typeface="Arial" panose="020B0604020202020204"/>
                  <a:cs typeface="Arial" panose="020B0604020202020204"/>
                  <a:sym typeface="Arial" panose="020B0604020202020204"/>
                </a:rPr>
                <a:t>Reduction Operations</a:t>
              </a:r>
              <a:endParaRPr lang="en-US" sz="1100"/>
            </a:p>
          </p:txBody>
        </p:sp>
        <p:sp>
          <p:nvSpPr>
            <p:cNvPr id="19" name="AutoShape 19"/>
            <p:cNvSpPr/>
            <p:nvPr/>
          </p:nvSpPr>
          <p:spPr>
            <a:xfrm>
              <a:off x="1892300" y="4341495"/>
              <a:ext cx="4050030" cy="280035"/>
            </a:xfrm>
            <a:prstGeom prst="rect">
              <a:avLst/>
            </a:prstGeom>
            <a:noFill/>
            <a:ln w="12700">
              <a:noFill/>
              <a:prstDash val="solid"/>
            </a:ln>
          </p:spPr>
          <p:txBody>
            <a:bodyPr wrap="square" lIns="91440" tIns="45720" rIns="91440" bIns="45720" rtlCol="0" anchor="t">
              <a:normAutofit lnSpcReduction="10000"/>
            </a:bodyPr>
            <a:lstStyle/>
            <a:p>
              <a:pPr indent="0" algn="l">
                <a:lnSpc>
                  <a:spcPct val="100000"/>
                </a:lnSpc>
                <a:defRPr/>
              </a:pPr>
              <a:r>
                <a:rPr lang="en-US" sz="1300" b="0" i="0" u="none" strike="noStrike">
                  <a:solidFill>
                    <a:srgbClr val="666666"/>
                  </a:solidFill>
                  <a:latin typeface="Arial" panose="020B0604020202020204"/>
                  <a:ea typeface="Arial" panose="020B0604020202020204"/>
                  <a:cs typeface="Arial" panose="020B0604020202020204"/>
                  <a:sym typeface="Arial" panose="020B0604020202020204"/>
                </a:rPr>
                <a:t>Cross-thread reductions such as Sum / Max / Min</a:t>
              </a:r>
              <a:endParaRPr lang="en-US" sz="1100"/>
            </a:p>
          </p:txBody>
        </p:sp>
        <p:sp>
          <p:nvSpPr>
            <p:cNvPr id="20" name="AutoShape 20"/>
            <p:cNvSpPr/>
            <p:nvPr/>
          </p:nvSpPr>
          <p:spPr>
            <a:xfrm>
              <a:off x="1892300" y="4621530"/>
              <a:ext cx="4050030" cy="280035"/>
            </a:xfrm>
            <a:prstGeom prst="rect">
              <a:avLst/>
            </a:prstGeom>
            <a:noFill/>
            <a:ln w="12700">
              <a:noFill/>
              <a:prstDash val="solid"/>
            </a:ln>
          </p:spPr>
          <p:txBody>
            <a:bodyPr wrap="square" lIns="91440" tIns="45720" rIns="91440" bIns="45720" rtlCol="0" anchor="t">
              <a:normAutofit lnSpcReduction="10000"/>
            </a:bodyPr>
            <a:lstStyle/>
            <a:p>
              <a:pPr indent="0" algn="l">
                <a:lnSpc>
                  <a:spcPct val="100000"/>
                </a:lnSpc>
                <a:defRPr/>
              </a:pPr>
              <a:r>
                <a:rPr lang="en-US" sz="1300" b="0" i="0" u="none" strike="noStrike">
                  <a:solidFill>
                    <a:srgbClr val="666666"/>
                  </a:solidFill>
                  <a:latin typeface="Arial" panose="020B0604020202020204"/>
                  <a:ea typeface="Arial" panose="020B0604020202020204"/>
                  <a:cs typeface="Arial" panose="020B0604020202020204"/>
                  <a:sym typeface="Arial" panose="020B0604020202020204"/>
                </a:rPr>
                <a:t>→ Alternative to traditional shuffle</a:t>
              </a:r>
              <a:endParaRPr lang="en-US" sz="1100"/>
            </a:p>
          </p:txBody>
        </p:sp>
        <p:sp>
          <p:nvSpPr>
            <p:cNvPr id="21" name="AutoShape 21"/>
            <p:cNvSpPr/>
            <p:nvPr/>
          </p:nvSpPr>
          <p:spPr>
            <a:xfrm>
              <a:off x="1711960" y="5041265"/>
              <a:ext cx="120015" cy="120015"/>
            </a:xfrm>
            <a:prstGeom prst="ellipse">
              <a:avLst/>
            </a:prstGeom>
            <a:solidFill>
              <a:srgbClr val="8B0012">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2" name="AutoShape 22"/>
            <p:cNvSpPr/>
            <p:nvPr/>
          </p:nvSpPr>
          <p:spPr>
            <a:xfrm>
              <a:off x="1951990" y="4941570"/>
              <a:ext cx="3930015" cy="349885"/>
            </a:xfrm>
            <a:prstGeom prst="rect">
              <a:avLst/>
            </a:prstGeom>
            <a:noFill/>
            <a:ln w="12700">
              <a:noFill/>
              <a:prstDash val="solid"/>
            </a:ln>
          </p:spPr>
          <p:txBody>
            <a:bodyPr wrap="square" lIns="0" tIns="0" rIns="91440" bIns="0" rtlCol="0" anchor="t">
              <a:normAutofit/>
            </a:bodyPr>
            <a:lstStyle/>
            <a:p>
              <a:pPr indent="0" algn="l">
                <a:lnSpc>
                  <a:spcPct val="100000"/>
                </a:lnSpc>
                <a:defRPr/>
              </a:pPr>
              <a:r>
                <a:rPr lang="en-US" sz="1600" b="1" i="0" u="none" strike="noStrike">
                  <a:solidFill>
                    <a:srgbClr val="1A1A1A"/>
                  </a:solidFill>
                  <a:latin typeface="Arial" panose="020B0604020202020204"/>
                  <a:ea typeface="Arial" panose="020B0604020202020204"/>
                  <a:cs typeface="Arial" panose="020B0604020202020204"/>
                  <a:sym typeface="Arial" panose="020B0604020202020204"/>
                </a:rPr>
                <a:t>Block Sorting</a:t>
              </a:r>
              <a:endParaRPr lang="en-US" sz="1100"/>
            </a:p>
          </p:txBody>
        </p:sp>
        <p:sp>
          <p:nvSpPr>
            <p:cNvPr id="23" name="AutoShape 23"/>
            <p:cNvSpPr/>
            <p:nvPr/>
          </p:nvSpPr>
          <p:spPr>
            <a:xfrm>
              <a:off x="1892300" y="5251450"/>
              <a:ext cx="4050030" cy="280035"/>
            </a:xfrm>
            <a:prstGeom prst="rect">
              <a:avLst/>
            </a:prstGeom>
            <a:noFill/>
            <a:ln w="12700">
              <a:noFill/>
              <a:prstDash val="solid"/>
            </a:ln>
          </p:spPr>
          <p:txBody>
            <a:bodyPr wrap="square" lIns="91440" tIns="45720" rIns="91440" bIns="45720" rtlCol="0" anchor="t">
              <a:normAutofit lnSpcReduction="10000"/>
            </a:bodyPr>
            <a:lstStyle/>
            <a:p>
              <a:pPr indent="0" algn="l">
                <a:lnSpc>
                  <a:spcPct val="100000"/>
                </a:lnSpc>
                <a:defRPr/>
              </a:pPr>
              <a:r>
                <a:rPr lang="en-US" sz="1300" b="0" i="0" u="none" strike="noStrike">
                  <a:solidFill>
                    <a:srgbClr val="666666"/>
                  </a:solidFill>
                  <a:latin typeface="Arial" panose="020B0604020202020204"/>
                  <a:ea typeface="Arial" panose="020B0604020202020204"/>
                  <a:cs typeface="Arial" panose="020B0604020202020204"/>
                  <a:sym typeface="Arial" panose="020B0604020202020204"/>
                </a:rPr>
                <a:t>Bitonic sort / Radix sort block implementation</a:t>
              </a:r>
              <a:endParaRPr lang="en-US" sz="1100"/>
            </a:p>
          </p:txBody>
        </p:sp>
        <p:sp>
          <p:nvSpPr>
            <p:cNvPr id="24" name="AutoShape 24"/>
            <p:cNvSpPr/>
            <p:nvPr/>
          </p:nvSpPr>
          <p:spPr>
            <a:xfrm>
              <a:off x="1892300" y="5531485"/>
              <a:ext cx="4050030" cy="280035"/>
            </a:xfrm>
            <a:prstGeom prst="rect">
              <a:avLst/>
            </a:prstGeom>
            <a:noFill/>
            <a:ln w="12700">
              <a:noFill/>
              <a:prstDash val="solid"/>
            </a:ln>
          </p:spPr>
          <p:txBody>
            <a:bodyPr wrap="square" lIns="91440" tIns="45720" rIns="91440" bIns="45720" rtlCol="0" anchor="t">
              <a:normAutofit lnSpcReduction="10000"/>
            </a:bodyPr>
            <a:lstStyle/>
            <a:p>
              <a:pPr indent="0" algn="l">
                <a:lnSpc>
                  <a:spcPct val="100000"/>
                </a:lnSpc>
                <a:defRPr/>
              </a:pPr>
              <a:r>
                <a:rPr lang="en-US" sz="1300" b="0" i="0" u="none" strike="noStrike">
                  <a:solidFill>
                    <a:srgbClr val="666666"/>
                  </a:solidFill>
                  <a:latin typeface="Arial" panose="020B0604020202020204"/>
                  <a:ea typeface="Arial" panose="020B0604020202020204"/>
                  <a:cs typeface="Arial" panose="020B0604020202020204"/>
                  <a:sym typeface="Arial" panose="020B0604020202020204"/>
                </a:rPr>
                <a:t>→ local_ptr keeps block data in shared mem</a:t>
              </a:r>
              <a:endParaRPr lang="en-US" sz="1100"/>
            </a:p>
          </p:txBody>
        </p:sp>
        <p:sp>
          <p:nvSpPr>
            <p:cNvPr id="25" name="AutoShape 25"/>
            <p:cNvSpPr/>
            <p:nvPr/>
          </p:nvSpPr>
          <p:spPr>
            <a:xfrm>
              <a:off x="6212205" y="1531620"/>
              <a:ext cx="4799965" cy="4700270"/>
            </a:xfrm>
            <a:prstGeom prst="rect">
              <a:avLst/>
            </a:prstGeom>
            <a:solidFill>
              <a:srgbClr val="F0F8FF">
                <a:alpha val="100000"/>
              </a:srgbClr>
            </a:solidFill>
            <a:ln w="12700">
              <a:solidFill>
                <a:srgbClr val="0066CC">
                  <a:alpha val="100000"/>
                </a:srgbClr>
              </a:solid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6" name="AutoShape 26"/>
            <p:cNvSpPr/>
            <p:nvPr/>
          </p:nvSpPr>
          <p:spPr>
            <a:xfrm>
              <a:off x="6212205" y="1531620"/>
              <a:ext cx="4799965" cy="560070"/>
            </a:xfrm>
            <a:prstGeom prst="rect">
              <a:avLst/>
            </a:prstGeom>
            <a:solidFill>
              <a:srgbClr val="0D47A1">
                <a:alpha val="100000"/>
              </a:srgbClr>
            </a:soli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27" name="AutoShape 27"/>
            <p:cNvSpPr/>
            <p:nvPr/>
          </p:nvSpPr>
          <p:spPr>
            <a:xfrm>
              <a:off x="6312535" y="1601470"/>
              <a:ext cx="4599940" cy="419735"/>
            </a:xfrm>
            <a:prstGeom prst="rect">
              <a:avLst/>
            </a:prstGeom>
            <a:noFill/>
            <a:ln w="12700">
              <a:noFill/>
              <a:prstDash val="solid"/>
            </a:ln>
          </p:spPr>
          <p:txBody>
            <a:bodyPr wrap="square" lIns="91440" tIns="45720" rIns="91440" bIns="45720" rtlCol="0" anchor="t">
              <a:noAutofit/>
            </a:bodyPr>
            <a:lstStyle/>
            <a:p>
              <a:pPr indent="0" algn="l">
                <a:lnSpc>
                  <a:spcPct val="100000"/>
                </a:lnSpc>
                <a:defRPr/>
              </a:pPr>
              <a:r>
                <a:rPr lang="en-US" sz="1400" b="1" i="0" u="none" strike="noStrike">
                  <a:solidFill>
                    <a:srgbClr val="FFFFFF"/>
                  </a:solidFill>
                  <a:latin typeface="Arial" panose="020B0604020202020204"/>
                  <a:ea typeface="Arial" panose="020B0604020202020204"/>
                  <a:cs typeface="Arial" panose="020B0604020202020204"/>
                  <a:sym typeface="Arial" panose="020B0604020202020204"/>
                </a:rPr>
                <a:t>Steps to Integrate New Operators with local_ptr</a:t>
              </a:r>
              <a:endParaRPr lang="en-US" sz="1100"/>
            </a:p>
          </p:txBody>
        </p:sp>
        <p:sp>
          <p:nvSpPr>
            <p:cNvPr id="28" name="AutoShape 28"/>
            <p:cNvSpPr/>
            <p:nvPr/>
          </p:nvSpPr>
          <p:spPr>
            <a:xfrm>
              <a:off x="6312535" y="2211705"/>
              <a:ext cx="800100" cy="40005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600" b="1" i="0" u="none" strike="noStrike">
                  <a:solidFill>
                    <a:srgbClr val="0D47A1"/>
                  </a:solidFill>
                  <a:latin typeface="Arial" panose="020B0604020202020204"/>
                  <a:ea typeface="Arial" panose="020B0604020202020204"/>
                  <a:cs typeface="Arial" panose="020B0604020202020204"/>
                  <a:sym typeface="Arial" panose="020B0604020202020204"/>
                </a:rPr>
                <a:t>Step 1</a:t>
              </a:r>
              <a:endParaRPr lang="en-US" sz="1100"/>
            </a:p>
          </p:txBody>
        </p:sp>
        <p:sp>
          <p:nvSpPr>
            <p:cNvPr id="29" name="AutoShape 29"/>
            <p:cNvSpPr/>
            <p:nvPr/>
          </p:nvSpPr>
          <p:spPr>
            <a:xfrm>
              <a:off x="7212330" y="2211705"/>
              <a:ext cx="3700145" cy="280035"/>
            </a:xfrm>
            <a:prstGeom prst="rect">
              <a:avLst/>
            </a:prstGeom>
            <a:noFill/>
            <a:ln w="12700">
              <a:noFill/>
              <a:prstDash val="solid"/>
            </a:ln>
          </p:spPr>
          <p:txBody>
            <a:bodyPr wrap="square" lIns="91440" tIns="45720" rIns="91440" bIns="45720" rtlCol="0" anchor="t">
              <a:normAutofit lnSpcReduction="20000"/>
            </a:bodyPr>
            <a:lstStyle/>
            <a:p>
              <a:pPr indent="0" algn="l">
                <a:lnSpc>
                  <a:spcPct val="100000"/>
                </a:lnSpc>
                <a:defRPr/>
              </a:pPr>
              <a:r>
                <a:rPr lang="en-US" sz="1100" b="0" i="0" u="none" strike="noStrike">
                  <a:solidFill>
                    <a:srgbClr val="1A1A1A"/>
                  </a:solidFill>
                  <a:latin typeface="Arial" panose="020B0604020202020204"/>
                  <a:ea typeface="Arial" panose="020B0604020202020204"/>
                  <a:cs typeface="Arial" panose="020B0604020202020204"/>
                  <a:sym typeface="Arial" panose="020B0604020202020204"/>
                </a:rPr>
                <a:t>Identify shared memory usage scenarios in the operator</a:t>
              </a:r>
              <a:endParaRPr lang="en-US" sz="1100"/>
            </a:p>
          </p:txBody>
        </p:sp>
        <p:sp>
          <p:nvSpPr>
            <p:cNvPr id="30" name="AutoShape 30"/>
            <p:cNvSpPr/>
            <p:nvPr/>
          </p:nvSpPr>
          <p:spPr>
            <a:xfrm>
              <a:off x="6312535" y="2911475"/>
              <a:ext cx="800100" cy="40005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600" b="1" i="0" u="none" strike="noStrike">
                  <a:solidFill>
                    <a:srgbClr val="0D47A1"/>
                  </a:solidFill>
                  <a:latin typeface="Arial" panose="020B0604020202020204"/>
                  <a:ea typeface="Arial" panose="020B0604020202020204"/>
                  <a:cs typeface="Arial" panose="020B0604020202020204"/>
                  <a:sym typeface="Arial" panose="020B0604020202020204"/>
                </a:rPr>
                <a:t>Step 2</a:t>
              </a:r>
              <a:endParaRPr lang="en-US" sz="1100"/>
            </a:p>
          </p:txBody>
        </p:sp>
        <p:sp>
          <p:nvSpPr>
            <p:cNvPr id="31" name="AutoShape 31"/>
            <p:cNvSpPr/>
            <p:nvPr/>
          </p:nvSpPr>
          <p:spPr>
            <a:xfrm>
              <a:off x="7212330" y="2911475"/>
              <a:ext cx="3700145" cy="280035"/>
            </a:xfrm>
            <a:prstGeom prst="rect">
              <a:avLst/>
            </a:prstGeom>
            <a:noFill/>
            <a:ln w="12700">
              <a:noFill/>
              <a:prstDash val="solid"/>
            </a:ln>
          </p:spPr>
          <p:txBody>
            <a:bodyPr wrap="square" lIns="91440" tIns="45720" rIns="91440" bIns="45720" rtlCol="0" anchor="t">
              <a:normAutofit lnSpcReduction="10000"/>
            </a:bodyPr>
            <a:lstStyle/>
            <a:p>
              <a:pPr indent="0" algn="l">
                <a:lnSpc>
                  <a:spcPct val="100000"/>
                </a:lnSpc>
                <a:defRPr/>
              </a:pPr>
              <a:r>
                <a:rPr lang="en-US" sz="1300" b="0" i="0" u="none" strike="noStrike">
                  <a:solidFill>
                    <a:srgbClr val="1A1A1A"/>
                  </a:solidFill>
                  <a:latin typeface="Arial" panose="020B0604020202020204"/>
                  <a:ea typeface="Arial" panose="020B0604020202020204"/>
                  <a:cs typeface="Arial" panose="020B0604020202020204"/>
                  <a:sym typeface="Arial" panose="020B0604020202020204"/>
                </a:rPr>
                <a:t>Replace tl.zeros / tl.full declared shared buffer</a:t>
              </a:r>
              <a:endParaRPr lang="en-US" sz="1100"/>
            </a:p>
          </p:txBody>
        </p:sp>
        <p:sp>
          <p:nvSpPr>
            <p:cNvPr id="32" name="AutoShape 32"/>
            <p:cNvSpPr/>
            <p:nvPr/>
          </p:nvSpPr>
          <p:spPr>
            <a:xfrm>
              <a:off x="7212330" y="3191510"/>
              <a:ext cx="3700145" cy="280035"/>
            </a:xfrm>
            <a:prstGeom prst="rect">
              <a:avLst/>
            </a:prstGeom>
            <a:noFill/>
            <a:ln w="12700">
              <a:noFill/>
              <a:prstDash val="solid"/>
            </a:ln>
          </p:spPr>
          <p:txBody>
            <a:bodyPr wrap="square" lIns="91440" tIns="45720" rIns="91440" bIns="45720" rtlCol="0" anchor="t">
              <a:normAutofit lnSpcReduction="10000"/>
            </a:bodyPr>
            <a:lstStyle/>
            <a:p>
              <a:pPr indent="0" algn="l">
                <a:lnSpc>
                  <a:spcPct val="100000"/>
                </a:lnSpc>
                <a:defRPr/>
              </a:pPr>
              <a:r>
                <a:rPr lang="en-US" sz="1300" b="0" i="0" u="none" strike="noStrike">
                  <a:solidFill>
                    <a:srgbClr val="1A1A1A"/>
                  </a:solidFill>
                  <a:latin typeface="Arial" panose="020B0604020202020204"/>
                  <a:ea typeface="Arial" panose="020B0604020202020204"/>
                  <a:cs typeface="Arial" panose="020B0604020202020204"/>
                  <a:sym typeface="Arial" panose="020B0604020202020204"/>
                </a:rPr>
                <a:t>to use tle.gpu.local_ptr references instead</a:t>
              </a:r>
              <a:endParaRPr lang="en-US" sz="1100"/>
            </a:p>
          </p:txBody>
        </p:sp>
        <p:sp>
          <p:nvSpPr>
            <p:cNvPr id="33" name="AutoShape 33"/>
            <p:cNvSpPr/>
            <p:nvPr/>
          </p:nvSpPr>
          <p:spPr>
            <a:xfrm>
              <a:off x="6312535" y="3611245"/>
              <a:ext cx="800100" cy="40005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600" b="1" i="0" u="none" strike="noStrike">
                  <a:solidFill>
                    <a:srgbClr val="0D47A1"/>
                  </a:solidFill>
                  <a:latin typeface="Arial" panose="020B0604020202020204"/>
                  <a:ea typeface="Arial" panose="020B0604020202020204"/>
                  <a:cs typeface="Arial" panose="020B0604020202020204"/>
                  <a:sym typeface="Arial" panose="020B0604020202020204"/>
                </a:rPr>
                <a:t>Step 3</a:t>
              </a:r>
              <a:endParaRPr lang="en-US" sz="1100"/>
            </a:p>
          </p:txBody>
        </p:sp>
        <p:sp>
          <p:nvSpPr>
            <p:cNvPr id="34" name="AutoShape 34"/>
            <p:cNvSpPr/>
            <p:nvPr/>
          </p:nvSpPr>
          <p:spPr>
            <a:xfrm>
              <a:off x="7212330" y="3611245"/>
              <a:ext cx="3700145" cy="280035"/>
            </a:xfrm>
            <a:prstGeom prst="rect">
              <a:avLst/>
            </a:prstGeom>
            <a:noFill/>
            <a:ln w="12700">
              <a:noFill/>
              <a:prstDash val="solid"/>
            </a:ln>
          </p:spPr>
          <p:txBody>
            <a:bodyPr wrap="square" lIns="91440" tIns="45720" rIns="91440" bIns="45720" rtlCol="0" anchor="t">
              <a:normAutofit lnSpcReduction="20000"/>
            </a:bodyPr>
            <a:lstStyle/>
            <a:p>
              <a:pPr indent="0" algn="l">
                <a:lnSpc>
                  <a:spcPct val="100000"/>
                </a:lnSpc>
                <a:defRPr/>
              </a:pPr>
              <a:r>
                <a:rPr lang="en-US" sz="900" b="0" i="0" u="none" strike="noStrike">
                  <a:solidFill>
                    <a:srgbClr val="1A1A1A"/>
                  </a:solidFill>
                  <a:latin typeface="Arial" panose="020B0604020202020204"/>
                  <a:ea typeface="Arial" panose="020B0604020202020204"/>
                  <a:cs typeface="Arial" panose="020B0604020202020204"/>
                  <a:sym typeface="Arial" panose="020B0604020202020204"/>
                </a:rPr>
                <a:t>Verify via FlagTree compilation that the Pass executes correctly</a:t>
              </a:r>
              <a:endParaRPr lang="en-US" sz="1100"/>
            </a:p>
          </p:txBody>
        </p:sp>
        <p:sp>
          <p:nvSpPr>
            <p:cNvPr id="35" name="AutoShape 35"/>
            <p:cNvSpPr/>
            <p:nvPr/>
          </p:nvSpPr>
          <p:spPr>
            <a:xfrm>
              <a:off x="7212330" y="3891280"/>
              <a:ext cx="3700145" cy="280035"/>
            </a:xfrm>
            <a:prstGeom prst="rect">
              <a:avLst/>
            </a:prstGeom>
            <a:noFill/>
            <a:ln w="12700">
              <a:noFill/>
              <a:prstDash val="solid"/>
            </a:ln>
          </p:spPr>
          <p:txBody>
            <a:bodyPr wrap="square" lIns="91440" tIns="45720" rIns="91440" bIns="45720" rtlCol="0" anchor="t">
              <a:normAutofit lnSpcReduction="10000"/>
            </a:bodyPr>
            <a:lstStyle/>
            <a:p>
              <a:pPr indent="0" algn="l">
                <a:lnSpc>
                  <a:spcPct val="100000"/>
                </a:lnSpc>
                <a:defRPr/>
              </a:pPr>
              <a:r>
                <a:rPr lang="en-US" sz="1300" b="0" i="0" u="none" strike="noStrike">
                  <a:solidFill>
                    <a:srgbClr val="1A1A1A"/>
                  </a:solidFill>
                  <a:latin typeface="Arial" panose="020B0604020202020204"/>
                  <a:ea typeface="Arial" panose="020B0604020202020204"/>
                  <a:cs typeface="Arial" panose="020B0604020202020204"/>
                  <a:sym typeface="Arial" panose="020B0604020202020204"/>
                </a:rPr>
                <a:t> (Inspect the generated PTX / ISA)</a:t>
              </a:r>
              <a:endParaRPr lang="en-US" sz="1100"/>
            </a:p>
          </p:txBody>
        </p:sp>
        <p:sp>
          <p:nvSpPr>
            <p:cNvPr id="36" name="AutoShape 36"/>
            <p:cNvSpPr/>
            <p:nvPr/>
          </p:nvSpPr>
          <p:spPr>
            <a:xfrm>
              <a:off x="6312535" y="4311650"/>
              <a:ext cx="800100" cy="40005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600" b="1" i="0" u="none" strike="noStrike">
                  <a:solidFill>
                    <a:srgbClr val="0D47A1"/>
                  </a:solidFill>
                  <a:latin typeface="Arial" panose="020B0604020202020204"/>
                  <a:ea typeface="Arial" panose="020B0604020202020204"/>
                  <a:cs typeface="Arial" panose="020B0604020202020204"/>
                  <a:sym typeface="Arial" panose="020B0604020202020204"/>
                </a:rPr>
                <a:t>Step 4</a:t>
              </a:r>
              <a:endParaRPr lang="en-US" sz="1100"/>
            </a:p>
          </p:txBody>
        </p:sp>
        <p:sp>
          <p:nvSpPr>
            <p:cNvPr id="37" name="AutoShape 37"/>
            <p:cNvSpPr/>
            <p:nvPr/>
          </p:nvSpPr>
          <p:spPr>
            <a:xfrm>
              <a:off x="7212330" y="4311650"/>
              <a:ext cx="3700145" cy="280035"/>
            </a:xfrm>
            <a:prstGeom prst="rect">
              <a:avLst/>
            </a:prstGeom>
            <a:noFill/>
            <a:ln w="12700">
              <a:noFill/>
              <a:prstDash val="solid"/>
            </a:ln>
          </p:spPr>
          <p:txBody>
            <a:bodyPr wrap="square" lIns="91440" tIns="45720" rIns="91440" bIns="45720" rtlCol="0" anchor="t">
              <a:normAutofit lnSpcReduction="20000"/>
            </a:bodyPr>
            <a:lstStyle/>
            <a:p>
              <a:pPr indent="0" algn="l">
                <a:lnSpc>
                  <a:spcPct val="100000"/>
                </a:lnSpc>
                <a:defRPr/>
              </a:pPr>
              <a:r>
                <a:rPr lang="en-US" sz="1300" b="0" i="0" u="none" strike="noStrike">
                  <a:solidFill>
                    <a:srgbClr val="1A1A1A"/>
                  </a:solidFill>
                  <a:latin typeface="Arial" panose="020B0604020202020204"/>
                  <a:ea typeface="Arial" panose="020B0604020202020204"/>
                  <a:cs typeface="Arial" panose="020B0604020202020204"/>
                  <a:sym typeface="Arial" panose="020B0604020202020204"/>
                </a:rPr>
                <a:t>Verify result correctness in the FlagGems test suite</a:t>
              </a:r>
              <a:endParaRPr lang="en-US" sz="1100"/>
            </a:p>
          </p:txBody>
        </p:sp>
        <p:sp>
          <p:nvSpPr>
            <p:cNvPr id="38" name="AutoShape 38"/>
            <p:cNvSpPr/>
            <p:nvPr/>
          </p:nvSpPr>
          <p:spPr>
            <a:xfrm>
              <a:off x="6312535" y="5011420"/>
              <a:ext cx="800100" cy="400050"/>
            </a:xfrm>
            <a:prstGeom prst="rect">
              <a:avLst/>
            </a:prstGeom>
            <a:noFill/>
            <a:ln w="12700">
              <a:noFill/>
              <a:prstDash val="solid"/>
            </a:ln>
          </p:spPr>
          <p:txBody>
            <a:bodyPr wrap="square" lIns="91440" tIns="45720" rIns="91440" bIns="45720" rtlCol="0" anchor="t">
              <a:normAutofit/>
            </a:bodyPr>
            <a:lstStyle/>
            <a:p>
              <a:pPr indent="0" algn="l">
                <a:lnSpc>
                  <a:spcPct val="100000"/>
                </a:lnSpc>
                <a:defRPr/>
              </a:pPr>
              <a:r>
                <a:rPr lang="en-US" sz="1600" b="1" i="0" u="none" strike="noStrike">
                  <a:solidFill>
                    <a:srgbClr val="0D47A1"/>
                  </a:solidFill>
                  <a:latin typeface="Arial" panose="020B0604020202020204"/>
                  <a:ea typeface="Arial" panose="020B0604020202020204"/>
                  <a:cs typeface="Arial" panose="020B0604020202020204"/>
                  <a:sym typeface="Arial" panose="020B0604020202020204"/>
                </a:rPr>
                <a:t>Step 5</a:t>
              </a:r>
              <a:endParaRPr lang="en-US" sz="1100"/>
            </a:p>
          </p:txBody>
        </p:sp>
        <p:sp>
          <p:nvSpPr>
            <p:cNvPr id="39" name="AutoShape 39"/>
            <p:cNvSpPr/>
            <p:nvPr/>
          </p:nvSpPr>
          <p:spPr>
            <a:xfrm>
              <a:off x="7212330" y="5011420"/>
              <a:ext cx="3700145" cy="280035"/>
            </a:xfrm>
            <a:prstGeom prst="rect">
              <a:avLst/>
            </a:prstGeom>
            <a:noFill/>
            <a:ln w="12700">
              <a:noFill/>
              <a:prstDash val="solid"/>
            </a:ln>
          </p:spPr>
          <p:txBody>
            <a:bodyPr wrap="square" lIns="91440" tIns="45720" rIns="91440" bIns="45720" rtlCol="0" anchor="t">
              <a:normAutofit lnSpcReduction="10000"/>
            </a:bodyPr>
            <a:lstStyle/>
            <a:p>
              <a:pPr indent="0" algn="l">
                <a:lnSpc>
                  <a:spcPct val="100000"/>
                </a:lnSpc>
                <a:defRPr/>
              </a:pPr>
              <a:r>
                <a:rPr lang="en-US" sz="1300" b="0" i="0" u="none" strike="noStrike">
                  <a:solidFill>
                    <a:srgbClr val="1A1A1A"/>
                  </a:solidFill>
                  <a:latin typeface="Arial" panose="020B0604020202020204"/>
                  <a:ea typeface="Arial" panose="020B0604020202020204"/>
                  <a:cs typeface="Arial" panose="020B0604020202020204"/>
                  <a:sym typeface="Arial" panose="020B0604020202020204"/>
                </a:rPr>
                <a:t>Submit PR; CI/CD automated regression testing</a:t>
              </a:r>
              <a:endParaRPr lang="en-US" sz="1100"/>
            </a:p>
          </p:txBody>
        </p:sp>
      </p:gr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44: End-to-End Performance Optimization</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End-to-End Performance Optimization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Collaborative Acceleration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From algorithm design to compiler optimization to operator implementation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6" name="AutoShape 6"/>
          <p:cNvSpPr/>
          <p:nvPr/>
        </p:nvSpPr>
        <p:spPr>
          <a:xfrm>
            <a:off x="5943600" y="3276600"/>
            <a:ext cx="304800" cy="304800"/>
          </a:xfrm>
          <a:prstGeom prst="rect">
            <a:avLst/>
          </a:prstGeom>
          <a:noFill/>
          <a:ln w="12700">
            <a:noFill/>
            <a:prstDash val="solid"/>
          </a:ln>
        </p:spPr>
        <p:txBody>
          <a:bodyPr vert="horz"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pic>
        <p:nvPicPr>
          <p:cNvPr id="7" name="Picture 7"/>
          <p:cNvPicPr>
            <a:picLocks noChangeAspect="1"/>
          </p:cNvPicPr>
          <p:nvPr/>
        </p:nvPicPr>
        <p:blipFill>
          <a:blip r:embed="rId1"/>
          <a:srcRect/>
          <a:stretch>
            <a:fillRect/>
          </a:stretch>
        </p:blipFill>
        <p:spPr>
          <a:xfrm>
            <a:off x="741404" y="2218411"/>
            <a:ext cx="5991096" cy="4639589"/>
          </a:xfrm>
          <a:prstGeom prst="rect">
            <a:avLst/>
          </a:prstGeom>
          <a:ln w="12700">
            <a:noFill/>
            <a:prstDash val="solid"/>
          </a:ln>
        </p:spPr>
      </p:pic>
      <p:pic>
        <p:nvPicPr>
          <p:cNvPr id="8" name="Picture 8"/>
          <p:cNvPicPr>
            <a:picLocks noChangeAspect="1"/>
          </p:cNvPicPr>
          <p:nvPr/>
        </p:nvPicPr>
        <p:blipFill>
          <a:blip r:embed="rId2"/>
          <a:srcRect/>
          <a:stretch>
            <a:fillRect/>
          </a:stretch>
        </p:blipFill>
        <p:spPr>
          <a:xfrm>
            <a:off x="6950030" y="2290525"/>
            <a:ext cx="5164802" cy="429134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Outline of End-to-End Performance Optimization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Macro Perspective: Why End-to-End Collaboration is Essential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Model Algorithm: Structural Evolution and Lightweighting Methods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Compilation and Scheduling: Operator Fusion and Fine-Grained Memory Planning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Hardware Layer: Achieving Performance Deployment with FlagGems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Ecosystem Collaboration: FlagScale and Operating System Architecture Design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Practical Analysis of vLLM Plugin-Driven Acceleration Practices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What is end-to-end collaborative optimization?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7767320" cy="4853305"/>
          </a:xfrm>
          <a:prstGeom prst="rect">
            <a:avLst/>
          </a:prstGeom>
        </p:spPr>
        <p:txBody>
          <a:bodyPr wrap="square" lIns="91440" tIns="45720" rIns="91440" bIns="45720" anchor="t">
            <a:normAutofit lnSpcReduction="10000"/>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Limitations of local optimization: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Amdahl's Law</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Full-chain funnel model: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Top layer (algorithm layer): theoretical computational load (FLOPs) and memory requirements.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Middle layer (compilation/framework layer): execution path of the computation graph and the lifetime of GPU 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Bottom layer (operator/hardware layer): execution efficiency of specific instructions.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Reverse feedback mechanism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characteristics of the underlying hardware (such as TensorCore's dedicated FP16/FP8) in turn guide the design and quantization strategy of the top-level algorithm.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t="13710" b="9930"/>
          <a:stretch>
            <a:fillRect/>
          </a:stretch>
        </p:blipFill>
        <p:spPr>
          <a:xfrm>
            <a:off x="8291043" y="1916348"/>
            <a:ext cx="3900957" cy="444000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"Double Walls" of Large Model Inference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Memory Wall: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decoding phase of LLM inference is primarily limited by memory access bandwidth.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massive key-value cache consumes a significant amount of GPU memory, limiting concurrent batch size.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1077362" y="3005819"/>
            <a:ext cx="7315200" cy="3715657"/>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"Double Walls" of Large Model Inference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Compute Wall:</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During the prefill phase, when handling long contexts, the computational cost of the attention mechanism increases quadratically with sequence length (compute-bound).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06513" y="2550092"/>
            <a:ext cx="6952307" cy="417138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Core Goal of End-to-End Optimization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Breaking down both walls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Maximizing hardware computing power (High MFU)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Operator Fusion &amp; Kernel Optimization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Mixed Precision &amp; Quantization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Pipeline Efficiency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Maximizing the utilization of GPU memory bandwidth</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Memory Access Pattern Optimization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Tiling &amp; Data Reuse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Zero-Redundancy Strategies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Algorithm Design and Model Layer Optimization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Evolution of Attention Mechanisms (Reducing KV Cache Overhead):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MHA (Multi-Head Attention): Standard structure, high memory overhead.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MQA (Multi-Query Attention): All heads share a single KV, significantly reducing GPU memory usage.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GQA (Grouped-Query Attention): A trade-off between model capability and inference overhead.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Sparse Architecture (MoE - Mixture of Experts):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Activates only a portion of the expert network, significantly reducing the activation computation cost per inference while maintaining a large number of model parameters.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94600" y="4298388"/>
            <a:ext cx="5767056" cy="2471274"/>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957578" y="4204109"/>
            <a:ext cx="4843604" cy="265389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Quantization and Sparsity Techniques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Powerful tools for reducing memory access pressure and improving computational accuracy:</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PTQ (Post-Training Quantization) and QAT (Quantization-Aware Training).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Mainstream Quantization Solutions for Large Models: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Weight-Only Quantization: such as AWQ, GPTQ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Weight-Activation Quantization: such as W8A8 (SmoothQuant)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FP8 Format Support: Combined with the features of next-generation GPU hardware.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419101" y="4378742"/>
            <a:ext cx="5882112" cy="2342733"/>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453171" y="4295228"/>
            <a:ext cx="3196345" cy="2562771"/>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Compiler-Level Optimization Strategies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Graph Optimization: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Operator Fusion: Merging multiple small operators (e.g., MatMul + Bias + ReLU) into a large kernel.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Benefits: Avoids repeated read/write operations to GPU memory (DRAM -&gt; SRAM -&gt; DRAM) for intermediate results; instead, it's completed directly in registers or shared memory, significantly improving bandwidth utilization.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Constant Folding &amp; Dead Code Elimination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523873" y="3862467"/>
            <a:ext cx="5666244" cy="2859009"/>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650524" y="4043694"/>
            <a:ext cx="4856430" cy="2677782"/>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Memory and Communication Optimization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Memory Planning: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Memory pooling, tensor lifetime analysis, and in-place operation.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Communication Overlap:</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Hiding communication time within the computation process in tensor parallelism and pipeline parallelism.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t="11674"/>
          <a:stretch>
            <a:fillRect/>
          </a:stretch>
        </p:blipFill>
        <p:spPr>
          <a:xfrm>
            <a:off x="2254312" y="3569260"/>
            <a:ext cx="6826313" cy="328874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Operator Implementation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Following up on the Automatic Tuning: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optimal schedule found by AutoTVM or heuristic algorithms is compiled into the final hardware instructions.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Optimization Techniques: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FlashAttention and its variants: Avoiding instantiating the complete Attention matrix into GPU memory through Tiling and Recomputation.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Extreme Assembly-Level Optimization: Squeezing out the last 5% of performance using PTX or a handwritten kernel tailored to a specific domestic chip microarchitecture.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3060731" y="4468757"/>
            <a:ext cx="5702363" cy="2256443"/>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8975239" y="4213860"/>
            <a:ext cx="2692887" cy="2507616"/>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565886" y="4422706"/>
            <a:ext cx="2115911" cy="243529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FlagGems Operator Library: Role and Ecosystem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What is FlagGems?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FlagGems is a high-efficiency operator library developed by Zhiyuan, designed to provide high-performance, cross-platform basic operator support for large language models.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Positioning in the end-to-end pipeline: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It connects to the framework layer (vLLM, Megatron) above, and shields the differences between heterogeneous hardware below.</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Operator set support: Covers various fusion operators, customized Attention, etc.</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390525" y="4474411"/>
            <a:ext cx="3458143" cy="195196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4083113" y="4524851"/>
            <a:ext cx="7315200" cy="2018348"/>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FlagOS and FlagScale Collaboration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System Positioning: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FlagScale is dedicated to solving the problems of efficient computation and scalability from training to inference in the era of large models.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Why is system-level collaboration needed?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 simple inference engine or training framework is insufficient to handle cluster scheduling at the level of hundreds of thousands of GPUs.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FlagOS provides underlying hardware abstraction and scheduling, while FlagScale provides efficient distributed strategies at the model level.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3855796" y="4438141"/>
            <a:ext cx="4174628" cy="2330960"/>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8605258" y="4198997"/>
            <a:ext cx="2471940" cy="257010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7447750" y="4251214"/>
            <a:ext cx="4634286" cy="2606786"/>
          </a:xfrm>
          <a:prstGeom prst="rect">
            <a:avLst/>
          </a:prstGeom>
          <a:ln w="12700">
            <a:noFill/>
            <a:prstDash val="solid"/>
          </a:ln>
        </p:spPr>
      </p:pic>
      <p:sp>
        <p:nvSpPr>
          <p:cNvPr id="3" name="AutoShape 3"/>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Seamless Integration of Training and Inference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Training-side Collaboration: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Megatron-LM-FL: A 3D parallel strategy optimized for ultra-large-scale clusters.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TransformerEngine-FL: Accelerates underlying computation, especially supporting low-precision computation.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Trend Towards Integrated Training and Inference: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computational flow graph and operators accumulated during training are smoothly transferred to the inference engine.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7" name="Picture 7"/>
          <p:cNvPicPr>
            <a:picLocks noChangeAspect="1"/>
          </p:cNvPicPr>
          <p:nvPr/>
        </p:nvPicPr>
        <p:blipFill>
          <a:blip r:embed="rId2"/>
          <a:srcRect/>
          <a:stretch>
            <a:fillRect/>
          </a:stretch>
        </p:blipFill>
        <p:spPr>
          <a:xfrm>
            <a:off x="523874" y="4422664"/>
            <a:ext cx="3966645" cy="2435336"/>
          </a:xfrm>
          <a:prstGeom prst="rect">
            <a:avLst/>
          </a:prstGeom>
          <a:ln w="12700">
            <a:noFill/>
            <a:prstDash val="solid"/>
          </a:ln>
        </p:spPr>
      </p:pic>
      <p:pic>
        <p:nvPicPr>
          <p:cNvPr id="8" name="Picture 8"/>
          <p:cNvPicPr>
            <a:picLocks noChangeAspect="1"/>
          </p:cNvPicPr>
          <p:nvPr/>
        </p:nvPicPr>
        <p:blipFill>
          <a:blip r:embed="rId3"/>
          <a:srcRect/>
          <a:stretch>
            <a:fillRect/>
          </a:stretch>
        </p:blipFill>
        <p:spPr>
          <a:xfrm>
            <a:off x="4490519" y="4079764"/>
            <a:ext cx="3320072" cy="277823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vLLM-Plugin-FL Design Philosophy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889115" cy="4853305"/>
          </a:xfrm>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vLLM-Plugin-FL's Plugin-Based Design: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Decoupling: Separating core scheduling logic from underlying hardware execution/operator libraries.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Hot-Swapping: Facilitating quick integration with self-developed optimization libraries such as FlagGems.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t="7339"/>
          <a:stretch>
            <a:fillRect/>
          </a:stretch>
        </p:blipFill>
        <p:spPr>
          <a:xfrm>
            <a:off x="7412744" y="1132554"/>
            <a:ext cx="4779256" cy="5588922"/>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972629" y="3705676"/>
            <a:ext cx="5190044" cy="2833237"/>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Deep Optimization of PagedAttention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PagedAttention: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Learns from the virtual memory and paging mechanisms of operating systems.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Divides the KV cache into fixed-size blocks (e.g., 16 tokens).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Logically contiguous KV values ​​can be physically stored non-contiguously, completely eliminating GPU memory waste.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Targeted Optimizations in Plugin-FL: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Leverages FlagGems for extreme hardware-specific acceleration of the PagedAttention operator.</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41404" y="4407924"/>
            <a:ext cx="5558828" cy="1858733"/>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517762" y="4329374"/>
            <a:ext cx="5134267" cy="252862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Continuous Batching (Dynamic Batching)</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Continuous Batching (In-flight Batching):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Fine-grained iteration-level scheduling.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Once a request encounters an EOS (End of Serial), it is immediately removed from the batch, and a new request is inserted, keeping the GPU constantly under high load.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Throughput Leap: Combined with PagedAttention, achieves a 2x - 4x improvement in inference throughput.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10899" y="4139603"/>
            <a:ext cx="8968192" cy="203736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vLLM-Plugin-FL + FlagGems + FlagTree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Iron Triangle Collaboration Mechanism: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vLLM-Plugin-FL: Acts as the brain, responsible for efficient request scheduling, memory management (KV Cache), and computation graph distribution.</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FlagGems: Acts as the muscles, providing highly optimized underlying kernels (such as FlashAttention and various fusion operators).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FlagTree: Provides higher-level optimization of decision trees or execution paths</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End-to-End Benefits: Achieves "out-of-the-box" high performance across multiple platforms.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t="10736"/>
          <a:stretch>
            <a:fillRect/>
          </a:stretch>
        </p:blipFill>
        <p:spPr>
          <a:xfrm>
            <a:off x="3141552" y="4290406"/>
            <a:ext cx="5269118" cy="256759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Extending the Scenario</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FlagOS-Robo Inference in Embodied Intelligence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Large Models Go to the Physical World:</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VLA require extremely low end-to-end latency for robotic applications.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FlagOS-Robo Platform Enablement: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 fine-tuning framework and efficient inference deployment capabilities for embodied scenarios.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End-to-end latency optimization for multimodal inputs (cameras, sensors) and control flow outputs.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849314" y="4093670"/>
            <a:ext cx="4229680" cy="2764329"/>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5977411" y="4094334"/>
            <a:ext cx="3773172" cy="276366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Experiment Guide (End-to-End Hands-on)</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Experiment Objective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To fully validate the use of vLLM-Plugin-FL to accelerate large model inference within FlagScale.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Deployment Process (Installation and Configuration):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Quickly launch the FlagScale environment.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Configure hardware parameters and Plugin environment variables.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930395" y="3750469"/>
            <a:ext cx="9609524" cy="2285714"/>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End-to-End Optimization Summary</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Core Methodology Insights: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Optimization is not a solitary endeavor; it's a full-stack engineering process encompassing "algorithm-compilation-hardware".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Good architectural design (such as pluginization) can greatly accelerate the integration of the innovation ecosystem.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Looking to the Future: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With the increasing prevalence of Hybrid Expert (MoE) and Long Context models, end-to-end optimized memory management will face new challenges, and the FlagOS system will continue to evolve.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1"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1" i="0" u="none" strike="noStrike">
                <a:solidFill>
                  <a:srgbClr val="262626"/>
                </a:solidFill>
                <a:latin typeface="Calibri" panose="020F0502020204030204"/>
                <a:ea typeface="Calibri" panose="020F0502020204030204"/>
                <a:cs typeface="Calibri" panose="020F0502020204030204"/>
                <a:sym typeface="Calibri" panose="020F0502020204030204"/>
              </a:rPr>
              <a:t>Lecture 45: Open-Source Contribution and Community Collaboration</a:t>
            </a:r>
            <a:endParaRPr lang="en-US" sz="5100" b="1"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4294967295" hasCustomPrompt="1"/>
          </p:nvPr>
        </p:nvSpPr>
        <p:spPr>
          <a:xfrm>
            <a:off x="1800225" y="4846638"/>
            <a:ext cx="10391775" cy="474662"/>
          </a:xfrm>
          <a:prstGeom prst="rect">
            <a:avLst/>
          </a:prstGeom>
          <a:noFill/>
          <a:ln w="12700">
            <a:noFill/>
            <a:prstDash val="solid"/>
          </a:ln>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How to Submit a PR to FlagOS, Code Standards, CI/CD Workflow</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9928" y="611528"/>
            <a:ext cx="4058328"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Open Source Community</a:t>
            </a:r>
            <a:endParaRPr lang="en-US" sz="1100"/>
          </a:p>
        </p:txBody>
      </p:sp>
      <p:sp>
        <p:nvSpPr>
          <p:cNvPr id="3" name="Freeform 3"/>
          <p:cNvSpPr/>
          <p:nvPr/>
        </p:nvSpPr>
        <p:spPr>
          <a:xfrm>
            <a:off x="399910" y="1640886"/>
            <a:ext cx="45719" cy="764822"/>
          </a:xfrm>
          <a:custGeom>
            <a:avLst/>
            <a:gdLst/>
            <a:ahLst/>
            <a:cxnLst/>
            <a:rect l="l" t="t" r="r" b="b"/>
            <a:pathLst>
              <a:path w="45719" h="764822">
                <a:moveTo>
                  <a:pt x="0" y="0"/>
                </a:moveTo>
                <a:lnTo>
                  <a:pt x="45719" y="0"/>
                </a:lnTo>
                <a:lnTo>
                  <a:pt x="45719" y="764822"/>
                </a:lnTo>
                <a:lnTo>
                  <a:pt x="0" y="764822"/>
                </a:lnTo>
                <a:lnTo>
                  <a:pt x="0" y="0"/>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571248" y="1640886"/>
            <a:ext cx="72199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Open Source Software</a:t>
            </a:r>
            <a:endParaRPr lang="en-US" sz="1100"/>
          </a:p>
        </p:txBody>
      </p:sp>
      <p:sp>
        <p:nvSpPr>
          <p:cNvPr id="5" name="AutoShape 5"/>
          <p:cNvSpPr/>
          <p:nvPr/>
        </p:nvSpPr>
        <p:spPr>
          <a:xfrm>
            <a:off x="571248" y="2021841"/>
            <a:ext cx="7210425" cy="2762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Promotes global developer collaboration through public source code — anyone can view, use, modify, and distribute the code</a:t>
            </a:r>
            <a:endParaRPr lang="en-US" sz="1100"/>
          </a:p>
        </p:txBody>
      </p:sp>
      <p:sp>
        <p:nvSpPr>
          <p:cNvPr id="6" name="Freeform 6"/>
          <p:cNvSpPr/>
          <p:nvPr/>
        </p:nvSpPr>
        <p:spPr>
          <a:xfrm>
            <a:off x="399910" y="2639041"/>
            <a:ext cx="45719" cy="832926"/>
          </a:xfrm>
          <a:custGeom>
            <a:avLst/>
            <a:gdLst/>
            <a:ahLst/>
            <a:cxnLst/>
            <a:rect l="l" t="t" r="r" b="b"/>
            <a:pathLst>
              <a:path w="45719" h="832926">
                <a:moveTo>
                  <a:pt x="0" y="0"/>
                </a:moveTo>
                <a:lnTo>
                  <a:pt x="45719" y="0"/>
                </a:lnTo>
                <a:lnTo>
                  <a:pt x="45719" y="832926"/>
                </a:lnTo>
                <a:lnTo>
                  <a:pt x="0" y="832926"/>
                </a:lnTo>
                <a:lnTo>
                  <a:pt x="0" y="0"/>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571248" y="2639041"/>
            <a:ext cx="72199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Collaboration Model</a:t>
            </a:r>
            <a:endParaRPr lang="en-US" sz="1100"/>
          </a:p>
        </p:txBody>
      </p:sp>
      <p:sp>
        <p:nvSpPr>
          <p:cNvPr id="8" name="AutoShape 8"/>
          <p:cNvSpPr/>
          <p:nvPr/>
        </p:nvSpPr>
        <p:spPr>
          <a:xfrm>
            <a:off x="571248" y="3019997"/>
            <a:ext cx="7210425" cy="2762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Developers worldwide can collaborate on projects, continuously improving software quality through code reviews and discussions</a:t>
            </a:r>
            <a:endParaRPr lang="en-US" sz="1100"/>
          </a:p>
        </p:txBody>
      </p:sp>
      <p:sp>
        <p:nvSpPr>
          <p:cNvPr id="9" name="Freeform 9"/>
          <p:cNvSpPr/>
          <p:nvPr/>
        </p:nvSpPr>
        <p:spPr>
          <a:xfrm>
            <a:off x="399911" y="3815958"/>
            <a:ext cx="37909" cy="933450"/>
          </a:xfrm>
          <a:custGeom>
            <a:avLst/>
            <a:gdLst/>
            <a:ahLst/>
            <a:cxnLst/>
            <a:rect l="l" t="t" r="r" b="b"/>
            <a:pathLst>
              <a:path w="37909" h="933450">
                <a:moveTo>
                  <a:pt x="0" y="0"/>
                </a:moveTo>
                <a:lnTo>
                  <a:pt x="37909" y="0"/>
                </a:lnTo>
                <a:lnTo>
                  <a:pt x="37909" y="933450"/>
                </a:lnTo>
                <a:lnTo>
                  <a:pt x="0" y="933450"/>
                </a:lnTo>
                <a:lnTo>
                  <a:pt x="0" y="0"/>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571248" y="3815958"/>
            <a:ext cx="72199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GitHub Platform</a:t>
            </a:r>
            <a:endParaRPr lang="en-US" sz="1100"/>
          </a:p>
        </p:txBody>
      </p:sp>
      <p:sp>
        <p:nvSpPr>
          <p:cNvPr id="11" name="AutoShape 11"/>
          <p:cNvSpPr/>
          <p:nvPr/>
        </p:nvSpPr>
        <p:spPr>
          <a:xfrm>
            <a:off x="571248" y="4196914"/>
            <a:ext cx="7210425" cy="56197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The most popular open source collaboration platform, offering code hosting, version control, issue tracking, and a complete Pull Request workflow</a:t>
            </a:r>
            <a:endParaRPr lang="en-US" sz="1100"/>
          </a:p>
        </p:txBody>
      </p:sp>
      <p:sp>
        <p:nvSpPr>
          <p:cNvPr id="12" name="Freeform 12"/>
          <p:cNvSpPr/>
          <p:nvPr/>
        </p:nvSpPr>
        <p:spPr>
          <a:xfrm>
            <a:off x="399911" y="5058366"/>
            <a:ext cx="37909" cy="657225"/>
          </a:xfrm>
          <a:custGeom>
            <a:avLst/>
            <a:gdLst/>
            <a:ahLst/>
            <a:cxnLst/>
            <a:rect l="l" t="t" r="r" b="b"/>
            <a:pathLst>
              <a:path w="37909" h="657225">
                <a:moveTo>
                  <a:pt x="0" y="0"/>
                </a:moveTo>
                <a:lnTo>
                  <a:pt x="37909" y="0"/>
                </a:lnTo>
                <a:lnTo>
                  <a:pt x="37909" y="657225"/>
                </a:lnTo>
                <a:lnTo>
                  <a:pt x="0" y="657225"/>
                </a:lnTo>
                <a:lnTo>
                  <a:pt x="0" y="0"/>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571248" y="5058366"/>
            <a:ext cx="72199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Open Source in AI</a:t>
            </a:r>
            <a:endParaRPr lang="en-US" sz="1100"/>
          </a:p>
        </p:txBody>
      </p:sp>
      <p:sp>
        <p:nvSpPr>
          <p:cNvPr id="14" name="AutoShape 14"/>
          <p:cNvSpPr/>
          <p:nvPr/>
        </p:nvSpPr>
        <p:spPr>
          <a:xfrm>
            <a:off x="571248" y="5439322"/>
            <a:ext cx="7210425" cy="2762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Core AI frameworks like PyTorch, TensorFlow, and Hugging Face all use open source models, driving rapid industry growth</a:t>
            </a:r>
            <a:endParaRPr lang="en-US" sz="1100"/>
          </a:p>
        </p:txBody>
      </p:sp>
      <p:pic>
        <p:nvPicPr>
          <p:cNvPr id="15" name="Picture 15"/>
          <p:cNvPicPr>
            <a:picLocks noChangeAspect="1"/>
          </p:cNvPicPr>
          <p:nvPr/>
        </p:nvPicPr>
        <p:blipFill>
          <a:blip r:embed="rId1"/>
          <a:srcRect t="77" b="78"/>
          <a:stretch>
            <a:fillRect/>
          </a:stretch>
        </p:blipFill>
        <p:spPr>
          <a:xfrm>
            <a:off x="8001030" y="2254783"/>
            <a:ext cx="3810000" cy="2028825"/>
          </a:xfrm>
          <a:prstGeom prst="roundRect">
            <a:avLst>
              <a:gd name="adj" fmla="val 3755"/>
            </a:avLst>
          </a:prstGeom>
          <a:ln w="12700">
            <a:noFill/>
            <a:prstDash val="solid"/>
          </a:ln>
        </p:spPr>
      </p:pic>
      <p:sp>
        <p:nvSpPr>
          <p:cNvPr id="16" name="AutoShape 16"/>
          <p:cNvSpPr/>
          <p:nvPr/>
        </p:nvSpPr>
        <p:spPr>
          <a:xfrm>
            <a:off x="7967692" y="4439150"/>
            <a:ext cx="38766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Image source: GitHub Topics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53552" y="555146"/>
            <a:ext cx="5032228" cy="31128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0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FlagOS &amp; FlagTree Projects</a:t>
            </a:r>
            <a:endParaRPr lang="en-US" sz="1100"/>
          </a:p>
        </p:txBody>
      </p:sp>
      <p:sp>
        <p:nvSpPr>
          <p:cNvPr id="3" name="Freeform 3"/>
          <p:cNvSpPr/>
          <p:nvPr/>
        </p:nvSpPr>
        <p:spPr>
          <a:xfrm>
            <a:off x="345832" y="1489599"/>
            <a:ext cx="5611779" cy="1980119"/>
          </a:xfrm>
          <a:custGeom>
            <a:avLst/>
            <a:gdLst/>
            <a:ahLst/>
            <a:cxnLst/>
            <a:rect l="l" t="t" r="r" b="b"/>
            <a:pathLst>
              <a:path w="5611779" h="1980119">
                <a:moveTo>
                  <a:pt x="69165" y="0"/>
                </a:moveTo>
                <a:lnTo>
                  <a:pt x="5542613" y="0"/>
                </a:lnTo>
                <a:cubicBezTo>
                  <a:pt x="5580812" y="0"/>
                  <a:pt x="5611779" y="30966"/>
                  <a:pt x="5611779" y="69165"/>
                </a:cubicBezTo>
                <a:lnTo>
                  <a:pt x="5611779" y="1910954"/>
                </a:lnTo>
                <a:cubicBezTo>
                  <a:pt x="5611779" y="1949153"/>
                  <a:pt x="5580812" y="1980119"/>
                  <a:pt x="5542613" y="1980119"/>
                </a:cubicBezTo>
                <a:lnTo>
                  <a:pt x="69165" y="1980119"/>
                </a:lnTo>
                <a:cubicBezTo>
                  <a:pt x="30966" y="1980119"/>
                  <a:pt x="0" y="1949153"/>
                  <a:pt x="0" y="1910954"/>
                </a:cubicBezTo>
                <a:lnTo>
                  <a:pt x="0" y="69165"/>
                </a:lnTo>
                <a:cubicBezTo>
                  <a:pt x="0" y="30966"/>
                  <a:pt x="30966" y="0"/>
                  <a:pt x="69165" y="0"/>
                </a:cubicBezTo>
                <a:close/>
              </a:path>
            </a:pathLst>
          </a:custGeom>
          <a:gradFill rotWithShape="1">
            <a:gsLst>
              <a:gs pos="0">
                <a:srgbClr val="8B0000">
                  <a:alpha val="100000"/>
                </a:srgbClr>
              </a:gs>
              <a:gs pos="100000">
                <a:srgbClr val="B22222">
                  <a:alpha val="100000"/>
                </a:srgbClr>
              </a:gs>
            </a:gsLst>
            <a:lin ang="2700000"/>
          </a:gradFill>
          <a:ln w="12700">
            <a:noFill/>
            <a:prstDash val="solid"/>
          </a:ln>
          <a:effectLst>
            <a:outerShdw blurRad="1270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4" name="Freeform 4"/>
          <p:cNvSpPr/>
          <p:nvPr/>
        </p:nvSpPr>
        <p:spPr>
          <a:xfrm>
            <a:off x="587918" y="1704840"/>
            <a:ext cx="259404" cy="261127"/>
          </a:xfrm>
          <a:custGeom>
            <a:avLst/>
            <a:gdLst/>
            <a:ahLst/>
            <a:cxnLst/>
            <a:rect l="l" t="t" r="r" b="b"/>
            <a:pathLst>
              <a:path w="259404" h="261127">
                <a:moveTo>
                  <a:pt x="117796" y="3496"/>
                </a:moveTo>
                <a:cubicBezTo>
                  <a:pt x="125345" y="0"/>
                  <a:pt x="134059" y="0"/>
                  <a:pt x="141608" y="3496"/>
                </a:cubicBezTo>
                <a:lnTo>
                  <a:pt x="252362" y="54667"/>
                </a:lnTo>
                <a:cubicBezTo>
                  <a:pt x="256668" y="56643"/>
                  <a:pt x="259404" y="60950"/>
                  <a:pt x="259404" y="65712"/>
                </a:cubicBezTo>
                <a:cubicBezTo>
                  <a:pt x="259404" y="70475"/>
                  <a:pt x="256668" y="74781"/>
                  <a:pt x="252362" y="76757"/>
                </a:cubicBezTo>
                <a:lnTo>
                  <a:pt x="141608" y="127930"/>
                </a:lnTo>
                <a:cubicBezTo>
                  <a:pt x="134059" y="131425"/>
                  <a:pt x="125345" y="131425"/>
                  <a:pt x="117796" y="127930"/>
                </a:cubicBezTo>
                <a:lnTo>
                  <a:pt x="7042" y="76757"/>
                </a:lnTo>
                <a:cubicBezTo>
                  <a:pt x="2736" y="74731"/>
                  <a:pt x="0" y="70424"/>
                  <a:pt x="0" y="65712"/>
                </a:cubicBezTo>
                <a:cubicBezTo>
                  <a:pt x="0" y="61001"/>
                  <a:pt x="2736" y="56643"/>
                  <a:pt x="7042" y="54667"/>
                </a:cubicBezTo>
                <a:lnTo>
                  <a:pt x="117796" y="3496"/>
                </a:lnTo>
                <a:close/>
                <a:moveTo>
                  <a:pt x="24370" y="111514"/>
                </a:moveTo>
                <a:lnTo>
                  <a:pt x="107612" y="149968"/>
                </a:lnTo>
                <a:cubicBezTo>
                  <a:pt x="121646" y="156453"/>
                  <a:pt x="137809" y="156453"/>
                  <a:pt x="151842" y="149968"/>
                </a:cubicBezTo>
                <a:lnTo>
                  <a:pt x="235085" y="111514"/>
                </a:lnTo>
                <a:lnTo>
                  <a:pt x="252362" y="119518"/>
                </a:lnTo>
                <a:cubicBezTo>
                  <a:pt x="256668" y="121494"/>
                  <a:pt x="259404" y="125801"/>
                  <a:pt x="259404" y="130564"/>
                </a:cubicBezTo>
                <a:cubicBezTo>
                  <a:pt x="259404" y="135326"/>
                  <a:pt x="256668" y="139633"/>
                  <a:pt x="252362" y="141607"/>
                </a:cubicBezTo>
                <a:lnTo>
                  <a:pt x="141608" y="192780"/>
                </a:lnTo>
                <a:cubicBezTo>
                  <a:pt x="134059" y="196275"/>
                  <a:pt x="125345" y="196275"/>
                  <a:pt x="117796" y="192780"/>
                </a:cubicBezTo>
                <a:lnTo>
                  <a:pt x="7042" y="141607"/>
                </a:lnTo>
                <a:cubicBezTo>
                  <a:pt x="2736" y="139581"/>
                  <a:pt x="0" y="135275"/>
                  <a:pt x="0" y="130564"/>
                </a:cubicBezTo>
                <a:cubicBezTo>
                  <a:pt x="0" y="125851"/>
                  <a:pt x="2736" y="121494"/>
                  <a:pt x="7042" y="119518"/>
                </a:cubicBezTo>
                <a:lnTo>
                  <a:pt x="24319" y="111514"/>
                </a:lnTo>
                <a:close/>
                <a:moveTo>
                  <a:pt x="7042" y="184368"/>
                </a:moveTo>
                <a:lnTo>
                  <a:pt x="24319" y="176364"/>
                </a:lnTo>
                <a:lnTo>
                  <a:pt x="107561" y="214819"/>
                </a:lnTo>
                <a:cubicBezTo>
                  <a:pt x="121596" y="221304"/>
                  <a:pt x="137758" y="221304"/>
                  <a:pt x="151792" y="214819"/>
                </a:cubicBezTo>
                <a:lnTo>
                  <a:pt x="235034" y="176364"/>
                </a:lnTo>
                <a:lnTo>
                  <a:pt x="252311" y="184368"/>
                </a:lnTo>
                <a:cubicBezTo>
                  <a:pt x="256617" y="186344"/>
                  <a:pt x="259354" y="190652"/>
                  <a:pt x="259354" y="195414"/>
                </a:cubicBezTo>
                <a:cubicBezTo>
                  <a:pt x="259354" y="200177"/>
                  <a:pt x="256617" y="204483"/>
                  <a:pt x="252311" y="206459"/>
                </a:cubicBezTo>
                <a:lnTo>
                  <a:pt x="141558" y="257631"/>
                </a:lnTo>
                <a:cubicBezTo>
                  <a:pt x="134009" y="261127"/>
                  <a:pt x="125294" y="261127"/>
                  <a:pt x="117746" y="257631"/>
                </a:cubicBezTo>
                <a:lnTo>
                  <a:pt x="7042" y="206459"/>
                </a:lnTo>
                <a:cubicBezTo>
                  <a:pt x="2736" y="204433"/>
                  <a:pt x="0" y="200127"/>
                  <a:pt x="0" y="195414"/>
                </a:cubicBezTo>
                <a:cubicBezTo>
                  <a:pt x="0" y="190702"/>
                  <a:pt x="2736" y="186344"/>
                  <a:pt x="7042" y="18436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981303" y="1697098"/>
            <a:ext cx="830094" cy="276698"/>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FlagOS</a:t>
            </a:r>
            <a:endParaRPr lang="en-US" sz="1100"/>
          </a:p>
        </p:txBody>
      </p:sp>
      <p:sp>
        <p:nvSpPr>
          <p:cNvPr id="6" name="AutoShape 6"/>
          <p:cNvSpPr/>
          <p:nvPr/>
        </p:nvSpPr>
        <p:spPr>
          <a:xfrm>
            <a:off x="553331" y="2112028"/>
            <a:ext cx="5274553" cy="250757"/>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Unified AI System Software Stack</a:t>
            </a:r>
            <a:endParaRPr lang="en-US" sz="1100"/>
          </a:p>
        </p:txBody>
      </p:sp>
      <p:sp>
        <p:nvSpPr>
          <p:cNvPr id="7" name="Freeform 7"/>
          <p:cNvSpPr/>
          <p:nvPr/>
        </p:nvSpPr>
        <p:spPr>
          <a:xfrm>
            <a:off x="570625" y="2533413"/>
            <a:ext cx="138349" cy="138349"/>
          </a:xfrm>
          <a:custGeom>
            <a:avLst/>
            <a:gdLst/>
            <a:ahLst/>
            <a:cxnLst/>
            <a:rect l="l" t="t" r="r" b="b"/>
            <a:pathLst>
              <a:path w="138349" h="138349">
                <a:moveTo>
                  <a:pt x="69174" y="138349"/>
                </a:moveTo>
                <a:cubicBezTo>
                  <a:pt x="107353" y="138349"/>
                  <a:pt x="138349" y="107353"/>
                  <a:pt x="138349" y="69174"/>
                </a:cubicBezTo>
                <a:cubicBezTo>
                  <a:pt x="138349" y="30996"/>
                  <a:pt x="107353" y="0"/>
                  <a:pt x="69174" y="0"/>
                </a:cubicBezTo>
                <a:cubicBezTo>
                  <a:pt x="30996" y="0"/>
                  <a:pt x="0" y="30996"/>
                  <a:pt x="0" y="69174"/>
                </a:cubicBezTo>
                <a:cubicBezTo>
                  <a:pt x="0" y="107353"/>
                  <a:pt x="30996" y="138349"/>
                  <a:pt x="69174" y="138349"/>
                </a:cubicBezTo>
                <a:close/>
                <a:moveTo>
                  <a:pt x="91980" y="57474"/>
                </a:moveTo>
                <a:lnTo>
                  <a:pt x="70363" y="92061"/>
                </a:lnTo>
                <a:cubicBezTo>
                  <a:pt x="69229" y="93872"/>
                  <a:pt x="67283" y="95007"/>
                  <a:pt x="65148" y="95115"/>
                </a:cubicBezTo>
                <a:cubicBezTo>
                  <a:pt x="63014" y="95223"/>
                  <a:pt x="60960" y="94251"/>
                  <a:pt x="59690" y="92521"/>
                </a:cubicBezTo>
                <a:lnTo>
                  <a:pt x="46719" y="75227"/>
                </a:lnTo>
                <a:cubicBezTo>
                  <a:pt x="44558" y="72363"/>
                  <a:pt x="45154" y="68309"/>
                  <a:pt x="48017" y="66148"/>
                </a:cubicBezTo>
                <a:cubicBezTo>
                  <a:pt x="50881" y="63986"/>
                  <a:pt x="54934" y="64581"/>
                  <a:pt x="57095" y="67445"/>
                </a:cubicBezTo>
                <a:lnTo>
                  <a:pt x="64392" y="77173"/>
                </a:lnTo>
                <a:lnTo>
                  <a:pt x="80983" y="50611"/>
                </a:lnTo>
                <a:cubicBezTo>
                  <a:pt x="82874" y="47584"/>
                  <a:pt x="86873" y="46639"/>
                  <a:pt x="89927" y="48557"/>
                </a:cubicBezTo>
                <a:cubicBezTo>
                  <a:pt x="92981" y="50476"/>
                  <a:pt x="93899" y="54447"/>
                  <a:pt x="91980" y="5750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773365" y="2503300"/>
            <a:ext cx="5045873" cy="20752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Supports Multiple AI Chips</a:t>
            </a:r>
            <a:endParaRPr lang="en-US" sz="1100"/>
          </a:p>
        </p:txBody>
      </p:sp>
      <p:sp>
        <p:nvSpPr>
          <p:cNvPr id="9" name="Freeform 9"/>
          <p:cNvSpPr/>
          <p:nvPr/>
        </p:nvSpPr>
        <p:spPr>
          <a:xfrm>
            <a:off x="570625" y="2810079"/>
            <a:ext cx="138349" cy="138349"/>
          </a:xfrm>
          <a:custGeom>
            <a:avLst/>
            <a:gdLst/>
            <a:ahLst/>
            <a:cxnLst/>
            <a:rect l="l" t="t" r="r" b="b"/>
            <a:pathLst>
              <a:path w="138349" h="138349">
                <a:moveTo>
                  <a:pt x="69174" y="138349"/>
                </a:moveTo>
                <a:cubicBezTo>
                  <a:pt x="107353" y="138349"/>
                  <a:pt x="138349" y="107353"/>
                  <a:pt x="138349" y="69174"/>
                </a:cubicBezTo>
                <a:cubicBezTo>
                  <a:pt x="138349" y="30996"/>
                  <a:pt x="107353" y="0"/>
                  <a:pt x="69174" y="0"/>
                </a:cubicBezTo>
                <a:cubicBezTo>
                  <a:pt x="30996" y="0"/>
                  <a:pt x="0" y="30996"/>
                  <a:pt x="0" y="69174"/>
                </a:cubicBezTo>
                <a:cubicBezTo>
                  <a:pt x="0" y="107353"/>
                  <a:pt x="30996" y="138349"/>
                  <a:pt x="69174" y="138349"/>
                </a:cubicBezTo>
                <a:close/>
                <a:moveTo>
                  <a:pt x="91980" y="57474"/>
                </a:moveTo>
                <a:lnTo>
                  <a:pt x="70363" y="92061"/>
                </a:lnTo>
                <a:cubicBezTo>
                  <a:pt x="69229" y="93872"/>
                  <a:pt x="67283" y="95007"/>
                  <a:pt x="65148" y="95115"/>
                </a:cubicBezTo>
                <a:cubicBezTo>
                  <a:pt x="63014" y="95223"/>
                  <a:pt x="60960" y="94251"/>
                  <a:pt x="59690" y="92521"/>
                </a:cubicBezTo>
                <a:lnTo>
                  <a:pt x="46719" y="75227"/>
                </a:lnTo>
                <a:cubicBezTo>
                  <a:pt x="44558" y="72363"/>
                  <a:pt x="45154" y="68309"/>
                  <a:pt x="48017" y="66148"/>
                </a:cubicBezTo>
                <a:cubicBezTo>
                  <a:pt x="50881" y="63986"/>
                  <a:pt x="54934" y="64581"/>
                  <a:pt x="57095" y="67445"/>
                </a:cubicBezTo>
                <a:lnTo>
                  <a:pt x="64392" y="77173"/>
                </a:lnTo>
                <a:lnTo>
                  <a:pt x="80983" y="50611"/>
                </a:lnTo>
                <a:cubicBezTo>
                  <a:pt x="82874" y="47584"/>
                  <a:pt x="86873" y="46639"/>
                  <a:pt x="89927" y="48557"/>
                </a:cubicBezTo>
                <a:cubicBezTo>
                  <a:pt x="92981" y="50476"/>
                  <a:pt x="93899" y="54447"/>
                  <a:pt x="91980" y="5750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773365" y="2779965"/>
            <a:ext cx="5045873" cy="20752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Supports Multiple Computing Platforms</a:t>
            </a:r>
            <a:endParaRPr lang="en-US" sz="1100"/>
          </a:p>
        </p:txBody>
      </p:sp>
      <p:sp>
        <p:nvSpPr>
          <p:cNvPr id="11" name="Freeform 11"/>
          <p:cNvSpPr/>
          <p:nvPr/>
        </p:nvSpPr>
        <p:spPr>
          <a:xfrm>
            <a:off x="570625" y="3086744"/>
            <a:ext cx="138349" cy="138349"/>
          </a:xfrm>
          <a:custGeom>
            <a:avLst/>
            <a:gdLst/>
            <a:ahLst/>
            <a:cxnLst/>
            <a:rect l="l" t="t" r="r" b="b"/>
            <a:pathLst>
              <a:path w="138349" h="138349">
                <a:moveTo>
                  <a:pt x="69174" y="138349"/>
                </a:moveTo>
                <a:cubicBezTo>
                  <a:pt x="107353" y="138349"/>
                  <a:pt x="138349" y="107353"/>
                  <a:pt x="138349" y="69174"/>
                </a:cubicBezTo>
                <a:cubicBezTo>
                  <a:pt x="138349" y="30996"/>
                  <a:pt x="107353" y="0"/>
                  <a:pt x="69174" y="0"/>
                </a:cubicBezTo>
                <a:cubicBezTo>
                  <a:pt x="30996" y="0"/>
                  <a:pt x="0" y="30996"/>
                  <a:pt x="0" y="69174"/>
                </a:cubicBezTo>
                <a:cubicBezTo>
                  <a:pt x="0" y="107353"/>
                  <a:pt x="30996" y="138349"/>
                  <a:pt x="69174" y="138349"/>
                </a:cubicBezTo>
                <a:close/>
                <a:moveTo>
                  <a:pt x="91980" y="57474"/>
                </a:moveTo>
                <a:lnTo>
                  <a:pt x="70363" y="92061"/>
                </a:lnTo>
                <a:cubicBezTo>
                  <a:pt x="69229" y="93872"/>
                  <a:pt x="67283" y="95007"/>
                  <a:pt x="65148" y="95115"/>
                </a:cubicBezTo>
                <a:cubicBezTo>
                  <a:pt x="63014" y="95223"/>
                  <a:pt x="60960" y="94251"/>
                  <a:pt x="59690" y="92521"/>
                </a:cubicBezTo>
                <a:lnTo>
                  <a:pt x="46719" y="75227"/>
                </a:lnTo>
                <a:cubicBezTo>
                  <a:pt x="44558" y="72363"/>
                  <a:pt x="45154" y="68309"/>
                  <a:pt x="48017" y="66148"/>
                </a:cubicBezTo>
                <a:cubicBezTo>
                  <a:pt x="50881" y="63986"/>
                  <a:pt x="54934" y="64581"/>
                  <a:pt x="57095" y="67445"/>
                </a:cubicBezTo>
                <a:lnTo>
                  <a:pt x="64392" y="77173"/>
                </a:lnTo>
                <a:lnTo>
                  <a:pt x="80983" y="50611"/>
                </a:lnTo>
                <a:cubicBezTo>
                  <a:pt x="82874" y="47584"/>
                  <a:pt x="86873" y="46639"/>
                  <a:pt x="89927" y="48557"/>
                </a:cubicBezTo>
                <a:cubicBezTo>
                  <a:pt x="92981" y="50476"/>
                  <a:pt x="93899" y="54447"/>
                  <a:pt x="91980" y="5750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773365" y="3056631"/>
            <a:ext cx="5045873" cy="20752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Unified Programming Interface</a:t>
            </a:r>
            <a:endParaRPr lang="en-US" sz="1100"/>
          </a:p>
        </p:txBody>
      </p:sp>
      <p:sp>
        <p:nvSpPr>
          <p:cNvPr id="13" name="Freeform 13"/>
          <p:cNvSpPr/>
          <p:nvPr/>
        </p:nvSpPr>
        <p:spPr>
          <a:xfrm>
            <a:off x="6233311" y="1489599"/>
            <a:ext cx="5611779" cy="1980119"/>
          </a:xfrm>
          <a:custGeom>
            <a:avLst/>
            <a:gdLst/>
            <a:ahLst/>
            <a:cxnLst/>
            <a:rect l="l" t="t" r="r" b="b"/>
            <a:pathLst>
              <a:path w="5611779" h="1980119">
                <a:moveTo>
                  <a:pt x="69165" y="0"/>
                </a:moveTo>
                <a:lnTo>
                  <a:pt x="5542613" y="0"/>
                </a:lnTo>
                <a:cubicBezTo>
                  <a:pt x="5580812" y="0"/>
                  <a:pt x="5611779" y="30966"/>
                  <a:pt x="5611779" y="69165"/>
                </a:cubicBezTo>
                <a:lnTo>
                  <a:pt x="5611779" y="1910954"/>
                </a:lnTo>
                <a:cubicBezTo>
                  <a:pt x="5611779" y="1949153"/>
                  <a:pt x="5580812" y="1980119"/>
                  <a:pt x="5542613" y="1980119"/>
                </a:cubicBezTo>
                <a:lnTo>
                  <a:pt x="69165" y="1980119"/>
                </a:lnTo>
                <a:cubicBezTo>
                  <a:pt x="30966" y="1980119"/>
                  <a:pt x="0" y="1949153"/>
                  <a:pt x="0" y="1910954"/>
                </a:cubicBezTo>
                <a:lnTo>
                  <a:pt x="0" y="69165"/>
                </a:lnTo>
                <a:cubicBezTo>
                  <a:pt x="0" y="30966"/>
                  <a:pt x="30966" y="0"/>
                  <a:pt x="69165" y="0"/>
                </a:cubicBezTo>
                <a:close/>
              </a:path>
            </a:pathLst>
          </a:custGeom>
          <a:gradFill rotWithShape="1">
            <a:gsLst>
              <a:gs pos="0">
                <a:srgbClr val="333333">
                  <a:alpha val="100000"/>
                </a:srgbClr>
              </a:gs>
              <a:gs pos="100000">
                <a:srgbClr val="555555">
                  <a:alpha val="100000"/>
                </a:srgbClr>
              </a:gs>
            </a:gsLst>
            <a:lin ang="2700000"/>
          </a:gradFill>
          <a:ln w="12700">
            <a:noFill/>
            <a:prstDash val="solid"/>
          </a:ln>
          <a:effectLst>
            <a:outerShdw blurRad="127000" dist="762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4" name="Freeform 14"/>
          <p:cNvSpPr/>
          <p:nvPr/>
        </p:nvSpPr>
        <p:spPr>
          <a:xfrm>
            <a:off x="6490749" y="1689488"/>
            <a:ext cx="228702" cy="291829"/>
          </a:xfrm>
          <a:custGeom>
            <a:avLst/>
            <a:gdLst/>
            <a:ahLst/>
            <a:cxnLst/>
            <a:rect l="l" t="t" r="r" b="b"/>
            <a:pathLst>
              <a:path w="228702" h="291829">
                <a:moveTo>
                  <a:pt x="114349" y="0"/>
                </a:moveTo>
                <a:cubicBezTo>
                  <a:pt x="117897" y="0"/>
                  <a:pt x="121291" y="1571"/>
                  <a:pt x="123622" y="4307"/>
                </a:cubicBezTo>
                <a:lnTo>
                  <a:pt x="192526" y="85371"/>
                </a:lnTo>
                <a:cubicBezTo>
                  <a:pt x="195617" y="88967"/>
                  <a:pt x="196275" y="94034"/>
                  <a:pt x="194300" y="98341"/>
                </a:cubicBezTo>
                <a:cubicBezTo>
                  <a:pt x="192324" y="102647"/>
                  <a:pt x="188017" y="105384"/>
                  <a:pt x="183255" y="105384"/>
                </a:cubicBezTo>
                <a:lnTo>
                  <a:pt x="170638" y="105384"/>
                </a:lnTo>
                <a:lnTo>
                  <a:pt x="208738" y="150222"/>
                </a:lnTo>
                <a:cubicBezTo>
                  <a:pt x="211830" y="153819"/>
                  <a:pt x="212487" y="158885"/>
                  <a:pt x="210513" y="163191"/>
                </a:cubicBezTo>
                <a:cubicBezTo>
                  <a:pt x="208536" y="167498"/>
                  <a:pt x="204230" y="170234"/>
                  <a:pt x="199467" y="170234"/>
                </a:cubicBezTo>
                <a:lnTo>
                  <a:pt x="179961" y="170234"/>
                </a:lnTo>
                <a:lnTo>
                  <a:pt x="224953" y="223179"/>
                </a:lnTo>
                <a:cubicBezTo>
                  <a:pt x="228042" y="226776"/>
                  <a:pt x="228702" y="231842"/>
                  <a:pt x="226725" y="236149"/>
                </a:cubicBezTo>
                <a:cubicBezTo>
                  <a:pt x="224749" y="240456"/>
                  <a:pt x="220443" y="243192"/>
                  <a:pt x="215680" y="243192"/>
                </a:cubicBezTo>
                <a:lnTo>
                  <a:pt x="130564" y="243192"/>
                </a:lnTo>
                <a:lnTo>
                  <a:pt x="130564" y="275617"/>
                </a:lnTo>
                <a:cubicBezTo>
                  <a:pt x="130564" y="284586"/>
                  <a:pt x="123318" y="291830"/>
                  <a:pt x="114349" y="291830"/>
                </a:cubicBezTo>
                <a:cubicBezTo>
                  <a:pt x="105383" y="291830"/>
                  <a:pt x="98138" y="284586"/>
                  <a:pt x="98138" y="275617"/>
                </a:cubicBezTo>
                <a:lnTo>
                  <a:pt x="98138" y="243192"/>
                </a:lnTo>
                <a:lnTo>
                  <a:pt x="13021" y="243192"/>
                </a:lnTo>
                <a:cubicBezTo>
                  <a:pt x="8257" y="243192"/>
                  <a:pt x="3952" y="240456"/>
                  <a:pt x="1976" y="236149"/>
                </a:cubicBezTo>
                <a:cubicBezTo>
                  <a:pt x="0" y="231842"/>
                  <a:pt x="658" y="226776"/>
                  <a:pt x="3749" y="223179"/>
                </a:cubicBezTo>
                <a:lnTo>
                  <a:pt x="48739" y="170234"/>
                </a:lnTo>
                <a:lnTo>
                  <a:pt x="29233" y="170234"/>
                </a:lnTo>
                <a:cubicBezTo>
                  <a:pt x="24472" y="170234"/>
                  <a:pt x="20164" y="167498"/>
                  <a:pt x="18188" y="163191"/>
                </a:cubicBezTo>
                <a:cubicBezTo>
                  <a:pt x="16211" y="158885"/>
                  <a:pt x="16871" y="153819"/>
                  <a:pt x="19962" y="150222"/>
                </a:cubicBezTo>
                <a:lnTo>
                  <a:pt x="58062" y="105384"/>
                </a:lnTo>
                <a:lnTo>
                  <a:pt x="45446" y="105384"/>
                </a:lnTo>
                <a:cubicBezTo>
                  <a:pt x="40684" y="105384"/>
                  <a:pt x="36377" y="102647"/>
                  <a:pt x="34400" y="98341"/>
                </a:cubicBezTo>
                <a:cubicBezTo>
                  <a:pt x="32426" y="94034"/>
                  <a:pt x="33083" y="88967"/>
                  <a:pt x="36175" y="85371"/>
                </a:cubicBezTo>
                <a:lnTo>
                  <a:pt x="105078" y="4307"/>
                </a:lnTo>
                <a:cubicBezTo>
                  <a:pt x="107409" y="1571"/>
                  <a:pt x="110804" y="0"/>
                  <a:pt x="114349"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6868782" y="1697098"/>
            <a:ext cx="994383" cy="276698"/>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FlagTree</a:t>
            </a:r>
            <a:endParaRPr lang="en-US" sz="1100"/>
          </a:p>
        </p:txBody>
      </p:sp>
      <p:sp>
        <p:nvSpPr>
          <p:cNvPr id="16" name="AutoShape 16"/>
          <p:cNvSpPr/>
          <p:nvPr/>
        </p:nvSpPr>
        <p:spPr>
          <a:xfrm>
            <a:off x="6440810" y="2112028"/>
            <a:ext cx="5274553" cy="250757"/>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Key Component of FlagOS Ecosystem</a:t>
            </a:r>
            <a:endParaRPr lang="en-US" sz="1100"/>
          </a:p>
        </p:txBody>
      </p:sp>
      <p:sp>
        <p:nvSpPr>
          <p:cNvPr id="17" name="Freeform 17"/>
          <p:cNvSpPr/>
          <p:nvPr/>
        </p:nvSpPr>
        <p:spPr>
          <a:xfrm>
            <a:off x="6458104" y="2533413"/>
            <a:ext cx="138349" cy="138349"/>
          </a:xfrm>
          <a:custGeom>
            <a:avLst/>
            <a:gdLst/>
            <a:ahLst/>
            <a:cxnLst/>
            <a:rect l="l" t="t" r="r" b="b"/>
            <a:pathLst>
              <a:path w="138349" h="138349">
                <a:moveTo>
                  <a:pt x="69174" y="138349"/>
                </a:moveTo>
                <a:cubicBezTo>
                  <a:pt x="107353" y="138349"/>
                  <a:pt x="138349" y="107353"/>
                  <a:pt x="138349" y="69174"/>
                </a:cubicBezTo>
                <a:cubicBezTo>
                  <a:pt x="138349" y="30996"/>
                  <a:pt x="107353" y="0"/>
                  <a:pt x="69174" y="0"/>
                </a:cubicBezTo>
                <a:cubicBezTo>
                  <a:pt x="30996" y="0"/>
                  <a:pt x="0" y="30996"/>
                  <a:pt x="0" y="69174"/>
                </a:cubicBezTo>
                <a:cubicBezTo>
                  <a:pt x="0" y="107353"/>
                  <a:pt x="30996" y="138349"/>
                  <a:pt x="69174" y="138349"/>
                </a:cubicBezTo>
                <a:close/>
                <a:moveTo>
                  <a:pt x="91980" y="57474"/>
                </a:moveTo>
                <a:lnTo>
                  <a:pt x="70363" y="92061"/>
                </a:lnTo>
                <a:cubicBezTo>
                  <a:pt x="69229" y="93872"/>
                  <a:pt x="67283" y="95007"/>
                  <a:pt x="65148" y="95115"/>
                </a:cubicBezTo>
                <a:cubicBezTo>
                  <a:pt x="63014" y="95223"/>
                  <a:pt x="60960" y="94251"/>
                  <a:pt x="59690" y="92521"/>
                </a:cubicBezTo>
                <a:lnTo>
                  <a:pt x="46719" y="75227"/>
                </a:lnTo>
                <a:cubicBezTo>
                  <a:pt x="44558" y="72363"/>
                  <a:pt x="45154" y="68309"/>
                  <a:pt x="48017" y="66148"/>
                </a:cubicBezTo>
                <a:cubicBezTo>
                  <a:pt x="50881" y="63986"/>
                  <a:pt x="54934" y="64581"/>
                  <a:pt x="57095" y="67445"/>
                </a:cubicBezTo>
                <a:lnTo>
                  <a:pt x="64392" y="77173"/>
                </a:lnTo>
                <a:lnTo>
                  <a:pt x="80983" y="50611"/>
                </a:lnTo>
                <a:cubicBezTo>
                  <a:pt x="82874" y="47584"/>
                  <a:pt x="86873" y="46639"/>
                  <a:pt x="89927" y="48557"/>
                </a:cubicBezTo>
                <a:cubicBezTo>
                  <a:pt x="92981" y="50476"/>
                  <a:pt x="93899" y="54447"/>
                  <a:pt x="91980" y="5750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6660844" y="2503300"/>
            <a:ext cx="5045873" cy="20752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Unified Compiler for Multiple AI Chips</a:t>
            </a:r>
            <a:endParaRPr lang="en-US" sz="1100"/>
          </a:p>
        </p:txBody>
      </p:sp>
      <p:sp>
        <p:nvSpPr>
          <p:cNvPr id="19" name="Freeform 19"/>
          <p:cNvSpPr/>
          <p:nvPr/>
        </p:nvSpPr>
        <p:spPr>
          <a:xfrm>
            <a:off x="6458104" y="2810079"/>
            <a:ext cx="138349" cy="138349"/>
          </a:xfrm>
          <a:custGeom>
            <a:avLst/>
            <a:gdLst/>
            <a:ahLst/>
            <a:cxnLst/>
            <a:rect l="l" t="t" r="r" b="b"/>
            <a:pathLst>
              <a:path w="138349" h="138349">
                <a:moveTo>
                  <a:pt x="69174" y="138349"/>
                </a:moveTo>
                <a:cubicBezTo>
                  <a:pt x="107353" y="138349"/>
                  <a:pt x="138349" y="107353"/>
                  <a:pt x="138349" y="69174"/>
                </a:cubicBezTo>
                <a:cubicBezTo>
                  <a:pt x="138349" y="30996"/>
                  <a:pt x="107353" y="0"/>
                  <a:pt x="69174" y="0"/>
                </a:cubicBezTo>
                <a:cubicBezTo>
                  <a:pt x="30996" y="0"/>
                  <a:pt x="0" y="30996"/>
                  <a:pt x="0" y="69174"/>
                </a:cubicBezTo>
                <a:cubicBezTo>
                  <a:pt x="0" y="107353"/>
                  <a:pt x="30996" y="138349"/>
                  <a:pt x="69174" y="138349"/>
                </a:cubicBezTo>
                <a:close/>
                <a:moveTo>
                  <a:pt x="91980" y="57474"/>
                </a:moveTo>
                <a:lnTo>
                  <a:pt x="70363" y="92061"/>
                </a:lnTo>
                <a:cubicBezTo>
                  <a:pt x="69229" y="93872"/>
                  <a:pt x="67283" y="95007"/>
                  <a:pt x="65148" y="95115"/>
                </a:cubicBezTo>
                <a:cubicBezTo>
                  <a:pt x="63014" y="95223"/>
                  <a:pt x="60960" y="94251"/>
                  <a:pt x="59690" y="92521"/>
                </a:cubicBezTo>
                <a:lnTo>
                  <a:pt x="46719" y="75227"/>
                </a:lnTo>
                <a:cubicBezTo>
                  <a:pt x="44558" y="72363"/>
                  <a:pt x="45154" y="68309"/>
                  <a:pt x="48017" y="66148"/>
                </a:cubicBezTo>
                <a:cubicBezTo>
                  <a:pt x="50881" y="63986"/>
                  <a:pt x="54934" y="64581"/>
                  <a:pt x="57095" y="67445"/>
                </a:cubicBezTo>
                <a:lnTo>
                  <a:pt x="64392" y="77173"/>
                </a:lnTo>
                <a:lnTo>
                  <a:pt x="80983" y="50611"/>
                </a:lnTo>
                <a:cubicBezTo>
                  <a:pt x="82874" y="47584"/>
                  <a:pt x="86873" y="46639"/>
                  <a:pt x="89927" y="48557"/>
                </a:cubicBezTo>
                <a:cubicBezTo>
                  <a:pt x="92981" y="50476"/>
                  <a:pt x="93899" y="54447"/>
                  <a:pt x="91980" y="5750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660844" y="2779965"/>
            <a:ext cx="5045873" cy="20752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Code Generation &amp; Optimization</a:t>
            </a:r>
            <a:endParaRPr lang="en-US" sz="1100"/>
          </a:p>
        </p:txBody>
      </p:sp>
      <p:sp>
        <p:nvSpPr>
          <p:cNvPr id="21" name="Freeform 21"/>
          <p:cNvSpPr/>
          <p:nvPr/>
        </p:nvSpPr>
        <p:spPr>
          <a:xfrm>
            <a:off x="6458104" y="3086744"/>
            <a:ext cx="138349" cy="138349"/>
          </a:xfrm>
          <a:custGeom>
            <a:avLst/>
            <a:gdLst/>
            <a:ahLst/>
            <a:cxnLst/>
            <a:rect l="l" t="t" r="r" b="b"/>
            <a:pathLst>
              <a:path w="138349" h="138349">
                <a:moveTo>
                  <a:pt x="69174" y="138349"/>
                </a:moveTo>
                <a:cubicBezTo>
                  <a:pt x="107353" y="138349"/>
                  <a:pt x="138349" y="107353"/>
                  <a:pt x="138349" y="69174"/>
                </a:cubicBezTo>
                <a:cubicBezTo>
                  <a:pt x="138349" y="30996"/>
                  <a:pt x="107353" y="0"/>
                  <a:pt x="69174" y="0"/>
                </a:cubicBezTo>
                <a:cubicBezTo>
                  <a:pt x="30996" y="0"/>
                  <a:pt x="0" y="30996"/>
                  <a:pt x="0" y="69174"/>
                </a:cubicBezTo>
                <a:cubicBezTo>
                  <a:pt x="0" y="107353"/>
                  <a:pt x="30996" y="138349"/>
                  <a:pt x="69174" y="138349"/>
                </a:cubicBezTo>
                <a:close/>
                <a:moveTo>
                  <a:pt x="91980" y="57474"/>
                </a:moveTo>
                <a:lnTo>
                  <a:pt x="70363" y="92061"/>
                </a:lnTo>
                <a:cubicBezTo>
                  <a:pt x="69229" y="93872"/>
                  <a:pt x="67283" y="95007"/>
                  <a:pt x="65148" y="95115"/>
                </a:cubicBezTo>
                <a:cubicBezTo>
                  <a:pt x="63014" y="95223"/>
                  <a:pt x="60960" y="94251"/>
                  <a:pt x="59690" y="92521"/>
                </a:cubicBezTo>
                <a:lnTo>
                  <a:pt x="46719" y="75227"/>
                </a:lnTo>
                <a:cubicBezTo>
                  <a:pt x="44558" y="72363"/>
                  <a:pt x="45154" y="68309"/>
                  <a:pt x="48017" y="66148"/>
                </a:cubicBezTo>
                <a:cubicBezTo>
                  <a:pt x="50881" y="63986"/>
                  <a:pt x="54934" y="64581"/>
                  <a:pt x="57095" y="67445"/>
                </a:cubicBezTo>
                <a:lnTo>
                  <a:pt x="64392" y="77173"/>
                </a:lnTo>
                <a:lnTo>
                  <a:pt x="80983" y="50611"/>
                </a:lnTo>
                <a:cubicBezTo>
                  <a:pt x="82874" y="47584"/>
                  <a:pt x="86873" y="46639"/>
                  <a:pt x="89927" y="48557"/>
                </a:cubicBezTo>
                <a:cubicBezTo>
                  <a:pt x="92981" y="50476"/>
                  <a:pt x="93899" y="54447"/>
                  <a:pt x="91980" y="5750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660844" y="3056631"/>
            <a:ext cx="5045873" cy="20752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Cross-Platform Compatibility</a:t>
            </a:r>
            <a:endParaRPr lang="en-US" sz="1100"/>
          </a:p>
        </p:txBody>
      </p:sp>
      <p:sp>
        <p:nvSpPr>
          <p:cNvPr id="23" name="Freeform 23"/>
          <p:cNvSpPr/>
          <p:nvPr/>
        </p:nvSpPr>
        <p:spPr>
          <a:xfrm>
            <a:off x="345832" y="3748294"/>
            <a:ext cx="11500255" cy="2766979"/>
          </a:xfrm>
          <a:custGeom>
            <a:avLst/>
            <a:gdLst/>
            <a:ahLst/>
            <a:cxnLst/>
            <a:rect l="l" t="t" r="r" b="b"/>
            <a:pathLst>
              <a:path w="11500255" h="2766979">
                <a:moveTo>
                  <a:pt x="69174" y="0"/>
                </a:moveTo>
                <a:lnTo>
                  <a:pt x="11431081" y="0"/>
                </a:lnTo>
                <a:cubicBezTo>
                  <a:pt x="11469285" y="0"/>
                  <a:pt x="11500255" y="30970"/>
                  <a:pt x="11500255" y="69174"/>
                </a:cubicBezTo>
                <a:lnTo>
                  <a:pt x="11500255" y="2697804"/>
                </a:lnTo>
                <a:cubicBezTo>
                  <a:pt x="11500255" y="2736008"/>
                  <a:pt x="11469285" y="2766979"/>
                  <a:pt x="11431081" y="2766979"/>
                </a:cubicBezTo>
                <a:lnTo>
                  <a:pt x="69174" y="2766979"/>
                </a:lnTo>
                <a:cubicBezTo>
                  <a:pt x="30970" y="2766979"/>
                  <a:pt x="0" y="2736008"/>
                  <a:pt x="0" y="2697804"/>
                </a:cubicBezTo>
                <a:lnTo>
                  <a:pt x="0" y="69174"/>
                </a:lnTo>
                <a:cubicBezTo>
                  <a:pt x="0" y="30970"/>
                  <a:pt x="30970" y="0"/>
                  <a:pt x="69174"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553331" y="3955794"/>
            <a:ext cx="11171677" cy="242111"/>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4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AI Software Stack Architecture</a:t>
            </a:r>
            <a:endParaRPr lang="en-US" sz="1100"/>
          </a:p>
        </p:txBody>
      </p:sp>
      <p:pic>
        <p:nvPicPr>
          <p:cNvPr id="25" name="Picture 25"/>
          <p:cNvPicPr>
            <a:picLocks noChangeAspect="1"/>
          </p:cNvPicPr>
          <p:nvPr/>
        </p:nvPicPr>
        <p:blipFill>
          <a:blip r:embed="rId1"/>
          <a:srcRect t="39746" b="39746"/>
          <a:stretch>
            <a:fillRect/>
          </a:stretch>
        </p:blipFill>
        <p:spPr>
          <a:xfrm>
            <a:off x="553331" y="4336243"/>
            <a:ext cx="11085209" cy="1729362"/>
          </a:xfrm>
          <a:prstGeom prst="roundRect">
            <a:avLst>
              <a:gd name="adj" fmla="val 4783"/>
            </a:avLst>
          </a:prstGeom>
          <a:ln w="12700">
            <a:noFill/>
            <a:prstDash val="solid"/>
          </a:ln>
        </p:spPr>
      </p:pic>
      <p:sp>
        <p:nvSpPr>
          <p:cNvPr id="26" name="AutoShape 26"/>
          <p:cNvSpPr/>
          <p:nvPr/>
        </p:nvSpPr>
        <p:spPr>
          <a:xfrm>
            <a:off x="553331" y="6134771"/>
            <a:ext cx="11145736" cy="172936"/>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0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Image source: The New Stack</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9928" y="611528"/>
            <a:ext cx="6320264"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Why Contribute to Open Source?</a:t>
            </a:r>
            <a:endParaRPr lang="en-US" sz="1100"/>
          </a:p>
        </p:txBody>
      </p:sp>
      <p:sp>
        <p:nvSpPr>
          <p:cNvPr id="3" name="Freeform 3"/>
          <p:cNvSpPr/>
          <p:nvPr/>
        </p:nvSpPr>
        <p:spPr>
          <a:xfrm>
            <a:off x="380956" y="164088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501220" y="1772787"/>
            <a:ext cx="216656" cy="193253"/>
          </a:xfrm>
          <a:custGeom>
            <a:avLst/>
            <a:gdLst/>
            <a:ahLst/>
            <a:cxnLst/>
            <a:rect l="l" t="t" r="r" b="b"/>
            <a:pathLst>
              <a:path w="216656" h="193253">
                <a:moveTo>
                  <a:pt x="135396" y="1823"/>
                </a:moveTo>
                <a:cubicBezTo>
                  <a:pt x="129071" y="0"/>
                  <a:pt x="122485" y="3685"/>
                  <a:pt x="120663" y="10009"/>
                </a:cubicBezTo>
                <a:lnTo>
                  <a:pt x="73038" y="176697"/>
                </a:lnTo>
                <a:cubicBezTo>
                  <a:pt x="71214" y="183023"/>
                  <a:pt x="74897" y="189608"/>
                  <a:pt x="81223" y="191431"/>
                </a:cubicBezTo>
                <a:cubicBezTo>
                  <a:pt x="87549" y="193254"/>
                  <a:pt x="94134" y="189569"/>
                  <a:pt x="95957" y="183245"/>
                </a:cubicBezTo>
                <a:lnTo>
                  <a:pt x="143582" y="16557"/>
                </a:lnTo>
                <a:cubicBezTo>
                  <a:pt x="145405" y="10231"/>
                  <a:pt x="141720" y="3646"/>
                  <a:pt x="135396" y="1823"/>
                </a:cubicBezTo>
                <a:close/>
                <a:moveTo>
                  <a:pt x="159432" y="52461"/>
                </a:moveTo>
                <a:cubicBezTo>
                  <a:pt x="154781" y="57113"/>
                  <a:pt x="154781" y="64666"/>
                  <a:pt x="159432" y="69317"/>
                </a:cubicBezTo>
                <a:lnTo>
                  <a:pt x="186742" y="96627"/>
                </a:lnTo>
                <a:lnTo>
                  <a:pt x="159432" y="123937"/>
                </a:lnTo>
                <a:cubicBezTo>
                  <a:pt x="154781" y="128588"/>
                  <a:pt x="154781" y="136141"/>
                  <a:pt x="159432" y="140793"/>
                </a:cubicBezTo>
                <a:cubicBezTo>
                  <a:pt x="164083" y="145443"/>
                  <a:pt x="171637" y="145443"/>
                  <a:pt x="176286" y="140793"/>
                </a:cubicBezTo>
                <a:lnTo>
                  <a:pt x="212005" y="105072"/>
                </a:lnTo>
                <a:cubicBezTo>
                  <a:pt x="216655" y="100422"/>
                  <a:pt x="216655" y="92869"/>
                  <a:pt x="212005" y="88218"/>
                </a:cubicBezTo>
                <a:lnTo>
                  <a:pt x="176286" y="52500"/>
                </a:lnTo>
                <a:cubicBezTo>
                  <a:pt x="171637" y="47849"/>
                  <a:pt x="164083" y="47849"/>
                  <a:pt x="159432" y="52500"/>
                </a:cubicBezTo>
                <a:close/>
                <a:moveTo>
                  <a:pt x="57224" y="52461"/>
                </a:moveTo>
                <a:cubicBezTo>
                  <a:pt x="52573" y="47811"/>
                  <a:pt x="45020" y="47811"/>
                  <a:pt x="40369" y="52461"/>
                </a:cubicBezTo>
                <a:lnTo>
                  <a:pt x="4651" y="88181"/>
                </a:lnTo>
                <a:cubicBezTo>
                  <a:pt x="0" y="92832"/>
                  <a:pt x="0" y="100385"/>
                  <a:pt x="4651" y="105036"/>
                </a:cubicBezTo>
                <a:lnTo>
                  <a:pt x="40369" y="140754"/>
                </a:lnTo>
                <a:cubicBezTo>
                  <a:pt x="45020" y="145405"/>
                  <a:pt x="52573" y="145405"/>
                  <a:pt x="57224" y="140754"/>
                </a:cubicBezTo>
                <a:cubicBezTo>
                  <a:pt x="61876" y="136104"/>
                  <a:pt x="61876" y="128551"/>
                  <a:pt x="57224" y="123900"/>
                </a:cubicBezTo>
                <a:lnTo>
                  <a:pt x="29913" y="96627"/>
                </a:lnTo>
                <a:lnTo>
                  <a:pt x="57187" y="69317"/>
                </a:lnTo>
                <a:cubicBezTo>
                  <a:pt x="61837" y="64666"/>
                  <a:pt x="61837" y="57113"/>
                  <a:pt x="57187" y="52461"/>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952351" y="1717077"/>
            <a:ext cx="3305139"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Technical Growth</a:t>
            </a:r>
            <a:endParaRPr lang="en-US" sz="1100"/>
          </a:p>
        </p:txBody>
      </p:sp>
      <p:sp>
        <p:nvSpPr>
          <p:cNvPr id="6" name="Freeform 6"/>
          <p:cNvSpPr/>
          <p:nvPr/>
        </p:nvSpPr>
        <p:spPr>
          <a:xfrm>
            <a:off x="1018297" y="2306570"/>
            <a:ext cx="68551" cy="116205"/>
          </a:xfrm>
          <a:custGeom>
            <a:avLst/>
            <a:gdLst/>
            <a:ahLst/>
            <a:cxnLst/>
            <a:rect l="l" t="t" r="r" b="b"/>
            <a:pathLst>
              <a:path w="68551" h="116205">
                <a:moveTo>
                  <a:pt x="64830" y="51376"/>
                </a:moveTo>
                <a:cubicBezTo>
                  <a:pt x="68551" y="55097"/>
                  <a:pt x="68551" y="61140"/>
                  <a:pt x="64830" y="64859"/>
                </a:cubicBezTo>
                <a:lnTo>
                  <a:pt x="17205" y="112484"/>
                </a:lnTo>
                <a:cubicBezTo>
                  <a:pt x="13484" y="116205"/>
                  <a:pt x="7442" y="116205"/>
                  <a:pt x="3721" y="112484"/>
                </a:cubicBezTo>
                <a:cubicBezTo>
                  <a:pt x="0" y="108765"/>
                  <a:pt x="0" y="102722"/>
                  <a:pt x="3721" y="99001"/>
                </a:cubicBezTo>
                <a:lnTo>
                  <a:pt x="44619" y="58103"/>
                </a:lnTo>
                <a:lnTo>
                  <a:pt x="3750" y="17205"/>
                </a:lnTo>
                <a:cubicBezTo>
                  <a:pt x="31" y="13484"/>
                  <a:pt x="31" y="7441"/>
                  <a:pt x="3750" y="3722"/>
                </a:cubicBezTo>
                <a:cubicBezTo>
                  <a:pt x="7471" y="0"/>
                  <a:pt x="13514" y="0"/>
                  <a:pt x="17235" y="3722"/>
                </a:cubicBezTo>
                <a:lnTo>
                  <a:pt x="64860" y="5134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1257115" y="2250413"/>
            <a:ext cx="5879329" cy="259939"/>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Read real-world industrial code and learn best coding practices</a:t>
            </a:r>
            <a:endParaRPr lang="en-US" sz="1100"/>
          </a:p>
        </p:txBody>
      </p:sp>
      <p:sp>
        <p:nvSpPr>
          <p:cNvPr id="8" name="Freeform 8"/>
          <p:cNvSpPr/>
          <p:nvPr/>
        </p:nvSpPr>
        <p:spPr>
          <a:xfrm>
            <a:off x="1018297" y="2687526"/>
            <a:ext cx="68551" cy="116205"/>
          </a:xfrm>
          <a:custGeom>
            <a:avLst/>
            <a:gdLst/>
            <a:ahLst/>
            <a:cxnLst/>
            <a:rect l="l" t="t" r="r" b="b"/>
            <a:pathLst>
              <a:path w="68551" h="116205">
                <a:moveTo>
                  <a:pt x="64830" y="51375"/>
                </a:moveTo>
                <a:cubicBezTo>
                  <a:pt x="68551" y="55096"/>
                  <a:pt x="68551" y="61139"/>
                  <a:pt x="64830" y="64858"/>
                </a:cubicBezTo>
                <a:lnTo>
                  <a:pt x="17205" y="112483"/>
                </a:lnTo>
                <a:cubicBezTo>
                  <a:pt x="13484" y="116204"/>
                  <a:pt x="7442" y="116204"/>
                  <a:pt x="3721" y="112483"/>
                </a:cubicBezTo>
                <a:cubicBezTo>
                  <a:pt x="0" y="108764"/>
                  <a:pt x="0" y="102721"/>
                  <a:pt x="3721" y="99000"/>
                </a:cubicBezTo>
                <a:lnTo>
                  <a:pt x="44619" y="58102"/>
                </a:lnTo>
                <a:lnTo>
                  <a:pt x="3750" y="17204"/>
                </a:lnTo>
                <a:cubicBezTo>
                  <a:pt x="31" y="13483"/>
                  <a:pt x="31" y="7440"/>
                  <a:pt x="3750" y="3721"/>
                </a:cubicBezTo>
                <a:cubicBezTo>
                  <a:pt x="7471" y="0"/>
                  <a:pt x="13514" y="0"/>
                  <a:pt x="17235" y="3721"/>
                </a:cubicBezTo>
                <a:lnTo>
                  <a:pt x="64860" y="51346"/>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1257116" y="2631370"/>
            <a:ext cx="5439317" cy="342855"/>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Learn large-scale system architecture design principles</a:t>
            </a:r>
            <a:endParaRPr lang="en-US" sz="1100"/>
          </a:p>
        </p:txBody>
      </p:sp>
      <p:sp>
        <p:nvSpPr>
          <p:cNvPr id="10" name="Freeform 10"/>
          <p:cNvSpPr/>
          <p:nvPr/>
        </p:nvSpPr>
        <p:spPr>
          <a:xfrm>
            <a:off x="1018297" y="3068482"/>
            <a:ext cx="68551" cy="116205"/>
          </a:xfrm>
          <a:custGeom>
            <a:avLst/>
            <a:gdLst/>
            <a:ahLst/>
            <a:cxnLst/>
            <a:rect l="l" t="t" r="r" b="b"/>
            <a:pathLst>
              <a:path w="68551" h="116205">
                <a:moveTo>
                  <a:pt x="64830" y="51375"/>
                </a:moveTo>
                <a:cubicBezTo>
                  <a:pt x="68551" y="55096"/>
                  <a:pt x="68551" y="61139"/>
                  <a:pt x="64830" y="64858"/>
                </a:cubicBezTo>
                <a:lnTo>
                  <a:pt x="17205" y="112483"/>
                </a:lnTo>
                <a:cubicBezTo>
                  <a:pt x="13484" y="116204"/>
                  <a:pt x="7442" y="116204"/>
                  <a:pt x="3721" y="112483"/>
                </a:cubicBezTo>
                <a:cubicBezTo>
                  <a:pt x="0" y="108764"/>
                  <a:pt x="0" y="102721"/>
                  <a:pt x="3721" y="99000"/>
                </a:cubicBezTo>
                <a:lnTo>
                  <a:pt x="44619" y="58102"/>
                </a:lnTo>
                <a:lnTo>
                  <a:pt x="3750" y="17204"/>
                </a:lnTo>
                <a:cubicBezTo>
                  <a:pt x="31" y="13483"/>
                  <a:pt x="31" y="7440"/>
                  <a:pt x="3750" y="3721"/>
                </a:cubicBezTo>
                <a:cubicBezTo>
                  <a:pt x="7471" y="0"/>
                  <a:pt x="13514" y="0"/>
                  <a:pt x="17235" y="3721"/>
                </a:cubicBezTo>
                <a:lnTo>
                  <a:pt x="64860" y="51346"/>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1257116" y="3012325"/>
            <a:ext cx="5191810" cy="60956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Master collaborative development workflows and best practices</a:t>
            </a:r>
            <a:endParaRPr lang="en-US" sz="1100"/>
          </a:p>
        </p:txBody>
      </p:sp>
      <p:sp>
        <p:nvSpPr>
          <p:cNvPr id="12" name="Freeform 12"/>
          <p:cNvSpPr/>
          <p:nvPr/>
        </p:nvSpPr>
        <p:spPr>
          <a:xfrm>
            <a:off x="380956" y="358379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514279" y="3717074"/>
            <a:ext cx="190500" cy="178594"/>
          </a:xfrm>
          <a:custGeom>
            <a:avLst/>
            <a:gdLst/>
            <a:ahLst/>
            <a:cxnLst/>
            <a:rect l="l" t="t" r="r" b="b"/>
            <a:pathLst>
              <a:path w="190500" h="178594">
                <a:moveTo>
                  <a:pt x="74414" y="17859"/>
                </a:moveTo>
                <a:lnTo>
                  <a:pt x="116086" y="17859"/>
                </a:lnTo>
                <a:cubicBezTo>
                  <a:pt x="117723" y="17859"/>
                  <a:pt x="119063" y="19199"/>
                  <a:pt x="119063" y="20836"/>
                </a:cubicBezTo>
                <a:lnTo>
                  <a:pt x="119063" y="35719"/>
                </a:lnTo>
                <a:lnTo>
                  <a:pt x="71437" y="35719"/>
                </a:lnTo>
                <a:lnTo>
                  <a:pt x="71437" y="20836"/>
                </a:lnTo>
                <a:cubicBezTo>
                  <a:pt x="71437" y="19199"/>
                  <a:pt x="72777" y="17859"/>
                  <a:pt x="74414" y="17859"/>
                </a:cubicBezTo>
                <a:close/>
                <a:moveTo>
                  <a:pt x="53577" y="20836"/>
                </a:moveTo>
                <a:lnTo>
                  <a:pt x="53577" y="35719"/>
                </a:lnTo>
                <a:lnTo>
                  <a:pt x="23813" y="35719"/>
                </a:lnTo>
                <a:cubicBezTo>
                  <a:pt x="10678" y="35719"/>
                  <a:pt x="0" y="46397"/>
                  <a:pt x="0" y="59531"/>
                </a:cubicBezTo>
                <a:lnTo>
                  <a:pt x="0" y="95250"/>
                </a:lnTo>
                <a:lnTo>
                  <a:pt x="190500" y="95250"/>
                </a:lnTo>
                <a:lnTo>
                  <a:pt x="190500" y="59531"/>
                </a:lnTo>
                <a:cubicBezTo>
                  <a:pt x="190500" y="46397"/>
                  <a:pt x="179822" y="35719"/>
                  <a:pt x="166687" y="35719"/>
                </a:cubicBezTo>
                <a:lnTo>
                  <a:pt x="136923" y="35719"/>
                </a:lnTo>
                <a:lnTo>
                  <a:pt x="136923" y="20836"/>
                </a:lnTo>
                <a:cubicBezTo>
                  <a:pt x="136923" y="9340"/>
                  <a:pt x="127583" y="0"/>
                  <a:pt x="116086" y="0"/>
                </a:cubicBezTo>
                <a:lnTo>
                  <a:pt x="74414" y="0"/>
                </a:lnTo>
                <a:cubicBezTo>
                  <a:pt x="62917" y="0"/>
                  <a:pt x="53577" y="9340"/>
                  <a:pt x="53577" y="20836"/>
                </a:cubicBezTo>
                <a:close/>
                <a:moveTo>
                  <a:pt x="190500" y="113109"/>
                </a:moveTo>
                <a:lnTo>
                  <a:pt x="119063" y="113109"/>
                </a:lnTo>
                <a:lnTo>
                  <a:pt x="119063" y="119062"/>
                </a:lnTo>
                <a:cubicBezTo>
                  <a:pt x="119063" y="125647"/>
                  <a:pt x="113742" y="130969"/>
                  <a:pt x="107156" y="130969"/>
                </a:cubicBezTo>
                <a:lnTo>
                  <a:pt x="83344" y="130969"/>
                </a:lnTo>
                <a:cubicBezTo>
                  <a:pt x="76758" y="130969"/>
                  <a:pt x="71437" y="125647"/>
                  <a:pt x="71437" y="119062"/>
                </a:cubicBezTo>
                <a:lnTo>
                  <a:pt x="71437" y="113109"/>
                </a:lnTo>
                <a:lnTo>
                  <a:pt x="0" y="113109"/>
                </a:lnTo>
                <a:lnTo>
                  <a:pt x="0" y="154781"/>
                </a:lnTo>
                <a:cubicBezTo>
                  <a:pt x="0" y="167916"/>
                  <a:pt x="10678" y="178594"/>
                  <a:pt x="23813" y="178594"/>
                </a:cubicBezTo>
                <a:lnTo>
                  <a:pt x="166687" y="178594"/>
                </a:lnTo>
                <a:cubicBezTo>
                  <a:pt x="179822" y="178594"/>
                  <a:pt x="190500" y="167916"/>
                  <a:pt x="190500" y="154781"/>
                </a:cubicBezTo>
                <a:lnTo>
                  <a:pt x="190500" y="113109"/>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952352" y="3659987"/>
            <a:ext cx="3705516"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Career Development</a:t>
            </a:r>
            <a:endParaRPr lang="en-US" sz="1100"/>
          </a:p>
        </p:txBody>
      </p:sp>
      <p:sp>
        <p:nvSpPr>
          <p:cNvPr id="15" name="Freeform 15"/>
          <p:cNvSpPr/>
          <p:nvPr/>
        </p:nvSpPr>
        <p:spPr>
          <a:xfrm>
            <a:off x="1018297" y="4249480"/>
            <a:ext cx="68551" cy="116205"/>
          </a:xfrm>
          <a:custGeom>
            <a:avLst/>
            <a:gdLst/>
            <a:ahLst/>
            <a:cxnLst/>
            <a:rect l="l" t="t" r="r" b="b"/>
            <a:pathLst>
              <a:path w="68551" h="116205">
                <a:moveTo>
                  <a:pt x="64830" y="51375"/>
                </a:moveTo>
                <a:cubicBezTo>
                  <a:pt x="68551" y="55096"/>
                  <a:pt x="68551" y="61139"/>
                  <a:pt x="64830" y="64858"/>
                </a:cubicBezTo>
                <a:lnTo>
                  <a:pt x="17205" y="112483"/>
                </a:lnTo>
                <a:cubicBezTo>
                  <a:pt x="13484" y="116204"/>
                  <a:pt x="7442" y="116204"/>
                  <a:pt x="3721" y="112483"/>
                </a:cubicBezTo>
                <a:cubicBezTo>
                  <a:pt x="0" y="108764"/>
                  <a:pt x="0" y="102721"/>
                  <a:pt x="3721" y="99000"/>
                </a:cubicBezTo>
                <a:lnTo>
                  <a:pt x="44619" y="58102"/>
                </a:lnTo>
                <a:lnTo>
                  <a:pt x="3750" y="17204"/>
                </a:lnTo>
                <a:cubicBezTo>
                  <a:pt x="31" y="13483"/>
                  <a:pt x="31" y="7440"/>
                  <a:pt x="3750" y="3721"/>
                </a:cubicBezTo>
                <a:cubicBezTo>
                  <a:pt x="7471" y="0"/>
                  <a:pt x="13514" y="0"/>
                  <a:pt x="17235" y="3721"/>
                </a:cubicBezTo>
                <a:lnTo>
                  <a:pt x="64860" y="51346"/>
                </a:ln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1257116" y="4158139"/>
            <a:ext cx="6174962" cy="34285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GitHub open source contributions become your technical portfolio</a:t>
            </a:r>
            <a:endParaRPr lang="en-US" sz="1100"/>
          </a:p>
        </p:txBody>
      </p:sp>
      <p:sp>
        <p:nvSpPr>
          <p:cNvPr id="17" name="Freeform 17"/>
          <p:cNvSpPr/>
          <p:nvPr/>
        </p:nvSpPr>
        <p:spPr>
          <a:xfrm>
            <a:off x="1018297" y="4630436"/>
            <a:ext cx="68551" cy="116205"/>
          </a:xfrm>
          <a:custGeom>
            <a:avLst/>
            <a:gdLst/>
            <a:ahLst/>
            <a:cxnLst/>
            <a:rect l="l" t="t" r="r" b="b"/>
            <a:pathLst>
              <a:path w="68551" h="116205">
                <a:moveTo>
                  <a:pt x="64830" y="51375"/>
                </a:moveTo>
                <a:cubicBezTo>
                  <a:pt x="68551" y="55096"/>
                  <a:pt x="68551" y="61139"/>
                  <a:pt x="64830" y="64858"/>
                </a:cubicBezTo>
                <a:lnTo>
                  <a:pt x="17205" y="112483"/>
                </a:lnTo>
                <a:cubicBezTo>
                  <a:pt x="13484" y="116204"/>
                  <a:pt x="7442" y="116204"/>
                  <a:pt x="3721" y="112483"/>
                </a:cubicBezTo>
                <a:cubicBezTo>
                  <a:pt x="0" y="108764"/>
                  <a:pt x="0" y="102721"/>
                  <a:pt x="3721" y="99000"/>
                </a:cubicBezTo>
                <a:lnTo>
                  <a:pt x="44619" y="58102"/>
                </a:lnTo>
                <a:lnTo>
                  <a:pt x="3750" y="17204"/>
                </a:lnTo>
                <a:cubicBezTo>
                  <a:pt x="31" y="13483"/>
                  <a:pt x="31" y="7440"/>
                  <a:pt x="3750" y="3721"/>
                </a:cubicBezTo>
                <a:cubicBezTo>
                  <a:pt x="7471" y="0"/>
                  <a:pt x="13514" y="0"/>
                  <a:pt x="17235" y="3721"/>
                </a:cubicBezTo>
                <a:lnTo>
                  <a:pt x="64860" y="51346"/>
                </a:ln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1257116" y="4498060"/>
            <a:ext cx="5349940" cy="38095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Significantly boosts resume value and competitiveness</a:t>
            </a:r>
            <a:endParaRPr lang="en-US" sz="1100"/>
          </a:p>
        </p:txBody>
      </p:sp>
      <p:sp>
        <p:nvSpPr>
          <p:cNvPr id="19" name="Freeform 19"/>
          <p:cNvSpPr/>
          <p:nvPr/>
        </p:nvSpPr>
        <p:spPr>
          <a:xfrm>
            <a:off x="1018297" y="5011392"/>
            <a:ext cx="68551" cy="116205"/>
          </a:xfrm>
          <a:custGeom>
            <a:avLst/>
            <a:gdLst/>
            <a:ahLst/>
            <a:cxnLst/>
            <a:rect l="l" t="t" r="r" b="b"/>
            <a:pathLst>
              <a:path w="68551" h="116205">
                <a:moveTo>
                  <a:pt x="64830" y="51375"/>
                </a:moveTo>
                <a:cubicBezTo>
                  <a:pt x="68551" y="55096"/>
                  <a:pt x="68551" y="61139"/>
                  <a:pt x="64830" y="64858"/>
                </a:cubicBezTo>
                <a:lnTo>
                  <a:pt x="17205" y="112483"/>
                </a:lnTo>
                <a:cubicBezTo>
                  <a:pt x="13484" y="116204"/>
                  <a:pt x="7442" y="116204"/>
                  <a:pt x="3721" y="112483"/>
                </a:cubicBezTo>
                <a:cubicBezTo>
                  <a:pt x="0" y="108764"/>
                  <a:pt x="0" y="102721"/>
                  <a:pt x="3721" y="99000"/>
                </a:cubicBezTo>
                <a:lnTo>
                  <a:pt x="44619" y="58102"/>
                </a:lnTo>
                <a:lnTo>
                  <a:pt x="3750" y="17204"/>
                </a:lnTo>
                <a:cubicBezTo>
                  <a:pt x="31" y="13483"/>
                  <a:pt x="31" y="7440"/>
                  <a:pt x="3750" y="3721"/>
                </a:cubicBezTo>
                <a:cubicBezTo>
                  <a:pt x="7471" y="0"/>
                  <a:pt x="13514" y="0"/>
                  <a:pt x="17235" y="3721"/>
                </a:cubicBezTo>
                <a:lnTo>
                  <a:pt x="64860" y="51346"/>
                </a:ln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1257116" y="4818508"/>
            <a:ext cx="6546222" cy="50197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Build influence and network connections in the tech community</a:t>
            </a:r>
            <a:endParaRPr lang="en-US" sz="1100"/>
          </a:p>
        </p:txBody>
      </p:sp>
      <p:pic>
        <p:nvPicPr>
          <p:cNvPr id="21" name="Picture 21"/>
          <p:cNvPicPr>
            <a:picLocks noChangeAspect="1"/>
          </p:cNvPicPr>
          <p:nvPr/>
        </p:nvPicPr>
        <p:blipFill>
          <a:blip r:embed="rId1"/>
          <a:srcRect l="169" r="170"/>
          <a:stretch>
            <a:fillRect/>
          </a:stretch>
        </p:blipFill>
        <p:spPr>
          <a:xfrm>
            <a:off x="7524780" y="2704673"/>
            <a:ext cx="4286250" cy="1114425"/>
          </a:xfrm>
          <a:prstGeom prst="roundRect">
            <a:avLst>
              <a:gd name="adj" fmla="val 6838"/>
            </a:avLst>
          </a:prstGeom>
          <a:ln w="12700">
            <a:noFill/>
            <a:prstDash val="solid"/>
          </a:ln>
        </p:spPr>
      </p:pic>
      <p:sp>
        <p:nvSpPr>
          <p:cNvPr id="22" name="AutoShape 22"/>
          <p:cNvSpPr/>
          <p:nvPr/>
        </p:nvSpPr>
        <p:spPr>
          <a:xfrm>
            <a:off x="7491442" y="3967639"/>
            <a:ext cx="435292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Image source: GitHub Docs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9928" y="611528"/>
            <a:ext cx="5299810"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Open Source Collaboration Tools</a:t>
            </a:r>
            <a:endParaRPr lang="en-US" sz="1100"/>
          </a:p>
        </p:txBody>
      </p:sp>
      <p:sp>
        <p:nvSpPr>
          <p:cNvPr id="3" name="Freeform 3"/>
          <p:cNvSpPr/>
          <p:nvPr/>
        </p:nvSpPr>
        <p:spPr>
          <a:xfrm>
            <a:off x="390433" y="1650364"/>
            <a:ext cx="5543455" cy="2228755"/>
          </a:xfrm>
          <a:custGeom>
            <a:avLst/>
            <a:gdLst/>
            <a:ahLst/>
            <a:cxnLst/>
            <a:rect l="l" t="t" r="r" b="b"/>
            <a:pathLst>
              <a:path w="5543455" h="2228755">
                <a:moveTo>
                  <a:pt x="76201" y="0"/>
                </a:moveTo>
                <a:lnTo>
                  <a:pt x="5467253" y="0"/>
                </a:lnTo>
                <a:cubicBezTo>
                  <a:pt x="5509339" y="0"/>
                  <a:pt x="5543455" y="34116"/>
                  <a:pt x="5543455" y="76201"/>
                </a:cubicBezTo>
                <a:lnTo>
                  <a:pt x="5543455" y="2152553"/>
                </a:lnTo>
                <a:cubicBezTo>
                  <a:pt x="5543455" y="2194639"/>
                  <a:pt x="5509339" y="2228755"/>
                  <a:pt x="5467253" y="2228755"/>
                </a:cubicBezTo>
                <a:lnTo>
                  <a:pt x="76201" y="2228755"/>
                </a:lnTo>
                <a:cubicBezTo>
                  <a:pt x="34116" y="2228755"/>
                  <a:pt x="0" y="2194639"/>
                  <a:pt x="0" y="2152553"/>
                </a:cubicBezTo>
                <a:lnTo>
                  <a:pt x="0" y="76201"/>
                </a:lnTo>
                <a:cubicBezTo>
                  <a:pt x="0" y="34116"/>
                  <a:pt x="34116" y="0"/>
                  <a:pt x="76201" y="0"/>
                </a:cubicBezTo>
                <a:close/>
              </a:path>
            </a:pathLst>
          </a:custGeom>
          <a:solidFill>
            <a:srgbClr val="000000">
              <a:alpha val="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4" name="Freeform 4"/>
          <p:cNvSpPr/>
          <p:nvPr/>
        </p:nvSpPr>
        <p:spPr>
          <a:xfrm>
            <a:off x="692778" y="1909844"/>
            <a:ext cx="300038" cy="300038"/>
          </a:xfrm>
          <a:custGeom>
            <a:avLst/>
            <a:gdLst/>
            <a:ahLst/>
            <a:cxnLst/>
            <a:rect l="l" t="t" r="r" b="b"/>
            <a:pathLst>
              <a:path w="300038" h="300038">
                <a:moveTo>
                  <a:pt x="294411" y="136692"/>
                </a:moveTo>
                <a:lnTo>
                  <a:pt x="163413" y="5692"/>
                </a:lnTo>
                <a:cubicBezTo>
                  <a:pt x="159796" y="2009"/>
                  <a:pt x="154841" y="0"/>
                  <a:pt x="149751" y="0"/>
                </a:cubicBezTo>
                <a:cubicBezTo>
                  <a:pt x="144661" y="0"/>
                  <a:pt x="139705" y="2009"/>
                  <a:pt x="136088" y="5626"/>
                </a:cubicBezTo>
                <a:lnTo>
                  <a:pt x="108831" y="32817"/>
                </a:lnTo>
                <a:lnTo>
                  <a:pt x="143321" y="67308"/>
                </a:lnTo>
                <a:cubicBezTo>
                  <a:pt x="161472" y="61213"/>
                  <a:pt x="178617" y="78559"/>
                  <a:pt x="172389" y="96575"/>
                </a:cubicBezTo>
                <a:lnTo>
                  <a:pt x="205673" y="129860"/>
                </a:lnTo>
                <a:cubicBezTo>
                  <a:pt x="228578" y="121957"/>
                  <a:pt x="246659" y="150622"/>
                  <a:pt x="229448" y="167835"/>
                </a:cubicBezTo>
                <a:cubicBezTo>
                  <a:pt x="211701" y="185582"/>
                  <a:pt x="182434" y="165891"/>
                  <a:pt x="191944" y="142852"/>
                </a:cubicBezTo>
                <a:lnTo>
                  <a:pt x="160934" y="111845"/>
                </a:lnTo>
                <a:lnTo>
                  <a:pt x="160934" y="193483"/>
                </a:lnTo>
                <a:cubicBezTo>
                  <a:pt x="177879" y="201857"/>
                  <a:pt x="175870" y="221479"/>
                  <a:pt x="167030" y="230319"/>
                </a:cubicBezTo>
                <a:cubicBezTo>
                  <a:pt x="162744" y="234605"/>
                  <a:pt x="156850" y="237083"/>
                  <a:pt x="150755" y="237083"/>
                </a:cubicBezTo>
                <a:cubicBezTo>
                  <a:pt x="144661" y="237083"/>
                  <a:pt x="138834" y="234672"/>
                  <a:pt x="134482" y="230319"/>
                </a:cubicBezTo>
                <a:cubicBezTo>
                  <a:pt x="122693" y="218532"/>
                  <a:pt x="127047" y="198909"/>
                  <a:pt x="141982" y="192815"/>
                </a:cubicBezTo>
                <a:lnTo>
                  <a:pt x="141982" y="110438"/>
                </a:lnTo>
                <a:cubicBezTo>
                  <a:pt x="128052" y="104745"/>
                  <a:pt x="125506" y="89878"/>
                  <a:pt x="129525" y="80300"/>
                </a:cubicBezTo>
                <a:lnTo>
                  <a:pt x="95503" y="46210"/>
                </a:lnTo>
                <a:lnTo>
                  <a:pt x="5693" y="136022"/>
                </a:lnTo>
                <a:cubicBezTo>
                  <a:pt x="2009" y="139705"/>
                  <a:pt x="0" y="144594"/>
                  <a:pt x="0" y="149684"/>
                </a:cubicBezTo>
                <a:cubicBezTo>
                  <a:pt x="0" y="154774"/>
                  <a:pt x="2009" y="159729"/>
                  <a:pt x="5693" y="163346"/>
                </a:cubicBezTo>
                <a:lnTo>
                  <a:pt x="136691" y="294412"/>
                </a:lnTo>
                <a:cubicBezTo>
                  <a:pt x="140308" y="298029"/>
                  <a:pt x="145197" y="300038"/>
                  <a:pt x="150354" y="300038"/>
                </a:cubicBezTo>
                <a:cubicBezTo>
                  <a:pt x="155512" y="300038"/>
                  <a:pt x="160400" y="298029"/>
                  <a:pt x="164015" y="294412"/>
                </a:cubicBezTo>
                <a:lnTo>
                  <a:pt x="294411" y="164016"/>
                </a:lnTo>
                <a:cubicBezTo>
                  <a:pt x="298028" y="160400"/>
                  <a:pt x="300038" y="155444"/>
                  <a:pt x="300038" y="150354"/>
                </a:cubicBezTo>
                <a:cubicBezTo>
                  <a:pt x="300038" y="145264"/>
                  <a:pt x="298028" y="140309"/>
                  <a:pt x="294411" y="13669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1171300" y="1907516"/>
            <a:ext cx="44767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Git</a:t>
            </a:r>
            <a:endParaRPr lang="en-US" sz="1100"/>
          </a:p>
        </p:txBody>
      </p:sp>
      <p:sp>
        <p:nvSpPr>
          <p:cNvPr id="6" name="AutoShape 6"/>
          <p:cNvSpPr/>
          <p:nvPr/>
        </p:nvSpPr>
        <p:spPr>
          <a:xfrm>
            <a:off x="628484" y="2383692"/>
            <a:ext cx="51530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Distributed Version Control System</a:t>
            </a:r>
            <a:endParaRPr lang="en-US" sz="1100"/>
          </a:p>
        </p:txBody>
      </p:sp>
      <p:sp>
        <p:nvSpPr>
          <p:cNvPr id="7" name="Freeform 7"/>
          <p:cNvSpPr/>
          <p:nvPr/>
        </p:nvSpPr>
        <p:spPr>
          <a:xfrm>
            <a:off x="656136" y="2853693"/>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6" y="124301"/>
                  <a:pt x="41821" y="122336"/>
                </a:cubicBezTo>
                <a:lnTo>
                  <a:pt x="3721" y="84236"/>
                </a:lnTo>
                <a:cubicBezTo>
                  <a:pt x="0" y="80515"/>
                  <a:pt x="0" y="74472"/>
                  <a:pt x="3721" y="70753"/>
                </a:cubicBezTo>
                <a:cubicBezTo>
                  <a:pt x="7442" y="67032"/>
                  <a:pt x="13485" y="67032"/>
                  <a:pt x="17204" y="70753"/>
                </a:cubicBezTo>
                <a:lnTo>
                  <a:pt x="47416" y="100965"/>
                </a:lnTo>
                <a:lnTo>
                  <a:pt x="117068" y="5208"/>
                </a:lnTo>
                <a:cubicBezTo>
                  <a:pt x="120165" y="952"/>
                  <a:pt x="126117" y="0"/>
                  <a:pt x="130374" y="3095"/>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876134" y="2802780"/>
            <a:ext cx="48958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Manage code version changes</a:t>
            </a:r>
            <a:endParaRPr lang="en-US" sz="1100"/>
          </a:p>
        </p:txBody>
      </p:sp>
      <p:sp>
        <p:nvSpPr>
          <p:cNvPr id="9" name="Freeform 9"/>
          <p:cNvSpPr/>
          <p:nvPr/>
        </p:nvSpPr>
        <p:spPr>
          <a:xfrm>
            <a:off x="656136" y="3158459"/>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6" y="124301"/>
                  <a:pt x="41821" y="122336"/>
                </a:cubicBezTo>
                <a:lnTo>
                  <a:pt x="3721" y="84236"/>
                </a:lnTo>
                <a:cubicBezTo>
                  <a:pt x="0" y="80515"/>
                  <a:pt x="0" y="74472"/>
                  <a:pt x="3721" y="70753"/>
                </a:cubicBezTo>
                <a:cubicBezTo>
                  <a:pt x="7442" y="67032"/>
                  <a:pt x="13485" y="67032"/>
                  <a:pt x="17204" y="70753"/>
                </a:cubicBezTo>
                <a:lnTo>
                  <a:pt x="47416" y="100965"/>
                </a:lnTo>
                <a:lnTo>
                  <a:pt x="117068" y="5208"/>
                </a:lnTo>
                <a:cubicBezTo>
                  <a:pt x="120165" y="952"/>
                  <a:pt x="126117" y="0"/>
                  <a:pt x="130374" y="3095"/>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876134" y="3107545"/>
            <a:ext cx="48958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Supports branch-based development</a:t>
            </a:r>
            <a:endParaRPr lang="en-US" sz="1100"/>
          </a:p>
        </p:txBody>
      </p:sp>
      <p:sp>
        <p:nvSpPr>
          <p:cNvPr id="11" name="Freeform 11"/>
          <p:cNvSpPr/>
          <p:nvPr/>
        </p:nvSpPr>
        <p:spPr>
          <a:xfrm>
            <a:off x="656136" y="3463221"/>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6" y="124301"/>
                  <a:pt x="41821" y="122336"/>
                </a:cubicBezTo>
                <a:lnTo>
                  <a:pt x="3721" y="84236"/>
                </a:lnTo>
                <a:cubicBezTo>
                  <a:pt x="0" y="80515"/>
                  <a:pt x="0" y="74472"/>
                  <a:pt x="3721" y="70753"/>
                </a:cubicBezTo>
                <a:cubicBezTo>
                  <a:pt x="7442" y="67031"/>
                  <a:pt x="13485" y="67031"/>
                  <a:pt x="17204" y="70753"/>
                </a:cubicBezTo>
                <a:lnTo>
                  <a:pt x="47416" y="100965"/>
                </a:lnTo>
                <a:lnTo>
                  <a:pt x="117068" y="5208"/>
                </a:lnTo>
                <a:cubicBezTo>
                  <a:pt x="120165" y="952"/>
                  <a:pt x="126117" y="0"/>
                  <a:pt x="130374" y="3095"/>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876134" y="3412310"/>
            <a:ext cx="48958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Track modification history</a:t>
            </a:r>
            <a:endParaRPr lang="en-US" sz="1100"/>
          </a:p>
        </p:txBody>
      </p:sp>
      <p:sp>
        <p:nvSpPr>
          <p:cNvPr id="13" name="Freeform 13"/>
          <p:cNvSpPr/>
          <p:nvPr/>
        </p:nvSpPr>
        <p:spPr>
          <a:xfrm>
            <a:off x="6257815" y="1650364"/>
            <a:ext cx="5543455" cy="2228755"/>
          </a:xfrm>
          <a:custGeom>
            <a:avLst/>
            <a:gdLst/>
            <a:ahLst/>
            <a:cxnLst/>
            <a:rect l="l" t="t" r="r" b="b"/>
            <a:pathLst>
              <a:path w="5543455" h="2228755">
                <a:moveTo>
                  <a:pt x="76201" y="0"/>
                </a:moveTo>
                <a:lnTo>
                  <a:pt x="5467253" y="0"/>
                </a:lnTo>
                <a:cubicBezTo>
                  <a:pt x="5509339" y="0"/>
                  <a:pt x="5543455" y="34116"/>
                  <a:pt x="5543455" y="76201"/>
                </a:cubicBezTo>
                <a:lnTo>
                  <a:pt x="5543455" y="2152553"/>
                </a:lnTo>
                <a:cubicBezTo>
                  <a:pt x="5543455" y="2194639"/>
                  <a:pt x="5509339" y="2228755"/>
                  <a:pt x="5467253" y="2228755"/>
                </a:cubicBezTo>
                <a:lnTo>
                  <a:pt x="76201" y="2228755"/>
                </a:lnTo>
                <a:cubicBezTo>
                  <a:pt x="34116" y="2228755"/>
                  <a:pt x="0" y="2194639"/>
                  <a:pt x="0" y="2152553"/>
                </a:cubicBezTo>
                <a:lnTo>
                  <a:pt x="0" y="76201"/>
                </a:lnTo>
                <a:cubicBezTo>
                  <a:pt x="0" y="34116"/>
                  <a:pt x="34116" y="0"/>
                  <a:pt x="76201" y="0"/>
                </a:cubicBezTo>
                <a:close/>
              </a:path>
            </a:pathLst>
          </a:custGeom>
          <a:solidFill>
            <a:srgbClr val="000000">
              <a:alpha val="0"/>
            </a:srgbClr>
          </a:solidFill>
          <a:ln w="12700">
            <a:solidFill>
              <a:srgbClr val="333333">
                <a:alpha val="100000"/>
              </a:srgbClr>
            </a:solidFill>
            <a:prstDash val="solid"/>
          </a:ln>
        </p:spPr>
        <p:txBody>
          <a:bodyPr wrap="square" lIns="91440" tIns="45720" rIns="91440" bIns="45720" rtlCol="0" anchor="t">
            <a:noAutofit/>
          </a:bodyPr>
          <a:lstStyle/>
          <a:p>
            <a:pPr algn="ctr">
              <a:defRPr/>
            </a:pPr>
          </a:p>
        </p:txBody>
      </p:sp>
      <p:sp>
        <p:nvSpPr>
          <p:cNvPr id="14" name="Freeform 14"/>
          <p:cNvSpPr/>
          <p:nvPr/>
        </p:nvSpPr>
        <p:spPr>
          <a:xfrm>
            <a:off x="6544087" y="1893771"/>
            <a:ext cx="332184" cy="325152"/>
          </a:xfrm>
          <a:custGeom>
            <a:avLst/>
            <a:gdLst/>
            <a:ahLst/>
            <a:cxnLst/>
            <a:rect l="l" t="t" r="r" b="b"/>
            <a:pathLst>
              <a:path w="332184" h="325152">
                <a:moveTo>
                  <a:pt x="111107" y="260791"/>
                </a:moveTo>
                <a:cubicBezTo>
                  <a:pt x="111107" y="262131"/>
                  <a:pt x="109567" y="263203"/>
                  <a:pt x="107625" y="263203"/>
                </a:cubicBezTo>
                <a:cubicBezTo>
                  <a:pt x="105415" y="263403"/>
                  <a:pt x="103873" y="262333"/>
                  <a:pt x="103873" y="260791"/>
                </a:cubicBezTo>
                <a:cubicBezTo>
                  <a:pt x="103873" y="259452"/>
                  <a:pt x="105415" y="258380"/>
                  <a:pt x="107357" y="258380"/>
                </a:cubicBezTo>
                <a:cubicBezTo>
                  <a:pt x="109366" y="258178"/>
                  <a:pt x="111107" y="259252"/>
                  <a:pt x="111107" y="260791"/>
                </a:cubicBezTo>
                <a:close/>
                <a:moveTo>
                  <a:pt x="90279" y="257778"/>
                </a:moveTo>
                <a:cubicBezTo>
                  <a:pt x="89809" y="259117"/>
                  <a:pt x="91151" y="260657"/>
                  <a:pt x="93158" y="261059"/>
                </a:cubicBezTo>
                <a:cubicBezTo>
                  <a:pt x="94900" y="261729"/>
                  <a:pt x="96909" y="261059"/>
                  <a:pt x="97311" y="259720"/>
                </a:cubicBezTo>
                <a:cubicBezTo>
                  <a:pt x="97713" y="258380"/>
                  <a:pt x="96440" y="256840"/>
                  <a:pt x="94431" y="256237"/>
                </a:cubicBezTo>
                <a:cubicBezTo>
                  <a:pt x="92690" y="255768"/>
                  <a:pt x="90748" y="256439"/>
                  <a:pt x="90279" y="257778"/>
                </a:cubicBezTo>
                <a:close/>
                <a:moveTo>
                  <a:pt x="119881" y="256639"/>
                </a:moveTo>
                <a:cubicBezTo>
                  <a:pt x="117939" y="257108"/>
                  <a:pt x="116599" y="258380"/>
                  <a:pt x="116799" y="259921"/>
                </a:cubicBezTo>
                <a:cubicBezTo>
                  <a:pt x="117001" y="261259"/>
                  <a:pt x="118743" y="262131"/>
                  <a:pt x="120752" y="261662"/>
                </a:cubicBezTo>
                <a:cubicBezTo>
                  <a:pt x="122694" y="261193"/>
                  <a:pt x="124033" y="259921"/>
                  <a:pt x="123831" y="258581"/>
                </a:cubicBezTo>
                <a:cubicBezTo>
                  <a:pt x="123631" y="257308"/>
                  <a:pt x="121824" y="256439"/>
                  <a:pt x="119881" y="256639"/>
                </a:cubicBezTo>
                <a:close/>
                <a:moveTo>
                  <a:pt x="163950" y="0"/>
                </a:moveTo>
                <a:cubicBezTo>
                  <a:pt x="71058" y="0"/>
                  <a:pt x="0" y="70522"/>
                  <a:pt x="0" y="163414"/>
                </a:cubicBezTo>
                <a:cubicBezTo>
                  <a:pt x="0" y="237686"/>
                  <a:pt x="46748" y="301243"/>
                  <a:pt x="113518" y="323611"/>
                </a:cubicBezTo>
                <a:cubicBezTo>
                  <a:pt x="122092" y="325152"/>
                  <a:pt x="125105" y="319861"/>
                  <a:pt x="125105" y="315507"/>
                </a:cubicBezTo>
                <a:cubicBezTo>
                  <a:pt x="125105" y="311356"/>
                  <a:pt x="124905" y="288451"/>
                  <a:pt x="124905" y="274387"/>
                </a:cubicBezTo>
                <a:cubicBezTo>
                  <a:pt x="124905" y="274387"/>
                  <a:pt x="78023" y="284433"/>
                  <a:pt x="68178" y="254429"/>
                </a:cubicBezTo>
                <a:cubicBezTo>
                  <a:pt x="68178" y="254429"/>
                  <a:pt x="60544" y="234940"/>
                  <a:pt x="49561" y="229917"/>
                </a:cubicBezTo>
                <a:cubicBezTo>
                  <a:pt x="49561" y="229917"/>
                  <a:pt x="34223" y="219402"/>
                  <a:pt x="50631" y="219603"/>
                </a:cubicBezTo>
                <a:cubicBezTo>
                  <a:pt x="50631" y="219603"/>
                  <a:pt x="67308" y="220943"/>
                  <a:pt x="76483" y="236882"/>
                </a:cubicBezTo>
                <a:cubicBezTo>
                  <a:pt x="91151" y="262734"/>
                  <a:pt x="115729" y="255301"/>
                  <a:pt x="125306" y="250878"/>
                </a:cubicBezTo>
                <a:cubicBezTo>
                  <a:pt x="126846" y="240163"/>
                  <a:pt x="131199" y="232730"/>
                  <a:pt x="136021" y="228311"/>
                </a:cubicBezTo>
                <a:cubicBezTo>
                  <a:pt x="98584" y="224156"/>
                  <a:pt x="60812" y="218733"/>
                  <a:pt x="60812" y="154305"/>
                </a:cubicBezTo>
                <a:cubicBezTo>
                  <a:pt x="60812" y="135888"/>
                  <a:pt x="65900" y="126645"/>
                  <a:pt x="76617" y="114858"/>
                </a:cubicBezTo>
                <a:cubicBezTo>
                  <a:pt x="74876" y="110505"/>
                  <a:pt x="69183" y="92556"/>
                  <a:pt x="78358" y="69383"/>
                </a:cubicBezTo>
                <a:cubicBezTo>
                  <a:pt x="92355" y="65030"/>
                  <a:pt x="124569" y="87466"/>
                  <a:pt x="124569" y="87466"/>
                </a:cubicBezTo>
                <a:cubicBezTo>
                  <a:pt x="137963" y="83716"/>
                  <a:pt x="152363" y="81773"/>
                  <a:pt x="166628" y="81773"/>
                </a:cubicBezTo>
                <a:cubicBezTo>
                  <a:pt x="180893" y="81773"/>
                  <a:pt x="195292" y="83716"/>
                  <a:pt x="208687" y="87466"/>
                </a:cubicBezTo>
                <a:cubicBezTo>
                  <a:pt x="208687" y="87466"/>
                  <a:pt x="240900" y="64963"/>
                  <a:pt x="254898" y="69383"/>
                </a:cubicBezTo>
                <a:cubicBezTo>
                  <a:pt x="264073" y="92623"/>
                  <a:pt x="258380" y="110505"/>
                  <a:pt x="256639" y="114858"/>
                </a:cubicBezTo>
                <a:cubicBezTo>
                  <a:pt x="267355" y="126712"/>
                  <a:pt x="273918" y="135954"/>
                  <a:pt x="273918" y="154305"/>
                </a:cubicBezTo>
                <a:cubicBezTo>
                  <a:pt x="273918" y="218933"/>
                  <a:pt x="234471" y="224090"/>
                  <a:pt x="197033" y="228311"/>
                </a:cubicBezTo>
                <a:cubicBezTo>
                  <a:pt x="203195" y="233600"/>
                  <a:pt x="208419" y="243646"/>
                  <a:pt x="208419" y="259385"/>
                </a:cubicBezTo>
                <a:cubicBezTo>
                  <a:pt x="208419" y="281955"/>
                  <a:pt x="208218" y="309881"/>
                  <a:pt x="208218" y="315374"/>
                </a:cubicBezTo>
                <a:cubicBezTo>
                  <a:pt x="208218" y="319726"/>
                  <a:pt x="211299" y="325019"/>
                  <a:pt x="219804" y="323478"/>
                </a:cubicBezTo>
                <a:cubicBezTo>
                  <a:pt x="286778" y="301243"/>
                  <a:pt x="332184" y="237686"/>
                  <a:pt x="332184" y="163414"/>
                </a:cubicBezTo>
                <a:cubicBezTo>
                  <a:pt x="332184" y="70522"/>
                  <a:pt x="256840" y="0"/>
                  <a:pt x="163950" y="0"/>
                </a:cubicBezTo>
                <a:close/>
                <a:moveTo>
                  <a:pt x="65097" y="230989"/>
                </a:moveTo>
                <a:cubicBezTo>
                  <a:pt x="64227" y="231658"/>
                  <a:pt x="64429" y="233199"/>
                  <a:pt x="65566" y="234471"/>
                </a:cubicBezTo>
                <a:cubicBezTo>
                  <a:pt x="66638" y="235543"/>
                  <a:pt x="68178" y="236011"/>
                  <a:pt x="69049" y="235141"/>
                </a:cubicBezTo>
                <a:cubicBezTo>
                  <a:pt x="69919" y="234471"/>
                  <a:pt x="69718" y="232931"/>
                  <a:pt x="68580" y="231658"/>
                </a:cubicBezTo>
                <a:cubicBezTo>
                  <a:pt x="67508" y="230586"/>
                  <a:pt x="65968" y="230118"/>
                  <a:pt x="65097" y="230989"/>
                </a:cubicBezTo>
                <a:close/>
                <a:moveTo>
                  <a:pt x="57864" y="225564"/>
                </a:moveTo>
                <a:cubicBezTo>
                  <a:pt x="57395" y="226434"/>
                  <a:pt x="58065" y="227505"/>
                  <a:pt x="59404" y="228176"/>
                </a:cubicBezTo>
                <a:cubicBezTo>
                  <a:pt x="60476" y="228845"/>
                  <a:pt x="61816" y="228645"/>
                  <a:pt x="62283" y="227707"/>
                </a:cubicBezTo>
                <a:cubicBezTo>
                  <a:pt x="62753" y="226836"/>
                  <a:pt x="62083" y="225765"/>
                  <a:pt x="60744" y="225095"/>
                </a:cubicBezTo>
                <a:cubicBezTo>
                  <a:pt x="59404" y="224694"/>
                  <a:pt x="58332" y="224894"/>
                  <a:pt x="57864" y="225564"/>
                </a:cubicBezTo>
                <a:close/>
                <a:moveTo>
                  <a:pt x="79563" y="249407"/>
                </a:moveTo>
                <a:cubicBezTo>
                  <a:pt x="78492" y="250276"/>
                  <a:pt x="78894" y="252286"/>
                  <a:pt x="80434" y="253558"/>
                </a:cubicBezTo>
                <a:cubicBezTo>
                  <a:pt x="81974" y="255099"/>
                  <a:pt x="83917" y="255301"/>
                  <a:pt x="84787" y="254227"/>
                </a:cubicBezTo>
                <a:cubicBezTo>
                  <a:pt x="85658" y="253358"/>
                  <a:pt x="85256" y="251348"/>
                  <a:pt x="83917" y="250076"/>
                </a:cubicBezTo>
                <a:cubicBezTo>
                  <a:pt x="82443" y="248535"/>
                  <a:pt x="80434" y="248333"/>
                  <a:pt x="79563" y="249407"/>
                </a:cubicBezTo>
                <a:close/>
                <a:moveTo>
                  <a:pt x="71928" y="239561"/>
                </a:moveTo>
                <a:cubicBezTo>
                  <a:pt x="70857" y="240231"/>
                  <a:pt x="70857" y="241972"/>
                  <a:pt x="71928" y="243512"/>
                </a:cubicBezTo>
                <a:cubicBezTo>
                  <a:pt x="73000" y="245053"/>
                  <a:pt x="74808" y="245722"/>
                  <a:pt x="75679" y="245053"/>
                </a:cubicBezTo>
                <a:cubicBezTo>
                  <a:pt x="76750" y="244182"/>
                  <a:pt x="76750" y="242441"/>
                  <a:pt x="75679" y="240900"/>
                </a:cubicBezTo>
                <a:cubicBezTo>
                  <a:pt x="74741" y="239360"/>
                  <a:pt x="73000" y="238690"/>
                  <a:pt x="71928" y="239561"/>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7038681" y="1907516"/>
            <a:ext cx="942975"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GitHub</a:t>
            </a:r>
            <a:endParaRPr lang="en-US" sz="1100"/>
          </a:p>
        </p:txBody>
      </p:sp>
      <p:sp>
        <p:nvSpPr>
          <p:cNvPr id="16" name="AutoShape 16"/>
          <p:cNvSpPr/>
          <p:nvPr/>
        </p:nvSpPr>
        <p:spPr>
          <a:xfrm>
            <a:off x="6495866" y="2383692"/>
            <a:ext cx="51530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Open Source Code Hosting Platform</a:t>
            </a:r>
            <a:endParaRPr lang="en-US" sz="1100"/>
          </a:p>
        </p:txBody>
      </p:sp>
      <p:sp>
        <p:nvSpPr>
          <p:cNvPr id="17" name="Freeform 17"/>
          <p:cNvSpPr/>
          <p:nvPr/>
        </p:nvSpPr>
        <p:spPr>
          <a:xfrm>
            <a:off x="6523518" y="2853693"/>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5" y="124301"/>
                  <a:pt x="41821" y="122336"/>
                </a:cubicBezTo>
                <a:lnTo>
                  <a:pt x="3721" y="84236"/>
                </a:lnTo>
                <a:cubicBezTo>
                  <a:pt x="0" y="80515"/>
                  <a:pt x="0" y="74472"/>
                  <a:pt x="3721" y="70753"/>
                </a:cubicBezTo>
                <a:cubicBezTo>
                  <a:pt x="7442" y="67032"/>
                  <a:pt x="13485" y="67032"/>
                  <a:pt x="17204" y="70753"/>
                </a:cubicBezTo>
                <a:lnTo>
                  <a:pt x="47416" y="100965"/>
                </a:lnTo>
                <a:lnTo>
                  <a:pt x="117068" y="5208"/>
                </a:lnTo>
                <a:cubicBezTo>
                  <a:pt x="120165" y="952"/>
                  <a:pt x="126117" y="0"/>
                  <a:pt x="130374" y="3095"/>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6743516" y="2802780"/>
            <a:ext cx="48958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Provides code hosting services</a:t>
            </a:r>
            <a:endParaRPr lang="en-US" sz="1100"/>
          </a:p>
        </p:txBody>
      </p:sp>
      <p:sp>
        <p:nvSpPr>
          <p:cNvPr id="19" name="Freeform 19"/>
          <p:cNvSpPr/>
          <p:nvPr/>
        </p:nvSpPr>
        <p:spPr>
          <a:xfrm>
            <a:off x="6523518" y="3158459"/>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5" y="124301"/>
                  <a:pt x="41821" y="122336"/>
                </a:cubicBezTo>
                <a:lnTo>
                  <a:pt x="3721" y="84236"/>
                </a:lnTo>
                <a:cubicBezTo>
                  <a:pt x="0" y="80515"/>
                  <a:pt x="0" y="74472"/>
                  <a:pt x="3721" y="70753"/>
                </a:cubicBezTo>
                <a:cubicBezTo>
                  <a:pt x="7442" y="67032"/>
                  <a:pt x="13485" y="67032"/>
                  <a:pt x="17204" y="70753"/>
                </a:cubicBezTo>
                <a:lnTo>
                  <a:pt x="47416" y="100965"/>
                </a:lnTo>
                <a:lnTo>
                  <a:pt x="117068" y="5208"/>
                </a:lnTo>
                <a:cubicBezTo>
                  <a:pt x="120165" y="952"/>
                  <a:pt x="126117" y="0"/>
                  <a:pt x="130374" y="3095"/>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743516" y="3107545"/>
            <a:ext cx="48958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Collaborative development toolset</a:t>
            </a:r>
            <a:endParaRPr lang="en-US" sz="1100"/>
          </a:p>
        </p:txBody>
      </p:sp>
      <p:sp>
        <p:nvSpPr>
          <p:cNvPr id="21" name="Freeform 21"/>
          <p:cNvSpPr/>
          <p:nvPr/>
        </p:nvSpPr>
        <p:spPr>
          <a:xfrm>
            <a:off x="6523518" y="3463221"/>
            <a:ext cx="135553" cy="125343"/>
          </a:xfrm>
          <a:custGeom>
            <a:avLst/>
            <a:gdLst/>
            <a:ahLst/>
            <a:cxnLst/>
            <a:rect l="l" t="t" r="r" b="b"/>
            <a:pathLst>
              <a:path w="135553" h="125343">
                <a:moveTo>
                  <a:pt x="130344" y="3125"/>
                </a:moveTo>
                <a:cubicBezTo>
                  <a:pt x="134599" y="6220"/>
                  <a:pt x="135553" y="12173"/>
                  <a:pt x="132457" y="16430"/>
                </a:cubicBezTo>
                <a:lnTo>
                  <a:pt x="56257" y="121205"/>
                </a:lnTo>
                <a:cubicBezTo>
                  <a:pt x="54620" y="123466"/>
                  <a:pt x="52090" y="124866"/>
                  <a:pt x="49292" y="125104"/>
                </a:cubicBezTo>
                <a:cubicBezTo>
                  <a:pt x="46494" y="125342"/>
                  <a:pt x="43785" y="124301"/>
                  <a:pt x="41821" y="122336"/>
                </a:cubicBezTo>
                <a:lnTo>
                  <a:pt x="3721" y="84236"/>
                </a:lnTo>
                <a:cubicBezTo>
                  <a:pt x="0" y="80515"/>
                  <a:pt x="0" y="74472"/>
                  <a:pt x="3721" y="70753"/>
                </a:cubicBezTo>
                <a:cubicBezTo>
                  <a:pt x="7442" y="67031"/>
                  <a:pt x="13485" y="67031"/>
                  <a:pt x="17204" y="70753"/>
                </a:cubicBezTo>
                <a:lnTo>
                  <a:pt x="47416" y="100965"/>
                </a:lnTo>
                <a:lnTo>
                  <a:pt x="117068" y="5208"/>
                </a:lnTo>
                <a:cubicBezTo>
                  <a:pt x="120165" y="952"/>
                  <a:pt x="126117" y="0"/>
                  <a:pt x="130374" y="3095"/>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743516" y="3412310"/>
            <a:ext cx="48958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Community communication platform</a:t>
            </a:r>
            <a:endParaRPr lang="en-US" sz="1100"/>
          </a:p>
        </p:txBody>
      </p:sp>
      <p:sp>
        <p:nvSpPr>
          <p:cNvPr id="23" name="Freeform 23"/>
          <p:cNvSpPr/>
          <p:nvPr/>
        </p:nvSpPr>
        <p:spPr>
          <a:xfrm>
            <a:off x="380956" y="4116986"/>
            <a:ext cx="11430000" cy="2000250"/>
          </a:xfrm>
          <a:custGeom>
            <a:avLst/>
            <a:gdLst/>
            <a:ahLst/>
            <a:cxnLst/>
            <a:rect l="l" t="t" r="r" b="b"/>
            <a:pathLst>
              <a:path w="11430000" h="2000250">
                <a:moveTo>
                  <a:pt x="76210" y="0"/>
                </a:moveTo>
                <a:lnTo>
                  <a:pt x="11353790" y="0"/>
                </a:lnTo>
                <a:cubicBezTo>
                  <a:pt x="11395880" y="0"/>
                  <a:pt x="11430000" y="34120"/>
                  <a:pt x="11430000" y="76210"/>
                </a:cubicBezTo>
                <a:lnTo>
                  <a:pt x="11430000" y="1924040"/>
                </a:lnTo>
                <a:cubicBezTo>
                  <a:pt x="11430000" y="1966130"/>
                  <a:pt x="11395880" y="2000250"/>
                  <a:pt x="11353790" y="2000250"/>
                </a:cubicBezTo>
                <a:lnTo>
                  <a:pt x="76210" y="2000250"/>
                </a:lnTo>
                <a:cubicBezTo>
                  <a:pt x="34120" y="2000250"/>
                  <a:pt x="0" y="1966130"/>
                  <a:pt x="0" y="192404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609529" y="4345558"/>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Core Concepts</a:t>
            </a:r>
            <a:endParaRPr lang="en-US" sz="1100"/>
          </a:p>
        </p:txBody>
      </p:sp>
      <p:sp>
        <p:nvSpPr>
          <p:cNvPr id="25" name="Freeform 25"/>
          <p:cNvSpPr/>
          <p:nvPr/>
        </p:nvSpPr>
        <p:spPr>
          <a:xfrm>
            <a:off x="609529" y="4764646"/>
            <a:ext cx="2628900" cy="1123950"/>
          </a:xfrm>
          <a:custGeom>
            <a:avLst/>
            <a:gdLst/>
            <a:ahLst/>
            <a:cxnLst/>
            <a:rect l="l" t="t" r="r" b="b"/>
            <a:pathLst>
              <a:path w="2628900" h="1123950">
                <a:moveTo>
                  <a:pt x="76204" y="0"/>
                </a:moveTo>
                <a:lnTo>
                  <a:pt x="2552696" y="0"/>
                </a:lnTo>
                <a:cubicBezTo>
                  <a:pt x="2594781" y="0"/>
                  <a:pt x="2628900" y="34119"/>
                  <a:pt x="2628900" y="76204"/>
                </a:cubicBezTo>
                <a:lnTo>
                  <a:pt x="2628900" y="1047746"/>
                </a:lnTo>
                <a:cubicBezTo>
                  <a:pt x="2628900" y="1089831"/>
                  <a:pt x="2594781" y="1123950"/>
                  <a:pt x="2552696" y="1123950"/>
                </a:cubicBezTo>
                <a:lnTo>
                  <a:pt x="76204" y="1123950"/>
                </a:lnTo>
                <a:cubicBezTo>
                  <a:pt x="34119" y="1123950"/>
                  <a:pt x="0" y="1089831"/>
                  <a:pt x="0" y="1047746"/>
                </a:cubicBezTo>
                <a:lnTo>
                  <a:pt x="0" y="76204"/>
                </a:lnTo>
                <a:cubicBezTo>
                  <a:pt x="0" y="34146"/>
                  <a:pt x="34146" y="0"/>
                  <a:pt x="76204"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6" name="Freeform 26"/>
          <p:cNvSpPr/>
          <p:nvPr/>
        </p:nvSpPr>
        <p:spPr>
          <a:xfrm>
            <a:off x="1783686" y="4934887"/>
            <a:ext cx="306567" cy="232173"/>
          </a:xfrm>
          <a:custGeom>
            <a:avLst/>
            <a:gdLst/>
            <a:ahLst/>
            <a:cxnLst/>
            <a:rect l="l" t="t" r="r" b="b"/>
            <a:pathLst>
              <a:path w="306567" h="232173">
                <a:moveTo>
                  <a:pt x="13169" y="108050"/>
                </a:moveTo>
                <a:lnTo>
                  <a:pt x="0" y="147452"/>
                </a:lnTo>
                <a:lnTo>
                  <a:pt x="0" y="35718"/>
                </a:lnTo>
                <a:cubicBezTo>
                  <a:pt x="0" y="16018"/>
                  <a:pt x="16015" y="0"/>
                  <a:pt x="35717" y="0"/>
                </a:cubicBezTo>
                <a:lnTo>
                  <a:pt x="113127" y="0"/>
                </a:lnTo>
                <a:cubicBezTo>
                  <a:pt x="120829" y="0"/>
                  <a:pt x="128364" y="2512"/>
                  <a:pt x="134559" y="7143"/>
                </a:cubicBezTo>
                <a:lnTo>
                  <a:pt x="155989" y="23218"/>
                </a:lnTo>
                <a:cubicBezTo>
                  <a:pt x="159059" y="25562"/>
                  <a:pt x="162854" y="26789"/>
                  <a:pt x="166705" y="26789"/>
                </a:cubicBezTo>
                <a:lnTo>
                  <a:pt x="232169" y="26789"/>
                </a:lnTo>
                <a:cubicBezTo>
                  <a:pt x="251872" y="26789"/>
                  <a:pt x="267890" y="42808"/>
                  <a:pt x="267890" y="62508"/>
                </a:cubicBezTo>
                <a:lnTo>
                  <a:pt x="267890" y="71439"/>
                </a:lnTo>
                <a:lnTo>
                  <a:pt x="63958" y="71439"/>
                </a:lnTo>
                <a:cubicBezTo>
                  <a:pt x="40908" y="71439"/>
                  <a:pt x="20425" y="86172"/>
                  <a:pt x="13114" y="108050"/>
                </a:cubicBezTo>
                <a:close/>
                <a:moveTo>
                  <a:pt x="248579" y="232172"/>
                </a:moveTo>
                <a:lnTo>
                  <a:pt x="37169" y="232172"/>
                </a:lnTo>
                <a:cubicBezTo>
                  <a:pt x="18863" y="232172"/>
                  <a:pt x="5970" y="214258"/>
                  <a:pt x="11775" y="196901"/>
                </a:cubicBezTo>
                <a:lnTo>
                  <a:pt x="38564" y="116532"/>
                </a:lnTo>
                <a:cubicBezTo>
                  <a:pt x="42191" y="105594"/>
                  <a:pt x="52461" y="98227"/>
                  <a:pt x="63958" y="98227"/>
                </a:cubicBezTo>
                <a:lnTo>
                  <a:pt x="275369" y="98227"/>
                </a:lnTo>
                <a:cubicBezTo>
                  <a:pt x="293674" y="98227"/>
                  <a:pt x="306566" y="116143"/>
                  <a:pt x="300762" y="133500"/>
                </a:cubicBezTo>
                <a:lnTo>
                  <a:pt x="273973" y="213866"/>
                </a:lnTo>
                <a:cubicBezTo>
                  <a:pt x="270344" y="224805"/>
                  <a:pt x="260076" y="232172"/>
                  <a:pt x="248579" y="23217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719049" y="5278955"/>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Repository</a:t>
            </a:r>
            <a:endParaRPr lang="en-US" sz="1100"/>
          </a:p>
        </p:txBody>
      </p:sp>
      <p:sp>
        <p:nvSpPr>
          <p:cNvPr id="28" name="AutoShape 28"/>
          <p:cNvSpPr/>
          <p:nvPr/>
        </p:nvSpPr>
        <p:spPr>
          <a:xfrm>
            <a:off x="728574" y="5545661"/>
            <a:ext cx="23907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Repository</a:t>
            </a:r>
            <a:endParaRPr lang="en-US" sz="1100"/>
          </a:p>
        </p:txBody>
      </p:sp>
      <p:sp>
        <p:nvSpPr>
          <p:cNvPr id="29" name="Freeform 29"/>
          <p:cNvSpPr/>
          <p:nvPr/>
        </p:nvSpPr>
        <p:spPr>
          <a:xfrm>
            <a:off x="3390838" y="4764646"/>
            <a:ext cx="2628900" cy="1123950"/>
          </a:xfrm>
          <a:custGeom>
            <a:avLst/>
            <a:gdLst/>
            <a:ahLst/>
            <a:cxnLst/>
            <a:rect l="l" t="t" r="r" b="b"/>
            <a:pathLst>
              <a:path w="2628900" h="1123950">
                <a:moveTo>
                  <a:pt x="76204" y="0"/>
                </a:moveTo>
                <a:lnTo>
                  <a:pt x="2552696" y="0"/>
                </a:lnTo>
                <a:cubicBezTo>
                  <a:pt x="2594781" y="0"/>
                  <a:pt x="2628900" y="34119"/>
                  <a:pt x="2628900" y="76204"/>
                </a:cubicBezTo>
                <a:lnTo>
                  <a:pt x="2628900" y="1047746"/>
                </a:lnTo>
                <a:cubicBezTo>
                  <a:pt x="2628900" y="1089831"/>
                  <a:pt x="2594781" y="1123950"/>
                  <a:pt x="2552696" y="1123950"/>
                </a:cubicBezTo>
                <a:lnTo>
                  <a:pt x="76204" y="1123950"/>
                </a:lnTo>
                <a:cubicBezTo>
                  <a:pt x="34119" y="1123950"/>
                  <a:pt x="0" y="1089831"/>
                  <a:pt x="0" y="1047746"/>
                </a:cubicBezTo>
                <a:lnTo>
                  <a:pt x="0" y="76204"/>
                </a:lnTo>
                <a:cubicBezTo>
                  <a:pt x="0" y="34146"/>
                  <a:pt x="34146" y="0"/>
                  <a:pt x="76204"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30" name="Freeform 30"/>
          <p:cNvSpPr/>
          <p:nvPr/>
        </p:nvSpPr>
        <p:spPr>
          <a:xfrm>
            <a:off x="4582630" y="4934887"/>
            <a:ext cx="250031" cy="250033"/>
          </a:xfrm>
          <a:custGeom>
            <a:avLst/>
            <a:gdLst/>
            <a:ahLst/>
            <a:cxnLst/>
            <a:rect l="l" t="t" r="r" b="b"/>
            <a:pathLst>
              <a:path w="250031" h="250033">
                <a:moveTo>
                  <a:pt x="35719" y="0"/>
                </a:moveTo>
                <a:cubicBezTo>
                  <a:pt x="16019" y="0"/>
                  <a:pt x="0" y="16018"/>
                  <a:pt x="0" y="35718"/>
                </a:cubicBezTo>
                <a:lnTo>
                  <a:pt x="0" y="214314"/>
                </a:lnTo>
                <a:cubicBezTo>
                  <a:pt x="0" y="234014"/>
                  <a:pt x="16019" y="250032"/>
                  <a:pt x="35719" y="250032"/>
                </a:cubicBezTo>
                <a:lnTo>
                  <a:pt x="214312" y="250032"/>
                </a:lnTo>
                <a:cubicBezTo>
                  <a:pt x="234014" y="250032"/>
                  <a:pt x="250031" y="234014"/>
                  <a:pt x="250031" y="214314"/>
                </a:cubicBezTo>
                <a:lnTo>
                  <a:pt x="250031" y="78860"/>
                </a:lnTo>
                <a:cubicBezTo>
                  <a:pt x="250031" y="69373"/>
                  <a:pt x="246292" y="60276"/>
                  <a:pt x="239594" y="53579"/>
                </a:cubicBezTo>
                <a:lnTo>
                  <a:pt x="196452" y="10437"/>
                </a:lnTo>
                <a:cubicBezTo>
                  <a:pt x="189756" y="3740"/>
                  <a:pt x="180659" y="0"/>
                  <a:pt x="171171" y="0"/>
                </a:cubicBezTo>
                <a:lnTo>
                  <a:pt x="35719" y="0"/>
                </a:lnTo>
                <a:close/>
                <a:moveTo>
                  <a:pt x="53577" y="53579"/>
                </a:moveTo>
                <a:cubicBezTo>
                  <a:pt x="53577" y="43700"/>
                  <a:pt x="61559" y="35718"/>
                  <a:pt x="71438" y="35718"/>
                </a:cubicBezTo>
                <a:lnTo>
                  <a:pt x="160734" y="35718"/>
                </a:lnTo>
                <a:cubicBezTo>
                  <a:pt x="170613" y="35718"/>
                  <a:pt x="178594" y="43700"/>
                  <a:pt x="178594" y="53579"/>
                </a:cubicBezTo>
                <a:lnTo>
                  <a:pt x="178594" y="89297"/>
                </a:lnTo>
                <a:cubicBezTo>
                  <a:pt x="178594" y="99177"/>
                  <a:pt x="170613" y="107157"/>
                  <a:pt x="160734" y="107157"/>
                </a:cubicBezTo>
                <a:lnTo>
                  <a:pt x="71438" y="107157"/>
                </a:lnTo>
                <a:cubicBezTo>
                  <a:pt x="61559" y="107157"/>
                  <a:pt x="53577" y="99177"/>
                  <a:pt x="53577" y="89297"/>
                </a:cubicBezTo>
                <a:lnTo>
                  <a:pt x="53577" y="53579"/>
                </a:lnTo>
                <a:close/>
                <a:moveTo>
                  <a:pt x="125016" y="142875"/>
                </a:moveTo>
                <a:cubicBezTo>
                  <a:pt x="144729" y="142875"/>
                  <a:pt x="160734" y="158881"/>
                  <a:pt x="160734" y="178593"/>
                </a:cubicBezTo>
                <a:cubicBezTo>
                  <a:pt x="160734" y="198308"/>
                  <a:pt x="144729" y="214314"/>
                  <a:pt x="125016" y="214314"/>
                </a:cubicBezTo>
                <a:cubicBezTo>
                  <a:pt x="105302" y="214314"/>
                  <a:pt x="89298" y="198308"/>
                  <a:pt x="89298" y="178593"/>
                </a:cubicBezTo>
                <a:cubicBezTo>
                  <a:pt x="89298" y="158881"/>
                  <a:pt x="105302" y="142875"/>
                  <a:pt x="125016" y="142875"/>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3500358" y="5278955"/>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Commit</a:t>
            </a:r>
            <a:endParaRPr lang="en-US" sz="1100"/>
          </a:p>
        </p:txBody>
      </p:sp>
      <p:sp>
        <p:nvSpPr>
          <p:cNvPr id="32" name="AutoShape 32"/>
          <p:cNvSpPr/>
          <p:nvPr/>
        </p:nvSpPr>
        <p:spPr>
          <a:xfrm>
            <a:off x="3509883" y="5545661"/>
            <a:ext cx="23907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Commit</a:t>
            </a:r>
            <a:endParaRPr lang="en-US" sz="1100"/>
          </a:p>
        </p:txBody>
      </p:sp>
      <p:sp>
        <p:nvSpPr>
          <p:cNvPr id="33" name="Freeform 33"/>
          <p:cNvSpPr/>
          <p:nvPr/>
        </p:nvSpPr>
        <p:spPr>
          <a:xfrm>
            <a:off x="6172147" y="4764646"/>
            <a:ext cx="2628900" cy="1123950"/>
          </a:xfrm>
          <a:custGeom>
            <a:avLst/>
            <a:gdLst/>
            <a:ahLst/>
            <a:cxnLst/>
            <a:rect l="l" t="t" r="r" b="b"/>
            <a:pathLst>
              <a:path w="2628900" h="1123950">
                <a:moveTo>
                  <a:pt x="76204" y="0"/>
                </a:moveTo>
                <a:lnTo>
                  <a:pt x="2552696" y="0"/>
                </a:lnTo>
                <a:cubicBezTo>
                  <a:pt x="2594781" y="0"/>
                  <a:pt x="2628900" y="34119"/>
                  <a:pt x="2628900" y="76204"/>
                </a:cubicBezTo>
                <a:lnTo>
                  <a:pt x="2628900" y="1047746"/>
                </a:lnTo>
                <a:cubicBezTo>
                  <a:pt x="2628900" y="1089831"/>
                  <a:pt x="2594781" y="1123950"/>
                  <a:pt x="2552696" y="1123950"/>
                </a:cubicBezTo>
                <a:lnTo>
                  <a:pt x="76204" y="1123950"/>
                </a:lnTo>
                <a:cubicBezTo>
                  <a:pt x="34119" y="1123950"/>
                  <a:pt x="0" y="1089831"/>
                  <a:pt x="0" y="1047746"/>
                </a:cubicBezTo>
                <a:lnTo>
                  <a:pt x="0" y="76204"/>
                </a:lnTo>
                <a:cubicBezTo>
                  <a:pt x="0" y="34146"/>
                  <a:pt x="34146" y="0"/>
                  <a:pt x="76204"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34" name="Freeform 34"/>
          <p:cNvSpPr/>
          <p:nvPr/>
        </p:nvSpPr>
        <p:spPr>
          <a:xfrm>
            <a:off x="7328220" y="4917028"/>
            <a:ext cx="321469" cy="284745"/>
          </a:xfrm>
          <a:custGeom>
            <a:avLst/>
            <a:gdLst/>
            <a:ahLst/>
            <a:cxnLst/>
            <a:rect l="l" t="t" r="r" b="b"/>
            <a:pathLst>
              <a:path w="321469" h="284745">
                <a:moveTo>
                  <a:pt x="107156" y="53577"/>
                </a:moveTo>
                <a:cubicBezTo>
                  <a:pt x="107156" y="23999"/>
                  <a:pt x="131155" y="0"/>
                  <a:pt x="160734" y="0"/>
                </a:cubicBezTo>
                <a:cubicBezTo>
                  <a:pt x="190315" y="0"/>
                  <a:pt x="214313" y="23999"/>
                  <a:pt x="214313" y="53577"/>
                </a:cubicBezTo>
                <a:lnTo>
                  <a:pt x="214313" y="55587"/>
                </a:lnTo>
                <a:cubicBezTo>
                  <a:pt x="214313" y="64350"/>
                  <a:pt x="207225" y="71438"/>
                  <a:pt x="198462" y="71438"/>
                </a:cubicBezTo>
                <a:lnTo>
                  <a:pt x="123062" y="71438"/>
                </a:lnTo>
                <a:cubicBezTo>
                  <a:pt x="114300" y="71438"/>
                  <a:pt x="107212" y="64350"/>
                  <a:pt x="107212" y="55587"/>
                </a:cubicBezTo>
                <a:lnTo>
                  <a:pt x="107212" y="53577"/>
                </a:lnTo>
                <a:close/>
                <a:moveTo>
                  <a:pt x="300038" y="60723"/>
                </a:moveTo>
                <a:cubicBezTo>
                  <a:pt x="305953" y="68591"/>
                  <a:pt x="304335" y="79809"/>
                  <a:pt x="296466" y="85725"/>
                </a:cubicBezTo>
                <a:lnTo>
                  <a:pt x="241883" y="126634"/>
                </a:lnTo>
                <a:cubicBezTo>
                  <a:pt x="244841" y="131601"/>
                  <a:pt x="247073" y="137071"/>
                  <a:pt x="248469" y="142875"/>
                </a:cubicBezTo>
                <a:lnTo>
                  <a:pt x="303609" y="142875"/>
                </a:lnTo>
                <a:cubicBezTo>
                  <a:pt x="313488" y="142875"/>
                  <a:pt x="321469" y="150856"/>
                  <a:pt x="321469" y="160734"/>
                </a:cubicBezTo>
                <a:cubicBezTo>
                  <a:pt x="321469" y="170613"/>
                  <a:pt x="313488" y="178594"/>
                  <a:pt x="303609" y="178594"/>
                </a:cubicBezTo>
                <a:lnTo>
                  <a:pt x="250031" y="178594"/>
                </a:lnTo>
                <a:lnTo>
                  <a:pt x="250031" y="196452"/>
                </a:lnTo>
                <a:cubicBezTo>
                  <a:pt x="250031" y="197904"/>
                  <a:pt x="249975" y="199412"/>
                  <a:pt x="249919" y="200862"/>
                </a:cubicBezTo>
                <a:lnTo>
                  <a:pt x="296466" y="235744"/>
                </a:lnTo>
                <a:cubicBezTo>
                  <a:pt x="304335" y="241659"/>
                  <a:pt x="305953" y="252879"/>
                  <a:pt x="300038" y="260748"/>
                </a:cubicBezTo>
                <a:cubicBezTo>
                  <a:pt x="294122" y="268616"/>
                  <a:pt x="282904" y="270234"/>
                  <a:pt x="275034" y="264319"/>
                </a:cubicBezTo>
                <a:lnTo>
                  <a:pt x="239818" y="237921"/>
                </a:lnTo>
                <a:cubicBezTo>
                  <a:pt x="226870" y="262589"/>
                  <a:pt x="202703" y="280448"/>
                  <a:pt x="174128" y="284745"/>
                </a:cubicBezTo>
                <a:lnTo>
                  <a:pt x="174128" y="156270"/>
                </a:lnTo>
                <a:cubicBezTo>
                  <a:pt x="174128" y="148847"/>
                  <a:pt x="168157" y="142875"/>
                  <a:pt x="160734" y="142875"/>
                </a:cubicBezTo>
                <a:cubicBezTo>
                  <a:pt x="153312" y="142875"/>
                  <a:pt x="147340" y="148847"/>
                  <a:pt x="147340" y="156270"/>
                </a:cubicBezTo>
                <a:lnTo>
                  <a:pt x="147340" y="284745"/>
                </a:lnTo>
                <a:cubicBezTo>
                  <a:pt x="118765" y="280448"/>
                  <a:pt x="94598" y="262589"/>
                  <a:pt x="81651" y="237921"/>
                </a:cubicBezTo>
                <a:lnTo>
                  <a:pt x="46434" y="264319"/>
                </a:lnTo>
                <a:cubicBezTo>
                  <a:pt x="38565" y="270234"/>
                  <a:pt x="27347" y="268616"/>
                  <a:pt x="21431" y="260748"/>
                </a:cubicBezTo>
                <a:cubicBezTo>
                  <a:pt x="15516" y="252879"/>
                  <a:pt x="17134" y="241659"/>
                  <a:pt x="25002" y="235744"/>
                </a:cubicBezTo>
                <a:lnTo>
                  <a:pt x="71549" y="200862"/>
                </a:lnTo>
                <a:cubicBezTo>
                  <a:pt x="71493" y="199412"/>
                  <a:pt x="71438" y="197960"/>
                  <a:pt x="71438" y="196452"/>
                </a:cubicBezTo>
                <a:lnTo>
                  <a:pt x="71438" y="178594"/>
                </a:lnTo>
                <a:lnTo>
                  <a:pt x="17859" y="178594"/>
                </a:lnTo>
                <a:cubicBezTo>
                  <a:pt x="7981" y="178594"/>
                  <a:pt x="0" y="170613"/>
                  <a:pt x="0" y="160734"/>
                </a:cubicBezTo>
                <a:cubicBezTo>
                  <a:pt x="0" y="150856"/>
                  <a:pt x="7981" y="142875"/>
                  <a:pt x="17859" y="142875"/>
                </a:cubicBezTo>
                <a:lnTo>
                  <a:pt x="73000" y="142875"/>
                </a:lnTo>
                <a:cubicBezTo>
                  <a:pt x="74395" y="137071"/>
                  <a:pt x="76628" y="131601"/>
                  <a:pt x="79586" y="126634"/>
                </a:cubicBezTo>
                <a:lnTo>
                  <a:pt x="25002" y="85725"/>
                </a:lnTo>
                <a:cubicBezTo>
                  <a:pt x="17134" y="79809"/>
                  <a:pt x="15516" y="68591"/>
                  <a:pt x="21431" y="60723"/>
                </a:cubicBezTo>
                <a:cubicBezTo>
                  <a:pt x="27347" y="52854"/>
                  <a:pt x="38565" y="51234"/>
                  <a:pt x="46434" y="57150"/>
                </a:cubicBezTo>
                <a:lnTo>
                  <a:pt x="107156" y="102691"/>
                </a:lnTo>
                <a:cubicBezTo>
                  <a:pt x="114021" y="99845"/>
                  <a:pt x="121556" y="98227"/>
                  <a:pt x="129480" y="98227"/>
                </a:cubicBezTo>
                <a:lnTo>
                  <a:pt x="191988" y="98227"/>
                </a:lnTo>
                <a:cubicBezTo>
                  <a:pt x="199913" y="98227"/>
                  <a:pt x="207448" y="99789"/>
                  <a:pt x="214313" y="102691"/>
                </a:cubicBezTo>
                <a:lnTo>
                  <a:pt x="275034" y="57150"/>
                </a:lnTo>
                <a:cubicBezTo>
                  <a:pt x="282904" y="51234"/>
                  <a:pt x="294122" y="52854"/>
                  <a:pt x="300038" y="6072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6281667" y="5278955"/>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Issue</a:t>
            </a:r>
            <a:endParaRPr lang="en-US" sz="1100"/>
          </a:p>
        </p:txBody>
      </p:sp>
      <p:sp>
        <p:nvSpPr>
          <p:cNvPr id="36" name="AutoShape 36"/>
          <p:cNvSpPr/>
          <p:nvPr/>
        </p:nvSpPr>
        <p:spPr>
          <a:xfrm>
            <a:off x="6291192" y="5545661"/>
            <a:ext cx="23907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Issue Tracking</a:t>
            </a:r>
            <a:endParaRPr lang="en-US" sz="1100"/>
          </a:p>
        </p:txBody>
      </p:sp>
      <p:sp>
        <p:nvSpPr>
          <p:cNvPr id="37" name="Freeform 37"/>
          <p:cNvSpPr/>
          <p:nvPr/>
        </p:nvSpPr>
        <p:spPr>
          <a:xfrm>
            <a:off x="8953455" y="4764646"/>
            <a:ext cx="2628900" cy="1123950"/>
          </a:xfrm>
          <a:custGeom>
            <a:avLst/>
            <a:gdLst/>
            <a:ahLst/>
            <a:cxnLst/>
            <a:rect l="l" t="t" r="r" b="b"/>
            <a:pathLst>
              <a:path w="2628900" h="1123950">
                <a:moveTo>
                  <a:pt x="76204" y="0"/>
                </a:moveTo>
                <a:lnTo>
                  <a:pt x="2552696" y="0"/>
                </a:lnTo>
                <a:cubicBezTo>
                  <a:pt x="2594781" y="0"/>
                  <a:pt x="2628900" y="34119"/>
                  <a:pt x="2628900" y="76204"/>
                </a:cubicBezTo>
                <a:lnTo>
                  <a:pt x="2628900" y="1047746"/>
                </a:lnTo>
                <a:cubicBezTo>
                  <a:pt x="2628900" y="1089831"/>
                  <a:pt x="2594781" y="1123950"/>
                  <a:pt x="2552696" y="1123950"/>
                </a:cubicBezTo>
                <a:lnTo>
                  <a:pt x="76204" y="1123950"/>
                </a:lnTo>
                <a:cubicBezTo>
                  <a:pt x="34119" y="1123950"/>
                  <a:pt x="0" y="1089831"/>
                  <a:pt x="0" y="1047746"/>
                </a:cubicBezTo>
                <a:lnTo>
                  <a:pt x="0" y="76204"/>
                </a:lnTo>
                <a:cubicBezTo>
                  <a:pt x="0" y="34146"/>
                  <a:pt x="34146" y="0"/>
                  <a:pt x="76204" y="0"/>
                </a:cubicBezTo>
                <a:close/>
              </a:path>
            </a:pathLst>
          </a:custGeom>
          <a:solidFill>
            <a:srgbClr val="FFFFFF">
              <a:alpha val="100000"/>
            </a:srgbClr>
          </a:solidFill>
          <a:ln w="12700">
            <a:noFill/>
            <a:prstDash val="solid"/>
          </a:ln>
          <a:effectLst>
            <a:outerShdw blurRad="254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38" name="Freeform 38"/>
          <p:cNvSpPr/>
          <p:nvPr/>
        </p:nvSpPr>
        <p:spPr>
          <a:xfrm>
            <a:off x="10145321" y="4917028"/>
            <a:ext cx="250031" cy="285750"/>
          </a:xfrm>
          <a:custGeom>
            <a:avLst/>
            <a:gdLst/>
            <a:ahLst/>
            <a:cxnLst/>
            <a:rect l="l" t="t" r="r" b="b"/>
            <a:pathLst>
              <a:path w="250031" h="285750">
                <a:moveTo>
                  <a:pt x="44648" y="58043"/>
                </a:moveTo>
                <a:cubicBezTo>
                  <a:pt x="52041" y="58043"/>
                  <a:pt x="58043" y="52041"/>
                  <a:pt x="58043" y="44648"/>
                </a:cubicBezTo>
                <a:cubicBezTo>
                  <a:pt x="58043" y="37255"/>
                  <a:pt x="52041" y="31253"/>
                  <a:pt x="44648" y="31253"/>
                </a:cubicBezTo>
                <a:cubicBezTo>
                  <a:pt x="37255" y="31253"/>
                  <a:pt x="31253" y="37255"/>
                  <a:pt x="31253" y="44648"/>
                </a:cubicBezTo>
                <a:cubicBezTo>
                  <a:pt x="31253" y="52041"/>
                  <a:pt x="37255" y="58043"/>
                  <a:pt x="44648" y="58043"/>
                </a:cubicBezTo>
                <a:close/>
                <a:moveTo>
                  <a:pt x="89298" y="44648"/>
                </a:moveTo>
                <a:cubicBezTo>
                  <a:pt x="89298" y="62954"/>
                  <a:pt x="78302" y="78693"/>
                  <a:pt x="62508" y="85559"/>
                </a:cubicBezTo>
                <a:lnTo>
                  <a:pt x="62508" y="125016"/>
                </a:lnTo>
                <a:lnTo>
                  <a:pt x="160734" y="125016"/>
                </a:lnTo>
                <a:cubicBezTo>
                  <a:pt x="175524" y="125016"/>
                  <a:pt x="187523" y="113016"/>
                  <a:pt x="187523" y="98227"/>
                </a:cubicBezTo>
                <a:lnTo>
                  <a:pt x="187523" y="85559"/>
                </a:lnTo>
                <a:cubicBezTo>
                  <a:pt x="171729" y="78693"/>
                  <a:pt x="160734" y="62954"/>
                  <a:pt x="160734" y="44648"/>
                </a:cubicBezTo>
                <a:cubicBezTo>
                  <a:pt x="160734" y="19980"/>
                  <a:pt x="180715" y="0"/>
                  <a:pt x="205383" y="0"/>
                </a:cubicBezTo>
                <a:cubicBezTo>
                  <a:pt x="230052" y="0"/>
                  <a:pt x="250031" y="19980"/>
                  <a:pt x="250031" y="44648"/>
                </a:cubicBezTo>
                <a:cubicBezTo>
                  <a:pt x="250031" y="62954"/>
                  <a:pt x="239037" y="78693"/>
                  <a:pt x="223242" y="85559"/>
                </a:cubicBezTo>
                <a:lnTo>
                  <a:pt x="223242" y="98227"/>
                </a:lnTo>
                <a:cubicBezTo>
                  <a:pt x="223242" y="132773"/>
                  <a:pt x="195282" y="160734"/>
                  <a:pt x="160734" y="160734"/>
                </a:cubicBezTo>
                <a:lnTo>
                  <a:pt x="62508" y="160734"/>
                </a:lnTo>
                <a:lnTo>
                  <a:pt x="62508" y="200191"/>
                </a:lnTo>
                <a:cubicBezTo>
                  <a:pt x="78302" y="207057"/>
                  <a:pt x="89298" y="222796"/>
                  <a:pt x="89298" y="241102"/>
                </a:cubicBezTo>
                <a:cubicBezTo>
                  <a:pt x="89298" y="265770"/>
                  <a:pt x="69317" y="285750"/>
                  <a:pt x="44648" y="285750"/>
                </a:cubicBezTo>
                <a:cubicBezTo>
                  <a:pt x="19980" y="285750"/>
                  <a:pt x="0" y="265770"/>
                  <a:pt x="0" y="241102"/>
                </a:cubicBezTo>
                <a:cubicBezTo>
                  <a:pt x="0" y="222796"/>
                  <a:pt x="10994" y="207057"/>
                  <a:pt x="26789" y="200191"/>
                </a:cubicBezTo>
                <a:lnTo>
                  <a:pt x="26789" y="85613"/>
                </a:lnTo>
                <a:cubicBezTo>
                  <a:pt x="10994" y="78693"/>
                  <a:pt x="0" y="62954"/>
                  <a:pt x="0" y="44648"/>
                </a:cubicBezTo>
                <a:cubicBezTo>
                  <a:pt x="0" y="19980"/>
                  <a:pt x="19980" y="0"/>
                  <a:pt x="44648" y="0"/>
                </a:cubicBezTo>
                <a:cubicBezTo>
                  <a:pt x="69317" y="0"/>
                  <a:pt x="89298" y="19980"/>
                  <a:pt x="89298" y="44648"/>
                </a:cubicBezTo>
                <a:close/>
                <a:moveTo>
                  <a:pt x="218777" y="44648"/>
                </a:moveTo>
                <a:cubicBezTo>
                  <a:pt x="218777" y="37255"/>
                  <a:pt x="212775" y="31253"/>
                  <a:pt x="205383" y="31253"/>
                </a:cubicBezTo>
                <a:cubicBezTo>
                  <a:pt x="197990" y="31253"/>
                  <a:pt x="191988" y="37255"/>
                  <a:pt x="191988" y="44648"/>
                </a:cubicBezTo>
                <a:cubicBezTo>
                  <a:pt x="191988" y="52041"/>
                  <a:pt x="197990" y="58043"/>
                  <a:pt x="205383" y="58043"/>
                </a:cubicBezTo>
                <a:cubicBezTo>
                  <a:pt x="212775" y="58043"/>
                  <a:pt x="218777" y="52041"/>
                  <a:pt x="218777" y="44648"/>
                </a:cubicBezTo>
                <a:close/>
                <a:moveTo>
                  <a:pt x="44648" y="254497"/>
                </a:moveTo>
                <a:cubicBezTo>
                  <a:pt x="52041" y="254497"/>
                  <a:pt x="58043" y="248495"/>
                  <a:pt x="58043" y="241102"/>
                </a:cubicBezTo>
                <a:cubicBezTo>
                  <a:pt x="58043" y="233709"/>
                  <a:pt x="52041" y="227707"/>
                  <a:pt x="44648" y="227707"/>
                </a:cubicBezTo>
                <a:cubicBezTo>
                  <a:pt x="37255" y="227707"/>
                  <a:pt x="31253" y="233709"/>
                  <a:pt x="31253" y="241102"/>
                </a:cubicBezTo>
                <a:cubicBezTo>
                  <a:pt x="31253" y="248495"/>
                  <a:pt x="37255" y="254497"/>
                  <a:pt x="44648" y="25449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9" name="AutoShape 39"/>
          <p:cNvSpPr/>
          <p:nvPr/>
        </p:nvSpPr>
        <p:spPr>
          <a:xfrm>
            <a:off x="9062975" y="5278955"/>
            <a:ext cx="24098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Pull Request</a:t>
            </a:r>
            <a:endParaRPr lang="en-US" sz="1100"/>
          </a:p>
        </p:txBody>
      </p:sp>
      <p:sp>
        <p:nvSpPr>
          <p:cNvPr id="40" name="AutoShape 40"/>
          <p:cNvSpPr/>
          <p:nvPr/>
        </p:nvSpPr>
        <p:spPr>
          <a:xfrm>
            <a:off x="9072500" y="5545661"/>
            <a:ext cx="23907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Pull Request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9928" y="611528"/>
            <a:ext cx="5406534"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What is a Pull Request (PR)?</a:t>
            </a:r>
            <a:endParaRPr lang="en-US" sz="1100"/>
          </a:p>
        </p:txBody>
      </p:sp>
      <p:sp>
        <p:nvSpPr>
          <p:cNvPr id="3" name="AutoShape 3"/>
          <p:cNvSpPr/>
          <p:nvPr/>
        </p:nvSpPr>
        <p:spPr>
          <a:xfrm>
            <a:off x="380956" y="1640886"/>
            <a:ext cx="69342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Role of a PR</a:t>
            </a:r>
            <a:endParaRPr lang="en-US" sz="1100"/>
          </a:p>
        </p:txBody>
      </p:sp>
      <p:sp>
        <p:nvSpPr>
          <p:cNvPr id="4" name="Freeform 4"/>
          <p:cNvSpPr/>
          <p:nvPr/>
        </p:nvSpPr>
        <p:spPr>
          <a:xfrm>
            <a:off x="380956" y="2059974"/>
            <a:ext cx="6838950" cy="495300"/>
          </a:xfrm>
          <a:custGeom>
            <a:avLst/>
            <a:gdLst/>
            <a:ahLst/>
            <a:cxnLst/>
            <a:rect l="l" t="t" r="r" b="b"/>
            <a:pathLst>
              <a:path w="6838950" h="495300">
                <a:moveTo>
                  <a:pt x="76203" y="0"/>
                </a:moveTo>
                <a:lnTo>
                  <a:pt x="6762747" y="0"/>
                </a:lnTo>
                <a:cubicBezTo>
                  <a:pt x="6804833" y="0"/>
                  <a:pt x="6838950" y="34117"/>
                  <a:pt x="6838950" y="76203"/>
                </a:cubicBezTo>
                <a:lnTo>
                  <a:pt x="6838950" y="419097"/>
                </a:lnTo>
                <a:cubicBezTo>
                  <a:pt x="6838950" y="461183"/>
                  <a:pt x="6804833" y="495300"/>
                  <a:pt x="676274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530924" y="2211128"/>
            <a:ext cx="166688" cy="179747"/>
          </a:xfrm>
          <a:custGeom>
            <a:avLst/>
            <a:gdLst/>
            <a:ahLst/>
            <a:cxnLst/>
            <a:rect l="l" t="t" r="r" b="b"/>
            <a:pathLst>
              <a:path w="166688" h="179747">
                <a:moveTo>
                  <a:pt x="95250" y="41820"/>
                </a:moveTo>
                <a:lnTo>
                  <a:pt x="95250" y="120216"/>
                </a:lnTo>
                <a:cubicBezTo>
                  <a:pt x="95250" y="126800"/>
                  <a:pt x="89929" y="132122"/>
                  <a:pt x="83344" y="132122"/>
                </a:cubicBezTo>
                <a:cubicBezTo>
                  <a:pt x="76758" y="132122"/>
                  <a:pt x="71438" y="126800"/>
                  <a:pt x="71438" y="120216"/>
                </a:cubicBezTo>
                <a:lnTo>
                  <a:pt x="71438" y="41820"/>
                </a:lnTo>
                <a:lnTo>
                  <a:pt x="56034" y="57224"/>
                </a:lnTo>
                <a:cubicBezTo>
                  <a:pt x="51383" y="61876"/>
                  <a:pt x="43830" y="61876"/>
                  <a:pt x="39180" y="57224"/>
                </a:cubicBezTo>
                <a:cubicBezTo>
                  <a:pt x="34527" y="52573"/>
                  <a:pt x="34527" y="45020"/>
                  <a:pt x="39180" y="40369"/>
                </a:cubicBezTo>
                <a:lnTo>
                  <a:pt x="74898" y="4651"/>
                </a:lnTo>
                <a:cubicBezTo>
                  <a:pt x="79549" y="0"/>
                  <a:pt x="87102" y="0"/>
                  <a:pt x="91752" y="4651"/>
                </a:cubicBezTo>
                <a:lnTo>
                  <a:pt x="127471" y="40369"/>
                </a:lnTo>
                <a:cubicBezTo>
                  <a:pt x="132122" y="45020"/>
                  <a:pt x="132122" y="52573"/>
                  <a:pt x="127471" y="57224"/>
                </a:cubicBezTo>
                <a:cubicBezTo>
                  <a:pt x="122820" y="61876"/>
                  <a:pt x="115266" y="61876"/>
                  <a:pt x="110617" y="57224"/>
                </a:cubicBezTo>
                <a:lnTo>
                  <a:pt x="95250" y="41820"/>
                </a:lnTo>
                <a:close/>
                <a:moveTo>
                  <a:pt x="83344" y="149980"/>
                </a:moveTo>
                <a:cubicBezTo>
                  <a:pt x="99789" y="149980"/>
                  <a:pt x="113109" y="136661"/>
                  <a:pt x="113109" y="120216"/>
                </a:cubicBezTo>
                <a:lnTo>
                  <a:pt x="142875" y="120216"/>
                </a:lnTo>
                <a:cubicBezTo>
                  <a:pt x="156009" y="120216"/>
                  <a:pt x="166688" y="130894"/>
                  <a:pt x="166688" y="144028"/>
                </a:cubicBezTo>
                <a:lnTo>
                  <a:pt x="166688" y="155934"/>
                </a:lnTo>
                <a:cubicBezTo>
                  <a:pt x="166688" y="169069"/>
                  <a:pt x="156009" y="179747"/>
                  <a:pt x="142875" y="179747"/>
                </a:cubicBezTo>
                <a:lnTo>
                  <a:pt x="23812" y="179747"/>
                </a:lnTo>
                <a:cubicBezTo>
                  <a:pt x="10678" y="179747"/>
                  <a:pt x="0" y="169069"/>
                  <a:pt x="0" y="155934"/>
                </a:cubicBezTo>
                <a:lnTo>
                  <a:pt x="0" y="144028"/>
                </a:lnTo>
                <a:cubicBezTo>
                  <a:pt x="0" y="130894"/>
                  <a:pt x="10678" y="120216"/>
                  <a:pt x="23812" y="120216"/>
                </a:cubicBezTo>
                <a:lnTo>
                  <a:pt x="53577" y="120216"/>
                </a:lnTo>
                <a:cubicBezTo>
                  <a:pt x="53577" y="136661"/>
                  <a:pt x="66899" y="149980"/>
                  <a:pt x="83344" y="149980"/>
                </a:cubicBezTo>
                <a:close/>
                <a:moveTo>
                  <a:pt x="136923" y="158911"/>
                </a:moveTo>
                <a:cubicBezTo>
                  <a:pt x="141850" y="158911"/>
                  <a:pt x="145852" y="154911"/>
                  <a:pt x="145852" y="149980"/>
                </a:cubicBezTo>
                <a:cubicBezTo>
                  <a:pt x="145852" y="145053"/>
                  <a:pt x="141850" y="141051"/>
                  <a:pt x="136923" y="141051"/>
                </a:cubicBezTo>
                <a:cubicBezTo>
                  <a:pt x="131992" y="141051"/>
                  <a:pt x="127992" y="145053"/>
                  <a:pt x="127992" y="149980"/>
                </a:cubicBezTo>
                <a:cubicBezTo>
                  <a:pt x="127992" y="154911"/>
                  <a:pt x="131992" y="158911"/>
                  <a:pt x="136923" y="158911"/>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847580" y="2174223"/>
            <a:ext cx="3842505" cy="266726"/>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Submit code changes</a:t>
            </a:r>
            <a:endParaRPr lang="en-US" sz="1100"/>
          </a:p>
        </p:txBody>
      </p:sp>
      <p:sp>
        <p:nvSpPr>
          <p:cNvPr id="7" name="Freeform 7"/>
          <p:cNvSpPr/>
          <p:nvPr/>
        </p:nvSpPr>
        <p:spPr>
          <a:xfrm>
            <a:off x="380956" y="2669428"/>
            <a:ext cx="6838950" cy="495300"/>
          </a:xfrm>
          <a:custGeom>
            <a:avLst/>
            <a:gdLst/>
            <a:ahLst/>
            <a:cxnLst/>
            <a:rect l="l" t="t" r="r" b="b"/>
            <a:pathLst>
              <a:path w="6838950" h="495300">
                <a:moveTo>
                  <a:pt x="76203" y="0"/>
                </a:moveTo>
                <a:lnTo>
                  <a:pt x="6762747" y="0"/>
                </a:lnTo>
                <a:cubicBezTo>
                  <a:pt x="6804833" y="0"/>
                  <a:pt x="6838950" y="34117"/>
                  <a:pt x="6838950" y="76203"/>
                </a:cubicBezTo>
                <a:lnTo>
                  <a:pt x="6838950" y="419097"/>
                </a:lnTo>
                <a:cubicBezTo>
                  <a:pt x="6838950" y="461183"/>
                  <a:pt x="6804833" y="495300"/>
                  <a:pt x="676274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507111" y="2833643"/>
            <a:ext cx="214312" cy="166724"/>
          </a:xfrm>
          <a:custGeom>
            <a:avLst/>
            <a:gdLst/>
            <a:ahLst/>
            <a:cxnLst/>
            <a:rect l="l" t="t" r="r" b="b"/>
            <a:pathLst>
              <a:path w="214312" h="166724">
                <a:moveTo>
                  <a:pt x="100051" y="19794"/>
                </a:moveTo>
                <a:lnTo>
                  <a:pt x="56666" y="68015"/>
                </a:lnTo>
                <a:cubicBezTo>
                  <a:pt x="54955" y="69912"/>
                  <a:pt x="55029" y="72853"/>
                  <a:pt x="56852" y="74675"/>
                </a:cubicBezTo>
                <a:cubicBezTo>
                  <a:pt x="68200" y="86022"/>
                  <a:pt x="86618" y="86022"/>
                  <a:pt x="97967" y="74675"/>
                </a:cubicBezTo>
                <a:lnTo>
                  <a:pt x="109798" y="62842"/>
                </a:lnTo>
                <a:cubicBezTo>
                  <a:pt x="111361" y="61280"/>
                  <a:pt x="113334" y="60424"/>
                  <a:pt x="115341" y="60276"/>
                </a:cubicBezTo>
                <a:cubicBezTo>
                  <a:pt x="117873" y="60052"/>
                  <a:pt x="120476" y="60908"/>
                  <a:pt x="122411" y="62842"/>
                </a:cubicBezTo>
                <a:lnTo>
                  <a:pt x="188119" y="127992"/>
                </a:lnTo>
                <a:lnTo>
                  <a:pt x="214313" y="107157"/>
                </a:lnTo>
                <a:lnTo>
                  <a:pt x="214313" y="0"/>
                </a:lnTo>
                <a:lnTo>
                  <a:pt x="172641" y="23813"/>
                </a:lnTo>
                <a:lnTo>
                  <a:pt x="163786" y="17897"/>
                </a:lnTo>
                <a:cubicBezTo>
                  <a:pt x="157907" y="13991"/>
                  <a:pt x="151023" y="11907"/>
                  <a:pt x="143955" y="11907"/>
                </a:cubicBezTo>
                <a:lnTo>
                  <a:pt x="117759" y="11907"/>
                </a:lnTo>
                <a:cubicBezTo>
                  <a:pt x="117351" y="11907"/>
                  <a:pt x="116903" y="11907"/>
                  <a:pt x="116495" y="11945"/>
                </a:cubicBezTo>
                <a:cubicBezTo>
                  <a:pt x="110207" y="12279"/>
                  <a:pt x="104291" y="15106"/>
                  <a:pt x="100051" y="19794"/>
                </a:cubicBezTo>
                <a:close/>
                <a:moveTo>
                  <a:pt x="43383" y="56071"/>
                </a:moveTo>
                <a:lnTo>
                  <a:pt x="83121" y="11907"/>
                </a:lnTo>
                <a:lnTo>
                  <a:pt x="68387" y="11907"/>
                </a:lnTo>
                <a:cubicBezTo>
                  <a:pt x="58899" y="11907"/>
                  <a:pt x="49820" y="15664"/>
                  <a:pt x="43123" y="22362"/>
                </a:cubicBezTo>
                <a:lnTo>
                  <a:pt x="41673" y="23813"/>
                </a:lnTo>
                <a:lnTo>
                  <a:pt x="0" y="0"/>
                </a:lnTo>
                <a:lnTo>
                  <a:pt x="0" y="107157"/>
                </a:lnTo>
                <a:lnTo>
                  <a:pt x="58191" y="155637"/>
                </a:lnTo>
                <a:cubicBezTo>
                  <a:pt x="66749" y="162781"/>
                  <a:pt x="77539" y="166688"/>
                  <a:pt x="88664" y="166688"/>
                </a:cubicBezTo>
                <a:lnTo>
                  <a:pt x="94506" y="166688"/>
                </a:lnTo>
                <a:lnTo>
                  <a:pt x="91901" y="164083"/>
                </a:lnTo>
                <a:cubicBezTo>
                  <a:pt x="88403" y="160585"/>
                  <a:pt x="88403" y="154930"/>
                  <a:pt x="91901" y="151471"/>
                </a:cubicBezTo>
                <a:cubicBezTo>
                  <a:pt x="95399" y="148010"/>
                  <a:pt x="101054" y="147973"/>
                  <a:pt x="104515" y="151471"/>
                </a:cubicBezTo>
                <a:lnTo>
                  <a:pt x="119769" y="166725"/>
                </a:lnTo>
                <a:lnTo>
                  <a:pt x="123118" y="166725"/>
                </a:lnTo>
                <a:cubicBezTo>
                  <a:pt x="130225" y="166725"/>
                  <a:pt x="137182" y="165124"/>
                  <a:pt x="143507" y="162147"/>
                </a:cubicBezTo>
                <a:lnTo>
                  <a:pt x="133574" y="152177"/>
                </a:lnTo>
                <a:cubicBezTo>
                  <a:pt x="130076" y="148680"/>
                  <a:pt x="130076" y="143024"/>
                  <a:pt x="133574" y="139564"/>
                </a:cubicBezTo>
                <a:cubicBezTo>
                  <a:pt x="137071" y="136104"/>
                  <a:pt x="142726" y="136066"/>
                  <a:pt x="146186" y="139564"/>
                </a:cubicBezTo>
                <a:lnTo>
                  <a:pt x="158093" y="151471"/>
                </a:lnTo>
                <a:lnTo>
                  <a:pt x="164603" y="144959"/>
                </a:lnTo>
                <a:cubicBezTo>
                  <a:pt x="167916" y="141647"/>
                  <a:pt x="168883" y="136848"/>
                  <a:pt x="167432" y="132643"/>
                </a:cubicBezTo>
                <a:lnTo>
                  <a:pt x="116122" y="81744"/>
                </a:lnTo>
                <a:lnTo>
                  <a:pt x="110579" y="87289"/>
                </a:lnTo>
                <a:cubicBezTo>
                  <a:pt x="92236" y="105631"/>
                  <a:pt x="62545" y="105631"/>
                  <a:pt x="44202" y="87289"/>
                </a:cubicBezTo>
                <a:cubicBezTo>
                  <a:pt x="35644" y="78730"/>
                  <a:pt x="35309" y="65001"/>
                  <a:pt x="43383" y="56034"/>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847580" y="2783678"/>
            <a:ext cx="4054429" cy="34281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Request project maintainers to merge code</a:t>
            </a:r>
            <a:endParaRPr lang="en-US" sz="1100"/>
          </a:p>
        </p:txBody>
      </p:sp>
      <p:sp>
        <p:nvSpPr>
          <p:cNvPr id="10" name="Freeform 10"/>
          <p:cNvSpPr/>
          <p:nvPr/>
        </p:nvSpPr>
        <p:spPr>
          <a:xfrm>
            <a:off x="380956" y="3278884"/>
            <a:ext cx="6838950" cy="495300"/>
          </a:xfrm>
          <a:custGeom>
            <a:avLst/>
            <a:gdLst/>
            <a:ahLst/>
            <a:cxnLst/>
            <a:rect l="l" t="t" r="r" b="b"/>
            <a:pathLst>
              <a:path w="6838950" h="495300">
                <a:moveTo>
                  <a:pt x="76203" y="0"/>
                </a:moveTo>
                <a:lnTo>
                  <a:pt x="6762747" y="0"/>
                </a:lnTo>
                <a:cubicBezTo>
                  <a:pt x="6804833" y="0"/>
                  <a:pt x="6838950" y="34117"/>
                  <a:pt x="6838950" y="76203"/>
                </a:cubicBezTo>
                <a:lnTo>
                  <a:pt x="6838950" y="419097"/>
                </a:lnTo>
                <a:cubicBezTo>
                  <a:pt x="6838950" y="461183"/>
                  <a:pt x="6804833" y="495300"/>
                  <a:pt x="676274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506776" y="3443099"/>
            <a:ext cx="214982" cy="166688"/>
          </a:xfrm>
          <a:custGeom>
            <a:avLst/>
            <a:gdLst/>
            <a:ahLst/>
            <a:cxnLst/>
            <a:rect l="l" t="t" r="r" b="b"/>
            <a:pathLst>
              <a:path w="214982" h="166688">
                <a:moveTo>
                  <a:pt x="107491" y="0"/>
                </a:moveTo>
                <a:cubicBezTo>
                  <a:pt x="77428" y="0"/>
                  <a:pt x="53355" y="13692"/>
                  <a:pt x="35832" y="29989"/>
                </a:cubicBezTo>
                <a:cubicBezTo>
                  <a:pt x="18419" y="46174"/>
                  <a:pt x="6773" y="65485"/>
                  <a:pt x="1228" y="78768"/>
                </a:cubicBezTo>
                <a:cubicBezTo>
                  <a:pt x="0" y="81707"/>
                  <a:pt x="0" y="84981"/>
                  <a:pt x="1228" y="87920"/>
                </a:cubicBezTo>
                <a:cubicBezTo>
                  <a:pt x="6773" y="101203"/>
                  <a:pt x="18419" y="120551"/>
                  <a:pt x="35832" y="136699"/>
                </a:cubicBezTo>
                <a:cubicBezTo>
                  <a:pt x="53355" y="152958"/>
                  <a:pt x="77428" y="166688"/>
                  <a:pt x="107491" y="166688"/>
                </a:cubicBezTo>
                <a:cubicBezTo>
                  <a:pt x="137555" y="166688"/>
                  <a:pt x="161628" y="152996"/>
                  <a:pt x="179152" y="136699"/>
                </a:cubicBezTo>
                <a:cubicBezTo>
                  <a:pt x="196565" y="120514"/>
                  <a:pt x="208211" y="101203"/>
                  <a:pt x="213755" y="87920"/>
                </a:cubicBezTo>
                <a:cubicBezTo>
                  <a:pt x="214982" y="84981"/>
                  <a:pt x="214982" y="81707"/>
                  <a:pt x="213755" y="78768"/>
                </a:cubicBezTo>
                <a:cubicBezTo>
                  <a:pt x="208211" y="65485"/>
                  <a:pt x="196565" y="46137"/>
                  <a:pt x="179152" y="29989"/>
                </a:cubicBezTo>
                <a:cubicBezTo>
                  <a:pt x="161628" y="13730"/>
                  <a:pt x="137555" y="0"/>
                  <a:pt x="107491" y="0"/>
                </a:cubicBezTo>
                <a:close/>
                <a:moveTo>
                  <a:pt x="53912" y="83344"/>
                </a:moveTo>
                <a:cubicBezTo>
                  <a:pt x="53912" y="53773"/>
                  <a:pt x="77921" y="29767"/>
                  <a:pt x="107491" y="29767"/>
                </a:cubicBezTo>
                <a:cubicBezTo>
                  <a:pt x="137062" y="29767"/>
                  <a:pt x="161069" y="53773"/>
                  <a:pt x="161069" y="83344"/>
                </a:cubicBezTo>
                <a:cubicBezTo>
                  <a:pt x="161069" y="112915"/>
                  <a:pt x="137062" y="136921"/>
                  <a:pt x="107491" y="136921"/>
                </a:cubicBezTo>
                <a:cubicBezTo>
                  <a:pt x="77921" y="136921"/>
                  <a:pt x="53912" y="112915"/>
                  <a:pt x="53912" y="83344"/>
                </a:cubicBezTo>
                <a:close/>
                <a:moveTo>
                  <a:pt x="107491" y="59531"/>
                </a:moveTo>
                <a:cubicBezTo>
                  <a:pt x="107491" y="72666"/>
                  <a:pt x="96813" y="83344"/>
                  <a:pt x="83679" y="83344"/>
                </a:cubicBezTo>
                <a:cubicBezTo>
                  <a:pt x="79400" y="83344"/>
                  <a:pt x="75382" y="82228"/>
                  <a:pt x="71884" y="80219"/>
                </a:cubicBezTo>
                <a:cubicBezTo>
                  <a:pt x="71512" y="84274"/>
                  <a:pt x="71847" y="88441"/>
                  <a:pt x="72962" y="92571"/>
                </a:cubicBezTo>
                <a:cubicBezTo>
                  <a:pt x="78060" y="111621"/>
                  <a:pt x="97669" y="122932"/>
                  <a:pt x="116719" y="117835"/>
                </a:cubicBezTo>
                <a:cubicBezTo>
                  <a:pt x="135769" y="112738"/>
                  <a:pt x="147080" y="93129"/>
                  <a:pt x="141982" y="74079"/>
                </a:cubicBezTo>
                <a:cubicBezTo>
                  <a:pt x="137443" y="57077"/>
                  <a:pt x="121332" y="46249"/>
                  <a:pt x="104366" y="47737"/>
                </a:cubicBezTo>
                <a:cubicBezTo>
                  <a:pt x="106338" y="51196"/>
                  <a:pt x="107491" y="55215"/>
                  <a:pt x="107491" y="59531"/>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847580" y="3393132"/>
            <a:ext cx="3425253" cy="30468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 key step in code review</a:t>
            </a:r>
            <a:endParaRPr lang="en-US" sz="1100"/>
          </a:p>
        </p:txBody>
      </p:sp>
      <p:sp>
        <p:nvSpPr>
          <p:cNvPr id="13" name="AutoShape 13"/>
          <p:cNvSpPr/>
          <p:nvPr/>
        </p:nvSpPr>
        <p:spPr>
          <a:xfrm>
            <a:off x="380956" y="4002663"/>
            <a:ext cx="693420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Typical PR Workflow</a:t>
            </a:r>
            <a:endParaRPr lang="en-US" sz="1100"/>
          </a:p>
        </p:txBody>
      </p:sp>
      <p:sp>
        <p:nvSpPr>
          <p:cNvPr id="14" name="Freeform 14"/>
          <p:cNvSpPr/>
          <p:nvPr/>
        </p:nvSpPr>
        <p:spPr>
          <a:xfrm>
            <a:off x="380956" y="4421751"/>
            <a:ext cx="1095375" cy="647700"/>
          </a:xfrm>
          <a:custGeom>
            <a:avLst/>
            <a:gdLst/>
            <a:ahLst/>
            <a:cxnLst/>
            <a:rect l="l" t="t" r="r" b="b"/>
            <a:pathLst>
              <a:path w="1095375" h="647700">
                <a:moveTo>
                  <a:pt x="76203" y="0"/>
                </a:moveTo>
                <a:lnTo>
                  <a:pt x="1019172" y="0"/>
                </a:lnTo>
                <a:cubicBezTo>
                  <a:pt x="1061258" y="0"/>
                  <a:pt x="1095375" y="34117"/>
                  <a:pt x="1095375" y="76203"/>
                </a:cubicBezTo>
                <a:lnTo>
                  <a:pt x="1095375" y="571497"/>
                </a:lnTo>
                <a:cubicBezTo>
                  <a:pt x="1095375" y="613583"/>
                  <a:pt x="1061258" y="647700"/>
                  <a:pt x="1019172" y="647700"/>
                </a:cubicBezTo>
                <a:lnTo>
                  <a:pt x="76203" y="647700"/>
                </a:lnTo>
                <a:cubicBezTo>
                  <a:pt x="34117" y="647700"/>
                  <a:pt x="0" y="613583"/>
                  <a:pt x="0" y="571497"/>
                </a:cubicBezTo>
                <a:lnTo>
                  <a:pt x="0" y="76203"/>
                </a:lnTo>
                <a:cubicBezTo>
                  <a:pt x="0" y="34117"/>
                  <a:pt x="34117"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457105" y="4536000"/>
            <a:ext cx="9429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 Fork</a:t>
            </a:r>
            <a:endParaRPr lang="en-US" sz="1100"/>
          </a:p>
        </p:txBody>
      </p:sp>
      <p:sp>
        <p:nvSpPr>
          <p:cNvPr id="16" name="AutoShape 16"/>
          <p:cNvSpPr/>
          <p:nvPr/>
        </p:nvSpPr>
        <p:spPr>
          <a:xfrm>
            <a:off x="461868" y="4764574"/>
            <a:ext cx="93345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Repo</a:t>
            </a:r>
            <a:endParaRPr lang="en-US" sz="1100"/>
          </a:p>
        </p:txBody>
      </p:sp>
      <p:sp>
        <p:nvSpPr>
          <p:cNvPr id="17" name="Freeform 17"/>
          <p:cNvSpPr/>
          <p:nvPr/>
        </p:nvSpPr>
        <p:spPr>
          <a:xfrm>
            <a:off x="1569750" y="4687378"/>
            <a:ext cx="153323" cy="116205"/>
          </a:xfrm>
          <a:custGeom>
            <a:avLst/>
            <a:gdLst/>
            <a:ahLst/>
            <a:cxnLst/>
            <a:rect l="l" t="t" r="r" b="b"/>
            <a:pathLst>
              <a:path w="153323" h="116205">
                <a:moveTo>
                  <a:pt x="149602" y="64829"/>
                </a:moveTo>
                <a:cubicBezTo>
                  <a:pt x="153323" y="61108"/>
                  <a:pt x="153323" y="55065"/>
                  <a:pt x="149602" y="51346"/>
                </a:cubicBezTo>
                <a:lnTo>
                  <a:pt x="101977" y="3721"/>
                </a:lnTo>
                <a:cubicBezTo>
                  <a:pt x="98256" y="0"/>
                  <a:pt x="92213" y="0"/>
                  <a:pt x="88494" y="3721"/>
                </a:cubicBezTo>
                <a:cubicBezTo>
                  <a:pt x="84773" y="7440"/>
                  <a:pt x="84773" y="13483"/>
                  <a:pt x="88494" y="17204"/>
                </a:cubicBezTo>
                <a:lnTo>
                  <a:pt x="119866" y="48577"/>
                </a:lnTo>
                <a:lnTo>
                  <a:pt x="9525" y="48577"/>
                </a:lnTo>
                <a:cubicBezTo>
                  <a:pt x="4256" y="48577"/>
                  <a:pt x="0" y="52833"/>
                  <a:pt x="0" y="58102"/>
                </a:cubicBezTo>
                <a:cubicBezTo>
                  <a:pt x="0" y="63371"/>
                  <a:pt x="4256" y="67627"/>
                  <a:pt x="9525" y="67627"/>
                </a:cubicBezTo>
                <a:lnTo>
                  <a:pt x="119866" y="67627"/>
                </a:lnTo>
                <a:lnTo>
                  <a:pt x="88494" y="99000"/>
                </a:lnTo>
                <a:cubicBezTo>
                  <a:pt x="84773" y="102721"/>
                  <a:pt x="84773" y="108764"/>
                  <a:pt x="88494" y="112483"/>
                </a:cubicBezTo>
                <a:cubicBezTo>
                  <a:pt x="92213" y="116204"/>
                  <a:pt x="98256" y="116204"/>
                  <a:pt x="101977" y="112483"/>
                </a:cubicBezTo>
                <a:lnTo>
                  <a:pt x="149602" y="64858"/>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1817332" y="4421751"/>
            <a:ext cx="1095375" cy="647700"/>
          </a:xfrm>
          <a:custGeom>
            <a:avLst/>
            <a:gdLst/>
            <a:ahLst/>
            <a:cxnLst/>
            <a:rect l="l" t="t" r="r" b="b"/>
            <a:pathLst>
              <a:path w="1095375" h="647700">
                <a:moveTo>
                  <a:pt x="76203" y="0"/>
                </a:moveTo>
                <a:lnTo>
                  <a:pt x="1019172" y="0"/>
                </a:lnTo>
                <a:cubicBezTo>
                  <a:pt x="1061258" y="0"/>
                  <a:pt x="1095375" y="34117"/>
                  <a:pt x="1095375" y="76203"/>
                </a:cubicBezTo>
                <a:lnTo>
                  <a:pt x="1095375" y="571497"/>
                </a:lnTo>
                <a:cubicBezTo>
                  <a:pt x="1095375" y="613583"/>
                  <a:pt x="1061258" y="647700"/>
                  <a:pt x="1019172" y="647700"/>
                </a:cubicBezTo>
                <a:lnTo>
                  <a:pt x="76203" y="647700"/>
                </a:lnTo>
                <a:cubicBezTo>
                  <a:pt x="34117" y="647700"/>
                  <a:pt x="0" y="613583"/>
                  <a:pt x="0" y="571497"/>
                </a:cubicBezTo>
                <a:lnTo>
                  <a:pt x="0" y="76203"/>
                </a:lnTo>
                <a:cubicBezTo>
                  <a:pt x="0" y="34117"/>
                  <a:pt x="34117" y="0"/>
                  <a:pt x="76203" y="0"/>
                </a:cubicBez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1893482" y="4536000"/>
            <a:ext cx="9429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 Modify</a:t>
            </a:r>
            <a:endParaRPr lang="en-US" sz="1100"/>
          </a:p>
        </p:txBody>
      </p:sp>
      <p:sp>
        <p:nvSpPr>
          <p:cNvPr id="20" name="AutoShape 20"/>
          <p:cNvSpPr/>
          <p:nvPr/>
        </p:nvSpPr>
        <p:spPr>
          <a:xfrm>
            <a:off x="1898244" y="4764574"/>
            <a:ext cx="93345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Code</a:t>
            </a:r>
            <a:endParaRPr lang="en-US" sz="1100"/>
          </a:p>
        </p:txBody>
      </p:sp>
      <p:sp>
        <p:nvSpPr>
          <p:cNvPr id="21" name="Freeform 21"/>
          <p:cNvSpPr/>
          <p:nvPr/>
        </p:nvSpPr>
        <p:spPr>
          <a:xfrm>
            <a:off x="3006127" y="4687378"/>
            <a:ext cx="153323" cy="116205"/>
          </a:xfrm>
          <a:custGeom>
            <a:avLst/>
            <a:gdLst/>
            <a:ahLst/>
            <a:cxnLst/>
            <a:rect l="l" t="t" r="r" b="b"/>
            <a:pathLst>
              <a:path w="153323" h="116205">
                <a:moveTo>
                  <a:pt x="149602" y="64829"/>
                </a:moveTo>
                <a:cubicBezTo>
                  <a:pt x="153323" y="61108"/>
                  <a:pt x="153323" y="55065"/>
                  <a:pt x="149602" y="51346"/>
                </a:cubicBezTo>
                <a:lnTo>
                  <a:pt x="101977" y="3721"/>
                </a:lnTo>
                <a:cubicBezTo>
                  <a:pt x="98256" y="0"/>
                  <a:pt x="92213" y="0"/>
                  <a:pt x="88494" y="3721"/>
                </a:cubicBezTo>
                <a:cubicBezTo>
                  <a:pt x="84773" y="7440"/>
                  <a:pt x="84773" y="13483"/>
                  <a:pt x="88494" y="17204"/>
                </a:cubicBezTo>
                <a:lnTo>
                  <a:pt x="119866" y="48577"/>
                </a:lnTo>
                <a:lnTo>
                  <a:pt x="9525" y="48577"/>
                </a:lnTo>
                <a:cubicBezTo>
                  <a:pt x="4256" y="48577"/>
                  <a:pt x="0" y="52833"/>
                  <a:pt x="0" y="58102"/>
                </a:cubicBezTo>
                <a:cubicBezTo>
                  <a:pt x="0" y="63371"/>
                  <a:pt x="4256" y="67627"/>
                  <a:pt x="9525" y="67627"/>
                </a:cubicBezTo>
                <a:lnTo>
                  <a:pt x="119866" y="67627"/>
                </a:lnTo>
                <a:lnTo>
                  <a:pt x="88494" y="99000"/>
                </a:lnTo>
                <a:cubicBezTo>
                  <a:pt x="84773" y="102721"/>
                  <a:pt x="84773" y="108764"/>
                  <a:pt x="88494" y="112483"/>
                </a:cubicBezTo>
                <a:cubicBezTo>
                  <a:pt x="92213" y="116204"/>
                  <a:pt x="98256" y="116204"/>
                  <a:pt x="101977" y="112483"/>
                </a:cubicBezTo>
                <a:lnTo>
                  <a:pt x="149602" y="64858"/>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3253709" y="4421751"/>
            <a:ext cx="1095375" cy="647700"/>
          </a:xfrm>
          <a:custGeom>
            <a:avLst/>
            <a:gdLst/>
            <a:ahLst/>
            <a:cxnLst/>
            <a:rect l="l" t="t" r="r" b="b"/>
            <a:pathLst>
              <a:path w="1095375" h="647700">
                <a:moveTo>
                  <a:pt x="76203" y="0"/>
                </a:moveTo>
                <a:lnTo>
                  <a:pt x="1019172" y="0"/>
                </a:lnTo>
                <a:cubicBezTo>
                  <a:pt x="1061258" y="0"/>
                  <a:pt x="1095375" y="34117"/>
                  <a:pt x="1095375" y="76203"/>
                </a:cubicBezTo>
                <a:lnTo>
                  <a:pt x="1095375" y="571497"/>
                </a:lnTo>
                <a:cubicBezTo>
                  <a:pt x="1095375" y="613583"/>
                  <a:pt x="1061258" y="647700"/>
                  <a:pt x="1019172" y="647700"/>
                </a:cubicBezTo>
                <a:lnTo>
                  <a:pt x="76203" y="647700"/>
                </a:lnTo>
                <a:cubicBezTo>
                  <a:pt x="34117" y="647700"/>
                  <a:pt x="0" y="613583"/>
                  <a:pt x="0" y="571497"/>
                </a:cubicBezTo>
                <a:lnTo>
                  <a:pt x="0" y="76203"/>
                </a:lnTo>
                <a:cubicBezTo>
                  <a:pt x="0" y="34117"/>
                  <a:pt x="34117"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3329858" y="4536000"/>
            <a:ext cx="9429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 Submit</a:t>
            </a:r>
            <a:endParaRPr lang="en-US" sz="1100"/>
          </a:p>
        </p:txBody>
      </p:sp>
      <p:sp>
        <p:nvSpPr>
          <p:cNvPr id="24" name="AutoShape 24"/>
          <p:cNvSpPr/>
          <p:nvPr/>
        </p:nvSpPr>
        <p:spPr>
          <a:xfrm>
            <a:off x="3334621" y="4764574"/>
            <a:ext cx="93345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PR</a:t>
            </a:r>
            <a:endParaRPr lang="en-US" sz="1100"/>
          </a:p>
        </p:txBody>
      </p:sp>
      <p:sp>
        <p:nvSpPr>
          <p:cNvPr id="25" name="Freeform 25"/>
          <p:cNvSpPr/>
          <p:nvPr/>
        </p:nvSpPr>
        <p:spPr>
          <a:xfrm>
            <a:off x="4442503" y="4687378"/>
            <a:ext cx="153323" cy="116205"/>
          </a:xfrm>
          <a:custGeom>
            <a:avLst/>
            <a:gdLst/>
            <a:ahLst/>
            <a:cxnLst/>
            <a:rect l="l" t="t" r="r" b="b"/>
            <a:pathLst>
              <a:path w="153323" h="116205">
                <a:moveTo>
                  <a:pt x="149602" y="64829"/>
                </a:moveTo>
                <a:cubicBezTo>
                  <a:pt x="153323" y="61108"/>
                  <a:pt x="153323" y="55065"/>
                  <a:pt x="149602" y="51346"/>
                </a:cubicBezTo>
                <a:lnTo>
                  <a:pt x="101977" y="3721"/>
                </a:lnTo>
                <a:cubicBezTo>
                  <a:pt x="98256" y="0"/>
                  <a:pt x="92213" y="0"/>
                  <a:pt x="88494" y="3721"/>
                </a:cubicBezTo>
                <a:cubicBezTo>
                  <a:pt x="84773" y="7440"/>
                  <a:pt x="84773" y="13483"/>
                  <a:pt x="88494" y="17204"/>
                </a:cubicBezTo>
                <a:lnTo>
                  <a:pt x="119866" y="48577"/>
                </a:lnTo>
                <a:lnTo>
                  <a:pt x="9525" y="48577"/>
                </a:lnTo>
                <a:cubicBezTo>
                  <a:pt x="4256" y="48577"/>
                  <a:pt x="0" y="52833"/>
                  <a:pt x="0" y="58102"/>
                </a:cubicBezTo>
                <a:cubicBezTo>
                  <a:pt x="0" y="63371"/>
                  <a:pt x="4256" y="67627"/>
                  <a:pt x="9525" y="67627"/>
                </a:cubicBezTo>
                <a:lnTo>
                  <a:pt x="119866" y="67627"/>
                </a:lnTo>
                <a:lnTo>
                  <a:pt x="88494" y="99000"/>
                </a:lnTo>
                <a:cubicBezTo>
                  <a:pt x="84773" y="102721"/>
                  <a:pt x="84773" y="108764"/>
                  <a:pt x="88494" y="112483"/>
                </a:cubicBezTo>
                <a:cubicBezTo>
                  <a:pt x="92213" y="116204"/>
                  <a:pt x="98256" y="116204"/>
                  <a:pt x="101977" y="112483"/>
                </a:cubicBezTo>
                <a:lnTo>
                  <a:pt x="149602" y="64858"/>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6" name="Freeform 26"/>
          <p:cNvSpPr/>
          <p:nvPr/>
        </p:nvSpPr>
        <p:spPr>
          <a:xfrm>
            <a:off x="4690085" y="4421751"/>
            <a:ext cx="1095375" cy="647700"/>
          </a:xfrm>
          <a:custGeom>
            <a:avLst/>
            <a:gdLst/>
            <a:ahLst/>
            <a:cxnLst/>
            <a:rect l="l" t="t" r="r" b="b"/>
            <a:pathLst>
              <a:path w="1095375" h="647700">
                <a:moveTo>
                  <a:pt x="76203" y="0"/>
                </a:moveTo>
                <a:lnTo>
                  <a:pt x="1019172" y="0"/>
                </a:lnTo>
                <a:cubicBezTo>
                  <a:pt x="1061258" y="0"/>
                  <a:pt x="1095375" y="34117"/>
                  <a:pt x="1095375" y="76203"/>
                </a:cubicBezTo>
                <a:lnTo>
                  <a:pt x="1095375" y="571497"/>
                </a:lnTo>
                <a:cubicBezTo>
                  <a:pt x="1095375" y="613583"/>
                  <a:pt x="1061258" y="647700"/>
                  <a:pt x="1019172" y="647700"/>
                </a:cubicBezTo>
                <a:lnTo>
                  <a:pt x="76203" y="647700"/>
                </a:lnTo>
                <a:cubicBezTo>
                  <a:pt x="34117" y="647700"/>
                  <a:pt x="0" y="613583"/>
                  <a:pt x="0" y="571497"/>
                </a:cubicBezTo>
                <a:lnTo>
                  <a:pt x="0" y="76203"/>
                </a:lnTo>
                <a:cubicBezTo>
                  <a:pt x="0" y="34117"/>
                  <a:pt x="34117" y="0"/>
                  <a:pt x="76203" y="0"/>
                </a:cubicBez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27" name="AutoShape 27"/>
          <p:cNvSpPr/>
          <p:nvPr/>
        </p:nvSpPr>
        <p:spPr>
          <a:xfrm>
            <a:off x="4766235" y="4536000"/>
            <a:ext cx="9429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4. Review</a:t>
            </a:r>
            <a:endParaRPr lang="en-US" sz="1100"/>
          </a:p>
        </p:txBody>
      </p:sp>
      <p:sp>
        <p:nvSpPr>
          <p:cNvPr id="28" name="AutoShape 28"/>
          <p:cNvSpPr/>
          <p:nvPr/>
        </p:nvSpPr>
        <p:spPr>
          <a:xfrm>
            <a:off x="4770997" y="4764574"/>
            <a:ext cx="93345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Code</a:t>
            </a:r>
            <a:endParaRPr lang="en-US" sz="1100"/>
          </a:p>
        </p:txBody>
      </p:sp>
      <p:sp>
        <p:nvSpPr>
          <p:cNvPr id="29" name="Freeform 29"/>
          <p:cNvSpPr/>
          <p:nvPr/>
        </p:nvSpPr>
        <p:spPr>
          <a:xfrm>
            <a:off x="5878880" y="4687378"/>
            <a:ext cx="153323" cy="116205"/>
          </a:xfrm>
          <a:custGeom>
            <a:avLst/>
            <a:gdLst/>
            <a:ahLst/>
            <a:cxnLst/>
            <a:rect l="l" t="t" r="r" b="b"/>
            <a:pathLst>
              <a:path w="153323" h="116205">
                <a:moveTo>
                  <a:pt x="149602" y="64829"/>
                </a:moveTo>
                <a:cubicBezTo>
                  <a:pt x="153323" y="61108"/>
                  <a:pt x="153323" y="55065"/>
                  <a:pt x="149602" y="51346"/>
                </a:cubicBezTo>
                <a:lnTo>
                  <a:pt x="101977" y="3721"/>
                </a:lnTo>
                <a:cubicBezTo>
                  <a:pt x="98256" y="0"/>
                  <a:pt x="92213" y="0"/>
                  <a:pt x="88494" y="3721"/>
                </a:cubicBezTo>
                <a:cubicBezTo>
                  <a:pt x="84772" y="7440"/>
                  <a:pt x="84772" y="13483"/>
                  <a:pt x="88494" y="17204"/>
                </a:cubicBezTo>
                <a:lnTo>
                  <a:pt x="119866" y="48577"/>
                </a:lnTo>
                <a:lnTo>
                  <a:pt x="9525" y="48577"/>
                </a:lnTo>
                <a:cubicBezTo>
                  <a:pt x="4256" y="48577"/>
                  <a:pt x="0" y="52833"/>
                  <a:pt x="0" y="58102"/>
                </a:cubicBezTo>
                <a:cubicBezTo>
                  <a:pt x="0" y="63371"/>
                  <a:pt x="4256" y="67627"/>
                  <a:pt x="9525" y="67627"/>
                </a:cubicBezTo>
                <a:lnTo>
                  <a:pt x="119866" y="67627"/>
                </a:lnTo>
                <a:lnTo>
                  <a:pt x="88494" y="99000"/>
                </a:lnTo>
                <a:cubicBezTo>
                  <a:pt x="84772" y="102721"/>
                  <a:pt x="84772" y="108764"/>
                  <a:pt x="88494" y="112483"/>
                </a:cubicBezTo>
                <a:cubicBezTo>
                  <a:pt x="92213" y="116204"/>
                  <a:pt x="98256" y="116204"/>
                  <a:pt x="101977" y="112483"/>
                </a:cubicBezTo>
                <a:lnTo>
                  <a:pt x="149602" y="64858"/>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6126462" y="4421751"/>
            <a:ext cx="1095375" cy="647700"/>
          </a:xfrm>
          <a:custGeom>
            <a:avLst/>
            <a:gdLst/>
            <a:ahLst/>
            <a:cxnLst/>
            <a:rect l="l" t="t" r="r" b="b"/>
            <a:pathLst>
              <a:path w="1095375" h="647700">
                <a:moveTo>
                  <a:pt x="76203" y="0"/>
                </a:moveTo>
                <a:lnTo>
                  <a:pt x="1019172" y="0"/>
                </a:lnTo>
                <a:cubicBezTo>
                  <a:pt x="1061258" y="0"/>
                  <a:pt x="1095375" y="34117"/>
                  <a:pt x="1095375" y="76203"/>
                </a:cubicBezTo>
                <a:lnTo>
                  <a:pt x="1095375" y="571497"/>
                </a:lnTo>
                <a:cubicBezTo>
                  <a:pt x="1095375" y="613583"/>
                  <a:pt x="1061258" y="647700"/>
                  <a:pt x="1019172" y="647700"/>
                </a:cubicBezTo>
                <a:lnTo>
                  <a:pt x="76203" y="647700"/>
                </a:lnTo>
                <a:cubicBezTo>
                  <a:pt x="34117" y="647700"/>
                  <a:pt x="0" y="613583"/>
                  <a:pt x="0" y="571497"/>
                </a:cubicBezTo>
                <a:lnTo>
                  <a:pt x="0" y="76203"/>
                </a:lnTo>
                <a:cubicBezTo>
                  <a:pt x="0" y="34117"/>
                  <a:pt x="34117" y="0"/>
                  <a:pt x="76203"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6202611" y="4536000"/>
            <a:ext cx="942975"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5. Merge</a:t>
            </a:r>
            <a:endParaRPr lang="en-US" sz="1100"/>
          </a:p>
        </p:txBody>
      </p:sp>
      <p:sp>
        <p:nvSpPr>
          <p:cNvPr id="32" name="AutoShape 32"/>
          <p:cNvSpPr/>
          <p:nvPr/>
        </p:nvSpPr>
        <p:spPr>
          <a:xfrm>
            <a:off x="6207373" y="4764574"/>
            <a:ext cx="933450"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Code</a:t>
            </a:r>
            <a:endParaRPr lang="en-US" sz="1100"/>
          </a:p>
        </p:txBody>
      </p:sp>
      <p:pic>
        <p:nvPicPr>
          <p:cNvPr id="33" name="Picture 33"/>
          <p:cNvPicPr>
            <a:picLocks noChangeAspect="1"/>
          </p:cNvPicPr>
          <p:nvPr/>
        </p:nvPicPr>
        <p:blipFill>
          <a:blip r:embed="rId1"/>
          <a:srcRect l="63" r="63"/>
          <a:stretch>
            <a:fillRect/>
          </a:stretch>
        </p:blipFill>
        <p:spPr>
          <a:xfrm>
            <a:off x="7524780" y="1785272"/>
            <a:ext cx="4286250" cy="2800350"/>
          </a:xfrm>
          <a:prstGeom prst="roundRect">
            <a:avLst>
              <a:gd name="adj" fmla="val 2720"/>
            </a:avLst>
          </a:prstGeom>
          <a:ln w="12700">
            <a:noFill/>
            <a:prstDash val="solid"/>
          </a:ln>
        </p:spPr>
      </p:pic>
      <p:sp>
        <p:nvSpPr>
          <p:cNvPr id="34" name="AutoShape 34"/>
          <p:cNvSpPr/>
          <p:nvPr/>
        </p:nvSpPr>
        <p:spPr>
          <a:xfrm>
            <a:off x="7491442" y="4734365"/>
            <a:ext cx="435292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Image source: Nulab</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9928" y="611530"/>
            <a:ext cx="416242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Basic PR Submission Workflow for FlagOS</a:t>
            </a:r>
            <a:endParaRPr lang="en-US" sz="1100"/>
          </a:p>
        </p:txBody>
      </p:sp>
      <p:sp>
        <p:nvSpPr>
          <p:cNvPr id="3" name="Freeform 3"/>
          <p:cNvSpPr/>
          <p:nvPr/>
        </p:nvSpPr>
        <p:spPr>
          <a:xfrm>
            <a:off x="1104882" y="1640886"/>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 name="AutoShape 4"/>
          <p:cNvSpPr/>
          <p:nvPr/>
        </p:nvSpPr>
        <p:spPr>
          <a:xfrm>
            <a:off x="1282007" y="1793270"/>
            <a:ext cx="257175"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endParaRPr lang="en-US" sz="1100"/>
          </a:p>
        </p:txBody>
      </p:sp>
      <p:sp>
        <p:nvSpPr>
          <p:cNvPr id="5" name="AutoShape 5"/>
          <p:cNvSpPr/>
          <p:nvPr/>
        </p:nvSpPr>
        <p:spPr>
          <a:xfrm>
            <a:off x="338093" y="2326607"/>
            <a:ext cx="2143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Fork FlagOS</a:t>
            </a:r>
            <a:endParaRPr lang="en-US" sz="1100"/>
          </a:p>
        </p:txBody>
      </p:sp>
      <p:sp>
        <p:nvSpPr>
          <p:cNvPr id="6" name="AutoShape 6"/>
          <p:cNvSpPr/>
          <p:nvPr/>
        </p:nvSpPr>
        <p:spPr>
          <a:xfrm>
            <a:off x="347618" y="2593311"/>
            <a:ext cx="21240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Repo</a:t>
            </a:r>
            <a:endParaRPr lang="en-US" sz="1100"/>
          </a:p>
        </p:txBody>
      </p:sp>
      <p:sp>
        <p:nvSpPr>
          <p:cNvPr id="7" name="Freeform 7"/>
          <p:cNvSpPr/>
          <p:nvPr/>
        </p:nvSpPr>
        <p:spPr>
          <a:xfrm>
            <a:off x="2466913" y="2125181"/>
            <a:ext cx="229984" cy="174308"/>
          </a:xfrm>
          <a:custGeom>
            <a:avLst/>
            <a:gdLst/>
            <a:ahLst/>
            <a:cxnLst/>
            <a:rect l="l" t="t" r="r" b="b"/>
            <a:pathLst>
              <a:path w="229984" h="174308">
                <a:moveTo>
                  <a:pt x="224403" y="97245"/>
                </a:moveTo>
                <a:cubicBezTo>
                  <a:pt x="229984" y="91663"/>
                  <a:pt x="229984" y="82600"/>
                  <a:pt x="224403" y="77019"/>
                </a:cubicBezTo>
                <a:lnTo>
                  <a:pt x="152966" y="5581"/>
                </a:lnTo>
                <a:cubicBezTo>
                  <a:pt x="147383" y="0"/>
                  <a:pt x="138321" y="0"/>
                  <a:pt x="132740" y="5581"/>
                </a:cubicBezTo>
                <a:cubicBezTo>
                  <a:pt x="127159" y="11162"/>
                  <a:pt x="127159" y="20226"/>
                  <a:pt x="132740" y="25807"/>
                </a:cubicBezTo>
                <a:lnTo>
                  <a:pt x="179799" y="72867"/>
                </a:lnTo>
                <a:lnTo>
                  <a:pt x="14287" y="72867"/>
                </a:lnTo>
                <a:cubicBezTo>
                  <a:pt x="6386" y="72867"/>
                  <a:pt x="0" y="79251"/>
                  <a:pt x="0" y="87154"/>
                </a:cubicBezTo>
                <a:cubicBezTo>
                  <a:pt x="0" y="95057"/>
                  <a:pt x="6386" y="101441"/>
                  <a:pt x="14287" y="101441"/>
                </a:cubicBezTo>
                <a:lnTo>
                  <a:pt x="179799" y="101441"/>
                </a:lnTo>
                <a:lnTo>
                  <a:pt x="132740" y="148501"/>
                </a:lnTo>
                <a:cubicBezTo>
                  <a:pt x="127159" y="154082"/>
                  <a:pt x="127159" y="163146"/>
                  <a:pt x="132740" y="168727"/>
                </a:cubicBezTo>
                <a:cubicBezTo>
                  <a:pt x="138321" y="174308"/>
                  <a:pt x="147383" y="174308"/>
                  <a:pt x="152966" y="168727"/>
                </a:cubicBezTo>
                <a:lnTo>
                  <a:pt x="224403" y="9728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3448000" y="1640886"/>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AutoShape 9"/>
          <p:cNvSpPr/>
          <p:nvPr/>
        </p:nvSpPr>
        <p:spPr>
          <a:xfrm>
            <a:off x="3625124" y="1793270"/>
            <a:ext cx="257175"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endParaRPr lang="en-US" sz="1100"/>
          </a:p>
        </p:txBody>
      </p:sp>
      <p:sp>
        <p:nvSpPr>
          <p:cNvPr id="10" name="AutoShape 10"/>
          <p:cNvSpPr/>
          <p:nvPr/>
        </p:nvSpPr>
        <p:spPr>
          <a:xfrm>
            <a:off x="2681210" y="2326607"/>
            <a:ext cx="2143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Create a New</a:t>
            </a:r>
            <a:endParaRPr lang="en-US" sz="1100"/>
          </a:p>
        </p:txBody>
      </p:sp>
      <p:sp>
        <p:nvSpPr>
          <p:cNvPr id="11" name="AutoShape 11"/>
          <p:cNvSpPr/>
          <p:nvPr/>
        </p:nvSpPr>
        <p:spPr>
          <a:xfrm>
            <a:off x="2690735" y="2593311"/>
            <a:ext cx="21240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Dev Branch</a:t>
            </a:r>
            <a:endParaRPr lang="en-US" sz="1100"/>
          </a:p>
        </p:txBody>
      </p:sp>
      <p:sp>
        <p:nvSpPr>
          <p:cNvPr id="12" name="Freeform 12"/>
          <p:cNvSpPr/>
          <p:nvPr/>
        </p:nvSpPr>
        <p:spPr>
          <a:xfrm>
            <a:off x="4810104" y="2125181"/>
            <a:ext cx="229984" cy="174308"/>
          </a:xfrm>
          <a:custGeom>
            <a:avLst/>
            <a:gdLst/>
            <a:ahLst/>
            <a:cxnLst/>
            <a:rect l="l" t="t" r="r" b="b"/>
            <a:pathLst>
              <a:path w="229984" h="174308">
                <a:moveTo>
                  <a:pt x="224403" y="97245"/>
                </a:moveTo>
                <a:cubicBezTo>
                  <a:pt x="229984" y="91663"/>
                  <a:pt x="229984" y="82600"/>
                  <a:pt x="224403" y="77019"/>
                </a:cubicBezTo>
                <a:lnTo>
                  <a:pt x="152966" y="5581"/>
                </a:lnTo>
                <a:cubicBezTo>
                  <a:pt x="147384" y="0"/>
                  <a:pt x="138321" y="0"/>
                  <a:pt x="132740" y="5581"/>
                </a:cubicBezTo>
                <a:cubicBezTo>
                  <a:pt x="127159" y="11162"/>
                  <a:pt x="127159" y="20226"/>
                  <a:pt x="132740" y="25807"/>
                </a:cubicBezTo>
                <a:lnTo>
                  <a:pt x="179799" y="72867"/>
                </a:lnTo>
                <a:lnTo>
                  <a:pt x="14288" y="72867"/>
                </a:lnTo>
                <a:cubicBezTo>
                  <a:pt x="6386" y="72867"/>
                  <a:pt x="0" y="79251"/>
                  <a:pt x="0" y="87154"/>
                </a:cubicBezTo>
                <a:cubicBezTo>
                  <a:pt x="0" y="95057"/>
                  <a:pt x="6386" y="101441"/>
                  <a:pt x="14288" y="101441"/>
                </a:cubicBezTo>
                <a:lnTo>
                  <a:pt x="179799" y="101441"/>
                </a:lnTo>
                <a:lnTo>
                  <a:pt x="132740" y="148501"/>
                </a:lnTo>
                <a:cubicBezTo>
                  <a:pt x="127159" y="154082"/>
                  <a:pt x="127159" y="163146"/>
                  <a:pt x="132740" y="168727"/>
                </a:cubicBezTo>
                <a:cubicBezTo>
                  <a:pt x="138321" y="174308"/>
                  <a:pt x="147384" y="174308"/>
                  <a:pt x="152966" y="168727"/>
                </a:cubicBezTo>
                <a:lnTo>
                  <a:pt x="224403" y="9728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5791191" y="1640886"/>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5968316" y="1793270"/>
            <a:ext cx="257175"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endParaRPr lang="en-US" sz="1100"/>
          </a:p>
        </p:txBody>
      </p:sp>
      <p:sp>
        <p:nvSpPr>
          <p:cNvPr id="15" name="AutoShape 15"/>
          <p:cNvSpPr/>
          <p:nvPr/>
        </p:nvSpPr>
        <p:spPr>
          <a:xfrm>
            <a:off x="5024402" y="2326607"/>
            <a:ext cx="2143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Modify Code</a:t>
            </a:r>
            <a:endParaRPr lang="en-US" sz="1100"/>
          </a:p>
        </p:txBody>
      </p:sp>
      <p:sp>
        <p:nvSpPr>
          <p:cNvPr id="16" name="AutoShape 16"/>
          <p:cNvSpPr/>
          <p:nvPr/>
        </p:nvSpPr>
        <p:spPr>
          <a:xfrm>
            <a:off x="5033927" y="2593311"/>
            <a:ext cx="21240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or Docs</a:t>
            </a:r>
            <a:endParaRPr lang="en-US" sz="1100"/>
          </a:p>
        </p:txBody>
      </p:sp>
      <p:sp>
        <p:nvSpPr>
          <p:cNvPr id="17" name="Freeform 17"/>
          <p:cNvSpPr/>
          <p:nvPr/>
        </p:nvSpPr>
        <p:spPr>
          <a:xfrm>
            <a:off x="7153222" y="2125181"/>
            <a:ext cx="229984" cy="174308"/>
          </a:xfrm>
          <a:custGeom>
            <a:avLst/>
            <a:gdLst/>
            <a:ahLst/>
            <a:cxnLst/>
            <a:rect l="l" t="t" r="r" b="b"/>
            <a:pathLst>
              <a:path w="229984" h="174308">
                <a:moveTo>
                  <a:pt x="224403" y="97245"/>
                </a:moveTo>
                <a:cubicBezTo>
                  <a:pt x="229984" y="91663"/>
                  <a:pt x="229984" y="82600"/>
                  <a:pt x="224403" y="77019"/>
                </a:cubicBezTo>
                <a:lnTo>
                  <a:pt x="152966" y="5581"/>
                </a:lnTo>
                <a:cubicBezTo>
                  <a:pt x="147384" y="0"/>
                  <a:pt x="138321" y="0"/>
                  <a:pt x="132740" y="5581"/>
                </a:cubicBezTo>
                <a:cubicBezTo>
                  <a:pt x="127159" y="11162"/>
                  <a:pt x="127159" y="20226"/>
                  <a:pt x="132740" y="25807"/>
                </a:cubicBezTo>
                <a:lnTo>
                  <a:pt x="179799" y="72867"/>
                </a:lnTo>
                <a:lnTo>
                  <a:pt x="14288" y="72867"/>
                </a:lnTo>
                <a:cubicBezTo>
                  <a:pt x="6386" y="72867"/>
                  <a:pt x="0" y="79251"/>
                  <a:pt x="0" y="87154"/>
                </a:cubicBezTo>
                <a:cubicBezTo>
                  <a:pt x="0" y="95057"/>
                  <a:pt x="6386" y="101441"/>
                  <a:pt x="14288" y="101441"/>
                </a:cubicBezTo>
                <a:lnTo>
                  <a:pt x="179799" y="101441"/>
                </a:lnTo>
                <a:lnTo>
                  <a:pt x="132740" y="148501"/>
                </a:lnTo>
                <a:cubicBezTo>
                  <a:pt x="127159" y="154082"/>
                  <a:pt x="127159" y="163146"/>
                  <a:pt x="132740" y="168727"/>
                </a:cubicBezTo>
                <a:cubicBezTo>
                  <a:pt x="138321" y="174308"/>
                  <a:pt x="147384" y="174308"/>
                  <a:pt x="152966" y="168727"/>
                </a:cubicBezTo>
                <a:lnTo>
                  <a:pt x="224403" y="9728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8134308" y="1640886"/>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8311433" y="1793270"/>
            <a:ext cx="257175"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endParaRPr lang="en-US" sz="1100"/>
          </a:p>
        </p:txBody>
      </p:sp>
      <p:sp>
        <p:nvSpPr>
          <p:cNvPr id="20" name="AutoShape 20"/>
          <p:cNvSpPr/>
          <p:nvPr/>
        </p:nvSpPr>
        <p:spPr>
          <a:xfrm>
            <a:off x="7367519" y="2326607"/>
            <a:ext cx="2143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Commit</a:t>
            </a:r>
            <a:endParaRPr lang="en-US" sz="1100"/>
          </a:p>
        </p:txBody>
      </p:sp>
      <p:sp>
        <p:nvSpPr>
          <p:cNvPr id="21" name="AutoShape 21"/>
          <p:cNvSpPr/>
          <p:nvPr/>
        </p:nvSpPr>
        <p:spPr>
          <a:xfrm>
            <a:off x="7377044" y="2593311"/>
            <a:ext cx="21240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Commit Changes</a:t>
            </a:r>
            <a:endParaRPr lang="en-US" sz="1100"/>
          </a:p>
        </p:txBody>
      </p:sp>
      <p:sp>
        <p:nvSpPr>
          <p:cNvPr id="22" name="Freeform 22"/>
          <p:cNvSpPr/>
          <p:nvPr/>
        </p:nvSpPr>
        <p:spPr>
          <a:xfrm>
            <a:off x="9496413" y="2125181"/>
            <a:ext cx="229984" cy="174308"/>
          </a:xfrm>
          <a:custGeom>
            <a:avLst/>
            <a:gdLst/>
            <a:ahLst/>
            <a:cxnLst/>
            <a:rect l="l" t="t" r="r" b="b"/>
            <a:pathLst>
              <a:path w="229984" h="174308">
                <a:moveTo>
                  <a:pt x="224403" y="97245"/>
                </a:moveTo>
                <a:cubicBezTo>
                  <a:pt x="229984" y="91663"/>
                  <a:pt x="229984" y="82600"/>
                  <a:pt x="224403" y="77019"/>
                </a:cubicBezTo>
                <a:lnTo>
                  <a:pt x="152966" y="5581"/>
                </a:lnTo>
                <a:cubicBezTo>
                  <a:pt x="147383" y="0"/>
                  <a:pt x="138321" y="0"/>
                  <a:pt x="132740" y="5581"/>
                </a:cubicBezTo>
                <a:cubicBezTo>
                  <a:pt x="127159" y="11162"/>
                  <a:pt x="127159" y="20226"/>
                  <a:pt x="132740" y="25807"/>
                </a:cubicBezTo>
                <a:lnTo>
                  <a:pt x="179799" y="72867"/>
                </a:lnTo>
                <a:lnTo>
                  <a:pt x="14287" y="72867"/>
                </a:lnTo>
                <a:cubicBezTo>
                  <a:pt x="6386" y="72867"/>
                  <a:pt x="0" y="79251"/>
                  <a:pt x="0" y="87154"/>
                </a:cubicBezTo>
                <a:cubicBezTo>
                  <a:pt x="0" y="95057"/>
                  <a:pt x="6386" y="101441"/>
                  <a:pt x="14287" y="101441"/>
                </a:cubicBezTo>
                <a:lnTo>
                  <a:pt x="179799" y="101441"/>
                </a:lnTo>
                <a:lnTo>
                  <a:pt x="132740" y="148501"/>
                </a:lnTo>
                <a:cubicBezTo>
                  <a:pt x="127159" y="154082"/>
                  <a:pt x="127159" y="163146"/>
                  <a:pt x="132740" y="168727"/>
                </a:cubicBezTo>
                <a:cubicBezTo>
                  <a:pt x="138321" y="174308"/>
                  <a:pt x="147383" y="174308"/>
                  <a:pt x="152966" y="168727"/>
                </a:cubicBezTo>
                <a:lnTo>
                  <a:pt x="224403" y="9728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10477500" y="1640886"/>
            <a:ext cx="609600" cy="609600"/>
          </a:xfrm>
          <a:custGeom>
            <a:avLst/>
            <a:gdLst/>
            <a:ahLst/>
            <a:cxnLst/>
            <a:rect l="l" t="t" r="r" b="b"/>
            <a:pathLst>
              <a:path w="609600" h="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10654624" y="1793270"/>
            <a:ext cx="257175" cy="304800"/>
          </a:xfrm>
          <a:prstGeom prst="rect">
            <a:avLst/>
          </a:prstGeom>
          <a:noFill/>
          <a:ln w="12700">
            <a:noFill/>
            <a:prstDash val="solid"/>
          </a:ln>
        </p:spPr>
        <p:txBody>
          <a:bodyPr wrap="square" lIns="0" tIns="0" rIns="0" bIns="0" rtlCol="0" anchor="ctr">
            <a:noAutofit/>
          </a:bodyPr>
          <a:lstStyle/>
          <a:p>
            <a:pPr indent="0" algn="ctr">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5</a:t>
            </a:r>
            <a:endParaRPr lang="en-US" sz="1100"/>
          </a:p>
        </p:txBody>
      </p:sp>
      <p:sp>
        <p:nvSpPr>
          <p:cNvPr id="25" name="AutoShape 25"/>
          <p:cNvSpPr/>
          <p:nvPr/>
        </p:nvSpPr>
        <p:spPr>
          <a:xfrm>
            <a:off x="9710711" y="2326607"/>
            <a:ext cx="21431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Submit</a:t>
            </a:r>
            <a:endParaRPr lang="en-US" sz="1100"/>
          </a:p>
        </p:txBody>
      </p:sp>
      <p:sp>
        <p:nvSpPr>
          <p:cNvPr id="26" name="AutoShape 26"/>
          <p:cNvSpPr/>
          <p:nvPr/>
        </p:nvSpPr>
        <p:spPr>
          <a:xfrm>
            <a:off x="9720236" y="2593311"/>
            <a:ext cx="21240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Pull Request</a:t>
            </a:r>
            <a:endParaRPr lang="en-US" sz="1100"/>
          </a:p>
        </p:txBody>
      </p:sp>
      <p:sp>
        <p:nvSpPr>
          <p:cNvPr id="27" name="Freeform 27"/>
          <p:cNvSpPr/>
          <p:nvPr/>
        </p:nvSpPr>
        <p:spPr>
          <a:xfrm>
            <a:off x="380956" y="3012328"/>
            <a:ext cx="11430000" cy="1333500"/>
          </a:xfrm>
          <a:custGeom>
            <a:avLst/>
            <a:gdLst/>
            <a:ahLst/>
            <a:cxnLst/>
            <a:rect l="l" t="t" r="r" b="b"/>
            <a:pathLst>
              <a:path w="11430000" h="1333500">
                <a:moveTo>
                  <a:pt x="76196" y="0"/>
                </a:moveTo>
                <a:lnTo>
                  <a:pt x="11353804" y="0"/>
                </a:lnTo>
                <a:cubicBezTo>
                  <a:pt x="11395887" y="0"/>
                  <a:pt x="11430000" y="34113"/>
                  <a:pt x="11430000" y="76196"/>
                </a:cubicBezTo>
                <a:lnTo>
                  <a:pt x="11430000" y="1257304"/>
                </a:lnTo>
                <a:cubicBezTo>
                  <a:pt x="11430000" y="1299387"/>
                  <a:pt x="11395887" y="1333500"/>
                  <a:pt x="11353804" y="1333500"/>
                </a:cubicBezTo>
                <a:lnTo>
                  <a:pt x="76196" y="1333500"/>
                </a:lnTo>
                <a:cubicBezTo>
                  <a:pt x="34113" y="1333500"/>
                  <a:pt x="0" y="1299387"/>
                  <a:pt x="0" y="1257304"/>
                </a:cubicBezTo>
                <a:lnTo>
                  <a:pt x="0" y="76196"/>
                </a:lnTo>
                <a:cubicBezTo>
                  <a:pt x="0" y="34141"/>
                  <a:pt x="34141" y="0"/>
                  <a:pt x="76196"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609529" y="3240900"/>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PR Must Include</a:t>
            </a:r>
            <a:endParaRPr lang="en-US" sz="1100"/>
          </a:p>
        </p:txBody>
      </p:sp>
      <p:sp>
        <p:nvSpPr>
          <p:cNvPr id="29" name="Freeform 29"/>
          <p:cNvSpPr/>
          <p:nvPr/>
        </p:nvSpPr>
        <p:spPr>
          <a:xfrm>
            <a:off x="666679" y="3698049"/>
            <a:ext cx="171450" cy="228600"/>
          </a:xfrm>
          <a:custGeom>
            <a:avLst/>
            <a:gdLst/>
            <a:ahLst/>
            <a:cxnLst/>
            <a:rect l="l" t="t" r="r" b="b"/>
            <a:pathLst>
              <a:path w="171450" h="228600">
                <a:moveTo>
                  <a:pt x="0" y="28575"/>
                </a:moveTo>
                <a:cubicBezTo>
                  <a:pt x="0" y="12814"/>
                  <a:pt x="12814" y="0"/>
                  <a:pt x="28575" y="0"/>
                </a:cubicBezTo>
                <a:lnTo>
                  <a:pt x="95324" y="0"/>
                </a:lnTo>
                <a:cubicBezTo>
                  <a:pt x="102914" y="0"/>
                  <a:pt x="110192" y="2991"/>
                  <a:pt x="115550" y="8349"/>
                </a:cubicBezTo>
                <a:lnTo>
                  <a:pt x="163101" y="55943"/>
                </a:lnTo>
                <a:cubicBezTo>
                  <a:pt x="168459" y="61302"/>
                  <a:pt x="171450" y="68580"/>
                  <a:pt x="171450" y="76170"/>
                </a:cubicBezTo>
                <a:lnTo>
                  <a:pt x="171450" y="200025"/>
                </a:lnTo>
                <a:cubicBezTo>
                  <a:pt x="171450" y="215786"/>
                  <a:pt x="158636" y="228600"/>
                  <a:pt x="142875" y="228600"/>
                </a:cubicBezTo>
                <a:lnTo>
                  <a:pt x="28575" y="228600"/>
                </a:lnTo>
                <a:cubicBezTo>
                  <a:pt x="12814" y="228600"/>
                  <a:pt x="0" y="215786"/>
                  <a:pt x="0" y="200025"/>
                </a:cubicBezTo>
                <a:lnTo>
                  <a:pt x="0" y="28575"/>
                </a:lnTo>
                <a:close/>
                <a:moveTo>
                  <a:pt x="92869" y="26119"/>
                </a:moveTo>
                <a:lnTo>
                  <a:pt x="92869" y="67866"/>
                </a:lnTo>
                <a:cubicBezTo>
                  <a:pt x="92869" y="73804"/>
                  <a:pt x="97646" y="78581"/>
                  <a:pt x="103584" y="78581"/>
                </a:cubicBezTo>
                <a:lnTo>
                  <a:pt x="145331" y="78581"/>
                </a:lnTo>
                <a:lnTo>
                  <a:pt x="92869" y="26119"/>
                </a:lnTo>
                <a:close/>
                <a:moveTo>
                  <a:pt x="53577" y="114300"/>
                </a:moveTo>
                <a:cubicBezTo>
                  <a:pt x="47640" y="114300"/>
                  <a:pt x="42863" y="119076"/>
                  <a:pt x="42863" y="125016"/>
                </a:cubicBezTo>
                <a:cubicBezTo>
                  <a:pt x="42863" y="130954"/>
                  <a:pt x="47640" y="135731"/>
                  <a:pt x="53577" y="135731"/>
                </a:cubicBezTo>
                <a:lnTo>
                  <a:pt x="117873" y="135731"/>
                </a:lnTo>
                <a:cubicBezTo>
                  <a:pt x="123810" y="135731"/>
                  <a:pt x="128587" y="130954"/>
                  <a:pt x="128587" y="125016"/>
                </a:cubicBezTo>
                <a:cubicBezTo>
                  <a:pt x="128587" y="119076"/>
                  <a:pt x="123810" y="114300"/>
                  <a:pt x="117873" y="114300"/>
                </a:cubicBezTo>
                <a:lnTo>
                  <a:pt x="53577" y="114300"/>
                </a:lnTo>
                <a:close/>
                <a:moveTo>
                  <a:pt x="53577" y="157163"/>
                </a:moveTo>
                <a:cubicBezTo>
                  <a:pt x="47640" y="157163"/>
                  <a:pt x="42863" y="161940"/>
                  <a:pt x="42863" y="167877"/>
                </a:cubicBezTo>
                <a:cubicBezTo>
                  <a:pt x="42863" y="173816"/>
                  <a:pt x="47640" y="178594"/>
                  <a:pt x="53577" y="178594"/>
                </a:cubicBezTo>
                <a:lnTo>
                  <a:pt x="117873" y="178594"/>
                </a:lnTo>
                <a:cubicBezTo>
                  <a:pt x="123810" y="178594"/>
                  <a:pt x="128587" y="173816"/>
                  <a:pt x="128587" y="167877"/>
                </a:cubicBezTo>
                <a:cubicBezTo>
                  <a:pt x="128587" y="161940"/>
                  <a:pt x="123810" y="157163"/>
                  <a:pt x="117873" y="157163"/>
                </a:cubicBezTo>
                <a:lnTo>
                  <a:pt x="53577" y="157163"/>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0" name="AutoShape 30"/>
          <p:cNvSpPr/>
          <p:nvPr/>
        </p:nvSpPr>
        <p:spPr>
          <a:xfrm>
            <a:off x="1009514" y="3659991"/>
            <a:ext cx="2221824" cy="26670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Description of Changes</a:t>
            </a:r>
            <a:endParaRPr lang="en-US" sz="1100"/>
          </a:p>
        </p:txBody>
      </p:sp>
      <p:sp>
        <p:nvSpPr>
          <p:cNvPr id="31" name="AutoShape 31"/>
          <p:cNvSpPr/>
          <p:nvPr/>
        </p:nvSpPr>
        <p:spPr>
          <a:xfrm>
            <a:off x="1009514" y="3926695"/>
            <a:ext cx="3101848" cy="266598"/>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Clearly describe what was changed in this PR</a:t>
            </a:r>
            <a:endParaRPr lang="en-US" sz="1100"/>
          </a:p>
        </p:txBody>
      </p:sp>
      <p:sp>
        <p:nvSpPr>
          <p:cNvPr id="32" name="Freeform 32"/>
          <p:cNvSpPr/>
          <p:nvPr/>
        </p:nvSpPr>
        <p:spPr>
          <a:xfrm>
            <a:off x="4371913" y="3698049"/>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114300" y="78581"/>
                </a:moveTo>
                <a:cubicBezTo>
                  <a:pt x="106397" y="78581"/>
                  <a:pt x="100013" y="84966"/>
                  <a:pt x="100013" y="92869"/>
                </a:cubicBezTo>
                <a:cubicBezTo>
                  <a:pt x="100013" y="98807"/>
                  <a:pt x="95235" y="103584"/>
                  <a:pt x="89298" y="103584"/>
                </a:cubicBezTo>
                <a:cubicBezTo>
                  <a:pt x="83359" y="103584"/>
                  <a:pt x="78581" y="98807"/>
                  <a:pt x="78581" y="92869"/>
                </a:cubicBezTo>
                <a:cubicBezTo>
                  <a:pt x="78581" y="73134"/>
                  <a:pt x="94565" y="57150"/>
                  <a:pt x="114300" y="57150"/>
                </a:cubicBezTo>
                <a:cubicBezTo>
                  <a:pt x="134035" y="57150"/>
                  <a:pt x="150019" y="73134"/>
                  <a:pt x="150019" y="92869"/>
                </a:cubicBezTo>
                <a:cubicBezTo>
                  <a:pt x="150019" y="113943"/>
                  <a:pt x="133946" y="122873"/>
                  <a:pt x="125016" y="126133"/>
                </a:cubicBezTo>
                <a:lnTo>
                  <a:pt x="125016" y="127828"/>
                </a:lnTo>
                <a:cubicBezTo>
                  <a:pt x="125016" y="133767"/>
                  <a:pt x="120239" y="138544"/>
                  <a:pt x="114300" y="138544"/>
                </a:cubicBezTo>
                <a:cubicBezTo>
                  <a:pt x="108361" y="138544"/>
                  <a:pt x="103584" y="133767"/>
                  <a:pt x="103584" y="127828"/>
                </a:cubicBezTo>
                <a:lnTo>
                  <a:pt x="103584" y="124212"/>
                </a:lnTo>
                <a:cubicBezTo>
                  <a:pt x="103584" y="115059"/>
                  <a:pt x="110192" y="108496"/>
                  <a:pt x="117024" y="106263"/>
                </a:cubicBezTo>
                <a:cubicBezTo>
                  <a:pt x="119880" y="105326"/>
                  <a:pt x="122917" y="103809"/>
                  <a:pt x="125150" y="101663"/>
                </a:cubicBezTo>
                <a:cubicBezTo>
                  <a:pt x="127069" y="99789"/>
                  <a:pt x="128587" y="97199"/>
                  <a:pt x="128587" y="92913"/>
                </a:cubicBezTo>
                <a:cubicBezTo>
                  <a:pt x="128587" y="85011"/>
                  <a:pt x="122203" y="78626"/>
                  <a:pt x="114300" y="78626"/>
                </a:cubicBezTo>
                <a:close/>
                <a:moveTo>
                  <a:pt x="100013" y="164306"/>
                </a:moveTo>
                <a:cubicBezTo>
                  <a:pt x="100013" y="156421"/>
                  <a:pt x="106415" y="150019"/>
                  <a:pt x="114300" y="150019"/>
                </a:cubicBezTo>
                <a:cubicBezTo>
                  <a:pt x="122185" y="150019"/>
                  <a:pt x="128587" y="156421"/>
                  <a:pt x="128587" y="164306"/>
                </a:cubicBezTo>
                <a:cubicBezTo>
                  <a:pt x="128587" y="172192"/>
                  <a:pt x="122185" y="178594"/>
                  <a:pt x="114300" y="178594"/>
                </a:cubicBezTo>
                <a:cubicBezTo>
                  <a:pt x="106415" y="178594"/>
                  <a:pt x="100013" y="172192"/>
                  <a:pt x="100013" y="164306"/>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4743323" y="3659991"/>
            <a:ext cx="16859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Reason for Changes</a:t>
            </a:r>
            <a:endParaRPr lang="en-US" sz="1100"/>
          </a:p>
        </p:txBody>
      </p:sp>
      <p:sp>
        <p:nvSpPr>
          <p:cNvPr id="34" name="AutoShape 34"/>
          <p:cNvSpPr/>
          <p:nvPr/>
        </p:nvSpPr>
        <p:spPr>
          <a:xfrm>
            <a:off x="4743323" y="3926694"/>
            <a:ext cx="2853784" cy="228513"/>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Explain why this modification is necessary</a:t>
            </a:r>
            <a:endParaRPr lang="en-US" sz="1100"/>
          </a:p>
        </p:txBody>
      </p:sp>
      <p:sp>
        <p:nvSpPr>
          <p:cNvPr id="35" name="Freeform 35"/>
          <p:cNvSpPr/>
          <p:nvPr/>
        </p:nvSpPr>
        <p:spPr>
          <a:xfrm>
            <a:off x="8105722" y="3696665"/>
            <a:ext cx="230029" cy="229984"/>
          </a:xfrm>
          <a:custGeom>
            <a:avLst/>
            <a:gdLst/>
            <a:ahLst/>
            <a:cxnLst/>
            <a:rect l="l" t="t" r="r" b="b"/>
            <a:pathLst>
              <a:path w="230029" h="229984">
                <a:moveTo>
                  <a:pt x="152966" y="5581"/>
                </a:moveTo>
                <a:cubicBezTo>
                  <a:pt x="147384" y="0"/>
                  <a:pt x="138321" y="0"/>
                  <a:pt x="132740" y="5581"/>
                </a:cubicBezTo>
                <a:cubicBezTo>
                  <a:pt x="127159" y="11162"/>
                  <a:pt x="127159" y="20226"/>
                  <a:pt x="132740" y="25807"/>
                </a:cubicBezTo>
                <a:lnTo>
                  <a:pt x="136936" y="29959"/>
                </a:lnTo>
                <a:lnTo>
                  <a:pt x="12546" y="154350"/>
                </a:lnTo>
                <a:cubicBezTo>
                  <a:pt x="4509" y="162386"/>
                  <a:pt x="0" y="173280"/>
                  <a:pt x="0" y="184667"/>
                </a:cubicBezTo>
                <a:lnTo>
                  <a:pt x="0" y="187121"/>
                </a:lnTo>
                <a:cubicBezTo>
                  <a:pt x="0" y="210785"/>
                  <a:pt x="19199" y="229984"/>
                  <a:pt x="42863" y="229984"/>
                </a:cubicBezTo>
                <a:lnTo>
                  <a:pt x="45317" y="229984"/>
                </a:lnTo>
                <a:cubicBezTo>
                  <a:pt x="56704" y="229984"/>
                  <a:pt x="67598" y="225475"/>
                  <a:pt x="75634" y="217438"/>
                </a:cubicBezTo>
                <a:lnTo>
                  <a:pt x="200025" y="93048"/>
                </a:lnTo>
                <a:lnTo>
                  <a:pt x="204222" y="97244"/>
                </a:lnTo>
                <a:cubicBezTo>
                  <a:pt x="209803" y="102825"/>
                  <a:pt x="218867" y="102825"/>
                  <a:pt x="224448" y="97244"/>
                </a:cubicBezTo>
                <a:cubicBezTo>
                  <a:pt x="230029" y="91663"/>
                  <a:pt x="230029" y="82600"/>
                  <a:pt x="224448" y="77018"/>
                </a:cubicBezTo>
                <a:lnTo>
                  <a:pt x="153010" y="5581"/>
                </a:lnTo>
                <a:close/>
                <a:moveTo>
                  <a:pt x="91664" y="115684"/>
                </a:moveTo>
                <a:lnTo>
                  <a:pt x="157163" y="50185"/>
                </a:lnTo>
                <a:lnTo>
                  <a:pt x="179799" y="72821"/>
                </a:lnTo>
                <a:lnTo>
                  <a:pt x="136936" y="115684"/>
                </a:lnTo>
                <a:lnTo>
                  <a:pt x="91619" y="115684"/>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6" name="AutoShape 36"/>
          <p:cNvSpPr/>
          <p:nvPr/>
        </p:nvSpPr>
        <p:spPr>
          <a:xfrm>
            <a:off x="8477131" y="3659991"/>
            <a:ext cx="15525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Related Tests</a:t>
            </a:r>
            <a:endParaRPr lang="en-US" sz="1100"/>
          </a:p>
        </p:txBody>
      </p:sp>
      <p:sp>
        <p:nvSpPr>
          <p:cNvPr id="37" name="AutoShape 37"/>
          <p:cNvSpPr/>
          <p:nvPr/>
        </p:nvSpPr>
        <p:spPr>
          <a:xfrm>
            <a:off x="8477131" y="3926695"/>
            <a:ext cx="2705355" cy="266598"/>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If applicable, provide test cases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0090" y="611505"/>
            <a:ext cx="451294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Issue: How to Report a Bug</a:t>
            </a:r>
            <a:endParaRPr lang="en-US" sz="1100"/>
          </a:p>
        </p:txBody>
      </p:sp>
      <p:sp>
        <p:nvSpPr>
          <p:cNvPr id="3" name="AutoShape 3"/>
          <p:cNvSpPr/>
          <p:nvPr/>
        </p:nvSpPr>
        <p:spPr>
          <a:xfrm>
            <a:off x="380956" y="1640886"/>
            <a:ext cx="64579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When reporting a Bug in GitHub Issues, you need to provide:</a:t>
            </a:r>
            <a:endParaRPr lang="en-US" sz="1100"/>
          </a:p>
        </p:txBody>
      </p:sp>
      <p:sp>
        <p:nvSpPr>
          <p:cNvPr id="4" name="Freeform 4"/>
          <p:cNvSpPr/>
          <p:nvPr/>
        </p:nvSpPr>
        <p:spPr>
          <a:xfrm>
            <a:off x="399911" y="2059972"/>
            <a:ext cx="6343555" cy="495300"/>
          </a:xfrm>
          <a:custGeom>
            <a:avLst/>
            <a:gdLst/>
            <a:ahLst/>
            <a:cxnLst/>
            <a:rect l="l" t="t" r="r" b="b"/>
            <a:pathLst>
              <a:path w="6343555" h="495300">
                <a:moveTo>
                  <a:pt x="37909" y="0"/>
                </a:moveTo>
                <a:lnTo>
                  <a:pt x="6267353" y="0"/>
                </a:lnTo>
                <a:cubicBezTo>
                  <a:pt x="6309437" y="0"/>
                  <a:pt x="6343555" y="34117"/>
                  <a:pt x="6343555" y="76203"/>
                </a:cubicBezTo>
                <a:lnTo>
                  <a:pt x="6343555" y="419097"/>
                </a:lnTo>
                <a:cubicBezTo>
                  <a:pt x="6343555" y="461183"/>
                  <a:pt x="6309437" y="495300"/>
                  <a:pt x="6267353" y="495300"/>
                </a:cubicBezTo>
                <a:lnTo>
                  <a:pt x="37909" y="495300"/>
                </a:lnTo>
                <a:cubicBezTo>
                  <a:pt x="16974" y="495300"/>
                  <a:pt x="0" y="478326"/>
                  <a:pt x="0" y="457390"/>
                </a:cubicBezTo>
                <a:lnTo>
                  <a:pt x="0" y="37910"/>
                </a:lnTo>
                <a:cubicBezTo>
                  <a:pt x="0" y="16988"/>
                  <a:pt x="16988" y="0"/>
                  <a:pt x="3790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399911" y="2059972"/>
            <a:ext cx="37909" cy="495300"/>
          </a:xfrm>
          <a:custGeom>
            <a:avLst/>
            <a:gdLst/>
            <a:ahLst/>
            <a:cxnLst/>
            <a:rect l="l" t="t" r="r" b="b"/>
            <a:pathLst>
              <a:path w="37909" h="495300">
                <a:moveTo>
                  <a:pt x="37909" y="0"/>
                </a:moveTo>
                <a:lnTo>
                  <a:pt x="37909" y="0"/>
                </a:lnTo>
                <a:lnTo>
                  <a:pt x="37909" y="495300"/>
                </a:lnTo>
                <a:lnTo>
                  <a:pt x="37909" y="495300"/>
                </a:lnTo>
                <a:cubicBezTo>
                  <a:pt x="16974" y="495300"/>
                  <a:pt x="0" y="478326"/>
                  <a:pt x="0" y="4573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568834" y="2224190"/>
            <a:ext cx="166688" cy="166688"/>
          </a:xfrm>
          <a:custGeom>
            <a:avLst/>
            <a:gdLst/>
            <a:ahLst/>
            <a:cxnLst/>
            <a:rect l="l" t="t" r="r" b="b"/>
            <a:pathLst>
              <a:path w="166688" h="166688">
                <a:moveTo>
                  <a:pt x="0" y="11906"/>
                </a:moveTo>
                <a:cubicBezTo>
                  <a:pt x="0" y="5322"/>
                  <a:pt x="5321" y="0"/>
                  <a:pt x="11906" y="0"/>
                </a:cubicBezTo>
                <a:lnTo>
                  <a:pt x="47625" y="0"/>
                </a:lnTo>
                <a:cubicBezTo>
                  <a:pt x="54211" y="0"/>
                  <a:pt x="59531" y="5322"/>
                  <a:pt x="59531" y="11906"/>
                </a:cubicBezTo>
                <a:cubicBezTo>
                  <a:pt x="59531" y="18491"/>
                  <a:pt x="54211" y="23813"/>
                  <a:pt x="47625" y="23813"/>
                </a:cubicBezTo>
                <a:lnTo>
                  <a:pt x="41673" y="23813"/>
                </a:lnTo>
                <a:lnTo>
                  <a:pt x="41673" y="65485"/>
                </a:lnTo>
                <a:lnTo>
                  <a:pt x="125016" y="65485"/>
                </a:lnTo>
                <a:lnTo>
                  <a:pt x="125016" y="23813"/>
                </a:lnTo>
                <a:lnTo>
                  <a:pt x="119062" y="23813"/>
                </a:lnTo>
                <a:cubicBezTo>
                  <a:pt x="112478" y="23813"/>
                  <a:pt x="107156" y="18491"/>
                  <a:pt x="107156" y="11906"/>
                </a:cubicBezTo>
                <a:cubicBezTo>
                  <a:pt x="107156" y="5322"/>
                  <a:pt x="112478" y="0"/>
                  <a:pt x="119062" y="0"/>
                </a:cubicBezTo>
                <a:lnTo>
                  <a:pt x="154781" y="0"/>
                </a:lnTo>
                <a:cubicBezTo>
                  <a:pt x="161367" y="0"/>
                  <a:pt x="166688" y="5322"/>
                  <a:pt x="166688" y="11906"/>
                </a:cubicBezTo>
                <a:cubicBezTo>
                  <a:pt x="166688" y="18491"/>
                  <a:pt x="161367" y="23813"/>
                  <a:pt x="154781" y="23813"/>
                </a:cubicBezTo>
                <a:lnTo>
                  <a:pt x="148827" y="23813"/>
                </a:lnTo>
                <a:lnTo>
                  <a:pt x="148827" y="142875"/>
                </a:lnTo>
                <a:lnTo>
                  <a:pt x="154781" y="142875"/>
                </a:lnTo>
                <a:cubicBezTo>
                  <a:pt x="161367" y="142875"/>
                  <a:pt x="166688" y="148197"/>
                  <a:pt x="166688" y="154782"/>
                </a:cubicBezTo>
                <a:cubicBezTo>
                  <a:pt x="166688" y="161366"/>
                  <a:pt x="161367" y="166688"/>
                  <a:pt x="154781" y="166688"/>
                </a:cubicBezTo>
                <a:lnTo>
                  <a:pt x="119062" y="166688"/>
                </a:lnTo>
                <a:cubicBezTo>
                  <a:pt x="112478" y="166688"/>
                  <a:pt x="107156" y="161366"/>
                  <a:pt x="107156" y="154782"/>
                </a:cubicBezTo>
                <a:cubicBezTo>
                  <a:pt x="107156" y="148197"/>
                  <a:pt x="112478" y="142875"/>
                  <a:pt x="119062" y="142875"/>
                </a:cubicBezTo>
                <a:lnTo>
                  <a:pt x="125016" y="142875"/>
                </a:lnTo>
                <a:lnTo>
                  <a:pt x="125016" y="89296"/>
                </a:lnTo>
                <a:lnTo>
                  <a:pt x="41673" y="89296"/>
                </a:lnTo>
                <a:lnTo>
                  <a:pt x="41673" y="142875"/>
                </a:lnTo>
                <a:lnTo>
                  <a:pt x="47625" y="142875"/>
                </a:lnTo>
                <a:cubicBezTo>
                  <a:pt x="54211" y="142875"/>
                  <a:pt x="59531" y="148197"/>
                  <a:pt x="59531" y="154782"/>
                </a:cubicBezTo>
                <a:cubicBezTo>
                  <a:pt x="59531" y="161366"/>
                  <a:pt x="54211" y="166688"/>
                  <a:pt x="47625" y="166688"/>
                </a:cubicBezTo>
                <a:lnTo>
                  <a:pt x="11906" y="166688"/>
                </a:lnTo>
                <a:cubicBezTo>
                  <a:pt x="5321" y="166688"/>
                  <a:pt x="0" y="161366"/>
                  <a:pt x="0" y="154782"/>
                </a:cubicBezTo>
                <a:cubicBezTo>
                  <a:pt x="0" y="148197"/>
                  <a:pt x="5321" y="142875"/>
                  <a:pt x="11906" y="142875"/>
                </a:cubicBezTo>
                <a:lnTo>
                  <a:pt x="17859" y="142875"/>
                </a:lnTo>
                <a:lnTo>
                  <a:pt x="17859" y="23813"/>
                </a:lnTo>
                <a:lnTo>
                  <a:pt x="11906" y="23813"/>
                </a:lnTo>
                <a:cubicBezTo>
                  <a:pt x="5321" y="23813"/>
                  <a:pt x="0" y="18491"/>
                  <a:pt x="0" y="11906"/>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885190" y="2174240"/>
            <a:ext cx="249745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Brief problem description</a:t>
            </a:r>
            <a:endParaRPr lang="en-US" sz="1100"/>
          </a:p>
        </p:txBody>
      </p:sp>
      <p:sp>
        <p:nvSpPr>
          <p:cNvPr id="8" name="Freeform 8"/>
          <p:cNvSpPr/>
          <p:nvPr/>
        </p:nvSpPr>
        <p:spPr>
          <a:xfrm>
            <a:off x="399911" y="2669428"/>
            <a:ext cx="6343555" cy="495300"/>
          </a:xfrm>
          <a:custGeom>
            <a:avLst/>
            <a:gdLst/>
            <a:ahLst/>
            <a:cxnLst/>
            <a:rect l="l" t="t" r="r" b="b"/>
            <a:pathLst>
              <a:path w="6343555" h="495300">
                <a:moveTo>
                  <a:pt x="37909" y="0"/>
                </a:moveTo>
                <a:lnTo>
                  <a:pt x="6267353" y="0"/>
                </a:lnTo>
                <a:cubicBezTo>
                  <a:pt x="6309437" y="0"/>
                  <a:pt x="6343555" y="34117"/>
                  <a:pt x="6343555" y="76203"/>
                </a:cubicBezTo>
                <a:lnTo>
                  <a:pt x="6343555" y="419097"/>
                </a:lnTo>
                <a:cubicBezTo>
                  <a:pt x="6343555" y="461183"/>
                  <a:pt x="6309437" y="495300"/>
                  <a:pt x="6267353" y="495300"/>
                </a:cubicBezTo>
                <a:lnTo>
                  <a:pt x="37909" y="495300"/>
                </a:lnTo>
                <a:cubicBezTo>
                  <a:pt x="16974" y="495300"/>
                  <a:pt x="0" y="478326"/>
                  <a:pt x="0" y="457390"/>
                </a:cubicBezTo>
                <a:lnTo>
                  <a:pt x="0" y="37910"/>
                </a:lnTo>
                <a:cubicBezTo>
                  <a:pt x="0" y="16988"/>
                  <a:pt x="16988" y="0"/>
                  <a:pt x="3790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399911" y="2669428"/>
            <a:ext cx="37909" cy="495300"/>
          </a:xfrm>
          <a:custGeom>
            <a:avLst/>
            <a:gdLst/>
            <a:ahLst/>
            <a:cxnLst/>
            <a:rect l="l" t="t" r="r" b="b"/>
            <a:pathLst>
              <a:path w="37909" h="495300">
                <a:moveTo>
                  <a:pt x="37909" y="0"/>
                </a:moveTo>
                <a:lnTo>
                  <a:pt x="37909" y="0"/>
                </a:lnTo>
                <a:lnTo>
                  <a:pt x="37909" y="495300"/>
                </a:lnTo>
                <a:lnTo>
                  <a:pt x="37909" y="495300"/>
                </a:lnTo>
                <a:cubicBezTo>
                  <a:pt x="16974" y="495300"/>
                  <a:pt x="0" y="478326"/>
                  <a:pt x="0" y="4573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555737" y="2839594"/>
            <a:ext cx="191691" cy="154783"/>
          </a:xfrm>
          <a:custGeom>
            <a:avLst/>
            <a:gdLst/>
            <a:ahLst/>
            <a:cxnLst/>
            <a:rect l="l" t="t" r="r" b="b"/>
            <a:pathLst>
              <a:path w="191691" h="154783">
                <a:moveTo>
                  <a:pt x="1191" y="8930"/>
                </a:moveTo>
                <a:cubicBezTo>
                  <a:pt x="1191" y="4019"/>
                  <a:pt x="5172" y="0"/>
                  <a:pt x="10120" y="0"/>
                </a:cubicBezTo>
                <a:lnTo>
                  <a:pt x="27980" y="0"/>
                </a:lnTo>
                <a:cubicBezTo>
                  <a:pt x="32930" y="0"/>
                  <a:pt x="36910" y="3982"/>
                  <a:pt x="36910" y="8930"/>
                </a:cubicBezTo>
                <a:lnTo>
                  <a:pt x="36910" y="47625"/>
                </a:lnTo>
                <a:lnTo>
                  <a:pt x="45839" y="47625"/>
                </a:lnTo>
                <a:cubicBezTo>
                  <a:pt x="50788" y="47625"/>
                  <a:pt x="54768" y="51607"/>
                  <a:pt x="54768" y="56555"/>
                </a:cubicBezTo>
                <a:cubicBezTo>
                  <a:pt x="54768" y="61505"/>
                  <a:pt x="50788" y="65485"/>
                  <a:pt x="45839" y="65485"/>
                </a:cubicBezTo>
                <a:lnTo>
                  <a:pt x="10120" y="65485"/>
                </a:lnTo>
                <a:cubicBezTo>
                  <a:pt x="5172" y="65485"/>
                  <a:pt x="1191" y="61505"/>
                  <a:pt x="1191" y="56555"/>
                </a:cubicBezTo>
                <a:cubicBezTo>
                  <a:pt x="1191" y="51607"/>
                  <a:pt x="5172" y="47625"/>
                  <a:pt x="10120" y="47625"/>
                </a:cubicBezTo>
                <a:lnTo>
                  <a:pt x="19050" y="47625"/>
                </a:lnTo>
                <a:lnTo>
                  <a:pt x="19050" y="17860"/>
                </a:lnTo>
                <a:lnTo>
                  <a:pt x="10120" y="17860"/>
                </a:lnTo>
                <a:cubicBezTo>
                  <a:pt x="5172" y="17860"/>
                  <a:pt x="1191" y="13880"/>
                  <a:pt x="1191" y="8930"/>
                </a:cubicBezTo>
                <a:close/>
                <a:moveTo>
                  <a:pt x="12502" y="94210"/>
                </a:moveTo>
                <a:cubicBezTo>
                  <a:pt x="16743" y="91009"/>
                  <a:pt x="21915" y="89297"/>
                  <a:pt x="27236" y="89297"/>
                </a:cubicBezTo>
                <a:lnTo>
                  <a:pt x="29059" y="89297"/>
                </a:lnTo>
                <a:cubicBezTo>
                  <a:pt x="41599" y="89297"/>
                  <a:pt x="51793" y="99492"/>
                  <a:pt x="51793" y="112032"/>
                </a:cubicBezTo>
                <a:cubicBezTo>
                  <a:pt x="51793" y="119323"/>
                  <a:pt x="48295" y="126132"/>
                  <a:pt x="42416" y="130411"/>
                </a:cubicBezTo>
                <a:lnTo>
                  <a:pt x="33487" y="136922"/>
                </a:lnTo>
                <a:lnTo>
                  <a:pt x="45839" y="136922"/>
                </a:lnTo>
                <a:cubicBezTo>
                  <a:pt x="50788" y="136922"/>
                  <a:pt x="54768" y="140902"/>
                  <a:pt x="54768" y="145852"/>
                </a:cubicBezTo>
                <a:cubicBezTo>
                  <a:pt x="54768" y="150800"/>
                  <a:pt x="50788" y="154782"/>
                  <a:pt x="45839" y="154782"/>
                </a:cubicBezTo>
                <a:lnTo>
                  <a:pt x="12093" y="154782"/>
                </a:lnTo>
                <a:cubicBezTo>
                  <a:pt x="6065" y="154782"/>
                  <a:pt x="1191" y="149908"/>
                  <a:pt x="1191" y="143881"/>
                </a:cubicBezTo>
                <a:cubicBezTo>
                  <a:pt x="1191" y="140383"/>
                  <a:pt x="2865" y="137108"/>
                  <a:pt x="5693" y="135062"/>
                </a:cubicBezTo>
                <a:lnTo>
                  <a:pt x="31924" y="115975"/>
                </a:lnTo>
                <a:cubicBezTo>
                  <a:pt x="33189" y="115045"/>
                  <a:pt x="33933" y="113594"/>
                  <a:pt x="33933" y="112032"/>
                </a:cubicBezTo>
                <a:cubicBezTo>
                  <a:pt x="33933" y="109352"/>
                  <a:pt x="31738" y="107157"/>
                  <a:pt x="29059" y="107157"/>
                </a:cubicBezTo>
                <a:lnTo>
                  <a:pt x="27236" y="107157"/>
                </a:lnTo>
                <a:cubicBezTo>
                  <a:pt x="25785" y="107157"/>
                  <a:pt x="24371" y="107640"/>
                  <a:pt x="23218" y="108496"/>
                </a:cubicBezTo>
                <a:lnTo>
                  <a:pt x="15479" y="114300"/>
                </a:lnTo>
                <a:cubicBezTo>
                  <a:pt x="11535" y="117277"/>
                  <a:pt x="5953" y="116457"/>
                  <a:pt x="2977" y="112514"/>
                </a:cubicBezTo>
                <a:cubicBezTo>
                  <a:pt x="0" y="108570"/>
                  <a:pt x="819" y="102989"/>
                  <a:pt x="4764" y="100014"/>
                </a:cubicBezTo>
                <a:lnTo>
                  <a:pt x="12502" y="94210"/>
                </a:lnTo>
                <a:close/>
                <a:moveTo>
                  <a:pt x="84535" y="5954"/>
                </a:moveTo>
                <a:lnTo>
                  <a:pt x="179785" y="5954"/>
                </a:lnTo>
                <a:cubicBezTo>
                  <a:pt x="186370" y="5954"/>
                  <a:pt x="191691" y="11274"/>
                  <a:pt x="191691" y="17860"/>
                </a:cubicBezTo>
                <a:cubicBezTo>
                  <a:pt x="191691" y="24445"/>
                  <a:pt x="186370" y="29766"/>
                  <a:pt x="179785" y="29766"/>
                </a:cubicBezTo>
                <a:lnTo>
                  <a:pt x="84535" y="29766"/>
                </a:lnTo>
                <a:cubicBezTo>
                  <a:pt x="77949" y="29766"/>
                  <a:pt x="72629" y="24445"/>
                  <a:pt x="72629" y="17860"/>
                </a:cubicBezTo>
                <a:cubicBezTo>
                  <a:pt x="72629" y="11274"/>
                  <a:pt x="77949" y="5954"/>
                  <a:pt x="84535" y="5954"/>
                </a:cubicBezTo>
                <a:close/>
                <a:moveTo>
                  <a:pt x="84535" y="65485"/>
                </a:moveTo>
                <a:lnTo>
                  <a:pt x="179785" y="65485"/>
                </a:lnTo>
                <a:cubicBezTo>
                  <a:pt x="186370" y="65485"/>
                  <a:pt x="191691" y="70805"/>
                  <a:pt x="191691" y="77391"/>
                </a:cubicBezTo>
                <a:cubicBezTo>
                  <a:pt x="191691" y="83977"/>
                  <a:pt x="186370" y="89297"/>
                  <a:pt x="179785" y="89297"/>
                </a:cubicBezTo>
                <a:lnTo>
                  <a:pt x="84535" y="89297"/>
                </a:lnTo>
                <a:cubicBezTo>
                  <a:pt x="77949" y="89297"/>
                  <a:pt x="72629" y="83977"/>
                  <a:pt x="72629" y="77391"/>
                </a:cubicBezTo>
                <a:cubicBezTo>
                  <a:pt x="72629" y="70805"/>
                  <a:pt x="77949" y="65485"/>
                  <a:pt x="84535" y="65485"/>
                </a:cubicBezTo>
                <a:close/>
                <a:moveTo>
                  <a:pt x="84535" y="125016"/>
                </a:moveTo>
                <a:lnTo>
                  <a:pt x="179785" y="125016"/>
                </a:lnTo>
                <a:cubicBezTo>
                  <a:pt x="186370" y="125016"/>
                  <a:pt x="191691" y="130337"/>
                  <a:pt x="191691" y="136922"/>
                </a:cubicBezTo>
                <a:cubicBezTo>
                  <a:pt x="191691" y="143508"/>
                  <a:pt x="186370" y="148828"/>
                  <a:pt x="179785" y="148828"/>
                </a:cubicBezTo>
                <a:lnTo>
                  <a:pt x="84535" y="148828"/>
                </a:lnTo>
                <a:cubicBezTo>
                  <a:pt x="77949" y="148828"/>
                  <a:pt x="72629" y="143508"/>
                  <a:pt x="72629" y="136922"/>
                </a:cubicBezTo>
                <a:cubicBezTo>
                  <a:pt x="72629" y="130337"/>
                  <a:pt x="77949" y="125016"/>
                  <a:pt x="84535" y="125016"/>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885190" y="2783840"/>
            <a:ext cx="330200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Steps to reproduce</a:t>
            </a:r>
            <a:endParaRPr lang="en-US" sz="1100"/>
          </a:p>
        </p:txBody>
      </p:sp>
      <p:sp>
        <p:nvSpPr>
          <p:cNvPr id="12" name="Freeform 12"/>
          <p:cNvSpPr/>
          <p:nvPr/>
        </p:nvSpPr>
        <p:spPr>
          <a:xfrm>
            <a:off x="399911" y="3278884"/>
            <a:ext cx="6343555" cy="495300"/>
          </a:xfrm>
          <a:custGeom>
            <a:avLst/>
            <a:gdLst/>
            <a:ahLst/>
            <a:cxnLst/>
            <a:rect l="l" t="t" r="r" b="b"/>
            <a:pathLst>
              <a:path w="6343555" h="495300">
                <a:moveTo>
                  <a:pt x="37909" y="0"/>
                </a:moveTo>
                <a:lnTo>
                  <a:pt x="6267353" y="0"/>
                </a:lnTo>
                <a:cubicBezTo>
                  <a:pt x="6309437" y="0"/>
                  <a:pt x="6343555" y="34117"/>
                  <a:pt x="6343555" y="76203"/>
                </a:cubicBezTo>
                <a:lnTo>
                  <a:pt x="6343555" y="419097"/>
                </a:lnTo>
                <a:cubicBezTo>
                  <a:pt x="6343555" y="461183"/>
                  <a:pt x="6309437" y="495300"/>
                  <a:pt x="6267353" y="495300"/>
                </a:cubicBezTo>
                <a:lnTo>
                  <a:pt x="37909" y="495300"/>
                </a:lnTo>
                <a:cubicBezTo>
                  <a:pt x="16974" y="495300"/>
                  <a:pt x="0" y="478326"/>
                  <a:pt x="0" y="457390"/>
                </a:cubicBezTo>
                <a:lnTo>
                  <a:pt x="0" y="37910"/>
                </a:lnTo>
                <a:cubicBezTo>
                  <a:pt x="0" y="16988"/>
                  <a:pt x="16988" y="0"/>
                  <a:pt x="3790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399911" y="3278884"/>
            <a:ext cx="37909" cy="495300"/>
          </a:xfrm>
          <a:custGeom>
            <a:avLst/>
            <a:gdLst/>
            <a:ahLst/>
            <a:cxnLst/>
            <a:rect l="l" t="t" r="r" b="b"/>
            <a:pathLst>
              <a:path w="37909" h="495300">
                <a:moveTo>
                  <a:pt x="37909" y="0"/>
                </a:moveTo>
                <a:lnTo>
                  <a:pt x="37909" y="0"/>
                </a:lnTo>
                <a:lnTo>
                  <a:pt x="37909" y="495300"/>
                </a:lnTo>
                <a:lnTo>
                  <a:pt x="37909" y="495300"/>
                </a:lnTo>
                <a:cubicBezTo>
                  <a:pt x="16974" y="495300"/>
                  <a:pt x="0" y="478326"/>
                  <a:pt x="0" y="4573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556928" y="3431191"/>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83344" y="59531"/>
                </a:moveTo>
                <a:cubicBezTo>
                  <a:pt x="83344" y="52960"/>
                  <a:pt x="88679" y="47625"/>
                  <a:pt x="95250" y="47625"/>
                </a:cubicBezTo>
                <a:cubicBezTo>
                  <a:pt x="101821" y="47625"/>
                  <a:pt x="107156" y="52960"/>
                  <a:pt x="107156" y="59531"/>
                </a:cubicBezTo>
                <a:cubicBezTo>
                  <a:pt x="107156" y="66102"/>
                  <a:pt x="101821" y="71438"/>
                  <a:pt x="95250" y="71438"/>
                </a:cubicBezTo>
                <a:cubicBezTo>
                  <a:pt x="88679" y="71438"/>
                  <a:pt x="83344" y="66102"/>
                  <a:pt x="83344" y="59531"/>
                </a:cubicBezTo>
                <a:close/>
                <a:moveTo>
                  <a:pt x="80367" y="83344"/>
                </a:moveTo>
                <a:lnTo>
                  <a:pt x="98227" y="83344"/>
                </a:lnTo>
                <a:cubicBezTo>
                  <a:pt x="103175" y="83344"/>
                  <a:pt x="107156" y="87325"/>
                  <a:pt x="107156" y="92273"/>
                </a:cubicBezTo>
                <a:lnTo>
                  <a:pt x="107156" y="125016"/>
                </a:lnTo>
                <a:lnTo>
                  <a:pt x="110133" y="125016"/>
                </a:lnTo>
                <a:cubicBezTo>
                  <a:pt x="115081" y="125016"/>
                  <a:pt x="119062" y="128996"/>
                  <a:pt x="119062" y="133946"/>
                </a:cubicBezTo>
                <a:cubicBezTo>
                  <a:pt x="119062" y="138894"/>
                  <a:pt x="115081" y="142875"/>
                  <a:pt x="110133" y="142875"/>
                </a:cubicBezTo>
                <a:lnTo>
                  <a:pt x="80367" y="142875"/>
                </a:lnTo>
                <a:cubicBezTo>
                  <a:pt x="75419" y="142875"/>
                  <a:pt x="71438" y="138894"/>
                  <a:pt x="71438" y="133946"/>
                </a:cubicBezTo>
                <a:cubicBezTo>
                  <a:pt x="71438" y="128996"/>
                  <a:pt x="75419" y="125016"/>
                  <a:pt x="80367" y="125016"/>
                </a:cubicBezTo>
                <a:lnTo>
                  <a:pt x="89298" y="125016"/>
                </a:lnTo>
                <a:lnTo>
                  <a:pt x="89298" y="101202"/>
                </a:lnTo>
                <a:lnTo>
                  <a:pt x="80367" y="101202"/>
                </a:lnTo>
                <a:cubicBezTo>
                  <a:pt x="75419" y="101202"/>
                  <a:pt x="71438" y="97222"/>
                  <a:pt x="71438" y="92273"/>
                </a:cubicBezTo>
                <a:cubicBezTo>
                  <a:pt x="71438" y="87325"/>
                  <a:pt x="75419" y="83344"/>
                  <a:pt x="80367" y="83344"/>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885190" y="3393440"/>
            <a:ext cx="260540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Accurate problem description</a:t>
            </a:r>
            <a:endParaRPr lang="en-US" sz="1100"/>
          </a:p>
        </p:txBody>
      </p:sp>
      <p:sp>
        <p:nvSpPr>
          <p:cNvPr id="16" name="Freeform 16"/>
          <p:cNvSpPr/>
          <p:nvPr/>
        </p:nvSpPr>
        <p:spPr>
          <a:xfrm>
            <a:off x="399911" y="3888339"/>
            <a:ext cx="6343555" cy="495300"/>
          </a:xfrm>
          <a:custGeom>
            <a:avLst/>
            <a:gdLst/>
            <a:ahLst/>
            <a:cxnLst/>
            <a:rect l="l" t="t" r="r" b="b"/>
            <a:pathLst>
              <a:path w="6343555" h="495300">
                <a:moveTo>
                  <a:pt x="37909" y="0"/>
                </a:moveTo>
                <a:lnTo>
                  <a:pt x="6267353" y="0"/>
                </a:lnTo>
                <a:cubicBezTo>
                  <a:pt x="6309437" y="0"/>
                  <a:pt x="6343555" y="34117"/>
                  <a:pt x="6343555" y="76203"/>
                </a:cubicBezTo>
                <a:lnTo>
                  <a:pt x="6343555" y="419097"/>
                </a:lnTo>
                <a:cubicBezTo>
                  <a:pt x="6343555" y="461183"/>
                  <a:pt x="6309437" y="495300"/>
                  <a:pt x="6267353" y="495300"/>
                </a:cubicBezTo>
                <a:lnTo>
                  <a:pt x="37909" y="495300"/>
                </a:lnTo>
                <a:cubicBezTo>
                  <a:pt x="16974" y="495300"/>
                  <a:pt x="0" y="478326"/>
                  <a:pt x="0" y="457391"/>
                </a:cubicBezTo>
                <a:lnTo>
                  <a:pt x="0" y="37910"/>
                </a:lnTo>
                <a:cubicBezTo>
                  <a:pt x="0" y="16988"/>
                  <a:pt x="16988" y="0"/>
                  <a:pt x="3790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399911" y="3888339"/>
            <a:ext cx="37909" cy="495300"/>
          </a:xfrm>
          <a:custGeom>
            <a:avLst/>
            <a:gdLst/>
            <a:ahLst/>
            <a:cxnLst/>
            <a:rect l="l" t="t" r="r" b="b"/>
            <a:pathLst>
              <a:path w="37909" h="495300">
                <a:moveTo>
                  <a:pt x="37909" y="0"/>
                </a:moveTo>
                <a:lnTo>
                  <a:pt x="37909" y="0"/>
                </a:lnTo>
                <a:lnTo>
                  <a:pt x="37909" y="495300"/>
                </a:lnTo>
                <a:lnTo>
                  <a:pt x="37909" y="495300"/>
                </a:lnTo>
                <a:cubicBezTo>
                  <a:pt x="16974" y="495300"/>
                  <a:pt x="0" y="478326"/>
                  <a:pt x="0" y="457391"/>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543869" y="4039269"/>
            <a:ext cx="216656" cy="193253"/>
          </a:xfrm>
          <a:custGeom>
            <a:avLst/>
            <a:gdLst/>
            <a:ahLst/>
            <a:cxnLst/>
            <a:rect l="l" t="t" r="r" b="b"/>
            <a:pathLst>
              <a:path w="216656" h="193253">
                <a:moveTo>
                  <a:pt x="135396" y="1823"/>
                </a:moveTo>
                <a:cubicBezTo>
                  <a:pt x="129071" y="0"/>
                  <a:pt x="122485" y="3685"/>
                  <a:pt x="120663" y="10009"/>
                </a:cubicBezTo>
                <a:lnTo>
                  <a:pt x="73038" y="176697"/>
                </a:lnTo>
                <a:cubicBezTo>
                  <a:pt x="71214" y="183023"/>
                  <a:pt x="74897" y="189608"/>
                  <a:pt x="81223" y="191431"/>
                </a:cubicBezTo>
                <a:cubicBezTo>
                  <a:pt x="87549" y="193254"/>
                  <a:pt x="94134" y="189569"/>
                  <a:pt x="95957" y="183245"/>
                </a:cubicBezTo>
                <a:lnTo>
                  <a:pt x="143582" y="16557"/>
                </a:lnTo>
                <a:cubicBezTo>
                  <a:pt x="145405" y="10231"/>
                  <a:pt x="141720" y="3646"/>
                  <a:pt x="135396" y="1823"/>
                </a:cubicBezTo>
                <a:close/>
                <a:moveTo>
                  <a:pt x="159432" y="52461"/>
                </a:moveTo>
                <a:cubicBezTo>
                  <a:pt x="154781" y="57113"/>
                  <a:pt x="154781" y="64666"/>
                  <a:pt x="159432" y="69317"/>
                </a:cubicBezTo>
                <a:lnTo>
                  <a:pt x="186742" y="96627"/>
                </a:lnTo>
                <a:lnTo>
                  <a:pt x="159432" y="123937"/>
                </a:lnTo>
                <a:cubicBezTo>
                  <a:pt x="154781" y="128588"/>
                  <a:pt x="154781" y="136141"/>
                  <a:pt x="159432" y="140793"/>
                </a:cubicBezTo>
                <a:cubicBezTo>
                  <a:pt x="164083" y="145443"/>
                  <a:pt x="171637" y="145443"/>
                  <a:pt x="176286" y="140793"/>
                </a:cubicBezTo>
                <a:lnTo>
                  <a:pt x="212005" y="105073"/>
                </a:lnTo>
                <a:cubicBezTo>
                  <a:pt x="216655" y="100422"/>
                  <a:pt x="216655" y="92869"/>
                  <a:pt x="212005" y="88218"/>
                </a:cubicBezTo>
                <a:lnTo>
                  <a:pt x="176286" y="52500"/>
                </a:lnTo>
                <a:cubicBezTo>
                  <a:pt x="171637" y="47849"/>
                  <a:pt x="164083" y="47849"/>
                  <a:pt x="159432" y="52500"/>
                </a:cubicBezTo>
                <a:close/>
                <a:moveTo>
                  <a:pt x="57223" y="52461"/>
                </a:moveTo>
                <a:cubicBezTo>
                  <a:pt x="52573" y="47811"/>
                  <a:pt x="45020" y="47811"/>
                  <a:pt x="40369" y="52461"/>
                </a:cubicBezTo>
                <a:lnTo>
                  <a:pt x="4651" y="88181"/>
                </a:lnTo>
                <a:cubicBezTo>
                  <a:pt x="0" y="92832"/>
                  <a:pt x="0" y="100385"/>
                  <a:pt x="4651" y="105036"/>
                </a:cubicBezTo>
                <a:lnTo>
                  <a:pt x="40369" y="140754"/>
                </a:lnTo>
                <a:cubicBezTo>
                  <a:pt x="45020" y="145405"/>
                  <a:pt x="52573" y="145405"/>
                  <a:pt x="57223" y="140754"/>
                </a:cubicBezTo>
                <a:cubicBezTo>
                  <a:pt x="61876" y="136104"/>
                  <a:pt x="61876" y="128551"/>
                  <a:pt x="57223" y="123900"/>
                </a:cubicBezTo>
                <a:lnTo>
                  <a:pt x="29913" y="96627"/>
                </a:lnTo>
                <a:lnTo>
                  <a:pt x="57187" y="69317"/>
                </a:lnTo>
                <a:cubicBezTo>
                  <a:pt x="61837" y="64666"/>
                  <a:pt x="61837" y="57113"/>
                  <a:pt x="57187" y="52461"/>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885190" y="4002405"/>
            <a:ext cx="32702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Example code (if possible)</a:t>
            </a:r>
            <a:endParaRPr lang="en-US" sz="1100"/>
          </a:p>
        </p:txBody>
      </p:sp>
      <p:sp>
        <p:nvSpPr>
          <p:cNvPr id="20" name="Freeform 20"/>
          <p:cNvSpPr/>
          <p:nvPr/>
        </p:nvSpPr>
        <p:spPr>
          <a:xfrm>
            <a:off x="7048530" y="1640886"/>
            <a:ext cx="4762500" cy="3124200"/>
          </a:xfrm>
          <a:custGeom>
            <a:avLst/>
            <a:gdLst/>
            <a:ahLst/>
            <a:cxnLst/>
            <a:rect l="l" t="t" r="r" b="b"/>
            <a:pathLst>
              <a:path w="4762500" h="3124200">
                <a:moveTo>
                  <a:pt x="76199" y="0"/>
                </a:moveTo>
                <a:lnTo>
                  <a:pt x="4686301" y="0"/>
                </a:lnTo>
                <a:cubicBezTo>
                  <a:pt x="4728384" y="0"/>
                  <a:pt x="4762500" y="34116"/>
                  <a:pt x="4762500" y="76199"/>
                </a:cubicBezTo>
                <a:lnTo>
                  <a:pt x="4762500" y="3048001"/>
                </a:lnTo>
                <a:cubicBezTo>
                  <a:pt x="4762500" y="3090084"/>
                  <a:pt x="4728384" y="3124200"/>
                  <a:pt x="4686301" y="3124200"/>
                </a:cubicBezTo>
                <a:lnTo>
                  <a:pt x="76199" y="3124200"/>
                </a:lnTo>
                <a:cubicBezTo>
                  <a:pt x="34116" y="3124200"/>
                  <a:pt x="0" y="3090084"/>
                  <a:pt x="0" y="3048001"/>
                </a:cubicBezTo>
                <a:lnTo>
                  <a:pt x="0" y="76199"/>
                </a:lnTo>
                <a:cubicBezTo>
                  <a:pt x="0" y="34144"/>
                  <a:pt x="34144" y="0"/>
                  <a:pt x="76199" y="0"/>
                </a:cubicBezTo>
                <a:close/>
              </a:path>
            </a:pathLst>
          </a:custGeom>
          <a:solidFill>
            <a:srgbClr val="101828">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1" name="AutoShape 21"/>
          <p:cNvSpPr/>
          <p:nvPr/>
        </p:nvSpPr>
        <p:spPr>
          <a:xfrm>
            <a:off x="7277103" y="1869458"/>
            <a:ext cx="4400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B22222"/>
                </a:solidFill>
                <a:latin typeface="Noto Sans SC" panose="020B0200000000000000" charset="-122"/>
                <a:ea typeface="Noto Sans SC" panose="020B0200000000000000" charset="-122"/>
                <a:cs typeface="Noto Sans SC" panose="020B0200000000000000" charset="-122"/>
                <a:sym typeface="Noto Sans SC" panose="020B0200000000000000" charset="-122"/>
              </a:rPr>
              <a:t>Example Structure</a:t>
            </a:r>
            <a:endParaRPr lang="en-US" sz="1100"/>
          </a:p>
        </p:txBody>
      </p:sp>
      <p:sp>
        <p:nvSpPr>
          <p:cNvPr id="22" name="Freeform 22"/>
          <p:cNvSpPr/>
          <p:nvPr/>
        </p:nvSpPr>
        <p:spPr>
          <a:xfrm>
            <a:off x="7286581" y="2288549"/>
            <a:ext cx="18955" cy="381000"/>
          </a:xfrm>
          <a:custGeom>
            <a:avLst/>
            <a:gdLst/>
            <a:ahLst/>
            <a:cxnLst/>
            <a:rect l="l" t="t" r="r" b="b"/>
            <a:pathLst>
              <a:path w="18955" h="381000">
                <a:moveTo>
                  <a:pt x="0" y="0"/>
                </a:moveTo>
                <a:lnTo>
                  <a:pt x="18955" y="0"/>
                </a:lnTo>
                <a:lnTo>
                  <a:pt x="18955" y="381000"/>
                </a:lnTo>
                <a:lnTo>
                  <a:pt x="0" y="381000"/>
                </a:lnTo>
                <a:lnTo>
                  <a:pt x="0" y="0"/>
                </a:ln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7410308" y="2288549"/>
            <a:ext cx="4238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B22222"/>
                </a:solidFill>
                <a:latin typeface="MiSans" panose="00000500000000000000" charset="-122"/>
                <a:ea typeface="MiSans" panose="00000500000000000000" charset="-122"/>
                <a:cs typeface="MiSans" panose="00000500000000000000" charset="-122"/>
                <a:sym typeface="MiSans" panose="00000500000000000000" charset="-122"/>
              </a:rPr>
              <a:t>## Summary</a:t>
            </a:r>
            <a:endParaRPr lang="en-US" sz="1100"/>
          </a:p>
        </p:txBody>
      </p:sp>
      <p:sp>
        <p:nvSpPr>
          <p:cNvPr id="24" name="AutoShape 24"/>
          <p:cNvSpPr/>
          <p:nvPr/>
        </p:nvSpPr>
        <p:spPr>
          <a:xfrm>
            <a:off x="7410308" y="2478988"/>
            <a:ext cx="4238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D1D5DC"/>
                </a:solidFill>
                <a:latin typeface="MiSans" panose="00000500000000000000" charset="-122"/>
                <a:ea typeface="MiSans" panose="00000500000000000000" charset="-122"/>
                <a:cs typeface="MiSans" panose="00000500000000000000" charset="-122"/>
                <a:sym typeface="MiSans" panose="00000500000000000000" charset="-122"/>
              </a:rPr>
              <a:t>Briefly describe the issue</a:t>
            </a:r>
            <a:endParaRPr lang="en-US" sz="1100"/>
          </a:p>
        </p:txBody>
      </p:sp>
      <p:sp>
        <p:nvSpPr>
          <p:cNvPr id="25" name="Freeform 25"/>
          <p:cNvSpPr/>
          <p:nvPr/>
        </p:nvSpPr>
        <p:spPr>
          <a:xfrm>
            <a:off x="7286581" y="2783677"/>
            <a:ext cx="18955" cy="762000"/>
          </a:xfrm>
          <a:custGeom>
            <a:avLst/>
            <a:gdLst/>
            <a:ahLst/>
            <a:cxnLst/>
            <a:rect l="l" t="t" r="r" b="b"/>
            <a:pathLst>
              <a:path w="18955" h="762000">
                <a:moveTo>
                  <a:pt x="0" y="0"/>
                </a:moveTo>
                <a:lnTo>
                  <a:pt x="18955" y="0"/>
                </a:lnTo>
                <a:lnTo>
                  <a:pt x="18955" y="762000"/>
                </a:lnTo>
                <a:lnTo>
                  <a:pt x="0" y="762000"/>
                </a:lnTo>
                <a:lnTo>
                  <a:pt x="0" y="0"/>
                </a:ln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7410308" y="2783677"/>
            <a:ext cx="4238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B22222"/>
                </a:solidFill>
                <a:latin typeface="MiSans" panose="00000500000000000000" charset="-122"/>
                <a:ea typeface="MiSans" panose="00000500000000000000" charset="-122"/>
                <a:cs typeface="MiSans" panose="00000500000000000000" charset="-122"/>
                <a:sym typeface="MiSans" panose="00000500000000000000" charset="-122"/>
              </a:rPr>
              <a:t>## Steps to reproduce</a:t>
            </a:r>
            <a:endParaRPr lang="en-US" sz="1100"/>
          </a:p>
        </p:txBody>
      </p:sp>
      <p:sp>
        <p:nvSpPr>
          <p:cNvPr id="27" name="AutoShape 27"/>
          <p:cNvSpPr/>
          <p:nvPr/>
        </p:nvSpPr>
        <p:spPr>
          <a:xfrm>
            <a:off x="7410308" y="2974121"/>
            <a:ext cx="4238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D1D5DC"/>
                </a:solidFill>
                <a:latin typeface="MiSans" panose="00000500000000000000" charset="-122"/>
                <a:ea typeface="MiSans" panose="00000500000000000000" charset="-122"/>
                <a:cs typeface="MiSans" panose="00000500000000000000" charset="-122"/>
                <a:sym typeface="MiSans" panose="00000500000000000000" charset="-122"/>
              </a:rPr>
              <a:t>1. Step one</a:t>
            </a:r>
            <a:endParaRPr lang="en-US" sz="1100"/>
          </a:p>
        </p:txBody>
      </p:sp>
      <p:sp>
        <p:nvSpPr>
          <p:cNvPr id="28" name="AutoShape 28"/>
          <p:cNvSpPr/>
          <p:nvPr/>
        </p:nvSpPr>
        <p:spPr>
          <a:xfrm>
            <a:off x="7410308" y="3164560"/>
            <a:ext cx="4238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D1D5DC"/>
                </a:solidFill>
                <a:latin typeface="MiSans" panose="00000500000000000000" charset="-122"/>
                <a:ea typeface="MiSans" panose="00000500000000000000" charset="-122"/>
                <a:cs typeface="MiSans" panose="00000500000000000000" charset="-122"/>
                <a:sym typeface="MiSans" panose="00000500000000000000" charset="-122"/>
              </a:rPr>
              <a:t>2. Step two</a:t>
            </a:r>
            <a:endParaRPr lang="en-US" sz="1100"/>
          </a:p>
        </p:txBody>
      </p:sp>
      <p:sp>
        <p:nvSpPr>
          <p:cNvPr id="29" name="AutoShape 29"/>
          <p:cNvSpPr/>
          <p:nvPr/>
        </p:nvSpPr>
        <p:spPr>
          <a:xfrm>
            <a:off x="7410308" y="3355000"/>
            <a:ext cx="4238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D1D5DC"/>
                </a:solidFill>
                <a:latin typeface="MiSans" panose="00000500000000000000" charset="-122"/>
                <a:ea typeface="MiSans" panose="00000500000000000000" charset="-122"/>
                <a:cs typeface="MiSans" panose="00000500000000000000" charset="-122"/>
                <a:sym typeface="MiSans" panose="00000500000000000000" charset="-122"/>
              </a:rPr>
              <a:t>3. Step three</a:t>
            </a:r>
            <a:endParaRPr lang="en-US" sz="1100"/>
          </a:p>
        </p:txBody>
      </p:sp>
      <p:sp>
        <p:nvSpPr>
          <p:cNvPr id="30" name="Freeform 30"/>
          <p:cNvSpPr/>
          <p:nvPr/>
        </p:nvSpPr>
        <p:spPr>
          <a:xfrm>
            <a:off x="7286581" y="3659693"/>
            <a:ext cx="18955" cy="381000"/>
          </a:xfrm>
          <a:custGeom>
            <a:avLst/>
            <a:gdLst/>
            <a:ahLst/>
            <a:cxnLst/>
            <a:rect l="l" t="t" r="r" b="b"/>
            <a:pathLst>
              <a:path w="18955" h="381000">
                <a:moveTo>
                  <a:pt x="0" y="0"/>
                </a:moveTo>
                <a:lnTo>
                  <a:pt x="18955" y="0"/>
                </a:lnTo>
                <a:lnTo>
                  <a:pt x="18955" y="381000"/>
                </a:lnTo>
                <a:lnTo>
                  <a:pt x="0" y="381000"/>
                </a:lnTo>
                <a:lnTo>
                  <a:pt x="0" y="0"/>
                </a:ln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7410308" y="3659693"/>
            <a:ext cx="4238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B22222"/>
                </a:solidFill>
                <a:latin typeface="MiSans" panose="00000500000000000000" charset="-122"/>
                <a:ea typeface="MiSans" panose="00000500000000000000" charset="-122"/>
                <a:cs typeface="MiSans" panose="00000500000000000000" charset="-122"/>
                <a:sym typeface="MiSans" panose="00000500000000000000" charset="-122"/>
              </a:rPr>
              <a:t>## Expected behavior</a:t>
            </a:r>
            <a:endParaRPr lang="en-US" sz="1100"/>
          </a:p>
        </p:txBody>
      </p:sp>
      <p:sp>
        <p:nvSpPr>
          <p:cNvPr id="32" name="AutoShape 32"/>
          <p:cNvSpPr/>
          <p:nvPr/>
        </p:nvSpPr>
        <p:spPr>
          <a:xfrm>
            <a:off x="7410308" y="3850132"/>
            <a:ext cx="4238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D1D5DC"/>
                </a:solidFill>
                <a:latin typeface="MiSans" panose="00000500000000000000" charset="-122"/>
                <a:ea typeface="MiSans" panose="00000500000000000000" charset="-122"/>
                <a:cs typeface="MiSans" panose="00000500000000000000" charset="-122"/>
                <a:sym typeface="MiSans" panose="00000500000000000000" charset="-122"/>
              </a:rPr>
              <a:t>Description of expected behavior</a:t>
            </a:r>
            <a:endParaRPr lang="en-US" sz="1100"/>
          </a:p>
        </p:txBody>
      </p:sp>
      <p:sp>
        <p:nvSpPr>
          <p:cNvPr id="33" name="Freeform 33"/>
          <p:cNvSpPr/>
          <p:nvPr/>
        </p:nvSpPr>
        <p:spPr>
          <a:xfrm>
            <a:off x="7286581" y="4154821"/>
            <a:ext cx="18955" cy="381000"/>
          </a:xfrm>
          <a:custGeom>
            <a:avLst/>
            <a:gdLst/>
            <a:ahLst/>
            <a:cxnLst/>
            <a:rect l="l" t="t" r="r" b="b"/>
            <a:pathLst>
              <a:path w="18955" h="381000">
                <a:moveTo>
                  <a:pt x="0" y="0"/>
                </a:moveTo>
                <a:lnTo>
                  <a:pt x="18955" y="0"/>
                </a:lnTo>
                <a:lnTo>
                  <a:pt x="18955" y="381000"/>
                </a:lnTo>
                <a:lnTo>
                  <a:pt x="0" y="381000"/>
                </a:lnTo>
                <a:lnTo>
                  <a:pt x="0" y="0"/>
                </a:ln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34" name="AutoShape 34"/>
          <p:cNvSpPr/>
          <p:nvPr/>
        </p:nvSpPr>
        <p:spPr>
          <a:xfrm>
            <a:off x="7410308" y="4154821"/>
            <a:ext cx="4238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1" i="0" u="none" strike="noStrike">
                <a:solidFill>
                  <a:srgbClr val="B22222"/>
                </a:solidFill>
                <a:latin typeface="MiSans" panose="00000500000000000000" charset="-122"/>
                <a:ea typeface="MiSans" panose="00000500000000000000" charset="-122"/>
                <a:cs typeface="MiSans" panose="00000500000000000000" charset="-122"/>
                <a:sym typeface="MiSans" panose="00000500000000000000" charset="-122"/>
              </a:rPr>
              <a:t>## Actual behavior</a:t>
            </a:r>
            <a:endParaRPr lang="en-US" sz="1100"/>
          </a:p>
        </p:txBody>
      </p:sp>
      <p:sp>
        <p:nvSpPr>
          <p:cNvPr id="35" name="AutoShape 35"/>
          <p:cNvSpPr/>
          <p:nvPr/>
        </p:nvSpPr>
        <p:spPr>
          <a:xfrm>
            <a:off x="7410308" y="4345260"/>
            <a:ext cx="4238625"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D1D5DC"/>
                </a:solidFill>
                <a:latin typeface="MiSans" panose="00000500000000000000" charset="-122"/>
                <a:ea typeface="MiSans" panose="00000500000000000000" charset="-122"/>
                <a:cs typeface="MiSans" panose="00000500000000000000" charset="-122"/>
                <a:sym typeface="MiSans" panose="00000500000000000000" charset="-122"/>
              </a:rPr>
              <a:t>Description of actual behavior</a:t>
            </a:r>
            <a:endParaRPr lang="en-US" sz="1100"/>
          </a:p>
        </p:txBody>
      </p:sp>
      <p:sp>
        <p:nvSpPr>
          <p:cNvPr id="36" name="AutoShape 36"/>
          <p:cNvSpPr/>
          <p:nvPr/>
        </p:nvSpPr>
        <p:spPr>
          <a:xfrm>
            <a:off x="291578" y="6474722"/>
            <a:ext cx="9017427" cy="276999"/>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200" b="0" i="0" u="none" strike="noStrike">
                <a:solidFill>
                  <a:srgbClr val="A6A6A6"/>
                </a:solidFill>
                <a:latin typeface="微软雅黑" panose="020B0503020204020204" charset="-122"/>
                <a:ea typeface="微软雅黑" panose="020B0503020204020204" charset="-122"/>
                <a:cs typeface="微软雅黑" panose="020B0503020204020204" charset="-122"/>
                <a:sym typeface="微软雅黑" panose="020B0503020204020204" charset="-122"/>
              </a:rPr>
              <a:t>ReferenceFlagTree：https://github.com/flagos-ai/FlagTree/issues</a:t>
            </a:r>
            <a:endParaRPr lang="en-US" sz="1100"/>
          </a:p>
        </p:txBody>
      </p:sp>
      <p:pic>
        <p:nvPicPr>
          <p:cNvPr id="37" name="Picture 37"/>
          <p:cNvPicPr>
            <a:picLocks noChangeAspect="1"/>
          </p:cNvPicPr>
          <p:nvPr/>
        </p:nvPicPr>
        <p:blipFill>
          <a:blip r:embed="rId1"/>
          <a:srcRect/>
          <a:stretch>
            <a:fillRect/>
          </a:stretch>
        </p:blipFill>
        <p:spPr>
          <a:xfrm>
            <a:off x="380956" y="5141459"/>
            <a:ext cx="4672494" cy="1218911"/>
          </a:xfrm>
          <a:prstGeom prst="rect">
            <a:avLst/>
          </a:prstGeom>
          <a:ln w="12700">
            <a:noFill/>
            <a:prstDash val="solid"/>
          </a:ln>
        </p:spPr>
      </p:pic>
      <p:pic>
        <p:nvPicPr>
          <p:cNvPr id="38" name="Picture 38"/>
          <p:cNvPicPr>
            <a:picLocks noChangeAspect="1"/>
          </p:cNvPicPr>
          <p:nvPr/>
        </p:nvPicPr>
        <p:blipFill>
          <a:blip r:embed="rId2"/>
          <a:srcRect/>
          <a:stretch>
            <a:fillRect/>
          </a:stretch>
        </p:blipFill>
        <p:spPr>
          <a:xfrm>
            <a:off x="5277852" y="5136649"/>
            <a:ext cx="2369607" cy="1244616"/>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9928" y="611525"/>
            <a:ext cx="6442703"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Code Contribution Requirements</a:t>
            </a:r>
            <a:endParaRPr lang="en-US" sz="1100"/>
          </a:p>
        </p:txBody>
      </p:sp>
      <p:sp>
        <p:nvSpPr>
          <p:cNvPr id="3" name="AutoShape 3"/>
          <p:cNvSpPr/>
          <p:nvPr/>
        </p:nvSpPr>
        <p:spPr>
          <a:xfrm>
            <a:off x="380956" y="1640886"/>
            <a:ext cx="5657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When submitting a PR, you need to:</a:t>
            </a:r>
            <a:endParaRPr lang="en-US" sz="1100"/>
          </a:p>
        </p:txBody>
      </p:sp>
      <p:sp>
        <p:nvSpPr>
          <p:cNvPr id="4" name="Freeform 4"/>
          <p:cNvSpPr/>
          <p:nvPr/>
        </p:nvSpPr>
        <p:spPr>
          <a:xfrm>
            <a:off x="380956" y="2059972"/>
            <a:ext cx="5562600" cy="800100"/>
          </a:xfrm>
          <a:custGeom>
            <a:avLst/>
            <a:gdLst/>
            <a:ahLst/>
            <a:cxnLst/>
            <a:rect l="l" t="t" r="r" b="b"/>
            <a:pathLst>
              <a:path w="5562600" h="800100">
                <a:moveTo>
                  <a:pt x="76203" y="0"/>
                </a:moveTo>
                <a:lnTo>
                  <a:pt x="5486397" y="0"/>
                </a:lnTo>
                <a:cubicBezTo>
                  <a:pt x="5528483" y="0"/>
                  <a:pt x="5562600" y="34117"/>
                  <a:pt x="5562600" y="76203"/>
                </a:cubicBezTo>
                <a:lnTo>
                  <a:pt x="5562600" y="723897"/>
                </a:lnTo>
                <a:cubicBezTo>
                  <a:pt x="5562600" y="765983"/>
                  <a:pt x="5528483" y="800100"/>
                  <a:pt x="5486397" y="800100"/>
                </a:cubicBezTo>
                <a:lnTo>
                  <a:pt x="76203" y="800100"/>
                </a:lnTo>
                <a:cubicBezTo>
                  <a:pt x="34117" y="800100"/>
                  <a:pt x="0" y="765983"/>
                  <a:pt x="0" y="7238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580963" y="2250411"/>
            <a:ext cx="142875" cy="190500"/>
          </a:xfrm>
          <a:custGeom>
            <a:avLst/>
            <a:gdLst/>
            <a:ahLst/>
            <a:cxnLst/>
            <a:rect l="l" t="t" r="r" b="b"/>
            <a:pathLst>
              <a:path w="142875" h="190500">
                <a:moveTo>
                  <a:pt x="0" y="23813"/>
                </a:moveTo>
                <a:cubicBezTo>
                  <a:pt x="0" y="10678"/>
                  <a:pt x="10678" y="0"/>
                  <a:pt x="23813" y="0"/>
                </a:cubicBezTo>
                <a:lnTo>
                  <a:pt x="79437" y="0"/>
                </a:lnTo>
                <a:cubicBezTo>
                  <a:pt x="85762" y="0"/>
                  <a:pt x="91827" y="2493"/>
                  <a:pt x="96291" y="6958"/>
                </a:cubicBezTo>
                <a:lnTo>
                  <a:pt x="135917" y="46620"/>
                </a:lnTo>
                <a:cubicBezTo>
                  <a:pt x="140382" y="51084"/>
                  <a:pt x="142875" y="57150"/>
                  <a:pt x="142875" y="63475"/>
                </a:cubicBezTo>
                <a:lnTo>
                  <a:pt x="142875" y="166687"/>
                </a:lnTo>
                <a:cubicBezTo>
                  <a:pt x="142875" y="179822"/>
                  <a:pt x="132197" y="190500"/>
                  <a:pt x="119063" y="190500"/>
                </a:cubicBezTo>
                <a:lnTo>
                  <a:pt x="23813" y="190500"/>
                </a:lnTo>
                <a:cubicBezTo>
                  <a:pt x="10678" y="190500"/>
                  <a:pt x="0" y="179822"/>
                  <a:pt x="0" y="166687"/>
                </a:cubicBezTo>
                <a:lnTo>
                  <a:pt x="0" y="23813"/>
                </a:lnTo>
                <a:close/>
                <a:moveTo>
                  <a:pt x="77391" y="21767"/>
                </a:moveTo>
                <a:lnTo>
                  <a:pt x="77391" y="56554"/>
                </a:lnTo>
                <a:cubicBezTo>
                  <a:pt x="77391" y="61504"/>
                  <a:pt x="81371" y="65484"/>
                  <a:pt x="86321" y="65484"/>
                </a:cubicBezTo>
                <a:lnTo>
                  <a:pt x="121108" y="65484"/>
                </a:lnTo>
                <a:lnTo>
                  <a:pt x="77391" y="21767"/>
                </a:lnTo>
                <a:close/>
                <a:moveTo>
                  <a:pt x="44648" y="95250"/>
                </a:moveTo>
                <a:cubicBezTo>
                  <a:pt x="39700" y="95250"/>
                  <a:pt x="35719" y="99231"/>
                  <a:pt x="35719" y="104179"/>
                </a:cubicBezTo>
                <a:cubicBezTo>
                  <a:pt x="35719" y="109129"/>
                  <a:pt x="39700" y="113109"/>
                  <a:pt x="44648" y="113109"/>
                </a:cubicBezTo>
                <a:lnTo>
                  <a:pt x="98227" y="113109"/>
                </a:lnTo>
                <a:cubicBezTo>
                  <a:pt x="103175" y="113109"/>
                  <a:pt x="107156" y="109129"/>
                  <a:pt x="107156" y="104179"/>
                </a:cubicBezTo>
                <a:cubicBezTo>
                  <a:pt x="107156" y="99231"/>
                  <a:pt x="103175" y="95250"/>
                  <a:pt x="98227" y="95250"/>
                </a:cubicBezTo>
                <a:lnTo>
                  <a:pt x="44648" y="95250"/>
                </a:lnTo>
                <a:close/>
                <a:moveTo>
                  <a:pt x="44648" y="130969"/>
                </a:moveTo>
                <a:cubicBezTo>
                  <a:pt x="39700" y="130969"/>
                  <a:pt x="35719" y="134950"/>
                  <a:pt x="35719" y="139898"/>
                </a:cubicBezTo>
                <a:cubicBezTo>
                  <a:pt x="35719" y="144847"/>
                  <a:pt x="39700" y="148827"/>
                  <a:pt x="44648" y="148827"/>
                </a:cubicBezTo>
                <a:lnTo>
                  <a:pt x="98227" y="148827"/>
                </a:lnTo>
                <a:cubicBezTo>
                  <a:pt x="103175" y="148827"/>
                  <a:pt x="107156" y="144847"/>
                  <a:pt x="107156" y="139898"/>
                </a:cubicBezTo>
                <a:cubicBezTo>
                  <a:pt x="107156" y="134950"/>
                  <a:pt x="103175" y="130969"/>
                  <a:pt x="98227" y="130969"/>
                </a:cubicBezTo>
                <a:lnTo>
                  <a:pt x="44648" y="13096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885712" y="2212353"/>
            <a:ext cx="25241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Clearly describe the changes</a:t>
            </a:r>
            <a:endParaRPr lang="en-US" sz="1100"/>
          </a:p>
        </p:txBody>
      </p:sp>
      <p:sp>
        <p:nvSpPr>
          <p:cNvPr id="7" name="AutoShape 7"/>
          <p:cNvSpPr/>
          <p:nvPr/>
        </p:nvSpPr>
        <p:spPr>
          <a:xfrm>
            <a:off x="885712" y="2479058"/>
            <a:ext cx="4751942" cy="190179"/>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Detail which files and features are affected by this change</a:t>
            </a:r>
            <a:endParaRPr lang="en-US" sz="1100"/>
          </a:p>
        </p:txBody>
      </p:sp>
      <p:sp>
        <p:nvSpPr>
          <p:cNvPr id="8" name="Freeform 8"/>
          <p:cNvSpPr/>
          <p:nvPr/>
        </p:nvSpPr>
        <p:spPr>
          <a:xfrm>
            <a:off x="380956" y="2974265"/>
            <a:ext cx="5562600" cy="800100"/>
          </a:xfrm>
          <a:custGeom>
            <a:avLst/>
            <a:gdLst/>
            <a:ahLst/>
            <a:cxnLst/>
            <a:rect l="l" t="t" r="r" b="b"/>
            <a:pathLst>
              <a:path w="5562600" h="800100">
                <a:moveTo>
                  <a:pt x="76203" y="0"/>
                </a:moveTo>
                <a:lnTo>
                  <a:pt x="5486397" y="0"/>
                </a:lnTo>
                <a:cubicBezTo>
                  <a:pt x="5528483" y="0"/>
                  <a:pt x="5562600" y="34117"/>
                  <a:pt x="5562600" y="76203"/>
                </a:cubicBezTo>
                <a:lnTo>
                  <a:pt x="5562600" y="723897"/>
                </a:lnTo>
                <a:cubicBezTo>
                  <a:pt x="5562600" y="765983"/>
                  <a:pt x="5528483" y="800100"/>
                  <a:pt x="5486397" y="800100"/>
                </a:cubicBezTo>
                <a:lnTo>
                  <a:pt x="76203" y="800100"/>
                </a:lnTo>
                <a:cubicBezTo>
                  <a:pt x="34117" y="800100"/>
                  <a:pt x="0" y="765983"/>
                  <a:pt x="0" y="7238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557150" y="3164705"/>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95250" y="65484"/>
                </a:moveTo>
                <a:cubicBezTo>
                  <a:pt x="88664" y="65484"/>
                  <a:pt x="83344" y="70805"/>
                  <a:pt x="83344" y="77391"/>
                </a:cubicBezTo>
                <a:cubicBezTo>
                  <a:pt x="83344" y="82339"/>
                  <a:pt x="79364" y="86321"/>
                  <a:pt x="74414" y="86321"/>
                </a:cubicBezTo>
                <a:cubicBezTo>
                  <a:pt x="69466" y="86321"/>
                  <a:pt x="65484" y="82339"/>
                  <a:pt x="65484" y="77391"/>
                </a:cubicBezTo>
                <a:cubicBezTo>
                  <a:pt x="65484" y="60945"/>
                  <a:pt x="78804" y="47625"/>
                  <a:pt x="95250" y="47625"/>
                </a:cubicBezTo>
                <a:cubicBezTo>
                  <a:pt x="111696" y="47625"/>
                  <a:pt x="125016" y="60945"/>
                  <a:pt x="125016" y="77391"/>
                </a:cubicBezTo>
                <a:cubicBezTo>
                  <a:pt x="125016" y="94952"/>
                  <a:pt x="111622" y="102394"/>
                  <a:pt x="104179" y="105110"/>
                </a:cubicBezTo>
                <a:lnTo>
                  <a:pt x="104179" y="106524"/>
                </a:lnTo>
                <a:cubicBezTo>
                  <a:pt x="104179" y="111472"/>
                  <a:pt x="100199" y="115453"/>
                  <a:pt x="95250" y="115453"/>
                </a:cubicBezTo>
                <a:cubicBezTo>
                  <a:pt x="90301" y="115453"/>
                  <a:pt x="86321" y="111472"/>
                  <a:pt x="86321" y="106524"/>
                </a:cubicBezTo>
                <a:lnTo>
                  <a:pt x="86321" y="103510"/>
                </a:lnTo>
                <a:cubicBezTo>
                  <a:pt x="86321" y="95882"/>
                  <a:pt x="91827" y="90413"/>
                  <a:pt x="97519" y="88553"/>
                </a:cubicBezTo>
                <a:cubicBezTo>
                  <a:pt x="99901" y="87771"/>
                  <a:pt x="102431" y="86506"/>
                  <a:pt x="104291" y="84720"/>
                </a:cubicBezTo>
                <a:cubicBezTo>
                  <a:pt x="105891" y="83158"/>
                  <a:pt x="107156" y="81001"/>
                  <a:pt x="107156" y="77428"/>
                </a:cubicBezTo>
                <a:cubicBezTo>
                  <a:pt x="107156" y="70842"/>
                  <a:pt x="101836" y="65522"/>
                  <a:pt x="95250" y="65522"/>
                </a:cubicBezTo>
                <a:close/>
                <a:moveTo>
                  <a:pt x="83344" y="136923"/>
                </a:moveTo>
                <a:cubicBezTo>
                  <a:pt x="83344" y="130352"/>
                  <a:pt x="88679" y="125016"/>
                  <a:pt x="95250" y="125016"/>
                </a:cubicBezTo>
                <a:cubicBezTo>
                  <a:pt x="101821" y="125016"/>
                  <a:pt x="107156" y="130352"/>
                  <a:pt x="107156" y="136923"/>
                </a:cubicBezTo>
                <a:cubicBezTo>
                  <a:pt x="107156" y="143493"/>
                  <a:pt x="101821" y="148827"/>
                  <a:pt x="95250" y="148827"/>
                </a:cubicBezTo>
                <a:cubicBezTo>
                  <a:pt x="88679" y="148827"/>
                  <a:pt x="83344" y="143493"/>
                  <a:pt x="83344" y="13692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885712" y="3126646"/>
            <a:ext cx="3535034" cy="36192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State the reason for changes</a:t>
            </a:r>
            <a:endParaRPr lang="en-US" sz="1100"/>
          </a:p>
        </p:txBody>
      </p:sp>
      <p:sp>
        <p:nvSpPr>
          <p:cNvPr id="11" name="AutoShape 11"/>
          <p:cNvSpPr/>
          <p:nvPr/>
        </p:nvSpPr>
        <p:spPr>
          <a:xfrm>
            <a:off x="885711" y="3393355"/>
            <a:ext cx="5591199" cy="32381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Explain why this modification is being made</a:t>
            </a:r>
            <a:endParaRPr lang="en-US" sz="1100"/>
          </a:p>
        </p:txBody>
      </p:sp>
      <p:sp>
        <p:nvSpPr>
          <p:cNvPr id="12" name="Freeform 12"/>
          <p:cNvSpPr/>
          <p:nvPr/>
        </p:nvSpPr>
        <p:spPr>
          <a:xfrm>
            <a:off x="380956" y="3888558"/>
            <a:ext cx="5562600" cy="800100"/>
          </a:xfrm>
          <a:custGeom>
            <a:avLst/>
            <a:gdLst/>
            <a:ahLst/>
            <a:cxnLst/>
            <a:rect l="l" t="t" r="r" b="b"/>
            <a:pathLst>
              <a:path w="5562600" h="800100">
                <a:moveTo>
                  <a:pt x="76203" y="0"/>
                </a:moveTo>
                <a:lnTo>
                  <a:pt x="5486397" y="0"/>
                </a:lnTo>
                <a:cubicBezTo>
                  <a:pt x="5528483" y="0"/>
                  <a:pt x="5562600" y="34117"/>
                  <a:pt x="5562600" y="76203"/>
                </a:cubicBezTo>
                <a:lnTo>
                  <a:pt x="5562600" y="723897"/>
                </a:lnTo>
                <a:cubicBezTo>
                  <a:pt x="5562600" y="765983"/>
                  <a:pt x="5528483" y="800100"/>
                  <a:pt x="5486397" y="800100"/>
                </a:cubicBezTo>
                <a:lnTo>
                  <a:pt x="76203" y="800100"/>
                </a:lnTo>
                <a:cubicBezTo>
                  <a:pt x="34117" y="800100"/>
                  <a:pt x="0" y="765983"/>
                  <a:pt x="0" y="7238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557150" y="4077845"/>
            <a:ext cx="191691" cy="191653"/>
          </a:xfrm>
          <a:custGeom>
            <a:avLst/>
            <a:gdLst/>
            <a:ahLst/>
            <a:cxnLst/>
            <a:rect l="l" t="t" r="r" b="b"/>
            <a:pathLst>
              <a:path w="191691" h="191653">
                <a:moveTo>
                  <a:pt x="127471" y="4651"/>
                </a:moveTo>
                <a:cubicBezTo>
                  <a:pt x="122820" y="0"/>
                  <a:pt x="115266" y="0"/>
                  <a:pt x="110617" y="4651"/>
                </a:cubicBezTo>
                <a:cubicBezTo>
                  <a:pt x="105966" y="9301"/>
                  <a:pt x="105966" y="16854"/>
                  <a:pt x="110617" y="21505"/>
                </a:cubicBezTo>
                <a:lnTo>
                  <a:pt x="114115" y="24966"/>
                </a:lnTo>
                <a:lnTo>
                  <a:pt x="10455" y="128624"/>
                </a:lnTo>
                <a:cubicBezTo>
                  <a:pt x="3758" y="135322"/>
                  <a:pt x="0" y="144400"/>
                  <a:pt x="0" y="153888"/>
                </a:cubicBezTo>
                <a:lnTo>
                  <a:pt x="0" y="155934"/>
                </a:lnTo>
                <a:cubicBezTo>
                  <a:pt x="0" y="175654"/>
                  <a:pt x="15999" y="191653"/>
                  <a:pt x="35719" y="191653"/>
                </a:cubicBezTo>
                <a:lnTo>
                  <a:pt x="37765" y="191653"/>
                </a:lnTo>
                <a:cubicBezTo>
                  <a:pt x="47253" y="191653"/>
                  <a:pt x="56331" y="187895"/>
                  <a:pt x="63029" y="181198"/>
                </a:cubicBezTo>
                <a:lnTo>
                  <a:pt x="166688" y="77538"/>
                </a:lnTo>
                <a:lnTo>
                  <a:pt x="170185" y="81036"/>
                </a:lnTo>
                <a:cubicBezTo>
                  <a:pt x="174836" y="85687"/>
                  <a:pt x="182389" y="85687"/>
                  <a:pt x="187041" y="81036"/>
                </a:cubicBezTo>
                <a:cubicBezTo>
                  <a:pt x="191691" y="76387"/>
                  <a:pt x="191691" y="68833"/>
                  <a:pt x="187041" y="64182"/>
                </a:cubicBezTo>
                <a:lnTo>
                  <a:pt x="127508" y="4651"/>
                </a:lnTo>
                <a:close/>
                <a:moveTo>
                  <a:pt x="76385" y="96403"/>
                </a:moveTo>
                <a:lnTo>
                  <a:pt x="130969" y="41820"/>
                </a:lnTo>
                <a:lnTo>
                  <a:pt x="149833" y="60684"/>
                </a:lnTo>
                <a:lnTo>
                  <a:pt x="114115" y="96403"/>
                </a:lnTo>
                <a:lnTo>
                  <a:pt x="76349" y="96403"/>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885712" y="4040939"/>
            <a:ext cx="20669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Provide test cases</a:t>
            </a:r>
            <a:endParaRPr lang="en-US" sz="1100"/>
          </a:p>
        </p:txBody>
      </p:sp>
      <p:sp>
        <p:nvSpPr>
          <p:cNvPr id="15" name="AutoShape 15"/>
          <p:cNvSpPr/>
          <p:nvPr/>
        </p:nvSpPr>
        <p:spPr>
          <a:xfrm>
            <a:off x="885712" y="4307648"/>
            <a:ext cx="4078174" cy="381009"/>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If possible, provide relevant test cases</a:t>
            </a:r>
            <a:endParaRPr lang="en-US" sz="1100"/>
          </a:p>
        </p:txBody>
      </p:sp>
      <p:sp>
        <p:nvSpPr>
          <p:cNvPr id="16" name="Freeform 16"/>
          <p:cNvSpPr/>
          <p:nvPr/>
        </p:nvSpPr>
        <p:spPr>
          <a:xfrm>
            <a:off x="380956" y="4802851"/>
            <a:ext cx="5562600" cy="800100"/>
          </a:xfrm>
          <a:custGeom>
            <a:avLst/>
            <a:gdLst/>
            <a:ahLst/>
            <a:cxnLst/>
            <a:rect l="l" t="t" r="r" b="b"/>
            <a:pathLst>
              <a:path w="5562600" h="800100">
                <a:moveTo>
                  <a:pt x="76203" y="0"/>
                </a:moveTo>
                <a:lnTo>
                  <a:pt x="5486397" y="0"/>
                </a:lnTo>
                <a:cubicBezTo>
                  <a:pt x="5528483" y="0"/>
                  <a:pt x="5562600" y="34117"/>
                  <a:pt x="5562600" y="76203"/>
                </a:cubicBezTo>
                <a:lnTo>
                  <a:pt x="5562600" y="723897"/>
                </a:lnTo>
                <a:cubicBezTo>
                  <a:pt x="5562600" y="765983"/>
                  <a:pt x="5528483" y="800100"/>
                  <a:pt x="5486397" y="800100"/>
                </a:cubicBezTo>
                <a:lnTo>
                  <a:pt x="76203" y="800100"/>
                </a:lnTo>
                <a:cubicBezTo>
                  <a:pt x="34117" y="800100"/>
                  <a:pt x="0" y="765983"/>
                  <a:pt x="0" y="723897"/>
                </a:cubicBezTo>
                <a:lnTo>
                  <a:pt x="0" y="76203"/>
                </a:lnTo>
                <a:cubicBezTo>
                  <a:pt x="0" y="34145"/>
                  <a:pt x="34145"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7" name="Freeform 17"/>
          <p:cNvSpPr/>
          <p:nvPr/>
        </p:nvSpPr>
        <p:spPr>
          <a:xfrm>
            <a:off x="557150" y="4993291"/>
            <a:ext cx="190500" cy="190500"/>
          </a:xfrm>
          <a:custGeom>
            <a:avLst/>
            <a:gdLst/>
            <a:ahLst/>
            <a:cxnLst/>
            <a:rect l="l" t="t" r="r" b="b"/>
            <a:pathLst>
              <a:path w="190500" h="190500">
                <a:moveTo>
                  <a:pt x="95250" y="0"/>
                </a:moveTo>
                <a:cubicBezTo>
                  <a:pt x="147820" y="0"/>
                  <a:pt x="190500" y="42680"/>
                  <a:pt x="190500" y="95250"/>
                </a:cubicBezTo>
                <a:cubicBezTo>
                  <a:pt x="190500" y="147820"/>
                  <a:pt x="147820" y="190500"/>
                  <a:pt x="95250" y="190500"/>
                </a:cubicBezTo>
                <a:cubicBezTo>
                  <a:pt x="42680" y="190500"/>
                  <a:pt x="0" y="147820"/>
                  <a:pt x="0" y="95250"/>
                </a:cubicBezTo>
                <a:cubicBezTo>
                  <a:pt x="0" y="42680"/>
                  <a:pt x="42680" y="0"/>
                  <a:pt x="95250" y="0"/>
                </a:cubicBezTo>
                <a:close/>
                <a:moveTo>
                  <a:pt x="86321" y="44648"/>
                </a:moveTo>
                <a:lnTo>
                  <a:pt x="86321" y="95250"/>
                </a:lnTo>
                <a:cubicBezTo>
                  <a:pt x="86321" y="98227"/>
                  <a:pt x="87809" y="101017"/>
                  <a:pt x="90301" y="102691"/>
                </a:cubicBezTo>
                <a:lnTo>
                  <a:pt x="126020" y="126503"/>
                </a:lnTo>
                <a:cubicBezTo>
                  <a:pt x="130113" y="129257"/>
                  <a:pt x="135658" y="128140"/>
                  <a:pt x="138410" y="124010"/>
                </a:cubicBezTo>
                <a:cubicBezTo>
                  <a:pt x="141163" y="119880"/>
                  <a:pt x="140047" y="114374"/>
                  <a:pt x="135917" y="111622"/>
                </a:cubicBezTo>
                <a:lnTo>
                  <a:pt x="104179" y="90487"/>
                </a:lnTo>
                <a:lnTo>
                  <a:pt x="104179" y="44648"/>
                </a:lnTo>
                <a:cubicBezTo>
                  <a:pt x="104179" y="39700"/>
                  <a:pt x="100199" y="35719"/>
                  <a:pt x="95250" y="35719"/>
                </a:cubicBezTo>
                <a:cubicBezTo>
                  <a:pt x="90301" y="35719"/>
                  <a:pt x="86321" y="39700"/>
                  <a:pt x="86321" y="44648"/>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885712" y="4955232"/>
            <a:ext cx="3198150" cy="34377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Wait for Team Member Review</a:t>
            </a:r>
            <a:endParaRPr lang="en-US" sz="1100"/>
          </a:p>
        </p:txBody>
      </p:sp>
      <p:sp>
        <p:nvSpPr>
          <p:cNvPr id="19" name="AutoShape 19"/>
          <p:cNvSpPr/>
          <p:nvPr/>
        </p:nvSpPr>
        <p:spPr>
          <a:xfrm>
            <a:off x="885712" y="5221942"/>
            <a:ext cx="3672538" cy="40024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Patiently wait for code review feedback</a:t>
            </a:r>
            <a:endParaRPr lang="en-US" sz="1100"/>
          </a:p>
        </p:txBody>
      </p:sp>
      <p:sp>
        <p:nvSpPr>
          <p:cNvPr id="20" name="AutoShape 20"/>
          <p:cNvSpPr/>
          <p:nvPr/>
        </p:nvSpPr>
        <p:spPr>
          <a:xfrm>
            <a:off x="6248338" y="1640886"/>
            <a:ext cx="5657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Before a PR can be merged:</a:t>
            </a:r>
            <a:endParaRPr lang="en-US" sz="1100"/>
          </a:p>
        </p:txBody>
      </p:sp>
      <p:sp>
        <p:nvSpPr>
          <p:cNvPr id="21" name="Freeform 21"/>
          <p:cNvSpPr/>
          <p:nvPr/>
        </p:nvSpPr>
        <p:spPr>
          <a:xfrm>
            <a:off x="6248338" y="2059972"/>
            <a:ext cx="5562600" cy="3581400"/>
          </a:xfrm>
          <a:custGeom>
            <a:avLst/>
            <a:gdLst/>
            <a:ahLst/>
            <a:cxnLst/>
            <a:rect l="l" t="t" r="r" b="b"/>
            <a:pathLst>
              <a:path w="5562600" h="3581400">
                <a:moveTo>
                  <a:pt x="76211" y="0"/>
                </a:moveTo>
                <a:lnTo>
                  <a:pt x="5486389" y="0"/>
                </a:lnTo>
                <a:cubicBezTo>
                  <a:pt x="5528479" y="0"/>
                  <a:pt x="5562600" y="34121"/>
                  <a:pt x="5562600" y="76211"/>
                </a:cubicBezTo>
                <a:lnTo>
                  <a:pt x="5562600" y="3505189"/>
                </a:lnTo>
                <a:cubicBezTo>
                  <a:pt x="5562600" y="3547279"/>
                  <a:pt x="5528479" y="3581400"/>
                  <a:pt x="5486389" y="3581400"/>
                </a:cubicBezTo>
                <a:lnTo>
                  <a:pt x="76211" y="3581400"/>
                </a:lnTo>
                <a:cubicBezTo>
                  <a:pt x="34121" y="3581400"/>
                  <a:pt x="0" y="3547279"/>
                  <a:pt x="0" y="3505189"/>
                </a:cubicBezTo>
                <a:lnTo>
                  <a:pt x="0" y="76211"/>
                </a:lnTo>
                <a:cubicBezTo>
                  <a:pt x="0" y="34150"/>
                  <a:pt x="34150" y="0"/>
                  <a:pt x="76211"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2" name="Freeform 22"/>
          <p:cNvSpPr/>
          <p:nvPr/>
        </p:nvSpPr>
        <p:spPr>
          <a:xfrm>
            <a:off x="6476911" y="3202837"/>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3" name="Freeform 23"/>
          <p:cNvSpPr/>
          <p:nvPr/>
        </p:nvSpPr>
        <p:spPr>
          <a:xfrm>
            <a:off x="6622143" y="3358796"/>
            <a:ext cx="255166" cy="225027"/>
          </a:xfrm>
          <a:custGeom>
            <a:avLst/>
            <a:gdLst/>
            <a:ahLst/>
            <a:cxnLst/>
            <a:rect l="l" t="t" r="r" b="b"/>
            <a:pathLst>
              <a:path w="255166" h="225027">
                <a:moveTo>
                  <a:pt x="39292" y="53577"/>
                </a:moveTo>
                <a:cubicBezTo>
                  <a:pt x="39292" y="24006"/>
                  <a:pt x="63298" y="0"/>
                  <a:pt x="92869" y="0"/>
                </a:cubicBezTo>
                <a:cubicBezTo>
                  <a:pt x="122440" y="0"/>
                  <a:pt x="146446" y="24006"/>
                  <a:pt x="146446" y="53577"/>
                </a:cubicBezTo>
                <a:cubicBezTo>
                  <a:pt x="146446" y="83148"/>
                  <a:pt x="122440" y="107154"/>
                  <a:pt x="92869" y="107154"/>
                </a:cubicBezTo>
                <a:cubicBezTo>
                  <a:pt x="63298" y="107154"/>
                  <a:pt x="39292" y="83148"/>
                  <a:pt x="39292" y="53577"/>
                </a:cubicBezTo>
                <a:close/>
                <a:moveTo>
                  <a:pt x="0" y="211766"/>
                </a:moveTo>
                <a:cubicBezTo>
                  <a:pt x="0" y="167788"/>
                  <a:pt x="35630" y="132158"/>
                  <a:pt x="79608" y="132158"/>
                </a:cubicBezTo>
                <a:lnTo>
                  <a:pt x="106130" y="132158"/>
                </a:lnTo>
                <a:cubicBezTo>
                  <a:pt x="150108" y="132158"/>
                  <a:pt x="185738" y="167788"/>
                  <a:pt x="185738" y="211766"/>
                </a:cubicBezTo>
                <a:cubicBezTo>
                  <a:pt x="185738" y="219088"/>
                  <a:pt x="179801" y="225027"/>
                  <a:pt x="172476" y="225027"/>
                </a:cubicBezTo>
                <a:lnTo>
                  <a:pt x="13262" y="225027"/>
                </a:lnTo>
                <a:cubicBezTo>
                  <a:pt x="5937" y="225027"/>
                  <a:pt x="0" y="219088"/>
                  <a:pt x="0" y="211766"/>
                </a:cubicBezTo>
                <a:close/>
                <a:moveTo>
                  <a:pt x="251996" y="55675"/>
                </a:moveTo>
                <a:lnTo>
                  <a:pt x="216277" y="112825"/>
                </a:lnTo>
                <a:cubicBezTo>
                  <a:pt x="214402" y="115817"/>
                  <a:pt x="211187" y="117692"/>
                  <a:pt x="207660" y="117871"/>
                </a:cubicBezTo>
                <a:cubicBezTo>
                  <a:pt x="204132" y="118049"/>
                  <a:pt x="200740" y="116442"/>
                  <a:pt x="198641" y="113585"/>
                </a:cubicBezTo>
                <a:lnTo>
                  <a:pt x="177210" y="85010"/>
                </a:lnTo>
                <a:cubicBezTo>
                  <a:pt x="173638" y="80277"/>
                  <a:pt x="174620" y="73580"/>
                  <a:pt x="179353" y="70008"/>
                </a:cubicBezTo>
                <a:cubicBezTo>
                  <a:pt x="184085" y="66436"/>
                  <a:pt x="190783" y="67417"/>
                  <a:pt x="194355" y="72151"/>
                </a:cubicBezTo>
                <a:lnTo>
                  <a:pt x="206410" y="88224"/>
                </a:lnTo>
                <a:lnTo>
                  <a:pt x="233824" y="44335"/>
                </a:lnTo>
                <a:cubicBezTo>
                  <a:pt x="236951" y="39334"/>
                  <a:pt x="243557" y="37771"/>
                  <a:pt x="248603" y="40940"/>
                </a:cubicBezTo>
                <a:cubicBezTo>
                  <a:pt x="253648" y="44112"/>
                  <a:pt x="255166" y="50675"/>
                  <a:pt x="251996" y="55719"/>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7162630" y="3221868"/>
            <a:ext cx="3535161" cy="2286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Approved by at least one member</a:t>
            </a:r>
            <a:endParaRPr lang="en-US" sz="1100"/>
          </a:p>
        </p:txBody>
      </p:sp>
      <p:sp>
        <p:nvSpPr>
          <p:cNvPr id="25" name="AutoShape 25"/>
          <p:cNvSpPr/>
          <p:nvPr/>
        </p:nvSpPr>
        <p:spPr>
          <a:xfrm>
            <a:off x="7162630" y="3488573"/>
            <a:ext cx="4470187" cy="22850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Must pass code review by project maintainers</a:t>
            </a:r>
            <a:endParaRPr lang="en-US" sz="1100"/>
          </a:p>
        </p:txBody>
      </p:sp>
      <p:sp>
        <p:nvSpPr>
          <p:cNvPr id="26" name="Freeform 26"/>
          <p:cNvSpPr/>
          <p:nvPr/>
        </p:nvSpPr>
        <p:spPr>
          <a:xfrm>
            <a:off x="6476911" y="3964749"/>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7" name="Freeform 27"/>
          <p:cNvSpPr/>
          <p:nvPr/>
        </p:nvSpPr>
        <p:spPr>
          <a:xfrm>
            <a:off x="6656433" y="4122354"/>
            <a:ext cx="174799" cy="209401"/>
          </a:xfrm>
          <a:custGeom>
            <a:avLst/>
            <a:gdLst/>
            <a:ahLst/>
            <a:cxnLst/>
            <a:rect l="l" t="t" r="r" b="b"/>
            <a:pathLst>
              <a:path w="174799" h="209401">
                <a:moveTo>
                  <a:pt x="113005" y="24601"/>
                </a:moveTo>
                <a:cubicBezTo>
                  <a:pt x="117649" y="18216"/>
                  <a:pt x="116220" y="9287"/>
                  <a:pt x="109835" y="4643"/>
                </a:cubicBezTo>
                <a:cubicBezTo>
                  <a:pt x="103451" y="0"/>
                  <a:pt x="94521" y="1430"/>
                  <a:pt x="89878" y="7813"/>
                </a:cubicBezTo>
                <a:lnTo>
                  <a:pt x="42550" y="72866"/>
                </a:lnTo>
                <a:lnTo>
                  <a:pt x="25807" y="56123"/>
                </a:lnTo>
                <a:cubicBezTo>
                  <a:pt x="20226" y="50542"/>
                  <a:pt x="11162" y="50542"/>
                  <a:pt x="5581" y="56123"/>
                </a:cubicBezTo>
                <a:cubicBezTo>
                  <a:pt x="0" y="61704"/>
                  <a:pt x="0" y="70768"/>
                  <a:pt x="5581" y="76349"/>
                </a:cubicBezTo>
                <a:lnTo>
                  <a:pt x="34156" y="104924"/>
                </a:lnTo>
                <a:cubicBezTo>
                  <a:pt x="37103" y="107870"/>
                  <a:pt x="41210" y="109388"/>
                  <a:pt x="45363" y="109076"/>
                </a:cubicBezTo>
                <a:cubicBezTo>
                  <a:pt x="49515" y="108764"/>
                  <a:pt x="53355" y="106620"/>
                  <a:pt x="55810" y="103226"/>
                </a:cubicBezTo>
                <a:lnTo>
                  <a:pt x="112960" y="24646"/>
                </a:lnTo>
                <a:close/>
                <a:moveTo>
                  <a:pt x="170155" y="85323"/>
                </a:moveTo>
                <a:cubicBezTo>
                  <a:pt x="174799" y="78938"/>
                  <a:pt x="173370" y="70010"/>
                  <a:pt x="166985" y="65365"/>
                </a:cubicBezTo>
                <a:cubicBezTo>
                  <a:pt x="160601" y="60722"/>
                  <a:pt x="151671" y="62150"/>
                  <a:pt x="147028" y="68535"/>
                </a:cubicBezTo>
                <a:lnTo>
                  <a:pt x="71125" y="172880"/>
                </a:lnTo>
                <a:lnTo>
                  <a:pt x="40095" y="141848"/>
                </a:lnTo>
                <a:cubicBezTo>
                  <a:pt x="34513" y="136267"/>
                  <a:pt x="25450" y="136267"/>
                  <a:pt x="19869" y="141848"/>
                </a:cubicBezTo>
                <a:cubicBezTo>
                  <a:pt x="14288" y="147429"/>
                  <a:pt x="14288" y="156493"/>
                  <a:pt x="19869" y="162074"/>
                </a:cubicBezTo>
                <a:lnTo>
                  <a:pt x="62731" y="204936"/>
                </a:lnTo>
                <a:cubicBezTo>
                  <a:pt x="65678" y="207883"/>
                  <a:pt x="69785" y="209401"/>
                  <a:pt x="73938" y="209088"/>
                </a:cubicBezTo>
                <a:cubicBezTo>
                  <a:pt x="78090" y="208776"/>
                  <a:pt x="81930" y="206634"/>
                  <a:pt x="84385" y="203240"/>
                </a:cubicBezTo>
                <a:lnTo>
                  <a:pt x="170110" y="85368"/>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7162631" y="3983780"/>
            <a:ext cx="2228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Pass CI Checks</a:t>
            </a:r>
            <a:endParaRPr lang="en-US" sz="1100"/>
          </a:p>
        </p:txBody>
      </p:sp>
      <p:sp>
        <p:nvSpPr>
          <p:cNvPr id="29" name="AutoShape 29"/>
          <p:cNvSpPr/>
          <p:nvPr/>
        </p:nvSpPr>
        <p:spPr>
          <a:xfrm>
            <a:off x="7162630" y="4250485"/>
            <a:ext cx="3741417" cy="28579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Must pass automated tests and code checks</a:t>
            </a:r>
            <a:endParaRPr lang="en-US" sz="1100"/>
          </a:p>
        </p:txBody>
      </p:sp>
      <p:sp>
        <p:nvSpPr>
          <p:cNvPr id="30" name="AutoShape 30"/>
          <p:cNvSpPr/>
          <p:nvPr/>
        </p:nvSpPr>
        <p:spPr>
          <a:xfrm>
            <a:off x="345150" y="5907979"/>
            <a:ext cx="11350300" cy="307777"/>
          </a:xfrm>
          <a:prstGeom prst="rect">
            <a:avLst/>
          </a:prstGeom>
          <a:noFill/>
          <a:ln w="12700">
            <a:noFill/>
            <a:prstDash val="solid"/>
          </a:ln>
        </p:spPr>
        <p:txBody>
          <a:bodyPr wrap="square" lIns="91440" tIns="45720" rIns="91440" bIns="45720" rtlCol="0" anchor="t">
            <a:spAutoFit/>
          </a:bodyPr>
          <a:lstStyle/>
          <a:p>
            <a:pPr indent="0" algn="l">
              <a:lnSpc>
                <a:spcPct val="100000"/>
              </a:lnSpc>
              <a:defRPr/>
            </a:pPr>
            <a:r>
              <a:rPr lang="en-US" sz="1400" b="0" i="0" u="none" strike="noStrike">
                <a:solidFill>
                  <a:srgbClr val="A6A6A6"/>
                </a:solidFill>
                <a:latin typeface="微软雅黑" panose="020B0503020204020204" charset="-122"/>
                <a:ea typeface="微软雅黑" panose="020B0503020204020204" charset="-122"/>
                <a:cs typeface="微软雅黑" panose="020B0503020204020204" charset="-122"/>
                <a:sym typeface="微软雅黑" panose="020B0503020204020204" charset="-122"/>
              </a:rPr>
              <a:t>ReferenceFlagTree Contribution Guidelines:https://github.com/flagos-ai/FlagTree/blob/cc6a3158/CONTRIBUTING_cn.md</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9928" y="611529"/>
            <a:ext cx="4518965" cy="362591"/>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Importance of Code Standards</a:t>
            </a:r>
            <a:endParaRPr lang="en-US" sz="1100"/>
          </a:p>
        </p:txBody>
      </p:sp>
      <p:sp>
        <p:nvSpPr>
          <p:cNvPr id="3" name="AutoShape 3"/>
          <p:cNvSpPr/>
          <p:nvPr/>
        </p:nvSpPr>
        <p:spPr>
          <a:xfrm>
            <a:off x="380956" y="1640886"/>
            <a:ext cx="11525250" cy="3143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Large open source projects require unified code style — the foundation for code quality and collaboration efficiency</a:t>
            </a:r>
            <a:endParaRPr lang="en-US" sz="1100"/>
          </a:p>
        </p:txBody>
      </p:sp>
      <p:sp>
        <p:nvSpPr>
          <p:cNvPr id="4" name="Freeform 4"/>
          <p:cNvSpPr/>
          <p:nvPr/>
        </p:nvSpPr>
        <p:spPr>
          <a:xfrm>
            <a:off x="380956" y="2197994"/>
            <a:ext cx="3657600" cy="1733455"/>
          </a:xfrm>
          <a:custGeom>
            <a:avLst/>
            <a:gdLst/>
            <a:ahLst/>
            <a:cxnLst/>
            <a:rect l="l" t="t" r="r" b="b"/>
            <a:pathLst>
              <a:path w="3657600" h="1733455">
                <a:moveTo>
                  <a:pt x="37910" y="0"/>
                </a:moveTo>
                <a:lnTo>
                  <a:pt x="3619691" y="0"/>
                </a:lnTo>
                <a:cubicBezTo>
                  <a:pt x="3640626" y="0"/>
                  <a:pt x="3657600" y="16974"/>
                  <a:pt x="3657600" y="37910"/>
                </a:cubicBezTo>
                <a:lnTo>
                  <a:pt x="3657600" y="1657253"/>
                </a:lnTo>
                <a:cubicBezTo>
                  <a:pt x="3657600" y="1699337"/>
                  <a:pt x="3623483" y="1733455"/>
                  <a:pt x="3581397" y="1733455"/>
                </a:cubicBezTo>
                <a:lnTo>
                  <a:pt x="76203" y="1733455"/>
                </a:lnTo>
                <a:cubicBezTo>
                  <a:pt x="34117" y="1733455"/>
                  <a:pt x="0" y="1699337"/>
                  <a:pt x="0" y="1657253"/>
                </a:cubicBezTo>
                <a:lnTo>
                  <a:pt x="0" y="37910"/>
                </a:lnTo>
                <a:cubicBezTo>
                  <a:pt x="0" y="16988"/>
                  <a:pt x="16988" y="0"/>
                  <a:pt x="379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380956" y="2197994"/>
            <a:ext cx="3657600" cy="37910"/>
          </a:xfrm>
          <a:custGeom>
            <a:avLst/>
            <a:gdLst/>
            <a:ahLst/>
            <a:cxnLst/>
            <a:rect l="l" t="t" r="r" b="b"/>
            <a:pathLst>
              <a:path w="3657600" h="37910">
                <a:moveTo>
                  <a:pt x="37910" y="0"/>
                </a:moveTo>
                <a:lnTo>
                  <a:pt x="3619691" y="0"/>
                </a:lnTo>
                <a:cubicBezTo>
                  <a:pt x="3640626" y="0"/>
                  <a:pt x="3657600" y="16974"/>
                  <a:pt x="3657600" y="37910"/>
                </a:cubicBezTo>
                <a:lnTo>
                  <a:pt x="3657600" y="37910"/>
                </a:lnTo>
                <a:lnTo>
                  <a:pt x="0" y="37910"/>
                </a:ln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2016310" y="2466951"/>
            <a:ext cx="386968" cy="300038"/>
          </a:xfrm>
          <a:custGeom>
            <a:avLst/>
            <a:gdLst/>
            <a:ahLst/>
            <a:cxnLst/>
            <a:rect l="l" t="t" r="r" b="b"/>
            <a:pathLst>
              <a:path w="386968" h="300038">
                <a:moveTo>
                  <a:pt x="193484" y="0"/>
                </a:moveTo>
                <a:cubicBezTo>
                  <a:pt x="139370" y="0"/>
                  <a:pt x="96038" y="24646"/>
                  <a:pt x="64495" y="53980"/>
                </a:cubicBezTo>
                <a:cubicBezTo>
                  <a:pt x="33152" y="83113"/>
                  <a:pt x="12189" y="117871"/>
                  <a:pt x="2210" y="141781"/>
                </a:cubicBezTo>
                <a:cubicBezTo>
                  <a:pt x="0" y="147073"/>
                  <a:pt x="0" y="152965"/>
                  <a:pt x="2210" y="158257"/>
                </a:cubicBezTo>
                <a:cubicBezTo>
                  <a:pt x="12189" y="182167"/>
                  <a:pt x="33152" y="216992"/>
                  <a:pt x="64495" y="246058"/>
                </a:cubicBezTo>
                <a:cubicBezTo>
                  <a:pt x="96038" y="275325"/>
                  <a:pt x="139370" y="300038"/>
                  <a:pt x="193484" y="300038"/>
                </a:cubicBezTo>
                <a:cubicBezTo>
                  <a:pt x="247598" y="300038"/>
                  <a:pt x="290929" y="275392"/>
                  <a:pt x="322474" y="246058"/>
                </a:cubicBezTo>
                <a:cubicBezTo>
                  <a:pt x="353817" y="216925"/>
                  <a:pt x="374779" y="182167"/>
                  <a:pt x="384758" y="158257"/>
                </a:cubicBezTo>
                <a:cubicBezTo>
                  <a:pt x="386967" y="152965"/>
                  <a:pt x="386967" y="147073"/>
                  <a:pt x="384758" y="141781"/>
                </a:cubicBezTo>
                <a:cubicBezTo>
                  <a:pt x="374779" y="117871"/>
                  <a:pt x="353817" y="83046"/>
                  <a:pt x="322474" y="53980"/>
                </a:cubicBezTo>
                <a:cubicBezTo>
                  <a:pt x="290929" y="24713"/>
                  <a:pt x="247598" y="0"/>
                  <a:pt x="193484" y="0"/>
                </a:cubicBezTo>
                <a:close/>
                <a:moveTo>
                  <a:pt x="97044" y="150019"/>
                </a:moveTo>
                <a:cubicBezTo>
                  <a:pt x="97044" y="96792"/>
                  <a:pt x="140257" y="53578"/>
                  <a:pt x="193484" y="53578"/>
                </a:cubicBezTo>
                <a:cubicBezTo>
                  <a:pt x="246711" y="53578"/>
                  <a:pt x="289926" y="96792"/>
                  <a:pt x="289926" y="150019"/>
                </a:cubicBezTo>
                <a:cubicBezTo>
                  <a:pt x="289926" y="203246"/>
                  <a:pt x="246711" y="246460"/>
                  <a:pt x="193484" y="246460"/>
                </a:cubicBezTo>
                <a:cubicBezTo>
                  <a:pt x="140257" y="246460"/>
                  <a:pt x="97044" y="203246"/>
                  <a:pt x="97044" y="150019"/>
                </a:cubicBezTo>
                <a:close/>
                <a:moveTo>
                  <a:pt x="193484" y="107157"/>
                </a:moveTo>
                <a:cubicBezTo>
                  <a:pt x="193484" y="130798"/>
                  <a:pt x="174263" y="150019"/>
                  <a:pt x="150622" y="150019"/>
                </a:cubicBezTo>
                <a:cubicBezTo>
                  <a:pt x="142920" y="150019"/>
                  <a:pt x="135687" y="148010"/>
                  <a:pt x="129391" y="144393"/>
                </a:cubicBezTo>
                <a:cubicBezTo>
                  <a:pt x="128722" y="151693"/>
                  <a:pt x="129324" y="159193"/>
                  <a:pt x="131334" y="166628"/>
                </a:cubicBezTo>
                <a:cubicBezTo>
                  <a:pt x="140509" y="200918"/>
                  <a:pt x="175803" y="221277"/>
                  <a:pt x="210093" y="212103"/>
                </a:cubicBezTo>
                <a:cubicBezTo>
                  <a:pt x="244383" y="202927"/>
                  <a:pt x="264743" y="167633"/>
                  <a:pt x="255568" y="133343"/>
                </a:cubicBezTo>
                <a:cubicBezTo>
                  <a:pt x="247397" y="102736"/>
                  <a:pt x="218398" y="83247"/>
                  <a:pt x="187859" y="85926"/>
                </a:cubicBezTo>
                <a:cubicBezTo>
                  <a:pt x="191408" y="92155"/>
                  <a:pt x="193484" y="99388"/>
                  <a:pt x="193484" y="10715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561904" y="2902669"/>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Improve Code Readability</a:t>
            </a:r>
            <a:endParaRPr lang="en-US" sz="1100"/>
          </a:p>
        </p:txBody>
      </p:sp>
      <p:sp>
        <p:nvSpPr>
          <p:cNvPr id="8" name="AutoShape 8"/>
          <p:cNvSpPr/>
          <p:nvPr/>
        </p:nvSpPr>
        <p:spPr>
          <a:xfrm>
            <a:off x="571429" y="3245565"/>
            <a:ext cx="3276600" cy="4572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Unified code style helps team members quickly understand code logic</a:t>
            </a:r>
            <a:endParaRPr lang="en-US" sz="1100"/>
          </a:p>
        </p:txBody>
      </p:sp>
      <p:sp>
        <p:nvSpPr>
          <p:cNvPr id="9" name="Freeform 9"/>
          <p:cNvSpPr/>
          <p:nvPr/>
        </p:nvSpPr>
        <p:spPr>
          <a:xfrm>
            <a:off x="4267147" y="2197994"/>
            <a:ext cx="3657600" cy="1733455"/>
          </a:xfrm>
          <a:custGeom>
            <a:avLst/>
            <a:gdLst/>
            <a:ahLst/>
            <a:cxnLst/>
            <a:rect l="l" t="t" r="r" b="b"/>
            <a:pathLst>
              <a:path w="3657600" h="1733455">
                <a:moveTo>
                  <a:pt x="37909" y="0"/>
                </a:moveTo>
                <a:lnTo>
                  <a:pt x="3619690" y="0"/>
                </a:lnTo>
                <a:cubicBezTo>
                  <a:pt x="3640626" y="0"/>
                  <a:pt x="3657600" y="16974"/>
                  <a:pt x="3657600" y="37910"/>
                </a:cubicBezTo>
                <a:lnTo>
                  <a:pt x="3657600" y="1657253"/>
                </a:lnTo>
                <a:cubicBezTo>
                  <a:pt x="3657600" y="1699337"/>
                  <a:pt x="3623483" y="1733455"/>
                  <a:pt x="3581397" y="1733455"/>
                </a:cubicBezTo>
                <a:lnTo>
                  <a:pt x="76203" y="1733455"/>
                </a:lnTo>
                <a:cubicBezTo>
                  <a:pt x="34117" y="1733455"/>
                  <a:pt x="0" y="1699337"/>
                  <a:pt x="0" y="1657253"/>
                </a:cubicBezTo>
                <a:lnTo>
                  <a:pt x="0" y="37910"/>
                </a:lnTo>
                <a:cubicBezTo>
                  <a:pt x="0" y="16988"/>
                  <a:pt x="16988" y="0"/>
                  <a:pt x="3790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4267147" y="2197994"/>
            <a:ext cx="3657600" cy="37910"/>
          </a:xfrm>
          <a:custGeom>
            <a:avLst/>
            <a:gdLst/>
            <a:ahLst/>
            <a:cxnLst/>
            <a:rect l="l" t="t" r="r" b="b"/>
            <a:pathLst>
              <a:path w="3657600" h="37910">
                <a:moveTo>
                  <a:pt x="37909" y="0"/>
                </a:moveTo>
                <a:lnTo>
                  <a:pt x="3619690" y="0"/>
                </a:lnTo>
                <a:cubicBezTo>
                  <a:pt x="3640626" y="0"/>
                  <a:pt x="3657600" y="16974"/>
                  <a:pt x="3657600" y="37910"/>
                </a:cubicBezTo>
                <a:lnTo>
                  <a:pt x="3657600" y="37910"/>
                </a:lnTo>
                <a:lnTo>
                  <a:pt x="0" y="37910"/>
                </a:ln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5914556" y="2436881"/>
            <a:ext cx="364132" cy="362722"/>
          </a:xfrm>
          <a:custGeom>
            <a:avLst/>
            <a:gdLst/>
            <a:ahLst/>
            <a:cxnLst/>
            <a:rect l="l" t="t" r="r" b="b"/>
            <a:pathLst>
              <a:path w="364132" h="362722">
                <a:moveTo>
                  <a:pt x="138634" y="73669"/>
                </a:moveTo>
                <a:lnTo>
                  <a:pt x="138634" y="106887"/>
                </a:lnTo>
                <a:lnTo>
                  <a:pt x="138969" y="107223"/>
                </a:lnTo>
                <a:cubicBezTo>
                  <a:pt x="143322" y="52037"/>
                  <a:pt x="189466" y="8639"/>
                  <a:pt x="245790" y="8639"/>
                </a:cubicBezTo>
                <a:cubicBezTo>
                  <a:pt x="259251" y="8639"/>
                  <a:pt x="272177" y="11117"/>
                  <a:pt x="284031" y="15671"/>
                </a:cubicBezTo>
                <a:cubicBezTo>
                  <a:pt x="290729" y="18216"/>
                  <a:pt x="291934" y="26723"/>
                  <a:pt x="286910" y="31811"/>
                </a:cubicBezTo>
                <a:lnTo>
                  <a:pt x="227506" y="91216"/>
                </a:lnTo>
                <a:cubicBezTo>
                  <a:pt x="225497" y="93225"/>
                  <a:pt x="224359" y="95971"/>
                  <a:pt x="224359" y="98784"/>
                </a:cubicBezTo>
                <a:lnTo>
                  <a:pt x="224359" y="126512"/>
                </a:lnTo>
                <a:cubicBezTo>
                  <a:pt x="224359" y="132404"/>
                  <a:pt x="229181" y="137227"/>
                  <a:pt x="235074" y="137227"/>
                </a:cubicBezTo>
                <a:lnTo>
                  <a:pt x="262801" y="137227"/>
                </a:lnTo>
                <a:cubicBezTo>
                  <a:pt x="265614" y="137227"/>
                  <a:pt x="268359" y="136089"/>
                  <a:pt x="270369" y="134079"/>
                </a:cubicBezTo>
                <a:lnTo>
                  <a:pt x="329774" y="74674"/>
                </a:lnTo>
                <a:cubicBezTo>
                  <a:pt x="334864" y="69584"/>
                  <a:pt x="343369" y="70858"/>
                  <a:pt x="345915" y="77554"/>
                </a:cubicBezTo>
                <a:cubicBezTo>
                  <a:pt x="350468" y="89408"/>
                  <a:pt x="352947" y="102335"/>
                  <a:pt x="352947" y="115795"/>
                </a:cubicBezTo>
                <a:cubicBezTo>
                  <a:pt x="352947" y="156381"/>
                  <a:pt x="330376" y="191743"/>
                  <a:pt x="297023" y="209892"/>
                </a:cubicBezTo>
                <a:lnTo>
                  <a:pt x="351607" y="264475"/>
                </a:lnTo>
                <a:cubicBezTo>
                  <a:pt x="364131" y="276998"/>
                  <a:pt x="364131" y="297358"/>
                  <a:pt x="351607" y="309949"/>
                </a:cubicBezTo>
                <a:lnTo>
                  <a:pt x="311357" y="350200"/>
                </a:lnTo>
                <a:cubicBezTo>
                  <a:pt x="298832" y="362723"/>
                  <a:pt x="278472" y="362723"/>
                  <a:pt x="265882" y="350200"/>
                </a:cubicBezTo>
                <a:lnTo>
                  <a:pt x="181497" y="265814"/>
                </a:lnTo>
                <a:cubicBezTo>
                  <a:pt x="163146" y="247463"/>
                  <a:pt x="158993" y="220340"/>
                  <a:pt x="169106" y="197971"/>
                </a:cubicBezTo>
                <a:lnTo>
                  <a:pt x="108362" y="137227"/>
                </a:lnTo>
                <a:lnTo>
                  <a:pt x="75144" y="137227"/>
                </a:lnTo>
                <a:cubicBezTo>
                  <a:pt x="67978" y="137227"/>
                  <a:pt x="61280" y="133677"/>
                  <a:pt x="57329" y="127715"/>
                </a:cubicBezTo>
                <a:lnTo>
                  <a:pt x="4220" y="48086"/>
                </a:lnTo>
                <a:cubicBezTo>
                  <a:pt x="1407" y="43868"/>
                  <a:pt x="1943" y="38174"/>
                  <a:pt x="5558" y="34557"/>
                </a:cubicBezTo>
                <a:lnTo>
                  <a:pt x="35965" y="4152"/>
                </a:lnTo>
                <a:cubicBezTo>
                  <a:pt x="39580" y="535"/>
                  <a:pt x="45207" y="0"/>
                  <a:pt x="49493" y="2812"/>
                </a:cubicBezTo>
                <a:lnTo>
                  <a:pt x="129124" y="55855"/>
                </a:lnTo>
                <a:cubicBezTo>
                  <a:pt x="135084" y="59806"/>
                  <a:pt x="138634" y="66503"/>
                  <a:pt x="138634" y="73669"/>
                </a:cubicBezTo>
                <a:close/>
                <a:moveTo>
                  <a:pt x="132941" y="207280"/>
                </a:moveTo>
                <a:cubicBezTo>
                  <a:pt x="128722" y="232060"/>
                  <a:pt x="134548" y="258246"/>
                  <a:pt x="150622" y="279209"/>
                </a:cubicBezTo>
                <a:lnTo>
                  <a:pt x="86998" y="342766"/>
                </a:lnTo>
                <a:cubicBezTo>
                  <a:pt x="68178" y="361585"/>
                  <a:pt x="37639" y="361585"/>
                  <a:pt x="18820" y="342766"/>
                </a:cubicBezTo>
                <a:cubicBezTo>
                  <a:pt x="0" y="323946"/>
                  <a:pt x="0" y="293407"/>
                  <a:pt x="18820" y="274587"/>
                </a:cubicBezTo>
                <a:lnTo>
                  <a:pt x="109502" y="183907"/>
                </a:lnTo>
                <a:lnTo>
                  <a:pt x="132941" y="20734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AutoShape 12"/>
          <p:cNvSpPr/>
          <p:nvPr/>
        </p:nvSpPr>
        <p:spPr>
          <a:xfrm>
            <a:off x="4448095" y="2902669"/>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Reduce Maintenance Cost</a:t>
            </a:r>
            <a:endParaRPr lang="en-US" sz="1100"/>
          </a:p>
        </p:txBody>
      </p:sp>
      <p:sp>
        <p:nvSpPr>
          <p:cNvPr id="13" name="AutoShape 13"/>
          <p:cNvSpPr/>
          <p:nvPr/>
        </p:nvSpPr>
        <p:spPr>
          <a:xfrm>
            <a:off x="4457620" y="3245565"/>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Well-structured code is easier to maintain and extend, reducing technical debt</a:t>
            </a:r>
            <a:endParaRPr lang="en-US" sz="1100"/>
          </a:p>
        </p:txBody>
      </p:sp>
      <p:sp>
        <p:nvSpPr>
          <p:cNvPr id="14" name="Freeform 14"/>
          <p:cNvSpPr/>
          <p:nvPr/>
        </p:nvSpPr>
        <p:spPr>
          <a:xfrm>
            <a:off x="8153338" y="2197994"/>
            <a:ext cx="3657600" cy="1733455"/>
          </a:xfrm>
          <a:custGeom>
            <a:avLst/>
            <a:gdLst/>
            <a:ahLst/>
            <a:cxnLst/>
            <a:rect l="l" t="t" r="r" b="b"/>
            <a:pathLst>
              <a:path w="3657600" h="1733455">
                <a:moveTo>
                  <a:pt x="37910" y="0"/>
                </a:moveTo>
                <a:lnTo>
                  <a:pt x="3619690" y="0"/>
                </a:lnTo>
                <a:cubicBezTo>
                  <a:pt x="3640626" y="0"/>
                  <a:pt x="3657600" y="16974"/>
                  <a:pt x="3657600" y="37910"/>
                </a:cubicBezTo>
                <a:lnTo>
                  <a:pt x="3657600" y="1657253"/>
                </a:lnTo>
                <a:cubicBezTo>
                  <a:pt x="3657600" y="1699337"/>
                  <a:pt x="3623483" y="1733455"/>
                  <a:pt x="3581397" y="1733455"/>
                </a:cubicBezTo>
                <a:lnTo>
                  <a:pt x="76203" y="1733455"/>
                </a:lnTo>
                <a:cubicBezTo>
                  <a:pt x="34117" y="1733455"/>
                  <a:pt x="0" y="1699337"/>
                  <a:pt x="0" y="1657253"/>
                </a:cubicBezTo>
                <a:lnTo>
                  <a:pt x="0" y="37910"/>
                </a:lnTo>
                <a:cubicBezTo>
                  <a:pt x="0" y="16988"/>
                  <a:pt x="16988" y="0"/>
                  <a:pt x="379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8153338" y="2197994"/>
            <a:ext cx="3657600" cy="37910"/>
          </a:xfrm>
          <a:custGeom>
            <a:avLst/>
            <a:gdLst/>
            <a:ahLst/>
            <a:cxnLst/>
            <a:rect l="l" t="t" r="r" b="b"/>
            <a:pathLst>
              <a:path w="3657600" h="37910">
                <a:moveTo>
                  <a:pt x="37910" y="0"/>
                </a:moveTo>
                <a:lnTo>
                  <a:pt x="3619690" y="0"/>
                </a:lnTo>
                <a:cubicBezTo>
                  <a:pt x="3640626" y="0"/>
                  <a:pt x="3657600" y="16974"/>
                  <a:pt x="3657600" y="37910"/>
                </a:cubicBezTo>
                <a:lnTo>
                  <a:pt x="3657600" y="37910"/>
                </a:lnTo>
                <a:lnTo>
                  <a:pt x="0" y="37910"/>
                </a:lnTo>
                <a:lnTo>
                  <a:pt x="0" y="37910"/>
                </a:lnTo>
                <a:cubicBezTo>
                  <a:pt x="0" y="16988"/>
                  <a:pt x="16988" y="0"/>
                  <a:pt x="3791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Freeform 16"/>
          <p:cNvSpPr/>
          <p:nvPr/>
        </p:nvSpPr>
        <p:spPr>
          <a:xfrm>
            <a:off x="9767863" y="2456236"/>
            <a:ext cx="428625" cy="310752"/>
          </a:xfrm>
          <a:custGeom>
            <a:avLst/>
            <a:gdLst/>
            <a:ahLst/>
            <a:cxnLst/>
            <a:rect l="l" t="t" r="r" b="b"/>
            <a:pathLst>
              <a:path w="428625" h="310752">
                <a:moveTo>
                  <a:pt x="214313" y="0"/>
                </a:moveTo>
                <a:cubicBezTo>
                  <a:pt x="252754" y="0"/>
                  <a:pt x="283964" y="31209"/>
                  <a:pt x="283964" y="69651"/>
                </a:cubicBezTo>
                <a:cubicBezTo>
                  <a:pt x="283964" y="108092"/>
                  <a:pt x="252754" y="139303"/>
                  <a:pt x="214313" y="139303"/>
                </a:cubicBezTo>
                <a:cubicBezTo>
                  <a:pt x="175871" y="139303"/>
                  <a:pt x="144661" y="108092"/>
                  <a:pt x="144661" y="69651"/>
                </a:cubicBezTo>
                <a:cubicBezTo>
                  <a:pt x="144661" y="31209"/>
                  <a:pt x="175871" y="0"/>
                  <a:pt x="214313" y="0"/>
                </a:cubicBezTo>
                <a:close/>
                <a:moveTo>
                  <a:pt x="64294" y="48220"/>
                </a:moveTo>
                <a:cubicBezTo>
                  <a:pt x="90907" y="48220"/>
                  <a:pt x="112514" y="69827"/>
                  <a:pt x="112514" y="96440"/>
                </a:cubicBezTo>
                <a:cubicBezTo>
                  <a:pt x="112514" y="123054"/>
                  <a:pt x="90907" y="144661"/>
                  <a:pt x="64294" y="144661"/>
                </a:cubicBezTo>
                <a:cubicBezTo>
                  <a:pt x="37680" y="144661"/>
                  <a:pt x="16073" y="123054"/>
                  <a:pt x="16073" y="96440"/>
                </a:cubicBezTo>
                <a:cubicBezTo>
                  <a:pt x="16073" y="69827"/>
                  <a:pt x="37680" y="48220"/>
                  <a:pt x="64294" y="48220"/>
                </a:cubicBezTo>
                <a:close/>
                <a:moveTo>
                  <a:pt x="0" y="267890"/>
                </a:moveTo>
                <a:cubicBezTo>
                  <a:pt x="0" y="220541"/>
                  <a:pt x="38376" y="182165"/>
                  <a:pt x="85725" y="182165"/>
                </a:cubicBezTo>
                <a:cubicBezTo>
                  <a:pt x="94297" y="182165"/>
                  <a:pt x="102602" y="183438"/>
                  <a:pt x="110438" y="185782"/>
                </a:cubicBezTo>
                <a:cubicBezTo>
                  <a:pt x="88403" y="210428"/>
                  <a:pt x="75009" y="242975"/>
                  <a:pt x="75009" y="278607"/>
                </a:cubicBezTo>
                <a:lnTo>
                  <a:pt x="75009" y="289322"/>
                </a:lnTo>
                <a:cubicBezTo>
                  <a:pt x="75009" y="296955"/>
                  <a:pt x="76617" y="304189"/>
                  <a:pt x="79497" y="310753"/>
                </a:cubicBezTo>
                <a:lnTo>
                  <a:pt x="21431" y="310753"/>
                </a:lnTo>
                <a:cubicBezTo>
                  <a:pt x="9577" y="310753"/>
                  <a:pt x="0" y="301176"/>
                  <a:pt x="0" y="289322"/>
                </a:cubicBezTo>
                <a:lnTo>
                  <a:pt x="0" y="267890"/>
                </a:lnTo>
                <a:close/>
                <a:moveTo>
                  <a:pt x="349128" y="310753"/>
                </a:moveTo>
                <a:cubicBezTo>
                  <a:pt x="352008" y="304189"/>
                  <a:pt x="353616" y="296955"/>
                  <a:pt x="353616" y="289322"/>
                </a:cubicBezTo>
                <a:lnTo>
                  <a:pt x="353616" y="278607"/>
                </a:lnTo>
                <a:cubicBezTo>
                  <a:pt x="353616" y="242975"/>
                  <a:pt x="340222" y="210428"/>
                  <a:pt x="318187" y="185782"/>
                </a:cubicBezTo>
                <a:cubicBezTo>
                  <a:pt x="326023" y="183438"/>
                  <a:pt x="334327" y="182165"/>
                  <a:pt x="342900" y="182165"/>
                </a:cubicBezTo>
                <a:cubicBezTo>
                  <a:pt x="390249" y="182165"/>
                  <a:pt x="428625" y="220541"/>
                  <a:pt x="428625" y="267890"/>
                </a:cubicBezTo>
                <a:lnTo>
                  <a:pt x="428625" y="289322"/>
                </a:lnTo>
                <a:cubicBezTo>
                  <a:pt x="428625" y="301176"/>
                  <a:pt x="419048" y="310753"/>
                  <a:pt x="407194" y="310753"/>
                </a:cubicBezTo>
                <a:lnTo>
                  <a:pt x="349128" y="310753"/>
                </a:lnTo>
                <a:close/>
                <a:moveTo>
                  <a:pt x="316111" y="96440"/>
                </a:moveTo>
                <a:cubicBezTo>
                  <a:pt x="316111" y="69827"/>
                  <a:pt x="337718" y="48220"/>
                  <a:pt x="364331" y="48220"/>
                </a:cubicBezTo>
                <a:cubicBezTo>
                  <a:pt x="390945" y="48220"/>
                  <a:pt x="412552" y="69827"/>
                  <a:pt x="412552" y="96440"/>
                </a:cubicBezTo>
                <a:cubicBezTo>
                  <a:pt x="412552" y="123054"/>
                  <a:pt x="390945" y="144661"/>
                  <a:pt x="364331" y="144661"/>
                </a:cubicBezTo>
                <a:cubicBezTo>
                  <a:pt x="337718" y="144661"/>
                  <a:pt x="316111" y="123054"/>
                  <a:pt x="316111" y="96440"/>
                </a:cubicBezTo>
                <a:close/>
                <a:moveTo>
                  <a:pt x="107156" y="278607"/>
                </a:moveTo>
                <a:cubicBezTo>
                  <a:pt x="107156" y="219402"/>
                  <a:pt x="155109" y="171450"/>
                  <a:pt x="214313" y="171450"/>
                </a:cubicBezTo>
                <a:cubicBezTo>
                  <a:pt x="273516" y="171450"/>
                  <a:pt x="321469" y="219402"/>
                  <a:pt x="321469" y="278607"/>
                </a:cubicBezTo>
                <a:lnTo>
                  <a:pt x="321469" y="289322"/>
                </a:lnTo>
                <a:cubicBezTo>
                  <a:pt x="321469" y="301176"/>
                  <a:pt x="311892" y="310753"/>
                  <a:pt x="300037" y="310753"/>
                </a:cubicBezTo>
                <a:lnTo>
                  <a:pt x="128587" y="310753"/>
                </a:lnTo>
                <a:cubicBezTo>
                  <a:pt x="116733" y="310753"/>
                  <a:pt x="107156" y="301176"/>
                  <a:pt x="107156" y="289322"/>
                </a:cubicBezTo>
                <a:lnTo>
                  <a:pt x="107156" y="27860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8334286" y="2902669"/>
            <a:ext cx="32956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Facilitate Team Collaboration</a:t>
            </a:r>
            <a:endParaRPr lang="en-US" sz="1100"/>
          </a:p>
        </p:txBody>
      </p:sp>
      <p:sp>
        <p:nvSpPr>
          <p:cNvPr id="18" name="AutoShape 18"/>
          <p:cNvSpPr/>
          <p:nvPr/>
        </p:nvSpPr>
        <p:spPr>
          <a:xfrm>
            <a:off x="8343811" y="3245565"/>
            <a:ext cx="3276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Unified standards reduce style disputes during code reviews</a:t>
            </a:r>
            <a:endParaRPr lang="en-US" sz="1100"/>
          </a:p>
        </p:txBody>
      </p:sp>
      <p:sp>
        <p:nvSpPr>
          <p:cNvPr id="19" name="Freeform 19"/>
          <p:cNvSpPr/>
          <p:nvPr/>
        </p:nvSpPr>
        <p:spPr>
          <a:xfrm>
            <a:off x="380956" y="4159858"/>
            <a:ext cx="11430000" cy="1333500"/>
          </a:xfrm>
          <a:custGeom>
            <a:avLst/>
            <a:gdLst/>
            <a:ahLst/>
            <a:cxnLst/>
            <a:rect l="l" t="t" r="r" b="b"/>
            <a:pathLst>
              <a:path w="11430000" h="1333500">
                <a:moveTo>
                  <a:pt x="76196" y="0"/>
                </a:moveTo>
                <a:lnTo>
                  <a:pt x="11353804" y="0"/>
                </a:lnTo>
                <a:cubicBezTo>
                  <a:pt x="11395887" y="0"/>
                  <a:pt x="11430000" y="34113"/>
                  <a:pt x="11430000" y="76196"/>
                </a:cubicBezTo>
                <a:lnTo>
                  <a:pt x="11430000" y="1257304"/>
                </a:lnTo>
                <a:cubicBezTo>
                  <a:pt x="11430000" y="1299387"/>
                  <a:pt x="11395887" y="1333500"/>
                  <a:pt x="11353804" y="1333500"/>
                </a:cubicBezTo>
                <a:lnTo>
                  <a:pt x="76196" y="1333500"/>
                </a:lnTo>
                <a:cubicBezTo>
                  <a:pt x="34113" y="1333500"/>
                  <a:pt x="0" y="1299387"/>
                  <a:pt x="0" y="1257304"/>
                </a:cubicBezTo>
                <a:lnTo>
                  <a:pt x="0" y="76196"/>
                </a:lnTo>
                <a:cubicBezTo>
                  <a:pt x="0" y="34141"/>
                  <a:pt x="34141" y="0"/>
                  <a:pt x="76196" y="0"/>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09529" y="4388430"/>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Common Standard Types</a:t>
            </a:r>
            <a:endParaRPr lang="en-US" sz="1100"/>
          </a:p>
        </p:txBody>
      </p:sp>
      <p:sp>
        <p:nvSpPr>
          <p:cNvPr id="21" name="Freeform 21"/>
          <p:cNvSpPr/>
          <p:nvPr/>
        </p:nvSpPr>
        <p:spPr>
          <a:xfrm>
            <a:off x="652391" y="4936056"/>
            <a:ext cx="200025" cy="200025"/>
          </a:xfrm>
          <a:custGeom>
            <a:avLst/>
            <a:gdLst/>
            <a:ahLst/>
            <a:cxnLst/>
            <a:rect l="l" t="t" r="r" b="b"/>
            <a:pathLst>
              <a:path w="200025" h="200025">
                <a:moveTo>
                  <a:pt x="128587" y="14288"/>
                </a:moveTo>
                <a:cubicBezTo>
                  <a:pt x="128587" y="22191"/>
                  <a:pt x="122203" y="28576"/>
                  <a:pt x="114300" y="28576"/>
                </a:cubicBezTo>
                <a:lnTo>
                  <a:pt x="14287" y="28576"/>
                </a:lnTo>
                <a:cubicBezTo>
                  <a:pt x="6386" y="28576"/>
                  <a:pt x="0" y="22191"/>
                  <a:pt x="0" y="14288"/>
                </a:cubicBezTo>
                <a:cubicBezTo>
                  <a:pt x="0" y="6385"/>
                  <a:pt x="6386" y="0"/>
                  <a:pt x="14287" y="0"/>
                </a:cubicBezTo>
                <a:lnTo>
                  <a:pt x="114300" y="0"/>
                </a:lnTo>
                <a:cubicBezTo>
                  <a:pt x="122203" y="0"/>
                  <a:pt x="128587" y="6385"/>
                  <a:pt x="128587" y="14288"/>
                </a:cubicBezTo>
                <a:close/>
                <a:moveTo>
                  <a:pt x="128587" y="128588"/>
                </a:moveTo>
                <a:cubicBezTo>
                  <a:pt x="128587" y="136491"/>
                  <a:pt x="122203" y="142876"/>
                  <a:pt x="114300" y="142876"/>
                </a:cubicBezTo>
                <a:lnTo>
                  <a:pt x="14287" y="142876"/>
                </a:lnTo>
                <a:cubicBezTo>
                  <a:pt x="6386" y="142876"/>
                  <a:pt x="0" y="136491"/>
                  <a:pt x="0" y="128588"/>
                </a:cubicBezTo>
                <a:cubicBezTo>
                  <a:pt x="0" y="120685"/>
                  <a:pt x="6386" y="114300"/>
                  <a:pt x="14287" y="114300"/>
                </a:cubicBezTo>
                <a:lnTo>
                  <a:pt x="114300" y="114300"/>
                </a:lnTo>
                <a:cubicBezTo>
                  <a:pt x="122203" y="114300"/>
                  <a:pt x="128587" y="120685"/>
                  <a:pt x="128587" y="128588"/>
                </a:cubicBezTo>
                <a:close/>
                <a:moveTo>
                  <a:pt x="0" y="71438"/>
                </a:moveTo>
                <a:cubicBezTo>
                  <a:pt x="0" y="63535"/>
                  <a:pt x="6386" y="57150"/>
                  <a:pt x="14287" y="57150"/>
                </a:cubicBezTo>
                <a:lnTo>
                  <a:pt x="185737" y="57150"/>
                </a:lnTo>
                <a:cubicBezTo>
                  <a:pt x="193639" y="57150"/>
                  <a:pt x="200025" y="63535"/>
                  <a:pt x="200025" y="71438"/>
                </a:cubicBezTo>
                <a:cubicBezTo>
                  <a:pt x="200025" y="79341"/>
                  <a:pt x="193639" y="85726"/>
                  <a:pt x="185737" y="85726"/>
                </a:cubicBezTo>
                <a:lnTo>
                  <a:pt x="14287" y="85726"/>
                </a:lnTo>
                <a:cubicBezTo>
                  <a:pt x="6386" y="85726"/>
                  <a:pt x="0" y="79341"/>
                  <a:pt x="0" y="71438"/>
                </a:cubicBezTo>
                <a:close/>
                <a:moveTo>
                  <a:pt x="200025" y="185738"/>
                </a:moveTo>
                <a:cubicBezTo>
                  <a:pt x="200025" y="193641"/>
                  <a:pt x="193639" y="200026"/>
                  <a:pt x="185737" y="200026"/>
                </a:cubicBezTo>
                <a:lnTo>
                  <a:pt x="14287" y="200026"/>
                </a:lnTo>
                <a:cubicBezTo>
                  <a:pt x="6386" y="200026"/>
                  <a:pt x="0" y="193641"/>
                  <a:pt x="0" y="185738"/>
                </a:cubicBezTo>
                <a:cubicBezTo>
                  <a:pt x="0" y="177835"/>
                  <a:pt x="6386" y="171450"/>
                  <a:pt x="14287" y="171450"/>
                </a:cubicBezTo>
                <a:lnTo>
                  <a:pt x="185737" y="171450"/>
                </a:lnTo>
                <a:cubicBezTo>
                  <a:pt x="193639" y="171450"/>
                  <a:pt x="200025" y="177835"/>
                  <a:pt x="200025" y="185738"/>
                </a:cubicBez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1009514" y="4807521"/>
            <a:ext cx="12858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Code Format</a:t>
            </a:r>
            <a:endParaRPr lang="en-US" sz="1100"/>
          </a:p>
        </p:txBody>
      </p:sp>
      <p:sp>
        <p:nvSpPr>
          <p:cNvPr id="23" name="AutoShape 23"/>
          <p:cNvSpPr/>
          <p:nvPr/>
        </p:nvSpPr>
        <p:spPr>
          <a:xfrm>
            <a:off x="1009514" y="5074225"/>
            <a:ext cx="2744339" cy="152387"/>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alpha val="80000"/>
                  </a:srgbClr>
                </a:solidFill>
                <a:latin typeface="MiSans" panose="00000500000000000000" charset="-122"/>
                <a:ea typeface="MiSans" panose="00000500000000000000" charset="-122"/>
                <a:cs typeface="MiSans" panose="00000500000000000000" charset="-122"/>
                <a:sym typeface="MiSans" panose="00000500000000000000" charset="-122"/>
              </a:rPr>
              <a:t>Indentation, spaces, line breaks, etc.</a:t>
            </a:r>
            <a:endParaRPr lang="en-US" sz="1100"/>
          </a:p>
        </p:txBody>
      </p:sp>
      <p:sp>
        <p:nvSpPr>
          <p:cNvPr id="24" name="Freeform 24"/>
          <p:cNvSpPr/>
          <p:nvPr/>
        </p:nvSpPr>
        <p:spPr>
          <a:xfrm>
            <a:off x="4386424" y="4936056"/>
            <a:ext cx="212392" cy="212438"/>
          </a:xfrm>
          <a:custGeom>
            <a:avLst/>
            <a:gdLst/>
            <a:ahLst/>
            <a:cxnLst/>
            <a:rect l="l" t="t" r="r" b="b"/>
            <a:pathLst>
              <a:path w="212392" h="212438">
                <a:moveTo>
                  <a:pt x="0" y="28576"/>
                </a:moveTo>
                <a:lnTo>
                  <a:pt x="0" y="95325"/>
                </a:lnTo>
                <a:cubicBezTo>
                  <a:pt x="0" y="102915"/>
                  <a:pt x="2991" y="110193"/>
                  <a:pt x="8349" y="115551"/>
                </a:cubicBezTo>
                <a:lnTo>
                  <a:pt x="94074" y="201276"/>
                </a:lnTo>
                <a:cubicBezTo>
                  <a:pt x="105236" y="212438"/>
                  <a:pt x="123320" y="212438"/>
                  <a:pt x="134482" y="201276"/>
                </a:cubicBezTo>
                <a:lnTo>
                  <a:pt x="201230" y="134527"/>
                </a:lnTo>
                <a:cubicBezTo>
                  <a:pt x="212392" y="123364"/>
                  <a:pt x="212392" y="105282"/>
                  <a:pt x="201230" y="94119"/>
                </a:cubicBezTo>
                <a:lnTo>
                  <a:pt x="115505" y="8394"/>
                </a:lnTo>
                <a:cubicBezTo>
                  <a:pt x="110147" y="2993"/>
                  <a:pt x="102914" y="0"/>
                  <a:pt x="95324" y="0"/>
                </a:cubicBezTo>
                <a:lnTo>
                  <a:pt x="28575" y="0"/>
                </a:lnTo>
                <a:cubicBezTo>
                  <a:pt x="12814" y="0"/>
                  <a:pt x="0" y="12815"/>
                  <a:pt x="0" y="28576"/>
                </a:cubicBezTo>
                <a:close/>
                <a:moveTo>
                  <a:pt x="50006" y="35719"/>
                </a:moveTo>
                <a:cubicBezTo>
                  <a:pt x="57890" y="35719"/>
                  <a:pt x="64292" y="42121"/>
                  <a:pt x="64292" y="50007"/>
                </a:cubicBezTo>
                <a:cubicBezTo>
                  <a:pt x="64292" y="57892"/>
                  <a:pt x="57890" y="64294"/>
                  <a:pt x="50006" y="64294"/>
                </a:cubicBezTo>
                <a:cubicBezTo>
                  <a:pt x="42121" y="64294"/>
                  <a:pt x="35718" y="57892"/>
                  <a:pt x="35718" y="50007"/>
                </a:cubicBezTo>
                <a:cubicBezTo>
                  <a:pt x="35718" y="42121"/>
                  <a:pt x="42121" y="35719"/>
                  <a:pt x="50006" y="35719"/>
                </a:cubicBez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4743323" y="4807521"/>
            <a:ext cx="12858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Naming Rules</a:t>
            </a:r>
            <a:endParaRPr lang="en-US" sz="1100"/>
          </a:p>
        </p:txBody>
      </p:sp>
      <p:sp>
        <p:nvSpPr>
          <p:cNvPr id="26" name="AutoShape 26"/>
          <p:cNvSpPr/>
          <p:nvPr/>
        </p:nvSpPr>
        <p:spPr>
          <a:xfrm>
            <a:off x="4743322" y="5074224"/>
            <a:ext cx="2530027" cy="228405"/>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alpha val="80000"/>
                  </a:srgbClr>
                </a:solidFill>
                <a:latin typeface="MiSans" panose="00000500000000000000" charset="-122"/>
                <a:ea typeface="MiSans" panose="00000500000000000000" charset="-122"/>
                <a:cs typeface="MiSans" panose="00000500000000000000" charset="-122"/>
                <a:sym typeface="MiSans" panose="00000500000000000000" charset="-122"/>
              </a:rPr>
              <a:t>Variables, functions, class naming</a:t>
            </a:r>
            <a:endParaRPr lang="en-US" sz="1100"/>
          </a:p>
        </p:txBody>
      </p:sp>
      <p:sp>
        <p:nvSpPr>
          <p:cNvPr id="27" name="Freeform 27"/>
          <p:cNvSpPr/>
          <p:nvPr/>
        </p:nvSpPr>
        <p:spPr>
          <a:xfrm>
            <a:off x="8105722" y="4936056"/>
            <a:ext cx="228600" cy="185738"/>
          </a:xfrm>
          <a:custGeom>
            <a:avLst/>
            <a:gdLst/>
            <a:ahLst/>
            <a:cxnLst/>
            <a:rect l="l" t="t" r="r" b="b"/>
            <a:pathLst>
              <a:path w="228600" h="185738">
                <a:moveTo>
                  <a:pt x="28575" y="185738"/>
                </a:moveTo>
                <a:lnTo>
                  <a:pt x="200025" y="185738"/>
                </a:lnTo>
                <a:cubicBezTo>
                  <a:pt x="215786" y="185738"/>
                  <a:pt x="228600" y="172924"/>
                  <a:pt x="228600" y="157163"/>
                </a:cubicBezTo>
                <a:lnTo>
                  <a:pt x="228600" y="50007"/>
                </a:lnTo>
                <a:cubicBezTo>
                  <a:pt x="228600" y="34246"/>
                  <a:pt x="215786" y="21432"/>
                  <a:pt x="200025" y="21432"/>
                </a:cubicBezTo>
                <a:lnTo>
                  <a:pt x="133365" y="21432"/>
                </a:lnTo>
                <a:cubicBezTo>
                  <a:pt x="130284" y="21432"/>
                  <a:pt x="127248" y="20449"/>
                  <a:pt x="124791" y="18574"/>
                </a:cubicBezTo>
                <a:lnTo>
                  <a:pt x="107646" y="5716"/>
                </a:lnTo>
                <a:cubicBezTo>
                  <a:pt x="102691" y="2010"/>
                  <a:pt x="96664" y="0"/>
                  <a:pt x="90501" y="0"/>
                </a:cubicBezTo>
                <a:lnTo>
                  <a:pt x="28575" y="0"/>
                </a:lnTo>
                <a:cubicBezTo>
                  <a:pt x="12814" y="0"/>
                  <a:pt x="0" y="12815"/>
                  <a:pt x="0" y="28576"/>
                </a:cubicBezTo>
                <a:lnTo>
                  <a:pt x="0" y="157163"/>
                </a:lnTo>
                <a:cubicBezTo>
                  <a:pt x="0" y="172924"/>
                  <a:pt x="12814" y="185738"/>
                  <a:pt x="28575" y="185738"/>
                </a:cubicBez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8477131" y="4807521"/>
            <a:ext cx="12858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File Structure</a:t>
            </a:r>
            <a:endParaRPr lang="en-US" sz="1100"/>
          </a:p>
        </p:txBody>
      </p:sp>
      <p:sp>
        <p:nvSpPr>
          <p:cNvPr id="29" name="AutoShape 29"/>
          <p:cNvSpPr/>
          <p:nvPr/>
        </p:nvSpPr>
        <p:spPr>
          <a:xfrm>
            <a:off x="8477131" y="5074225"/>
            <a:ext cx="2777552"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alpha val="80000"/>
                  </a:srgbClr>
                </a:solidFill>
                <a:latin typeface="MiSans" panose="00000500000000000000" charset="-122"/>
                <a:ea typeface="MiSans" panose="00000500000000000000" charset="-122"/>
                <a:cs typeface="MiSans" panose="00000500000000000000" charset="-122"/>
                <a:sym typeface="MiSans" panose="00000500000000000000" charset="-122"/>
              </a:rPr>
              <a:t>Directory organization, module division</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9927" y="611530"/>
            <a:ext cx="5144607" cy="44037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Pre-commit Automated Checks</a:t>
            </a:r>
            <a:endParaRPr lang="en-US" sz="1100"/>
          </a:p>
        </p:txBody>
      </p:sp>
      <p:sp>
        <p:nvSpPr>
          <p:cNvPr id="3" name="AutoShape 3"/>
          <p:cNvSpPr/>
          <p:nvPr/>
        </p:nvSpPr>
        <p:spPr>
          <a:xfrm>
            <a:off x="380955" y="1360835"/>
            <a:ext cx="12042509" cy="3143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FlagTree uses </a:t>
            </a: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pre-commit</a:t>
            </a:r>
            <a:r>
              <a:rPr lang="en-US"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 for code checking, automatically running checks before each commit</a:t>
            </a:r>
            <a:endParaRPr lang="en-US" sz="1100"/>
          </a:p>
        </p:txBody>
      </p:sp>
      <p:sp>
        <p:nvSpPr>
          <p:cNvPr id="4" name="Freeform 4"/>
          <p:cNvSpPr/>
          <p:nvPr/>
        </p:nvSpPr>
        <p:spPr>
          <a:xfrm>
            <a:off x="380956" y="2179034"/>
            <a:ext cx="7315200" cy="3038475"/>
          </a:xfrm>
          <a:custGeom>
            <a:avLst/>
            <a:gdLst/>
            <a:ahLst/>
            <a:cxnLst/>
            <a:rect l="l" t="t" r="r" b="b"/>
            <a:pathLst>
              <a:path w="7315200" h="3038475">
                <a:moveTo>
                  <a:pt x="76205" y="0"/>
                </a:moveTo>
                <a:lnTo>
                  <a:pt x="7238995" y="0"/>
                </a:lnTo>
                <a:cubicBezTo>
                  <a:pt x="7281081" y="0"/>
                  <a:pt x="7315200" y="34119"/>
                  <a:pt x="7315200" y="76205"/>
                </a:cubicBezTo>
                <a:lnTo>
                  <a:pt x="7315200" y="2962270"/>
                </a:lnTo>
                <a:cubicBezTo>
                  <a:pt x="7315200" y="3004356"/>
                  <a:pt x="7281081" y="3038475"/>
                  <a:pt x="7238995" y="3038475"/>
                </a:cubicBezTo>
                <a:lnTo>
                  <a:pt x="76205" y="3038475"/>
                </a:lnTo>
                <a:cubicBezTo>
                  <a:pt x="34119" y="3038475"/>
                  <a:pt x="0" y="3004356"/>
                  <a:pt x="0" y="2962270"/>
                </a:cubicBezTo>
                <a:lnTo>
                  <a:pt x="0" y="76205"/>
                </a:lnTo>
                <a:cubicBezTo>
                  <a:pt x="0" y="34146"/>
                  <a:pt x="34146" y="0"/>
                  <a:pt x="76205" y="0"/>
                </a:cubicBezTo>
                <a:close/>
              </a:path>
            </a:pathLst>
          </a:custGeom>
          <a:solidFill>
            <a:srgbClr val="101828">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5" name="AutoShape 5"/>
          <p:cNvSpPr/>
          <p:nvPr/>
        </p:nvSpPr>
        <p:spPr>
          <a:xfrm>
            <a:off x="609529" y="2407611"/>
            <a:ext cx="6953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B22222"/>
                </a:solidFill>
                <a:latin typeface="Noto Sans SC" panose="020B0200000000000000" charset="-122"/>
                <a:ea typeface="Noto Sans SC" panose="020B0200000000000000" charset="-122"/>
                <a:cs typeface="Noto Sans SC" panose="020B0200000000000000" charset="-122"/>
                <a:sym typeface="Noto Sans SC" panose="020B0200000000000000" charset="-122"/>
              </a:rPr>
              <a:t>Installation</a:t>
            </a:r>
            <a:endParaRPr lang="en-US" sz="1100"/>
          </a:p>
        </p:txBody>
      </p:sp>
      <p:sp>
        <p:nvSpPr>
          <p:cNvPr id="6" name="Freeform 6"/>
          <p:cNvSpPr/>
          <p:nvPr/>
        </p:nvSpPr>
        <p:spPr>
          <a:xfrm>
            <a:off x="628484" y="2826697"/>
            <a:ext cx="6838855" cy="2162175"/>
          </a:xfrm>
          <a:custGeom>
            <a:avLst/>
            <a:gdLst/>
            <a:ahLst/>
            <a:cxnLst/>
            <a:rect l="l" t="t" r="r" b="b"/>
            <a:pathLst>
              <a:path w="6838855" h="2162175">
                <a:moveTo>
                  <a:pt x="37910" y="0"/>
                </a:moveTo>
                <a:lnTo>
                  <a:pt x="6800759" y="0"/>
                </a:lnTo>
                <a:cubicBezTo>
                  <a:pt x="6821797" y="0"/>
                  <a:pt x="6838855" y="17057"/>
                  <a:pt x="6838855" y="38097"/>
                </a:cubicBezTo>
                <a:lnTo>
                  <a:pt x="6838855" y="2124078"/>
                </a:lnTo>
                <a:cubicBezTo>
                  <a:pt x="6838855" y="2145118"/>
                  <a:pt x="6821797" y="2162175"/>
                  <a:pt x="6800759" y="2162175"/>
                </a:cubicBezTo>
                <a:lnTo>
                  <a:pt x="37910" y="2162175"/>
                </a:lnTo>
                <a:cubicBezTo>
                  <a:pt x="16974" y="2162175"/>
                  <a:pt x="0" y="2145201"/>
                  <a:pt x="0" y="2124265"/>
                </a:cubicBezTo>
                <a:lnTo>
                  <a:pt x="0" y="37910"/>
                </a:lnTo>
                <a:cubicBezTo>
                  <a:pt x="0" y="16988"/>
                  <a:pt x="16988" y="0"/>
                  <a:pt x="37910" y="0"/>
                </a:cubicBezTo>
                <a:close/>
              </a:path>
            </a:pathLst>
          </a:custGeom>
          <a:solidFill>
            <a:srgbClr val="1E2939">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628484" y="2826697"/>
            <a:ext cx="37909" cy="2162175"/>
          </a:xfrm>
          <a:custGeom>
            <a:avLst/>
            <a:gdLst/>
            <a:ahLst/>
            <a:cxnLst/>
            <a:rect l="l" t="t" r="r" b="b"/>
            <a:pathLst>
              <a:path w="37909" h="2162175">
                <a:moveTo>
                  <a:pt x="37910" y="0"/>
                </a:moveTo>
                <a:lnTo>
                  <a:pt x="37910" y="0"/>
                </a:lnTo>
                <a:lnTo>
                  <a:pt x="37910" y="2162175"/>
                </a:lnTo>
                <a:lnTo>
                  <a:pt x="37910" y="2162175"/>
                </a:lnTo>
                <a:cubicBezTo>
                  <a:pt x="16974" y="2162175"/>
                  <a:pt x="0" y="2145201"/>
                  <a:pt x="0" y="2124265"/>
                </a:cubicBezTo>
                <a:lnTo>
                  <a:pt x="0" y="37910"/>
                </a:lnTo>
                <a:cubicBezTo>
                  <a:pt x="0" y="16988"/>
                  <a:pt x="16988" y="0"/>
                  <a:pt x="37910" y="0"/>
                </a:cubicBez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799822" y="2940946"/>
            <a:ext cx="65817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Install pre-commit tool</a:t>
            </a:r>
            <a:endParaRPr lang="en-US" sz="1100"/>
          </a:p>
        </p:txBody>
      </p:sp>
      <p:sp>
        <p:nvSpPr>
          <p:cNvPr id="9" name="AutoShape 9"/>
          <p:cNvSpPr/>
          <p:nvPr/>
        </p:nvSpPr>
        <p:spPr>
          <a:xfrm>
            <a:off x="799822" y="3154268"/>
            <a:ext cx="65817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python3 -m pip install pre-commit</a:t>
            </a:r>
            <a:endParaRPr lang="en-US" sz="1100"/>
          </a:p>
        </p:txBody>
      </p:sp>
      <p:sp>
        <p:nvSpPr>
          <p:cNvPr id="10" name="AutoShape 10"/>
          <p:cNvSpPr/>
          <p:nvPr/>
        </p:nvSpPr>
        <p:spPr>
          <a:xfrm>
            <a:off x="799822" y="3443780"/>
            <a:ext cx="65817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Enter project directory</a:t>
            </a:r>
            <a:endParaRPr lang="en-US" sz="1100"/>
          </a:p>
        </p:txBody>
      </p:sp>
      <p:sp>
        <p:nvSpPr>
          <p:cNvPr id="11" name="AutoShape 11"/>
          <p:cNvSpPr/>
          <p:nvPr/>
        </p:nvSpPr>
        <p:spPr>
          <a:xfrm>
            <a:off x="799822" y="3657098"/>
            <a:ext cx="65817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cd flagtree</a:t>
            </a:r>
            <a:endParaRPr lang="en-US" sz="1100"/>
          </a:p>
        </p:txBody>
      </p:sp>
      <p:sp>
        <p:nvSpPr>
          <p:cNvPr id="12" name="AutoShape 12"/>
          <p:cNvSpPr/>
          <p:nvPr/>
        </p:nvSpPr>
        <p:spPr>
          <a:xfrm>
            <a:off x="799822" y="3946610"/>
            <a:ext cx="65817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Install pre-commit hooks</a:t>
            </a:r>
            <a:endParaRPr lang="en-US" sz="1100"/>
          </a:p>
        </p:txBody>
      </p:sp>
      <p:sp>
        <p:nvSpPr>
          <p:cNvPr id="13" name="AutoShape 13"/>
          <p:cNvSpPr/>
          <p:nvPr/>
        </p:nvSpPr>
        <p:spPr>
          <a:xfrm>
            <a:off x="799822" y="4159932"/>
            <a:ext cx="65817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pre-commit install</a:t>
            </a:r>
            <a:endParaRPr lang="en-US" sz="1100"/>
          </a:p>
        </p:txBody>
      </p:sp>
      <p:sp>
        <p:nvSpPr>
          <p:cNvPr id="14" name="AutoShape 14"/>
          <p:cNvSpPr/>
          <p:nvPr/>
        </p:nvSpPr>
        <p:spPr>
          <a:xfrm>
            <a:off x="799822" y="4449445"/>
            <a:ext cx="65817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Run checks manually</a:t>
            </a:r>
            <a:endParaRPr lang="en-US" sz="1100"/>
          </a:p>
        </p:txBody>
      </p:sp>
      <p:sp>
        <p:nvSpPr>
          <p:cNvPr id="15" name="AutoShape 15"/>
          <p:cNvSpPr/>
          <p:nvPr/>
        </p:nvSpPr>
        <p:spPr>
          <a:xfrm>
            <a:off x="799822" y="4662762"/>
            <a:ext cx="65817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pre-commit</a:t>
            </a:r>
            <a:endParaRPr lang="en-US" sz="1100"/>
          </a:p>
        </p:txBody>
      </p:sp>
      <p:sp>
        <p:nvSpPr>
          <p:cNvPr id="16" name="Freeform 16"/>
          <p:cNvSpPr/>
          <p:nvPr/>
        </p:nvSpPr>
        <p:spPr>
          <a:xfrm>
            <a:off x="380956" y="5447481"/>
            <a:ext cx="7315200" cy="990600"/>
          </a:xfrm>
          <a:custGeom>
            <a:avLst/>
            <a:gdLst/>
            <a:ahLst/>
            <a:cxnLst/>
            <a:rect l="l" t="t" r="r" b="b"/>
            <a:pathLst>
              <a:path w="7315200" h="990600">
                <a:moveTo>
                  <a:pt x="76197" y="0"/>
                </a:moveTo>
                <a:lnTo>
                  <a:pt x="7239003" y="0"/>
                </a:lnTo>
                <a:cubicBezTo>
                  <a:pt x="7281085" y="0"/>
                  <a:pt x="7315200" y="34115"/>
                  <a:pt x="7315200" y="76197"/>
                </a:cubicBezTo>
                <a:lnTo>
                  <a:pt x="7315200" y="914403"/>
                </a:lnTo>
                <a:cubicBezTo>
                  <a:pt x="7315200" y="956485"/>
                  <a:pt x="7281085" y="990600"/>
                  <a:pt x="7239003" y="990600"/>
                </a:cubicBezTo>
                <a:lnTo>
                  <a:pt x="76197" y="990600"/>
                </a:lnTo>
                <a:cubicBezTo>
                  <a:pt x="34115" y="990600"/>
                  <a:pt x="0" y="956485"/>
                  <a:pt x="0" y="914403"/>
                </a:cubicBezTo>
                <a:lnTo>
                  <a:pt x="0" y="76197"/>
                </a:lnTo>
                <a:cubicBezTo>
                  <a:pt x="0" y="34143"/>
                  <a:pt x="34143" y="0"/>
                  <a:pt x="76197"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571396" y="5637921"/>
            <a:ext cx="70199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Purpose</a:t>
            </a:r>
            <a:endParaRPr lang="en-US" sz="1100"/>
          </a:p>
        </p:txBody>
      </p:sp>
      <p:sp>
        <p:nvSpPr>
          <p:cNvPr id="18" name="Freeform 18"/>
          <p:cNvSpPr/>
          <p:nvPr/>
        </p:nvSpPr>
        <p:spPr>
          <a:xfrm>
            <a:off x="595209" y="6037906"/>
            <a:ext cx="190500" cy="190500"/>
          </a:xfrm>
          <a:custGeom>
            <a:avLst/>
            <a:gdLst/>
            <a:ahLst/>
            <a:cxnLst/>
            <a:rect l="l" t="t" r="r" b="b"/>
            <a:pathLst>
              <a:path w="190500" h="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26653" y="79139"/>
                </a:moveTo>
                <a:lnTo>
                  <a:pt x="96887" y="126764"/>
                </a:lnTo>
                <a:cubicBezTo>
                  <a:pt x="95324" y="129257"/>
                  <a:pt x="92647" y="130820"/>
                  <a:pt x="89706" y="130969"/>
                </a:cubicBezTo>
                <a:cubicBezTo>
                  <a:pt x="86766" y="131119"/>
                  <a:pt x="83939" y="129777"/>
                  <a:pt x="82191" y="127398"/>
                </a:cubicBezTo>
                <a:lnTo>
                  <a:pt x="64331" y="103584"/>
                </a:lnTo>
                <a:cubicBezTo>
                  <a:pt x="61354" y="99640"/>
                  <a:pt x="62173" y="94059"/>
                  <a:pt x="66117" y="91083"/>
                </a:cubicBezTo>
                <a:cubicBezTo>
                  <a:pt x="70061" y="88106"/>
                  <a:pt x="75642" y="88925"/>
                  <a:pt x="78618" y="92869"/>
                </a:cubicBezTo>
                <a:lnTo>
                  <a:pt x="88664" y="106263"/>
                </a:lnTo>
                <a:lnTo>
                  <a:pt x="111509" y="69689"/>
                </a:lnTo>
                <a:cubicBezTo>
                  <a:pt x="114115" y="65522"/>
                  <a:pt x="119621" y="64219"/>
                  <a:pt x="123825" y="66860"/>
                </a:cubicBezTo>
                <a:cubicBezTo>
                  <a:pt x="128029" y="69503"/>
                  <a:pt x="129294" y="74972"/>
                  <a:pt x="126653" y="79177"/>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885712" y="6018874"/>
            <a:ext cx="12954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Automatically check code format</a:t>
            </a:r>
            <a:endParaRPr lang="en-US" sz="1100"/>
          </a:p>
        </p:txBody>
      </p:sp>
      <p:sp>
        <p:nvSpPr>
          <p:cNvPr id="20" name="Freeform 20"/>
          <p:cNvSpPr/>
          <p:nvPr/>
        </p:nvSpPr>
        <p:spPr>
          <a:xfrm>
            <a:off x="4138577" y="6037906"/>
            <a:ext cx="190500" cy="190500"/>
          </a:xfrm>
          <a:custGeom>
            <a:avLst/>
            <a:gdLst/>
            <a:ahLst/>
            <a:cxnLst/>
            <a:rect l="l" t="t" r="r" b="b"/>
            <a:pathLst>
              <a:path w="190500" h="190500">
                <a:moveTo>
                  <a:pt x="148270" y="4539"/>
                </a:moveTo>
                <a:lnTo>
                  <a:pt x="115453" y="37356"/>
                </a:lnTo>
                <a:lnTo>
                  <a:pt x="153144" y="75047"/>
                </a:lnTo>
                <a:lnTo>
                  <a:pt x="185961" y="42230"/>
                </a:lnTo>
                <a:cubicBezTo>
                  <a:pt x="188863" y="39291"/>
                  <a:pt x="190500" y="35347"/>
                  <a:pt x="190500" y="31253"/>
                </a:cubicBezTo>
                <a:cubicBezTo>
                  <a:pt x="190500" y="27161"/>
                  <a:pt x="188863" y="23217"/>
                  <a:pt x="185961" y="20278"/>
                </a:cubicBezTo>
                <a:lnTo>
                  <a:pt x="170222" y="4539"/>
                </a:lnTo>
                <a:cubicBezTo>
                  <a:pt x="167283" y="1637"/>
                  <a:pt x="163339" y="0"/>
                  <a:pt x="159247" y="0"/>
                </a:cubicBezTo>
                <a:cubicBezTo>
                  <a:pt x="155153" y="0"/>
                  <a:pt x="151209" y="1637"/>
                  <a:pt x="148270" y="4539"/>
                </a:cubicBezTo>
                <a:close/>
                <a:moveTo>
                  <a:pt x="102840" y="49969"/>
                </a:moveTo>
                <a:lnTo>
                  <a:pt x="4539" y="148270"/>
                </a:lnTo>
                <a:cubicBezTo>
                  <a:pt x="1637" y="151209"/>
                  <a:pt x="0" y="155153"/>
                  <a:pt x="0" y="159247"/>
                </a:cubicBezTo>
                <a:cubicBezTo>
                  <a:pt x="0" y="163339"/>
                  <a:pt x="1637" y="167283"/>
                  <a:pt x="4539" y="170222"/>
                </a:cubicBezTo>
                <a:lnTo>
                  <a:pt x="20278" y="185961"/>
                </a:lnTo>
                <a:cubicBezTo>
                  <a:pt x="23217" y="188863"/>
                  <a:pt x="27161" y="190500"/>
                  <a:pt x="31253" y="190500"/>
                </a:cubicBezTo>
                <a:cubicBezTo>
                  <a:pt x="35347" y="190500"/>
                  <a:pt x="39291" y="188863"/>
                  <a:pt x="42230" y="185961"/>
                </a:cubicBezTo>
                <a:lnTo>
                  <a:pt x="140531" y="87660"/>
                </a:lnTo>
                <a:lnTo>
                  <a:pt x="102840" y="49969"/>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4429081" y="6018874"/>
            <a:ext cx="12954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Fix issues before committing</a:t>
            </a:r>
            <a:endParaRPr lang="en-US" sz="1100"/>
          </a:p>
        </p:txBody>
      </p:sp>
      <p:sp>
        <p:nvSpPr>
          <p:cNvPr id="22" name="Freeform 22"/>
          <p:cNvSpPr/>
          <p:nvPr/>
        </p:nvSpPr>
        <p:spPr>
          <a:xfrm>
            <a:off x="8001030" y="2610785"/>
            <a:ext cx="3810000" cy="2857500"/>
          </a:xfrm>
          <a:custGeom>
            <a:avLst/>
            <a:gdLst/>
            <a:ahLst/>
            <a:cxnLst/>
            <a:rect l="l" t="t" r="r" b="b"/>
            <a:pathLst>
              <a:path w="3810000" h="2857500">
                <a:moveTo>
                  <a:pt x="76210" y="0"/>
                </a:moveTo>
                <a:lnTo>
                  <a:pt x="3733790" y="0"/>
                </a:lnTo>
                <a:cubicBezTo>
                  <a:pt x="3775880" y="0"/>
                  <a:pt x="3810000" y="34120"/>
                  <a:pt x="3810000" y="76210"/>
                </a:cubicBezTo>
                <a:lnTo>
                  <a:pt x="3810000" y="2781290"/>
                </a:lnTo>
                <a:cubicBezTo>
                  <a:pt x="3810000" y="2823380"/>
                  <a:pt x="3775880" y="2857500"/>
                  <a:pt x="3733790" y="2857500"/>
                </a:cubicBezTo>
                <a:lnTo>
                  <a:pt x="76210" y="2857500"/>
                </a:lnTo>
                <a:cubicBezTo>
                  <a:pt x="34120" y="2857500"/>
                  <a:pt x="0" y="2823380"/>
                  <a:pt x="0" y="2781290"/>
                </a:cubicBezTo>
                <a:lnTo>
                  <a:pt x="0" y="76210"/>
                </a:lnTo>
                <a:cubicBezTo>
                  <a:pt x="0" y="34148"/>
                  <a:pt x="34148" y="0"/>
                  <a:pt x="76210"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8229603" y="2839357"/>
            <a:ext cx="3438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Workflow</a:t>
            </a:r>
            <a:endParaRPr lang="en-US" sz="1100"/>
          </a:p>
        </p:txBody>
      </p:sp>
      <p:sp>
        <p:nvSpPr>
          <p:cNvPr id="24" name="Freeform 24"/>
          <p:cNvSpPr/>
          <p:nvPr/>
        </p:nvSpPr>
        <p:spPr>
          <a:xfrm>
            <a:off x="8229603" y="3258448"/>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8191503" y="3258448"/>
            <a:ext cx="457200"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26" name="AutoShape 26"/>
          <p:cNvSpPr/>
          <p:nvPr/>
        </p:nvSpPr>
        <p:spPr>
          <a:xfrm>
            <a:off x="8724808" y="3334638"/>
            <a:ext cx="6858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Write code</a:t>
            </a:r>
            <a:endParaRPr lang="en-US" sz="1100"/>
          </a:p>
        </p:txBody>
      </p:sp>
      <p:sp>
        <p:nvSpPr>
          <p:cNvPr id="27" name="Freeform 27"/>
          <p:cNvSpPr/>
          <p:nvPr/>
        </p:nvSpPr>
        <p:spPr>
          <a:xfrm>
            <a:off x="8229603" y="3791787"/>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8191503" y="3791787"/>
            <a:ext cx="457200"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29" name="AutoShape 29"/>
          <p:cNvSpPr/>
          <p:nvPr/>
        </p:nvSpPr>
        <p:spPr>
          <a:xfrm>
            <a:off x="8724808" y="3867978"/>
            <a:ext cx="1247775"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git add files</a:t>
            </a:r>
            <a:endParaRPr lang="en-US" sz="1100"/>
          </a:p>
        </p:txBody>
      </p:sp>
      <p:sp>
        <p:nvSpPr>
          <p:cNvPr id="30" name="Freeform 30"/>
          <p:cNvSpPr/>
          <p:nvPr/>
        </p:nvSpPr>
        <p:spPr>
          <a:xfrm>
            <a:off x="8229603" y="4325122"/>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8191503" y="4325122"/>
            <a:ext cx="457200"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3</a:t>
            </a:r>
            <a:endParaRPr lang="en-US" sz="1100"/>
          </a:p>
        </p:txBody>
      </p:sp>
      <p:sp>
        <p:nvSpPr>
          <p:cNvPr id="32" name="AutoShape 32"/>
          <p:cNvSpPr/>
          <p:nvPr/>
        </p:nvSpPr>
        <p:spPr>
          <a:xfrm>
            <a:off x="8724808" y="4401313"/>
            <a:ext cx="16383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pre-commit auto-check</a:t>
            </a:r>
            <a:endParaRPr lang="en-US" sz="1100"/>
          </a:p>
        </p:txBody>
      </p:sp>
      <p:sp>
        <p:nvSpPr>
          <p:cNvPr id="33" name="Freeform 33"/>
          <p:cNvSpPr/>
          <p:nvPr/>
        </p:nvSpPr>
        <p:spPr>
          <a:xfrm>
            <a:off x="8229603" y="4858462"/>
            <a:ext cx="381000" cy="381000"/>
          </a:xfrm>
          <a:custGeom>
            <a:avLst/>
            <a:gdLst/>
            <a:ahLst/>
            <a:cxnLst/>
            <a:rect l="l" t="t" r="r" b="b"/>
            <a:pathLst>
              <a:path w="381000" h="381000">
                <a:moveTo>
                  <a:pt x="190500" y="0"/>
                </a:moveTo>
                <a:lnTo>
                  <a:pt x="190500" y="0"/>
                </a:lnTo>
                <a:cubicBezTo>
                  <a:pt x="295639" y="0"/>
                  <a:pt x="381000" y="85361"/>
                  <a:pt x="381000" y="190500"/>
                </a:cubicBezTo>
                <a:lnTo>
                  <a:pt x="381000" y="190500"/>
                </a:lnTo>
                <a:cubicBezTo>
                  <a:pt x="381000" y="295639"/>
                  <a:pt x="295639" y="381000"/>
                  <a:pt x="190500" y="381000"/>
                </a:cubicBezTo>
                <a:lnTo>
                  <a:pt x="190500" y="381000"/>
                </a:lnTo>
                <a:cubicBezTo>
                  <a:pt x="85361" y="381000"/>
                  <a:pt x="0" y="295639"/>
                  <a:pt x="0" y="190500"/>
                </a:cubicBezTo>
                <a:lnTo>
                  <a:pt x="0" y="190500"/>
                </a:lnTo>
                <a:cubicBezTo>
                  <a:pt x="0" y="85361"/>
                  <a:pt x="85361" y="0"/>
                  <a:pt x="1905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4" name="AutoShape 34"/>
          <p:cNvSpPr/>
          <p:nvPr/>
        </p:nvSpPr>
        <p:spPr>
          <a:xfrm>
            <a:off x="8191503" y="4858462"/>
            <a:ext cx="457200" cy="3810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4</a:t>
            </a:r>
            <a:endParaRPr lang="en-US" sz="1100"/>
          </a:p>
        </p:txBody>
      </p:sp>
      <p:sp>
        <p:nvSpPr>
          <p:cNvPr id="35" name="AutoShape 35"/>
          <p:cNvSpPr/>
          <p:nvPr/>
        </p:nvSpPr>
        <p:spPr>
          <a:xfrm>
            <a:off x="8724808" y="4934652"/>
            <a:ext cx="12192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git commit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9928" y="611525"/>
            <a:ext cx="5376072"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 Code Linting Tool</a:t>
            </a:r>
            <a:endParaRPr lang="en-US" sz="1100"/>
          </a:p>
        </p:txBody>
      </p:sp>
      <p:sp>
        <p:nvSpPr>
          <p:cNvPr id="3" name="Freeform 3"/>
          <p:cNvSpPr/>
          <p:nvPr/>
        </p:nvSpPr>
        <p:spPr>
          <a:xfrm>
            <a:off x="380956" y="1640886"/>
            <a:ext cx="609600" cy="609600"/>
          </a:xfrm>
          <a:custGeom>
            <a:avLst/>
            <a:gdLst/>
            <a:ahLst/>
            <a:cxnLst/>
            <a:rect l="l" t="t" r="r" b="b"/>
            <a:pathLst>
              <a:path w="609600" h="609600">
                <a:moveTo>
                  <a:pt x="76200" y="0"/>
                </a:moveTo>
                <a:lnTo>
                  <a:pt x="533400" y="0"/>
                </a:lnTo>
                <a:cubicBezTo>
                  <a:pt x="575456" y="0"/>
                  <a:pt x="609600" y="34144"/>
                  <a:pt x="609600" y="76200"/>
                </a:cubicBezTo>
                <a:lnTo>
                  <a:pt x="609600" y="533400"/>
                </a:lnTo>
                <a:cubicBezTo>
                  <a:pt x="609600" y="575456"/>
                  <a:pt x="575456" y="609600"/>
                  <a:pt x="533400" y="609600"/>
                </a:cubicBezTo>
                <a:lnTo>
                  <a:pt x="76200" y="609600"/>
                </a:lnTo>
                <a:cubicBezTo>
                  <a:pt x="34144" y="609600"/>
                  <a:pt x="0" y="575456"/>
                  <a:pt x="0" y="5334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545226" y="1802746"/>
            <a:ext cx="285750" cy="285750"/>
          </a:xfrm>
          <a:custGeom>
            <a:avLst/>
            <a:gdLst/>
            <a:ahLst/>
            <a:cxnLst/>
            <a:rect l="l" t="t" r="r" b="b"/>
            <a:pathLst>
              <a:path w="285750" h="285750">
                <a:moveTo>
                  <a:pt x="160734" y="17859"/>
                </a:moveTo>
                <a:cubicBezTo>
                  <a:pt x="160734" y="27738"/>
                  <a:pt x="168714" y="35719"/>
                  <a:pt x="178594" y="35719"/>
                </a:cubicBezTo>
                <a:lnTo>
                  <a:pt x="200918" y="35719"/>
                </a:lnTo>
                <a:cubicBezTo>
                  <a:pt x="208341" y="35719"/>
                  <a:pt x="214312" y="41690"/>
                  <a:pt x="214312" y="49113"/>
                </a:cubicBezTo>
                <a:cubicBezTo>
                  <a:pt x="214312" y="56537"/>
                  <a:pt x="208341" y="62508"/>
                  <a:pt x="200918" y="62508"/>
                </a:cubicBezTo>
                <a:lnTo>
                  <a:pt x="17859" y="62508"/>
                </a:lnTo>
                <a:cubicBezTo>
                  <a:pt x="7981" y="62508"/>
                  <a:pt x="0" y="70489"/>
                  <a:pt x="0" y="80367"/>
                </a:cubicBezTo>
                <a:cubicBezTo>
                  <a:pt x="0" y="90246"/>
                  <a:pt x="7981" y="98227"/>
                  <a:pt x="17859" y="98227"/>
                </a:cubicBezTo>
                <a:lnTo>
                  <a:pt x="200918" y="98227"/>
                </a:lnTo>
                <a:cubicBezTo>
                  <a:pt x="228042" y="98227"/>
                  <a:pt x="250031" y="76237"/>
                  <a:pt x="250031" y="49113"/>
                </a:cubicBezTo>
                <a:cubicBezTo>
                  <a:pt x="250031" y="21989"/>
                  <a:pt x="228042" y="0"/>
                  <a:pt x="200918" y="0"/>
                </a:cubicBezTo>
                <a:lnTo>
                  <a:pt x="178594" y="0"/>
                </a:lnTo>
                <a:cubicBezTo>
                  <a:pt x="168714" y="0"/>
                  <a:pt x="160734" y="7981"/>
                  <a:pt x="160734" y="17859"/>
                </a:cubicBezTo>
                <a:close/>
                <a:moveTo>
                  <a:pt x="196452" y="214312"/>
                </a:moveTo>
                <a:cubicBezTo>
                  <a:pt x="196452" y="224191"/>
                  <a:pt x="204434" y="232173"/>
                  <a:pt x="214312" y="232173"/>
                </a:cubicBezTo>
                <a:lnTo>
                  <a:pt x="232173" y="232173"/>
                </a:lnTo>
                <a:cubicBezTo>
                  <a:pt x="261751" y="232173"/>
                  <a:pt x="285750" y="208173"/>
                  <a:pt x="285750" y="178594"/>
                </a:cubicBezTo>
                <a:cubicBezTo>
                  <a:pt x="285750" y="149014"/>
                  <a:pt x="261751" y="125016"/>
                  <a:pt x="232173" y="125016"/>
                </a:cubicBezTo>
                <a:lnTo>
                  <a:pt x="17859" y="125016"/>
                </a:lnTo>
                <a:cubicBezTo>
                  <a:pt x="7981" y="125016"/>
                  <a:pt x="0" y="132997"/>
                  <a:pt x="0" y="142875"/>
                </a:cubicBezTo>
                <a:cubicBezTo>
                  <a:pt x="0" y="152753"/>
                  <a:pt x="7981" y="160734"/>
                  <a:pt x="17859" y="160734"/>
                </a:cubicBezTo>
                <a:lnTo>
                  <a:pt x="232173" y="160734"/>
                </a:lnTo>
                <a:cubicBezTo>
                  <a:pt x="242051" y="160734"/>
                  <a:pt x="250031" y="168714"/>
                  <a:pt x="250031" y="178594"/>
                </a:cubicBezTo>
                <a:cubicBezTo>
                  <a:pt x="250031" y="188472"/>
                  <a:pt x="242051" y="196452"/>
                  <a:pt x="232173" y="196452"/>
                </a:cubicBezTo>
                <a:lnTo>
                  <a:pt x="214312" y="196452"/>
                </a:lnTo>
                <a:cubicBezTo>
                  <a:pt x="204434" y="196452"/>
                  <a:pt x="196452" y="204434"/>
                  <a:pt x="196452" y="214312"/>
                </a:cubicBezTo>
                <a:close/>
                <a:moveTo>
                  <a:pt x="71438" y="285750"/>
                </a:moveTo>
                <a:lnTo>
                  <a:pt x="93762" y="285750"/>
                </a:lnTo>
                <a:cubicBezTo>
                  <a:pt x="120886" y="285750"/>
                  <a:pt x="142875" y="263761"/>
                  <a:pt x="142875" y="236637"/>
                </a:cubicBezTo>
                <a:cubicBezTo>
                  <a:pt x="142875" y="209513"/>
                  <a:pt x="120886" y="187523"/>
                  <a:pt x="93762" y="187523"/>
                </a:cubicBezTo>
                <a:lnTo>
                  <a:pt x="17859" y="187523"/>
                </a:lnTo>
                <a:cubicBezTo>
                  <a:pt x="7981" y="187523"/>
                  <a:pt x="0" y="195504"/>
                  <a:pt x="0" y="205383"/>
                </a:cubicBezTo>
                <a:cubicBezTo>
                  <a:pt x="0" y="215261"/>
                  <a:pt x="7981" y="223242"/>
                  <a:pt x="17859" y="223242"/>
                </a:cubicBezTo>
                <a:lnTo>
                  <a:pt x="93762" y="223242"/>
                </a:lnTo>
                <a:cubicBezTo>
                  <a:pt x="101185" y="223242"/>
                  <a:pt x="107156" y="229213"/>
                  <a:pt x="107156" y="236637"/>
                </a:cubicBezTo>
                <a:cubicBezTo>
                  <a:pt x="107156" y="244060"/>
                  <a:pt x="101185" y="250031"/>
                  <a:pt x="93762" y="250031"/>
                </a:cubicBezTo>
                <a:lnTo>
                  <a:pt x="71438" y="250031"/>
                </a:lnTo>
                <a:cubicBezTo>
                  <a:pt x="61559" y="250031"/>
                  <a:pt x="53577" y="258012"/>
                  <a:pt x="53577" y="267891"/>
                </a:cubicBezTo>
                <a:cubicBezTo>
                  <a:pt x="53577" y="277769"/>
                  <a:pt x="61559" y="285750"/>
                  <a:pt x="71438" y="28575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1142867" y="1640886"/>
            <a:ext cx="220027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ruff</a:t>
            </a:r>
            <a:endParaRPr lang="en-US" sz="1100"/>
          </a:p>
        </p:txBody>
      </p:sp>
      <p:sp>
        <p:nvSpPr>
          <p:cNvPr id="6" name="AutoShape 6"/>
          <p:cNvSpPr/>
          <p:nvPr/>
        </p:nvSpPr>
        <p:spPr>
          <a:xfrm>
            <a:off x="1143000" y="1983740"/>
            <a:ext cx="353250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Blazing-fast Python code linter</a:t>
            </a:r>
            <a:endParaRPr lang="en-US" sz="1100"/>
          </a:p>
        </p:txBody>
      </p:sp>
      <p:sp>
        <p:nvSpPr>
          <p:cNvPr id="7" name="Freeform 7"/>
          <p:cNvSpPr/>
          <p:nvPr/>
        </p:nvSpPr>
        <p:spPr>
          <a:xfrm>
            <a:off x="390433" y="2488466"/>
            <a:ext cx="5543455" cy="1923955"/>
          </a:xfrm>
          <a:custGeom>
            <a:avLst/>
            <a:gdLst/>
            <a:ahLst/>
            <a:cxnLst/>
            <a:rect l="l" t="t" r="r" b="b"/>
            <a:pathLst>
              <a:path w="5543455" h="1923955">
                <a:moveTo>
                  <a:pt x="76208" y="0"/>
                </a:moveTo>
                <a:lnTo>
                  <a:pt x="5467247" y="0"/>
                </a:lnTo>
                <a:cubicBezTo>
                  <a:pt x="5509336" y="0"/>
                  <a:pt x="5543455" y="34119"/>
                  <a:pt x="5543455" y="76208"/>
                </a:cubicBezTo>
                <a:lnTo>
                  <a:pt x="5543455" y="1847747"/>
                </a:lnTo>
                <a:cubicBezTo>
                  <a:pt x="5543455" y="1889836"/>
                  <a:pt x="5509336" y="1923955"/>
                  <a:pt x="5467247" y="1923955"/>
                </a:cubicBezTo>
                <a:lnTo>
                  <a:pt x="76208" y="1923955"/>
                </a:lnTo>
                <a:cubicBezTo>
                  <a:pt x="34119" y="1923955"/>
                  <a:pt x="0" y="1889836"/>
                  <a:pt x="0" y="1847747"/>
                </a:cubicBezTo>
                <a:lnTo>
                  <a:pt x="0" y="76208"/>
                </a:lnTo>
                <a:cubicBezTo>
                  <a:pt x="0" y="34148"/>
                  <a:pt x="34148" y="0"/>
                  <a:pt x="76208" y="0"/>
                </a:cubicBezTo>
                <a:close/>
              </a:path>
            </a:pathLst>
          </a:custGeom>
          <a:solidFill>
            <a:srgbClr val="000000">
              <a:alpha val="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8" name="AutoShape 8"/>
          <p:cNvSpPr/>
          <p:nvPr/>
        </p:nvSpPr>
        <p:spPr>
          <a:xfrm>
            <a:off x="628484" y="2726513"/>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Features</a:t>
            </a:r>
            <a:endParaRPr lang="en-US" sz="1100"/>
          </a:p>
        </p:txBody>
      </p:sp>
      <p:sp>
        <p:nvSpPr>
          <p:cNvPr id="9" name="Freeform 9"/>
          <p:cNvSpPr/>
          <p:nvPr/>
        </p:nvSpPr>
        <p:spPr>
          <a:xfrm>
            <a:off x="647534" y="3183661"/>
            <a:ext cx="172488" cy="172522"/>
          </a:xfrm>
          <a:custGeom>
            <a:avLst/>
            <a:gdLst/>
            <a:ahLst/>
            <a:cxnLst/>
            <a:rect l="l" t="t" r="r" b="b"/>
            <a:pathLst>
              <a:path w="172488" h="172522">
                <a:moveTo>
                  <a:pt x="139302" y="69652"/>
                </a:moveTo>
                <a:cubicBezTo>
                  <a:pt x="139302" y="85021"/>
                  <a:pt x="134314" y="99220"/>
                  <a:pt x="125909" y="110739"/>
                </a:cubicBezTo>
                <a:lnTo>
                  <a:pt x="168302" y="153166"/>
                </a:lnTo>
                <a:cubicBezTo>
                  <a:pt x="172488" y="157352"/>
                  <a:pt x="172488" y="164150"/>
                  <a:pt x="168302" y="168336"/>
                </a:cubicBezTo>
                <a:cubicBezTo>
                  <a:pt x="164116" y="172522"/>
                  <a:pt x="157319" y="172522"/>
                  <a:pt x="153133" y="168336"/>
                </a:cubicBezTo>
                <a:lnTo>
                  <a:pt x="110739" y="125909"/>
                </a:lnTo>
                <a:cubicBezTo>
                  <a:pt x="99220" y="134314"/>
                  <a:pt x="85021" y="139302"/>
                  <a:pt x="69652" y="139302"/>
                </a:cubicBezTo>
                <a:cubicBezTo>
                  <a:pt x="31176" y="139302"/>
                  <a:pt x="0" y="108127"/>
                  <a:pt x="0" y="69652"/>
                </a:cubicBezTo>
                <a:cubicBezTo>
                  <a:pt x="0" y="31176"/>
                  <a:pt x="31176" y="0"/>
                  <a:pt x="69652" y="0"/>
                </a:cubicBezTo>
                <a:cubicBezTo>
                  <a:pt x="108127" y="0"/>
                  <a:pt x="139302" y="31176"/>
                  <a:pt x="139302" y="69652"/>
                </a:cubicBezTo>
                <a:close/>
                <a:moveTo>
                  <a:pt x="69652" y="117873"/>
                </a:moveTo>
                <a:cubicBezTo>
                  <a:pt x="96265" y="117873"/>
                  <a:pt x="117873" y="96265"/>
                  <a:pt x="117873" y="69652"/>
                </a:cubicBezTo>
                <a:cubicBezTo>
                  <a:pt x="117873" y="43038"/>
                  <a:pt x="96265" y="21431"/>
                  <a:pt x="69652" y="21431"/>
                </a:cubicBezTo>
                <a:cubicBezTo>
                  <a:pt x="43038" y="21431"/>
                  <a:pt x="21431" y="43038"/>
                  <a:pt x="21431" y="69652"/>
                </a:cubicBezTo>
                <a:cubicBezTo>
                  <a:pt x="21431" y="96265"/>
                  <a:pt x="43038" y="117873"/>
                  <a:pt x="69652" y="11787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957017" y="3145603"/>
            <a:ext cx="3229972" cy="219061"/>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Python static code analysis</a:t>
            </a:r>
            <a:endParaRPr lang="en-US" sz="1100"/>
          </a:p>
        </p:txBody>
      </p:sp>
      <p:sp>
        <p:nvSpPr>
          <p:cNvPr id="11" name="AutoShape 11"/>
          <p:cNvSpPr/>
          <p:nvPr/>
        </p:nvSpPr>
        <p:spPr>
          <a:xfrm>
            <a:off x="956945" y="3364865"/>
            <a:ext cx="4679950" cy="20955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Detect syntax errors, style issues, and potential bugs</a:t>
            </a:r>
            <a:endParaRPr lang="en-US" sz="1100"/>
          </a:p>
        </p:txBody>
      </p:sp>
      <p:sp>
        <p:nvSpPr>
          <p:cNvPr id="12" name="Freeform 12"/>
          <p:cNvSpPr/>
          <p:nvPr/>
        </p:nvSpPr>
        <p:spPr>
          <a:xfrm>
            <a:off x="647534" y="3755059"/>
            <a:ext cx="171450" cy="171450"/>
          </a:xfrm>
          <a:custGeom>
            <a:avLst/>
            <a:gdLst/>
            <a:ahLst/>
            <a:cxnLst/>
            <a:rect l="l" t="t" r="r" b="b"/>
            <a:pathLst>
              <a:path w="171450" h="171450">
                <a:moveTo>
                  <a:pt x="133443" y="4086"/>
                </a:moveTo>
                <a:lnTo>
                  <a:pt x="103908" y="33619"/>
                </a:lnTo>
                <a:lnTo>
                  <a:pt x="137831" y="67542"/>
                </a:lnTo>
                <a:lnTo>
                  <a:pt x="167364" y="38007"/>
                </a:lnTo>
                <a:cubicBezTo>
                  <a:pt x="169977" y="35362"/>
                  <a:pt x="171450" y="31812"/>
                  <a:pt x="171450" y="28129"/>
                </a:cubicBezTo>
                <a:cubicBezTo>
                  <a:pt x="171450" y="24445"/>
                  <a:pt x="169977" y="20895"/>
                  <a:pt x="167364" y="18250"/>
                </a:cubicBezTo>
                <a:lnTo>
                  <a:pt x="153200" y="4086"/>
                </a:lnTo>
                <a:cubicBezTo>
                  <a:pt x="150555" y="1473"/>
                  <a:pt x="147005" y="0"/>
                  <a:pt x="143321" y="0"/>
                </a:cubicBezTo>
                <a:cubicBezTo>
                  <a:pt x="139638" y="0"/>
                  <a:pt x="136088" y="1473"/>
                  <a:pt x="133443" y="4086"/>
                </a:cubicBezTo>
                <a:close/>
                <a:moveTo>
                  <a:pt x="92556" y="44972"/>
                </a:moveTo>
                <a:lnTo>
                  <a:pt x="4086" y="133443"/>
                </a:lnTo>
                <a:cubicBezTo>
                  <a:pt x="1473" y="136088"/>
                  <a:pt x="0" y="139638"/>
                  <a:pt x="0" y="143321"/>
                </a:cubicBezTo>
                <a:cubicBezTo>
                  <a:pt x="0" y="147005"/>
                  <a:pt x="1473" y="150555"/>
                  <a:pt x="4086" y="153200"/>
                </a:cubicBezTo>
                <a:lnTo>
                  <a:pt x="18250" y="167364"/>
                </a:lnTo>
                <a:cubicBezTo>
                  <a:pt x="20895" y="169977"/>
                  <a:pt x="24445" y="171450"/>
                  <a:pt x="28129" y="171450"/>
                </a:cubicBezTo>
                <a:cubicBezTo>
                  <a:pt x="31812" y="171450"/>
                  <a:pt x="35362" y="169977"/>
                  <a:pt x="38007" y="167364"/>
                </a:cubicBezTo>
                <a:lnTo>
                  <a:pt x="126478" y="78894"/>
                </a:lnTo>
                <a:lnTo>
                  <a:pt x="92556" y="4497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957017" y="3717001"/>
            <a:ext cx="3071843" cy="209508"/>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Auto-fix code issues</a:t>
            </a:r>
            <a:endParaRPr lang="en-US" sz="1100"/>
          </a:p>
        </p:txBody>
      </p:sp>
      <p:sp>
        <p:nvSpPr>
          <p:cNvPr id="14" name="AutoShape 14"/>
          <p:cNvSpPr/>
          <p:nvPr/>
        </p:nvSpPr>
        <p:spPr>
          <a:xfrm>
            <a:off x="956945" y="3983990"/>
            <a:ext cx="4597400" cy="190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Supports auto-fixing many common issues</a:t>
            </a:r>
            <a:endParaRPr lang="en-US" sz="1100"/>
          </a:p>
        </p:txBody>
      </p:sp>
      <p:sp>
        <p:nvSpPr>
          <p:cNvPr id="15" name="Freeform 15"/>
          <p:cNvSpPr/>
          <p:nvPr/>
        </p:nvSpPr>
        <p:spPr>
          <a:xfrm>
            <a:off x="6257815" y="2488466"/>
            <a:ext cx="5543455" cy="1923955"/>
          </a:xfrm>
          <a:custGeom>
            <a:avLst/>
            <a:gdLst/>
            <a:ahLst/>
            <a:cxnLst/>
            <a:rect l="l" t="t" r="r" b="b"/>
            <a:pathLst>
              <a:path w="5543455" h="1923955">
                <a:moveTo>
                  <a:pt x="76208" y="0"/>
                </a:moveTo>
                <a:lnTo>
                  <a:pt x="5467247" y="0"/>
                </a:lnTo>
                <a:cubicBezTo>
                  <a:pt x="5509336" y="0"/>
                  <a:pt x="5543455" y="34119"/>
                  <a:pt x="5543455" y="76208"/>
                </a:cubicBezTo>
                <a:lnTo>
                  <a:pt x="5543455" y="1847747"/>
                </a:lnTo>
                <a:cubicBezTo>
                  <a:pt x="5543455" y="1889836"/>
                  <a:pt x="5509336" y="1923955"/>
                  <a:pt x="5467247" y="1923955"/>
                </a:cubicBezTo>
                <a:lnTo>
                  <a:pt x="76208" y="1923955"/>
                </a:lnTo>
                <a:cubicBezTo>
                  <a:pt x="34119" y="1923955"/>
                  <a:pt x="0" y="1889836"/>
                  <a:pt x="0" y="1847747"/>
                </a:cubicBezTo>
                <a:lnTo>
                  <a:pt x="0" y="76208"/>
                </a:lnTo>
                <a:cubicBezTo>
                  <a:pt x="0" y="34148"/>
                  <a:pt x="34148" y="0"/>
                  <a:pt x="76208" y="0"/>
                </a:cubicBezTo>
                <a:close/>
              </a:path>
            </a:pathLst>
          </a:custGeom>
          <a:solidFill>
            <a:srgbClr val="000000">
              <a:alpha val="0"/>
            </a:srgbClr>
          </a:solidFill>
          <a:ln w="12700">
            <a:solidFill>
              <a:srgbClr val="333333">
                <a:alpha val="100000"/>
              </a:srgbClr>
            </a:solidFill>
            <a:prstDash val="solid"/>
          </a:ln>
        </p:spPr>
        <p:txBody>
          <a:bodyPr wrap="square" lIns="91440" tIns="45720" rIns="91440" bIns="45720" rtlCol="0" anchor="t">
            <a:noAutofit/>
          </a:bodyPr>
          <a:lstStyle/>
          <a:p>
            <a:pPr algn="ctr">
              <a:defRPr/>
            </a:pPr>
          </a:p>
        </p:txBody>
      </p:sp>
      <p:sp>
        <p:nvSpPr>
          <p:cNvPr id="16" name="AutoShape 16"/>
          <p:cNvSpPr/>
          <p:nvPr/>
        </p:nvSpPr>
        <p:spPr>
          <a:xfrm>
            <a:off x="6495866" y="2726513"/>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Configuration</a:t>
            </a:r>
            <a:endParaRPr lang="en-US" sz="1100"/>
          </a:p>
        </p:txBody>
      </p:sp>
      <p:sp>
        <p:nvSpPr>
          <p:cNvPr id="17" name="Freeform 17"/>
          <p:cNvSpPr/>
          <p:nvPr/>
        </p:nvSpPr>
        <p:spPr>
          <a:xfrm>
            <a:off x="6504201" y="3236077"/>
            <a:ext cx="192881" cy="85725"/>
          </a:xfrm>
          <a:custGeom>
            <a:avLst/>
            <a:gdLst/>
            <a:ahLst/>
            <a:cxnLst/>
            <a:rect l="l" t="t" r="r" b="b"/>
            <a:pathLst>
              <a:path w="192881" h="85725">
                <a:moveTo>
                  <a:pt x="16073" y="85725"/>
                </a:moveTo>
                <a:cubicBezTo>
                  <a:pt x="7200" y="85725"/>
                  <a:pt x="0" y="78525"/>
                  <a:pt x="0" y="69651"/>
                </a:cubicBezTo>
                <a:lnTo>
                  <a:pt x="0" y="16073"/>
                </a:lnTo>
                <a:cubicBezTo>
                  <a:pt x="0" y="7199"/>
                  <a:pt x="7200" y="0"/>
                  <a:pt x="16073" y="0"/>
                </a:cubicBezTo>
                <a:lnTo>
                  <a:pt x="24110" y="0"/>
                </a:lnTo>
                <a:lnTo>
                  <a:pt x="24110" y="34825"/>
                </a:lnTo>
                <a:cubicBezTo>
                  <a:pt x="24110" y="39279"/>
                  <a:pt x="27694" y="42862"/>
                  <a:pt x="32148" y="42862"/>
                </a:cubicBezTo>
                <a:cubicBezTo>
                  <a:pt x="36601" y="42862"/>
                  <a:pt x="40184" y="39279"/>
                  <a:pt x="40184" y="34825"/>
                </a:cubicBezTo>
                <a:lnTo>
                  <a:pt x="40184" y="0"/>
                </a:lnTo>
                <a:lnTo>
                  <a:pt x="56257" y="0"/>
                </a:lnTo>
                <a:lnTo>
                  <a:pt x="56257" y="24110"/>
                </a:lnTo>
                <a:cubicBezTo>
                  <a:pt x="56257" y="28563"/>
                  <a:pt x="59840" y="32146"/>
                  <a:pt x="64294" y="32146"/>
                </a:cubicBezTo>
                <a:cubicBezTo>
                  <a:pt x="68746" y="32146"/>
                  <a:pt x="72330" y="28563"/>
                  <a:pt x="72330" y="24110"/>
                </a:cubicBezTo>
                <a:lnTo>
                  <a:pt x="72330" y="0"/>
                </a:lnTo>
                <a:lnTo>
                  <a:pt x="88403" y="0"/>
                </a:lnTo>
                <a:lnTo>
                  <a:pt x="88403" y="34825"/>
                </a:lnTo>
                <a:cubicBezTo>
                  <a:pt x="88403" y="39279"/>
                  <a:pt x="91987" y="42862"/>
                  <a:pt x="96441" y="42862"/>
                </a:cubicBezTo>
                <a:cubicBezTo>
                  <a:pt x="100894" y="42862"/>
                  <a:pt x="104477" y="39279"/>
                  <a:pt x="104477" y="34825"/>
                </a:cubicBezTo>
                <a:lnTo>
                  <a:pt x="104477" y="0"/>
                </a:lnTo>
                <a:lnTo>
                  <a:pt x="120551" y="0"/>
                </a:lnTo>
                <a:lnTo>
                  <a:pt x="120551" y="24110"/>
                </a:lnTo>
                <a:cubicBezTo>
                  <a:pt x="120551" y="28563"/>
                  <a:pt x="124134" y="32146"/>
                  <a:pt x="128587" y="32146"/>
                </a:cubicBezTo>
                <a:cubicBezTo>
                  <a:pt x="133041" y="32146"/>
                  <a:pt x="136624" y="28563"/>
                  <a:pt x="136624" y="24110"/>
                </a:cubicBezTo>
                <a:lnTo>
                  <a:pt x="136624" y="0"/>
                </a:lnTo>
                <a:lnTo>
                  <a:pt x="152698" y="0"/>
                </a:lnTo>
                <a:lnTo>
                  <a:pt x="152698" y="34825"/>
                </a:lnTo>
                <a:cubicBezTo>
                  <a:pt x="152698" y="39279"/>
                  <a:pt x="156281" y="42862"/>
                  <a:pt x="160734" y="42862"/>
                </a:cubicBezTo>
                <a:cubicBezTo>
                  <a:pt x="165188" y="42862"/>
                  <a:pt x="168772" y="39279"/>
                  <a:pt x="168772" y="34825"/>
                </a:cubicBezTo>
                <a:lnTo>
                  <a:pt x="168772" y="0"/>
                </a:lnTo>
                <a:lnTo>
                  <a:pt x="176808" y="0"/>
                </a:lnTo>
                <a:cubicBezTo>
                  <a:pt x="185682" y="0"/>
                  <a:pt x="192881" y="7199"/>
                  <a:pt x="192881" y="16073"/>
                </a:cubicBezTo>
                <a:lnTo>
                  <a:pt x="192881" y="69651"/>
                </a:lnTo>
                <a:cubicBezTo>
                  <a:pt x="192881" y="78525"/>
                  <a:pt x="185682" y="85725"/>
                  <a:pt x="176808" y="85725"/>
                </a:cubicBezTo>
                <a:lnTo>
                  <a:pt x="16073" y="85725"/>
                </a:ln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6824345" y="3145790"/>
            <a:ext cx="234950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Line length:</a:t>
            </a: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120 characters</a:t>
            </a:r>
            <a:endParaRPr lang="en-US" sz="1100"/>
          </a:p>
        </p:txBody>
      </p:sp>
      <p:sp>
        <p:nvSpPr>
          <p:cNvPr id="19" name="Freeform 19"/>
          <p:cNvSpPr/>
          <p:nvPr/>
        </p:nvSpPr>
        <p:spPr>
          <a:xfrm>
            <a:off x="6509894" y="3574168"/>
            <a:ext cx="176473" cy="176473"/>
          </a:xfrm>
          <a:custGeom>
            <a:avLst/>
            <a:gdLst/>
            <a:ahLst/>
            <a:cxnLst/>
            <a:rect l="l" t="t" r="r" b="b"/>
            <a:pathLst>
              <a:path w="176473" h="176473">
                <a:moveTo>
                  <a:pt x="164886" y="33017"/>
                </a:moveTo>
                <a:cubicBezTo>
                  <a:pt x="167431" y="30472"/>
                  <a:pt x="171684" y="31109"/>
                  <a:pt x="172957" y="34456"/>
                </a:cubicBezTo>
                <a:cubicBezTo>
                  <a:pt x="175234" y="40385"/>
                  <a:pt x="176473" y="46846"/>
                  <a:pt x="176473" y="53577"/>
                </a:cubicBezTo>
                <a:cubicBezTo>
                  <a:pt x="176473" y="83180"/>
                  <a:pt x="152496" y="107156"/>
                  <a:pt x="122894" y="107156"/>
                </a:cubicBezTo>
                <a:cubicBezTo>
                  <a:pt x="117033" y="107156"/>
                  <a:pt x="111376" y="106219"/>
                  <a:pt x="106084" y="104477"/>
                </a:cubicBezTo>
                <a:lnTo>
                  <a:pt x="43498" y="167063"/>
                </a:lnTo>
                <a:cubicBezTo>
                  <a:pt x="34088" y="176473"/>
                  <a:pt x="18819" y="176473"/>
                  <a:pt x="9409" y="167063"/>
                </a:cubicBezTo>
                <a:cubicBezTo>
                  <a:pt x="0" y="157654"/>
                  <a:pt x="0" y="142384"/>
                  <a:pt x="9409" y="132974"/>
                </a:cubicBezTo>
                <a:lnTo>
                  <a:pt x="71995" y="70388"/>
                </a:lnTo>
                <a:cubicBezTo>
                  <a:pt x="70254" y="65096"/>
                  <a:pt x="69316" y="59472"/>
                  <a:pt x="69316" y="53577"/>
                </a:cubicBezTo>
                <a:cubicBezTo>
                  <a:pt x="69316" y="23976"/>
                  <a:pt x="93293" y="0"/>
                  <a:pt x="122894" y="0"/>
                </a:cubicBezTo>
                <a:cubicBezTo>
                  <a:pt x="129626" y="0"/>
                  <a:pt x="136089" y="1240"/>
                  <a:pt x="142016" y="3517"/>
                </a:cubicBezTo>
                <a:cubicBezTo>
                  <a:pt x="145365" y="4789"/>
                  <a:pt x="145967" y="9041"/>
                  <a:pt x="143455" y="11586"/>
                </a:cubicBezTo>
                <a:lnTo>
                  <a:pt x="113753" y="41289"/>
                </a:lnTo>
                <a:cubicBezTo>
                  <a:pt x="112748" y="42294"/>
                  <a:pt x="112180" y="43666"/>
                  <a:pt x="112180" y="45074"/>
                </a:cubicBezTo>
                <a:lnTo>
                  <a:pt x="112180" y="58936"/>
                </a:lnTo>
                <a:cubicBezTo>
                  <a:pt x="112180" y="61883"/>
                  <a:pt x="114590" y="64294"/>
                  <a:pt x="117536" y="64294"/>
                </a:cubicBezTo>
                <a:lnTo>
                  <a:pt x="131400" y="64294"/>
                </a:lnTo>
                <a:cubicBezTo>
                  <a:pt x="132806" y="64294"/>
                  <a:pt x="134178" y="63724"/>
                  <a:pt x="135184" y="62720"/>
                </a:cubicBezTo>
                <a:lnTo>
                  <a:pt x="164886" y="33017"/>
                </a:ln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6828155" y="3665855"/>
            <a:ext cx="233045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Auto-fix:</a:t>
            </a: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Enabled</a:t>
            </a:r>
            <a:endParaRPr lang="en-US" sz="1100"/>
          </a:p>
        </p:txBody>
      </p:sp>
      <p:sp>
        <p:nvSpPr>
          <p:cNvPr id="21" name="Freeform 21"/>
          <p:cNvSpPr/>
          <p:nvPr/>
        </p:nvSpPr>
        <p:spPr>
          <a:xfrm>
            <a:off x="380956" y="4650246"/>
            <a:ext cx="11430000" cy="1257300"/>
          </a:xfrm>
          <a:custGeom>
            <a:avLst/>
            <a:gdLst/>
            <a:ahLst/>
            <a:cxnLst/>
            <a:rect l="l" t="t" r="r" b="b"/>
            <a:pathLst>
              <a:path w="11430000" h="1257300">
                <a:moveTo>
                  <a:pt x="76205" y="0"/>
                </a:moveTo>
                <a:lnTo>
                  <a:pt x="11353795" y="0"/>
                </a:lnTo>
                <a:cubicBezTo>
                  <a:pt x="11395881" y="0"/>
                  <a:pt x="11430000" y="34119"/>
                  <a:pt x="11430000" y="76205"/>
                </a:cubicBezTo>
                <a:lnTo>
                  <a:pt x="11430000" y="1181095"/>
                </a:lnTo>
                <a:cubicBezTo>
                  <a:pt x="11430000" y="1223181"/>
                  <a:pt x="11395881" y="1257300"/>
                  <a:pt x="11353795" y="1257300"/>
                </a:cubicBezTo>
                <a:lnTo>
                  <a:pt x="76205" y="1257300"/>
                </a:lnTo>
                <a:cubicBezTo>
                  <a:pt x="34119" y="1257300"/>
                  <a:pt x="0" y="1223181"/>
                  <a:pt x="0" y="1181095"/>
                </a:cubicBezTo>
                <a:lnTo>
                  <a:pt x="0" y="76205"/>
                </a:lnTo>
                <a:cubicBezTo>
                  <a:pt x="0" y="34146"/>
                  <a:pt x="34146" y="0"/>
                  <a:pt x="76205" y="0"/>
                </a:cubicBezTo>
                <a:close/>
              </a:path>
            </a:pathLst>
          </a:custGeom>
          <a:solidFill>
            <a:srgbClr val="101828">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571396" y="4840691"/>
            <a:ext cx="111252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Common ruff commands</a:t>
            </a:r>
            <a:endParaRPr lang="en-US" sz="1100"/>
          </a:p>
        </p:txBody>
      </p:sp>
      <p:sp>
        <p:nvSpPr>
          <p:cNvPr id="23" name="AutoShape 23"/>
          <p:cNvSpPr/>
          <p:nvPr/>
        </p:nvSpPr>
        <p:spPr>
          <a:xfrm>
            <a:off x="571396" y="5145453"/>
            <a:ext cx="11115675" cy="571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ruff check . # Check all files in current directory</a:t>
            </a:r>
            <a:endParaRPr lang="en-US" sz="1100"/>
          </a:p>
          <a:p>
            <a:pPr indent="0" algn="l">
              <a:lnSpc>
                <a:spcPct val="117000"/>
              </a:lnSpc>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ruff check --fix . # Check and auto-fix issues</a:t>
            </a:r>
            <a:endPar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17000"/>
              </a:lnSpc>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ruff check --select E,W,F . # Specify rule set</a:t>
            </a:r>
            <a:endPar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699703" y="594345"/>
            <a:ext cx="2610588" cy="333267"/>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2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 Code Formatting</a:t>
            </a:r>
            <a:endParaRPr lang="en-US" sz="1100"/>
          </a:p>
        </p:txBody>
      </p:sp>
      <p:sp>
        <p:nvSpPr>
          <p:cNvPr id="3" name="Freeform 3"/>
          <p:cNvSpPr/>
          <p:nvPr/>
        </p:nvSpPr>
        <p:spPr>
          <a:xfrm>
            <a:off x="370253" y="1594787"/>
            <a:ext cx="592474" cy="592474"/>
          </a:xfrm>
          <a:custGeom>
            <a:avLst/>
            <a:gdLst/>
            <a:ahLst/>
            <a:cxnLst/>
            <a:rect l="l" t="t" r="r" b="b"/>
            <a:pathLst>
              <a:path w="592474" h="592474">
                <a:moveTo>
                  <a:pt x="74059" y="0"/>
                </a:moveTo>
                <a:lnTo>
                  <a:pt x="518415" y="0"/>
                </a:lnTo>
                <a:cubicBezTo>
                  <a:pt x="559316" y="0"/>
                  <a:pt x="592474" y="33157"/>
                  <a:pt x="592474" y="74059"/>
                </a:cubicBezTo>
                <a:lnTo>
                  <a:pt x="592474" y="518415"/>
                </a:lnTo>
                <a:cubicBezTo>
                  <a:pt x="592474" y="559316"/>
                  <a:pt x="559316" y="592474"/>
                  <a:pt x="518415" y="592474"/>
                </a:cubicBezTo>
                <a:lnTo>
                  <a:pt x="74059" y="592474"/>
                </a:lnTo>
                <a:cubicBezTo>
                  <a:pt x="33157" y="592474"/>
                  <a:pt x="0" y="559316"/>
                  <a:pt x="0" y="518415"/>
                </a:cubicBezTo>
                <a:lnTo>
                  <a:pt x="0" y="74059"/>
                </a:lnTo>
                <a:cubicBezTo>
                  <a:pt x="0" y="33157"/>
                  <a:pt x="33157" y="0"/>
                  <a:pt x="7405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536418" y="1756439"/>
            <a:ext cx="264705" cy="269043"/>
          </a:xfrm>
          <a:custGeom>
            <a:avLst/>
            <a:gdLst/>
            <a:ahLst/>
            <a:cxnLst/>
            <a:rect l="l" t="t" r="r" b="b"/>
            <a:pathLst>
              <a:path w="264705" h="269043">
                <a:moveTo>
                  <a:pt x="264705" y="137668"/>
                </a:moveTo>
                <a:cubicBezTo>
                  <a:pt x="264705" y="214420"/>
                  <a:pt x="212143" y="269043"/>
                  <a:pt x="134522" y="269043"/>
                </a:cubicBezTo>
                <a:cubicBezTo>
                  <a:pt x="60101" y="269043"/>
                  <a:pt x="0" y="208943"/>
                  <a:pt x="0" y="134521"/>
                </a:cubicBezTo>
                <a:cubicBezTo>
                  <a:pt x="0" y="60100"/>
                  <a:pt x="60101" y="0"/>
                  <a:pt x="134522" y="0"/>
                </a:cubicBezTo>
                <a:cubicBezTo>
                  <a:pt x="170756" y="0"/>
                  <a:pt x="201240" y="13289"/>
                  <a:pt x="224728" y="35203"/>
                </a:cubicBezTo>
                <a:lnTo>
                  <a:pt x="188113" y="70406"/>
                </a:lnTo>
                <a:cubicBezTo>
                  <a:pt x="140217" y="24192"/>
                  <a:pt x="51152" y="58907"/>
                  <a:pt x="51152" y="134521"/>
                </a:cubicBezTo>
                <a:cubicBezTo>
                  <a:pt x="51152" y="181441"/>
                  <a:pt x="88633" y="219464"/>
                  <a:pt x="134522" y="219464"/>
                </a:cubicBezTo>
                <a:cubicBezTo>
                  <a:pt x="187788" y="219464"/>
                  <a:pt x="207749" y="181278"/>
                  <a:pt x="210895" y="161480"/>
                </a:cubicBezTo>
                <a:lnTo>
                  <a:pt x="134522" y="161480"/>
                </a:lnTo>
                <a:lnTo>
                  <a:pt x="134522" y="115211"/>
                </a:lnTo>
                <a:lnTo>
                  <a:pt x="262589" y="115211"/>
                </a:lnTo>
                <a:cubicBezTo>
                  <a:pt x="263836" y="122099"/>
                  <a:pt x="264705" y="128717"/>
                  <a:pt x="264705" y="13766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1110759" y="1594787"/>
            <a:ext cx="3101230" cy="333267"/>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2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yapf</a:t>
            </a:r>
            <a:endParaRPr lang="en-US" sz="1100"/>
          </a:p>
        </p:txBody>
      </p:sp>
      <p:sp>
        <p:nvSpPr>
          <p:cNvPr id="6" name="AutoShape 6"/>
          <p:cNvSpPr/>
          <p:nvPr/>
        </p:nvSpPr>
        <p:spPr>
          <a:xfrm>
            <a:off x="1110759" y="1927973"/>
            <a:ext cx="4348140" cy="25882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Google's open source Python code formatter</a:t>
            </a:r>
            <a:endParaRPr lang="en-US" sz="1100"/>
          </a:p>
        </p:txBody>
      </p:sp>
      <p:sp>
        <p:nvSpPr>
          <p:cNvPr id="7" name="Freeform 7"/>
          <p:cNvSpPr/>
          <p:nvPr/>
        </p:nvSpPr>
        <p:spPr>
          <a:xfrm>
            <a:off x="370253" y="2427761"/>
            <a:ext cx="3665932" cy="1295944"/>
          </a:xfrm>
          <a:custGeom>
            <a:avLst/>
            <a:gdLst/>
            <a:ahLst/>
            <a:cxnLst/>
            <a:rect l="l" t="t" r="r" b="b"/>
            <a:pathLst>
              <a:path w="3665932" h="1295944">
                <a:moveTo>
                  <a:pt x="36845" y="0"/>
                </a:moveTo>
                <a:lnTo>
                  <a:pt x="3629086" y="0"/>
                </a:lnTo>
                <a:cubicBezTo>
                  <a:pt x="3649435" y="0"/>
                  <a:pt x="3665932" y="16496"/>
                  <a:pt x="3665932" y="36845"/>
                </a:cubicBezTo>
                <a:lnTo>
                  <a:pt x="3665932" y="1221881"/>
                </a:lnTo>
                <a:cubicBezTo>
                  <a:pt x="3665932" y="1262785"/>
                  <a:pt x="3632771" y="1295944"/>
                  <a:pt x="3591869" y="1295944"/>
                </a:cubicBezTo>
                <a:lnTo>
                  <a:pt x="74063" y="1295944"/>
                </a:lnTo>
                <a:cubicBezTo>
                  <a:pt x="33158" y="1295944"/>
                  <a:pt x="0" y="1262785"/>
                  <a:pt x="0" y="1221881"/>
                </a:cubicBezTo>
                <a:lnTo>
                  <a:pt x="0" y="36845"/>
                </a:lnTo>
                <a:cubicBezTo>
                  <a:pt x="0" y="16510"/>
                  <a:pt x="16510" y="0"/>
                  <a:pt x="3684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8" name="Freeform 8"/>
          <p:cNvSpPr/>
          <p:nvPr/>
        </p:nvSpPr>
        <p:spPr>
          <a:xfrm>
            <a:off x="370253" y="2427761"/>
            <a:ext cx="3665932" cy="36845"/>
          </a:xfrm>
          <a:custGeom>
            <a:avLst/>
            <a:gdLst/>
            <a:ahLst/>
            <a:cxnLst/>
            <a:rect l="l" t="t" r="r" b="b"/>
            <a:pathLst>
              <a:path w="3665932" h="36845">
                <a:moveTo>
                  <a:pt x="36845" y="0"/>
                </a:moveTo>
                <a:lnTo>
                  <a:pt x="3629086" y="0"/>
                </a:lnTo>
                <a:cubicBezTo>
                  <a:pt x="3649435" y="0"/>
                  <a:pt x="3665932" y="16496"/>
                  <a:pt x="3665932" y="36845"/>
                </a:cubicBezTo>
                <a:lnTo>
                  <a:pt x="3665932" y="36845"/>
                </a:lnTo>
                <a:lnTo>
                  <a:pt x="0" y="36845"/>
                </a:lnTo>
                <a:lnTo>
                  <a:pt x="0" y="36845"/>
                </a:lnTo>
                <a:cubicBezTo>
                  <a:pt x="0" y="16496"/>
                  <a:pt x="16496" y="0"/>
                  <a:pt x="3684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2075216" y="2635612"/>
            <a:ext cx="264705" cy="269043"/>
          </a:xfrm>
          <a:custGeom>
            <a:avLst/>
            <a:gdLst/>
            <a:ahLst/>
            <a:cxnLst/>
            <a:rect l="l" t="t" r="r" b="b"/>
            <a:pathLst>
              <a:path w="264705" h="269043">
                <a:moveTo>
                  <a:pt x="264705" y="137668"/>
                </a:moveTo>
                <a:cubicBezTo>
                  <a:pt x="264705" y="214420"/>
                  <a:pt x="212143" y="269043"/>
                  <a:pt x="134522" y="269043"/>
                </a:cubicBezTo>
                <a:cubicBezTo>
                  <a:pt x="60101" y="269043"/>
                  <a:pt x="0" y="208943"/>
                  <a:pt x="0" y="134521"/>
                </a:cubicBezTo>
                <a:cubicBezTo>
                  <a:pt x="0" y="60100"/>
                  <a:pt x="60101" y="0"/>
                  <a:pt x="134522" y="0"/>
                </a:cubicBezTo>
                <a:cubicBezTo>
                  <a:pt x="170756" y="0"/>
                  <a:pt x="201240" y="13289"/>
                  <a:pt x="224728" y="35203"/>
                </a:cubicBezTo>
                <a:lnTo>
                  <a:pt x="188113" y="70406"/>
                </a:lnTo>
                <a:cubicBezTo>
                  <a:pt x="140217" y="24192"/>
                  <a:pt x="51152" y="58907"/>
                  <a:pt x="51152" y="134521"/>
                </a:cubicBezTo>
                <a:cubicBezTo>
                  <a:pt x="51152" y="181441"/>
                  <a:pt x="88633" y="219464"/>
                  <a:pt x="134522" y="219464"/>
                </a:cubicBezTo>
                <a:cubicBezTo>
                  <a:pt x="187788" y="219464"/>
                  <a:pt x="207749" y="181278"/>
                  <a:pt x="210895" y="161480"/>
                </a:cubicBezTo>
                <a:lnTo>
                  <a:pt x="134522" y="161480"/>
                </a:lnTo>
                <a:lnTo>
                  <a:pt x="134522" y="115211"/>
                </a:lnTo>
                <a:lnTo>
                  <a:pt x="262589" y="115211"/>
                </a:lnTo>
                <a:cubicBezTo>
                  <a:pt x="263836" y="122099"/>
                  <a:pt x="264705" y="128717"/>
                  <a:pt x="264705" y="137668"/>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513685" y="3020020"/>
            <a:ext cx="3378952" cy="259207"/>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Google Style</a:t>
            </a:r>
            <a:endParaRPr lang="en-US" sz="1100"/>
          </a:p>
        </p:txBody>
      </p:sp>
      <p:sp>
        <p:nvSpPr>
          <p:cNvPr id="11" name="AutoShape 11"/>
          <p:cNvSpPr/>
          <p:nvPr/>
        </p:nvSpPr>
        <p:spPr>
          <a:xfrm>
            <a:off x="522943" y="3353286"/>
            <a:ext cx="3360437" cy="185148"/>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0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Follows Google Python Style Guide</a:t>
            </a:r>
            <a:endParaRPr lang="en-US" sz="1100"/>
          </a:p>
        </p:txBody>
      </p:sp>
      <p:sp>
        <p:nvSpPr>
          <p:cNvPr id="12" name="Freeform 12"/>
          <p:cNvSpPr/>
          <p:nvPr/>
        </p:nvSpPr>
        <p:spPr>
          <a:xfrm>
            <a:off x="4262478" y="2427761"/>
            <a:ext cx="3665932" cy="1295944"/>
          </a:xfrm>
          <a:custGeom>
            <a:avLst/>
            <a:gdLst/>
            <a:ahLst/>
            <a:cxnLst/>
            <a:rect l="l" t="t" r="r" b="b"/>
            <a:pathLst>
              <a:path w="3665932" h="1295944">
                <a:moveTo>
                  <a:pt x="36845" y="0"/>
                </a:moveTo>
                <a:lnTo>
                  <a:pt x="3629086" y="0"/>
                </a:lnTo>
                <a:cubicBezTo>
                  <a:pt x="3649435" y="0"/>
                  <a:pt x="3665932" y="16496"/>
                  <a:pt x="3665932" y="36845"/>
                </a:cubicBezTo>
                <a:lnTo>
                  <a:pt x="3665932" y="1221881"/>
                </a:lnTo>
                <a:cubicBezTo>
                  <a:pt x="3665932" y="1262785"/>
                  <a:pt x="3632772" y="1295944"/>
                  <a:pt x="3591869" y="1295944"/>
                </a:cubicBezTo>
                <a:lnTo>
                  <a:pt x="74063" y="1295944"/>
                </a:lnTo>
                <a:cubicBezTo>
                  <a:pt x="33158" y="1295944"/>
                  <a:pt x="0" y="1262785"/>
                  <a:pt x="0" y="1221881"/>
                </a:cubicBezTo>
                <a:lnTo>
                  <a:pt x="0" y="36845"/>
                </a:lnTo>
                <a:cubicBezTo>
                  <a:pt x="0" y="16510"/>
                  <a:pt x="16510" y="0"/>
                  <a:pt x="3684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3" name="Freeform 13"/>
          <p:cNvSpPr/>
          <p:nvPr/>
        </p:nvSpPr>
        <p:spPr>
          <a:xfrm>
            <a:off x="4262478" y="2427761"/>
            <a:ext cx="3665932" cy="36845"/>
          </a:xfrm>
          <a:custGeom>
            <a:avLst/>
            <a:gdLst/>
            <a:ahLst/>
            <a:cxnLst/>
            <a:rect l="l" t="t" r="r" b="b"/>
            <a:pathLst>
              <a:path w="3665932" h="36845">
                <a:moveTo>
                  <a:pt x="36845" y="0"/>
                </a:moveTo>
                <a:lnTo>
                  <a:pt x="3629086" y="0"/>
                </a:lnTo>
                <a:cubicBezTo>
                  <a:pt x="3649435" y="0"/>
                  <a:pt x="3665932" y="16496"/>
                  <a:pt x="3665932" y="36845"/>
                </a:cubicBezTo>
                <a:lnTo>
                  <a:pt x="3665932" y="36845"/>
                </a:lnTo>
                <a:lnTo>
                  <a:pt x="0" y="36845"/>
                </a:lnTo>
                <a:lnTo>
                  <a:pt x="0" y="36845"/>
                </a:lnTo>
                <a:cubicBezTo>
                  <a:pt x="0" y="16496"/>
                  <a:pt x="16496" y="0"/>
                  <a:pt x="3684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5960933" y="2631272"/>
            <a:ext cx="277722" cy="277722"/>
          </a:xfrm>
          <a:custGeom>
            <a:avLst/>
            <a:gdLst/>
            <a:ahLst/>
            <a:cxnLst/>
            <a:rect l="l" t="t" r="r" b="b"/>
            <a:pathLst>
              <a:path w="277722" h="277722">
                <a:moveTo>
                  <a:pt x="216157" y="6618"/>
                </a:moveTo>
                <a:lnTo>
                  <a:pt x="168314" y="54460"/>
                </a:lnTo>
                <a:lnTo>
                  <a:pt x="223263" y="109407"/>
                </a:lnTo>
                <a:lnTo>
                  <a:pt x="271104" y="61565"/>
                </a:lnTo>
                <a:cubicBezTo>
                  <a:pt x="275335" y="57280"/>
                  <a:pt x="277722" y="51530"/>
                  <a:pt x="277722" y="45564"/>
                </a:cubicBezTo>
                <a:cubicBezTo>
                  <a:pt x="277722" y="39597"/>
                  <a:pt x="275335" y="33847"/>
                  <a:pt x="271104" y="29562"/>
                </a:cubicBezTo>
                <a:lnTo>
                  <a:pt x="248161" y="6618"/>
                </a:lnTo>
                <a:cubicBezTo>
                  <a:pt x="243876" y="2388"/>
                  <a:pt x="238125" y="0"/>
                  <a:pt x="232159" y="0"/>
                </a:cubicBezTo>
                <a:cubicBezTo>
                  <a:pt x="226192" y="0"/>
                  <a:pt x="220442" y="2388"/>
                  <a:pt x="216157" y="6618"/>
                </a:cubicBezTo>
                <a:close/>
                <a:moveTo>
                  <a:pt x="149927" y="72848"/>
                </a:moveTo>
                <a:lnTo>
                  <a:pt x="6618" y="216157"/>
                </a:lnTo>
                <a:cubicBezTo>
                  <a:pt x="2388" y="220442"/>
                  <a:pt x="0" y="226192"/>
                  <a:pt x="0" y="232159"/>
                </a:cubicBezTo>
                <a:cubicBezTo>
                  <a:pt x="0" y="238125"/>
                  <a:pt x="2388" y="243876"/>
                  <a:pt x="6618" y="248161"/>
                </a:cubicBezTo>
                <a:lnTo>
                  <a:pt x="29562" y="271104"/>
                </a:lnTo>
                <a:cubicBezTo>
                  <a:pt x="33847" y="275335"/>
                  <a:pt x="39597" y="277722"/>
                  <a:pt x="45564" y="277722"/>
                </a:cubicBezTo>
                <a:cubicBezTo>
                  <a:pt x="51530" y="277722"/>
                  <a:pt x="57280" y="275335"/>
                  <a:pt x="61565" y="271104"/>
                </a:cubicBezTo>
                <a:lnTo>
                  <a:pt x="204874" y="127796"/>
                </a:lnTo>
                <a:lnTo>
                  <a:pt x="149927" y="72848"/>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4405911" y="3020020"/>
            <a:ext cx="3378952" cy="259207"/>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Auto-format</a:t>
            </a:r>
            <a:endParaRPr lang="en-US" sz="1100"/>
          </a:p>
        </p:txBody>
      </p:sp>
      <p:sp>
        <p:nvSpPr>
          <p:cNvPr id="16" name="AutoShape 16"/>
          <p:cNvSpPr/>
          <p:nvPr/>
        </p:nvSpPr>
        <p:spPr>
          <a:xfrm>
            <a:off x="4415168" y="3353286"/>
            <a:ext cx="3360437" cy="185148"/>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0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Format entire files with one command</a:t>
            </a:r>
            <a:endParaRPr lang="en-US" sz="1100"/>
          </a:p>
        </p:txBody>
      </p:sp>
      <p:sp>
        <p:nvSpPr>
          <p:cNvPr id="17" name="Freeform 17"/>
          <p:cNvSpPr/>
          <p:nvPr/>
        </p:nvSpPr>
        <p:spPr>
          <a:xfrm>
            <a:off x="8154704" y="2427761"/>
            <a:ext cx="3665932" cy="1295944"/>
          </a:xfrm>
          <a:custGeom>
            <a:avLst/>
            <a:gdLst/>
            <a:ahLst/>
            <a:cxnLst/>
            <a:rect l="l" t="t" r="r" b="b"/>
            <a:pathLst>
              <a:path w="3665932" h="1295944">
                <a:moveTo>
                  <a:pt x="36845" y="0"/>
                </a:moveTo>
                <a:lnTo>
                  <a:pt x="3629086" y="0"/>
                </a:lnTo>
                <a:cubicBezTo>
                  <a:pt x="3649435" y="0"/>
                  <a:pt x="3665932" y="16496"/>
                  <a:pt x="3665932" y="36845"/>
                </a:cubicBezTo>
                <a:lnTo>
                  <a:pt x="3665932" y="1221881"/>
                </a:lnTo>
                <a:cubicBezTo>
                  <a:pt x="3665932" y="1262785"/>
                  <a:pt x="3632771" y="1295944"/>
                  <a:pt x="3591869" y="1295944"/>
                </a:cubicBezTo>
                <a:lnTo>
                  <a:pt x="74063" y="1295944"/>
                </a:lnTo>
                <a:cubicBezTo>
                  <a:pt x="33158" y="1295944"/>
                  <a:pt x="0" y="1262785"/>
                  <a:pt x="0" y="1221881"/>
                </a:cubicBezTo>
                <a:lnTo>
                  <a:pt x="0" y="36845"/>
                </a:lnTo>
                <a:cubicBezTo>
                  <a:pt x="0" y="16510"/>
                  <a:pt x="16510" y="0"/>
                  <a:pt x="36845"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8" name="Freeform 18"/>
          <p:cNvSpPr/>
          <p:nvPr/>
        </p:nvSpPr>
        <p:spPr>
          <a:xfrm>
            <a:off x="8154704" y="2427761"/>
            <a:ext cx="3665932" cy="36845"/>
          </a:xfrm>
          <a:custGeom>
            <a:avLst/>
            <a:gdLst/>
            <a:ahLst/>
            <a:cxnLst/>
            <a:rect l="l" t="t" r="r" b="b"/>
            <a:pathLst>
              <a:path w="3665932" h="36845">
                <a:moveTo>
                  <a:pt x="36845" y="0"/>
                </a:moveTo>
                <a:lnTo>
                  <a:pt x="3629086" y="0"/>
                </a:lnTo>
                <a:cubicBezTo>
                  <a:pt x="3649435" y="0"/>
                  <a:pt x="3665932" y="16496"/>
                  <a:pt x="3665932" y="36845"/>
                </a:cubicBezTo>
                <a:lnTo>
                  <a:pt x="3665932" y="36845"/>
                </a:lnTo>
                <a:lnTo>
                  <a:pt x="0" y="36845"/>
                </a:lnTo>
                <a:lnTo>
                  <a:pt x="0" y="36845"/>
                </a:lnTo>
                <a:cubicBezTo>
                  <a:pt x="0" y="16496"/>
                  <a:pt x="16496" y="0"/>
                  <a:pt x="3684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9870516" y="2700703"/>
            <a:ext cx="243007" cy="138861"/>
          </a:xfrm>
          <a:custGeom>
            <a:avLst/>
            <a:gdLst/>
            <a:ahLst/>
            <a:cxnLst/>
            <a:rect l="l" t="t" r="r" b="b"/>
            <a:pathLst>
              <a:path w="243007" h="138861">
                <a:moveTo>
                  <a:pt x="17358" y="0"/>
                </a:moveTo>
                <a:cubicBezTo>
                  <a:pt x="7757" y="0"/>
                  <a:pt x="0" y="7756"/>
                  <a:pt x="0" y="17357"/>
                </a:cubicBezTo>
                <a:cubicBezTo>
                  <a:pt x="0" y="26958"/>
                  <a:pt x="7757" y="34715"/>
                  <a:pt x="17358" y="34715"/>
                </a:cubicBezTo>
                <a:lnTo>
                  <a:pt x="225649" y="34715"/>
                </a:lnTo>
                <a:cubicBezTo>
                  <a:pt x="235250" y="34715"/>
                  <a:pt x="243007" y="26958"/>
                  <a:pt x="243007" y="17357"/>
                </a:cubicBezTo>
                <a:cubicBezTo>
                  <a:pt x="243007" y="7756"/>
                  <a:pt x="235250" y="0"/>
                  <a:pt x="225649" y="0"/>
                </a:cubicBezTo>
                <a:lnTo>
                  <a:pt x="17358" y="0"/>
                </a:lnTo>
                <a:close/>
                <a:moveTo>
                  <a:pt x="17358" y="104145"/>
                </a:moveTo>
                <a:cubicBezTo>
                  <a:pt x="7757" y="104145"/>
                  <a:pt x="0" y="111902"/>
                  <a:pt x="0" y="121503"/>
                </a:cubicBezTo>
                <a:cubicBezTo>
                  <a:pt x="0" y="131105"/>
                  <a:pt x="7757" y="138860"/>
                  <a:pt x="17358" y="138860"/>
                </a:cubicBezTo>
                <a:lnTo>
                  <a:pt x="225649" y="138860"/>
                </a:lnTo>
                <a:cubicBezTo>
                  <a:pt x="235250" y="138860"/>
                  <a:pt x="243007" y="131105"/>
                  <a:pt x="243007" y="121503"/>
                </a:cubicBezTo>
                <a:cubicBezTo>
                  <a:pt x="243007" y="111902"/>
                  <a:pt x="235250" y="104145"/>
                  <a:pt x="225649" y="104145"/>
                </a:cubicBezTo>
                <a:lnTo>
                  <a:pt x="17358" y="104145"/>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AutoShape 20"/>
          <p:cNvSpPr/>
          <p:nvPr/>
        </p:nvSpPr>
        <p:spPr>
          <a:xfrm>
            <a:off x="8298136" y="3020020"/>
            <a:ext cx="3378952" cy="259207"/>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3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Maintain Consistency</a:t>
            </a:r>
            <a:endParaRPr lang="en-US" sz="1100"/>
          </a:p>
        </p:txBody>
      </p:sp>
      <p:sp>
        <p:nvSpPr>
          <p:cNvPr id="21" name="AutoShape 21"/>
          <p:cNvSpPr/>
          <p:nvPr/>
        </p:nvSpPr>
        <p:spPr>
          <a:xfrm>
            <a:off x="8307394" y="3353286"/>
            <a:ext cx="3360437" cy="185148"/>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0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Ensures uniform code style across the team</a:t>
            </a:r>
            <a:endParaRPr lang="en-US" sz="1100"/>
          </a:p>
        </p:txBody>
      </p:sp>
      <p:sp>
        <p:nvSpPr>
          <p:cNvPr id="22" name="Freeform 22"/>
          <p:cNvSpPr/>
          <p:nvPr/>
        </p:nvSpPr>
        <p:spPr>
          <a:xfrm>
            <a:off x="370253" y="3945616"/>
            <a:ext cx="11451408" cy="2536528"/>
          </a:xfrm>
          <a:custGeom>
            <a:avLst/>
            <a:gdLst/>
            <a:ahLst/>
            <a:cxnLst/>
            <a:rect l="l" t="t" r="r" b="b"/>
            <a:pathLst>
              <a:path w="11451408" h="2536528">
                <a:moveTo>
                  <a:pt x="74066" y="0"/>
                </a:moveTo>
                <a:lnTo>
                  <a:pt x="11377341" y="0"/>
                </a:lnTo>
                <a:cubicBezTo>
                  <a:pt x="11418247" y="0"/>
                  <a:pt x="11451408" y="33161"/>
                  <a:pt x="11451408" y="74066"/>
                </a:cubicBezTo>
                <a:lnTo>
                  <a:pt x="11451408" y="2462461"/>
                </a:lnTo>
                <a:cubicBezTo>
                  <a:pt x="11451408" y="2503368"/>
                  <a:pt x="11418247" y="2536528"/>
                  <a:pt x="11377341" y="2536528"/>
                </a:cubicBezTo>
                <a:lnTo>
                  <a:pt x="74066" y="2536528"/>
                </a:lnTo>
                <a:cubicBezTo>
                  <a:pt x="33161" y="2536528"/>
                  <a:pt x="0" y="2503368"/>
                  <a:pt x="0" y="2462461"/>
                </a:cubicBezTo>
                <a:lnTo>
                  <a:pt x="0" y="74066"/>
                </a:lnTo>
                <a:cubicBezTo>
                  <a:pt x="0" y="33188"/>
                  <a:pt x="33188" y="0"/>
                  <a:pt x="74066" y="0"/>
                </a:cubicBezTo>
                <a:close/>
              </a:path>
            </a:pathLst>
          </a:custGeom>
          <a:solidFill>
            <a:srgbClr val="101828">
              <a:alpha val="100000"/>
            </a:srgbClr>
          </a:solidFill>
          <a:ln w="12700">
            <a:noFill/>
            <a:prstDash val="solid"/>
          </a:ln>
          <a:effectLst>
            <a:outerShdw blurRad="1270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3" name="AutoShape 23"/>
          <p:cNvSpPr/>
          <p:nvPr/>
        </p:nvSpPr>
        <p:spPr>
          <a:xfrm>
            <a:off x="592405" y="4167775"/>
            <a:ext cx="11090369" cy="259207"/>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300" b="1" i="0" u="none" strike="noStrike">
                <a:solidFill>
                  <a:srgbClr val="B22222"/>
                </a:solidFill>
                <a:latin typeface="MiSans" panose="00000500000000000000" charset="-122"/>
                <a:ea typeface="MiSans" panose="00000500000000000000" charset="-122"/>
                <a:cs typeface="MiSans" panose="00000500000000000000" charset="-122"/>
                <a:sym typeface="MiSans" panose="00000500000000000000" charset="-122"/>
              </a:rPr>
              <a:t>Usage Examples</a:t>
            </a:r>
            <a:endParaRPr lang="en-US" sz="1100"/>
          </a:p>
        </p:txBody>
      </p:sp>
      <p:sp>
        <p:nvSpPr>
          <p:cNvPr id="24" name="Freeform 24"/>
          <p:cNvSpPr/>
          <p:nvPr/>
        </p:nvSpPr>
        <p:spPr>
          <a:xfrm>
            <a:off x="610827" y="4575083"/>
            <a:ext cx="10988445" cy="1684847"/>
          </a:xfrm>
          <a:custGeom>
            <a:avLst/>
            <a:gdLst/>
            <a:ahLst/>
            <a:cxnLst/>
            <a:rect l="l" t="t" r="r" b="b"/>
            <a:pathLst>
              <a:path w="10988445" h="1684847">
                <a:moveTo>
                  <a:pt x="36845" y="0"/>
                </a:moveTo>
                <a:lnTo>
                  <a:pt x="10951413" y="0"/>
                </a:lnTo>
                <a:cubicBezTo>
                  <a:pt x="10971865" y="0"/>
                  <a:pt x="10988445" y="16580"/>
                  <a:pt x="10988445" y="37033"/>
                </a:cubicBezTo>
                <a:lnTo>
                  <a:pt x="10988445" y="1647814"/>
                </a:lnTo>
                <a:cubicBezTo>
                  <a:pt x="10988445" y="1668267"/>
                  <a:pt x="10971865" y="1684847"/>
                  <a:pt x="10951413" y="1684847"/>
                </a:cubicBezTo>
                <a:lnTo>
                  <a:pt x="36845" y="1684847"/>
                </a:lnTo>
                <a:cubicBezTo>
                  <a:pt x="16496" y="1684847"/>
                  <a:pt x="0" y="1668351"/>
                  <a:pt x="0" y="1648002"/>
                </a:cubicBezTo>
                <a:lnTo>
                  <a:pt x="0" y="36845"/>
                </a:lnTo>
                <a:cubicBezTo>
                  <a:pt x="0" y="16496"/>
                  <a:pt x="16496" y="0"/>
                  <a:pt x="36845" y="0"/>
                </a:cubicBezTo>
                <a:close/>
              </a:path>
            </a:pathLst>
          </a:custGeom>
          <a:solidFill>
            <a:srgbClr val="1E2939">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610827" y="4575083"/>
            <a:ext cx="36845" cy="1684847"/>
          </a:xfrm>
          <a:custGeom>
            <a:avLst/>
            <a:gdLst/>
            <a:ahLst/>
            <a:cxnLst/>
            <a:rect l="l" t="t" r="r" b="b"/>
            <a:pathLst>
              <a:path w="36845" h="1684847">
                <a:moveTo>
                  <a:pt x="36845" y="0"/>
                </a:moveTo>
                <a:lnTo>
                  <a:pt x="36845" y="0"/>
                </a:lnTo>
                <a:lnTo>
                  <a:pt x="36845" y="1684847"/>
                </a:lnTo>
                <a:lnTo>
                  <a:pt x="36845" y="1684847"/>
                </a:lnTo>
                <a:cubicBezTo>
                  <a:pt x="16496" y="1684847"/>
                  <a:pt x="0" y="1668351"/>
                  <a:pt x="0" y="1648002"/>
                </a:cubicBezTo>
                <a:lnTo>
                  <a:pt x="0" y="36845"/>
                </a:lnTo>
                <a:cubicBezTo>
                  <a:pt x="0" y="16496"/>
                  <a:pt x="16496" y="0"/>
                  <a:pt x="36845" y="0"/>
                </a:cubicBez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777351" y="4686126"/>
            <a:ext cx="10738588" cy="20366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Format a single file (-i means in-place modification)</a:t>
            </a:r>
            <a:endParaRPr lang="en-US" sz="1100"/>
          </a:p>
        </p:txBody>
      </p:sp>
      <p:sp>
        <p:nvSpPr>
          <p:cNvPr id="27" name="AutoShape 27"/>
          <p:cNvSpPr/>
          <p:nvPr/>
        </p:nvSpPr>
        <p:spPr>
          <a:xfrm>
            <a:off x="777351" y="4893451"/>
            <a:ext cx="10738588" cy="20366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yapf -i file.py</a:t>
            </a:r>
            <a:endParaRPr lang="en-US" sz="1100"/>
          </a:p>
        </p:txBody>
      </p:sp>
      <p:sp>
        <p:nvSpPr>
          <p:cNvPr id="28" name="AutoShape 28"/>
          <p:cNvSpPr/>
          <p:nvPr/>
        </p:nvSpPr>
        <p:spPr>
          <a:xfrm>
            <a:off x="777351" y="5211819"/>
            <a:ext cx="10738588" cy="20366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Format entire directory</a:t>
            </a:r>
            <a:endParaRPr lang="en-US" sz="1100"/>
          </a:p>
        </p:txBody>
      </p:sp>
      <p:sp>
        <p:nvSpPr>
          <p:cNvPr id="29" name="AutoShape 29"/>
          <p:cNvSpPr/>
          <p:nvPr/>
        </p:nvSpPr>
        <p:spPr>
          <a:xfrm>
            <a:off x="777351" y="5419152"/>
            <a:ext cx="10738588" cy="20366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yapf -i -r .</a:t>
            </a:r>
            <a:endParaRPr lang="en-US" sz="1100"/>
          </a:p>
        </p:txBody>
      </p:sp>
      <p:sp>
        <p:nvSpPr>
          <p:cNvPr id="30" name="AutoShape 30"/>
          <p:cNvSpPr/>
          <p:nvPr/>
        </p:nvSpPr>
        <p:spPr>
          <a:xfrm>
            <a:off x="777351" y="5737511"/>
            <a:ext cx="10738588" cy="20366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Show diff only, do not modify file</a:t>
            </a:r>
            <a:endParaRPr lang="en-US" sz="1100"/>
          </a:p>
        </p:txBody>
      </p:sp>
      <p:sp>
        <p:nvSpPr>
          <p:cNvPr id="31" name="AutoShape 31"/>
          <p:cNvSpPr/>
          <p:nvPr/>
        </p:nvSpPr>
        <p:spPr>
          <a:xfrm>
            <a:off x="777351" y="5944844"/>
            <a:ext cx="10738588" cy="20366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0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yapf -d file.py</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9928" y="611525"/>
            <a:ext cx="2286000"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C++ Code Formatting</a:t>
            </a:r>
            <a:endParaRPr lang="en-US" sz="1100"/>
          </a:p>
        </p:txBody>
      </p:sp>
      <p:sp>
        <p:nvSpPr>
          <p:cNvPr id="3" name="Freeform 3"/>
          <p:cNvSpPr/>
          <p:nvPr/>
        </p:nvSpPr>
        <p:spPr>
          <a:xfrm>
            <a:off x="380956" y="1640886"/>
            <a:ext cx="609600" cy="609600"/>
          </a:xfrm>
          <a:custGeom>
            <a:avLst/>
            <a:gdLst/>
            <a:ahLst/>
            <a:cxnLst/>
            <a:rect l="l" t="t" r="r" b="b"/>
            <a:pathLst>
              <a:path w="609600" h="609600">
                <a:moveTo>
                  <a:pt x="76200" y="0"/>
                </a:moveTo>
                <a:lnTo>
                  <a:pt x="533400" y="0"/>
                </a:lnTo>
                <a:cubicBezTo>
                  <a:pt x="575456" y="0"/>
                  <a:pt x="609600" y="34144"/>
                  <a:pt x="609600" y="76200"/>
                </a:cubicBezTo>
                <a:lnTo>
                  <a:pt x="609600" y="533400"/>
                </a:lnTo>
                <a:cubicBezTo>
                  <a:pt x="609600" y="575456"/>
                  <a:pt x="575456" y="609600"/>
                  <a:pt x="533400" y="609600"/>
                </a:cubicBezTo>
                <a:lnTo>
                  <a:pt x="76200" y="609600"/>
                </a:lnTo>
                <a:cubicBezTo>
                  <a:pt x="34144" y="609600"/>
                  <a:pt x="0" y="575456"/>
                  <a:pt x="0" y="533400"/>
                </a:cubicBezTo>
                <a:lnTo>
                  <a:pt x="0" y="76200"/>
                </a:lnTo>
                <a:cubicBezTo>
                  <a:pt x="0" y="34144"/>
                  <a:pt x="34144" y="0"/>
                  <a:pt x="762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4" name="Freeform 4"/>
          <p:cNvSpPr/>
          <p:nvPr/>
        </p:nvSpPr>
        <p:spPr>
          <a:xfrm>
            <a:off x="525637" y="1800681"/>
            <a:ext cx="324984" cy="289880"/>
          </a:xfrm>
          <a:custGeom>
            <a:avLst/>
            <a:gdLst/>
            <a:ahLst/>
            <a:cxnLst/>
            <a:rect l="l" t="t" r="r" b="b"/>
            <a:pathLst>
              <a:path w="324984" h="289880">
                <a:moveTo>
                  <a:pt x="203094" y="2736"/>
                </a:moveTo>
                <a:cubicBezTo>
                  <a:pt x="193607" y="0"/>
                  <a:pt x="183729" y="5524"/>
                  <a:pt x="180993" y="15013"/>
                </a:cubicBezTo>
                <a:lnTo>
                  <a:pt x="109556" y="265044"/>
                </a:lnTo>
                <a:cubicBezTo>
                  <a:pt x="106821" y="274532"/>
                  <a:pt x="112347" y="284411"/>
                  <a:pt x="121834" y="287144"/>
                </a:cubicBezTo>
                <a:cubicBezTo>
                  <a:pt x="131322" y="289880"/>
                  <a:pt x="141201" y="284356"/>
                  <a:pt x="143934" y="274867"/>
                </a:cubicBezTo>
                <a:lnTo>
                  <a:pt x="215373" y="24836"/>
                </a:lnTo>
                <a:cubicBezTo>
                  <a:pt x="218108" y="15348"/>
                  <a:pt x="212582" y="5469"/>
                  <a:pt x="203094" y="2736"/>
                </a:cubicBezTo>
                <a:close/>
                <a:moveTo>
                  <a:pt x="239148" y="78693"/>
                </a:moveTo>
                <a:cubicBezTo>
                  <a:pt x="232171" y="85669"/>
                  <a:pt x="232171" y="96999"/>
                  <a:pt x="239148" y="103975"/>
                </a:cubicBezTo>
                <a:lnTo>
                  <a:pt x="280113" y="144940"/>
                </a:lnTo>
                <a:lnTo>
                  <a:pt x="239148" y="185905"/>
                </a:lnTo>
                <a:cubicBezTo>
                  <a:pt x="232171" y="192881"/>
                  <a:pt x="232171" y="204211"/>
                  <a:pt x="239148" y="211187"/>
                </a:cubicBezTo>
                <a:cubicBezTo>
                  <a:pt x="246124" y="218163"/>
                  <a:pt x="257453" y="218163"/>
                  <a:pt x="264429" y="211187"/>
                </a:cubicBezTo>
                <a:lnTo>
                  <a:pt x="318008" y="157610"/>
                </a:lnTo>
                <a:cubicBezTo>
                  <a:pt x="324984" y="150633"/>
                  <a:pt x="324984" y="139302"/>
                  <a:pt x="318008" y="132328"/>
                </a:cubicBezTo>
                <a:lnTo>
                  <a:pt x="264429" y="78749"/>
                </a:lnTo>
                <a:cubicBezTo>
                  <a:pt x="257453" y="71771"/>
                  <a:pt x="246124" y="71771"/>
                  <a:pt x="239148" y="78749"/>
                </a:cubicBezTo>
                <a:close/>
                <a:moveTo>
                  <a:pt x="85836" y="78693"/>
                </a:moveTo>
                <a:cubicBezTo>
                  <a:pt x="78860" y="71717"/>
                  <a:pt x="67531" y="71717"/>
                  <a:pt x="60554" y="78693"/>
                </a:cubicBezTo>
                <a:lnTo>
                  <a:pt x="6976" y="132270"/>
                </a:lnTo>
                <a:cubicBezTo>
                  <a:pt x="0" y="139247"/>
                  <a:pt x="0" y="150578"/>
                  <a:pt x="6976" y="157552"/>
                </a:cubicBezTo>
                <a:lnTo>
                  <a:pt x="60554" y="211131"/>
                </a:lnTo>
                <a:cubicBezTo>
                  <a:pt x="67531" y="218109"/>
                  <a:pt x="78860" y="218109"/>
                  <a:pt x="85836" y="211131"/>
                </a:cubicBezTo>
                <a:cubicBezTo>
                  <a:pt x="92813" y="204155"/>
                  <a:pt x="92813" y="192825"/>
                  <a:pt x="85836" y="185849"/>
                </a:cubicBezTo>
                <a:lnTo>
                  <a:pt x="44872" y="144940"/>
                </a:lnTo>
                <a:lnTo>
                  <a:pt x="85781" y="103975"/>
                </a:lnTo>
                <a:cubicBezTo>
                  <a:pt x="92757" y="96999"/>
                  <a:pt x="92757" y="85669"/>
                  <a:pt x="85781" y="7869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1142867" y="1640886"/>
            <a:ext cx="2838450"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clang-format</a:t>
            </a:r>
            <a:endParaRPr lang="en-US" sz="1100"/>
          </a:p>
        </p:txBody>
      </p:sp>
      <p:sp>
        <p:nvSpPr>
          <p:cNvPr id="6" name="AutoShape 6"/>
          <p:cNvSpPr/>
          <p:nvPr/>
        </p:nvSpPr>
        <p:spPr>
          <a:xfrm>
            <a:off x="1142867" y="1983711"/>
            <a:ext cx="4013524" cy="238008"/>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LLVM project's C++ code formatter</a:t>
            </a:r>
            <a:endParaRPr lang="en-US" sz="1100"/>
          </a:p>
        </p:txBody>
      </p:sp>
      <p:sp>
        <p:nvSpPr>
          <p:cNvPr id="7" name="Freeform 7"/>
          <p:cNvSpPr/>
          <p:nvPr/>
        </p:nvSpPr>
        <p:spPr>
          <a:xfrm>
            <a:off x="390433" y="2488461"/>
            <a:ext cx="5543455" cy="2038255"/>
          </a:xfrm>
          <a:custGeom>
            <a:avLst/>
            <a:gdLst/>
            <a:ahLst/>
            <a:cxnLst/>
            <a:rect l="l" t="t" r="r" b="b"/>
            <a:pathLst>
              <a:path w="5543455" h="2038255">
                <a:moveTo>
                  <a:pt x="76190" y="0"/>
                </a:moveTo>
                <a:lnTo>
                  <a:pt x="5467265" y="0"/>
                </a:lnTo>
                <a:cubicBezTo>
                  <a:pt x="5509344" y="0"/>
                  <a:pt x="5543455" y="34111"/>
                  <a:pt x="5543455" y="76190"/>
                </a:cubicBezTo>
                <a:lnTo>
                  <a:pt x="5543455" y="1962065"/>
                </a:lnTo>
                <a:cubicBezTo>
                  <a:pt x="5543455" y="2004144"/>
                  <a:pt x="5509344" y="2038255"/>
                  <a:pt x="5467265" y="2038255"/>
                </a:cubicBezTo>
                <a:lnTo>
                  <a:pt x="76190" y="2038255"/>
                </a:lnTo>
                <a:cubicBezTo>
                  <a:pt x="34111" y="2038255"/>
                  <a:pt x="0" y="2004144"/>
                  <a:pt x="0" y="1962065"/>
                </a:cubicBezTo>
                <a:lnTo>
                  <a:pt x="0" y="76190"/>
                </a:lnTo>
                <a:cubicBezTo>
                  <a:pt x="0" y="34140"/>
                  <a:pt x="34140" y="0"/>
                  <a:pt x="76190" y="0"/>
                </a:cubicBezTo>
                <a:close/>
              </a:path>
            </a:pathLst>
          </a:custGeom>
          <a:solidFill>
            <a:srgbClr val="000000">
              <a:alpha val="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8" name="AutoShape 8"/>
          <p:cNvSpPr/>
          <p:nvPr/>
        </p:nvSpPr>
        <p:spPr>
          <a:xfrm>
            <a:off x="628484" y="2726513"/>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Features</a:t>
            </a:r>
            <a:endParaRPr lang="en-US" sz="1100"/>
          </a:p>
        </p:txBody>
      </p:sp>
      <p:sp>
        <p:nvSpPr>
          <p:cNvPr id="9" name="Freeform 9"/>
          <p:cNvSpPr/>
          <p:nvPr/>
        </p:nvSpPr>
        <p:spPr>
          <a:xfrm>
            <a:off x="657059" y="3197954"/>
            <a:ext cx="228600" cy="200025"/>
          </a:xfrm>
          <a:custGeom>
            <a:avLst/>
            <a:gdLst/>
            <a:ahLst/>
            <a:cxnLst/>
            <a:rect l="l" t="t" r="r" b="b"/>
            <a:pathLst>
              <a:path w="228600" h="200025">
                <a:moveTo>
                  <a:pt x="14287" y="0"/>
                </a:moveTo>
                <a:cubicBezTo>
                  <a:pt x="6386" y="0"/>
                  <a:pt x="0" y="6384"/>
                  <a:pt x="0" y="14287"/>
                </a:cubicBezTo>
                <a:lnTo>
                  <a:pt x="0" y="178593"/>
                </a:lnTo>
                <a:cubicBezTo>
                  <a:pt x="0" y="190425"/>
                  <a:pt x="9599" y="200024"/>
                  <a:pt x="21431" y="200024"/>
                </a:cubicBezTo>
                <a:lnTo>
                  <a:pt x="207169" y="200024"/>
                </a:lnTo>
                <a:cubicBezTo>
                  <a:pt x="219001" y="200024"/>
                  <a:pt x="228600" y="190425"/>
                  <a:pt x="228600" y="178593"/>
                </a:cubicBezTo>
                <a:lnTo>
                  <a:pt x="228600" y="53667"/>
                </a:lnTo>
                <a:cubicBezTo>
                  <a:pt x="228600" y="45540"/>
                  <a:pt x="219939" y="40406"/>
                  <a:pt x="212794" y="44246"/>
                </a:cubicBezTo>
                <a:lnTo>
                  <a:pt x="142875" y="81885"/>
                </a:lnTo>
                <a:lnTo>
                  <a:pt x="142875" y="53667"/>
                </a:lnTo>
                <a:cubicBezTo>
                  <a:pt x="142875" y="45540"/>
                  <a:pt x="134214" y="40406"/>
                  <a:pt x="127069" y="44246"/>
                </a:cubicBezTo>
                <a:lnTo>
                  <a:pt x="57150" y="81885"/>
                </a:lnTo>
                <a:lnTo>
                  <a:pt x="57150" y="14287"/>
                </a:lnTo>
                <a:cubicBezTo>
                  <a:pt x="57150" y="6384"/>
                  <a:pt x="50764" y="0"/>
                  <a:pt x="42863" y="0"/>
                </a:cubicBezTo>
                <a:lnTo>
                  <a:pt x="14287" y="0"/>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1028469" y="3145603"/>
            <a:ext cx="18002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LLVM Style</a:t>
            </a:r>
            <a:endParaRPr lang="en-US" sz="1100"/>
          </a:p>
        </p:txBody>
      </p:sp>
      <p:sp>
        <p:nvSpPr>
          <p:cNvPr id="11" name="AutoShape 11"/>
          <p:cNvSpPr/>
          <p:nvPr/>
        </p:nvSpPr>
        <p:spPr>
          <a:xfrm>
            <a:off x="1028469" y="3412313"/>
            <a:ext cx="1790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Follows LLVM project code standards</a:t>
            </a:r>
            <a:endParaRPr lang="en-US" sz="1100"/>
          </a:p>
        </p:txBody>
      </p:sp>
      <p:sp>
        <p:nvSpPr>
          <p:cNvPr id="12" name="Freeform 12"/>
          <p:cNvSpPr/>
          <p:nvPr/>
        </p:nvSpPr>
        <p:spPr>
          <a:xfrm>
            <a:off x="628484" y="3817042"/>
            <a:ext cx="285750" cy="228600"/>
          </a:xfrm>
          <a:custGeom>
            <a:avLst/>
            <a:gdLst/>
            <a:ahLst/>
            <a:cxnLst/>
            <a:rect l="l" t="t" r="r" b="b"/>
            <a:pathLst>
              <a:path w="285750" h="228600">
                <a:moveTo>
                  <a:pt x="157162" y="14287"/>
                </a:moveTo>
                <a:cubicBezTo>
                  <a:pt x="157162" y="6384"/>
                  <a:pt x="150778" y="0"/>
                  <a:pt x="142875" y="0"/>
                </a:cubicBezTo>
                <a:cubicBezTo>
                  <a:pt x="134972" y="0"/>
                  <a:pt x="128588" y="6384"/>
                  <a:pt x="128588" y="14287"/>
                </a:cubicBezTo>
                <a:lnTo>
                  <a:pt x="128588" y="42862"/>
                </a:lnTo>
                <a:lnTo>
                  <a:pt x="85725" y="42862"/>
                </a:lnTo>
                <a:cubicBezTo>
                  <a:pt x="62061" y="42862"/>
                  <a:pt x="42862" y="62061"/>
                  <a:pt x="42862" y="85724"/>
                </a:cubicBezTo>
                <a:lnTo>
                  <a:pt x="42862" y="185737"/>
                </a:lnTo>
                <a:cubicBezTo>
                  <a:pt x="42862" y="209401"/>
                  <a:pt x="62061" y="228600"/>
                  <a:pt x="85725" y="228600"/>
                </a:cubicBezTo>
                <a:lnTo>
                  <a:pt x="200025" y="228600"/>
                </a:lnTo>
                <a:cubicBezTo>
                  <a:pt x="223689" y="228600"/>
                  <a:pt x="242888" y="209401"/>
                  <a:pt x="242888" y="185737"/>
                </a:cubicBezTo>
                <a:lnTo>
                  <a:pt x="242888" y="85724"/>
                </a:lnTo>
                <a:cubicBezTo>
                  <a:pt x="242888" y="62061"/>
                  <a:pt x="223689" y="42862"/>
                  <a:pt x="200025" y="42862"/>
                </a:cubicBezTo>
                <a:lnTo>
                  <a:pt x="157162" y="42862"/>
                </a:lnTo>
                <a:lnTo>
                  <a:pt x="157162" y="14287"/>
                </a:lnTo>
                <a:close/>
                <a:moveTo>
                  <a:pt x="71438" y="178593"/>
                </a:moveTo>
                <a:cubicBezTo>
                  <a:pt x="71438" y="172655"/>
                  <a:pt x="76215" y="167878"/>
                  <a:pt x="82152" y="167878"/>
                </a:cubicBezTo>
                <a:lnTo>
                  <a:pt x="96441" y="167878"/>
                </a:lnTo>
                <a:cubicBezTo>
                  <a:pt x="102379" y="167878"/>
                  <a:pt x="107156" y="172655"/>
                  <a:pt x="107156" y="178593"/>
                </a:cubicBezTo>
                <a:cubicBezTo>
                  <a:pt x="107156" y="184530"/>
                  <a:pt x="102379" y="189310"/>
                  <a:pt x="96441" y="189310"/>
                </a:cubicBezTo>
                <a:lnTo>
                  <a:pt x="82152" y="189310"/>
                </a:lnTo>
                <a:cubicBezTo>
                  <a:pt x="76215" y="189310"/>
                  <a:pt x="71438" y="184530"/>
                  <a:pt x="71438" y="178593"/>
                </a:cubicBezTo>
                <a:close/>
                <a:moveTo>
                  <a:pt x="125016" y="178593"/>
                </a:moveTo>
                <a:cubicBezTo>
                  <a:pt x="125016" y="172655"/>
                  <a:pt x="129793" y="167878"/>
                  <a:pt x="135731" y="167878"/>
                </a:cubicBezTo>
                <a:lnTo>
                  <a:pt x="150019" y="167878"/>
                </a:lnTo>
                <a:cubicBezTo>
                  <a:pt x="155957" y="167878"/>
                  <a:pt x="160734" y="172655"/>
                  <a:pt x="160734" y="178593"/>
                </a:cubicBezTo>
                <a:cubicBezTo>
                  <a:pt x="160734" y="184530"/>
                  <a:pt x="155957" y="189310"/>
                  <a:pt x="150019" y="189310"/>
                </a:cubicBezTo>
                <a:lnTo>
                  <a:pt x="135731" y="189310"/>
                </a:lnTo>
                <a:cubicBezTo>
                  <a:pt x="129793" y="189310"/>
                  <a:pt x="125016" y="184530"/>
                  <a:pt x="125016" y="178593"/>
                </a:cubicBezTo>
                <a:close/>
                <a:moveTo>
                  <a:pt x="178594" y="178593"/>
                </a:moveTo>
                <a:cubicBezTo>
                  <a:pt x="178594" y="172655"/>
                  <a:pt x="183371" y="167878"/>
                  <a:pt x="189309" y="167878"/>
                </a:cubicBezTo>
                <a:lnTo>
                  <a:pt x="203598" y="167878"/>
                </a:lnTo>
                <a:cubicBezTo>
                  <a:pt x="209535" y="167878"/>
                  <a:pt x="214312" y="172655"/>
                  <a:pt x="214312" y="178593"/>
                </a:cubicBezTo>
                <a:cubicBezTo>
                  <a:pt x="214312" y="184530"/>
                  <a:pt x="209535" y="189310"/>
                  <a:pt x="203598" y="189310"/>
                </a:cubicBezTo>
                <a:lnTo>
                  <a:pt x="189309" y="189310"/>
                </a:lnTo>
                <a:cubicBezTo>
                  <a:pt x="183371" y="189310"/>
                  <a:pt x="178594" y="184530"/>
                  <a:pt x="178594" y="178593"/>
                </a:cubicBezTo>
                <a:close/>
                <a:moveTo>
                  <a:pt x="100012" y="92868"/>
                </a:moveTo>
                <a:cubicBezTo>
                  <a:pt x="111841" y="92868"/>
                  <a:pt x="121444" y="102471"/>
                  <a:pt x="121444" y="114300"/>
                </a:cubicBezTo>
                <a:cubicBezTo>
                  <a:pt x="121444" y="126128"/>
                  <a:pt x="111841" y="135731"/>
                  <a:pt x="100012" y="135731"/>
                </a:cubicBezTo>
                <a:cubicBezTo>
                  <a:pt x="88184" y="135731"/>
                  <a:pt x="78581" y="126128"/>
                  <a:pt x="78581" y="114300"/>
                </a:cubicBezTo>
                <a:cubicBezTo>
                  <a:pt x="78581" y="102471"/>
                  <a:pt x="88184" y="92868"/>
                  <a:pt x="100012" y="92868"/>
                </a:cubicBezTo>
                <a:close/>
                <a:moveTo>
                  <a:pt x="164306" y="114300"/>
                </a:moveTo>
                <a:cubicBezTo>
                  <a:pt x="164306" y="102471"/>
                  <a:pt x="173909" y="92868"/>
                  <a:pt x="185738" y="92868"/>
                </a:cubicBezTo>
                <a:cubicBezTo>
                  <a:pt x="197566" y="92868"/>
                  <a:pt x="207169" y="102471"/>
                  <a:pt x="207169" y="114300"/>
                </a:cubicBezTo>
                <a:cubicBezTo>
                  <a:pt x="207169" y="126128"/>
                  <a:pt x="197566" y="135731"/>
                  <a:pt x="185738" y="135731"/>
                </a:cubicBezTo>
                <a:cubicBezTo>
                  <a:pt x="173909" y="135731"/>
                  <a:pt x="164306" y="126128"/>
                  <a:pt x="164306" y="114300"/>
                </a:cubicBezTo>
                <a:close/>
                <a:moveTo>
                  <a:pt x="28575" y="114300"/>
                </a:moveTo>
                <a:cubicBezTo>
                  <a:pt x="28575" y="106398"/>
                  <a:pt x="22189" y="100012"/>
                  <a:pt x="14288" y="100012"/>
                </a:cubicBezTo>
                <a:cubicBezTo>
                  <a:pt x="6386" y="100012"/>
                  <a:pt x="0" y="106398"/>
                  <a:pt x="0" y="114300"/>
                </a:cubicBezTo>
                <a:lnTo>
                  <a:pt x="0" y="157162"/>
                </a:lnTo>
                <a:cubicBezTo>
                  <a:pt x="0" y="165065"/>
                  <a:pt x="6386" y="171450"/>
                  <a:pt x="14288" y="171450"/>
                </a:cubicBezTo>
                <a:cubicBezTo>
                  <a:pt x="22189" y="171450"/>
                  <a:pt x="28575" y="165065"/>
                  <a:pt x="28575" y="157162"/>
                </a:cubicBezTo>
                <a:lnTo>
                  <a:pt x="28575" y="114300"/>
                </a:lnTo>
                <a:close/>
                <a:moveTo>
                  <a:pt x="271462" y="100012"/>
                </a:moveTo>
                <a:cubicBezTo>
                  <a:pt x="263561" y="100012"/>
                  <a:pt x="257175" y="106398"/>
                  <a:pt x="257175" y="114300"/>
                </a:cubicBezTo>
                <a:lnTo>
                  <a:pt x="257175" y="157162"/>
                </a:lnTo>
                <a:cubicBezTo>
                  <a:pt x="257175" y="165065"/>
                  <a:pt x="263561" y="171450"/>
                  <a:pt x="271462" y="171450"/>
                </a:cubicBezTo>
                <a:cubicBezTo>
                  <a:pt x="279364" y="171450"/>
                  <a:pt x="285750" y="165065"/>
                  <a:pt x="285750" y="157162"/>
                </a:cubicBezTo>
                <a:lnTo>
                  <a:pt x="285750" y="114300"/>
                </a:lnTo>
                <a:cubicBezTo>
                  <a:pt x="285750" y="106398"/>
                  <a:pt x="279364" y="100012"/>
                  <a:pt x="271462" y="100012"/>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1028469" y="3793266"/>
            <a:ext cx="17240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Auto-format</a:t>
            </a:r>
            <a:endParaRPr lang="en-US" sz="1100"/>
          </a:p>
        </p:txBody>
      </p:sp>
      <p:sp>
        <p:nvSpPr>
          <p:cNvPr id="14" name="AutoShape 14"/>
          <p:cNvSpPr/>
          <p:nvPr/>
        </p:nvSpPr>
        <p:spPr>
          <a:xfrm>
            <a:off x="1028469" y="4059975"/>
            <a:ext cx="17145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Automatically formats C++ code</a:t>
            </a:r>
            <a:endParaRPr lang="en-US" sz="1100"/>
          </a:p>
        </p:txBody>
      </p:sp>
      <p:sp>
        <p:nvSpPr>
          <p:cNvPr id="15" name="Freeform 15"/>
          <p:cNvSpPr/>
          <p:nvPr/>
        </p:nvSpPr>
        <p:spPr>
          <a:xfrm>
            <a:off x="6257815" y="2488461"/>
            <a:ext cx="5543455" cy="2038255"/>
          </a:xfrm>
          <a:custGeom>
            <a:avLst/>
            <a:gdLst/>
            <a:ahLst/>
            <a:cxnLst/>
            <a:rect l="l" t="t" r="r" b="b"/>
            <a:pathLst>
              <a:path w="5543455" h="2038255">
                <a:moveTo>
                  <a:pt x="76190" y="0"/>
                </a:moveTo>
                <a:lnTo>
                  <a:pt x="5467265" y="0"/>
                </a:lnTo>
                <a:cubicBezTo>
                  <a:pt x="5509344" y="0"/>
                  <a:pt x="5543455" y="34111"/>
                  <a:pt x="5543455" y="76190"/>
                </a:cubicBezTo>
                <a:lnTo>
                  <a:pt x="5543455" y="1962065"/>
                </a:lnTo>
                <a:cubicBezTo>
                  <a:pt x="5543455" y="2004144"/>
                  <a:pt x="5509344" y="2038255"/>
                  <a:pt x="5467265" y="2038255"/>
                </a:cubicBezTo>
                <a:lnTo>
                  <a:pt x="76190" y="2038255"/>
                </a:lnTo>
                <a:cubicBezTo>
                  <a:pt x="34111" y="2038255"/>
                  <a:pt x="0" y="2004144"/>
                  <a:pt x="0" y="1962065"/>
                </a:cubicBezTo>
                <a:lnTo>
                  <a:pt x="0" y="76190"/>
                </a:lnTo>
                <a:cubicBezTo>
                  <a:pt x="0" y="34140"/>
                  <a:pt x="34140" y="0"/>
                  <a:pt x="76190" y="0"/>
                </a:cubicBezTo>
                <a:close/>
              </a:path>
            </a:pathLst>
          </a:custGeom>
          <a:solidFill>
            <a:srgbClr val="000000">
              <a:alpha val="0"/>
            </a:srgbClr>
          </a:solidFill>
          <a:ln w="12700">
            <a:solidFill>
              <a:srgbClr val="333333">
                <a:alpha val="100000"/>
              </a:srgbClr>
            </a:solidFill>
            <a:prstDash val="solid"/>
          </a:ln>
        </p:spPr>
        <p:txBody>
          <a:bodyPr wrap="square" lIns="91440" tIns="45720" rIns="91440" bIns="45720" rtlCol="0" anchor="t">
            <a:noAutofit/>
          </a:bodyPr>
          <a:lstStyle/>
          <a:p>
            <a:pPr algn="ctr">
              <a:defRPr/>
            </a:pPr>
          </a:p>
        </p:txBody>
      </p:sp>
      <p:sp>
        <p:nvSpPr>
          <p:cNvPr id="16" name="AutoShape 16"/>
          <p:cNvSpPr/>
          <p:nvPr/>
        </p:nvSpPr>
        <p:spPr>
          <a:xfrm>
            <a:off x="6495866" y="2726513"/>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Advantages</a:t>
            </a:r>
            <a:endParaRPr lang="en-US" sz="1100"/>
          </a:p>
        </p:txBody>
      </p:sp>
      <p:sp>
        <p:nvSpPr>
          <p:cNvPr id="17" name="Freeform 17"/>
          <p:cNvSpPr/>
          <p:nvPr/>
        </p:nvSpPr>
        <p:spPr>
          <a:xfrm>
            <a:off x="6509751" y="3197954"/>
            <a:ext cx="257980" cy="200025"/>
          </a:xfrm>
          <a:custGeom>
            <a:avLst/>
            <a:gdLst/>
            <a:ahLst/>
            <a:cxnLst/>
            <a:rect l="l" t="t" r="r" b="b"/>
            <a:pathLst>
              <a:path w="257980" h="200025">
                <a:moveTo>
                  <a:pt x="128990" y="0"/>
                </a:moveTo>
                <a:cubicBezTo>
                  <a:pt x="92915" y="0"/>
                  <a:pt x="64027" y="16429"/>
                  <a:pt x="42998" y="35986"/>
                </a:cubicBezTo>
                <a:cubicBezTo>
                  <a:pt x="22102" y="55408"/>
                  <a:pt x="8127" y="78581"/>
                  <a:pt x="1475" y="94521"/>
                </a:cubicBezTo>
                <a:cubicBezTo>
                  <a:pt x="0" y="98047"/>
                  <a:pt x="0" y="101977"/>
                  <a:pt x="1475" y="105503"/>
                </a:cubicBezTo>
                <a:cubicBezTo>
                  <a:pt x="8127" y="121443"/>
                  <a:pt x="22102" y="144660"/>
                  <a:pt x="42998" y="164038"/>
                </a:cubicBezTo>
                <a:cubicBezTo>
                  <a:pt x="64027" y="183549"/>
                  <a:pt x="92915" y="200024"/>
                  <a:pt x="128990" y="200024"/>
                </a:cubicBezTo>
                <a:cubicBezTo>
                  <a:pt x="165066" y="200024"/>
                  <a:pt x="193954" y="183595"/>
                  <a:pt x="214983" y="164038"/>
                </a:cubicBezTo>
                <a:cubicBezTo>
                  <a:pt x="235879" y="144616"/>
                  <a:pt x="249854" y="121443"/>
                  <a:pt x="256506" y="105503"/>
                </a:cubicBezTo>
                <a:cubicBezTo>
                  <a:pt x="257981" y="101977"/>
                  <a:pt x="257981" y="98047"/>
                  <a:pt x="256506" y="94521"/>
                </a:cubicBezTo>
                <a:cubicBezTo>
                  <a:pt x="249854" y="78581"/>
                  <a:pt x="235879" y="55364"/>
                  <a:pt x="214983" y="35986"/>
                </a:cubicBezTo>
                <a:cubicBezTo>
                  <a:pt x="193954" y="16475"/>
                  <a:pt x="165066" y="0"/>
                  <a:pt x="128990" y="0"/>
                </a:cubicBezTo>
                <a:close/>
                <a:moveTo>
                  <a:pt x="64697" y="100012"/>
                </a:moveTo>
                <a:cubicBezTo>
                  <a:pt x="64697" y="64527"/>
                  <a:pt x="93505" y="35718"/>
                  <a:pt x="128990" y="35718"/>
                </a:cubicBezTo>
                <a:cubicBezTo>
                  <a:pt x="164476" y="35718"/>
                  <a:pt x="193284" y="64527"/>
                  <a:pt x="193284" y="100012"/>
                </a:cubicBezTo>
                <a:cubicBezTo>
                  <a:pt x="193284" y="135497"/>
                  <a:pt x="164476" y="164306"/>
                  <a:pt x="128990" y="164306"/>
                </a:cubicBezTo>
                <a:cubicBezTo>
                  <a:pt x="93505" y="164306"/>
                  <a:pt x="64697" y="135497"/>
                  <a:pt x="64697" y="100012"/>
                </a:cubicBezTo>
                <a:close/>
                <a:moveTo>
                  <a:pt x="128990" y="71437"/>
                </a:moveTo>
                <a:cubicBezTo>
                  <a:pt x="128990" y="87198"/>
                  <a:pt x="116176" y="100012"/>
                  <a:pt x="100415" y="100012"/>
                </a:cubicBezTo>
                <a:cubicBezTo>
                  <a:pt x="95281" y="100012"/>
                  <a:pt x="90459" y="98673"/>
                  <a:pt x="86263" y="96262"/>
                </a:cubicBezTo>
                <a:cubicBezTo>
                  <a:pt x="85816" y="101128"/>
                  <a:pt x="86217" y="106130"/>
                  <a:pt x="87557" y="111085"/>
                </a:cubicBezTo>
                <a:cubicBezTo>
                  <a:pt x="93674" y="133945"/>
                  <a:pt x="117204" y="147518"/>
                  <a:pt x="140064" y="141401"/>
                </a:cubicBezTo>
                <a:cubicBezTo>
                  <a:pt x="162924" y="135284"/>
                  <a:pt x="176496" y="111754"/>
                  <a:pt x="170380" y="88894"/>
                </a:cubicBezTo>
                <a:cubicBezTo>
                  <a:pt x="164931" y="68491"/>
                  <a:pt x="145600" y="55499"/>
                  <a:pt x="125240" y="57283"/>
                </a:cubicBezTo>
                <a:cubicBezTo>
                  <a:pt x="127606" y="61436"/>
                  <a:pt x="128990" y="66258"/>
                  <a:pt x="128990" y="71437"/>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6895851" y="3145603"/>
            <a:ext cx="2475030" cy="26666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Improve Code Readability</a:t>
            </a:r>
            <a:endParaRPr lang="en-US" sz="1100"/>
          </a:p>
        </p:txBody>
      </p:sp>
      <p:sp>
        <p:nvSpPr>
          <p:cNvPr id="19" name="AutoShape 19"/>
          <p:cNvSpPr/>
          <p:nvPr/>
        </p:nvSpPr>
        <p:spPr>
          <a:xfrm>
            <a:off x="6895850" y="3412313"/>
            <a:ext cx="3554435" cy="19036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Unified format makes code easier to read</a:t>
            </a:r>
            <a:endParaRPr lang="en-US" sz="1100"/>
          </a:p>
        </p:txBody>
      </p:sp>
      <p:sp>
        <p:nvSpPr>
          <p:cNvPr id="20" name="Freeform 20"/>
          <p:cNvSpPr/>
          <p:nvPr/>
        </p:nvSpPr>
        <p:spPr>
          <a:xfrm>
            <a:off x="6509172" y="3817042"/>
            <a:ext cx="259095" cy="258158"/>
          </a:xfrm>
          <a:custGeom>
            <a:avLst/>
            <a:gdLst/>
            <a:ahLst/>
            <a:cxnLst/>
            <a:rect l="l" t="t" r="r" b="b"/>
            <a:pathLst>
              <a:path w="259095" h="258158">
                <a:moveTo>
                  <a:pt x="172432" y="78581"/>
                </a:moveTo>
                <a:cubicBezTo>
                  <a:pt x="172432" y="121979"/>
                  <a:pt x="134034" y="157162"/>
                  <a:pt x="86707" y="157162"/>
                </a:cubicBezTo>
                <a:cubicBezTo>
                  <a:pt x="74786" y="157162"/>
                  <a:pt x="63444" y="154931"/>
                  <a:pt x="53131" y="150911"/>
                </a:cubicBezTo>
                <a:lnTo>
                  <a:pt x="16698" y="170199"/>
                </a:lnTo>
                <a:cubicBezTo>
                  <a:pt x="12547" y="172387"/>
                  <a:pt x="7456" y="171629"/>
                  <a:pt x="4107" y="168324"/>
                </a:cubicBezTo>
                <a:cubicBezTo>
                  <a:pt x="758" y="165019"/>
                  <a:pt x="0" y="159886"/>
                  <a:pt x="2232" y="155733"/>
                </a:cubicBezTo>
                <a:lnTo>
                  <a:pt x="18127" y="125729"/>
                </a:lnTo>
                <a:cubicBezTo>
                  <a:pt x="7368" y="112603"/>
                  <a:pt x="982" y="96262"/>
                  <a:pt x="982" y="78581"/>
                </a:cubicBezTo>
                <a:cubicBezTo>
                  <a:pt x="982" y="35182"/>
                  <a:pt x="39380" y="0"/>
                  <a:pt x="86707" y="0"/>
                </a:cubicBezTo>
                <a:cubicBezTo>
                  <a:pt x="134034" y="0"/>
                  <a:pt x="172432" y="35182"/>
                  <a:pt x="172432" y="78581"/>
                </a:cubicBezTo>
                <a:close/>
                <a:moveTo>
                  <a:pt x="172432" y="242887"/>
                </a:moveTo>
                <a:cubicBezTo>
                  <a:pt x="130418" y="242887"/>
                  <a:pt x="95459" y="215160"/>
                  <a:pt x="88136" y="178593"/>
                </a:cubicBezTo>
                <a:cubicBezTo>
                  <a:pt x="141715" y="177924"/>
                  <a:pt x="188282" y="139793"/>
                  <a:pt x="193417" y="88091"/>
                </a:cubicBezTo>
                <a:cubicBezTo>
                  <a:pt x="230609" y="96663"/>
                  <a:pt x="258157" y="127515"/>
                  <a:pt x="258157" y="164306"/>
                </a:cubicBezTo>
                <a:cubicBezTo>
                  <a:pt x="258157" y="181987"/>
                  <a:pt x="251771" y="198328"/>
                  <a:pt x="241012" y="211454"/>
                </a:cubicBezTo>
                <a:lnTo>
                  <a:pt x="256907" y="241458"/>
                </a:lnTo>
                <a:cubicBezTo>
                  <a:pt x="259096" y="245611"/>
                  <a:pt x="258336" y="250700"/>
                  <a:pt x="255032" y="254049"/>
                </a:cubicBezTo>
                <a:cubicBezTo>
                  <a:pt x="251728" y="257398"/>
                  <a:pt x="246592" y="258157"/>
                  <a:pt x="242441" y="255924"/>
                </a:cubicBezTo>
                <a:lnTo>
                  <a:pt x="206008" y="236636"/>
                </a:lnTo>
                <a:cubicBezTo>
                  <a:pt x="195695" y="240656"/>
                  <a:pt x="184353" y="242887"/>
                  <a:pt x="172432" y="242887"/>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895851" y="3793266"/>
            <a:ext cx="2117520" cy="19036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Reduce style disputes</a:t>
            </a:r>
            <a:endParaRPr lang="en-US" sz="1100"/>
          </a:p>
        </p:txBody>
      </p:sp>
      <p:sp>
        <p:nvSpPr>
          <p:cNvPr id="22" name="AutoShape 22"/>
          <p:cNvSpPr/>
          <p:nvPr/>
        </p:nvSpPr>
        <p:spPr>
          <a:xfrm>
            <a:off x="6895851" y="4059975"/>
            <a:ext cx="479122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Automation eliminates manual style debates</a:t>
            </a:r>
            <a:endParaRPr lang="en-US" sz="1100"/>
          </a:p>
        </p:txBody>
      </p:sp>
      <p:sp>
        <p:nvSpPr>
          <p:cNvPr id="23" name="Freeform 23"/>
          <p:cNvSpPr/>
          <p:nvPr/>
        </p:nvSpPr>
        <p:spPr>
          <a:xfrm>
            <a:off x="380956" y="4764649"/>
            <a:ext cx="11430000" cy="1257300"/>
          </a:xfrm>
          <a:custGeom>
            <a:avLst/>
            <a:gdLst/>
            <a:ahLst/>
            <a:cxnLst/>
            <a:rect l="l" t="t" r="r" b="b"/>
            <a:pathLst>
              <a:path w="11430000" h="1257300">
                <a:moveTo>
                  <a:pt x="76205" y="0"/>
                </a:moveTo>
                <a:lnTo>
                  <a:pt x="11353795" y="0"/>
                </a:lnTo>
                <a:cubicBezTo>
                  <a:pt x="11395881" y="0"/>
                  <a:pt x="11430000" y="34119"/>
                  <a:pt x="11430000" y="76205"/>
                </a:cubicBezTo>
                <a:lnTo>
                  <a:pt x="11430000" y="1181095"/>
                </a:lnTo>
                <a:cubicBezTo>
                  <a:pt x="11430000" y="1223181"/>
                  <a:pt x="11395881" y="1257300"/>
                  <a:pt x="11353795" y="1257300"/>
                </a:cubicBezTo>
                <a:lnTo>
                  <a:pt x="76205" y="1257300"/>
                </a:lnTo>
                <a:cubicBezTo>
                  <a:pt x="34119" y="1257300"/>
                  <a:pt x="0" y="1223181"/>
                  <a:pt x="0" y="1181095"/>
                </a:cubicBezTo>
                <a:lnTo>
                  <a:pt x="0" y="76205"/>
                </a:lnTo>
                <a:cubicBezTo>
                  <a:pt x="0" y="34146"/>
                  <a:pt x="34146" y="0"/>
                  <a:pt x="76205" y="0"/>
                </a:cubicBezTo>
                <a:close/>
              </a:path>
            </a:pathLst>
          </a:custGeom>
          <a:solidFill>
            <a:srgbClr val="101828">
              <a:alpha val="100000"/>
            </a:srgbClr>
          </a:solidFill>
          <a:ln w="12700">
            <a:noFill/>
            <a:prstDash val="solid"/>
          </a:ln>
        </p:spPr>
        <p:txBody>
          <a:bodyPr wrap="square" lIns="91440" tIns="45720" rIns="91440" bIns="45720" rtlCol="0" anchor="t">
            <a:noAutofit/>
          </a:bodyPr>
          <a:lstStyle/>
          <a:p>
            <a:pPr algn="ctr">
              <a:defRPr/>
            </a:pPr>
          </a:p>
        </p:txBody>
      </p:sp>
      <p:sp>
        <p:nvSpPr>
          <p:cNvPr id="24" name="AutoShape 24"/>
          <p:cNvSpPr/>
          <p:nvPr/>
        </p:nvSpPr>
        <p:spPr>
          <a:xfrm>
            <a:off x="571396" y="4955084"/>
            <a:ext cx="111252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Common clang-format commands</a:t>
            </a:r>
            <a:endParaRPr lang="en-US" sz="1100"/>
          </a:p>
        </p:txBody>
      </p:sp>
      <p:sp>
        <p:nvSpPr>
          <p:cNvPr id="25" name="AutoShape 25"/>
          <p:cNvSpPr/>
          <p:nvPr/>
        </p:nvSpPr>
        <p:spPr>
          <a:xfrm>
            <a:off x="571396" y="5259856"/>
            <a:ext cx="11115675" cy="5715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clang-format -i file.cpp # Format a single file</a:t>
            </a:r>
            <a:endParaRPr lang="en-US" sz="1100"/>
          </a:p>
          <a:p>
            <a:pPr indent="0" algn="l">
              <a:lnSpc>
                <a:spcPct val="117000"/>
              </a:lnSpc>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clang-format -i *.cpp *.h # Format multiple files</a:t>
            </a:r>
            <a:endPar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17000"/>
              </a:lnSpc>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clang-format --style=LLVM -i file.cpp # Specify style</a:t>
            </a:r>
            <a:endPar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9928" y="611525"/>
            <a:ext cx="3831902" cy="3810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CI/CD Fundamentals</a:t>
            </a:r>
            <a:endParaRPr lang="en-US" sz="1100"/>
          </a:p>
        </p:txBody>
      </p:sp>
      <p:sp>
        <p:nvSpPr>
          <p:cNvPr id="3" name="AutoShape 3"/>
          <p:cNvSpPr/>
          <p:nvPr/>
        </p:nvSpPr>
        <p:spPr>
          <a:xfrm>
            <a:off x="295231" y="1640886"/>
            <a:ext cx="11601450" cy="381000"/>
          </a:xfrm>
          <a:prstGeom prst="rect">
            <a:avLst/>
          </a:prstGeom>
          <a:noFill/>
          <a:ln w="12700">
            <a:noFill/>
            <a:prstDash val="solid"/>
          </a:ln>
        </p:spPr>
        <p:txBody>
          <a:bodyPr wrap="square" lIns="0" tIns="0" rIns="0" bIns="0" rtlCol="0" anchor="ctr">
            <a:noAutofit/>
          </a:bodyPr>
          <a:lstStyle/>
          <a:p>
            <a:pPr indent="0" algn="ctr">
              <a:lnSpc>
                <a:spcPct val="92000"/>
              </a:lnSpc>
              <a:defRPr/>
            </a:pPr>
            <a:r>
              <a:rPr lang="en-US" sz="27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CI/CD</a:t>
            </a:r>
            <a:endParaRPr lang="en-US" sz="1100"/>
          </a:p>
        </p:txBody>
      </p:sp>
      <p:sp>
        <p:nvSpPr>
          <p:cNvPr id="4" name="AutoShape 4"/>
          <p:cNvSpPr/>
          <p:nvPr/>
        </p:nvSpPr>
        <p:spPr>
          <a:xfrm>
            <a:off x="333331" y="2098030"/>
            <a:ext cx="11525250" cy="2667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500" b="0" i="0" u="none" strike="noStrike">
                <a:solidFill>
                  <a:srgbClr val="4A5565"/>
                </a:solidFill>
                <a:latin typeface="Noto Sans SC" panose="020B0200000000000000" charset="-122"/>
                <a:ea typeface="Noto Sans SC" panose="020B0200000000000000" charset="-122"/>
                <a:cs typeface="Noto Sans SC" panose="020B0200000000000000" charset="-122"/>
                <a:sym typeface="Noto Sans SC" panose="020B0200000000000000" charset="-122"/>
              </a:rPr>
              <a:t>Continuous Integration / Continuous Deployment</a:t>
            </a:r>
            <a:endParaRPr lang="en-US" sz="1100"/>
          </a:p>
        </p:txBody>
      </p:sp>
      <p:sp>
        <p:nvSpPr>
          <p:cNvPr id="5" name="AutoShape 5"/>
          <p:cNvSpPr/>
          <p:nvPr/>
        </p:nvSpPr>
        <p:spPr>
          <a:xfrm>
            <a:off x="338093" y="2364739"/>
            <a:ext cx="115157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0" i="0" u="none" strike="noStrike">
                <a:solidFill>
                  <a:srgbClr val="6A7282"/>
                </a:solidFill>
                <a:latin typeface="MiSans" panose="00000500000000000000" charset="-122"/>
                <a:ea typeface="MiSans" panose="00000500000000000000" charset="-122"/>
                <a:cs typeface="MiSans" panose="00000500000000000000" charset="-122"/>
                <a:sym typeface="MiSans" panose="00000500000000000000" charset="-122"/>
              </a:rPr>
              <a:t>Continuous Integration / Continuous Deployment</a:t>
            </a:r>
            <a:endParaRPr lang="en-US" sz="1100"/>
          </a:p>
        </p:txBody>
      </p:sp>
      <p:sp>
        <p:nvSpPr>
          <p:cNvPr id="6" name="Freeform 6"/>
          <p:cNvSpPr/>
          <p:nvPr/>
        </p:nvSpPr>
        <p:spPr>
          <a:xfrm>
            <a:off x="380956" y="2860011"/>
            <a:ext cx="5562600" cy="1943100"/>
          </a:xfrm>
          <a:custGeom>
            <a:avLst/>
            <a:gdLst/>
            <a:ahLst/>
            <a:cxnLst/>
            <a:rect l="l" t="t" r="r" b="b"/>
            <a:pathLst>
              <a:path w="5562600" h="1943100">
                <a:moveTo>
                  <a:pt x="76208" y="0"/>
                </a:moveTo>
                <a:lnTo>
                  <a:pt x="5486392" y="0"/>
                </a:lnTo>
                <a:cubicBezTo>
                  <a:pt x="5528480" y="0"/>
                  <a:pt x="5562600" y="34120"/>
                  <a:pt x="5562600" y="76208"/>
                </a:cubicBezTo>
                <a:lnTo>
                  <a:pt x="5562600" y="1866892"/>
                </a:lnTo>
                <a:cubicBezTo>
                  <a:pt x="5562600" y="1908980"/>
                  <a:pt x="5528480" y="1943100"/>
                  <a:pt x="5486392" y="1943100"/>
                </a:cubicBezTo>
                <a:lnTo>
                  <a:pt x="76208" y="1943100"/>
                </a:lnTo>
                <a:cubicBezTo>
                  <a:pt x="34120" y="1943100"/>
                  <a:pt x="0" y="1908980"/>
                  <a:pt x="0" y="1866892"/>
                </a:cubicBezTo>
                <a:lnTo>
                  <a:pt x="0" y="76208"/>
                </a:lnTo>
                <a:cubicBezTo>
                  <a:pt x="0" y="34148"/>
                  <a:pt x="34148" y="0"/>
                  <a:pt x="76208" y="0"/>
                </a:cubicBezTo>
                <a:close/>
              </a:path>
            </a:pathLst>
          </a:custGeom>
          <a:gradFill rotWithShape="1">
            <a:gsLst>
              <a:gs pos="0">
                <a:srgbClr val="8B0000">
                  <a:alpha val="100000"/>
                </a:srgbClr>
              </a:gs>
              <a:gs pos="100000">
                <a:srgbClr val="B22222">
                  <a:alpha val="100000"/>
                </a:srgbClr>
              </a:gs>
            </a:gsLst>
            <a:lin ang="2700000"/>
          </a:gra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7" name="Freeform 7"/>
          <p:cNvSpPr/>
          <p:nvPr/>
        </p:nvSpPr>
        <p:spPr>
          <a:xfrm>
            <a:off x="647629" y="3097011"/>
            <a:ext cx="285750" cy="287871"/>
          </a:xfrm>
          <a:custGeom>
            <a:avLst/>
            <a:gdLst/>
            <a:ahLst/>
            <a:cxnLst/>
            <a:rect l="l" t="t" r="r" b="b"/>
            <a:pathLst>
              <a:path w="285750" h="287871">
                <a:moveTo>
                  <a:pt x="267946" y="108216"/>
                </a:moveTo>
                <a:lnTo>
                  <a:pt x="272355" y="108216"/>
                </a:lnTo>
                <a:cubicBezTo>
                  <a:pt x="279778" y="108216"/>
                  <a:pt x="285750" y="102245"/>
                  <a:pt x="285750" y="94822"/>
                </a:cubicBezTo>
                <a:lnTo>
                  <a:pt x="285750" y="14455"/>
                </a:lnTo>
                <a:cubicBezTo>
                  <a:pt x="285750" y="9041"/>
                  <a:pt x="282513" y="4130"/>
                  <a:pt x="277490" y="2065"/>
                </a:cubicBezTo>
                <a:cubicBezTo>
                  <a:pt x="272467" y="0"/>
                  <a:pt x="266719" y="1172"/>
                  <a:pt x="262868" y="4967"/>
                </a:cubicBezTo>
                <a:lnTo>
                  <a:pt x="234014" y="33877"/>
                </a:lnTo>
                <a:cubicBezTo>
                  <a:pt x="209290" y="13394"/>
                  <a:pt x="177477" y="1060"/>
                  <a:pt x="142875" y="1060"/>
                </a:cubicBezTo>
                <a:cubicBezTo>
                  <a:pt x="70879" y="1060"/>
                  <a:pt x="11330" y="54303"/>
                  <a:pt x="1452" y="123564"/>
                </a:cubicBezTo>
                <a:cubicBezTo>
                  <a:pt x="56" y="133331"/>
                  <a:pt x="6808" y="142372"/>
                  <a:pt x="16576" y="143769"/>
                </a:cubicBezTo>
                <a:cubicBezTo>
                  <a:pt x="26344" y="145163"/>
                  <a:pt x="35383" y="138355"/>
                  <a:pt x="36779" y="128643"/>
                </a:cubicBezTo>
                <a:cubicBezTo>
                  <a:pt x="44202" y="76683"/>
                  <a:pt x="88906" y="36779"/>
                  <a:pt x="142875" y="36779"/>
                </a:cubicBezTo>
                <a:cubicBezTo>
                  <a:pt x="167655" y="36779"/>
                  <a:pt x="190426" y="45151"/>
                  <a:pt x="208564" y="59270"/>
                </a:cubicBezTo>
                <a:lnTo>
                  <a:pt x="182500" y="85333"/>
                </a:lnTo>
                <a:cubicBezTo>
                  <a:pt x="178650" y="89185"/>
                  <a:pt x="177533" y="94933"/>
                  <a:pt x="179598" y="99956"/>
                </a:cubicBezTo>
                <a:cubicBezTo>
                  <a:pt x="181663" y="104979"/>
                  <a:pt x="186574" y="108216"/>
                  <a:pt x="191988" y="108216"/>
                </a:cubicBezTo>
                <a:lnTo>
                  <a:pt x="267946" y="108216"/>
                </a:lnTo>
                <a:close/>
                <a:moveTo>
                  <a:pt x="284356" y="164306"/>
                </a:moveTo>
                <a:cubicBezTo>
                  <a:pt x="285750" y="154539"/>
                  <a:pt x="278942" y="145498"/>
                  <a:pt x="269230" y="144101"/>
                </a:cubicBezTo>
                <a:cubicBezTo>
                  <a:pt x="259519" y="142707"/>
                  <a:pt x="250422" y="149515"/>
                  <a:pt x="249027" y="159227"/>
                </a:cubicBezTo>
                <a:cubicBezTo>
                  <a:pt x="241604" y="211131"/>
                  <a:pt x="196900" y="251035"/>
                  <a:pt x="142931" y="251035"/>
                </a:cubicBezTo>
                <a:cubicBezTo>
                  <a:pt x="118151" y="251035"/>
                  <a:pt x="95380" y="242664"/>
                  <a:pt x="77241" y="228544"/>
                </a:cubicBezTo>
                <a:lnTo>
                  <a:pt x="103250" y="202537"/>
                </a:lnTo>
                <a:cubicBezTo>
                  <a:pt x="107100" y="198685"/>
                  <a:pt x="108217" y="192937"/>
                  <a:pt x="106152" y="187914"/>
                </a:cubicBezTo>
                <a:cubicBezTo>
                  <a:pt x="104087" y="182891"/>
                  <a:pt x="99176" y="179654"/>
                  <a:pt x="93762" y="179654"/>
                </a:cubicBezTo>
                <a:lnTo>
                  <a:pt x="13395" y="179654"/>
                </a:lnTo>
                <a:cubicBezTo>
                  <a:pt x="5972" y="179654"/>
                  <a:pt x="0" y="185625"/>
                  <a:pt x="0" y="193048"/>
                </a:cubicBezTo>
                <a:lnTo>
                  <a:pt x="0" y="273415"/>
                </a:lnTo>
                <a:cubicBezTo>
                  <a:pt x="0" y="278829"/>
                  <a:pt x="3237" y="283740"/>
                  <a:pt x="8260" y="285805"/>
                </a:cubicBezTo>
                <a:cubicBezTo>
                  <a:pt x="13283" y="287870"/>
                  <a:pt x="19031" y="286698"/>
                  <a:pt x="22882" y="282903"/>
                </a:cubicBezTo>
                <a:lnTo>
                  <a:pt x="51792" y="253993"/>
                </a:lnTo>
                <a:cubicBezTo>
                  <a:pt x="76460" y="274476"/>
                  <a:pt x="108273" y="286810"/>
                  <a:pt x="142875" y="286810"/>
                </a:cubicBezTo>
                <a:cubicBezTo>
                  <a:pt x="214871" y="286810"/>
                  <a:pt x="274420" y="233567"/>
                  <a:pt x="284298" y="164306"/>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1080966" y="3088593"/>
            <a:ext cx="1300163"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Role of CI</a:t>
            </a:r>
            <a:endParaRPr lang="en-US" sz="1100"/>
          </a:p>
        </p:txBody>
      </p:sp>
      <p:sp>
        <p:nvSpPr>
          <p:cNvPr id="9" name="Freeform 9"/>
          <p:cNvSpPr/>
          <p:nvPr/>
        </p:nvSpPr>
        <p:spPr>
          <a:xfrm>
            <a:off x="619091" y="3577764"/>
            <a:ext cx="221122" cy="198760"/>
          </a:xfrm>
          <a:custGeom>
            <a:avLst/>
            <a:gdLst/>
            <a:ahLst/>
            <a:cxnLst/>
            <a:rect l="l" t="t" r="r" b="b"/>
            <a:pathLst>
              <a:path w="221122" h="198760">
                <a:moveTo>
                  <a:pt x="82302" y="12760"/>
                </a:moveTo>
                <a:lnTo>
                  <a:pt x="91268" y="7366"/>
                </a:lnTo>
                <a:cubicBezTo>
                  <a:pt x="99306" y="2529"/>
                  <a:pt x="108496" y="0"/>
                  <a:pt x="117872" y="0"/>
                </a:cubicBezTo>
                <a:cubicBezTo>
                  <a:pt x="131564" y="0"/>
                  <a:pt x="144735" y="5431"/>
                  <a:pt x="154409" y="15142"/>
                </a:cubicBezTo>
                <a:lnTo>
                  <a:pt x="178185" y="38917"/>
                </a:lnTo>
                <a:cubicBezTo>
                  <a:pt x="183766" y="44498"/>
                  <a:pt x="186890" y="52089"/>
                  <a:pt x="186890" y="59977"/>
                </a:cubicBezTo>
                <a:lnTo>
                  <a:pt x="186890" y="71474"/>
                </a:lnTo>
                <a:lnTo>
                  <a:pt x="194221" y="78803"/>
                </a:lnTo>
                <a:lnTo>
                  <a:pt x="194221" y="78803"/>
                </a:lnTo>
                <a:cubicBezTo>
                  <a:pt x="200025" y="72999"/>
                  <a:pt x="209439" y="72999"/>
                  <a:pt x="215280" y="78803"/>
                </a:cubicBezTo>
                <a:cubicBezTo>
                  <a:pt x="221122" y="84608"/>
                  <a:pt x="221084" y="94021"/>
                  <a:pt x="215280" y="99863"/>
                </a:cubicBezTo>
                <a:lnTo>
                  <a:pt x="191468" y="123675"/>
                </a:lnTo>
                <a:cubicBezTo>
                  <a:pt x="185662" y="129479"/>
                  <a:pt x="176250" y="129479"/>
                  <a:pt x="170408" y="123675"/>
                </a:cubicBezTo>
                <a:cubicBezTo>
                  <a:pt x="164566" y="117871"/>
                  <a:pt x="164605" y="108458"/>
                  <a:pt x="170408" y="102616"/>
                </a:cubicBezTo>
                <a:lnTo>
                  <a:pt x="163079" y="95250"/>
                </a:lnTo>
                <a:lnTo>
                  <a:pt x="151582" y="95250"/>
                </a:lnTo>
                <a:cubicBezTo>
                  <a:pt x="143694" y="95250"/>
                  <a:pt x="136104" y="92123"/>
                  <a:pt x="130522" y="86542"/>
                </a:cubicBezTo>
                <a:lnTo>
                  <a:pt x="112254" y="68273"/>
                </a:lnTo>
                <a:cubicBezTo>
                  <a:pt x="106673" y="62693"/>
                  <a:pt x="103547" y="55102"/>
                  <a:pt x="103547" y="47216"/>
                </a:cubicBezTo>
                <a:lnTo>
                  <a:pt x="103547" y="42489"/>
                </a:lnTo>
                <a:cubicBezTo>
                  <a:pt x="103547" y="38322"/>
                  <a:pt x="101352" y="34415"/>
                  <a:pt x="97780" y="32296"/>
                </a:cubicBezTo>
                <a:lnTo>
                  <a:pt x="82302" y="22993"/>
                </a:lnTo>
                <a:cubicBezTo>
                  <a:pt x="78432" y="20687"/>
                  <a:pt x="78432" y="15105"/>
                  <a:pt x="82302" y="12799"/>
                </a:cubicBezTo>
                <a:close/>
                <a:moveTo>
                  <a:pt x="9303" y="155785"/>
                </a:moveTo>
                <a:lnTo>
                  <a:pt x="91939" y="73148"/>
                </a:lnTo>
                <a:lnTo>
                  <a:pt x="125610" y="106820"/>
                </a:lnTo>
                <a:lnTo>
                  <a:pt x="42974" y="189457"/>
                </a:lnTo>
                <a:cubicBezTo>
                  <a:pt x="33673" y="198760"/>
                  <a:pt x="18604" y="198760"/>
                  <a:pt x="9303" y="189457"/>
                </a:cubicBezTo>
                <a:cubicBezTo>
                  <a:pt x="0" y="180155"/>
                  <a:pt x="0" y="165086"/>
                  <a:pt x="9303" y="15578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961904" y="3545663"/>
            <a:ext cx="2212135" cy="22855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Automated code build</a:t>
            </a:r>
            <a:endParaRPr lang="en-US" sz="1100"/>
          </a:p>
        </p:txBody>
      </p:sp>
      <p:sp>
        <p:nvSpPr>
          <p:cNvPr id="11" name="AutoShape 11"/>
          <p:cNvSpPr/>
          <p:nvPr/>
        </p:nvSpPr>
        <p:spPr>
          <a:xfrm>
            <a:off x="961904" y="3812372"/>
            <a:ext cx="4221988" cy="228544"/>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Automatically compiles the project on each commit</a:t>
            </a:r>
            <a:endParaRPr lang="en-US" sz="1100"/>
          </a:p>
        </p:txBody>
      </p:sp>
      <p:sp>
        <p:nvSpPr>
          <p:cNvPr id="12" name="Freeform 12"/>
          <p:cNvSpPr/>
          <p:nvPr/>
        </p:nvSpPr>
        <p:spPr>
          <a:xfrm>
            <a:off x="633341" y="4153961"/>
            <a:ext cx="191691" cy="191653"/>
          </a:xfrm>
          <a:custGeom>
            <a:avLst/>
            <a:gdLst/>
            <a:ahLst/>
            <a:cxnLst/>
            <a:rect l="l" t="t" r="r" b="b"/>
            <a:pathLst>
              <a:path w="191691" h="191653">
                <a:moveTo>
                  <a:pt x="127471" y="4651"/>
                </a:moveTo>
                <a:cubicBezTo>
                  <a:pt x="122820" y="0"/>
                  <a:pt x="115266" y="0"/>
                  <a:pt x="110617" y="4651"/>
                </a:cubicBezTo>
                <a:cubicBezTo>
                  <a:pt x="105966" y="9301"/>
                  <a:pt x="105966" y="16854"/>
                  <a:pt x="110617" y="21505"/>
                </a:cubicBezTo>
                <a:lnTo>
                  <a:pt x="114115" y="24966"/>
                </a:lnTo>
                <a:lnTo>
                  <a:pt x="10455" y="128624"/>
                </a:lnTo>
                <a:cubicBezTo>
                  <a:pt x="3758" y="135322"/>
                  <a:pt x="0" y="144400"/>
                  <a:pt x="0" y="153888"/>
                </a:cubicBezTo>
                <a:lnTo>
                  <a:pt x="0" y="155934"/>
                </a:lnTo>
                <a:cubicBezTo>
                  <a:pt x="0" y="175654"/>
                  <a:pt x="15999" y="191653"/>
                  <a:pt x="35719" y="191653"/>
                </a:cubicBezTo>
                <a:lnTo>
                  <a:pt x="37765" y="191653"/>
                </a:lnTo>
                <a:cubicBezTo>
                  <a:pt x="47253" y="191653"/>
                  <a:pt x="56331" y="187895"/>
                  <a:pt x="63029" y="181198"/>
                </a:cubicBezTo>
                <a:lnTo>
                  <a:pt x="166687" y="77538"/>
                </a:lnTo>
                <a:lnTo>
                  <a:pt x="170185" y="81036"/>
                </a:lnTo>
                <a:cubicBezTo>
                  <a:pt x="174836" y="85687"/>
                  <a:pt x="182389" y="85687"/>
                  <a:pt x="187041" y="81036"/>
                </a:cubicBezTo>
                <a:cubicBezTo>
                  <a:pt x="191691" y="76387"/>
                  <a:pt x="191691" y="68833"/>
                  <a:pt x="187041" y="64182"/>
                </a:cubicBezTo>
                <a:lnTo>
                  <a:pt x="127508" y="4651"/>
                </a:lnTo>
                <a:close/>
                <a:moveTo>
                  <a:pt x="76385" y="96403"/>
                </a:moveTo>
                <a:lnTo>
                  <a:pt x="130969" y="41820"/>
                </a:lnTo>
                <a:lnTo>
                  <a:pt x="149833" y="60684"/>
                </a:lnTo>
                <a:lnTo>
                  <a:pt x="114115" y="96403"/>
                </a:lnTo>
                <a:lnTo>
                  <a:pt x="76349" y="96403"/>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961904" y="4117060"/>
            <a:ext cx="2530691"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Automated test execution</a:t>
            </a:r>
            <a:endParaRPr lang="en-US" sz="1100"/>
          </a:p>
        </p:txBody>
      </p:sp>
      <p:sp>
        <p:nvSpPr>
          <p:cNvPr id="14" name="AutoShape 14"/>
          <p:cNvSpPr/>
          <p:nvPr/>
        </p:nvSpPr>
        <p:spPr>
          <a:xfrm>
            <a:off x="961904" y="4383760"/>
            <a:ext cx="3589926"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Runs unit tests and integration tests</a:t>
            </a:r>
            <a:endParaRPr lang="en-US" sz="1100"/>
          </a:p>
        </p:txBody>
      </p:sp>
      <p:sp>
        <p:nvSpPr>
          <p:cNvPr id="15" name="Freeform 15"/>
          <p:cNvSpPr/>
          <p:nvPr/>
        </p:nvSpPr>
        <p:spPr>
          <a:xfrm>
            <a:off x="6248338" y="2860011"/>
            <a:ext cx="5562600" cy="1943100"/>
          </a:xfrm>
          <a:custGeom>
            <a:avLst/>
            <a:gdLst/>
            <a:ahLst/>
            <a:cxnLst/>
            <a:rect l="l" t="t" r="r" b="b"/>
            <a:pathLst>
              <a:path w="5562600" h="1943100">
                <a:moveTo>
                  <a:pt x="76208" y="0"/>
                </a:moveTo>
                <a:lnTo>
                  <a:pt x="5486392" y="0"/>
                </a:lnTo>
                <a:cubicBezTo>
                  <a:pt x="5528480" y="0"/>
                  <a:pt x="5562600" y="34120"/>
                  <a:pt x="5562600" y="76208"/>
                </a:cubicBezTo>
                <a:lnTo>
                  <a:pt x="5562600" y="1866892"/>
                </a:lnTo>
                <a:cubicBezTo>
                  <a:pt x="5562600" y="1908980"/>
                  <a:pt x="5528480" y="1943100"/>
                  <a:pt x="5486392" y="1943100"/>
                </a:cubicBezTo>
                <a:lnTo>
                  <a:pt x="76208" y="1943100"/>
                </a:lnTo>
                <a:cubicBezTo>
                  <a:pt x="34120" y="1943100"/>
                  <a:pt x="0" y="1908980"/>
                  <a:pt x="0" y="1866892"/>
                </a:cubicBezTo>
                <a:lnTo>
                  <a:pt x="0" y="76208"/>
                </a:lnTo>
                <a:cubicBezTo>
                  <a:pt x="0" y="34148"/>
                  <a:pt x="34148" y="0"/>
                  <a:pt x="76208" y="0"/>
                </a:cubicBezTo>
                <a:close/>
              </a:path>
            </a:pathLst>
          </a:custGeom>
          <a:gradFill rotWithShape="1">
            <a:gsLst>
              <a:gs pos="0">
                <a:srgbClr val="333333">
                  <a:alpha val="100000"/>
                </a:srgbClr>
              </a:gs>
              <a:gs pos="100000">
                <a:srgbClr val="555555">
                  <a:alpha val="100000"/>
                </a:srgbClr>
              </a:gs>
            </a:gsLst>
            <a:lin ang="2700000"/>
          </a:gra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16" name="Freeform 16"/>
          <p:cNvSpPr/>
          <p:nvPr/>
        </p:nvSpPr>
        <p:spPr>
          <a:xfrm>
            <a:off x="6506249" y="3111800"/>
            <a:ext cx="280783" cy="280783"/>
          </a:xfrm>
          <a:custGeom>
            <a:avLst/>
            <a:gdLst/>
            <a:ahLst/>
            <a:cxnLst/>
            <a:rect l="l" t="t" r="r" b="b"/>
            <a:pathLst>
              <a:path w="280783" h="280783">
                <a:moveTo>
                  <a:pt x="80200" y="164865"/>
                </a:moveTo>
                <a:lnTo>
                  <a:pt x="22436" y="164865"/>
                </a:lnTo>
                <a:cubicBezTo>
                  <a:pt x="8538" y="164865"/>
                  <a:pt x="0" y="149740"/>
                  <a:pt x="7143" y="137797"/>
                </a:cubicBezTo>
                <a:lnTo>
                  <a:pt x="36666" y="88572"/>
                </a:lnTo>
                <a:cubicBezTo>
                  <a:pt x="41523" y="80480"/>
                  <a:pt x="50229" y="75569"/>
                  <a:pt x="59661" y="75569"/>
                </a:cubicBezTo>
                <a:lnTo>
                  <a:pt x="112681" y="75569"/>
                </a:lnTo>
                <a:cubicBezTo>
                  <a:pt x="155154" y="3628"/>
                  <a:pt x="218497" y="0"/>
                  <a:pt x="260858" y="6195"/>
                </a:cubicBezTo>
                <a:cubicBezTo>
                  <a:pt x="268002" y="7256"/>
                  <a:pt x="273582" y="12837"/>
                  <a:pt x="274588" y="19925"/>
                </a:cubicBezTo>
                <a:cubicBezTo>
                  <a:pt x="280783" y="62286"/>
                  <a:pt x="277155" y="125629"/>
                  <a:pt x="205214" y="168102"/>
                </a:cubicBezTo>
                <a:lnTo>
                  <a:pt x="205214" y="221122"/>
                </a:lnTo>
                <a:cubicBezTo>
                  <a:pt x="205214" y="230554"/>
                  <a:pt x="200303" y="239260"/>
                  <a:pt x="192211" y="244117"/>
                </a:cubicBezTo>
                <a:lnTo>
                  <a:pt x="142986" y="273640"/>
                </a:lnTo>
                <a:cubicBezTo>
                  <a:pt x="131099" y="280783"/>
                  <a:pt x="115918" y="272187"/>
                  <a:pt x="115918" y="258347"/>
                </a:cubicBezTo>
                <a:lnTo>
                  <a:pt x="115918" y="200583"/>
                </a:lnTo>
                <a:cubicBezTo>
                  <a:pt x="115918" y="180882"/>
                  <a:pt x="99901" y="164865"/>
                  <a:pt x="80200" y="164865"/>
                </a:cubicBezTo>
                <a:lnTo>
                  <a:pt x="80144" y="164865"/>
                </a:lnTo>
                <a:close/>
                <a:moveTo>
                  <a:pt x="232004" y="75569"/>
                </a:moveTo>
                <a:cubicBezTo>
                  <a:pt x="232004" y="60783"/>
                  <a:pt x="220000" y="48779"/>
                  <a:pt x="205214" y="48779"/>
                </a:cubicBezTo>
                <a:cubicBezTo>
                  <a:pt x="190430" y="48779"/>
                  <a:pt x="178426" y="60783"/>
                  <a:pt x="178426" y="75569"/>
                </a:cubicBezTo>
                <a:cubicBezTo>
                  <a:pt x="178426" y="90353"/>
                  <a:pt x="190430" y="102357"/>
                  <a:pt x="205214" y="102357"/>
                </a:cubicBezTo>
                <a:cubicBezTo>
                  <a:pt x="220000" y="102357"/>
                  <a:pt x="232004" y="90353"/>
                  <a:pt x="232004" y="75569"/>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7" name="AutoShape 17"/>
          <p:cNvSpPr/>
          <p:nvPr/>
        </p:nvSpPr>
        <p:spPr>
          <a:xfrm>
            <a:off x="6948348" y="3088593"/>
            <a:ext cx="97155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Role of CD</a:t>
            </a:r>
            <a:endParaRPr lang="en-US" sz="1100"/>
          </a:p>
        </p:txBody>
      </p:sp>
      <p:sp>
        <p:nvSpPr>
          <p:cNvPr id="18" name="Freeform 18"/>
          <p:cNvSpPr/>
          <p:nvPr/>
        </p:nvSpPr>
        <p:spPr>
          <a:xfrm>
            <a:off x="6488817" y="3595622"/>
            <a:ext cx="214313" cy="166688"/>
          </a:xfrm>
          <a:custGeom>
            <a:avLst/>
            <a:gdLst/>
            <a:ahLst/>
            <a:cxnLst/>
            <a:rect l="l" t="t" r="r" b="b"/>
            <a:pathLst>
              <a:path w="214313" h="166688">
                <a:moveTo>
                  <a:pt x="53577" y="166688"/>
                </a:moveTo>
                <a:cubicBezTo>
                  <a:pt x="23999" y="166688"/>
                  <a:pt x="0" y="142689"/>
                  <a:pt x="0" y="113110"/>
                </a:cubicBezTo>
                <a:cubicBezTo>
                  <a:pt x="0" y="89520"/>
                  <a:pt x="15255" y="69504"/>
                  <a:pt x="36426" y="62322"/>
                </a:cubicBezTo>
                <a:cubicBezTo>
                  <a:pt x="35942" y="59457"/>
                  <a:pt x="35719" y="56555"/>
                  <a:pt x="35719" y="53578"/>
                </a:cubicBezTo>
                <a:cubicBezTo>
                  <a:pt x="35719" y="23999"/>
                  <a:pt x="59717" y="0"/>
                  <a:pt x="89298" y="0"/>
                </a:cubicBezTo>
                <a:cubicBezTo>
                  <a:pt x="109910" y="0"/>
                  <a:pt x="127806" y="11646"/>
                  <a:pt x="136773" y="28687"/>
                </a:cubicBezTo>
                <a:cubicBezTo>
                  <a:pt x="142056" y="25598"/>
                  <a:pt x="148233" y="23813"/>
                  <a:pt x="154781" y="23813"/>
                </a:cubicBezTo>
                <a:cubicBezTo>
                  <a:pt x="174501" y="23813"/>
                  <a:pt x="190500" y="39812"/>
                  <a:pt x="190500" y="59532"/>
                </a:cubicBezTo>
                <a:cubicBezTo>
                  <a:pt x="190500" y="65374"/>
                  <a:pt x="189086" y="70917"/>
                  <a:pt x="186593" y="75791"/>
                </a:cubicBezTo>
                <a:cubicBezTo>
                  <a:pt x="202964" y="83344"/>
                  <a:pt x="214313" y="99864"/>
                  <a:pt x="214313" y="119063"/>
                </a:cubicBezTo>
                <a:cubicBezTo>
                  <a:pt x="214313" y="145368"/>
                  <a:pt x="192993" y="166688"/>
                  <a:pt x="166687" y="166688"/>
                </a:cubicBezTo>
                <a:lnTo>
                  <a:pt x="53577" y="166688"/>
                </a:lnTo>
                <a:close/>
                <a:moveTo>
                  <a:pt x="113481" y="59159"/>
                </a:moveTo>
                <a:cubicBezTo>
                  <a:pt x="109985" y="55662"/>
                  <a:pt x="104329" y="55662"/>
                  <a:pt x="100868" y="59159"/>
                </a:cubicBezTo>
                <a:lnTo>
                  <a:pt x="74079" y="85948"/>
                </a:lnTo>
                <a:cubicBezTo>
                  <a:pt x="70582" y="89446"/>
                  <a:pt x="70582" y="95100"/>
                  <a:pt x="74079" y="98562"/>
                </a:cubicBezTo>
                <a:cubicBezTo>
                  <a:pt x="77577" y="102022"/>
                  <a:pt x="83232" y="102059"/>
                  <a:pt x="86691" y="98562"/>
                </a:cubicBezTo>
                <a:lnTo>
                  <a:pt x="98227" y="87027"/>
                </a:lnTo>
                <a:lnTo>
                  <a:pt x="98227" y="125017"/>
                </a:lnTo>
                <a:cubicBezTo>
                  <a:pt x="98227" y="129964"/>
                  <a:pt x="102208" y="133946"/>
                  <a:pt x="107156" y="133946"/>
                </a:cubicBezTo>
                <a:cubicBezTo>
                  <a:pt x="112105" y="133946"/>
                  <a:pt x="116086" y="129964"/>
                  <a:pt x="116086" y="125017"/>
                </a:cubicBezTo>
                <a:lnTo>
                  <a:pt x="116086" y="87027"/>
                </a:lnTo>
                <a:lnTo>
                  <a:pt x="127620" y="98562"/>
                </a:lnTo>
                <a:cubicBezTo>
                  <a:pt x="131119" y="102059"/>
                  <a:pt x="136773" y="102059"/>
                  <a:pt x="140233" y="98562"/>
                </a:cubicBezTo>
                <a:cubicBezTo>
                  <a:pt x="143694" y="95064"/>
                  <a:pt x="143731" y="89410"/>
                  <a:pt x="140233" y="85948"/>
                </a:cubicBezTo>
                <a:lnTo>
                  <a:pt x="113444" y="59159"/>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6829285" y="3545663"/>
            <a:ext cx="2878480" cy="22855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Automated software deployment</a:t>
            </a:r>
            <a:endParaRPr lang="en-US" sz="1100"/>
          </a:p>
        </p:txBody>
      </p:sp>
      <p:sp>
        <p:nvSpPr>
          <p:cNvPr id="20" name="AutoShape 20"/>
          <p:cNvSpPr/>
          <p:nvPr/>
        </p:nvSpPr>
        <p:spPr>
          <a:xfrm>
            <a:off x="6829285" y="3812371"/>
            <a:ext cx="4817283" cy="266673"/>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Automatically deploys code that passes tests</a:t>
            </a:r>
            <a:endParaRPr lang="en-US" sz="1100"/>
          </a:p>
        </p:txBody>
      </p:sp>
      <p:sp>
        <p:nvSpPr>
          <p:cNvPr id="21" name="Freeform 21"/>
          <p:cNvSpPr/>
          <p:nvPr/>
        </p:nvSpPr>
        <p:spPr>
          <a:xfrm>
            <a:off x="6476911" y="4167020"/>
            <a:ext cx="238125" cy="178594"/>
          </a:xfrm>
          <a:custGeom>
            <a:avLst/>
            <a:gdLst/>
            <a:ahLst/>
            <a:cxnLst/>
            <a:rect l="l" t="t" r="r" b="b"/>
            <a:pathLst>
              <a:path w="238125" h="178594">
                <a:moveTo>
                  <a:pt x="23813" y="23813"/>
                </a:moveTo>
                <a:cubicBezTo>
                  <a:pt x="23813" y="10678"/>
                  <a:pt x="34491" y="0"/>
                  <a:pt x="47625" y="0"/>
                </a:cubicBezTo>
                <a:lnTo>
                  <a:pt x="154781" y="0"/>
                </a:lnTo>
                <a:cubicBezTo>
                  <a:pt x="167916" y="0"/>
                  <a:pt x="178594" y="10678"/>
                  <a:pt x="178594" y="23813"/>
                </a:cubicBezTo>
                <a:lnTo>
                  <a:pt x="178594" y="35719"/>
                </a:lnTo>
                <a:lnTo>
                  <a:pt x="197458" y="35719"/>
                </a:lnTo>
                <a:cubicBezTo>
                  <a:pt x="203783" y="35719"/>
                  <a:pt x="209848" y="38212"/>
                  <a:pt x="214313" y="42677"/>
                </a:cubicBezTo>
                <a:lnTo>
                  <a:pt x="231167" y="59532"/>
                </a:lnTo>
                <a:cubicBezTo>
                  <a:pt x="235632" y="63996"/>
                  <a:pt x="238125" y="70061"/>
                  <a:pt x="238125" y="76386"/>
                </a:cubicBezTo>
                <a:lnTo>
                  <a:pt x="238125" y="130969"/>
                </a:lnTo>
                <a:cubicBezTo>
                  <a:pt x="238125" y="144103"/>
                  <a:pt x="227447" y="154782"/>
                  <a:pt x="214313" y="154782"/>
                </a:cubicBezTo>
                <a:lnTo>
                  <a:pt x="213084" y="154782"/>
                </a:lnTo>
                <a:cubicBezTo>
                  <a:pt x="209215" y="168511"/>
                  <a:pt x="196566" y="178594"/>
                  <a:pt x="181571" y="178594"/>
                </a:cubicBezTo>
                <a:cubicBezTo>
                  <a:pt x="166576" y="178594"/>
                  <a:pt x="153963" y="168511"/>
                  <a:pt x="150056" y="154782"/>
                </a:cubicBezTo>
                <a:lnTo>
                  <a:pt x="111882" y="154782"/>
                </a:lnTo>
                <a:cubicBezTo>
                  <a:pt x="108012" y="168511"/>
                  <a:pt x="95362" y="178594"/>
                  <a:pt x="80367" y="178594"/>
                </a:cubicBezTo>
                <a:cubicBezTo>
                  <a:pt x="65373" y="178594"/>
                  <a:pt x="52760" y="168511"/>
                  <a:pt x="48853" y="154782"/>
                </a:cubicBezTo>
                <a:lnTo>
                  <a:pt x="47625" y="154782"/>
                </a:lnTo>
                <a:cubicBezTo>
                  <a:pt x="34491" y="154782"/>
                  <a:pt x="23813" y="144103"/>
                  <a:pt x="23813" y="130969"/>
                </a:cubicBezTo>
                <a:lnTo>
                  <a:pt x="23813" y="113110"/>
                </a:lnTo>
                <a:lnTo>
                  <a:pt x="8929" y="113110"/>
                </a:lnTo>
                <a:cubicBezTo>
                  <a:pt x="3981" y="113110"/>
                  <a:pt x="0" y="109128"/>
                  <a:pt x="0" y="104180"/>
                </a:cubicBezTo>
                <a:cubicBezTo>
                  <a:pt x="0" y="99230"/>
                  <a:pt x="3981" y="95250"/>
                  <a:pt x="8929" y="95250"/>
                </a:cubicBezTo>
                <a:lnTo>
                  <a:pt x="50602" y="95250"/>
                </a:lnTo>
                <a:cubicBezTo>
                  <a:pt x="55550" y="95250"/>
                  <a:pt x="59531" y="91269"/>
                  <a:pt x="59531" y="86321"/>
                </a:cubicBezTo>
                <a:cubicBezTo>
                  <a:pt x="59531" y="81372"/>
                  <a:pt x="55550" y="77392"/>
                  <a:pt x="50602" y="77392"/>
                </a:cubicBezTo>
                <a:lnTo>
                  <a:pt x="8929" y="77392"/>
                </a:lnTo>
                <a:cubicBezTo>
                  <a:pt x="3981" y="77392"/>
                  <a:pt x="0" y="73410"/>
                  <a:pt x="0" y="68461"/>
                </a:cubicBezTo>
                <a:cubicBezTo>
                  <a:pt x="0" y="63513"/>
                  <a:pt x="3981" y="59532"/>
                  <a:pt x="8929" y="59532"/>
                </a:cubicBezTo>
                <a:lnTo>
                  <a:pt x="74414" y="59532"/>
                </a:lnTo>
                <a:cubicBezTo>
                  <a:pt x="79364" y="59532"/>
                  <a:pt x="83344" y="55550"/>
                  <a:pt x="83344" y="50602"/>
                </a:cubicBezTo>
                <a:cubicBezTo>
                  <a:pt x="83344" y="45653"/>
                  <a:pt x="79364" y="41671"/>
                  <a:pt x="74414" y="41671"/>
                </a:cubicBezTo>
                <a:lnTo>
                  <a:pt x="8929" y="41671"/>
                </a:lnTo>
                <a:cubicBezTo>
                  <a:pt x="3981" y="41671"/>
                  <a:pt x="0" y="37691"/>
                  <a:pt x="0" y="32742"/>
                </a:cubicBezTo>
                <a:cubicBezTo>
                  <a:pt x="0" y="27794"/>
                  <a:pt x="3981" y="23813"/>
                  <a:pt x="8929" y="23813"/>
                </a:cubicBezTo>
                <a:lnTo>
                  <a:pt x="23813" y="23813"/>
                </a:lnTo>
                <a:close/>
                <a:moveTo>
                  <a:pt x="214313" y="95250"/>
                </a:moveTo>
                <a:lnTo>
                  <a:pt x="214313" y="76386"/>
                </a:lnTo>
                <a:lnTo>
                  <a:pt x="197458" y="59532"/>
                </a:lnTo>
                <a:lnTo>
                  <a:pt x="178594" y="59532"/>
                </a:lnTo>
                <a:lnTo>
                  <a:pt x="178594" y="95250"/>
                </a:lnTo>
                <a:lnTo>
                  <a:pt x="214313" y="95250"/>
                </a:lnTo>
                <a:close/>
                <a:moveTo>
                  <a:pt x="95250" y="145852"/>
                </a:moveTo>
                <a:cubicBezTo>
                  <a:pt x="95250" y="137638"/>
                  <a:pt x="88581" y="130969"/>
                  <a:pt x="80367" y="130969"/>
                </a:cubicBezTo>
                <a:cubicBezTo>
                  <a:pt x="72153" y="130969"/>
                  <a:pt x="65484" y="137638"/>
                  <a:pt x="65484" y="145852"/>
                </a:cubicBezTo>
                <a:cubicBezTo>
                  <a:pt x="65484" y="154066"/>
                  <a:pt x="72153" y="160735"/>
                  <a:pt x="80367" y="160735"/>
                </a:cubicBezTo>
                <a:cubicBezTo>
                  <a:pt x="88581" y="160735"/>
                  <a:pt x="95250" y="154066"/>
                  <a:pt x="95250" y="145852"/>
                </a:cubicBezTo>
                <a:close/>
                <a:moveTo>
                  <a:pt x="181571" y="160735"/>
                </a:moveTo>
                <a:cubicBezTo>
                  <a:pt x="189784" y="160735"/>
                  <a:pt x="196452" y="154066"/>
                  <a:pt x="196452" y="145852"/>
                </a:cubicBezTo>
                <a:cubicBezTo>
                  <a:pt x="196452" y="137638"/>
                  <a:pt x="189784" y="130969"/>
                  <a:pt x="181571" y="130969"/>
                </a:cubicBezTo>
                <a:cubicBezTo>
                  <a:pt x="173356" y="130969"/>
                  <a:pt x="166688" y="137638"/>
                  <a:pt x="166688" y="145852"/>
                </a:cubicBezTo>
                <a:cubicBezTo>
                  <a:pt x="166688" y="154066"/>
                  <a:pt x="173356" y="160735"/>
                  <a:pt x="181571" y="16073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6829285" y="4117060"/>
            <a:ext cx="15525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Rapid delivery</a:t>
            </a:r>
            <a:endParaRPr lang="en-US" sz="1100"/>
          </a:p>
        </p:txBody>
      </p:sp>
      <p:sp>
        <p:nvSpPr>
          <p:cNvPr id="23" name="AutoShape 23"/>
          <p:cNvSpPr/>
          <p:nvPr/>
        </p:nvSpPr>
        <p:spPr>
          <a:xfrm>
            <a:off x="6829285" y="4383760"/>
            <a:ext cx="4033512" cy="228238"/>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Shortens time from development to production</a:t>
            </a:r>
            <a:endParaRPr lang="en-US" sz="1100"/>
          </a:p>
        </p:txBody>
      </p:sp>
      <p:sp>
        <p:nvSpPr>
          <p:cNvPr id="24" name="Freeform 24"/>
          <p:cNvSpPr/>
          <p:nvPr/>
        </p:nvSpPr>
        <p:spPr>
          <a:xfrm>
            <a:off x="380956" y="5031349"/>
            <a:ext cx="11430000" cy="571500"/>
          </a:xfrm>
          <a:custGeom>
            <a:avLst/>
            <a:gdLst/>
            <a:ahLst/>
            <a:cxnLst/>
            <a:rect l="l" t="t" r="r" b="b"/>
            <a:pathLst>
              <a:path w="11430000" h="571500">
                <a:moveTo>
                  <a:pt x="76197" y="0"/>
                </a:moveTo>
                <a:lnTo>
                  <a:pt x="11353803" y="0"/>
                </a:lnTo>
                <a:cubicBezTo>
                  <a:pt x="11395885" y="0"/>
                  <a:pt x="11430000" y="34115"/>
                  <a:pt x="11430000" y="76197"/>
                </a:cubicBezTo>
                <a:lnTo>
                  <a:pt x="11430000" y="495303"/>
                </a:lnTo>
                <a:cubicBezTo>
                  <a:pt x="11430000" y="537385"/>
                  <a:pt x="11395885" y="571500"/>
                  <a:pt x="11353803" y="571500"/>
                </a:cubicBezTo>
                <a:lnTo>
                  <a:pt x="76197" y="571500"/>
                </a:lnTo>
                <a:cubicBezTo>
                  <a:pt x="34115" y="571500"/>
                  <a:pt x="0" y="537385"/>
                  <a:pt x="0" y="495303"/>
                </a:cubicBezTo>
                <a:lnTo>
                  <a:pt x="0" y="76197"/>
                </a:lnTo>
                <a:cubicBezTo>
                  <a:pt x="0" y="34115"/>
                  <a:pt x="34115"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4385738" y="5221644"/>
            <a:ext cx="160801" cy="171182"/>
          </a:xfrm>
          <a:custGeom>
            <a:avLst/>
            <a:gdLst/>
            <a:ahLst/>
            <a:cxnLst/>
            <a:rect l="l" t="t" r="r" b="b"/>
            <a:pathLst>
              <a:path w="160801" h="171182">
                <a:moveTo>
                  <a:pt x="80367" y="0"/>
                </a:moveTo>
                <a:cubicBezTo>
                  <a:pt x="81908" y="0"/>
                  <a:pt x="83448" y="335"/>
                  <a:pt x="84854" y="972"/>
                </a:cubicBezTo>
                <a:lnTo>
                  <a:pt x="147942" y="27727"/>
                </a:lnTo>
                <a:cubicBezTo>
                  <a:pt x="155308" y="30841"/>
                  <a:pt x="160801" y="38108"/>
                  <a:pt x="160768" y="46881"/>
                </a:cubicBezTo>
                <a:cubicBezTo>
                  <a:pt x="160601" y="80099"/>
                  <a:pt x="146938" y="140877"/>
                  <a:pt x="89240" y="168504"/>
                </a:cubicBezTo>
                <a:cubicBezTo>
                  <a:pt x="83649" y="171182"/>
                  <a:pt x="77153" y="171182"/>
                  <a:pt x="71560" y="168504"/>
                </a:cubicBezTo>
                <a:cubicBezTo>
                  <a:pt x="13830" y="140877"/>
                  <a:pt x="201" y="80099"/>
                  <a:pt x="33" y="46881"/>
                </a:cubicBezTo>
                <a:cubicBezTo>
                  <a:pt x="0" y="38108"/>
                  <a:pt x="5492" y="30841"/>
                  <a:pt x="12859" y="27727"/>
                </a:cubicBezTo>
                <a:lnTo>
                  <a:pt x="75913" y="972"/>
                </a:lnTo>
                <a:cubicBezTo>
                  <a:pt x="77320" y="335"/>
                  <a:pt x="78826" y="0"/>
                  <a:pt x="80367" y="0"/>
                </a:cubicBezTo>
                <a:close/>
                <a:moveTo>
                  <a:pt x="80367" y="22369"/>
                </a:moveTo>
                <a:lnTo>
                  <a:pt x="80367" y="148981"/>
                </a:lnTo>
                <a:cubicBezTo>
                  <a:pt x="126578" y="126611"/>
                  <a:pt x="139002" y="77052"/>
                  <a:pt x="139303" y="47382"/>
                </a:cubicBezTo>
                <a:lnTo>
                  <a:pt x="80367" y="22402"/>
                </a:lnTo>
                <a:lnTo>
                  <a:pt x="80367" y="2240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4659736" y="5202687"/>
            <a:ext cx="3213707" cy="222724"/>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In open source projects, CI/CD is used to ensure code quality</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9928" y="611524"/>
            <a:ext cx="5166323" cy="524899"/>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FlagTree CI/CD Architecture</a:t>
            </a:r>
            <a:endParaRPr lang="en-US" sz="1100"/>
          </a:p>
        </p:txBody>
      </p:sp>
      <p:sp>
        <p:nvSpPr>
          <p:cNvPr id="3" name="AutoShape 3"/>
          <p:cNvSpPr/>
          <p:nvPr/>
        </p:nvSpPr>
        <p:spPr>
          <a:xfrm>
            <a:off x="380956" y="1640886"/>
            <a:ext cx="11525250" cy="3143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FlagTree provides a unified CI pipeline for different hardware, ensuring cross-platform compatibility</a:t>
            </a:r>
            <a:endParaRPr lang="en-US" sz="1100"/>
          </a:p>
        </p:txBody>
      </p:sp>
      <p:sp>
        <p:nvSpPr>
          <p:cNvPr id="4" name="AutoShape 4"/>
          <p:cNvSpPr/>
          <p:nvPr/>
        </p:nvSpPr>
        <p:spPr>
          <a:xfrm>
            <a:off x="380956" y="2179030"/>
            <a:ext cx="11525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Supported Backends</a:t>
            </a:r>
            <a:endParaRPr lang="en-US" sz="1100"/>
          </a:p>
        </p:txBody>
      </p:sp>
      <p:sp>
        <p:nvSpPr>
          <p:cNvPr id="5" name="Freeform 5"/>
          <p:cNvSpPr/>
          <p:nvPr/>
        </p:nvSpPr>
        <p:spPr>
          <a:xfrm>
            <a:off x="390433" y="2607598"/>
            <a:ext cx="2724055" cy="914305"/>
          </a:xfrm>
          <a:custGeom>
            <a:avLst/>
            <a:gdLst/>
            <a:ahLst/>
            <a:cxnLst/>
            <a:rect l="l" t="t" r="r" b="b"/>
            <a:pathLst>
              <a:path w="2724055" h="914305">
                <a:moveTo>
                  <a:pt x="76197" y="0"/>
                </a:moveTo>
                <a:lnTo>
                  <a:pt x="2647857" y="0"/>
                </a:lnTo>
                <a:cubicBezTo>
                  <a:pt x="2689940" y="0"/>
                  <a:pt x="2724055" y="34115"/>
                  <a:pt x="2724055" y="76197"/>
                </a:cubicBezTo>
                <a:lnTo>
                  <a:pt x="2724055" y="838107"/>
                </a:lnTo>
                <a:cubicBezTo>
                  <a:pt x="2724055" y="880190"/>
                  <a:pt x="2689940" y="914305"/>
                  <a:pt x="2647857" y="914305"/>
                </a:cubicBezTo>
                <a:lnTo>
                  <a:pt x="76197" y="914305"/>
                </a:lnTo>
                <a:cubicBezTo>
                  <a:pt x="34115" y="914305"/>
                  <a:pt x="0" y="880190"/>
                  <a:pt x="0" y="838107"/>
                </a:cubicBezTo>
                <a:lnTo>
                  <a:pt x="0" y="76197"/>
                </a:lnTo>
                <a:cubicBezTo>
                  <a:pt x="0" y="34143"/>
                  <a:pt x="34143" y="0"/>
                  <a:pt x="76197"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6" name="Freeform 6"/>
          <p:cNvSpPr/>
          <p:nvPr/>
        </p:nvSpPr>
        <p:spPr>
          <a:xfrm>
            <a:off x="1612050" y="2769459"/>
            <a:ext cx="285750" cy="285750"/>
          </a:xfrm>
          <a:custGeom>
            <a:avLst/>
            <a:gdLst/>
            <a:ahLst/>
            <a:cxnLst/>
            <a:rect l="l" t="t" r="r" b="b"/>
            <a:pathLst>
              <a:path w="285750" h="285750">
                <a:moveTo>
                  <a:pt x="98227" y="13395"/>
                </a:moveTo>
                <a:cubicBezTo>
                  <a:pt x="98227" y="5972"/>
                  <a:pt x="92255" y="0"/>
                  <a:pt x="84832" y="0"/>
                </a:cubicBezTo>
                <a:cubicBezTo>
                  <a:pt x="77409" y="0"/>
                  <a:pt x="71438" y="5972"/>
                  <a:pt x="71438" y="13395"/>
                </a:cubicBezTo>
                <a:lnTo>
                  <a:pt x="71438" y="35719"/>
                </a:lnTo>
                <a:cubicBezTo>
                  <a:pt x="51736" y="35719"/>
                  <a:pt x="35719" y="51736"/>
                  <a:pt x="35719" y="71437"/>
                </a:cubicBezTo>
                <a:lnTo>
                  <a:pt x="13395" y="71437"/>
                </a:lnTo>
                <a:cubicBezTo>
                  <a:pt x="5972" y="71437"/>
                  <a:pt x="0" y="77409"/>
                  <a:pt x="0" y="84832"/>
                </a:cubicBezTo>
                <a:cubicBezTo>
                  <a:pt x="0" y="92255"/>
                  <a:pt x="5972" y="98227"/>
                  <a:pt x="13395" y="98227"/>
                </a:cubicBezTo>
                <a:lnTo>
                  <a:pt x="35719" y="98227"/>
                </a:lnTo>
                <a:lnTo>
                  <a:pt x="35719" y="129480"/>
                </a:lnTo>
                <a:lnTo>
                  <a:pt x="13395" y="129480"/>
                </a:lnTo>
                <a:cubicBezTo>
                  <a:pt x="5972" y="129480"/>
                  <a:pt x="0" y="135452"/>
                  <a:pt x="0" y="142875"/>
                </a:cubicBezTo>
                <a:cubicBezTo>
                  <a:pt x="0" y="150298"/>
                  <a:pt x="5972" y="156270"/>
                  <a:pt x="13395" y="156270"/>
                </a:cubicBezTo>
                <a:lnTo>
                  <a:pt x="35719" y="156270"/>
                </a:lnTo>
                <a:lnTo>
                  <a:pt x="35719" y="187523"/>
                </a:lnTo>
                <a:lnTo>
                  <a:pt x="13395" y="187523"/>
                </a:lnTo>
                <a:cubicBezTo>
                  <a:pt x="5972" y="187523"/>
                  <a:pt x="0" y="193495"/>
                  <a:pt x="0" y="200918"/>
                </a:cubicBezTo>
                <a:cubicBezTo>
                  <a:pt x="0" y="208341"/>
                  <a:pt x="5972" y="214313"/>
                  <a:pt x="13395" y="214313"/>
                </a:cubicBezTo>
                <a:lnTo>
                  <a:pt x="35719" y="214313"/>
                </a:lnTo>
                <a:cubicBezTo>
                  <a:pt x="35719" y="234014"/>
                  <a:pt x="51736" y="250031"/>
                  <a:pt x="71438" y="250031"/>
                </a:cubicBezTo>
                <a:lnTo>
                  <a:pt x="71438" y="272355"/>
                </a:lnTo>
                <a:cubicBezTo>
                  <a:pt x="71438" y="279778"/>
                  <a:pt x="77409" y="285750"/>
                  <a:pt x="84832" y="285750"/>
                </a:cubicBezTo>
                <a:cubicBezTo>
                  <a:pt x="92255" y="285750"/>
                  <a:pt x="98227" y="279778"/>
                  <a:pt x="98227" y="272355"/>
                </a:cubicBezTo>
                <a:lnTo>
                  <a:pt x="98227" y="250031"/>
                </a:lnTo>
                <a:lnTo>
                  <a:pt x="129480" y="250031"/>
                </a:lnTo>
                <a:lnTo>
                  <a:pt x="129480" y="272355"/>
                </a:lnTo>
                <a:cubicBezTo>
                  <a:pt x="129480" y="279778"/>
                  <a:pt x="135452" y="285750"/>
                  <a:pt x="142875" y="285750"/>
                </a:cubicBezTo>
                <a:cubicBezTo>
                  <a:pt x="150298" y="285750"/>
                  <a:pt x="156270" y="279778"/>
                  <a:pt x="156270" y="272355"/>
                </a:cubicBezTo>
                <a:lnTo>
                  <a:pt x="156270" y="250031"/>
                </a:lnTo>
                <a:lnTo>
                  <a:pt x="187523" y="250031"/>
                </a:lnTo>
                <a:lnTo>
                  <a:pt x="187523" y="272355"/>
                </a:lnTo>
                <a:cubicBezTo>
                  <a:pt x="187523" y="279778"/>
                  <a:pt x="193495" y="285750"/>
                  <a:pt x="200918" y="285750"/>
                </a:cubicBezTo>
                <a:cubicBezTo>
                  <a:pt x="208341" y="285750"/>
                  <a:pt x="214313" y="279778"/>
                  <a:pt x="214313" y="272355"/>
                </a:cubicBezTo>
                <a:lnTo>
                  <a:pt x="214313" y="250031"/>
                </a:lnTo>
                <a:cubicBezTo>
                  <a:pt x="234014" y="250031"/>
                  <a:pt x="250031" y="234014"/>
                  <a:pt x="250031" y="214313"/>
                </a:cubicBezTo>
                <a:lnTo>
                  <a:pt x="272355" y="214313"/>
                </a:lnTo>
                <a:cubicBezTo>
                  <a:pt x="279778" y="214313"/>
                  <a:pt x="285750" y="208341"/>
                  <a:pt x="285750" y="200918"/>
                </a:cubicBezTo>
                <a:cubicBezTo>
                  <a:pt x="285750" y="193495"/>
                  <a:pt x="279778" y="187523"/>
                  <a:pt x="272355" y="187523"/>
                </a:cubicBezTo>
                <a:lnTo>
                  <a:pt x="250031" y="187523"/>
                </a:lnTo>
                <a:lnTo>
                  <a:pt x="250031" y="156270"/>
                </a:lnTo>
                <a:lnTo>
                  <a:pt x="272355" y="156270"/>
                </a:lnTo>
                <a:cubicBezTo>
                  <a:pt x="279778" y="156270"/>
                  <a:pt x="285750" y="150298"/>
                  <a:pt x="285750" y="142875"/>
                </a:cubicBezTo>
                <a:cubicBezTo>
                  <a:pt x="285750" y="135452"/>
                  <a:pt x="279778" y="129480"/>
                  <a:pt x="272355" y="129480"/>
                </a:cubicBezTo>
                <a:lnTo>
                  <a:pt x="250031" y="129480"/>
                </a:lnTo>
                <a:lnTo>
                  <a:pt x="250031" y="98227"/>
                </a:lnTo>
                <a:lnTo>
                  <a:pt x="272355" y="98227"/>
                </a:lnTo>
                <a:cubicBezTo>
                  <a:pt x="279778" y="98227"/>
                  <a:pt x="285750" y="92255"/>
                  <a:pt x="285750" y="84832"/>
                </a:cubicBezTo>
                <a:cubicBezTo>
                  <a:pt x="285750" y="77409"/>
                  <a:pt x="279778" y="71437"/>
                  <a:pt x="272355" y="71437"/>
                </a:cubicBezTo>
                <a:lnTo>
                  <a:pt x="250031" y="71437"/>
                </a:lnTo>
                <a:cubicBezTo>
                  <a:pt x="250031" y="51736"/>
                  <a:pt x="234014" y="35719"/>
                  <a:pt x="214313" y="35719"/>
                </a:cubicBezTo>
                <a:lnTo>
                  <a:pt x="214313" y="13395"/>
                </a:lnTo>
                <a:cubicBezTo>
                  <a:pt x="214313" y="5972"/>
                  <a:pt x="208341" y="0"/>
                  <a:pt x="200918" y="0"/>
                </a:cubicBezTo>
                <a:cubicBezTo>
                  <a:pt x="193495" y="0"/>
                  <a:pt x="187523" y="5972"/>
                  <a:pt x="187523" y="13395"/>
                </a:cubicBezTo>
                <a:lnTo>
                  <a:pt x="187523" y="35719"/>
                </a:lnTo>
                <a:lnTo>
                  <a:pt x="156270" y="35719"/>
                </a:lnTo>
                <a:lnTo>
                  <a:pt x="156270" y="13395"/>
                </a:lnTo>
                <a:cubicBezTo>
                  <a:pt x="156270" y="5972"/>
                  <a:pt x="150298" y="0"/>
                  <a:pt x="142875" y="0"/>
                </a:cubicBezTo>
                <a:cubicBezTo>
                  <a:pt x="135452" y="0"/>
                  <a:pt x="129480" y="5972"/>
                  <a:pt x="129480" y="13395"/>
                </a:cubicBezTo>
                <a:lnTo>
                  <a:pt x="129480" y="35719"/>
                </a:lnTo>
                <a:lnTo>
                  <a:pt x="98227" y="35719"/>
                </a:lnTo>
                <a:lnTo>
                  <a:pt x="98227" y="13395"/>
                </a:lnTo>
                <a:close/>
                <a:moveTo>
                  <a:pt x="89298" y="71437"/>
                </a:moveTo>
                <a:lnTo>
                  <a:pt x="196452" y="71437"/>
                </a:lnTo>
                <a:cubicBezTo>
                  <a:pt x="206332" y="71437"/>
                  <a:pt x="214313" y="79418"/>
                  <a:pt x="214313" y="89298"/>
                </a:cubicBezTo>
                <a:lnTo>
                  <a:pt x="214313" y="196452"/>
                </a:lnTo>
                <a:cubicBezTo>
                  <a:pt x="214313" y="206332"/>
                  <a:pt x="206332" y="214313"/>
                  <a:pt x="196452" y="214313"/>
                </a:cubicBezTo>
                <a:lnTo>
                  <a:pt x="89298" y="214313"/>
                </a:lnTo>
                <a:cubicBezTo>
                  <a:pt x="79418" y="214313"/>
                  <a:pt x="71438" y="206332"/>
                  <a:pt x="71438" y="196452"/>
                </a:cubicBezTo>
                <a:lnTo>
                  <a:pt x="71438" y="89298"/>
                </a:lnTo>
                <a:cubicBezTo>
                  <a:pt x="71438" y="79418"/>
                  <a:pt x="79418" y="71437"/>
                  <a:pt x="89298" y="71437"/>
                </a:cubicBezTo>
                <a:close/>
                <a:moveTo>
                  <a:pt x="98227" y="98227"/>
                </a:moveTo>
                <a:lnTo>
                  <a:pt x="98227" y="187523"/>
                </a:lnTo>
                <a:lnTo>
                  <a:pt x="187523" y="187523"/>
                </a:lnTo>
                <a:lnTo>
                  <a:pt x="187523" y="98227"/>
                </a:lnTo>
                <a:lnTo>
                  <a:pt x="98227" y="9822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514193" y="3131381"/>
            <a:ext cx="24765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NVIDIA</a:t>
            </a:r>
            <a:endParaRPr lang="en-US" sz="1100"/>
          </a:p>
        </p:txBody>
      </p:sp>
      <p:sp>
        <p:nvSpPr>
          <p:cNvPr id="8" name="Freeform 8"/>
          <p:cNvSpPr/>
          <p:nvPr/>
        </p:nvSpPr>
        <p:spPr>
          <a:xfrm>
            <a:off x="3285992" y="2607598"/>
            <a:ext cx="2724055" cy="914305"/>
          </a:xfrm>
          <a:custGeom>
            <a:avLst/>
            <a:gdLst/>
            <a:ahLst/>
            <a:cxnLst/>
            <a:rect l="l" t="t" r="r" b="b"/>
            <a:pathLst>
              <a:path w="2724055" h="914305">
                <a:moveTo>
                  <a:pt x="76197" y="0"/>
                </a:moveTo>
                <a:lnTo>
                  <a:pt x="2647857" y="0"/>
                </a:lnTo>
                <a:cubicBezTo>
                  <a:pt x="2689940" y="0"/>
                  <a:pt x="2724055" y="34115"/>
                  <a:pt x="2724055" y="76197"/>
                </a:cubicBezTo>
                <a:lnTo>
                  <a:pt x="2724055" y="838107"/>
                </a:lnTo>
                <a:cubicBezTo>
                  <a:pt x="2724055" y="880190"/>
                  <a:pt x="2689940" y="914305"/>
                  <a:pt x="2647857" y="914305"/>
                </a:cubicBezTo>
                <a:lnTo>
                  <a:pt x="76197" y="914305"/>
                </a:lnTo>
                <a:cubicBezTo>
                  <a:pt x="34115" y="914305"/>
                  <a:pt x="0" y="880190"/>
                  <a:pt x="0" y="838107"/>
                </a:cubicBezTo>
                <a:lnTo>
                  <a:pt x="0" y="76197"/>
                </a:lnTo>
                <a:cubicBezTo>
                  <a:pt x="0" y="34143"/>
                  <a:pt x="34143" y="0"/>
                  <a:pt x="76197"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9" name="Freeform 9"/>
          <p:cNvSpPr/>
          <p:nvPr/>
        </p:nvSpPr>
        <p:spPr>
          <a:xfrm>
            <a:off x="4507609" y="2769459"/>
            <a:ext cx="285750" cy="285750"/>
          </a:xfrm>
          <a:custGeom>
            <a:avLst/>
            <a:gdLst/>
            <a:ahLst/>
            <a:cxnLst/>
            <a:rect l="l" t="t" r="r" b="b"/>
            <a:pathLst>
              <a:path w="285750" h="285750">
                <a:moveTo>
                  <a:pt x="98227" y="13395"/>
                </a:moveTo>
                <a:cubicBezTo>
                  <a:pt x="98227" y="5972"/>
                  <a:pt x="92255" y="0"/>
                  <a:pt x="84832" y="0"/>
                </a:cubicBezTo>
                <a:cubicBezTo>
                  <a:pt x="77409" y="0"/>
                  <a:pt x="71437" y="5972"/>
                  <a:pt x="71437" y="13395"/>
                </a:cubicBezTo>
                <a:lnTo>
                  <a:pt x="71437" y="35719"/>
                </a:lnTo>
                <a:cubicBezTo>
                  <a:pt x="51736" y="35719"/>
                  <a:pt x="35719" y="51736"/>
                  <a:pt x="35719" y="71437"/>
                </a:cubicBezTo>
                <a:lnTo>
                  <a:pt x="13395" y="71437"/>
                </a:lnTo>
                <a:cubicBezTo>
                  <a:pt x="5972" y="71437"/>
                  <a:pt x="0" y="77409"/>
                  <a:pt x="0" y="84832"/>
                </a:cubicBezTo>
                <a:cubicBezTo>
                  <a:pt x="0" y="92255"/>
                  <a:pt x="5972" y="98227"/>
                  <a:pt x="13395" y="98227"/>
                </a:cubicBezTo>
                <a:lnTo>
                  <a:pt x="35719" y="98227"/>
                </a:lnTo>
                <a:lnTo>
                  <a:pt x="35719" y="129480"/>
                </a:lnTo>
                <a:lnTo>
                  <a:pt x="13395" y="129480"/>
                </a:lnTo>
                <a:cubicBezTo>
                  <a:pt x="5972" y="129480"/>
                  <a:pt x="0" y="135452"/>
                  <a:pt x="0" y="142875"/>
                </a:cubicBezTo>
                <a:cubicBezTo>
                  <a:pt x="0" y="150298"/>
                  <a:pt x="5972" y="156270"/>
                  <a:pt x="13395" y="156270"/>
                </a:cubicBezTo>
                <a:lnTo>
                  <a:pt x="35719" y="156270"/>
                </a:lnTo>
                <a:lnTo>
                  <a:pt x="35719" y="187523"/>
                </a:lnTo>
                <a:lnTo>
                  <a:pt x="13395" y="187523"/>
                </a:lnTo>
                <a:cubicBezTo>
                  <a:pt x="5972" y="187523"/>
                  <a:pt x="0" y="193495"/>
                  <a:pt x="0" y="200918"/>
                </a:cubicBezTo>
                <a:cubicBezTo>
                  <a:pt x="0" y="208341"/>
                  <a:pt x="5972" y="214313"/>
                  <a:pt x="13395" y="214313"/>
                </a:cubicBezTo>
                <a:lnTo>
                  <a:pt x="35719" y="214313"/>
                </a:lnTo>
                <a:cubicBezTo>
                  <a:pt x="35719" y="234014"/>
                  <a:pt x="51736" y="250031"/>
                  <a:pt x="71437" y="250031"/>
                </a:cubicBezTo>
                <a:lnTo>
                  <a:pt x="71437" y="272355"/>
                </a:lnTo>
                <a:cubicBezTo>
                  <a:pt x="71437" y="279778"/>
                  <a:pt x="77409" y="285750"/>
                  <a:pt x="84832" y="285750"/>
                </a:cubicBezTo>
                <a:cubicBezTo>
                  <a:pt x="92255" y="285750"/>
                  <a:pt x="98227" y="279778"/>
                  <a:pt x="98227" y="272355"/>
                </a:cubicBezTo>
                <a:lnTo>
                  <a:pt x="98227" y="250031"/>
                </a:lnTo>
                <a:lnTo>
                  <a:pt x="129480" y="250031"/>
                </a:lnTo>
                <a:lnTo>
                  <a:pt x="129480" y="272355"/>
                </a:lnTo>
                <a:cubicBezTo>
                  <a:pt x="129480" y="279778"/>
                  <a:pt x="135452" y="285750"/>
                  <a:pt x="142875" y="285750"/>
                </a:cubicBezTo>
                <a:cubicBezTo>
                  <a:pt x="150298" y="285750"/>
                  <a:pt x="156270" y="279778"/>
                  <a:pt x="156270" y="272355"/>
                </a:cubicBezTo>
                <a:lnTo>
                  <a:pt x="156270" y="250031"/>
                </a:lnTo>
                <a:lnTo>
                  <a:pt x="187523" y="250031"/>
                </a:lnTo>
                <a:lnTo>
                  <a:pt x="187523" y="272355"/>
                </a:lnTo>
                <a:cubicBezTo>
                  <a:pt x="187523" y="279778"/>
                  <a:pt x="193495" y="285750"/>
                  <a:pt x="200918" y="285750"/>
                </a:cubicBezTo>
                <a:cubicBezTo>
                  <a:pt x="208341" y="285750"/>
                  <a:pt x="214313" y="279778"/>
                  <a:pt x="214313" y="272355"/>
                </a:cubicBezTo>
                <a:lnTo>
                  <a:pt x="214313" y="250031"/>
                </a:lnTo>
                <a:cubicBezTo>
                  <a:pt x="234014" y="250031"/>
                  <a:pt x="250031" y="234014"/>
                  <a:pt x="250031" y="214313"/>
                </a:cubicBezTo>
                <a:lnTo>
                  <a:pt x="272355" y="214313"/>
                </a:lnTo>
                <a:cubicBezTo>
                  <a:pt x="279778" y="214313"/>
                  <a:pt x="285750" y="208341"/>
                  <a:pt x="285750" y="200918"/>
                </a:cubicBezTo>
                <a:cubicBezTo>
                  <a:pt x="285750" y="193495"/>
                  <a:pt x="279778" y="187523"/>
                  <a:pt x="272355" y="187523"/>
                </a:cubicBezTo>
                <a:lnTo>
                  <a:pt x="250031" y="187523"/>
                </a:lnTo>
                <a:lnTo>
                  <a:pt x="250031" y="156270"/>
                </a:lnTo>
                <a:lnTo>
                  <a:pt x="272355" y="156270"/>
                </a:lnTo>
                <a:cubicBezTo>
                  <a:pt x="279778" y="156270"/>
                  <a:pt x="285750" y="150298"/>
                  <a:pt x="285750" y="142875"/>
                </a:cubicBezTo>
                <a:cubicBezTo>
                  <a:pt x="285750" y="135452"/>
                  <a:pt x="279778" y="129480"/>
                  <a:pt x="272355" y="129480"/>
                </a:cubicBezTo>
                <a:lnTo>
                  <a:pt x="250031" y="129480"/>
                </a:lnTo>
                <a:lnTo>
                  <a:pt x="250031" y="98227"/>
                </a:lnTo>
                <a:lnTo>
                  <a:pt x="272355" y="98227"/>
                </a:lnTo>
                <a:cubicBezTo>
                  <a:pt x="279778" y="98227"/>
                  <a:pt x="285750" y="92255"/>
                  <a:pt x="285750" y="84832"/>
                </a:cubicBezTo>
                <a:cubicBezTo>
                  <a:pt x="285750" y="77409"/>
                  <a:pt x="279778" y="71437"/>
                  <a:pt x="272355" y="71437"/>
                </a:cubicBezTo>
                <a:lnTo>
                  <a:pt x="250031" y="71437"/>
                </a:lnTo>
                <a:cubicBezTo>
                  <a:pt x="250031" y="51736"/>
                  <a:pt x="234014" y="35719"/>
                  <a:pt x="214313" y="35719"/>
                </a:cubicBezTo>
                <a:lnTo>
                  <a:pt x="214313" y="13395"/>
                </a:lnTo>
                <a:cubicBezTo>
                  <a:pt x="214313" y="5972"/>
                  <a:pt x="208341" y="0"/>
                  <a:pt x="200918" y="0"/>
                </a:cubicBezTo>
                <a:cubicBezTo>
                  <a:pt x="193495" y="0"/>
                  <a:pt x="187523" y="5972"/>
                  <a:pt x="187523" y="13395"/>
                </a:cubicBezTo>
                <a:lnTo>
                  <a:pt x="187523" y="35719"/>
                </a:lnTo>
                <a:lnTo>
                  <a:pt x="156270" y="35719"/>
                </a:lnTo>
                <a:lnTo>
                  <a:pt x="156270" y="13395"/>
                </a:lnTo>
                <a:cubicBezTo>
                  <a:pt x="156270" y="5972"/>
                  <a:pt x="150298" y="0"/>
                  <a:pt x="142875" y="0"/>
                </a:cubicBezTo>
                <a:cubicBezTo>
                  <a:pt x="135452" y="0"/>
                  <a:pt x="129480" y="5972"/>
                  <a:pt x="129480" y="13395"/>
                </a:cubicBezTo>
                <a:lnTo>
                  <a:pt x="129480" y="35719"/>
                </a:lnTo>
                <a:lnTo>
                  <a:pt x="98227" y="35719"/>
                </a:lnTo>
                <a:lnTo>
                  <a:pt x="98227" y="13395"/>
                </a:lnTo>
                <a:close/>
                <a:moveTo>
                  <a:pt x="89298" y="71437"/>
                </a:moveTo>
                <a:lnTo>
                  <a:pt x="196452" y="71437"/>
                </a:lnTo>
                <a:cubicBezTo>
                  <a:pt x="206332" y="71437"/>
                  <a:pt x="214313" y="79418"/>
                  <a:pt x="214313" y="89298"/>
                </a:cubicBezTo>
                <a:lnTo>
                  <a:pt x="214313" y="196452"/>
                </a:lnTo>
                <a:cubicBezTo>
                  <a:pt x="214313" y="206332"/>
                  <a:pt x="206332" y="214313"/>
                  <a:pt x="196452" y="214313"/>
                </a:cubicBezTo>
                <a:lnTo>
                  <a:pt x="89298" y="214313"/>
                </a:lnTo>
                <a:cubicBezTo>
                  <a:pt x="79418" y="214313"/>
                  <a:pt x="71437" y="206332"/>
                  <a:pt x="71437" y="196452"/>
                </a:cubicBezTo>
                <a:lnTo>
                  <a:pt x="71437" y="89298"/>
                </a:lnTo>
                <a:cubicBezTo>
                  <a:pt x="71437" y="79418"/>
                  <a:pt x="79418" y="71437"/>
                  <a:pt x="89298" y="71437"/>
                </a:cubicBezTo>
                <a:close/>
                <a:moveTo>
                  <a:pt x="98227" y="98227"/>
                </a:moveTo>
                <a:lnTo>
                  <a:pt x="98227" y="187523"/>
                </a:lnTo>
                <a:lnTo>
                  <a:pt x="187523" y="187523"/>
                </a:lnTo>
                <a:lnTo>
                  <a:pt x="187523" y="98227"/>
                </a:lnTo>
                <a:lnTo>
                  <a:pt x="98227" y="9822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3409751" y="3131381"/>
            <a:ext cx="24765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AMD</a:t>
            </a:r>
            <a:endParaRPr lang="en-US" sz="1100"/>
          </a:p>
        </p:txBody>
      </p:sp>
      <p:sp>
        <p:nvSpPr>
          <p:cNvPr id="11" name="Freeform 11"/>
          <p:cNvSpPr/>
          <p:nvPr/>
        </p:nvSpPr>
        <p:spPr>
          <a:xfrm>
            <a:off x="6181624" y="2607598"/>
            <a:ext cx="2724055" cy="914305"/>
          </a:xfrm>
          <a:custGeom>
            <a:avLst/>
            <a:gdLst/>
            <a:ahLst/>
            <a:cxnLst/>
            <a:rect l="l" t="t" r="r" b="b"/>
            <a:pathLst>
              <a:path w="2724055" h="914305">
                <a:moveTo>
                  <a:pt x="76197" y="0"/>
                </a:moveTo>
                <a:lnTo>
                  <a:pt x="2647857" y="0"/>
                </a:lnTo>
                <a:cubicBezTo>
                  <a:pt x="2689940" y="0"/>
                  <a:pt x="2724055" y="34115"/>
                  <a:pt x="2724055" y="76197"/>
                </a:cubicBezTo>
                <a:lnTo>
                  <a:pt x="2724055" y="838107"/>
                </a:lnTo>
                <a:cubicBezTo>
                  <a:pt x="2724055" y="880190"/>
                  <a:pt x="2689940" y="914305"/>
                  <a:pt x="2647857" y="914305"/>
                </a:cubicBezTo>
                <a:lnTo>
                  <a:pt x="76197" y="914305"/>
                </a:lnTo>
                <a:cubicBezTo>
                  <a:pt x="34115" y="914305"/>
                  <a:pt x="0" y="880190"/>
                  <a:pt x="0" y="838107"/>
                </a:cubicBezTo>
                <a:lnTo>
                  <a:pt x="0" y="76197"/>
                </a:lnTo>
                <a:cubicBezTo>
                  <a:pt x="0" y="34143"/>
                  <a:pt x="34143" y="0"/>
                  <a:pt x="76197"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12" name="Freeform 12"/>
          <p:cNvSpPr/>
          <p:nvPr/>
        </p:nvSpPr>
        <p:spPr>
          <a:xfrm>
            <a:off x="7403241" y="2769459"/>
            <a:ext cx="285750" cy="285750"/>
          </a:xfrm>
          <a:custGeom>
            <a:avLst/>
            <a:gdLst/>
            <a:ahLst/>
            <a:cxnLst/>
            <a:rect l="l" t="t" r="r" b="b"/>
            <a:pathLst>
              <a:path w="285750" h="285750">
                <a:moveTo>
                  <a:pt x="98227" y="13395"/>
                </a:moveTo>
                <a:cubicBezTo>
                  <a:pt x="98227" y="5972"/>
                  <a:pt x="92255" y="0"/>
                  <a:pt x="84832" y="0"/>
                </a:cubicBezTo>
                <a:cubicBezTo>
                  <a:pt x="77409" y="0"/>
                  <a:pt x="71437" y="5972"/>
                  <a:pt x="71437" y="13395"/>
                </a:cubicBezTo>
                <a:lnTo>
                  <a:pt x="71437" y="35719"/>
                </a:lnTo>
                <a:cubicBezTo>
                  <a:pt x="51736" y="35719"/>
                  <a:pt x="35719" y="51736"/>
                  <a:pt x="35719" y="71437"/>
                </a:cubicBezTo>
                <a:lnTo>
                  <a:pt x="13395" y="71437"/>
                </a:lnTo>
                <a:cubicBezTo>
                  <a:pt x="5972" y="71437"/>
                  <a:pt x="0" y="77409"/>
                  <a:pt x="0" y="84832"/>
                </a:cubicBezTo>
                <a:cubicBezTo>
                  <a:pt x="0" y="92255"/>
                  <a:pt x="5972" y="98227"/>
                  <a:pt x="13395" y="98227"/>
                </a:cubicBezTo>
                <a:lnTo>
                  <a:pt x="35719" y="98227"/>
                </a:lnTo>
                <a:lnTo>
                  <a:pt x="35719" y="129480"/>
                </a:lnTo>
                <a:lnTo>
                  <a:pt x="13395" y="129480"/>
                </a:lnTo>
                <a:cubicBezTo>
                  <a:pt x="5972" y="129480"/>
                  <a:pt x="0" y="135452"/>
                  <a:pt x="0" y="142875"/>
                </a:cubicBezTo>
                <a:cubicBezTo>
                  <a:pt x="0" y="150298"/>
                  <a:pt x="5972" y="156270"/>
                  <a:pt x="13395" y="156270"/>
                </a:cubicBezTo>
                <a:lnTo>
                  <a:pt x="35719" y="156270"/>
                </a:lnTo>
                <a:lnTo>
                  <a:pt x="35719" y="187523"/>
                </a:lnTo>
                <a:lnTo>
                  <a:pt x="13395" y="187523"/>
                </a:lnTo>
                <a:cubicBezTo>
                  <a:pt x="5972" y="187523"/>
                  <a:pt x="0" y="193495"/>
                  <a:pt x="0" y="200918"/>
                </a:cubicBezTo>
                <a:cubicBezTo>
                  <a:pt x="0" y="208341"/>
                  <a:pt x="5972" y="214313"/>
                  <a:pt x="13395" y="214313"/>
                </a:cubicBezTo>
                <a:lnTo>
                  <a:pt x="35719" y="214313"/>
                </a:lnTo>
                <a:cubicBezTo>
                  <a:pt x="35719" y="234014"/>
                  <a:pt x="51736" y="250031"/>
                  <a:pt x="71437" y="250031"/>
                </a:cubicBezTo>
                <a:lnTo>
                  <a:pt x="71437" y="272355"/>
                </a:lnTo>
                <a:cubicBezTo>
                  <a:pt x="71437" y="279778"/>
                  <a:pt x="77409" y="285750"/>
                  <a:pt x="84832" y="285750"/>
                </a:cubicBezTo>
                <a:cubicBezTo>
                  <a:pt x="92255" y="285750"/>
                  <a:pt x="98227" y="279778"/>
                  <a:pt x="98227" y="272355"/>
                </a:cubicBezTo>
                <a:lnTo>
                  <a:pt x="98227" y="250031"/>
                </a:lnTo>
                <a:lnTo>
                  <a:pt x="129480" y="250031"/>
                </a:lnTo>
                <a:lnTo>
                  <a:pt x="129480" y="272355"/>
                </a:lnTo>
                <a:cubicBezTo>
                  <a:pt x="129480" y="279778"/>
                  <a:pt x="135452" y="285750"/>
                  <a:pt x="142875" y="285750"/>
                </a:cubicBezTo>
                <a:cubicBezTo>
                  <a:pt x="150298" y="285750"/>
                  <a:pt x="156270" y="279778"/>
                  <a:pt x="156270" y="272355"/>
                </a:cubicBezTo>
                <a:lnTo>
                  <a:pt x="156270" y="250031"/>
                </a:lnTo>
                <a:lnTo>
                  <a:pt x="187523" y="250031"/>
                </a:lnTo>
                <a:lnTo>
                  <a:pt x="187523" y="272355"/>
                </a:lnTo>
                <a:cubicBezTo>
                  <a:pt x="187523" y="279778"/>
                  <a:pt x="193495" y="285750"/>
                  <a:pt x="200918" y="285750"/>
                </a:cubicBezTo>
                <a:cubicBezTo>
                  <a:pt x="208341" y="285750"/>
                  <a:pt x="214313" y="279778"/>
                  <a:pt x="214313" y="272355"/>
                </a:cubicBezTo>
                <a:lnTo>
                  <a:pt x="214313" y="250031"/>
                </a:lnTo>
                <a:cubicBezTo>
                  <a:pt x="234014" y="250031"/>
                  <a:pt x="250031" y="234014"/>
                  <a:pt x="250031" y="214313"/>
                </a:cubicBezTo>
                <a:lnTo>
                  <a:pt x="272355" y="214313"/>
                </a:lnTo>
                <a:cubicBezTo>
                  <a:pt x="279778" y="214313"/>
                  <a:pt x="285750" y="208341"/>
                  <a:pt x="285750" y="200918"/>
                </a:cubicBezTo>
                <a:cubicBezTo>
                  <a:pt x="285750" y="193495"/>
                  <a:pt x="279778" y="187523"/>
                  <a:pt x="272355" y="187523"/>
                </a:cubicBezTo>
                <a:lnTo>
                  <a:pt x="250031" y="187523"/>
                </a:lnTo>
                <a:lnTo>
                  <a:pt x="250031" y="156270"/>
                </a:lnTo>
                <a:lnTo>
                  <a:pt x="272355" y="156270"/>
                </a:lnTo>
                <a:cubicBezTo>
                  <a:pt x="279778" y="156270"/>
                  <a:pt x="285750" y="150298"/>
                  <a:pt x="285750" y="142875"/>
                </a:cubicBezTo>
                <a:cubicBezTo>
                  <a:pt x="285750" y="135452"/>
                  <a:pt x="279778" y="129480"/>
                  <a:pt x="272355" y="129480"/>
                </a:cubicBezTo>
                <a:lnTo>
                  <a:pt x="250031" y="129480"/>
                </a:lnTo>
                <a:lnTo>
                  <a:pt x="250031" y="98227"/>
                </a:lnTo>
                <a:lnTo>
                  <a:pt x="272355" y="98227"/>
                </a:lnTo>
                <a:cubicBezTo>
                  <a:pt x="279778" y="98227"/>
                  <a:pt x="285750" y="92255"/>
                  <a:pt x="285750" y="84832"/>
                </a:cubicBezTo>
                <a:cubicBezTo>
                  <a:pt x="285750" y="77409"/>
                  <a:pt x="279778" y="71437"/>
                  <a:pt x="272355" y="71437"/>
                </a:cubicBezTo>
                <a:lnTo>
                  <a:pt x="250031" y="71437"/>
                </a:lnTo>
                <a:cubicBezTo>
                  <a:pt x="250031" y="51736"/>
                  <a:pt x="234014" y="35719"/>
                  <a:pt x="214313" y="35719"/>
                </a:cubicBezTo>
                <a:lnTo>
                  <a:pt x="214313" y="13395"/>
                </a:lnTo>
                <a:cubicBezTo>
                  <a:pt x="214313" y="5972"/>
                  <a:pt x="208341" y="0"/>
                  <a:pt x="200918" y="0"/>
                </a:cubicBezTo>
                <a:cubicBezTo>
                  <a:pt x="193495" y="0"/>
                  <a:pt x="187523" y="5972"/>
                  <a:pt x="187523" y="13395"/>
                </a:cubicBezTo>
                <a:lnTo>
                  <a:pt x="187523" y="35719"/>
                </a:lnTo>
                <a:lnTo>
                  <a:pt x="156270" y="35719"/>
                </a:lnTo>
                <a:lnTo>
                  <a:pt x="156270" y="13395"/>
                </a:lnTo>
                <a:cubicBezTo>
                  <a:pt x="156270" y="5972"/>
                  <a:pt x="150298" y="0"/>
                  <a:pt x="142875" y="0"/>
                </a:cubicBezTo>
                <a:cubicBezTo>
                  <a:pt x="135452" y="0"/>
                  <a:pt x="129480" y="5972"/>
                  <a:pt x="129480" y="13395"/>
                </a:cubicBezTo>
                <a:lnTo>
                  <a:pt x="129480" y="35719"/>
                </a:lnTo>
                <a:lnTo>
                  <a:pt x="98227" y="35719"/>
                </a:lnTo>
                <a:lnTo>
                  <a:pt x="98227" y="13395"/>
                </a:lnTo>
                <a:close/>
                <a:moveTo>
                  <a:pt x="89298" y="71437"/>
                </a:moveTo>
                <a:lnTo>
                  <a:pt x="196452" y="71437"/>
                </a:lnTo>
                <a:cubicBezTo>
                  <a:pt x="206332" y="71437"/>
                  <a:pt x="214313" y="79418"/>
                  <a:pt x="214313" y="89298"/>
                </a:cubicBezTo>
                <a:lnTo>
                  <a:pt x="214313" y="196452"/>
                </a:lnTo>
                <a:cubicBezTo>
                  <a:pt x="214313" y="206332"/>
                  <a:pt x="206332" y="214313"/>
                  <a:pt x="196452" y="214313"/>
                </a:cubicBezTo>
                <a:lnTo>
                  <a:pt x="89298" y="214313"/>
                </a:lnTo>
                <a:cubicBezTo>
                  <a:pt x="79418" y="214313"/>
                  <a:pt x="71437" y="206332"/>
                  <a:pt x="71437" y="196452"/>
                </a:cubicBezTo>
                <a:lnTo>
                  <a:pt x="71437" y="89298"/>
                </a:lnTo>
                <a:cubicBezTo>
                  <a:pt x="71437" y="79418"/>
                  <a:pt x="79418" y="71437"/>
                  <a:pt x="89298" y="71437"/>
                </a:cubicBezTo>
                <a:close/>
                <a:moveTo>
                  <a:pt x="98227" y="98227"/>
                </a:moveTo>
                <a:lnTo>
                  <a:pt x="98227" y="187523"/>
                </a:lnTo>
                <a:lnTo>
                  <a:pt x="187523" y="187523"/>
                </a:lnTo>
                <a:lnTo>
                  <a:pt x="187523" y="98227"/>
                </a:lnTo>
                <a:lnTo>
                  <a:pt x="98227" y="9822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305384" y="3131381"/>
            <a:ext cx="24765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Iluvatar</a:t>
            </a:r>
            <a:endParaRPr lang="en-US" sz="1100"/>
          </a:p>
        </p:txBody>
      </p:sp>
      <p:sp>
        <p:nvSpPr>
          <p:cNvPr id="14" name="Freeform 14"/>
          <p:cNvSpPr/>
          <p:nvPr/>
        </p:nvSpPr>
        <p:spPr>
          <a:xfrm>
            <a:off x="9077257" y="2607598"/>
            <a:ext cx="2724055" cy="914305"/>
          </a:xfrm>
          <a:custGeom>
            <a:avLst/>
            <a:gdLst/>
            <a:ahLst/>
            <a:cxnLst/>
            <a:rect l="l" t="t" r="r" b="b"/>
            <a:pathLst>
              <a:path w="2724055" h="914305">
                <a:moveTo>
                  <a:pt x="76197" y="0"/>
                </a:moveTo>
                <a:lnTo>
                  <a:pt x="2647857" y="0"/>
                </a:lnTo>
                <a:cubicBezTo>
                  <a:pt x="2689940" y="0"/>
                  <a:pt x="2724055" y="34115"/>
                  <a:pt x="2724055" y="76197"/>
                </a:cubicBezTo>
                <a:lnTo>
                  <a:pt x="2724055" y="838107"/>
                </a:lnTo>
                <a:cubicBezTo>
                  <a:pt x="2724055" y="880190"/>
                  <a:pt x="2689940" y="914305"/>
                  <a:pt x="2647857" y="914305"/>
                </a:cubicBezTo>
                <a:lnTo>
                  <a:pt x="76197" y="914305"/>
                </a:lnTo>
                <a:cubicBezTo>
                  <a:pt x="34115" y="914305"/>
                  <a:pt x="0" y="880190"/>
                  <a:pt x="0" y="838107"/>
                </a:cubicBezTo>
                <a:lnTo>
                  <a:pt x="0" y="76197"/>
                </a:lnTo>
                <a:cubicBezTo>
                  <a:pt x="0" y="34143"/>
                  <a:pt x="34143" y="0"/>
                  <a:pt x="76197"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15" name="Freeform 15"/>
          <p:cNvSpPr/>
          <p:nvPr/>
        </p:nvSpPr>
        <p:spPr>
          <a:xfrm>
            <a:off x="10298874" y="2769459"/>
            <a:ext cx="285750" cy="285750"/>
          </a:xfrm>
          <a:custGeom>
            <a:avLst/>
            <a:gdLst/>
            <a:ahLst/>
            <a:cxnLst/>
            <a:rect l="l" t="t" r="r" b="b"/>
            <a:pathLst>
              <a:path w="285750" h="285750">
                <a:moveTo>
                  <a:pt x="98227" y="13395"/>
                </a:moveTo>
                <a:cubicBezTo>
                  <a:pt x="98227" y="5972"/>
                  <a:pt x="92255" y="0"/>
                  <a:pt x="84832" y="0"/>
                </a:cubicBezTo>
                <a:cubicBezTo>
                  <a:pt x="77409" y="0"/>
                  <a:pt x="71438" y="5972"/>
                  <a:pt x="71438" y="13395"/>
                </a:cubicBezTo>
                <a:lnTo>
                  <a:pt x="71438" y="35719"/>
                </a:lnTo>
                <a:cubicBezTo>
                  <a:pt x="51736" y="35719"/>
                  <a:pt x="35719" y="51736"/>
                  <a:pt x="35719" y="71437"/>
                </a:cubicBezTo>
                <a:lnTo>
                  <a:pt x="13395" y="71437"/>
                </a:lnTo>
                <a:cubicBezTo>
                  <a:pt x="5972" y="71437"/>
                  <a:pt x="0" y="77409"/>
                  <a:pt x="0" y="84832"/>
                </a:cubicBezTo>
                <a:cubicBezTo>
                  <a:pt x="0" y="92255"/>
                  <a:pt x="5972" y="98227"/>
                  <a:pt x="13395" y="98227"/>
                </a:cubicBezTo>
                <a:lnTo>
                  <a:pt x="35719" y="98227"/>
                </a:lnTo>
                <a:lnTo>
                  <a:pt x="35719" y="129480"/>
                </a:lnTo>
                <a:lnTo>
                  <a:pt x="13395" y="129480"/>
                </a:lnTo>
                <a:cubicBezTo>
                  <a:pt x="5972" y="129480"/>
                  <a:pt x="0" y="135452"/>
                  <a:pt x="0" y="142875"/>
                </a:cubicBezTo>
                <a:cubicBezTo>
                  <a:pt x="0" y="150298"/>
                  <a:pt x="5972" y="156270"/>
                  <a:pt x="13395" y="156270"/>
                </a:cubicBezTo>
                <a:lnTo>
                  <a:pt x="35719" y="156270"/>
                </a:lnTo>
                <a:lnTo>
                  <a:pt x="35719" y="187523"/>
                </a:lnTo>
                <a:lnTo>
                  <a:pt x="13395" y="187523"/>
                </a:lnTo>
                <a:cubicBezTo>
                  <a:pt x="5972" y="187523"/>
                  <a:pt x="0" y="193495"/>
                  <a:pt x="0" y="200918"/>
                </a:cubicBezTo>
                <a:cubicBezTo>
                  <a:pt x="0" y="208341"/>
                  <a:pt x="5972" y="214313"/>
                  <a:pt x="13395" y="214313"/>
                </a:cubicBezTo>
                <a:lnTo>
                  <a:pt x="35719" y="214313"/>
                </a:lnTo>
                <a:cubicBezTo>
                  <a:pt x="35719" y="234014"/>
                  <a:pt x="51736" y="250031"/>
                  <a:pt x="71438" y="250031"/>
                </a:cubicBezTo>
                <a:lnTo>
                  <a:pt x="71438" y="272355"/>
                </a:lnTo>
                <a:cubicBezTo>
                  <a:pt x="71438" y="279778"/>
                  <a:pt x="77409" y="285750"/>
                  <a:pt x="84832" y="285750"/>
                </a:cubicBezTo>
                <a:cubicBezTo>
                  <a:pt x="92255" y="285750"/>
                  <a:pt x="98227" y="279778"/>
                  <a:pt x="98227" y="272355"/>
                </a:cubicBezTo>
                <a:lnTo>
                  <a:pt x="98227" y="250031"/>
                </a:lnTo>
                <a:lnTo>
                  <a:pt x="129480" y="250031"/>
                </a:lnTo>
                <a:lnTo>
                  <a:pt x="129480" y="272355"/>
                </a:lnTo>
                <a:cubicBezTo>
                  <a:pt x="129480" y="279778"/>
                  <a:pt x="135452" y="285750"/>
                  <a:pt x="142875" y="285750"/>
                </a:cubicBezTo>
                <a:cubicBezTo>
                  <a:pt x="150298" y="285750"/>
                  <a:pt x="156270" y="279778"/>
                  <a:pt x="156270" y="272355"/>
                </a:cubicBezTo>
                <a:lnTo>
                  <a:pt x="156270" y="250031"/>
                </a:lnTo>
                <a:lnTo>
                  <a:pt x="187523" y="250031"/>
                </a:lnTo>
                <a:lnTo>
                  <a:pt x="187523" y="272355"/>
                </a:lnTo>
                <a:cubicBezTo>
                  <a:pt x="187523" y="279778"/>
                  <a:pt x="193495" y="285750"/>
                  <a:pt x="200918" y="285750"/>
                </a:cubicBezTo>
                <a:cubicBezTo>
                  <a:pt x="208341" y="285750"/>
                  <a:pt x="214312" y="279778"/>
                  <a:pt x="214312" y="272355"/>
                </a:cubicBezTo>
                <a:lnTo>
                  <a:pt x="214312" y="250031"/>
                </a:lnTo>
                <a:cubicBezTo>
                  <a:pt x="234014" y="250031"/>
                  <a:pt x="250031" y="234014"/>
                  <a:pt x="250031" y="214313"/>
                </a:cubicBezTo>
                <a:lnTo>
                  <a:pt x="272355" y="214313"/>
                </a:lnTo>
                <a:cubicBezTo>
                  <a:pt x="279778" y="214313"/>
                  <a:pt x="285750" y="208341"/>
                  <a:pt x="285750" y="200918"/>
                </a:cubicBezTo>
                <a:cubicBezTo>
                  <a:pt x="285750" y="193495"/>
                  <a:pt x="279778" y="187523"/>
                  <a:pt x="272355" y="187523"/>
                </a:cubicBezTo>
                <a:lnTo>
                  <a:pt x="250031" y="187523"/>
                </a:lnTo>
                <a:lnTo>
                  <a:pt x="250031" y="156270"/>
                </a:lnTo>
                <a:lnTo>
                  <a:pt x="272355" y="156270"/>
                </a:lnTo>
                <a:cubicBezTo>
                  <a:pt x="279778" y="156270"/>
                  <a:pt x="285750" y="150298"/>
                  <a:pt x="285750" y="142875"/>
                </a:cubicBezTo>
                <a:cubicBezTo>
                  <a:pt x="285750" y="135452"/>
                  <a:pt x="279778" y="129480"/>
                  <a:pt x="272355" y="129480"/>
                </a:cubicBezTo>
                <a:lnTo>
                  <a:pt x="250031" y="129480"/>
                </a:lnTo>
                <a:lnTo>
                  <a:pt x="250031" y="98227"/>
                </a:lnTo>
                <a:lnTo>
                  <a:pt x="272355" y="98227"/>
                </a:lnTo>
                <a:cubicBezTo>
                  <a:pt x="279778" y="98227"/>
                  <a:pt x="285750" y="92255"/>
                  <a:pt x="285750" y="84832"/>
                </a:cubicBezTo>
                <a:cubicBezTo>
                  <a:pt x="285750" y="77409"/>
                  <a:pt x="279778" y="71437"/>
                  <a:pt x="272355" y="71437"/>
                </a:cubicBezTo>
                <a:lnTo>
                  <a:pt x="250031" y="71437"/>
                </a:lnTo>
                <a:cubicBezTo>
                  <a:pt x="250031" y="51736"/>
                  <a:pt x="234014" y="35719"/>
                  <a:pt x="214312" y="35719"/>
                </a:cubicBezTo>
                <a:lnTo>
                  <a:pt x="214312" y="13395"/>
                </a:lnTo>
                <a:cubicBezTo>
                  <a:pt x="214312" y="5972"/>
                  <a:pt x="208341" y="0"/>
                  <a:pt x="200918" y="0"/>
                </a:cubicBezTo>
                <a:cubicBezTo>
                  <a:pt x="193495" y="0"/>
                  <a:pt x="187523" y="5972"/>
                  <a:pt x="187523" y="13395"/>
                </a:cubicBezTo>
                <a:lnTo>
                  <a:pt x="187523" y="35719"/>
                </a:lnTo>
                <a:lnTo>
                  <a:pt x="156270" y="35719"/>
                </a:lnTo>
                <a:lnTo>
                  <a:pt x="156270" y="13395"/>
                </a:lnTo>
                <a:cubicBezTo>
                  <a:pt x="156270" y="5972"/>
                  <a:pt x="150298" y="0"/>
                  <a:pt x="142875" y="0"/>
                </a:cubicBezTo>
                <a:cubicBezTo>
                  <a:pt x="135452" y="0"/>
                  <a:pt x="129480" y="5972"/>
                  <a:pt x="129480" y="13395"/>
                </a:cubicBezTo>
                <a:lnTo>
                  <a:pt x="129480" y="35719"/>
                </a:lnTo>
                <a:lnTo>
                  <a:pt x="98227" y="35719"/>
                </a:lnTo>
                <a:lnTo>
                  <a:pt x="98227" y="13395"/>
                </a:lnTo>
                <a:close/>
                <a:moveTo>
                  <a:pt x="89298" y="71437"/>
                </a:moveTo>
                <a:lnTo>
                  <a:pt x="196452" y="71437"/>
                </a:lnTo>
                <a:cubicBezTo>
                  <a:pt x="206332" y="71437"/>
                  <a:pt x="214312" y="79418"/>
                  <a:pt x="214312" y="89298"/>
                </a:cubicBezTo>
                <a:lnTo>
                  <a:pt x="214312" y="196452"/>
                </a:lnTo>
                <a:cubicBezTo>
                  <a:pt x="214312" y="206332"/>
                  <a:pt x="206332" y="214313"/>
                  <a:pt x="196452" y="214313"/>
                </a:cubicBezTo>
                <a:lnTo>
                  <a:pt x="89298" y="214313"/>
                </a:lnTo>
                <a:cubicBezTo>
                  <a:pt x="79418" y="214313"/>
                  <a:pt x="71438" y="206332"/>
                  <a:pt x="71438" y="196452"/>
                </a:cubicBezTo>
                <a:lnTo>
                  <a:pt x="71438" y="89298"/>
                </a:lnTo>
                <a:cubicBezTo>
                  <a:pt x="71438" y="79418"/>
                  <a:pt x="79418" y="71437"/>
                  <a:pt x="89298" y="71437"/>
                </a:cubicBezTo>
                <a:close/>
                <a:moveTo>
                  <a:pt x="98227" y="98227"/>
                </a:moveTo>
                <a:lnTo>
                  <a:pt x="98227" y="187523"/>
                </a:lnTo>
                <a:lnTo>
                  <a:pt x="187523" y="187523"/>
                </a:lnTo>
                <a:lnTo>
                  <a:pt x="187523" y="98227"/>
                </a:lnTo>
                <a:lnTo>
                  <a:pt x="98227" y="9822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9201016" y="3131381"/>
            <a:ext cx="24765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Moore Threads</a:t>
            </a:r>
            <a:endParaRPr lang="en-US" sz="1100"/>
          </a:p>
        </p:txBody>
      </p:sp>
      <p:sp>
        <p:nvSpPr>
          <p:cNvPr id="17" name="Freeform 17"/>
          <p:cNvSpPr/>
          <p:nvPr/>
        </p:nvSpPr>
        <p:spPr>
          <a:xfrm>
            <a:off x="390433" y="3693160"/>
            <a:ext cx="2724055" cy="914305"/>
          </a:xfrm>
          <a:custGeom>
            <a:avLst/>
            <a:gdLst/>
            <a:ahLst/>
            <a:cxnLst/>
            <a:rect l="l" t="t" r="r" b="b"/>
            <a:pathLst>
              <a:path w="2724055" h="914305">
                <a:moveTo>
                  <a:pt x="76197" y="0"/>
                </a:moveTo>
                <a:lnTo>
                  <a:pt x="2647857" y="0"/>
                </a:lnTo>
                <a:cubicBezTo>
                  <a:pt x="2689940" y="0"/>
                  <a:pt x="2724055" y="34115"/>
                  <a:pt x="2724055" y="76197"/>
                </a:cubicBezTo>
                <a:lnTo>
                  <a:pt x="2724055" y="838107"/>
                </a:lnTo>
                <a:cubicBezTo>
                  <a:pt x="2724055" y="880190"/>
                  <a:pt x="2689940" y="914305"/>
                  <a:pt x="2647857" y="914305"/>
                </a:cubicBezTo>
                <a:lnTo>
                  <a:pt x="76197" y="914305"/>
                </a:lnTo>
                <a:cubicBezTo>
                  <a:pt x="34115" y="914305"/>
                  <a:pt x="0" y="880190"/>
                  <a:pt x="0" y="838107"/>
                </a:cubicBezTo>
                <a:lnTo>
                  <a:pt x="0" y="76197"/>
                </a:lnTo>
                <a:cubicBezTo>
                  <a:pt x="0" y="34143"/>
                  <a:pt x="34143" y="0"/>
                  <a:pt x="76197"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18" name="Freeform 18"/>
          <p:cNvSpPr/>
          <p:nvPr/>
        </p:nvSpPr>
        <p:spPr>
          <a:xfrm>
            <a:off x="1612050" y="3855011"/>
            <a:ext cx="285750" cy="285750"/>
          </a:xfrm>
          <a:custGeom>
            <a:avLst/>
            <a:gdLst/>
            <a:ahLst/>
            <a:cxnLst/>
            <a:rect l="l" t="t" r="r" b="b"/>
            <a:pathLst>
              <a:path w="285750" h="285750">
                <a:moveTo>
                  <a:pt x="98227" y="13395"/>
                </a:moveTo>
                <a:cubicBezTo>
                  <a:pt x="98227" y="5972"/>
                  <a:pt x="92255" y="0"/>
                  <a:pt x="84832" y="0"/>
                </a:cubicBezTo>
                <a:cubicBezTo>
                  <a:pt x="77409" y="0"/>
                  <a:pt x="71438" y="5972"/>
                  <a:pt x="71438" y="13395"/>
                </a:cubicBezTo>
                <a:lnTo>
                  <a:pt x="71438" y="35719"/>
                </a:lnTo>
                <a:cubicBezTo>
                  <a:pt x="51736" y="35719"/>
                  <a:pt x="35719" y="51736"/>
                  <a:pt x="35719" y="71437"/>
                </a:cubicBezTo>
                <a:lnTo>
                  <a:pt x="13395" y="71437"/>
                </a:lnTo>
                <a:cubicBezTo>
                  <a:pt x="5972" y="71437"/>
                  <a:pt x="0" y="77409"/>
                  <a:pt x="0" y="84832"/>
                </a:cubicBezTo>
                <a:cubicBezTo>
                  <a:pt x="0" y="92255"/>
                  <a:pt x="5972" y="98227"/>
                  <a:pt x="13395" y="98227"/>
                </a:cubicBezTo>
                <a:lnTo>
                  <a:pt x="35719" y="98227"/>
                </a:lnTo>
                <a:lnTo>
                  <a:pt x="35719" y="129480"/>
                </a:lnTo>
                <a:lnTo>
                  <a:pt x="13395" y="129480"/>
                </a:lnTo>
                <a:cubicBezTo>
                  <a:pt x="5972" y="129480"/>
                  <a:pt x="0" y="135452"/>
                  <a:pt x="0" y="142875"/>
                </a:cubicBezTo>
                <a:cubicBezTo>
                  <a:pt x="0" y="150298"/>
                  <a:pt x="5972" y="156270"/>
                  <a:pt x="13395" y="156270"/>
                </a:cubicBezTo>
                <a:lnTo>
                  <a:pt x="35719" y="156270"/>
                </a:lnTo>
                <a:lnTo>
                  <a:pt x="35719" y="187523"/>
                </a:lnTo>
                <a:lnTo>
                  <a:pt x="13395" y="187523"/>
                </a:lnTo>
                <a:cubicBezTo>
                  <a:pt x="5972" y="187523"/>
                  <a:pt x="0" y="193495"/>
                  <a:pt x="0" y="200918"/>
                </a:cubicBezTo>
                <a:cubicBezTo>
                  <a:pt x="0" y="208341"/>
                  <a:pt x="5972" y="214312"/>
                  <a:pt x="13395" y="214312"/>
                </a:cubicBezTo>
                <a:lnTo>
                  <a:pt x="35719" y="214312"/>
                </a:lnTo>
                <a:cubicBezTo>
                  <a:pt x="35719" y="234014"/>
                  <a:pt x="51736" y="250031"/>
                  <a:pt x="71438" y="250031"/>
                </a:cubicBezTo>
                <a:lnTo>
                  <a:pt x="71438" y="272355"/>
                </a:lnTo>
                <a:cubicBezTo>
                  <a:pt x="71438" y="279778"/>
                  <a:pt x="77409" y="285750"/>
                  <a:pt x="84832" y="285750"/>
                </a:cubicBezTo>
                <a:cubicBezTo>
                  <a:pt x="92255" y="285750"/>
                  <a:pt x="98227" y="279778"/>
                  <a:pt x="98227" y="272355"/>
                </a:cubicBezTo>
                <a:lnTo>
                  <a:pt x="98227" y="250031"/>
                </a:lnTo>
                <a:lnTo>
                  <a:pt x="129480" y="250031"/>
                </a:lnTo>
                <a:lnTo>
                  <a:pt x="129480" y="272355"/>
                </a:lnTo>
                <a:cubicBezTo>
                  <a:pt x="129480" y="279778"/>
                  <a:pt x="135452" y="285750"/>
                  <a:pt x="142875" y="285750"/>
                </a:cubicBezTo>
                <a:cubicBezTo>
                  <a:pt x="150298" y="285750"/>
                  <a:pt x="156270" y="279778"/>
                  <a:pt x="156270" y="272355"/>
                </a:cubicBezTo>
                <a:lnTo>
                  <a:pt x="156270" y="250031"/>
                </a:lnTo>
                <a:lnTo>
                  <a:pt x="187523" y="250031"/>
                </a:lnTo>
                <a:lnTo>
                  <a:pt x="187523" y="272355"/>
                </a:lnTo>
                <a:cubicBezTo>
                  <a:pt x="187523" y="279778"/>
                  <a:pt x="193495" y="285750"/>
                  <a:pt x="200918" y="285750"/>
                </a:cubicBezTo>
                <a:cubicBezTo>
                  <a:pt x="208341" y="285750"/>
                  <a:pt x="214313" y="279778"/>
                  <a:pt x="214313" y="272355"/>
                </a:cubicBezTo>
                <a:lnTo>
                  <a:pt x="214313" y="250031"/>
                </a:lnTo>
                <a:cubicBezTo>
                  <a:pt x="234014" y="250031"/>
                  <a:pt x="250031" y="234014"/>
                  <a:pt x="250031" y="214312"/>
                </a:cubicBezTo>
                <a:lnTo>
                  <a:pt x="272355" y="214312"/>
                </a:lnTo>
                <a:cubicBezTo>
                  <a:pt x="279778" y="214312"/>
                  <a:pt x="285750" y="208341"/>
                  <a:pt x="285750" y="200918"/>
                </a:cubicBezTo>
                <a:cubicBezTo>
                  <a:pt x="285750" y="193495"/>
                  <a:pt x="279778" y="187523"/>
                  <a:pt x="272355" y="187523"/>
                </a:cubicBezTo>
                <a:lnTo>
                  <a:pt x="250031" y="187523"/>
                </a:lnTo>
                <a:lnTo>
                  <a:pt x="250031" y="156270"/>
                </a:lnTo>
                <a:lnTo>
                  <a:pt x="272355" y="156270"/>
                </a:lnTo>
                <a:cubicBezTo>
                  <a:pt x="279778" y="156270"/>
                  <a:pt x="285750" y="150298"/>
                  <a:pt x="285750" y="142875"/>
                </a:cubicBezTo>
                <a:cubicBezTo>
                  <a:pt x="285750" y="135452"/>
                  <a:pt x="279778" y="129480"/>
                  <a:pt x="272355" y="129480"/>
                </a:cubicBezTo>
                <a:lnTo>
                  <a:pt x="250031" y="129480"/>
                </a:lnTo>
                <a:lnTo>
                  <a:pt x="250031" y="98227"/>
                </a:lnTo>
                <a:lnTo>
                  <a:pt x="272355" y="98227"/>
                </a:lnTo>
                <a:cubicBezTo>
                  <a:pt x="279778" y="98227"/>
                  <a:pt x="285750" y="92255"/>
                  <a:pt x="285750" y="84832"/>
                </a:cubicBezTo>
                <a:cubicBezTo>
                  <a:pt x="285750" y="77409"/>
                  <a:pt x="279778" y="71437"/>
                  <a:pt x="272355" y="71437"/>
                </a:cubicBezTo>
                <a:lnTo>
                  <a:pt x="250031" y="71437"/>
                </a:lnTo>
                <a:cubicBezTo>
                  <a:pt x="250031" y="51736"/>
                  <a:pt x="234014" y="35719"/>
                  <a:pt x="214313" y="35719"/>
                </a:cubicBezTo>
                <a:lnTo>
                  <a:pt x="214313" y="13395"/>
                </a:lnTo>
                <a:cubicBezTo>
                  <a:pt x="214313" y="5972"/>
                  <a:pt x="208341" y="0"/>
                  <a:pt x="200918" y="0"/>
                </a:cubicBezTo>
                <a:cubicBezTo>
                  <a:pt x="193495" y="0"/>
                  <a:pt x="187523" y="5972"/>
                  <a:pt x="187523" y="13395"/>
                </a:cubicBezTo>
                <a:lnTo>
                  <a:pt x="187523" y="35719"/>
                </a:lnTo>
                <a:lnTo>
                  <a:pt x="156270" y="35719"/>
                </a:lnTo>
                <a:lnTo>
                  <a:pt x="156270" y="13395"/>
                </a:lnTo>
                <a:cubicBezTo>
                  <a:pt x="156270" y="5972"/>
                  <a:pt x="150298" y="0"/>
                  <a:pt x="142875" y="0"/>
                </a:cubicBezTo>
                <a:cubicBezTo>
                  <a:pt x="135452" y="0"/>
                  <a:pt x="129480" y="5972"/>
                  <a:pt x="129480" y="13395"/>
                </a:cubicBezTo>
                <a:lnTo>
                  <a:pt x="129480" y="35719"/>
                </a:lnTo>
                <a:lnTo>
                  <a:pt x="98227" y="35719"/>
                </a:lnTo>
                <a:lnTo>
                  <a:pt x="98227" y="13395"/>
                </a:lnTo>
                <a:close/>
                <a:moveTo>
                  <a:pt x="89298" y="71437"/>
                </a:moveTo>
                <a:lnTo>
                  <a:pt x="196452" y="71437"/>
                </a:lnTo>
                <a:cubicBezTo>
                  <a:pt x="206332" y="71437"/>
                  <a:pt x="214313" y="79418"/>
                  <a:pt x="214313" y="89298"/>
                </a:cubicBezTo>
                <a:lnTo>
                  <a:pt x="214313" y="196452"/>
                </a:lnTo>
                <a:cubicBezTo>
                  <a:pt x="214313" y="206332"/>
                  <a:pt x="206332" y="214312"/>
                  <a:pt x="196452" y="214312"/>
                </a:cubicBezTo>
                <a:lnTo>
                  <a:pt x="89298" y="214312"/>
                </a:lnTo>
                <a:cubicBezTo>
                  <a:pt x="79418" y="214312"/>
                  <a:pt x="71438" y="206332"/>
                  <a:pt x="71438" y="196452"/>
                </a:cubicBezTo>
                <a:lnTo>
                  <a:pt x="71438" y="89298"/>
                </a:lnTo>
                <a:cubicBezTo>
                  <a:pt x="71438" y="79418"/>
                  <a:pt x="79418" y="71437"/>
                  <a:pt x="89298" y="71437"/>
                </a:cubicBezTo>
                <a:close/>
                <a:moveTo>
                  <a:pt x="98227" y="98227"/>
                </a:moveTo>
                <a:lnTo>
                  <a:pt x="98227" y="187523"/>
                </a:lnTo>
                <a:lnTo>
                  <a:pt x="187523" y="187523"/>
                </a:lnTo>
                <a:lnTo>
                  <a:pt x="187523" y="98227"/>
                </a:lnTo>
                <a:lnTo>
                  <a:pt x="98227" y="9822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AutoShape 19"/>
          <p:cNvSpPr/>
          <p:nvPr/>
        </p:nvSpPr>
        <p:spPr>
          <a:xfrm>
            <a:off x="514193" y="4216943"/>
            <a:ext cx="24765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MetaX</a:t>
            </a:r>
            <a:endParaRPr lang="en-US" sz="1100"/>
          </a:p>
        </p:txBody>
      </p:sp>
      <p:sp>
        <p:nvSpPr>
          <p:cNvPr id="20" name="Freeform 20"/>
          <p:cNvSpPr/>
          <p:nvPr/>
        </p:nvSpPr>
        <p:spPr>
          <a:xfrm>
            <a:off x="3285992" y="3693160"/>
            <a:ext cx="2724055" cy="914305"/>
          </a:xfrm>
          <a:custGeom>
            <a:avLst/>
            <a:gdLst/>
            <a:ahLst/>
            <a:cxnLst/>
            <a:rect l="l" t="t" r="r" b="b"/>
            <a:pathLst>
              <a:path w="2724055" h="914305">
                <a:moveTo>
                  <a:pt x="76197" y="0"/>
                </a:moveTo>
                <a:lnTo>
                  <a:pt x="2647857" y="0"/>
                </a:lnTo>
                <a:cubicBezTo>
                  <a:pt x="2689940" y="0"/>
                  <a:pt x="2724055" y="34115"/>
                  <a:pt x="2724055" y="76197"/>
                </a:cubicBezTo>
                <a:lnTo>
                  <a:pt x="2724055" y="838107"/>
                </a:lnTo>
                <a:cubicBezTo>
                  <a:pt x="2724055" y="880190"/>
                  <a:pt x="2689940" y="914305"/>
                  <a:pt x="2647857" y="914305"/>
                </a:cubicBezTo>
                <a:lnTo>
                  <a:pt x="76197" y="914305"/>
                </a:lnTo>
                <a:cubicBezTo>
                  <a:pt x="34115" y="914305"/>
                  <a:pt x="0" y="880190"/>
                  <a:pt x="0" y="838107"/>
                </a:cubicBezTo>
                <a:lnTo>
                  <a:pt x="0" y="76197"/>
                </a:lnTo>
                <a:cubicBezTo>
                  <a:pt x="0" y="34143"/>
                  <a:pt x="34143" y="0"/>
                  <a:pt x="76197"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21" name="Freeform 21"/>
          <p:cNvSpPr/>
          <p:nvPr/>
        </p:nvSpPr>
        <p:spPr>
          <a:xfrm>
            <a:off x="4507609" y="3855011"/>
            <a:ext cx="285750" cy="285750"/>
          </a:xfrm>
          <a:custGeom>
            <a:avLst/>
            <a:gdLst/>
            <a:ahLst/>
            <a:cxnLst/>
            <a:rect l="l" t="t" r="r" b="b"/>
            <a:pathLst>
              <a:path w="285750" h="285750">
                <a:moveTo>
                  <a:pt x="98227" y="13395"/>
                </a:moveTo>
                <a:cubicBezTo>
                  <a:pt x="98227" y="5972"/>
                  <a:pt x="92255" y="0"/>
                  <a:pt x="84832" y="0"/>
                </a:cubicBezTo>
                <a:cubicBezTo>
                  <a:pt x="77409" y="0"/>
                  <a:pt x="71437" y="5972"/>
                  <a:pt x="71437" y="13395"/>
                </a:cubicBezTo>
                <a:lnTo>
                  <a:pt x="71437" y="35719"/>
                </a:lnTo>
                <a:cubicBezTo>
                  <a:pt x="51736" y="35719"/>
                  <a:pt x="35719" y="51736"/>
                  <a:pt x="35719" y="71437"/>
                </a:cubicBezTo>
                <a:lnTo>
                  <a:pt x="13395" y="71437"/>
                </a:lnTo>
                <a:cubicBezTo>
                  <a:pt x="5972" y="71437"/>
                  <a:pt x="0" y="77409"/>
                  <a:pt x="0" y="84832"/>
                </a:cubicBezTo>
                <a:cubicBezTo>
                  <a:pt x="0" y="92255"/>
                  <a:pt x="5972" y="98227"/>
                  <a:pt x="13395" y="98227"/>
                </a:cubicBezTo>
                <a:lnTo>
                  <a:pt x="35719" y="98227"/>
                </a:lnTo>
                <a:lnTo>
                  <a:pt x="35719" y="129480"/>
                </a:lnTo>
                <a:lnTo>
                  <a:pt x="13395" y="129480"/>
                </a:lnTo>
                <a:cubicBezTo>
                  <a:pt x="5972" y="129480"/>
                  <a:pt x="0" y="135452"/>
                  <a:pt x="0" y="142875"/>
                </a:cubicBezTo>
                <a:cubicBezTo>
                  <a:pt x="0" y="150298"/>
                  <a:pt x="5972" y="156270"/>
                  <a:pt x="13395" y="156270"/>
                </a:cubicBezTo>
                <a:lnTo>
                  <a:pt x="35719" y="156270"/>
                </a:lnTo>
                <a:lnTo>
                  <a:pt x="35719" y="187523"/>
                </a:lnTo>
                <a:lnTo>
                  <a:pt x="13395" y="187523"/>
                </a:lnTo>
                <a:cubicBezTo>
                  <a:pt x="5972" y="187523"/>
                  <a:pt x="0" y="193495"/>
                  <a:pt x="0" y="200918"/>
                </a:cubicBezTo>
                <a:cubicBezTo>
                  <a:pt x="0" y="208341"/>
                  <a:pt x="5972" y="214312"/>
                  <a:pt x="13395" y="214312"/>
                </a:cubicBezTo>
                <a:lnTo>
                  <a:pt x="35719" y="214312"/>
                </a:lnTo>
                <a:cubicBezTo>
                  <a:pt x="35719" y="234014"/>
                  <a:pt x="51736" y="250031"/>
                  <a:pt x="71437" y="250031"/>
                </a:cubicBezTo>
                <a:lnTo>
                  <a:pt x="71437" y="272355"/>
                </a:lnTo>
                <a:cubicBezTo>
                  <a:pt x="71437" y="279778"/>
                  <a:pt x="77409" y="285750"/>
                  <a:pt x="84832" y="285750"/>
                </a:cubicBezTo>
                <a:cubicBezTo>
                  <a:pt x="92255" y="285750"/>
                  <a:pt x="98227" y="279778"/>
                  <a:pt x="98227" y="272355"/>
                </a:cubicBezTo>
                <a:lnTo>
                  <a:pt x="98227" y="250031"/>
                </a:lnTo>
                <a:lnTo>
                  <a:pt x="129480" y="250031"/>
                </a:lnTo>
                <a:lnTo>
                  <a:pt x="129480" y="272355"/>
                </a:lnTo>
                <a:cubicBezTo>
                  <a:pt x="129480" y="279778"/>
                  <a:pt x="135452" y="285750"/>
                  <a:pt x="142875" y="285750"/>
                </a:cubicBezTo>
                <a:cubicBezTo>
                  <a:pt x="150298" y="285750"/>
                  <a:pt x="156270" y="279778"/>
                  <a:pt x="156270" y="272355"/>
                </a:cubicBezTo>
                <a:lnTo>
                  <a:pt x="156270" y="250031"/>
                </a:lnTo>
                <a:lnTo>
                  <a:pt x="187523" y="250031"/>
                </a:lnTo>
                <a:lnTo>
                  <a:pt x="187523" y="272355"/>
                </a:lnTo>
                <a:cubicBezTo>
                  <a:pt x="187523" y="279778"/>
                  <a:pt x="193495" y="285750"/>
                  <a:pt x="200918" y="285750"/>
                </a:cubicBezTo>
                <a:cubicBezTo>
                  <a:pt x="208341" y="285750"/>
                  <a:pt x="214313" y="279778"/>
                  <a:pt x="214313" y="272355"/>
                </a:cubicBezTo>
                <a:lnTo>
                  <a:pt x="214313" y="250031"/>
                </a:lnTo>
                <a:cubicBezTo>
                  <a:pt x="234014" y="250031"/>
                  <a:pt x="250031" y="234014"/>
                  <a:pt x="250031" y="214312"/>
                </a:cubicBezTo>
                <a:lnTo>
                  <a:pt x="272355" y="214312"/>
                </a:lnTo>
                <a:cubicBezTo>
                  <a:pt x="279778" y="214312"/>
                  <a:pt x="285750" y="208341"/>
                  <a:pt x="285750" y="200918"/>
                </a:cubicBezTo>
                <a:cubicBezTo>
                  <a:pt x="285750" y="193495"/>
                  <a:pt x="279778" y="187523"/>
                  <a:pt x="272355" y="187523"/>
                </a:cubicBezTo>
                <a:lnTo>
                  <a:pt x="250031" y="187523"/>
                </a:lnTo>
                <a:lnTo>
                  <a:pt x="250031" y="156270"/>
                </a:lnTo>
                <a:lnTo>
                  <a:pt x="272355" y="156270"/>
                </a:lnTo>
                <a:cubicBezTo>
                  <a:pt x="279778" y="156270"/>
                  <a:pt x="285750" y="150298"/>
                  <a:pt x="285750" y="142875"/>
                </a:cubicBezTo>
                <a:cubicBezTo>
                  <a:pt x="285750" y="135452"/>
                  <a:pt x="279778" y="129480"/>
                  <a:pt x="272355" y="129480"/>
                </a:cubicBezTo>
                <a:lnTo>
                  <a:pt x="250031" y="129480"/>
                </a:lnTo>
                <a:lnTo>
                  <a:pt x="250031" y="98227"/>
                </a:lnTo>
                <a:lnTo>
                  <a:pt x="272355" y="98227"/>
                </a:lnTo>
                <a:cubicBezTo>
                  <a:pt x="279778" y="98227"/>
                  <a:pt x="285750" y="92255"/>
                  <a:pt x="285750" y="84832"/>
                </a:cubicBezTo>
                <a:cubicBezTo>
                  <a:pt x="285750" y="77409"/>
                  <a:pt x="279778" y="71437"/>
                  <a:pt x="272355" y="71437"/>
                </a:cubicBezTo>
                <a:lnTo>
                  <a:pt x="250031" y="71437"/>
                </a:lnTo>
                <a:cubicBezTo>
                  <a:pt x="250031" y="51736"/>
                  <a:pt x="234014" y="35719"/>
                  <a:pt x="214313" y="35719"/>
                </a:cubicBezTo>
                <a:lnTo>
                  <a:pt x="214313" y="13395"/>
                </a:lnTo>
                <a:cubicBezTo>
                  <a:pt x="214313" y="5972"/>
                  <a:pt x="208341" y="0"/>
                  <a:pt x="200918" y="0"/>
                </a:cubicBezTo>
                <a:cubicBezTo>
                  <a:pt x="193495" y="0"/>
                  <a:pt x="187523" y="5972"/>
                  <a:pt x="187523" y="13395"/>
                </a:cubicBezTo>
                <a:lnTo>
                  <a:pt x="187523" y="35719"/>
                </a:lnTo>
                <a:lnTo>
                  <a:pt x="156270" y="35719"/>
                </a:lnTo>
                <a:lnTo>
                  <a:pt x="156270" y="13395"/>
                </a:lnTo>
                <a:cubicBezTo>
                  <a:pt x="156270" y="5972"/>
                  <a:pt x="150298" y="0"/>
                  <a:pt x="142875" y="0"/>
                </a:cubicBezTo>
                <a:cubicBezTo>
                  <a:pt x="135452" y="0"/>
                  <a:pt x="129480" y="5972"/>
                  <a:pt x="129480" y="13395"/>
                </a:cubicBezTo>
                <a:lnTo>
                  <a:pt x="129480" y="35719"/>
                </a:lnTo>
                <a:lnTo>
                  <a:pt x="98227" y="35719"/>
                </a:lnTo>
                <a:lnTo>
                  <a:pt x="98227" y="13395"/>
                </a:lnTo>
                <a:close/>
                <a:moveTo>
                  <a:pt x="89298" y="71437"/>
                </a:moveTo>
                <a:lnTo>
                  <a:pt x="196452" y="71437"/>
                </a:lnTo>
                <a:cubicBezTo>
                  <a:pt x="206332" y="71437"/>
                  <a:pt x="214313" y="79418"/>
                  <a:pt x="214313" y="89298"/>
                </a:cubicBezTo>
                <a:lnTo>
                  <a:pt x="214313" y="196452"/>
                </a:lnTo>
                <a:cubicBezTo>
                  <a:pt x="214313" y="206332"/>
                  <a:pt x="206332" y="214312"/>
                  <a:pt x="196452" y="214312"/>
                </a:cubicBezTo>
                <a:lnTo>
                  <a:pt x="89298" y="214312"/>
                </a:lnTo>
                <a:cubicBezTo>
                  <a:pt x="79418" y="214312"/>
                  <a:pt x="71437" y="206332"/>
                  <a:pt x="71437" y="196452"/>
                </a:cubicBezTo>
                <a:lnTo>
                  <a:pt x="71437" y="89298"/>
                </a:lnTo>
                <a:cubicBezTo>
                  <a:pt x="71437" y="79418"/>
                  <a:pt x="79418" y="71437"/>
                  <a:pt x="89298" y="71437"/>
                </a:cubicBezTo>
                <a:close/>
                <a:moveTo>
                  <a:pt x="98227" y="98227"/>
                </a:moveTo>
                <a:lnTo>
                  <a:pt x="98227" y="187523"/>
                </a:lnTo>
                <a:lnTo>
                  <a:pt x="187523" y="187523"/>
                </a:lnTo>
                <a:lnTo>
                  <a:pt x="187523" y="98227"/>
                </a:lnTo>
                <a:lnTo>
                  <a:pt x="98227" y="9822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3409751" y="4216943"/>
            <a:ext cx="24765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Huawei Ascend</a:t>
            </a:r>
            <a:endParaRPr lang="en-US" sz="1100"/>
          </a:p>
        </p:txBody>
      </p:sp>
      <p:sp>
        <p:nvSpPr>
          <p:cNvPr id="23" name="Freeform 23"/>
          <p:cNvSpPr/>
          <p:nvPr/>
        </p:nvSpPr>
        <p:spPr>
          <a:xfrm>
            <a:off x="6181624" y="3693160"/>
            <a:ext cx="2724055" cy="914305"/>
          </a:xfrm>
          <a:custGeom>
            <a:avLst/>
            <a:gdLst/>
            <a:ahLst/>
            <a:cxnLst/>
            <a:rect l="l" t="t" r="r" b="b"/>
            <a:pathLst>
              <a:path w="2724055" h="914305">
                <a:moveTo>
                  <a:pt x="76197" y="0"/>
                </a:moveTo>
                <a:lnTo>
                  <a:pt x="2647857" y="0"/>
                </a:lnTo>
                <a:cubicBezTo>
                  <a:pt x="2689940" y="0"/>
                  <a:pt x="2724055" y="34115"/>
                  <a:pt x="2724055" y="76197"/>
                </a:cubicBezTo>
                <a:lnTo>
                  <a:pt x="2724055" y="838107"/>
                </a:lnTo>
                <a:cubicBezTo>
                  <a:pt x="2724055" y="880190"/>
                  <a:pt x="2689940" y="914305"/>
                  <a:pt x="2647857" y="914305"/>
                </a:cubicBezTo>
                <a:lnTo>
                  <a:pt x="76197" y="914305"/>
                </a:lnTo>
                <a:cubicBezTo>
                  <a:pt x="34115" y="914305"/>
                  <a:pt x="0" y="880190"/>
                  <a:pt x="0" y="838107"/>
                </a:cubicBezTo>
                <a:lnTo>
                  <a:pt x="0" y="76197"/>
                </a:lnTo>
                <a:cubicBezTo>
                  <a:pt x="0" y="34143"/>
                  <a:pt x="34143" y="0"/>
                  <a:pt x="76197" y="0"/>
                </a:cubicBezTo>
                <a:close/>
              </a:path>
            </a:pathLst>
          </a:custGeom>
          <a:solidFill>
            <a:srgbClr val="F9FAFB">
              <a:alpha val="10000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24" name="Freeform 24"/>
          <p:cNvSpPr/>
          <p:nvPr/>
        </p:nvSpPr>
        <p:spPr>
          <a:xfrm>
            <a:off x="7403241" y="3855011"/>
            <a:ext cx="285750" cy="285750"/>
          </a:xfrm>
          <a:custGeom>
            <a:avLst/>
            <a:gdLst/>
            <a:ahLst/>
            <a:cxnLst/>
            <a:rect l="l" t="t" r="r" b="b"/>
            <a:pathLst>
              <a:path w="285750" h="285750">
                <a:moveTo>
                  <a:pt x="98227" y="13395"/>
                </a:moveTo>
                <a:cubicBezTo>
                  <a:pt x="98227" y="5972"/>
                  <a:pt x="92255" y="0"/>
                  <a:pt x="84832" y="0"/>
                </a:cubicBezTo>
                <a:cubicBezTo>
                  <a:pt x="77409" y="0"/>
                  <a:pt x="71437" y="5972"/>
                  <a:pt x="71437" y="13395"/>
                </a:cubicBezTo>
                <a:lnTo>
                  <a:pt x="71437" y="35719"/>
                </a:lnTo>
                <a:cubicBezTo>
                  <a:pt x="51736" y="35719"/>
                  <a:pt x="35719" y="51736"/>
                  <a:pt x="35719" y="71437"/>
                </a:cubicBezTo>
                <a:lnTo>
                  <a:pt x="13395" y="71437"/>
                </a:lnTo>
                <a:cubicBezTo>
                  <a:pt x="5972" y="71437"/>
                  <a:pt x="0" y="77409"/>
                  <a:pt x="0" y="84832"/>
                </a:cubicBezTo>
                <a:cubicBezTo>
                  <a:pt x="0" y="92255"/>
                  <a:pt x="5972" y="98227"/>
                  <a:pt x="13395" y="98227"/>
                </a:cubicBezTo>
                <a:lnTo>
                  <a:pt x="35719" y="98227"/>
                </a:lnTo>
                <a:lnTo>
                  <a:pt x="35719" y="129480"/>
                </a:lnTo>
                <a:lnTo>
                  <a:pt x="13395" y="129480"/>
                </a:lnTo>
                <a:cubicBezTo>
                  <a:pt x="5972" y="129480"/>
                  <a:pt x="0" y="135452"/>
                  <a:pt x="0" y="142875"/>
                </a:cubicBezTo>
                <a:cubicBezTo>
                  <a:pt x="0" y="150298"/>
                  <a:pt x="5972" y="156270"/>
                  <a:pt x="13395" y="156270"/>
                </a:cubicBezTo>
                <a:lnTo>
                  <a:pt x="35719" y="156270"/>
                </a:lnTo>
                <a:lnTo>
                  <a:pt x="35719" y="187523"/>
                </a:lnTo>
                <a:lnTo>
                  <a:pt x="13395" y="187523"/>
                </a:lnTo>
                <a:cubicBezTo>
                  <a:pt x="5972" y="187523"/>
                  <a:pt x="0" y="193495"/>
                  <a:pt x="0" y="200918"/>
                </a:cubicBezTo>
                <a:cubicBezTo>
                  <a:pt x="0" y="208341"/>
                  <a:pt x="5972" y="214312"/>
                  <a:pt x="13395" y="214312"/>
                </a:cubicBezTo>
                <a:lnTo>
                  <a:pt x="35719" y="214312"/>
                </a:lnTo>
                <a:cubicBezTo>
                  <a:pt x="35719" y="234014"/>
                  <a:pt x="51736" y="250031"/>
                  <a:pt x="71437" y="250031"/>
                </a:cubicBezTo>
                <a:lnTo>
                  <a:pt x="71437" y="272355"/>
                </a:lnTo>
                <a:cubicBezTo>
                  <a:pt x="71437" y="279778"/>
                  <a:pt x="77409" y="285750"/>
                  <a:pt x="84832" y="285750"/>
                </a:cubicBezTo>
                <a:cubicBezTo>
                  <a:pt x="92255" y="285750"/>
                  <a:pt x="98227" y="279778"/>
                  <a:pt x="98227" y="272355"/>
                </a:cubicBezTo>
                <a:lnTo>
                  <a:pt x="98227" y="250031"/>
                </a:lnTo>
                <a:lnTo>
                  <a:pt x="129480" y="250031"/>
                </a:lnTo>
                <a:lnTo>
                  <a:pt x="129480" y="272355"/>
                </a:lnTo>
                <a:cubicBezTo>
                  <a:pt x="129480" y="279778"/>
                  <a:pt x="135452" y="285750"/>
                  <a:pt x="142875" y="285750"/>
                </a:cubicBezTo>
                <a:cubicBezTo>
                  <a:pt x="150298" y="285750"/>
                  <a:pt x="156270" y="279778"/>
                  <a:pt x="156270" y="272355"/>
                </a:cubicBezTo>
                <a:lnTo>
                  <a:pt x="156270" y="250031"/>
                </a:lnTo>
                <a:lnTo>
                  <a:pt x="187523" y="250031"/>
                </a:lnTo>
                <a:lnTo>
                  <a:pt x="187523" y="272355"/>
                </a:lnTo>
                <a:cubicBezTo>
                  <a:pt x="187523" y="279778"/>
                  <a:pt x="193495" y="285750"/>
                  <a:pt x="200918" y="285750"/>
                </a:cubicBezTo>
                <a:cubicBezTo>
                  <a:pt x="208341" y="285750"/>
                  <a:pt x="214313" y="279778"/>
                  <a:pt x="214313" y="272355"/>
                </a:cubicBezTo>
                <a:lnTo>
                  <a:pt x="214313" y="250031"/>
                </a:lnTo>
                <a:cubicBezTo>
                  <a:pt x="234014" y="250031"/>
                  <a:pt x="250031" y="234014"/>
                  <a:pt x="250031" y="214312"/>
                </a:cubicBezTo>
                <a:lnTo>
                  <a:pt x="272355" y="214312"/>
                </a:lnTo>
                <a:cubicBezTo>
                  <a:pt x="279778" y="214312"/>
                  <a:pt x="285750" y="208341"/>
                  <a:pt x="285750" y="200918"/>
                </a:cubicBezTo>
                <a:cubicBezTo>
                  <a:pt x="285750" y="193495"/>
                  <a:pt x="279778" y="187523"/>
                  <a:pt x="272355" y="187523"/>
                </a:cubicBezTo>
                <a:lnTo>
                  <a:pt x="250031" y="187523"/>
                </a:lnTo>
                <a:lnTo>
                  <a:pt x="250031" y="156270"/>
                </a:lnTo>
                <a:lnTo>
                  <a:pt x="272355" y="156270"/>
                </a:lnTo>
                <a:cubicBezTo>
                  <a:pt x="279778" y="156270"/>
                  <a:pt x="285750" y="150298"/>
                  <a:pt x="285750" y="142875"/>
                </a:cubicBezTo>
                <a:cubicBezTo>
                  <a:pt x="285750" y="135452"/>
                  <a:pt x="279778" y="129480"/>
                  <a:pt x="272355" y="129480"/>
                </a:cubicBezTo>
                <a:lnTo>
                  <a:pt x="250031" y="129480"/>
                </a:lnTo>
                <a:lnTo>
                  <a:pt x="250031" y="98227"/>
                </a:lnTo>
                <a:lnTo>
                  <a:pt x="272355" y="98227"/>
                </a:lnTo>
                <a:cubicBezTo>
                  <a:pt x="279778" y="98227"/>
                  <a:pt x="285750" y="92255"/>
                  <a:pt x="285750" y="84832"/>
                </a:cubicBezTo>
                <a:cubicBezTo>
                  <a:pt x="285750" y="77409"/>
                  <a:pt x="279778" y="71437"/>
                  <a:pt x="272355" y="71437"/>
                </a:cubicBezTo>
                <a:lnTo>
                  <a:pt x="250031" y="71437"/>
                </a:lnTo>
                <a:cubicBezTo>
                  <a:pt x="250031" y="51736"/>
                  <a:pt x="234014" y="35719"/>
                  <a:pt x="214313" y="35719"/>
                </a:cubicBezTo>
                <a:lnTo>
                  <a:pt x="214313" y="13395"/>
                </a:lnTo>
                <a:cubicBezTo>
                  <a:pt x="214313" y="5972"/>
                  <a:pt x="208341" y="0"/>
                  <a:pt x="200918" y="0"/>
                </a:cubicBezTo>
                <a:cubicBezTo>
                  <a:pt x="193495" y="0"/>
                  <a:pt x="187523" y="5972"/>
                  <a:pt x="187523" y="13395"/>
                </a:cubicBezTo>
                <a:lnTo>
                  <a:pt x="187523" y="35719"/>
                </a:lnTo>
                <a:lnTo>
                  <a:pt x="156270" y="35719"/>
                </a:lnTo>
                <a:lnTo>
                  <a:pt x="156270" y="13395"/>
                </a:lnTo>
                <a:cubicBezTo>
                  <a:pt x="156270" y="5972"/>
                  <a:pt x="150298" y="0"/>
                  <a:pt x="142875" y="0"/>
                </a:cubicBezTo>
                <a:cubicBezTo>
                  <a:pt x="135452" y="0"/>
                  <a:pt x="129480" y="5972"/>
                  <a:pt x="129480" y="13395"/>
                </a:cubicBezTo>
                <a:lnTo>
                  <a:pt x="129480" y="35719"/>
                </a:lnTo>
                <a:lnTo>
                  <a:pt x="98227" y="35719"/>
                </a:lnTo>
                <a:lnTo>
                  <a:pt x="98227" y="13395"/>
                </a:lnTo>
                <a:close/>
                <a:moveTo>
                  <a:pt x="89298" y="71437"/>
                </a:moveTo>
                <a:lnTo>
                  <a:pt x="196452" y="71437"/>
                </a:lnTo>
                <a:cubicBezTo>
                  <a:pt x="206332" y="71437"/>
                  <a:pt x="214313" y="79418"/>
                  <a:pt x="214313" y="89298"/>
                </a:cubicBezTo>
                <a:lnTo>
                  <a:pt x="214313" y="196452"/>
                </a:lnTo>
                <a:cubicBezTo>
                  <a:pt x="214313" y="206332"/>
                  <a:pt x="206332" y="214312"/>
                  <a:pt x="196452" y="214312"/>
                </a:cubicBezTo>
                <a:lnTo>
                  <a:pt x="89298" y="214312"/>
                </a:lnTo>
                <a:cubicBezTo>
                  <a:pt x="79418" y="214312"/>
                  <a:pt x="71437" y="206332"/>
                  <a:pt x="71437" y="196452"/>
                </a:cubicBezTo>
                <a:lnTo>
                  <a:pt x="71437" y="89298"/>
                </a:lnTo>
                <a:cubicBezTo>
                  <a:pt x="71437" y="79418"/>
                  <a:pt x="79418" y="71437"/>
                  <a:pt x="89298" y="71437"/>
                </a:cubicBezTo>
                <a:close/>
                <a:moveTo>
                  <a:pt x="98227" y="98227"/>
                </a:moveTo>
                <a:lnTo>
                  <a:pt x="98227" y="187523"/>
                </a:lnTo>
                <a:lnTo>
                  <a:pt x="187523" y="187523"/>
                </a:lnTo>
                <a:lnTo>
                  <a:pt x="187523" y="98227"/>
                </a:lnTo>
                <a:lnTo>
                  <a:pt x="98227" y="9822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6305384" y="4216943"/>
            <a:ext cx="24765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Cambricon</a:t>
            </a:r>
            <a:endParaRPr lang="en-US" sz="1100"/>
          </a:p>
        </p:txBody>
      </p:sp>
      <p:sp>
        <p:nvSpPr>
          <p:cNvPr id="26" name="Freeform 26"/>
          <p:cNvSpPr/>
          <p:nvPr/>
        </p:nvSpPr>
        <p:spPr>
          <a:xfrm>
            <a:off x="9067779" y="3683682"/>
            <a:ext cx="2743200" cy="933450"/>
          </a:xfrm>
          <a:custGeom>
            <a:avLst/>
            <a:gdLst/>
            <a:ahLst/>
            <a:cxnLst/>
            <a:rect l="l" t="t" r="r" b="b"/>
            <a:pathLst>
              <a:path w="2743200" h="933450">
                <a:moveTo>
                  <a:pt x="76197" y="0"/>
                </a:moveTo>
                <a:lnTo>
                  <a:pt x="2667003" y="0"/>
                </a:lnTo>
                <a:cubicBezTo>
                  <a:pt x="2709085" y="0"/>
                  <a:pt x="2743200" y="34115"/>
                  <a:pt x="2743200" y="76197"/>
                </a:cubicBezTo>
                <a:lnTo>
                  <a:pt x="2743200" y="857253"/>
                </a:lnTo>
                <a:cubicBezTo>
                  <a:pt x="2743200" y="899335"/>
                  <a:pt x="2709085" y="933450"/>
                  <a:pt x="2667003" y="933450"/>
                </a:cubicBezTo>
                <a:lnTo>
                  <a:pt x="76197" y="933450"/>
                </a:lnTo>
                <a:cubicBezTo>
                  <a:pt x="34115" y="933450"/>
                  <a:pt x="0" y="899335"/>
                  <a:pt x="0" y="857253"/>
                </a:cubicBezTo>
                <a:lnTo>
                  <a:pt x="0" y="76197"/>
                </a:lnTo>
                <a:cubicBezTo>
                  <a:pt x="0" y="34115"/>
                  <a:pt x="34115" y="0"/>
                  <a:pt x="76197"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7" name="Freeform 27"/>
          <p:cNvSpPr/>
          <p:nvPr/>
        </p:nvSpPr>
        <p:spPr>
          <a:xfrm>
            <a:off x="10316733" y="3853923"/>
            <a:ext cx="250031" cy="250033"/>
          </a:xfrm>
          <a:custGeom>
            <a:avLst/>
            <a:gdLst/>
            <a:ahLst/>
            <a:cxnLst/>
            <a:rect l="l" t="t" r="r" b="b"/>
            <a:pathLst>
              <a:path w="250031" h="250033">
                <a:moveTo>
                  <a:pt x="142875" y="17860"/>
                </a:moveTo>
                <a:cubicBezTo>
                  <a:pt x="142875" y="7980"/>
                  <a:pt x="134894" y="0"/>
                  <a:pt x="125016" y="0"/>
                </a:cubicBezTo>
                <a:cubicBezTo>
                  <a:pt x="115137" y="0"/>
                  <a:pt x="107156" y="7980"/>
                  <a:pt x="107156" y="17860"/>
                </a:cubicBezTo>
                <a:lnTo>
                  <a:pt x="107156" y="107157"/>
                </a:lnTo>
                <a:lnTo>
                  <a:pt x="17859" y="107157"/>
                </a:lnTo>
                <a:cubicBezTo>
                  <a:pt x="7981" y="107157"/>
                  <a:pt x="0" y="115138"/>
                  <a:pt x="0" y="125016"/>
                </a:cubicBezTo>
                <a:cubicBezTo>
                  <a:pt x="0" y="134894"/>
                  <a:pt x="7981" y="142875"/>
                  <a:pt x="17859" y="142875"/>
                </a:cubicBezTo>
                <a:lnTo>
                  <a:pt x="107156" y="142875"/>
                </a:lnTo>
                <a:lnTo>
                  <a:pt x="107156" y="232172"/>
                </a:lnTo>
                <a:cubicBezTo>
                  <a:pt x="107156" y="242052"/>
                  <a:pt x="115137" y="250032"/>
                  <a:pt x="125016" y="250032"/>
                </a:cubicBezTo>
                <a:cubicBezTo>
                  <a:pt x="134894" y="250032"/>
                  <a:pt x="142875" y="242052"/>
                  <a:pt x="142875" y="232172"/>
                </a:cubicBezTo>
                <a:lnTo>
                  <a:pt x="142875" y="142875"/>
                </a:lnTo>
                <a:lnTo>
                  <a:pt x="232173" y="142875"/>
                </a:lnTo>
                <a:cubicBezTo>
                  <a:pt x="242051" y="142875"/>
                  <a:pt x="250031" y="134894"/>
                  <a:pt x="250031" y="125016"/>
                </a:cubicBezTo>
                <a:cubicBezTo>
                  <a:pt x="250031" y="115138"/>
                  <a:pt x="242051" y="107157"/>
                  <a:pt x="232173" y="107157"/>
                </a:cubicBezTo>
                <a:lnTo>
                  <a:pt x="142875" y="107157"/>
                </a:lnTo>
                <a:lnTo>
                  <a:pt x="142875" y="17860"/>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9182062" y="4197986"/>
            <a:ext cx="25146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And more...</a:t>
            </a:r>
            <a:endParaRPr lang="en-US" sz="1100"/>
          </a:p>
        </p:txBody>
      </p:sp>
      <p:sp>
        <p:nvSpPr>
          <p:cNvPr id="29" name="Freeform 29"/>
          <p:cNvSpPr/>
          <p:nvPr/>
        </p:nvSpPr>
        <p:spPr>
          <a:xfrm>
            <a:off x="380956" y="4845425"/>
            <a:ext cx="11430000" cy="1104900"/>
          </a:xfrm>
          <a:custGeom>
            <a:avLst/>
            <a:gdLst/>
            <a:ahLst/>
            <a:cxnLst/>
            <a:rect l="l" t="t" r="r" b="b"/>
            <a:pathLst>
              <a:path w="11430000" h="1104900">
                <a:moveTo>
                  <a:pt x="76205" y="0"/>
                </a:moveTo>
                <a:lnTo>
                  <a:pt x="11353795" y="0"/>
                </a:lnTo>
                <a:cubicBezTo>
                  <a:pt x="11395881" y="0"/>
                  <a:pt x="11430000" y="34119"/>
                  <a:pt x="11430000" y="76205"/>
                </a:cubicBezTo>
                <a:lnTo>
                  <a:pt x="11430000" y="1028695"/>
                </a:lnTo>
                <a:cubicBezTo>
                  <a:pt x="11430000" y="1070781"/>
                  <a:pt x="11395881" y="1104900"/>
                  <a:pt x="11353795" y="1104900"/>
                </a:cubicBezTo>
                <a:lnTo>
                  <a:pt x="76205" y="1104900"/>
                </a:lnTo>
                <a:cubicBezTo>
                  <a:pt x="34119" y="1104900"/>
                  <a:pt x="0" y="1070781"/>
                  <a:pt x="0" y="1028695"/>
                </a:cubicBezTo>
                <a:lnTo>
                  <a:pt x="0" y="76205"/>
                </a:lnTo>
                <a:cubicBezTo>
                  <a:pt x="0" y="34146"/>
                  <a:pt x="34146" y="0"/>
                  <a:pt x="76205"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30" name="Freeform 30"/>
          <p:cNvSpPr/>
          <p:nvPr/>
        </p:nvSpPr>
        <p:spPr>
          <a:xfrm>
            <a:off x="652391" y="5226304"/>
            <a:ext cx="342900" cy="342900"/>
          </a:xfrm>
          <a:custGeom>
            <a:avLst/>
            <a:gdLst/>
            <a:ahLst/>
            <a:cxnLst/>
            <a:rect l="l" t="t" r="r" b="b"/>
            <a:pathLst>
              <a:path w="342900" h="342900">
                <a:moveTo>
                  <a:pt x="300037" y="171450"/>
                </a:moveTo>
                <a:cubicBezTo>
                  <a:pt x="300037" y="100481"/>
                  <a:pt x="242419" y="42862"/>
                  <a:pt x="171450" y="42862"/>
                </a:cubicBezTo>
                <a:cubicBezTo>
                  <a:pt x="100481" y="42862"/>
                  <a:pt x="42863" y="100481"/>
                  <a:pt x="42863" y="171450"/>
                </a:cubicBezTo>
                <a:cubicBezTo>
                  <a:pt x="42863" y="242419"/>
                  <a:pt x="100481" y="300038"/>
                  <a:pt x="171450" y="300038"/>
                </a:cubicBezTo>
                <a:cubicBezTo>
                  <a:pt x="242419" y="300038"/>
                  <a:pt x="300037" y="242419"/>
                  <a:pt x="300037" y="171450"/>
                </a:cubicBezTo>
                <a:close/>
                <a:moveTo>
                  <a:pt x="0" y="171450"/>
                </a:moveTo>
                <a:cubicBezTo>
                  <a:pt x="0" y="76824"/>
                  <a:pt x="76824" y="0"/>
                  <a:pt x="171450" y="0"/>
                </a:cubicBezTo>
                <a:cubicBezTo>
                  <a:pt x="266076" y="0"/>
                  <a:pt x="342900" y="76824"/>
                  <a:pt x="342900" y="171450"/>
                </a:cubicBezTo>
                <a:cubicBezTo>
                  <a:pt x="342900" y="266076"/>
                  <a:pt x="266076" y="342900"/>
                  <a:pt x="171450" y="342900"/>
                </a:cubicBezTo>
                <a:cubicBezTo>
                  <a:pt x="76824" y="342900"/>
                  <a:pt x="0" y="266076"/>
                  <a:pt x="0" y="171450"/>
                </a:cubicBezTo>
                <a:close/>
                <a:moveTo>
                  <a:pt x="171450" y="225027"/>
                </a:moveTo>
                <a:cubicBezTo>
                  <a:pt x="201021" y="225027"/>
                  <a:pt x="225027" y="201021"/>
                  <a:pt x="225027" y="171450"/>
                </a:cubicBezTo>
                <a:cubicBezTo>
                  <a:pt x="225027" y="141879"/>
                  <a:pt x="201021" y="117873"/>
                  <a:pt x="171450" y="117873"/>
                </a:cubicBezTo>
                <a:cubicBezTo>
                  <a:pt x="141879" y="117873"/>
                  <a:pt x="117873" y="141879"/>
                  <a:pt x="117873" y="171450"/>
                </a:cubicBezTo>
                <a:cubicBezTo>
                  <a:pt x="117873" y="201021"/>
                  <a:pt x="141879" y="225027"/>
                  <a:pt x="171450" y="225027"/>
                </a:cubicBezTo>
                <a:close/>
                <a:moveTo>
                  <a:pt x="171450" y="75009"/>
                </a:moveTo>
                <a:cubicBezTo>
                  <a:pt x="224677" y="75009"/>
                  <a:pt x="267891" y="118223"/>
                  <a:pt x="267891" y="171450"/>
                </a:cubicBezTo>
                <a:cubicBezTo>
                  <a:pt x="267891" y="224677"/>
                  <a:pt x="224677" y="267891"/>
                  <a:pt x="171450" y="267891"/>
                </a:cubicBezTo>
                <a:cubicBezTo>
                  <a:pt x="118223" y="267891"/>
                  <a:pt x="75009" y="224677"/>
                  <a:pt x="75009" y="171450"/>
                </a:cubicBezTo>
                <a:cubicBezTo>
                  <a:pt x="75009" y="118223"/>
                  <a:pt x="118223" y="75009"/>
                  <a:pt x="171450" y="75009"/>
                </a:cubicBezTo>
                <a:close/>
                <a:moveTo>
                  <a:pt x="150019" y="171450"/>
                </a:moveTo>
                <a:cubicBezTo>
                  <a:pt x="150019" y="159622"/>
                  <a:pt x="159622" y="150019"/>
                  <a:pt x="171450" y="150019"/>
                </a:cubicBezTo>
                <a:cubicBezTo>
                  <a:pt x="183278" y="150019"/>
                  <a:pt x="192881" y="159622"/>
                  <a:pt x="192881" y="171450"/>
                </a:cubicBezTo>
                <a:cubicBezTo>
                  <a:pt x="192881" y="183278"/>
                  <a:pt x="183278" y="192881"/>
                  <a:pt x="171450" y="192881"/>
                </a:cubicBezTo>
                <a:cubicBezTo>
                  <a:pt x="159622" y="192881"/>
                  <a:pt x="150019" y="183278"/>
                  <a:pt x="150019" y="171450"/>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1190477" y="5073997"/>
            <a:ext cx="4686300" cy="304800"/>
          </a:xfrm>
          <a:prstGeom prst="rect">
            <a:avLst/>
          </a:prstGeom>
          <a:noFill/>
          <a:ln w="12700">
            <a:noFill/>
            <a:prstDash val="solid"/>
          </a:ln>
        </p:spPr>
        <p:txBody>
          <a:bodyPr wrap="square" lIns="0" tIns="0" rIns="0" bIns="0" rtlCol="0" anchor="ctr">
            <a:noAutofit/>
          </a:bodyPr>
          <a:lstStyle/>
          <a:p>
            <a:pPr indent="0" algn="l">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Goal</a:t>
            </a:r>
            <a:endParaRPr lang="en-US" sz="1100"/>
          </a:p>
        </p:txBody>
      </p:sp>
      <p:sp>
        <p:nvSpPr>
          <p:cNvPr id="32" name="AutoShape 32"/>
          <p:cNvSpPr/>
          <p:nvPr/>
        </p:nvSpPr>
        <p:spPr>
          <a:xfrm>
            <a:off x="1190476" y="5454876"/>
            <a:ext cx="10139833"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Ensure all hardware platforms run correctly and provide a unified development experience</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9927" y="611525"/>
            <a:ext cx="3776445" cy="362686"/>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CI Workflow Steps</a:t>
            </a:r>
            <a:endParaRPr lang="en-US" sz="1100"/>
          </a:p>
        </p:txBody>
      </p:sp>
      <p:sp>
        <p:nvSpPr>
          <p:cNvPr id="3" name="AutoShape 3"/>
          <p:cNvSpPr/>
          <p:nvPr/>
        </p:nvSpPr>
        <p:spPr>
          <a:xfrm>
            <a:off x="380956" y="1640877"/>
            <a:ext cx="11525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Typical CI Workflow</a:t>
            </a:r>
            <a:endParaRPr lang="en-US" sz="1100"/>
          </a:p>
        </p:txBody>
      </p:sp>
      <p:sp>
        <p:nvSpPr>
          <p:cNvPr id="4" name="Freeform 4"/>
          <p:cNvSpPr/>
          <p:nvPr/>
        </p:nvSpPr>
        <p:spPr>
          <a:xfrm>
            <a:off x="1181073" y="2059967"/>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Freeform 5"/>
          <p:cNvSpPr/>
          <p:nvPr/>
        </p:nvSpPr>
        <p:spPr>
          <a:xfrm>
            <a:off x="1351784" y="2225428"/>
            <a:ext cx="192063" cy="202405"/>
          </a:xfrm>
          <a:custGeom>
            <a:avLst/>
            <a:gdLst/>
            <a:ahLst/>
            <a:cxnLst/>
            <a:rect l="l" t="t" r="r" b="b"/>
            <a:pathLst>
              <a:path w="192063" h="202405">
                <a:moveTo>
                  <a:pt x="73262" y="9486"/>
                </a:moveTo>
                <a:cubicBezTo>
                  <a:pt x="74378" y="3980"/>
                  <a:pt x="79252" y="0"/>
                  <a:pt x="84908" y="0"/>
                </a:cubicBezTo>
                <a:lnTo>
                  <a:pt x="107158" y="0"/>
                </a:lnTo>
                <a:cubicBezTo>
                  <a:pt x="112813" y="0"/>
                  <a:pt x="117688" y="3980"/>
                  <a:pt x="118803" y="9486"/>
                </a:cubicBezTo>
                <a:lnTo>
                  <a:pt x="124198" y="35532"/>
                </a:lnTo>
                <a:cubicBezTo>
                  <a:pt x="129445" y="37764"/>
                  <a:pt x="134356" y="40629"/>
                  <a:pt x="138822" y="44015"/>
                </a:cubicBezTo>
                <a:lnTo>
                  <a:pt x="164048" y="35643"/>
                </a:lnTo>
                <a:cubicBezTo>
                  <a:pt x="169404" y="33856"/>
                  <a:pt x="175285" y="36090"/>
                  <a:pt x="178112" y="41001"/>
                </a:cubicBezTo>
                <a:lnTo>
                  <a:pt x="189236" y="60274"/>
                </a:lnTo>
                <a:cubicBezTo>
                  <a:pt x="192064" y="65186"/>
                  <a:pt x="191059" y="71362"/>
                  <a:pt x="186817" y="75120"/>
                </a:cubicBezTo>
                <a:lnTo>
                  <a:pt x="166986" y="92756"/>
                </a:lnTo>
                <a:cubicBezTo>
                  <a:pt x="167320" y="95509"/>
                  <a:pt x="167470" y="98337"/>
                  <a:pt x="167470" y="101202"/>
                </a:cubicBezTo>
                <a:cubicBezTo>
                  <a:pt x="167470" y="104067"/>
                  <a:pt x="167284" y="106895"/>
                  <a:pt x="166986" y="109648"/>
                </a:cubicBezTo>
                <a:lnTo>
                  <a:pt x="186856" y="127321"/>
                </a:lnTo>
                <a:cubicBezTo>
                  <a:pt x="191097" y="131079"/>
                  <a:pt x="192064" y="137293"/>
                  <a:pt x="189274" y="142167"/>
                </a:cubicBezTo>
                <a:lnTo>
                  <a:pt x="178148" y="161439"/>
                </a:lnTo>
                <a:cubicBezTo>
                  <a:pt x="175321" y="166314"/>
                  <a:pt x="169443" y="168584"/>
                  <a:pt x="164084" y="166798"/>
                </a:cubicBezTo>
                <a:lnTo>
                  <a:pt x="138858" y="158426"/>
                </a:lnTo>
                <a:cubicBezTo>
                  <a:pt x="134356" y="161811"/>
                  <a:pt x="129445" y="164640"/>
                  <a:pt x="124236" y="166911"/>
                </a:cubicBezTo>
                <a:lnTo>
                  <a:pt x="118878" y="192918"/>
                </a:lnTo>
                <a:cubicBezTo>
                  <a:pt x="117724" y="198461"/>
                  <a:pt x="112850" y="202404"/>
                  <a:pt x="107232" y="202404"/>
                </a:cubicBezTo>
                <a:lnTo>
                  <a:pt x="84982" y="202404"/>
                </a:lnTo>
                <a:cubicBezTo>
                  <a:pt x="79327" y="202404"/>
                  <a:pt x="74453" y="198424"/>
                  <a:pt x="73337" y="192918"/>
                </a:cubicBezTo>
                <a:lnTo>
                  <a:pt x="67978" y="166911"/>
                </a:lnTo>
                <a:cubicBezTo>
                  <a:pt x="62732" y="164677"/>
                  <a:pt x="57858" y="161811"/>
                  <a:pt x="53356" y="158426"/>
                </a:cubicBezTo>
                <a:lnTo>
                  <a:pt x="28018" y="166798"/>
                </a:lnTo>
                <a:cubicBezTo>
                  <a:pt x="22660" y="168584"/>
                  <a:pt x="16782" y="166352"/>
                  <a:pt x="13954" y="161439"/>
                </a:cubicBezTo>
                <a:lnTo>
                  <a:pt x="2829" y="142167"/>
                </a:lnTo>
                <a:cubicBezTo>
                  <a:pt x="0" y="137256"/>
                  <a:pt x="1006" y="131079"/>
                  <a:pt x="5247" y="127321"/>
                </a:cubicBezTo>
                <a:lnTo>
                  <a:pt x="25116" y="109648"/>
                </a:lnTo>
                <a:cubicBezTo>
                  <a:pt x="24781" y="106895"/>
                  <a:pt x="24632" y="104067"/>
                  <a:pt x="24632" y="101202"/>
                </a:cubicBezTo>
                <a:cubicBezTo>
                  <a:pt x="24632" y="98337"/>
                  <a:pt x="24818" y="95509"/>
                  <a:pt x="25116" y="92756"/>
                </a:cubicBezTo>
                <a:lnTo>
                  <a:pt x="5247" y="75083"/>
                </a:lnTo>
                <a:cubicBezTo>
                  <a:pt x="1006" y="71325"/>
                  <a:pt x="39" y="65111"/>
                  <a:pt x="2829" y="60237"/>
                </a:cubicBezTo>
                <a:lnTo>
                  <a:pt x="13954" y="40965"/>
                </a:lnTo>
                <a:cubicBezTo>
                  <a:pt x="16782" y="36052"/>
                  <a:pt x="22660" y="33820"/>
                  <a:pt x="28018" y="35606"/>
                </a:cubicBezTo>
                <a:lnTo>
                  <a:pt x="53245" y="43978"/>
                </a:lnTo>
                <a:cubicBezTo>
                  <a:pt x="57747" y="40593"/>
                  <a:pt x="62658" y="37764"/>
                  <a:pt x="67867" y="35493"/>
                </a:cubicBezTo>
                <a:lnTo>
                  <a:pt x="73262" y="9486"/>
                </a:lnTo>
                <a:close/>
                <a:moveTo>
                  <a:pt x="96033" y="130968"/>
                </a:moveTo>
                <a:cubicBezTo>
                  <a:pt x="106666" y="130928"/>
                  <a:pt x="116472" y="125218"/>
                  <a:pt x="121755" y="115989"/>
                </a:cubicBezTo>
                <a:cubicBezTo>
                  <a:pt x="127037" y="106760"/>
                  <a:pt x="126995" y="95412"/>
                  <a:pt x="121644" y="86224"/>
                </a:cubicBezTo>
                <a:cubicBezTo>
                  <a:pt x="116291" y="77033"/>
                  <a:pt x="106444" y="71396"/>
                  <a:pt x="95809" y="71436"/>
                </a:cubicBezTo>
                <a:cubicBezTo>
                  <a:pt x="85176" y="71476"/>
                  <a:pt x="75370" y="77186"/>
                  <a:pt x="70087" y="86415"/>
                </a:cubicBezTo>
                <a:cubicBezTo>
                  <a:pt x="64805" y="95644"/>
                  <a:pt x="64847" y="106992"/>
                  <a:pt x="70198" y="116180"/>
                </a:cubicBezTo>
                <a:cubicBezTo>
                  <a:pt x="75551" y="125371"/>
                  <a:pt x="85398" y="131008"/>
                  <a:pt x="96033" y="13096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342856" y="2669502"/>
            <a:ext cx="2209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Setup</a:t>
            </a:r>
            <a:endParaRPr lang="en-US" sz="1100"/>
          </a:p>
        </p:txBody>
      </p:sp>
      <p:sp>
        <p:nvSpPr>
          <p:cNvPr id="7" name="AutoShape 7"/>
          <p:cNvSpPr/>
          <p:nvPr/>
        </p:nvSpPr>
        <p:spPr>
          <a:xfrm>
            <a:off x="347618" y="2898074"/>
            <a:ext cx="22002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Setup</a:t>
            </a:r>
            <a:endParaRPr lang="en-US" sz="1100"/>
          </a:p>
        </p:txBody>
      </p:sp>
      <p:sp>
        <p:nvSpPr>
          <p:cNvPr id="8" name="Freeform 8"/>
          <p:cNvSpPr/>
          <p:nvPr/>
        </p:nvSpPr>
        <p:spPr>
          <a:xfrm>
            <a:off x="2533653" y="2516112"/>
            <a:ext cx="153323" cy="116205"/>
          </a:xfrm>
          <a:custGeom>
            <a:avLst/>
            <a:gdLst/>
            <a:ahLst/>
            <a:cxnLst/>
            <a:rect l="l" t="t" r="r" b="b"/>
            <a:pathLst>
              <a:path w="153323" h="116205">
                <a:moveTo>
                  <a:pt x="149602" y="64830"/>
                </a:moveTo>
                <a:cubicBezTo>
                  <a:pt x="153323" y="61109"/>
                  <a:pt x="153323" y="55066"/>
                  <a:pt x="149602" y="51347"/>
                </a:cubicBezTo>
                <a:lnTo>
                  <a:pt x="101977" y="3722"/>
                </a:lnTo>
                <a:cubicBezTo>
                  <a:pt x="98256" y="0"/>
                  <a:pt x="92213" y="0"/>
                  <a:pt x="88494" y="3722"/>
                </a:cubicBezTo>
                <a:cubicBezTo>
                  <a:pt x="84773" y="7441"/>
                  <a:pt x="84773" y="13484"/>
                  <a:pt x="88494" y="17205"/>
                </a:cubicBezTo>
                <a:lnTo>
                  <a:pt x="119866" y="48578"/>
                </a:lnTo>
                <a:lnTo>
                  <a:pt x="9525" y="48578"/>
                </a:lnTo>
                <a:cubicBezTo>
                  <a:pt x="4256" y="48578"/>
                  <a:pt x="0" y="52834"/>
                  <a:pt x="0" y="58103"/>
                </a:cubicBezTo>
                <a:cubicBezTo>
                  <a:pt x="0" y="63372"/>
                  <a:pt x="4256" y="67628"/>
                  <a:pt x="9525" y="67628"/>
                </a:cubicBezTo>
                <a:lnTo>
                  <a:pt x="119866" y="67628"/>
                </a:lnTo>
                <a:lnTo>
                  <a:pt x="88494" y="99001"/>
                </a:lnTo>
                <a:cubicBezTo>
                  <a:pt x="84773" y="102722"/>
                  <a:pt x="84773" y="108765"/>
                  <a:pt x="88494" y="112484"/>
                </a:cubicBezTo>
                <a:cubicBezTo>
                  <a:pt x="92213" y="116205"/>
                  <a:pt x="98256" y="116205"/>
                  <a:pt x="101977" y="112484"/>
                </a:cubicBezTo>
                <a:lnTo>
                  <a:pt x="149602" y="6485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3505235" y="2059967"/>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Freeform 10"/>
          <p:cNvSpPr/>
          <p:nvPr/>
        </p:nvSpPr>
        <p:spPr>
          <a:xfrm>
            <a:off x="3688524" y="2231380"/>
            <a:ext cx="166688" cy="178594"/>
          </a:xfrm>
          <a:custGeom>
            <a:avLst/>
            <a:gdLst/>
            <a:ahLst/>
            <a:cxnLst/>
            <a:rect l="l" t="t" r="r" b="b"/>
            <a:pathLst>
              <a:path w="166688" h="178594">
                <a:moveTo>
                  <a:pt x="95250" y="11906"/>
                </a:moveTo>
                <a:cubicBezTo>
                  <a:pt x="95250" y="5321"/>
                  <a:pt x="89929" y="0"/>
                  <a:pt x="83344" y="0"/>
                </a:cubicBezTo>
                <a:cubicBezTo>
                  <a:pt x="76758" y="0"/>
                  <a:pt x="71438" y="5321"/>
                  <a:pt x="71438" y="11906"/>
                </a:cubicBezTo>
                <a:lnTo>
                  <a:pt x="71438" y="90301"/>
                </a:lnTo>
                <a:lnTo>
                  <a:pt x="56034" y="74898"/>
                </a:lnTo>
                <a:cubicBezTo>
                  <a:pt x="51383" y="70248"/>
                  <a:pt x="43830" y="70248"/>
                  <a:pt x="39179" y="74898"/>
                </a:cubicBezTo>
                <a:cubicBezTo>
                  <a:pt x="34527" y="79549"/>
                  <a:pt x="34527" y="87102"/>
                  <a:pt x="39179" y="91752"/>
                </a:cubicBezTo>
                <a:lnTo>
                  <a:pt x="74898" y="127471"/>
                </a:lnTo>
                <a:cubicBezTo>
                  <a:pt x="79549" y="132122"/>
                  <a:pt x="87102" y="132122"/>
                  <a:pt x="91752" y="127471"/>
                </a:cubicBezTo>
                <a:lnTo>
                  <a:pt x="127471" y="91752"/>
                </a:lnTo>
                <a:cubicBezTo>
                  <a:pt x="132122" y="87102"/>
                  <a:pt x="132122" y="79549"/>
                  <a:pt x="127471" y="74898"/>
                </a:cubicBezTo>
                <a:cubicBezTo>
                  <a:pt x="122820" y="70248"/>
                  <a:pt x="115266" y="70248"/>
                  <a:pt x="110617" y="74898"/>
                </a:cubicBezTo>
                <a:lnTo>
                  <a:pt x="95250" y="90301"/>
                </a:lnTo>
                <a:lnTo>
                  <a:pt x="95250" y="11906"/>
                </a:lnTo>
                <a:close/>
                <a:moveTo>
                  <a:pt x="23812" y="119062"/>
                </a:moveTo>
                <a:cubicBezTo>
                  <a:pt x="10678" y="119062"/>
                  <a:pt x="0" y="129741"/>
                  <a:pt x="0" y="142875"/>
                </a:cubicBezTo>
                <a:lnTo>
                  <a:pt x="0" y="154781"/>
                </a:lnTo>
                <a:cubicBezTo>
                  <a:pt x="0" y="167916"/>
                  <a:pt x="10678" y="178594"/>
                  <a:pt x="23812" y="178594"/>
                </a:cubicBezTo>
                <a:lnTo>
                  <a:pt x="142875" y="178594"/>
                </a:lnTo>
                <a:cubicBezTo>
                  <a:pt x="156009" y="178594"/>
                  <a:pt x="166688" y="167916"/>
                  <a:pt x="166688" y="154781"/>
                </a:cubicBezTo>
                <a:lnTo>
                  <a:pt x="166688" y="142875"/>
                </a:lnTo>
                <a:cubicBezTo>
                  <a:pt x="166688" y="129741"/>
                  <a:pt x="156009" y="119062"/>
                  <a:pt x="142875" y="119062"/>
                </a:cubicBezTo>
                <a:lnTo>
                  <a:pt x="125425" y="119062"/>
                </a:lnTo>
                <a:lnTo>
                  <a:pt x="104366" y="140122"/>
                </a:lnTo>
                <a:cubicBezTo>
                  <a:pt x="92757" y="151729"/>
                  <a:pt x="73892" y="151729"/>
                  <a:pt x="62285" y="140122"/>
                </a:cubicBezTo>
                <a:lnTo>
                  <a:pt x="41264" y="119062"/>
                </a:lnTo>
                <a:lnTo>
                  <a:pt x="23812" y="119062"/>
                </a:lnTo>
                <a:close/>
                <a:moveTo>
                  <a:pt x="136923" y="139898"/>
                </a:moveTo>
                <a:cubicBezTo>
                  <a:pt x="141850" y="139898"/>
                  <a:pt x="145852" y="143900"/>
                  <a:pt x="145852" y="148827"/>
                </a:cubicBezTo>
                <a:cubicBezTo>
                  <a:pt x="145852" y="153758"/>
                  <a:pt x="141850" y="157758"/>
                  <a:pt x="136923" y="157758"/>
                </a:cubicBezTo>
                <a:cubicBezTo>
                  <a:pt x="131992" y="157758"/>
                  <a:pt x="127992" y="153758"/>
                  <a:pt x="127992" y="148827"/>
                </a:cubicBezTo>
                <a:cubicBezTo>
                  <a:pt x="127992" y="143900"/>
                  <a:pt x="131992" y="139898"/>
                  <a:pt x="136923" y="13989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1" name="AutoShape 11"/>
          <p:cNvSpPr/>
          <p:nvPr/>
        </p:nvSpPr>
        <p:spPr>
          <a:xfrm>
            <a:off x="2666944" y="2669502"/>
            <a:ext cx="2209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Checkout</a:t>
            </a:r>
            <a:endParaRPr lang="en-US" sz="1100"/>
          </a:p>
        </p:txBody>
      </p:sp>
      <p:sp>
        <p:nvSpPr>
          <p:cNvPr id="12" name="AutoShape 12"/>
          <p:cNvSpPr/>
          <p:nvPr/>
        </p:nvSpPr>
        <p:spPr>
          <a:xfrm>
            <a:off x="2671706" y="2898074"/>
            <a:ext cx="22002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Checkout</a:t>
            </a:r>
            <a:endParaRPr lang="en-US" sz="1100"/>
          </a:p>
        </p:txBody>
      </p:sp>
      <p:sp>
        <p:nvSpPr>
          <p:cNvPr id="13" name="Freeform 13"/>
          <p:cNvSpPr/>
          <p:nvPr/>
        </p:nvSpPr>
        <p:spPr>
          <a:xfrm>
            <a:off x="4857815" y="2516112"/>
            <a:ext cx="153323" cy="116205"/>
          </a:xfrm>
          <a:custGeom>
            <a:avLst/>
            <a:gdLst/>
            <a:ahLst/>
            <a:cxnLst/>
            <a:rect l="l" t="t" r="r" b="b"/>
            <a:pathLst>
              <a:path w="153323" h="116205">
                <a:moveTo>
                  <a:pt x="149602" y="64830"/>
                </a:moveTo>
                <a:cubicBezTo>
                  <a:pt x="153323" y="61109"/>
                  <a:pt x="153323" y="55066"/>
                  <a:pt x="149602" y="51347"/>
                </a:cubicBezTo>
                <a:lnTo>
                  <a:pt x="101977" y="3722"/>
                </a:lnTo>
                <a:cubicBezTo>
                  <a:pt x="98256" y="0"/>
                  <a:pt x="92213" y="0"/>
                  <a:pt x="88494" y="3722"/>
                </a:cubicBezTo>
                <a:cubicBezTo>
                  <a:pt x="84773" y="7441"/>
                  <a:pt x="84773" y="13484"/>
                  <a:pt x="88494" y="17205"/>
                </a:cubicBezTo>
                <a:lnTo>
                  <a:pt x="119866" y="48578"/>
                </a:lnTo>
                <a:lnTo>
                  <a:pt x="9525" y="48578"/>
                </a:lnTo>
                <a:cubicBezTo>
                  <a:pt x="4256" y="48578"/>
                  <a:pt x="0" y="52834"/>
                  <a:pt x="0" y="58103"/>
                </a:cubicBezTo>
                <a:cubicBezTo>
                  <a:pt x="0" y="63372"/>
                  <a:pt x="4256" y="67628"/>
                  <a:pt x="9525" y="67628"/>
                </a:cubicBezTo>
                <a:lnTo>
                  <a:pt x="119866" y="67628"/>
                </a:lnTo>
                <a:lnTo>
                  <a:pt x="88494" y="99001"/>
                </a:lnTo>
                <a:cubicBezTo>
                  <a:pt x="84773" y="102722"/>
                  <a:pt x="84773" y="108765"/>
                  <a:pt x="88494" y="112484"/>
                </a:cubicBezTo>
                <a:cubicBezTo>
                  <a:pt x="92213" y="116205"/>
                  <a:pt x="98256" y="116205"/>
                  <a:pt x="101977" y="112484"/>
                </a:cubicBezTo>
                <a:lnTo>
                  <a:pt x="149602" y="6485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4" name="Freeform 14"/>
          <p:cNvSpPr/>
          <p:nvPr/>
        </p:nvSpPr>
        <p:spPr>
          <a:xfrm>
            <a:off x="5829324" y="2059967"/>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5" name="Freeform 15"/>
          <p:cNvSpPr/>
          <p:nvPr/>
        </p:nvSpPr>
        <p:spPr>
          <a:xfrm>
            <a:off x="6024518" y="2231380"/>
            <a:ext cx="142875" cy="190500"/>
          </a:xfrm>
          <a:custGeom>
            <a:avLst/>
            <a:gdLst/>
            <a:ahLst/>
            <a:cxnLst/>
            <a:rect l="l" t="t" r="r" b="b"/>
            <a:pathLst>
              <a:path w="142875" h="190500">
                <a:moveTo>
                  <a:pt x="0" y="23812"/>
                </a:moveTo>
                <a:cubicBezTo>
                  <a:pt x="0" y="10678"/>
                  <a:pt x="10678" y="0"/>
                  <a:pt x="23812" y="0"/>
                </a:cubicBezTo>
                <a:lnTo>
                  <a:pt x="79437" y="0"/>
                </a:lnTo>
                <a:cubicBezTo>
                  <a:pt x="85762" y="0"/>
                  <a:pt x="91827" y="2493"/>
                  <a:pt x="96291" y="6958"/>
                </a:cubicBezTo>
                <a:lnTo>
                  <a:pt x="135917" y="46620"/>
                </a:lnTo>
                <a:cubicBezTo>
                  <a:pt x="140382" y="51084"/>
                  <a:pt x="142875" y="57150"/>
                  <a:pt x="142875" y="63475"/>
                </a:cubicBezTo>
                <a:lnTo>
                  <a:pt x="142875" y="166688"/>
                </a:lnTo>
                <a:cubicBezTo>
                  <a:pt x="142875" y="179822"/>
                  <a:pt x="132197" y="190500"/>
                  <a:pt x="119062" y="190500"/>
                </a:cubicBezTo>
                <a:lnTo>
                  <a:pt x="23812" y="190500"/>
                </a:lnTo>
                <a:cubicBezTo>
                  <a:pt x="10678" y="190500"/>
                  <a:pt x="0" y="179822"/>
                  <a:pt x="0" y="166688"/>
                </a:cubicBezTo>
                <a:lnTo>
                  <a:pt x="0" y="23812"/>
                </a:lnTo>
                <a:close/>
                <a:moveTo>
                  <a:pt x="77391" y="21767"/>
                </a:moveTo>
                <a:lnTo>
                  <a:pt x="77391" y="56554"/>
                </a:lnTo>
                <a:cubicBezTo>
                  <a:pt x="77391" y="61504"/>
                  <a:pt x="81371" y="65484"/>
                  <a:pt x="86321" y="65484"/>
                </a:cubicBezTo>
                <a:lnTo>
                  <a:pt x="121108" y="65484"/>
                </a:lnTo>
                <a:lnTo>
                  <a:pt x="77391" y="21767"/>
                </a:lnTo>
                <a:close/>
                <a:moveTo>
                  <a:pt x="44648" y="95250"/>
                </a:moveTo>
                <a:cubicBezTo>
                  <a:pt x="39700" y="95250"/>
                  <a:pt x="35719" y="99231"/>
                  <a:pt x="35719" y="104179"/>
                </a:cubicBezTo>
                <a:cubicBezTo>
                  <a:pt x="35719" y="109129"/>
                  <a:pt x="39700" y="113109"/>
                  <a:pt x="44648" y="113109"/>
                </a:cubicBezTo>
                <a:lnTo>
                  <a:pt x="98227" y="113109"/>
                </a:lnTo>
                <a:cubicBezTo>
                  <a:pt x="103175" y="113109"/>
                  <a:pt x="107156" y="109129"/>
                  <a:pt x="107156" y="104179"/>
                </a:cubicBezTo>
                <a:cubicBezTo>
                  <a:pt x="107156" y="99231"/>
                  <a:pt x="103175" y="95250"/>
                  <a:pt x="98227" y="95250"/>
                </a:cubicBezTo>
                <a:lnTo>
                  <a:pt x="44648" y="95250"/>
                </a:lnTo>
                <a:close/>
                <a:moveTo>
                  <a:pt x="44648" y="130969"/>
                </a:moveTo>
                <a:cubicBezTo>
                  <a:pt x="39700" y="130969"/>
                  <a:pt x="35719" y="134950"/>
                  <a:pt x="35719" y="139898"/>
                </a:cubicBezTo>
                <a:cubicBezTo>
                  <a:pt x="35719" y="144847"/>
                  <a:pt x="39700" y="148827"/>
                  <a:pt x="44648" y="148827"/>
                </a:cubicBezTo>
                <a:lnTo>
                  <a:pt x="98227" y="148827"/>
                </a:lnTo>
                <a:cubicBezTo>
                  <a:pt x="103175" y="148827"/>
                  <a:pt x="107156" y="144847"/>
                  <a:pt x="107156" y="139898"/>
                </a:cubicBezTo>
                <a:cubicBezTo>
                  <a:pt x="107156" y="134950"/>
                  <a:pt x="103175" y="130969"/>
                  <a:pt x="98227" y="130969"/>
                </a:cubicBezTo>
                <a:lnTo>
                  <a:pt x="44648" y="130969"/>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4991106" y="2669502"/>
            <a:ext cx="2209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Docs</a:t>
            </a:r>
            <a:endParaRPr lang="en-US" sz="1100"/>
          </a:p>
        </p:txBody>
      </p:sp>
      <p:sp>
        <p:nvSpPr>
          <p:cNvPr id="17" name="AutoShape 17"/>
          <p:cNvSpPr/>
          <p:nvPr/>
        </p:nvSpPr>
        <p:spPr>
          <a:xfrm>
            <a:off x="4995868" y="2898074"/>
            <a:ext cx="22002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Docs</a:t>
            </a:r>
            <a:endParaRPr lang="en-US" sz="1100"/>
          </a:p>
        </p:txBody>
      </p:sp>
      <p:sp>
        <p:nvSpPr>
          <p:cNvPr id="18" name="Freeform 18"/>
          <p:cNvSpPr/>
          <p:nvPr/>
        </p:nvSpPr>
        <p:spPr>
          <a:xfrm>
            <a:off x="7181903" y="2516112"/>
            <a:ext cx="153323" cy="116205"/>
          </a:xfrm>
          <a:custGeom>
            <a:avLst/>
            <a:gdLst/>
            <a:ahLst/>
            <a:cxnLst/>
            <a:rect l="l" t="t" r="r" b="b"/>
            <a:pathLst>
              <a:path w="153323" h="116205">
                <a:moveTo>
                  <a:pt x="149602" y="64830"/>
                </a:moveTo>
                <a:cubicBezTo>
                  <a:pt x="153323" y="61109"/>
                  <a:pt x="153323" y="55066"/>
                  <a:pt x="149602" y="51347"/>
                </a:cubicBezTo>
                <a:lnTo>
                  <a:pt x="101977" y="3722"/>
                </a:lnTo>
                <a:cubicBezTo>
                  <a:pt x="98256" y="0"/>
                  <a:pt x="92213" y="0"/>
                  <a:pt x="88494" y="3722"/>
                </a:cubicBezTo>
                <a:cubicBezTo>
                  <a:pt x="84772" y="7441"/>
                  <a:pt x="84772" y="13484"/>
                  <a:pt x="88494" y="17205"/>
                </a:cubicBezTo>
                <a:lnTo>
                  <a:pt x="119866" y="48578"/>
                </a:lnTo>
                <a:lnTo>
                  <a:pt x="9525" y="48578"/>
                </a:lnTo>
                <a:cubicBezTo>
                  <a:pt x="4256" y="48578"/>
                  <a:pt x="0" y="52834"/>
                  <a:pt x="0" y="58103"/>
                </a:cubicBezTo>
                <a:cubicBezTo>
                  <a:pt x="0" y="63372"/>
                  <a:pt x="4256" y="67628"/>
                  <a:pt x="9525" y="67628"/>
                </a:cubicBezTo>
                <a:lnTo>
                  <a:pt x="119866" y="67628"/>
                </a:lnTo>
                <a:lnTo>
                  <a:pt x="88494" y="99001"/>
                </a:lnTo>
                <a:cubicBezTo>
                  <a:pt x="84772" y="102722"/>
                  <a:pt x="84772" y="108765"/>
                  <a:pt x="88494" y="112484"/>
                </a:cubicBezTo>
                <a:cubicBezTo>
                  <a:pt x="92213" y="116205"/>
                  <a:pt x="98256" y="116205"/>
                  <a:pt x="101977" y="112484"/>
                </a:cubicBezTo>
                <a:lnTo>
                  <a:pt x="149602" y="6485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9" name="Freeform 19"/>
          <p:cNvSpPr/>
          <p:nvPr/>
        </p:nvSpPr>
        <p:spPr>
          <a:xfrm>
            <a:off x="8153412" y="2059967"/>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0" name="Freeform 20"/>
          <p:cNvSpPr/>
          <p:nvPr/>
        </p:nvSpPr>
        <p:spPr>
          <a:xfrm>
            <a:off x="8310543" y="2225428"/>
            <a:ext cx="221122" cy="198760"/>
          </a:xfrm>
          <a:custGeom>
            <a:avLst/>
            <a:gdLst/>
            <a:ahLst/>
            <a:cxnLst/>
            <a:rect l="l" t="t" r="r" b="b"/>
            <a:pathLst>
              <a:path w="221122" h="198760">
                <a:moveTo>
                  <a:pt x="82302" y="12760"/>
                </a:moveTo>
                <a:lnTo>
                  <a:pt x="91268" y="7366"/>
                </a:lnTo>
                <a:cubicBezTo>
                  <a:pt x="99306" y="2529"/>
                  <a:pt x="108496" y="0"/>
                  <a:pt x="117872" y="0"/>
                </a:cubicBezTo>
                <a:cubicBezTo>
                  <a:pt x="131564" y="0"/>
                  <a:pt x="144735" y="5431"/>
                  <a:pt x="154409" y="15142"/>
                </a:cubicBezTo>
                <a:lnTo>
                  <a:pt x="178185" y="38917"/>
                </a:lnTo>
                <a:cubicBezTo>
                  <a:pt x="183766" y="44498"/>
                  <a:pt x="186890" y="52089"/>
                  <a:pt x="186890" y="59977"/>
                </a:cubicBezTo>
                <a:lnTo>
                  <a:pt x="186890" y="71474"/>
                </a:lnTo>
                <a:lnTo>
                  <a:pt x="194221" y="78803"/>
                </a:lnTo>
                <a:lnTo>
                  <a:pt x="194221" y="78803"/>
                </a:lnTo>
                <a:cubicBezTo>
                  <a:pt x="200025" y="72999"/>
                  <a:pt x="209439" y="72999"/>
                  <a:pt x="215280" y="78803"/>
                </a:cubicBezTo>
                <a:cubicBezTo>
                  <a:pt x="221122" y="84608"/>
                  <a:pt x="221084" y="94021"/>
                  <a:pt x="215280" y="99863"/>
                </a:cubicBezTo>
                <a:lnTo>
                  <a:pt x="191468" y="123675"/>
                </a:lnTo>
                <a:cubicBezTo>
                  <a:pt x="185662" y="129479"/>
                  <a:pt x="176250" y="129479"/>
                  <a:pt x="170408" y="123675"/>
                </a:cubicBezTo>
                <a:cubicBezTo>
                  <a:pt x="164566" y="117871"/>
                  <a:pt x="164605" y="108458"/>
                  <a:pt x="170408" y="102616"/>
                </a:cubicBezTo>
                <a:lnTo>
                  <a:pt x="163079" y="95250"/>
                </a:lnTo>
                <a:lnTo>
                  <a:pt x="151582" y="95250"/>
                </a:lnTo>
                <a:cubicBezTo>
                  <a:pt x="143694" y="95250"/>
                  <a:pt x="136104" y="92123"/>
                  <a:pt x="130522" y="86542"/>
                </a:cubicBezTo>
                <a:lnTo>
                  <a:pt x="112254" y="68273"/>
                </a:lnTo>
                <a:cubicBezTo>
                  <a:pt x="106673" y="62693"/>
                  <a:pt x="103547" y="55102"/>
                  <a:pt x="103547" y="47216"/>
                </a:cubicBezTo>
                <a:lnTo>
                  <a:pt x="103547" y="42489"/>
                </a:lnTo>
                <a:cubicBezTo>
                  <a:pt x="103547" y="38322"/>
                  <a:pt x="101352" y="34415"/>
                  <a:pt x="97780" y="32296"/>
                </a:cubicBezTo>
                <a:lnTo>
                  <a:pt x="82302" y="22993"/>
                </a:lnTo>
                <a:cubicBezTo>
                  <a:pt x="78432" y="20687"/>
                  <a:pt x="78432" y="15105"/>
                  <a:pt x="82302" y="12799"/>
                </a:cubicBezTo>
                <a:close/>
                <a:moveTo>
                  <a:pt x="9303" y="155785"/>
                </a:moveTo>
                <a:lnTo>
                  <a:pt x="91939" y="73148"/>
                </a:lnTo>
                <a:lnTo>
                  <a:pt x="125610" y="106820"/>
                </a:lnTo>
                <a:lnTo>
                  <a:pt x="42974" y="189457"/>
                </a:lnTo>
                <a:cubicBezTo>
                  <a:pt x="33673" y="198760"/>
                  <a:pt x="18604" y="198760"/>
                  <a:pt x="9303" y="189457"/>
                </a:cubicBezTo>
                <a:cubicBezTo>
                  <a:pt x="0" y="180155"/>
                  <a:pt x="0" y="165086"/>
                  <a:pt x="9303" y="15578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7315194" y="2669502"/>
            <a:ext cx="2209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Build Project</a:t>
            </a:r>
            <a:endParaRPr lang="en-US" sz="1100"/>
          </a:p>
        </p:txBody>
      </p:sp>
      <p:sp>
        <p:nvSpPr>
          <p:cNvPr id="22" name="AutoShape 22"/>
          <p:cNvSpPr/>
          <p:nvPr/>
        </p:nvSpPr>
        <p:spPr>
          <a:xfrm>
            <a:off x="7319957" y="2898074"/>
            <a:ext cx="22002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Build</a:t>
            </a:r>
            <a:endParaRPr lang="en-US" sz="1100"/>
          </a:p>
        </p:txBody>
      </p:sp>
      <p:sp>
        <p:nvSpPr>
          <p:cNvPr id="23" name="Freeform 23"/>
          <p:cNvSpPr/>
          <p:nvPr/>
        </p:nvSpPr>
        <p:spPr>
          <a:xfrm>
            <a:off x="9505991" y="2516112"/>
            <a:ext cx="153323" cy="116205"/>
          </a:xfrm>
          <a:custGeom>
            <a:avLst/>
            <a:gdLst/>
            <a:ahLst/>
            <a:cxnLst/>
            <a:rect l="l" t="t" r="r" b="b"/>
            <a:pathLst>
              <a:path w="153323" h="116205">
                <a:moveTo>
                  <a:pt x="149602" y="64830"/>
                </a:moveTo>
                <a:cubicBezTo>
                  <a:pt x="153323" y="61109"/>
                  <a:pt x="153323" y="55066"/>
                  <a:pt x="149602" y="51347"/>
                </a:cubicBezTo>
                <a:lnTo>
                  <a:pt x="101977" y="3722"/>
                </a:lnTo>
                <a:cubicBezTo>
                  <a:pt x="98256" y="0"/>
                  <a:pt x="92213" y="0"/>
                  <a:pt x="88494" y="3722"/>
                </a:cubicBezTo>
                <a:cubicBezTo>
                  <a:pt x="84773" y="7441"/>
                  <a:pt x="84773" y="13484"/>
                  <a:pt x="88494" y="17205"/>
                </a:cubicBezTo>
                <a:lnTo>
                  <a:pt x="119866" y="48578"/>
                </a:lnTo>
                <a:lnTo>
                  <a:pt x="9525" y="48578"/>
                </a:lnTo>
                <a:cubicBezTo>
                  <a:pt x="4256" y="48578"/>
                  <a:pt x="0" y="52834"/>
                  <a:pt x="0" y="58103"/>
                </a:cubicBezTo>
                <a:cubicBezTo>
                  <a:pt x="0" y="63372"/>
                  <a:pt x="4256" y="67628"/>
                  <a:pt x="9525" y="67628"/>
                </a:cubicBezTo>
                <a:lnTo>
                  <a:pt x="119866" y="67628"/>
                </a:lnTo>
                <a:lnTo>
                  <a:pt x="88494" y="99001"/>
                </a:lnTo>
                <a:cubicBezTo>
                  <a:pt x="84773" y="102722"/>
                  <a:pt x="84773" y="108765"/>
                  <a:pt x="88494" y="112484"/>
                </a:cubicBezTo>
                <a:cubicBezTo>
                  <a:pt x="92213" y="116205"/>
                  <a:pt x="98256" y="116205"/>
                  <a:pt x="101977" y="112484"/>
                </a:cubicBezTo>
                <a:lnTo>
                  <a:pt x="149602" y="6485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10477500" y="2059967"/>
            <a:ext cx="533400" cy="533400"/>
          </a:xfrm>
          <a:custGeom>
            <a:avLst/>
            <a:gdLst/>
            <a:ahLst/>
            <a:cxnLst/>
            <a:rect l="l" t="t" r="r" b="b"/>
            <a:pathLst>
              <a:path w="533400" h="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5" name="Freeform 25"/>
          <p:cNvSpPr/>
          <p:nvPr/>
        </p:nvSpPr>
        <p:spPr>
          <a:xfrm>
            <a:off x="10648881" y="2230227"/>
            <a:ext cx="191691" cy="191653"/>
          </a:xfrm>
          <a:custGeom>
            <a:avLst/>
            <a:gdLst/>
            <a:ahLst/>
            <a:cxnLst/>
            <a:rect l="l" t="t" r="r" b="b"/>
            <a:pathLst>
              <a:path w="191691" h="191653">
                <a:moveTo>
                  <a:pt x="127471" y="4651"/>
                </a:moveTo>
                <a:cubicBezTo>
                  <a:pt x="122820" y="0"/>
                  <a:pt x="115266" y="0"/>
                  <a:pt x="110617" y="4651"/>
                </a:cubicBezTo>
                <a:cubicBezTo>
                  <a:pt x="105966" y="9301"/>
                  <a:pt x="105966" y="16854"/>
                  <a:pt x="110617" y="21505"/>
                </a:cubicBezTo>
                <a:lnTo>
                  <a:pt x="114115" y="24965"/>
                </a:lnTo>
                <a:lnTo>
                  <a:pt x="10455" y="128624"/>
                </a:lnTo>
                <a:cubicBezTo>
                  <a:pt x="3758" y="135322"/>
                  <a:pt x="0" y="144400"/>
                  <a:pt x="0" y="153888"/>
                </a:cubicBezTo>
                <a:lnTo>
                  <a:pt x="0" y="155934"/>
                </a:lnTo>
                <a:cubicBezTo>
                  <a:pt x="0" y="175654"/>
                  <a:pt x="15999" y="191653"/>
                  <a:pt x="35719" y="191653"/>
                </a:cubicBezTo>
                <a:lnTo>
                  <a:pt x="37765" y="191653"/>
                </a:lnTo>
                <a:cubicBezTo>
                  <a:pt x="47253" y="191653"/>
                  <a:pt x="56331" y="187895"/>
                  <a:pt x="63029" y="181198"/>
                </a:cubicBezTo>
                <a:lnTo>
                  <a:pt x="166687" y="77538"/>
                </a:lnTo>
                <a:lnTo>
                  <a:pt x="170185" y="81036"/>
                </a:lnTo>
                <a:cubicBezTo>
                  <a:pt x="174836" y="85687"/>
                  <a:pt x="182389" y="85687"/>
                  <a:pt x="187041" y="81036"/>
                </a:cubicBezTo>
                <a:cubicBezTo>
                  <a:pt x="191691" y="76387"/>
                  <a:pt x="191691" y="68833"/>
                  <a:pt x="187041" y="64182"/>
                </a:cubicBezTo>
                <a:lnTo>
                  <a:pt x="127508" y="4651"/>
                </a:lnTo>
                <a:close/>
                <a:moveTo>
                  <a:pt x="76385" y="96403"/>
                </a:moveTo>
                <a:lnTo>
                  <a:pt x="130969" y="41820"/>
                </a:lnTo>
                <a:lnTo>
                  <a:pt x="149833" y="60684"/>
                </a:lnTo>
                <a:lnTo>
                  <a:pt x="114115" y="96403"/>
                </a:lnTo>
                <a:lnTo>
                  <a:pt x="76349" y="96403"/>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9639282" y="2669502"/>
            <a:ext cx="2209800" cy="2286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Test</a:t>
            </a:r>
            <a:endParaRPr lang="en-US" sz="1100"/>
          </a:p>
        </p:txBody>
      </p:sp>
      <p:sp>
        <p:nvSpPr>
          <p:cNvPr id="27" name="AutoShape 27"/>
          <p:cNvSpPr/>
          <p:nvPr/>
        </p:nvSpPr>
        <p:spPr>
          <a:xfrm>
            <a:off x="9644044" y="2898074"/>
            <a:ext cx="2200275" cy="190500"/>
          </a:xfrm>
          <a:prstGeom prst="rect">
            <a:avLst/>
          </a:prstGeom>
          <a:noFill/>
          <a:ln w="12700">
            <a:noFill/>
            <a:prstDash val="solid"/>
          </a:ln>
        </p:spPr>
        <p:txBody>
          <a:bodyPr wrap="square" lIns="0" tIns="0" rIns="0" bIns="0" rtlCol="0" anchor="ctr">
            <a:noAutofit/>
          </a:bodyPr>
          <a:lstStyle/>
          <a:p>
            <a:pPr indent="0" algn="ctr">
              <a:lnSpc>
                <a:spcPct val="117000"/>
              </a:lnSpc>
              <a:defRPr/>
            </a:pPr>
            <a:r>
              <a:rPr lang="en-US" sz="11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Test</a:t>
            </a:r>
            <a:endParaRPr lang="en-US" sz="1100"/>
          </a:p>
        </p:txBody>
      </p:sp>
      <p:sp>
        <p:nvSpPr>
          <p:cNvPr id="28" name="Freeform 28"/>
          <p:cNvSpPr/>
          <p:nvPr/>
        </p:nvSpPr>
        <p:spPr>
          <a:xfrm>
            <a:off x="380956" y="3317081"/>
            <a:ext cx="11430000" cy="2286000"/>
          </a:xfrm>
          <a:custGeom>
            <a:avLst/>
            <a:gdLst/>
            <a:ahLst/>
            <a:cxnLst/>
            <a:rect l="l" t="t" r="r" b="b"/>
            <a:pathLst>
              <a:path w="11430000" h="2286000">
                <a:moveTo>
                  <a:pt x="76192" y="0"/>
                </a:moveTo>
                <a:lnTo>
                  <a:pt x="11353808" y="0"/>
                </a:lnTo>
                <a:cubicBezTo>
                  <a:pt x="11395888" y="0"/>
                  <a:pt x="11430000" y="34112"/>
                  <a:pt x="11430000" y="76192"/>
                </a:cubicBezTo>
                <a:lnTo>
                  <a:pt x="11430000" y="2209808"/>
                </a:lnTo>
                <a:cubicBezTo>
                  <a:pt x="11430000" y="2251888"/>
                  <a:pt x="11395888" y="2286000"/>
                  <a:pt x="11353808" y="2286000"/>
                </a:cubicBezTo>
                <a:lnTo>
                  <a:pt x="76192" y="2286000"/>
                </a:lnTo>
                <a:cubicBezTo>
                  <a:pt x="34112" y="2286000"/>
                  <a:pt x="0" y="2251888"/>
                  <a:pt x="0" y="2209808"/>
                </a:cubicBezTo>
                <a:lnTo>
                  <a:pt x="0" y="76192"/>
                </a:lnTo>
                <a:cubicBezTo>
                  <a:pt x="0" y="34141"/>
                  <a:pt x="34141" y="0"/>
                  <a:pt x="76192" y="0"/>
                </a:cubicBezTo>
                <a:close/>
              </a:path>
            </a:pathLst>
          </a:custGeom>
          <a:solidFill>
            <a:srgbClr val="101828">
              <a:alpha val="100000"/>
            </a:srgbClr>
          </a:solidFill>
          <a:ln w="12700">
            <a:noFill/>
            <a:prstDash val="solid"/>
          </a:ln>
          <a:effectLst>
            <a:outerShdw blurRad="139700" dist="88900" dir="5400000" algn="bl" rotWithShape="0">
              <a:srgbClr val="000000">
                <a:alpha val="10196"/>
              </a:srgbClr>
            </a:outerShdw>
          </a:effectLst>
        </p:spPr>
        <p:txBody>
          <a:bodyPr wrap="square" lIns="91440" tIns="45720" rIns="91440" bIns="45720" rtlCol="0" anchor="t">
            <a:noAutofit/>
          </a:bodyPr>
          <a:lstStyle/>
          <a:p>
            <a:pPr algn="ctr">
              <a:defRPr/>
            </a:pPr>
          </a:p>
        </p:txBody>
      </p:sp>
      <p:sp>
        <p:nvSpPr>
          <p:cNvPr id="29" name="AutoShape 29"/>
          <p:cNvSpPr/>
          <p:nvPr/>
        </p:nvSpPr>
        <p:spPr>
          <a:xfrm>
            <a:off x="609529" y="3545663"/>
            <a:ext cx="110585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B22222"/>
                </a:solidFill>
                <a:latin typeface="MiSans" panose="00000500000000000000" charset="-122"/>
                <a:ea typeface="MiSans" panose="00000500000000000000" charset="-122"/>
                <a:cs typeface="MiSans" panose="00000500000000000000" charset="-122"/>
                <a:sym typeface="MiSans" panose="00000500000000000000" charset="-122"/>
              </a:rPr>
              <a:t>Build Example</a:t>
            </a:r>
            <a:endParaRPr lang="en-US" sz="1100"/>
          </a:p>
        </p:txBody>
      </p:sp>
      <p:sp>
        <p:nvSpPr>
          <p:cNvPr id="30" name="Freeform 30"/>
          <p:cNvSpPr/>
          <p:nvPr/>
        </p:nvSpPr>
        <p:spPr>
          <a:xfrm>
            <a:off x="628484" y="3964744"/>
            <a:ext cx="10953655" cy="1409700"/>
          </a:xfrm>
          <a:custGeom>
            <a:avLst/>
            <a:gdLst/>
            <a:ahLst/>
            <a:cxnLst/>
            <a:rect l="l" t="t" r="r" b="b"/>
            <a:pathLst>
              <a:path w="10953655" h="1409700">
                <a:moveTo>
                  <a:pt x="37910" y="0"/>
                </a:moveTo>
                <a:lnTo>
                  <a:pt x="10915551" y="0"/>
                </a:lnTo>
                <a:cubicBezTo>
                  <a:pt x="10936595" y="0"/>
                  <a:pt x="10953655" y="17060"/>
                  <a:pt x="10953655" y="38104"/>
                </a:cubicBezTo>
                <a:lnTo>
                  <a:pt x="10953655" y="1371596"/>
                </a:lnTo>
                <a:cubicBezTo>
                  <a:pt x="10953655" y="1392640"/>
                  <a:pt x="10936595" y="1409700"/>
                  <a:pt x="10915551" y="1409700"/>
                </a:cubicBezTo>
                <a:lnTo>
                  <a:pt x="37910" y="1409700"/>
                </a:lnTo>
                <a:cubicBezTo>
                  <a:pt x="16974" y="1409700"/>
                  <a:pt x="0" y="1392726"/>
                  <a:pt x="0" y="1371790"/>
                </a:cubicBezTo>
                <a:lnTo>
                  <a:pt x="0" y="37910"/>
                </a:lnTo>
                <a:cubicBezTo>
                  <a:pt x="0" y="16988"/>
                  <a:pt x="16988" y="0"/>
                  <a:pt x="37910" y="0"/>
                </a:cubicBezTo>
                <a:close/>
              </a:path>
            </a:pathLst>
          </a:custGeom>
          <a:solidFill>
            <a:srgbClr val="1E2939">
              <a:alpha val="100000"/>
            </a:srgbClr>
          </a:solidFill>
          <a:ln w="12700">
            <a:noFill/>
            <a:prstDash val="solid"/>
          </a:ln>
        </p:spPr>
        <p:txBody>
          <a:bodyPr wrap="square" lIns="91440" tIns="45720" rIns="91440" bIns="45720" rtlCol="0" anchor="t">
            <a:noAutofit/>
          </a:bodyPr>
          <a:lstStyle/>
          <a:p>
            <a:pPr algn="ctr">
              <a:defRPr/>
            </a:pPr>
          </a:p>
        </p:txBody>
      </p:sp>
      <p:sp>
        <p:nvSpPr>
          <p:cNvPr id="31" name="Freeform 31"/>
          <p:cNvSpPr/>
          <p:nvPr/>
        </p:nvSpPr>
        <p:spPr>
          <a:xfrm>
            <a:off x="628484" y="3964744"/>
            <a:ext cx="37909" cy="1409700"/>
          </a:xfrm>
          <a:custGeom>
            <a:avLst/>
            <a:gdLst/>
            <a:ahLst/>
            <a:cxnLst/>
            <a:rect l="l" t="t" r="r" b="b"/>
            <a:pathLst>
              <a:path w="37909" h="1409700">
                <a:moveTo>
                  <a:pt x="37910" y="0"/>
                </a:moveTo>
                <a:lnTo>
                  <a:pt x="37910" y="0"/>
                </a:lnTo>
                <a:lnTo>
                  <a:pt x="37910" y="1409700"/>
                </a:lnTo>
                <a:lnTo>
                  <a:pt x="37910" y="1409700"/>
                </a:lnTo>
                <a:cubicBezTo>
                  <a:pt x="16974" y="1409700"/>
                  <a:pt x="0" y="1392726"/>
                  <a:pt x="0" y="1371790"/>
                </a:cubicBezTo>
                <a:lnTo>
                  <a:pt x="0" y="37910"/>
                </a:lnTo>
                <a:cubicBezTo>
                  <a:pt x="0" y="16988"/>
                  <a:pt x="16988" y="0"/>
                  <a:pt x="37910" y="0"/>
                </a:cubicBez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32" name="AutoShape 32"/>
          <p:cNvSpPr/>
          <p:nvPr/>
        </p:nvSpPr>
        <p:spPr>
          <a:xfrm>
            <a:off x="799822" y="4078998"/>
            <a:ext cx="106965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Build project using 32 parallel jobs</a:t>
            </a:r>
            <a:endParaRPr lang="en-US" sz="1100"/>
          </a:p>
        </p:txBody>
      </p:sp>
      <p:sp>
        <p:nvSpPr>
          <p:cNvPr id="33" name="AutoShape 33"/>
          <p:cNvSpPr/>
          <p:nvPr/>
        </p:nvSpPr>
        <p:spPr>
          <a:xfrm>
            <a:off x="799822" y="4292315"/>
            <a:ext cx="106965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MAX_JOBS=32 python3 -m pip install . --no-build-isolation</a:t>
            </a:r>
            <a:endParaRPr lang="en-US" sz="1100"/>
          </a:p>
        </p:txBody>
      </p:sp>
      <p:sp>
        <p:nvSpPr>
          <p:cNvPr id="34" name="AutoShape 34"/>
          <p:cNvSpPr/>
          <p:nvPr/>
        </p:nvSpPr>
        <p:spPr>
          <a:xfrm>
            <a:off x="799822" y="4619885"/>
            <a:ext cx="106965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 Parameter description:</a:t>
            </a:r>
            <a:endParaRPr lang="en-US" sz="1100"/>
          </a:p>
        </p:txBody>
      </p:sp>
      <p:sp>
        <p:nvSpPr>
          <p:cNvPr id="35" name="AutoShape 35"/>
          <p:cNvSpPr/>
          <p:nvPr/>
        </p:nvSpPr>
        <p:spPr>
          <a:xfrm>
            <a:off x="799822" y="4833203"/>
            <a:ext cx="106965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 MAX_JOBS=32 - number of parallel compile jobs</a:t>
            </a:r>
            <a:endParaRPr lang="en-US" sz="1100"/>
          </a:p>
        </p:txBody>
      </p:sp>
      <p:sp>
        <p:nvSpPr>
          <p:cNvPr id="36" name="AutoShape 36"/>
          <p:cNvSpPr/>
          <p:nvPr/>
        </p:nvSpPr>
        <p:spPr>
          <a:xfrm>
            <a:off x="799822" y="5046529"/>
            <a:ext cx="10696575" cy="20955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100" b="0" i="0" u="none" strike="noStrike">
                <a:solidFill>
                  <a:srgbClr val="99A1AF"/>
                </a:solidFill>
                <a:latin typeface="MiSans" panose="00000500000000000000" charset="-122"/>
                <a:ea typeface="MiSans" panose="00000500000000000000" charset="-122"/>
                <a:cs typeface="MiSans" panose="00000500000000000000" charset="-122"/>
                <a:sym typeface="MiSans" panose="00000500000000000000" charset="-122"/>
              </a:rPr>
              <a:t># --no-build-isolation - do not use isolated build environment</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9928" y="611535"/>
            <a:ext cx="231890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Unit Testing</a:t>
            </a:r>
            <a:endParaRPr lang="en-US" sz="1100"/>
          </a:p>
        </p:txBody>
      </p:sp>
      <p:sp>
        <p:nvSpPr>
          <p:cNvPr id="3" name="AutoShape 3"/>
          <p:cNvSpPr/>
          <p:nvPr/>
        </p:nvSpPr>
        <p:spPr>
          <a:xfrm>
            <a:off x="390433" y="1455148"/>
            <a:ext cx="11525250" cy="3143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After installation, run tests to verify code correctness</a:t>
            </a:r>
            <a:endParaRPr lang="en-US" sz="1100"/>
          </a:p>
        </p:txBody>
      </p:sp>
      <p:sp>
        <p:nvSpPr>
          <p:cNvPr id="4" name="Freeform 4"/>
          <p:cNvSpPr/>
          <p:nvPr/>
        </p:nvSpPr>
        <p:spPr>
          <a:xfrm>
            <a:off x="390433" y="2188517"/>
            <a:ext cx="5543455" cy="2324005"/>
          </a:xfrm>
          <a:custGeom>
            <a:avLst/>
            <a:gdLst/>
            <a:ahLst/>
            <a:cxnLst/>
            <a:rect l="l" t="t" r="r" b="b"/>
            <a:pathLst>
              <a:path w="5543455" h="2324005">
                <a:moveTo>
                  <a:pt x="76204" y="0"/>
                </a:moveTo>
                <a:lnTo>
                  <a:pt x="5467251" y="0"/>
                </a:lnTo>
                <a:cubicBezTo>
                  <a:pt x="5509337" y="0"/>
                  <a:pt x="5543455" y="34119"/>
                  <a:pt x="5543455" y="76204"/>
                </a:cubicBezTo>
                <a:lnTo>
                  <a:pt x="5543455" y="2247801"/>
                </a:lnTo>
                <a:cubicBezTo>
                  <a:pt x="5543455" y="2289887"/>
                  <a:pt x="5509337" y="2324005"/>
                  <a:pt x="5467251" y="2324005"/>
                </a:cubicBezTo>
                <a:lnTo>
                  <a:pt x="76204" y="2324005"/>
                </a:lnTo>
                <a:cubicBezTo>
                  <a:pt x="34119" y="2324005"/>
                  <a:pt x="0" y="2289887"/>
                  <a:pt x="0" y="2247801"/>
                </a:cubicBezTo>
                <a:lnTo>
                  <a:pt x="0" y="76204"/>
                </a:lnTo>
                <a:cubicBezTo>
                  <a:pt x="0" y="34146"/>
                  <a:pt x="34146" y="0"/>
                  <a:pt x="76204" y="0"/>
                </a:cubicBezTo>
                <a:close/>
              </a:path>
            </a:pathLst>
          </a:custGeom>
          <a:solidFill>
            <a:srgbClr val="000000">
              <a:alpha val="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5" name="Freeform 5"/>
          <p:cNvSpPr/>
          <p:nvPr/>
        </p:nvSpPr>
        <p:spPr>
          <a:xfrm>
            <a:off x="666584" y="2426568"/>
            <a:ext cx="285750" cy="285750"/>
          </a:xfrm>
          <a:custGeom>
            <a:avLst/>
            <a:gdLst/>
            <a:ahLst/>
            <a:cxnLst/>
            <a:rect l="l" t="t" r="r" b="b"/>
            <a:pathLst>
              <a:path w="285750" h="285750">
                <a:moveTo>
                  <a:pt x="98227" y="13395"/>
                </a:moveTo>
                <a:cubicBezTo>
                  <a:pt x="98227" y="5972"/>
                  <a:pt x="92255" y="0"/>
                  <a:pt x="84832" y="0"/>
                </a:cubicBezTo>
                <a:cubicBezTo>
                  <a:pt x="77409" y="0"/>
                  <a:pt x="71438" y="5972"/>
                  <a:pt x="71438" y="13395"/>
                </a:cubicBezTo>
                <a:lnTo>
                  <a:pt x="71438" y="35719"/>
                </a:lnTo>
                <a:cubicBezTo>
                  <a:pt x="51736" y="35719"/>
                  <a:pt x="35719" y="51736"/>
                  <a:pt x="35719" y="71438"/>
                </a:cubicBezTo>
                <a:lnTo>
                  <a:pt x="13395" y="71438"/>
                </a:lnTo>
                <a:cubicBezTo>
                  <a:pt x="5972" y="71438"/>
                  <a:pt x="0" y="77409"/>
                  <a:pt x="0" y="84832"/>
                </a:cubicBezTo>
                <a:cubicBezTo>
                  <a:pt x="0" y="92255"/>
                  <a:pt x="5972" y="98227"/>
                  <a:pt x="13395" y="98227"/>
                </a:cubicBezTo>
                <a:lnTo>
                  <a:pt x="35719" y="98227"/>
                </a:lnTo>
                <a:lnTo>
                  <a:pt x="35719" y="129480"/>
                </a:lnTo>
                <a:lnTo>
                  <a:pt x="13395" y="129480"/>
                </a:lnTo>
                <a:cubicBezTo>
                  <a:pt x="5972" y="129480"/>
                  <a:pt x="0" y="135452"/>
                  <a:pt x="0" y="142875"/>
                </a:cubicBezTo>
                <a:cubicBezTo>
                  <a:pt x="0" y="150298"/>
                  <a:pt x="5972" y="156270"/>
                  <a:pt x="13395" y="156270"/>
                </a:cubicBezTo>
                <a:lnTo>
                  <a:pt x="35719" y="156270"/>
                </a:lnTo>
                <a:lnTo>
                  <a:pt x="35719" y="187523"/>
                </a:lnTo>
                <a:lnTo>
                  <a:pt x="13395" y="187523"/>
                </a:lnTo>
                <a:cubicBezTo>
                  <a:pt x="5972" y="187523"/>
                  <a:pt x="0" y="193495"/>
                  <a:pt x="0" y="200918"/>
                </a:cubicBezTo>
                <a:cubicBezTo>
                  <a:pt x="0" y="208341"/>
                  <a:pt x="5972" y="214312"/>
                  <a:pt x="13395" y="214312"/>
                </a:cubicBezTo>
                <a:lnTo>
                  <a:pt x="35719" y="214312"/>
                </a:lnTo>
                <a:cubicBezTo>
                  <a:pt x="35719" y="234014"/>
                  <a:pt x="51736" y="250031"/>
                  <a:pt x="71438" y="250031"/>
                </a:cubicBezTo>
                <a:lnTo>
                  <a:pt x="71438" y="272355"/>
                </a:lnTo>
                <a:cubicBezTo>
                  <a:pt x="71438" y="279778"/>
                  <a:pt x="77409" y="285750"/>
                  <a:pt x="84832" y="285750"/>
                </a:cubicBezTo>
                <a:cubicBezTo>
                  <a:pt x="92255" y="285750"/>
                  <a:pt x="98227" y="279778"/>
                  <a:pt x="98227" y="272355"/>
                </a:cubicBezTo>
                <a:lnTo>
                  <a:pt x="98227" y="250031"/>
                </a:lnTo>
                <a:lnTo>
                  <a:pt x="129480" y="250031"/>
                </a:lnTo>
                <a:lnTo>
                  <a:pt x="129480" y="272355"/>
                </a:lnTo>
                <a:cubicBezTo>
                  <a:pt x="129480" y="279778"/>
                  <a:pt x="135452" y="285750"/>
                  <a:pt x="142875" y="285750"/>
                </a:cubicBezTo>
                <a:cubicBezTo>
                  <a:pt x="150298" y="285750"/>
                  <a:pt x="156270" y="279778"/>
                  <a:pt x="156270" y="272355"/>
                </a:cubicBezTo>
                <a:lnTo>
                  <a:pt x="156270" y="250031"/>
                </a:lnTo>
                <a:lnTo>
                  <a:pt x="187523" y="250031"/>
                </a:lnTo>
                <a:lnTo>
                  <a:pt x="187523" y="272355"/>
                </a:lnTo>
                <a:cubicBezTo>
                  <a:pt x="187523" y="279778"/>
                  <a:pt x="193495" y="285750"/>
                  <a:pt x="200918" y="285750"/>
                </a:cubicBezTo>
                <a:cubicBezTo>
                  <a:pt x="208341" y="285750"/>
                  <a:pt x="214312" y="279778"/>
                  <a:pt x="214312" y="272355"/>
                </a:cubicBezTo>
                <a:lnTo>
                  <a:pt x="214312" y="250031"/>
                </a:lnTo>
                <a:cubicBezTo>
                  <a:pt x="234014" y="250031"/>
                  <a:pt x="250031" y="234014"/>
                  <a:pt x="250031" y="214312"/>
                </a:cubicBezTo>
                <a:lnTo>
                  <a:pt x="272355" y="214312"/>
                </a:lnTo>
                <a:cubicBezTo>
                  <a:pt x="279778" y="214312"/>
                  <a:pt x="285750" y="208341"/>
                  <a:pt x="285750" y="200918"/>
                </a:cubicBezTo>
                <a:cubicBezTo>
                  <a:pt x="285750" y="193495"/>
                  <a:pt x="279778" y="187523"/>
                  <a:pt x="272355" y="187523"/>
                </a:cubicBezTo>
                <a:lnTo>
                  <a:pt x="250031" y="187523"/>
                </a:lnTo>
                <a:lnTo>
                  <a:pt x="250031" y="156270"/>
                </a:lnTo>
                <a:lnTo>
                  <a:pt x="272355" y="156270"/>
                </a:lnTo>
                <a:cubicBezTo>
                  <a:pt x="279778" y="156270"/>
                  <a:pt x="285750" y="150298"/>
                  <a:pt x="285750" y="142875"/>
                </a:cubicBezTo>
                <a:cubicBezTo>
                  <a:pt x="285750" y="135452"/>
                  <a:pt x="279778" y="129480"/>
                  <a:pt x="272355" y="129480"/>
                </a:cubicBezTo>
                <a:lnTo>
                  <a:pt x="250031" y="129480"/>
                </a:lnTo>
                <a:lnTo>
                  <a:pt x="250031" y="98227"/>
                </a:lnTo>
                <a:lnTo>
                  <a:pt x="272355" y="98227"/>
                </a:lnTo>
                <a:cubicBezTo>
                  <a:pt x="279778" y="98227"/>
                  <a:pt x="285750" y="92255"/>
                  <a:pt x="285750" y="84832"/>
                </a:cubicBezTo>
                <a:cubicBezTo>
                  <a:pt x="285750" y="77409"/>
                  <a:pt x="279778" y="71438"/>
                  <a:pt x="272355" y="71438"/>
                </a:cubicBezTo>
                <a:lnTo>
                  <a:pt x="250031" y="71438"/>
                </a:lnTo>
                <a:cubicBezTo>
                  <a:pt x="250031" y="51736"/>
                  <a:pt x="234014" y="35719"/>
                  <a:pt x="214312" y="35719"/>
                </a:cubicBezTo>
                <a:lnTo>
                  <a:pt x="214312" y="13395"/>
                </a:lnTo>
                <a:cubicBezTo>
                  <a:pt x="214312" y="5972"/>
                  <a:pt x="208341" y="0"/>
                  <a:pt x="200918" y="0"/>
                </a:cubicBezTo>
                <a:cubicBezTo>
                  <a:pt x="193495" y="0"/>
                  <a:pt x="187523" y="5972"/>
                  <a:pt x="187523" y="13395"/>
                </a:cubicBezTo>
                <a:lnTo>
                  <a:pt x="187523" y="35719"/>
                </a:lnTo>
                <a:lnTo>
                  <a:pt x="156270" y="35719"/>
                </a:lnTo>
                <a:lnTo>
                  <a:pt x="156270" y="13395"/>
                </a:lnTo>
                <a:cubicBezTo>
                  <a:pt x="156270" y="5972"/>
                  <a:pt x="150298" y="0"/>
                  <a:pt x="142875" y="0"/>
                </a:cubicBezTo>
                <a:cubicBezTo>
                  <a:pt x="135452" y="0"/>
                  <a:pt x="129480" y="5972"/>
                  <a:pt x="129480" y="13395"/>
                </a:cubicBezTo>
                <a:lnTo>
                  <a:pt x="129480" y="35719"/>
                </a:lnTo>
                <a:lnTo>
                  <a:pt x="98227" y="35719"/>
                </a:lnTo>
                <a:lnTo>
                  <a:pt x="98227" y="13395"/>
                </a:lnTo>
                <a:close/>
                <a:moveTo>
                  <a:pt x="89298" y="71438"/>
                </a:moveTo>
                <a:lnTo>
                  <a:pt x="196452" y="71438"/>
                </a:lnTo>
                <a:cubicBezTo>
                  <a:pt x="206332" y="71438"/>
                  <a:pt x="214312" y="79418"/>
                  <a:pt x="214312" y="89298"/>
                </a:cubicBezTo>
                <a:lnTo>
                  <a:pt x="214312" y="196452"/>
                </a:lnTo>
                <a:cubicBezTo>
                  <a:pt x="214312" y="206332"/>
                  <a:pt x="206332" y="214312"/>
                  <a:pt x="196452" y="214312"/>
                </a:cubicBezTo>
                <a:lnTo>
                  <a:pt x="89298" y="214312"/>
                </a:lnTo>
                <a:cubicBezTo>
                  <a:pt x="79418" y="214312"/>
                  <a:pt x="71438" y="206332"/>
                  <a:pt x="71438" y="196452"/>
                </a:cubicBezTo>
                <a:lnTo>
                  <a:pt x="71438" y="89298"/>
                </a:lnTo>
                <a:cubicBezTo>
                  <a:pt x="71438" y="79418"/>
                  <a:pt x="79418" y="71438"/>
                  <a:pt x="89298" y="71438"/>
                </a:cubicBezTo>
                <a:close/>
                <a:moveTo>
                  <a:pt x="98227" y="98227"/>
                </a:moveTo>
                <a:lnTo>
                  <a:pt x="98227" y="187523"/>
                </a:lnTo>
                <a:lnTo>
                  <a:pt x="187523" y="187523"/>
                </a:lnTo>
                <a:lnTo>
                  <a:pt x="187523" y="98227"/>
                </a:lnTo>
                <a:lnTo>
                  <a:pt x="98227" y="9822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6" name="AutoShape 6"/>
          <p:cNvSpPr/>
          <p:nvPr/>
        </p:nvSpPr>
        <p:spPr>
          <a:xfrm>
            <a:off x="1099921" y="2436047"/>
            <a:ext cx="15049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NVIDIA / AMD</a:t>
            </a:r>
            <a:endParaRPr lang="en-US" sz="1100"/>
          </a:p>
        </p:txBody>
      </p:sp>
      <p:sp>
        <p:nvSpPr>
          <p:cNvPr id="7" name="Freeform 7"/>
          <p:cNvSpPr/>
          <p:nvPr/>
        </p:nvSpPr>
        <p:spPr>
          <a:xfrm>
            <a:off x="628484" y="2864681"/>
            <a:ext cx="5067300" cy="1409700"/>
          </a:xfrm>
          <a:custGeom>
            <a:avLst/>
            <a:gdLst/>
            <a:ahLst/>
            <a:cxnLst/>
            <a:rect l="l" t="t" r="r" b="b"/>
            <a:pathLst>
              <a:path w="5067300" h="1409700">
                <a:moveTo>
                  <a:pt x="76194" y="0"/>
                </a:moveTo>
                <a:lnTo>
                  <a:pt x="4991106" y="0"/>
                </a:lnTo>
                <a:cubicBezTo>
                  <a:pt x="5033159" y="0"/>
                  <a:pt x="5067300" y="34141"/>
                  <a:pt x="5067300" y="76194"/>
                </a:cubicBezTo>
                <a:lnTo>
                  <a:pt x="5067300" y="1333506"/>
                </a:lnTo>
                <a:cubicBezTo>
                  <a:pt x="5067300" y="1375587"/>
                  <a:pt x="5033187" y="1409700"/>
                  <a:pt x="4991106" y="1409700"/>
                </a:cubicBezTo>
                <a:lnTo>
                  <a:pt x="76194" y="1409700"/>
                </a:lnTo>
                <a:cubicBezTo>
                  <a:pt x="34141" y="1409700"/>
                  <a:pt x="0" y="1375559"/>
                  <a:pt x="0" y="1333506"/>
                </a:cubicBezTo>
                <a:lnTo>
                  <a:pt x="0" y="76194"/>
                </a:lnTo>
                <a:cubicBezTo>
                  <a:pt x="0" y="34141"/>
                  <a:pt x="34141" y="0"/>
                  <a:pt x="76194" y="0"/>
                </a:cubicBezTo>
                <a:close/>
              </a:path>
            </a:pathLst>
          </a:custGeom>
          <a:solidFill>
            <a:srgbClr val="101828">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780866" y="3017072"/>
            <a:ext cx="4838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Enter unit test directory</a:t>
            </a:r>
            <a:endParaRPr lang="en-US" sz="1100"/>
          </a:p>
        </p:txBody>
      </p:sp>
      <p:sp>
        <p:nvSpPr>
          <p:cNvPr id="9" name="AutoShape 9"/>
          <p:cNvSpPr/>
          <p:nvPr/>
        </p:nvSpPr>
        <p:spPr>
          <a:xfrm>
            <a:off x="780866" y="3321834"/>
            <a:ext cx="4838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cd python/test/unit</a:t>
            </a:r>
            <a:endParaRPr lang="en-US" sz="1100"/>
          </a:p>
        </p:txBody>
      </p:sp>
      <p:sp>
        <p:nvSpPr>
          <p:cNvPr id="10" name="AutoShape 10"/>
          <p:cNvSpPr/>
          <p:nvPr/>
        </p:nvSpPr>
        <p:spPr>
          <a:xfrm>
            <a:off x="780866" y="3664651"/>
            <a:ext cx="4838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Run pytest tests</a:t>
            </a:r>
            <a:endParaRPr lang="en-US" sz="1100"/>
          </a:p>
        </p:txBody>
      </p:sp>
      <p:sp>
        <p:nvSpPr>
          <p:cNvPr id="11" name="AutoShape 11"/>
          <p:cNvSpPr/>
          <p:nvPr/>
        </p:nvSpPr>
        <p:spPr>
          <a:xfrm>
            <a:off x="780866" y="3893232"/>
            <a:ext cx="4838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pytest -s</a:t>
            </a:r>
            <a:endParaRPr lang="en-US" sz="1100"/>
          </a:p>
        </p:txBody>
      </p:sp>
      <p:sp>
        <p:nvSpPr>
          <p:cNvPr id="12" name="Freeform 12"/>
          <p:cNvSpPr/>
          <p:nvPr/>
        </p:nvSpPr>
        <p:spPr>
          <a:xfrm>
            <a:off x="6257815" y="2188517"/>
            <a:ext cx="5543455" cy="2324005"/>
          </a:xfrm>
          <a:custGeom>
            <a:avLst/>
            <a:gdLst/>
            <a:ahLst/>
            <a:cxnLst/>
            <a:rect l="l" t="t" r="r" b="b"/>
            <a:pathLst>
              <a:path w="5543455" h="2324005">
                <a:moveTo>
                  <a:pt x="76204" y="0"/>
                </a:moveTo>
                <a:lnTo>
                  <a:pt x="5467251" y="0"/>
                </a:lnTo>
                <a:cubicBezTo>
                  <a:pt x="5509337" y="0"/>
                  <a:pt x="5543455" y="34119"/>
                  <a:pt x="5543455" y="76204"/>
                </a:cubicBezTo>
                <a:lnTo>
                  <a:pt x="5543455" y="2247801"/>
                </a:lnTo>
                <a:cubicBezTo>
                  <a:pt x="5543455" y="2289887"/>
                  <a:pt x="5509337" y="2324005"/>
                  <a:pt x="5467251" y="2324005"/>
                </a:cubicBezTo>
                <a:lnTo>
                  <a:pt x="76204" y="2324005"/>
                </a:lnTo>
                <a:cubicBezTo>
                  <a:pt x="34119" y="2324005"/>
                  <a:pt x="0" y="2289887"/>
                  <a:pt x="0" y="2247801"/>
                </a:cubicBezTo>
                <a:lnTo>
                  <a:pt x="0" y="76204"/>
                </a:lnTo>
                <a:cubicBezTo>
                  <a:pt x="0" y="34146"/>
                  <a:pt x="34146" y="0"/>
                  <a:pt x="76204" y="0"/>
                </a:cubicBezTo>
                <a:close/>
              </a:path>
            </a:pathLst>
          </a:custGeom>
          <a:solidFill>
            <a:srgbClr val="000000">
              <a:alpha val="0"/>
            </a:srgbClr>
          </a:solidFill>
          <a:ln w="12700">
            <a:solidFill>
              <a:srgbClr val="333333">
                <a:alpha val="100000"/>
              </a:srgbClr>
            </a:solidFill>
            <a:prstDash val="solid"/>
          </a:ln>
        </p:spPr>
        <p:txBody>
          <a:bodyPr wrap="square" lIns="91440" tIns="45720" rIns="91440" bIns="45720" rtlCol="0" anchor="t">
            <a:noAutofit/>
          </a:bodyPr>
          <a:lstStyle/>
          <a:p>
            <a:pPr algn="ctr">
              <a:defRPr/>
            </a:pPr>
          </a:p>
        </p:txBody>
      </p:sp>
      <p:sp>
        <p:nvSpPr>
          <p:cNvPr id="13" name="Freeform 13"/>
          <p:cNvSpPr/>
          <p:nvPr/>
        </p:nvSpPr>
        <p:spPr>
          <a:xfrm>
            <a:off x="6533966" y="2426568"/>
            <a:ext cx="285750" cy="285750"/>
          </a:xfrm>
          <a:custGeom>
            <a:avLst/>
            <a:gdLst/>
            <a:ahLst/>
            <a:cxnLst/>
            <a:rect l="l" t="t" r="r" b="b"/>
            <a:pathLst>
              <a:path w="285750" h="285750">
                <a:moveTo>
                  <a:pt x="98227" y="13395"/>
                </a:moveTo>
                <a:cubicBezTo>
                  <a:pt x="98227" y="5972"/>
                  <a:pt x="92255" y="0"/>
                  <a:pt x="84832" y="0"/>
                </a:cubicBezTo>
                <a:cubicBezTo>
                  <a:pt x="77409" y="0"/>
                  <a:pt x="71437" y="5972"/>
                  <a:pt x="71437" y="13395"/>
                </a:cubicBezTo>
                <a:lnTo>
                  <a:pt x="71437" y="35719"/>
                </a:lnTo>
                <a:cubicBezTo>
                  <a:pt x="51736" y="35719"/>
                  <a:pt x="35719" y="51736"/>
                  <a:pt x="35719" y="71438"/>
                </a:cubicBezTo>
                <a:lnTo>
                  <a:pt x="13395" y="71438"/>
                </a:lnTo>
                <a:cubicBezTo>
                  <a:pt x="5972" y="71438"/>
                  <a:pt x="0" y="77409"/>
                  <a:pt x="0" y="84832"/>
                </a:cubicBezTo>
                <a:cubicBezTo>
                  <a:pt x="0" y="92255"/>
                  <a:pt x="5972" y="98227"/>
                  <a:pt x="13395" y="98227"/>
                </a:cubicBezTo>
                <a:lnTo>
                  <a:pt x="35719" y="98227"/>
                </a:lnTo>
                <a:lnTo>
                  <a:pt x="35719" y="129480"/>
                </a:lnTo>
                <a:lnTo>
                  <a:pt x="13395" y="129480"/>
                </a:lnTo>
                <a:cubicBezTo>
                  <a:pt x="5972" y="129480"/>
                  <a:pt x="0" y="135452"/>
                  <a:pt x="0" y="142875"/>
                </a:cubicBezTo>
                <a:cubicBezTo>
                  <a:pt x="0" y="150298"/>
                  <a:pt x="5972" y="156270"/>
                  <a:pt x="13395" y="156270"/>
                </a:cubicBezTo>
                <a:lnTo>
                  <a:pt x="35719" y="156270"/>
                </a:lnTo>
                <a:lnTo>
                  <a:pt x="35719" y="187523"/>
                </a:lnTo>
                <a:lnTo>
                  <a:pt x="13395" y="187523"/>
                </a:lnTo>
                <a:cubicBezTo>
                  <a:pt x="5972" y="187523"/>
                  <a:pt x="0" y="193495"/>
                  <a:pt x="0" y="200918"/>
                </a:cubicBezTo>
                <a:cubicBezTo>
                  <a:pt x="0" y="208341"/>
                  <a:pt x="5972" y="214312"/>
                  <a:pt x="13395" y="214312"/>
                </a:cubicBezTo>
                <a:lnTo>
                  <a:pt x="35719" y="214312"/>
                </a:lnTo>
                <a:cubicBezTo>
                  <a:pt x="35719" y="234014"/>
                  <a:pt x="51736" y="250031"/>
                  <a:pt x="71437" y="250031"/>
                </a:cubicBezTo>
                <a:lnTo>
                  <a:pt x="71437" y="272355"/>
                </a:lnTo>
                <a:cubicBezTo>
                  <a:pt x="71437" y="279778"/>
                  <a:pt x="77409" y="285750"/>
                  <a:pt x="84832" y="285750"/>
                </a:cubicBezTo>
                <a:cubicBezTo>
                  <a:pt x="92255" y="285750"/>
                  <a:pt x="98227" y="279778"/>
                  <a:pt x="98227" y="272355"/>
                </a:cubicBezTo>
                <a:lnTo>
                  <a:pt x="98227" y="250031"/>
                </a:lnTo>
                <a:lnTo>
                  <a:pt x="129480" y="250031"/>
                </a:lnTo>
                <a:lnTo>
                  <a:pt x="129480" y="272355"/>
                </a:lnTo>
                <a:cubicBezTo>
                  <a:pt x="129480" y="279778"/>
                  <a:pt x="135452" y="285750"/>
                  <a:pt x="142875" y="285750"/>
                </a:cubicBezTo>
                <a:cubicBezTo>
                  <a:pt x="150298" y="285750"/>
                  <a:pt x="156270" y="279778"/>
                  <a:pt x="156270" y="272355"/>
                </a:cubicBezTo>
                <a:lnTo>
                  <a:pt x="156270" y="250031"/>
                </a:lnTo>
                <a:lnTo>
                  <a:pt x="187523" y="250031"/>
                </a:lnTo>
                <a:lnTo>
                  <a:pt x="187523" y="272355"/>
                </a:lnTo>
                <a:cubicBezTo>
                  <a:pt x="187523" y="279778"/>
                  <a:pt x="193495" y="285750"/>
                  <a:pt x="200918" y="285750"/>
                </a:cubicBezTo>
                <a:cubicBezTo>
                  <a:pt x="208341" y="285750"/>
                  <a:pt x="214312" y="279778"/>
                  <a:pt x="214312" y="272355"/>
                </a:cubicBezTo>
                <a:lnTo>
                  <a:pt x="214312" y="250031"/>
                </a:lnTo>
                <a:cubicBezTo>
                  <a:pt x="234014" y="250031"/>
                  <a:pt x="250031" y="234014"/>
                  <a:pt x="250031" y="214312"/>
                </a:cubicBezTo>
                <a:lnTo>
                  <a:pt x="272355" y="214312"/>
                </a:lnTo>
                <a:cubicBezTo>
                  <a:pt x="279778" y="214312"/>
                  <a:pt x="285750" y="208341"/>
                  <a:pt x="285750" y="200918"/>
                </a:cubicBezTo>
                <a:cubicBezTo>
                  <a:pt x="285750" y="193495"/>
                  <a:pt x="279778" y="187523"/>
                  <a:pt x="272355" y="187523"/>
                </a:cubicBezTo>
                <a:lnTo>
                  <a:pt x="250031" y="187523"/>
                </a:lnTo>
                <a:lnTo>
                  <a:pt x="250031" y="156270"/>
                </a:lnTo>
                <a:lnTo>
                  <a:pt x="272355" y="156270"/>
                </a:lnTo>
                <a:cubicBezTo>
                  <a:pt x="279778" y="156270"/>
                  <a:pt x="285750" y="150298"/>
                  <a:pt x="285750" y="142875"/>
                </a:cubicBezTo>
                <a:cubicBezTo>
                  <a:pt x="285750" y="135452"/>
                  <a:pt x="279778" y="129480"/>
                  <a:pt x="272355" y="129480"/>
                </a:cubicBezTo>
                <a:lnTo>
                  <a:pt x="250031" y="129480"/>
                </a:lnTo>
                <a:lnTo>
                  <a:pt x="250031" y="98227"/>
                </a:lnTo>
                <a:lnTo>
                  <a:pt x="272355" y="98227"/>
                </a:lnTo>
                <a:cubicBezTo>
                  <a:pt x="279778" y="98227"/>
                  <a:pt x="285750" y="92255"/>
                  <a:pt x="285750" y="84832"/>
                </a:cubicBezTo>
                <a:cubicBezTo>
                  <a:pt x="285750" y="77409"/>
                  <a:pt x="279778" y="71438"/>
                  <a:pt x="272355" y="71438"/>
                </a:cubicBezTo>
                <a:lnTo>
                  <a:pt x="250031" y="71438"/>
                </a:lnTo>
                <a:cubicBezTo>
                  <a:pt x="250031" y="51736"/>
                  <a:pt x="234014" y="35719"/>
                  <a:pt x="214312" y="35719"/>
                </a:cubicBezTo>
                <a:lnTo>
                  <a:pt x="214312" y="13395"/>
                </a:lnTo>
                <a:cubicBezTo>
                  <a:pt x="214312" y="5972"/>
                  <a:pt x="208341" y="0"/>
                  <a:pt x="200918" y="0"/>
                </a:cubicBezTo>
                <a:cubicBezTo>
                  <a:pt x="193495" y="0"/>
                  <a:pt x="187523" y="5972"/>
                  <a:pt x="187523" y="13395"/>
                </a:cubicBezTo>
                <a:lnTo>
                  <a:pt x="187523" y="35719"/>
                </a:lnTo>
                <a:lnTo>
                  <a:pt x="156270" y="35719"/>
                </a:lnTo>
                <a:lnTo>
                  <a:pt x="156270" y="13395"/>
                </a:lnTo>
                <a:cubicBezTo>
                  <a:pt x="156270" y="5972"/>
                  <a:pt x="150298" y="0"/>
                  <a:pt x="142875" y="0"/>
                </a:cubicBezTo>
                <a:cubicBezTo>
                  <a:pt x="135452" y="0"/>
                  <a:pt x="129480" y="5972"/>
                  <a:pt x="129480" y="13395"/>
                </a:cubicBezTo>
                <a:lnTo>
                  <a:pt x="129480" y="35719"/>
                </a:lnTo>
                <a:lnTo>
                  <a:pt x="98227" y="35719"/>
                </a:lnTo>
                <a:lnTo>
                  <a:pt x="98227" y="13395"/>
                </a:lnTo>
                <a:close/>
                <a:moveTo>
                  <a:pt x="89298" y="71438"/>
                </a:moveTo>
                <a:lnTo>
                  <a:pt x="196452" y="71438"/>
                </a:lnTo>
                <a:cubicBezTo>
                  <a:pt x="206332" y="71438"/>
                  <a:pt x="214312" y="79418"/>
                  <a:pt x="214312" y="89298"/>
                </a:cubicBezTo>
                <a:lnTo>
                  <a:pt x="214312" y="196452"/>
                </a:lnTo>
                <a:cubicBezTo>
                  <a:pt x="214312" y="206332"/>
                  <a:pt x="206332" y="214312"/>
                  <a:pt x="196452" y="214312"/>
                </a:cubicBezTo>
                <a:lnTo>
                  <a:pt x="89298" y="214312"/>
                </a:lnTo>
                <a:cubicBezTo>
                  <a:pt x="79418" y="214312"/>
                  <a:pt x="71437" y="206332"/>
                  <a:pt x="71437" y="196452"/>
                </a:cubicBezTo>
                <a:lnTo>
                  <a:pt x="71437" y="89298"/>
                </a:lnTo>
                <a:cubicBezTo>
                  <a:pt x="71437" y="79418"/>
                  <a:pt x="79418" y="71438"/>
                  <a:pt x="89298" y="71438"/>
                </a:cubicBezTo>
                <a:close/>
                <a:moveTo>
                  <a:pt x="98227" y="98227"/>
                </a:moveTo>
                <a:lnTo>
                  <a:pt x="98227" y="187523"/>
                </a:lnTo>
                <a:lnTo>
                  <a:pt x="187523" y="187523"/>
                </a:lnTo>
                <a:lnTo>
                  <a:pt x="187523" y="98227"/>
                </a:lnTo>
                <a:lnTo>
                  <a:pt x="98227" y="98227"/>
                </a:ln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14" name="AutoShape 14"/>
          <p:cNvSpPr/>
          <p:nvPr/>
        </p:nvSpPr>
        <p:spPr>
          <a:xfrm>
            <a:off x="6967303" y="2436047"/>
            <a:ext cx="8572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Other Backends</a:t>
            </a:r>
            <a:endParaRPr lang="en-US" sz="1100"/>
          </a:p>
        </p:txBody>
      </p:sp>
      <p:sp>
        <p:nvSpPr>
          <p:cNvPr id="15" name="Freeform 15"/>
          <p:cNvSpPr/>
          <p:nvPr/>
        </p:nvSpPr>
        <p:spPr>
          <a:xfrm>
            <a:off x="6495866" y="2864681"/>
            <a:ext cx="5067300" cy="1409700"/>
          </a:xfrm>
          <a:custGeom>
            <a:avLst/>
            <a:gdLst/>
            <a:ahLst/>
            <a:cxnLst/>
            <a:rect l="l" t="t" r="r" b="b"/>
            <a:pathLst>
              <a:path w="5067300" h="1409700">
                <a:moveTo>
                  <a:pt x="76194" y="0"/>
                </a:moveTo>
                <a:lnTo>
                  <a:pt x="4991106" y="0"/>
                </a:lnTo>
                <a:cubicBezTo>
                  <a:pt x="5033159" y="0"/>
                  <a:pt x="5067300" y="34141"/>
                  <a:pt x="5067300" y="76194"/>
                </a:cubicBezTo>
                <a:lnTo>
                  <a:pt x="5067300" y="1333506"/>
                </a:lnTo>
                <a:cubicBezTo>
                  <a:pt x="5067300" y="1375587"/>
                  <a:pt x="5033187" y="1409700"/>
                  <a:pt x="4991106" y="1409700"/>
                </a:cubicBezTo>
                <a:lnTo>
                  <a:pt x="76194" y="1409700"/>
                </a:lnTo>
                <a:cubicBezTo>
                  <a:pt x="34141" y="1409700"/>
                  <a:pt x="0" y="1375559"/>
                  <a:pt x="0" y="1333506"/>
                </a:cubicBezTo>
                <a:lnTo>
                  <a:pt x="0" y="76194"/>
                </a:lnTo>
                <a:cubicBezTo>
                  <a:pt x="0" y="34141"/>
                  <a:pt x="34141" y="0"/>
                  <a:pt x="76194" y="0"/>
                </a:cubicBezTo>
                <a:close/>
              </a:path>
            </a:pathLst>
          </a:custGeom>
          <a:solidFill>
            <a:srgbClr val="101828">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6648248" y="3017072"/>
            <a:ext cx="4838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Enter backend test directory</a:t>
            </a:r>
            <a:endParaRPr lang="en-US" sz="1100"/>
          </a:p>
        </p:txBody>
      </p:sp>
      <p:sp>
        <p:nvSpPr>
          <p:cNvPr id="17" name="AutoShape 17"/>
          <p:cNvSpPr/>
          <p:nvPr/>
        </p:nvSpPr>
        <p:spPr>
          <a:xfrm>
            <a:off x="6648248" y="3321834"/>
            <a:ext cx="4838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cd third_party/backend/python/test/unit</a:t>
            </a:r>
            <a:endParaRPr lang="en-US" sz="1100"/>
          </a:p>
        </p:txBody>
      </p:sp>
      <p:sp>
        <p:nvSpPr>
          <p:cNvPr id="18" name="AutoShape 18"/>
          <p:cNvSpPr/>
          <p:nvPr/>
        </p:nvSpPr>
        <p:spPr>
          <a:xfrm>
            <a:off x="6648248" y="3664651"/>
            <a:ext cx="4838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05DF72"/>
                </a:solidFill>
                <a:latin typeface="MiSans" panose="00000500000000000000" charset="-122"/>
                <a:ea typeface="MiSans" panose="00000500000000000000" charset="-122"/>
                <a:cs typeface="MiSans" panose="00000500000000000000" charset="-122"/>
                <a:sym typeface="MiSans" panose="00000500000000000000" charset="-122"/>
              </a:rPr>
              <a:t># Run pytest tests</a:t>
            </a:r>
            <a:endParaRPr lang="en-US" sz="1100"/>
          </a:p>
        </p:txBody>
      </p:sp>
      <p:sp>
        <p:nvSpPr>
          <p:cNvPr id="19" name="AutoShape 19"/>
          <p:cNvSpPr/>
          <p:nvPr/>
        </p:nvSpPr>
        <p:spPr>
          <a:xfrm>
            <a:off x="6648248" y="3893232"/>
            <a:ext cx="48387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pytest -s</a:t>
            </a:r>
            <a:endParaRPr lang="en-US" sz="1100"/>
          </a:p>
        </p:txBody>
      </p:sp>
      <p:sp>
        <p:nvSpPr>
          <p:cNvPr id="20" name="Freeform 20"/>
          <p:cNvSpPr/>
          <p:nvPr/>
        </p:nvSpPr>
        <p:spPr>
          <a:xfrm>
            <a:off x="380956" y="4750287"/>
            <a:ext cx="11430000" cy="647700"/>
          </a:xfrm>
          <a:custGeom>
            <a:avLst/>
            <a:gdLst/>
            <a:ahLst/>
            <a:cxnLst/>
            <a:rect l="l" t="t" r="r" b="b"/>
            <a:pathLst>
              <a:path w="11430000" h="647700">
                <a:moveTo>
                  <a:pt x="76203" y="0"/>
                </a:moveTo>
                <a:lnTo>
                  <a:pt x="11353797" y="0"/>
                </a:lnTo>
                <a:cubicBezTo>
                  <a:pt x="11395883" y="0"/>
                  <a:pt x="11430000" y="34117"/>
                  <a:pt x="11430000" y="76203"/>
                </a:cubicBezTo>
                <a:lnTo>
                  <a:pt x="11430000" y="571497"/>
                </a:lnTo>
                <a:cubicBezTo>
                  <a:pt x="11430000" y="613583"/>
                  <a:pt x="11395883" y="647700"/>
                  <a:pt x="11353797" y="647700"/>
                </a:cubicBezTo>
                <a:lnTo>
                  <a:pt x="76203" y="647700"/>
                </a:lnTo>
                <a:cubicBezTo>
                  <a:pt x="34117" y="647700"/>
                  <a:pt x="0" y="613583"/>
                  <a:pt x="0" y="5714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1" name="Freeform 21"/>
          <p:cNvSpPr/>
          <p:nvPr/>
        </p:nvSpPr>
        <p:spPr>
          <a:xfrm>
            <a:off x="599971" y="4959753"/>
            <a:ext cx="228600" cy="228600"/>
          </a:xfrm>
          <a:custGeom>
            <a:avLst/>
            <a:gdLst/>
            <a:ahLst/>
            <a:cxnLst/>
            <a:rect l="l" t="t" r="r" b="b"/>
            <a:pathLst>
              <a:path w="228600" h="228600">
                <a:moveTo>
                  <a:pt x="114300" y="228600"/>
                </a:moveTo>
                <a:cubicBezTo>
                  <a:pt x="177383" y="228600"/>
                  <a:pt x="228600" y="177383"/>
                  <a:pt x="228600" y="114300"/>
                </a:cubicBezTo>
                <a:cubicBezTo>
                  <a:pt x="228600" y="51217"/>
                  <a:pt x="177383" y="0"/>
                  <a:pt x="114300" y="0"/>
                </a:cubicBezTo>
                <a:cubicBezTo>
                  <a:pt x="51217" y="0"/>
                  <a:pt x="0" y="51217"/>
                  <a:pt x="0" y="114300"/>
                </a:cubicBezTo>
                <a:cubicBezTo>
                  <a:pt x="0" y="177383"/>
                  <a:pt x="51217" y="228600"/>
                  <a:pt x="114300" y="228600"/>
                </a:cubicBezTo>
                <a:close/>
                <a:moveTo>
                  <a:pt x="100013" y="71437"/>
                </a:moveTo>
                <a:cubicBezTo>
                  <a:pt x="100013" y="63552"/>
                  <a:pt x="106415" y="57150"/>
                  <a:pt x="114300" y="57150"/>
                </a:cubicBezTo>
                <a:cubicBezTo>
                  <a:pt x="122185" y="57150"/>
                  <a:pt x="128587" y="63552"/>
                  <a:pt x="128587" y="71437"/>
                </a:cubicBezTo>
                <a:cubicBezTo>
                  <a:pt x="128587" y="79323"/>
                  <a:pt x="122185" y="85725"/>
                  <a:pt x="114300" y="85725"/>
                </a:cubicBezTo>
                <a:cubicBezTo>
                  <a:pt x="106415" y="85725"/>
                  <a:pt x="100013" y="79323"/>
                  <a:pt x="100013" y="71437"/>
                </a:cubicBezTo>
                <a:close/>
                <a:moveTo>
                  <a:pt x="96441" y="100013"/>
                </a:moveTo>
                <a:lnTo>
                  <a:pt x="117873" y="100013"/>
                </a:lnTo>
                <a:cubicBezTo>
                  <a:pt x="123810" y="100013"/>
                  <a:pt x="128587" y="104790"/>
                  <a:pt x="128587" y="110727"/>
                </a:cubicBezTo>
                <a:lnTo>
                  <a:pt x="128587" y="150019"/>
                </a:lnTo>
                <a:lnTo>
                  <a:pt x="132159" y="150019"/>
                </a:lnTo>
                <a:cubicBezTo>
                  <a:pt x="138099" y="150019"/>
                  <a:pt x="142875" y="154796"/>
                  <a:pt x="142875" y="160734"/>
                </a:cubicBezTo>
                <a:cubicBezTo>
                  <a:pt x="142875" y="166674"/>
                  <a:pt x="138099" y="171450"/>
                  <a:pt x="132159" y="171450"/>
                </a:cubicBezTo>
                <a:lnTo>
                  <a:pt x="96441" y="171450"/>
                </a:lnTo>
                <a:cubicBezTo>
                  <a:pt x="90501" y="171450"/>
                  <a:pt x="85725" y="166674"/>
                  <a:pt x="85725" y="160734"/>
                </a:cubicBezTo>
                <a:cubicBezTo>
                  <a:pt x="85725" y="154796"/>
                  <a:pt x="90501" y="150019"/>
                  <a:pt x="96441" y="150019"/>
                </a:cubicBezTo>
                <a:lnTo>
                  <a:pt x="107156" y="150019"/>
                </a:lnTo>
                <a:lnTo>
                  <a:pt x="107156" y="121444"/>
                </a:lnTo>
                <a:lnTo>
                  <a:pt x="96441" y="121444"/>
                </a:lnTo>
                <a:cubicBezTo>
                  <a:pt x="90501" y="121444"/>
                  <a:pt x="85725" y="116666"/>
                  <a:pt x="85725" y="110727"/>
                </a:cubicBezTo>
                <a:cubicBezTo>
                  <a:pt x="85725" y="104790"/>
                  <a:pt x="90501" y="100013"/>
                  <a:pt x="96441" y="100013"/>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2" name="AutoShape 22"/>
          <p:cNvSpPr/>
          <p:nvPr/>
        </p:nvSpPr>
        <p:spPr>
          <a:xfrm>
            <a:off x="971381" y="4940730"/>
            <a:ext cx="5786929" cy="27638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pytest -s</a:t>
            </a: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 flag shows test output for easier debugging</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9928" y="611525"/>
            <a:ext cx="3480812"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Security Code Scanning</a:t>
            </a:r>
            <a:endParaRPr lang="en-US" sz="1100"/>
          </a:p>
        </p:txBody>
      </p:sp>
      <p:sp>
        <p:nvSpPr>
          <p:cNvPr id="3" name="AutoShape 3"/>
          <p:cNvSpPr/>
          <p:nvPr/>
        </p:nvSpPr>
        <p:spPr>
          <a:xfrm>
            <a:off x="380956" y="1640886"/>
            <a:ext cx="11525250" cy="314325"/>
          </a:xfrm>
          <a:prstGeom prst="rect">
            <a:avLst/>
          </a:prstGeom>
          <a:noFill/>
          <a:ln w="12700">
            <a:noFill/>
            <a:prstDash val="solid"/>
          </a:ln>
        </p:spPr>
        <p:txBody>
          <a:bodyPr wrap="square" lIns="0" tIns="0" rIns="0" bIns="0" rtlCol="0" anchor="ctr">
            <a:noAutofit/>
          </a:bodyPr>
          <a:lstStyle/>
          <a:p>
            <a:pPr indent="0" algn="l">
              <a:lnSpc>
                <a:spcPct val="142000"/>
              </a:lnSpc>
              <a:defRPr/>
            </a:pPr>
            <a:r>
              <a:rPr lang="en-US"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The project is configured with automated code scanning to continuously monitor code</a:t>
            </a:r>
            <a:r>
              <a:rPr lang="en-US" sz="15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security</a:t>
            </a:r>
            <a:r>
              <a:rPr lang="en-US" sz="1500" b="0"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and</a:t>
            </a:r>
            <a:r>
              <a:rPr lang="en-US" sz="15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compliance</a:t>
            </a:r>
            <a:endParaRPr lang="en-US" sz="1100"/>
          </a:p>
        </p:txBody>
      </p:sp>
      <p:sp>
        <p:nvSpPr>
          <p:cNvPr id="4" name="Freeform 4"/>
          <p:cNvSpPr/>
          <p:nvPr/>
        </p:nvSpPr>
        <p:spPr>
          <a:xfrm>
            <a:off x="380956" y="2179039"/>
            <a:ext cx="5562600" cy="1943100"/>
          </a:xfrm>
          <a:custGeom>
            <a:avLst/>
            <a:gdLst/>
            <a:ahLst/>
            <a:cxnLst/>
            <a:rect l="l" t="t" r="r" b="b"/>
            <a:pathLst>
              <a:path w="5562600" h="1943100">
                <a:moveTo>
                  <a:pt x="76208" y="0"/>
                </a:moveTo>
                <a:lnTo>
                  <a:pt x="5486392" y="0"/>
                </a:lnTo>
                <a:cubicBezTo>
                  <a:pt x="5528480" y="0"/>
                  <a:pt x="5562600" y="34120"/>
                  <a:pt x="5562600" y="76208"/>
                </a:cubicBezTo>
                <a:lnTo>
                  <a:pt x="5562600" y="1866892"/>
                </a:lnTo>
                <a:cubicBezTo>
                  <a:pt x="5562600" y="1908980"/>
                  <a:pt x="5528480" y="1943100"/>
                  <a:pt x="5486392" y="1943100"/>
                </a:cubicBezTo>
                <a:lnTo>
                  <a:pt x="76208" y="1943100"/>
                </a:lnTo>
                <a:cubicBezTo>
                  <a:pt x="34120" y="1943100"/>
                  <a:pt x="0" y="1908980"/>
                  <a:pt x="0" y="1866892"/>
                </a:cubicBezTo>
                <a:lnTo>
                  <a:pt x="0" y="76208"/>
                </a:lnTo>
                <a:cubicBezTo>
                  <a:pt x="0" y="34148"/>
                  <a:pt x="34148" y="0"/>
                  <a:pt x="76208"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5" name="AutoShape 5"/>
          <p:cNvSpPr/>
          <p:nvPr/>
        </p:nvSpPr>
        <p:spPr>
          <a:xfrm>
            <a:off x="609529" y="2407611"/>
            <a:ext cx="52006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Trigger Conditions</a:t>
            </a:r>
            <a:endParaRPr lang="en-US" sz="1100"/>
          </a:p>
        </p:txBody>
      </p:sp>
      <p:sp>
        <p:nvSpPr>
          <p:cNvPr id="6" name="Freeform 6"/>
          <p:cNvSpPr/>
          <p:nvPr/>
        </p:nvSpPr>
        <p:spPr>
          <a:xfrm>
            <a:off x="652391" y="2939562"/>
            <a:ext cx="200025" cy="215697"/>
          </a:xfrm>
          <a:custGeom>
            <a:avLst/>
            <a:gdLst/>
            <a:ahLst/>
            <a:cxnLst/>
            <a:rect l="l" t="t" r="r" b="b"/>
            <a:pathLst>
              <a:path w="200025" h="215697">
                <a:moveTo>
                  <a:pt x="114300" y="50185"/>
                </a:moveTo>
                <a:lnTo>
                  <a:pt x="114300" y="144259"/>
                </a:lnTo>
                <a:cubicBezTo>
                  <a:pt x="114300" y="152162"/>
                  <a:pt x="107914" y="158546"/>
                  <a:pt x="100013" y="158546"/>
                </a:cubicBezTo>
                <a:cubicBezTo>
                  <a:pt x="92111" y="158546"/>
                  <a:pt x="85725" y="152162"/>
                  <a:pt x="85725" y="144259"/>
                </a:cubicBezTo>
                <a:lnTo>
                  <a:pt x="85725" y="50185"/>
                </a:lnTo>
                <a:lnTo>
                  <a:pt x="67241" y="68669"/>
                </a:lnTo>
                <a:cubicBezTo>
                  <a:pt x="61658" y="74250"/>
                  <a:pt x="52596" y="74250"/>
                  <a:pt x="47015" y="68669"/>
                </a:cubicBezTo>
                <a:cubicBezTo>
                  <a:pt x="41434" y="63088"/>
                  <a:pt x="41434" y="54026"/>
                  <a:pt x="47015" y="48443"/>
                </a:cubicBezTo>
                <a:lnTo>
                  <a:pt x="89877" y="5581"/>
                </a:lnTo>
                <a:cubicBezTo>
                  <a:pt x="95458" y="0"/>
                  <a:pt x="104522" y="0"/>
                  <a:pt x="110103" y="5581"/>
                </a:cubicBezTo>
                <a:lnTo>
                  <a:pt x="152966" y="48443"/>
                </a:lnTo>
                <a:cubicBezTo>
                  <a:pt x="158547" y="54026"/>
                  <a:pt x="158547" y="63088"/>
                  <a:pt x="152966" y="68669"/>
                </a:cubicBezTo>
                <a:cubicBezTo>
                  <a:pt x="147383" y="74250"/>
                  <a:pt x="138321" y="74250"/>
                  <a:pt x="132740" y="68669"/>
                </a:cubicBezTo>
                <a:lnTo>
                  <a:pt x="114300" y="50185"/>
                </a:lnTo>
                <a:close/>
                <a:moveTo>
                  <a:pt x="100013" y="179978"/>
                </a:moveTo>
                <a:cubicBezTo>
                  <a:pt x="119747" y="179978"/>
                  <a:pt x="135731" y="163994"/>
                  <a:pt x="135731" y="144259"/>
                </a:cubicBezTo>
                <a:lnTo>
                  <a:pt x="171450" y="144259"/>
                </a:lnTo>
                <a:cubicBezTo>
                  <a:pt x="187211" y="144259"/>
                  <a:pt x="200025" y="157073"/>
                  <a:pt x="200025" y="172834"/>
                </a:cubicBezTo>
                <a:lnTo>
                  <a:pt x="200025" y="187122"/>
                </a:lnTo>
                <a:cubicBezTo>
                  <a:pt x="200025" y="202882"/>
                  <a:pt x="187211" y="215696"/>
                  <a:pt x="171450" y="215696"/>
                </a:cubicBezTo>
                <a:lnTo>
                  <a:pt x="28575" y="215696"/>
                </a:lnTo>
                <a:cubicBezTo>
                  <a:pt x="12814" y="215696"/>
                  <a:pt x="0" y="202882"/>
                  <a:pt x="0" y="187122"/>
                </a:cubicBezTo>
                <a:lnTo>
                  <a:pt x="0" y="172834"/>
                </a:lnTo>
                <a:cubicBezTo>
                  <a:pt x="0" y="157073"/>
                  <a:pt x="12814" y="144259"/>
                  <a:pt x="28575" y="144259"/>
                </a:cubicBezTo>
                <a:lnTo>
                  <a:pt x="64294" y="144259"/>
                </a:lnTo>
                <a:cubicBezTo>
                  <a:pt x="64294" y="163994"/>
                  <a:pt x="80278" y="179978"/>
                  <a:pt x="100013" y="179978"/>
                </a:cubicBezTo>
                <a:close/>
                <a:moveTo>
                  <a:pt x="164306" y="190693"/>
                </a:moveTo>
                <a:cubicBezTo>
                  <a:pt x="170219" y="190693"/>
                  <a:pt x="175023" y="185892"/>
                  <a:pt x="175023" y="179978"/>
                </a:cubicBezTo>
                <a:cubicBezTo>
                  <a:pt x="175023" y="174065"/>
                  <a:pt x="170219" y="169261"/>
                  <a:pt x="164306" y="169261"/>
                </a:cubicBezTo>
                <a:cubicBezTo>
                  <a:pt x="158392" y="169261"/>
                  <a:pt x="153591" y="174065"/>
                  <a:pt x="153591" y="179978"/>
                </a:cubicBezTo>
                <a:cubicBezTo>
                  <a:pt x="153591" y="185892"/>
                  <a:pt x="158392" y="190693"/>
                  <a:pt x="164306" y="190693"/>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1009513" y="2826702"/>
            <a:ext cx="2352565" cy="34284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Push to main branch</a:t>
            </a:r>
            <a:endParaRPr lang="en-US" sz="1100"/>
          </a:p>
        </p:txBody>
      </p:sp>
      <p:sp>
        <p:nvSpPr>
          <p:cNvPr id="8" name="AutoShape 8"/>
          <p:cNvSpPr/>
          <p:nvPr/>
        </p:nvSpPr>
        <p:spPr>
          <a:xfrm>
            <a:off x="1009513" y="3093401"/>
            <a:ext cx="3438733"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Triggered when main branch code is updated</a:t>
            </a:r>
            <a:endParaRPr lang="en-US" sz="1100"/>
          </a:p>
        </p:txBody>
      </p:sp>
      <p:sp>
        <p:nvSpPr>
          <p:cNvPr id="9" name="Freeform 9"/>
          <p:cNvSpPr/>
          <p:nvPr/>
        </p:nvSpPr>
        <p:spPr>
          <a:xfrm>
            <a:off x="652391" y="3550481"/>
            <a:ext cx="200025" cy="228600"/>
          </a:xfrm>
          <a:custGeom>
            <a:avLst/>
            <a:gdLst/>
            <a:ahLst/>
            <a:cxnLst/>
            <a:rect l="l" t="t" r="r" b="b"/>
            <a:pathLst>
              <a:path w="200025" h="228600">
                <a:moveTo>
                  <a:pt x="35719" y="46434"/>
                </a:moveTo>
                <a:cubicBezTo>
                  <a:pt x="41633" y="46434"/>
                  <a:pt x="46434" y="41633"/>
                  <a:pt x="46434" y="35719"/>
                </a:cubicBezTo>
                <a:cubicBezTo>
                  <a:pt x="46434" y="29806"/>
                  <a:pt x="41633" y="25002"/>
                  <a:pt x="35719" y="25002"/>
                </a:cubicBezTo>
                <a:cubicBezTo>
                  <a:pt x="29806" y="25002"/>
                  <a:pt x="25002" y="29806"/>
                  <a:pt x="25002" y="35719"/>
                </a:cubicBezTo>
                <a:cubicBezTo>
                  <a:pt x="25002" y="41633"/>
                  <a:pt x="29806" y="46434"/>
                  <a:pt x="35719" y="46434"/>
                </a:cubicBezTo>
                <a:close/>
                <a:moveTo>
                  <a:pt x="71437" y="35719"/>
                </a:moveTo>
                <a:cubicBezTo>
                  <a:pt x="71437" y="50363"/>
                  <a:pt x="62641" y="62954"/>
                  <a:pt x="50006" y="68445"/>
                </a:cubicBezTo>
                <a:lnTo>
                  <a:pt x="50006" y="100013"/>
                </a:lnTo>
                <a:lnTo>
                  <a:pt x="128587" y="100013"/>
                </a:lnTo>
                <a:cubicBezTo>
                  <a:pt x="140419" y="100013"/>
                  <a:pt x="150019" y="90413"/>
                  <a:pt x="150019" y="78581"/>
                </a:cubicBezTo>
                <a:lnTo>
                  <a:pt x="150019" y="68445"/>
                </a:lnTo>
                <a:cubicBezTo>
                  <a:pt x="137384" y="62954"/>
                  <a:pt x="128587" y="50363"/>
                  <a:pt x="128587" y="35719"/>
                </a:cubicBezTo>
                <a:cubicBezTo>
                  <a:pt x="128587" y="15984"/>
                  <a:pt x="144572" y="0"/>
                  <a:pt x="164306" y="0"/>
                </a:cubicBezTo>
                <a:cubicBezTo>
                  <a:pt x="184041" y="0"/>
                  <a:pt x="200025" y="15984"/>
                  <a:pt x="200025" y="35719"/>
                </a:cubicBezTo>
                <a:cubicBezTo>
                  <a:pt x="200025" y="50363"/>
                  <a:pt x="191229" y="62954"/>
                  <a:pt x="178594" y="68445"/>
                </a:cubicBezTo>
                <a:lnTo>
                  <a:pt x="178594" y="78581"/>
                </a:lnTo>
                <a:cubicBezTo>
                  <a:pt x="178594" y="106219"/>
                  <a:pt x="156225" y="128588"/>
                  <a:pt x="128587" y="128588"/>
                </a:cubicBezTo>
                <a:lnTo>
                  <a:pt x="50006" y="128588"/>
                </a:lnTo>
                <a:lnTo>
                  <a:pt x="50006" y="160155"/>
                </a:lnTo>
                <a:cubicBezTo>
                  <a:pt x="62641" y="165646"/>
                  <a:pt x="71437" y="178237"/>
                  <a:pt x="71437" y="192881"/>
                </a:cubicBezTo>
                <a:cubicBezTo>
                  <a:pt x="71437" y="212616"/>
                  <a:pt x="55453" y="228600"/>
                  <a:pt x="35719" y="228600"/>
                </a:cubicBezTo>
                <a:cubicBezTo>
                  <a:pt x="15984" y="228600"/>
                  <a:pt x="0" y="212616"/>
                  <a:pt x="0" y="192881"/>
                </a:cubicBezTo>
                <a:cubicBezTo>
                  <a:pt x="0" y="178237"/>
                  <a:pt x="8796" y="165646"/>
                  <a:pt x="21431" y="160155"/>
                </a:cubicBezTo>
                <a:lnTo>
                  <a:pt x="21431" y="68491"/>
                </a:lnTo>
                <a:cubicBezTo>
                  <a:pt x="8796" y="62954"/>
                  <a:pt x="0" y="50363"/>
                  <a:pt x="0" y="35719"/>
                </a:cubicBezTo>
                <a:cubicBezTo>
                  <a:pt x="0" y="15984"/>
                  <a:pt x="15984" y="0"/>
                  <a:pt x="35719" y="0"/>
                </a:cubicBezTo>
                <a:cubicBezTo>
                  <a:pt x="55453" y="0"/>
                  <a:pt x="71437" y="15984"/>
                  <a:pt x="71437" y="35719"/>
                </a:cubicBezTo>
                <a:close/>
                <a:moveTo>
                  <a:pt x="175023" y="35719"/>
                </a:moveTo>
                <a:cubicBezTo>
                  <a:pt x="175023" y="29806"/>
                  <a:pt x="170219" y="25002"/>
                  <a:pt x="164306" y="25002"/>
                </a:cubicBezTo>
                <a:cubicBezTo>
                  <a:pt x="158392" y="25002"/>
                  <a:pt x="153591" y="29806"/>
                  <a:pt x="153591" y="35719"/>
                </a:cubicBezTo>
                <a:cubicBezTo>
                  <a:pt x="153591" y="41633"/>
                  <a:pt x="158392" y="46434"/>
                  <a:pt x="164306" y="46434"/>
                </a:cubicBezTo>
                <a:cubicBezTo>
                  <a:pt x="170219" y="46434"/>
                  <a:pt x="175023" y="41633"/>
                  <a:pt x="175023" y="35719"/>
                </a:cubicBezTo>
                <a:close/>
                <a:moveTo>
                  <a:pt x="35719" y="203598"/>
                </a:moveTo>
                <a:cubicBezTo>
                  <a:pt x="41633" y="203598"/>
                  <a:pt x="46434" y="198794"/>
                  <a:pt x="46434" y="192881"/>
                </a:cubicBezTo>
                <a:cubicBezTo>
                  <a:pt x="46434" y="186967"/>
                  <a:pt x="41633" y="182166"/>
                  <a:pt x="35719" y="182166"/>
                </a:cubicBezTo>
                <a:cubicBezTo>
                  <a:pt x="29806" y="182166"/>
                  <a:pt x="25002" y="186967"/>
                  <a:pt x="25002" y="192881"/>
                </a:cubicBezTo>
                <a:cubicBezTo>
                  <a:pt x="25002" y="198794"/>
                  <a:pt x="29806" y="203598"/>
                  <a:pt x="35719" y="203598"/>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1009514" y="3436227"/>
            <a:ext cx="12668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Pull Request</a:t>
            </a:r>
            <a:endParaRPr lang="en-US" sz="1100"/>
          </a:p>
        </p:txBody>
      </p:sp>
      <p:sp>
        <p:nvSpPr>
          <p:cNvPr id="11" name="AutoShape 11"/>
          <p:cNvSpPr/>
          <p:nvPr/>
        </p:nvSpPr>
        <p:spPr>
          <a:xfrm>
            <a:off x="1009514" y="3702937"/>
            <a:ext cx="3067472" cy="223818"/>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Scan triggered when a PR is submitted</a:t>
            </a:r>
            <a:endParaRPr lang="en-US" sz="1100"/>
          </a:p>
        </p:txBody>
      </p:sp>
      <p:sp>
        <p:nvSpPr>
          <p:cNvPr id="12" name="Freeform 12"/>
          <p:cNvSpPr/>
          <p:nvPr/>
        </p:nvSpPr>
        <p:spPr>
          <a:xfrm>
            <a:off x="6248338" y="2179039"/>
            <a:ext cx="5562600" cy="1943100"/>
          </a:xfrm>
          <a:custGeom>
            <a:avLst/>
            <a:gdLst/>
            <a:ahLst/>
            <a:cxnLst/>
            <a:rect l="l" t="t" r="r" b="b"/>
            <a:pathLst>
              <a:path w="5562600" h="1943100">
                <a:moveTo>
                  <a:pt x="76208" y="0"/>
                </a:moveTo>
                <a:lnTo>
                  <a:pt x="5486392" y="0"/>
                </a:lnTo>
                <a:cubicBezTo>
                  <a:pt x="5528480" y="0"/>
                  <a:pt x="5562600" y="34120"/>
                  <a:pt x="5562600" y="76208"/>
                </a:cubicBezTo>
                <a:lnTo>
                  <a:pt x="5562600" y="1866892"/>
                </a:lnTo>
                <a:cubicBezTo>
                  <a:pt x="5562600" y="1908980"/>
                  <a:pt x="5528480" y="1943100"/>
                  <a:pt x="5486392" y="1943100"/>
                </a:cubicBezTo>
                <a:lnTo>
                  <a:pt x="76208" y="1943100"/>
                </a:lnTo>
                <a:cubicBezTo>
                  <a:pt x="34120" y="1943100"/>
                  <a:pt x="0" y="1908980"/>
                  <a:pt x="0" y="1866892"/>
                </a:cubicBezTo>
                <a:lnTo>
                  <a:pt x="0" y="76208"/>
                </a:lnTo>
                <a:cubicBezTo>
                  <a:pt x="0" y="34148"/>
                  <a:pt x="34148" y="0"/>
                  <a:pt x="76208" y="0"/>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6476911" y="2407611"/>
            <a:ext cx="52006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Scan Results</a:t>
            </a:r>
            <a:endParaRPr lang="en-US" sz="1100"/>
          </a:p>
        </p:txBody>
      </p:sp>
      <p:sp>
        <p:nvSpPr>
          <p:cNvPr id="14" name="Freeform 14"/>
          <p:cNvSpPr/>
          <p:nvPr/>
        </p:nvSpPr>
        <p:spPr>
          <a:xfrm>
            <a:off x="6534061" y="2940946"/>
            <a:ext cx="171450" cy="228600"/>
          </a:xfrm>
          <a:custGeom>
            <a:avLst/>
            <a:gdLst/>
            <a:ahLst/>
            <a:cxnLst/>
            <a:rect l="l" t="t" r="r" b="b"/>
            <a:pathLst>
              <a:path w="171450" h="228600">
                <a:moveTo>
                  <a:pt x="0" y="28575"/>
                </a:moveTo>
                <a:cubicBezTo>
                  <a:pt x="0" y="12814"/>
                  <a:pt x="12814" y="0"/>
                  <a:pt x="28575" y="0"/>
                </a:cubicBezTo>
                <a:lnTo>
                  <a:pt x="95324" y="0"/>
                </a:lnTo>
                <a:cubicBezTo>
                  <a:pt x="102914" y="0"/>
                  <a:pt x="110192" y="2991"/>
                  <a:pt x="115550" y="8349"/>
                </a:cubicBezTo>
                <a:lnTo>
                  <a:pt x="163101" y="55944"/>
                </a:lnTo>
                <a:cubicBezTo>
                  <a:pt x="168459" y="61302"/>
                  <a:pt x="171450" y="68580"/>
                  <a:pt x="171450" y="76170"/>
                </a:cubicBezTo>
                <a:lnTo>
                  <a:pt x="171450" y="200025"/>
                </a:lnTo>
                <a:cubicBezTo>
                  <a:pt x="171450" y="215786"/>
                  <a:pt x="158636" y="228600"/>
                  <a:pt x="142875" y="228600"/>
                </a:cubicBezTo>
                <a:lnTo>
                  <a:pt x="28575" y="228600"/>
                </a:lnTo>
                <a:cubicBezTo>
                  <a:pt x="12814" y="228600"/>
                  <a:pt x="0" y="215786"/>
                  <a:pt x="0" y="200025"/>
                </a:cubicBezTo>
                <a:lnTo>
                  <a:pt x="0" y="28575"/>
                </a:lnTo>
                <a:close/>
                <a:moveTo>
                  <a:pt x="92869" y="26119"/>
                </a:moveTo>
                <a:lnTo>
                  <a:pt x="92869" y="67866"/>
                </a:lnTo>
                <a:cubicBezTo>
                  <a:pt x="92869" y="73804"/>
                  <a:pt x="97646" y="78581"/>
                  <a:pt x="103584" y="78581"/>
                </a:cubicBezTo>
                <a:lnTo>
                  <a:pt x="145331" y="78581"/>
                </a:lnTo>
                <a:lnTo>
                  <a:pt x="92869" y="26119"/>
                </a:lnTo>
                <a:close/>
                <a:moveTo>
                  <a:pt x="53577" y="114300"/>
                </a:moveTo>
                <a:cubicBezTo>
                  <a:pt x="47640" y="114300"/>
                  <a:pt x="42863" y="119076"/>
                  <a:pt x="42863" y="125016"/>
                </a:cubicBezTo>
                <a:cubicBezTo>
                  <a:pt x="42863" y="130954"/>
                  <a:pt x="47640" y="135731"/>
                  <a:pt x="53577" y="135731"/>
                </a:cubicBezTo>
                <a:lnTo>
                  <a:pt x="117873" y="135731"/>
                </a:lnTo>
                <a:cubicBezTo>
                  <a:pt x="123810" y="135731"/>
                  <a:pt x="128588" y="130954"/>
                  <a:pt x="128588" y="125016"/>
                </a:cubicBezTo>
                <a:cubicBezTo>
                  <a:pt x="128588" y="119076"/>
                  <a:pt x="123810" y="114300"/>
                  <a:pt x="117873" y="114300"/>
                </a:cubicBezTo>
                <a:lnTo>
                  <a:pt x="53577" y="114300"/>
                </a:lnTo>
                <a:close/>
                <a:moveTo>
                  <a:pt x="53577" y="157162"/>
                </a:moveTo>
                <a:cubicBezTo>
                  <a:pt x="47640" y="157162"/>
                  <a:pt x="42863" y="161940"/>
                  <a:pt x="42863" y="167877"/>
                </a:cubicBezTo>
                <a:cubicBezTo>
                  <a:pt x="42863" y="173816"/>
                  <a:pt x="47640" y="178594"/>
                  <a:pt x="53577" y="178594"/>
                </a:cubicBezTo>
                <a:lnTo>
                  <a:pt x="117873" y="178594"/>
                </a:lnTo>
                <a:cubicBezTo>
                  <a:pt x="123810" y="178594"/>
                  <a:pt x="128588" y="173816"/>
                  <a:pt x="128588" y="167877"/>
                </a:cubicBezTo>
                <a:cubicBezTo>
                  <a:pt x="128588" y="161940"/>
                  <a:pt x="123810" y="157162"/>
                  <a:pt x="117873" y="157162"/>
                </a:cubicBezTo>
                <a:lnTo>
                  <a:pt x="53577" y="157162"/>
                </a:ln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15" name="AutoShape 15"/>
          <p:cNvSpPr/>
          <p:nvPr/>
        </p:nvSpPr>
        <p:spPr>
          <a:xfrm>
            <a:off x="6876896" y="2826702"/>
            <a:ext cx="230148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Generate detailed reports</a:t>
            </a:r>
            <a:endParaRPr lang="en-US" sz="1100"/>
          </a:p>
        </p:txBody>
      </p:sp>
      <p:sp>
        <p:nvSpPr>
          <p:cNvPr id="16" name="AutoShape 16"/>
          <p:cNvSpPr/>
          <p:nvPr/>
        </p:nvSpPr>
        <p:spPr>
          <a:xfrm>
            <a:off x="6876896" y="3093401"/>
            <a:ext cx="3786521" cy="266699"/>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Contains discovered issues and recommendations</a:t>
            </a:r>
            <a:endParaRPr lang="en-US" sz="1100"/>
          </a:p>
        </p:txBody>
      </p:sp>
      <p:sp>
        <p:nvSpPr>
          <p:cNvPr id="17" name="Freeform 17"/>
          <p:cNvSpPr/>
          <p:nvPr/>
        </p:nvSpPr>
        <p:spPr>
          <a:xfrm>
            <a:off x="6519774" y="3550481"/>
            <a:ext cx="199981" cy="228600"/>
          </a:xfrm>
          <a:custGeom>
            <a:avLst/>
            <a:gdLst/>
            <a:ahLst/>
            <a:cxnLst/>
            <a:rect l="l" t="t" r="r" b="b"/>
            <a:pathLst>
              <a:path w="199981" h="228600">
                <a:moveTo>
                  <a:pt x="100012" y="0"/>
                </a:moveTo>
                <a:cubicBezTo>
                  <a:pt x="92111" y="0"/>
                  <a:pt x="85725" y="6386"/>
                  <a:pt x="85725" y="14288"/>
                </a:cubicBezTo>
                <a:lnTo>
                  <a:pt x="85725" y="15716"/>
                </a:lnTo>
                <a:cubicBezTo>
                  <a:pt x="53132" y="22324"/>
                  <a:pt x="28575" y="51167"/>
                  <a:pt x="28575" y="85725"/>
                </a:cubicBezTo>
                <a:lnTo>
                  <a:pt x="28575" y="95414"/>
                </a:lnTo>
                <a:cubicBezTo>
                  <a:pt x="28575" y="116890"/>
                  <a:pt x="21253" y="137740"/>
                  <a:pt x="7857" y="154529"/>
                </a:cubicBezTo>
                <a:lnTo>
                  <a:pt x="3484" y="159976"/>
                </a:lnTo>
                <a:cubicBezTo>
                  <a:pt x="1206" y="162789"/>
                  <a:pt x="0" y="166271"/>
                  <a:pt x="0" y="169887"/>
                </a:cubicBezTo>
                <a:cubicBezTo>
                  <a:pt x="0" y="178638"/>
                  <a:pt x="7099" y="185738"/>
                  <a:pt x="15850" y="185738"/>
                </a:cubicBezTo>
                <a:lnTo>
                  <a:pt x="184130" y="185738"/>
                </a:lnTo>
                <a:cubicBezTo>
                  <a:pt x="192881" y="185738"/>
                  <a:pt x="199981" y="178638"/>
                  <a:pt x="199981" y="169887"/>
                </a:cubicBezTo>
                <a:cubicBezTo>
                  <a:pt x="199981" y="166271"/>
                  <a:pt x="198775" y="162789"/>
                  <a:pt x="196498" y="159976"/>
                </a:cubicBezTo>
                <a:lnTo>
                  <a:pt x="192122" y="154529"/>
                </a:lnTo>
                <a:cubicBezTo>
                  <a:pt x="178772" y="137740"/>
                  <a:pt x="171450" y="116890"/>
                  <a:pt x="171450" y="95414"/>
                </a:cubicBezTo>
                <a:lnTo>
                  <a:pt x="171450" y="85725"/>
                </a:lnTo>
                <a:cubicBezTo>
                  <a:pt x="171450" y="51167"/>
                  <a:pt x="146893" y="22324"/>
                  <a:pt x="114300" y="15716"/>
                </a:cubicBezTo>
                <a:lnTo>
                  <a:pt x="114300" y="14288"/>
                </a:lnTo>
                <a:cubicBezTo>
                  <a:pt x="114300" y="6386"/>
                  <a:pt x="107914" y="0"/>
                  <a:pt x="100012" y="0"/>
                </a:cubicBezTo>
                <a:close/>
                <a:moveTo>
                  <a:pt x="72330" y="207169"/>
                </a:moveTo>
                <a:cubicBezTo>
                  <a:pt x="75502" y="219492"/>
                  <a:pt x="86707" y="228600"/>
                  <a:pt x="100012" y="228600"/>
                </a:cubicBezTo>
                <a:cubicBezTo>
                  <a:pt x="113318" y="228600"/>
                  <a:pt x="124523" y="219492"/>
                  <a:pt x="127695" y="207169"/>
                </a:cubicBezTo>
                <a:lnTo>
                  <a:pt x="72330" y="207169"/>
                </a:lnTo>
                <a:close/>
              </a:path>
            </a:pathLst>
          </a:custGeom>
          <a:solidFill>
            <a:srgbClr val="B22222">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6876896" y="3436227"/>
            <a:ext cx="1909594" cy="342854"/>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Automatic notification</a:t>
            </a:r>
            <a:endParaRPr lang="en-US" sz="1100"/>
          </a:p>
        </p:txBody>
      </p:sp>
      <p:sp>
        <p:nvSpPr>
          <p:cNvPr id="19" name="AutoShape 19"/>
          <p:cNvSpPr/>
          <p:nvPr/>
        </p:nvSpPr>
        <p:spPr>
          <a:xfrm>
            <a:off x="6876896" y="3702937"/>
            <a:ext cx="3264006" cy="26669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100" b="0" i="0" u="none" strike="noStrike">
                <a:solidFill>
                  <a:srgbClr val="FFFFFF">
                    <a:alpha val="90196"/>
                  </a:srgbClr>
                </a:solidFill>
                <a:latin typeface="MiSans" panose="00000500000000000000" charset="-122"/>
                <a:ea typeface="MiSans" panose="00000500000000000000" charset="-122"/>
                <a:cs typeface="MiSans" panose="00000500000000000000" charset="-122"/>
                <a:sym typeface="MiSans" panose="00000500000000000000" charset="-122"/>
              </a:rPr>
              <a:t>Provides timely feedback to developers</a:t>
            </a:r>
            <a:endParaRPr lang="en-US" sz="1100"/>
          </a:p>
        </p:txBody>
      </p:sp>
      <p:sp>
        <p:nvSpPr>
          <p:cNvPr id="20" name="Freeform 20"/>
          <p:cNvSpPr/>
          <p:nvPr/>
        </p:nvSpPr>
        <p:spPr>
          <a:xfrm>
            <a:off x="380956" y="4350525"/>
            <a:ext cx="11430000" cy="1371600"/>
          </a:xfrm>
          <a:custGeom>
            <a:avLst/>
            <a:gdLst/>
            <a:ahLst/>
            <a:cxnLst/>
            <a:rect l="l" t="t" r="r" b="b"/>
            <a:pathLst>
              <a:path w="11430000" h="1371600">
                <a:moveTo>
                  <a:pt x="76206" y="0"/>
                </a:moveTo>
                <a:lnTo>
                  <a:pt x="11353794" y="0"/>
                </a:lnTo>
                <a:cubicBezTo>
                  <a:pt x="11395881" y="0"/>
                  <a:pt x="11430000" y="34119"/>
                  <a:pt x="11430000" y="76206"/>
                </a:cubicBezTo>
                <a:lnTo>
                  <a:pt x="11430000" y="1295394"/>
                </a:lnTo>
                <a:cubicBezTo>
                  <a:pt x="11430000" y="1337481"/>
                  <a:pt x="11395881" y="1371600"/>
                  <a:pt x="11353794" y="1371600"/>
                </a:cubicBezTo>
                <a:lnTo>
                  <a:pt x="76206" y="1371600"/>
                </a:lnTo>
                <a:cubicBezTo>
                  <a:pt x="34119" y="1371600"/>
                  <a:pt x="0" y="1337481"/>
                  <a:pt x="0" y="1295394"/>
                </a:cubicBezTo>
                <a:lnTo>
                  <a:pt x="0" y="76206"/>
                </a:lnTo>
                <a:cubicBezTo>
                  <a:pt x="0" y="34146"/>
                  <a:pt x="34146" y="0"/>
                  <a:pt x="76206"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609529" y="4579097"/>
            <a:ext cx="110680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Purpose</a:t>
            </a:r>
            <a:endParaRPr lang="en-US" sz="1100"/>
          </a:p>
        </p:txBody>
      </p:sp>
      <p:sp>
        <p:nvSpPr>
          <p:cNvPr id="22" name="Freeform 22"/>
          <p:cNvSpPr/>
          <p:nvPr/>
        </p:nvSpPr>
        <p:spPr>
          <a:xfrm>
            <a:off x="656558" y="5036241"/>
            <a:ext cx="268003" cy="285304"/>
          </a:xfrm>
          <a:custGeom>
            <a:avLst/>
            <a:gdLst/>
            <a:ahLst/>
            <a:cxnLst/>
            <a:rect l="l" t="t" r="r" b="b"/>
            <a:pathLst>
              <a:path w="268003" h="285304">
                <a:moveTo>
                  <a:pt x="133946" y="0"/>
                </a:moveTo>
                <a:cubicBezTo>
                  <a:pt x="136513" y="0"/>
                  <a:pt x="139081" y="558"/>
                  <a:pt x="141425" y="1619"/>
                </a:cubicBezTo>
                <a:lnTo>
                  <a:pt x="246572" y="46211"/>
                </a:lnTo>
                <a:cubicBezTo>
                  <a:pt x="258850" y="51402"/>
                  <a:pt x="268003" y="63511"/>
                  <a:pt x="267948" y="78135"/>
                </a:cubicBezTo>
                <a:cubicBezTo>
                  <a:pt x="267668" y="133499"/>
                  <a:pt x="244897" y="234795"/>
                  <a:pt x="148736" y="280839"/>
                </a:cubicBezTo>
                <a:cubicBezTo>
                  <a:pt x="139415" y="285304"/>
                  <a:pt x="128588" y="285304"/>
                  <a:pt x="119269" y="280839"/>
                </a:cubicBezTo>
                <a:cubicBezTo>
                  <a:pt x="23050" y="234795"/>
                  <a:pt x="336" y="133499"/>
                  <a:pt x="56" y="78135"/>
                </a:cubicBezTo>
                <a:cubicBezTo>
                  <a:pt x="0" y="63511"/>
                  <a:pt x="9155" y="51402"/>
                  <a:pt x="21432" y="46211"/>
                </a:cubicBezTo>
                <a:lnTo>
                  <a:pt x="126523" y="1619"/>
                </a:lnTo>
                <a:cubicBezTo>
                  <a:pt x="128867" y="558"/>
                  <a:pt x="131379" y="0"/>
                  <a:pt x="133946" y="0"/>
                </a:cubicBezTo>
                <a:close/>
                <a:moveTo>
                  <a:pt x="133946" y="37281"/>
                </a:moveTo>
                <a:lnTo>
                  <a:pt x="133946" y="248302"/>
                </a:lnTo>
                <a:cubicBezTo>
                  <a:pt x="210965" y="211019"/>
                  <a:pt x="231670" y="128420"/>
                  <a:pt x="232173" y="78972"/>
                </a:cubicBezTo>
                <a:lnTo>
                  <a:pt x="133946" y="37337"/>
                </a:lnTo>
                <a:lnTo>
                  <a:pt x="133946" y="37337"/>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3" name="AutoShape 23"/>
          <p:cNvSpPr/>
          <p:nvPr/>
        </p:nvSpPr>
        <p:spPr>
          <a:xfrm>
            <a:off x="1080966" y="4998188"/>
            <a:ext cx="16097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Improve security</a:t>
            </a:r>
            <a:endParaRPr lang="en-US" sz="1100"/>
          </a:p>
        </p:txBody>
      </p:sp>
      <p:sp>
        <p:nvSpPr>
          <p:cNvPr id="24" name="AutoShape 24"/>
          <p:cNvSpPr/>
          <p:nvPr/>
        </p:nvSpPr>
        <p:spPr>
          <a:xfrm>
            <a:off x="1080966" y="5264888"/>
            <a:ext cx="4429318" cy="40714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Promptly detect potential security vulnerabilities</a:t>
            </a:r>
            <a:endParaRPr lang="en-US" sz="1100"/>
          </a:p>
        </p:txBody>
      </p:sp>
      <p:sp>
        <p:nvSpPr>
          <p:cNvPr id="25" name="Freeform 25"/>
          <p:cNvSpPr/>
          <p:nvPr/>
        </p:nvSpPr>
        <p:spPr>
          <a:xfrm>
            <a:off x="6211711" y="5036241"/>
            <a:ext cx="358470" cy="285750"/>
          </a:xfrm>
          <a:custGeom>
            <a:avLst/>
            <a:gdLst/>
            <a:ahLst/>
            <a:cxnLst/>
            <a:rect l="l" t="t" r="r" b="b"/>
            <a:pathLst>
              <a:path w="358470" h="285750">
                <a:moveTo>
                  <a:pt x="215261" y="17859"/>
                </a:moveTo>
                <a:lnTo>
                  <a:pt x="286699" y="17859"/>
                </a:lnTo>
                <a:cubicBezTo>
                  <a:pt x="296577" y="17859"/>
                  <a:pt x="304558" y="25839"/>
                  <a:pt x="304558" y="35719"/>
                </a:cubicBezTo>
                <a:cubicBezTo>
                  <a:pt x="304558" y="45597"/>
                  <a:pt x="296577" y="53577"/>
                  <a:pt x="286699" y="53577"/>
                </a:cubicBezTo>
                <a:lnTo>
                  <a:pt x="223298" y="53577"/>
                </a:lnTo>
                <a:cubicBezTo>
                  <a:pt x="220396" y="67977"/>
                  <a:pt x="210518" y="79865"/>
                  <a:pt x="197401" y="85559"/>
                </a:cubicBezTo>
                <a:lnTo>
                  <a:pt x="197401" y="250031"/>
                </a:lnTo>
                <a:lnTo>
                  <a:pt x="286699" y="250031"/>
                </a:lnTo>
                <a:cubicBezTo>
                  <a:pt x="296577" y="250031"/>
                  <a:pt x="304558" y="258012"/>
                  <a:pt x="304558" y="267891"/>
                </a:cubicBezTo>
                <a:cubicBezTo>
                  <a:pt x="304558" y="277769"/>
                  <a:pt x="296577" y="285750"/>
                  <a:pt x="286699" y="285750"/>
                </a:cubicBezTo>
                <a:lnTo>
                  <a:pt x="72387" y="285750"/>
                </a:lnTo>
                <a:cubicBezTo>
                  <a:pt x="62508" y="285750"/>
                  <a:pt x="54526" y="277769"/>
                  <a:pt x="54526" y="267891"/>
                </a:cubicBezTo>
                <a:cubicBezTo>
                  <a:pt x="54526" y="258012"/>
                  <a:pt x="62508" y="250031"/>
                  <a:pt x="72387" y="250031"/>
                </a:cubicBezTo>
                <a:lnTo>
                  <a:pt x="161683" y="250031"/>
                </a:lnTo>
                <a:lnTo>
                  <a:pt x="161683" y="85559"/>
                </a:lnTo>
                <a:cubicBezTo>
                  <a:pt x="148567" y="79809"/>
                  <a:pt x="138689" y="67921"/>
                  <a:pt x="135787" y="53577"/>
                </a:cubicBezTo>
                <a:lnTo>
                  <a:pt x="72387" y="53577"/>
                </a:lnTo>
                <a:cubicBezTo>
                  <a:pt x="62508" y="53577"/>
                  <a:pt x="54526" y="45597"/>
                  <a:pt x="54526" y="35719"/>
                </a:cubicBezTo>
                <a:cubicBezTo>
                  <a:pt x="54526" y="25839"/>
                  <a:pt x="62508" y="17859"/>
                  <a:pt x="72387" y="17859"/>
                </a:cubicBezTo>
                <a:lnTo>
                  <a:pt x="143824" y="17859"/>
                </a:lnTo>
                <a:cubicBezTo>
                  <a:pt x="151972" y="7032"/>
                  <a:pt x="164920" y="0"/>
                  <a:pt x="179543" y="0"/>
                </a:cubicBezTo>
                <a:cubicBezTo>
                  <a:pt x="194166" y="0"/>
                  <a:pt x="207113" y="7032"/>
                  <a:pt x="215261" y="17859"/>
                </a:cubicBezTo>
                <a:close/>
                <a:moveTo>
                  <a:pt x="246291" y="178594"/>
                </a:moveTo>
                <a:lnTo>
                  <a:pt x="327107" y="178594"/>
                </a:lnTo>
                <a:lnTo>
                  <a:pt x="286699" y="109277"/>
                </a:lnTo>
                <a:lnTo>
                  <a:pt x="246291" y="178594"/>
                </a:lnTo>
                <a:close/>
                <a:moveTo>
                  <a:pt x="286699" y="232173"/>
                </a:moveTo>
                <a:cubicBezTo>
                  <a:pt x="251594" y="232173"/>
                  <a:pt x="222405" y="213196"/>
                  <a:pt x="216378" y="188137"/>
                </a:cubicBezTo>
                <a:cubicBezTo>
                  <a:pt x="214927" y="181999"/>
                  <a:pt x="216937" y="175692"/>
                  <a:pt x="220117" y="170222"/>
                </a:cubicBezTo>
                <a:lnTo>
                  <a:pt x="273248" y="79139"/>
                </a:lnTo>
                <a:cubicBezTo>
                  <a:pt x="276039" y="74339"/>
                  <a:pt x="281175" y="71437"/>
                  <a:pt x="286699" y="71437"/>
                </a:cubicBezTo>
                <a:cubicBezTo>
                  <a:pt x="292223" y="71437"/>
                  <a:pt x="297359" y="74395"/>
                  <a:pt x="300150" y="79139"/>
                </a:cubicBezTo>
                <a:lnTo>
                  <a:pt x="353281" y="170222"/>
                </a:lnTo>
                <a:cubicBezTo>
                  <a:pt x="356461" y="175692"/>
                  <a:pt x="358471" y="181999"/>
                  <a:pt x="357020" y="188137"/>
                </a:cubicBezTo>
                <a:cubicBezTo>
                  <a:pt x="350993" y="213140"/>
                  <a:pt x="321804" y="232173"/>
                  <a:pt x="286699" y="232173"/>
                </a:cubicBezTo>
                <a:close/>
                <a:moveTo>
                  <a:pt x="71717" y="109277"/>
                </a:moveTo>
                <a:lnTo>
                  <a:pt x="31310" y="178594"/>
                </a:lnTo>
                <a:lnTo>
                  <a:pt x="112179" y="178594"/>
                </a:lnTo>
                <a:lnTo>
                  <a:pt x="71717" y="109277"/>
                </a:lnTo>
                <a:close/>
                <a:moveTo>
                  <a:pt x="1451" y="188137"/>
                </a:moveTo>
                <a:cubicBezTo>
                  <a:pt x="0" y="181999"/>
                  <a:pt x="2009" y="175692"/>
                  <a:pt x="5191" y="170222"/>
                </a:cubicBezTo>
                <a:lnTo>
                  <a:pt x="58323" y="79139"/>
                </a:lnTo>
                <a:cubicBezTo>
                  <a:pt x="61113" y="74339"/>
                  <a:pt x="66247" y="71437"/>
                  <a:pt x="71773" y="71437"/>
                </a:cubicBezTo>
                <a:cubicBezTo>
                  <a:pt x="77298" y="71437"/>
                  <a:pt x="82432" y="74395"/>
                  <a:pt x="85222" y="79139"/>
                </a:cubicBezTo>
                <a:lnTo>
                  <a:pt x="138355" y="170222"/>
                </a:lnTo>
                <a:cubicBezTo>
                  <a:pt x="141535" y="175692"/>
                  <a:pt x="143545" y="181999"/>
                  <a:pt x="142094" y="188137"/>
                </a:cubicBezTo>
                <a:cubicBezTo>
                  <a:pt x="136066" y="213140"/>
                  <a:pt x="106877" y="232173"/>
                  <a:pt x="71773" y="232173"/>
                </a:cubicBezTo>
                <a:cubicBezTo>
                  <a:pt x="36668" y="232173"/>
                  <a:pt x="7479" y="213196"/>
                  <a:pt x="1451" y="18813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6" name="AutoShape 26"/>
          <p:cNvSpPr/>
          <p:nvPr/>
        </p:nvSpPr>
        <p:spPr>
          <a:xfrm>
            <a:off x="6681717" y="4998187"/>
            <a:ext cx="2682289" cy="323803"/>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Ensure code compliance</a:t>
            </a:r>
            <a:endParaRPr lang="en-US" sz="1100"/>
          </a:p>
        </p:txBody>
      </p:sp>
      <p:sp>
        <p:nvSpPr>
          <p:cNvPr id="27" name="AutoShape 27"/>
          <p:cNvSpPr/>
          <p:nvPr/>
        </p:nvSpPr>
        <p:spPr>
          <a:xfrm>
            <a:off x="6681716" y="5264888"/>
            <a:ext cx="4627967" cy="407142"/>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4A5565"/>
                </a:solidFill>
                <a:latin typeface="MiSans" panose="00000500000000000000" charset="-122"/>
                <a:ea typeface="MiSans" panose="00000500000000000000" charset="-122"/>
                <a:cs typeface="MiSans" panose="00000500000000000000" charset="-122"/>
                <a:sym typeface="MiSans" panose="00000500000000000000" charset="-122"/>
              </a:rPr>
              <a:t>Ensure compliance with open source license requirements</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20090" y="611505"/>
            <a:ext cx="7955915"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FlagOS Open Computing Global Challenge</a:t>
            </a:r>
            <a:endParaRPr lang="en-US" sz="1100"/>
          </a:p>
        </p:txBody>
      </p:sp>
      <p:sp>
        <p:nvSpPr>
          <p:cNvPr id="3" name="Freeform 3"/>
          <p:cNvSpPr/>
          <p:nvPr/>
        </p:nvSpPr>
        <p:spPr>
          <a:xfrm>
            <a:off x="390434" y="1650364"/>
            <a:ext cx="3800476" cy="2000155"/>
          </a:xfrm>
          <a:custGeom>
            <a:avLst/>
            <a:gdLst/>
            <a:ahLst/>
            <a:cxnLst/>
            <a:rect l="l" t="t" r="r" b="b"/>
            <a:pathLst>
              <a:path w="3800476" h="2000155">
                <a:moveTo>
                  <a:pt x="52245" y="0"/>
                </a:moveTo>
                <a:lnTo>
                  <a:pt x="3748231" y="0"/>
                </a:lnTo>
                <a:cubicBezTo>
                  <a:pt x="3777085" y="0"/>
                  <a:pt x="3800476" y="34119"/>
                  <a:pt x="3800476" y="76206"/>
                </a:cubicBezTo>
                <a:lnTo>
                  <a:pt x="3800476" y="1923948"/>
                </a:lnTo>
                <a:cubicBezTo>
                  <a:pt x="3800476" y="1966037"/>
                  <a:pt x="3777085" y="2000155"/>
                  <a:pt x="3748231" y="2000155"/>
                </a:cubicBezTo>
                <a:lnTo>
                  <a:pt x="52245" y="2000155"/>
                </a:lnTo>
                <a:cubicBezTo>
                  <a:pt x="23391" y="2000155"/>
                  <a:pt x="0" y="1966037"/>
                  <a:pt x="0" y="1923948"/>
                </a:cubicBezTo>
                <a:lnTo>
                  <a:pt x="0" y="76206"/>
                </a:lnTo>
                <a:cubicBezTo>
                  <a:pt x="0" y="34146"/>
                  <a:pt x="23410" y="0"/>
                  <a:pt x="52245" y="0"/>
                </a:cubicBezTo>
                <a:close/>
              </a:path>
            </a:pathLst>
          </a:custGeom>
          <a:solidFill>
            <a:srgbClr val="000000">
              <a:alpha val="0"/>
            </a:srgbClr>
          </a:solidFill>
          <a:ln w="12700">
            <a:solidFill>
              <a:srgbClr val="8B0000">
                <a:alpha val="100000"/>
              </a:srgbClr>
            </a:solidFill>
            <a:prstDash val="solid"/>
          </a:ln>
        </p:spPr>
        <p:txBody>
          <a:bodyPr wrap="square" lIns="91440" tIns="45720" rIns="91440" bIns="45720" rtlCol="0" anchor="t">
            <a:noAutofit/>
          </a:bodyPr>
          <a:lstStyle/>
          <a:p>
            <a:pPr algn="ctr">
              <a:defRPr/>
            </a:pPr>
          </a:p>
        </p:txBody>
      </p:sp>
      <p:sp>
        <p:nvSpPr>
          <p:cNvPr id="4" name="AutoShape 4"/>
          <p:cNvSpPr/>
          <p:nvPr/>
        </p:nvSpPr>
        <p:spPr>
          <a:xfrm>
            <a:off x="628484" y="1888415"/>
            <a:ext cx="51625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Organizers</a:t>
            </a:r>
            <a:endParaRPr lang="en-US" sz="1100"/>
          </a:p>
        </p:txBody>
      </p:sp>
      <p:sp>
        <p:nvSpPr>
          <p:cNvPr id="5" name="Freeform 5"/>
          <p:cNvSpPr/>
          <p:nvPr/>
        </p:nvSpPr>
        <p:spPr>
          <a:xfrm>
            <a:off x="628484" y="2307506"/>
            <a:ext cx="3242246" cy="495300"/>
          </a:xfrm>
          <a:custGeom>
            <a:avLst/>
            <a:gdLst/>
            <a:ahLst/>
            <a:cxnLst/>
            <a:rect l="l" t="t" r="r" b="b"/>
            <a:pathLst>
              <a:path w="3242246" h="495300">
                <a:moveTo>
                  <a:pt x="48757" y="0"/>
                </a:moveTo>
                <a:lnTo>
                  <a:pt x="3193490" y="0"/>
                </a:lnTo>
                <a:cubicBezTo>
                  <a:pt x="3220418" y="0"/>
                  <a:pt x="3242246" y="34117"/>
                  <a:pt x="3242246" y="76203"/>
                </a:cubicBezTo>
                <a:lnTo>
                  <a:pt x="3242246" y="419097"/>
                </a:lnTo>
                <a:cubicBezTo>
                  <a:pt x="3242246" y="461183"/>
                  <a:pt x="3220418" y="495300"/>
                  <a:pt x="3193490" y="495300"/>
                </a:cubicBezTo>
                <a:lnTo>
                  <a:pt x="48757" y="495300"/>
                </a:lnTo>
                <a:cubicBezTo>
                  <a:pt x="21829" y="495300"/>
                  <a:pt x="0" y="461183"/>
                  <a:pt x="0" y="419097"/>
                </a:cubicBezTo>
                <a:lnTo>
                  <a:pt x="0" y="76203"/>
                </a:lnTo>
                <a:cubicBezTo>
                  <a:pt x="0" y="34117"/>
                  <a:pt x="21829" y="0"/>
                  <a:pt x="4875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742734" y="2465765"/>
            <a:ext cx="238125" cy="172641"/>
          </a:xfrm>
          <a:custGeom>
            <a:avLst/>
            <a:gdLst/>
            <a:ahLst/>
            <a:cxnLst/>
            <a:rect l="l" t="t" r="r" b="b"/>
            <a:pathLst>
              <a:path w="238125" h="172641">
                <a:moveTo>
                  <a:pt x="119062" y="0"/>
                </a:moveTo>
                <a:cubicBezTo>
                  <a:pt x="140419" y="0"/>
                  <a:pt x="157758" y="17340"/>
                  <a:pt x="157758" y="38696"/>
                </a:cubicBezTo>
                <a:cubicBezTo>
                  <a:pt x="157758" y="60052"/>
                  <a:pt x="140419" y="77392"/>
                  <a:pt x="119062" y="77392"/>
                </a:cubicBezTo>
                <a:cubicBezTo>
                  <a:pt x="97706" y="77392"/>
                  <a:pt x="80367" y="60052"/>
                  <a:pt x="80367" y="38696"/>
                </a:cubicBezTo>
                <a:cubicBezTo>
                  <a:pt x="80367" y="17340"/>
                  <a:pt x="97706" y="0"/>
                  <a:pt x="119062" y="0"/>
                </a:cubicBezTo>
                <a:close/>
                <a:moveTo>
                  <a:pt x="35719" y="26790"/>
                </a:moveTo>
                <a:cubicBezTo>
                  <a:pt x="50504" y="26790"/>
                  <a:pt x="62508" y="38794"/>
                  <a:pt x="62508" y="53579"/>
                </a:cubicBezTo>
                <a:cubicBezTo>
                  <a:pt x="62508" y="68365"/>
                  <a:pt x="50504" y="80369"/>
                  <a:pt x="35719" y="80369"/>
                </a:cubicBezTo>
                <a:cubicBezTo>
                  <a:pt x="20933" y="80369"/>
                  <a:pt x="8929" y="68365"/>
                  <a:pt x="8929" y="53579"/>
                </a:cubicBezTo>
                <a:cubicBezTo>
                  <a:pt x="8929" y="38794"/>
                  <a:pt x="20933" y="26790"/>
                  <a:pt x="35719" y="26790"/>
                </a:cubicBezTo>
                <a:close/>
                <a:moveTo>
                  <a:pt x="0" y="148829"/>
                </a:moveTo>
                <a:cubicBezTo>
                  <a:pt x="0" y="122524"/>
                  <a:pt x="21319" y="101204"/>
                  <a:pt x="47625" y="101204"/>
                </a:cubicBezTo>
                <a:cubicBezTo>
                  <a:pt x="52388" y="101204"/>
                  <a:pt x="57001" y="101910"/>
                  <a:pt x="61354" y="103213"/>
                </a:cubicBezTo>
                <a:cubicBezTo>
                  <a:pt x="49113" y="116907"/>
                  <a:pt x="41673" y="134988"/>
                  <a:pt x="41673" y="154782"/>
                </a:cubicBezTo>
                <a:lnTo>
                  <a:pt x="41673" y="160735"/>
                </a:lnTo>
                <a:cubicBezTo>
                  <a:pt x="41673" y="164977"/>
                  <a:pt x="42565" y="168996"/>
                  <a:pt x="44166" y="172642"/>
                </a:cubicBezTo>
                <a:lnTo>
                  <a:pt x="11906" y="172642"/>
                </a:lnTo>
                <a:cubicBezTo>
                  <a:pt x="5321" y="172642"/>
                  <a:pt x="0" y="167320"/>
                  <a:pt x="0" y="160735"/>
                </a:cubicBezTo>
                <a:lnTo>
                  <a:pt x="0" y="148829"/>
                </a:lnTo>
                <a:close/>
                <a:moveTo>
                  <a:pt x="193959" y="172642"/>
                </a:moveTo>
                <a:cubicBezTo>
                  <a:pt x="195560" y="168996"/>
                  <a:pt x="196452" y="164977"/>
                  <a:pt x="196452" y="160735"/>
                </a:cubicBezTo>
                <a:lnTo>
                  <a:pt x="196452" y="154782"/>
                </a:lnTo>
                <a:cubicBezTo>
                  <a:pt x="196452" y="134988"/>
                  <a:pt x="189012" y="116907"/>
                  <a:pt x="176771" y="103213"/>
                </a:cubicBezTo>
                <a:cubicBezTo>
                  <a:pt x="181124" y="101910"/>
                  <a:pt x="185738" y="101204"/>
                  <a:pt x="190500" y="101204"/>
                </a:cubicBezTo>
                <a:cubicBezTo>
                  <a:pt x="216806" y="101204"/>
                  <a:pt x="238125" y="122524"/>
                  <a:pt x="238125" y="148829"/>
                </a:cubicBezTo>
                <a:lnTo>
                  <a:pt x="238125" y="160735"/>
                </a:lnTo>
                <a:cubicBezTo>
                  <a:pt x="238125" y="167320"/>
                  <a:pt x="232804" y="172642"/>
                  <a:pt x="226219" y="172642"/>
                </a:cubicBezTo>
                <a:lnTo>
                  <a:pt x="193959" y="172642"/>
                </a:lnTo>
                <a:close/>
                <a:moveTo>
                  <a:pt x="175617" y="53579"/>
                </a:moveTo>
                <a:cubicBezTo>
                  <a:pt x="175617" y="38794"/>
                  <a:pt x="187621" y="26790"/>
                  <a:pt x="202406" y="26790"/>
                </a:cubicBezTo>
                <a:cubicBezTo>
                  <a:pt x="217192" y="26790"/>
                  <a:pt x="229196" y="38794"/>
                  <a:pt x="229196" y="53579"/>
                </a:cubicBezTo>
                <a:cubicBezTo>
                  <a:pt x="229196" y="68365"/>
                  <a:pt x="217192" y="80369"/>
                  <a:pt x="202406" y="80369"/>
                </a:cubicBezTo>
                <a:cubicBezTo>
                  <a:pt x="187621" y="80369"/>
                  <a:pt x="175617" y="68365"/>
                  <a:pt x="175617" y="53579"/>
                </a:cubicBezTo>
                <a:close/>
                <a:moveTo>
                  <a:pt x="59531" y="154782"/>
                </a:moveTo>
                <a:cubicBezTo>
                  <a:pt x="59531" y="121891"/>
                  <a:pt x="86171" y="95250"/>
                  <a:pt x="119062" y="95250"/>
                </a:cubicBezTo>
                <a:cubicBezTo>
                  <a:pt x="151954" y="95250"/>
                  <a:pt x="178594" y="121891"/>
                  <a:pt x="178594" y="154782"/>
                </a:cubicBezTo>
                <a:lnTo>
                  <a:pt x="178594" y="160735"/>
                </a:lnTo>
                <a:cubicBezTo>
                  <a:pt x="178594" y="167320"/>
                  <a:pt x="173272" y="172642"/>
                  <a:pt x="166688" y="172642"/>
                </a:cubicBezTo>
                <a:lnTo>
                  <a:pt x="71438" y="172642"/>
                </a:lnTo>
                <a:cubicBezTo>
                  <a:pt x="64853" y="172642"/>
                  <a:pt x="59531" y="167320"/>
                  <a:pt x="59531" y="160735"/>
                </a:cubicBezTo>
                <a:lnTo>
                  <a:pt x="59531" y="154782"/>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AutoShape 7"/>
          <p:cNvSpPr/>
          <p:nvPr/>
        </p:nvSpPr>
        <p:spPr>
          <a:xfrm>
            <a:off x="1095108" y="2421750"/>
            <a:ext cx="14763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FlagOS Community</a:t>
            </a:r>
            <a:endParaRPr lang="en-US" sz="1100"/>
          </a:p>
        </p:txBody>
      </p:sp>
      <p:sp>
        <p:nvSpPr>
          <p:cNvPr id="8" name="Freeform 8"/>
          <p:cNvSpPr/>
          <p:nvPr/>
        </p:nvSpPr>
        <p:spPr>
          <a:xfrm>
            <a:off x="628484" y="2916957"/>
            <a:ext cx="3242246" cy="495300"/>
          </a:xfrm>
          <a:custGeom>
            <a:avLst/>
            <a:gdLst/>
            <a:ahLst/>
            <a:cxnLst/>
            <a:rect l="l" t="t" r="r" b="b"/>
            <a:pathLst>
              <a:path w="3242246" h="495300">
                <a:moveTo>
                  <a:pt x="48757" y="0"/>
                </a:moveTo>
                <a:lnTo>
                  <a:pt x="3193490" y="0"/>
                </a:lnTo>
                <a:cubicBezTo>
                  <a:pt x="3220418" y="0"/>
                  <a:pt x="3242246" y="34117"/>
                  <a:pt x="3242246" y="76203"/>
                </a:cubicBezTo>
                <a:lnTo>
                  <a:pt x="3242246" y="419097"/>
                </a:lnTo>
                <a:cubicBezTo>
                  <a:pt x="3242246" y="461183"/>
                  <a:pt x="3220418" y="495300"/>
                  <a:pt x="3193490" y="495300"/>
                </a:cubicBezTo>
                <a:lnTo>
                  <a:pt x="48757" y="495300"/>
                </a:lnTo>
                <a:cubicBezTo>
                  <a:pt x="21829" y="495300"/>
                  <a:pt x="0" y="461183"/>
                  <a:pt x="0" y="419097"/>
                </a:cubicBezTo>
                <a:lnTo>
                  <a:pt x="0" y="76203"/>
                </a:lnTo>
                <a:cubicBezTo>
                  <a:pt x="0" y="34117"/>
                  <a:pt x="21829" y="0"/>
                  <a:pt x="4875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9" name="Freeform 9"/>
          <p:cNvSpPr/>
          <p:nvPr/>
        </p:nvSpPr>
        <p:spPr>
          <a:xfrm>
            <a:off x="765541" y="3074696"/>
            <a:ext cx="192471" cy="185068"/>
          </a:xfrm>
          <a:custGeom>
            <a:avLst/>
            <a:gdLst/>
            <a:ahLst/>
            <a:cxnLst/>
            <a:rect l="l" t="t" r="r" b="b"/>
            <a:pathLst>
              <a:path w="192471" h="185068">
                <a:moveTo>
                  <a:pt x="102171" y="2084"/>
                </a:moveTo>
                <a:cubicBezTo>
                  <a:pt x="98524" y="0"/>
                  <a:pt x="94024" y="0"/>
                  <a:pt x="90339" y="2084"/>
                </a:cubicBezTo>
                <a:lnTo>
                  <a:pt x="6996" y="49709"/>
                </a:lnTo>
                <a:cubicBezTo>
                  <a:pt x="2307" y="52389"/>
                  <a:pt x="0" y="57894"/>
                  <a:pt x="1377" y="63104"/>
                </a:cubicBezTo>
                <a:cubicBezTo>
                  <a:pt x="2754" y="68312"/>
                  <a:pt x="7516" y="71959"/>
                  <a:pt x="12911" y="71959"/>
                </a:cubicBezTo>
                <a:lnTo>
                  <a:pt x="24817" y="71959"/>
                </a:lnTo>
                <a:lnTo>
                  <a:pt x="24817" y="149349"/>
                </a:lnTo>
                <a:lnTo>
                  <a:pt x="24817" y="149349"/>
                </a:lnTo>
                <a:lnTo>
                  <a:pt x="5767" y="163637"/>
                </a:lnTo>
                <a:cubicBezTo>
                  <a:pt x="2754" y="165869"/>
                  <a:pt x="1005" y="169404"/>
                  <a:pt x="1005" y="173162"/>
                </a:cubicBezTo>
                <a:cubicBezTo>
                  <a:pt x="1005" y="179747"/>
                  <a:pt x="6326" y="185068"/>
                  <a:pt x="12911" y="185068"/>
                </a:cubicBezTo>
                <a:lnTo>
                  <a:pt x="179599" y="185068"/>
                </a:lnTo>
                <a:cubicBezTo>
                  <a:pt x="186184" y="185068"/>
                  <a:pt x="191505" y="179747"/>
                  <a:pt x="191505" y="173162"/>
                </a:cubicBezTo>
                <a:cubicBezTo>
                  <a:pt x="191505" y="169404"/>
                  <a:pt x="189756" y="165869"/>
                  <a:pt x="186743" y="163637"/>
                </a:cubicBezTo>
                <a:lnTo>
                  <a:pt x="167693" y="149349"/>
                </a:lnTo>
                <a:lnTo>
                  <a:pt x="167693" y="71959"/>
                </a:lnTo>
                <a:lnTo>
                  <a:pt x="179599" y="71959"/>
                </a:lnTo>
                <a:cubicBezTo>
                  <a:pt x="184994" y="71959"/>
                  <a:pt x="189719" y="68312"/>
                  <a:pt x="191096" y="63104"/>
                </a:cubicBezTo>
                <a:cubicBezTo>
                  <a:pt x="192471" y="57894"/>
                  <a:pt x="190166" y="52389"/>
                  <a:pt x="185478" y="49709"/>
                </a:cubicBezTo>
                <a:lnTo>
                  <a:pt x="102134" y="2084"/>
                </a:lnTo>
                <a:close/>
                <a:moveTo>
                  <a:pt x="149832" y="71959"/>
                </a:moveTo>
                <a:lnTo>
                  <a:pt x="149832" y="149349"/>
                </a:lnTo>
                <a:lnTo>
                  <a:pt x="126021" y="149349"/>
                </a:lnTo>
                <a:lnTo>
                  <a:pt x="126021" y="71959"/>
                </a:lnTo>
                <a:lnTo>
                  <a:pt x="149832" y="71959"/>
                </a:lnTo>
                <a:close/>
                <a:moveTo>
                  <a:pt x="108161" y="71959"/>
                </a:moveTo>
                <a:lnTo>
                  <a:pt x="108161" y="149349"/>
                </a:lnTo>
                <a:lnTo>
                  <a:pt x="84349" y="149349"/>
                </a:lnTo>
                <a:lnTo>
                  <a:pt x="84349" y="71959"/>
                </a:lnTo>
                <a:lnTo>
                  <a:pt x="108161" y="71959"/>
                </a:lnTo>
                <a:close/>
                <a:moveTo>
                  <a:pt x="66489" y="71959"/>
                </a:moveTo>
                <a:lnTo>
                  <a:pt x="66489" y="149349"/>
                </a:lnTo>
                <a:lnTo>
                  <a:pt x="42678" y="149349"/>
                </a:lnTo>
                <a:lnTo>
                  <a:pt x="42678" y="71959"/>
                </a:lnTo>
                <a:lnTo>
                  <a:pt x="66489" y="71959"/>
                </a:lnTo>
                <a:close/>
                <a:moveTo>
                  <a:pt x="96255" y="30287"/>
                </a:moveTo>
                <a:cubicBezTo>
                  <a:pt x="102826" y="30287"/>
                  <a:pt x="108161" y="35622"/>
                  <a:pt x="108161" y="42193"/>
                </a:cubicBezTo>
                <a:cubicBezTo>
                  <a:pt x="108161" y="48764"/>
                  <a:pt x="102826" y="54099"/>
                  <a:pt x="96255" y="54099"/>
                </a:cubicBezTo>
                <a:cubicBezTo>
                  <a:pt x="89684" y="54099"/>
                  <a:pt x="84349" y="48764"/>
                  <a:pt x="84349" y="42193"/>
                </a:cubicBezTo>
                <a:cubicBezTo>
                  <a:pt x="84349" y="35622"/>
                  <a:pt x="89684" y="30287"/>
                  <a:pt x="96255" y="30287"/>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0" name="AutoShape 10"/>
          <p:cNvSpPr/>
          <p:nvPr/>
        </p:nvSpPr>
        <p:spPr>
          <a:xfrm>
            <a:off x="1095108" y="3031210"/>
            <a:ext cx="19716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1"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Beijing Academy of Artificial Intelligence (BAAI)</a:t>
            </a:r>
            <a:endParaRPr lang="en-US" sz="1100"/>
          </a:p>
        </p:txBody>
      </p:sp>
      <p:sp>
        <p:nvSpPr>
          <p:cNvPr id="11" name="Freeform 11"/>
          <p:cNvSpPr/>
          <p:nvPr/>
        </p:nvSpPr>
        <p:spPr>
          <a:xfrm>
            <a:off x="390434" y="3888264"/>
            <a:ext cx="3809954" cy="1801007"/>
          </a:xfrm>
          <a:custGeom>
            <a:avLst/>
            <a:gdLst/>
            <a:ahLst/>
            <a:cxnLst/>
            <a:rect l="l" t="t" r="r" b="b"/>
            <a:pathLst>
              <a:path w="3809954" h="1801007">
                <a:moveTo>
                  <a:pt x="25400" y="0"/>
                </a:moveTo>
                <a:lnTo>
                  <a:pt x="3784553" y="0"/>
                </a:lnTo>
                <a:cubicBezTo>
                  <a:pt x="3798581" y="0"/>
                  <a:pt x="3809954" y="57597"/>
                  <a:pt x="3809954" y="128647"/>
                </a:cubicBezTo>
                <a:lnTo>
                  <a:pt x="3809954" y="1672360"/>
                </a:lnTo>
                <a:cubicBezTo>
                  <a:pt x="3809954" y="1743409"/>
                  <a:pt x="3798581" y="1801007"/>
                  <a:pt x="3784553" y="1801007"/>
                </a:cubicBezTo>
                <a:lnTo>
                  <a:pt x="25400" y="1801007"/>
                </a:lnTo>
                <a:cubicBezTo>
                  <a:pt x="11372" y="1801007"/>
                  <a:pt x="0" y="1743409"/>
                  <a:pt x="0" y="1672360"/>
                </a:cubicBezTo>
                <a:lnTo>
                  <a:pt x="0" y="128647"/>
                </a:lnTo>
                <a:cubicBezTo>
                  <a:pt x="0" y="57645"/>
                  <a:pt x="11382" y="0"/>
                  <a:pt x="25400" y="0"/>
                </a:cubicBezTo>
                <a:close/>
              </a:path>
            </a:pathLst>
          </a:custGeom>
          <a:gradFill rotWithShape="1">
            <a:gsLst>
              <a:gs pos="0">
                <a:srgbClr val="8B0000">
                  <a:alpha val="100000"/>
                </a:srgbClr>
              </a:gs>
              <a:gs pos="100000">
                <a:srgbClr val="B22222">
                  <a:alpha val="100000"/>
                </a:srgbClr>
              </a:gs>
            </a:gsLst>
            <a:lin ang="0"/>
          </a:gradFill>
          <a:ln w="12700">
            <a:noFill/>
            <a:prstDash val="solid"/>
          </a:ln>
        </p:spPr>
        <p:txBody>
          <a:bodyPr wrap="square" lIns="91440" tIns="45720" rIns="91440" bIns="45720" rtlCol="0" anchor="t">
            <a:noAutofit/>
          </a:bodyPr>
          <a:lstStyle/>
          <a:p>
            <a:pPr indent="0" algn="l">
              <a:lnSpc>
                <a:spcPct val="100000"/>
              </a:lnSpc>
              <a:defRPr/>
            </a:pPr>
            <a:r>
              <a:rPr lang="en-US" sz="18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Freeform 12"/>
          <p:cNvSpPr/>
          <p:nvPr/>
        </p:nvSpPr>
        <p:spPr>
          <a:xfrm>
            <a:off x="653396" y="4250187"/>
            <a:ext cx="341427" cy="342900"/>
          </a:xfrm>
          <a:custGeom>
            <a:avLst/>
            <a:gdLst/>
            <a:ahLst/>
            <a:cxnLst/>
            <a:rect l="l" t="t" r="r" b="b"/>
            <a:pathLst>
              <a:path w="341427" h="342900">
                <a:moveTo>
                  <a:pt x="234671" y="187523"/>
                </a:moveTo>
                <a:lnTo>
                  <a:pt x="106821" y="187523"/>
                </a:lnTo>
                <a:cubicBezTo>
                  <a:pt x="108762" y="230721"/>
                  <a:pt x="118339" y="270502"/>
                  <a:pt x="131936" y="299636"/>
                </a:cubicBezTo>
                <a:cubicBezTo>
                  <a:pt x="139571" y="316045"/>
                  <a:pt x="147809" y="327630"/>
                  <a:pt x="155442" y="334729"/>
                </a:cubicBezTo>
                <a:cubicBezTo>
                  <a:pt x="162944" y="341761"/>
                  <a:pt x="168101" y="342900"/>
                  <a:pt x="170780" y="342900"/>
                </a:cubicBezTo>
                <a:cubicBezTo>
                  <a:pt x="173459" y="342900"/>
                  <a:pt x="178616" y="341761"/>
                  <a:pt x="186117" y="334729"/>
                </a:cubicBezTo>
                <a:cubicBezTo>
                  <a:pt x="193751" y="327630"/>
                  <a:pt x="201989" y="315977"/>
                  <a:pt x="209625" y="299636"/>
                </a:cubicBezTo>
                <a:cubicBezTo>
                  <a:pt x="223219" y="270502"/>
                  <a:pt x="232797" y="230721"/>
                  <a:pt x="234739" y="187523"/>
                </a:cubicBezTo>
                <a:close/>
                <a:moveTo>
                  <a:pt x="106754" y="155377"/>
                </a:moveTo>
                <a:lnTo>
                  <a:pt x="234605" y="155377"/>
                </a:lnTo>
                <a:cubicBezTo>
                  <a:pt x="232730" y="112179"/>
                  <a:pt x="223153" y="72398"/>
                  <a:pt x="209557" y="43264"/>
                </a:cubicBezTo>
                <a:cubicBezTo>
                  <a:pt x="201922" y="26923"/>
                  <a:pt x="193685" y="15270"/>
                  <a:pt x="186049" y="8171"/>
                </a:cubicBezTo>
                <a:cubicBezTo>
                  <a:pt x="178549" y="1139"/>
                  <a:pt x="173391" y="0"/>
                  <a:pt x="170713" y="0"/>
                </a:cubicBezTo>
                <a:cubicBezTo>
                  <a:pt x="168035" y="0"/>
                  <a:pt x="162877" y="1139"/>
                  <a:pt x="155376" y="8171"/>
                </a:cubicBezTo>
                <a:cubicBezTo>
                  <a:pt x="147741" y="15270"/>
                  <a:pt x="139504" y="26923"/>
                  <a:pt x="131869" y="43264"/>
                </a:cubicBezTo>
                <a:cubicBezTo>
                  <a:pt x="118273" y="72398"/>
                  <a:pt x="108696" y="112179"/>
                  <a:pt x="106754" y="155377"/>
                </a:cubicBezTo>
                <a:close/>
                <a:moveTo>
                  <a:pt x="74607" y="155377"/>
                </a:moveTo>
                <a:cubicBezTo>
                  <a:pt x="76951" y="98048"/>
                  <a:pt x="91752" y="44806"/>
                  <a:pt x="113384" y="9845"/>
                </a:cubicBezTo>
                <a:cubicBezTo>
                  <a:pt x="51703" y="31678"/>
                  <a:pt x="6295" y="87867"/>
                  <a:pt x="0" y="155377"/>
                </a:cubicBezTo>
                <a:lnTo>
                  <a:pt x="74607" y="155377"/>
                </a:lnTo>
                <a:close/>
                <a:moveTo>
                  <a:pt x="0" y="187523"/>
                </a:moveTo>
                <a:cubicBezTo>
                  <a:pt x="6295" y="255033"/>
                  <a:pt x="51703" y="311222"/>
                  <a:pt x="113384" y="333055"/>
                </a:cubicBezTo>
                <a:cubicBezTo>
                  <a:pt x="91752" y="298094"/>
                  <a:pt x="76951" y="244852"/>
                  <a:pt x="74607" y="187523"/>
                </a:cubicBezTo>
                <a:lnTo>
                  <a:pt x="0" y="187523"/>
                </a:lnTo>
                <a:close/>
                <a:moveTo>
                  <a:pt x="266819" y="187523"/>
                </a:moveTo>
                <a:cubicBezTo>
                  <a:pt x="264475" y="244852"/>
                  <a:pt x="249674" y="298094"/>
                  <a:pt x="228041" y="333055"/>
                </a:cubicBezTo>
                <a:cubicBezTo>
                  <a:pt x="289723" y="311155"/>
                  <a:pt x="335131" y="255033"/>
                  <a:pt x="341426" y="187523"/>
                </a:cubicBezTo>
                <a:lnTo>
                  <a:pt x="266819" y="187523"/>
                </a:lnTo>
                <a:close/>
                <a:moveTo>
                  <a:pt x="341426" y="155377"/>
                </a:moveTo>
                <a:cubicBezTo>
                  <a:pt x="335131" y="87867"/>
                  <a:pt x="289723" y="31678"/>
                  <a:pt x="228041" y="9845"/>
                </a:cubicBezTo>
                <a:cubicBezTo>
                  <a:pt x="249674" y="44806"/>
                  <a:pt x="264475" y="98048"/>
                  <a:pt x="266819" y="155377"/>
                </a:cubicBezTo>
                <a:lnTo>
                  <a:pt x="341426" y="155377"/>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1190477" y="4245211"/>
            <a:ext cx="9267825"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Official Website</a:t>
            </a:r>
            <a:endParaRPr lang="en-US" sz="1100"/>
          </a:p>
        </p:txBody>
      </p:sp>
      <p:sp>
        <p:nvSpPr>
          <p:cNvPr id="14" name="AutoShape 14"/>
          <p:cNvSpPr/>
          <p:nvPr/>
        </p:nvSpPr>
        <p:spPr>
          <a:xfrm>
            <a:off x="654006" y="4804811"/>
            <a:ext cx="3546382" cy="1058488"/>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Official Introduction:</a:t>
            </a:r>
            <a:r>
              <a:rPr lang="en-US" sz="1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hlinkClick r:id="rId1" tooltip="https://flagos.io/RaceDetail"/>
              </a:rPr>
              <a:t>https://flagos.io/RaceDetail</a:t>
            </a:r>
            <a:endParaRPr lang="en-US" sz="1100"/>
          </a:p>
          <a:p>
            <a:pPr indent="0" algn="l">
              <a:lnSpc>
                <a:spcPct val="133000"/>
              </a:lnSpc>
            </a:pPr>
            <a:r>
              <a:rPr lang="en-US" sz="1400" b="0"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Registration</a:t>
            </a:r>
            <a:r>
              <a:rPr lang="en-US" sz="1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a:t>
            </a:r>
            <a:r>
              <a:rPr lang="en-US" sz="1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hlinkClick r:id="rId2" tooltip="https://flagos.io/events?tab=competition"/>
              </a:rPr>
              <a:t>https://flagos.io/events</a:t>
            </a:r>
            <a:endParaRPr lang="en-US" sz="14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endParaRPr>
          </a:p>
          <a:p>
            <a:pPr indent="0" algn="l">
              <a:lnSpc>
                <a:spcPct val="133000"/>
              </a:lnSpc>
            </a:pPr>
            <a:r>
              <a:rPr lang="en-US" sz="1600" b="0" i="0" u="none" strike="noStrike">
                <a:solidFill>
                  <a:srgbClr val="000000"/>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000000"/>
              </a:solidFill>
              <a:latin typeface="Arial" panose="020B0604020202020204"/>
              <a:ea typeface="Arial" panose="020B0604020202020204"/>
              <a:cs typeface="Arial" panose="020B0604020202020204"/>
              <a:sym typeface="Arial" panose="020B0604020202020204"/>
            </a:endParaRPr>
          </a:p>
        </p:txBody>
      </p:sp>
      <p:pic>
        <p:nvPicPr>
          <p:cNvPr id="15" name="Picture 15"/>
          <p:cNvPicPr>
            <a:picLocks noChangeAspect="1"/>
          </p:cNvPicPr>
          <p:nvPr/>
        </p:nvPicPr>
        <p:blipFill>
          <a:blip r:embed="rId3"/>
          <a:srcRect l="3564" r="3564"/>
          <a:stretch>
            <a:fillRect/>
          </a:stretch>
        </p:blipFill>
        <p:spPr>
          <a:xfrm>
            <a:off x="4317365" y="1650365"/>
            <a:ext cx="7702550" cy="393509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719928" y="611525"/>
            <a:ext cx="3150803" cy="3429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300" b="1" i="0" u="none" strike="noStrike">
                <a:solidFill>
                  <a:srgbClr val="1A1A1A"/>
                </a:solidFill>
                <a:latin typeface="Noto Sans SC" panose="020B0200000000000000" charset="-122"/>
                <a:ea typeface="Noto Sans SC" panose="020B0200000000000000" charset="-122"/>
                <a:cs typeface="Noto Sans SC" panose="020B0200000000000000" charset="-122"/>
                <a:sym typeface="Noto Sans SC" panose="020B0200000000000000" charset="-122"/>
              </a:rPr>
              <a:t>Course Assignment</a:t>
            </a:r>
            <a:endParaRPr lang="en-US" sz="1100"/>
          </a:p>
        </p:txBody>
      </p:sp>
      <p:sp>
        <p:nvSpPr>
          <p:cNvPr id="3" name="AutoShape 3"/>
          <p:cNvSpPr/>
          <p:nvPr/>
        </p:nvSpPr>
        <p:spPr>
          <a:xfrm>
            <a:off x="380956" y="1640886"/>
            <a:ext cx="5657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Requirements</a:t>
            </a:r>
            <a:endParaRPr lang="en-US" sz="1100"/>
          </a:p>
        </p:txBody>
      </p:sp>
      <p:sp>
        <p:nvSpPr>
          <p:cNvPr id="4" name="AutoShape 4"/>
          <p:cNvSpPr/>
          <p:nvPr/>
        </p:nvSpPr>
        <p:spPr>
          <a:xfrm>
            <a:off x="380956" y="2059977"/>
            <a:ext cx="5648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Each student must:</a:t>
            </a:r>
            <a:endParaRPr lang="en-US" sz="1100"/>
          </a:p>
        </p:txBody>
      </p:sp>
      <p:sp>
        <p:nvSpPr>
          <p:cNvPr id="5" name="Freeform 5"/>
          <p:cNvSpPr/>
          <p:nvPr/>
        </p:nvSpPr>
        <p:spPr>
          <a:xfrm>
            <a:off x="399911" y="2479058"/>
            <a:ext cx="5543455" cy="533400"/>
          </a:xfrm>
          <a:custGeom>
            <a:avLst/>
            <a:gdLst/>
            <a:ahLst/>
            <a:cxnLst/>
            <a:rect l="l" t="t" r="r" b="b"/>
            <a:pathLst>
              <a:path w="5543455" h="533400">
                <a:moveTo>
                  <a:pt x="37909" y="0"/>
                </a:moveTo>
                <a:lnTo>
                  <a:pt x="5467253" y="0"/>
                </a:lnTo>
                <a:cubicBezTo>
                  <a:pt x="5509339" y="0"/>
                  <a:pt x="5543455" y="34117"/>
                  <a:pt x="5543455" y="76203"/>
                </a:cubicBezTo>
                <a:lnTo>
                  <a:pt x="5543455" y="457197"/>
                </a:lnTo>
                <a:cubicBezTo>
                  <a:pt x="5543455" y="499283"/>
                  <a:pt x="5509339" y="533400"/>
                  <a:pt x="5467253" y="533400"/>
                </a:cubicBezTo>
                <a:lnTo>
                  <a:pt x="37909" y="533400"/>
                </a:lnTo>
                <a:cubicBezTo>
                  <a:pt x="16974" y="533400"/>
                  <a:pt x="0" y="516426"/>
                  <a:pt x="0" y="495491"/>
                </a:cubicBezTo>
                <a:lnTo>
                  <a:pt x="0" y="37910"/>
                </a:lnTo>
                <a:cubicBezTo>
                  <a:pt x="0" y="16988"/>
                  <a:pt x="16988" y="0"/>
                  <a:pt x="3790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6" name="Freeform 6"/>
          <p:cNvSpPr/>
          <p:nvPr/>
        </p:nvSpPr>
        <p:spPr>
          <a:xfrm>
            <a:off x="399911" y="2479058"/>
            <a:ext cx="37909" cy="533400"/>
          </a:xfrm>
          <a:custGeom>
            <a:avLst/>
            <a:gdLst/>
            <a:ahLst/>
            <a:cxnLst/>
            <a:rect l="l" t="t" r="r" b="b"/>
            <a:pathLst>
              <a:path w="37909" h="533400">
                <a:moveTo>
                  <a:pt x="37909" y="0"/>
                </a:moveTo>
                <a:lnTo>
                  <a:pt x="37909" y="0"/>
                </a:lnTo>
                <a:lnTo>
                  <a:pt x="37909" y="533400"/>
                </a:lnTo>
                <a:lnTo>
                  <a:pt x="37909" y="533400"/>
                </a:lnTo>
                <a:cubicBezTo>
                  <a:pt x="16974" y="533400"/>
                  <a:pt x="0" y="516426"/>
                  <a:pt x="0" y="495491"/>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7" name="Freeform 7"/>
          <p:cNvSpPr/>
          <p:nvPr/>
        </p:nvSpPr>
        <p:spPr>
          <a:xfrm>
            <a:off x="533116" y="2593311"/>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8" name="AutoShape 8"/>
          <p:cNvSpPr/>
          <p:nvPr/>
        </p:nvSpPr>
        <p:spPr>
          <a:xfrm>
            <a:off x="495016" y="2593311"/>
            <a:ext cx="381000" cy="3048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1</a:t>
            </a:r>
            <a:endParaRPr lang="en-US" sz="1100"/>
          </a:p>
        </p:txBody>
      </p:sp>
      <p:sp>
        <p:nvSpPr>
          <p:cNvPr id="9" name="AutoShape 9"/>
          <p:cNvSpPr/>
          <p:nvPr/>
        </p:nvSpPr>
        <p:spPr>
          <a:xfrm>
            <a:off x="951865" y="2612390"/>
            <a:ext cx="399161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Fork the FlagOS repository</a:t>
            </a:r>
            <a:endParaRPr lang="en-US" sz="1100"/>
          </a:p>
        </p:txBody>
      </p:sp>
      <p:sp>
        <p:nvSpPr>
          <p:cNvPr id="10" name="Freeform 10"/>
          <p:cNvSpPr/>
          <p:nvPr/>
        </p:nvSpPr>
        <p:spPr>
          <a:xfrm>
            <a:off x="399911" y="3126572"/>
            <a:ext cx="5543455" cy="533400"/>
          </a:xfrm>
          <a:custGeom>
            <a:avLst/>
            <a:gdLst/>
            <a:ahLst/>
            <a:cxnLst/>
            <a:rect l="l" t="t" r="r" b="b"/>
            <a:pathLst>
              <a:path w="5543455" h="533400">
                <a:moveTo>
                  <a:pt x="37909" y="0"/>
                </a:moveTo>
                <a:lnTo>
                  <a:pt x="5467253" y="0"/>
                </a:lnTo>
                <a:cubicBezTo>
                  <a:pt x="5509339" y="0"/>
                  <a:pt x="5543455" y="34117"/>
                  <a:pt x="5543455" y="76203"/>
                </a:cubicBezTo>
                <a:lnTo>
                  <a:pt x="5543455" y="457197"/>
                </a:lnTo>
                <a:cubicBezTo>
                  <a:pt x="5543455" y="499283"/>
                  <a:pt x="5509339" y="533400"/>
                  <a:pt x="5467253" y="533400"/>
                </a:cubicBezTo>
                <a:lnTo>
                  <a:pt x="37909" y="533400"/>
                </a:lnTo>
                <a:cubicBezTo>
                  <a:pt x="16974" y="533400"/>
                  <a:pt x="0" y="516426"/>
                  <a:pt x="0" y="495490"/>
                </a:cubicBezTo>
                <a:lnTo>
                  <a:pt x="0" y="37910"/>
                </a:lnTo>
                <a:cubicBezTo>
                  <a:pt x="0" y="16988"/>
                  <a:pt x="16988" y="0"/>
                  <a:pt x="37909"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11" name="Freeform 11"/>
          <p:cNvSpPr/>
          <p:nvPr/>
        </p:nvSpPr>
        <p:spPr>
          <a:xfrm>
            <a:off x="399911" y="3126572"/>
            <a:ext cx="37909" cy="533400"/>
          </a:xfrm>
          <a:custGeom>
            <a:avLst/>
            <a:gdLst/>
            <a:ahLst/>
            <a:cxnLst/>
            <a:rect l="l" t="t" r="r" b="b"/>
            <a:pathLst>
              <a:path w="37909" h="533400">
                <a:moveTo>
                  <a:pt x="37909" y="0"/>
                </a:moveTo>
                <a:lnTo>
                  <a:pt x="37909" y="0"/>
                </a:lnTo>
                <a:lnTo>
                  <a:pt x="37909" y="533400"/>
                </a:lnTo>
                <a:lnTo>
                  <a:pt x="37909" y="533400"/>
                </a:lnTo>
                <a:cubicBezTo>
                  <a:pt x="16974" y="533400"/>
                  <a:pt x="0" y="516426"/>
                  <a:pt x="0" y="495490"/>
                </a:cubicBezTo>
                <a:lnTo>
                  <a:pt x="0" y="37910"/>
                </a:lnTo>
                <a:cubicBezTo>
                  <a:pt x="0" y="16988"/>
                  <a:pt x="16988" y="0"/>
                  <a:pt x="37909"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2" name="Freeform 12"/>
          <p:cNvSpPr/>
          <p:nvPr/>
        </p:nvSpPr>
        <p:spPr>
          <a:xfrm>
            <a:off x="533116" y="3240825"/>
            <a:ext cx="304800" cy="304800"/>
          </a:xfrm>
          <a:custGeom>
            <a:avLst/>
            <a:gdLst/>
            <a:ahLst/>
            <a:cxnLst/>
            <a:rect l="l" t="t" r="r" b="b"/>
            <a:pathLst>
              <a:path w="304800" h="304800">
                <a:moveTo>
                  <a:pt x="152400" y="0"/>
                </a:moveTo>
                <a:lnTo>
                  <a:pt x="152400" y="0"/>
                </a:lnTo>
                <a:cubicBezTo>
                  <a:pt x="236512" y="0"/>
                  <a:pt x="304800" y="68288"/>
                  <a:pt x="304800" y="152400"/>
                </a:cubicBezTo>
                <a:lnTo>
                  <a:pt x="304800" y="152400"/>
                </a:lnTo>
                <a:cubicBezTo>
                  <a:pt x="304800" y="236512"/>
                  <a:pt x="236512" y="304800"/>
                  <a:pt x="152400" y="304800"/>
                </a:cubicBezTo>
                <a:lnTo>
                  <a:pt x="152400" y="304800"/>
                </a:lnTo>
                <a:cubicBezTo>
                  <a:pt x="68288" y="304800"/>
                  <a:pt x="0" y="236512"/>
                  <a:pt x="0" y="152400"/>
                </a:cubicBezTo>
                <a:lnTo>
                  <a:pt x="0" y="152400"/>
                </a:lnTo>
                <a:cubicBezTo>
                  <a:pt x="0" y="68288"/>
                  <a:pt x="68288" y="0"/>
                  <a:pt x="152400"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3" name="AutoShape 13"/>
          <p:cNvSpPr/>
          <p:nvPr/>
        </p:nvSpPr>
        <p:spPr>
          <a:xfrm>
            <a:off x="495016" y="3240825"/>
            <a:ext cx="381000" cy="3048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2</a:t>
            </a:r>
            <a:endParaRPr lang="en-US" sz="1100"/>
          </a:p>
        </p:txBody>
      </p:sp>
      <p:sp>
        <p:nvSpPr>
          <p:cNvPr id="14" name="AutoShape 14"/>
          <p:cNvSpPr/>
          <p:nvPr/>
        </p:nvSpPr>
        <p:spPr>
          <a:xfrm>
            <a:off x="951865" y="3260090"/>
            <a:ext cx="405066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Submit one Pull Request</a:t>
            </a:r>
            <a:endParaRPr lang="en-US" sz="1100"/>
          </a:p>
        </p:txBody>
      </p:sp>
      <p:sp>
        <p:nvSpPr>
          <p:cNvPr id="15" name="Freeform 15"/>
          <p:cNvSpPr/>
          <p:nvPr/>
        </p:nvSpPr>
        <p:spPr>
          <a:xfrm>
            <a:off x="380956" y="3812223"/>
            <a:ext cx="5562600" cy="1447800"/>
          </a:xfrm>
          <a:custGeom>
            <a:avLst/>
            <a:gdLst/>
            <a:ahLst/>
            <a:cxnLst/>
            <a:rect l="l" t="t" r="r" b="b"/>
            <a:pathLst>
              <a:path w="5562600" h="1447800">
                <a:moveTo>
                  <a:pt x="76197" y="0"/>
                </a:moveTo>
                <a:lnTo>
                  <a:pt x="5486403" y="0"/>
                </a:lnTo>
                <a:cubicBezTo>
                  <a:pt x="5528457" y="0"/>
                  <a:pt x="5562600" y="34143"/>
                  <a:pt x="5562600" y="76197"/>
                </a:cubicBezTo>
                <a:lnTo>
                  <a:pt x="5562600" y="1371603"/>
                </a:lnTo>
                <a:cubicBezTo>
                  <a:pt x="5562600" y="1413657"/>
                  <a:pt x="5528457" y="1447800"/>
                  <a:pt x="5486403" y="1447800"/>
                </a:cubicBezTo>
                <a:lnTo>
                  <a:pt x="76197" y="1447800"/>
                </a:lnTo>
                <a:cubicBezTo>
                  <a:pt x="34143" y="1447800"/>
                  <a:pt x="0" y="1413657"/>
                  <a:pt x="0" y="1371603"/>
                </a:cubicBezTo>
                <a:lnTo>
                  <a:pt x="0" y="76197"/>
                </a:lnTo>
                <a:cubicBezTo>
                  <a:pt x="0" y="34143"/>
                  <a:pt x="34143" y="0"/>
                  <a:pt x="76197" y="0"/>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16" name="AutoShape 16"/>
          <p:cNvSpPr/>
          <p:nvPr/>
        </p:nvSpPr>
        <p:spPr>
          <a:xfrm>
            <a:off x="533338" y="3964605"/>
            <a:ext cx="5334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1"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Task Type (choose one):</a:t>
            </a:r>
            <a:endParaRPr lang="en-US" sz="1100"/>
          </a:p>
        </p:txBody>
      </p:sp>
      <p:sp>
        <p:nvSpPr>
          <p:cNvPr id="17" name="Freeform 17"/>
          <p:cNvSpPr/>
          <p:nvPr/>
        </p:nvSpPr>
        <p:spPr>
          <a:xfrm>
            <a:off x="571438" y="4302537"/>
            <a:ext cx="114300" cy="152400"/>
          </a:xfrm>
          <a:custGeom>
            <a:avLst/>
            <a:gdLst/>
            <a:ahLst/>
            <a:cxnLst/>
            <a:rect l="l" t="t" r="r" b="b"/>
            <a:pathLst>
              <a:path w="114300" h="152400">
                <a:moveTo>
                  <a:pt x="0" y="19050"/>
                </a:moveTo>
                <a:cubicBezTo>
                  <a:pt x="0" y="8543"/>
                  <a:pt x="8543" y="0"/>
                  <a:pt x="19050" y="0"/>
                </a:cubicBezTo>
                <a:lnTo>
                  <a:pt x="63550" y="0"/>
                </a:lnTo>
                <a:cubicBezTo>
                  <a:pt x="68610" y="0"/>
                  <a:pt x="73462" y="1994"/>
                  <a:pt x="77033" y="5566"/>
                </a:cubicBezTo>
                <a:lnTo>
                  <a:pt x="108734" y="37296"/>
                </a:lnTo>
                <a:cubicBezTo>
                  <a:pt x="112306" y="40869"/>
                  <a:pt x="114300" y="45720"/>
                  <a:pt x="114300" y="50780"/>
                </a:cubicBezTo>
                <a:lnTo>
                  <a:pt x="114300" y="133350"/>
                </a:lnTo>
                <a:cubicBezTo>
                  <a:pt x="114300" y="143857"/>
                  <a:pt x="105757" y="152400"/>
                  <a:pt x="95250" y="152400"/>
                </a:cubicBezTo>
                <a:lnTo>
                  <a:pt x="19050" y="152400"/>
                </a:lnTo>
                <a:cubicBezTo>
                  <a:pt x="8543" y="152400"/>
                  <a:pt x="0" y="143857"/>
                  <a:pt x="0" y="133350"/>
                </a:cubicBezTo>
                <a:lnTo>
                  <a:pt x="0" y="19050"/>
                </a:lnTo>
                <a:close/>
                <a:moveTo>
                  <a:pt x="61912" y="17413"/>
                </a:moveTo>
                <a:lnTo>
                  <a:pt x="61912" y="45244"/>
                </a:lnTo>
                <a:cubicBezTo>
                  <a:pt x="61912" y="49204"/>
                  <a:pt x="65096" y="52387"/>
                  <a:pt x="69056" y="52387"/>
                </a:cubicBezTo>
                <a:lnTo>
                  <a:pt x="96887" y="52387"/>
                </a:lnTo>
                <a:lnTo>
                  <a:pt x="61912" y="17413"/>
                </a:lnTo>
                <a:close/>
                <a:moveTo>
                  <a:pt x="35719" y="76200"/>
                </a:moveTo>
                <a:cubicBezTo>
                  <a:pt x="31760" y="76200"/>
                  <a:pt x="28575" y="79385"/>
                  <a:pt x="28575" y="83344"/>
                </a:cubicBezTo>
                <a:cubicBezTo>
                  <a:pt x="28575" y="87304"/>
                  <a:pt x="31760" y="90487"/>
                  <a:pt x="35719" y="90487"/>
                </a:cubicBezTo>
                <a:lnTo>
                  <a:pt x="78581" y="90487"/>
                </a:lnTo>
                <a:cubicBezTo>
                  <a:pt x="82540" y="90487"/>
                  <a:pt x="85725" y="87304"/>
                  <a:pt x="85725" y="83344"/>
                </a:cubicBezTo>
                <a:cubicBezTo>
                  <a:pt x="85725" y="79385"/>
                  <a:pt x="82540" y="76200"/>
                  <a:pt x="78581" y="76200"/>
                </a:cubicBezTo>
                <a:lnTo>
                  <a:pt x="35719" y="76200"/>
                </a:lnTo>
                <a:close/>
                <a:moveTo>
                  <a:pt x="35719" y="104775"/>
                </a:moveTo>
                <a:cubicBezTo>
                  <a:pt x="31760" y="104775"/>
                  <a:pt x="28575" y="107960"/>
                  <a:pt x="28575" y="111919"/>
                </a:cubicBezTo>
                <a:cubicBezTo>
                  <a:pt x="28575" y="115879"/>
                  <a:pt x="31760" y="119063"/>
                  <a:pt x="35719" y="119063"/>
                </a:cubicBezTo>
                <a:lnTo>
                  <a:pt x="78581" y="119063"/>
                </a:lnTo>
                <a:cubicBezTo>
                  <a:pt x="82540" y="119063"/>
                  <a:pt x="85725" y="115879"/>
                  <a:pt x="85725" y="111919"/>
                </a:cubicBezTo>
                <a:cubicBezTo>
                  <a:pt x="85725" y="107960"/>
                  <a:pt x="82540" y="104775"/>
                  <a:pt x="78581" y="104775"/>
                </a:cubicBezTo>
                <a:lnTo>
                  <a:pt x="35719" y="104775"/>
                </a:ln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18" name="AutoShape 18"/>
          <p:cNvSpPr/>
          <p:nvPr/>
        </p:nvSpPr>
        <p:spPr>
          <a:xfrm>
            <a:off x="780988" y="4269367"/>
            <a:ext cx="50863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Documentation Fix</a:t>
            </a:r>
            <a:endParaRPr lang="en-US" sz="1100"/>
          </a:p>
        </p:txBody>
      </p:sp>
      <p:sp>
        <p:nvSpPr>
          <p:cNvPr id="19" name="AutoShape 19"/>
          <p:cNvSpPr/>
          <p:nvPr/>
        </p:nvSpPr>
        <p:spPr>
          <a:xfrm>
            <a:off x="495238" y="4574130"/>
            <a:ext cx="533400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or</a:t>
            </a:r>
            <a:endParaRPr lang="en-US" sz="1100"/>
          </a:p>
        </p:txBody>
      </p:sp>
      <p:sp>
        <p:nvSpPr>
          <p:cNvPr id="20" name="Freeform 20"/>
          <p:cNvSpPr/>
          <p:nvPr/>
        </p:nvSpPr>
        <p:spPr>
          <a:xfrm>
            <a:off x="542863" y="4912063"/>
            <a:ext cx="171450" cy="151864"/>
          </a:xfrm>
          <a:custGeom>
            <a:avLst/>
            <a:gdLst/>
            <a:ahLst/>
            <a:cxnLst/>
            <a:rect l="l" t="t" r="r" b="b"/>
            <a:pathLst>
              <a:path w="171450" h="151864">
                <a:moveTo>
                  <a:pt x="57150" y="28575"/>
                </a:moveTo>
                <a:cubicBezTo>
                  <a:pt x="57150" y="12799"/>
                  <a:pt x="69949" y="0"/>
                  <a:pt x="85725" y="0"/>
                </a:cubicBezTo>
                <a:cubicBezTo>
                  <a:pt x="101501" y="0"/>
                  <a:pt x="114300" y="12799"/>
                  <a:pt x="114300" y="28575"/>
                </a:cubicBezTo>
                <a:lnTo>
                  <a:pt x="114300" y="29647"/>
                </a:lnTo>
                <a:cubicBezTo>
                  <a:pt x="114300" y="34320"/>
                  <a:pt x="110520" y="38100"/>
                  <a:pt x="105847" y="38100"/>
                </a:cubicBezTo>
                <a:lnTo>
                  <a:pt x="65634" y="38100"/>
                </a:lnTo>
                <a:cubicBezTo>
                  <a:pt x="60960" y="38100"/>
                  <a:pt x="57180" y="34320"/>
                  <a:pt x="57180" y="29647"/>
                </a:cubicBezTo>
                <a:lnTo>
                  <a:pt x="57180" y="28575"/>
                </a:lnTo>
                <a:close/>
                <a:moveTo>
                  <a:pt x="160020" y="32385"/>
                </a:moveTo>
                <a:cubicBezTo>
                  <a:pt x="163175" y="36582"/>
                  <a:pt x="162312" y="42565"/>
                  <a:pt x="158115" y="45720"/>
                </a:cubicBezTo>
                <a:lnTo>
                  <a:pt x="129004" y="67539"/>
                </a:lnTo>
                <a:cubicBezTo>
                  <a:pt x="130581" y="70187"/>
                  <a:pt x="131771" y="73104"/>
                  <a:pt x="132517" y="76200"/>
                </a:cubicBezTo>
                <a:lnTo>
                  <a:pt x="161925" y="76200"/>
                </a:lnTo>
                <a:cubicBezTo>
                  <a:pt x="167194" y="76200"/>
                  <a:pt x="171450" y="80456"/>
                  <a:pt x="171450" y="85725"/>
                </a:cubicBezTo>
                <a:cubicBezTo>
                  <a:pt x="171450" y="90994"/>
                  <a:pt x="167194" y="95250"/>
                  <a:pt x="161925" y="95250"/>
                </a:cubicBezTo>
                <a:lnTo>
                  <a:pt x="133350" y="95250"/>
                </a:lnTo>
                <a:lnTo>
                  <a:pt x="133350" y="104775"/>
                </a:lnTo>
                <a:cubicBezTo>
                  <a:pt x="133350" y="105548"/>
                  <a:pt x="133320" y="106354"/>
                  <a:pt x="133290" y="107126"/>
                </a:cubicBezTo>
                <a:lnTo>
                  <a:pt x="158115" y="125730"/>
                </a:lnTo>
                <a:cubicBezTo>
                  <a:pt x="162312" y="128885"/>
                  <a:pt x="163175" y="134868"/>
                  <a:pt x="160020" y="139065"/>
                </a:cubicBezTo>
                <a:cubicBezTo>
                  <a:pt x="156865" y="143262"/>
                  <a:pt x="150882" y="144125"/>
                  <a:pt x="146685" y="140970"/>
                </a:cubicBezTo>
                <a:lnTo>
                  <a:pt x="127903" y="126891"/>
                </a:lnTo>
                <a:cubicBezTo>
                  <a:pt x="120997" y="140047"/>
                  <a:pt x="108109" y="149572"/>
                  <a:pt x="92869" y="151864"/>
                </a:cubicBezTo>
                <a:lnTo>
                  <a:pt x="92869" y="83344"/>
                </a:lnTo>
                <a:cubicBezTo>
                  <a:pt x="92869" y="79385"/>
                  <a:pt x="89684" y="76200"/>
                  <a:pt x="85725" y="76200"/>
                </a:cubicBezTo>
                <a:cubicBezTo>
                  <a:pt x="81766" y="76200"/>
                  <a:pt x="78581" y="79385"/>
                  <a:pt x="78581" y="83344"/>
                </a:cubicBezTo>
                <a:lnTo>
                  <a:pt x="78581" y="151864"/>
                </a:lnTo>
                <a:cubicBezTo>
                  <a:pt x="63341" y="149572"/>
                  <a:pt x="50453" y="140047"/>
                  <a:pt x="43547" y="126891"/>
                </a:cubicBezTo>
                <a:lnTo>
                  <a:pt x="24765" y="140970"/>
                </a:lnTo>
                <a:cubicBezTo>
                  <a:pt x="20568" y="144125"/>
                  <a:pt x="14585" y="143262"/>
                  <a:pt x="11430" y="139065"/>
                </a:cubicBezTo>
                <a:cubicBezTo>
                  <a:pt x="8275" y="134868"/>
                  <a:pt x="9138" y="128885"/>
                  <a:pt x="13335" y="125730"/>
                </a:cubicBezTo>
                <a:lnTo>
                  <a:pt x="38160" y="107126"/>
                </a:lnTo>
                <a:cubicBezTo>
                  <a:pt x="38130" y="106354"/>
                  <a:pt x="38100" y="105579"/>
                  <a:pt x="38100" y="104775"/>
                </a:cubicBezTo>
                <a:lnTo>
                  <a:pt x="38100" y="95250"/>
                </a:lnTo>
                <a:lnTo>
                  <a:pt x="9525" y="95250"/>
                </a:lnTo>
                <a:cubicBezTo>
                  <a:pt x="4256" y="95250"/>
                  <a:pt x="0" y="90994"/>
                  <a:pt x="0" y="85725"/>
                </a:cubicBezTo>
                <a:cubicBezTo>
                  <a:pt x="0" y="80456"/>
                  <a:pt x="4256" y="76200"/>
                  <a:pt x="9525" y="76200"/>
                </a:cubicBezTo>
                <a:lnTo>
                  <a:pt x="38933" y="76200"/>
                </a:lnTo>
                <a:cubicBezTo>
                  <a:pt x="39679" y="73104"/>
                  <a:pt x="40869" y="70187"/>
                  <a:pt x="42446" y="67539"/>
                </a:cubicBezTo>
                <a:lnTo>
                  <a:pt x="13335" y="45720"/>
                </a:lnTo>
                <a:cubicBezTo>
                  <a:pt x="9138" y="42565"/>
                  <a:pt x="8275" y="36582"/>
                  <a:pt x="11430" y="32385"/>
                </a:cubicBezTo>
                <a:cubicBezTo>
                  <a:pt x="14585" y="28188"/>
                  <a:pt x="20568" y="27325"/>
                  <a:pt x="24765" y="30480"/>
                </a:cubicBezTo>
                <a:lnTo>
                  <a:pt x="57150" y="54769"/>
                </a:lnTo>
                <a:cubicBezTo>
                  <a:pt x="60811" y="53251"/>
                  <a:pt x="64830" y="52387"/>
                  <a:pt x="69056" y="52387"/>
                </a:cubicBezTo>
                <a:lnTo>
                  <a:pt x="102394" y="52387"/>
                </a:lnTo>
                <a:cubicBezTo>
                  <a:pt x="106620" y="52387"/>
                  <a:pt x="110639" y="53221"/>
                  <a:pt x="114300" y="54769"/>
                </a:cubicBezTo>
                <a:lnTo>
                  <a:pt x="146685" y="30480"/>
                </a:lnTo>
                <a:cubicBezTo>
                  <a:pt x="150882" y="27325"/>
                  <a:pt x="156865" y="28188"/>
                  <a:pt x="160020" y="32385"/>
                </a:cubicBezTo>
                <a:close/>
              </a:path>
            </a:pathLst>
          </a:custGeom>
          <a:solidFill>
            <a:srgbClr val="FFFFFF">
              <a:alpha val="100000"/>
            </a:srgbClr>
          </a:solidFill>
          <a:ln w="12700">
            <a:noFill/>
            <a:prstDash val="solid"/>
          </a:ln>
        </p:spPr>
        <p:txBody>
          <a:bodyPr wrap="square" lIns="91440" tIns="45720" rIns="91440" bIns="45720" rtlCol="0" anchor="t">
            <a:noAutofit/>
          </a:bodyPr>
          <a:lstStyle/>
          <a:p>
            <a:pPr algn="ctr">
              <a:defRPr/>
            </a:pPr>
          </a:p>
        </p:txBody>
      </p:sp>
      <p:sp>
        <p:nvSpPr>
          <p:cNvPr id="21" name="AutoShape 21"/>
          <p:cNvSpPr/>
          <p:nvPr/>
        </p:nvSpPr>
        <p:spPr>
          <a:xfrm>
            <a:off x="780988" y="4878893"/>
            <a:ext cx="5086350" cy="2286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200" b="0" i="0" u="none" strike="noStrike">
                <a:solidFill>
                  <a:srgbClr val="FFFFFF"/>
                </a:solidFill>
                <a:latin typeface="MiSans" panose="00000500000000000000" charset="-122"/>
                <a:ea typeface="MiSans" panose="00000500000000000000" charset="-122"/>
                <a:cs typeface="MiSans" panose="00000500000000000000" charset="-122"/>
                <a:sym typeface="MiSans" panose="00000500000000000000" charset="-122"/>
              </a:rPr>
              <a:t>Bug Fix (minor fix)</a:t>
            </a:r>
            <a:endParaRPr lang="en-US" sz="1100"/>
          </a:p>
        </p:txBody>
      </p:sp>
      <p:sp>
        <p:nvSpPr>
          <p:cNvPr id="22" name="AutoShape 22"/>
          <p:cNvSpPr/>
          <p:nvPr/>
        </p:nvSpPr>
        <p:spPr>
          <a:xfrm>
            <a:off x="6248338" y="1640886"/>
            <a:ext cx="5657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8B0000"/>
                </a:solidFill>
                <a:latin typeface="Noto Sans SC" panose="020B0200000000000000" charset="-122"/>
                <a:ea typeface="Noto Sans SC" panose="020B0200000000000000" charset="-122"/>
                <a:cs typeface="Noto Sans SC" panose="020B0200000000000000" charset="-122"/>
                <a:sym typeface="Noto Sans SC" panose="020B0200000000000000" charset="-122"/>
              </a:rPr>
              <a:t>Submission</a:t>
            </a:r>
            <a:endParaRPr lang="en-US" sz="1100"/>
          </a:p>
        </p:txBody>
      </p:sp>
      <p:sp>
        <p:nvSpPr>
          <p:cNvPr id="23" name="Freeform 23"/>
          <p:cNvSpPr/>
          <p:nvPr/>
        </p:nvSpPr>
        <p:spPr>
          <a:xfrm>
            <a:off x="6248338" y="2059977"/>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4" name="Freeform 24"/>
          <p:cNvSpPr/>
          <p:nvPr/>
        </p:nvSpPr>
        <p:spPr>
          <a:xfrm>
            <a:off x="6374493" y="2224190"/>
            <a:ext cx="214313" cy="166761"/>
          </a:xfrm>
          <a:custGeom>
            <a:avLst/>
            <a:gdLst/>
            <a:ahLst/>
            <a:cxnLst/>
            <a:rect l="l" t="t" r="r" b="b"/>
            <a:pathLst>
              <a:path w="214313" h="166761">
                <a:moveTo>
                  <a:pt x="156083" y="23813"/>
                </a:moveTo>
                <a:cubicBezTo>
                  <a:pt x="149907" y="23813"/>
                  <a:pt x="143916" y="25487"/>
                  <a:pt x="138671" y="28538"/>
                </a:cubicBezTo>
                <a:cubicBezTo>
                  <a:pt x="132792" y="22585"/>
                  <a:pt x="125946" y="17599"/>
                  <a:pt x="118393" y="13841"/>
                </a:cubicBezTo>
                <a:cubicBezTo>
                  <a:pt x="128885" y="4913"/>
                  <a:pt x="142243" y="0"/>
                  <a:pt x="156083" y="0"/>
                </a:cubicBezTo>
                <a:cubicBezTo>
                  <a:pt x="188231" y="0"/>
                  <a:pt x="214313" y="26045"/>
                  <a:pt x="214313" y="58228"/>
                </a:cubicBezTo>
                <a:cubicBezTo>
                  <a:pt x="214313" y="73670"/>
                  <a:pt x="208173" y="88479"/>
                  <a:pt x="197272" y="99380"/>
                </a:cubicBezTo>
                <a:lnTo>
                  <a:pt x="170818" y="125834"/>
                </a:lnTo>
                <a:cubicBezTo>
                  <a:pt x="159916" y="136736"/>
                  <a:pt x="145106" y="142875"/>
                  <a:pt x="129667" y="142875"/>
                </a:cubicBezTo>
                <a:cubicBezTo>
                  <a:pt x="97519" y="142875"/>
                  <a:pt x="71437" y="116830"/>
                  <a:pt x="71437" y="84646"/>
                </a:cubicBezTo>
                <a:cubicBezTo>
                  <a:pt x="71437" y="84088"/>
                  <a:pt x="71437" y="83529"/>
                  <a:pt x="71476" y="82972"/>
                </a:cubicBezTo>
                <a:cubicBezTo>
                  <a:pt x="71661" y="76386"/>
                  <a:pt x="77130" y="71216"/>
                  <a:pt x="83716" y="71401"/>
                </a:cubicBezTo>
                <a:cubicBezTo>
                  <a:pt x="90301" y="71588"/>
                  <a:pt x="95474" y="77056"/>
                  <a:pt x="95287" y="83642"/>
                </a:cubicBezTo>
                <a:cubicBezTo>
                  <a:pt x="95287" y="83976"/>
                  <a:pt x="95287" y="84310"/>
                  <a:pt x="95287" y="84609"/>
                </a:cubicBezTo>
                <a:cubicBezTo>
                  <a:pt x="95287" y="103622"/>
                  <a:pt x="110691" y="119026"/>
                  <a:pt x="129704" y="119026"/>
                </a:cubicBezTo>
                <a:cubicBezTo>
                  <a:pt x="138819" y="119026"/>
                  <a:pt x="147563" y="115417"/>
                  <a:pt x="154037" y="108942"/>
                </a:cubicBezTo>
                <a:lnTo>
                  <a:pt x="180491" y="82488"/>
                </a:lnTo>
                <a:cubicBezTo>
                  <a:pt x="186927" y="76050"/>
                  <a:pt x="190574" y="67271"/>
                  <a:pt x="190574" y="58155"/>
                </a:cubicBezTo>
                <a:cubicBezTo>
                  <a:pt x="190574" y="39142"/>
                  <a:pt x="175171" y="23738"/>
                  <a:pt x="156158" y="23738"/>
                </a:cubicBezTo>
                <a:close/>
                <a:moveTo>
                  <a:pt x="102394" y="52574"/>
                </a:moveTo>
                <a:cubicBezTo>
                  <a:pt x="101688" y="52276"/>
                  <a:pt x="100980" y="51867"/>
                  <a:pt x="100347" y="51420"/>
                </a:cubicBezTo>
                <a:cubicBezTo>
                  <a:pt x="95659" y="49002"/>
                  <a:pt x="90301" y="47625"/>
                  <a:pt x="84684" y="47625"/>
                </a:cubicBezTo>
                <a:cubicBezTo>
                  <a:pt x="75568" y="47625"/>
                  <a:pt x="66824" y="51235"/>
                  <a:pt x="60350" y="57708"/>
                </a:cubicBezTo>
                <a:lnTo>
                  <a:pt x="33896" y="84163"/>
                </a:lnTo>
                <a:cubicBezTo>
                  <a:pt x="27459" y="90600"/>
                  <a:pt x="23813" y="99380"/>
                  <a:pt x="23813" y="108496"/>
                </a:cubicBezTo>
                <a:cubicBezTo>
                  <a:pt x="23813" y="127510"/>
                  <a:pt x="39216" y="142912"/>
                  <a:pt x="58229" y="142912"/>
                </a:cubicBezTo>
                <a:cubicBezTo>
                  <a:pt x="64367" y="142912"/>
                  <a:pt x="70358" y="141275"/>
                  <a:pt x="75604" y="138225"/>
                </a:cubicBezTo>
                <a:cubicBezTo>
                  <a:pt x="81483" y="144177"/>
                  <a:pt x="88329" y="149163"/>
                  <a:pt x="95921" y="152921"/>
                </a:cubicBezTo>
                <a:cubicBezTo>
                  <a:pt x="85427" y="161813"/>
                  <a:pt x="72107" y="166761"/>
                  <a:pt x="58229" y="166761"/>
                </a:cubicBezTo>
                <a:cubicBezTo>
                  <a:pt x="26082" y="166761"/>
                  <a:pt x="0" y="140718"/>
                  <a:pt x="0" y="108533"/>
                </a:cubicBezTo>
                <a:cubicBezTo>
                  <a:pt x="0" y="93093"/>
                  <a:pt x="6139" y="78284"/>
                  <a:pt x="17041" y="67381"/>
                </a:cubicBezTo>
                <a:lnTo>
                  <a:pt x="43495" y="40929"/>
                </a:lnTo>
                <a:cubicBezTo>
                  <a:pt x="54397" y="30026"/>
                  <a:pt x="69205" y="23886"/>
                  <a:pt x="84645" y="23886"/>
                </a:cubicBezTo>
                <a:cubicBezTo>
                  <a:pt x="116867" y="23886"/>
                  <a:pt x="142875" y="50155"/>
                  <a:pt x="142875" y="82264"/>
                </a:cubicBezTo>
                <a:cubicBezTo>
                  <a:pt x="142875" y="82748"/>
                  <a:pt x="142875" y="83232"/>
                  <a:pt x="142875" y="83716"/>
                </a:cubicBezTo>
                <a:cubicBezTo>
                  <a:pt x="142726" y="90302"/>
                  <a:pt x="137257" y="95473"/>
                  <a:pt x="130672" y="95325"/>
                </a:cubicBezTo>
                <a:cubicBezTo>
                  <a:pt x="124085" y="95177"/>
                  <a:pt x="118914" y="89705"/>
                  <a:pt x="119063" y="83120"/>
                </a:cubicBezTo>
                <a:cubicBezTo>
                  <a:pt x="119063" y="82823"/>
                  <a:pt x="119063" y="82563"/>
                  <a:pt x="119063" y="82264"/>
                </a:cubicBezTo>
                <a:cubicBezTo>
                  <a:pt x="119063" y="69726"/>
                  <a:pt x="112365" y="58714"/>
                  <a:pt x="102394" y="52648"/>
                </a:cubicBez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5" name="AutoShape 25"/>
          <p:cNvSpPr/>
          <p:nvPr/>
        </p:nvSpPr>
        <p:spPr>
          <a:xfrm>
            <a:off x="6714962" y="2174221"/>
            <a:ext cx="69532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PR Link</a:t>
            </a:r>
            <a:endParaRPr lang="en-US" sz="1100"/>
          </a:p>
        </p:txBody>
      </p:sp>
      <p:sp>
        <p:nvSpPr>
          <p:cNvPr id="26" name="Freeform 26"/>
          <p:cNvSpPr/>
          <p:nvPr/>
        </p:nvSpPr>
        <p:spPr>
          <a:xfrm>
            <a:off x="6248338" y="2669428"/>
            <a:ext cx="5562600" cy="495300"/>
          </a:xfrm>
          <a:custGeom>
            <a:avLst/>
            <a:gdLst/>
            <a:ahLst/>
            <a:cxnLst/>
            <a:rect l="l" t="t" r="r" b="b"/>
            <a:pathLst>
              <a:path w="5562600" h="495300">
                <a:moveTo>
                  <a:pt x="76203" y="0"/>
                </a:moveTo>
                <a:lnTo>
                  <a:pt x="5486397" y="0"/>
                </a:lnTo>
                <a:cubicBezTo>
                  <a:pt x="5528483" y="0"/>
                  <a:pt x="5562600" y="34117"/>
                  <a:pt x="5562600" y="76203"/>
                </a:cubicBezTo>
                <a:lnTo>
                  <a:pt x="5562600" y="419097"/>
                </a:lnTo>
                <a:cubicBezTo>
                  <a:pt x="5562600" y="461183"/>
                  <a:pt x="5528483" y="495300"/>
                  <a:pt x="5486397" y="495300"/>
                </a:cubicBezTo>
                <a:lnTo>
                  <a:pt x="76203" y="495300"/>
                </a:lnTo>
                <a:cubicBezTo>
                  <a:pt x="34117" y="495300"/>
                  <a:pt x="0" y="461183"/>
                  <a:pt x="0" y="419097"/>
                </a:cubicBezTo>
                <a:lnTo>
                  <a:pt x="0" y="76203"/>
                </a:lnTo>
                <a:cubicBezTo>
                  <a:pt x="0" y="34117"/>
                  <a:pt x="34117" y="0"/>
                  <a:pt x="76203"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27" name="Freeform 27"/>
          <p:cNvSpPr/>
          <p:nvPr/>
        </p:nvSpPr>
        <p:spPr>
          <a:xfrm>
            <a:off x="6410212" y="2821735"/>
            <a:ext cx="142875" cy="190500"/>
          </a:xfrm>
          <a:custGeom>
            <a:avLst/>
            <a:gdLst/>
            <a:ahLst/>
            <a:cxnLst/>
            <a:rect l="l" t="t" r="r" b="b"/>
            <a:pathLst>
              <a:path w="142875" h="190500">
                <a:moveTo>
                  <a:pt x="0" y="23813"/>
                </a:moveTo>
                <a:cubicBezTo>
                  <a:pt x="0" y="10678"/>
                  <a:pt x="10678" y="0"/>
                  <a:pt x="23812" y="0"/>
                </a:cubicBezTo>
                <a:lnTo>
                  <a:pt x="79437" y="0"/>
                </a:lnTo>
                <a:cubicBezTo>
                  <a:pt x="85762" y="0"/>
                  <a:pt x="91827" y="2493"/>
                  <a:pt x="96291" y="6958"/>
                </a:cubicBezTo>
                <a:lnTo>
                  <a:pt x="135917" y="46620"/>
                </a:lnTo>
                <a:cubicBezTo>
                  <a:pt x="140382" y="51084"/>
                  <a:pt x="142875" y="57150"/>
                  <a:pt x="142875" y="63475"/>
                </a:cubicBezTo>
                <a:lnTo>
                  <a:pt x="142875" y="166687"/>
                </a:lnTo>
                <a:cubicBezTo>
                  <a:pt x="142875" y="179822"/>
                  <a:pt x="132197" y="190500"/>
                  <a:pt x="119062" y="190500"/>
                </a:cubicBezTo>
                <a:lnTo>
                  <a:pt x="23812" y="190500"/>
                </a:lnTo>
                <a:cubicBezTo>
                  <a:pt x="10678" y="190500"/>
                  <a:pt x="0" y="179822"/>
                  <a:pt x="0" y="166687"/>
                </a:cubicBezTo>
                <a:lnTo>
                  <a:pt x="0" y="23813"/>
                </a:lnTo>
                <a:close/>
                <a:moveTo>
                  <a:pt x="77391" y="21767"/>
                </a:moveTo>
                <a:lnTo>
                  <a:pt x="77391" y="56554"/>
                </a:lnTo>
                <a:cubicBezTo>
                  <a:pt x="77391" y="61504"/>
                  <a:pt x="81371" y="65484"/>
                  <a:pt x="86321" y="65484"/>
                </a:cubicBezTo>
                <a:lnTo>
                  <a:pt x="121108" y="65484"/>
                </a:lnTo>
                <a:lnTo>
                  <a:pt x="77391" y="21767"/>
                </a:lnTo>
                <a:close/>
                <a:moveTo>
                  <a:pt x="44648" y="95250"/>
                </a:moveTo>
                <a:cubicBezTo>
                  <a:pt x="39700" y="95250"/>
                  <a:pt x="35719" y="99231"/>
                  <a:pt x="35719" y="104179"/>
                </a:cubicBezTo>
                <a:cubicBezTo>
                  <a:pt x="35719" y="109129"/>
                  <a:pt x="39700" y="113109"/>
                  <a:pt x="44648" y="113109"/>
                </a:cubicBezTo>
                <a:lnTo>
                  <a:pt x="98227" y="113109"/>
                </a:lnTo>
                <a:cubicBezTo>
                  <a:pt x="103175" y="113109"/>
                  <a:pt x="107156" y="109129"/>
                  <a:pt x="107156" y="104179"/>
                </a:cubicBezTo>
                <a:cubicBezTo>
                  <a:pt x="107156" y="99231"/>
                  <a:pt x="103175" y="95250"/>
                  <a:pt x="98227" y="95250"/>
                </a:cubicBezTo>
                <a:lnTo>
                  <a:pt x="44648" y="95250"/>
                </a:lnTo>
                <a:close/>
                <a:moveTo>
                  <a:pt x="44648" y="130969"/>
                </a:moveTo>
                <a:cubicBezTo>
                  <a:pt x="39700" y="130969"/>
                  <a:pt x="35719" y="134950"/>
                  <a:pt x="35719" y="139898"/>
                </a:cubicBezTo>
                <a:cubicBezTo>
                  <a:pt x="35719" y="144847"/>
                  <a:pt x="39700" y="148827"/>
                  <a:pt x="44648" y="148827"/>
                </a:cubicBezTo>
                <a:lnTo>
                  <a:pt x="98227" y="148827"/>
                </a:lnTo>
                <a:cubicBezTo>
                  <a:pt x="103175" y="148827"/>
                  <a:pt x="107156" y="144847"/>
                  <a:pt x="107156" y="139898"/>
                </a:cubicBezTo>
                <a:cubicBezTo>
                  <a:pt x="107156" y="134950"/>
                  <a:pt x="103175" y="130969"/>
                  <a:pt x="98227" y="130969"/>
                </a:cubicBezTo>
                <a:lnTo>
                  <a:pt x="44648" y="130969"/>
                </a:lnTo>
                <a:close/>
              </a:path>
            </a:pathLst>
          </a:custGeom>
          <a:solidFill>
            <a:srgbClr val="8B0000">
              <a:alpha val="100000"/>
            </a:srgbClr>
          </a:solidFill>
          <a:ln w="12700">
            <a:noFill/>
            <a:prstDash val="solid"/>
          </a:ln>
        </p:spPr>
        <p:txBody>
          <a:bodyPr wrap="square" lIns="91440" tIns="45720" rIns="91440" bIns="45720" rtlCol="0" anchor="t">
            <a:noAutofit/>
          </a:bodyPr>
          <a:lstStyle/>
          <a:p>
            <a:pPr algn="ctr">
              <a:defRPr/>
            </a:pPr>
          </a:p>
        </p:txBody>
      </p:sp>
      <p:sp>
        <p:nvSpPr>
          <p:cNvPr id="28" name="AutoShape 28"/>
          <p:cNvSpPr/>
          <p:nvPr/>
        </p:nvSpPr>
        <p:spPr>
          <a:xfrm>
            <a:off x="6715125" y="2783840"/>
            <a:ext cx="3072130"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Change Description</a:t>
            </a:r>
            <a:endParaRPr lang="en-US" sz="1100"/>
          </a:p>
        </p:txBody>
      </p:sp>
      <p:sp>
        <p:nvSpPr>
          <p:cNvPr id="29" name="AutoShape 29"/>
          <p:cNvSpPr/>
          <p:nvPr/>
        </p:nvSpPr>
        <p:spPr>
          <a:xfrm>
            <a:off x="6248338" y="3393207"/>
            <a:ext cx="5657850" cy="266700"/>
          </a:xfrm>
          <a:prstGeom prst="rect">
            <a:avLst/>
          </a:prstGeom>
          <a:noFill/>
          <a:ln w="12700">
            <a:noFill/>
            <a:prstDash val="solid"/>
          </a:ln>
        </p:spPr>
        <p:txBody>
          <a:bodyPr wrap="square" lIns="0" tIns="0" rIns="0" bIns="0" rtlCol="0" anchor="ctr">
            <a:noAutofit/>
          </a:bodyPr>
          <a:lstStyle/>
          <a:p>
            <a:pPr indent="0" algn="l">
              <a:lnSpc>
                <a:spcPct val="117000"/>
              </a:lnSpc>
              <a:defRPr/>
            </a:pPr>
            <a:r>
              <a:rPr lang="en-US" sz="15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Learning Goals</a:t>
            </a:r>
            <a:endParaRPr lang="en-US" sz="1100"/>
          </a:p>
        </p:txBody>
      </p:sp>
      <p:sp>
        <p:nvSpPr>
          <p:cNvPr id="30" name="Freeform 30"/>
          <p:cNvSpPr/>
          <p:nvPr/>
        </p:nvSpPr>
        <p:spPr>
          <a:xfrm>
            <a:off x="6267388" y="3850351"/>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8" y="71225"/>
                </a:moveTo>
                <a:lnTo>
                  <a:pt x="87198" y="114088"/>
                </a:lnTo>
                <a:cubicBezTo>
                  <a:pt x="85792" y="116332"/>
                  <a:pt x="83381" y="117738"/>
                  <a:pt x="80736" y="117873"/>
                </a:cubicBezTo>
                <a:cubicBezTo>
                  <a:pt x="78090" y="118006"/>
                  <a:pt x="75545" y="116801"/>
                  <a:pt x="73971" y="114657"/>
                </a:cubicBezTo>
                <a:lnTo>
                  <a:pt x="57898" y="93226"/>
                </a:lnTo>
                <a:cubicBezTo>
                  <a:pt x="55220" y="89676"/>
                  <a:pt x="55956" y="84653"/>
                  <a:pt x="59505" y="81975"/>
                </a:cubicBezTo>
                <a:cubicBezTo>
                  <a:pt x="63055" y="79296"/>
                  <a:pt x="68078" y="80032"/>
                  <a:pt x="70757" y="83583"/>
                </a:cubicBezTo>
                <a:lnTo>
                  <a:pt x="79798" y="95637"/>
                </a:lnTo>
                <a:lnTo>
                  <a:pt x="100359" y="62720"/>
                </a:lnTo>
                <a:cubicBezTo>
                  <a:pt x="102704" y="58969"/>
                  <a:pt x="107659" y="57796"/>
                  <a:pt x="111442" y="60175"/>
                </a:cubicBezTo>
                <a:cubicBezTo>
                  <a:pt x="115226" y="62553"/>
                  <a:pt x="116365" y="67475"/>
                  <a:pt x="113988" y="71258"/>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31" name="AutoShape 31"/>
          <p:cNvSpPr/>
          <p:nvPr/>
        </p:nvSpPr>
        <p:spPr>
          <a:xfrm>
            <a:off x="6576695" y="3812540"/>
            <a:ext cx="53244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Familiarize with GitHub open source workflow</a:t>
            </a:r>
            <a:endParaRPr lang="en-US" sz="1100"/>
          </a:p>
        </p:txBody>
      </p:sp>
      <p:sp>
        <p:nvSpPr>
          <p:cNvPr id="32" name="Freeform 32"/>
          <p:cNvSpPr/>
          <p:nvPr/>
        </p:nvSpPr>
        <p:spPr>
          <a:xfrm>
            <a:off x="6267388" y="4231305"/>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8" y="71225"/>
                </a:moveTo>
                <a:lnTo>
                  <a:pt x="87198" y="114088"/>
                </a:lnTo>
                <a:cubicBezTo>
                  <a:pt x="85792" y="116332"/>
                  <a:pt x="83381" y="117738"/>
                  <a:pt x="80736" y="117873"/>
                </a:cubicBezTo>
                <a:cubicBezTo>
                  <a:pt x="78090" y="118006"/>
                  <a:pt x="75545" y="116801"/>
                  <a:pt x="73971" y="114657"/>
                </a:cubicBezTo>
                <a:lnTo>
                  <a:pt x="57898" y="93226"/>
                </a:lnTo>
                <a:cubicBezTo>
                  <a:pt x="55220" y="89676"/>
                  <a:pt x="55956" y="84653"/>
                  <a:pt x="59505" y="81975"/>
                </a:cubicBezTo>
                <a:cubicBezTo>
                  <a:pt x="63055" y="79296"/>
                  <a:pt x="68078" y="80032"/>
                  <a:pt x="70757" y="83583"/>
                </a:cubicBezTo>
                <a:lnTo>
                  <a:pt x="79798" y="95637"/>
                </a:lnTo>
                <a:lnTo>
                  <a:pt x="100359" y="62720"/>
                </a:lnTo>
                <a:cubicBezTo>
                  <a:pt x="102704" y="58969"/>
                  <a:pt x="107659" y="57796"/>
                  <a:pt x="111442" y="60175"/>
                </a:cubicBezTo>
                <a:cubicBezTo>
                  <a:pt x="115226" y="62553"/>
                  <a:pt x="116365" y="67475"/>
                  <a:pt x="113988" y="71258"/>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33" name="AutoShape 33"/>
          <p:cNvSpPr/>
          <p:nvPr/>
        </p:nvSpPr>
        <p:spPr>
          <a:xfrm>
            <a:off x="6576695" y="4193540"/>
            <a:ext cx="520636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Experience real open source collaboration</a:t>
            </a:r>
            <a:endParaRPr lang="en-US" sz="1100"/>
          </a:p>
        </p:txBody>
      </p:sp>
      <p:sp>
        <p:nvSpPr>
          <p:cNvPr id="34" name="Freeform 34"/>
          <p:cNvSpPr/>
          <p:nvPr/>
        </p:nvSpPr>
        <p:spPr>
          <a:xfrm>
            <a:off x="6267388" y="4612267"/>
            <a:ext cx="171450" cy="171450"/>
          </a:xfrm>
          <a:custGeom>
            <a:avLst/>
            <a:gdLst/>
            <a:ahLst/>
            <a:cxnLst/>
            <a:rect l="l" t="t" r="r" b="b"/>
            <a:pathLst>
              <a:path w="171450" h="171450">
                <a:moveTo>
                  <a:pt x="85725" y="171450"/>
                </a:moveTo>
                <a:cubicBezTo>
                  <a:pt x="133038" y="171450"/>
                  <a:pt x="171450" y="133038"/>
                  <a:pt x="171450" y="85725"/>
                </a:cubicBezTo>
                <a:cubicBezTo>
                  <a:pt x="171450" y="38412"/>
                  <a:pt x="133038" y="0"/>
                  <a:pt x="85725" y="0"/>
                </a:cubicBezTo>
                <a:cubicBezTo>
                  <a:pt x="38412" y="0"/>
                  <a:pt x="0" y="38412"/>
                  <a:pt x="0" y="85725"/>
                </a:cubicBezTo>
                <a:cubicBezTo>
                  <a:pt x="0" y="133038"/>
                  <a:pt x="38412" y="171450"/>
                  <a:pt x="85725" y="171450"/>
                </a:cubicBezTo>
                <a:close/>
                <a:moveTo>
                  <a:pt x="113988" y="71225"/>
                </a:moveTo>
                <a:lnTo>
                  <a:pt x="87198" y="114088"/>
                </a:lnTo>
                <a:cubicBezTo>
                  <a:pt x="85792" y="116332"/>
                  <a:pt x="83381" y="117738"/>
                  <a:pt x="80736" y="117873"/>
                </a:cubicBezTo>
                <a:cubicBezTo>
                  <a:pt x="78090" y="118006"/>
                  <a:pt x="75545" y="116801"/>
                  <a:pt x="73971" y="114657"/>
                </a:cubicBezTo>
                <a:lnTo>
                  <a:pt x="57898" y="93226"/>
                </a:lnTo>
                <a:cubicBezTo>
                  <a:pt x="55220" y="89676"/>
                  <a:pt x="55956" y="84653"/>
                  <a:pt x="59505" y="81975"/>
                </a:cubicBezTo>
                <a:cubicBezTo>
                  <a:pt x="63055" y="79296"/>
                  <a:pt x="68078" y="80032"/>
                  <a:pt x="70757" y="83583"/>
                </a:cubicBezTo>
                <a:lnTo>
                  <a:pt x="79798" y="95637"/>
                </a:lnTo>
                <a:lnTo>
                  <a:pt x="100359" y="62720"/>
                </a:lnTo>
                <a:cubicBezTo>
                  <a:pt x="102704" y="58969"/>
                  <a:pt x="107659" y="57796"/>
                  <a:pt x="111442" y="60175"/>
                </a:cubicBezTo>
                <a:cubicBezTo>
                  <a:pt x="115226" y="62553"/>
                  <a:pt x="116365" y="67475"/>
                  <a:pt x="113988" y="71258"/>
                </a:cubicBezTo>
                <a:close/>
              </a:path>
            </a:pathLst>
          </a:custGeom>
          <a:solidFill>
            <a:srgbClr val="333333">
              <a:alpha val="100000"/>
            </a:srgbClr>
          </a:solidFill>
          <a:ln w="12700">
            <a:noFill/>
            <a:prstDash val="solid"/>
          </a:ln>
        </p:spPr>
        <p:txBody>
          <a:bodyPr wrap="square" lIns="91440" tIns="45720" rIns="91440" bIns="45720" rtlCol="0" anchor="t">
            <a:noAutofit/>
          </a:bodyPr>
          <a:lstStyle/>
          <a:p>
            <a:pPr algn="ctr">
              <a:defRPr/>
            </a:pPr>
          </a:p>
        </p:txBody>
      </p:sp>
      <p:sp>
        <p:nvSpPr>
          <p:cNvPr id="35" name="AutoShape 35"/>
          <p:cNvSpPr/>
          <p:nvPr/>
        </p:nvSpPr>
        <p:spPr>
          <a:xfrm>
            <a:off x="6576695" y="4573905"/>
            <a:ext cx="4600575" cy="266700"/>
          </a:xfrm>
          <a:prstGeom prst="rect">
            <a:avLst/>
          </a:prstGeom>
          <a:noFill/>
          <a:ln w="12700">
            <a:noFill/>
            <a:prstDash val="solid"/>
          </a:ln>
        </p:spPr>
        <p:txBody>
          <a:bodyPr wrap="square" lIns="0" tIns="0" rIns="0" bIns="0" rtlCol="0" anchor="ctr">
            <a:noAutofit/>
          </a:bodyPr>
          <a:lstStyle/>
          <a:p>
            <a:pPr indent="0" algn="l">
              <a:lnSpc>
                <a:spcPct val="133000"/>
              </a:lnSpc>
              <a:defRPr/>
            </a:pPr>
            <a:r>
              <a:rPr lang="en-US" sz="1400" b="0" i="0" u="none" strike="noStrike">
                <a:solidFill>
                  <a:srgbClr val="1A1A1A"/>
                </a:solidFill>
                <a:latin typeface="MiSans" panose="00000500000000000000" charset="-122"/>
                <a:ea typeface="MiSans" panose="00000500000000000000" charset="-122"/>
                <a:cs typeface="MiSans" panose="00000500000000000000" charset="-122"/>
                <a:sym typeface="MiSans" panose="00000500000000000000" charset="-122"/>
              </a:rPr>
              <a:t>Understand CI/CD and code standards</a:t>
            </a:r>
            <a:endParaRPr lang="en-US" sz="1100"/>
          </a:p>
        </p:txBody>
      </p:sp>
      <p:sp>
        <p:nvSpPr>
          <p:cNvPr id="36" name="Freeform 36"/>
          <p:cNvSpPr/>
          <p:nvPr/>
        </p:nvSpPr>
        <p:spPr>
          <a:xfrm>
            <a:off x="380956" y="5488428"/>
            <a:ext cx="11430000" cy="571500"/>
          </a:xfrm>
          <a:custGeom>
            <a:avLst/>
            <a:gdLst/>
            <a:ahLst/>
            <a:cxnLst/>
            <a:rect l="l" t="t" r="r" b="b"/>
            <a:pathLst>
              <a:path w="11430000" h="571500">
                <a:moveTo>
                  <a:pt x="76197" y="0"/>
                </a:moveTo>
                <a:lnTo>
                  <a:pt x="11353803" y="0"/>
                </a:lnTo>
                <a:cubicBezTo>
                  <a:pt x="11395885" y="0"/>
                  <a:pt x="11430000" y="34115"/>
                  <a:pt x="11430000" y="76197"/>
                </a:cubicBezTo>
                <a:lnTo>
                  <a:pt x="11430000" y="495303"/>
                </a:lnTo>
                <a:cubicBezTo>
                  <a:pt x="11430000" y="537385"/>
                  <a:pt x="11395885" y="571500"/>
                  <a:pt x="11353803" y="571500"/>
                </a:cubicBezTo>
                <a:lnTo>
                  <a:pt x="76197" y="571500"/>
                </a:lnTo>
                <a:cubicBezTo>
                  <a:pt x="34115" y="571500"/>
                  <a:pt x="0" y="537385"/>
                  <a:pt x="0" y="495303"/>
                </a:cubicBezTo>
                <a:lnTo>
                  <a:pt x="0" y="76197"/>
                </a:lnTo>
                <a:cubicBezTo>
                  <a:pt x="0" y="34115"/>
                  <a:pt x="34115" y="0"/>
                  <a:pt x="76197" y="0"/>
                </a:cubicBezTo>
                <a:close/>
              </a:path>
            </a:pathLst>
          </a:custGeom>
          <a:solidFill>
            <a:srgbClr val="F9FAFB">
              <a:alpha val="100000"/>
            </a:srgbClr>
          </a:solidFill>
          <a:ln w="12700">
            <a:noFill/>
            <a:prstDash val="solid"/>
          </a:ln>
        </p:spPr>
        <p:txBody>
          <a:bodyPr wrap="square" lIns="91440" tIns="45720" rIns="91440" bIns="45720" rtlCol="0" anchor="t">
            <a:noAutofit/>
          </a:bodyPr>
          <a:lstStyle/>
          <a:p>
            <a:pPr algn="ctr">
              <a:defRPr/>
            </a:pPr>
          </a:p>
        </p:txBody>
      </p:sp>
      <p:sp>
        <p:nvSpPr>
          <p:cNvPr id="37" name="AutoShape 37"/>
          <p:cNvSpPr/>
          <p:nvPr/>
        </p:nvSpPr>
        <p:spPr>
          <a:xfrm>
            <a:off x="623843" y="5659832"/>
            <a:ext cx="10944225" cy="266700"/>
          </a:xfrm>
          <a:prstGeom prst="rect">
            <a:avLst/>
          </a:prstGeom>
          <a:noFill/>
          <a:ln w="12700">
            <a:noFill/>
            <a:prstDash val="solid"/>
          </a:ln>
        </p:spPr>
        <p:txBody>
          <a:bodyPr wrap="square" lIns="0" tIns="0" rIns="0" bIns="0" rtlCol="0" anchor="ctr">
            <a:noAutofit/>
          </a:bodyPr>
          <a:lstStyle/>
          <a:p>
            <a:pPr indent="0" algn="ctr">
              <a:lnSpc>
                <a:spcPct val="133000"/>
              </a:lnSpc>
              <a:defRPr/>
            </a:pPr>
            <a:r>
              <a:rPr lang="en-US" sz="1400" b="1" i="0" u="none" strike="noStrike">
                <a:solidFill>
                  <a:srgbClr val="8B0000"/>
                </a:solidFill>
                <a:latin typeface="MiSans" panose="00000500000000000000" charset="-122"/>
                <a:ea typeface="MiSans" panose="00000500000000000000" charset="-122"/>
                <a:cs typeface="MiSans" panose="00000500000000000000" charset="-122"/>
                <a:sym typeface="MiSans" panose="00000500000000000000" charset="-122"/>
              </a:rPr>
              <a:t>Wishing all students success in completing the assignment and starting your open source journey!</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46-47: Course Project Presentation</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Course Projects Overview</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微软雅黑" panose="020B0503020204020204" charset="-122"/>
              </a:defRPr>
            </a:lvl1pPr>
          </a:lstStyle>
          <a:p>
            <a:pPr algn="l"/>
          </a:p>
        </p:txBody>
      </p:sp>
      <p:graphicFrame>
        <p:nvGraphicFramePr>
          <p:cNvPr id="6" name="Table 6"/>
          <p:cNvGraphicFramePr>
            <a:graphicFrameLocks noGrp="1"/>
          </p:cNvGraphicFramePr>
          <p:nvPr/>
        </p:nvGraphicFramePr>
        <p:xfrm>
          <a:off x="215900" y="1318604"/>
          <a:ext cx="11760200" cy="5173345"/>
        </p:xfrm>
        <a:graphic>
          <a:graphicData uri="http://schemas.openxmlformats.org/drawingml/2006/table">
            <a:tbl>
              <a:tblPr>
                <a:effectLst/>
              </a:tblPr>
              <a:tblGrid>
                <a:gridCol w="1196340"/>
                <a:gridCol w="3369945"/>
                <a:gridCol w="1627505"/>
                <a:gridCol w="5566410"/>
              </a:tblGrid>
              <a:tr h="539115">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Lecture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Project Name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Type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600" b="1" i="0" u="none" strike="noStrike" spc="120">
                          <a:solidFill>
                            <a:srgbClr val="000000"/>
                          </a:solidFill>
                          <a:latin typeface="Arial" panose="020B0604020202020204"/>
                          <a:ea typeface="Arial" panose="020B0604020202020204"/>
                          <a:cs typeface="Arial" panose="020B0604020202020204"/>
                          <a:sym typeface="Arial" panose="020B0604020202020204"/>
                        </a:rPr>
                        <a:t>Key Assessment Criteria</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9525"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5</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Environment Setup and Toolchain</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Lab Session</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Four-Phase Operational Verification + + Lab Report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9525"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795">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9</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Softmax Kernel (Midterm)</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Individual Project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Correctness 40pts + Performance70% Threshold</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18</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RMSNorm+Residual  Fusion (Final)</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Individual Project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Performance must reach FlagGems Benchmark 90%</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27</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FlagTree Pass  Contribution (Final)</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Individual Project</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Choose from 3 directions, FileCheck Test Verification</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795">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36</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7B  Multi-Node Distributed Training (Final)</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3-Person Team</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Comparison of 3 Parallelism Strategies + + Linear Speedup Ratio</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r h="772160">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46-47</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Capstone Project Defense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Group Defense</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Proposal Feasibility + + Authenticity of Progress</a:t>
                      </a:r>
                      <a:endParaRPr lang="en-US" sz="1100"/>
                    </a:p>
                  </a:txBody>
                  <a:tcPr marL="177800" marR="177800" marT="107950" marB="107950" anchor="t">
                    <a:lnL w="0" cap="flat" cmpd="sng" algn="ctr">
                      <a:prstDash val="solid"/>
                      <a:round/>
                      <a:headEnd type="none" w="med" len="med"/>
                      <a:tailEnd type="none" w="med" len="med"/>
                    </a:lnL>
                    <a:lnR w="0" cap="flat" cmpd="sng" algn="ctr">
                      <a:prstDash val="solid"/>
                      <a:round/>
                      <a:headEnd type="none" w="med" len="med"/>
                      <a:tailEnd type="none" w="med" len="med"/>
                    </a:lnR>
                    <a:lnT w="19050" cap="flat" cmpd="sng" algn="ctr">
                      <a:solidFill>
                        <a:srgbClr val="8B0012"/>
                      </a:solidFill>
                      <a:prstDash val="solid"/>
                      <a:round/>
                      <a:headEnd type="none" w="med" len="med"/>
                      <a:tailEnd type="none" w="med" len="med"/>
                    </a:lnT>
                    <a:lnB w="19050" cap="flat" cmpd="sng" algn="ctr">
                      <a:solidFill>
                        <a:srgbClr val="8B0012"/>
                      </a:solidFill>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Defense General Guidelines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50000"/>
              </a:lnSpc>
              <a:defRPr sz="2400" b="0" i="0" u="none" strike="noStrike" spc="0">
                <a:solidFill>
                  <a:srgbClr val="404040">
                    <a:alpha val="100000"/>
                  </a:srgbClr>
                </a:solidFill>
                <a:latin typeface="Calibri" panose="020F0502020204030204"/>
              </a:defRPr>
            </a:lvl1pPr>
          </a:lstStyle>
          <a:p>
            <a:pPr marL="304800" indent="-304800" algn="l">
              <a:lnSpc>
                <a:spcPct val="15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The Capstone Project (Final Project) is conducted in  3–4 -person teams, spanning Module V (Lectures  37–45). The defense has two sessions: Lecture  46  for mid-term progress review, Lecture  47  for final presentation. The project must cover at least one of the following dimensions: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5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Self-designed  novel hardware benchmarking scheme design and implementation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5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KernelGen  capability evaluation and optimization for specific operator generation tasks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5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For domestic  GPU  full-stack (FlagTree + FlagGems) operator optimization practice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5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AI -assisted programming in systems software development exploration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Proposal Presentation and Progress Report</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lnSpcReduction="10000"/>
          </a:bodyPr>
          <a:lstStyle>
            <a:lvl1pPr algn="l">
              <a:lnSpc>
                <a:spcPct val="92000"/>
              </a:lnSpc>
              <a:defRPr sz="2400" b="0" i="0" u="none" strike="noStrike" spc="0">
                <a:solidFill>
                  <a:srgbClr val="404040">
                    <a:alpha val="100000"/>
                  </a:srgbClr>
                </a:solidFill>
                <a:latin typeface="Calibri" panose="020F0502020204030204"/>
              </a:defRPr>
            </a:lvl1pPr>
          </a:lstStyle>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Defense Procedure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Duration</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Each group:  12 -min presentation + 5 -min Q&amp;A</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Presentation Order</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Determined by lottery, announced  1  week(s) in advance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Submission Materials</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PPT  file (by  08:00  on defense day, uploaded to course platform)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92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Required Presentation Content (Must Cover)</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Project Background and Motivation: Why this problem? What is its engineering value?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Technical Approach: system architecture diagram, key technical roadmap, integration points with the  FlagOS  ecosystem</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Current Progress: experimental data or code demo for completed parts (must not be limited to  PPT  descriptions only)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Challenges Encountered: specific technical difficulties and attempted solutions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92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Future Plans: refinement plan with clear milestones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Final Report Specifications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Format Requirements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Length: 8–12  pages of body text (excluding cover, table of contents, and references)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Format: A4</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12pt  body text; figures and tables must be numbered and titled</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Language: primarily English; code and technical terms in English</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Required Content</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Abstract (within 300  words): core contributions and main conclusions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System Design Chapter: architecture diagrams, key data structures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Experiment Chapter: setup, baseline selection, result analysis (at least  1  performance comparison line//bar chart)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Discussion Chapter: limitations analysis, potential improvements if redone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Grading Criteria</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graphicFrame>
        <p:nvGraphicFramePr>
          <p:cNvPr id="5" name="Table 5"/>
          <p:cNvGraphicFramePr>
            <a:graphicFrameLocks noGrp="1"/>
          </p:cNvGraphicFramePr>
          <p:nvPr/>
        </p:nvGraphicFramePr>
        <p:xfrm>
          <a:off x="347663" y="1671177"/>
          <a:ext cx="11496675" cy="4146550"/>
        </p:xfrm>
        <a:graphic>
          <a:graphicData uri="http://schemas.openxmlformats.org/drawingml/2006/table">
            <a:tbl>
              <a:tblPr>
                <a:effectLst/>
              </a:tblPr>
              <a:tblGrid>
                <a:gridCol w="3910965"/>
                <a:gridCol w="996315"/>
                <a:gridCol w="6589395"/>
              </a:tblGrid>
              <a:tr h="508000">
                <a:tc>
                  <a:txBody>
                    <a:bodyPr rtlCol="0"/>
                    <a:lstStyle/>
                    <a:p>
                      <a:pPr indent="0" algn="ctr">
                        <a:lnSpc>
                          <a:spcPct val="117000"/>
                        </a:lnSpc>
                        <a:defRPr/>
                      </a:pPr>
                      <a:r>
                        <a:rPr lang="en-US" sz="1600" b="1" i="0" u="none" strike="noStrike" spc="120">
                          <a:solidFill>
                            <a:srgbClr val="FFFFFF"/>
                          </a:solidFill>
                          <a:latin typeface="Arial" panose="020B0604020202020204"/>
                          <a:ea typeface="Arial" panose="020B0604020202020204"/>
                          <a:cs typeface="Arial" panose="020B0604020202020204"/>
                          <a:sym typeface="Arial" panose="020B0604020202020204"/>
                        </a:rPr>
                        <a:t>Assessment Dimension</a:t>
                      </a:r>
                      <a:endParaRPr lang="en-US" sz="1100"/>
                    </a:p>
                  </a:txBody>
                  <a:tcPr marL="177800" marR="177800" marT="107950" marB="10795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rtlCol="0"/>
                    <a:lstStyle/>
                    <a:p>
                      <a:pPr indent="0" algn="ctr">
                        <a:lnSpc>
                          <a:spcPct val="117000"/>
                        </a:lnSpc>
                        <a:defRPr/>
                      </a:pPr>
                      <a:r>
                        <a:rPr lang="en-US" sz="1600" b="1" i="0" u="none" strike="noStrike" spc="120">
                          <a:solidFill>
                            <a:srgbClr val="FFFFFF"/>
                          </a:solidFill>
                          <a:latin typeface="Arial" panose="020B0604020202020204"/>
                          <a:ea typeface="Arial" panose="020B0604020202020204"/>
                          <a:cs typeface="Arial" panose="020B0604020202020204"/>
                          <a:sym typeface="Arial" panose="020B0604020202020204"/>
                        </a:rPr>
                        <a:t>Score</a:t>
                      </a:r>
                      <a:endParaRPr lang="en-US" sz="1100"/>
                    </a:p>
                  </a:txBody>
                  <a:tcPr marL="177800" marR="177800" marT="107950" marB="10795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c>
                  <a:txBody>
                    <a:bodyPr rtlCol="0"/>
                    <a:lstStyle/>
                    <a:p>
                      <a:pPr indent="0" algn="ctr">
                        <a:lnSpc>
                          <a:spcPct val="117000"/>
                        </a:lnSpc>
                        <a:defRPr/>
                      </a:pPr>
                      <a:r>
                        <a:rPr lang="en-US" sz="1600" b="1" i="0" u="none" strike="noStrike" spc="120">
                          <a:solidFill>
                            <a:srgbClr val="FFFFFF"/>
                          </a:solidFill>
                          <a:latin typeface="Arial" panose="020B0604020202020204"/>
                          <a:ea typeface="Arial" panose="020B0604020202020204"/>
                          <a:cs typeface="Arial" panose="020B0604020202020204"/>
                          <a:sym typeface="Arial" panose="020B0604020202020204"/>
                        </a:rPr>
                        <a:t>Grading Criteria</a:t>
                      </a:r>
                      <a:endParaRPr lang="en-US" sz="1100"/>
                    </a:p>
                  </a:txBody>
                  <a:tcPr marL="177800" marR="177800" marT="107950" marB="10795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8B0012">
                        <a:alpha val="100000"/>
                      </a:srgbClr>
                    </a:solidFill>
                  </a:tcPr>
                </a:tc>
              </a:tr>
              <a:tr h="727710">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Technical Depth and Innovation</a:t>
                      </a:r>
                      <a:endParaRPr lang="en-US" sz="1100"/>
                    </a:p>
                  </a:txBody>
                  <a:tcPr marL="177800" marR="177800" marT="107950" marB="10795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30  pts</a:t>
                      </a:r>
                      <a:endParaRPr lang="en-US" sz="1100"/>
                    </a:p>
                  </a:txBody>
                  <a:tcPr marL="177800" marR="177800" marT="107950" marB="10795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Problem difficulty, solution design, innovation analysis</a:t>
                      </a:r>
                      <a:endParaRPr lang="en-US" sz="1100"/>
                    </a:p>
                  </a:txBody>
                  <a:tcPr marL="177800" marR="177800" marT="107950" marB="10795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727710">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Experimental Results and Data Quality</a:t>
                      </a:r>
                      <a:endParaRPr lang="en-US" sz="1100"/>
                    </a:p>
                  </a:txBody>
                  <a:tcPr marL="177800" marR="177800" marT="107950" marB="10795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30  pts</a:t>
                      </a:r>
                      <a:endParaRPr lang="en-US" sz="1100"/>
                    </a:p>
                  </a:txBody>
                  <a:tcPr marL="177800" marR="177800" marT="107950" marB="10795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Complete data, reasonable baselines, evidence-based conclusions</a:t>
                      </a:r>
                      <a:endParaRPr lang="en-US" sz="1100"/>
                    </a:p>
                  </a:txBody>
                  <a:tcPr marL="177800" marR="177800" marT="107950" marB="10795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r h="727710">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Presentation and Demo Quality</a:t>
                      </a:r>
                      <a:endParaRPr lang="en-US" sz="1100"/>
                    </a:p>
                  </a:txBody>
                  <a:tcPr marL="177800" marR="177800" marT="107950" marB="10795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20  pts</a:t>
                      </a:r>
                      <a:endParaRPr lang="en-US" sz="1100"/>
                    </a:p>
                  </a:txBody>
                  <a:tcPr marL="177800" marR="177800" marT="107950" marB="10795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PPT  clear, Demo  runnable, accurate Q&amp;A responses</a:t>
                      </a:r>
                      <a:endParaRPr lang="en-US" sz="1100"/>
                    </a:p>
                  </a:txBody>
                  <a:tcPr marL="177800" marR="177800" marT="107950" marB="10795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r h="727710">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Response to Feedback (Lecture 46）</a:t>
                      </a:r>
                      <a:endParaRPr lang="en-US" sz="1100"/>
                    </a:p>
                  </a:txBody>
                  <a:tcPr marL="177800" marR="177800" marT="107950" marB="10795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10  pts</a:t>
                      </a:r>
                      <a:endParaRPr lang="en-US" sz="1100"/>
                    </a:p>
                  </a:txBody>
                  <a:tcPr marL="177800" marR="177800" marT="107950" marB="10795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Reasonable adoption of feedback with sufficient justification</a:t>
                      </a:r>
                      <a:endParaRPr lang="en-US" sz="1100"/>
                    </a:p>
                  </a:txBody>
                  <a:tcPr marL="177800" marR="177800" marT="107950" marB="10795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5F5F5">
                        <a:alpha val="100000"/>
                      </a:srgbClr>
                    </a:solidFill>
                  </a:tcPr>
                </a:tc>
              </a:tr>
              <a:tr h="727710">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Code and Report Quality</a:t>
                      </a:r>
                      <a:endParaRPr lang="en-US" sz="1100"/>
                    </a:p>
                  </a:txBody>
                  <a:tcPr marL="177800" marR="177800" marT="107950" marB="10795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l">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10  pts</a:t>
                      </a:r>
                      <a:endParaRPr lang="en-US" sz="1100"/>
                    </a:p>
                  </a:txBody>
                  <a:tcPr marL="177800" marR="177800" marT="107950" marB="10795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c>
                  <a:txBody>
                    <a:bodyPr rtlCol="0"/>
                    <a:lstStyle/>
                    <a:p>
                      <a:pPr indent="0" algn="ctr">
                        <a:lnSpc>
                          <a:spcPct val="117000"/>
                        </a:lnSpc>
                        <a:defRPr/>
                      </a:pPr>
                      <a:r>
                        <a:rPr lang="en-US" sz="1400" b="0" i="0" u="none" strike="noStrike" spc="120">
                          <a:solidFill>
                            <a:srgbClr val="000000"/>
                          </a:solidFill>
                          <a:latin typeface="Arial" panose="020B0604020202020204"/>
                          <a:ea typeface="Arial" panose="020B0604020202020204"/>
                          <a:cs typeface="Arial" panose="020B0604020202020204"/>
                          <a:sym typeface="Arial" panose="020B0604020202020204"/>
                        </a:rPr>
                        <a:t>README  complete, well-formatted report, reproducible code</a:t>
                      </a:r>
                      <a:endParaRPr lang="en-US" sz="1100"/>
                    </a:p>
                  </a:txBody>
                  <a:tcPr marL="177800" marR="177800" marT="107950" marB="107950" anchor="t">
                    <a:lnL w="9525" cap="flat" cmpd="sng" algn="ctr">
                      <a:solidFill>
                        <a:srgbClr val="BBBBBB"/>
                      </a:solidFill>
                      <a:prstDash val="solid"/>
                      <a:round/>
                      <a:headEnd type="none" w="med" len="med"/>
                      <a:tailEnd type="none" w="med" len="med"/>
                    </a:lnL>
                    <a:lnR w="9525" cap="flat" cmpd="sng" algn="ctr">
                      <a:solidFill>
                        <a:srgbClr val="BBBBBB"/>
                      </a:solidFill>
                      <a:prstDash val="solid"/>
                      <a:round/>
                      <a:headEnd type="none" w="med" len="med"/>
                      <a:tailEnd type="none" w="med" len="med"/>
                    </a:lnR>
                    <a:lnT w="9525" cap="flat" cmpd="sng" algn="ctr">
                      <a:solidFill>
                        <a:srgbClr val="BBBBBB"/>
                      </a:solidFill>
                      <a:prstDash val="solid"/>
                      <a:round/>
                      <a:headEnd type="none" w="med" len="med"/>
                      <a:tailEnd type="none" w="med" len="med"/>
                    </a:lnT>
                    <a:lnB w="9525" cap="flat" cmpd="sng" algn="ctr">
                      <a:solidFill>
                        <a:srgbClr val="BBBBBB"/>
                      </a:solidFill>
                      <a:prstDash val="solid"/>
                      <a:round/>
                      <a:headEnd type="none" w="med" len="med"/>
                      <a:tailEnd type="none" w="med" len="med"/>
                    </a:lnB>
                    <a:solidFill>
                      <a:srgbClr val="FFFFFF">
                        <a:alpha val="100000"/>
                      </a:srgbClr>
                    </a:solidFill>
                  </a:tcPr>
                </a:tc>
              </a:tr>
            </a:tbl>
          </a:graphicData>
        </a:graphic>
      </p:graphicFrame>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5" hasCustomPrompt="1"/>
          </p:nvPr>
        </p:nvSpPr>
        <p:spPr>
          <a:prstGeom prst="rect">
            <a:avLst/>
          </a:prstGeom>
        </p:spPr>
        <p:txBody>
          <a:bodyPr wrap="square" lIns="91440" tIns="45720" rIns="91440" bIns="45720" anchor="ctr">
            <a:normAutofit/>
          </a:bodyPr>
          <a:lstStyle>
            <a:lvl1pPr algn="ctr">
              <a:lnSpc>
                <a:spcPct val="100000"/>
              </a:lnSpc>
              <a:defRPr sz="5100" b="0" i="0" u="none" strike="noStrike" spc="0">
                <a:solidFill>
                  <a:srgbClr val="262626">
                    <a:alpha val="100000"/>
                  </a:srgbClr>
                </a:solidFill>
                <a:latin typeface="Calibri" panose="020F0502020204030204"/>
              </a:defRPr>
            </a:lvl1pPr>
          </a:lstStyle>
          <a:p>
            <a:pPr indent="0" algn="ctr">
              <a:lnSpc>
                <a:spcPct val="100000"/>
              </a:lnSpc>
              <a:spcBef>
                <a:spcPts val="1500"/>
              </a:spcBef>
            </a:pPr>
            <a:r>
              <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rPr>
              <a:t>Lecture 48: Emerging Technology Outlook and Course Summary</a:t>
            </a:r>
            <a:endParaRPr lang="en-US" sz="51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Towards Sustainable AI and AGI</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4" name="AutoShape 4"/>
          <p:cNvSpPr/>
          <p:nvPr>
            <p:ph type="body" sz="quarter" idx="8"/>
          </p:nvPr>
        </p:nvSpPr>
        <p:spPr>
          <a:prstGeom prst="rect">
            <a:avLst/>
          </a:prstGeom>
        </p:spPr>
        <p:txBody>
          <a:bodyPr wrap="square" lIns="91440" tIns="45720" rIns="91440" bIns="45720" anchor="ctr">
            <a:noAutofit/>
          </a:bodyPr>
          <a:lstStyle>
            <a:lvl1pPr algn="r">
              <a:lnSpc>
                <a:spcPct val="100000"/>
              </a:lnSpc>
              <a:defRPr sz="1600" b="0" i="0" u="none" strike="noStrike" spc="0">
                <a:solidFill>
                  <a:srgbClr val="FFFFFF">
                    <a:alpha val="100000"/>
                  </a:srgbClr>
                </a:solidFill>
                <a:latin typeface="Garamond" panose="02020404030301010803"/>
              </a:defRPr>
            </a:lvl1pPr>
          </a:lstStyle>
          <a:p>
            <a:pPr algn="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In the previous lecture notes: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Module 1: Fundamentals of AI System and Heterogeneous Computing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Module 2: High-Performance AI Operators and Operator Engineering</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Module 3: Principles and Optimization of AI Compilers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Module 4: Distributed Parallel Training &amp; Inference and Communication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Module 5: Performance Evaluation and AI-assisted Kernel Generation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Driving Forces in the Near Future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Scaling law (pre-train, post-train, test-time)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Agentic workflow and multi-agent system</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Embodied AI and world models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Need Design-for-10X AI System &amp; Software</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r">
              <a:lnSpc>
                <a:spcPct val="100000"/>
              </a:lnSpc>
              <a:defRPr sz="1400" b="0" i="0" u="none" strike="noStrike" spc="0">
                <a:solidFill>
                  <a:srgbClr val="A5A5A5">
                    <a:alpha val="100000"/>
                  </a:srgbClr>
                </a:solidFill>
                <a:latin typeface="Garamond" panose="02020404030301010803"/>
              </a:defRPr>
            </a:lvl1pPr>
          </a:lstStyle>
          <a:p>
            <a:pPr indent="0" algn="r">
              <a:lnSpc>
                <a:spcPct val="100000"/>
              </a:lnSpc>
            </a:pPr>
            <a:r>
              <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rPr>
              <a:t>image source: nvidia.com</a:t>
            </a:r>
            <a:endParaRPr lang="en-US" sz="1400" b="0" i="0" u="none" strike="noStrike">
              <a:solidFill>
                <a:srgbClr val="A5A5A5"/>
              </a:solidFill>
              <a:latin typeface="Garamond" panose="02020404030301010803"/>
              <a:ea typeface="Garamond" panose="02020404030301010803"/>
              <a:cs typeface="Garamond" panose="02020404030301010803"/>
              <a:sym typeface="Garamond" panose="02020404030301010803"/>
            </a:endParaRPr>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Pre-train scaling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Post-train scaling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Test-time scaling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4601210" y="1323975"/>
            <a:ext cx="7200000" cy="405000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Hardware Challenges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Why does the bottleneck persist after Moore's Law slows down?</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Memory:</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HBM bandwidth grows far more slowly</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GPUs spend significant time waiting for data</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Power:</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Dennard Scaling ended around 2005</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Interconnect:</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0000"/>
              </a:lnSpc>
              <a:spcBef>
                <a:spcPts val="75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Multi-GPU comm &gt; 30% of training time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indent="0" algn="l">
              <a:lnSpc>
                <a:spcPct val="100000"/>
              </a:lnSpc>
              <a:spcBef>
                <a:spcPts val="1500"/>
              </a:spcBef>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6" name="Group 6"/>
          <p:cNvGrpSpPr/>
          <p:nvPr/>
        </p:nvGrpSpPr>
        <p:grpSpPr>
          <a:xfrm>
            <a:off x="521335" y="4535170"/>
            <a:ext cx="3649980" cy="1642110"/>
            <a:chOff x="521335" y="4535170"/>
            <a:chExt cx="3649980" cy="1642110"/>
          </a:xfrm>
        </p:grpSpPr>
        <p:sp>
          <p:nvSpPr>
            <p:cNvPr id="7" name="AutoShape 7"/>
            <p:cNvSpPr/>
            <p:nvPr/>
          </p:nvSpPr>
          <p:spPr>
            <a:xfrm>
              <a:off x="521335" y="4535170"/>
              <a:ext cx="3649980" cy="1642110"/>
            </a:xfrm>
            <a:prstGeom prst="rect">
              <a:avLst/>
            </a:prstGeom>
            <a:solidFill>
              <a:srgbClr val="F7F7F7">
                <a:alpha val="100000"/>
              </a:srgbClr>
            </a:solidFill>
            <a:ln w="12700">
              <a:solidFill>
                <a:srgbClr val="DDDDDD">
                  <a:alpha val="100000"/>
                </a:srgbClr>
              </a:solidFill>
              <a:prstDash val="solid"/>
            </a:ln>
          </p:spPr>
          <p:txBody>
            <a:bodyPr wrap="square" lIns="91440" tIns="45720" rIns="91440" bIns="45720" rtlCol="0" anchor="t">
              <a:noAutofit/>
            </a:bodyPr>
            <a:lstStyle/>
            <a:p>
              <a:pPr algn="ctr">
                <a:defRPr/>
              </a:pPr>
            </a:p>
          </p:txBody>
        </p:sp>
        <p:sp>
          <p:nvSpPr>
            <p:cNvPr id="8" name="AutoShape 8"/>
            <p:cNvSpPr/>
            <p:nvPr/>
          </p:nvSpPr>
          <p:spPr>
            <a:xfrm>
              <a:off x="521335" y="4535170"/>
              <a:ext cx="3649980" cy="457200"/>
            </a:xfrm>
            <a:prstGeom prst="rect">
              <a:avLst/>
            </a:prstGeom>
            <a:solidFill>
              <a:srgbClr val="8B0012">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9" name="AutoShape 9"/>
            <p:cNvSpPr/>
            <p:nvPr/>
          </p:nvSpPr>
          <p:spPr>
            <a:xfrm>
              <a:off x="646216" y="4572000"/>
              <a:ext cx="3471932" cy="38417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400" b="1" i="0" u="none" strike="noStrike">
                  <a:solidFill>
                    <a:srgbClr val="FFFFFF"/>
                  </a:solidFill>
                  <a:latin typeface="Calibri" panose="020F0502020204030204"/>
                  <a:ea typeface="Calibri" panose="020F0502020204030204"/>
                  <a:cs typeface="Calibri" panose="020F0502020204030204"/>
                  <a:sym typeface="Calibri" panose="020F0502020204030204"/>
                </a:rPr>
                <a:t>Memory Wall</a:t>
              </a:r>
              <a:endParaRPr lang="en-US" sz="1100"/>
            </a:p>
          </p:txBody>
        </p:sp>
        <p:sp>
          <p:nvSpPr>
            <p:cNvPr id="10" name="AutoShape 10"/>
            <p:cNvSpPr/>
            <p:nvPr/>
          </p:nvSpPr>
          <p:spPr>
            <a:xfrm>
              <a:off x="646216" y="5083810"/>
              <a:ext cx="3471932" cy="65849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400" b="1" i="0" u="none" strike="noStrike">
                  <a:solidFill>
                    <a:srgbClr val="8B0012"/>
                  </a:solidFill>
                  <a:latin typeface="Calibri Light" panose="020F0302020204030204"/>
                  <a:ea typeface="Calibri Light" panose="020F0302020204030204"/>
                  <a:cs typeface="Calibri Light" panose="020F0302020204030204"/>
                  <a:sym typeface="Calibri Light" panose="020F0302020204030204"/>
                </a:rPr>
                <a:t>~2% / yr</a:t>
              </a:r>
              <a:endParaRPr lang="en-US" sz="1100"/>
            </a:p>
          </p:txBody>
        </p:sp>
        <p:sp>
          <p:nvSpPr>
            <p:cNvPr id="11" name="AutoShape 11"/>
            <p:cNvSpPr/>
            <p:nvPr/>
          </p:nvSpPr>
          <p:spPr>
            <a:xfrm>
              <a:off x="646216" y="5723890"/>
              <a:ext cx="3471932" cy="25590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800" b="0" i="1" u="none" strike="noStrike">
                  <a:solidFill>
                    <a:srgbClr val="000000"/>
                  </a:solidFill>
                  <a:latin typeface="Calibri" panose="020F0502020204030204"/>
                  <a:ea typeface="Calibri" panose="020F0502020204030204"/>
                  <a:cs typeface="Calibri" panose="020F0502020204030204"/>
                  <a:sym typeface="Calibri" panose="020F0502020204030204"/>
                </a:rPr>
                <a:t>DRAM bandwidth annual growth</a:t>
              </a:r>
              <a:endParaRPr lang="en-US" sz="1100"/>
            </a:p>
          </p:txBody>
        </p:sp>
        <p:sp>
          <p:nvSpPr>
            <p:cNvPr id="12" name="AutoShape 12"/>
            <p:cNvSpPr/>
            <p:nvPr/>
          </p:nvSpPr>
          <p:spPr>
            <a:xfrm>
              <a:off x="646216" y="6016625"/>
              <a:ext cx="3382908" cy="13970"/>
            </a:xfrm>
            <a:prstGeom prst="rect">
              <a:avLst/>
            </a:prstGeom>
            <a:solidFill>
              <a:srgbClr val="DDDDDD">
                <a:alpha val="100000"/>
              </a:srgbClr>
            </a:solidFill>
            <a:ln w="12700">
              <a:solidFill>
                <a:srgbClr val="DDDDDD">
                  <a:alpha val="100000"/>
                </a:srgbClr>
              </a:solidFill>
              <a:prstDash val="solid"/>
            </a:ln>
          </p:spPr>
          <p:txBody>
            <a:bodyPr wrap="square" lIns="91440" tIns="45720" rIns="91440" bIns="45720" rtlCol="0" anchor="t">
              <a:noAutofit/>
            </a:bodyPr>
            <a:lstStyle/>
            <a:p>
              <a:pPr algn="ctr">
                <a:defRPr/>
              </a:pPr>
            </a:p>
          </p:txBody>
        </p:sp>
      </p:grpSp>
      <p:grpSp>
        <p:nvGrpSpPr>
          <p:cNvPr id="13" name="Group 13"/>
          <p:cNvGrpSpPr/>
          <p:nvPr/>
        </p:nvGrpSpPr>
        <p:grpSpPr>
          <a:xfrm>
            <a:off x="4263390" y="4535170"/>
            <a:ext cx="3649980" cy="1679575"/>
            <a:chOff x="4263390" y="4535170"/>
            <a:chExt cx="3649980" cy="1679575"/>
          </a:xfrm>
        </p:grpSpPr>
        <p:sp>
          <p:nvSpPr>
            <p:cNvPr id="14" name="AutoShape 14"/>
            <p:cNvSpPr/>
            <p:nvPr/>
          </p:nvSpPr>
          <p:spPr>
            <a:xfrm>
              <a:off x="4263390" y="4535170"/>
              <a:ext cx="3649980" cy="1679575"/>
            </a:xfrm>
            <a:prstGeom prst="rect">
              <a:avLst/>
            </a:prstGeom>
            <a:solidFill>
              <a:srgbClr val="F7F7F7">
                <a:alpha val="100000"/>
              </a:srgbClr>
            </a:solidFill>
            <a:ln w="12700">
              <a:solidFill>
                <a:srgbClr val="DDDDDD">
                  <a:alpha val="100000"/>
                </a:srgbClr>
              </a:solidFill>
              <a:prstDash val="solid"/>
            </a:ln>
          </p:spPr>
          <p:txBody>
            <a:bodyPr wrap="square" lIns="91440" tIns="45720" rIns="91440" bIns="45720" rtlCol="0" anchor="t">
              <a:noAutofit/>
            </a:bodyPr>
            <a:lstStyle/>
            <a:p>
              <a:pPr algn="ctr">
                <a:defRPr/>
              </a:pPr>
            </a:p>
          </p:txBody>
        </p:sp>
        <p:sp>
          <p:nvSpPr>
            <p:cNvPr id="15" name="AutoShape 15"/>
            <p:cNvSpPr/>
            <p:nvPr/>
          </p:nvSpPr>
          <p:spPr>
            <a:xfrm>
              <a:off x="4263390" y="4535170"/>
              <a:ext cx="3649980" cy="467631"/>
            </a:xfrm>
            <a:prstGeom prst="rect">
              <a:avLst/>
            </a:prstGeom>
            <a:solidFill>
              <a:srgbClr val="8B0012">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16" name="AutoShape 16"/>
            <p:cNvSpPr/>
            <p:nvPr/>
          </p:nvSpPr>
          <p:spPr>
            <a:xfrm>
              <a:off x="4388271" y="4572840"/>
              <a:ext cx="3471932" cy="39294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400" b="1" i="0" u="none" strike="noStrike">
                  <a:solidFill>
                    <a:srgbClr val="FFFFFF"/>
                  </a:solidFill>
                  <a:latin typeface="Calibri" panose="020F0502020204030204"/>
                  <a:ea typeface="Calibri" panose="020F0502020204030204"/>
                  <a:cs typeface="Calibri" panose="020F0502020204030204"/>
                  <a:sym typeface="Calibri" panose="020F0502020204030204"/>
                </a:rPr>
                <a:t>Power Wall</a:t>
              </a:r>
              <a:endParaRPr lang="en-US" sz="1100"/>
            </a:p>
          </p:txBody>
        </p:sp>
        <p:sp>
          <p:nvSpPr>
            <p:cNvPr id="17" name="AutoShape 17"/>
            <p:cNvSpPr/>
            <p:nvPr/>
          </p:nvSpPr>
          <p:spPr>
            <a:xfrm>
              <a:off x="4388271" y="5096327"/>
              <a:ext cx="3471932" cy="673519"/>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400" b="1" i="0" u="none" strike="noStrike">
                  <a:solidFill>
                    <a:srgbClr val="8B0012"/>
                  </a:solidFill>
                  <a:latin typeface="Calibri Light" panose="020F0302020204030204"/>
                  <a:ea typeface="Calibri Light" panose="020F0302020204030204"/>
                  <a:cs typeface="Calibri Light" panose="020F0302020204030204"/>
                  <a:sym typeface="Calibri Light" panose="020F0302020204030204"/>
                </a:rPr>
                <a:t>700 W+</a:t>
              </a:r>
              <a:endParaRPr lang="en-US" sz="1100"/>
            </a:p>
          </p:txBody>
        </p:sp>
        <p:sp>
          <p:nvSpPr>
            <p:cNvPr id="18" name="AutoShape 18"/>
            <p:cNvSpPr/>
            <p:nvPr/>
          </p:nvSpPr>
          <p:spPr>
            <a:xfrm>
              <a:off x="4388271" y="5751011"/>
              <a:ext cx="3471932" cy="26174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800" b="0" i="1" u="none" strike="noStrike">
                  <a:solidFill>
                    <a:srgbClr val="000000"/>
                  </a:solidFill>
                  <a:latin typeface="Calibri" panose="020F0502020204030204"/>
                  <a:ea typeface="Calibri" panose="020F0502020204030204"/>
                  <a:cs typeface="Calibri" panose="020F0502020204030204"/>
                  <a:sym typeface="Calibri" panose="020F0502020204030204"/>
                </a:rPr>
                <a:t>H100 SXM single-card TDP</a:t>
              </a:r>
              <a:endParaRPr lang="en-US" sz="1100"/>
            </a:p>
          </p:txBody>
        </p:sp>
        <p:sp>
          <p:nvSpPr>
            <p:cNvPr id="19" name="AutoShape 19"/>
            <p:cNvSpPr/>
            <p:nvPr/>
          </p:nvSpPr>
          <p:spPr>
            <a:xfrm>
              <a:off x="4388271" y="6050425"/>
              <a:ext cx="3382908" cy="14289"/>
            </a:xfrm>
            <a:prstGeom prst="rect">
              <a:avLst/>
            </a:prstGeom>
            <a:solidFill>
              <a:srgbClr val="DDDDDD">
                <a:alpha val="100000"/>
              </a:srgbClr>
            </a:solidFill>
            <a:ln w="12700">
              <a:solidFill>
                <a:srgbClr val="DDDDDD">
                  <a:alpha val="100000"/>
                </a:srgbClr>
              </a:solidFill>
              <a:prstDash val="solid"/>
            </a:ln>
          </p:spPr>
          <p:txBody>
            <a:bodyPr wrap="square" lIns="91440" tIns="45720" rIns="91440" bIns="45720" rtlCol="0" anchor="t">
              <a:noAutofit/>
            </a:bodyPr>
            <a:lstStyle/>
            <a:p>
              <a:pPr algn="ctr">
                <a:defRPr/>
              </a:pPr>
            </a:p>
          </p:txBody>
        </p:sp>
      </p:grpSp>
      <p:grpSp>
        <p:nvGrpSpPr>
          <p:cNvPr id="20" name="Group 20"/>
          <p:cNvGrpSpPr/>
          <p:nvPr/>
        </p:nvGrpSpPr>
        <p:grpSpPr>
          <a:xfrm>
            <a:off x="7988300" y="4535170"/>
            <a:ext cx="3649980" cy="1679575"/>
            <a:chOff x="7988300" y="4535170"/>
            <a:chExt cx="3649980" cy="1679575"/>
          </a:xfrm>
        </p:grpSpPr>
        <p:sp>
          <p:nvSpPr>
            <p:cNvPr id="21" name="AutoShape 21"/>
            <p:cNvSpPr/>
            <p:nvPr/>
          </p:nvSpPr>
          <p:spPr>
            <a:xfrm>
              <a:off x="7988300" y="4535170"/>
              <a:ext cx="3649980" cy="1679575"/>
            </a:xfrm>
            <a:prstGeom prst="rect">
              <a:avLst/>
            </a:prstGeom>
            <a:solidFill>
              <a:srgbClr val="F7F7F7">
                <a:alpha val="100000"/>
              </a:srgbClr>
            </a:solidFill>
            <a:ln w="12700">
              <a:solidFill>
                <a:srgbClr val="DDDDDD">
                  <a:alpha val="100000"/>
                </a:srgbClr>
              </a:solidFill>
              <a:prstDash val="solid"/>
            </a:ln>
          </p:spPr>
          <p:txBody>
            <a:bodyPr wrap="square" lIns="91440" tIns="45720" rIns="91440" bIns="45720" rtlCol="0" anchor="t">
              <a:noAutofit/>
            </a:bodyPr>
            <a:lstStyle/>
            <a:p>
              <a:pPr algn="ctr">
                <a:defRPr/>
              </a:pPr>
            </a:p>
          </p:txBody>
        </p:sp>
        <p:sp>
          <p:nvSpPr>
            <p:cNvPr id="22" name="AutoShape 22"/>
            <p:cNvSpPr/>
            <p:nvPr/>
          </p:nvSpPr>
          <p:spPr>
            <a:xfrm>
              <a:off x="7988300" y="4535170"/>
              <a:ext cx="3649980" cy="467631"/>
            </a:xfrm>
            <a:prstGeom prst="rect">
              <a:avLst/>
            </a:prstGeom>
            <a:solidFill>
              <a:srgbClr val="8B0012">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23" name="AutoShape 23"/>
            <p:cNvSpPr/>
            <p:nvPr/>
          </p:nvSpPr>
          <p:spPr>
            <a:xfrm>
              <a:off x="8113181" y="4572840"/>
              <a:ext cx="3471932" cy="39294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2400" b="1" i="0" u="none" strike="noStrike">
                  <a:solidFill>
                    <a:srgbClr val="FFFFFF"/>
                  </a:solidFill>
                  <a:latin typeface="Calibri" panose="020F0502020204030204"/>
                  <a:ea typeface="Calibri" panose="020F0502020204030204"/>
                  <a:cs typeface="Calibri" panose="020F0502020204030204"/>
                  <a:sym typeface="Calibri" panose="020F0502020204030204"/>
                </a:rPr>
                <a:t>Interconnect Wall</a:t>
              </a:r>
              <a:endParaRPr lang="en-US" sz="1100"/>
            </a:p>
          </p:txBody>
        </p:sp>
        <p:sp>
          <p:nvSpPr>
            <p:cNvPr id="24" name="AutoShape 24"/>
            <p:cNvSpPr/>
            <p:nvPr/>
          </p:nvSpPr>
          <p:spPr>
            <a:xfrm>
              <a:off x="8113181" y="5096327"/>
              <a:ext cx="3471932" cy="673519"/>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3400" b="1" i="0" u="none" strike="noStrike">
                  <a:solidFill>
                    <a:srgbClr val="8B0012"/>
                  </a:solidFill>
                  <a:latin typeface="Calibri Light" panose="020F0302020204030204"/>
                  <a:ea typeface="Calibri Light" panose="020F0302020204030204"/>
                  <a:cs typeface="Calibri Light" panose="020F0302020204030204"/>
                  <a:sym typeface="Calibri Light" panose="020F0302020204030204"/>
                </a:rPr>
                <a:t>400 GB/s</a:t>
              </a:r>
              <a:endParaRPr lang="en-US" sz="1100"/>
            </a:p>
          </p:txBody>
        </p:sp>
        <p:sp>
          <p:nvSpPr>
            <p:cNvPr id="25" name="AutoShape 25"/>
            <p:cNvSpPr/>
            <p:nvPr/>
          </p:nvSpPr>
          <p:spPr>
            <a:xfrm>
              <a:off x="8113181" y="5751011"/>
              <a:ext cx="3471932" cy="261744"/>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800" b="0" i="1" u="none" strike="noStrike">
                  <a:solidFill>
                    <a:srgbClr val="000000"/>
                  </a:solidFill>
                  <a:latin typeface="Calibri" panose="020F0502020204030204"/>
                  <a:ea typeface="Calibri" panose="020F0502020204030204"/>
                  <a:cs typeface="Calibri" panose="020F0502020204030204"/>
                  <a:sym typeface="Calibri" panose="020F0502020204030204"/>
                </a:rPr>
                <a:t>PCIe 5.0 peak bandwidth</a:t>
              </a:r>
              <a:endParaRPr lang="en-US" sz="1100"/>
            </a:p>
          </p:txBody>
        </p:sp>
        <p:sp>
          <p:nvSpPr>
            <p:cNvPr id="26" name="AutoShape 26"/>
            <p:cNvSpPr/>
            <p:nvPr/>
          </p:nvSpPr>
          <p:spPr>
            <a:xfrm>
              <a:off x="8113181" y="6050425"/>
              <a:ext cx="3382908" cy="14289"/>
            </a:xfrm>
            <a:prstGeom prst="rect">
              <a:avLst/>
            </a:prstGeom>
            <a:solidFill>
              <a:srgbClr val="DDDDDD">
                <a:alpha val="100000"/>
              </a:srgbClr>
            </a:solidFill>
            <a:ln w="12700">
              <a:solidFill>
                <a:srgbClr val="DDDDDD">
                  <a:alpha val="100000"/>
                </a:srgbClr>
              </a:solidFill>
              <a:prstDash val="solid"/>
            </a:ln>
          </p:spPr>
          <p:txBody>
            <a:bodyPr wrap="square" lIns="91440" tIns="45720" rIns="91440" bIns="45720" rtlCol="0" anchor="t">
              <a:noAutofit/>
            </a:bodyPr>
            <a:lstStyle/>
            <a:p>
              <a:pPr algn="ctr">
                <a:defRPr/>
              </a:pPr>
            </a:p>
          </p:txBody>
        </p:sp>
      </p:grpSp>
      <p:pic>
        <p:nvPicPr>
          <p:cNvPr id="27" name="Picture 27"/>
          <p:cNvPicPr>
            <a:picLocks noChangeAspect="1"/>
          </p:cNvPicPr>
          <p:nvPr/>
        </p:nvPicPr>
        <p:blipFill>
          <a:blip r:embed="rId1"/>
          <a:srcRect/>
          <a:stretch>
            <a:fillRect/>
          </a:stretch>
        </p:blipFill>
        <p:spPr>
          <a:xfrm>
            <a:off x="6985635" y="1929130"/>
            <a:ext cx="4652645" cy="245237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Emerging Architectures I</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0000"/>
              </a:lnSpc>
              <a:defRPr sz="1800" b="0" i="0" u="none" strike="noStrike" spc="0">
                <a:solidFill>
                  <a:srgbClr val="404040">
                    <a:alpha val="100000"/>
                  </a:srgbClr>
                </a:solidFill>
                <a:latin typeface="Calibri" panose="020F0502020204030204"/>
              </a:defRPr>
            </a:lvl1pPr>
          </a:lstStyle>
          <a:p>
            <a:pPr marL="228600" indent="-2286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In-Memory Computing (d-Matrix Corsair)</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Core idea:</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embed logic inside SRAM, eliminating data movement entirely.</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FlagOS SW Challenge:</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Compiler must understand In-Memory execution; FlagTree needs a DIMC backend.</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indent="0" algn="l">
              <a:lnSpc>
                <a:spcPct val="100000"/>
              </a:lnSpc>
              <a:spcBef>
                <a:spcPts val="1500"/>
              </a:spcBef>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6" name="AutoShape 6"/>
          <p:cNvSpPr/>
          <p:nvPr>
            <p:ph type="body" sz="quarter" idx="14" hasCustomPrompt="1"/>
          </p:nvPr>
        </p:nvSpPr>
        <p:spPr>
          <a:prstGeom prst="rect">
            <a:avLst/>
          </a:prstGeom>
        </p:spPr>
        <p:txBody>
          <a:bodyPr wrap="square" lIns="91440" tIns="45720" rIns="91440" bIns="45720" anchor="t">
            <a:noAutofit/>
          </a:bodyPr>
          <a:lstStyle>
            <a:lvl1pPr algn="l">
              <a:lnSpc>
                <a:spcPct val="100000"/>
              </a:lnSpc>
              <a:defRPr sz="1800" b="0" i="0" u="none" strike="noStrike" spc="0">
                <a:solidFill>
                  <a:srgbClr val="404040">
                    <a:alpha val="100000"/>
                  </a:srgbClr>
                </a:solidFill>
                <a:latin typeface="Calibri" panose="020F0502020204030204"/>
              </a:defRPr>
            </a:lvl1pPr>
          </a:lstStyle>
          <a:p>
            <a:pPr marL="228600" indent="-228600" algn="l">
              <a:lnSpc>
                <a:spcPct val="100000"/>
              </a:lnSpc>
              <a:spcBef>
                <a:spcPts val="1500"/>
              </a:spcBef>
              <a:buClr>
                <a:srgbClr val="404040"/>
              </a:buClr>
              <a:buChar char="•"/>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Wafer-Scale Integration (Cerebras WSE-3)</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Core idea:</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entire wafer = one processor; on-chip SRAM holds the full model.</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46100" lvl="1" indent="-203200" algn="l">
              <a:lnSpc>
                <a:spcPct val="100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FlagOS SW Challenge:</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No DRAM paging; runtime must be wafer-topology-aware; FlagGems needs on-chip mapping.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42900" lvl="1" indent="0" algn="l">
              <a:lnSpc>
                <a:spcPct val="100000"/>
              </a:lnSpc>
              <a:spcBef>
                <a:spcPts val="750"/>
              </a:spcBef>
            </a:pPr>
          </a:p>
          <a:p>
            <a:pPr indent="0" algn="l">
              <a:lnSpc>
                <a:spcPct val="100000"/>
              </a:lnSpc>
              <a:spcBef>
                <a:spcPts val="1500"/>
              </a:spcBef>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 </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grpSp>
        <p:nvGrpSpPr>
          <p:cNvPr id="7" name="Group 7"/>
          <p:cNvGrpSpPr/>
          <p:nvPr/>
        </p:nvGrpSpPr>
        <p:grpSpPr>
          <a:xfrm>
            <a:off x="500380" y="3235325"/>
            <a:ext cx="4723130" cy="2753995"/>
            <a:chOff x="500380" y="3235325"/>
            <a:chExt cx="4723130" cy="2753995"/>
          </a:xfrm>
        </p:grpSpPr>
        <p:sp>
          <p:nvSpPr>
            <p:cNvPr id="8" name="AutoShape 8"/>
            <p:cNvSpPr/>
            <p:nvPr/>
          </p:nvSpPr>
          <p:spPr>
            <a:xfrm>
              <a:off x="500380" y="3235325"/>
              <a:ext cx="1048385" cy="454025"/>
            </a:xfrm>
            <a:prstGeom prst="rect">
              <a:avLst/>
            </a:prstGeom>
            <a:solidFill>
              <a:srgbClr val="F9ECEE">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9" name="AutoShape 9"/>
            <p:cNvSpPr/>
            <p:nvPr/>
          </p:nvSpPr>
          <p:spPr>
            <a:xfrm>
              <a:off x="500380" y="3295650"/>
              <a:ext cx="1048385" cy="33274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8B0012"/>
                  </a:solidFill>
                  <a:latin typeface="Calibri" panose="020F0502020204030204"/>
                  <a:ea typeface="Calibri" panose="020F0502020204030204"/>
                  <a:cs typeface="Calibri" panose="020F0502020204030204"/>
                  <a:sym typeface="Calibri" panose="020F0502020204030204"/>
                </a:rPr>
                <a:t>Efficiency</a:t>
              </a:r>
              <a:endParaRPr lang="en-US" sz="1100"/>
            </a:p>
          </p:txBody>
        </p:sp>
        <p:sp>
          <p:nvSpPr>
            <p:cNvPr id="10" name="AutoShape 10"/>
            <p:cNvSpPr/>
            <p:nvPr/>
          </p:nvSpPr>
          <p:spPr>
            <a:xfrm>
              <a:off x="1638935" y="3310890"/>
              <a:ext cx="1428115" cy="3175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38 TOPS/W</a:t>
              </a:r>
              <a:endParaRPr lang="en-US" sz="1100"/>
            </a:p>
          </p:txBody>
        </p:sp>
        <p:sp>
          <p:nvSpPr>
            <p:cNvPr id="11" name="AutoShape 11"/>
            <p:cNvSpPr/>
            <p:nvPr/>
          </p:nvSpPr>
          <p:spPr>
            <a:xfrm>
              <a:off x="2584450" y="3326130"/>
              <a:ext cx="2639060"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vs. H100 ~2.8 TOPS/W  (~13x)</a:t>
              </a:r>
              <a:endParaRPr lang="en-US" sz="1100"/>
            </a:p>
          </p:txBody>
        </p:sp>
        <p:sp>
          <p:nvSpPr>
            <p:cNvPr id="12" name="AutoShape 12"/>
            <p:cNvSpPr/>
            <p:nvPr/>
          </p:nvSpPr>
          <p:spPr>
            <a:xfrm>
              <a:off x="500380" y="3810000"/>
              <a:ext cx="1048385" cy="454025"/>
            </a:xfrm>
            <a:prstGeom prst="rect">
              <a:avLst/>
            </a:prstGeom>
            <a:solidFill>
              <a:srgbClr val="F9ECEE">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13" name="AutoShape 13"/>
            <p:cNvSpPr/>
            <p:nvPr/>
          </p:nvSpPr>
          <p:spPr>
            <a:xfrm>
              <a:off x="500380" y="3870960"/>
              <a:ext cx="1048385" cy="33274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8B0012"/>
                  </a:solidFill>
                  <a:latin typeface="Calibri" panose="020F0502020204030204"/>
                  <a:ea typeface="Calibri" panose="020F0502020204030204"/>
                  <a:cs typeface="Calibri" panose="020F0502020204030204"/>
                  <a:sym typeface="Calibri" panose="020F0502020204030204"/>
                </a:rPr>
                <a:t>Precision</a:t>
              </a:r>
              <a:endParaRPr lang="en-US" sz="1100"/>
            </a:p>
          </p:txBody>
        </p:sp>
        <p:sp>
          <p:nvSpPr>
            <p:cNvPr id="14" name="AutoShape 14"/>
            <p:cNvSpPr/>
            <p:nvPr/>
          </p:nvSpPr>
          <p:spPr>
            <a:xfrm>
              <a:off x="1638935" y="3885565"/>
              <a:ext cx="1428115" cy="3175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MXINT8 / 4</a:t>
              </a:r>
              <a:endParaRPr lang="en-US" sz="1100"/>
            </a:p>
          </p:txBody>
        </p:sp>
        <p:sp>
          <p:nvSpPr>
            <p:cNvPr id="15" name="AutoShape 15"/>
            <p:cNvSpPr/>
            <p:nvPr/>
          </p:nvSpPr>
          <p:spPr>
            <a:xfrm>
              <a:off x="2584450" y="3900805"/>
              <a:ext cx="2639060"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Block floating-point, configurable</a:t>
              </a:r>
              <a:endParaRPr lang="en-US" sz="1100"/>
            </a:p>
          </p:txBody>
        </p:sp>
        <p:sp>
          <p:nvSpPr>
            <p:cNvPr id="16" name="AutoShape 16"/>
            <p:cNvSpPr/>
            <p:nvPr/>
          </p:nvSpPr>
          <p:spPr>
            <a:xfrm>
              <a:off x="500380" y="4385310"/>
              <a:ext cx="1048385" cy="454025"/>
            </a:xfrm>
            <a:prstGeom prst="rect">
              <a:avLst/>
            </a:prstGeom>
            <a:solidFill>
              <a:srgbClr val="F9ECEE">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17" name="AutoShape 17"/>
            <p:cNvSpPr/>
            <p:nvPr/>
          </p:nvSpPr>
          <p:spPr>
            <a:xfrm>
              <a:off x="500380" y="4445635"/>
              <a:ext cx="1048385" cy="33274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8B0012"/>
                  </a:solidFill>
                  <a:latin typeface="Calibri" panose="020F0502020204030204"/>
                  <a:ea typeface="Calibri" panose="020F0502020204030204"/>
                  <a:cs typeface="Calibri" panose="020F0502020204030204"/>
                  <a:sym typeface="Calibri" panose="020F0502020204030204"/>
                </a:rPr>
                <a:t>Bandwidth</a:t>
              </a:r>
              <a:endParaRPr lang="en-US" sz="1100"/>
            </a:p>
          </p:txBody>
        </p:sp>
        <p:sp>
          <p:nvSpPr>
            <p:cNvPr id="18" name="AutoShape 18"/>
            <p:cNvSpPr/>
            <p:nvPr/>
          </p:nvSpPr>
          <p:spPr>
            <a:xfrm>
              <a:off x="1638935" y="4460875"/>
              <a:ext cx="1428115" cy="3175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150 TB/s</a:t>
              </a:r>
              <a:endParaRPr lang="en-US" sz="1100"/>
            </a:p>
          </p:txBody>
        </p:sp>
        <p:sp>
          <p:nvSpPr>
            <p:cNvPr id="19" name="AutoShape 19"/>
            <p:cNvSpPr/>
            <p:nvPr/>
          </p:nvSpPr>
          <p:spPr>
            <a:xfrm>
              <a:off x="2584450" y="4476115"/>
              <a:ext cx="2639060"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Aggregate; 6 MB SRAM per slice</a:t>
              </a:r>
              <a:endParaRPr lang="en-US" sz="1100"/>
            </a:p>
          </p:txBody>
        </p:sp>
        <p:sp>
          <p:nvSpPr>
            <p:cNvPr id="20" name="AutoShape 20"/>
            <p:cNvSpPr/>
            <p:nvPr/>
          </p:nvSpPr>
          <p:spPr>
            <a:xfrm>
              <a:off x="500380" y="4960620"/>
              <a:ext cx="1048385" cy="454025"/>
            </a:xfrm>
            <a:prstGeom prst="rect">
              <a:avLst/>
            </a:prstGeom>
            <a:solidFill>
              <a:srgbClr val="F9ECEE">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21" name="AutoShape 21"/>
            <p:cNvSpPr/>
            <p:nvPr/>
          </p:nvSpPr>
          <p:spPr>
            <a:xfrm>
              <a:off x="500380" y="5020945"/>
              <a:ext cx="1048385" cy="33274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8B0012"/>
                  </a:solidFill>
                  <a:latin typeface="Calibri" panose="020F0502020204030204"/>
                  <a:ea typeface="Calibri" panose="020F0502020204030204"/>
                  <a:cs typeface="Calibri" panose="020F0502020204030204"/>
                  <a:sym typeface="Calibri" panose="020F0502020204030204"/>
                </a:rPr>
                <a:t>Scale-Out</a:t>
              </a:r>
              <a:endParaRPr lang="en-US" sz="1100"/>
            </a:p>
          </p:txBody>
        </p:sp>
        <p:sp>
          <p:nvSpPr>
            <p:cNvPr id="22" name="AutoShape 22"/>
            <p:cNvSpPr/>
            <p:nvPr/>
          </p:nvSpPr>
          <p:spPr>
            <a:xfrm>
              <a:off x="1638935" y="5036185"/>
              <a:ext cx="1428115" cy="3175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Transparent</a:t>
              </a:r>
              <a:endParaRPr lang="en-US" sz="1100"/>
            </a:p>
          </p:txBody>
        </p:sp>
        <p:sp>
          <p:nvSpPr>
            <p:cNvPr id="23" name="AutoShape 23"/>
            <p:cNvSpPr/>
            <p:nvPr/>
          </p:nvSpPr>
          <p:spPr>
            <a:xfrm>
              <a:off x="2584450" y="5051425"/>
              <a:ext cx="2639060"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No RDMA; bypasses host stack</a:t>
              </a:r>
              <a:endParaRPr lang="en-US" sz="1100"/>
            </a:p>
          </p:txBody>
        </p:sp>
        <p:sp>
          <p:nvSpPr>
            <p:cNvPr id="24" name="AutoShape 24"/>
            <p:cNvSpPr/>
            <p:nvPr/>
          </p:nvSpPr>
          <p:spPr>
            <a:xfrm>
              <a:off x="500380" y="5535295"/>
              <a:ext cx="1048385" cy="454025"/>
            </a:xfrm>
            <a:prstGeom prst="rect">
              <a:avLst/>
            </a:prstGeom>
            <a:solidFill>
              <a:srgbClr val="F9ECEE">
                <a:alpha val="100000"/>
              </a:srgbClr>
            </a:solidFill>
            <a:ln w="12700">
              <a:solidFill>
                <a:srgbClr val="8B0012">
                  <a:alpha val="100000"/>
                </a:srgbClr>
              </a:solidFill>
              <a:prstDash val="solid"/>
            </a:ln>
          </p:spPr>
          <p:txBody>
            <a:bodyPr wrap="square" lIns="91440" tIns="45720" rIns="91440" bIns="45720" rtlCol="0" anchor="t">
              <a:noAutofit/>
            </a:bodyPr>
            <a:lstStyle/>
            <a:p>
              <a:pPr algn="ctr">
                <a:defRPr/>
              </a:pPr>
            </a:p>
          </p:txBody>
        </p:sp>
        <p:sp>
          <p:nvSpPr>
            <p:cNvPr id="25" name="AutoShape 25"/>
            <p:cNvSpPr/>
            <p:nvPr/>
          </p:nvSpPr>
          <p:spPr>
            <a:xfrm>
              <a:off x="500380" y="5596255"/>
              <a:ext cx="1048385" cy="332740"/>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8B0012"/>
                  </a:solidFill>
                  <a:latin typeface="Calibri" panose="020F0502020204030204"/>
                  <a:ea typeface="Calibri" panose="020F0502020204030204"/>
                  <a:cs typeface="Calibri" panose="020F0502020204030204"/>
                  <a:sym typeface="Calibri" panose="020F0502020204030204"/>
                </a:rPr>
                <a:t>Runtime</a:t>
              </a:r>
              <a:endParaRPr lang="en-US" sz="1100"/>
            </a:p>
          </p:txBody>
        </p:sp>
        <p:sp>
          <p:nvSpPr>
            <p:cNvPr id="26" name="AutoShape 26"/>
            <p:cNvSpPr/>
            <p:nvPr/>
          </p:nvSpPr>
          <p:spPr>
            <a:xfrm>
              <a:off x="1638935" y="5610860"/>
              <a:ext cx="1428115" cy="317500"/>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RISC-V</a:t>
              </a:r>
              <a:endParaRPr lang="en-US" sz="1100"/>
            </a:p>
          </p:txBody>
        </p:sp>
        <p:sp>
          <p:nvSpPr>
            <p:cNvPr id="27" name="AutoShape 27"/>
            <p:cNvSpPr/>
            <p:nvPr/>
          </p:nvSpPr>
          <p:spPr>
            <a:xfrm>
              <a:off x="2584450" y="5626100"/>
              <a:ext cx="2639060"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Host-Free; removes CPU scheduling bottleneck</a:t>
              </a:r>
              <a:endParaRPr lang="en-US" sz="1100"/>
            </a:p>
          </p:txBody>
        </p:sp>
      </p:grpSp>
      <p:grpSp>
        <p:nvGrpSpPr>
          <p:cNvPr id="28" name="Group 28"/>
          <p:cNvGrpSpPr/>
          <p:nvPr/>
        </p:nvGrpSpPr>
        <p:grpSpPr>
          <a:xfrm>
            <a:off x="5078730" y="3232150"/>
            <a:ext cx="4687570" cy="2755900"/>
            <a:chOff x="5078730" y="3232150"/>
            <a:chExt cx="4687570" cy="2755900"/>
          </a:xfrm>
        </p:grpSpPr>
        <p:sp>
          <p:nvSpPr>
            <p:cNvPr id="29" name="AutoShape 29"/>
            <p:cNvSpPr/>
            <p:nvPr/>
          </p:nvSpPr>
          <p:spPr>
            <a:xfrm>
              <a:off x="5078730" y="3232150"/>
              <a:ext cx="1060450" cy="454025"/>
            </a:xfrm>
            <a:prstGeom prst="rect">
              <a:avLst/>
            </a:prstGeom>
            <a:solidFill>
              <a:srgbClr val="F7F7F7">
                <a:alpha val="100000"/>
              </a:srgbClr>
            </a:solidFill>
            <a:ln w="12700">
              <a:solidFill>
                <a:srgbClr val="BBBBBB">
                  <a:alpha val="100000"/>
                </a:srgbClr>
              </a:solidFill>
              <a:prstDash val="solid"/>
            </a:ln>
          </p:spPr>
          <p:txBody>
            <a:bodyPr wrap="square" lIns="91440" tIns="45720" rIns="91440" bIns="45720" rtlCol="0" anchor="t">
              <a:noAutofit/>
            </a:bodyPr>
            <a:lstStyle/>
            <a:p>
              <a:pPr algn="ctr">
                <a:defRPr/>
              </a:pPr>
            </a:p>
          </p:txBody>
        </p:sp>
        <p:sp>
          <p:nvSpPr>
            <p:cNvPr id="30" name="AutoShape 30"/>
            <p:cNvSpPr/>
            <p:nvPr/>
          </p:nvSpPr>
          <p:spPr>
            <a:xfrm>
              <a:off x="5078730" y="3292475"/>
              <a:ext cx="1060450" cy="33337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444444"/>
                  </a:solidFill>
                  <a:latin typeface="Calibri" panose="020F0502020204030204"/>
                  <a:ea typeface="Calibri" panose="020F0502020204030204"/>
                  <a:cs typeface="Calibri" panose="020F0502020204030204"/>
                  <a:sym typeface="Calibri" panose="020F0502020204030204"/>
                </a:rPr>
                <a:t>Die Area</a:t>
              </a:r>
              <a:endParaRPr lang="en-US" sz="1100"/>
            </a:p>
          </p:txBody>
        </p:sp>
        <p:sp>
          <p:nvSpPr>
            <p:cNvPr id="31" name="AutoShape 31"/>
            <p:cNvSpPr/>
            <p:nvPr/>
          </p:nvSpPr>
          <p:spPr>
            <a:xfrm>
              <a:off x="6193790" y="3307715"/>
              <a:ext cx="1444625" cy="31813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46,225 mm²</a:t>
              </a:r>
              <a:endParaRPr lang="en-US" sz="1100"/>
            </a:p>
          </p:txBody>
        </p:sp>
        <p:sp>
          <p:nvSpPr>
            <p:cNvPr id="32" name="AutoShape 32"/>
            <p:cNvSpPr/>
            <p:nvPr/>
          </p:nvSpPr>
          <p:spPr>
            <a:xfrm>
              <a:off x="7096125" y="3322955"/>
              <a:ext cx="2670175"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57x vs. H100</a:t>
              </a:r>
              <a:endParaRPr lang="en-US" sz="1100"/>
            </a:p>
          </p:txBody>
        </p:sp>
        <p:sp>
          <p:nvSpPr>
            <p:cNvPr id="33" name="AutoShape 33"/>
            <p:cNvSpPr/>
            <p:nvPr/>
          </p:nvSpPr>
          <p:spPr>
            <a:xfrm>
              <a:off x="5078730" y="3807460"/>
              <a:ext cx="1060450" cy="454025"/>
            </a:xfrm>
            <a:prstGeom prst="rect">
              <a:avLst/>
            </a:prstGeom>
            <a:solidFill>
              <a:srgbClr val="F7F7F7">
                <a:alpha val="100000"/>
              </a:srgbClr>
            </a:solidFill>
            <a:ln w="12700">
              <a:solidFill>
                <a:srgbClr val="BBBBBB">
                  <a:alpha val="100000"/>
                </a:srgbClr>
              </a:solidFill>
              <a:prstDash val="solid"/>
            </a:ln>
          </p:spPr>
          <p:txBody>
            <a:bodyPr wrap="square" lIns="91440" tIns="45720" rIns="91440" bIns="45720" rtlCol="0" anchor="t">
              <a:noAutofit/>
            </a:bodyPr>
            <a:lstStyle/>
            <a:p>
              <a:pPr algn="ctr">
                <a:defRPr/>
              </a:pPr>
            </a:p>
          </p:txBody>
        </p:sp>
        <p:sp>
          <p:nvSpPr>
            <p:cNvPr id="34" name="AutoShape 34"/>
            <p:cNvSpPr/>
            <p:nvPr/>
          </p:nvSpPr>
          <p:spPr>
            <a:xfrm>
              <a:off x="5078730" y="3867785"/>
              <a:ext cx="1060450" cy="33337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444444"/>
                  </a:solidFill>
                  <a:latin typeface="Calibri" panose="020F0502020204030204"/>
                  <a:ea typeface="Calibri" panose="020F0502020204030204"/>
                  <a:cs typeface="Calibri" panose="020F0502020204030204"/>
                  <a:sym typeface="Calibri" panose="020F0502020204030204"/>
                </a:rPr>
                <a:t>AI Cores</a:t>
              </a:r>
              <a:endParaRPr lang="en-US" sz="1100"/>
            </a:p>
          </p:txBody>
        </p:sp>
        <p:sp>
          <p:nvSpPr>
            <p:cNvPr id="35" name="AutoShape 35"/>
            <p:cNvSpPr/>
            <p:nvPr/>
          </p:nvSpPr>
          <p:spPr>
            <a:xfrm>
              <a:off x="6193790" y="3883025"/>
              <a:ext cx="1444625" cy="31813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900,000</a:t>
              </a:r>
              <a:endParaRPr lang="en-US" sz="1100"/>
            </a:p>
          </p:txBody>
        </p:sp>
        <p:sp>
          <p:nvSpPr>
            <p:cNvPr id="36" name="AutoShape 36"/>
            <p:cNvSpPr/>
            <p:nvPr/>
          </p:nvSpPr>
          <p:spPr>
            <a:xfrm>
              <a:off x="7096125" y="3898265"/>
              <a:ext cx="2670175"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52x vs. H100</a:t>
              </a:r>
              <a:endParaRPr lang="en-US" sz="1100"/>
            </a:p>
          </p:txBody>
        </p:sp>
        <p:sp>
          <p:nvSpPr>
            <p:cNvPr id="37" name="AutoShape 37"/>
            <p:cNvSpPr/>
            <p:nvPr/>
          </p:nvSpPr>
          <p:spPr>
            <a:xfrm>
              <a:off x="5078730" y="4382770"/>
              <a:ext cx="1060450" cy="454025"/>
            </a:xfrm>
            <a:prstGeom prst="rect">
              <a:avLst/>
            </a:prstGeom>
            <a:solidFill>
              <a:srgbClr val="F7F7F7">
                <a:alpha val="100000"/>
              </a:srgbClr>
            </a:solidFill>
            <a:ln w="12700">
              <a:solidFill>
                <a:srgbClr val="BBBBBB">
                  <a:alpha val="100000"/>
                </a:srgbClr>
              </a:solidFill>
              <a:prstDash val="solid"/>
            </a:ln>
          </p:spPr>
          <p:txBody>
            <a:bodyPr wrap="square" lIns="91440" tIns="45720" rIns="91440" bIns="45720" rtlCol="0" anchor="t">
              <a:noAutofit/>
            </a:bodyPr>
            <a:lstStyle/>
            <a:p>
              <a:pPr algn="ctr">
                <a:defRPr/>
              </a:pPr>
            </a:p>
          </p:txBody>
        </p:sp>
        <p:sp>
          <p:nvSpPr>
            <p:cNvPr id="38" name="AutoShape 38"/>
            <p:cNvSpPr/>
            <p:nvPr/>
          </p:nvSpPr>
          <p:spPr>
            <a:xfrm>
              <a:off x="5078730" y="4443730"/>
              <a:ext cx="1060450" cy="33337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444444"/>
                  </a:solidFill>
                  <a:latin typeface="Calibri" panose="020F0502020204030204"/>
                  <a:ea typeface="Calibri" panose="020F0502020204030204"/>
                  <a:cs typeface="Calibri" panose="020F0502020204030204"/>
                  <a:sym typeface="Calibri" panose="020F0502020204030204"/>
                </a:rPr>
                <a:t>On-chip SRAM</a:t>
              </a:r>
              <a:endParaRPr lang="en-US" sz="1100"/>
            </a:p>
          </p:txBody>
        </p:sp>
        <p:sp>
          <p:nvSpPr>
            <p:cNvPr id="39" name="AutoShape 39"/>
            <p:cNvSpPr/>
            <p:nvPr/>
          </p:nvSpPr>
          <p:spPr>
            <a:xfrm>
              <a:off x="6193790" y="4458335"/>
              <a:ext cx="1444625" cy="31813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44 GB</a:t>
              </a:r>
              <a:endParaRPr lang="en-US" sz="1100"/>
            </a:p>
          </p:txBody>
        </p:sp>
        <p:sp>
          <p:nvSpPr>
            <p:cNvPr id="40" name="AutoShape 40"/>
            <p:cNvSpPr/>
            <p:nvPr/>
          </p:nvSpPr>
          <p:spPr>
            <a:xfrm>
              <a:off x="7096125" y="4473575"/>
              <a:ext cx="2670175"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880x vs. H100</a:t>
              </a:r>
              <a:endParaRPr lang="en-US" sz="1100"/>
            </a:p>
          </p:txBody>
        </p:sp>
        <p:sp>
          <p:nvSpPr>
            <p:cNvPr id="41" name="AutoShape 41"/>
            <p:cNvSpPr/>
            <p:nvPr/>
          </p:nvSpPr>
          <p:spPr>
            <a:xfrm>
              <a:off x="5078730" y="4958080"/>
              <a:ext cx="1060450" cy="454025"/>
            </a:xfrm>
            <a:prstGeom prst="rect">
              <a:avLst/>
            </a:prstGeom>
            <a:solidFill>
              <a:srgbClr val="F7F7F7">
                <a:alpha val="100000"/>
              </a:srgbClr>
            </a:solidFill>
            <a:ln w="12700">
              <a:solidFill>
                <a:srgbClr val="BBBBBB">
                  <a:alpha val="100000"/>
                </a:srgbClr>
              </a:solidFill>
              <a:prstDash val="solid"/>
            </a:ln>
          </p:spPr>
          <p:txBody>
            <a:bodyPr wrap="square" lIns="91440" tIns="45720" rIns="91440" bIns="45720" rtlCol="0" anchor="t">
              <a:noAutofit/>
            </a:bodyPr>
            <a:lstStyle/>
            <a:p>
              <a:pPr algn="ctr">
                <a:defRPr/>
              </a:pPr>
            </a:p>
          </p:txBody>
        </p:sp>
        <p:sp>
          <p:nvSpPr>
            <p:cNvPr id="42" name="AutoShape 42"/>
            <p:cNvSpPr/>
            <p:nvPr/>
          </p:nvSpPr>
          <p:spPr>
            <a:xfrm>
              <a:off x="5078730" y="5019040"/>
              <a:ext cx="1060450" cy="33337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444444"/>
                  </a:solidFill>
                  <a:latin typeface="Calibri" panose="020F0502020204030204"/>
                  <a:ea typeface="Calibri" panose="020F0502020204030204"/>
                  <a:cs typeface="Calibri" panose="020F0502020204030204"/>
                  <a:sym typeface="Calibri" panose="020F0502020204030204"/>
                </a:rPr>
                <a:t>Memory BW</a:t>
              </a:r>
              <a:endParaRPr lang="en-US" sz="1100"/>
            </a:p>
          </p:txBody>
        </p:sp>
        <p:sp>
          <p:nvSpPr>
            <p:cNvPr id="43" name="AutoShape 43"/>
            <p:cNvSpPr/>
            <p:nvPr/>
          </p:nvSpPr>
          <p:spPr>
            <a:xfrm>
              <a:off x="6193790" y="5034280"/>
              <a:ext cx="1444625" cy="31813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21 PB/s</a:t>
              </a:r>
              <a:endParaRPr lang="en-US" sz="1100"/>
            </a:p>
          </p:txBody>
        </p:sp>
        <p:sp>
          <p:nvSpPr>
            <p:cNvPr id="44" name="AutoShape 44"/>
            <p:cNvSpPr/>
            <p:nvPr/>
          </p:nvSpPr>
          <p:spPr>
            <a:xfrm>
              <a:off x="7096125" y="5049520"/>
              <a:ext cx="2670175"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7,000x vs. H100</a:t>
              </a:r>
              <a:endParaRPr lang="en-US" sz="1100"/>
            </a:p>
          </p:txBody>
        </p:sp>
        <p:sp>
          <p:nvSpPr>
            <p:cNvPr id="45" name="AutoShape 45"/>
            <p:cNvSpPr/>
            <p:nvPr/>
          </p:nvSpPr>
          <p:spPr>
            <a:xfrm>
              <a:off x="5078730" y="5534025"/>
              <a:ext cx="1060450" cy="454025"/>
            </a:xfrm>
            <a:prstGeom prst="rect">
              <a:avLst/>
            </a:prstGeom>
            <a:solidFill>
              <a:srgbClr val="F7F7F7">
                <a:alpha val="100000"/>
              </a:srgbClr>
            </a:solidFill>
            <a:ln w="12700">
              <a:solidFill>
                <a:srgbClr val="BBBBBB">
                  <a:alpha val="100000"/>
                </a:srgbClr>
              </a:solidFill>
              <a:prstDash val="solid"/>
            </a:ln>
          </p:spPr>
          <p:txBody>
            <a:bodyPr wrap="square" lIns="91440" tIns="45720" rIns="91440" bIns="45720" rtlCol="0" anchor="t">
              <a:noAutofit/>
            </a:bodyPr>
            <a:lstStyle/>
            <a:p>
              <a:pPr algn="ctr">
                <a:defRPr/>
              </a:pPr>
            </a:p>
          </p:txBody>
        </p:sp>
        <p:sp>
          <p:nvSpPr>
            <p:cNvPr id="46" name="AutoShape 46"/>
            <p:cNvSpPr/>
            <p:nvPr/>
          </p:nvSpPr>
          <p:spPr>
            <a:xfrm>
              <a:off x="5078730" y="5594350"/>
              <a:ext cx="1060450" cy="333375"/>
            </a:xfrm>
            <a:prstGeom prst="rect">
              <a:avLst/>
            </a:prstGeom>
            <a:noFill/>
            <a:ln w="12700">
              <a:noFill/>
              <a:prstDash val="solid"/>
            </a:ln>
          </p:spPr>
          <p:txBody>
            <a:bodyPr wrap="square" lIns="0" tIns="0" rIns="0" bIns="0" rtlCol="0" anchor="ctr">
              <a:noAutofit/>
            </a:bodyPr>
            <a:lstStyle/>
            <a:p>
              <a:pPr indent="0" algn="ctr">
                <a:lnSpc>
                  <a:spcPct val="100000"/>
                </a:lnSpc>
                <a:defRPr/>
              </a:pPr>
              <a:r>
                <a:rPr lang="en-US" sz="1100" b="1" i="0" u="none" strike="noStrike">
                  <a:solidFill>
                    <a:srgbClr val="444444"/>
                  </a:solidFill>
                  <a:latin typeface="Calibri" panose="020F0502020204030204"/>
                  <a:ea typeface="Calibri" panose="020F0502020204030204"/>
                  <a:cs typeface="Calibri" panose="020F0502020204030204"/>
                  <a:sym typeface="Calibri" panose="020F0502020204030204"/>
                </a:rPr>
                <a:t>Inference</a:t>
              </a:r>
              <a:endParaRPr lang="en-US" sz="1100"/>
            </a:p>
          </p:txBody>
        </p:sp>
        <p:sp>
          <p:nvSpPr>
            <p:cNvPr id="47" name="AutoShape 47"/>
            <p:cNvSpPr/>
            <p:nvPr/>
          </p:nvSpPr>
          <p:spPr>
            <a:xfrm>
              <a:off x="6193790" y="5609590"/>
              <a:ext cx="1444625" cy="31813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200" b="1" i="0" u="none" strike="noStrike">
                  <a:solidFill>
                    <a:srgbClr val="1A1A1A"/>
                  </a:solidFill>
                  <a:latin typeface="Calibri" panose="020F0502020204030204"/>
                  <a:ea typeface="Calibri" panose="020F0502020204030204"/>
                  <a:cs typeface="Calibri" panose="020F0502020204030204"/>
                  <a:sym typeface="Calibri" panose="020F0502020204030204"/>
                </a:rPr>
                <a:t>On-chip PP</a:t>
              </a:r>
              <a:endParaRPr lang="en-US" sz="1100"/>
            </a:p>
          </p:txBody>
        </p:sp>
        <p:sp>
          <p:nvSpPr>
            <p:cNvPr id="48" name="AutoShape 48"/>
            <p:cNvSpPr/>
            <p:nvPr/>
          </p:nvSpPr>
          <p:spPr>
            <a:xfrm>
              <a:off x="7096125" y="5624830"/>
              <a:ext cx="2670175" cy="287655"/>
            </a:xfrm>
            <a:prstGeom prst="rect">
              <a:avLst/>
            </a:prstGeom>
            <a:noFill/>
            <a:ln w="12700">
              <a:noFill/>
              <a:prstDash val="solid"/>
            </a:ln>
          </p:spPr>
          <p:txBody>
            <a:bodyPr wrap="square" lIns="0" tIns="0" rIns="0" bIns="0" rtlCol="0" anchor="ctr">
              <a:noAutofit/>
            </a:bodyPr>
            <a:lstStyle/>
            <a:p>
              <a:pPr indent="0" algn="l">
                <a:lnSpc>
                  <a:spcPct val="100000"/>
                </a:lnSpc>
                <a:defRPr/>
              </a:pPr>
              <a:r>
                <a:rPr lang="en-US" sz="1100" b="0" i="0" u="none" strike="noStrike">
                  <a:solidFill>
                    <a:srgbClr val="999999"/>
                  </a:solidFill>
                  <a:latin typeface="Calibri" panose="020F0502020204030204"/>
                  <a:ea typeface="Calibri" panose="020F0502020204030204"/>
                  <a:cs typeface="Calibri" panose="020F0502020204030204"/>
                  <a:sym typeface="Calibri" panose="020F0502020204030204"/>
                </a:rPr>
                <a:t>Model layers mapped across wafer regions</a:t>
              </a:r>
              <a:endParaRPr lang="en-US" sz="1100"/>
            </a:p>
          </p:txBody>
        </p:sp>
      </p:grpSp>
      <p:pic>
        <p:nvPicPr>
          <p:cNvPr id="49" name="Picture 49"/>
          <p:cNvPicPr>
            <a:picLocks noChangeAspect="1"/>
          </p:cNvPicPr>
          <p:nvPr/>
        </p:nvPicPr>
        <p:blipFill>
          <a:blip r:embed="rId1"/>
          <a:srcRect l="12641" r="29852" b="-777"/>
          <a:stretch>
            <a:fillRect/>
          </a:stretch>
        </p:blipFill>
        <p:spPr>
          <a:xfrm>
            <a:off x="9846945" y="1132840"/>
            <a:ext cx="2233930" cy="2541905"/>
          </a:xfrm>
          <a:prstGeom prst="rect">
            <a:avLst/>
          </a:prstGeom>
          <a:ln w="12700">
            <a:noFill/>
            <a:prstDash val="solid"/>
          </a:ln>
        </p:spPr>
      </p:pic>
      <p:pic>
        <p:nvPicPr>
          <p:cNvPr id="50" name="Picture 50"/>
          <p:cNvPicPr>
            <a:picLocks noChangeAspect="1"/>
          </p:cNvPicPr>
          <p:nvPr/>
        </p:nvPicPr>
        <p:blipFill>
          <a:blip r:embed="rId2"/>
          <a:srcRect t="7681"/>
          <a:stretch>
            <a:fillRect/>
          </a:stretch>
        </p:blipFill>
        <p:spPr>
          <a:xfrm>
            <a:off x="9818370" y="3929380"/>
            <a:ext cx="2262505" cy="2426970"/>
          </a:xfrm>
          <a:prstGeom prst="rect">
            <a:avLst/>
          </a:prstGeom>
          <a:ln w="12700">
            <a:noFill/>
            <a:prstDash val="solid"/>
          </a:ln>
        </p:spPr>
      </p:pic>
      <p:sp>
        <p:nvSpPr>
          <p:cNvPr id="51" name="AutoShape 51"/>
          <p:cNvSpPr/>
          <p:nvPr/>
        </p:nvSpPr>
        <p:spPr>
          <a:xfrm>
            <a:off x="10241915" y="6356350"/>
            <a:ext cx="1444625" cy="285115"/>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200" b="1" i="0" u="none" strike="noStrike">
                <a:solidFill>
                  <a:srgbClr val="000000"/>
                </a:solidFill>
                <a:latin typeface="Arial Bold" panose="020B0604020202090204"/>
                <a:ea typeface="Arial Bold" panose="020B0604020202090204"/>
                <a:cs typeface="Arial Bold" panose="020B0604020202090204"/>
                <a:sym typeface="Arial Bold" panose="020B0604020202090204"/>
              </a:rPr>
              <a:t>WSE-3 Core</a:t>
            </a:r>
            <a:endParaRPr lang="en-US" sz="1100"/>
          </a:p>
        </p:txBody>
      </p:sp>
      <p:sp>
        <p:nvSpPr>
          <p:cNvPr id="52" name="AutoShape 52"/>
          <p:cNvSpPr/>
          <p:nvPr/>
        </p:nvSpPr>
        <p:spPr>
          <a:xfrm>
            <a:off x="10241915" y="3625850"/>
            <a:ext cx="1444625" cy="285115"/>
          </a:xfrm>
          <a:prstGeom prst="rect">
            <a:avLst/>
          </a:prstGeom>
          <a:noFill/>
          <a:ln w="12700">
            <a:noFill/>
            <a:prstDash val="solid"/>
          </a:ln>
        </p:spPr>
        <p:txBody>
          <a:bodyPr wrap="square" lIns="91440" tIns="45720" rIns="91440" bIns="45720" rtlCol="0" anchor="t">
            <a:noAutofit/>
          </a:bodyPr>
          <a:lstStyle/>
          <a:p>
            <a:pPr indent="0" algn="ctr">
              <a:lnSpc>
                <a:spcPct val="100000"/>
              </a:lnSpc>
              <a:defRPr/>
            </a:pPr>
            <a:r>
              <a:rPr lang="en-US" sz="1200" b="1" i="0" u="none" strike="noStrike">
                <a:solidFill>
                  <a:srgbClr val="000000"/>
                </a:solidFill>
                <a:latin typeface="Arial Bold" panose="020B0604020202090204"/>
                <a:ea typeface="Arial Bold" panose="020B0604020202090204"/>
                <a:cs typeface="Arial Bold" panose="020B0604020202090204"/>
                <a:sym typeface="Arial Bold" panose="020B0604020202090204"/>
              </a:rPr>
              <a:t>d-Matrix Corsair</a:t>
            </a:r>
            <a:endParaRPr lang="en-US" sz="1100"/>
          </a:p>
        </p:txBody>
      </p:sp>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10"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Emerging Architectures II  &amp;  Outlook</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4" name="AutoShape 4"/>
          <p:cNvSpPr/>
          <p:nvPr>
            <p:ph type="body" sz="quarter" idx="12" hasCustomPrompt="1"/>
          </p:nvPr>
        </p:nvSpPr>
        <p:spPr>
          <a:prstGeom prst="rect">
            <a:avLst/>
          </a:prstGeom>
        </p:spPr>
        <p:txBody>
          <a:bodyPr wrap="square" lIns="91440" tIns="45720" rIns="91440" bIns="45720" anchor="t">
            <a:noAutofit/>
          </a:bodyPr>
          <a:lstStyle>
            <a:lvl1pPr algn="l">
              <a:lnSpc>
                <a:spcPct val="108000"/>
              </a:lnSpc>
              <a:defRPr sz="2400" b="0" i="0" u="none" strike="noStrike" spc="0">
                <a:solidFill>
                  <a:srgbClr val="404040">
                    <a:alpha val="100000"/>
                  </a:srgbClr>
                </a:solidFill>
                <a:latin typeface="Calibri" panose="020F0502020204030204"/>
              </a:defRPr>
            </a:lvl1pPr>
          </a:lstStyle>
          <a:p>
            <a:pPr marL="304800" indent="-304800" algn="l">
              <a:lnSpc>
                <a:spcPct val="108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Supernode Architectures</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8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NVIDIA NVL72: "The Rack is the Chip"</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8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Scale: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72 Blackwell GPUs interconnected via copper-backplane NVLink Switch</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8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Goal: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Emulate wafer-scale performance using discrete components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8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BW: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Rack-level NVLink aggregate bandwidth reaches PB/s range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8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Huawei CloudMatrix 384: Unified Supernode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8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Scale: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Hundreds of Ascend processors connected via HCCS protocol</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8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Goal: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Unified memory pool; balanced for both training and inference</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889000" lvl="2" indent="-203200" algn="l">
              <a:lnSpc>
                <a:spcPct val="108000"/>
              </a:lnSpc>
              <a:spcBef>
                <a:spcPts val="750"/>
              </a:spcBef>
              <a:buClr>
                <a:srgbClr val="404040"/>
              </a:buClr>
              <a:buChar char="•"/>
            </a:pPr>
            <a:r>
              <a:rPr lang="en-US" sz="1600" b="1" i="0" u="none" strike="noStrike">
                <a:solidFill>
                  <a:srgbClr val="404040"/>
                </a:solidFill>
                <a:latin typeface="Calibri" panose="020F0502020204030204"/>
                <a:ea typeface="Calibri" panose="020F0502020204030204"/>
                <a:cs typeface="Calibri" panose="020F0502020204030204"/>
                <a:sym typeface="Calibri" panose="020F0502020204030204"/>
              </a:rPr>
              <a:t>BW: </a:t>
            </a: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Mature CANN stack; co-evolves with FlagOS</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sp>
        <p:nvSpPr>
          <p:cNvPr id="5" name="AutoShape 5"/>
          <p:cNvSpPr/>
          <p:nvPr>
            <p:ph type="body" sz="quarter" idx="13"/>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pic>
        <p:nvPicPr>
          <p:cNvPr id="6" name="Picture 6"/>
          <p:cNvPicPr>
            <a:picLocks noChangeAspect="1"/>
          </p:cNvPicPr>
          <p:nvPr/>
        </p:nvPicPr>
        <p:blipFill>
          <a:blip r:embed="rId1"/>
          <a:srcRect/>
          <a:stretch>
            <a:fillRect/>
          </a:stretch>
        </p:blipFill>
        <p:spPr>
          <a:xfrm>
            <a:off x="8181975" y="1226820"/>
            <a:ext cx="2963545" cy="2963545"/>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7352665" y="4284980"/>
            <a:ext cx="4622165" cy="199326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System-Level Challenges from VLA &amp; WM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hasCustomPrompt="1"/>
          </p:nvPr>
        </p:nvSpPr>
        <p:spPr>
          <a:prstGeom prst="rect">
            <a:avLst/>
          </a:prstGeom>
        </p:spPr>
        <p:txBody>
          <a:bodyPr wrap="square" lIns="91440" tIns="45720" rIns="91440" bIns="45720" anchor="ctr">
            <a:noAutofit/>
          </a:bodyPr>
          <a:lstStyle>
            <a:lvl1pPr algn="l">
              <a:lnSpc>
                <a:spcPct val="100000"/>
              </a:lnSpc>
              <a:defRPr sz="1400" b="0" i="0" u="none" strike="noStrike" spc="0">
                <a:solidFill>
                  <a:srgbClr val="A5A5A5">
                    <a:alpha val="100000"/>
                  </a:srgbClr>
                </a:solidFill>
                <a:latin typeface="Times New Roman Regular" panose="02020503050405090304"/>
              </a:defRPr>
            </a:lvl1pPr>
          </a:lstStyle>
          <a:p>
            <a:pPr indent="0" algn="l">
              <a:lnSpc>
                <a:spcPct val="100000"/>
              </a:lnSpc>
            </a:pPr>
            <a:r>
              <a:rPr lang="en-US" sz="1400" b="0" i="0" u="none" strike="noStrike">
                <a:solidFill>
                  <a:srgbClr val="A5A5A5"/>
                </a:solidFill>
                <a:latin typeface="Times New Roman Regular" panose="02020503050405090304"/>
                <a:ea typeface="Times New Roman Regular" panose="02020503050405090304"/>
                <a:cs typeface="Times New Roman Regular" panose="02020503050405090304"/>
                <a:sym typeface="Times New Roman Regular" panose="02020503050405090304"/>
              </a:rPr>
              <a:t>How Fast Can I Run My VLA? Demystifying VLA Inference Performance with VLA-Perf</a:t>
            </a:r>
            <a:r>
              <a:rPr lang="en-US" sz="1400" b="0" i="0" u="none" strike="noStrike">
                <a:solidFill>
                  <a:srgbClr val="A5A5A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400" b="0" i="0" u="none" strike="noStrike">
                <a:solidFill>
                  <a:srgbClr val="A5A5A5"/>
                </a:solidFill>
                <a:latin typeface="Times New Roman Regular" panose="02020503050405090304"/>
                <a:ea typeface="Times New Roman Regular" panose="02020503050405090304"/>
                <a:cs typeface="Times New Roman Regular" panose="02020503050405090304"/>
                <a:sym typeface="Times New Roman Regular" panose="02020503050405090304"/>
              </a:rPr>
              <a:t>2026</a:t>
            </a:r>
            <a:endParaRPr lang="en-US" sz="1400" b="0" i="0" u="none" strike="noStrike">
              <a:solidFill>
                <a:srgbClr val="A5A5A5"/>
              </a:solidFill>
              <a:latin typeface="Times New Roman Regular" panose="02020503050405090304"/>
              <a:ea typeface="Times New Roman Regular" panose="02020503050405090304"/>
              <a:cs typeface="Times New Roman Regular" panose="02020503050405090304"/>
              <a:sym typeface="Times New Roman Regular" panose="02020503050405090304"/>
            </a:endParaRPr>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400" b="0" i="0" u="none" strike="noStrike" spc="0">
                <a:solidFill>
                  <a:srgbClr val="404040">
                    <a:alpha val="100000"/>
                  </a:srgbClr>
                </a:solidFill>
                <a:latin typeface="Calibri" panose="020F0502020204030204"/>
              </a:defRPr>
            </a:lvl1pPr>
          </a:lstStyle>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Real-Time Requirements for Robot Reasoning</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Robot perception and reasoning must keep up with RGB cameras operating at 24–60 Hz.</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The target inference rate ranges from 10 Hz (acceptable) to 100 Hz (high performance).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304800" indent="-304800" algn="l">
              <a:lnSpc>
                <a:spcPct val="100000"/>
              </a:lnSpc>
              <a:spcBef>
                <a:spcPts val="1500"/>
              </a:spcBef>
              <a:buClr>
                <a:srgbClr val="404040"/>
              </a:buClr>
              <a:buChar char="•"/>
            </a:pPr>
            <a:r>
              <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rPr>
              <a:t>Performance Cliff on Edge Hardware</a:t>
            </a:r>
            <a:endParaRPr lang="en-US" sz="2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Even advanced edge GPUs (e.g., Jetson Thor) reach only ~19 Hz when running the π0 model (2.7B), making ultra-large models impractical on edge devices.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Because edge GPUs use LPDDR memory (~270 GB/s vs. ~8 TB/s HBM in data centers), the vision encoder and VLM backbone are memory-bandwidth limited, preventing full compute utilization.</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t="900" r="11370"/>
          <a:stretch>
            <a:fillRect/>
          </a:stretch>
        </p:blipFill>
        <p:spPr>
          <a:xfrm>
            <a:off x="523864" y="4487391"/>
            <a:ext cx="5610724" cy="1372333"/>
          </a:xfrm>
          <a:prstGeom prst="rect">
            <a:avLst/>
          </a:prstGeom>
          <a:ln w="12700">
            <a:noFill/>
            <a:prstDash val="solid"/>
          </a:ln>
        </p:spPr>
      </p:pic>
      <p:pic>
        <p:nvPicPr>
          <p:cNvPr id="7" name="Picture 7"/>
          <p:cNvPicPr>
            <a:picLocks noChangeAspect="1"/>
          </p:cNvPicPr>
          <p:nvPr/>
        </p:nvPicPr>
        <p:blipFill>
          <a:blip r:embed="rId2"/>
          <a:srcRect/>
          <a:stretch>
            <a:fillRect/>
          </a:stretch>
        </p:blipFill>
        <p:spPr>
          <a:xfrm>
            <a:off x="6204286" y="4558000"/>
            <a:ext cx="5392225" cy="123106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System-Level Challenges from VLA &amp; WM</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prstGeom prst="rect">
            <a:avLst/>
          </a:prstGeom>
        </p:spPr>
        <p:txBody>
          <a:bodyPr wrap="square" lIns="91440" tIns="45720" rIns="91440" bIns="45720" anchor="t">
            <a:normAutofit/>
          </a:bodyPr>
          <a:lstStyle>
            <a:lvl1pPr algn="l">
              <a:lnSpc>
                <a:spcPct val="100000"/>
              </a:lnSpc>
              <a:defRPr sz="2300" b="0" i="0" u="none" strike="noStrike" spc="0">
                <a:solidFill>
                  <a:srgbClr val="404040">
                    <a:alpha val="100000"/>
                  </a:srgbClr>
                </a:solidFill>
                <a:latin typeface="Calibri" panose="020F0502020204030204"/>
              </a:defRPr>
            </a:lvl1pPr>
          </a:lstStyle>
          <a:p>
            <a:pPr marL="292100" indent="-292100" algn="l">
              <a:lnSpc>
                <a:spcPct val="100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Software Stack Fragmentation</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Bridging AI frameworks and robot RTOS via middleware (e.g., ROS 2) adds heavy serialization and communication overhead. In many systems, middleware latency exceeds GPU inference time.</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100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Memory Wall from Model Scaling</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14B WAM + World State Cache exceeds edge memory and bandwidth limits.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Even on GB200, WAM inference takes 5.7s; after 38</a:t>
            </a:r>
            <a:r>
              <a:rPr lang="en-US" sz="2000" b="0"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 optimization still far from real-time control.</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92100" indent="-292100" algn="l">
              <a:lnSpc>
                <a:spcPct val="100000"/>
              </a:lnSpc>
              <a:spcBef>
                <a:spcPts val="1500"/>
              </a:spcBef>
              <a:buClr>
                <a:srgbClr val="404040"/>
              </a:buClr>
              <a:buChar char="•"/>
            </a:pPr>
            <a:r>
              <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rPr>
              <a:t>Long-Context Bottleneck</a:t>
            </a:r>
            <a:endParaRPr lang="en-US" sz="23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96900" lvl="1" indent="-254000" algn="l">
              <a:lnSpc>
                <a:spcPct val="100000"/>
              </a:lnSpc>
              <a:spcBef>
                <a:spcPts val="750"/>
              </a:spcBef>
              <a:buClr>
                <a:srgbClr val="404040"/>
              </a:buClr>
              <a:buChar char="•"/>
            </a:pPr>
            <a:r>
              <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rPr>
              <a:t>Current VLA models lack long contexts, but adding memory would create similar limits.</a:t>
            </a:r>
            <a:endParaRPr lang="en-US" sz="20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3644795" y="4626603"/>
            <a:ext cx="4680994" cy="1483708"/>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vert="horz" wrap="none" lIns="91440" tIns="45720" rIns="91440" bIns="45720" anchor="ctr">
            <a:sp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Differences between Agents and Traditional LLMs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9119870" cy="4853305"/>
          </a:xfrm>
          <a:prstGeom prst="rect">
            <a:avLst/>
          </a:prstGeom>
        </p:spPr>
        <p:txBody>
          <a:bodyPr wrap="square" lIns="91440" tIns="45720" rIns="91440" bIns="45720" anchor="t">
            <a:normAutofit lnSpcReduction="10000"/>
          </a:bodyPr>
          <a:lstStyle>
            <a:lvl1pPr algn="l">
              <a:lnSpc>
                <a:spcPct val="92000"/>
              </a:lnSpc>
              <a:defRPr sz="2100" b="0" i="0" u="none" strike="noStrike" spc="0">
                <a:solidFill>
                  <a:srgbClr val="404040">
                    <a:alpha val="100000"/>
                  </a:srgbClr>
                </a:solidFill>
                <a:latin typeface="Calibri" panose="020F0502020204030204"/>
              </a:defRPr>
            </a:lvl1pPr>
          </a:lstStyle>
          <a:p>
            <a:pPr marL="266700" indent="-266700" algn="l">
              <a:lnSpc>
                <a:spcPct val="92000"/>
              </a:lnSpc>
              <a:spcBef>
                <a:spcPts val="1500"/>
              </a:spcBef>
              <a:buClr>
                <a:srgbClr val="404040"/>
              </a:buClr>
              <a:buChar char="•"/>
            </a:pP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Traditional LLM</a:t>
            </a:r>
            <a:endPar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197485" lvl="1" indent="0" algn="l">
              <a:lnSpc>
                <a:spcPct val="92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Single-turn, deterministic, token-level autoregressive inference; compute overhead scales linearly with token count; optimizable via batch parallelism.</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66700" indent="-266700" algn="l">
              <a:lnSpc>
                <a:spcPct val="92000"/>
              </a:lnSpc>
              <a:spcBef>
                <a:spcPts val="1500"/>
              </a:spcBef>
              <a:buClr>
                <a:srgbClr val="404040"/>
              </a:buClr>
              <a:buChar char="•"/>
            </a:pP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Agent</a:t>
            </a:r>
            <a:b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b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Closed-loop autonomous decision system with multi-step nondeterministic, multimodal, multi-agent interactive continuous compute flow; compute demand undergoes paradigm shift.</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66700" indent="-266700" algn="l">
              <a:lnSpc>
                <a:spcPct val="92000"/>
              </a:lnSpc>
              <a:spcBef>
                <a:spcPts val="1500"/>
              </a:spcBef>
              <a:buClr>
                <a:srgbClr val="404040"/>
              </a:buClr>
              <a:buChar char="•"/>
            </a:pPr>
            <a:r>
              <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rPr>
              <a:t>Three Core Differences</a:t>
            </a:r>
            <a:endParaRPr lang="en-US" sz="21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197485" lvl="1" indent="0" algn="l">
              <a:lnSpc>
                <a:spcPct val="92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1. Non-deterministic compute chain: a single task requires 5~hundreds of rounds of LLM calls, compute overhead surges 8~200x.</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197485" lvl="1" indent="0" algn="l">
              <a:lnSpc>
                <a:spcPct val="92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2. Hybrid compute paradigm: spanning inference+retrieval+tool use+interaction+reinforcement learning in heterogeneous mixed compute.</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197485" lvl="1" indent="0" algn="l">
              <a:lnSpc>
                <a:spcPct val="92000"/>
              </a:lnSpc>
              <a:spcBef>
                <a:spcPts val="750"/>
              </a:spcBef>
            </a:pPr>
            <a:r>
              <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rPr>
              <a:t>3. Persistent compute mode: shifting from burst consumption to continuous inference+online alignment+lifelong memory as persistent workload.</a:t>
            </a:r>
            <a:endParaRPr lang="en-US" sz="18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l="69" r="68"/>
          <a:stretch>
            <a:fillRect/>
          </a:stretch>
        </p:blipFill>
        <p:spPr>
          <a:xfrm>
            <a:off x="9561830" y="1690370"/>
            <a:ext cx="2144395" cy="360426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vert="horz" wrap="none" lIns="91440" tIns="45720" rIns="91440" bIns="45720" anchor="ctr">
            <a:sp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Core Challenges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7249795" cy="4853305"/>
          </a:xfrm>
          <a:prstGeom prst="rect">
            <a:avLst/>
          </a:prstGeom>
        </p:spPr>
        <p:txBody>
          <a:bodyPr wrap="square" lIns="91440" tIns="45720" rIns="91440" bIns="45720" anchor="t">
            <a:noAutofit/>
          </a:bodyPr>
          <a:lstStyle>
            <a:lvl1pPr algn="l">
              <a:lnSpc>
                <a:spcPct val="108000"/>
              </a:lnSpc>
              <a:defRPr sz="1600" b="0" i="0" u="none" strike="noStrike" spc="0">
                <a:solidFill>
                  <a:srgbClr val="404040">
                    <a:alpha val="100000"/>
                  </a:srgbClr>
                </a:solidFill>
                <a:latin typeface="Calibri" panose="020F0502020204030204"/>
              </a:defRPr>
            </a:lvl1pPr>
          </a:lstStyle>
          <a:p>
            <a:pPr marL="203200" indent="-203200" algn="l">
              <a:lnSpc>
                <a:spcPct val="108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Challenge 1: Compute Paradigm Disruption</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8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Core issue: single inference evolves into iterative computation</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8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Non-linear compute explosion: based on ReAct, ToT and similar frameworks, Agent adopts the “think-act-observe” loop; compute cost per task is tens to hundreds of times that of traditional LLM single-turn Q&amp;A.</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8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Compute utilization (MFU)  plummets: multi-step reasoning paths diverge, rely on environment feedback; traditional large Batch Size optimization fails, causing GPU/TPU compute to idle with utilization generally below 15%.</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03200" indent="-203200" algn="l">
              <a:lnSpc>
                <a:spcPct val="108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Challenge 2: Hardware Architecture Bottleneck</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8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Core issue: physical impact of ultra-long context on memory systems</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8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KV Cache capacity crisis: 1M+ context windows instantly exhaust cloud GPU HBM; concurrent Agent count per GPU drops sharply.</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8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Memory bandwidth bottleneck: frequent RAG and memory reads shift the bottleneck from compute units to data movement.</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8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Frontier solutions: software-level PagedAttention; hardware-level Processing-in-Memory (PIM) architecture.</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a:stretch>
            <a:fillRect/>
          </a:stretch>
        </p:blipFill>
        <p:spPr>
          <a:xfrm>
            <a:off x="7999300" y="2428996"/>
            <a:ext cx="4024511" cy="3093843"/>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vert="horz" wrap="none" lIns="91440" tIns="45720" rIns="91440" bIns="45720" anchor="ctr">
            <a:sp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Core Challenges</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sp>
        <p:nvSpPr>
          <p:cNvPr id="3" name="AutoShape 3"/>
          <p:cNvSpPr/>
          <p:nvPr>
            <p:ph type="body" sz="quarter" idx="7"/>
          </p:nvPr>
        </p:nvSpPr>
        <p:spPr>
          <a:prstGeom prst="rect">
            <a:avLst/>
          </a:prstGeom>
        </p:spPr>
        <p:txBody>
          <a:bodyPr vert="horz" wrap="square" lIns="91440" tIns="45720" rIns="91440" bIns="45720" anchor="ctr">
            <a:noAutofit/>
          </a:bodyPr>
          <a:lstStyle>
            <a:lvl1pPr algn="l">
              <a:lnSpc>
                <a:spcPct val="100000"/>
              </a:lnSpc>
              <a:defRPr sz="1400" b="0" i="0" u="none" strike="noStrike" spc="0">
                <a:solidFill>
                  <a:srgbClr val="1F2329">
                    <a:alpha val="100000"/>
                  </a:srgbClr>
                </a:solidFill>
                <a:latin typeface="Noto Sans SC" panose="020B0200000000000000" charset="-122"/>
              </a:defRPr>
            </a:lvl1pPr>
          </a:lstStyle>
          <a:p>
            <a:pPr algn="l"/>
          </a:p>
        </p:txBody>
      </p:sp>
      <p:sp>
        <p:nvSpPr>
          <p:cNvPr id="5" name="AutoShape 5"/>
          <p:cNvSpPr/>
          <p:nvPr>
            <p:ph type="body" sz="quarter" idx="9" hasCustomPrompt="1"/>
          </p:nvPr>
        </p:nvSpPr>
        <p:spPr>
          <a:xfrm>
            <a:off x="523875" y="1323975"/>
            <a:ext cx="6864350" cy="4853305"/>
          </a:xfrm>
          <a:prstGeom prst="rect">
            <a:avLst/>
          </a:prstGeom>
        </p:spPr>
        <p:txBody>
          <a:bodyPr wrap="square" lIns="91440" tIns="45720" rIns="91440" bIns="45720" anchor="t">
            <a:noAutofit/>
          </a:bodyPr>
          <a:lstStyle>
            <a:lvl1pPr algn="l">
              <a:lnSpc>
                <a:spcPct val="100000"/>
              </a:lnSpc>
              <a:defRPr sz="1600" b="0" i="0" u="none" strike="noStrike" spc="0">
                <a:solidFill>
                  <a:srgbClr val="404040">
                    <a:alpha val="100000"/>
                  </a:srgbClr>
                </a:solidFill>
                <a:latin typeface="Calibri" panose="020F0502020204030204"/>
              </a:defRPr>
            </a:lvl1pPr>
          </a:lstStyle>
          <a:p>
            <a:pPr marL="203200" indent="-203200" algn="l">
              <a:lnSpc>
                <a:spcPct val="100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Challenge 3: Interaction Pipeline Bottleneck</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Core issue: interfaces to the physical world/external systems have extremely low latency tolerance; millisecond-level delays can cause task failure.</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High-concurrency vs. ultra-low-latency trade-off: embodied AI and voice Agent demand time-to-first-token (TTFT) and inter-token latency (ITL) at millisecond-level limits, beyond the reach of traditional architectures.</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I/O blocking causes compute waste: uncontrollable I/O waits during external tool calls; slow OS context switching causes expensive AI compute to be wasted idle.</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203200" indent="-203200" algn="l">
              <a:lnSpc>
                <a:spcPct val="100000"/>
              </a:lnSpc>
              <a:spcBef>
                <a:spcPts val="1500"/>
              </a:spcBef>
              <a:buClr>
                <a:srgbClr val="404040"/>
              </a:buClr>
              <a:buChar char="•"/>
            </a:pPr>
            <a:r>
              <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rPr>
              <a:t>Challenge 4: Compute Distribution Restructuring</a:t>
            </a:r>
            <a:endParaRPr lang="en-US" sz="16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Core issue: compute is no longer confined to a single node; network communication becomes an extension of compute.</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Communication bandwidth equals effective compute: under the “edge sensing, cloud planning” model, seamless context migration critically depends on high-bandwidth, low-latency networks.</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a:p>
            <a:pPr marL="520700" lvl="1" indent="-177800" algn="l">
              <a:lnSpc>
                <a:spcPct val="100000"/>
              </a:lnSpc>
              <a:spcBef>
                <a:spcPts val="750"/>
              </a:spcBef>
              <a:buClr>
                <a:srgbClr val="404040"/>
              </a:buClr>
              <a:buChar char="•"/>
            </a:pPr>
            <a:r>
              <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rPr>
              <a:t>Heterogeneous compute scheduling: tasks must be dynamically partitioned and offloaded across edge NPU, edge CPU, and cloud GPU; intelligent routing mechanisms are urgently needed.</a:t>
            </a:r>
            <a:endParaRPr lang="en-US" sz="1400" b="0" i="0" u="none" strike="noStrike">
              <a:solidFill>
                <a:srgbClr val="404040"/>
              </a:solidFill>
              <a:latin typeface="Calibri" panose="020F0502020204030204"/>
              <a:ea typeface="Calibri" panose="020F0502020204030204"/>
              <a:cs typeface="Calibri" panose="020F0502020204030204"/>
              <a:sym typeface="Calibri" panose="020F0502020204030204"/>
            </a:endParaRPr>
          </a:p>
        </p:txBody>
      </p:sp>
      <p:pic>
        <p:nvPicPr>
          <p:cNvPr id="6" name="Picture 6"/>
          <p:cNvPicPr>
            <a:picLocks noChangeAspect="1"/>
          </p:cNvPicPr>
          <p:nvPr/>
        </p:nvPicPr>
        <p:blipFill>
          <a:blip r:embed="rId1"/>
          <a:srcRect t="22" b="22"/>
          <a:stretch>
            <a:fillRect/>
          </a:stretch>
        </p:blipFill>
        <p:spPr>
          <a:xfrm>
            <a:off x="7556846" y="1323770"/>
            <a:ext cx="4600757" cy="4724810"/>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ph type="body" sz="quarter" idx="6" hasCustomPrompt="1"/>
          </p:nvPr>
        </p:nvSpPr>
        <p:spPr>
          <a:prstGeom prst="rect">
            <a:avLst/>
          </a:prstGeom>
        </p:spPr>
        <p:txBody>
          <a:bodyPr wrap="square" lIns="91440" tIns="45720" rIns="91440" bIns="45720" anchor="ctr">
            <a:noAutofit/>
          </a:bodyPr>
          <a:lstStyle>
            <a:lvl1pPr algn="l">
              <a:lnSpc>
                <a:spcPct val="100000"/>
              </a:lnSpc>
              <a:defRPr sz="3600" b="0" i="0" u="none" strike="noStrike" spc="0">
                <a:solidFill>
                  <a:srgbClr val="262626">
                    <a:alpha val="100000"/>
                  </a:srgbClr>
                </a:solidFill>
                <a:latin typeface="Calibri" panose="020F0502020204030204"/>
              </a:defRPr>
            </a:lvl1pPr>
          </a:lstStyle>
          <a:p>
            <a:pPr indent="0" algn="l">
              <a:lnSpc>
                <a:spcPct val="100000"/>
              </a:lnSpc>
            </a:pPr>
            <a:r>
              <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rPr>
              <a:t>The Solution: FlagOS, a Unified AI Software Stack</a:t>
            </a:r>
            <a:endParaRPr lang="en-US" sz="3600" b="0" i="0" u="none" strike="noStrike">
              <a:solidFill>
                <a:srgbClr val="262626"/>
              </a:solidFill>
              <a:latin typeface="Calibri" panose="020F0502020204030204"/>
              <a:ea typeface="Calibri" panose="020F0502020204030204"/>
              <a:cs typeface="Calibri" panose="020F0502020204030204"/>
              <a:sym typeface="Calibri" panose="020F0502020204030204"/>
            </a:endParaRPr>
          </a:p>
        </p:txBody>
      </p:sp>
      <p:pic>
        <p:nvPicPr>
          <p:cNvPr id="3" name="Picture 3"/>
          <p:cNvPicPr>
            <a:picLocks noChangeAspect="1"/>
          </p:cNvPicPr>
          <p:nvPr/>
        </p:nvPicPr>
        <p:blipFill>
          <a:blip r:embed="rId1"/>
          <a:srcRect/>
          <a:stretch>
            <a:fillRect/>
          </a:stretch>
        </p:blipFill>
        <p:spPr>
          <a:xfrm>
            <a:off x="852170" y="1318260"/>
            <a:ext cx="9408795" cy="485330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89535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3" name="AutoShape 3"/>
          <p:cNvSpPr/>
          <p:nvPr/>
        </p:nvSpPr>
        <p:spPr>
          <a:xfrm>
            <a:off x="440023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4" name="AutoShape 4"/>
          <p:cNvSpPr/>
          <p:nvPr/>
        </p:nvSpPr>
        <p:spPr>
          <a:xfrm>
            <a:off x="7905111" y="1861819"/>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5" name="AutoShape 5"/>
          <p:cNvSpPr/>
          <p:nvPr/>
        </p:nvSpPr>
        <p:spPr>
          <a:xfrm>
            <a:off x="89535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6" name="AutoShape 6"/>
          <p:cNvSpPr/>
          <p:nvPr/>
        </p:nvSpPr>
        <p:spPr>
          <a:xfrm>
            <a:off x="440023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7" name="AutoShape 7"/>
          <p:cNvSpPr/>
          <p:nvPr/>
        </p:nvSpPr>
        <p:spPr>
          <a:xfrm>
            <a:off x="7905111" y="3755727"/>
            <a:ext cx="3162940" cy="1506517"/>
          </a:xfrm>
          <a:prstGeom prst="roundRect">
            <a:avLst>
              <a:gd name="adj" fmla="val 6812"/>
            </a:avLst>
          </a:prstGeom>
          <a:solidFill>
            <a:srgbClr val="FFFFFF">
              <a:alpha val="100000"/>
            </a:srgbClr>
          </a:solidFill>
          <a:ln w="12700" cap="flat">
            <a:noFill/>
            <a:prstDash val="solid"/>
          </a:ln>
          <a:effectLst>
            <a:outerShdw blurRad="190500" dist="63500" dir="2700000" algn="tl" rotWithShape="0">
              <a:srgbClr val="4472C4">
                <a:alpha val="20000"/>
              </a:srgbClr>
            </a:outerShdw>
          </a:effectLst>
        </p:spPr>
        <p:txBody>
          <a:bodyPr wrap="square" lIns="91440" tIns="45720" rIns="91440" bIns="45720" rtlCol="0" anchor="ctr">
            <a:noAutofit/>
          </a:bodyPr>
          <a:lstStyle/>
          <a:p>
            <a:pPr indent="0" algn="ctr">
              <a:lnSpc>
                <a:spcPct val="100000"/>
              </a:lnSpc>
              <a:defRPr/>
            </a:pPr>
            <a:r>
              <a:rPr lang="en-US" sz="18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8" name="AutoShape 8"/>
          <p:cNvSpPr/>
          <p:nvPr/>
        </p:nvSpPr>
        <p:spPr>
          <a:xfrm>
            <a:off x="2298364" y="1689569"/>
            <a:ext cx="356915" cy="356915"/>
          </a:xfrm>
          <a:prstGeom prst="ellipse">
            <a:avLst/>
          </a:prstGeom>
          <a:blipFill rotWithShape="1">
            <a:blip r:embed="rId1"/>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9" name="AutoShape 9"/>
          <p:cNvSpPr/>
          <p:nvPr/>
        </p:nvSpPr>
        <p:spPr>
          <a:xfrm>
            <a:off x="5803244" y="1689569"/>
            <a:ext cx="356915" cy="356915"/>
          </a:xfrm>
          <a:prstGeom prst="ellipse">
            <a:avLst/>
          </a:prstGeom>
          <a:blipFill rotWithShape="1">
            <a:blip r:embed="rId2"/>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0" name="AutoShape 10"/>
          <p:cNvSpPr/>
          <p:nvPr/>
        </p:nvSpPr>
        <p:spPr>
          <a:xfrm>
            <a:off x="9308124" y="1689569"/>
            <a:ext cx="356915" cy="356915"/>
          </a:xfrm>
          <a:prstGeom prst="ellipse">
            <a:avLst/>
          </a:prstGeom>
          <a:blipFill rotWithShape="1">
            <a:blip r:embed="rId3"/>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1" name="AutoShape 11"/>
          <p:cNvSpPr/>
          <p:nvPr/>
        </p:nvSpPr>
        <p:spPr>
          <a:xfrm>
            <a:off x="2298364" y="3577269"/>
            <a:ext cx="356915" cy="356915"/>
          </a:xfrm>
          <a:prstGeom prst="ellipse">
            <a:avLst/>
          </a:prstGeom>
          <a:blipFill rotWithShape="1">
            <a:blip r:embed="rId4"/>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2" name="AutoShape 12"/>
          <p:cNvSpPr/>
          <p:nvPr/>
        </p:nvSpPr>
        <p:spPr>
          <a:xfrm>
            <a:off x="5803244" y="3577269"/>
            <a:ext cx="356915" cy="356915"/>
          </a:xfrm>
          <a:prstGeom prst="ellipse">
            <a:avLst/>
          </a:prstGeom>
          <a:blipFill rotWithShape="1">
            <a:blip r:embed="rId5"/>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3" name="AutoShape 13"/>
          <p:cNvSpPr/>
          <p:nvPr/>
        </p:nvSpPr>
        <p:spPr>
          <a:xfrm>
            <a:off x="9308124" y="3577269"/>
            <a:ext cx="356915" cy="356915"/>
          </a:xfrm>
          <a:prstGeom prst="ellipse">
            <a:avLst/>
          </a:prstGeom>
          <a:blipFill rotWithShape="1">
            <a:blip r:embed="rId6"/>
            <a:stretch>
              <a:fillRect/>
            </a:stretch>
          </a:blipFill>
          <a:ln w="12700" cap="flat">
            <a:noFill/>
            <a:prstDash val="solid"/>
          </a:ln>
        </p:spPr>
        <p:txBody>
          <a:bodyPr wrap="square" lIns="91440" tIns="45720" rIns="91440" bIns="45720" rtlCol="0" anchor="ctr">
            <a:noAutofit/>
          </a:bodyPr>
          <a:lstStyle/>
          <a:p>
            <a:pPr indent="0" algn="ctr">
              <a:lnSpc>
                <a:spcPct val="100000"/>
              </a:lnSpc>
              <a:defRPr/>
            </a:pPr>
            <a:r>
              <a:rPr lang="en-US" sz="1200" b="0" i="0" u="none" strike="noStrike">
                <a:solidFill>
                  <a:srgbClr val="FFFFFF"/>
                </a:solidFill>
                <a:latin typeface="Arial" panose="020B0604020202020204"/>
                <a:ea typeface="Arial" panose="020B0604020202020204"/>
                <a:cs typeface="Arial" panose="020B0604020202020204"/>
                <a:sym typeface="Arial" panose="020B0604020202020204"/>
              </a:rPr>
              <a:t> </a:t>
            </a:r>
            <a:endParaRPr lang="en-US" sz="1100"/>
          </a:p>
        </p:txBody>
      </p:sp>
      <p:sp>
        <p:nvSpPr>
          <p:cNvPr id="14" name="AutoShape 14"/>
          <p:cNvSpPr/>
          <p:nvPr/>
        </p:nvSpPr>
        <p:spPr>
          <a:xfrm>
            <a:off x="1219842" y="251790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7" tooltip="https://github.com/flagos-ai"/>
              </a:rPr>
              <a:t>https://github.com/flagos-ai</a:t>
            </a:r>
            <a:endParaRPr lang="en-US" sz="1100"/>
          </a:p>
          <a:p>
            <a:pPr indent="0" algn="l">
              <a:lnSpc>
                <a:spcPct val="150000"/>
              </a:lnSpc>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rPr>
              <a:t> </a:t>
            </a:r>
            <a:endParaRPr lang="en-US" sz="1600" b="0" i="0" u="none" strike="noStrike">
              <a:solidFill>
                <a:srgbClr val="767171"/>
              </a:solidFill>
              <a:latin typeface="Arial" panose="020B0604020202020204"/>
              <a:ea typeface="Arial" panose="020B0604020202020204"/>
              <a:cs typeface="Arial" panose="020B0604020202020204"/>
              <a:sym typeface="Arial" panose="020B0604020202020204"/>
            </a:endParaRPr>
          </a:p>
        </p:txBody>
      </p:sp>
      <p:sp>
        <p:nvSpPr>
          <p:cNvPr id="15" name="AutoShape 15"/>
          <p:cNvSpPr/>
          <p:nvPr/>
        </p:nvSpPr>
        <p:spPr>
          <a:xfrm>
            <a:off x="8015605" y="2341245"/>
            <a:ext cx="2882265"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8" tooltip="https://space.bilibili.com/3546791834290849"/>
              </a:rPr>
              <a:t>https://space.bilibili.com/3546791834290849</a:t>
            </a:r>
            <a:endParaRPr lang="en-US" sz="1100"/>
          </a:p>
        </p:txBody>
      </p:sp>
      <p:sp>
        <p:nvSpPr>
          <p:cNvPr id="16" name="AutoShape 16"/>
          <p:cNvSpPr/>
          <p:nvPr/>
        </p:nvSpPr>
        <p:spPr>
          <a:xfrm>
            <a:off x="1219842" y="4403854"/>
            <a:ext cx="2513958" cy="76644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9" tooltip="https://www.zhihu.com/people/95-22-20-18/posts"/>
              </a:rPr>
              <a:t>https://www.zhihu.com/people/95-22-20-18/posts</a:t>
            </a:r>
            <a:endParaRPr lang="en-US" sz="1100"/>
          </a:p>
        </p:txBody>
      </p:sp>
      <p:sp>
        <p:nvSpPr>
          <p:cNvPr id="17" name="AutoShape 17"/>
          <p:cNvSpPr/>
          <p:nvPr/>
        </p:nvSpPr>
        <p:spPr>
          <a:xfrm>
            <a:off x="4724722" y="4403854"/>
            <a:ext cx="2513958" cy="396875"/>
          </a:xfrm>
          <a:prstGeom prst="rect">
            <a:avLst/>
          </a:prstGeom>
          <a:noFill/>
          <a:ln w="12700">
            <a:noFill/>
            <a:prstDash val="solid"/>
          </a:ln>
        </p:spPr>
        <p:txBody>
          <a:bodyPr vert="horz" wrap="square" lIns="0" tIns="14400" rIns="0" bIns="14400" rtlCol="0" anchor="t">
            <a:spAutoFit/>
          </a:bodyPr>
          <a:lstStyle/>
          <a:p>
            <a:pPr indent="0" algn="l">
              <a:lnSpc>
                <a:spcPct val="150000"/>
              </a:lnSpc>
              <a:defRPr/>
            </a:pPr>
            <a:r>
              <a:rPr lang="en-US" sz="1600" b="0" i="0" u="none" strike="noStrike">
                <a:solidFill>
                  <a:srgbClr val="767171"/>
                </a:solidFill>
                <a:latin typeface="Arial" panose="020B0604020202020204"/>
                <a:ea typeface="Arial" panose="020B0604020202020204"/>
                <a:cs typeface="Arial" panose="020B0604020202020204"/>
                <a:sym typeface="Arial" panose="020B0604020202020204"/>
                <a:hlinkClick r:id="rId10" tooltip="https://flagos.io/Home"/>
              </a:rPr>
              <a:t>https://flagos.io/Home</a:t>
            </a:r>
            <a:endParaRPr lang="en-US" sz="1100"/>
          </a:p>
        </p:txBody>
      </p:sp>
      <p:pic>
        <p:nvPicPr>
          <p:cNvPr id="18" name="Picture 18"/>
          <p:cNvPicPr>
            <a:picLocks noChangeAspect="1"/>
          </p:cNvPicPr>
          <p:nvPr/>
        </p:nvPicPr>
        <p:blipFill>
          <a:blip r:embed="rId11"/>
          <a:srcRect/>
          <a:stretch>
            <a:fillRect/>
          </a:stretch>
        </p:blipFill>
        <p:spPr>
          <a:xfrm>
            <a:off x="5408930" y="2046605"/>
            <a:ext cx="1255395" cy="1255395"/>
          </a:xfrm>
          <a:prstGeom prst="rect">
            <a:avLst/>
          </a:prstGeom>
          <a:ln w="12700">
            <a:noFill/>
            <a:prstDash val="solid"/>
          </a:ln>
        </p:spPr>
      </p:pic>
      <p:pic>
        <p:nvPicPr>
          <p:cNvPr id="19" name="Picture 19"/>
          <p:cNvPicPr>
            <a:picLocks noChangeAspect="1"/>
          </p:cNvPicPr>
          <p:nvPr/>
        </p:nvPicPr>
        <p:blipFill>
          <a:blip r:embed="rId12"/>
          <a:srcRect/>
          <a:stretch>
            <a:fillRect/>
          </a:stretch>
        </p:blipFill>
        <p:spPr>
          <a:xfrm>
            <a:off x="8903970" y="3953510"/>
            <a:ext cx="1299210" cy="1308735"/>
          </a:xfrm>
          <a:prstGeom prst="rect">
            <a:avLst/>
          </a:prstGeom>
          <a:ln w="12700">
            <a:noFill/>
            <a:prstDash val="solid"/>
          </a:ln>
        </p:spPr>
      </p:pic>
    </p:spTree>
  </p:cSld>
  <p:clrMapOvr>
    <a:masterClrMapping/>
  </p:clrMapOvr>
  <mc:AlternateContent xmlns:mc="http://schemas.openxmlformats.org/markup-compatibility/2006">
    <mc:Choice xmlns:p14="http://schemas.microsoft.com/office/powerpoint/2010/main" Requires="p14">
      <p:transition p14:dur="1000">
        <p:fade/>
      </p:transition>
    </mc:Choice>
    <mc:Fallback>
      <p:transition>
        <p:fade/>
      </p:transition>
    </mc:Fallback>
  </mc:AlternateContent>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ph type="pic" sz="quarter" idx="27"/>
          </p:nvPr>
        </p:nvPicPr>
        <p:blipFill>
          <a:blip r:embed="rId1"/>
          <a:srcRect l="2306" r="2305"/>
          <a:stretch>
            <a:fillRect/>
          </a:stretch>
        </p:blipFill>
        <p:spPr>
          <a:xfrm>
            <a:off x="0" y="1"/>
            <a:ext cx="12192000" cy="6858000"/>
          </a:xfrm>
          <a:prstGeom prst="rect">
            <a:avLst/>
          </a:prstGeom>
        </p:spPr>
      </p:pic>
      <p:sp>
        <p:nvSpPr>
          <p:cNvPr id="3" name="AutoShape 3"/>
          <p:cNvSpPr/>
          <p:nvPr>
            <p:ph type="body" sz="quarter" idx="28" hasCustomPrompt="1"/>
          </p:nvPr>
        </p:nvSpPr>
        <p:spPr>
          <a:xfrm>
            <a:off x="5625465" y="2373630"/>
            <a:ext cx="5739130" cy="2664460"/>
          </a:xfrm>
          <a:prstGeom prst="rect">
            <a:avLst/>
          </a:prstGeom>
        </p:spPr>
        <p:txBody>
          <a:bodyPr wrap="square" lIns="91440" tIns="45720" rIns="91440" bIns="45720" anchor="ctr">
            <a:noAutofit/>
          </a:bodyPr>
          <a:lstStyle>
            <a:lvl1pPr algn="l">
              <a:lnSpc>
                <a:spcPct val="92000"/>
              </a:lnSpc>
              <a:defRPr sz="4400" b="0" i="0" u="none" strike="noStrike" spc="0">
                <a:solidFill>
                  <a:srgbClr val="44546A">
                    <a:alpha val="100000"/>
                  </a:srgbClr>
                </a:solidFill>
                <a:latin typeface="微软雅黑" panose="020B0503020204020204" charset="-122"/>
              </a:defRPr>
            </a:lvl1pPr>
          </a:lstStyle>
          <a:p>
            <a:pPr indent="0" algn="l">
              <a:lnSpc>
                <a:spcPct val="92000"/>
              </a:lnSpc>
            </a:pPr>
            <a:r>
              <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rPr>
              <a:t>Thanks for your time！</a:t>
            </a:r>
            <a:endParaRPr lang="en-US" sz="4400" b="0" i="0" u="none" strike="noStrike">
              <a:solidFill>
                <a:srgbClr val="44546A"/>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4" name="Group 4"/>
          <p:cNvGrpSpPr/>
          <p:nvPr/>
        </p:nvGrpSpPr>
        <p:grpSpPr>
          <a:xfrm>
            <a:off x="9247450" y="217531"/>
            <a:ext cx="2580450" cy="547850"/>
            <a:chOff x="9247450" y="217531"/>
            <a:chExt cx="2580450" cy="547850"/>
          </a:xfrm>
        </p:grpSpPr>
        <p:pic>
          <p:nvPicPr>
            <p:cNvPr id="5" name="Picture 5"/>
            <p:cNvPicPr>
              <a:picLocks noChangeAspect="1"/>
            </p:cNvPicPr>
            <p:nvPr/>
          </p:nvPicPr>
          <p:blipFill>
            <a:blip r:embed="rId2"/>
            <a:srcRect/>
            <a:stretch>
              <a:fillRect/>
            </a:stretch>
          </p:blipFill>
          <p:spPr>
            <a:xfrm>
              <a:off x="9247450" y="319584"/>
              <a:ext cx="1096400" cy="336123"/>
            </a:xfrm>
            <a:prstGeom prst="rect">
              <a:avLst/>
            </a:prstGeom>
            <a:ln w="12700">
              <a:noFill/>
              <a:prstDash val="solid"/>
            </a:ln>
          </p:spPr>
        </p:pic>
        <p:pic>
          <p:nvPicPr>
            <p:cNvPr id="6" name="Picture 6"/>
            <p:cNvPicPr>
              <a:picLocks noChangeAspect="1"/>
            </p:cNvPicPr>
            <p:nvPr/>
          </p:nvPicPr>
          <p:blipFill>
            <a:blip r:embed="rId3"/>
            <a:srcRect l="13229" t="29811" r="10431" b="29796"/>
            <a:stretch>
              <a:fillRect/>
            </a:stretch>
          </p:blipFill>
          <p:spPr>
            <a:xfrm>
              <a:off x="10553199" y="217531"/>
              <a:ext cx="1274701" cy="547850"/>
            </a:xfrm>
            <a:prstGeom prst="rect">
              <a:avLst/>
            </a:prstGeom>
            <a:ln w="12700">
              <a:noFill/>
              <a:prstDash val="solid"/>
            </a:ln>
          </p:spPr>
        </p:pic>
      </p:grpSp>
      <p:pic>
        <p:nvPicPr>
          <p:cNvPr id="10" name="图片 9" descr="/Users/jieran/Library/Containers/com.kingsoft.wpsoffice.mac/Data/tmp/picturecompress_20260414164557/output_1.pngoutput_1"/>
          <p:cNvPicPr>
            <a:picLocks noChangeAspect="1"/>
          </p:cNvPicPr>
          <p:nvPr/>
        </p:nvPicPr>
        <p:blipFill>
          <a:blip r:embed="rId4"/>
          <a:stretch>
            <a:fillRect/>
          </a:stretch>
        </p:blipFill>
        <p:spPr>
          <a:xfrm>
            <a:off x="7921625" y="217805"/>
            <a:ext cx="1116965" cy="465455"/>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75655</Words>
  <Application>WPS 演示</Application>
  <PresentationFormat/>
  <Paragraphs>3214</Paragraphs>
  <Slides>184</Slides>
  <Notes>0</Notes>
  <HiddenSlides>0</HiddenSlides>
  <MMClips>0</MMClips>
  <ScaleCrop>false</ScaleCrop>
  <HeadingPairs>
    <vt:vector size="6" baseType="variant">
      <vt:variant>
        <vt:lpstr>已用的字体</vt:lpstr>
      </vt:variant>
      <vt:variant>
        <vt:i4>28</vt:i4>
      </vt:variant>
      <vt:variant>
        <vt:lpstr>主题</vt:lpstr>
      </vt:variant>
      <vt:variant>
        <vt:i4>2</vt:i4>
      </vt:variant>
      <vt:variant>
        <vt:lpstr>幻灯片标题</vt:lpstr>
      </vt:variant>
      <vt:variant>
        <vt:i4>184</vt:i4>
      </vt:variant>
    </vt:vector>
  </HeadingPairs>
  <TitlesOfParts>
    <vt:vector size="214" baseType="lpstr">
      <vt:lpstr>Arial</vt:lpstr>
      <vt:lpstr>宋体</vt:lpstr>
      <vt:lpstr>Wingdings</vt:lpstr>
      <vt:lpstr>Arial</vt:lpstr>
      <vt:lpstr>微软雅黑</vt:lpstr>
      <vt:lpstr>Noto Sans SC</vt:lpstr>
      <vt:lpstr>Garamond</vt:lpstr>
      <vt:lpstr>Calibri</vt:lpstr>
      <vt:lpstr>Calibri Light</vt:lpstr>
      <vt:lpstr>Pretendard</vt:lpstr>
      <vt:lpstr>Segoe Print</vt:lpstr>
      <vt:lpstr>Montserrat SemiBold</vt:lpstr>
      <vt:lpstr>Arial Unicode MS</vt:lpstr>
      <vt:lpstr>BatangChe</vt:lpstr>
      <vt:lpstr>等线</vt:lpstr>
      <vt:lpstr>-apple-system</vt:lpstr>
      <vt:lpstr>Ebrima</vt:lpstr>
      <vt:lpstr>Cambria Math</vt:lpstr>
      <vt:lpstr>MiSans</vt:lpstr>
      <vt:lpstr>Google Sans Text</vt:lpstr>
      <vt:lpstr>Google Sans</vt:lpstr>
      <vt:lpstr>Courier New Regular</vt:lpstr>
      <vt:lpstr>Courier New</vt:lpstr>
      <vt:lpstr>Consolas</vt:lpstr>
      <vt:lpstr>Arial Black</vt:lpstr>
      <vt:lpstr>Arial Bold</vt:lpstr>
      <vt:lpstr>Times New Roman Regular</vt:lpstr>
      <vt:lpstr>Times New Roman</vt:lpstr>
      <vt:lpstr>Office 主题​​</vt:lpstr>
      <vt:lpstr>母版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Zhiqiang Zhao</cp:lastModifiedBy>
  <cp:revision>25</cp:revision>
  <dcterms:created xsi:type="dcterms:W3CDTF">2026-04-24T01:53:00Z</dcterms:created>
  <dcterms:modified xsi:type="dcterms:W3CDTF">2026-05-06T07:54:34Z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3BE014298C8173DBA087E969CE223784_42</vt:lpwstr>
  </property>
  <property fmtid="{D5CDD505-2E9C-101B-9397-08002B2CF9AE}" pid="3" name="KSOProductBuildVer">
    <vt:lpwstr>2052-12.1.0.21915</vt:lpwstr>
  </property>
</Properties>
</file>