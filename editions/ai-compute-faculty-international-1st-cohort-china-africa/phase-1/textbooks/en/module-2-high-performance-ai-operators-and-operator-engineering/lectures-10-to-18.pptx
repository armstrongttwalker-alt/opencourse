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6"/>
  </p:notesMasterIdLst>
  <p:handoutMasterIdLst>
    <p:handoutMasterId r:id="rId171"/>
  </p:handoutMasterIdLst>
  <p:sldIdLst>
    <p:sldId id="256" r:id="rId4"/>
    <p:sldId id="257" r:id="rId5"/>
    <p:sldId id="28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46" r:id="rId63"/>
    <p:sldId id="347" r:id="rId64"/>
    <p:sldId id="348" r:id="rId65"/>
    <p:sldId id="349" r:id="rId66"/>
    <p:sldId id="350" r:id="rId67"/>
    <p:sldId id="351" r:id="rId68"/>
    <p:sldId id="352" r:id="rId69"/>
    <p:sldId id="353"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3"/>
    <p:sldId id="377" r:id="rId94"/>
    <p:sldId id="378" r:id="rId95"/>
    <p:sldId id="379" r:id="rId96"/>
    <p:sldId id="380" r:id="rId97"/>
    <p:sldId id="381" r:id="rId98"/>
    <p:sldId id="382" r:id="rId99"/>
    <p:sldId id="383" r:id="rId100"/>
    <p:sldId id="384" r:id="rId101"/>
    <p:sldId id="385" r:id="rId102"/>
    <p:sldId id="386" r:id="rId103"/>
    <p:sldId id="387" r:id="rId104"/>
    <p:sldId id="388" r:id="rId105"/>
    <p:sldId id="389" r:id="rId106"/>
    <p:sldId id="390" r:id="rId107"/>
    <p:sldId id="391" r:id="rId108"/>
    <p:sldId id="392" r:id="rId109"/>
    <p:sldId id="393" r:id="rId110"/>
    <p:sldId id="394" r:id="rId111"/>
    <p:sldId id="395" r:id="rId112"/>
    <p:sldId id="396" r:id="rId113"/>
    <p:sldId id="397" r:id="rId114"/>
    <p:sldId id="398" r:id="rId115"/>
    <p:sldId id="399" r:id="rId116"/>
    <p:sldId id="400" r:id="rId117"/>
    <p:sldId id="401" r:id="rId118"/>
    <p:sldId id="402" r:id="rId119"/>
    <p:sldId id="403" r:id="rId120"/>
    <p:sldId id="404" r:id="rId121"/>
    <p:sldId id="405" r:id="rId122"/>
    <p:sldId id="406" r:id="rId123"/>
    <p:sldId id="407" r:id="rId124"/>
    <p:sldId id="408" r:id="rId125"/>
    <p:sldId id="409" r:id="rId126"/>
    <p:sldId id="410" r:id="rId127"/>
    <p:sldId id="411" r:id="rId128"/>
    <p:sldId id="412" r:id="rId129"/>
    <p:sldId id="413" r:id="rId130"/>
    <p:sldId id="414" r:id="rId131"/>
    <p:sldId id="415" r:id="rId132"/>
    <p:sldId id="416" r:id="rId133"/>
    <p:sldId id="417" r:id="rId134"/>
    <p:sldId id="418" r:id="rId135"/>
    <p:sldId id="419" r:id="rId136"/>
    <p:sldId id="420" r:id="rId137"/>
    <p:sldId id="421" r:id="rId138"/>
    <p:sldId id="422" r:id="rId139"/>
    <p:sldId id="423" r:id="rId140"/>
    <p:sldId id="424" r:id="rId141"/>
    <p:sldId id="425" r:id="rId142"/>
    <p:sldId id="426" r:id="rId143"/>
    <p:sldId id="427" r:id="rId144"/>
    <p:sldId id="428" r:id="rId145"/>
    <p:sldId id="429" r:id="rId146"/>
    <p:sldId id="430" r:id="rId147"/>
    <p:sldId id="431" r:id="rId148"/>
    <p:sldId id="432" r:id="rId149"/>
    <p:sldId id="433" r:id="rId150"/>
    <p:sldId id="434" r:id="rId151"/>
    <p:sldId id="435" r:id="rId152"/>
    <p:sldId id="436" r:id="rId153"/>
    <p:sldId id="437" r:id="rId154"/>
    <p:sldId id="438" r:id="rId155"/>
    <p:sldId id="439" r:id="rId156"/>
    <p:sldId id="440" r:id="rId157"/>
    <p:sldId id="441" r:id="rId158"/>
    <p:sldId id="442" r:id="rId159"/>
    <p:sldId id="443" r:id="rId160"/>
    <p:sldId id="444" r:id="rId161"/>
    <p:sldId id="445" r:id="rId162"/>
    <p:sldId id="446" r:id="rId163"/>
    <p:sldId id="447" r:id="rId164"/>
    <p:sldId id="448" r:id="rId165"/>
    <p:sldId id="449" r:id="rId166"/>
    <p:sldId id="450" r:id="rId167"/>
    <p:sldId id="322" r:id="rId168"/>
    <p:sldId id="323" r:id="rId169"/>
    <p:sldId id="324" r:id="rId17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4" Type="http://schemas.openxmlformats.org/officeDocument/2006/relationships/tableStyles" Target="tableStyles.xml"/><Relationship Id="rId173" Type="http://schemas.openxmlformats.org/officeDocument/2006/relationships/viewProps" Target="viewProps.xml"/><Relationship Id="rId172" Type="http://schemas.openxmlformats.org/officeDocument/2006/relationships/presProps" Target="presProps.xml"/><Relationship Id="rId171" Type="http://schemas.openxmlformats.org/officeDocument/2006/relationships/handoutMaster" Target="handoutMasters/handoutMaster1.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模块一：</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Background -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与注意力机制的挑战核心目标： 让听众理解为什么传统的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会成为大模型的瓶颈。封面： 序幕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的范式转移。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的心脏： 简述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架构及其在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2026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年的应用现状。什么是“注意力”： 直观比喻（图书馆检索系统）。</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矩阵的诞生： 形象化解释查询（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a:solidFill>
                  <a:srgbClr val="000000"/>
                </a:solidFill>
              </a:rPr>
              <a:t>）、键（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Key</a:t>
            </a:r>
            <a:r>
              <a:rPr lang="en-US" sz="1200" b="0" i="0" u="none" strike="noStrike">
                <a:solidFill>
                  <a:srgbClr val="000000"/>
                </a:solidFill>
              </a:rPr>
              <a:t>）与值（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Value</a:t>
            </a:r>
            <a:r>
              <a:rPr lang="en-US" sz="1200" b="0" i="0" u="none" strike="noStrike">
                <a:solidFill>
                  <a:srgbClr val="000000"/>
                </a:solidFill>
              </a:rPr>
              <a:t>）。计算流水线：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详细拆解</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$Attention(Q, K, V) = \text{softmax}(\frac{QK^T}{\sqrt{d_k}})V$</a:t>
            </a:r>
            <a:r>
              <a:rPr lang="en-US" sz="1200" b="0" i="0" u="none" strike="noStrike">
                <a:solidFill>
                  <a:srgbClr val="000000"/>
                </a:solidFill>
              </a:rPr>
              <a:t>。二次方复杂度魔咒：</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为什么序列翻倍，计算量和显存会翻四倍？算子需求分析：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矩阵乘法（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GEMM</a:t>
            </a:r>
            <a:r>
              <a:rPr lang="en-US" sz="1200" b="0" i="0" u="none" strike="noStrike">
                <a:solidFill>
                  <a:srgbClr val="000000"/>
                </a:solidFill>
              </a:rPr>
              <a:t>）与逐元素操作（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Dropout</a:t>
            </a:r>
            <a:r>
              <a:rPr lang="en-US" sz="1200" b="0" i="0" u="none" strike="noStrike">
                <a:solidFill>
                  <a:srgbClr val="000000"/>
                </a:solidFill>
              </a:rPr>
              <a:t>）。内存墙问题：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简单引入计算密集型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vs.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访存密集型任务。数据流向图： 展示标准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显存中的频繁读写。痛点总结： 显存溢出（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OOM</a:t>
            </a:r>
            <a:r>
              <a:rPr lang="en-US" sz="1200" b="0" i="0" u="none" strike="noStrike">
                <a:solidFill>
                  <a:srgbClr val="000000"/>
                </a:solidFill>
              </a:rPr>
              <a:t>）与长文本处理的限制。过渡页：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寻求突破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我们真的需要存储那个巨大的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矩阵吗？</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循环神经网络（</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1" i="0" u="none" strike="noStrike">
                <a:solidFill>
                  <a:srgbClr val="000000"/>
                </a:solidFill>
              </a:rPr>
              <a:t>）</a:t>
            </a:r>
            <a:r>
              <a:rPr lang="en-US" sz="1200" b="0" i="0" u="none" strike="noStrike">
                <a:solidFill>
                  <a:srgbClr val="000000"/>
                </a:solidFill>
              </a:rPr>
              <a:t>、</a:t>
            </a:r>
            <a:r>
              <a:rPr lang="en-US" sz="1200" b="0" i="0" u="none" strike="noStrike">
                <a:solidFill>
                  <a:srgbClr val="000000"/>
                </a:solidFill>
              </a:rPr>
              <a:t>长短期记忆网络（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LSTM</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门控循环单元（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a:solidFill>
                  <a:srgbClr val="000000"/>
                </a:solidFill>
              </a:rPr>
              <a:t>）</a:t>
            </a:r>
            <a:r>
              <a:rPr lang="en-US" sz="1200" b="0" i="0" u="none" strike="noStrike">
                <a:solidFill>
                  <a:srgbClr val="000000"/>
                </a:solidFill>
              </a:rPr>
              <a:t>的模型在自然语言处理（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a:t>
            </a:r>
            <a:r>
              <a:rPr lang="en-US" sz="1200" b="0" i="0" u="none" strike="noStrike">
                <a:solidFill>
                  <a:srgbClr val="000000"/>
                </a:solidFill>
              </a:rPr>
              <a:t>）领域曾占据举足轻重的地位。</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a:solidFill>
                  <a:srgbClr val="000000"/>
                </a:solidFill>
              </a:rPr>
              <a:t>：最早可追溯至</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20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世纪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80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年代，是最早用于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的序列模型之一。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LSTM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GRU</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LSTM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Hochreiter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Schmidhuber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1997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年提出，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则由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Cho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等人于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2014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年提出。它们作为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的变体，旨在通过引入额外的“门控机制”来捕捉短期和长期记忆，从而有效解决</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问题并更出色地处理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长期依赖关系</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由于这些模型能够处理序列数据并随时间推移保留上下文信息，它们一度成为机器翻译、情感分析和文本生成等各类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任务的首选解决方案。</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虽然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LSTM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GRU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仍然是解决众多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挑战时不可或缺的主流工具，但其底层数学原理也带来了一系列局限性。</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长程依赖困境：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这些模型在处理</a:t>
            </a:r>
            <a:r>
              <a:rPr lang="en-US" sz="1200" b="0" i="0" u="none" strike="noStrike">
                <a:solidFill>
                  <a:srgbClr val="000000"/>
                </a:solidFill>
              </a:rPr>
              <a:t>长程依赖（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long-range dependencies</a:t>
            </a:r>
            <a:r>
              <a:rPr lang="en-US" sz="1200" b="0" i="0" u="none" strike="noStrike">
                <a:solidFill>
                  <a:srgbClr val="000000"/>
                </a:solidFill>
              </a:rPr>
              <a:t>）</a:t>
            </a:r>
            <a:r>
              <a:rPr lang="en-US" sz="1200" b="0" i="0" u="none" strike="noStrike">
                <a:solidFill>
                  <a:srgbClr val="000000"/>
                </a:solidFill>
              </a:rPr>
              <a:t>时显得力不从心，难以捕获序列中远距离元素之间的信息。</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梯度消失（</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vanishing gradient</a:t>
            </a:r>
            <a:r>
              <a:rPr lang="en-US" sz="1200" b="0" i="0" u="none" strike="noStrike">
                <a:solidFill>
                  <a:srgbClr val="000000"/>
                </a:solidFill>
              </a:rPr>
              <a:t>）</a:t>
            </a:r>
            <a:r>
              <a:rPr lang="en-US" sz="1200" b="0" i="0" u="none" strike="noStrike">
                <a:solidFill>
                  <a:srgbClr val="000000"/>
                </a:solidFill>
              </a:rPr>
              <a:t>现象阻碍了模型在长序列中进行学习或传播梯度的能力，这不仅拖慢了训练进度，也限制了模型有效建模复杂关系的能力。</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长序列处理瓶颈：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面对长序列时，模型的局限性愈发明显。随着输入序列的增长，编码器生成的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固定尺寸表示（</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fixed-size representation</a:t>
            </a:r>
            <a:r>
              <a:rPr lang="en-US" sz="1200" b="1" i="0" u="none" strike="noStrike">
                <a:solidFill>
                  <a:srgbClr val="000000"/>
                </a:solidFill>
              </a:rPr>
              <a:t>）不足以保留所有必要的上下文信息，从而导致信息丢失和性能下降（这也被称为信息瓶颈</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生成挑战：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因此，利用传统的固定尺寸上下文向量来生成长序列变得极具挑战性。</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模型最初是在论文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Is All You Need</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中提出的，其在特定任务上的表现超越了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Google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神经网络机器翻译（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GNMT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）模型。然而，其最大的优势在于它非常适合</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处理。</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从将模型视为一个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单独的黑箱</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开始，在机器翻译的应用中，这个模型会接收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一种语言的句子作为输入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，然后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输出另一种语言的翻译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拆开这个黑盒，我们会看到一个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编码组件（</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encoding component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解码组件（</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decoding component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，以及它们之间的连接。</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编码组件是由一</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叠（</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stack</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构成的（论文中将六个编码器堆叠在一起</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这个数字六并非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magic number</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，当然可以尝试其他的安排）。解码组件也是由</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相同数量</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的解码器堆叠而成的。</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注意力机制的实际应用示例</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假设我们想将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计算机科学系</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哲学系</a:t>
            </a:r>
            <a:r>
              <a:rPr lang="en-US" sz="1200" b="0" i="0" u="none" strike="noStrike">
                <a:solidFill>
                  <a:srgbClr val="000000"/>
                </a:solidFill>
              </a:rPr>
              <a:t>（两个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a:solidFill>
                  <a:srgbClr val="000000"/>
                </a:solidFill>
              </a:rPr>
              <a:t>）转换为模型可以理解的向量，并且数据库中有四门学科（四个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键值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Key-Value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对）：英语、社会学、数学和物理。</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接下来，我们需要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t>
            </a:r>
            <a:r>
              <a:rPr lang="en-US" sz="1200" b="1" i="0" u="none" strike="noStrike">
                <a:solidFill>
                  <a:srgbClr val="000000"/>
                </a:solidFill>
              </a:rPr>
              <a:t>（值）的向量。在这里，我设置</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dv​=3</a:t>
            </a:r>
            <a:r>
              <a:rPr lang="en-US" sz="1200" b="1" i="0" u="none" strike="noStrike">
                <a:solidFill>
                  <a:srgbClr val="000000"/>
                </a:solidFill>
              </a:rPr>
              <a:t>，其中</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 </a:t>
            </a:r>
            <a:r>
              <a:rPr lang="en-US" sz="1200" b="1" i="0" u="none" strike="noStrike">
                <a:solidFill>
                  <a:srgbClr val="000000"/>
                </a:solidFill>
              </a:rPr>
              <a:t>中的三个值代表记忆力、语言能力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逻辑推理能力</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注：在现实中，我们无法知道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rPr>
              <a:t>矩阵的列代表什么，模型会自行找出它们应该代表的特征。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学科，要取得好成绩，所需的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记忆力、语言能力和逻辑推理能力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得分分别是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英语：</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侧重于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语言能力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(12.0)</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侧重于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逻辑推理能力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(13.0)</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社会学：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侧重于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(11.0)</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要在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系取得好成绩，所需的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记忆力、语言能力和逻辑推理能力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得分（根据学科重要性加权平均）分别是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计算机科学系：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强调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逻辑推理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(10.1)</a:t>
            </a:r>
            <a:r>
              <a:rPr lang="en-US" sz="1200" b="0" i="0" u="none" strike="noStrike">
                <a:solidFill>
                  <a:srgbClr val="000000"/>
                </a:solidFill>
              </a:rPr>
              <a:t>，记忆力和语言能力得分较低。</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哲学系：</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强调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(8.3)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和语言能力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(8.7)</a:t>
            </a:r>
            <a:r>
              <a:rPr lang="en-US" sz="1200" b="0" i="0" u="none" strike="noStrike">
                <a:solidFill>
                  <a:srgbClr val="000000"/>
                </a:solidFill>
              </a:rPr>
              <a:t>，逻辑推理得分相对最低。</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加载输入数据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(Load)</a:t>
            </a:r>
            <a:r>
              <a:rPr lang="en-US" sz="1200" b="0" i="0" u="none" strike="noStrike">
                <a:solidFill>
                  <a:srgbClr val="000000"/>
                </a:solidFill>
              </a:rPr>
              <a:t>，把</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加载到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计算注意力分数矩阵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Kernel 1: MatMul &amp; Scale</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结果矩阵大小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的大小是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rPr>
              <a:t>。这是瓶颈的根源。如果序列长度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N=4096</a:t>
            </a:r>
            <a:r>
              <a:rPr lang="en-US" sz="1200" b="0" i="0" u="none" strike="noStrike">
                <a:solidFill>
                  <a:srgbClr val="000000"/>
                </a:solidFill>
              </a:rPr>
              <a:t>，矩阵大小为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16,777,216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个元素。</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写入注意力分数矩阵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rPr>
              <a:t>（瓶颈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中间结果回写）</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必须将完整的、巨大的中间结果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 </a:t>
            </a:r>
            <a:r>
              <a:rPr lang="en-US" sz="1200" b="0" i="0" u="none" strike="noStrike">
                <a:solidFill>
                  <a:srgbClr val="000000"/>
                </a:solidFill>
              </a:rPr>
              <a:t>从计算核心写回慢速的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应用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Kernel 2: Softmax</a:t>
            </a:r>
            <a:r>
              <a:rPr lang="en-US" sz="1200" b="0"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重新读取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执行逐行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运算，得到归一化的注意力权重矩阵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Sw</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写入注意力权重矩阵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Sw </a:t>
            </a:r>
            <a:r>
              <a:rPr lang="en-US" sz="1200" b="0" i="0" u="none" strike="noStrike">
                <a:solidFill>
                  <a:srgbClr val="000000"/>
                </a:solidFill>
              </a:rPr>
              <a:t>（瓶颈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中间结果回写）</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必须将完整的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矩阵写回慢速的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计算最终输出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 </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Kernel 3: MatMul</a:t>
            </a:r>
            <a:r>
              <a:rPr lang="en-US" sz="1200" b="0"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重新读取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必须从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重新读取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GPU Core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执行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的矩阵乘法，得到最终的输出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a:t>
            </a:r>
            <a:r>
              <a:rPr lang="en-US" sz="1200" b="0" i="0" u="none" strike="noStrike">
                <a:solidFill>
                  <a:srgbClr val="000000"/>
                </a:solidFill>
              </a:rPr>
              <a:t>。将最终输出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 </a:t>
            </a:r>
            <a:r>
              <a:rPr lang="en-US" sz="1200" b="0" i="0" u="none" strike="noStrike">
                <a:solidFill>
                  <a:srgbClr val="000000"/>
                </a:solidFill>
              </a:rPr>
              <a:t>写回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编码器在结构上都是相同的（但它们不共享权重）。每个编码器都分解为两个子层（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sub-layers</a:t>
            </a:r>
            <a:r>
              <a:rPr lang="en-US" sz="1200" b="0" i="0" u="none" strike="noStrike">
                <a:solidFill>
                  <a:srgbClr val="000000"/>
                </a:solidFill>
              </a:rPr>
              <a:t>）：多头自注意力机制（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Multi-Head Self-Attention Mechanism</a:t>
            </a:r>
            <a:r>
              <a:rPr lang="en-US" sz="1200" b="0" i="0" u="none" strike="noStrike">
                <a:solidFill>
                  <a:srgbClr val="000000"/>
                </a:solidFill>
              </a:rPr>
              <a:t>）这个子层帮助编码器在处理特定词语时，能够权衡输入句子中所有其他词语的重要性。简单的前馈网络（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Simple, Position-wise Feed-Forward Network</a:t>
            </a:r>
            <a:r>
              <a:rPr lang="en-US" sz="1200" b="0" i="0" u="none" strike="noStrike">
                <a:solidFill>
                  <a:srgbClr val="000000"/>
                </a:solidFill>
              </a:rPr>
              <a:t>）这是一个标准的全连接前馈网络，它独立地应用于序列中的每个位置（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position</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Decoder</a:t>
            </a:r>
            <a:r>
              <a:rPr lang="en-US" sz="1200" b="0" i="0" u="none" strike="noStrike">
                <a:solidFill>
                  <a:srgbClr val="000000"/>
                </a:solidFill>
              </a:rPr>
              <a:t>）也包含这两个层，但在它们之间还有一个注意力层，这个层帮助解码器聚焦于输入句子中的相关部分（类似于注意力机制在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seq2seq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模型中所起的作用）。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既然我们已经了解了模型的主要组成部分，现在让我们开始关注各种</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张量</a:t>
            </a:r>
            <a:r>
              <a:rPr lang="en-US" sz="1200" b="0" i="0" u="none" strike="noStrike">
                <a:solidFill>
                  <a:srgbClr val="000000"/>
                </a:solidFill>
              </a:rPr>
              <a:t>，以及它们如何在这些组件之间流动，从而将一个经过训练的模型的输入转化为输出。</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正如一般的自然语言处理（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NLP</a:t>
            </a:r>
            <a:r>
              <a:rPr lang="en-US" sz="1200" b="0" i="0" u="none" strike="noStrike">
                <a:solidFill>
                  <a:srgbClr val="000000"/>
                </a:solidFill>
              </a:rPr>
              <a:t>）应用一样，我们首先使用</a:t>
            </a:r>
            <a:r>
              <a:rPr lang="en-US" sz="1200" b="0" i="0" u="none" strike="noStrike">
                <a:solidFill>
                  <a:srgbClr val="000000"/>
                </a:solidFill>
              </a:rPr>
              <a:t>嵌入算法（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embedding algorithm</a:t>
            </a:r>
            <a:r>
              <a:rPr lang="en-US" sz="1200" b="0" i="0" u="none" strike="noStrike">
                <a:solidFill>
                  <a:srgbClr val="000000"/>
                </a:solidFill>
              </a:rPr>
              <a:t>）</a:t>
            </a:r>
            <a:r>
              <a:rPr lang="en-US" sz="1200" b="0" i="0" u="none" strike="noStrike">
                <a:solidFill>
                  <a:srgbClr val="000000"/>
                </a:solidFill>
              </a:rPr>
              <a:t>将每个输入词语转换成一个向量。</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每个词语都被嵌入到一个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512</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的向量中。嵌入操作</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只发生在最底部的编码器</a:t>
            </a:r>
            <a:r>
              <a:rPr lang="en-US" sz="1200" b="0" i="0" u="none" strike="noStrike">
                <a:solidFill>
                  <a:srgbClr val="000000"/>
                </a:solidFill>
              </a:rPr>
              <a:t>。所有编码器共有的抽象特性是：它们接收一个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512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的向量列表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作为输入。在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最底部的编码器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中，这个列表是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词嵌入</a:t>
            </a:r>
            <a:r>
              <a:rPr lang="en-US" sz="1200" b="0" i="0" u="none" strike="noStrike">
                <a:solidFill>
                  <a:srgbClr val="000000"/>
                </a:solidFill>
              </a:rPr>
              <a:t>。在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其他编码器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中，这个列表是紧邻</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下方编码器的输出</a:t>
            </a:r>
            <a:r>
              <a:rPr lang="en-US" sz="1200" b="0" i="0" u="none" strike="noStrike">
                <a:solidFill>
                  <a:srgbClr val="000000"/>
                </a:solidFill>
              </a:rPr>
              <a:t>。这个列表的大小是一个我们可以设置的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超参数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它基本上就是我们训练数据集中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最长句子的长度</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在将输入序列中的词语嵌入后，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会流经编码器的两个层。</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在这里，我们开始看到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的一个关键特性：</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每个位置的词语都沿着自己在编码器中的路径流动</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中，这些路径之间存在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依赖关系</a:t>
            </a:r>
            <a:r>
              <a:rPr lang="en-US" sz="1200" b="0" i="0" u="none" strike="noStrike">
                <a:solidFill>
                  <a:srgbClr val="000000"/>
                </a:solidFill>
              </a:rPr>
              <a:t>（即相互影响）。</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没有</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这些依赖关系，因此当数据流经前馈层时，各个路径可以</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并行执行</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正如我们前面提到的，一个编码器接收一个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向量列表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作为输入。它通过以下步骤处理这个列表：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将这些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 layer</a:t>
            </a:r>
            <a:r>
              <a:rPr lang="en-US" sz="1200" b="0" i="0" u="none" strike="noStrike">
                <a:solidFill>
                  <a:srgbClr val="000000"/>
                </a:solidFill>
              </a:rPr>
              <a:t>）</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接着输入到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前馈神经网</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向量输入到**“自注意力”层（</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络（</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feed-forward neural network</a:t>
            </a:r>
            <a:r>
              <a:rPr lang="en-US" sz="1200" b="1" i="0" u="none" strike="noStrike">
                <a:solidFill>
                  <a:srgbClr val="000000"/>
                </a:solidFill>
              </a:rPr>
              <a:t>）</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然后将最终输出向上传递给</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下一个编码器</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这个过程在编码器堆栈中重复进行，直到最顶层的编码器输出最终的编码结果，供解码器使用。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不要被我随口说出的“自注意力”（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rPr>
              <a:t>）这个词所迷惑，好像它是一个人人都应熟悉的概念。</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假设下面这句话是我们想要翻译的输入句：</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animal didn't cross the street because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was too tired”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在这个句子中，</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1" i="0" u="none" strike="noStrike">
                <a:solidFill>
                  <a:srgbClr val="000000"/>
                </a:solidFill>
              </a:rPr>
              <a:t>（它）指代的是什么？它指的是街道（</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street</a:t>
            </a:r>
            <a:r>
              <a:rPr lang="en-US" sz="1200" b="1" i="0" u="none" strike="noStrike">
                <a:solidFill>
                  <a:srgbClr val="000000"/>
                </a:solidFill>
              </a:rPr>
              <a:t>）还是动物（</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1" i="0" u="none" strike="noStrike">
                <a:solidFill>
                  <a:srgbClr val="000000"/>
                </a:solidFill>
              </a:rPr>
              <a:t>）</a:t>
            </a:r>
            <a:r>
              <a:rPr lang="en-US" sz="1200" b="0" i="0" u="none" strike="noStrike">
                <a:solidFill>
                  <a:srgbClr val="000000"/>
                </a:solidFill>
              </a:rPr>
              <a:t>？对人类来说，这是一个简单的问题，但对算法来说却并非如此。</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当模型处理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允许模型将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联系起来。</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当模型处理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每个词语</a:t>
            </a:r>
            <a:r>
              <a:rPr lang="en-US" sz="1200" b="0" i="0" u="none" strike="noStrike">
                <a:solidFill>
                  <a:srgbClr val="000000"/>
                </a:solidFill>
              </a:rPr>
              <a:t>（即输入序列中的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每个位置</a:t>
            </a:r>
            <a:r>
              <a:rPr lang="en-US" sz="1200" b="0" i="0" u="none" strike="noStrike">
                <a:solidFill>
                  <a:srgbClr val="000000"/>
                </a:solidFill>
              </a:rPr>
              <a:t>）时，自注意力机制允许它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查看输入序列中的其他位置</a:t>
            </a:r>
            <a:r>
              <a:rPr lang="en-US" sz="1200" b="0" i="0" u="none" strike="noStrike">
                <a:solidFill>
                  <a:srgbClr val="000000"/>
                </a:solidFill>
              </a:rPr>
              <a:t>，以寻找有助于对当前词语进行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更好编码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的线索。</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如果您熟悉循环神经网络（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a:t>
            </a:r>
            <a:r>
              <a:rPr lang="en-US" sz="1200" b="0" i="0" u="none" strike="noStrike">
                <a:solidFill>
                  <a:srgbClr val="000000"/>
                </a:solidFill>
              </a:rPr>
              <a:t>），可以想象</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维护一个隐藏状态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是如何让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RNN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将它处理过的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先前词语</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向量的表示</a:t>
            </a:r>
            <a:r>
              <a:rPr lang="en-US" sz="1200" b="0" i="0" u="none" strike="noStrike">
                <a:solidFill>
                  <a:srgbClr val="000000"/>
                </a:solidFill>
              </a:rPr>
              <a:t>，融入到它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当前正在处理的词语</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就是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用来将对其他相关词语的“理解”</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融入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到我们当前正在处理的词语中的方法。</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比如，当我们正在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a:t>
            </a:r>
            <a:r>
              <a:rPr lang="en-US" sz="1200" b="0" i="0" u="none" strike="noStrike">
                <a:solidFill>
                  <a:srgbClr val="000000"/>
                </a:solidFill>
              </a:rPr>
              <a:t>（堆栈中最上面的编码器）中编码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这个词时，注意力机制的一部分就</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聚焦</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“The 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上，并将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的一部分表示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融入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的编码中。</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计算自注意力机制的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是从编码器的每个输入向量（在本例中，即每个词的嵌入向量）创建三个新的向量：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Query Vector, Q</a:t>
            </a:r>
            <a:r>
              <a:rPr lang="en-US" sz="1200" b="1" i="0" u="none" strike="noStrike">
                <a:solidFill>
                  <a:srgbClr val="000000"/>
                </a:solidFill>
              </a:rPr>
              <a:t>）</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 Vector, K</a:t>
            </a:r>
            <a:r>
              <a:rPr lang="en-US" sz="1200" b="1" i="0" u="none" strike="noStrike">
                <a:solidFill>
                  <a:srgbClr val="000000"/>
                </a:solidFill>
              </a:rPr>
              <a:t>）和值向量（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 Vector, V</a:t>
            </a:r>
            <a:r>
              <a:rPr lang="en-US" sz="1200" b="1" i="0" u="none" strike="noStrike">
                <a:solidFill>
                  <a:srgbClr val="000000"/>
                </a:solidFill>
              </a:rPr>
              <a:t>）</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这些向量是通过将词嵌入向量分别乘以三个在训练过程中学习到的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权重矩阵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WV </a:t>
            </a:r>
            <a:r>
              <a:rPr lang="en-US" sz="1200" b="0" i="0" u="none" strike="noStrike">
                <a:solidFill>
                  <a:srgbClr val="000000"/>
                </a:solidFill>
              </a:rPr>
              <a:t>来创建的。</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Q=Embedding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WQK=Embedding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WKV=Embedding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WV</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向量维度</a:t>
            </a:r>
            <a:r>
              <a:rPr lang="en-US" sz="1200" b="0" i="0" u="none" strike="noStrike">
                <a:solidFill>
                  <a:srgbClr val="000000"/>
                </a:solidFill>
              </a:rPr>
              <a:t>：请注意，这些新的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向量的维度（在论文中是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64</a:t>
            </a:r>
            <a:r>
              <a:rPr lang="en-US" sz="1200" b="0" i="0" u="none" strike="noStrike">
                <a:solidFill>
                  <a:srgbClr val="000000"/>
                </a:solidFill>
              </a:rPr>
              <a:t>）小于嵌入向量的维度（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512</a:t>
            </a:r>
            <a:r>
              <a:rPr lang="en-US" sz="1200" b="0" i="0" u="none" strike="noStrike">
                <a:solidFill>
                  <a:srgbClr val="000000"/>
                </a:solidFill>
              </a:rPr>
              <a:t>）。它们</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并非必须</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更小，这是一种架构选择，主要是为了保持多头注意力（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Multi-Head Attention</a:t>
            </a:r>
            <a:r>
              <a:rPr lang="en-US" sz="1200" b="0" i="0" u="none" strike="noStrike">
                <a:solidFill>
                  <a:srgbClr val="000000"/>
                </a:solidFill>
              </a:rPr>
              <a:t>）的计算复杂度（大致）恒定。</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抽象作用</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是用于计算和思考注意力机制的抽象概念。</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1" i="0" u="none" strike="noStrike">
                <a:solidFill>
                  <a:srgbClr val="000000"/>
                </a:solidFill>
              </a:rPr>
              <a:t>（查询）</a:t>
            </a:r>
            <a:r>
              <a:rPr lang="en-US" sz="1200" b="0" i="0" u="none" strike="noStrike">
                <a:solidFill>
                  <a:srgbClr val="000000"/>
                </a:solidFill>
              </a:rPr>
              <a:t>：代表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词语，用于向其他所有词语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提问</a:t>
            </a:r>
            <a:r>
              <a:rPr lang="en-US" sz="1200" b="0" i="0" u="none" strike="noStrike">
                <a:solidFill>
                  <a:srgbClr val="000000"/>
                </a:solidFill>
              </a:rPr>
              <a:t>（查询）：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我们应该关注你多少？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609600" lvl="1"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a:solidFill>
                  <a:srgbClr val="000000"/>
                </a:solidFill>
              </a:rPr>
              <a:t>（键）</a:t>
            </a:r>
            <a:r>
              <a:rPr lang="en-US" sz="1200" b="0" i="0" u="none" strike="noStrike">
                <a:solidFill>
                  <a:srgbClr val="000000"/>
                </a:solidFill>
              </a:rPr>
              <a:t>：代表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词语，用于回答查询：“我的信息是什么？我有多重要？”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t>
            </a:r>
            <a:r>
              <a:rPr lang="en-US" sz="1200" b="1" i="0" u="none" strike="noStrike">
                <a:solidFill>
                  <a:srgbClr val="000000"/>
                </a:solidFill>
              </a:rPr>
              <a:t>（值）</a:t>
            </a:r>
            <a:r>
              <a:rPr lang="en-US" sz="1200" b="0" i="0" u="none" strike="noStrike">
                <a:solidFill>
                  <a:srgbClr val="000000"/>
                </a:solidFill>
              </a:rPr>
              <a:t>：代表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词语的实际内容，用于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加权求和</a:t>
            </a:r>
            <a:r>
              <a:rPr lang="en-US" sz="1200" b="0" i="0" u="none" strike="noStrike">
                <a:solidFill>
                  <a:srgbClr val="000000"/>
                </a:solidFill>
              </a:rPr>
              <a:t>，形成最终的输出。</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是计算</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score</a:t>
            </a:r>
            <a:r>
              <a:rPr lang="en-US" sz="1200" b="1" i="0" u="none" strike="noStrike">
                <a:solidFill>
                  <a:srgbClr val="000000"/>
                </a:solidFill>
              </a:rPr>
              <a:t>）</a:t>
            </a:r>
            <a:r>
              <a:rPr lang="en-US" sz="1200" b="0" i="0" u="none" strike="noStrike">
                <a:solidFill>
                  <a:srgbClr val="000000"/>
                </a:solidFill>
              </a:rPr>
              <a:t>。假设我们正在为示例中的第一个词</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“Thinking”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计算自注意力。我们需要用这个词来衡量（评分）输入句子中的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所有其他词</a:t>
            </a:r>
            <a:r>
              <a:rPr lang="en-US" sz="1200" b="0" i="0" u="none" strike="noStrike">
                <a:solidFill>
                  <a:srgbClr val="000000"/>
                </a:solidFill>
              </a:rPr>
              <a:t>。这个得分决定了在编码某个位置的词时，应该对输入句子的其他部分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给予多少关注</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得分是通过计算**查询向量（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q1​</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相应词的键向量（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ki​</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点积（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dot product</a:t>
            </a:r>
            <a:r>
              <a:rPr lang="en-US" sz="1200" b="0" i="0" u="none" strike="noStrike">
                <a:solidFill>
                  <a:srgbClr val="000000"/>
                </a:solidFill>
              </a:rPr>
              <a:t>）</a:t>
            </a:r>
            <a:r>
              <a:rPr lang="en-US" sz="1200" b="0" i="0" u="none" strike="noStrike">
                <a:solidFill>
                  <a:srgbClr val="000000"/>
                </a:solidFill>
              </a:rPr>
              <a:t>来计算的。</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对于位置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的词，第一个得分是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q1​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k1​ </a:t>
            </a:r>
            <a:r>
              <a:rPr lang="en-US" sz="1200" b="0" i="0" u="none" strike="noStrike">
                <a:solidFill>
                  <a:srgbClr val="000000"/>
                </a:solidFill>
              </a:rPr>
              <a:t>的点积。第二个得分是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q1​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k2​ </a:t>
            </a:r>
            <a:r>
              <a:rPr lang="en-US" sz="1200" b="0" i="0" u="none" strike="noStrike">
                <a:solidFill>
                  <a:srgbClr val="000000"/>
                </a:solidFill>
              </a:rPr>
              <a:t>的点积，依此类推。</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将得分除以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dk​ </a:t>
            </a:r>
            <a:r>
              <a:rPr lang="en-US" sz="1200" b="0" i="0" u="none" strike="noStrike">
                <a:solidFill>
                  <a:srgbClr val="000000"/>
                </a:solidFill>
              </a:rPr>
              <a:t>是键向量的维度，论文中是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64</a:t>
            </a:r>
            <a:r>
              <a:rPr lang="en-US" sz="1200" b="0" i="0" u="none" strike="noStrike">
                <a:solidFill>
                  <a:srgbClr val="000000"/>
                </a:solidFill>
              </a:rPr>
              <a:t>，因此除以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64​=8</a:t>
            </a:r>
            <a:r>
              <a:rPr lang="en-US" sz="1200" b="0" i="0" u="none" strike="noStrike">
                <a:solidFill>
                  <a:srgbClr val="000000"/>
                </a:solidFill>
              </a:rPr>
              <a:t>）。这个</a:t>
            </a:r>
            <a:r>
              <a:rPr lang="en-US" sz="1200" b="0" i="0" u="none" strike="noStrike">
                <a:solidFill>
                  <a:srgbClr val="000000"/>
                </a:solidFill>
              </a:rPr>
              <a:t>缩放（</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scaling</a:t>
            </a:r>
            <a:r>
              <a:rPr lang="en-US" sz="1200" b="0" i="0" u="none" strike="noStrike">
                <a:solidFill>
                  <a:srgbClr val="000000"/>
                </a:solidFill>
              </a:rPr>
              <a:t>）</a:t>
            </a:r>
            <a:r>
              <a:rPr lang="en-US" sz="1200" b="0" i="0" u="none" strike="noStrike">
                <a:solidFill>
                  <a:srgbClr val="000000"/>
                </a:solidFill>
              </a:rPr>
              <a:t>操作有助于防止点积结果过大，从而保持梯度更稳定。</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将结果通过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这些分数，使它们都变为正值，并且</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总和为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第五步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是将每个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 Vector</a:t>
            </a:r>
            <a:r>
              <a:rPr lang="en-US" sz="1200" b="1" i="0" u="none" strike="noStrike">
                <a:solidFill>
                  <a:srgbClr val="000000"/>
                </a:solidFill>
              </a:rPr>
              <a:t>）乘以对应的</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分数（为求和做准备）。直观地讲，这个操作旨在保留</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我们希望关注的词语的值，同时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弱化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不相关词语的影响（例如，将不相关词语的值乘以像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0.001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这样微小的数字）。</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第六步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求和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这些加权后的值向量。这个最终得到的向量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Z1​ </a:t>
            </a:r>
            <a:r>
              <a:rPr lang="en-US" sz="1200" b="0" i="0" u="none" strike="noStrike">
                <a:solidFill>
                  <a:srgbClr val="000000"/>
                </a:solidFill>
              </a:rPr>
              <a:t>就是自注意力层在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该位置</a:t>
            </a:r>
            <a:r>
              <a:rPr lang="en-US" sz="1200" b="0" i="0" u="none" strike="noStrike">
                <a:solidFill>
                  <a:srgbClr val="000000"/>
                </a:solidFill>
              </a:rPr>
              <a:t>（第一个词）的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自注意力机制的矩阵计算</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是计算</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Query Matrix, Q</a:t>
            </a:r>
            <a:r>
              <a:rPr lang="en-US" sz="1200" b="1" i="0" u="none" strike="noStrike">
                <a:solidFill>
                  <a:srgbClr val="000000"/>
                </a:solidFill>
              </a:rPr>
              <a:t>）</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 Matrix, K</a:t>
            </a:r>
            <a:r>
              <a:rPr lang="en-US" sz="1200" b="1" i="0" u="none" strike="noStrike">
                <a:solidFill>
                  <a:srgbClr val="000000"/>
                </a:solidFill>
              </a:rPr>
              <a:t>）和值矩阵（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 Matrix, V</a:t>
            </a:r>
            <a:r>
              <a:rPr lang="en-US" sz="1200" b="1" i="0" u="none" strike="noStrike">
                <a:solidFill>
                  <a:srgbClr val="000000"/>
                </a:solidFill>
              </a:rPr>
              <a:t>）</a:t>
            </a:r>
            <a:r>
              <a:rPr lang="en-US" sz="1200" b="0" i="0" u="none" strike="noStrike">
                <a:solidFill>
                  <a:srgbClr val="000000"/>
                </a:solidFill>
              </a:rPr>
              <a:t>。我们通过将所有的词嵌入向量打包成一个矩阵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a:solidFill>
                  <a:srgbClr val="000000"/>
                </a:solidFill>
              </a:rPr>
              <a:t>，然后将其乘以我们训练好的权重矩阵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WV </a:t>
            </a:r>
            <a:r>
              <a:rPr lang="en-US" sz="1200" b="0" i="0" u="none" strike="noStrike">
                <a:solidFill>
                  <a:srgbClr val="000000"/>
                </a:solidFill>
              </a:rPr>
              <a:t>来完成。</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a:solidFill>
                  <a:srgbClr val="000000"/>
                </a:solidFill>
              </a:rPr>
              <a:t>：矩阵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X </a:t>
            </a:r>
            <a:r>
              <a:rPr lang="en-US" sz="1200" b="0" i="0" u="none" strike="noStrike">
                <a:solidFill>
                  <a:srgbClr val="000000"/>
                </a:solidFill>
              </a:rPr>
              <a:t>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都对应输入句子中的一个词语的嵌入向量。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论文通过增加一个名为**“多头”（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multi-headed</a:t>
            </a:r>
            <a:r>
              <a:rPr lang="en-US" sz="1200" b="0" i="0" u="none" strike="noStrike">
                <a:solidFill>
                  <a:srgbClr val="000000"/>
                </a:solidFill>
              </a:rPr>
              <a:t>）注意力</a:t>
            </a:r>
            <a:r>
              <a:rPr lang="en-US" sz="1200" b="0" i="0" u="none" strike="noStrike">
                <a:solidFill>
                  <a:srgbClr val="000000"/>
                </a:solidFill>
              </a:rPr>
              <a:t>的机制，进一步改进了自注意力层。这从两个方面提升了注意力层的性能：</a:t>
            </a:r>
            <a:endParaRPr lang="en-US" sz="1200" b="0" i="0" u="none" strike="noStrike">
              <a:solidFill>
                <a:srgbClr val="000000"/>
              </a:solidFill>
            </a:endParaRPr>
          </a:p>
          <a:p>
            <a:pPr marL="152400" indent="-152400" algn="l">
              <a:lnSpc>
                <a:spcPct val="100000"/>
              </a:lnSpc>
              <a:buClr>
                <a:srgbClr val="000000"/>
              </a:buClr>
              <a:buFont typeface="+mj-lt"/>
              <a:buAutoNum type="arabicPeriod"/>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扩展模型关注不同位置的能力：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是的，在上面的例子中，</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z1​ </a:t>
            </a:r>
            <a:r>
              <a:rPr lang="en-US" sz="1200" b="0" i="0" u="none" strike="noStrike">
                <a:solidFill>
                  <a:srgbClr val="000000"/>
                </a:solidFill>
              </a:rPr>
              <a:t>向量包含了一点其他所有编码的信息，但它可能主要还是受它自身词语的支配。如果我们正在翻译一个像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“The animal didn’t cross the street because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was too tired”</a:t>
            </a:r>
            <a:r>
              <a:rPr lang="en-US" sz="1200" b="0" i="0" u="none" strike="noStrike">
                <a:solidFill>
                  <a:srgbClr val="000000"/>
                </a:solidFill>
              </a:rPr>
              <a:t>（这个动物没有穿过街道，因为它太累了）这样的句子，知道</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指代哪个词语（是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rPr>
              <a:t>）会非常有用。</a:t>
            </a:r>
            <a:endParaRPr lang="en-US" sz="1200" b="0" i="0" u="none" strike="noStrike">
              <a:solidFill>
                <a:srgbClr val="000000"/>
              </a:solidFill>
            </a:endParaRPr>
          </a:p>
          <a:p>
            <a:pPr marL="152400" indent="-152400" algn="l">
              <a:lnSpc>
                <a:spcPct val="100000"/>
              </a:lnSpc>
              <a:buClr>
                <a:srgbClr val="000000"/>
              </a:buClr>
              <a:buFont typeface="+mj-lt"/>
              <a:buAutoNum type="arabicPeriod"/>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赋予注意力层多个“表示子空间”（</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representation subspaces</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正如我们接下来会看到的，通过多头注意力，我们拥有的不仅仅是一组，而是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Query</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Key</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Value</a:t>
            </a:r>
            <a:r>
              <a:rPr lang="en-US" sz="1200" b="0" i="0" u="none" strike="noStrike">
                <a:solidFill>
                  <a:srgbClr val="000000"/>
                </a:solidFill>
              </a:rPr>
              <a:t>）权重矩阵（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八个</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注意力头，因此每个编码器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解码器最终有八组）。</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每一组都是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随机初始化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经过训练后，每一组都被用来将输入嵌入（或来自下层编码器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解码器的向量）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投影</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不同的表示子空间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在多头注意力机制中，我们为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每个注意力头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都维护了独立的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WV </a:t>
            </a:r>
            <a:r>
              <a:rPr lang="en-US" sz="1200" b="0" i="0" u="none" strike="noStrike">
                <a:solidFill>
                  <a:srgbClr val="000000"/>
                </a:solidFill>
              </a:rPr>
              <a:t>权重矩阵，从而得到不同的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rPr>
              <a:t>矩阵。像之前一样，我们将输入矩阵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X </a:t>
            </a:r>
            <a:r>
              <a:rPr lang="en-US" sz="1200" b="0" i="0" u="none" strike="noStrike">
                <a:solidFill>
                  <a:srgbClr val="000000"/>
                </a:solidFill>
              </a:rPr>
              <a:t>乘以这些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WQ/WK/WV </a:t>
            </a:r>
            <a:r>
              <a:rPr lang="en-US" sz="1200" b="0" i="0" u="none" strike="noStrike">
                <a:solidFill>
                  <a:srgbClr val="000000"/>
                </a:solidFill>
              </a:rPr>
              <a:t>矩阵来生成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Q/K/V </a:t>
            </a:r>
            <a:r>
              <a:rPr lang="en-US" sz="1200" b="0" i="0" u="none" strike="noStrike">
                <a:solidFill>
                  <a:srgbClr val="000000"/>
                </a:solidFill>
              </a:rPr>
              <a:t>矩阵。</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如果我们将前面概述的自注意力计算重复进行八次，每次都使用不同的权重矩阵，我们最终会得到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八个不同的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Z </a:t>
            </a:r>
            <a:r>
              <a:rPr lang="en-US" sz="1200" b="1" i="0" u="none" strike="noStrike">
                <a:solidFill>
                  <a:srgbClr val="000000"/>
                </a:solidFill>
              </a:rPr>
              <a:t>矩阵</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Z0​ </a:t>
            </a:r>
            <a:r>
              <a:rPr lang="en-US" sz="1200" b="0" i="0" u="none" strike="noStrike">
                <a:solidFill>
                  <a:srgbClr val="000000"/>
                </a:solidFill>
              </a:rPr>
              <a:t>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Z7​</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这给我们带来了一个挑战：</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前馈层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不期望八个矩阵作为输入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它期望的是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一个矩阵</a:t>
            </a:r>
            <a:r>
              <a:rPr lang="en-US" sz="1200" b="0" i="0" u="none" strike="noStrike">
                <a:solidFill>
                  <a:srgbClr val="000000"/>
                </a:solidFill>
              </a:rPr>
              <a:t>（每个词语对应一个向量）。所以我们需要一种方法将这八个矩阵</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浓缩</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成一个单一的矩阵。</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如何整合多头输出？</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我们如何做到这一点呢？</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我们将这八个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 </a:t>
            </a:r>
            <a:r>
              <a:rPr lang="en-US" sz="1200" b="0" i="0" u="none" strike="noStrike">
                <a:solidFill>
                  <a:srgbClr val="000000"/>
                </a:solidFill>
              </a:rPr>
              <a:t>矩阵</a:t>
            </a:r>
            <a:r>
              <a:rPr lang="en-US" sz="1200" b="0" i="0" u="none" strike="noStrike">
                <a:solidFill>
                  <a:srgbClr val="000000"/>
                </a:solidFill>
              </a:rPr>
              <a:t>拼接（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Concatenate</a:t>
            </a:r>
            <a:r>
              <a:rPr lang="en-US" sz="1200" b="0" i="0" u="none" strike="noStrike">
                <a:solidFill>
                  <a:srgbClr val="000000"/>
                </a:solidFill>
              </a:rPr>
              <a:t>）</a:t>
            </a:r>
            <a:r>
              <a:rPr lang="en-US" sz="1200" b="0" i="0" u="none" strike="noStrike">
                <a:solidFill>
                  <a:srgbClr val="000000"/>
                </a:solidFill>
              </a:rPr>
              <a:t>起来。</a:t>
            </a:r>
            <a:endParaRPr lang="en-US" sz="1200" b="0" i="0" u="none" strike="noStrike">
              <a:solidFill>
                <a:srgbClr val="000000"/>
              </a:solidFill>
            </a:endParaRPr>
          </a:p>
          <a:p>
            <a:pPr marL="152400" indent="-152400" algn="l">
              <a:lnSpc>
                <a:spcPct val="100000"/>
              </a:lnSpc>
              <a:buClr>
                <a:srgbClr val="000000"/>
              </a:buClr>
              <a:buFont typeface="+mj-lt"/>
              <a:buAutoNum type="arabicPeriod"/>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然后，我们将拼接后的巨大矩阵乘以一个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额外的权重矩阵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WO</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既然我们已经讨论了注意力头，让我们重新审视之前的例子，看看当我们编码句子中的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这个词时，不同的注意力头都在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关注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什么：</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当我们编码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一个注意力头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主要关注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“the animal”</a:t>
            </a:r>
            <a:r>
              <a:rPr lang="en-US" sz="1200" b="0" i="0" u="none" strike="noStrike">
                <a:solidFill>
                  <a:srgbClr val="000000"/>
                </a:solidFill>
              </a:rPr>
              <a:t>，而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另一个注意力头</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则关注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“tired”</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从某种意义上说，模型对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这个词的表示同时融入了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“animal”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“tired”</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的部分表示。</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然而，如果我们将所有注意力头都加入到画面中，事情可能会变得更难解释：</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到目前为止，我们所描述的模型缺少一种方法来解释输入序列中词语的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顺序</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为了解决这个问题，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会向每个输入词嵌入</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添加一个向量</a:t>
            </a:r>
            <a:r>
              <a:rPr lang="en-US" sz="1200" b="0" i="0" u="none" strike="noStrike">
                <a:solidFill>
                  <a:srgbClr val="000000"/>
                </a:solidFill>
              </a:rPr>
              <a:t>。这些向量遵循一个模型可以学习的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特定模式</a:t>
            </a:r>
            <a:r>
              <a:rPr lang="en-US" sz="1200" b="0" i="0" u="none" strike="noStrike">
                <a:solidFill>
                  <a:srgbClr val="000000"/>
                </a:solidFill>
              </a:rPr>
              <a:t>，这有助于模型确定每个词语的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位置</a:t>
            </a:r>
            <a:r>
              <a:rPr lang="en-US" sz="1200" b="0" i="0" u="none" strike="noStrike">
                <a:solidFill>
                  <a:srgbClr val="000000"/>
                </a:solidFill>
              </a:rPr>
              <a:t>，或序列中不同词语之间的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距离</a:t>
            </a:r>
            <a:r>
              <a:rPr lang="en-US" sz="1200" b="0" i="0" u="none" strike="noStrike">
                <a:solidFill>
                  <a:srgbClr val="000000"/>
                </a:solidFill>
              </a:rPr>
              <a:t>。其直觉是，一旦这些嵌入向量被投影到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Q/K/V </a:t>
            </a:r>
            <a:r>
              <a:rPr lang="en-US" sz="1200" b="0" i="0" u="none" strike="noStrike">
                <a:solidFill>
                  <a:srgbClr val="000000"/>
                </a:solidFill>
              </a:rPr>
              <a:t>向量中并在点积注意力中进行计算时，添加这些位置值就能提供</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有意义的距离信息</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为了让模型感知词语的顺序，我们添加了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位置编码向量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这些向量的值遵循一个特定的模式。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如果我们假设嵌入向量的维度为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a:solidFill>
                  <a:srgbClr val="000000"/>
                </a:solidFill>
              </a:rPr>
              <a:t>，那么实际的位置编码向量看起来会像这样：</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一个玩具示例：维度为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的位置编码。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那么，这个模式可能是什么样的呢？</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在下图中，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都对应一个位置编码向量。因此，第一行就是我们要添加到输入序列中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第一个词的嵌入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上的向量。每一行包含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512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每个值都在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之间。我们对其进行了颜色编码，以便图案清晰可见。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一个真实示例：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个词语（行）和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512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维度（列）的位置编码。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您可以看到它似乎在中间被分成了两半。这是因为左半部分的值是由一个函数（使用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正弦函数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sine</a:t>
            </a:r>
            <a:r>
              <a:rPr lang="en-US" sz="1200" b="0" i="0" u="none" strike="noStrike">
                <a:solidFill>
                  <a:srgbClr val="000000"/>
                </a:solidFill>
              </a:rPr>
              <a:t>）生成的，右半部分是由另一个函数（使用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余弦函数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cosine</a:t>
            </a:r>
            <a:r>
              <a:rPr lang="en-US" sz="1200" b="0" i="0" u="none" strike="noStrike">
                <a:solidFill>
                  <a:srgbClr val="000000"/>
                </a:solidFill>
              </a:rPr>
              <a:t>）生成的。然后将它们</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拼接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起来，形成每个位置编码向量。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这不是唯一可能的位置编码方法，但它的优点是能够</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扩展到未见过的序列长度</a:t>
            </a:r>
            <a:r>
              <a:rPr lang="en-US" sz="1200" b="0" i="0" u="none" strike="noStrike">
                <a:solidFill>
                  <a:srgbClr val="000000"/>
                </a:solidFill>
              </a:rPr>
              <a:t>（例如，如果我们的训练模型被要求翻译一个比我们训练集中任何句子都长的句子）。</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2020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年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7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月更新：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上图所示的位置编码来自</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Tensor2Tensor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实现。论文中展示的方法略有不同，它不是直接拼接，而是将两个信号</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交织</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在一起。下图展示了交织后的样子。</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在继续之前，我们需要提及编码器架构中的一个细节：每个编码器中的每个子层（自注意力层、前馈网络层）都有一个**残差连接（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residual connection</a:t>
            </a:r>
            <a:r>
              <a:rPr lang="en-US" sz="1200" b="0" i="0" u="none" strike="noStrike">
                <a:solidFill>
                  <a:srgbClr val="000000"/>
                </a:solidFill>
              </a:rPr>
              <a:t>）环绕，并且紧接着是一个层归一化（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layer-normalization</a:t>
            </a:r>
            <a:r>
              <a:rPr lang="en-US" sz="1200" b="0" i="0" u="none" strike="noStrike">
                <a:solidFill>
                  <a:srgbClr val="000000"/>
                </a:solidFill>
              </a:rPr>
              <a:t>）</a:t>
            </a:r>
            <a:r>
              <a:rPr lang="en-US" sz="1200" b="0" i="0" u="none" strike="noStrike">
                <a:solidFill>
                  <a:srgbClr val="000000"/>
                </a:solidFill>
              </a:rPr>
              <a:t>步骤</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残差连接的目的是将子层的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输入</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a:t>
            </a:r>
            <a:r>
              <a:rPr lang="en-US" sz="1200" b="0" i="0" u="none" strike="noStrike">
                <a:solidFill>
                  <a:srgbClr val="000000"/>
                </a:solidFill>
              </a:rPr>
              <a:t>）直接添加到子层的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Sublayer(x)</a:t>
            </a:r>
            <a:r>
              <a:rPr lang="en-US" sz="1200" b="0" i="0" u="none" strike="noStrike">
                <a:solidFill>
                  <a:srgbClr val="000000"/>
                </a:solidFill>
              </a:rPr>
              <a:t>）上，以帮助缓解深度神经网络中的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梯度消失问题</a:t>
            </a:r>
            <a:r>
              <a:rPr lang="en-US" sz="1200" b="0" i="0" u="none" strike="noStrike">
                <a:solidFill>
                  <a:srgbClr val="000000"/>
                </a:solidFill>
              </a:rPr>
              <a:t>，并加速训练。</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数学上表示为：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Output=LayerNorm(x+Sublayer(x))</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这个机制同样适用于解码器的子层。如果我们考虑一个由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个堆叠的编码器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个堆叠的解码器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组成的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模型，它的结构大致如下所示：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这种设计是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能够有效地堆叠多层并进行深度学习的关键。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既然我们已经涵盖了编码器侧的大部分概念，我们基本上也了解了解码器组件是如何工作的。但让我们来看看它们是如何协同工作的。</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编码器首先处理输入序列。</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最顶层编码器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的输出随后被转化为一组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注意力向量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1" i="0" u="none" strike="noStrike">
                <a:solidFill>
                  <a:srgbClr val="000000"/>
                </a:solidFill>
              </a:rPr>
              <a:t>（键）和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a:t>
            </a:r>
            <a:r>
              <a:rPr lang="en-US" sz="1200" b="1" i="0" u="none" strike="noStrike">
                <a:solidFill>
                  <a:srgbClr val="000000"/>
                </a:solidFill>
              </a:rPr>
              <a:t>（值）。这些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K </a:t>
            </a:r>
            <a:r>
              <a:rPr lang="en-US" sz="1200" b="1" i="0" u="none" strike="noStrike">
                <a:solidFill>
                  <a:srgbClr val="000000"/>
                </a:solidFill>
              </a:rPr>
              <a:t>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 </a:t>
            </a:r>
            <a:r>
              <a:rPr lang="en-US" sz="1200" b="1" i="0" u="none" strike="noStrike">
                <a:solidFill>
                  <a:srgbClr val="000000"/>
                </a:solidFill>
              </a:rPr>
              <a:t>将被每个解码器在其</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编码器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encoder-decoder attention</a:t>
            </a:r>
            <a:r>
              <a:rPr lang="en-US" sz="1200" b="1" i="0" u="none" strike="noStrike">
                <a:solidFill>
                  <a:srgbClr val="000000"/>
                </a:solidFill>
              </a:rPr>
              <a:t>）层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中使用，帮助解码器聚焦于输入序列中的适当位置：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完成编码阶段后，我们开始</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解码阶段</a:t>
            </a:r>
            <a:r>
              <a:rPr lang="en-US" sz="1200" b="0" i="0" u="none" strike="noStrike">
                <a:solidFill>
                  <a:srgbClr val="000000"/>
                </a:solidFill>
              </a:rPr>
              <a:t>。解码阶段的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每一步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都会输出输出序列中的一个元素（在本例中是英文翻译句子的一个词）。</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初始输入：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解码过程的第一步，需要一个</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起始标记</a:t>
            </a:r>
            <a:r>
              <a:rPr lang="en-US" sz="1200" b="0" i="0" u="none" strike="noStrike">
                <a:solidFill>
                  <a:srgbClr val="000000"/>
                </a:solidFill>
              </a:rPr>
              <a:t>，通常是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[BOS]</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Begin of Sequence</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以下步骤会重复进行，直到达到一个特殊的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&lt;eos&gt;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end of sentence</a:t>
            </a:r>
            <a:r>
              <a:rPr lang="en-US" sz="1200" b="0" i="0" u="none" strike="noStrike">
                <a:solidFill>
                  <a:srgbClr val="000000"/>
                </a:solidFill>
              </a:rPr>
              <a:t>，句子结束）</a:t>
            </a:r>
            <a:r>
              <a:rPr lang="en-US" sz="1200" b="0" i="0" u="none" strike="noStrike">
                <a:solidFill>
                  <a:srgbClr val="000000"/>
                </a:solidFill>
              </a:rPr>
              <a:t>符号，表明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解码器已完成其输出。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循环与反馈：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每一步的输出都会在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下一个时间步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被馈送到最底层的解码器，然后解码器们像编码器一样，将它们的解码结果向上传播。</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输入处理：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就像我们对编码器输入所做的那样，我们也会对这些解码器输入进行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词嵌入</a:t>
            </a:r>
            <a:r>
              <a:rPr lang="en-US" sz="1200" b="0" i="0" u="none" strike="noStrike">
                <a:solidFill>
                  <a:srgbClr val="000000"/>
                </a:solidFill>
              </a:rPr>
              <a:t>，并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添加位置编码</a:t>
            </a:r>
            <a:r>
              <a:rPr lang="en-US" sz="1200" b="0" i="0" u="none" strike="noStrike">
                <a:solidFill>
                  <a:srgbClr val="000000"/>
                </a:solidFill>
              </a:rPr>
              <a:t>，以指示每个词的位置。</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解码器中的自注意力层与编码器中的工作方式略有不同：</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遮盖自注意力（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Masked Self-Attention</a:t>
            </a:r>
            <a:r>
              <a:rPr lang="en-US" sz="1200" b="1" i="0" u="none" strike="noStrike">
                <a:solidFill>
                  <a:srgbClr val="000000"/>
                </a:solidFill>
              </a:rPr>
              <a:t>）</a:t>
            </a:r>
            <a:endParaRPr lang="en-US" sz="1200" b="1"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在解码器中，自注意力层</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只允许关注输出序列中较早的位置</a:t>
            </a:r>
            <a:r>
              <a:rPr lang="en-US" sz="1200" b="0" i="0" u="none" strike="noStrike">
                <a:solidFill>
                  <a:srgbClr val="000000"/>
                </a:solidFill>
              </a:rPr>
              <a:t>（即已生成的词语）。这是通过在自注意力计算的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步骤之前，对</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未来的位置进行遮盖</a:t>
            </a:r>
            <a:r>
              <a:rPr lang="en-US" sz="1200" b="0" i="0" u="none" strike="noStrike">
                <a:solidFill>
                  <a:srgbClr val="000000"/>
                </a:solidFill>
              </a:rPr>
              <a:t>（将其设置为负无穷大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-inf</a:t>
            </a:r>
            <a:r>
              <a:rPr lang="en-US" sz="1200" b="0" i="0" u="none" strike="noStrike">
                <a:solidFill>
                  <a:srgbClr val="000000"/>
                </a:solidFill>
              </a:rPr>
              <a:t>）来实现的。</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目的：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确保模型的预测只依赖于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已知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的输出，防止模型“偷看”到它应该预测的词语。</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Encoder-Decoder Attention</a:t>
            </a:r>
            <a:r>
              <a:rPr lang="en-US" sz="1200" b="1" i="0" u="none" strike="noStrike">
                <a:solidFill>
                  <a:srgbClr val="000000"/>
                </a:solidFill>
              </a:rPr>
              <a:t>）</a:t>
            </a:r>
            <a:endParaRPr lang="en-US" sz="1200" b="1"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这个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编码器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解码器注意力”层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的工作方式就像多头自注意力一样，但其数据的来源是：</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Queries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来自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它下面的那个解码器层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的输出。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Keys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Values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K </a:t>
            </a:r>
            <a:r>
              <a:rPr lang="en-US" sz="1200" b="1" i="0" u="none" strike="noStrike">
                <a:solidFill>
                  <a:srgbClr val="000000"/>
                </a:solidFill>
              </a:rPr>
              <a:t>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 V</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来自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编码器堆栈的最终输出</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最终的线性层和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解码器堆栈的最终输出是一个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浮点数向量</a:t>
            </a:r>
            <a:r>
              <a:rPr lang="en-US" sz="1200" b="0" i="0" u="none" strike="noStrike">
                <a:solidFill>
                  <a:srgbClr val="000000"/>
                </a:solidFill>
              </a:rPr>
              <a:t>。我们如何将这个向量转换成一个实际的词语呢？这就是</a:t>
            </a:r>
            <a:r>
              <a:rPr lang="en-US" sz="1200" b="0" i="0" u="none" strike="noStrike">
                <a:solidFill>
                  <a:srgbClr val="000000"/>
                </a:solidFill>
              </a:rPr>
              <a:t>最终的线性层（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Final Linear Layer</a:t>
            </a:r>
            <a:r>
              <a:rPr lang="en-US" sz="1200" b="0" i="0" u="none" strike="noStrike">
                <a:solidFill>
                  <a:srgbClr val="000000"/>
                </a:solidFill>
              </a:rPr>
              <a:t>）</a:t>
            </a:r>
            <a:r>
              <a:rPr lang="en-US" sz="1200" b="0" i="0" u="none" strike="noStrike">
                <a:solidFill>
                  <a:srgbClr val="000000"/>
                </a:solidFill>
              </a:rPr>
              <a:t>和紧随其后的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的工作。</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线性层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(Linear Layer)</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线性层是一个简单的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全连接神经网络</a:t>
            </a:r>
            <a:r>
              <a:rPr lang="en-US" sz="1200" b="0" i="0" u="none" strike="noStrike">
                <a:solidFill>
                  <a:srgbClr val="000000"/>
                </a:solidFill>
              </a:rPr>
              <a:t>，它的作用是将解码器堆栈产生的向量，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投影（</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projects</a:t>
            </a:r>
            <a:r>
              <a:rPr lang="en-US" sz="1200" b="1" i="0" u="none" strike="noStrike">
                <a:solidFill>
                  <a:srgbClr val="000000"/>
                </a:solidFill>
              </a:rPr>
              <a:t>）到一个大得多</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的向量，我们称之为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对数几率向量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logits vector</a:t>
            </a:r>
            <a:r>
              <a:rPr lang="en-US" sz="1200" b="1" i="0" u="none" strike="noStrike">
                <a:solidFill>
                  <a:srgbClr val="000000"/>
                </a:solidFill>
              </a:rPr>
              <a:t>）</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假设我们的模型从训练数据集中学习了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10,000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独一无二的英语词汇（即模型的“输出词汇表”）。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那么，这个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对数几率向量</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的宽度就会是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10,000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个单元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每个单元都对应一个唯一词语的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score</a:t>
            </a:r>
            <a:r>
              <a:rPr lang="en-US" sz="1200" b="1" i="0" u="none" strike="noStrike">
                <a:solidFill>
                  <a:srgbClr val="000000"/>
                </a:solidFill>
              </a:rPr>
              <a:t>）</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我们就是这样来解释模型经过线性层后的输出。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Layer)</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层接着将这些</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得分</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转换成</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probabilities</a:t>
            </a:r>
            <a:r>
              <a:rPr lang="en-US" sz="1200" b="1" i="0" u="none" strike="noStrike">
                <a:solidFill>
                  <a:srgbClr val="000000"/>
                </a:solidFill>
              </a:rPr>
              <a:t>）</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所有概率值都是正数。</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所有概率值加起来等于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1.0</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仅解码器模型背后的核心思想是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自回归（</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Autoregression</a:t>
            </a:r>
            <a:r>
              <a:rPr lang="en-US" sz="1200" b="1" i="0" u="none" strike="noStrike">
                <a:solidFill>
                  <a:srgbClr val="000000"/>
                </a:solidFill>
              </a:rPr>
              <a:t>）</a:t>
            </a:r>
            <a:r>
              <a:rPr lang="en-US" sz="1200" b="0" i="0" u="none" strike="noStrike">
                <a:solidFill>
                  <a:srgbClr val="000000"/>
                </a:solidFill>
              </a:rPr>
              <a:t>。这意味着它们通过根据序列中</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之前的所有内容</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来**预测下一个词元（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a:t>
            </a:r>
            <a:r>
              <a:rPr lang="en-US" sz="1200" b="0" i="0" u="none" strike="noStrike">
                <a:solidFill>
                  <a:srgbClr val="000000"/>
                </a:solidFill>
              </a:rPr>
              <a:t>进行学习。</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这种训练目标极其简单，但它的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可扩展性</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却非常出色：</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通用任务：</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预测下一个词元的任务适用于任何类型的文本</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小说、代码、对话、文章或指令。</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无限数据：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仅解码器模型</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不需要特殊的并行数据集</a:t>
            </a:r>
            <a:r>
              <a:rPr lang="en-US" sz="1200" b="0" i="0" u="none" strike="noStrike">
                <a:solidFill>
                  <a:srgbClr val="000000"/>
                </a:solidFill>
              </a:rPr>
              <a:t>（例如用于翻译的句子对），它可以直接在互联网、书籍和代码库中找到的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海量未标记文本</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上进行训练。</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与使用方式一致：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这与人类使用大型语言模型（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a:t>
            </a:r>
            <a:r>
              <a:rPr lang="en-US" sz="1200" b="0" i="0" u="none" strike="noStrike">
                <a:solidFill>
                  <a:srgbClr val="000000"/>
                </a:solidFill>
              </a:rPr>
              <a:t>）的交互方式相匹配。你给出一个提示（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prompt</a:t>
            </a:r>
            <a:r>
              <a:rPr lang="en-US" sz="1200" b="0" i="0" u="none" strike="noStrike">
                <a:solidFill>
                  <a:srgbClr val="000000"/>
                </a:solidFill>
              </a:rPr>
              <a:t>），模型就会以一种感觉自然且上下文感知的方式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继续文本</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简洁性与效率</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单一训练目标：</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预测下一个词元（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无需平行数据集：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平行数据集昂贵且稀缺。</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高效扩展能力：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可高效地扩展至数万亿词元。</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完美匹配生成式任务</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适用场景：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聊天机器人、代码助手、故事创作和总结等都依赖于文本的连续生成。</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直接支持生成：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自回归（</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Autoregression</a:t>
            </a:r>
            <a:r>
              <a:rPr lang="en-US" sz="1200" b="0" i="0" u="none" strike="noStrike">
                <a:solidFill>
                  <a:srgbClr val="000000"/>
                </a:solidFill>
              </a:rPr>
              <a:t>）直接支持这些生成式应用场景。</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灵活性与涌现能力</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广泛训练带来的通用性：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由于仅有解码器（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decoder-only</a:t>
            </a:r>
            <a:r>
              <a:rPr lang="en-US" sz="1200" b="0" i="0" u="none" strike="noStrike">
                <a:solidFill>
                  <a:srgbClr val="000000"/>
                </a:solidFill>
              </a:rPr>
              <a:t>）的模型是在广泛的文本接续任务上训练的，它们展现出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涌现的泛化能力</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零样本能力：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无需明确训练，它们就能执行摘要、问答和推理等任务。</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可扩展性与行业验证</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成功案例：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GPT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LLaMA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Mistral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等一些最成功的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大型语言模型</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LLMs</a:t>
            </a:r>
            <a:r>
              <a:rPr lang="en-US" sz="1200" b="0" i="0" u="none" strike="noStrike">
                <a:solidFill>
                  <a:srgbClr val="000000"/>
                </a:solidFill>
              </a:rPr>
              <a:t>）都是仅有解码器架构。</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行业默认标准：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它们的优势地位已将这种架构确立为行业的默认选择。</a:t>
            </a:r>
            <a:endParaRPr lang="en-US" sz="1200" b="0" i="0" u="none" strike="noStrike">
              <a:solidFill>
                <a:srgbClr val="000000"/>
              </a:solidFill>
            </a:endParaRPr>
          </a:p>
          <a:p>
            <a:pPr indent="0" algn="l">
              <a:lnSpc>
                <a:spcPct val="100000"/>
              </a:lnSpc>
            </a:p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特性编码器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解码器模型仅有解码器模型</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训练数据</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需要成对的输入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输出数据集可使用原始、未标记的文本</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编码器创建表示，解码器输出单一堆栈预测下一个词元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最佳用例</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翻译、摘要、结构化转换聊天、问答、故事生成、编程、推理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效率</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更复杂、更难扩展更简单、更容易扩展到数万亿词元</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行业示例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T5</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BARTGPT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LLaMA</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Mistral</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Overview of why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 mechanism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expensive and what people do to speed it up.</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When it comes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models (e.g., for large language models),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mechanism is often cited as the computational bottleneck. In the standard “full” attention, each token attends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every</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other token, leading to a time (and memory) complexity of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O(n²)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 the sequence length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When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large (thousands of tokens or more), this becomes very expensive — even on powerful GPUs.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Overview of why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 mechanism</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expensive and what people do to speed it up.</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When it comes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transformer</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models (e.g., for large language models), the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mechanism is often cited as the computational bottleneck. In the standard “full” attention, each token attends to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every</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other token, leading to a time (and memory) complexity of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O(n²)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 the sequence length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When </a:t>
            </a:r>
            <a:r>
              <a:rPr lang="en-US" sz="1200" b="0" i="1"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is large (thousands of tokens or more), this becomes very expensive — even on powerful GPUs.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自注意力机制（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rPr>
              <a:t>）的灵活性是以沉重代价为交换的：其复杂度随输入序列长度呈</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平方级增长</a:t>
            </a:r>
            <a:r>
              <a:rPr lang="en-US" sz="1200" b="0" i="0" u="none" strike="noStrike">
                <a:solidFill>
                  <a:srgbClr val="000000"/>
                </a:solidFill>
              </a:rPr>
              <a:t>。每一个标记（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）都必须与其它所有标记进行比对。对于短文本（几千个标记）来说，这尚且可以应付；但对于长文档或代码库，注意力运算的数量会呈爆炸式增长。一篇关于效率的文章指出，处理一份</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100,000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字的文档大约需要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亿次注意力计算。随着上下文窗口的扩大，注意力机制带来的计算、内存带宽和能源成本将变得高昂到令人望而却步。</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除了计算和内存等物理层面，</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还面临着概念层面的瓶颈。自注意力机制固然强大，但它并不能替代真正的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记忆能力</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拥有两种记忆：一种是其权重中的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参数化记忆</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parametric memory</a:t>
            </a:r>
            <a:r>
              <a:rPr lang="en-US" sz="1200" b="0" i="0" u="none" strike="noStrike">
                <a:solidFill>
                  <a:srgbClr val="000000"/>
                </a:solidFill>
              </a:rPr>
              <a:t>），编码了来自训练阶段的通用知识；另一种是</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上下文窗口</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context window</a:t>
            </a:r>
            <a:r>
              <a:rPr lang="en-US" sz="1200" b="0" i="0" u="none" strike="noStrike">
                <a:solidFill>
                  <a:srgbClr val="000000"/>
                </a:solidFill>
              </a:rPr>
              <a:t>），用于保存当前的标记序列。任何超出这一窗口的信息对模型而言都是不可见的。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128K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标记的上下文窗口听起来很大，但对于一本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页的书籍或长达数小时的会议记录而言，这仍然只是海量信息中的一小部分。而注意力的平方级成本意味着，将窗口扩展到数百万标记在目前看来依然是不切实际的。</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此外，当缺乏相关信息时，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往往会产生“</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幻觉</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hallucinate</a:t>
            </a:r>
            <a:r>
              <a:rPr lang="en-US" sz="1200" b="0" i="0" u="none" strike="noStrike">
                <a:solidFill>
                  <a:srgbClr val="000000"/>
                </a:solidFill>
              </a:rPr>
              <a:t>）。如果答案既没有编码在权重中，也没有出现在上下文中，模型就会生成看似合理、实则错误的事实。之所以出现这种情况，是因为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Transformer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缺乏显式的机制来验证其输出或咨询外部来源。现代聊天机器人本质上是拥有</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短时工作记忆、却无持久存储的“统计鹦鹉”</a:t>
            </a:r>
            <a:r>
              <a:rPr lang="en-US" sz="1200" b="0" i="0" u="none" strike="noStrike">
                <a:solidFill>
                  <a:srgbClr val="000000"/>
                </a:solidFill>
              </a:rPr>
              <a:t>。这限制了它们在需要实时知识、审计追踪或长周期历史推理等领域的可靠性。</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模块二：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I - IO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感知与分块计算核心目标： 解释“空间换时间”的哲学，重点在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技术。封面： 速度之源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——IO Aware</a:t>
            </a:r>
            <a:r>
              <a:rPr lang="en-US" sz="1200" b="0" i="0" u="none" strike="noStrike">
                <a:solidFill>
                  <a:srgbClr val="000000"/>
                </a:solidFill>
              </a:rPr>
              <a:t>（访存感知）的设计哲学。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存储层级科普：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rPr>
              <a:t>（显存）与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SRAM</a:t>
            </a:r>
            <a:r>
              <a:rPr lang="en-US" sz="1200" b="0" i="0" u="none" strike="noStrike">
                <a:solidFill>
                  <a:srgbClr val="000000"/>
                </a:solidFill>
              </a:rPr>
              <a:t>（高速缓存）的速度差（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10</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倍级差距）。问题的根源： 标准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上的往返跑（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Intermediate Matrices</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核心思想： 不求快，但求“少动”。分块（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a:t>
            </a:r>
            <a:r>
              <a:rPr lang="en-US" sz="1200" b="0" i="0" u="none" strike="noStrike">
                <a:solidFill>
                  <a:srgbClr val="000000"/>
                </a:solidFill>
              </a:rPr>
              <a:t>）概念：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把大矩阵切成能塞进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的小方块。动态演示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的分块加载过程。内存访问对比图： 传统方式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vs. Flash 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的访存次数定量分析。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Kernel Fusion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解释如何将多个算子合并成一个</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CUDA Kernel</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的调度艺术： 如何管理有限的缓存空间。前向传播的实现： 如何在不存储完整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的情况下计算结果。性能基准： 展示在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A100/H100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上的吞吐量提升。总结：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感知是现代深度学习算子优化的基石。</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分块技术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(Tiling)</a:t>
            </a:r>
            <a:r>
              <a:rPr lang="en-US" sz="1200" b="1" i="0" u="none" strike="noStrike">
                <a:solidFill>
                  <a:srgbClr val="000000"/>
                </a:solidFill>
              </a:rPr>
              <a:t>：化整为零的艺术</a:t>
            </a:r>
            <a:endParaRPr lang="en-US" sz="1200" b="1"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为什么要分块？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a:t>
            </a:r>
            <a:r>
              <a:rPr lang="en-US" sz="1200" b="0" i="0" u="none" strike="noStrike">
                <a:solidFill>
                  <a:srgbClr val="000000"/>
                </a:solidFill>
              </a:rPr>
              <a:t>（如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A100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L1/Shared Memory</a:t>
            </a:r>
            <a:r>
              <a:rPr lang="en-US" sz="1200" b="0" i="0" u="none" strike="noStrike">
                <a:solidFill>
                  <a:srgbClr val="000000"/>
                </a:solidFill>
              </a:rPr>
              <a:t>）虽然极快，但容量极小（通常只有几百</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KB</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marL="457200" lvl="1"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矩阵（如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$N=4096$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时）远超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容量，必须将其切成能塞进缓存的小块（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Tiles</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如何操作？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对输入矩阵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 K, 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进行纵向或横向切分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通过外层和内层循环，逐块将数据从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加载到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计算收益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内部完成局部点积和部分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累加，无需将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的中间结果写回缓慢的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基于观察，避免在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中读写注意力矩阵对于提升注意力机制的时钟速度至关重要。为了减少读写操作，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分块执行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约简（因为读写完整的注意力矩阵非常耗费资源），通过重新计算避免存储用于反向传播的大型中间注意力矩阵</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方法的主要障碍是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rPr>
              <a:t>。具体来说，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将所有得分列耦合在一起。以下是计算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个输出的方法。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z_i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是第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个得分（键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查询点积），输出是第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的概率，我们稍后会用它来加权值向量（再次强调，我假设你知道注意力机制）。看到分母了吗？这就是问题所在。要计算输入序列中第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对序列中其他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的关注程度，你需要在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中准备好所有这些得分（这里用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z_j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表示）。但需要提醒的是：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的容量非常有限。你无法加载所有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a:t>
            </a:r>
            <a:r>
              <a:rPr lang="en-US" sz="1200" b="0" i="0" u="none" strike="noStrike">
                <a:solidFill>
                  <a:srgbClr val="000000"/>
                </a:solidFill>
              </a:rPr>
              <a:t>（序列长度）可以是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1000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个，甚至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100,000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。因此，</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N²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会迅速膨胀。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所以，诀窍就在这里：我们可以将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计算拆分成更小的块，最终仍然得到完全相同的结果。主要公式如下：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的部分计算（我们将迭代计算得到正确的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值）。我们可以只取前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个分数（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x_1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x_B</a:t>
            </a:r>
            <a:r>
              <a:rPr lang="en-US" sz="1200" b="0" i="0" u="none" strike="noStrike">
                <a:solidFill>
                  <a:srgbClr val="000000"/>
                </a:solidFill>
              </a:rPr>
              <a:t>），并计算它们的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值。这些数字至少目前是错误的。但请耐心等待，通过迭代，我们将“收敛”到正确的结果。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m(x)</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的目的仅仅是为了避免数值不稳定性</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a:t>
            </a:r>
            <a:r>
              <a:rPr lang="en-US" sz="1200" b="0" i="0" u="none" strike="noStrike">
                <a:solidFill>
                  <a:srgbClr val="000000"/>
                </a:solidFill>
              </a:rPr>
              <a:t>：计算行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列块大小。为什么是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ceil(M/4d)</a:t>
            </a:r>
            <a:r>
              <a:rPr lang="en-US" sz="1200" b="0" i="0" u="none" strike="noStrike">
                <a:solidFill>
                  <a:srgbClr val="000000"/>
                </a:solidFill>
              </a:rPr>
              <a:t>？因为查询、键和值向量都是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维的，我们还需要将它们组合成输出的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维向量。因此，这个大小基本上允许我们用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向量最大化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容量。至于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B_r</a:t>
            </a:r>
            <a:r>
              <a:rPr lang="en-US" sz="1200" b="0" i="0" u="none" strike="noStrike">
                <a:solidFill>
                  <a:srgbClr val="000000"/>
                </a:solidFill>
              </a:rPr>
              <a:t>，我不太清楚他们为什么要对</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进行取最小值操作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We don't want B_r to be larger than d since we want B_c * B_r &lt;= M / 4 (we store a few matrices of size B_c * B_r on 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为了保证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块的行数不会超过其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头维度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太多，从而优化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矩阵乘法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的效率</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a:t>
            </a:r>
            <a:r>
              <a:rPr lang="en-US" sz="1200" b="0" i="0" u="none" strike="noStrike">
                <a:solidFill>
                  <a:srgbClr val="000000"/>
                </a:solidFill>
              </a:rPr>
              <a:t>：我们将输出矩阵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初始化为全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0</a:t>
            </a:r>
            <a:r>
              <a:rPr lang="en-US" sz="1200" b="0" i="0" u="none" strike="noStrike">
                <a:solidFill>
                  <a:srgbClr val="000000"/>
                </a:solidFill>
              </a:rPr>
              <a:t>。它将充当累加器，因此该值为初始值。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
            </a:r>
            <a:r>
              <a:rPr lang="en-US" sz="1200" b="0" i="0" u="none" strike="noStrike">
                <a:solidFill>
                  <a:srgbClr val="000000"/>
                </a:solidFill>
              </a:rPr>
              <a:t>（记住：它的目的是保存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的累积分母</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——exp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分数之和）也初始化为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-inf</a:t>
            </a:r>
            <a:r>
              <a:rPr lang="en-US" sz="1200" b="0" i="0" u="none" strike="noStrike">
                <a:solidFill>
                  <a:srgbClr val="000000"/>
                </a:solidFill>
              </a:rPr>
              <a:t>，因为我们将对其进行最大值运算，所以无论第一个块的最大值是多少</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它肯定大于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-inf——</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因此这是自然的初始值。步骤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a:t>
            </a:r>
            <a:r>
              <a:rPr lang="en-US" sz="1200" b="0" i="0" u="none" strike="noStrike">
                <a:solidFill>
                  <a:srgbClr val="000000"/>
                </a:solidFill>
              </a:rPr>
              <a:t>：我们使用步骤</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中的块大小将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拆分成块。另见上图。步骤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a:solidFill>
                  <a:srgbClr val="000000"/>
                </a:solidFill>
              </a:rPr>
              <a:t>：同样地，将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拆分成块（块大小与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相同）。步骤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5</a:t>
            </a:r>
            <a:r>
              <a:rPr lang="en-US" sz="1200" b="0" i="0" u="none" strike="noStrike">
                <a:solidFill>
                  <a:srgbClr val="000000"/>
                </a:solidFill>
              </a:rPr>
              <a:t>：让我们开始跨列循环，即跨键</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值向量循环（上图中的外层循环）。</a:t>
            </a:r>
            <a:b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6</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让我们将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K_j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V_j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块从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HBM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加载到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中。记住，由于我们构建块大小的方式，目前仍有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50%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空间未被占用（专用于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Q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O</a:t>
            </a:r>
            <a:r>
              <a:rPr lang="en-US" sz="1200" b="0" i="0" u="none" strike="noStrike">
                <a:solidFill>
                  <a:srgbClr val="3C4043"/>
                </a:solidFill>
              </a:rPr>
              <a:t>）。步骤</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 7</a:t>
            </a:r>
            <a:r>
              <a:rPr lang="en-US" sz="1200" b="0" i="0" u="none" strike="noStrike">
                <a:solidFill>
                  <a:srgbClr val="3C4043"/>
                </a:solidFill>
              </a:rPr>
              <a:t>：开始跨行（即跨查询向量）的内循环。步骤</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 8</a:t>
            </a:r>
            <a:r>
              <a:rPr lang="en-US" sz="1200" b="0" i="0" u="none" strike="noStrike">
                <a:solidFill>
                  <a:srgbClr val="3C4043"/>
                </a:solidFill>
              </a:rPr>
              <a:t>：将</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 Q_i (B_r x d)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O_i (B_r x d)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块以及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l_i (B_r)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m_i (B_r)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加载到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SRAM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中。当我们计算块大小时，只够容纳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K_j</a:t>
            </a:r>
            <a:r>
              <a:rPr lang="en-US" sz="1200" b="0" i="0" u="none" strike="noStrike">
                <a:solidFill>
                  <a:srgbClr val="3C4043"/>
                </a:solidFill>
              </a:rPr>
              <a:t>、</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V_j</a:t>
            </a:r>
            <a:r>
              <a:rPr lang="en-US" sz="1200" b="0" i="0" u="none" strike="noStrike">
                <a:solidFill>
                  <a:srgbClr val="3C4043"/>
                </a:solidFill>
              </a:rPr>
              <a:t>、</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Q_i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O_i</a:t>
            </a:r>
            <a:r>
              <a:rPr lang="en-US" sz="1200" b="0" i="0" u="none" strike="noStrike">
                <a:solidFill>
                  <a:srgbClr val="3C4043"/>
                </a:solidFill>
              </a:rPr>
              <a:t>，那么</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 l_i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m_i </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如何放入 </a:t>
            </a:r>
            <a:r>
              <a:rPr lang="en-US" sz="1200" b="0" i="0" u="none" strike="noStrike">
                <a:solidFill>
                  <a:srgbClr val="3C4043"/>
                </a:solidFill>
                <a:latin typeface="Calibri" panose="020F0502020204030204"/>
                <a:ea typeface="Calibri" panose="020F0502020204030204"/>
                <a:cs typeface="Calibri" panose="020F0502020204030204"/>
                <a:sym typeface="Calibri" panose="020F0502020204030204"/>
              </a:rPr>
              <a:t>SRAM</a:t>
            </a:r>
            <a:r>
              <a:rPr lang="en-US" sz="1200" b="0" i="0" u="none" strike="noStrike">
                <a:solidFill>
                  <a:srgbClr val="3C4043"/>
                </a:solidFill>
              </a:rPr>
              <a:t>（包括所有中间变量）中呢？寄存器</a:t>
            </a:r>
            <a:endParaRPr lang="en-US" sz="1200" b="0" i="0" u="none" strike="noStrike">
              <a:solidFill>
                <a:srgbClr val="3C4043"/>
              </a:solidFill>
            </a:endParaRPr>
          </a:p>
          <a:p>
            <a:pPr indent="0" algn="l">
              <a:lnSpc>
                <a:spcPct val="100000"/>
              </a:lnSpc>
            </a:pPr>
            <a:r>
              <a:rPr lang="en-US" sz="1200" b="1"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步骤 </a:t>
            </a:r>
            <a:r>
              <a:rPr lang="en-US" sz="1200" b="1" i="0" u="none" strike="noStrike">
                <a:solidFill>
                  <a:srgbClr val="3C4043"/>
                </a:solidFill>
                <a:latin typeface="Calibri" panose="020F0502020204030204"/>
                <a:ea typeface="Calibri" panose="020F0502020204030204"/>
                <a:cs typeface="Calibri" panose="020F0502020204030204"/>
                <a:sym typeface="Calibri" panose="020F0502020204030204"/>
              </a:rPr>
              <a:t>9</a:t>
            </a:r>
            <a:r>
              <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rPr>
              <a:t>及之后的就是我们刚刚提到的计算过程了</a:t>
            </a:r>
            <a:endParaRPr lang="en-US" sz="1200" b="0" i="0" u="none" strike="noStrike">
              <a:solidFill>
                <a:srgbClr val="3C4043"/>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模块三：</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II -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算法优化与数学技巧核心目标： 解决“在线计算”的数学难题，特别是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的拆解。封面： 算法炼金术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在线性算法中重构注意力。挑战：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的全局依赖： 为什么不能直接对分块求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rPr>
              <a:t>？数学魔法：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Safe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复习： 防止数值溢出的减去最大值操作。在线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 介绍如何通过更新局部最大值和累加和来计算全局结果。公式推导（科普版）： 增量更新的直观解释。避免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Materialization</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解释为什么不再需要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实例化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完整的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矩阵。处理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Masking</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在分块计算中如何优雅地处理因果掩码（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Causal Mask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Dropout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的处理： 使用随机数种子（</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Seed</a:t>
            </a:r>
            <a:r>
              <a:rPr lang="en-US" sz="1200" b="0" i="0" u="none" strike="noStrike">
                <a:solidFill>
                  <a:srgbClr val="000000"/>
                </a:solidFill>
              </a:rPr>
              <a:t>）在反向传播中重构，而非存储。反向传播优化：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重算（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Recomputation</a:t>
            </a:r>
            <a:r>
              <a:rPr lang="en-US" sz="1200" b="0" i="0" u="none" strike="noStrike">
                <a:solidFill>
                  <a:srgbClr val="000000"/>
                </a:solidFill>
              </a:rPr>
              <a:t>）策略，用计算换取空间。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的演进： 更简单的算子分解与工作负载平衡。对长文本模型的影响：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128K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甚至更长上下文的可能性。未来展望： 算子优化与硬件协同设计的趋势。</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解释为什么不再需要存储完整的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矩阵，以及这对显存的意义。</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标题：避免显存实例化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(Avoiding Materialization)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传统做法的弊端：</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在标准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中，必须在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HBM</a:t>
            </a:r>
            <a:r>
              <a:rPr lang="en-US" sz="1200" b="0" i="0" u="none" strike="noStrike">
                <a:solidFill>
                  <a:srgbClr val="000000"/>
                </a:solidFill>
              </a:rPr>
              <a:t>（显存）中完整生成并存储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 \times 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的注意力评分矩阵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和概率矩阵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 </a:t>
            </a:r>
            <a:r>
              <a:rPr lang="en-US" sz="1200" b="0" i="0" u="none" strike="noStrike">
                <a:solidFill>
                  <a:srgbClr val="000000"/>
                </a:solidFill>
              </a:rPr>
              <a:t>。</a:t>
            </a:r>
            <a:endParaRPr lang="en-US" sz="1200" b="0" i="0" u="none" strike="noStrike">
              <a:solidFill>
                <a:srgbClr val="000000"/>
              </a:solidFill>
            </a:endParaRPr>
          </a:p>
          <a:p>
            <a:pPr marL="457200" lvl="1"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对于长文本（如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$N=64K$</a:t>
            </a:r>
            <a:r>
              <a:rPr lang="en-US" sz="1200" b="0" i="0" u="none" strike="noStrike">
                <a:solidFill>
                  <a:srgbClr val="000000"/>
                </a:solidFill>
              </a:rPr>
              <a:t>），该矩阵会占据巨大的空间，直接导致显存溢出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(OOM)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的突破：</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计算即弃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(Compute-on-the-fly)</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利用分块（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a:t>
            </a:r>
            <a:r>
              <a:rPr lang="en-US" sz="1200" b="0" i="0" u="none" strike="noStrike">
                <a:solidFill>
                  <a:srgbClr val="000000"/>
                </a:solidFill>
              </a:rPr>
              <a:t>）技术，注意力分数在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中计算后立即与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块相乘并累加到输出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内存复杂度：</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$O(N^2)$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降低到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$O(N)$</a:t>
            </a:r>
            <a:r>
              <a:rPr lang="en-US" sz="1200" b="0" i="0" u="none" strike="noStrike">
                <a:solidFill>
                  <a:srgbClr val="000000"/>
                </a:solidFill>
              </a:rPr>
              <a:t>。中间的大矩阵从未在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中“真正存在”过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这种</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不落地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的计算方式，打破了显存容量对序列长度的物理限制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分块计算中的掩码处理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(Handling Masking)</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核心目标：</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介绍如何在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Tiling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过程中优雅地处理因果掩码（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Causal Mask</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标题：分块计算中的掩码处理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(Handling Masking)</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挑战：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因果掩码通常是一个下三角矩阵，在分块计算时，如何判断某个块是否需要加</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Mask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优化策略：</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全掩码块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(Fully Masked)</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直接跳过计算，节省算力。</a:t>
            </a:r>
            <a:endParaRPr lang="en-US" sz="1200" b="0" i="0" u="none" strike="noStrike">
              <a:solidFill>
                <a:srgbClr val="000000"/>
              </a:solidFill>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部分掩码块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(Partially Masked)</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仅对块内的下三角区域进行掩码处理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无掩码块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(Unmasked)</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全速执行常规矩阵乘法。</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通过识别分块与掩码矩阵的相对位置，进一步减少了不必要的计算开销</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打破瓶颈：</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由于内存占用降至线性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$O(N)$</a:t>
            </a:r>
            <a:r>
              <a:rPr lang="en-US" sz="1200" b="0" i="0" u="none" strike="noStrike">
                <a:solidFill>
                  <a:srgbClr val="000000"/>
                </a:solidFill>
              </a:rPr>
              <a:t>，模型不再受限于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的显存增长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支持从传统的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2K/4K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上下文跨越到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128K</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甚至更长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实际应用案例：</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使得在大模型上进行全书阅读、多文档分析和超长视频理解成为可能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性能总结：</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在相同硬件（如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A100/H100</a:t>
            </a:r>
            <a:r>
              <a:rPr lang="en-US" sz="1200" b="0" i="0" u="none" strike="noStrike">
                <a:solidFill>
                  <a:srgbClr val="000000"/>
                </a:solidFill>
              </a:rPr>
              <a:t>）上，处理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128K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序列的速度提升可达数倍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在现代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上（例如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NVIDIA A100</a:t>
            </a:r>
            <a:r>
              <a:rPr lang="en-US" sz="1200" b="0" i="0" u="none" strike="noStrike">
                <a:solidFill>
                  <a:srgbClr val="000000"/>
                </a:solidFill>
              </a:rPr>
              <a:t>），专门用于矩阵乘法的计算单元（如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Tensor Cores</a:t>
            </a:r>
            <a:r>
              <a:rPr lang="en-US" sz="1200" b="0" i="0" u="none" strike="noStrike">
                <a:solidFill>
                  <a:srgbClr val="000000"/>
                </a:solidFill>
              </a:rPr>
              <a:t>）极大地加速了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运算。相比之下，非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运算（如指数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exp()</a:t>
            </a:r>
            <a:r>
              <a:rPr lang="en-US" sz="1200" b="0" i="0" u="none" strike="noStrike">
                <a:solidFill>
                  <a:srgbClr val="000000"/>
                </a:solidFill>
              </a:rPr>
              <a:t>、加法、缩放、比较等）的理论吞吐量要低得多。</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性能差距</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A100 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为例，其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FP16/BF16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的最大理论吞吐量约为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312 TFLOPs/s</a:t>
            </a:r>
            <a:r>
              <a:rPr lang="en-US" sz="1200" b="0" i="0" u="none" strike="noStrike">
                <a:solidFill>
                  <a:srgbClr val="000000"/>
                </a:solidFill>
              </a:rPr>
              <a:t>，而非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FP32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吞吐量仅为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19.5 TFLOPs/s</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成本</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这意味着一个非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FLOP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的计算成本可能比一个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FLOP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16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倍</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FlashAttention-2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通过改写（</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tweak</a:t>
            </a:r>
            <a:r>
              <a:rPr lang="en-US" sz="1200" b="0" i="0" u="none" strike="noStrike">
                <a:solidFill>
                  <a:srgbClr val="000000"/>
                </a:solidFill>
              </a:rPr>
              <a:t>）在线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技巧的实现来达成目的，而不改变最终计算结果：减少重标定（</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Rescaling</a:t>
            </a:r>
            <a:r>
              <a:rPr lang="en-US" sz="1200" b="0" i="0" u="none" strike="noStrike">
                <a:solidFill>
                  <a:srgbClr val="000000"/>
                </a:solidFill>
              </a:rPr>
              <a:t>）操作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在线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需要在每次迭代中根据新的最大值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(max(m(i),m))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来更新和重标定中间结果。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调整了在线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的实现方式，以减少进行重标定操作的次数，从而减少了相应的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exp()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和缩放操作。优化边界检查和因果掩码（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Causal Masking</a:t>
            </a:r>
            <a:r>
              <a:rPr lang="en-US" sz="1200" b="0" i="0" u="none" strike="noStrike">
                <a:solidFill>
                  <a:srgbClr val="000000"/>
                </a:solidFill>
              </a:rPr>
              <a:t>）操作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在执行因果掩码时，需要在循环内进行多次边界检查（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语句）和掩码操作。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对这些操作进行了更精简的重写，将它们与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步骤更好地融合，减少了单独的非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FLOPs</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优化点（第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3-6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中，外层循环通常是对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 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进行遍历，内层循环遍历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变化</a:t>
            </a:r>
            <a:r>
              <a:rPr lang="en-US" sz="1200" b="0" i="0" u="none" strike="noStrike">
                <a:solidFill>
                  <a:srgbClr val="000000"/>
                </a:solidFill>
              </a:rPr>
              <a:t>：将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放在了外层循环（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Line 3</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 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放在内层循环（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Line 6</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优化点（第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9-10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a:t>
            </a:r>
            <a:r>
              <a:rPr lang="en-US" sz="1200" b="0" i="0" u="none" strike="noStrike">
                <a:solidFill>
                  <a:srgbClr val="000000"/>
                </a:solidFill>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减少非矩阵乘法（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Non-Matmul</a:t>
            </a:r>
            <a:r>
              <a:rPr lang="en-US" sz="1200" b="0" i="0" u="none" strike="noStrike">
                <a:solidFill>
                  <a:srgbClr val="000000"/>
                </a:solidFill>
              </a:rPr>
              <a:t>）操作</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重新排列了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归一化的数学形式。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原理</a:t>
            </a:r>
            <a:r>
              <a:rPr lang="en-US" sz="1200" b="0" i="0" u="none" strike="noStrike">
                <a:solidFill>
                  <a:srgbClr val="000000"/>
                </a:solidFill>
              </a:rPr>
              <a:t>：在更新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$O_i^{(j)}$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减少了不必要的指数运算和缩放因子的重复计算。这使得算法更接近于纯粹的矩阵乘法，从而能更有效地利用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Tensor Cores</a:t>
            </a:r>
            <a:r>
              <a:rPr lang="en-US" sz="1200" b="0" i="0" u="none" strike="noStrike">
                <a:solidFill>
                  <a:srgbClr val="000000"/>
                </a:solidFill>
              </a:rPr>
              <a:t>（正如您前一张</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PPT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提到的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TFLOPs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差异）。</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消除原子加锁</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减少同步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(Reduced Synchronization)</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优化点（第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5-8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a:t>
            </a:r>
            <a:r>
              <a:rPr lang="en-US" sz="1200" b="0"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变化</a:t>
            </a:r>
            <a:r>
              <a:rPr lang="en-US" sz="1200" b="0" i="0" u="none" strike="noStrike">
                <a:solidFill>
                  <a:srgbClr val="000000"/>
                </a:solidFill>
              </a:rPr>
              <a:t>：外层循环是对</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 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的块进行遍历（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Line 5</a:t>
            </a:r>
            <a:r>
              <a:rPr lang="en-US" sz="1200" b="0" i="0" u="none" strike="noStrike">
                <a:solidFill>
                  <a:srgbClr val="000000"/>
                </a:solidFill>
              </a:rPr>
              <a:t>），内层循环是对</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的块进行遍历（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Line 8</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内存访问与重计算优化</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优化点（第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4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行与第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14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a:t>
            </a:r>
            <a:r>
              <a:rPr lang="en-US" sz="1200" b="0" i="0" u="none" strike="noStrike">
                <a:solidFill>
                  <a:srgbClr val="000000"/>
                </a:solidFill>
              </a:rPr>
              <a:t>：</a:t>
            </a:r>
            <a:endParaRPr lang="en-US" sz="1200" b="0" i="0" u="none" strike="noStrike">
              <a:solidFill>
                <a:srgbClr val="000000"/>
              </a:solidFill>
            </a:endParaRPr>
          </a:p>
          <a:p>
            <a:pPr marL="457200" lvl="1"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Line 4</a:t>
            </a:r>
            <a:r>
              <a:rPr lang="en-US" sz="1200" b="0" i="0" u="none" strike="noStrike">
                <a:solidFill>
                  <a:srgbClr val="000000"/>
                </a:solidFill>
              </a:rPr>
              <a:t>：提前在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中计算并存储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a:t>
            </a:r>
            <a:r>
              <a:rPr lang="en-US" sz="1200" b="0" i="0" u="none" strike="noStrike">
                <a:solidFill>
                  <a:srgbClr val="000000"/>
                </a:solidFill>
              </a:rPr>
              <a:t>（即</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$rowsum(dO \circ O)$</a:t>
            </a:r>
            <a:r>
              <a:rPr lang="en-US" sz="1200" b="0" i="0" u="none" strike="noStrike">
                <a:solidFill>
                  <a:srgbClr val="000000"/>
                </a:solidFill>
              </a:rPr>
              <a:t>）。</a:t>
            </a:r>
            <a:endParaRPr lang="en-US" sz="1200" b="0" i="0" u="none" strike="noStrike">
              <a:solidFill>
                <a:srgbClr val="000000"/>
              </a:solidFill>
            </a:endParaRPr>
          </a:p>
          <a:p>
            <a:pPr marL="457200" lvl="1"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Line 14</a:t>
            </a:r>
            <a:r>
              <a:rPr lang="en-US" sz="1200" b="0" i="0" u="none" strike="noStrike">
                <a:solidFill>
                  <a:srgbClr val="000000"/>
                </a:solidFill>
              </a:rPr>
              <a:t>：在计算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$dS_i^{(j)}$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时，利用预存的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和重新计算的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块，避免了在一代中复杂的、跨块的重计算开销。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在现代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上（例如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NVIDIA A100</a:t>
            </a:r>
            <a:r>
              <a:rPr lang="en-US" sz="1200" b="0" i="0" u="none" strike="noStrike">
                <a:solidFill>
                  <a:srgbClr val="000000"/>
                </a:solidFill>
              </a:rPr>
              <a:t>），专门用于矩阵乘法的计算单元（如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Tensor Cores</a:t>
            </a:r>
            <a:r>
              <a:rPr lang="en-US" sz="1200" b="0" i="0" u="none" strike="noStrike">
                <a:solidFill>
                  <a:srgbClr val="000000"/>
                </a:solidFill>
              </a:rPr>
              <a:t>）极大地加速了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运算。相比之下，非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运算（如指数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exp()</a:t>
            </a:r>
            <a:r>
              <a:rPr lang="en-US" sz="1200" b="0" i="0" u="none" strike="noStrike">
                <a:solidFill>
                  <a:srgbClr val="000000"/>
                </a:solidFill>
              </a:rPr>
              <a:t>、加法、缩放、比较等）的理论吞吐量要低得多。</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性能差距</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A100 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为例，其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FP16/BF16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的最大理论吞吐量约为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312 TFLOPs/s</a:t>
            </a:r>
            <a:r>
              <a:rPr lang="en-US" sz="1200" b="0" i="0" u="none" strike="noStrike">
                <a:solidFill>
                  <a:srgbClr val="000000"/>
                </a:solidFill>
              </a:rPr>
              <a:t>，而非</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FP32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吞吐量仅为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19.5 TFLOPs/s</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成本</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这意味着一个非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FLOP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的计算成本可能比一个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FLOP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高出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16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倍</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FlashAttention-2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通过改写（</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tweak</a:t>
            </a:r>
            <a:r>
              <a:rPr lang="en-US" sz="1200" b="0" i="0" u="none" strike="noStrike">
                <a:solidFill>
                  <a:srgbClr val="000000"/>
                </a:solidFill>
              </a:rPr>
              <a:t>）在线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技巧的实现来达成目的，而不改变最终计算结果：减少重标定（</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Rescaling</a:t>
            </a:r>
            <a:r>
              <a:rPr lang="en-US" sz="1200" b="0" i="0" u="none" strike="noStrike">
                <a:solidFill>
                  <a:srgbClr val="000000"/>
                </a:solidFill>
              </a:rPr>
              <a:t>）操作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在线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需要在每次迭代中根据新的最大值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(max(m(i),m))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来更新和重标定中间结果。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调整了在线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的实现方式，以减少进行重标定操作的次数，从而减少了相应的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exp()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和缩放操作。优化边界检查和因果掩码（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Causal Masking</a:t>
            </a:r>
            <a:r>
              <a:rPr lang="en-US" sz="1200" b="0" i="0" u="none" strike="noStrike">
                <a:solidFill>
                  <a:srgbClr val="000000"/>
                </a:solidFill>
              </a:rPr>
              <a:t>）操作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在执行因果掩码时，需要在循环内进行多次边界检查（</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if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语句）和掩码操作。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对这些操作进行了更精简的重写，将它们与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步骤更好地融合，减少了单独的非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Matmul FLOPs</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更好的并行性（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Thread Block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级并行）解决的问题原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仅在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Batch Size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Head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数量维度上进行并行（一个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Thread Block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处理一个注意力头）。当序列很长，但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Batch Size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Head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数量较小（如推理场景或某些长文本训练）时，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(Streaming Multiprocessors)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可能没有被充分利用，导致低占用率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(low-occupancy)</a:t>
            </a:r>
            <a:r>
              <a:rPr lang="en-US" sz="1200" b="0" i="0" u="none" strike="noStrike">
                <a:solidFill>
                  <a:srgbClr val="000000"/>
                </a:solidFill>
              </a:rPr>
              <a:t>。具体的优化序列长度维度并行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增加了在序列长度维度上的并行。现在，一个注意力头的计算任务可以被分解并分配给多个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Thread Blocks</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Warp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间的工作分区和通信解决的问题在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上，一个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Thread Block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个线程组成一个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Warp</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Warps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之间需要通过 共享内存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(Shared Memory)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进行通信和同步，这会带来额外的延迟和开销。</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FlashAttention 1.0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的设计导致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Thread Block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内的不同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Warps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之间需要频繁通信。具体的优化重新分配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循环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FA2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调整了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核心计算中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块的内外层循环顺序和工作分配，使得同一个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Thread Block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内的不同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Warps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之间不再需要互相通信。</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FA3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深度异步执行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异步加载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采用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异步张量核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(Asynchronous Tensor Cores, ATC)</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编程范式。使用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Warp/Thread Cooperative Groups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和异步内存指令。</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计算与通信彻底重叠</a:t>
            </a:r>
            <a:r>
              <a:rPr lang="en-US" sz="1200" b="0" i="0" u="none" strike="noStrike">
                <a:solidFill>
                  <a:srgbClr val="000000"/>
                </a:solidFill>
              </a:rPr>
              <a:t>：计算当前块时，异步加载下一个块的数据，</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完全隐藏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访问延迟</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原生低精度加速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支持首次在内核级别 原生支持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位浮点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数据格式的注意力计算。硬件加速充分利用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Hopper/Blackwell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架构的专用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矩阵乘法 单元。</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增强的分块和负载均衡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更精细的调度进一步优化了 分块大小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 Size)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的选择逻辑和 多头注意力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(MHA)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的任务分配策略。减少长尾延迟有效避免某些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由于数据加载或计算量不均导致的空闲等待。</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Streaming Multiprocessor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流式多处理器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FA3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深度异步执行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异步加载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采用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异步张量核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(Asynchronous Tensor Cores, ATC)</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编程范式。使用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CUDA Warp/Thread Cooperative Groups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和异步内存指令。</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计算与通信彻底重叠</a:t>
            </a:r>
            <a:r>
              <a:rPr lang="en-US" sz="1200" b="0" i="0" u="none" strike="noStrike">
                <a:solidFill>
                  <a:srgbClr val="000000"/>
                </a:solidFill>
              </a:rPr>
              <a:t>：计算当前块时，异步加载下一个块的数据，</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完全隐藏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HBM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访问延迟</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原生低精度加速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 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支持首次在内核级别 原生支持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位浮点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数据格式的注意力计算。硬件加速充分利用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Hopper/Blackwell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架构的专用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矩阵乘法 单元。</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增强的分块和负载均衡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更精细的调度进一步优化了 分块大小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(Tiling Size)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的选择逻辑和 多头注意力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(MHA)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的任务分配策略。减少长尾延迟有效避免某些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由于数据加载或计算量不均导致的空闲等待。</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Streaming Multiprocessor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流式多处理器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二次复杂度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的计算复杂度与输入序列长度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O(L2)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关系。序列越长，计算量爆炸式增长。</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矩阵乘法密集</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核心操作是大量的矩阵乘法（</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KT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V</a:t>
            </a:r>
            <a:r>
              <a:rPr lang="en-US" sz="1200" b="0" i="0" u="none" strike="noStrike">
                <a:solidFill>
                  <a:srgbClr val="000000"/>
                </a:solidFill>
              </a:rPr>
              <a:t>）。需要极高的并行度和吞吐量。</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内存带宽瓶颈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Q,K,V </a:t>
            </a:r>
            <a:r>
              <a:rPr lang="en-US" sz="1200" b="0" i="0" u="none" strike="noStrike">
                <a:solidFill>
                  <a:srgbClr val="000000"/>
                </a:solidFill>
              </a:rPr>
              <a:t>矩阵的反复加载和中间注意力矩阵</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的生成，对片外存储带宽要求极高。限制了加速器的实际性能。</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Softmax/LayerNorm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包含指数函数和除法等非线性操作。难以在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FPGA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上进行高效、低功耗的定点实现。</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软硬件协同优化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(Algorithm-Hardware Co-design)</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本研究的核心思想是通过同时调整</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算法结构</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硬件架构</a:t>
            </a:r>
            <a:r>
              <a:rPr lang="en-US" sz="1200" b="0" i="0" u="none" strike="noStrike">
                <a:solidFill>
                  <a:srgbClr val="000000"/>
                </a:solidFill>
              </a:rPr>
              <a:t>，实现效率的最大化。</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算法优化：</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FPGA</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友好型</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极致量化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(Low-Bit Quantization):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将传统的浮点运算（如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FP32</a:t>
            </a:r>
            <a:r>
              <a:rPr lang="en-US" sz="1200" b="0" i="0" u="none" strike="noStrike">
                <a:solidFill>
                  <a:srgbClr val="000000"/>
                </a:solidFill>
              </a:rPr>
              <a:t>）量化到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低位定点</a:t>
            </a:r>
            <a:r>
              <a:rPr lang="en-US" sz="1200" b="0" i="0" u="none" strike="noStrike">
                <a:solidFill>
                  <a:srgbClr val="000000"/>
                </a:solidFill>
              </a:rPr>
              <a:t>（如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INT8/INT4</a:t>
            </a:r>
            <a:r>
              <a:rPr lang="en-US" sz="1200" b="0" i="0" u="none" strike="noStrike">
                <a:solidFill>
                  <a:srgbClr val="000000"/>
                </a:solidFill>
              </a:rPr>
              <a:t>），显著减少计算资源（查找表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LUT</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DSP</a:t>
            </a:r>
            <a:r>
              <a:rPr lang="en-US" sz="1200" b="0" i="0" u="none" strike="noStrike">
                <a:solidFill>
                  <a:srgbClr val="000000"/>
                </a:solidFill>
              </a:rPr>
              <a:t>）和内存带宽需求。</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结构化稀疏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剪枝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(Structured Sparsity):</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利用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矩阵的稀疏性，在算法层面去除不重要的连接，从而减少实际的计算量。</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近似</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 (Approximated Softmax):</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Piecewise Linear Approximation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分段线性近似</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Taylor Series Expansion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泰勒级数展开</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等方法替换精确的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计算，简化硬件实现。</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硬件优化：定制化并行架构</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数据流重排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(Optimized Dataflow):</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设计专有的数据流（如</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列重用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片上缓存</a:t>
            </a:r>
            <a:r>
              <a:rPr lang="en-US" sz="1200" b="0" i="0" u="none" strike="noStrike">
                <a:solidFill>
                  <a:srgbClr val="000000"/>
                </a:solidFill>
              </a:rPr>
              <a:t>），最大化数据重用，减少片外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DRAM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访问。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定制化</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PE</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阵列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(Customized Processing Elements, PE):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采用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脉动阵列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(Systolic Array)</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架构，为低位定点乘法和加法定制</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PE</a:t>
            </a:r>
            <a:r>
              <a:rPr lang="en-US" sz="1200" b="0" i="0" u="none" strike="noStrike">
                <a:solidFill>
                  <a:srgbClr val="000000"/>
                </a:solidFill>
              </a:rPr>
              <a:t>，实现超高并行度。</a:t>
            </a:r>
            <a:endParaRPr lang="en-US" sz="1200" b="0" i="0" u="none" strike="noStrike">
              <a:solidFill>
                <a:srgbClr val="000000"/>
              </a:solidFill>
            </a:endParaRPr>
          </a:p>
          <a:p>
            <a:pPr indent="0" algn="l">
              <a:lnSpc>
                <a:spcPct val="100000"/>
              </a:lnSpc>
            </a:p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结构化剪枝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(Algorithm Side):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提出一种</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面向硬件的结构化剪枝</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方法，确保剪枝后的权重矩阵保持</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规则形状</a:t>
            </a:r>
            <a:r>
              <a:rPr lang="en-US" sz="1200" b="0" i="0" u="none" strike="noStrike">
                <a:solidFill>
                  <a:srgbClr val="000000"/>
                </a:solidFill>
              </a:rPr>
              <a:t>（如规则的矩形块或行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列），从根本上消除不规则性。</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将原始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Attention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权重矩阵中的非关键单元、行或列进行剔除，但保留</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规则的、可硬件映射的结构</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多头注意力头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(Multi-Head)</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或</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矩阵分块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(Block-level)</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进行剪枝。例如，直接移除对模型贡献最小的整个注意力头，或移除权重矩阵中不重要的、连续的行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列块，以确保剩余的矩阵部分依然是标准的、可预测的矩形。</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硬件层面：加速器架构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(FPGA Accelerator)</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采用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可重配置的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PE (Processing Element)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阵列</a:t>
            </a:r>
            <a:r>
              <a:rPr lang="en-US" sz="1200" b="0" i="0" u="none" strike="noStrike">
                <a:solidFill>
                  <a:srgbClr val="000000"/>
                </a:solidFill>
              </a:rPr>
              <a:t>，其尺寸和连接专门针对剪枝后的规则权重块进行优化。</a:t>
            </a:r>
            <a:endParaRPr lang="en-US" sz="1200" b="0" i="0" u="none" strike="noStrike">
              <a:solidFill>
                <a:srgbClr val="000000"/>
              </a:solidFill>
            </a:endParaRPr>
          </a:p>
          <a:p>
            <a:pPr marL="152400" indent="-152400" algn="l">
              <a:lnSpc>
                <a:spcPct val="100000"/>
              </a:lnSpc>
              <a:buClr>
                <a:srgbClr val="000000"/>
              </a:buClr>
              <a:buChar char="•"/>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阵列通过空间并行性（</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Spatial Parallelism</a:t>
            </a:r>
            <a:r>
              <a:rPr lang="en-US" sz="1200" b="0" i="0" u="none" strike="noStrike">
                <a:solidFill>
                  <a:srgbClr val="000000"/>
                </a:solidFill>
              </a:rPr>
              <a:t>）同时处理多个矩阵元素，从而实现高吞吐量。</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数据流和存储优化：片上缓存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(BRAM)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精心设计数据排布和访问模式，最大化输入特征、权重和中间结果的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片上重用</a:t>
            </a:r>
            <a:r>
              <a:rPr lang="en-US" sz="1200" b="0" i="0" u="none" strike="noStrike">
                <a:solidFill>
                  <a:srgbClr val="000000"/>
                </a:solidFill>
              </a:rPr>
              <a:t>，大幅减少对片外内存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(DRAM)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的访问次数。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低位量化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(Quantization)</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结合</a:t>
            </a:r>
            <a:r>
              <a:rPr lang="en-US" sz="1200" b="0" i="0" u="none" strike="noStrike">
                <a:solidFill>
                  <a:srgbClr val="000000"/>
                </a:solidFill>
              </a:rPr>
              <a:t>低位精度（如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INT8</a:t>
            </a:r>
            <a:r>
              <a:rPr lang="en-US" sz="1200" b="0" i="0" u="none" strike="noStrike">
                <a:solidFill>
                  <a:srgbClr val="000000"/>
                </a:solidFill>
              </a:rPr>
              <a:t>）</a:t>
            </a:r>
            <a:r>
              <a:rPr lang="en-US" sz="1200" b="0" i="0" u="none" strike="noStrike">
                <a:solidFill>
                  <a:srgbClr val="000000"/>
                </a:solidFill>
              </a:rPr>
              <a:t>优化，进一步减少数据移动量和存储需求，同时利用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FPGA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DSP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资源高效执行定点运算。</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流式数据流加速器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(Streaming Dataflow Accelerators)</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这种架构的核心特点是流式执行模型和数据流执行。它将计算图中的操作流水线化，数据像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一样经过计算单元，旨在最大化并行度并减少数据在片外内存（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Off-chip Memory</a:t>
            </a:r>
            <a:r>
              <a:rPr lang="en-US" sz="1200" b="0" i="0" u="none" strike="noStrike">
                <a:solidFill>
                  <a:srgbClr val="000000"/>
                </a:solidFill>
              </a:rPr>
              <a:t>）间的移动。</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朴素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SDPA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实现：线性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中间内存</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在传统的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O(N2)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内存模型中，需要完整地存储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P </a:t>
            </a:r>
            <a:r>
              <a:rPr lang="en-US" sz="1200" b="0" i="0" u="none" strike="noStrike">
                <a:solidFill>
                  <a:srgbClr val="000000"/>
                </a:solidFill>
              </a:rPr>
              <a:t>矩阵。</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SDPA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算法映射到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流式数据流加速器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上时，研究人员发现，由于其</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流式执行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操作可分解性</a:t>
            </a:r>
            <a:r>
              <a:rPr lang="en-US" sz="1200" b="0" i="0" u="none" strike="noStrike">
                <a:solidFill>
                  <a:srgbClr val="000000"/>
                </a:solidFill>
              </a:rPr>
              <a:t>，即使是朴素的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SDPA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算法，其内存复杂度也能得到改善。</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关键观察：</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SDPA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算法可以分解为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行级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(Row-wise)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操作</a:t>
            </a:r>
            <a:r>
              <a:rPr lang="en-US" sz="1200" b="0" i="0" u="none" strike="noStrike">
                <a:solidFill>
                  <a:srgbClr val="000000"/>
                </a:solidFill>
              </a:rPr>
              <a:t>。计算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Query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矩阵中的某一行的注意力输出时，只需要该行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qi​ </a:t>
            </a:r>
            <a:r>
              <a:rPr lang="en-US" sz="1200" b="0" i="0" u="none" strike="noStrike">
                <a:solidFill>
                  <a:srgbClr val="000000"/>
                </a:solidFill>
              </a:rPr>
              <a:t>与所有</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KT </a:t>
            </a:r>
            <a:r>
              <a:rPr lang="en-US" sz="1200" b="0" i="0" u="none" strike="noStrike">
                <a:solidFill>
                  <a:srgbClr val="000000"/>
                </a:solidFill>
              </a:rPr>
              <a:t>进行点积，计算出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si​</a:t>
            </a:r>
            <a:r>
              <a:rPr lang="en-US" sz="1200" b="0" i="0" u="none" strike="noStrike">
                <a:solidFill>
                  <a:srgbClr val="000000"/>
                </a:solidFill>
              </a:rPr>
              <a:t>，然后对其应用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得到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pi​</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朴素实现的挑战：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尽管是行级操作，但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的计算需要</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归一化项（分母）</a:t>
            </a:r>
            <a:r>
              <a:rPr lang="en-US" sz="1200" b="0" i="0" u="none" strike="noStrike">
                <a:solidFill>
                  <a:srgbClr val="000000"/>
                </a:solidFill>
              </a:rPr>
              <a:t>，即</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∑j​esij​</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在计算出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sij​ </a:t>
            </a:r>
            <a:r>
              <a:rPr lang="en-US" sz="1200" b="0" i="0" u="none" strike="noStrike">
                <a:solidFill>
                  <a:srgbClr val="000000"/>
                </a:solidFill>
              </a:rPr>
              <a:t>后，需要</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暂时存储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这一行所有的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sij​ </a:t>
            </a:r>
            <a:r>
              <a:rPr lang="en-US" sz="1200" b="0" i="0" u="none" strike="noStrike">
                <a:solidFill>
                  <a:srgbClr val="000000"/>
                </a:solidFill>
              </a:rPr>
              <a:t>元素</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个元素</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rPr>
              <a:t>，直到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整行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计算完毕，才能计算出分母，然后进行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在流式架构下，朴素实现需要为每行存储一个</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N </a:t>
            </a:r>
            <a:r>
              <a:rPr lang="en-US" sz="1200" b="0" i="0" u="none" strike="noStrike">
                <a:solidFill>
                  <a:srgbClr val="000000"/>
                </a:solidFill>
              </a:rPr>
              <a:t>长度的中间结果，因此中间内存复杂度降低到了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O(N)</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优化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SDPA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实现：常数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O(1)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中间内存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相同，使用在线</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的方法，增量计算分母</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朴素算法</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严格按照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SDPA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公式流程执行，先算出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 </a:t>
            </a:r>
            <a:r>
              <a:rPr lang="en-US" sz="1200" b="0" i="0" u="none" strike="noStrike">
                <a:solidFill>
                  <a:srgbClr val="000000"/>
                </a:solidFill>
              </a:rPr>
              <a:t>矩阵，再计算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分母，然后归一化。</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线性内存</a:t>
            </a:r>
            <a:r>
              <a:rPr lang="en-US" sz="1200" b="0" i="0" u="none" strike="noStrike">
                <a:solidFill>
                  <a:srgbClr val="000000"/>
                </a:solidFill>
              </a:rPr>
              <a:t>：必须存储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整行分子</a:t>
            </a:r>
            <a:r>
              <a:rPr lang="en-US" sz="1200" b="0" i="0" u="none" strike="noStrike">
                <a:solidFill>
                  <a:srgbClr val="000000"/>
                </a:solidFill>
              </a:rPr>
              <a:t>，等待</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的分母（</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Reduce (N)</a:t>
            </a:r>
            <a:r>
              <a:rPr lang="en-US" sz="1200" b="0" i="0" u="none" strike="noStrike">
                <a:solidFill>
                  <a:srgbClr val="000000"/>
                </a:solidFill>
              </a:rPr>
              <a:t>）计算完成。</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(b)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重排序除法</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Softmax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归一化的除法操作后移，尝试融合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PV </a:t>
            </a:r>
            <a:r>
              <a:rPr lang="en-US" sz="1200" b="0" i="0" u="none" strike="noStrike">
                <a:solidFill>
                  <a:srgbClr val="000000"/>
                </a:solidFill>
              </a:rPr>
              <a:t>乘法，以优化数据流。</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线性内存</a:t>
            </a:r>
            <a:r>
              <a:rPr lang="en-US" sz="1200" b="0" i="0" u="none" strike="noStrike">
                <a:solidFill>
                  <a:srgbClr val="000000"/>
                </a:solidFill>
              </a:rPr>
              <a:t>：本质上</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仍需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Reduce (N)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来计算分母，因此仍然需要</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存储一整行中间结果</a:t>
            </a:r>
            <a:r>
              <a:rPr lang="en-US" sz="1200" b="0" i="0" u="none" strike="noStrike">
                <a:solidFill>
                  <a:srgbClr val="000000"/>
                </a:solidFill>
              </a:rPr>
              <a:t>。</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内存无消耗</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Scan (N→∞)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模式实现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增量</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在线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rPr>
              <a:t>，实时更新分母和最大值。</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O(1)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常数内存</a:t>
            </a:r>
            <a:r>
              <a:rPr lang="en-US" sz="1200" b="0" i="0" u="none" strike="noStrike">
                <a:solidFill>
                  <a:srgbClr val="000000"/>
                </a:solidFill>
              </a:rPr>
              <a:t>：彻底消除对整行中间结果的依赖，</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数据流经即可完成计算</a:t>
            </a:r>
            <a:r>
              <a:rPr lang="en-US" sz="1200" b="0" i="0" u="none" strike="noStrike">
                <a:solidFill>
                  <a:srgbClr val="000000"/>
                </a:solidFill>
              </a:rPr>
              <a:t>，仅需存储</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常数状态</a:t>
            </a:r>
            <a:r>
              <a:rPr lang="en-US" sz="1200" b="0" i="0" u="none" strike="noStrike">
                <a:solidFill>
                  <a:srgbClr val="000000"/>
                </a:solidFill>
              </a:rPr>
              <a:t>。</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解决核心瓶颈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(Addressing the Bottleneck):</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针对大型语言模型（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LLMs</a:t>
            </a:r>
            <a:r>
              <a:rPr lang="en-US" sz="1200" b="0" i="0" u="none" strike="noStrike">
                <a:solidFill>
                  <a:srgbClr val="000000"/>
                </a:solidFill>
              </a:rPr>
              <a:t>）在长上下文（如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128K</a:t>
            </a:r>
            <a:r>
              <a:rPr lang="en-US" sz="1200" b="0" i="0" u="none" strike="noStrike">
                <a:solidFill>
                  <a:srgbClr val="000000"/>
                </a:solidFill>
              </a:rPr>
              <a:t>）推理时，</a:t>
            </a:r>
            <a:r>
              <a:rPr lang="en-US" sz="1200" b="0" i="0" u="none" strike="noStrike">
                <a:solidFill>
                  <a:srgbClr val="000000"/>
                </a:solidFill>
              </a:rPr>
              <a:t>自注意力（</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Self-Attention</a:t>
            </a:r>
            <a:r>
              <a:rPr lang="en-US" sz="1200" b="0" i="0" u="none" strike="noStrike">
                <a:solidFill>
                  <a:srgbClr val="000000"/>
                </a:solidFill>
              </a:rPr>
              <a:t>）</a:t>
            </a:r>
            <a:r>
              <a:rPr lang="en-US" sz="1200" b="0" i="0" u="none" strike="noStrike">
                <a:solidFill>
                  <a:srgbClr val="000000"/>
                </a:solidFill>
              </a:rPr>
              <a:t>计算成为主要延迟瓶颈的问题</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核心推测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验证机制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(Speculation-Verification Mechanism):1</a:t>
            </a:r>
            <a:r>
              <a:rPr lang="en-US" sz="1200" b="0" i="0" u="none" strike="noStrike">
                <a:solidFill>
                  <a:srgbClr val="000000"/>
                </a:solidFill>
              </a:rPr>
              <a:t>、利用一个</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低成本、低延迟的近似函数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Aapprox​ </a:t>
            </a:r>
            <a:r>
              <a:rPr lang="en-US" sz="1200" b="0" i="0" u="none" strike="noStrike">
                <a:solidFill>
                  <a:srgbClr val="000000"/>
                </a:solidFill>
              </a:rPr>
              <a:t>来快速预测当前层的自注意力输出</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A~i​</a:t>
            </a:r>
            <a:r>
              <a:rPr lang="en-US" sz="1200" b="0" i="0" u="none" strike="noStrike">
                <a:solidFill>
                  <a:srgbClr val="000000"/>
                </a:solidFill>
              </a:rPr>
              <a:t>。例如，论文中采用了</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 Sink</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等近似技术，它只关注最老和最新的少数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a:t>
            </a:r>
            <a:r>
              <a:rPr lang="en-US" sz="1200" b="0" i="0" u="none" strike="noStrike">
                <a:solidFill>
                  <a:srgbClr val="000000"/>
                </a:solidFill>
              </a:rPr>
              <a:t>，避免了整个长上下文的昂贵计算。</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2</a:t>
            </a:r>
            <a:r>
              <a:rPr lang="en-US" sz="1200" b="0" i="0" u="none" strike="noStrike">
                <a:solidFill>
                  <a:srgbClr val="000000"/>
                </a:solidFill>
              </a:rPr>
              <a:t>、两个计算路径同时启动：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精确路径：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在主计算设备上，开始执行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精确</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的自注意力计算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Ai​</a:t>
            </a:r>
            <a:r>
              <a:rPr lang="en-US" sz="1200" b="0" i="0" u="none" strike="noStrike">
                <a:solidFill>
                  <a:srgbClr val="000000"/>
                </a:solidFill>
              </a:rPr>
              <a:t>。这通常需要较长时间。</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2.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推测路径：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在另一个设备或线程上，将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A~i​ </a:t>
            </a:r>
            <a:r>
              <a:rPr lang="en-US" sz="1200" b="0" i="0" u="none" strike="noStrike">
                <a:solidFill>
                  <a:srgbClr val="000000"/>
                </a:solidFill>
              </a:rPr>
              <a:t>输入到后续的非注意力计算（如</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LayerNorm, FFN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提前</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开始后续操作。</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3</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验证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(Verification)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当精确的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Ai​ </a:t>
            </a:r>
            <a:r>
              <a:rPr lang="en-US" sz="1200" b="0" i="0" u="none" strike="noStrike">
                <a:solidFill>
                  <a:srgbClr val="000000"/>
                </a:solidFill>
              </a:rPr>
              <a:t>计算完成后，它会与推测出的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A~i​ </a:t>
            </a:r>
            <a:r>
              <a:rPr lang="en-US" sz="1200" b="0" i="0" u="none" strike="noStrike">
                <a:solidFill>
                  <a:srgbClr val="000000"/>
                </a:solidFill>
              </a:rPr>
              <a:t>进行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低成本的比较验证</a:t>
            </a:r>
            <a:r>
              <a:rPr lang="en-US" sz="1200" b="0" i="0" u="none" strike="noStrike">
                <a:solidFill>
                  <a:srgbClr val="000000"/>
                </a:solidFill>
              </a:rPr>
              <a:t>。验证成功的标准是两者之差是否在一个可接受的阈值</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λ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之内。</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4</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提交或回滚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(Commit or Rollback)</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提交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(Commit)</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如果验证成功，则表明推测路径的提前计算是有效的。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丢弃</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精确路径上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Ai​ </a:t>
            </a:r>
            <a:r>
              <a:rPr lang="en-US" sz="1200" b="0" i="0" u="none" strike="noStrike">
                <a:solidFill>
                  <a:srgbClr val="000000"/>
                </a:solidFill>
              </a:rPr>
              <a:t>之后的重复计算，采用推测路径的结果。</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延迟得以隐藏。</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回滚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(Rollback)</a:t>
            </a:r>
            <a:r>
              <a:rPr lang="en-US" sz="1200" b="1"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如果验证失败，推测路径提前计算的结果被</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丢弃</a:t>
            </a:r>
            <a:r>
              <a:rPr lang="en-US" sz="1200" b="0" i="0" u="none" strike="noStrike">
                <a:solidFill>
                  <a:srgbClr val="000000"/>
                </a:solidFill>
              </a:rPr>
              <a:t>。使用精确的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Ai​</a:t>
            </a:r>
            <a:r>
              <a:rPr lang="en-US" sz="1200" b="0" i="0" u="none" strike="noStrike">
                <a:solidFill>
                  <a:srgbClr val="000000"/>
                </a:solidFill>
              </a:rPr>
              <a:t>，重新计算后续的非注意力操作。</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延迟增加，但精度得到保证。</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显著性能提升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(Significant Speedup):</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128K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上下文长度下，实现了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高达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5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倍</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的注意力延迟开销减少，并将</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端到端解码延迟提高了高达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1.65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倍</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1200" b="0" i="0" u="none" strike="noStrike">
                <a:solidFill>
                  <a:srgbClr val="000000"/>
                </a:solidFill>
              </a:rPr>
              <a:t>。</a:t>
            </a: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Calibri" panose="020F0502020204030204"/>
              </a:defRPr>
            </a:lvl1pPr>
          </a:lstStyle>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3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及更高版本的持续演进</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深度异步执行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(Deep Asynchronous Execution)</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：针对</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H100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等新架构，实现数据加载与计算的完美重叠，彻底消除流水线气泡。</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原生低精度加速</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：支持</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FP8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INT8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格式，在不损失精度的前提下，将推理吞吐量提升至新高度。</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定制化硬件加速器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(FPGA/ASIC)</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硬件协同设计</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：针对注意力机制设计定制化处理单元</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(PE)</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，优化数据流架构。</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低位量化与结构化剪枝</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：结合</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INT4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量化与稀疏化技术，通过“硬件感知”的压缩手段进一步降低功耗。</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流式处理架构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(Streaming Dataflow)</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$O(1)$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中间内存占用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：通过将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SDPA</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（缩放点积注意力）分解为行向操作，实现常数级的存储需求。</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在线增量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Softmax</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：支持超长序列的实时流式推断。</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核心主题：从优化工具到大模型基础设施的变革</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注意力级投机计算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(Attention-Level Speculation)</a:t>
            </a:r>
            <a:endPar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预测与验证机制</a:t>
            </a:r>
            <a:r>
              <a:rPr lang="en-US" sz="1200" b="0" i="0" u="none" strike="noStrike">
                <a:solidFill>
                  <a:srgbClr val="000000"/>
                </a:solidFill>
              </a:rPr>
              <a:t>：通过预测当前层的注意力输出，实现</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Self-Attention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与后续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FFN/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残差连接的并行执行。</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计算重叠 </a:t>
            </a: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(Overlapping)</a:t>
            </a:r>
            <a:r>
              <a:rPr lang="en-US" sz="1200" b="0" i="0" u="none" strike="noStrike">
                <a:solidFill>
                  <a:srgbClr val="000000"/>
                </a:solidFill>
              </a:rPr>
              <a:t>：利用低成本验证机制，在保证结果精确性的同时，大幅压缩整体推理延迟。</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支撑“无限长度”的上下文</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线性内存复杂度的胜利</a:t>
            </a:r>
            <a:r>
              <a:rPr lang="en-US" sz="1200" b="0" i="0" u="none" strike="noStrike">
                <a:solidFill>
                  <a:srgbClr val="000000"/>
                </a:solidFill>
              </a:rPr>
              <a:t>：内存占用从</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$O(N^2)$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降至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后，大模型将能原生支持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1M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甚至更长的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Token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序列。</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多模态大爆发</a:t>
            </a:r>
            <a:r>
              <a:rPr lang="en-US" sz="1200" b="0" i="0" u="none" strike="noStrike">
                <a:solidFill>
                  <a:srgbClr val="000000"/>
                </a:solidFill>
              </a:rPr>
              <a:t>：赋能整本书阅读、超长视频流理解及复杂多文档联合分析。</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Calibri" panose="020F0502020204030204"/>
                <a:ea typeface="Calibri" panose="020F0502020204030204"/>
                <a:cs typeface="Calibri" panose="020F0502020204030204"/>
                <a:sym typeface="Calibri" panose="020F0502020204030204"/>
              </a:rPr>
              <a:t>IO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感知哲学的普适化</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通用算子优化基石</a:t>
            </a:r>
            <a:r>
              <a:rPr lang="en-US" sz="1200" b="0" i="0" u="none" strike="noStrike">
                <a:solidFill>
                  <a:srgbClr val="000000"/>
                </a:solidFill>
              </a:rPr>
              <a:t>：将</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Flash 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 “</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IO-Aware”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设计理念推广至所有深度学习算子（如卷积、归一化等）。</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457200" lvl="1"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结论</a:t>
            </a:r>
            <a:r>
              <a:rPr lang="en-US" sz="1200" b="0" i="0" u="none" strike="noStrike">
                <a:solidFill>
                  <a:srgbClr val="000000"/>
                </a:solidFill>
              </a:rPr>
              <a:t>：</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Flash 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不仅仅是一个算子优化，它是迈向</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更高效、更智能、更长记忆</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的人工智能时代的必经之路。</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https://developer.download.nvidia.cn/video/gputechconf/gtc/2019/presentation/s9345-cuda-kernel-profiling-using-nvidia-nsight-compute.pdf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https://www.slideshare.net/slideshow/profiling-deep-learning-network-using-nvidia-nsight-systems/170158704</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https://developer.download.nvidia.cn/video/gputechconf/gtc/2019/presentation/s9345-cuda-kernel-profiling-using-nvidia-nsight-compute.pdf</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https://github.com/flagos-ai/FlagGems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https://github.com/flagos-ai/FlagGems</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图片 5" descr="logo-africa"/>
          <p:cNvPicPr>
            <a:picLocks noChangeAspect="1"/>
          </p:cNvPicPr>
          <p:nvPr userDrawn="1"/>
        </p:nvPicPr>
        <p:blipFill>
          <a:blip r:embed="rId15"/>
          <a:stretch>
            <a:fillRect/>
          </a:stretch>
        </p:blipFill>
        <p:spPr>
          <a:xfrm>
            <a:off x="8076565" y="222885"/>
            <a:ext cx="897890" cy="3740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hyperlink" Target="https://authors.library.caltech.edu/40408/1/391.pdf" TargetMode="External"/><Relationship Id="rId3" Type="http://schemas.openxmlformats.org/officeDocument/2006/relationships/hyperlink" Target="https://www.frontiersin.org/articles/10.3389/fncom.2020.00029/full" TargetMode="Externa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1" Type="http://schemas.openxmlformats.org/officeDocument/2006/relationships/notesSlide" Target="../notesSlides/notesSlide4.xml"/><Relationship Id="rId10" Type="http://schemas.openxmlformats.org/officeDocument/2006/relationships/slideLayout" Target="../slideLayouts/slideLayout14.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xml"/><Relationship Id="rId2" Type="http://schemas.openxmlformats.org/officeDocument/2006/relationships/image" Target="../media/image29.png"/><Relationship Id="rId1" Type="http://schemas.openxmlformats.org/officeDocument/2006/relationships/image" Target="../media/image2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4.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3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4.xml"/><Relationship Id="rId2" Type="http://schemas.openxmlformats.org/officeDocument/2006/relationships/image" Target="../media/image36.png"/><Relationship Id="rId1" Type="http://schemas.openxmlformats.org/officeDocument/2006/relationships/image" Target="../media/image35.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38.png"/><Relationship Id="rId1" Type="http://schemas.openxmlformats.org/officeDocument/2006/relationships/image" Target="../media/image37.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4.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4.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4.xml"/><Relationship Id="rId2" Type="http://schemas.openxmlformats.org/officeDocument/2006/relationships/image" Target="../media/image46.png"/><Relationship Id="rId1" Type="http://schemas.openxmlformats.org/officeDocument/2006/relationships/image" Target="../media/image45.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4.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4.xml"/><Relationship Id="rId2" Type="http://schemas.openxmlformats.org/officeDocument/2006/relationships/image" Target="../media/image51.png"/><Relationship Id="rId1" Type="http://schemas.openxmlformats.org/officeDocument/2006/relationships/image" Target="../media/image50.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4.xml"/><Relationship Id="rId2" Type="http://schemas.openxmlformats.org/officeDocument/2006/relationships/image" Target="../media/image53.GIF"/><Relationship Id="rId1" Type="http://schemas.openxmlformats.org/officeDocument/2006/relationships/image" Target="../media/image52.GI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image" Target="../media/image5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3.xml"/><Relationship Id="rId2" Type="http://schemas.openxmlformats.org/officeDocument/2006/relationships/image" Target="../media/image58.png"/><Relationship Id="rId1"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0.png"/><Relationship Id="rId1" Type="http://schemas.openxmlformats.org/officeDocument/2006/relationships/image" Target="../media/image59.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4.xml"/><Relationship Id="rId2" Type="http://schemas.openxmlformats.org/officeDocument/2006/relationships/image" Target="../media/image62.png"/><Relationship Id="rId1" Type="http://schemas.openxmlformats.org/officeDocument/2006/relationships/image" Target="../media/image6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7.png"/><Relationship Id="rId1" Type="http://schemas.openxmlformats.org/officeDocument/2006/relationships/image" Target="../media/image6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8.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3.xml"/><Relationship Id="rId2" Type="http://schemas.openxmlformats.org/officeDocument/2006/relationships/image" Target="../media/image70.png"/><Relationship Id="rId1" Type="http://schemas.openxmlformats.org/officeDocument/2006/relationships/image" Target="../media/image6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1.GIF"/></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4.png"/><Relationship Id="rId1" Type="http://schemas.openxmlformats.org/officeDocument/2006/relationships/image" Target="../media/image73.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6.png"/><Relationship Id="rId1" Type="http://schemas.openxmlformats.org/officeDocument/2006/relationships/image" Target="../media/image7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6.png"/><Relationship Id="rId1" Type="http://schemas.openxmlformats.org/officeDocument/2006/relationships/image" Target="../media/image77.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9.jpeg"/><Relationship Id="rId1" Type="http://schemas.openxmlformats.org/officeDocument/2006/relationships/image" Target="../media/image7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image" Target="../media/image80.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1.png"/><Relationship Id="rId1" Type="http://schemas.openxmlformats.org/officeDocument/2006/relationships/image" Target="../media/image80.png"/></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4.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3.xml"/><Relationship Id="rId2" Type="http://schemas.openxmlformats.org/officeDocument/2006/relationships/image" Target="../media/image69.png"/><Relationship Id="rId1" Type="http://schemas.openxmlformats.org/officeDocument/2006/relationships/image" Target="../media/image8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8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3.xml"/><Relationship Id="rId2" Type="http://schemas.openxmlformats.org/officeDocument/2006/relationships/image" Target="../media/image91.png"/><Relationship Id="rId1" Type="http://schemas.openxmlformats.org/officeDocument/2006/relationships/image" Target="../media/image90.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3.xml"/><Relationship Id="rId2" Type="http://schemas.openxmlformats.org/officeDocument/2006/relationships/image" Target="../media/image92.png"/><Relationship Id="rId1" Type="http://schemas.openxmlformats.org/officeDocument/2006/relationships/image" Target="../media/image76.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3.xml"/><Relationship Id="rId2" Type="http://schemas.openxmlformats.org/officeDocument/2006/relationships/image" Target="../media/image94.png"/><Relationship Id="rId1" Type="http://schemas.openxmlformats.org/officeDocument/2006/relationships/image" Target="../media/image9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image" Target="../media/image95.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4.xml"/><Relationship Id="rId2" Type="http://schemas.openxmlformats.org/officeDocument/2006/relationships/image" Target="../media/image97.png"/><Relationship Id="rId1" Type="http://schemas.openxmlformats.org/officeDocument/2006/relationships/image" Target="../media/image96.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4.xml"/><Relationship Id="rId2" Type="http://schemas.openxmlformats.org/officeDocument/2006/relationships/image" Target="../media/image99.png"/><Relationship Id="rId1" Type="http://schemas.openxmlformats.org/officeDocument/2006/relationships/image" Target="../media/image98.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4.xml"/><Relationship Id="rId1" Type="http://schemas.openxmlformats.org/officeDocument/2006/relationships/image" Target="../media/image100.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3.xml"/><Relationship Id="rId2" Type="http://schemas.openxmlformats.org/officeDocument/2006/relationships/image" Target="../media/image102.png"/><Relationship Id="rId1" Type="http://schemas.openxmlformats.org/officeDocument/2006/relationships/image" Target="../media/image10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105.GIF"/><Relationship Id="rId2" Type="http://schemas.openxmlformats.org/officeDocument/2006/relationships/image" Target="../media/image104.GIF"/><Relationship Id="rId1" Type="http://schemas.openxmlformats.org/officeDocument/2006/relationships/image" Target="../media/image103.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10.png"/><Relationship Id="rId2" Type="http://schemas.openxmlformats.org/officeDocument/2006/relationships/image" Target="../media/image109.GIF"/><Relationship Id="rId1" Type="http://schemas.openxmlformats.org/officeDocument/2006/relationships/image" Target="../media/image108.GIF"/></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image" Target="../media/image11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5.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6.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9.png"/><Relationship Id="rId1" Type="http://schemas.openxmlformats.org/officeDocument/2006/relationships/image" Target="../media/image11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0.pn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22.png"/><Relationship Id="rId3" Type="http://schemas.openxmlformats.org/officeDocument/2006/relationships/image" Target="../media/image121.png"/><Relationship Id="rId2" Type="http://schemas.openxmlformats.org/officeDocument/2006/relationships/hyperlink" Target="https://arxiv.org/pdf/1509.09308" TargetMode="External"/><Relationship Id="rId1" Type="http://schemas.openxmlformats.org/officeDocument/2006/relationships/hyperlink" Target="https://epubs.siam.org/doi/abs/10.1137/0209021" TargetMode="Externa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24.png"/><Relationship Id="rId3" Type="http://schemas.openxmlformats.org/officeDocument/2006/relationships/image" Target="../media/image123.png"/><Relationship Id="rId2" Type="http://schemas.openxmlformats.org/officeDocument/2006/relationships/hyperlink" Target="https://arxiv.org/pdf/1509.09308" TargetMode="External"/><Relationship Id="rId1" Type="http://schemas.openxmlformats.org/officeDocument/2006/relationships/hyperlink" Target="https://epubs.siam.org/doi/abs/10.1137/0209021" TargetMode="External"/></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27.png"/><Relationship Id="rId4" Type="http://schemas.openxmlformats.org/officeDocument/2006/relationships/image" Target="../media/image126.png"/><Relationship Id="rId3" Type="http://schemas.openxmlformats.org/officeDocument/2006/relationships/image" Target="../media/image125.png"/><Relationship Id="rId2" Type="http://schemas.openxmlformats.org/officeDocument/2006/relationships/hyperlink" Target="https://arxiv.org/pdf/1509.09308" TargetMode="External"/><Relationship Id="rId1" Type="http://schemas.openxmlformats.org/officeDocument/2006/relationships/hyperlink" Target="https://epubs.siam.org/doi/abs/10.1137/0209021" TargetMode="Externa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8.png"/><Relationship Id="rId1" Type="http://schemas.openxmlformats.org/officeDocument/2006/relationships/hyperlink" Target="https://arxiv.org/pdf/1509.09308" TargetMode="Externa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hyperlink" Target="https://arxiv.org/pdf/1509.09308" TargetMode="Externa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hyperlink" Target="https://arxiv.org/pdf/1509.09308"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2.png"/><Relationship Id="rId1" Type="http://schemas.openxmlformats.org/officeDocument/2006/relationships/image" Target="../media/image131.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13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7.png"/><Relationship Id="rId1" Type="http://schemas.openxmlformats.org/officeDocument/2006/relationships/image" Target="../media/image136.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9.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41.png"/><Relationship Id="rId1" Type="http://schemas.openxmlformats.org/officeDocument/2006/relationships/image" Target="../media/image140.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43.png"/><Relationship Id="rId1" Type="http://schemas.openxmlformats.org/officeDocument/2006/relationships/image" Target="../media/image142.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4.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5.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6.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8.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0.png"/><Relationship Id="rId1" Type="http://schemas.openxmlformats.org/officeDocument/2006/relationships/image" Target="../media/image149.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3.png"/><Relationship Id="rId1" Type="http://schemas.openxmlformats.org/officeDocument/2006/relationships/image" Target="../media/image152.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4.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6.png"/><Relationship Id="rId1" Type="http://schemas.openxmlformats.org/officeDocument/2006/relationships/image" Target="../media/image155.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58.png"/><Relationship Id="rId1" Type="http://schemas.openxmlformats.org/officeDocument/2006/relationships/image" Target="../media/image15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0.png"/><Relationship Id="rId1" Type="http://schemas.openxmlformats.org/officeDocument/2006/relationships/image" Target="../media/image159.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2.png"/><Relationship Id="rId1" Type="http://schemas.openxmlformats.org/officeDocument/2006/relationships/image" Target="../media/image16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4.png"/><Relationship Id="rId1" Type="http://schemas.openxmlformats.org/officeDocument/2006/relationships/image" Target="../media/image16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5.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6.png"/><Relationship Id="rId1" Type="http://schemas.openxmlformats.org/officeDocument/2006/relationships/image" Target="../media/image165.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7.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7.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7.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9.png"/><Relationship Id="rId1" Type="http://schemas.openxmlformats.org/officeDocument/2006/relationships/image" Target="../media/image168.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1.png"/><Relationship Id="rId1" Type="http://schemas.openxmlformats.org/officeDocument/2006/relationships/image" Target="../media/image17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3.png"/><Relationship Id="rId1" Type="http://schemas.openxmlformats.org/officeDocument/2006/relationships/image" Target="../media/image17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5.pn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image" Target="../media/image177.png"/></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3.xml"/><Relationship Id="rId2" Type="http://schemas.openxmlformats.org/officeDocument/2006/relationships/image" Target="../media/image179.png"/><Relationship Id="rId1" Type="http://schemas.openxmlformats.org/officeDocument/2006/relationships/image" Target="../media/image178.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0.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181.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182.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183.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184.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185.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image" Target="../media/image186.png"/></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187.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image" Target="../media/image188.png"/></Relationships>
</file>

<file path=ppt/slides/_rels/slide139.xml.rels><?xml version="1.0" encoding="UTF-8" standalone="yes"?>
<Relationships xmlns="http://schemas.openxmlformats.org/package/2006/relationships"><Relationship Id="rId5" Type="http://schemas.openxmlformats.org/officeDocument/2006/relationships/notesSlide" Target="../notesSlides/notesSlide52.xml"/><Relationship Id="rId4" Type="http://schemas.openxmlformats.org/officeDocument/2006/relationships/slideLayout" Target="../slideLayouts/slideLayout13.xml"/><Relationship Id="rId3" Type="http://schemas.openxmlformats.org/officeDocument/2006/relationships/hyperlink" Target="https://docs.nvidia.com/nsight-compute/ProfilingGuide/index.html" TargetMode="External"/><Relationship Id="rId2" Type="http://schemas.openxmlformats.org/officeDocument/2006/relationships/hyperlink" Target="https://docs.nvidia.com/nsight-systems/index.html" TargetMode="External"/><Relationship Id="rId1" Type="http://schemas.openxmlformats.org/officeDocument/2006/relationships/hyperlink" Target="https://developer.nvidia.com/nsight-systems/get-started" TargetMode="Externa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9.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1.jpeg"/></Relationships>
</file>

<file path=ppt/slides/_rels/slide15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93.png"/><Relationship Id="rId1" Type="http://schemas.openxmlformats.org/officeDocument/2006/relationships/image" Target="../media/image192.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4.png"/></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5.png"/></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6.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7.png"/></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8.png"/></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hyperlink" Target="https://blog.ezyang.com/2020/09/lets-talk-about-the-pytorch-dispatcher/" TargetMode="External"/><Relationship Id="rId3" Type="http://schemas.openxmlformats.org/officeDocument/2006/relationships/hyperlink" Target="https://docs.nvidia.com/deeplearning/cudnn/latest/" TargetMode="External"/><Relationship Id="rId2" Type="http://schemas.openxmlformats.org/officeDocument/2006/relationships/hyperlink" Target="https://triton-lang.org/main/index.html" TargetMode="External"/><Relationship Id="rId1" Type="http://schemas.openxmlformats.org/officeDocument/2006/relationships/hyperlink" Target="https://github.com/flagos-ai/FlagGems"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9.png"/></Relationships>
</file>

<file path=ppt/slides/_rels/slide165.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 Id="rId3" Type="http://schemas.openxmlformats.org/officeDocument/2006/relationships/image" Target="../media/image202.png"/><Relationship Id="rId2" Type="http://schemas.openxmlformats.org/officeDocument/2006/relationships/image" Target="../media/image201.png"/><Relationship Id="rId13" Type="http://schemas.openxmlformats.org/officeDocument/2006/relationships/slideLayout" Target="../slideLayouts/slideLayout17.xml"/><Relationship Id="rId12" Type="http://schemas.openxmlformats.org/officeDocument/2006/relationships/image" Target="../media/image207.png"/><Relationship Id="rId11" Type="http://schemas.openxmlformats.org/officeDocument/2006/relationships/image" Target="../media/image206.jpeg"/><Relationship Id="rId10" Type="http://schemas.openxmlformats.org/officeDocument/2006/relationships/hyperlink" Target="https://flagos.io/Home" TargetMode="External"/><Relationship Id="rId1" Type="http://schemas.openxmlformats.org/officeDocument/2006/relationships/image" Target="../media/image200.png"/></Relationships>
</file>

<file path=ppt/slides/_rels/slide166.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315595"/>
            <a:ext cx="927735" cy="3867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900" b="0" i="0" u="none" strike="noStrike" spc="0">
                <a:solidFill>
                  <a:srgbClr val="262626">
                    <a:alpha val="100000"/>
                  </a:srgbClr>
                </a:solidFill>
                <a:latin typeface="Chinese Quote"/>
              </a:defRPr>
            </a:lvl1pPr>
          </a:lstStyle>
          <a:p>
            <a:pPr indent="0" algn="ctr">
              <a:lnSpc>
                <a:spcPct val="100000"/>
              </a:lnSpc>
              <a:spcBef>
                <a:spcPts val="1500"/>
              </a:spcBef>
            </a:pPr>
            <a:r>
              <a:rPr lang="en-US" sz="4900" b="0" i="0" u="none" strike="noStrike">
                <a:solidFill>
                  <a:srgbClr val="262626"/>
                </a:solidFill>
                <a:latin typeface="Chinese Quote"/>
                <a:ea typeface="Chinese Quote"/>
                <a:cs typeface="Chinese Quote"/>
                <a:sym typeface="Chinese Quote"/>
              </a:rPr>
              <a:t>Lecture 10: Attention Mechanism</a:t>
            </a:r>
            <a:br>
              <a:rPr lang="en-US" sz="4900" b="0" i="0" u="none" strike="noStrike">
                <a:solidFill>
                  <a:srgbClr val="262626"/>
                </a:solidFill>
                <a:latin typeface="Chinese Quote"/>
                <a:ea typeface="Chinese Quote"/>
                <a:cs typeface="Chinese Quote"/>
                <a:sym typeface="Chinese Quote"/>
              </a:rPr>
            </a:br>
            <a:r>
              <a:rPr lang="en-US" sz="4900" b="0" i="0" u="none" strike="noStrike">
                <a:solidFill>
                  <a:srgbClr val="262626"/>
                </a:solidFill>
                <a:latin typeface="Chinese Quote"/>
                <a:ea typeface="Chinese Quote"/>
                <a:cs typeface="Chinese Quote"/>
                <a:sym typeface="Chinese Quote"/>
              </a:rPr>
              <a:t>Principles and Operator Requirements</a:t>
            </a:r>
            <a:endParaRPr lang="en-US" sz="4900" b="0" i="0" u="none" strike="noStrike">
              <a:solidFill>
                <a:srgbClr val="262626"/>
              </a:solidFill>
              <a:latin typeface="Chinese Quote"/>
              <a:ea typeface="Chinese Quote"/>
              <a:cs typeface="Chinese Quote"/>
              <a:sym typeface="Chinese Quote"/>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p:nvPr>
            <p:ph type="body" sz="quarter" idx="6"/>
          </p:nvPr>
        </p:nvSpPr>
        <p:spPr/>
        <p:txBody>
          <a:bodyPr/>
          <a:p>
            <a:endParaRPr lang="zh-CN" altLang="en-US"/>
          </a:p>
        </p:txBody>
      </p:sp>
      <p:sp>
        <p:nvSpPr>
          <p:cNvPr id="3" name="文本占位符 2"/>
          <p:cNvSpPr/>
          <p:nvPr>
            <p:ph type="body" sz="quarter" idx="7"/>
          </p:nvPr>
        </p:nvSpPr>
        <p:spPr/>
        <p:txBody>
          <a:bodyPr/>
          <a:p>
            <a:r>
              <a:rPr lang="en-US" altLang="zh-CN"/>
              <a:t>https://aclanthology.org/2021.emnlp-main.446/</a:t>
            </a:r>
            <a:endParaRPr lang="en-US" altLang="zh-CN"/>
          </a:p>
        </p:txBody>
      </p:sp>
      <p:sp>
        <p:nvSpPr>
          <p:cNvPr id="4" name="文本占位符 3"/>
          <p:cNvSpPr/>
          <p:nvPr>
            <p:ph type="body" sz="quarter" idx="8"/>
          </p:nvPr>
        </p:nvSpPr>
        <p:spPr/>
        <p:txBody>
          <a:bodyPr/>
          <a:p>
            <a:endParaRPr lang="zh-CN" altLang="en-US"/>
          </a:p>
        </p:txBody>
      </p:sp>
      <p:sp>
        <p:nvSpPr>
          <p:cNvPr id="5" name="文本占位符 4"/>
          <p:cNvSpPr/>
          <p:nvPr>
            <p:ph type="body" sz="quarter" idx="9"/>
          </p:nvPr>
        </p:nvSpPr>
        <p:spPr/>
        <p:txBody>
          <a:bodyPr/>
          <a:p>
            <a:endParaRPr lang="zh-CN" altLang="en-US"/>
          </a:p>
        </p:txBody>
      </p:sp>
      <p:pic>
        <p:nvPicPr>
          <p:cNvPr id="6" name="图片 5"/>
          <p:cNvPicPr>
            <a:picLocks noChangeAspect="1"/>
          </p:cNvPicPr>
          <p:nvPr/>
        </p:nvPicPr>
        <p:blipFill>
          <a:blip r:embed="rId1"/>
          <a:stretch>
            <a:fillRect/>
          </a:stretch>
        </p:blipFill>
        <p:spPr>
          <a:xfrm>
            <a:off x="523875" y="1187450"/>
            <a:ext cx="11367135" cy="4989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020538" y="3331744"/>
            <a:ext cx="7643512" cy="3389732"/>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From RNN to Transformer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1980s – RNN (Serial Order: a parallel distrmuted processing approach)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1997 – LSTM (Long Short Term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2014 – GRU (Neural Machine Translation by Jointly Learning to Align and Translate)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2017 – Transformer (Attention is All Your Need)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Brief Overview of the Transformer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Vaswani, Ashish, et al. "Attention is all you need." Advances in neural information processing systems 30 (2017).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https://jalammar.github.io/illustrated-transformer/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High-Level Look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98345" y="1858493"/>
            <a:ext cx="4936812" cy="107391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7319" y="3123832"/>
            <a:ext cx="4375458" cy="276241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009629" y="1494430"/>
            <a:ext cx="5930002" cy="417520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7581" y="2184823"/>
            <a:ext cx="1000000" cy="733333"/>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(1/4)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a widely investigated concept that has often been studied in conjunction with arousal, alertness, and engagement with one’s surroundings.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8021657" y="3306385"/>
            <a:ext cx="4020417" cy="2870578"/>
          </a:xfrm>
          <a:prstGeom prst="rect">
            <a:avLst/>
          </a:prstGeom>
          <a:ln w="12700">
            <a:noFill/>
            <a:prstDash val="solid"/>
          </a:ln>
        </p:spPr>
      </p:pic>
      <p:sp>
        <p:nvSpPr>
          <p:cNvPr id="8" name="AutoShape 8"/>
          <p:cNvSpPr/>
          <p:nvPr/>
        </p:nvSpPr>
        <p:spPr>
          <a:xfrm>
            <a:off x="949776" y="2287345"/>
            <a:ext cx="9573492" cy="92333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In its most generic form, attention could be described as merely an overall level of alertness or ability to engage with surroundings.</a:t>
            </a:r>
            <a:endParaRPr lang="en-US" sz="1100"/>
          </a:p>
          <a:p>
            <a:pPr indent="0" algn="r">
              <a:lnSpc>
                <a:spcPct val="100000"/>
              </a:lnSpc>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a:t>
            </a:r>
            <a:r>
              <a:rPr lang="en-US" sz="1800" b="0" i="1" u="none" strike="noStrike">
                <a:solidFill>
                  <a:srgbClr val="428BCA"/>
                </a:solidFill>
                <a:latin typeface="Helvetica Neue" panose="02000503000000020004"/>
                <a:ea typeface="Helvetica Neue" panose="02000503000000020004"/>
                <a:cs typeface="Helvetica Neue" panose="02000503000000020004"/>
                <a:sym typeface="Helvetica Neue" panose="02000503000000020004"/>
                <a:hlinkClick r:id="rId3" tooltip="https://www.frontiersin.org/articles/10.3389/fncom.2020.00029/full"/>
              </a:rPr>
              <a:t>Attention in Psychology, Neuroscience, and Machine Learning</a:t>
            </a: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2020.</a:t>
            </a:r>
            <a:endPar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endParaRPr>
          </a:p>
        </p:txBody>
      </p:sp>
      <p:pic>
        <p:nvPicPr>
          <p:cNvPr id="9" name="Picture 9"/>
          <p:cNvPicPr>
            <a:picLocks noChangeAspect="1"/>
          </p:cNvPicPr>
          <p:nvPr/>
        </p:nvPicPr>
        <p:blipFill>
          <a:blip r:embed="rId1"/>
          <a:srcRect/>
          <a:stretch>
            <a:fillRect/>
          </a:stretch>
        </p:blipFill>
        <p:spPr>
          <a:xfrm>
            <a:off x="73726" y="3141663"/>
            <a:ext cx="1000000" cy="733333"/>
          </a:xfrm>
          <a:prstGeom prst="rect">
            <a:avLst/>
          </a:prstGeom>
          <a:ln w="12700">
            <a:noFill/>
            <a:prstDash val="solid"/>
          </a:ln>
        </p:spPr>
      </p:pic>
      <p:sp>
        <p:nvSpPr>
          <p:cNvPr id="10" name="AutoShape 10"/>
          <p:cNvSpPr/>
          <p:nvPr/>
        </p:nvSpPr>
        <p:spPr>
          <a:xfrm>
            <a:off x="942975" y="3314641"/>
            <a:ext cx="6962776" cy="2585323"/>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Neurons at the earliest stages are tuned to simple visual attributes such as intensity contrast, colour opponency, orientation, direction and velocity of motion, or stereo disparity at several spatial scales. Neuronal tuning becomes increasingly more specialized with the progression from low-level to high-level visual areas, such that higher-level visual areas include neurons that respond only to corners or junctions, shape-from-shading cues or views of specific real-world objects.</a:t>
            </a:r>
            <a:endParaRPr lang="en-US" sz="1100"/>
          </a:p>
          <a:p>
            <a:pPr indent="0" algn="r">
              <a:lnSpc>
                <a:spcPct val="100000"/>
              </a:lnSpc>
            </a:pP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a:t>
            </a:r>
            <a:r>
              <a:rPr lang="en-US" sz="1800" b="0" i="1" u="none" strike="noStrike">
                <a:solidFill>
                  <a:srgbClr val="428BCA"/>
                </a:solidFill>
                <a:latin typeface="Helvetica Neue" panose="02000503000000020004"/>
                <a:ea typeface="Helvetica Neue" panose="02000503000000020004"/>
                <a:cs typeface="Helvetica Neue" panose="02000503000000020004"/>
                <a:sym typeface="Helvetica Neue" panose="02000503000000020004"/>
                <a:hlinkClick r:id="rId4" tooltip="https://authors.library.caltech.edu/40408/1/391.pdf"/>
              </a:rPr>
              <a:t>Computational Modelling of Visual Attention</a:t>
            </a:r>
            <a:r>
              <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rPr>
              <a:t>, 2001.</a:t>
            </a:r>
            <a:endParaRPr lang="en-US" sz="1800" b="0" i="1" u="none" strike="noStrike">
              <a:solidFill>
                <a:srgbClr val="555555"/>
              </a:solidFill>
              <a:latin typeface="Helvetica Neue" panose="02000503000000020004"/>
              <a:ea typeface="Helvetica Neue" panose="02000503000000020004"/>
              <a:cs typeface="Helvetica Neue" panose="02000503000000020004"/>
              <a:sym typeface="Helvetica Neue" panose="020005030000000200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(2/4)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Bahdanau Attention (2014) – The Rise of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 "Jointly Learning to Align and Translate" for Neural Machine Translation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Luong Attention (2015) – Improving Efficiency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 "Global Attention," simplifying and refining Bahdanau’s approach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02201" y="3607742"/>
            <a:ext cx="5696817" cy="276064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31182" y="3581985"/>
            <a:ext cx="5338127" cy="26846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(3/4)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Transformer (2017) – Attention Is All You Need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dispense with Recurrence (RNN) and Convolutions (CNN) entirely, relying solely on Attention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Multi-Head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Sparse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4375" y="4479426"/>
            <a:ext cx="3220436" cy="223896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393139" y="4586472"/>
            <a:ext cx="3850198" cy="202487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8703183" y="4555606"/>
            <a:ext cx="3098292" cy="2086605"/>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4017938" y="2495787"/>
            <a:ext cx="7090209" cy="172292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Attention? (4/4)</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https://medium.com/@funcry/in-depth-understanding-of-attention-mechanism-part-ii-scaled-dot-product-attention-and-its-7743804e610e</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1144990" y="1924641"/>
            <a:ext cx="3897858" cy="540132"/>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2796295" y="2656195"/>
            <a:ext cx="1046331" cy="659157"/>
          </a:xfrm>
          <a:prstGeom prst="rect">
            <a:avLst/>
          </a:prstGeom>
          <a:ln w="12700">
            <a:noFill/>
            <a:prstDash val="solid"/>
          </a:ln>
        </p:spPr>
      </p:pic>
      <p:pic>
        <p:nvPicPr>
          <p:cNvPr id="9" name="Picture 9"/>
          <p:cNvPicPr>
            <a:picLocks noChangeAspect="1"/>
          </p:cNvPicPr>
          <p:nvPr/>
        </p:nvPicPr>
        <p:blipFill>
          <a:blip r:embed="rId1"/>
          <a:srcRect l="53793" r="22986"/>
          <a:stretch>
            <a:fillRect/>
          </a:stretch>
        </p:blipFill>
        <p:spPr>
          <a:xfrm>
            <a:off x="1464857" y="2656195"/>
            <a:ext cx="924353" cy="551619"/>
          </a:xfrm>
          <a:prstGeom prst="rect">
            <a:avLst/>
          </a:prstGeom>
          <a:ln w="12700">
            <a:noFill/>
            <a:prstDash val="solid"/>
          </a:ln>
        </p:spPr>
      </p:pic>
      <p:grpSp>
        <p:nvGrpSpPr>
          <p:cNvPr id="10" name="Group 10"/>
          <p:cNvGrpSpPr/>
          <p:nvPr/>
        </p:nvGrpSpPr>
        <p:grpSpPr>
          <a:xfrm>
            <a:off x="2463804" y="2782247"/>
            <a:ext cx="237244" cy="276999"/>
            <a:chOff x="2463804" y="2782247"/>
            <a:chExt cx="237244" cy="276999"/>
          </a:xfrm>
        </p:grpSpPr>
        <p:pic>
          <p:nvPicPr>
            <p:cNvPr id="11" name="Picture 11"/>
            <p:cNvPicPr>
              <a:picLocks noChangeAspect="1"/>
            </p:cNvPicPr>
            <p:nvPr/>
          </p:nvPicPr>
          <p:blipFill>
            <a:blip r:embed="rId3"/>
            <a:stretch>
              <a:fillRect/>
            </a:stretch>
          </p:blipFill>
          <p:spPr>
            <a:xfrm>
              <a:off x="2463804" y="2782247"/>
              <a:ext cx="237244" cy="276999"/>
            </a:xfrm>
            <a:prstGeom prst="rect">
              <a:avLst/>
            </a:prstGeom>
            <a:ln w="25400">
              <a:noFill/>
              <a:prstDash val="solid"/>
            </a:ln>
          </p:spPr>
        </p:pic>
        <p:sp>
          <p:nvSpPr>
            <p:cNvPr id="12" name="AutoShape 12"/>
            <p:cNvSpPr/>
            <p:nvPr/>
          </p:nvSpPr>
          <p:spPr>
            <a:xfrm>
              <a:off x="2463804" y="2782247"/>
              <a:ext cx="237244" cy="276999"/>
            </a:xfrm>
            <a:prstGeom prst="rect">
              <a:avLst/>
            </a:prstGeom>
            <a:noFill/>
            <a:ln w="254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1F2329"/>
                  </a:solidFill>
                  <a:latin typeface="Arial" panose="020B0604020202020204"/>
                  <a:ea typeface="Arial" panose="020B0604020202020204"/>
                  <a:cs typeface="Arial" panose="020B0604020202020204"/>
                  <a:sym typeface="Arial" panose="020B0604020202020204"/>
                </a:rPr>
                <a:t> </a:t>
              </a:r>
              <a:endParaRPr lang="en-US" sz="1100"/>
            </a:p>
          </p:txBody>
        </p:sp>
      </p:grpSp>
      <p:pic>
        <p:nvPicPr>
          <p:cNvPr id="13" name="Picture 13"/>
          <p:cNvPicPr>
            <a:picLocks noChangeAspect="1"/>
          </p:cNvPicPr>
          <p:nvPr/>
        </p:nvPicPr>
        <p:blipFill>
          <a:blip r:embed="rId4"/>
          <a:srcRect/>
          <a:stretch>
            <a:fillRect/>
          </a:stretch>
        </p:blipFill>
        <p:spPr>
          <a:xfrm>
            <a:off x="1436875" y="4698696"/>
            <a:ext cx="3314087" cy="659156"/>
          </a:xfrm>
          <a:prstGeom prst="rect">
            <a:avLst/>
          </a:prstGeom>
          <a:ln w="12700">
            <a:noFill/>
            <a:prstDash val="solid"/>
          </a:ln>
        </p:spPr>
      </p:pic>
      <p:pic>
        <p:nvPicPr>
          <p:cNvPr id="14" name="Picture 14"/>
          <p:cNvPicPr>
            <a:picLocks noChangeAspect="1"/>
          </p:cNvPicPr>
          <p:nvPr/>
        </p:nvPicPr>
        <p:blipFill>
          <a:blip r:embed="rId5"/>
          <a:srcRect/>
          <a:stretch>
            <a:fillRect/>
          </a:stretch>
        </p:blipFill>
        <p:spPr>
          <a:xfrm>
            <a:off x="6022769" y="3750470"/>
            <a:ext cx="1497836" cy="838788"/>
          </a:xfrm>
          <a:prstGeom prst="rect">
            <a:avLst/>
          </a:prstGeom>
          <a:ln w="12700">
            <a:noFill/>
            <a:prstDash val="solid"/>
          </a:ln>
        </p:spPr>
      </p:pic>
      <p:pic>
        <p:nvPicPr>
          <p:cNvPr id="15" name="Picture 15"/>
          <p:cNvPicPr>
            <a:picLocks noChangeAspect="1"/>
          </p:cNvPicPr>
          <p:nvPr/>
        </p:nvPicPr>
        <p:blipFill>
          <a:blip r:embed="rId6"/>
          <a:srcRect/>
          <a:stretch>
            <a:fillRect/>
          </a:stretch>
        </p:blipFill>
        <p:spPr>
          <a:xfrm>
            <a:off x="2153735" y="3776289"/>
            <a:ext cx="2444429" cy="907931"/>
          </a:xfrm>
          <a:prstGeom prst="rect">
            <a:avLst/>
          </a:prstGeom>
          <a:ln w="12700">
            <a:noFill/>
            <a:prstDash val="solid"/>
          </a:ln>
        </p:spPr>
      </p:pic>
      <p:pic>
        <p:nvPicPr>
          <p:cNvPr id="16" name="Picture 16"/>
          <p:cNvPicPr>
            <a:picLocks noChangeAspect="1"/>
          </p:cNvPicPr>
          <p:nvPr/>
        </p:nvPicPr>
        <p:blipFill>
          <a:blip r:embed="rId7"/>
          <a:srcRect/>
          <a:stretch>
            <a:fillRect/>
          </a:stretch>
        </p:blipFill>
        <p:spPr>
          <a:xfrm>
            <a:off x="5423825" y="4725186"/>
            <a:ext cx="5959852" cy="808837"/>
          </a:xfrm>
          <a:prstGeom prst="rect">
            <a:avLst/>
          </a:prstGeom>
          <a:ln w="12700">
            <a:noFill/>
            <a:prstDash val="solid"/>
          </a:ln>
        </p:spPr>
      </p:pic>
      <p:pic>
        <p:nvPicPr>
          <p:cNvPr id="17" name="Picture 17"/>
          <p:cNvPicPr>
            <a:picLocks noChangeAspect="1"/>
          </p:cNvPicPr>
          <p:nvPr/>
        </p:nvPicPr>
        <p:blipFill>
          <a:blip r:embed="rId8"/>
          <a:srcRect/>
          <a:stretch>
            <a:fillRect/>
          </a:stretch>
        </p:blipFill>
        <p:spPr>
          <a:xfrm>
            <a:off x="2261118" y="5471468"/>
            <a:ext cx="2078585" cy="884883"/>
          </a:xfrm>
          <a:prstGeom prst="rect">
            <a:avLst/>
          </a:prstGeom>
          <a:ln w="12700">
            <a:noFill/>
            <a:prstDash val="solid"/>
          </a:ln>
        </p:spPr>
      </p:pic>
      <p:pic>
        <p:nvPicPr>
          <p:cNvPr id="18" name="Picture 18"/>
          <p:cNvPicPr>
            <a:picLocks noChangeAspect="1"/>
          </p:cNvPicPr>
          <p:nvPr/>
        </p:nvPicPr>
        <p:blipFill>
          <a:blip r:embed="rId9"/>
          <a:srcRect/>
          <a:stretch>
            <a:fillRect/>
          </a:stretch>
        </p:blipFill>
        <p:spPr>
          <a:xfrm>
            <a:off x="5793901" y="1113550"/>
            <a:ext cx="6270127" cy="152364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(1/3)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Encoder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Multi-Head Self-Attention Mechanism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Simple, Position-wise Feed-Forward Network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Decoder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Masked Self-Attention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Encoder-Decoder Attention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Feed-Forward Network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29128" y="3120022"/>
            <a:ext cx="4464096" cy="218782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981704" y="3718825"/>
            <a:ext cx="6001935" cy="183373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Encoding Flow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Dependent paths in self-attention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Interdependent paths in feed-forward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876975" y="1962301"/>
            <a:ext cx="4950619" cy="68350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2349" y="2789538"/>
            <a:ext cx="5289355" cy="3434047"/>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288563" y="2852436"/>
            <a:ext cx="5434644" cy="341422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Background: Transformer (3/3)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 at a High Level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60466" y="2213386"/>
            <a:ext cx="4080775" cy="379261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Q/K/V Matrices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 as Information Retrieval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Triplets: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token is transformed into three vectors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(Q): “What am I looking for?”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(K): “What information do I contain?”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(V): “What is the actual content I offer?”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Mechanism: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Similarity: Compute the compatibility between the Query of the current token and the Keys of all other tokens.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Weights: Pass the scores through a Softmax function to get attention weights.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Output: The final representation is a weighted sum of the Values.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162673" y="1132554"/>
            <a:ext cx="5771277" cy="110057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15482" y="2546513"/>
            <a:ext cx="4838131" cy="117566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Q/K/V Matrices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Create Query, Key and Value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current token’s “question”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all others about relevance.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token’s identifying information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answer the “question.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Value: The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token’s content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be passed through (weighted) to the output.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Score and Weight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30469" y="4018047"/>
            <a:ext cx="4556252" cy="2717076"/>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70099" y="1951583"/>
            <a:ext cx="4671572" cy="47835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Computation Pipeline of </a:t>
            </a:r>
            <a:r>
              <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rPr>
              <a:t>Attention(Q, K, V)</a:t>
            </a:r>
            <a:endParaRPr lang="en-US" sz="3600" b="0" i="1"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222222">
                    <a:alpha val="100000"/>
                  </a:srgbClr>
                </a:solidFill>
                <a:latin typeface="Helvetica"/>
              </a:defRPr>
            </a:lvl1pPr>
          </a:lstStyle>
          <a:p>
            <a:pPr marL="304800" indent="-304800" algn="l">
              <a:lnSpc>
                <a:spcPct val="100000"/>
              </a:lnSpc>
              <a:spcBef>
                <a:spcPts val="1500"/>
              </a:spcBef>
              <a:buClr>
                <a:srgbClr val="222222"/>
              </a:buClr>
              <a:buChar char="•"/>
            </a:pPr>
            <a:r>
              <a:rPr lang="en-US" sz="2400" b="0" i="0" u="none" strike="noStrike">
                <a:solidFill>
                  <a:srgbClr val="222222"/>
                </a:solidFill>
                <a:latin typeface="Helvetica"/>
                <a:ea typeface="Helvetica"/>
                <a:cs typeface="Helvetica"/>
                <a:sym typeface="Helvetica"/>
              </a:rPr>
              <a:t>Calculate Query, Key, and Value matrices</a:t>
            </a:r>
            <a:endParaRPr lang="en-US" sz="2400" b="0" i="0" u="none" strike="noStrike">
              <a:solidFill>
                <a:srgbClr val="222222"/>
              </a:solidFill>
              <a:latin typeface="Helvetica"/>
              <a:ea typeface="Helvetica"/>
              <a:cs typeface="Helvetica"/>
              <a:sym typeface="Helvetica"/>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Score and Weight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14095" y="2135505"/>
            <a:ext cx="3653155" cy="422084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63734" y="2975212"/>
            <a:ext cx="4810906" cy="223808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Multi-Headed Attention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Multi-Headed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Expands the model’s ability to focus on different positions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Gives the attention layer multiple “representation subspaces”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Condense these matrixs down into a single matrix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33855" y="3253324"/>
            <a:ext cx="4571212" cy="3013334"/>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39887" y="2066935"/>
            <a:ext cx="4031104" cy="1912596"/>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620812" y="3965520"/>
            <a:ext cx="4433875" cy="250819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Multi-Headed Attention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Overview of Multi-Headed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animal didn't cross the street because it was too tired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92060" y="2552132"/>
            <a:ext cx="6070613" cy="3398292"/>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170350" y="2870107"/>
            <a:ext cx="2807068" cy="2557843"/>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157511" y="2895363"/>
            <a:ext cx="3012839" cy="250732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Positional Encoding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Positional encoding vectors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values of which follow a specific pattern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Dimensionality of 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599373" y="2702257"/>
            <a:ext cx="5610924" cy="3077893"/>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28600" y="3056343"/>
            <a:ext cx="5514247" cy="145424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Positional Encoding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Tensor2Tensor implementation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real example of positional encoding for 20 words (rows) with an embedding size of 512 (columns)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https://github.com/jalammar/jalammar.github.io/blob/master/notebookes/transformer/transformer_positional_encoding_graph.ipynb</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874579" y="2887046"/>
            <a:ext cx="4431223" cy="3289918"/>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26628" y="1414782"/>
            <a:ext cx="3761905" cy="819048"/>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6219822" y="2515862"/>
            <a:ext cx="5809617" cy="3443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The Residuals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Residual Connections and Layer Normalization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 of a Transformer of 2 stacked encoders and decoders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962021" y="2176388"/>
            <a:ext cx="4508957" cy="4003751"/>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603870" y="2371724"/>
            <a:ext cx="6588130" cy="373824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Decoder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Begin of Decode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starting token: typically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[BOS]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(Begin of Sequence)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Repeat the process until a special symbol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390526" y="2622857"/>
            <a:ext cx="5591177" cy="307150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096000" y="2405368"/>
            <a:ext cx="5987078" cy="328899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Transformer: The Final Linear and Softmax Layer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523872" y="1323977"/>
            <a:ext cx="7771037" cy="477168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LLM – Decoder-only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Decoder-Only: Built for Autoregression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Predicting the next token in a sequence based on everything that came before it.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Simplicity and Efficiency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One training objective: predict the next token.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No need for parallel datasets, which are expensive and scarce.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Can be scaled across trillions of tokens efficiently.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Perfect Match for Generative Tasks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Flexibility and Emergent Abilities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Scalability and Industry Validation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https://www.c-sharpcorner.com/article/llms-why-modern-llms-like-gpt-are-decoder-only/</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Decoder-Only vs Encoder-Decoder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6353886" y="2293936"/>
            <a:ext cx="5596622" cy="291306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Complexity of Attention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transformer self-attention, we compute attention scores between all pairs of tokens: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Query Q is an (n,d) matrix (for n tokens, each with dimension 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K is an (n,d) matrix.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 form an n x n attention score matrix QK^T.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 then multiply by Value V, which is (n,d) matrix.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This requires on the order of n² d operations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As n grows, the quadratic term dominates.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896535" y="2545541"/>
            <a:ext cx="4672012" cy="30157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Complexity of Attention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1. Compute Attention Scores</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QK^T⇒ (n,d) </a:t>
            </a:r>
            <a:r>
              <a:rPr lang="en-US" sz="2000" b="0" i="1"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(d,n) =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(n,n)</a:t>
            </a:r>
            <a:endPar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cost: about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O(n⋅d⋅n)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O(n² d)</a:t>
            </a:r>
            <a:endPar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This yields an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score matrix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(n,n)</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(basically all pairs of tokens).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2. Multiply by Values, V</a:t>
            </a:r>
            <a:endPar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score matrix</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(n,n) </a:t>
            </a:r>
            <a:r>
              <a:rPr lang="en-US" sz="2000" b="0" i="1"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V</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 (n, d) =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(n, d)</a:t>
            </a:r>
            <a:endPar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cost again: </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O(n⋅n⋅d)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O(n² d)</a:t>
            </a:r>
            <a:endPar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Hence </a:t>
            </a:r>
            <a:r>
              <a:rPr lang="en-US" sz="2000" b="1" i="0" u="none" strike="noStrike">
                <a:solidFill>
                  <a:srgbClr val="404040"/>
                </a:solidFill>
                <a:latin typeface="Calibri" panose="020F0502020204030204"/>
                <a:ea typeface="Calibri" panose="020F0502020204030204"/>
                <a:cs typeface="Calibri" panose="020F0502020204030204"/>
                <a:sym typeface="Calibri" panose="020F0502020204030204"/>
              </a:rPr>
              <a:t>each forward pass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of a single-head attention block is about </a:t>
            </a:r>
            <a:r>
              <a:rPr lang="en-US" sz="2000" b="1" i="1" u="none" strike="noStrike">
                <a:solidFill>
                  <a:srgbClr val="404040"/>
                </a:solidFill>
                <a:latin typeface="Calibri" panose="020F0502020204030204"/>
                <a:ea typeface="Calibri" panose="020F0502020204030204"/>
                <a:cs typeface="Calibri" panose="020F0502020204030204"/>
                <a:sym typeface="Calibri" panose="020F0502020204030204"/>
              </a:rPr>
              <a:t>O(n² d)</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it’s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multi-head</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with </a:t>
            </a:r>
            <a:r>
              <a:rPr lang="en-US" sz="2400" b="1" i="1" u="none" strike="noStrike">
                <a:solidFill>
                  <a:srgbClr val="404040"/>
                </a:solidFill>
                <a:latin typeface="Calibri" panose="020F0502020204030204"/>
                <a:ea typeface="Calibri" panose="020F0502020204030204"/>
                <a:cs typeface="Calibri" panose="020F0502020204030204"/>
                <a:sym typeface="Calibri" panose="020F0502020204030204"/>
              </a:rPr>
              <a:t>h</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 heads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each head uses dimension </a:t>
            </a:r>
            <a:r>
              <a:rPr lang="en-US" sz="2400" b="1" i="1" u="none" strike="noStrike">
                <a:solidFill>
                  <a:srgbClr val="404040"/>
                </a:solidFill>
                <a:latin typeface="Calibri" panose="020F0502020204030204"/>
                <a:ea typeface="Calibri" panose="020F0502020204030204"/>
                <a:cs typeface="Calibri" panose="020F0502020204030204"/>
                <a:sym typeface="Calibri" panose="020F0502020204030204"/>
              </a:rPr>
              <a:t>d/h</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but we do it </a:t>
            </a:r>
            <a:r>
              <a:rPr lang="en-US" sz="2400" b="1" i="1" u="none" strike="noStrike">
                <a:solidFill>
                  <a:srgbClr val="404040"/>
                </a:solidFill>
                <a:latin typeface="Calibri" panose="020F0502020204030204"/>
                <a:ea typeface="Calibri" panose="020F0502020204030204"/>
                <a:cs typeface="Calibri" panose="020F0502020204030204"/>
                <a:sym typeface="Calibri" panose="020F0502020204030204"/>
              </a:rPr>
              <a:t>h</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times. Summed together, it’s again </a:t>
            </a:r>
            <a:r>
              <a:rPr lang="en-US" sz="2400" b="0" i="1" u="none" strike="noStrike">
                <a:solidFill>
                  <a:srgbClr val="404040"/>
                </a:solidFill>
                <a:latin typeface="Calibri" panose="020F0502020204030204"/>
                <a:ea typeface="Calibri" panose="020F0502020204030204"/>
                <a:cs typeface="Calibri" panose="020F0502020204030204"/>
                <a:sym typeface="Calibri" panose="020F0502020204030204"/>
              </a:rPr>
              <a:t>O(n² d)</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Wall Problem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expensive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Self‑attention’s flexibility comes at a steep cost: its complexity grows quadratically with the length of the input sequence.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Where transformers hit the wall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KV Cache Explosion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Bandwidth Bottleneck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 is all your need until you need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752921" y="1132554"/>
            <a:ext cx="4048553" cy="22098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752921" y="3471198"/>
            <a:ext cx="4381173" cy="297577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80291" y="1538365"/>
            <a:ext cx="6217659" cy="2774032"/>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Flow Diagram of Standard Attention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1: Computing the Attention Scores (S = QK^T / √d)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2: Applying Softmax (P = softmax(S))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880291" y="4491785"/>
            <a:ext cx="5026303" cy="1582677"/>
          </a:xfrm>
          <a:prstGeom prst="rect">
            <a:avLst/>
          </a:prstGeom>
          <a:ln w="12700">
            <a:noFill/>
            <a:prstDash val="solid"/>
          </a:ln>
        </p:spPr>
      </p:pic>
      <p:sp>
        <p:nvSpPr>
          <p:cNvPr id="8" name="AutoShape 8"/>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For example:</a:t>
            </a:r>
            <a:endParaRPr lang="en-US" sz="1100"/>
          </a:p>
          <a:p>
            <a:pPr indent="0" algn="l">
              <a:lnSpc>
                <a:spcPct val="100000"/>
              </a:lnSpc>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N = 4096, d = 128, FP16</a:t>
            </a:r>
            <a:endParaRPr lang="en-US" sz="1800" b="0" i="0" u="none" strike="noStrike">
              <a:solidFill>
                <a:srgbClr val="BFBFBF"/>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Flow Diagram of Standard Attention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Step 3: Computing the Output (O = PV)</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Total HBM Traffic: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1152958" y="1740131"/>
            <a:ext cx="5296333" cy="2362979"/>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96891" y="4644457"/>
            <a:ext cx="6429145" cy="1779134"/>
          </a:xfrm>
          <a:prstGeom prst="rect">
            <a:avLst/>
          </a:prstGeom>
          <a:ln w="12700">
            <a:noFill/>
            <a:prstDash val="solid"/>
          </a:ln>
        </p:spPr>
      </p:pic>
      <p:sp>
        <p:nvSpPr>
          <p:cNvPr id="9" name="AutoShape 9"/>
          <p:cNvSpPr/>
          <p:nvPr/>
        </p:nvSpPr>
        <p:spPr>
          <a:xfrm>
            <a:off x="7853595" y="2279050"/>
            <a:ext cx="2710999" cy="64633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For example:</a:t>
            </a:r>
            <a:endParaRPr lang="en-US" sz="1100"/>
          </a:p>
          <a:p>
            <a:pPr indent="0" algn="l">
              <a:lnSpc>
                <a:spcPct val="100000"/>
              </a:lnSpc>
            </a:pPr>
            <a:r>
              <a:rPr lang="en-US" sz="1800" b="0" i="0" u="none" strike="noStrike">
                <a:solidFill>
                  <a:srgbClr val="BFBFBF"/>
                </a:solidFill>
                <a:latin typeface="Arial" panose="020B0604020202020204"/>
                <a:ea typeface="Arial" panose="020B0604020202020204"/>
                <a:cs typeface="Arial" panose="020B0604020202020204"/>
                <a:sym typeface="Arial" panose="020B0604020202020204"/>
              </a:rPr>
              <a:t>N = 4096, d = 128, FP16</a:t>
            </a:r>
            <a:endParaRPr lang="en-US" sz="1800" b="0" i="0" u="none" strike="noStrike">
              <a:solidFill>
                <a:srgbClr val="BFBFBF"/>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"Memory Wall" of Standard Attention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Standard Attention complexity is O(</a:t>
            </a:r>
            <a:r>
              <a:rPr lang="en-US" sz="24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Pain Points: Memory consumption scales quadratically with sequence length n, leading to frequent Out-of-Memory errors during long-context processing.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Crucial Question: Do we truly need to materialize and store that massive N x N attention matrix?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011381" y="3562143"/>
            <a:ext cx="5701146" cy="29767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400" b="0" i="0" u="none" strike="noStrike" spc="0">
                <a:solidFill>
                  <a:srgbClr val="262626">
                    <a:alpha val="100000"/>
                  </a:srgbClr>
                </a:solidFill>
                <a:latin typeface="Chinese Quote"/>
              </a:defRPr>
            </a:lvl1pPr>
          </a:lstStyle>
          <a:p>
            <a:pPr indent="0" algn="ctr">
              <a:lnSpc>
                <a:spcPct val="100000"/>
              </a:lnSpc>
              <a:spcBef>
                <a:spcPts val="1500"/>
              </a:spcBef>
            </a:pPr>
            <a:r>
              <a:rPr lang="en-US" sz="5400" b="0" i="0" u="none" strike="noStrike">
                <a:solidFill>
                  <a:srgbClr val="262626"/>
                </a:solidFill>
                <a:latin typeface="Chinese Quote"/>
                <a:ea typeface="Chinese Quote"/>
                <a:cs typeface="Chinese Quote"/>
                <a:sym typeface="Chinese Quote"/>
              </a:rPr>
              <a:t>Lecture 11: Flash Attention Implementation I (IO-Aware)</a:t>
            </a:r>
            <a:endParaRPr lang="en-US" sz="5400" b="0" i="0" u="none" strike="noStrike">
              <a:solidFill>
                <a:srgbClr val="262626"/>
              </a:solidFill>
              <a:latin typeface="Chinese Quote"/>
              <a:ea typeface="Chinese Quote"/>
              <a:cs typeface="Chinese Quote"/>
              <a:sym typeface="Chinese Quote"/>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Flash Attention: Tiling Computation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Tiling: Breaking the large Q, K, V matrices into smaller blocks (Tiles) that fit entirely into SRAM, eliminating the need to store the massive intermediate Attention matrix.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Recomputation: Avoiding the storage of the S and P matrices during the forward pass; instead, re-calculating them during the backward pass to save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3428856"/>
            <a:ext cx="6363580" cy="314117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Memory Hierarchy Explained</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Speed Disparity: HBM vs. SRAM (10x Factor)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A100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Memory / HBM2e: 40/80 GB     1.5-2 TB/s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L2 Cache: 40 MB     ~5 TB/s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L1 Cache / Shared Memory: 192 KB/SM      19 TB/s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3677" y="3092451"/>
            <a:ext cx="5953125" cy="36290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Root Problem of Attention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Excessive HBM Round-trips (Memory-Bound)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Mechanism: Data repeatedly "shuttles" between HBM and SRAM.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Standard Attention writes QK to HBM, only to read them back immediately for the Softmax step.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Impact: The system spends more time moving data than actually computing, hitting the "Memory Wall.“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Quadratic Memory Footprint (Memory Capacity)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Mechanism: Intermediate matrices S and P scale at O(</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complexity.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Storing the full Attention Map requires an exponential amount of memory as sequence length increases.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Impact: Doubling the sequence length N results in a 4x increase in memory usage, leading to frequent OOM errors during long-context tasks.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40257" y="1082339"/>
            <a:ext cx="4151743" cy="2346661"/>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819574" y="3608388"/>
            <a:ext cx="2593107" cy="24622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004454" y="3685310"/>
            <a:ext cx="7288220" cy="2853604"/>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Idea of Flash Attention: Less movement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Less Movement, More Speed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Philosophy: Optimize Data Movement, Not Just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Two Technical Pillars: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Tiling: Breaking down large tasks into smaller blocks that fit the SRAM capacity.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Recomputation: Instead of storing intermediate activation values during the forward pass, they are recalculated during the backward pass to save memory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Tiling Concept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Tiling?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SRAM (e.g., L1/Shared Memory in A100) is extremely fast but has very limited capacity (typically a few hundred KB).</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N x N matrices (e.g., when N=4096) far exceed SRAM capacity and must be partitioned into "tiles" that can fit into the cache.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it Works?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Input matrices Q, K, and V are partitioned into blocks (tiles).Using nested loops, these blocks are loaded from HBM to SRAM piece by piece for local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Gain: Partial dot-products and Softmax accumulations are completed entirely within SRAM. This eliminates the need to write N x N intermediate results back to the slow HBM.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836124" y="1144587"/>
            <a:ext cx="3224258" cy="311371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789425" y="4403120"/>
            <a:ext cx="3317656" cy="162902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Dynamic Demo</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process of loading tiled blocks.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1980407"/>
            <a:ext cx="7620000" cy="42862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Access Comparison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Standard Attention vs. Flash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79765" y="1842945"/>
            <a:ext cx="8672944" cy="487853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Standard attention launch separate kernels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launch clears the SRAM and writes results back to HBM, causing massive I/O waste.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Flash attention fuse all logic into one highly optimized kernel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SRAM-Centric Execution: Perform tiled loading, dot-product, online softmax, and weighted sum within a single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959225" y="3524449"/>
            <a:ext cx="5780699" cy="329932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202506" y="3429000"/>
            <a:ext cx="3078087" cy="339477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SRAM Scheduling: Tiling &amp; Memory Efficiency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Scheduling Strategy: Tiling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Partitioning: Q is split by rows; K and V are split by columns.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Dual-Loop Execution: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Outer Loop: Loads a block of K and V into SRAM.</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Inner Loop: Loads a block of Q, performs dot products, and updates the output.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Result: The intermediate Attention Matrix is computed and consumed entirely within SRAM, never touching HBM.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77073" y="4087090"/>
            <a:ext cx="2634385" cy="2634385"/>
          </a:xfrm>
          <a:prstGeom prst="rect">
            <a:avLst/>
          </a:prstGeom>
          <a:ln w="12700">
            <a:noFill/>
            <a:prstDash val="solid"/>
          </a:ln>
        </p:spPr>
      </p:pic>
      <p:pic>
        <p:nvPicPr>
          <p:cNvPr id="7" name="Picture 7"/>
          <p:cNvPicPr>
            <a:picLocks noChangeAspect="1"/>
          </p:cNvPicPr>
          <p:nvPr/>
        </p:nvPicPr>
        <p:blipFill>
          <a:blip r:embed="rId2"/>
          <a:srcRect r="45666" b="10817"/>
          <a:stretch>
            <a:fillRect/>
          </a:stretch>
        </p:blipFill>
        <p:spPr>
          <a:xfrm>
            <a:off x="938404" y="3925533"/>
            <a:ext cx="4796753" cy="27959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083261" y="2823923"/>
            <a:ext cx="4004830" cy="3971732"/>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Forward Pass Implementation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Tiling enables computation without storing the N x N matrix.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Outer Loop (Loop over K, V blocks): Divide K and V matrices into column blocks and load them into SRAM.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Inner Loop (Loop over Q blocks): Divide Q into row blocks. For each Q</a:t>
            </a:r>
            <a:r>
              <a:rPr lang="en-US" sz="2000" b="0" i="1" u="none" strike="noStrike" baseline="-25000">
                <a:solidFill>
                  <a:srgbClr val="404040"/>
                </a:solidFill>
                <a:latin typeface="Calibri" panose="020F0502020204030204"/>
                <a:ea typeface="Calibri" panose="020F0502020204030204"/>
                <a:cs typeface="Calibri" panose="020F0502020204030204"/>
                <a:sym typeface="Calibri" panose="020F0502020204030204"/>
              </a:rPr>
              <a:t>i</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perform the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On-chip Computation: Compute local attention scores in SRAM and immediately apply weighted summation with V.</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Write-back: Only the final output matrix O (size N x d) is written back to HBM, completely bypassing the O(</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intermediate storage.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r="45666" b="10817"/>
          <a:stretch>
            <a:fillRect/>
          </a:stretch>
        </p:blipFill>
        <p:spPr>
          <a:xfrm>
            <a:off x="4004831" y="4530837"/>
            <a:ext cx="3758287" cy="219063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Benchmarks &amp; Throughput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222250" y="1344295"/>
            <a:ext cx="6612255" cy="4626610"/>
          </a:xfrm>
          <a:prstGeom prst="rect">
            <a:avLst/>
          </a:prstGeom>
        </p:spPr>
      </p:pic>
      <p:pic>
        <p:nvPicPr>
          <p:cNvPr id="6" name="Picture 6"/>
          <p:cNvPicPr>
            <a:picLocks noChangeAspect="1"/>
          </p:cNvPicPr>
          <p:nvPr/>
        </p:nvPicPr>
        <p:blipFill>
          <a:blip r:embed="rId2"/>
          <a:srcRect/>
          <a:stretch>
            <a:fillRect/>
          </a:stretch>
        </p:blipFill>
        <p:spPr>
          <a:xfrm>
            <a:off x="7297287" y="2416507"/>
            <a:ext cx="4894713" cy="235749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Challenge: The Global Dependency of Softmax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can’t we directly compute Softmax on individual blocks?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Problem Description: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1200"/>
              </a:spcBef>
              <a:spcAft>
                <a:spcPts val="1800"/>
              </a:spcAft>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Tiling Dilemma: Softmax requires the Global Maximum (m) for numerical stability and the Global Sum (L) for normalization.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Conflict: When processing the first block, we don't know the maximum value or the sum of the remaining blocks. Standard logic suggests we must scan the entire row first.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Transition Question: How can we compute or "predict" the correct Softmax output while only seeing a partial chunk of data?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513534" y="2295798"/>
            <a:ext cx="2674993" cy="71469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Review of Safe Softmax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Necessity of Safe Softmax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Preventing numerical overflow by subtracting the maximum value.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Overflow Risk: Direct calculation of e</a:t>
            </a:r>
            <a:r>
              <a:rPr lang="en-US" sz="2000" b="0" i="0" u="none" strike="noStrike" baseline="30000">
                <a:solidFill>
                  <a:srgbClr val="404040"/>
                </a:solidFill>
                <a:latin typeface="Calibri" panose="020F0502020204030204"/>
                <a:ea typeface="Calibri" panose="020F0502020204030204"/>
                <a:cs typeface="Calibri" panose="020F0502020204030204"/>
                <a:sym typeface="Calibri" panose="020F0502020204030204"/>
              </a:rPr>
              <a:t>xi</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can lead to numerical overflow (Floating Point Overflow) when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i</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is large (e.g.,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i</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1000).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Solution: Subtract the maximum value m = max(x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i</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from each element in the vector before exponentiation.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76037" y="3882144"/>
            <a:ext cx="2867237" cy="766056"/>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702542" y="3832877"/>
            <a:ext cx="3032615" cy="985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Online Softmax Algorithm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Online Softmax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 =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1</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2</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3</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0</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1</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2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a:t>
            </a:r>
            <a:r>
              <a:rPr lang="en-US" sz="200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3</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b">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Milakov, Maxim, and Natalia Gimelshein. "Online normalizer calculation for softmax." arXiv preprint arXiv:1805.02867 (2018).</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3365130" y="1203648"/>
            <a:ext cx="1832709" cy="77809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900545" y="1960504"/>
            <a:ext cx="9650503" cy="858896"/>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1096166" y="2618272"/>
            <a:ext cx="8941452" cy="1484281"/>
          </a:xfrm>
          <a:prstGeom prst="rect">
            <a:avLst/>
          </a:prstGeom>
          <a:ln w="12700">
            <a:noFill/>
            <a:prstDash val="solid"/>
          </a:ln>
        </p:spPr>
      </p:pic>
      <p:pic>
        <p:nvPicPr>
          <p:cNvPr id="10" name="Picture 10"/>
          <p:cNvPicPr>
            <a:picLocks noChangeAspect="1"/>
          </p:cNvPicPr>
          <p:nvPr/>
        </p:nvPicPr>
        <p:blipFill>
          <a:blip r:embed="rId4"/>
          <a:srcRect/>
          <a:stretch>
            <a:fillRect/>
          </a:stretch>
        </p:blipFill>
        <p:spPr>
          <a:xfrm>
            <a:off x="1499801" y="4815500"/>
            <a:ext cx="4660302" cy="809273"/>
          </a:xfrm>
          <a:prstGeom prst="rect">
            <a:avLst/>
          </a:prstGeom>
          <a:ln w="12700">
            <a:noFill/>
            <a:prstDash val="solid"/>
          </a:ln>
        </p:spPr>
      </p:pic>
      <p:pic>
        <p:nvPicPr>
          <p:cNvPr id="11" name="Picture 11"/>
          <p:cNvPicPr>
            <a:picLocks noChangeAspect="1"/>
          </p:cNvPicPr>
          <p:nvPr/>
        </p:nvPicPr>
        <p:blipFill>
          <a:blip r:embed="rId5"/>
          <a:srcRect/>
          <a:stretch>
            <a:fillRect/>
          </a:stretch>
        </p:blipFill>
        <p:spPr>
          <a:xfrm>
            <a:off x="823432" y="5494280"/>
            <a:ext cx="2543653" cy="858896"/>
          </a:xfrm>
          <a:prstGeom prst="rect">
            <a:avLst/>
          </a:prstGeom>
          <a:ln w="12700">
            <a:noFill/>
            <a:prstDash val="solid"/>
          </a:ln>
        </p:spPr>
      </p:pic>
      <p:pic>
        <p:nvPicPr>
          <p:cNvPr id="12" name="Picture 12"/>
          <p:cNvPicPr>
            <a:picLocks noChangeAspect="1"/>
          </p:cNvPicPr>
          <p:nvPr/>
        </p:nvPicPr>
        <p:blipFill>
          <a:blip r:embed="rId6"/>
          <a:srcRect/>
          <a:stretch>
            <a:fillRect/>
          </a:stretch>
        </p:blipFill>
        <p:spPr>
          <a:xfrm>
            <a:off x="4005789" y="5624773"/>
            <a:ext cx="5514647" cy="67251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Formula Derivation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23873" y="1323977"/>
            <a:ext cx="7558016" cy="442143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261160" y="1737955"/>
            <a:ext cx="3930840" cy="379606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900" b="0" i="0" u="none" strike="noStrike" spc="0">
                <a:solidFill>
                  <a:srgbClr val="262626">
                    <a:alpha val="100000"/>
                  </a:srgbClr>
                </a:solidFill>
                <a:latin typeface="Chinese Quote"/>
              </a:defRPr>
            </a:lvl1pPr>
          </a:lstStyle>
          <a:p>
            <a:pPr indent="0" algn="ctr">
              <a:lnSpc>
                <a:spcPct val="100000"/>
              </a:lnSpc>
              <a:spcBef>
                <a:spcPts val="1500"/>
              </a:spcBef>
            </a:pPr>
            <a:r>
              <a:rPr lang="en-US" sz="4900" b="0" i="0" u="none" strike="noStrike">
                <a:solidFill>
                  <a:srgbClr val="262626"/>
                </a:solidFill>
                <a:latin typeface="Chinese Quote"/>
                <a:ea typeface="Chinese Quote"/>
                <a:cs typeface="Chinese Quote"/>
                <a:sym typeface="Chinese Quote"/>
              </a:rPr>
              <a:t>Lecture 12: Flash Attention Implementation II </a:t>
            </a:r>
            <a:br>
              <a:rPr lang="en-US" sz="4900" b="0" i="0" u="none" strike="noStrike">
                <a:solidFill>
                  <a:srgbClr val="262626"/>
                </a:solidFill>
                <a:latin typeface="Chinese Quote"/>
                <a:ea typeface="Chinese Quote"/>
                <a:cs typeface="Chinese Quote"/>
                <a:sym typeface="Chinese Quote"/>
              </a:rPr>
            </a:br>
            <a:r>
              <a:rPr lang="en-US" sz="4900" b="0" i="0" u="none" strike="noStrike">
                <a:solidFill>
                  <a:srgbClr val="262626"/>
                </a:solidFill>
                <a:latin typeface="Chinese Quote"/>
                <a:ea typeface="Chinese Quote"/>
                <a:cs typeface="Chinese Quote"/>
                <a:sym typeface="Chinese Quote"/>
              </a:rPr>
              <a:t>(Algorithmic Optimization)</a:t>
            </a:r>
            <a:endParaRPr lang="en-US" sz="4900" b="0" i="0" u="none" strike="noStrike">
              <a:solidFill>
                <a:srgbClr val="262626"/>
              </a:solidFill>
              <a:latin typeface="Chinese Quote"/>
              <a:ea typeface="Chinese Quote"/>
              <a:cs typeface="Chinese Quote"/>
              <a:sym typeface="Chinese Quote"/>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Avoiding Materialization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Pitfall of Standard Attention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Standard implementations must materialize and store the full N x N attention score matrix (S) and probability matrix (P) in HBM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long sequences this matrix consumes massive space, leading to Out-of-Memory errors.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Flash Attention Breakthrough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Compute-on-the-fly: By using Tiling, attention scores are computed in SRAM and immediately multiplied by the V blocks to accumulate into the output O.</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Complexity: Reduced from O(</a:t>
            </a:r>
            <a:r>
              <a:rPr lang="en-US" sz="2000" b="0" i="1" u="none" strike="noStrike">
                <a:solidFill>
                  <a:srgbClr val="404040"/>
                </a:solidFill>
                <a:latin typeface="Calibri" panose="020F0502020204030204"/>
                <a:ea typeface="Calibri" panose="020F0502020204030204"/>
                <a:cs typeface="Calibri" panose="020F0502020204030204"/>
                <a:sym typeface="Calibri" panose="020F0502020204030204"/>
              </a:rPr>
              <a:t>n²</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to O(N). The massive intermediate matrix never "exists" as a whole in HBM.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Handling Masking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The Challenge: Causal masks are typically lower-triangular. How do we determine if a specific block needs masking during tiling?</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Strategy</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Fully Masked Blocks: These blocks are skipped entirely, saving significant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Partially Masked Blocks: Only the lower-triangular portion within the block is processed with mask values.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Unmasked Blocks: Standard matrix multiplication (GEMM) is executed at full speed.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Benefit: By identifying the relative position of blocks within the mask, FlashAttention further reduces unnecessary computational overhead.</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4675190"/>
            <a:ext cx="4619834" cy="20462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Impact on Long-Context Models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Breaking the Bottleneck: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Since memory usage scales linearly O(N), models are no longer constrained by the N</a:t>
            </a:r>
            <a:r>
              <a:rPr lang="en-US" sz="2000" b="0" i="0" u="none" strike="noStrike" baseline="30000">
                <a:solidFill>
                  <a:srgbClr val="404040"/>
                </a:solidFill>
                <a:latin typeface="Calibri" panose="020F0502020204030204"/>
                <a:ea typeface="Calibri" panose="020F0502020204030204"/>
                <a:cs typeface="Calibri" panose="020F0502020204030204"/>
                <a:sym typeface="Calibri" panose="020F0502020204030204"/>
              </a:rPr>
              <a:t>2</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memory wall.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Enables a leap from traditional 2K/4K contexts to 128K, 1M, or even longer sequences.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Real-World Applications: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Empowers Large Language Models (LLMs) to perform full-book reading, multi-document analysis, and ultra-long video understanding.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Summary: On the same hardware (e.g., A100/H100), the speed for processing 128K sequences is increased by several orders of magnitude.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Evolution to Flash Attention 2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Algorithmic Refinement: Reducing Non-Matmul Overhead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GPUs are highly optimized for Matrix Multiplication (Matmul) via Tensor Cores, but they are significantly slower at "element-wise" operations like Softmax, Exp, and Dropout.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Matmul 312 TFLOPs/s, Non-Matmul 19.5 TFLOPs/s (A100)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FA2 mathematically reformulates the attention algorithm to reduce the number of non-matmul floating-point operations (FLOPs).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22329" y="3532000"/>
            <a:ext cx="5626070" cy="33260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46854" y="3256625"/>
            <a:ext cx="4959927" cy="3666891"/>
          </a:xfrm>
          <a:prstGeom prst="rect">
            <a:avLst/>
          </a:prstGeom>
          <a:ln w="12700">
            <a:noFill/>
            <a:prstDash val="solid"/>
          </a:ln>
        </p:spPr>
      </p:pic>
      <p:sp>
        <p:nvSpPr>
          <p:cNvPr id="8" name="AutoShape 8"/>
          <p:cNvSpPr/>
          <p:nvPr/>
        </p:nvSpPr>
        <p:spPr>
          <a:xfrm>
            <a:off x="741404" y="4509655"/>
            <a:ext cx="4557960" cy="547254"/>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727550" y="5343309"/>
            <a:ext cx="5243760" cy="547254"/>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6381489" y="4624107"/>
            <a:ext cx="2506201" cy="453583"/>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6388415" y="4383462"/>
            <a:ext cx="4733929" cy="240646"/>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346854" y="5818909"/>
            <a:ext cx="2901055" cy="162444"/>
          </a:xfrm>
          <a:prstGeom prst="rect">
            <a:avLst/>
          </a:prstGeom>
          <a:noFill/>
          <a:ln w="12700" cap="flat">
            <a:solidFill>
              <a:srgbClr val="FF00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Evolution to Flash Attention 2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Enhanced Parallelism (Thread Block Level)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introduces parallelism across the Sequence Length dimension.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FA2 can now split the sequence into blocks and distribute them across multiple Thread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Optimized Work Partitioning and Communication Between Warps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FA2, the partitioning is redesigned so that each warp handles a distinct slice of the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229869" y="3775141"/>
            <a:ext cx="7465966" cy="265123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52220" y="3934691"/>
            <a:ext cx="3672009" cy="20386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Evolution to Flash Attention 3 (1/2)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Deep Asynchronous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leverages H100’s Tensor Memory Accelerator (TMA).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Compute-IO Decoupling: As shown in the diagram, WGMMA (Asynchronous Matrix Multiply) and Softmax operations run on separate pipelines.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Ping-pong Buffering: While one Warp Group calculates the current block, the TMA is already fetching the next block in the background, effectively "hiding" the latency of data movement.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213302" y="5097801"/>
            <a:ext cx="7375233" cy="16236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037358" y="3685210"/>
            <a:ext cx="7551177" cy="15491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Evolution to Flash Attention 3 (2/2)</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Native Low-Precision Acceleration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FA3 is built for the FP8 era, doubling throughput compared to FP16.</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Enhanced Tiling &amp; Load Balancing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FA3 optimizes task distribution across SMs, ensuring that even with non-symmetric matrix shapes, all compute units finish their work simultaneously, maximizing hardware utilization.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08364" y="2133599"/>
            <a:ext cx="6096000" cy="180539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FA on FPGA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Algorithm-Hardware Co-design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Low-Bit Quantization (INT8/INT4)</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Structured Sparsity/Pruning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Approximated Softmax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Optimized Dataflow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Customized Processing Elements (PEs)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Zhang, Xinyi, et al. "Algorithm-hardware co-design of attention mechanism on FPGA devices." ACM Transactions on Embedded Computing Systems (TECS) 20.5s (2021): 1-24.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Structured Pruning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FPGA Accelerator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6309449" y="1942137"/>
            <a:ext cx="4707418" cy="154899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353863" y="4109287"/>
            <a:ext cx="5542858" cy="202199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FA on Streaming Dataflow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Naive SDPA Implementation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Linear O(N) Intermediate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Decompose SDPA into row-wise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Optimized SDPA Implementation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Constant O(1) Intermediate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Online/incremental Softmax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Sohn, Gina, Nathan Zhang, and Kunle Olukotun. "Implementing and optimizing the scaled dot-product attention on streaming dataflow." arXiv preprint arXiv:2404.16629 (2024).</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1001120" y="4013314"/>
            <a:ext cx="2629184" cy="2167301"/>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641213" y="1286481"/>
            <a:ext cx="6304412" cy="383329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Attention-Level Speculation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Speculation-Verification Mechanism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parallelize and overlap the time-consuming Self-Attention computation with the subsequent FFN and Residual Connections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Predict the self-attention output for the current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Parallel Execute Exact Path and Speculative Path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Low-cost comparative verification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Commit or Rollback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Cai, Jack, et al. "Attention-Level Speculation." (2025).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7" name="Picture 7"/>
          <p:cNvPicPr>
            <a:picLocks noChangeAspect="1"/>
          </p:cNvPicPr>
          <p:nvPr/>
        </p:nvPicPr>
        <p:blipFill>
          <a:blip r:embed="rId1"/>
          <a:srcRect/>
          <a:stretch>
            <a:fillRect/>
          </a:stretch>
        </p:blipFill>
        <p:spPr>
          <a:xfrm>
            <a:off x="6251645" y="1236059"/>
            <a:ext cx="3994390" cy="516889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Future Outlook: Hardware Algorithm Co-Design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850519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Evolution of Flash Attention (Towards FA3 &amp; Beyond)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Async Execution: Overlapping data movement with compute (H100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Low-Precision Support: Native FP8/INT8 for extreme inference throughput.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Specialized Hardware Accelerators (FPGA/ASIC)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FPGA/ASIC Integration: Dedicated PEs for Attention dataflow.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Hardware-Aware Compression: Merging structured pruning with INT4 quantization.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Streaming Dataflow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Constant O(1) Memory: Row-wise decomposition for infinite sequences.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Incremental Softmax: Enabling real-time, streaming LLM inference.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163396" y="1132554"/>
            <a:ext cx="2479964" cy="247996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163946" y="3917176"/>
            <a:ext cx="2562657" cy="243885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Future Outlook: Paradigm Shifts in LLM Infra.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Attention-Level Speculation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Parallel Execution: Overlapping Attention with FFN/Residual layers.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Speculate &amp; Verify: "Commit or Rollback" strategy to slash latency.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Empowering Ultra-Long Context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Linear Scaling (O(N)): Breaking the O(N</a:t>
            </a:r>
            <a:r>
              <a:rPr lang="en-US" sz="2000" b="0" i="0" u="none" strike="noStrike" baseline="30000">
                <a:solidFill>
                  <a:srgbClr val="404040"/>
                </a:solidFill>
                <a:latin typeface="Calibri" panose="020F0502020204030204"/>
                <a:ea typeface="Calibri" panose="020F0502020204030204"/>
                <a:cs typeface="Calibri" panose="020F0502020204030204"/>
                <a:sym typeface="Calibri" panose="020F0502020204030204"/>
              </a:rPr>
              <a:t>2</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memory wall for 1M+ tokens.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Multimodal Expansion: Processing full books and HD video in a single pass.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Universal "IO-Aware" Philosophy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Beyond Attention: Applying IO-awareness to all DL operators (Conv, Norm).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New Standard: Shifting from "Compute-Centric" to "Memory-Centric" design.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13: Convolution Operator Optimization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Basics of 2D convolution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Principles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Inputs: input feature maps, weight matrix, bias (optional)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Outputs: output feature maps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operations: Multiply-Accumulation (MAC)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234909" y="747952"/>
            <a:ext cx="3091999" cy="2381792"/>
          </a:xfrm>
          <a:prstGeom prst="rect">
            <a:avLst/>
          </a:prstGeom>
          <a:ln w="12700">
            <a:noFill/>
            <a:prstDash val="solid"/>
          </a:ln>
        </p:spPr>
      </p:pic>
      <p:grpSp>
        <p:nvGrpSpPr>
          <p:cNvPr id="7" name="Group 7"/>
          <p:cNvGrpSpPr/>
          <p:nvPr/>
        </p:nvGrpSpPr>
        <p:grpSpPr>
          <a:xfrm>
            <a:off x="7509183" y="3129744"/>
            <a:ext cx="4373324" cy="3591732"/>
            <a:chOff x="7509183" y="3129744"/>
            <a:chExt cx="4373324" cy="3591732"/>
          </a:xfrm>
        </p:grpSpPr>
        <p:pic>
          <p:nvPicPr>
            <p:cNvPr id="8" name="Picture 8"/>
            <p:cNvPicPr>
              <a:picLocks noChangeAspect="1"/>
            </p:cNvPicPr>
            <p:nvPr/>
          </p:nvPicPr>
          <p:blipFill>
            <a:blip r:embed="rId2"/>
            <a:srcRect/>
            <a:stretch>
              <a:fillRect/>
            </a:stretch>
          </p:blipFill>
          <p:spPr>
            <a:xfrm>
              <a:off x="7509183" y="3129744"/>
              <a:ext cx="4373324" cy="1761445"/>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7509184" y="4891189"/>
              <a:ext cx="4373323" cy="1830287"/>
            </a:xfrm>
            <a:prstGeom prst="rect">
              <a:avLst/>
            </a:prstGeom>
            <a:ln w="12700">
              <a:noFill/>
              <a:prstDash val="solid"/>
            </a:ln>
          </p:spPr>
        </p:pic>
      </p:grpSp>
      <p:grpSp>
        <p:nvGrpSpPr>
          <p:cNvPr id="10" name="Group 10"/>
          <p:cNvGrpSpPr/>
          <p:nvPr/>
        </p:nvGrpSpPr>
        <p:grpSpPr>
          <a:xfrm>
            <a:off x="1079142" y="3048169"/>
            <a:ext cx="4911112" cy="3218488"/>
            <a:chOff x="1079142" y="3048169"/>
            <a:chExt cx="4911112" cy="3218488"/>
          </a:xfrm>
        </p:grpSpPr>
        <p:grpSp>
          <p:nvGrpSpPr>
            <p:cNvPr id="11" name="Group 11"/>
            <p:cNvGrpSpPr/>
            <p:nvPr/>
          </p:nvGrpSpPr>
          <p:grpSpPr>
            <a:xfrm>
              <a:off x="1079142" y="3048169"/>
              <a:ext cx="4911112" cy="3218488"/>
              <a:chOff x="1079142" y="3048169"/>
              <a:chExt cx="4911112" cy="3218488"/>
            </a:xfrm>
          </p:grpSpPr>
          <p:pic>
            <p:nvPicPr>
              <p:cNvPr id="12" name="Picture 12"/>
              <p:cNvPicPr>
                <a:picLocks noChangeAspect="1"/>
              </p:cNvPicPr>
              <p:nvPr/>
            </p:nvPicPr>
            <p:blipFill>
              <a:blip r:embed="rId4"/>
              <a:srcRect/>
              <a:stretch>
                <a:fillRect/>
              </a:stretch>
            </p:blipFill>
            <p:spPr>
              <a:xfrm>
                <a:off x="1079142" y="3048169"/>
                <a:ext cx="4911112" cy="3218488"/>
              </a:xfrm>
              <a:prstGeom prst="rect">
                <a:avLst/>
              </a:prstGeom>
              <a:ln w="12700">
                <a:noFill/>
                <a:prstDash val="solid"/>
              </a:ln>
            </p:spPr>
          </p:pic>
          <p:sp>
            <p:nvSpPr>
              <p:cNvPr id="13" name="AutoShape 13"/>
              <p:cNvSpPr/>
              <p:nvPr/>
            </p:nvSpPr>
            <p:spPr>
              <a:xfrm>
                <a:off x="3750906" y="4891189"/>
                <a:ext cx="1959429" cy="1321290"/>
              </a:xfrm>
              <a:prstGeom prst="rect">
                <a:avLst/>
              </a:prstGeom>
              <a:solidFill>
                <a:srgbClr val="232428">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pic>
          <p:nvPicPr>
            <p:cNvPr id="14" name="Picture 14"/>
            <p:cNvPicPr>
              <a:picLocks noChangeAspect="1"/>
            </p:cNvPicPr>
            <p:nvPr/>
          </p:nvPicPr>
          <p:blipFill>
            <a:blip r:embed="rId5"/>
            <a:srcRect/>
            <a:stretch>
              <a:fillRect/>
            </a:stretch>
          </p:blipFill>
          <p:spPr>
            <a:xfrm>
              <a:off x="2054226" y="4160283"/>
              <a:ext cx="247650" cy="926067"/>
            </a:xfrm>
            <a:prstGeom prst="rect">
              <a:avLst/>
            </a:prstGeom>
            <a:ln w="12700">
              <a:noFill/>
              <a:prstDash val="solid"/>
            </a:ln>
          </p:spPr>
        </p:pic>
      </p:grpSp>
      <p:sp>
        <p:nvSpPr>
          <p:cNvPr id="15" name="AutoShape 15"/>
          <p:cNvSpPr/>
          <p:nvPr/>
        </p:nvSpPr>
        <p:spPr>
          <a:xfrm>
            <a:off x="2890667" y="5223466"/>
            <a:ext cx="2552372" cy="624840"/>
          </a:xfrm>
          <a:prstGeom prst="rect">
            <a:avLst/>
          </a:prstGeom>
          <a:solidFill>
            <a:srgbClr val="FFFFFF">
              <a:alpha val="100000"/>
            </a:srgbClr>
          </a:solidFill>
          <a:ln w="12700">
            <a:noFill/>
            <a:prstDash val="solid"/>
          </a:ln>
        </p:spPr>
        <p:txBody>
          <a:bodyPr wrap="none" lIns="91440" tIns="45720" rIns="91440" bIns="45720" rtlCol="0" anchor="t">
            <a:spAutoFit/>
          </a:bodyPr>
          <a:lstStyle/>
          <a:p>
            <a:pPr indent="0" algn="ctr">
              <a:lnSpc>
                <a:spcPct val="100000"/>
              </a:lnSpc>
              <a:defRPr/>
            </a:pPr>
            <a:r>
              <a:rPr lang="en-US" sz="1800" b="0" i="0" u="none" strike="noStrike">
                <a:solidFill>
                  <a:srgbClr val="000000"/>
                </a:solidFill>
                <a:latin typeface="Bahnschrift" panose="020B0502040204020203"/>
                <a:ea typeface="Bahnschrift" panose="020B0502040204020203"/>
                <a:cs typeface="Bahnschrift" panose="020B0502040204020203"/>
                <a:sym typeface="Bahnschrift" panose="020B0502040204020203"/>
              </a:rPr>
              <a:t>Native Implementation</a:t>
            </a:r>
            <a:endParaRPr lang="en-US" sz="1100"/>
          </a:p>
          <a:p>
            <a:pPr indent="0" algn="ctr">
              <a:lnSpc>
                <a:spcPct val="100000"/>
              </a:lnSpc>
            </a:pPr>
            <a:r>
              <a:rPr lang="en-US" sz="1800" b="0" i="0" u="none" strike="noStrike">
                <a:solidFill>
                  <a:srgbClr val="000000"/>
                </a:solidFill>
                <a:latin typeface="Bahnschrift" panose="020B0502040204020203"/>
                <a:ea typeface="Bahnschrift" panose="020B0502040204020203"/>
                <a:cs typeface="Bahnschrift" panose="020B0502040204020203"/>
                <a:sym typeface="Bahnschrift" panose="020B0502040204020203"/>
              </a:rPr>
              <a:t>7-level Loop</a:t>
            </a:r>
            <a:endParaRPr lang="en-US" sz="1800" b="0" i="0" u="none" strike="noStrike">
              <a:solidFill>
                <a:srgbClr val="000000"/>
              </a:solidFill>
              <a:latin typeface="Bahnschrift" panose="020B0502040204020203"/>
              <a:ea typeface="Bahnschrift" panose="020B0502040204020203"/>
              <a:cs typeface="Bahnschrift" panose="020B0502040204020203"/>
              <a:sym typeface="Bahnschrift"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Some variants…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723227" y="1747507"/>
            <a:ext cx="3276600" cy="36766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214812" y="1689130"/>
            <a:ext cx="3762375" cy="3629025"/>
          </a:xfrm>
          <a:prstGeom prst="rect">
            <a:avLst/>
          </a:prstGeom>
          <a:ln w="12700">
            <a:noFill/>
            <a:prstDash val="solid"/>
          </a:ln>
        </p:spPr>
      </p:pic>
      <p:sp>
        <p:nvSpPr>
          <p:cNvPr id="8" name="AutoShape 8"/>
          <p:cNvSpPr/>
          <p:nvPr/>
        </p:nvSpPr>
        <p:spPr>
          <a:xfrm>
            <a:off x="1194028" y="5424157"/>
            <a:ext cx="2974449"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Transposed Convolution</a:t>
            </a:r>
            <a:endParaRPr lang="en-US" sz="1100"/>
          </a:p>
        </p:txBody>
      </p:sp>
      <p:sp>
        <p:nvSpPr>
          <p:cNvPr id="9" name="AutoShape 9"/>
          <p:cNvSpPr/>
          <p:nvPr/>
        </p:nvSpPr>
        <p:spPr>
          <a:xfrm>
            <a:off x="4973993" y="5405457"/>
            <a:ext cx="2485250"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Dilated Convolution</a:t>
            </a:r>
            <a:endParaRPr lang="en-US" sz="1100"/>
          </a:p>
        </p:txBody>
      </p:sp>
      <p:pic>
        <p:nvPicPr>
          <p:cNvPr id="10" name="Picture 10"/>
          <p:cNvPicPr>
            <a:picLocks noChangeAspect="1"/>
          </p:cNvPicPr>
          <p:nvPr/>
        </p:nvPicPr>
        <p:blipFill>
          <a:blip r:embed="rId3"/>
          <a:srcRect/>
          <a:stretch>
            <a:fillRect/>
          </a:stretch>
        </p:blipFill>
        <p:spPr>
          <a:xfrm>
            <a:off x="8192175" y="1392225"/>
            <a:ext cx="3918857" cy="4073549"/>
          </a:xfrm>
          <a:prstGeom prst="rect">
            <a:avLst/>
          </a:prstGeom>
          <a:ln w="12700">
            <a:noFill/>
            <a:prstDash val="solid"/>
          </a:ln>
        </p:spPr>
      </p:pic>
      <p:sp>
        <p:nvSpPr>
          <p:cNvPr id="11" name="AutoShape 11"/>
          <p:cNvSpPr/>
          <p:nvPr/>
        </p:nvSpPr>
        <p:spPr>
          <a:xfrm>
            <a:off x="9075571" y="5405457"/>
            <a:ext cx="2377846" cy="7010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Group Convolution</a:t>
            </a:r>
            <a:endParaRPr lang="en-US" sz="1100"/>
          </a:p>
          <a:p>
            <a:pPr indent="0" algn="l">
              <a:lnSpc>
                <a:spcPct val="100000"/>
              </a:lnSpc>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2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CNNs with stacked convolution layers.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299852" y="1665424"/>
            <a:ext cx="6345454" cy="193833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346252" y="4196775"/>
            <a:ext cx="5777457" cy="164487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7635208" y="1448490"/>
            <a:ext cx="3892143" cy="2281419"/>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7185637" y="3952097"/>
            <a:ext cx="4435929" cy="1734383"/>
          </a:xfrm>
          <a:prstGeom prst="rect">
            <a:avLst/>
          </a:prstGeom>
          <a:ln w="12700">
            <a:noFill/>
            <a:prstDash val="solid"/>
          </a:ln>
        </p:spPr>
      </p:pic>
      <p:sp>
        <p:nvSpPr>
          <p:cNvPr id="10" name="AutoShape 10"/>
          <p:cNvSpPr/>
          <p:nvPr/>
        </p:nvSpPr>
        <p:spPr>
          <a:xfrm>
            <a:off x="2988119" y="3597901"/>
            <a:ext cx="1101546"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Lenet-5</a:t>
            </a:r>
            <a:endParaRPr lang="en-US" sz="1100"/>
          </a:p>
        </p:txBody>
      </p:sp>
      <p:sp>
        <p:nvSpPr>
          <p:cNvPr id="11" name="AutoShape 11"/>
          <p:cNvSpPr/>
          <p:nvPr/>
        </p:nvSpPr>
        <p:spPr>
          <a:xfrm>
            <a:off x="2988119" y="5640305"/>
            <a:ext cx="1096238"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AlexNet</a:t>
            </a:r>
            <a:endParaRPr lang="en-US" sz="1100"/>
          </a:p>
        </p:txBody>
      </p:sp>
      <p:sp>
        <p:nvSpPr>
          <p:cNvPr id="12" name="AutoShape 12"/>
          <p:cNvSpPr/>
          <p:nvPr/>
        </p:nvSpPr>
        <p:spPr>
          <a:xfrm>
            <a:off x="9078000" y="3596833"/>
            <a:ext cx="695196" cy="396241"/>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VGG</a:t>
            </a:r>
            <a:endParaRPr lang="en-US" sz="1100"/>
          </a:p>
        </p:txBody>
      </p:sp>
      <p:sp>
        <p:nvSpPr>
          <p:cNvPr id="13" name="AutoShape 13"/>
          <p:cNvSpPr/>
          <p:nvPr/>
        </p:nvSpPr>
        <p:spPr>
          <a:xfrm>
            <a:off x="9078000" y="5478142"/>
            <a:ext cx="1019492" cy="3962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ResNet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inefficiency of the naive 7-layer loop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Take the conventional convolution operator as an example.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Mathematically correct. Structurally disastrous.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FLOPs = 2 * OutChannel * InChannel * OutHeight * OutWidth * KernelHeight * KernelWidth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15760" y="2844879"/>
            <a:ext cx="10205038" cy="342177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analysis tool: roofline model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Computing power vs. Memory bandwidth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16204" y="2038768"/>
            <a:ext cx="8037906" cy="4227889"/>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Img2Col transformation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Converting geometry to arithmetic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Problem transformed from spatial convolution to general matrix multiply (GEMM).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206625" y="2758440"/>
            <a:ext cx="8328025" cy="36779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Img2Col transformation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Comparisons between the conventional conv. and the img2col conv.</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construct the input features and the kernel matrices?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181383" y="2403810"/>
            <a:ext cx="7107547" cy="43111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Img2Col transformation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Leveraging the power of GEMM and BLAS libraries from the vendors.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Intel MKL, NVIDIA cuBLAS, Ascend catlass,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GEMM is usually highly-optimized with (1) micro-kernel opt.;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5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(2) memory packing and layout ordering; and (3) cache blocking.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061766" y="3652761"/>
            <a:ext cx="10068467" cy="2368800"/>
            <a:chOff x="1061766" y="3652761"/>
            <a:chExt cx="10068467" cy="2368800"/>
          </a:xfrm>
        </p:grpSpPr>
        <p:pic>
          <p:nvPicPr>
            <p:cNvPr id="7" name="Picture 7"/>
            <p:cNvPicPr>
              <a:picLocks noChangeAspect="1"/>
            </p:cNvPicPr>
            <p:nvPr/>
          </p:nvPicPr>
          <p:blipFill>
            <a:blip r:embed="rId1"/>
            <a:srcRect/>
            <a:stretch>
              <a:fillRect/>
            </a:stretch>
          </p:blipFill>
          <p:spPr>
            <a:xfrm>
              <a:off x="1061766" y="3664431"/>
              <a:ext cx="4481288" cy="2357130"/>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643999" y="3652761"/>
              <a:ext cx="4486234" cy="2368800"/>
            </a:xfrm>
            <a:prstGeom prst="rect">
              <a:avLst/>
            </a:prstGeom>
            <a:ln w="12700">
              <a:noFill/>
              <a:prstDash val="solid"/>
            </a:ln>
          </p:spPr>
        </p:pic>
      </p:grpSp>
      <p:sp>
        <p:nvSpPr>
          <p:cNvPr id="9" name="AutoShape 9"/>
          <p:cNvSpPr/>
          <p:nvPr/>
        </p:nvSpPr>
        <p:spPr>
          <a:xfrm>
            <a:off x="5754374" y="4586790"/>
            <a:ext cx="653143" cy="250371"/>
          </a:xfrm>
          <a:prstGeom prst="rightArrow">
            <a:avLst>
              <a:gd name="adj1" fmla="val 50000"/>
              <a:gd name="adj2" fmla="val 50000"/>
            </a:avLst>
          </a:prstGeom>
          <a:solidFill>
            <a:srgbClr val="4472C4">
              <a:alpha val="100000"/>
            </a:srgbClr>
          </a:solidFill>
          <a:ln w="12700" cap="flat">
            <a:solidFill>
              <a:srgbClr val="2F528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Img2Col transformation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memory penalty of Img2Col transformation.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698171" y="2073790"/>
            <a:ext cx="8610600" cy="410317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Winograd convolution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epubs.siam.org/doi/abs/10.1137/0209021"/>
              </a:rPr>
              <a:t>https://epubs.siam.org/doi/abs/10.1137/0209021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arxiv.org/pdf/1509.09308"/>
              </a:rPr>
              <a:t>https://arxiv.org/pdf/1509.09308</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Basics: computing m outputs with an r-tap FIR filter, which we call F(m, r), requires the numbers of multiplications as: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the 2D convolution operators, computing m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 outputs with an r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 filter, which we call F(m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 r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 These require the numbers of multiplications as: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3875232" y="2249462"/>
            <a:ext cx="3412259" cy="490688"/>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2961698" y="3665637"/>
            <a:ext cx="6268604" cy="10039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Winograd convolution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epubs.siam.org/doi/abs/10.1137/0209021"/>
              </a:rPr>
              <a:t>https://epubs.siam.org/doi/abs/10.1137/0209021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arxiv.org/pdf/1509.09308"/>
              </a:rPr>
              <a:t>https://arxiv.org/pdf/1509.09308</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a 1D convolution, F(2, 3), it uses 2</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3 = 6 multiplications in the conventional algorithm. Winograd rewrites the results using m1 -- m4:</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Therefore, it only needs 4 multiplications, 11 additions, and 2 right arithmetic shifts.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g1+g2 can be reused.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2971800" y="2291747"/>
            <a:ext cx="5202382" cy="848616"/>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2847109" y="3215267"/>
            <a:ext cx="5433291" cy="12790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Winograd convolution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epubs.siam.org/doi/abs/10.1137/0209021"/>
              </a:rPr>
              <a:t>https://epubs.siam.org/doi/abs/10.1137/0209021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[2]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2" tooltip="https://arxiv.org/pdf/1509.09308"/>
              </a:rPr>
              <a:t>https://arxiv.org/pdf/1509.09308</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Therefore, this fast filtering algorithm can be written in matrix form as: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2D convolution can be written as: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3"/>
          <a:srcRect/>
          <a:stretch>
            <a:fillRect/>
          </a:stretch>
        </p:blipFill>
        <p:spPr>
          <a:xfrm>
            <a:off x="4439804" y="1818753"/>
            <a:ext cx="3312391" cy="580969"/>
          </a:xfrm>
          <a:prstGeom prst="rect">
            <a:avLst/>
          </a:prstGeom>
          <a:ln w="12700">
            <a:noFill/>
            <a:prstDash val="solid"/>
          </a:ln>
        </p:spPr>
      </p:pic>
      <p:grpSp>
        <p:nvGrpSpPr>
          <p:cNvPr id="7" name="Group 7"/>
          <p:cNvGrpSpPr/>
          <p:nvPr/>
        </p:nvGrpSpPr>
        <p:grpSpPr>
          <a:xfrm>
            <a:off x="114935" y="2400300"/>
            <a:ext cx="11800840" cy="1229995"/>
            <a:chOff x="114935" y="2400300"/>
            <a:chExt cx="11800840" cy="1229995"/>
          </a:xfrm>
        </p:grpSpPr>
        <p:pic>
          <p:nvPicPr>
            <p:cNvPr id="8" name="Picture 8"/>
            <p:cNvPicPr>
              <a:picLocks noChangeAspect="1"/>
            </p:cNvPicPr>
            <p:nvPr/>
          </p:nvPicPr>
          <p:blipFill>
            <a:blip r:embed="rId4"/>
            <a:srcRect t="1321" b="68441"/>
            <a:stretch>
              <a:fillRect/>
            </a:stretch>
          </p:blipFill>
          <p:spPr>
            <a:xfrm>
              <a:off x="114935" y="2400300"/>
              <a:ext cx="3585341" cy="1191398"/>
            </a:xfrm>
            <a:prstGeom prst="rect">
              <a:avLst/>
            </a:prstGeom>
            <a:ln w="12700">
              <a:noFill/>
              <a:prstDash val="solid"/>
            </a:ln>
          </p:spPr>
        </p:pic>
        <p:pic>
          <p:nvPicPr>
            <p:cNvPr id="9" name="Picture 9"/>
            <p:cNvPicPr>
              <a:picLocks noChangeAspect="1"/>
            </p:cNvPicPr>
            <p:nvPr/>
          </p:nvPicPr>
          <p:blipFill>
            <a:blip r:embed="rId4"/>
            <a:srcRect t="31228" b="38807"/>
            <a:stretch>
              <a:fillRect/>
            </a:stretch>
          </p:blipFill>
          <p:spPr>
            <a:xfrm>
              <a:off x="3394021" y="2449641"/>
              <a:ext cx="3585341" cy="1180654"/>
            </a:xfrm>
            <a:prstGeom prst="rect">
              <a:avLst/>
            </a:prstGeom>
            <a:ln w="12700">
              <a:noFill/>
              <a:prstDash val="solid"/>
            </a:ln>
          </p:spPr>
        </p:pic>
        <p:pic>
          <p:nvPicPr>
            <p:cNvPr id="10" name="Picture 10"/>
            <p:cNvPicPr>
              <a:picLocks noChangeAspect="1"/>
            </p:cNvPicPr>
            <p:nvPr/>
          </p:nvPicPr>
          <p:blipFill>
            <a:blip r:embed="rId4"/>
            <a:srcRect t="61863" b="22930"/>
            <a:stretch>
              <a:fillRect/>
            </a:stretch>
          </p:blipFill>
          <p:spPr>
            <a:xfrm>
              <a:off x="6015355" y="2767624"/>
              <a:ext cx="3585341" cy="599158"/>
            </a:xfrm>
            <a:prstGeom prst="rect">
              <a:avLst/>
            </a:prstGeom>
            <a:ln w="12700">
              <a:noFill/>
              <a:prstDash val="solid"/>
            </a:ln>
          </p:spPr>
        </p:pic>
        <p:pic>
          <p:nvPicPr>
            <p:cNvPr id="11" name="Picture 11"/>
            <p:cNvPicPr>
              <a:picLocks noChangeAspect="1"/>
            </p:cNvPicPr>
            <p:nvPr/>
          </p:nvPicPr>
          <p:blipFill>
            <a:blip r:embed="rId4"/>
            <a:srcRect t="77056" r="23482" b="2279"/>
            <a:stretch>
              <a:fillRect/>
            </a:stretch>
          </p:blipFill>
          <p:spPr>
            <a:xfrm>
              <a:off x="9172361" y="2632846"/>
              <a:ext cx="2743414" cy="814244"/>
            </a:xfrm>
            <a:prstGeom prst="rect">
              <a:avLst/>
            </a:prstGeom>
            <a:ln w="12700">
              <a:noFill/>
              <a:prstDash val="solid"/>
            </a:ln>
          </p:spPr>
        </p:pic>
      </p:grpSp>
      <p:pic>
        <p:nvPicPr>
          <p:cNvPr id="12" name="Picture 12"/>
          <p:cNvPicPr>
            <a:picLocks noChangeAspect="1"/>
          </p:cNvPicPr>
          <p:nvPr/>
        </p:nvPicPr>
        <p:blipFill>
          <a:blip r:embed="rId5"/>
          <a:srcRect/>
          <a:stretch>
            <a:fillRect/>
          </a:stretch>
        </p:blipFill>
        <p:spPr>
          <a:xfrm>
            <a:off x="3662089" y="4557725"/>
            <a:ext cx="4032643" cy="85693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Winograd convolution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arxiv.org/pdf/1509.09308"/>
              </a:rPr>
              <a:t>https://arxiv.org/pdf/1509.09308</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F(2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2, 3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3) is efficient, how about the F(4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4, 3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3)?</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can reduce 6.00x multiplications in theoretical. But the transformation matrix is much more complex.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complexity of the transforms will overwhelm any savings in the number of multiplications.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magnitude of the transform matrix elements also increases with increasing tile size.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b="63928"/>
          <a:stretch>
            <a:fillRect/>
          </a:stretch>
        </p:blipFill>
        <p:spPr>
          <a:xfrm>
            <a:off x="390525" y="3489339"/>
            <a:ext cx="4064000" cy="1919432"/>
          </a:xfrm>
          <a:prstGeom prst="rect">
            <a:avLst/>
          </a:prstGeom>
          <a:ln w="12700">
            <a:noFill/>
            <a:prstDash val="solid"/>
          </a:ln>
        </p:spPr>
      </p:pic>
      <p:pic>
        <p:nvPicPr>
          <p:cNvPr id="7" name="Picture 7"/>
          <p:cNvPicPr>
            <a:picLocks noChangeAspect="1"/>
          </p:cNvPicPr>
          <p:nvPr/>
        </p:nvPicPr>
        <p:blipFill>
          <a:blip r:embed="rId2"/>
          <a:srcRect t="36328" b="27601"/>
          <a:stretch>
            <a:fillRect/>
          </a:stretch>
        </p:blipFill>
        <p:spPr>
          <a:xfrm>
            <a:off x="4454525" y="3489339"/>
            <a:ext cx="4064000" cy="1919432"/>
          </a:xfrm>
          <a:prstGeom prst="rect">
            <a:avLst/>
          </a:prstGeom>
          <a:ln w="12700">
            <a:noFill/>
            <a:prstDash val="solid"/>
          </a:ln>
        </p:spPr>
      </p:pic>
      <p:pic>
        <p:nvPicPr>
          <p:cNvPr id="8" name="Picture 8"/>
          <p:cNvPicPr>
            <a:picLocks noChangeAspect="1"/>
          </p:cNvPicPr>
          <p:nvPr/>
        </p:nvPicPr>
        <p:blipFill>
          <a:blip r:embed="rId2"/>
          <a:srcRect t="72085" b="1658"/>
          <a:stretch>
            <a:fillRect/>
          </a:stretch>
        </p:blipFill>
        <p:spPr>
          <a:xfrm>
            <a:off x="7737474" y="3750469"/>
            <a:ext cx="4064000" cy="139717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Winograd convolution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arxiv.org/pdf/1509.09308"/>
              </a:rPr>
              <a:t>https://arxiv.org/pdf/1509.09308</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comparisons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a:stretch>
            <a:fillRect/>
          </a:stretch>
        </p:blipFill>
        <p:spPr>
          <a:xfrm>
            <a:off x="523873" y="2161310"/>
            <a:ext cx="5295902" cy="351689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096000" y="2275972"/>
            <a:ext cx="5191517" cy="305983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Summary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[1] </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hlinkClick r:id="rId1" tooltip="https://arxiv.org/pdf/1509.09308"/>
              </a:rPr>
              <a:t>https://arxiv.org/pdf/1509.09308</a:t>
            </a: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 </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Comparisons among direct convolution, img2col + GEMM, and Winograd.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523875" y="2391410"/>
          <a:ext cx="11277600" cy="0"/>
        </p:xfrm>
        <a:graphic>
          <a:graphicData uri="http://schemas.openxmlformats.org/drawingml/2006/table">
            <a:tbl>
              <a:tblPr>
                <a:effectLst/>
              </a:tblPr>
              <a:tblGrid>
                <a:gridCol w="2819400"/>
                <a:gridCol w="2819400"/>
                <a:gridCol w="2819400"/>
                <a:gridCol w="2819400"/>
              </a:tblGrid>
              <a:tr h="0">
                <a:tc>
                  <a:txBody>
                    <a:bodyPr rtlCol="0"/>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Feature</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c>
                  <a:txBody>
                    <a:bodyPr rtlCol="0"/>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Direct Convolution</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c>
                  <a:txBody>
                    <a:bodyPr rtlCol="0"/>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Img2col + GEMM</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c>
                  <a:txBody>
                    <a:bodyPr rtlCol="0"/>
                    <a:lstStyle/>
                    <a:p>
                      <a:pPr indent="0" algn="ctr">
                        <a:lnSpc>
                          <a:spcPct val="100000"/>
                        </a:lnSpc>
                        <a:defRPr/>
                      </a:pPr>
                      <a:r>
                        <a:rPr lang="en-US" sz="1800" b="1" i="0" u="none" strike="noStrike">
                          <a:solidFill>
                            <a:srgbClr val="FFFFFF"/>
                          </a:solidFill>
                          <a:latin typeface="Calibri" panose="020F0502020204030204"/>
                          <a:ea typeface="Calibri" panose="020F0502020204030204"/>
                          <a:cs typeface="Calibri" panose="020F0502020204030204"/>
                          <a:sym typeface="Calibri" panose="020F0502020204030204"/>
                        </a:rPr>
                        <a:t>Winograd F(2x2, 3x3)</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alpha val="100000"/>
                      </a:srgbClr>
                    </a:solidFill>
                  </a:tcPr>
                </a:tc>
              </a:tr>
              <a:tr h="0">
                <a:tc>
                  <a:txBody>
                    <a:bodyPr rtlCol="0"/>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Computational Complexity</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High (O(N))</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Medium (Optimized via GEMM)</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Low</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(Fewest multiplications)</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0">
                <a:tc>
                  <a:txBody>
                    <a:bodyPr rtlCol="0"/>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Memory Overhead</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Minimal</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Large (Data redundancy)</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Medium (Requires transform matrices)</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0">
                <a:tc>
                  <a:txBody>
                    <a:bodyPr rtlCol="0"/>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Implementation Difficulty</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Simple</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Moderate</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Complex</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0">
                <a:tc>
                  <a:txBody>
                    <a:bodyPr rtlCol="0"/>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Numerical Precision</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Highest</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High</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Lower (Floating-point error accumulation)</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r h="0">
                <a:tc>
                  <a:txBody>
                    <a:bodyPr rtlCol="0"/>
                    <a:lstStyle/>
                    <a:p>
                      <a:pPr indent="0" algn="ctr">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Core Limitations</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Slow performance</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High memory consumption</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c>
                  <a:txBody>
                    <a:bodyPr rtlCol="0"/>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Restricted to Stride=1 &amp; 3x3 kernels</a:t>
                      </a:r>
                      <a:endParaRPr lang="en-US" sz="1100"/>
                    </a:p>
                  </a:txBody>
                  <a:tcPr anchor="t">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14: Normalization and Activation Functions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Basic Analysis of Operator Optimization</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Element-wise and Reduction Operations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core metrics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17000"/>
              </a:lnSpc>
              <a:defRPr sz="2400" b="0" i="0" u="none" strike="noStrike" spc="0">
                <a:solidFill>
                  <a:srgbClr val="404040">
                    <a:alpha val="100000"/>
                  </a:srgbClr>
                </a:solidFill>
                <a:latin typeface="Calibri" panose="020F0502020204030204"/>
              </a:defRPr>
            </a:lvl1pPr>
          </a:lstStyle>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Compute Power (FLOPS):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Refers to the number of floating-point operations a GPU can perform per second.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Thanks to more computing cores and higher clock frequencies, computing power is growing very rapidly.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Bandwidth: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Refers to the total amount of data a GPU can read from or write to its global memory per second.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17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growth rate of memory bandwidth lags far behind that of computing power, leading to the "Memory Wall" problem: GPU computing cores are often idle while waiting for data from slow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Roofline Model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The Roofline Model is an intuitive performance prediction model that analyzes the performance ceiling of specific operators on given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163955" y="2463165"/>
            <a:ext cx="4998720" cy="31134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34430" y="3429000"/>
            <a:ext cx="5384800" cy="10922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Type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Compute-bound: Operator's computational load far exceeds data read/write operations. Examples include large matrix multiplication or multi-channel convolution. Performance depends mainly on GPU computational power.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50000"/>
              </a:lnSpc>
              <a:spcBef>
                <a:spcPts val="1500"/>
              </a:spcBef>
            </a:pPr>
            <a:endParaRPr sz="2000"/>
          </a:p>
          <a:p>
            <a:pPr indent="0" algn="l">
              <a:lnSpc>
                <a:spcPct val="150000"/>
              </a:lnSpc>
              <a:spcBef>
                <a:spcPts val="1500"/>
              </a:spcBef>
            </a:pPr>
            <a:endParaRPr sz="2000"/>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Memory-bound: Operator's read and write operations far exceed the computational volume. For example, element-wise operations such as ReLU, Add, BatchNorm, and Dropout. Their performance mainly constrained by the memory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827020" y="2487930"/>
            <a:ext cx="4438650" cy="101282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916430" y="5092065"/>
            <a:ext cx="5125085" cy="1085215"/>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7767320" y="2645410"/>
            <a:ext cx="1537335" cy="855345"/>
          </a:xfrm>
          <a:prstGeom prst="rect">
            <a:avLst/>
          </a:prstGeom>
          <a:ln w="12700">
            <a:noFill/>
            <a:prstDash val="solid"/>
          </a:ln>
        </p:spPr>
      </p:pic>
      <p:pic>
        <p:nvPicPr>
          <p:cNvPr id="9" name="Picture 9"/>
          <p:cNvPicPr>
            <a:picLocks noChangeAspect="1"/>
          </p:cNvPicPr>
          <p:nvPr/>
        </p:nvPicPr>
        <p:blipFill>
          <a:blip r:embed="rId3"/>
          <a:srcRect/>
          <a:stretch>
            <a:fillRect/>
          </a:stretch>
        </p:blipFill>
        <p:spPr>
          <a:xfrm>
            <a:off x="7767320" y="5259705"/>
            <a:ext cx="1649095" cy="9175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Basic Analysis of Operator Optimization</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Element-wise and Reduction operations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Element-wise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255260" y="4222115"/>
            <a:ext cx="5391150" cy="1545590"/>
          </a:xfrm>
          <a:prstGeom prst="rect">
            <a:avLst/>
          </a:prstGeom>
          <a:ln w="12700">
            <a:noFill/>
            <a:prstDash val="solid"/>
          </a:ln>
        </p:spPr>
      </p:pic>
      <p:sp>
        <p:nvSpPr>
          <p:cNvPr id="7" name="AutoShape 7"/>
          <p:cNvSpPr/>
          <p:nvPr/>
        </p:nvSpPr>
        <p:spPr>
          <a:xfrm>
            <a:off x="5027930" y="2449830"/>
            <a:ext cx="6447790" cy="1343660"/>
          </a:xfrm>
          <a:prstGeom prst="rect">
            <a:avLst/>
          </a:prstGeom>
          <a:noFill/>
          <a:ln w="12700">
            <a:noFill/>
            <a:prstDash val="solid"/>
          </a:ln>
        </p:spPr>
        <p:txBody>
          <a:bodyPr vert="horz" wrap="square" lIns="91440" tIns="45720" rIns="91440" bIns="45720" rtlCol="0" anchor="t">
            <a:noAutofit/>
          </a:bodyPr>
          <a:lstStyle/>
          <a:p>
            <a:pPr marL="254000" indent="-254000" algn="l">
              <a:lnSpc>
                <a:spcPct val="100000"/>
              </a:lnSpc>
              <a:spcBef>
                <a:spcPts val="1500"/>
              </a:spcBef>
              <a:buClr>
                <a:srgbClr val="404040"/>
              </a:buClr>
              <a:buChar char="•"/>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Parallelism: Since there are no dependencies between each computational branch f(x), it can be distributed across thousands of threads for concurrent execution.</a:t>
            </a:r>
            <a:endParaRPr lang="en-US" sz="1000"/>
          </a:p>
          <a:p>
            <a:pPr marL="254000" indent="-2540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GPU Friendly: Perfect Match for SIMD Execution Model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AutoShape 8"/>
          <p:cNvSpPr/>
          <p:nvPr/>
        </p:nvSpPr>
        <p:spPr>
          <a:xfrm>
            <a:off x="977900" y="1378585"/>
            <a:ext cx="9987915" cy="50228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logic: Apply the same transformation independently to each element in the set without interference between elements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9" name="Picture 9"/>
          <p:cNvPicPr>
            <a:picLocks noChangeAspect="1"/>
          </p:cNvPicPr>
          <p:nvPr/>
        </p:nvPicPr>
        <p:blipFill>
          <a:blip r:embed="rId2"/>
          <a:srcRect/>
          <a:stretch>
            <a:fillRect/>
          </a:stretch>
        </p:blipFill>
        <p:spPr>
          <a:xfrm>
            <a:off x="1184275" y="2327275"/>
            <a:ext cx="3491230" cy="35134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nvPicPr>
        <p:blipFill>
          <a:blip r:embed="rId1"/>
          <a:srcRect/>
          <a:stretch>
            <a:fillRect/>
          </a:stretch>
        </p:blipFill>
        <p:spPr>
          <a:xfrm>
            <a:off x="1285240" y="3256915"/>
            <a:ext cx="6134735" cy="2855595"/>
          </a:xfrm>
          <a:prstGeom prst="rect">
            <a:avLst/>
          </a:prstGeom>
          <a:ln w="12700">
            <a:noFill/>
            <a:prstDash val="solid"/>
          </a:ln>
        </p:spPr>
      </p:pic>
      <p:sp>
        <p:nvSpPr>
          <p:cNvPr id="6" name="AutoShape 6"/>
          <p:cNvSpPr/>
          <p:nvPr/>
        </p:nvSpPr>
        <p:spPr>
          <a:xfrm>
            <a:off x="800100" y="1216660"/>
            <a:ext cx="10725150" cy="1572260"/>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logic: Combines multiple elements of a sequence into fewer results through a binary operation (e.g., Max)</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Data flow: Each elements calculation depends on the cumulative result of the previous element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Element-wise vs Reduction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859155" y="1299210"/>
            <a:ext cx="10725150" cy="11068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Difference Comparison</a:t>
            </a:r>
            <a:endParaRPr lang="en-US" sz="1100"/>
          </a:p>
        </p:txBody>
      </p:sp>
      <p:graphicFrame>
        <p:nvGraphicFramePr>
          <p:cNvPr id="6" name="Table 6"/>
          <p:cNvGraphicFramePr>
            <a:graphicFrameLocks noGrp="1"/>
          </p:cNvGraphicFramePr>
          <p:nvPr/>
        </p:nvGraphicFramePr>
        <p:xfrm>
          <a:off x="605790" y="2123440"/>
          <a:ext cx="11195685" cy="3753485"/>
        </p:xfrm>
        <a:graphic>
          <a:graphicData uri="http://schemas.openxmlformats.org/drawingml/2006/table">
            <a:tbl>
              <a:tblPr>
                <a:effectLst/>
              </a:tblPr>
              <a:tblGrid>
                <a:gridCol w="1883410"/>
                <a:gridCol w="3315970"/>
                <a:gridCol w="5996305"/>
              </a:tblGrid>
              <a:tr h="711200">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characteristic</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Element-wise</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Reduce (Tree)</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r>
              <a:tr h="712470">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Calculation mode</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N ----&gt; N</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N ----&gt; 1</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r>
              <a:tr h="906145">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Thread communication</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Threads are completely independent</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Data must be exchanged through Shuffle or Shared Memory</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r>
              <a:tr h="712470">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function</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Standard operators (+, -, *)</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tl.sum, tl.max, tl.reduce</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alpha val="20000"/>
                      </a:srgbClr>
                    </a:solidFill>
                  </a:tcPr>
                </a:tc>
              </a:tr>
              <a:tr h="711200">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typical algorithm</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alpha val="100000"/>
                      </a:srgbClr>
                    </a:solid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ReLU, Vector Add, Dropout</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rtlCol="0"/>
                    <a:lstStyle/>
                    <a:p>
                      <a:pPr indent="0" algn="ctr">
                        <a:lnSpc>
                          <a:spcPct val="100000"/>
                        </a:lnSpc>
                        <a:defRPr/>
                      </a:pPr>
                      <a:r>
                        <a:rPr lang="en-US" sz="16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LayerNorm, Softmax, Dot Product</a:t>
                      </a:r>
                      <a:endParaRPr lang="en-US" sz="1100"/>
                    </a:p>
                  </a:txBody>
                  <a:tcPr marL="12700" marR="12700" marT="127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Review: GPU Memory Hierarchy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Thread level: Threads are organized into Blocks, which are assigned to the SM for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visibility: Global Memory is visible to all threads, while Shared Memory is visible only to threads within the same Block.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3167380" y="2943860"/>
            <a:ext cx="5048250" cy="2270125"/>
          </a:xfrm>
          <a:prstGeom prst="rect">
            <a:avLst/>
          </a:prstGeom>
          <a:ln w="12700">
            <a:noFill/>
            <a:prstDash val="solid"/>
          </a:ln>
        </p:spPr>
      </p:pic>
      <p:graphicFrame>
        <p:nvGraphicFramePr>
          <p:cNvPr id="6" name="Table 6"/>
          <p:cNvGraphicFramePr>
            <a:graphicFrameLocks noGrp="1"/>
          </p:cNvGraphicFramePr>
          <p:nvPr/>
        </p:nvGraphicFramePr>
        <p:xfrm>
          <a:off x="1548130" y="5267325"/>
          <a:ext cx="8732520" cy="897890"/>
        </p:xfrm>
        <a:graphic>
          <a:graphicData uri="http://schemas.openxmlformats.org/drawingml/2006/table">
            <a:tbl>
              <a:tblPr>
                <a:effectLst/>
              </a:tblPr>
              <a:tblGrid>
                <a:gridCol w="2183130"/>
                <a:gridCol w="2183130"/>
                <a:gridCol w="2183130"/>
                <a:gridCol w="2183130"/>
              </a:tblGrid>
              <a:tr h="448945">
                <a:tc>
                  <a:txBody>
                    <a:bodyPr rtlCol="0"/>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Register</a:t>
                      </a:r>
                      <a:endParaRPr lang="en-US" sz="1100"/>
                    </a:p>
                  </a:txBody>
                  <a:tcPr anchor="t">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rtlCol="0"/>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Shared Memory</a:t>
                      </a:r>
                      <a:endParaRPr lang="en-US" sz="1100"/>
                    </a:p>
                  </a:txBody>
                  <a:tcPr anchor="t">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rtlCol="0"/>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L2 Cache</a:t>
                      </a:r>
                      <a:endParaRPr lang="en-US" sz="1100"/>
                    </a:p>
                  </a:txBody>
                  <a:tcPr anchor="t">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c>
                  <a:txBody>
                    <a:bodyPr rtlCol="0"/>
                    <a:lstStyle/>
                    <a:p>
                      <a:pPr indent="0" algn="ctr">
                        <a:lnSpc>
                          <a:spcPct val="100000"/>
                        </a:lnSpc>
                        <a:defRPr/>
                      </a:pPr>
                      <a:r>
                        <a:rPr lang="en-US" sz="1600" b="0" i="0" u="none" strike="noStrike">
                          <a:solidFill>
                            <a:srgbClr val="FFFFFF"/>
                          </a:solidFill>
                          <a:latin typeface="Arial" panose="020B0604020202020204"/>
                          <a:ea typeface="Arial" panose="020B0604020202020204"/>
                          <a:cs typeface="Arial" panose="020B0604020202020204"/>
                          <a:sym typeface="Arial" panose="020B0604020202020204"/>
                        </a:rPr>
                        <a:t>HBM</a:t>
                      </a:r>
                      <a:endParaRPr lang="en-US" sz="1100"/>
                    </a:p>
                  </a:txBody>
                  <a:tcPr anchor="t">
                    <a:lnL w="12700" cap="flat" cmpd="sng" algn="ctr">
                      <a:solidFill>
                        <a:srgbClr val="DAE3F3"/>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DAE3F3"/>
                      </a:solidFill>
                      <a:prstDash val="solid"/>
                      <a:round/>
                      <a:headEnd type="none" w="med" len="med"/>
                      <a:tailEnd type="none" w="med" len="med"/>
                    </a:lnB>
                    <a:solidFill>
                      <a:srgbClr val="B4C7E7">
                        <a:alpha val="100000"/>
                      </a:srgbClr>
                    </a:solidFill>
                  </a:tcPr>
                </a:tc>
              </a:tr>
              <a:tr h="448945">
                <a:tc>
                  <a:txBody>
                    <a:bodyPr rtlCol="0"/>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64 KB 130TB/s</a:t>
                      </a:r>
                      <a:endParaRPr lang="en-US" sz="1100"/>
                    </a:p>
                  </a:txBody>
                  <a:tcPr anchor="t">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rtlCol="0"/>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227 KB 33 TB/s</a:t>
                      </a:r>
                      <a:endParaRPr lang="en-US" sz="1100"/>
                    </a:p>
                  </a:txBody>
                  <a:tcPr anchor="t">
                    <a:lnL w="12700" cap="flat" cmpd="sng" algn="ctr">
                      <a:solidFill>
                        <a:srgbClr val="DAE3F3"/>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rtlCol="0"/>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50MB 12TB/s</a:t>
                      </a:r>
                      <a:endParaRPr lang="en-US" sz="1100"/>
                    </a:p>
                  </a:txBody>
                  <a:tcPr anchor="t">
                    <a:lnL w="12700" cap="flat" cmpd="sng" algn="ctr">
                      <a:solidFill>
                        <a:srgbClr val="A5A5A5"/>
                      </a:solidFill>
                      <a:prstDash val="solid"/>
                      <a:round/>
                      <a:headEnd type="none" w="med" len="med"/>
                      <a:tailEnd type="none" w="med" len="med"/>
                    </a:lnL>
                    <a:lnR w="12700" cap="flat" cmpd="sng" algn="ctr">
                      <a:solidFill>
                        <a:srgbClr val="DAE3F3"/>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rtlCol="0"/>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80GB 3TB/s</a:t>
                      </a:r>
                      <a:endParaRPr lang="en-US" sz="1100"/>
                    </a:p>
                  </a:txBody>
                  <a:tcPr anchor="t">
                    <a:lnL w="12700" cap="flat" cmpd="sng" algn="ctr">
                      <a:solidFill>
                        <a:srgbClr val="DAE3F3"/>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DAE3F3"/>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Competition in Reduction Process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a basic reduction: suppose the value in global memory is 3, and both threads want to increment it by 1.</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Scenario 1:</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1 reads value 3, adds 1, and writes 4 back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2 reads value 4 and writes 5 back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Situation 2:</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1 reads value 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Thread 2 reads value 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Both threads operate on 3 and write the result 4 back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04735" y="2038350"/>
            <a:ext cx="723900" cy="6477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526020" y="3976370"/>
            <a:ext cx="602615" cy="7829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Solution: Atomic Operations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741680" y="1313815"/>
            <a:ext cx="10741660" cy="168211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logic: Ensure this memory location is not accessed by other operations during execution</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Although atomicAdd guarantees correct results, its performance is generally poor and is only suitable for sparse access.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426210" y="3265170"/>
            <a:ext cx="4141470" cy="28848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848475" y="4091305"/>
            <a:ext cx="1476375" cy="15265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Performance Bottleneck of Atomic Operations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741680" y="1408430"/>
            <a:ext cx="9624060" cy="1963420"/>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Serialization occurs: The GPUs originally powerful parallel processing capability degrades to single-core serial performance.</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Higher instruction overhead: Atomic operations require locking the memory location at the lower level to prevent the entire read-modify-write process from being interrupted by other Workers.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37565" y="3766185"/>
            <a:ext cx="5876290" cy="22606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Reduction Parallelism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741680" y="1381125"/>
            <a:ext cx="10593070" cy="122364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the operation satisfies the associative property (e.g., a + (b + c) = (a + b) + c), it can be parallelized using a tree structure.</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First, different Workers compute local reduction results, which are then combined by the Combiner function.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012825" y="3225800"/>
            <a:ext cx="6087745" cy="2833370"/>
          </a:xfrm>
          <a:prstGeom prst="rect">
            <a:avLst/>
          </a:prstGeom>
          <a:ln w="12700">
            <a:noFill/>
            <a:prstDash val="solid"/>
          </a:ln>
        </p:spPr>
      </p:pic>
      <p:sp>
        <p:nvSpPr>
          <p:cNvPr id="7" name="AutoShape 7"/>
          <p:cNvSpPr/>
          <p:nvPr/>
        </p:nvSpPr>
        <p:spPr>
          <a:xfrm>
            <a:off x="8025702" y="4035044"/>
            <a:ext cx="683637" cy="3581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1" u="none" strike="noStrike">
                <a:solidFill>
                  <a:srgbClr val="000000"/>
                </a:solidFill>
                <a:latin typeface="DejaVu Math TeX Gyre" panose="02000503000000000000"/>
                <a:ea typeface="DejaVu Math TeX Gyre" panose="02000503000000000000"/>
                <a:cs typeface="DejaVu Math TeX Gyre" panose="02000503000000000000"/>
                <a:sym typeface="DejaVu Math TeX Gyre" panose="02000503000000000000"/>
              </a:rPr>
              <a:t>O(N)</a:t>
            </a:r>
            <a:endParaRPr lang="en-US" sz="1100"/>
          </a:p>
        </p:txBody>
      </p:sp>
      <p:sp>
        <p:nvSpPr>
          <p:cNvPr id="8" name="AutoShape 8"/>
          <p:cNvSpPr/>
          <p:nvPr/>
        </p:nvSpPr>
        <p:spPr>
          <a:xfrm>
            <a:off x="7938707" y="5082159"/>
            <a:ext cx="1015524" cy="35814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1" u="none" strike="noStrike">
                <a:solidFill>
                  <a:srgbClr val="000000"/>
                </a:solidFill>
                <a:latin typeface="DejaVu Math TeX Gyre" panose="02000503000000000000"/>
                <a:ea typeface="DejaVu Math TeX Gyre" panose="02000503000000000000"/>
                <a:cs typeface="DejaVu Math TeX Gyre" panose="02000503000000000000"/>
                <a:sym typeface="DejaVu Math TeX Gyre" panose="02000503000000000000"/>
              </a:rPr>
              <a:t>O(logN)</a:t>
            </a:r>
            <a:endParaRPr lang="en-US" sz="1100"/>
          </a:p>
        </p:txBody>
      </p:sp>
      <p:sp>
        <p:nvSpPr>
          <p:cNvPr id="9" name="AutoShape 9"/>
          <p:cNvSpPr/>
          <p:nvPr/>
        </p:nvSpPr>
        <p:spPr>
          <a:xfrm>
            <a:off x="8343265" y="4479925"/>
            <a:ext cx="172085" cy="524510"/>
          </a:xfrm>
          <a:prstGeom prst="downArrow">
            <a:avLst>
              <a:gd name="adj1" fmla="val 50000"/>
              <a:gd name="adj2" fmla="val 50000"/>
            </a:avLst>
          </a:prstGeom>
          <a:solidFill>
            <a:srgbClr val="A5A5A5">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reduced objective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Objective: Achieve optimal peak GPU performance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Bottleneck: Memory Access Bottleneck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Very low arithmetic intensity, with only one operation (e.g., addition) per loaded element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Ratio: 1 FLOP per Element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Conclusion: The optimization objective of reduction is to maximize bandwidth utilization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example: vector addition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nvSpPr>
        <p:spPr>
          <a:xfrm>
            <a:off x="878840" y="1386840"/>
            <a:ext cx="9850120" cy="1102360"/>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This is the simplest parallel mode: each thread processes one or more independent data points without needing to communicate with each other.</a:t>
            </a:r>
            <a:endParaRPr lang="en-US" sz="1100"/>
          </a:p>
        </p:txBody>
      </p:sp>
      <p:pic>
        <p:nvPicPr>
          <p:cNvPr id="6" name="Picture 6"/>
          <p:cNvPicPr>
            <a:picLocks noChangeAspect="1"/>
          </p:cNvPicPr>
          <p:nvPr/>
        </p:nvPicPr>
        <p:blipFill>
          <a:blip r:embed="rId1"/>
          <a:srcRect/>
          <a:stretch>
            <a:fillRect/>
          </a:stretch>
        </p:blipFill>
        <p:spPr>
          <a:xfrm>
            <a:off x="1764665" y="2712720"/>
            <a:ext cx="7940675" cy="36322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example: Sum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1326931" y="2931872"/>
            <a:ext cx="8496737" cy="3187864"/>
          </a:xfrm>
          <a:prstGeom prst="rect">
            <a:avLst/>
          </a:prstGeom>
        </p:spPr>
      </p:pic>
      <p:sp>
        <p:nvSpPr>
          <p:cNvPr id="6" name="AutoShape 6"/>
          <p:cNvSpPr/>
          <p:nvPr/>
        </p:nvSpPr>
        <p:spPr>
          <a:xfrm>
            <a:off x="878840" y="1386840"/>
            <a:ext cx="10301605" cy="948055"/>
          </a:xfrm>
          <a:prstGeom prst="rect">
            <a:avLst/>
          </a:prstGeom>
          <a:noFill/>
          <a:ln w="12700">
            <a:noFill/>
            <a:prstDash val="solid"/>
          </a:ln>
        </p:spPr>
        <p:txBody>
          <a:bodyPr vert="horz" wrap="square" lIns="91440" tIns="45720" rIns="91440" bIns="45720" rtlCol="0" anchor="t">
            <a:no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is relatively more complex and requires a tree-like parallel structure. However, Triton abstracts the underlying tree-based exchange logic and encapsulates it within the tl.sum function, enabling direct invocation.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reduction of massive data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Question: How do different threads operate on separate SMs and share intermediate results?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ideal global synchronization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CUDA supports Global Barrier: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All blocks sync automatically after the first round of reduction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Continue the recursive reduction until a single value is obtained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doesnt CUDA support global synchronization on the device side?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hardware cost is prohibitively high: over 80 SMs,and if each supports multiple resident blocks, global synchronization requires massive hardware logic.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Deadlock risk: If the number of blocks initiated by the programmer exceeds the GPUs concurrent execution capacity (SM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number of resident blocks per SM), some blocks may be suspended. If running blocks wait for synchronization from suspended blocks, a deadlock may occur.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Solution: Kernel Decomposition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Since synchronization cannot be performed within the Kernel, we can achieve it by terminating the Kernel. The end of the Launch process naturally serves as a global synchronization point.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Multi-level reduction: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Level 0: Launch a large number of Blocks, each reducing a portion of the data, and write the results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Level 1: Start a small number of Blocks and read the Level 0 results for secondary reduction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932305" y="4163060"/>
            <a:ext cx="7903845" cy="21101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activation function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Introduces nonlinear capabilities to neural networks, enabling the model to fit complex function mappings.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45515" y="2223770"/>
            <a:ext cx="4269105" cy="3513455"/>
          </a:xfrm>
          <a:prstGeom prst="rect">
            <a:avLst/>
          </a:prstGeom>
          <a:ln w="12700">
            <a:noFill/>
            <a:prstDash val="solid"/>
          </a:ln>
        </p:spPr>
      </p:pic>
      <p:sp>
        <p:nvSpPr>
          <p:cNvPr id="7" name="AutoShape 7"/>
          <p:cNvSpPr/>
          <p:nvPr/>
        </p:nvSpPr>
        <p:spPr>
          <a:xfrm>
            <a:off x="5527040" y="2720340"/>
            <a:ext cx="5198745" cy="60261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formula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pic>
        <p:nvPicPr>
          <p:cNvPr id="8" name="Picture 8"/>
          <p:cNvPicPr>
            <a:picLocks noChangeAspect="1"/>
          </p:cNvPicPr>
          <p:nvPr/>
        </p:nvPicPr>
        <p:blipFill>
          <a:blip r:embed="rId2"/>
          <a:srcRect/>
          <a:stretch>
            <a:fillRect/>
          </a:stretch>
        </p:blipFill>
        <p:spPr>
          <a:xfrm>
            <a:off x="7212965" y="3230880"/>
            <a:ext cx="3512820" cy="563880"/>
          </a:xfrm>
          <a:prstGeom prst="rect">
            <a:avLst/>
          </a:prstGeom>
          <a:ln w="12700">
            <a:noFill/>
            <a:prstDash val="solid"/>
          </a:ln>
        </p:spPr>
      </p:pic>
      <p:sp>
        <p:nvSpPr>
          <p:cNvPr id="9" name="AutoShape 9"/>
          <p:cNvSpPr/>
          <p:nvPr/>
        </p:nvSpPr>
        <p:spPr>
          <a:xfrm>
            <a:off x="5532755" y="2117725"/>
            <a:ext cx="11277600" cy="60261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Take GELU as an example</a:t>
            </a:r>
            <a:endParaRPr lang="en-US" sz="1100"/>
          </a:p>
        </p:txBody>
      </p:sp>
      <p:sp>
        <p:nvSpPr>
          <p:cNvPr id="10" name="AutoShape 10"/>
          <p:cNvSpPr/>
          <p:nvPr/>
        </p:nvSpPr>
        <p:spPr>
          <a:xfrm>
            <a:off x="5412740" y="3794760"/>
            <a:ext cx="6388100" cy="1522095"/>
          </a:xfrm>
          <a:prstGeom prst="rect">
            <a:avLst/>
          </a:prstGeom>
          <a:noFill/>
          <a:ln w="12700">
            <a:noFill/>
            <a:prstDash val="solid"/>
          </a:ln>
        </p:spPr>
        <p:txBody>
          <a:bodyPr vert="horz" wrap="square" lIns="91440" tIns="45720" rIns="91440" bIns="45720" rtlCol="0" anchor="t">
            <a:noAutofit/>
          </a:bodyPr>
          <a:lstStyle/>
          <a:p>
            <a:pPr marL="254000" indent="-254000" algn="l">
              <a:lnSpc>
                <a:spcPct val="125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Due to the inclusion of transcendental functions, the computational intensity is high. When executed independently, it is constrained by memory bandwidth. However, when integrated with GEMM, the complex erf calculations significantly reduce kernel latency.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LayerNorm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LayerNorm is a core component of modern neural networks like Transformers, whose core idea is to normalize all features of a single sample.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Formula: For the input x, the output y 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Computational dependencies: Calculating mean and variance requires traversing the entire row of data, which is essentially a Reduction operation.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996690" y="3042285"/>
            <a:ext cx="3619500" cy="9398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15: Operator Fusion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Operator Fusion</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Example: Fused Softmax</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Lifecycle of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Frame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Data graph normalization: Break down high-level composite operators in deep neural networks (e.g., TransformerBlock) into fine-grained primitives (MatMul, Softmax, LayerNorm), and establish standardized IR frameworks (e.g., MLIR, XLA HLO).</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Calculate the tensor lifecycle through data stream analysis and determine the parallel strategy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Convert the optimized compute graph Lowering into device-specific code and insert necessary synchronization primitives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571625" y="4149090"/>
            <a:ext cx="3073400" cy="213106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176010" y="3747770"/>
            <a:ext cx="3783330" cy="25323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Lifecycle of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Runtime layer: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Prepare parameters for each operator (device pointer, shared memory size, Stream ID, and other context)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Initiate Kernel Launch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 layer </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reads data from Global Memory---&gt; compute unit processes---&gt; writes back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060065" y="4037330"/>
            <a:ext cx="5466080" cy="21399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 Launch Optimization: CUDA Graph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Record a series of GPU operations (Kernels, Memcpys) as a static topology diagram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Capture the execution sequence, parameters, video memory addresses, and scheduling paths of all kernels during the phase.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During the replay phase, the CPU only needs to issue a single ultra-lightweight instruction to trigger the entire graphs automatic transfer on the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6310" y="4015105"/>
            <a:ext cx="4911725" cy="1689100"/>
          </a:xfrm>
          <a:prstGeom prst="rect">
            <a:avLst/>
          </a:prstGeom>
          <a:ln w="12700">
            <a:noFill/>
            <a:prstDash val="solid"/>
          </a:ln>
        </p:spPr>
      </p:pic>
      <p:pic>
        <p:nvPicPr>
          <p:cNvPr id="7" name="Picture 7"/>
          <p:cNvPicPr>
            <a:picLocks noChangeAspect="1"/>
          </p:cNvPicPr>
          <p:nvPr/>
        </p:nvPicPr>
        <p:blipFill>
          <a:blip r:embed="rId2"/>
          <a:srcRect l="3763" r="3764"/>
          <a:stretch>
            <a:fillRect/>
          </a:stretch>
        </p:blipFill>
        <p:spPr>
          <a:xfrm>
            <a:off x="6106160" y="3867785"/>
            <a:ext cx="5332730" cy="1983105"/>
          </a:xfrm>
          <a:prstGeom prst="rect">
            <a:avLst/>
          </a:prstGeom>
          <a:ln w="12700">
            <a:noFill/>
            <a:prstDash val="solid"/>
          </a:ln>
        </p:spPr>
      </p:pic>
      <p:sp>
        <p:nvSpPr>
          <p:cNvPr id="8" name="AutoShape 8"/>
          <p:cNvSpPr/>
          <p:nvPr/>
        </p:nvSpPr>
        <p:spPr>
          <a:xfrm>
            <a:off x="914400" y="3388360"/>
            <a:ext cx="24384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minimal GPU kernel</a:t>
            </a:r>
            <a:endParaRPr lang="en-US" sz="1100"/>
          </a:p>
        </p:txBody>
      </p:sp>
      <p:sp>
        <p:nvSpPr>
          <p:cNvPr id="9" name="AutoShape 9"/>
          <p:cNvSpPr/>
          <p:nvPr/>
        </p:nvSpPr>
        <p:spPr>
          <a:xfrm>
            <a:off x="6106160" y="3387090"/>
            <a:ext cx="365061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general-purpose GPU kernel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Data transfer between operators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Default mode: Conv results must be written back to global video memory, then Scale reads them out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Operator fusion: Element-wise operations can seamlessly integrate with other operators, significantly reducing both memory access and kernel startup overhead.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38630" y="4667250"/>
            <a:ext cx="8534400" cy="12192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2409825" y="2087245"/>
            <a:ext cx="7863205" cy="14274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Definition: A technique that merges multiple independent operators (or kernels) in a computational graph into a single operator for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Typical scenarios in deep learning: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Vertical Fusion: Conv + Bias + ReLU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Horizontal Fusion: Merge multiple GEMMs with the same input but different parameters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Fusion: Mean + Var + Scale in LayerNorm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Advantages of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Reduce memory bandwidth usage: Eliminate read and write operations on global memory for intermediate results. Data remains in registers or shared memory.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Reduce Kernel Launch overhead: Minimize the number of handshakes between CPU and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Enhance cache utilization: Data is continuously accessed in SRAM for higher efficiency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Increase computational density: Boost the instruction stream per task to better mask memory latency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Problems of Operator Fusion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contradiction-Register pressure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total number of registers in a GPU SM is fixed (for example, A100 has 256KB per 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Single-threading requires more intermediate states → Single-threading registers ↑ → Each thread block occupies registers ↑ → Concurrent thread blocks decrease → Reduced active Warp count in SM (Occupancy decreases)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cache pressure: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merged kernel may exceed the hardware instruction cache limit.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Finding the sweet spot between saving memory bandwidth and maintaining sufficient computational parallelism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Negative Example: The Greedy Merging of XLA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r">
              <a:lnSpc>
                <a:spcPct val="100000"/>
              </a:lnSpc>
              <a:defRPr sz="1400" b="0" i="0" u="none" strike="noStrike" spc="0">
                <a:solidFill>
                  <a:srgbClr val="A5A5A5">
                    <a:alpha val="100000"/>
                  </a:srgbClr>
                </a:solidFill>
                <a:latin typeface="Garamond" panose="02020404030301010803"/>
              </a:defRPr>
            </a:lvl1pPr>
          </a:lstStyle>
          <a:p>
            <a:pPr indent="0" algn="r">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https://github.com/openxla/xla/discussions/766</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Scene description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inputs forced layout is {3,2,1,0}, and the operator (Custom-call) has a forced layout of {1,0,2,3}.</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computing Add, XLA detects that the two inputs have different layouts. To align them, it must insert a Copy operation.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To reduce kernel boot overhead, XLA forcibly merges Add and Copy operations. However, inconsistent I/O layouts disrupt memory merge access, causing memory access to become random and erratic, resulting in a 9-fold performance degradation.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338580" y="4187190"/>
            <a:ext cx="2621915" cy="224091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197985" y="4748530"/>
            <a:ext cx="7413625" cy="9150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negative example: Fused Adam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https://github.com/pytorch/pytorch/issues/121857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Pytorchs auto-enabled Fused AdamW algorithm experiences a dramatic performance drop on A40 GPUs. Potential causes include: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registers used in Fuse mode is approximately double that of standard mode.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Fused AdamW is triggered per-tensor, causing excessive Kernel launches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35150" y="3155950"/>
            <a:ext cx="6289675" cy="14097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972310" y="4683125"/>
            <a:ext cx="6185535" cy="13868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operator fusion</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Example: Fused Softmax</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Example: Softmax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741680" y="1353185"/>
            <a:ext cx="7225030" cy="3472815"/>
          </a:xfrm>
          <a:prstGeom prst="rect">
            <a:avLst/>
          </a:prstGeom>
        </p:spPr>
      </p:pic>
      <p:sp>
        <p:nvSpPr>
          <p:cNvPr id="6" name="AutoShape 6"/>
          <p:cNvSpPr/>
          <p:nvPr/>
        </p:nvSpPr>
        <p:spPr>
          <a:xfrm>
            <a:off x="638810" y="5109210"/>
            <a:ext cx="11075670" cy="963930"/>
          </a:xfrm>
          <a:prstGeom prst="rect">
            <a:avLst/>
          </a:prstGeom>
          <a:noFill/>
          <a:ln w="12700">
            <a:noFill/>
            <a:prstDash val="solid"/>
          </a:ln>
        </p:spPr>
        <p:txBody>
          <a:bodyPr vert="horz" wrap="square" lIns="91440" tIns="45720" rIns="91440" bIns="45720" rtlCol="0" anchor="t">
            <a:noAutofit/>
          </a:bodyPr>
          <a:lstStyle/>
          <a:p>
            <a:pPr marL="304800" indent="-304800" algn="l">
              <a:lnSpc>
                <a:spcPct val="117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bottleneck: Total reads 5MN+2M elements, writes 3MN+2M elements. Frequent global memory reads/writes cause significant bandwidth waste.</a:t>
            </a:r>
            <a:endParaRPr lang="en-US" sz="1100"/>
          </a:p>
        </p:txBody>
      </p:sp>
      <p:pic>
        <p:nvPicPr>
          <p:cNvPr id="7" name="Picture 7"/>
          <p:cNvPicPr>
            <a:picLocks noChangeAspect="1"/>
          </p:cNvPicPr>
          <p:nvPr/>
        </p:nvPicPr>
        <p:blipFill>
          <a:blip r:embed="rId2"/>
          <a:srcRect/>
          <a:stretch>
            <a:fillRect/>
          </a:stretch>
        </p:blipFill>
        <p:spPr>
          <a:xfrm>
            <a:off x="8081010" y="2777490"/>
            <a:ext cx="3552825" cy="963930"/>
          </a:xfrm>
          <a:prstGeom prst="rect">
            <a:avLst/>
          </a:prstGeom>
          <a:ln w="12700">
            <a:noFill/>
            <a:prstDash val="solid"/>
          </a:ln>
        </p:spPr>
      </p:pic>
      <p:sp>
        <p:nvSpPr>
          <p:cNvPr id="8" name="AutoShape 8"/>
          <p:cNvSpPr/>
          <p:nvPr/>
        </p:nvSpPr>
        <p:spPr>
          <a:xfrm>
            <a:off x="8023225" y="2010410"/>
            <a:ext cx="3528060" cy="631825"/>
          </a:xfrm>
          <a:prstGeom prst="rect">
            <a:avLst/>
          </a:prstGeom>
          <a:noFill/>
          <a:ln w="12700">
            <a:noFill/>
            <a:prstDash val="solid"/>
          </a:ln>
        </p:spPr>
        <p:txBody>
          <a:bodyPr vert="horz" wrap="square" lIns="91440" tIns="45720" rIns="91440" bIns="45720" rtlCol="0" anchor="t">
            <a:noAutofit/>
          </a:bodyPr>
          <a:lstStyle/>
          <a:p>
            <a:pPr marL="304800" indent="-304800" algn="l">
              <a:lnSpc>
                <a:spcPct val="117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Formula</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Example: Softmax</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Basic Idea of Operator Fusion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Load: All threads collaborate in parallel to read data from Global Memory and write it to Shared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Sync &amp; Reduce: Perform multiple iterations within Shared Memory, which is fully executed at high speed on-chip without consuming video memory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CUDA: Synchronize with __syncthreads() at each step</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Triton: Automatic</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Write: Only the final result is written back to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Softmax_kernel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SRAM Residency: The entire row of data remains on-chip after loading until the computation is completed.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1230" y="2216150"/>
            <a:ext cx="8053705" cy="4301490"/>
          </a:xfrm>
          <a:prstGeom prst="rect">
            <a:avLst/>
          </a:prstGeom>
          <a:ln w="12700">
            <a:noFill/>
            <a:prstDash val="solid"/>
          </a:ln>
        </p:spPr>
      </p:pic>
      <p:sp>
        <p:nvSpPr>
          <p:cNvPr id="7" name="AutoShape 7"/>
          <p:cNvSpPr/>
          <p:nvPr/>
        </p:nvSpPr>
        <p:spPr>
          <a:xfrm>
            <a:off x="1482090" y="4676775"/>
            <a:ext cx="4272915" cy="17970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482090" y="3537585"/>
            <a:ext cx="5426075" cy="789305"/>
          </a:xfrm>
          <a:prstGeom prst="rect">
            <a:avLst/>
          </a:prstGeom>
          <a:noFill/>
          <a:ln w="12700" cap="flat">
            <a:solidFill>
              <a:srgbClr val="FFFFFF">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6254750" y="4582160"/>
            <a:ext cx="114744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FFFF00"/>
                </a:solidFill>
                <a:latin typeface="微软雅黑" panose="020B0503020204020204" charset="-122"/>
                <a:ea typeface="微软雅黑" panose="020B0503020204020204" charset="-122"/>
                <a:cs typeface="微软雅黑" panose="020B0503020204020204" charset="-122"/>
                <a:sym typeface="微软雅黑" panose="020B0503020204020204" charset="-122"/>
              </a:rPr>
              <a:t>loading</a:t>
            </a:r>
            <a:endParaRPr lang="en-US" sz="1100"/>
          </a:p>
        </p:txBody>
      </p:sp>
      <p:sp>
        <p:nvSpPr>
          <p:cNvPr id="10" name="AutoShape 10"/>
          <p:cNvSpPr/>
          <p:nvPr/>
        </p:nvSpPr>
        <p:spPr>
          <a:xfrm>
            <a:off x="7048500" y="3748405"/>
            <a:ext cx="155511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memory pointer calculation</a:t>
            </a:r>
            <a:endParaRPr lang="en-US" sz="1100"/>
          </a:p>
        </p:txBody>
      </p:sp>
      <p:sp>
        <p:nvSpPr>
          <p:cNvPr id="11" name="AutoShape 11"/>
          <p:cNvSpPr/>
          <p:nvPr/>
        </p:nvSpPr>
        <p:spPr>
          <a:xfrm>
            <a:off x="1482090" y="6278245"/>
            <a:ext cx="4272915" cy="17970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6319520" y="6089650"/>
            <a:ext cx="224409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FFFF00"/>
                </a:solidFill>
                <a:latin typeface="微软雅黑" panose="020B0503020204020204" charset="-122"/>
                <a:ea typeface="微软雅黑" panose="020B0503020204020204" charset="-122"/>
                <a:cs typeface="微软雅黑" panose="020B0503020204020204" charset="-122"/>
                <a:sym typeface="微软雅黑" panose="020B0503020204020204" charset="-122"/>
              </a:rPr>
              <a:t>Data writeback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Softmax_kernel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Operator Fusion: Merge Max, Sub, Exp, and Sum into a Kernel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51230" y="1878330"/>
            <a:ext cx="8053705" cy="4301490"/>
          </a:xfrm>
          <a:prstGeom prst="rect">
            <a:avLst/>
          </a:prstGeom>
          <a:ln w="12700">
            <a:noFill/>
            <a:prstDash val="solid"/>
          </a:ln>
        </p:spPr>
      </p:pic>
      <p:sp>
        <p:nvSpPr>
          <p:cNvPr id="7" name="AutoShape 7"/>
          <p:cNvSpPr/>
          <p:nvPr/>
        </p:nvSpPr>
        <p:spPr>
          <a:xfrm>
            <a:off x="1482090" y="4459605"/>
            <a:ext cx="6150610" cy="1006475"/>
          </a:xfrm>
          <a:prstGeom prst="rect">
            <a:avLst/>
          </a:prstGeom>
          <a:noFill/>
          <a:ln w="12700" cap="flat">
            <a:solidFill>
              <a:srgbClr val="FFFF0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7749540" y="4627880"/>
            <a:ext cx="122682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FFFF00"/>
                </a:solidFill>
                <a:latin typeface="微软雅黑" panose="020B0503020204020204" charset="-122"/>
                <a:ea typeface="微软雅黑" panose="020B0503020204020204" charset="-122"/>
                <a:cs typeface="微软雅黑" panose="020B0503020204020204" charset="-122"/>
                <a:sym typeface="微软雅黑" panose="020B0503020204020204" charset="-122"/>
              </a:rPr>
              <a:t>operator fusion</a:t>
            </a:r>
            <a:endParaRPr lang="en-US" sz="1100"/>
          </a:p>
        </p:txBody>
      </p:sp>
      <p:pic>
        <p:nvPicPr>
          <p:cNvPr id="9" name="Picture 9"/>
          <p:cNvPicPr>
            <a:picLocks noChangeAspect="1"/>
          </p:cNvPicPr>
          <p:nvPr/>
        </p:nvPicPr>
        <p:blipFill>
          <a:blip r:embed="rId2"/>
          <a:srcRect/>
          <a:stretch>
            <a:fillRect/>
          </a:stretch>
        </p:blipFill>
        <p:spPr>
          <a:xfrm>
            <a:off x="9214485" y="4231640"/>
            <a:ext cx="2444750" cy="1160780"/>
          </a:xfrm>
          <a:prstGeom prst="rect">
            <a:avLst/>
          </a:prstGeom>
          <a:ln w="12700">
            <a:noFill/>
            <a:prstDash val="solid"/>
          </a:ln>
        </p:spPr>
      </p:pic>
      <p:sp>
        <p:nvSpPr>
          <p:cNvPr id="10" name="AutoShape 10"/>
          <p:cNvSpPr/>
          <p:nvPr/>
        </p:nvSpPr>
        <p:spPr>
          <a:xfrm>
            <a:off x="9186545" y="2595880"/>
            <a:ext cx="2437765" cy="1198880"/>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Internal Automatic Realization of Parallel Tree Structure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SoftMax  Host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698500" y="1256665"/>
            <a:ext cx="6463030" cy="4082415"/>
          </a:xfrm>
          <a:prstGeom prst="rect">
            <a:avLst/>
          </a:prstGeom>
        </p:spPr>
      </p:pic>
      <p:sp>
        <p:nvSpPr>
          <p:cNvPr id="6" name="AutoShape 6"/>
          <p:cNvSpPr/>
          <p:nvPr/>
        </p:nvSpPr>
        <p:spPr>
          <a:xfrm>
            <a:off x="7687310" y="1256665"/>
            <a:ext cx="3954145" cy="4670425"/>
          </a:xfrm>
          <a:prstGeom prst="rect">
            <a:avLst/>
          </a:prstGeom>
          <a:noFill/>
          <a:ln w="12700">
            <a:noFill/>
            <a:prstDash val="solid"/>
          </a:ln>
        </p:spPr>
        <p:txBody>
          <a:bodyPr vert="horz" wrap="square" lIns="91440" tIns="45720" rIns="91440" bIns="45720" rtlCol="0" anchor="t">
            <a:normAutofit lnSpcReduction="10000"/>
          </a:bodyPr>
          <a:lstStyle/>
          <a:p>
            <a:pPr marL="355600" indent="-355600" algn="l">
              <a:lnSpc>
                <a:spcPct val="133000"/>
              </a:lnSpc>
              <a:spcBef>
                <a:spcPts val="12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static kernel specialization</a:t>
            </a:r>
            <a:endParaRPr lang="en-US" sz="1000"/>
          </a:p>
          <a:p>
            <a:pPr marL="635000" lvl="1" indent="-292100" algn="l">
              <a:lnSpc>
                <a:spcPct val="133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Align input dimensions to the 2nd power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35000" lvl="1" indent="-292100" algn="l">
              <a:lnSpc>
                <a:spcPct val="133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Ensure the kernel parameter BLOCK_SIZE is a compile-time constant to allow the compiler to perform full loop unrolling and eliminate runtime branch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SoftMax  Host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523875" y="1271905"/>
            <a:ext cx="6798945" cy="4294505"/>
          </a:xfrm>
          <a:prstGeom prst="rect">
            <a:avLst/>
          </a:prstGeom>
        </p:spPr>
      </p:pic>
      <p:sp>
        <p:nvSpPr>
          <p:cNvPr id="6" name="AutoShape 6"/>
          <p:cNvSpPr/>
          <p:nvPr/>
        </p:nvSpPr>
        <p:spPr>
          <a:xfrm>
            <a:off x="7832725" y="1363345"/>
            <a:ext cx="3968750" cy="340931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50000"/>
              </a:lnSpc>
              <a:spcBef>
                <a:spcPts val="12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hardware-aware utilization</a:t>
            </a:r>
            <a:endParaRPr lang="en-US" sz="1100"/>
          </a:p>
          <a:p>
            <a:pPr marL="596900" lvl="1" indent="-254000" algn="l">
              <a:lnSpc>
                <a:spcPct val="150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Detect the actual consumption of registers and SRAM by the warmup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Maximize the number of active warps per 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SoftMax  Host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523677" y="1341120"/>
            <a:ext cx="7683896" cy="4852988"/>
          </a:xfrm>
          <a:prstGeom prst="rect">
            <a:avLst/>
          </a:prstGeom>
        </p:spPr>
      </p:pic>
      <p:sp>
        <p:nvSpPr>
          <p:cNvPr id="6" name="AutoShape 6"/>
          <p:cNvSpPr/>
          <p:nvPr/>
        </p:nvSpPr>
        <p:spPr>
          <a:xfrm>
            <a:off x="8341360" y="1236980"/>
            <a:ext cx="3968750" cy="340931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50000"/>
              </a:lnSpc>
              <a:spcBef>
                <a:spcPts val="12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Persistent Grid Startup</a:t>
            </a:r>
            <a:endParaRPr lang="en-US" sz="1100"/>
          </a:p>
          <a:p>
            <a:pPr marL="596900" lvl="1" indent="-254000" algn="l">
              <a:lnSpc>
                <a:spcPct val="117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Decouple grid size from data volume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7000"/>
              </a:lnSpc>
              <a:spcBef>
                <a:spcPts val="12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Block processes multiple rows of data serially through the Grid-Stride Loop.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 Behind: Continuous addressing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Interleaved addressing may cause bank conflicts.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680" y="1998980"/>
            <a:ext cx="6737985" cy="3708400"/>
          </a:xfrm>
          <a:prstGeom prst="rect">
            <a:avLst/>
          </a:prstGeom>
          <a:ln w="12700">
            <a:noFill/>
            <a:prstDash val="solid"/>
          </a:ln>
        </p:spPr>
      </p:pic>
      <p:pic>
        <p:nvPicPr>
          <p:cNvPr id="7" name="Picture 7"/>
          <p:cNvPicPr>
            <a:picLocks noChangeAspect="1"/>
          </p:cNvPicPr>
          <p:nvPr/>
        </p:nvPicPr>
        <p:blipFill>
          <a:blip r:embed="rId2"/>
          <a:srcRect t="-12" r="31028"/>
          <a:stretch>
            <a:fillRect/>
          </a:stretch>
        </p:blipFill>
        <p:spPr>
          <a:xfrm>
            <a:off x="8136890" y="1323975"/>
            <a:ext cx="2333625" cy="50323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 Behind: Continuous addressing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Continuous addressing (where adjacent threads access contiguous data) maximizes memory bandwidth.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680" y="2172970"/>
            <a:ext cx="6321425" cy="354901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219950" y="5067935"/>
            <a:ext cx="4279900" cy="553085"/>
          </a:xfrm>
          <a:prstGeom prst="rect">
            <a:avLst/>
          </a:prstGeom>
          <a:ln w="12700">
            <a:noFill/>
            <a:prstDash val="solid"/>
          </a:ln>
        </p:spPr>
      </p:pic>
      <p:sp>
        <p:nvSpPr>
          <p:cNvPr id="8" name="AutoShape 8"/>
          <p:cNvSpPr/>
          <p:nvPr/>
        </p:nvSpPr>
        <p:spPr>
          <a:xfrm>
            <a:off x="7219950" y="3613150"/>
            <a:ext cx="4397375" cy="1308735"/>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1100" b="0" i="0" u="none" strike="noStrike">
                <a:solidFill>
                  <a:srgbClr val="404040"/>
                </a:solidFill>
                <a:latin typeface="Calibri" panose="020F0502020204030204"/>
                <a:ea typeface="Calibri" panose="020F0502020204030204"/>
                <a:cs typeface="Calibri" panose="020F0502020204030204"/>
                <a:sym typeface="Calibri" panose="020F0502020204030204"/>
              </a:rPr>
              <a:t>Compared to CUDA, Triton makes it much harder to write erroneous code by explicitly calling tl.arange().</a:t>
            </a:r>
            <a:endParaRPr lang="en-US" sz="1100"/>
          </a:p>
          <a:p>
            <a:pPr indent="0" algn="l">
              <a:lnSpc>
                <a:spcPct val="117000"/>
              </a:lnSpc>
            </a:pPr>
            <a:r>
              <a:rPr lang="en-US" sz="1100" b="0" i="0" u="none" strike="noStrike">
                <a:solidFill>
                  <a:srgbClr val="404040"/>
                </a:solidFill>
                <a:latin typeface="Calibri" panose="020F0502020204030204"/>
                <a:ea typeface="Calibri" panose="020F0502020204030204"/>
                <a:cs typeface="Calibri" panose="020F0502020204030204"/>
                <a:sym typeface="Calibri" panose="020F0502020204030204"/>
              </a:rPr>
              <a:t>Continuous index was generated automatically</a:t>
            </a:r>
            <a:endParaRPr lang="en-US" sz="11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 Behind: Algorithm Cascading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single thread processes multiple data sets, increasing the workload per thread, hiding latency, and reducing Block startup overhead.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BLOCK_SIZE is significantly larger than the number of physical threads, the Triton compiler automatically executes a loop within each physical thread to process BLOCK_SIZE divided by the number of threads.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theoretical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Simple solution: Allocate O(N) threads, with time complexity O(log N) and total cost O(N log 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Brent theorem optimization: Using O(N/log N) threads, each thread processes O(log N) elements serially, then all threads collaborate to perform O(log N) parallel reduction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Total cost = O(N/log N) </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O(log N) = O(N) → Cost-efficient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Comparison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612775" y="2479040"/>
            <a:ext cx="4352925" cy="316801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150485" y="1375410"/>
            <a:ext cx="6461125" cy="42716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References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https://docs.flagos.io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https://developer.download.nvidia.com/assets/cuda/files/reduction.pdf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https://www.bu.edu/pasi/files/2011/07/Lecture31.pdf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http://fleetwood.dev/posts/layernorm-as-fast-as-possible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https://gfxcourses.stanford.edu/cs149/fall25</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https://triton-lang.org/main/getting-started/tutorials/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16: Complex Operator Debugging and Profiling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Overview</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Nsight System</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Nsight Compute</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Case Study</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Developer Tools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https://developer.nvidia.com/tools-overview</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tools are a powerful set of libraries, SDKs, and developer tools spanning across desktop and mobile targets that enable developers to build, debug, profile, and develop software that utilizes the latest accelerated computing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749425" y="2889885"/>
            <a:ext cx="8817610" cy="35363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Product Family (for CUDA Profiling)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669656" y="1511176"/>
          <a:ext cx="10852688" cy="3987098"/>
        </p:xfrm>
        <a:graphic>
          <a:graphicData uri="http://schemas.openxmlformats.org/drawingml/2006/table">
            <a:tbl>
              <a:tblPr>
                <a:effectLst/>
              </a:tblPr>
              <a:tblGrid>
                <a:gridCol w="2204173"/>
                <a:gridCol w="2066306"/>
                <a:gridCol w="3503221"/>
                <a:gridCol w="3078988"/>
              </a:tblGrid>
              <a:tr h="468951">
                <a:tc>
                  <a:txBody>
                    <a:bodyPr rtlCol="0"/>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Tool Name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Analysis Level</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Primary Features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Typical Use Cases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1550762">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Nsight Systems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System-level</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Cross CPU/GPU timeline analysis, API tracing, multi-process tracking</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Low GPU utilization, multi-GPU load imbalance, CPU-GPU coordination issues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1967385">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Nsight Compute</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Kernel-level</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CUDA kernel microarchitecture analysis, instruction-level performance metrics, optimization recommendations</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Kernel performance bottleneck analysis, memory access optimization, register usage tuning</a:t>
                      </a:r>
                      <a:endParaRPr lang="en-US" sz="1100"/>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 Workflow for CUDA Applications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Nsight Systems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System-wide application algorithm 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Nsight Compute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Debug/optimize specific CUDA kernel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48279" y="2980706"/>
            <a:ext cx="11495442" cy="232768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https://developer.nvidia.com/nsight-systems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Systems is a system-wide performance analysis tool designed to:</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Visualize an application’s algorithms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Identify the largest opportunities to optimize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Tune to scale efficiently across any quantity or size of CPUs and GPUs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091765" y="3750469"/>
            <a:ext cx="2071040" cy="20564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 - Features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https://developer.nvidia.com/nsight-systems/get-started</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View system-wide application behavior across CPUs and GPUs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CPU cores utilization, process &amp; thread activities, thread backtraces, CPU performance metrics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workload trace, GPU context switch trace.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SOC traces (hypervisor, memory bandwidth, accelerators)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OS Event Trace (ftrace, ETW)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Investigate CPU-GPU interactions and bubbles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&amp; AI APIs: CUDA API, CUDA libraries trace, Bidirectional correlation of API and GPU workload.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Graphics &amp; Rendering: OpenGL API, Vulkan API,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Workflow &amp; Resource Analysis: User annotations API trace, Identify GPU idle and sparse usage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594247" y="1132763"/>
            <a:ext cx="9987506" cy="563824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NVTX: A profiling API that annotates performance timelines with custom event markers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792377" y="1323975"/>
            <a:ext cx="7137375" cy="4435557"/>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9999" y="3892972"/>
            <a:ext cx="3715618" cy="7822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Compute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https://developer.nvidia.com/nsight-compute</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https://docs.nvidia.com/nsight-compute/ProfilingGuide/index.html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Compute is an interactive profiler for CUDA® and NVIDIA OptiX™ that provides detailed performance metrics and API debugging via a user interface and command-line tool.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094896" y="3016332"/>
            <a:ext cx="8135553" cy="29706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Compute - Features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https://developer.download.nvidia.cn/video/gputechconf/gtc/2019/presentation/s9345-cuda-kernel-profiling-using-nvidia-nsight-compute.pdf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18490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Interactive CUDA API debugging and kernel profiling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Graphical profile report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 of multiple kernel reports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Fully Customizable (Reports and Analysis Rules)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Command Line, Standalone, IDE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75930" y="981710"/>
            <a:ext cx="3725545" cy="51955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algn="l"/>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1" y="127524"/>
            <a:ext cx="12191999" cy="659395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Key Metrics for Warp-Level Analysis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https://developer.download.nvidia.cn/video/gputechconf/gtc/2019/presentation/s9345-cuda-kernel-profiling-using-nvidia-nsight-compute.pdf</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Scheduler Statistics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tracks active and eligible warps per cycle to evaluate instruction issue efficiency and latency-hiding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 State Statistics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profiles warp stall cycles to identify the specific hardware bottlenecks delaying instruction execution.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Occupancy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compares actual versus theoretical active warps to assess overall GPU resource utilization and workload balance.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Vector Averaging &amp; Matrix Multiply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https://developer.nvidia.com/blog/analysis-driven-optimization-preparing-for-analysis-with-nvidia-nsight-compute-part-1/</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Some highlights: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OpenMP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Initial port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 Design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052695" y="1323975"/>
            <a:ext cx="7139305" cy="50533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1: Maximizing Grid Size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Issue: Indicates kernel grid too small to utilize device resources efficiently.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Action: Distribute work across N blocks instead of a single block (&lt;&lt;&lt;N, L&gt;&gt;&gt;).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Result: Drops execution time from 2.92s to 0.0789s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52763" y="3451723"/>
            <a:ext cx="11686526" cy="259555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2: Global Memory Coalescing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Issue: Reveals LSU queue full; shows 8:1 ratio of actual to ideal L2 transactions (uncoalesced access).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Action: Implement warp-stride and block-stride loops for contiguous memory reads.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Result: Improves execution time to 0.0216s.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47417" y="3539828"/>
            <a:ext cx="11697219" cy="263709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3: Shared Memory Pressure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Issue: Shows high shared memory usage; pinpoints warp stalls caused by sweep reduction.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Action: Replace shared memory operations with two-stage warp-shuffle reduction (__shfl_down_sync).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Result: Decreases execution time further to 0.0126s.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2632623" y="3688316"/>
            <a:ext cx="6926805" cy="316963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4: Overcoming Memory Latency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Issue: Identifies Stall Long Scoreboard as primary bottleneck (46.1%), indicating L1TEX data dependency.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Action: Split into two kernels: custom vector averaging and highly optimized cuBLAS SGEMM for matrix multiplication.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Result: Reaches 0.0055s execution time (nearly 100x speedup over CPU OpenMP)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389503" y="3780052"/>
            <a:ext cx="9192650" cy="307789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Estimation of Optimization Space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Bound by hardware bandwidth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~823 GB/s achieved throughput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Near-optimal global loading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Require algorithmic redesign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357495" y="1457960"/>
            <a:ext cx="6834505" cy="47186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References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Get Started With Nsight Systems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Getting Started</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with Nsight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developer.nvidia.com/nsight-systems/get-started"/>
              </a:rPr>
              <a:t>Compute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docs.nvidia.com/nsight-systems/index.html"/>
              </a:rPr>
              <a:t>Nsight Systems Documentation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ocs.nvidia.com/nsight-compute/ProfilingGuide/index.html"/>
              </a:rPr>
              <a:t>Nsight Compute profiling guide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ocs.nvidia.com/nsight-compute/ProfilingGuide/index.html"/>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17: Architectural Design of Operator Libraries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Principles</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Dispatcher</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DSL</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Case Study</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49998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Broadly speaking, applying any specific operation to a given function can be defined as an Operator.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Deep learning algorithms are constructed from individual computational units known as Operators.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Add, MatMul, LayerNorm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40370" y="821690"/>
            <a:ext cx="4083685" cy="58997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Library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752729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collection of highly optimized, reusable computational building blocks (Operators) for neural networks.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Roles: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Bridge - Connects high-level AI frameworks with low-level bare-metal 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Extractor - Maximizes hardware utilization via expert-level kernel tuning.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 Abstraction - Shields algorithm developers from complex low-level programming.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8488259" y="641247"/>
            <a:ext cx="3380509" cy="5575506"/>
          </a:xfrm>
          <a:prstGeom prst="roundRect">
            <a:avLst>
              <a:gd name="adj" fmla="val 16666"/>
            </a:avLst>
          </a:prstGeom>
          <a:solidFill>
            <a:srgbClr val="9DC3E6">
              <a:alpha val="100000"/>
            </a:srgbClr>
          </a:solidFill>
          <a:ln w="12700" cap="flat">
            <a:solidFill>
              <a:srgbClr val="9DC3E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8865920" y="873703"/>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Deep Learning Framework</a:t>
            </a:r>
            <a:endParaRPr lang="en-US" sz="1100"/>
          </a:p>
        </p:txBody>
      </p:sp>
      <p:sp>
        <p:nvSpPr>
          <p:cNvPr id="8" name="AutoShape 8"/>
          <p:cNvSpPr/>
          <p:nvPr/>
        </p:nvSpPr>
        <p:spPr>
          <a:xfrm>
            <a:off x="8865920" y="2229874"/>
            <a:ext cx="2586222" cy="1042082"/>
          </a:xfrm>
          <a:prstGeom prst="roundRect">
            <a:avLst>
              <a:gd name="adj" fmla="val 16666"/>
            </a:avLst>
          </a:prstGeom>
          <a:solidFill>
            <a:srgbClr val="ED7D31">
              <a:alpha val="100000"/>
            </a:srgbClr>
          </a:solidFill>
          <a:ln w="12700" cap="flat">
            <a:solidFill>
              <a:srgbClr val="64310F">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Operator Library</a:t>
            </a:r>
            <a:endParaRPr lang="en-US" sz="1100"/>
          </a:p>
        </p:txBody>
      </p:sp>
      <p:sp>
        <p:nvSpPr>
          <p:cNvPr id="9" name="AutoShape 9"/>
          <p:cNvSpPr/>
          <p:nvPr/>
        </p:nvSpPr>
        <p:spPr>
          <a:xfrm>
            <a:off x="8873620" y="3586045"/>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Compiler</a:t>
            </a:r>
            <a:endParaRPr lang="en-US" sz="1100"/>
          </a:p>
        </p:txBody>
      </p:sp>
      <p:sp>
        <p:nvSpPr>
          <p:cNvPr id="10" name="AutoShape 10"/>
          <p:cNvSpPr/>
          <p:nvPr/>
        </p:nvSpPr>
        <p:spPr>
          <a:xfrm>
            <a:off x="9930432" y="1915785"/>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9922732" y="3271956"/>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8885403" y="4942216"/>
            <a:ext cx="2586222" cy="1042082"/>
          </a:xfrm>
          <a:prstGeom prst="roundRect">
            <a:avLst>
              <a:gd name="adj" fmla="val 16666"/>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Hardware</a:t>
            </a:r>
            <a:endParaRPr lang="en-US" sz="1100"/>
          </a:p>
        </p:txBody>
      </p:sp>
      <p:sp>
        <p:nvSpPr>
          <p:cNvPr id="13" name="AutoShape 13"/>
          <p:cNvSpPr/>
          <p:nvPr/>
        </p:nvSpPr>
        <p:spPr>
          <a:xfrm>
            <a:off x="9922732" y="4628127"/>
            <a:ext cx="472598" cy="314089"/>
          </a:xfrm>
          <a:prstGeom prst="downArrow">
            <a:avLst>
              <a:gd name="adj1" fmla="val 50000"/>
              <a:gd name="adj2" fmla="val 50000"/>
            </a:avLst>
          </a:prstGeom>
          <a:solidFill>
            <a:srgbClr val="BDD7EE">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Design Principles - Usability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Seamless Integration with High-Level Frameworks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Register the operator library directly into the framework's internal dispatch mechanism to allow existing models to benefit from acceleration with zero code modifications. </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Hardware Discovery</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Implement runtime detection of the execution environment to automatically load the optimal backend without requiring manual user configuration.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Uniform Interface for Diverse Backends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Define a standardized abstraction layer so that the same high-level API remains consistent across a wide variety of hardware architectures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Multi-Level Abstraction Architecture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Offer a tiered abstraction system to meet diverse needs: high-level for rapid prototyping, mid-level for tuning parallelism and tiling, and low-level for expert optimization of hardware specifics like registers and warps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Design Principles - Performance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Persistent Caching and Pre-Tuning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Store optimized computational configurations and pre-warm kernels to eliminate initialization delays and ensure peak performance from the very first execution.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Hardware-Aware Configuration Mapping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Utilize a configuration system that abstracts hardware-specific constraints, such as memory hierarchy and compute unit limits, into the code generation process.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Adaptive Tiling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Decomposes operators into optimal compute tiles based on input dimensions, minimizing padding overhead and maximizing memory bandwidth utilization across variable sequence lengths.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Trade-off</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Dynamic Shape vs. Hardware Alignment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Arbitrary input sizes often limit hardware-aligned peak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Solution: Adaptive Tiling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Intuitive Layout vs. Optimal Memory Access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Standard data formats often conflict with hardware-optimized memory patterns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Solution: Layout Transformation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Black-box API vs. Fine-grained 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Simplified interfaces hide the tuning knobs needed for expert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Solution: Heuristic Mapping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dispatch mechanism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 required to manage these automated solutions and bridge the gap between user intent and hardware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Dispatcher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dispatcher is a component that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routes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an operation to the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appropriate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implementation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or backend based on runtime criteria such as device type, data properties, or configuration policies.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096000" y="2252364"/>
            <a:ext cx="5958814" cy="446911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Simplified Dispatch Workflow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1. Metadata Collection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Extract metadata such as device, data type, and layout from input tensors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 Key Computation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Combine multiple attributes to generate a unique Dispatch Key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3. Table Lookup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Search the global Dispatch Table for the corresponding kernel function pointer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4.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Invoke the specific backend implementation to perform the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0992634" y="1454783"/>
            <a:ext cx="440278" cy="3948671"/>
          </a:xfrm>
          <a:prstGeom prst="downArrow">
            <a:avLst>
              <a:gd name="adj1" fmla="val 50000"/>
              <a:gd name="adj2" fmla="val 50000"/>
            </a:avLst>
          </a:prstGeom>
          <a:solidFill>
            <a:srgbClr val="8FAADC">
              <a:alpha val="100000"/>
            </a:srgbClr>
          </a:solidFill>
          <a:ln w="12700" cap="flat">
            <a:solidFill>
              <a:srgbClr val="2E75B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Dispatching Mechanisms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https://blog.ezyang.com/2020/09/lets-talk-about-the-pytorch-dispatcher/</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Sequential Re-dispatching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 single operator call can trigger a chain of handlers by masking processed keys and re-invoking the dispatcher to find the next implementation.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Heuristic Implementation Selection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Profile workload metrics (e.g., shapes) and hardware attributes (e.g., SM counts) to adaptively select optimal algorithm paths and execution parameters.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Dynamic Kernel Instantiation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Specialized kernels can be generated and cached on-the-fly to handle various task dimensions or broadcasting patterns without manual coding.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Use DSL to Implement Operator Libraries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https://zhuanlan.zhihu.com/p/1977691609266161545</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6194425" y="1490345"/>
            <a:ext cx="5955665" cy="4507865"/>
          </a:xfrm>
          <a:prstGeom prst="rect">
            <a:avLst/>
          </a:prstGeom>
        </p:spPr>
      </p:pic>
      <p:sp>
        <p:nvSpPr>
          <p:cNvPr id="6" name="AutoShape 6"/>
          <p:cNvSpPr/>
          <p:nvPr/>
        </p:nvSpPr>
        <p:spPr>
          <a:xfrm>
            <a:off x="523875" y="1323974"/>
            <a:ext cx="5572126" cy="5397501"/>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Developers describe “what to do,” while the compiler determines “how to do it.”</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 total separation between operator logic and physical implementation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Objective: Make operator development simpler and more efficient while ensuring cross-platform portability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Examples: Triton, TileLang, Gluon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DSL for Operator Library - Triton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https://triton-lang.org/main/getting-started/tutorials/01-vector-add.html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6" name="AutoShape 6"/>
          <p:cNvSpPr/>
          <p:nvPr/>
        </p:nvSpPr>
        <p:spPr>
          <a:xfrm>
            <a:off x="523875" y="1323974"/>
            <a:ext cx="5572126" cy="5397501"/>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Python-Based Tile Programming</a:t>
            </a:r>
            <a:endParaRPr lang="en-US" sz="1100"/>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Compiler-Driven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Hardware-Agnostic Abstraction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437747" y="3146254"/>
            <a:ext cx="2653920" cy="3018677"/>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5717540" y="1767205"/>
            <a:ext cx="6474460" cy="41141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FlagGems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Transparent ATen dispatcher injection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CUDA-to-Triton kernel replacement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Zero user code modification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308215" y="837565"/>
            <a:ext cx="4434840" cy="551878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Injection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"IMPL" mode override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Existing ATen operator interception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Specific dispatch key routing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95518" y="3376158"/>
            <a:ext cx="8534400" cy="27051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Global and Contextual Replacement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FlagGems maintains an operator registry.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enable(): Traverses the registry and registers operators.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use_gems(): Context manager for fine-grained operator replacement control.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95518" y="3300403"/>
            <a:ext cx="8534400" cy="28765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LibEntry: Kernel Cache Manager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Native Triton runtime bypass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Independent kernel cache management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Lightweight cache key computation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Near-zero subsequent Python overhead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516370" y="1478915"/>
            <a:ext cx="5755640" cy="30575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Multi-Hardware Dispatch Strategy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Dynamic runtime environment detection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Hardware-specific dispatch key routing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Unified Triton codebase execution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828800" y="3427601"/>
            <a:ext cx="8534400" cy="25527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Takeaways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API Transparency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Native framework APIs remain completely unchanged while transparently routing to optimized kernels.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 Decoupling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Utilizing dynamic dispatch keys provides a unified, scalable path for supporting diverse backend chips.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Overhead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Custom cache managers like LibEntry bypass native runtimes to nearly eliminate Python dispatch delays.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Generation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Dynamic decorators present a streamlined approach for automatically generating and tuning fused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References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github.com/flagos-ai/FlagGems"/>
              </a:rPr>
              <a:t>flagos-ai/FlagGems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triton-lang.org/main/index.html"/>
              </a:rPr>
              <a:t>Triton documentation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ocs.nvidia.com/deeplearning/cudnn/latest/"/>
              </a:rPr>
              <a:t>NVIDIA cuDNN Documentation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4" tooltip="https://blog.ezyang.com/2020/09/lets-talk-about-the-pytorch-dispatcher/"/>
              </a:rPr>
              <a:t>Let's talk about the PyTorch dispatcher : ezyang's blog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4" tooltip="https://blog.ezyang.com/2020/09/lets-talk-about-the-pytorch-dispatcher/"/>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18</a:t>
            </a:r>
            <a:r>
              <a:rPr lang="en-US" sz="4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Module II Final Project</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(RMSNorm + Residual  Fused Operator)</a:t>
            </a:r>
            <a:endPar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Project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Project Background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RMSNorm</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Root Mean Square Normalization) and Residual Connection (Residual Connection) are core components of modern large language models (e.g., the  LLaMA  series). Fusing both into a single  Kernel  can significantly reduce  HBM  accesses, a classic operator fusion scenario. Students must implement a high-performance fused operator, with performance target of reaching  FlagGems  of the  90%  benchmark implementation or above.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Project Objectives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Using  Triton  to implement  Add + RMSNorm Fused  Kernel, supporting  float32  and  bfloat16</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Support arbitrary  [M, N]  input (N  is the normalization dimension, typical values:  4096/8192</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Correctness: maximum absolute error vs.  PyTorch  step-by-step computation  &lt; 2e-5</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float32</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on target shape  [4096, 4096]  achieve  FlagGems  of the reference implementation throughput 90%</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(Advanced) Support backward pass  Kernel (gradient computation)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Implementation Requirements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Forward Operator Specification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Optimization Points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Single  Kernel  completes addition and normalization with only one HBM read/write HBM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Use  Triton 's  tl.rsqrt  to compute  RMS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Handle  N  misalignment with  Mask  loading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bfloat16, accumulate internally in  float32  before conversion (precision guarantee)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Analysis Report (Must Include)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's  Roofline  Analysis Chart: showing the operator's  Arithmetic Intensity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Throughput comparison across different  BLOCK_SIZE</a:t>
            </a:r>
            <a:r>
              <a:rPr lang="en-US" sz="1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64/128/256</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overhead comparison with non-fused (step-by-step) implementation Kernel Launch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4637405" y="1323975"/>
          <a:ext cx="7398385" cy="1097280"/>
        </p:xfrm>
        <a:graphic>
          <a:graphicData uri="http://schemas.openxmlformats.org/drawingml/2006/table">
            <a:tbl>
              <a:tblPr>
                <a:effectLst/>
              </a:tblPr>
              <a:tblGrid>
                <a:gridCol w="7398385"/>
              </a:tblGrid>
              <a:tr h="365760">
                <a:tc>
                  <a:txBody>
                    <a:bodyPr rtlCol="0"/>
                    <a:lstStyle/>
                    <a:p>
                      <a:pPr indent="0" algn="just">
                        <a:lnSpc>
                          <a:spcPct val="100000"/>
                        </a:lnSpc>
                        <a:defRPr/>
                      </a:pPr>
                      <a:r>
                        <a:rPr lang="en-US" sz="14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def fused_add_rms_norm(x, residual, weight, eps=1e-6):</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365760">
                <a:tc>
                  <a:txBody>
                    <a:bodyPr rtlCol="0"/>
                    <a:lstStyle/>
                    <a:p>
                      <a:pPr indent="0" algn="just">
                        <a:lnSpc>
                          <a:spcPct val="100000"/>
                        </a:lnSpc>
                        <a:defRPr/>
                      </a:pPr>
                      <a:r>
                        <a:rPr lang="en-US" sz="14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 x, residual: [M, N]  weight: [N]</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r h="365760">
                <a:tc>
                  <a:txBody>
                    <a:bodyPr rtlCol="0"/>
                    <a:lstStyle/>
                    <a:p>
                      <a:pPr indent="0" algn="just">
                        <a:lnSpc>
                          <a:spcPct val="100000"/>
                        </a:lnSpc>
                        <a:defRPr/>
                      </a:pPr>
                      <a:r>
                        <a:rPr lang="en-US" sz="1400" b="0" i="0" u="none" strike="noStrike">
                          <a:solidFill>
                            <a:srgbClr val="1A5276"/>
                          </a:solidFill>
                          <a:latin typeface="Courier New" panose="02070309020205020404"/>
                          <a:ea typeface="Courier New" panose="02070309020205020404"/>
                          <a:cs typeface="Courier New" panose="02070309020205020404"/>
                          <a:sym typeface="Courier New" panose="02070309020205020404"/>
                        </a:rPr>
                        <a:t>    # Returns (normed_output, updated_residual)</a:t>
                      </a:r>
                      <a:endParaRPr lang="en-US" sz="1100"/>
                    </a:p>
                  </a:txBody>
                  <a:tcPr marL="114300" marR="114300" marT="76200" marB="762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Submission Requirements and 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Submission Checklist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fused_rms_norm.py: complete  Kernel  code with correctness tests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benchmark.py: reproducible performance benchmark script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report.pdf: no more than  6  pages, including design decisions, NSC  analysis results, and performance comparison charts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(Advanced) grad_kernel.py: backward pass implementation and gradient verification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Grading Criteria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704340" y="3997325"/>
          <a:ext cx="9023985" cy="2179955"/>
        </p:xfrm>
        <a:graphic>
          <a:graphicData uri="http://schemas.openxmlformats.org/drawingml/2006/table">
            <a:tbl>
              <a:tblPr>
                <a:effectLst/>
              </a:tblPr>
              <a:tblGrid>
                <a:gridCol w="2892425"/>
                <a:gridCol w="1735455"/>
                <a:gridCol w="4396105"/>
              </a:tblGrid>
              <a:tr h="381000">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Assessment Dimension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Score</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 Grading Criteria</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6004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Code Correctness (float32/bf16）</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Both data types pass precision verification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59410">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Performance (Throughput)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30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≥90%  benchmark for full score; 75%-90%  scores 20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6004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Optimization Analysis Report</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25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Roofline  chart, Block Size  analysis, fusion gain quantification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59410">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Code Engineering Quality</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10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Complete comments, clear interfaces, no hard-coding</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60045">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Advanced: Backward Pass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5  pts</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Correct gradients with numerical verification</a:t>
                      </a:r>
                      <a:endParaRPr lang="en-US" sz="1100"/>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49044</Words>
  <Application>WPS 演示</Application>
  <PresentationFormat/>
  <Paragraphs>1560</Paragraphs>
  <Slides>166</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166</vt:i4>
      </vt:variant>
    </vt:vector>
  </HeadingPairs>
  <TitlesOfParts>
    <vt:vector size="191"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Chinese Quote</vt:lpstr>
      <vt:lpstr>等线</vt:lpstr>
      <vt:lpstr>Helvetica Neue</vt:lpstr>
      <vt:lpstr>Arial Unicode MS</vt:lpstr>
      <vt:lpstr>BatangChe</vt:lpstr>
      <vt:lpstr>Helvetica</vt:lpstr>
      <vt:lpstr>Bahnschrift</vt:lpstr>
      <vt:lpstr>Ebrima</vt:lpstr>
      <vt:lpstr>DejaVu Math TeX Gyre</vt:lpstr>
      <vt:lpstr>Courier New</vt:lpstr>
      <vt:lpstr>Menlo</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11</cp:revision>
  <dcterms:created xsi:type="dcterms:W3CDTF">2026-04-17T05:07:00Z</dcterms:created>
  <dcterms:modified xsi:type="dcterms:W3CDTF">2026-04-24T01:55:53Z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C79E56846FEAA2CF55BFE1693E6D39DC_42</vt:lpwstr>
  </property>
  <property fmtid="{D5CDD505-2E9C-101B-9397-08002B2CF9AE}" pid="3" name="KSOProductBuildVer">
    <vt:lpwstr>2052-12.1.0.19302</vt:lpwstr>
  </property>
</Properties>
</file>