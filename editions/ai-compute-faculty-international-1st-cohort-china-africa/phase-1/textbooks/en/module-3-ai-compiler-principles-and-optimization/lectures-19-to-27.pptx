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6"/>
  </p:notesMasterIdLst>
  <p:handoutMasterIdLst>
    <p:handoutMasterId r:id="rId159"/>
  </p:handoutMasterIdLst>
  <p:sldIdLst>
    <p:sldId id="256" r:id="rId4"/>
    <p:sldId id="451" r:id="rId5"/>
    <p:sldId id="452" r:id="rId7"/>
    <p:sldId id="453" r:id="rId8"/>
    <p:sldId id="454" r:id="rId9"/>
    <p:sldId id="455" r:id="rId10"/>
    <p:sldId id="456" r:id="rId11"/>
    <p:sldId id="457" r:id="rId12"/>
    <p:sldId id="458" r:id="rId13"/>
    <p:sldId id="459" r:id="rId14"/>
    <p:sldId id="460" r:id="rId15"/>
    <p:sldId id="461" r:id="rId16"/>
    <p:sldId id="462" r:id="rId17"/>
    <p:sldId id="463" r:id="rId18"/>
    <p:sldId id="464" r:id="rId19"/>
    <p:sldId id="465" r:id="rId20"/>
    <p:sldId id="466" r:id="rId21"/>
    <p:sldId id="467" r:id="rId22"/>
    <p:sldId id="468" r:id="rId23"/>
    <p:sldId id="469" r:id="rId24"/>
    <p:sldId id="470" r:id="rId25"/>
    <p:sldId id="471" r:id="rId26"/>
    <p:sldId id="472" r:id="rId27"/>
    <p:sldId id="473" r:id="rId28"/>
    <p:sldId id="474" r:id="rId29"/>
    <p:sldId id="475" r:id="rId30"/>
    <p:sldId id="476" r:id="rId31"/>
    <p:sldId id="477" r:id="rId32"/>
    <p:sldId id="478" r:id="rId33"/>
    <p:sldId id="479" r:id="rId34"/>
    <p:sldId id="480" r:id="rId35"/>
    <p:sldId id="481" r:id="rId36"/>
    <p:sldId id="482" r:id="rId37"/>
    <p:sldId id="483" r:id="rId38"/>
    <p:sldId id="484" r:id="rId39"/>
    <p:sldId id="485" r:id="rId40"/>
    <p:sldId id="486" r:id="rId41"/>
    <p:sldId id="487" r:id="rId42"/>
    <p:sldId id="488" r:id="rId43"/>
    <p:sldId id="489" r:id="rId44"/>
    <p:sldId id="490" r:id="rId45"/>
    <p:sldId id="491" r:id="rId46"/>
    <p:sldId id="492" r:id="rId47"/>
    <p:sldId id="493" r:id="rId48"/>
    <p:sldId id="494" r:id="rId49"/>
    <p:sldId id="495" r:id="rId50"/>
    <p:sldId id="496" r:id="rId51"/>
    <p:sldId id="497" r:id="rId52"/>
    <p:sldId id="498" r:id="rId53"/>
    <p:sldId id="499" r:id="rId54"/>
    <p:sldId id="500" r:id="rId55"/>
    <p:sldId id="501" r:id="rId56"/>
    <p:sldId id="502" r:id="rId57"/>
    <p:sldId id="503" r:id="rId58"/>
    <p:sldId id="504" r:id="rId59"/>
    <p:sldId id="505" r:id="rId60"/>
    <p:sldId id="506" r:id="rId61"/>
    <p:sldId id="507" r:id="rId62"/>
    <p:sldId id="508" r:id="rId63"/>
    <p:sldId id="509" r:id="rId64"/>
    <p:sldId id="510" r:id="rId65"/>
    <p:sldId id="511" r:id="rId66"/>
    <p:sldId id="512" r:id="rId67"/>
    <p:sldId id="513" r:id="rId68"/>
    <p:sldId id="514" r:id="rId69"/>
    <p:sldId id="515" r:id="rId70"/>
    <p:sldId id="516" r:id="rId71"/>
    <p:sldId id="517" r:id="rId72"/>
    <p:sldId id="518" r:id="rId73"/>
    <p:sldId id="519" r:id="rId74"/>
    <p:sldId id="520" r:id="rId75"/>
    <p:sldId id="521" r:id="rId76"/>
    <p:sldId id="522" r:id="rId77"/>
    <p:sldId id="523" r:id="rId78"/>
    <p:sldId id="524" r:id="rId79"/>
    <p:sldId id="525" r:id="rId80"/>
    <p:sldId id="526" r:id="rId81"/>
    <p:sldId id="527" r:id="rId82"/>
    <p:sldId id="528" r:id="rId83"/>
    <p:sldId id="529" r:id="rId84"/>
    <p:sldId id="530" r:id="rId85"/>
    <p:sldId id="531" r:id="rId86"/>
    <p:sldId id="532" r:id="rId87"/>
    <p:sldId id="533" r:id="rId88"/>
    <p:sldId id="534" r:id="rId89"/>
    <p:sldId id="535" r:id="rId90"/>
    <p:sldId id="536" r:id="rId91"/>
    <p:sldId id="537" r:id="rId92"/>
    <p:sldId id="539" r:id="rId93"/>
    <p:sldId id="540" r:id="rId94"/>
    <p:sldId id="541" r:id="rId95"/>
    <p:sldId id="542" r:id="rId96"/>
    <p:sldId id="543" r:id="rId97"/>
    <p:sldId id="544" r:id="rId98"/>
    <p:sldId id="545" r:id="rId99"/>
    <p:sldId id="546" r:id="rId100"/>
    <p:sldId id="547" r:id="rId101"/>
    <p:sldId id="548" r:id="rId102"/>
    <p:sldId id="549" r:id="rId103"/>
    <p:sldId id="550" r:id="rId104"/>
    <p:sldId id="551" r:id="rId105"/>
    <p:sldId id="552" r:id="rId106"/>
    <p:sldId id="553" r:id="rId107"/>
    <p:sldId id="554" r:id="rId108"/>
    <p:sldId id="555" r:id="rId109"/>
    <p:sldId id="556" r:id="rId110"/>
    <p:sldId id="560" r:id="rId111"/>
    <p:sldId id="561" r:id="rId112"/>
    <p:sldId id="562" r:id="rId113"/>
    <p:sldId id="563" r:id="rId114"/>
    <p:sldId id="564" r:id="rId115"/>
    <p:sldId id="565" r:id="rId116"/>
    <p:sldId id="566" r:id="rId117"/>
    <p:sldId id="567" r:id="rId118"/>
    <p:sldId id="568" r:id="rId119"/>
    <p:sldId id="569" r:id="rId120"/>
    <p:sldId id="570" r:id="rId121"/>
    <p:sldId id="571" r:id="rId122"/>
    <p:sldId id="572" r:id="rId123"/>
    <p:sldId id="573" r:id="rId124"/>
    <p:sldId id="574" r:id="rId125"/>
    <p:sldId id="575" r:id="rId126"/>
    <p:sldId id="576" r:id="rId127"/>
    <p:sldId id="577" r:id="rId128"/>
    <p:sldId id="578" r:id="rId129"/>
    <p:sldId id="579" r:id="rId130"/>
    <p:sldId id="580" r:id="rId131"/>
    <p:sldId id="581" r:id="rId132"/>
    <p:sldId id="582" r:id="rId133"/>
    <p:sldId id="583" r:id="rId134"/>
    <p:sldId id="584" r:id="rId135"/>
    <p:sldId id="585" r:id="rId136"/>
    <p:sldId id="586" r:id="rId137"/>
    <p:sldId id="587" r:id="rId138"/>
    <p:sldId id="588" r:id="rId139"/>
    <p:sldId id="589" r:id="rId140"/>
    <p:sldId id="590" r:id="rId141"/>
    <p:sldId id="591" r:id="rId142"/>
    <p:sldId id="592" r:id="rId143"/>
    <p:sldId id="593" r:id="rId144"/>
    <p:sldId id="594" r:id="rId145"/>
    <p:sldId id="595" r:id="rId146"/>
    <p:sldId id="596" r:id="rId147"/>
    <p:sldId id="597" r:id="rId148"/>
    <p:sldId id="598" r:id="rId149"/>
    <p:sldId id="599" r:id="rId150"/>
    <p:sldId id="600" r:id="rId151"/>
    <p:sldId id="601" r:id="rId152"/>
    <p:sldId id="602" r:id="rId153"/>
    <p:sldId id="603" r:id="rId154"/>
    <p:sldId id="604" r:id="rId155"/>
    <p:sldId id="322" r:id="rId156"/>
    <p:sldId id="323" r:id="rId157"/>
    <p:sldId id="324" r:id="rId15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notesMaster" Target="notesMasters/notesMaster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handoutMaster" Target="handoutMasters/handoutMaster1.xml"/><Relationship Id="rId160" Type="http://schemas.openxmlformats.org/officeDocument/2006/relationships/presProps" Target="presProps.xml"/><Relationship Id="rId161" Type="http://schemas.openxmlformats.org/officeDocument/2006/relationships/viewProps" Target="viewProps.xml"/><Relationship Id="rId16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为什么需要AI编译器？</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内存墙</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(Memory Wall)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危机：近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20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年来，硬件算力（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FLOPS</a:t>
            </a:r>
            <a:r>
              <a:rPr lang="en-US" sz="1200" b="0" i="0" u="none" strike="noStrike">
                <a:solidFill>
                  <a:srgbClr val="000000"/>
                </a:solidFill>
              </a:rPr>
              <a:t>）的增长速度远超内存带宽的增长，导致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模型（特别是大模型推理）在执行时受限于内存读写而非计算能力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算子爆炸问题：深度学习框架中的算子数量呈指数级增长（</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PyTorch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算子已达数千个），依靠硬件厂商（如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NVIDIA cuDNN</a:t>
            </a:r>
            <a:r>
              <a:rPr lang="en-US" sz="1200" b="0" i="0" u="none" strike="noStrike">
                <a:solidFill>
                  <a:srgbClr val="000000"/>
                </a:solidFill>
              </a:rPr>
              <a:t>）手工编写和优化每一个算子变得不再现实</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传统框架的困境：动态图（</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Eager Mode</a:t>
            </a:r>
            <a:r>
              <a:rPr lang="en-US" sz="1200" b="0" i="0" u="none" strike="noStrike">
                <a:solidFill>
                  <a:srgbClr val="000000"/>
                </a:solidFill>
              </a:rPr>
              <a:t>）易于调试但存在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Python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解释器开销大、难以进行全局图优化等性能瓶颈；静态图（</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Graph Mode</a:t>
            </a:r>
            <a:r>
              <a:rPr lang="en-US" sz="1200" b="0" i="0" u="none" strike="noStrike">
                <a:solidFill>
                  <a:srgbClr val="000000"/>
                </a:solidFill>
              </a:rPr>
              <a:t>）性能高但缺乏灵活性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图片 5" descr="logo-africa"/>
          <p:cNvPicPr>
            <a:picLocks noChangeAspect="1"/>
          </p:cNvPicPr>
          <p:nvPr userDrawn="1"/>
        </p:nvPicPr>
        <p:blipFill>
          <a:blip r:embed="rId15"/>
          <a:stretch>
            <a:fillRect/>
          </a:stretch>
        </p:blipFill>
        <p:spPr>
          <a:xfrm>
            <a:off x="8076565" y="222885"/>
            <a:ext cx="897890" cy="3740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1" Type="http://schemas.openxmlformats.org/officeDocument/2006/relationships/image" Target="../media/image78.png"/><Relationship Id="rId2"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image" Target="../media/image82.png"/><Relationship Id="rId2" Type="http://schemas.openxmlformats.org/officeDocument/2006/relationships/slideLayout" Target="../slideLayouts/slideLayout13.xml"/><Relationship Id="rId3" Type="http://schemas.openxmlformats.org/officeDocument/2006/relationships/notesSlide" Target="../notesSlides/notesSlide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image" Target="../media/image83.png"/><Relationship Id="rId2" Type="http://schemas.openxmlformats.org/officeDocument/2006/relationships/image" Target="../media/image84.png"/><Relationship Id="rId3"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image" Target="../media/image85.png"/><Relationship Id="rId2"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87.png"/><Relationship Id="rId3"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image" Target="../media/image88.jpeg"/><Relationship Id="rId2"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image" Target="../media/image90.png"/><Relationship Id="rId2"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image" Target="../media/image93.png"/><Relationship Id="rId2"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image" Target="../media/image95.png"/><Relationship Id="rId2"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image" Target="../media/image96.png"/><Relationship Id="rId2"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image" Target="../media/image97.png"/><Relationship Id="rId2"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image" Target="../media/image98.png"/><Relationship Id="rId2" Type="http://schemas.openxmlformats.org/officeDocument/2006/relationships/image" Target="../media/image99.png"/><Relationship Id="rId3"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image" Target="../media/image100.png"/><Relationship Id="rId2"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hyperlink" Target="https://github.com/flagos-ai" TargetMode="External"/><Relationship Id="rId8" Type="http://schemas.openxmlformats.org/officeDocument/2006/relationships/hyperlink" Target="https://space.bilibili.com/3546791834290849" TargetMode="External"/><Relationship Id="rId9" Type="http://schemas.openxmlformats.org/officeDocument/2006/relationships/hyperlink" Target="https://www.zhihu.com/people/95-22-20-18/posts" TargetMode="External"/><Relationship Id="rId10" Type="http://schemas.openxmlformats.org/officeDocument/2006/relationships/hyperlink" Target="https://flagos.io/Home" TargetMode="External"/><Relationship Id="rId11" Type="http://schemas.openxmlformats.org/officeDocument/2006/relationships/image" Target="../media/image109.jpeg"/><Relationship Id="rId12" Type="http://schemas.openxmlformats.org/officeDocument/2006/relationships/image" Target="../media/image110.png"/><Relationship Id="rId13" Type="http://schemas.openxmlformats.org/officeDocument/2006/relationships/slideLayout" Target="../slideLayouts/slideLayout17.xml"/></Relationships>
</file>

<file path=ppt/slides/_rels/slide154.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315595"/>
            <a:ext cx="927735" cy="3867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19: Overview of AI Compilers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Wall Crisis and Idle Compute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Gholami, A., Yao, Z., Kim, S., Hooper, C., Mahoney, M. W., &amp; Keutzer, K. (2024). Ai and memory wall. IEEE Micro, 44(3), 33-39.</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867400" cy="4853305"/>
          </a:xfrm>
          <a:prstGeom prst="rect">
            <a:avLst/>
          </a:prstGeom>
        </p:spPr>
        <p:txBody>
          <a:bodyPr wrap="square" lIns="91440" tIns="45720" rIns="91440" bIns="45720" anchor="t">
            <a:no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Imbalanced Hardware Development: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Over the past 20  years, peak server compute has grown 3.0 x every two years, while DRAM  memory bandwidth has only grown 1.6 x.</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Large Language Model (LLM)  Performance Bottleneck: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autoregressive decoding operations, arithmetic intensity is extremely low, GPU massive tensor cores are left data-starved.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The Only Way Out: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Cannot rely solely on arithmetic instructions; compiler-level scheduling is needed to merge multiple memory accesses and reduce intermediate activation tensor reads/writes toHBM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562725" y="984250"/>
            <a:ext cx="5289550" cy="27876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664325" y="3601720"/>
            <a:ext cx="5196840" cy="27565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Explosion and Hand-written Kernel Crisis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https://docs.google.com/spreadsheets/d/e/2PACX-1vQQFW0T_bucT5KZn0BHYTC1KYhkL6ZMG5ZxQWc6UmAkHUDYpqkpzXnsb59uv2TB0Jgc1Q6qO63bx6WQ/pubhtml#gid=1944851651</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026785" cy="4853305"/>
          </a:xfrm>
          <a:prstGeom prst="rect">
            <a:avLst/>
          </a:prstGeom>
        </p:spPr>
        <p:txBody>
          <a:bodyPr wrap="square" lIns="91440" tIns="45720" rIns="91440" bIns="45720" anchor="t">
            <a:normAutofit lnSpcReduction="10000"/>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Operator Scale is Massive: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PyTorch  framework, the number of core operators has exceeded 1200, including all overloads and variants reaching 3500+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Enormous Implementation Matrix: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Over a thousand operators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multiple numeric types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fragmented target hardware (GPU, TPU, NPU</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Unsustainable Manual Optimization: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Relying on hardware vendor engineers to hand-write CUDA C++  kernels to cover all combinations is not practically feasible at engineering scale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02145" y="3614420"/>
            <a:ext cx="4799330" cy="2792730"/>
          </a:xfrm>
          <a:prstGeom prst="rect">
            <a:avLst/>
          </a:prstGeom>
          <a:ln w="12700">
            <a:noFill/>
            <a:prstDash val="solid"/>
          </a:ln>
        </p:spPr>
      </p:pic>
      <p:graphicFrame>
        <p:nvGraphicFramePr>
          <p:cNvPr id="7" name="Table 7"/>
          <p:cNvGraphicFramePr>
            <a:graphicFrameLocks noGrp="1"/>
          </p:cNvGraphicFramePr>
          <p:nvPr/>
        </p:nvGraphicFramePr>
        <p:xfrm>
          <a:off x="6747170" y="1208012"/>
          <a:ext cx="5309235" cy="2209800"/>
        </p:xfrm>
        <a:graphic>
          <a:graphicData uri="http://schemas.openxmlformats.org/drawingml/2006/table">
            <a:tbl>
              <a:tblPr>
                <a:effectLst/>
              </a:tblPr>
              <a:tblGrid>
                <a:gridCol w="3116580"/>
                <a:gridCol w="2192655"/>
              </a:tblGrid>
              <a:tr h="368300">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OperatorCategory</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NumberofBaseOperators</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8B0012">
                        <a:alpha val="100000"/>
                      </a:srgbClr>
                    </a:solidFill>
                  </a:tcPr>
                </a:tc>
              </a:tr>
              <a:tr h="368300">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TensorIterator(Pointwise&amp;Reduction)</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DADF">
                        <a:alpha val="100000"/>
                      </a:srgbClr>
                    </a:solidFill>
                  </a:tcPr>
                </a:tc>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505</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FFFF">
                        <a:alpha val="100000"/>
                      </a:srgbClr>
                    </a:solidFill>
                  </a:tcPr>
                </a:tc>
              </a:tr>
              <a:tr h="368300">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Fixed(Fixed-dimensionComputation)</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DADF">
                        <a:alpha val="100000"/>
                      </a:srgbClr>
                    </a:solidFill>
                  </a:tcPr>
                </a:tc>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273</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FFFF">
                        <a:alpha val="100000"/>
                      </a:srgbClr>
                    </a:solidFill>
                  </a:tcPr>
                </a:tc>
              </a:tr>
              <a:tr h="368300">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Convolution(ConvolutionVariants)</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DADF">
                        <a:alpha val="100000"/>
                      </a:srgbClr>
                    </a:solidFill>
                  </a:tcPr>
                </a:tc>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67</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FFFF">
                        <a:alpha val="100000"/>
                      </a:srgbClr>
                    </a:solidFill>
                  </a:tcPr>
                </a:tc>
              </a:tr>
              <a:tr h="368300">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Pooling/BatchNorm</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DADF">
                        <a:alpha val="100000"/>
                      </a:srgbClr>
                    </a:solidFill>
                  </a:tcPr>
                </a:tc>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57</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FFFF">
                        <a:alpha val="100000"/>
                      </a:srgbClr>
                    </a:solidFill>
                  </a:tcPr>
                </a:tc>
              </a:tr>
              <a:tr h="368300">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Private/Foreach</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DADF">
                        <a:alpha val="100000"/>
                      </a:srgbClr>
                    </a:solidFill>
                  </a:tcPr>
                </a:tc>
                <a:tc>
                  <a:txBody>
                    <a:bodyPr rtlCol="0"/>
                    <a:lstStyle/>
                    <a:p>
                      <a:pPr indent="0" algn="ctr">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233</a:t>
                      </a:r>
                      <a:endParaRPr lang="en-US" sz="1100"/>
                    </a:p>
                  </a:txBody>
                  <a:tcPr marL="152717" marR="152717" marT="101917" marB="101917"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Dilemma of Traditional Frameworks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https://docs.pytorch.org/assets/pytorch2-2.pdf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620635" cy="4853305"/>
          </a:xfrm>
          <a:prstGeom prst="rect">
            <a:avLst/>
          </a:prstGeom>
        </p:spPr>
        <p:txBody>
          <a:bodyPr wrap="square" lIns="91440" tIns="45720" rIns="91440" bIns="45720" anchor="t">
            <a:noAutofit/>
          </a:bodyPr>
          <a:lstStyle>
            <a:lvl1pPr algn="l">
              <a:lnSpc>
                <a:spcPct val="150000"/>
              </a:lnSpc>
              <a:defRPr sz="2200" b="0" i="0" u="none" strike="noStrike" spc="0">
                <a:solidFill>
                  <a:srgbClr val="404040">
                    <a:alpha val="100000"/>
                  </a:srgbClr>
                </a:solidFill>
                <a:latin typeface="Calibri" panose="020F0502020204030204"/>
              </a:defRPr>
            </a:lvl1pPr>
          </a:lstStyle>
          <a:p>
            <a:pPr marL="279400" indent="-279400" algn="l">
              <a:lnSpc>
                <a:spcPct val="150000"/>
              </a:lnSpc>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Eager Mode Performance Bottleneck: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Highly flexible and easy to debug, but each operator call must traverse the massive Python  interpreter overhead; the framework can only see a single operator, losing the ability for global graph optimization (e.g., operator fusion).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50000"/>
              </a:lnSpc>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Graph Mode Lacks Flexibility: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 eliminate interpreter overhead, users must sacrifice Python  native control flow, even requiring code rewrites.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50000"/>
              </a:lnSpc>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Recompilation Problem: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Early static tracing systems easily trigger repeated recompilation when facing dynamic shapes, negating the benefits of low-level optimizations.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386416" y="2187233"/>
            <a:ext cx="3630654" cy="2911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 Model Development Facing Crises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50000"/>
              </a:lnSpc>
              <a:defRPr sz="2200" b="0" i="0" u="none" strike="noStrike" spc="0">
                <a:solidFill>
                  <a:srgbClr val="404040">
                    <a:alpha val="100000"/>
                  </a:srgbClr>
                </a:solidFill>
                <a:latin typeface="Calibri" panose="020F0502020204030204"/>
              </a:defRPr>
            </a:lvl1pPr>
          </a:lstStyle>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Shift of the Core Contradiction in Computing: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As large model parameters scale beyond trillions, the bottleneck shifts from pure algorithm design to the gap between hardware physical limits and software framework abstractions.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Three Intertwined Underlying Crises: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Deep learning systems currently face "Memory Wal" problem, "Operator Explosion" problem, and the traditional execution mode dilemma between eager and graph modes problem.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AI The Rise of Compilers: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AI Compiler technology has evolved from early graph optimization auxiliary tools into the core infrastructure that dominates computation graph capture, hardware scheduling, and machine code generation.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TensorFlow Introduction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参考自：《智能计算系统》</a:t>
            </a:r>
            <a:endPar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8006715" cy="4853305"/>
          </a:xfrm>
          <a:prstGeom prst="rect">
            <a:avLst/>
          </a:prstGeom>
        </p:spPr>
        <p:txBody>
          <a:bodyPr wrap="square" lIns="91440" tIns="45720" rIns="91440" bIns="45720" anchor="t">
            <a:noAutofit/>
          </a:bodyPr>
          <a:lstStyle>
            <a:lvl1pPr algn="l">
              <a:lnSpc>
                <a:spcPct val="117000"/>
              </a:lnSpc>
              <a:defRPr sz="2200" b="0" i="0" u="none" strike="noStrike" spc="0">
                <a:solidFill>
                  <a:srgbClr val="404040">
                    <a:alpha val="100000"/>
                  </a:srgbClr>
                </a:solidFill>
                <a:latin typeface="Calibri" panose="020F0502020204030204"/>
              </a:defRPr>
            </a:lvl1pPr>
          </a:lstStyle>
          <a:p>
            <a:pPr marL="279400" indent="-279400" algn="l">
              <a:lnSpc>
                <a:spcPct val="117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Multiple Language Bindings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17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C/C++  Interface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17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TensorFlowBackend</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Runtime, Framework, Computation Graph, Graph Optimization, Compute Kernels, Compute Nodes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17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Different underlying hardwareOpKernel have different implementations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CPU, GPU, Deep Learning Processor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b="6188"/>
          <a:stretch>
            <a:fillRect/>
          </a:stretch>
        </p:blipFill>
        <p:spPr>
          <a:xfrm>
            <a:off x="8552180" y="1049020"/>
            <a:ext cx="3249295" cy="490202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TensorFlow XLA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https://openxla.org/xla/architecture?hl=zh-cn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490335" cy="4853305"/>
          </a:xfrm>
          <a:prstGeom prst="rect">
            <a:avLst/>
          </a:prstGeom>
        </p:spPr>
        <p:txBody>
          <a:bodyPr wrap="square" lIns="91440" tIns="45720" rIns="91440" bIns="45720" anchor="t">
            <a:noAutofit/>
          </a:bodyPr>
          <a:lstStyle>
            <a:lvl1pPr algn="l">
              <a:lnSpc>
                <a:spcPct val="133000"/>
              </a:lnSpc>
              <a:defRPr sz="2200" b="0" i="0" u="none" strike="noStrike" spc="0">
                <a:solidFill>
                  <a:srgbClr val="404040">
                    <a:alpha val="100000"/>
                  </a:srgbClr>
                </a:solidFill>
                <a:latin typeface="Calibri" panose="020F0502020204030204"/>
              </a:defRPr>
            </a:lvl1pPr>
          </a:lstStyle>
          <a:p>
            <a:pPr marL="279400" indent="-279400" algn="l">
              <a:lnSpc>
                <a:spcPct val="13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Objective: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Targeting TPU/GPU  and other hardware platforms, performing extreme low-level hardware graph fusion on highly regular static computation graphs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3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UnifiedFrontend-Backend Ecosystem: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Aiming to provide PyTorch, JAX  and TensorFlow  with a unified high-performance backend featuring portability.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3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DesignGoals: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Breaking free from frontend framework syntax constraints, building high-level graph abstractions to achieve mathematical semantic fidelity and global optimization.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30131" y="3527425"/>
            <a:ext cx="4771344" cy="2550556"/>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030081" y="1377315"/>
            <a:ext cx="4772664" cy="190681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Multi-level IR Architecture and Graph Transformation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xfrm>
            <a:off x="523873" y="6413501"/>
            <a:ext cx="11277601" cy="365125"/>
          </a:xfrm>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https://hku-systems.github.io/events/iscas2021/1-2-Hongbin%20Zhang%20MLIR.pdf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279525"/>
            <a:ext cx="6591300" cy="4853305"/>
          </a:xfrm>
          <a:prstGeom prst="rect">
            <a:avLst/>
          </a:prstGeom>
        </p:spPr>
        <p:txBody>
          <a:bodyPr wrap="square" lIns="91440" tIns="45720" rIns="91440" bIns="45720" anchor="t">
            <a:noAutofit/>
          </a:bodyPr>
          <a:lstStyle>
            <a:lvl1pPr algn="l">
              <a:lnSpc>
                <a:spcPct val="108000"/>
              </a:lnSpc>
              <a:defRPr sz="2200" b="0" i="0" u="none" strike="noStrike" spc="0">
                <a:solidFill>
                  <a:srgbClr val="404040">
                    <a:alpha val="100000"/>
                  </a:srgbClr>
                </a:solidFill>
                <a:latin typeface="Calibri" panose="020F0502020204030204"/>
              </a:defRPr>
            </a:lvl1pPr>
          </a:lstStyle>
          <a:p>
            <a:pPr marL="279400" indent="-279400" algn="l">
              <a:lnSpc>
                <a:spcPct val="108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Hierarchical Lowering Mechanism: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StableHLO (Cross-framework Protocol Layer) --&gt; HLO (High-Level Optimizer Internal Representation) --&gt; LLVM IR --&gt;  low-level machine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Hardware-Independent High-Level Graph Optimization: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Performing algebraic simplification (Algebraic Simplifier, e.g., division to reciprocal multiplication), dead code elimination (CSE)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HloRematerialization: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Trading compute time for GPU memory space, proactively discarding inexpensive intermediate tensors and recomputing when needed, reducing peak GPU memory consumption for large models.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312578" y="2189526"/>
            <a:ext cx="4683705" cy="26715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Optimization Technique: 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https://openxla.org/xla/gpu_architecture?hl=zh-cn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478905" cy="4853305"/>
          </a:xfrm>
          <a:prstGeom prst="rect">
            <a:avLst/>
          </a:prstGeom>
        </p:spPr>
        <p:txBody>
          <a:bodyPr wrap="square" lIns="91440" tIns="45720" rIns="91440" bIns="45720" anchor="t">
            <a:normAutofit/>
          </a:bodyPr>
          <a:lstStyle>
            <a:lvl1pPr algn="l">
              <a:lnSpc>
                <a:spcPct val="150000"/>
              </a:lnSpc>
              <a:defRPr sz="2200" b="0" i="0" u="none" strike="noStrike" spc="0">
                <a:solidFill>
                  <a:srgbClr val="404040">
                    <a:alpha val="100000"/>
                  </a:srgbClr>
                </a:solidFill>
                <a:latin typeface="Calibri" panose="020F0502020204030204"/>
              </a:defRPr>
            </a:lvl1pPr>
          </a:lstStyle>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XLA  can merge multiple HLO  instructions and compile them into a single GPU Kernel,  reducing kernel launch overhead.</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inFusion Computation, intermediate temporary tensors typically do not need to be written back to off-chipHBM.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Data flows only within the GPU  extremely fast registers or shared memory, bypassing memory access limitations.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300595" y="1210310"/>
            <a:ext cx="4500880" cy="53949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XLA Optimization Pipeline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8000"/>
              </a:lnSpc>
              <a:defRPr sz="2200" b="0" i="0" u="none" strike="noStrike" spc="0">
                <a:solidFill>
                  <a:srgbClr val="404040">
                    <a:alpha val="100000"/>
                  </a:srgbClr>
                </a:solidFill>
                <a:latin typeface="Calibri" panose="020F0502020204030204"/>
              </a:defRPr>
            </a:lvl1pPr>
          </a:lstStyle>
          <a:p>
            <a:pPr marL="279400" indent="-279400" algn="l">
              <a:lnSpc>
                <a:spcPct val="108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HLO  Fusion Analysis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kLoop (Loop Fusion):  For element-wise operations with identical output shapes, chaining pure mathematical mappings per element and dispatching to parallel thread grids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kInput (Input Fusion):  Allows reduction operators that significantly reshape data (Reduction)  to pull upstream input operators for merging, mandating the reduction output as the computation endpoint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kOutput (Output Fusion):  Specifically for merging high compute-density matrix multiplication operations with subsequent operators, maximizing cache utilization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8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Hero Op  Emitter Mechanism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compiler identifies the instruction with the greatest global performance impact and strictest scheduling requirements as the Hero Op</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which dominates the code generation strategy for the entire fused body.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After emitter processing, it is converted to low-level LLVM IR, , and micro-architecture optimizations are performed based on specific hardware ISAs, including instruction pipeline scheduling and vectorization, ultimately generating executable PTX  assembly or SPIR-V  binary code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Using XLA to Accelerate TensorFlow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XLA: TensorFlow, Compiled!, TensorFlow Dev Summit 2017.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265430" y="1381125"/>
            <a:ext cx="6638290" cy="3310255"/>
          </a:xfrm>
          <a:prstGeom prst="rect">
            <a:avLst/>
          </a:prstGeom>
        </p:spPr>
      </p:pic>
      <p:pic>
        <p:nvPicPr>
          <p:cNvPr id="6" name="Picture 6"/>
          <p:cNvPicPr>
            <a:picLocks noChangeAspect="1"/>
          </p:cNvPicPr>
          <p:nvPr/>
        </p:nvPicPr>
        <p:blipFill>
          <a:blip r:embed="rId2"/>
          <a:srcRect/>
          <a:stretch>
            <a:fillRect/>
          </a:stretch>
        </p:blipFill>
        <p:spPr>
          <a:xfrm>
            <a:off x="7068185" y="1381125"/>
            <a:ext cx="5123815" cy="22910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Example of optimizations using Tensorflow XLA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1514236" y="1407198"/>
            <a:ext cx="9296878" cy="468654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Apache TVM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Chen, T., Moreau, T., Jiang, Z., Zheng, L., Yan, E., Shen, H., ... &amp; Krishnamurthy, A. (2018). {TVM}: An automated {End-to-End} optimizing compiler for deep learning. In 13th USENIX symposium on operating systems design and implementation (OSDI 18) (pp. 578-594).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579235" cy="4853305"/>
          </a:xfrm>
          <a:prstGeom prst="rect">
            <a:avLst/>
          </a:prstGeom>
        </p:spPr>
        <p:txBody>
          <a:bodyPr wrap="square" lIns="91440" tIns="45720" rIns="91440" bIns="45720" anchor="t">
            <a:noAutofit/>
          </a:bodyPr>
          <a:lstStyle>
            <a:lvl1pPr algn="l">
              <a:lnSpc>
                <a:spcPct val="117000"/>
              </a:lnSpc>
              <a:defRPr sz="2200" b="0" i="0" u="none" strike="noStrike" spc="0">
                <a:solidFill>
                  <a:srgbClr val="404040">
                    <a:alpha val="100000"/>
                  </a:srgbClr>
                </a:solidFill>
                <a:latin typeface="Calibri" panose="020F0502020204030204"/>
              </a:defRPr>
            </a:lvl1pPr>
          </a:lstStyle>
          <a:p>
            <a:pPr marL="279400" indent="-2794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Addressing Full-Spectrum Hardware Fragmentation: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XLA  which targets cloud-scale clusters, TVM  is committed to bridging the gap between CPU, ARM, GPU  and various heterogeneous edge NPU  architecture barriers.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Write once, run anywhere: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Providing a unified compiler frontend framework, achieving seamless cross-platform high-performance deployment through hardware-specialized code generation.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Scheduling NP -Hard Challenge: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Any tensor operation on specific hardware has nearly infinite loop unrolling and tiling strategy combinations, making it impossible to exhaustively find the optimal solution.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61860" y="1430020"/>
            <a:ext cx="4539615" cy="46437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TVM Multi-level IR  Architecture System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433185" cy="4853305"/>
          </a:xfrm>
          <a:prstGeom prst="rect">
            <a:avLst/>
          </a:prstGeom>
        </p:spPr>
        <p:txBody>
          <a:bodyPr wrap="square" lIns="91440" tIns="45720" rIns="91440" bIns="45720" anchor="t">
            <a:no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High-level  Relay IR: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Incorporating functional programming paradigms, managing coarse-grained dead code elimination, high-order operator fusion, and complex control flow graph optimization.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Low-level  TIR (Tensor IR):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Abandoning graph-layer concepts, translating operations into microscopic low-level nested loop structures, with fine-grained register and instruction mapping management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TVM Unity and Relax Architecture: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next-generation system introduces symbolic shapes and allows high-level graph derivation and low-level loop primitives to coexist in the same module, enabling cross-level joint optimization.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57367" y="1323975"/>
            <a:ext cx="5079058" cy="346288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TVM  Automated Scheduling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Zheng, Lianmin, et al. "Ansor: Generating {High-Performance} tensor programs for deep learning." 14th USENIX symposium on operating systems design and implementation (OSDI 20). 2020.</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83000"/>
              </a:lnSpc>
              <a:defRPr sz="2200" b="0" i="0" u="none" strike="noStrike" spc="0">
                <a:solidFill>
                  <a:srgbClr val="404040">
                    <a:alpha val="100000"/>
                  </a:srgbClr>
                </a:solidFill>
                <a:latin typeface="Calibri" panose="020F0502020204030204"/>
              </a:defRPr>
            </a:lvl1pPr>
          </a:lstStyle>
          <a:p>
            <a:pPr marL="279400" indent="-279400" algn="l">
              <a:lnSpc>
                <a:spcPct val="8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AutoTVM: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Highly dependent on top hardware experts hand-writing scheduling templates; when encountering undefined new operators, development cost is very high.</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8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Ansor (AutoScheduler) Architecture: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Abandoning manual templates, automatically generating operator loop architecture frameworks from fundamental mathematical expression derivation rules.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127416" y="3287171"/>
            <a:ext cx="8070535" cy="30692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Ansor Hierarchical Search Space Construction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Zheng, Lianmin, et al. "Ansor: Generating {High-Performance} tensor programs for deep learning." 14th USENIX symposium on operating systems design and implementation (OSDI 20). 2020.</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076950" cy="4853305"/>
          </a:xfrm>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Sketch Generation: Ansor Constructing the program's macro-level skeleton by reverse topological traversal of the computation graph, recursively applying derivation rules.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Annotation Sampling: Building on sketches, Ansor performing random sampling in the annotation space to determine specific tile sizes, parallelization boundaries, loop unrolling limits, and other low-level configurations.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Introducing a machine learning GBDT  cost model to rapidly predict and evaluate hardware throughput for scheduling strategies.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Employing evolutionary search algorithms: GBDT  filters the Top-K  Scheduling candidates and dispatches them to target hardware for actual benchmarking. Measured data is then used to fine-tune the GBDT  model, progressively adapting it to the target hardware.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802120" y="1385570"/>
            <a:ext cx="4895850" cy="42481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Examples of generated sketches and sampled programs</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Zheng, Lianmin, et al. "Ansor: Generating {High-Performance} tensor programs for deep learning." 14th USENIX symposium on operating systems design and implementation (OSDI 20). 2020.</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813103" y="1362075"/>
            <a:ext cx="6444643"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TorchDynamo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Ansel, Jason, et al. "Pytorch 2: Faster machine learning through dynamic python bytecode transformation and graph compilation." Proceedings of the 29th ACM international conference on architectural support for programming languages and operating systems, volume 2. 2024.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Eager  Mode Pros and Cons: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PyTorch   define-by-run  mechanism is highly flexible and well-loved by researchers . However, the framework can only see one operator at a time, making cross-operator graph-level optimization (e.g., operator fusion, memory scheduling) difficult.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Compromises of Previous Approaches: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TorchScript: Attempts static parsing of Python AST, facing“all-or-nothing” dilemma, easily failing because it doesn't support complete Python  semantics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Lazy Tensors: High runtime overhead, delaying low-level kernel launch and causing frequent recompilation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TorchDynamo  Core Motivation: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As a Python -level Just-In-Time compiler, the goal is to achieve Python graph compilation without sacrificing any PyTorch flexibility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87360" y="2263140"/>
            <a:ext cx="3735705" cy="29743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TorchDynamo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https://chips-compilers-mlsys-22.github.io/assets/slides/PyTorch%20Compilers%20(Compiler%20&amp;%20Chips%20Symposium%202022).pdf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1566459" y="1323975"/>
            <a:ext cx="9192432"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Frame Evaluation Bytecode Transformation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Ansel, Jason, et al. "Pytorch 2: Faster machine learning through dynamic python bytecode transformation and graph compilation." Proceedings of the 29th ACM international conference on architectural support for programming languages and operating systems, volume 2. 2024.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604635" cy="4853305"/>
          </a:xfrm>
          <a:prstGeom prst="rect">
            <a:avLst/>
          </a:prstGeom>
        </p:spPr>
        <p:txBody>
          <a:bodyPr wrap="square" lIns="91440" tIns="45720" rIns="91440" bIns="45720" anchor="t">
            <a:norm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PEP 523 Extension Point: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TorchDynamo  delves deep into CPython  internals, leveraging the PEP 523 -introduced frame evaluation API eval_frame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DynamicInterpretation and Rewriting: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CPython  to create PyFrameObject , TorchDynamo  replaces the default interpreter loop, instead performing JIT compilation on the Python  bytecode about to be executed JIT  compilation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FX Graph Extraction: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By rewriting bytecode,  PyTorch operation sequences are extracted as backend input (FX Graph).</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335520" y="1250950"/>
            <a:ext cx="4066540" cy="26371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335520" y="3608070"/>
            <a:ext cx="4126865" cy="25692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20: Intermediate Representation (IR) Fundamentals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Deep Learning Compilation Framework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LLVM, Chris Lattner, http://aosabook.org/en/llvm.html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44385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Frontend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Lexical and Syntactic Analysis, AST Construction, Semantic Checking, IR Transformation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Middle-End//Optimizer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Performing various IR -level optimizations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Backend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Selection, Register Allocation, Code Generation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093460" y="1950720"/>
            <a:ext cx="5708015" cy="34029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IR  Design Goals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042025"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Decoupling Hardware Constraints: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modern software development, there is a huge semantic gap between frontend languages and underlying hardware.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IR 's core role is to completely decouple high-level framework intent from low-level silicon instructions.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Resolving the Catastrophic M x N Problem: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Suppose there are M  deep learning frontend frameworks and N  different hardware accelerators.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Without a unified IR, the industry would need to develop M x N  independent compilers.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After introducing a standard IR , only M  frontend translators and N  backend code generators, reducing engineering complexity to M + 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19570" y="1833880"/>
            <a:ext cx="5219065" cy="35420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IR Design Goals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Preserving High-Level Semantics, Rejecting Premature Lowering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of Semantic Information: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In traditional general-purpose compilers (e.g., GCC/LLVM), an operation is typically lowered to scalar loops and pointer arithmetic. But in deep learning IR , a 2D convolution must be preserved as an atomic conv2d(input, weight)  nodes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Foundation for Global Optimization: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If neural network operations are prematurely lowered to for  loops, the compiler loses the“this is a convolution” macro-level understanding, preventing invocation of convolution-specific hardware acceleration libraries.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Macro-Level Graph Optimization: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Leveraging this high-level semantic-preserving IR  data structure, the compiler can perform computation graph-level algebraic simplification, operator fusion, and memory planning from a global perspective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Execution Model — Control Flow Graph (CFG)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https://www.csl.cornell.edu/~zhiruz/5997/pdf/lecture04.pdf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519545"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Program Counter-Based (PC)  Traditional Logic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Node Definition: as Basic Blocks (Basic Blocks): Graph nodes are segments of“branch-free” continuous straight-line instruction sequences. Once entered, instructions execute from beginning to end.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Graph Edgesas Control Flow Directions:  Directed edges in the graph represent the temporal execution sequence logic and jump targets (corresponding to if/else, while, for  and other control statements in high-level languages).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Driving Mechanism:  Highly dependent on the von· Neumann architecture's core program counter (PC</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91375" y="2221865"/>
            <a:ext cx="4806950" cy="35623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Execution Model — Data Flow Graph (DFG)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https://www.researchgate.net/figure/Data-flow-graph-example_fig2_224517165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934200"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Data-Driven Computation Discarding Temporal Ordering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Node Definition: Mathematical Operations:  Graph nodes are no longer basic blocks but represent specific mathematical operations or primitives.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Graph Edgesas Data Lifecycles:  Directed edges represent the pure mathematical dependencies and flow paths of data (i.e., multi-dimensional tensors in deep learning) between operation nodes.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Driving Mechanism:  Completely discarding code-line sequential constraints. The sole condition for triggering a computation node is: all its required upstream input data is ready.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675245" y="1493520"/>
            <a:ext cx="4389755" cy="25184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CFG  v.s. DFG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Generated by Gemini 3.1 Pro.</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254469"/>
          <a:ext cx="11760200" cy="5301615"/>
        </p:xfrm>
        <a:graphic>
          <a:graphicData uri="http://schemas.openxmlformats.org/drawingml/2006/table">
            <a:tbl>
              <a:tblPr>
                <a:effectLst/>
              </a:tblPr>
              <a:tblGrid>
                <a:gridCol w="2548255"/>
                <a:gridCol w="4706620"/>
                <a:gridCol w="4505325"/>
              </a:tblGrid>
              <a:tr h="525145">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Characteristic</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Control Flow Graph (CFG)</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Data Flow Graph (DFG)</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r>
              <a:tr h="75184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Core Modeling Object</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Program execution order and logical branch paths.</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Data value transfer paths and mathematical operation dependencies.</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75184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Graph Nodes (Nodes) Represent</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Basic blocks (contiguous instruction sequences without branches).</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Mathematical operators (e.g., matrix multiplication, convolution).</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752475">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Graph Edges (Edges) Represent</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Control flow directions, loop jumps, conditional branch targets.</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Data definition (output) flowing to data usage (input).</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75184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Execution Trigger Condition</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Program counter (PC) sequentially pointing to the node.</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All required upstream input data has been computed and is ready.</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1016635">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Parallelization Potential</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Very low. Constrained by strict instruction execution order and hard-to-predict branches.</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Very high. Naturally exposes maximum parallelism at both operator and instruction levels.</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75184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Typical Application Scenarios</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B5BE">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General software, OS kernels, business logic control.</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Deep learning tensor computation graphs, digital signal processing.</a:t>
                      </a:r>
                      <a:endParaRPr lang="en-US" sz="1100"/>
                    </a:p>
                  </a:txBody>
                  <a:tcPr marL="177800" marR="177800" marT="107950" marB="107950" anchor="t">
                    <a:lnL w="12700" cap="flat" cmpd="sng" algn="ctr">
                      <a:solidFill>
                        <a:srgbClr val="8B0012"/>
                      </a:solidFill>
                      <a:prstDash val="solid"/>
                      <a:round/>
                      <a:headEnd type="none" w="med" len="med"/>
                      <a:tailEnd type="none" w="med" len="med"/>
                    </a:lnL>
                    <a:lnR w="12700" cap="flat" cmpd="sng" algn="ctr">
                      <a:solidFill>
                        <a:srgbClr val="8B0012"/>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Static Single Assignment (SSA)  Form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https://en.wikipedia.org/wiki/Static_single-assignment_form</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727825"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Nightmare of Traditional Code: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Variables can be repeatedly overwritten (e.g., x = 1; x = x + 1), making it difficult for the compiler to track “which line generated the current x ”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SSA  Requirement: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SSA  form, the IR , every variable in the program can be assigned exactly once throughout its entire lifetime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Version Splitting Mechanism:  If a variable is assigned multiple times in the original code, the compiler automatically generates multiple new versions with incrementing subscripts (e.g., $x_1, x_2, x_3$</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Functional Transparency:  in SSA , “a variable name” is equivalent to“the unique instruction that produced it”, making the code mathematically unambiguous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33310" y="1430020"/>
            <a:ext cx="1905000" cy="27622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608820" y="1430020"/>
            <a:ext cx="1905000" cy="27622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Φ (Phi)  Function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https://en.wikipedia.org/wiki/Static_single-assignment_form</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8176260" cy="4853305"/>
          </a:xfrm>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Logical Conflict: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When execution flow passes through if/else  branches and reconverges at a basic block, which version of the variable should subsequent code use? (e.g., if if  produces x_1, else  produces x_2</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Φ  Function (Phi-node):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 maintain the SSA  single-assignment rule, the compiler inserts a virtual instruction at the join point, e.g., x_3 = Φ(x_1, x_2)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Runtime Dynamic Routing: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Φ  function acts as a multiplexer. During actual program execution, it selects the correct source variable based on which control flow edge was taken (x_1 or x_2), and assigns the value to a brand new variable x_3.</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425940" y="1491615"/>
            <a:ext cx="1905000" cy="28384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Def-Use chains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https://www.researchgate.net/figure/Comparison-of-data-flow-representations-a-def-use-chains-b-SSA-and-c-Gated_fig4_2729044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779895" cy="4853305"/>
          </a:xfrm>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Non- SSA  Combinatorial Explosion: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Since state can be overwritten, finding all possible sources of a variable requires complex bit-vector dataflow analysis, with time and space complexity reaching macroscopic O(N^2).</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State Transfer Equations: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SSA   O(N)  Complexity: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For any variable usage (Use), its uniquely corresponding source definition (Definition) in the code is absolutely determined.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Every variable definition point can clearly hold a list directly pointing to all its use points in the global graph</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71980" y="3248660"/>
            <a:ext cx="4036695" cy="5207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30770" y="1479550"/>
            <a:ext cx="4700270" cy="26822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SSA  inConstant Folding and Propagation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https://www.cs.utexas.edu/~pingali/CS380C/2013/lectures/ssa-slides.pdf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Concept:  Pre-computing at compile time expressions that would otherwise be computed at runtime.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SSA 's:  When the compiler encounters y = x + 2 , it can be directly folded to 3. Because SSA  guarantees that x 's value will never be accidentally altered downstream.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Constant Propagation (Constant Propagation): Following the SSA -provided O(N)  complexity DU  chain, the compiler can propagate this constant 3  to all places in the global graph using y  and replace them, significantly reducing computation and potentially simplifyingcontrol flow.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444240" y="4064000"/>
            <a:ext cx="5659755" cy="19526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SSA  inDead Code Elimination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https://www.cs.utexas.edu/~pingali/CS380C/2013/lectures/ssa-slides.pdf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Concept:  Removing redundant instructions whose computation results never substantively impact the final program output.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SSA , identifying dead code becomes a simple operation:: If an SSA  variable's Use-chain list is empty, it is eliminable dead code.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Cascading Elimination Effect:  After removing the node, its upstream input variables' use-chains also become empty, causing dead code marking to propagate backward through the graph instantly, triggering cascading elimination. This is crucial for cleaning up the massive redundant nodes generated by automatic differentiation (Autograd)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335655" y="4303395"/>
            <a:ext cx="6355715" cy="18332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Objective: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Improving hardware execution efficiency, reducing GPU memory usage, and minimizing kernel (Kernel) launch overhead while preserving model mathematical equivalence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Level Hierarchy: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Node-level Optimization (Node-level): Examining individual computation nodes in isolation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Optimization (Block-level): Analyzing adjacent node sequences or computation blocks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Dataflow//Graph-level Optimization (Dataflow/Graph-level): Macro-level optimization surveying the global topology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1552338" y="1413549"/>
            <a:ext cx="9220674" cy="46738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https://zhuanlan.zhihu.com/p/661774755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434580"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Node-level Optimization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Nop Elimination (Nop Elimination):  Removing redundant nodes that have no substantive impact on results.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Zero-dim-tensor Elimination (Zero-dim-tensor Elimination):  Safely removing computations on tensors with shape 0  (e.g., shape=(0, 5, 3))'s computation.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Optimization:Algebraic Simplification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Concept:   Using mathematical rules such as commutativity, associativity, and distributivity to replace complex local node sequences with computationally cheaper equivalent forms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Constant Folding (Constant Folding):  Identifying all constant expressions known at compile time, pre-computing the results, and folding them into a single constant value in the graph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155940" y="1580515"/>
            <a:ext cx="3975735" cy="19685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https://zhuanlan.zhihu.com/p/661774755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Optimization:Operator Fusion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Problem:  Each small operator needs to read/write data from global memory, causing memory bandwidth bottleneck and GPU Kernel  launch latency.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Vertical Fusion: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Merging sequentially dependent operations into a single Kernel, with data flowing directly through registers, reducing global memory accesses.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Horizontal Fusion: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Merging adjacent operators that can be processed in parallel into a single Kernel, improving the utilization of underlying hardware compute units.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331335" y="4737100"/>
            <a:ext cx="6548755" cy="18561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Graph Optimization Techniques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https://zhuanlan.zhihu.com/p/661774755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Graph-level Optimization:Dataflow Structure Reshaping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Common Subexpression Elimination (Common Subexpression Elimination, CSE):  Identifying identical substructures repeatedly computed in the graph, replacing them with references to a single common output to avoid wasting computational resources.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Dead Code Elimination (Dead Code Elimination, DCE):  Combining Def-Use  chain analysis, from the graph deleting useless operation branches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Operator Sinking (Operator Sinking):  Deferring certain dimension transformation operations (e.g., Transpose) along the graph's dataflow direction to merge potential subsequent redundant transformation operations.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386580" y="4052570"/>
            <a:ext cx="5628640" cy="25946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Hardware-RelatedOptimization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2432487" y="1323975"/>
            <a:ext cx="7460376"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21: In-Depth Analysis of the MLIR Architecture</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LLVM IR  Limitations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https://en.wikipedia.org/wiki/LLVM</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Lattner, Chris, et al. "MLIR: A compiler infrastructure for the end of Moore's law." arXiv preprint arXiv:2002.11054 (2020).</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865620" cy="4853305"/>
          </a:xfrm>
          <a:prstGeom prst="rect">
            <a:avLst/>
          </a:prstGeom>
        </p:spPr>
        <p:txBody>
          <a:bodyPr wrap="square" lIns="91440" tIns="45720" rIns="91440" bIns="45720" anchor="t">
            <a:noAutofit/>
          </a:bodyPr>
          <a:lstStyle>
            <a:lvl1pPr algn="l">
              <a:lnSpc>
                <a:spcPct val="108000"/>
              </a:lnSpc>
              <a:defRPr sz="1800" b="0" i="0" u="none" strike="noStrike" spc="0">
                <a:solidFill>
                  <a:srgbClr val="404040">
                    <a:alpha val="100000"/>
                  </a:srgbClr>
                </a:solidFill>
                <a:latin typeface="Calibri" panose="020F0502020204030204"/>
              </a:defRPr>
            </a:lvl1pPr>
          </a:lstStyle>
          <a:p>
            <a:pPr marL="228600" indent="-2286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General Overview</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8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Design: LLVM IR  semantic level is roughly equivalent to“ C with vector operations C  language” .</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8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(Multi-Level Intermediate Representation)</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8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Memory Model: Assumes a flattened, linear memory model, primarily operating on scalars, memory pointers, and 1D vector registers.</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Deep Learning Computation Graph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8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is inherently high-dimensional multi-dimensional tensor algebra and deeply nested loops, creating a huge semantic gap between the two.</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8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Forced Flattening: TensorFlow/PyTorch  and other high-level frameworks directly lowering to LLVM IR , multi-dimensional tensors are forcefully flattened into 1D memory pointers.</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8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Control Flow Destruction: High-level loop tree  structures are destroyed, converted to implicit flat CFG  and conditional branch jumps.</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00015" y="431800"/>
            <a:ext cx="1925320" cy="12065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500620" y="1323975"/>
            <a:ext cx="4672965" cy="2161540"/>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7539355" y="3834130"/>
            <a:ext cx="4652645" cy="17367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33000"/>
              </a:lnSpc>
              <a:defRPr sz="2000" b="0" i="0" u="none" strike="noStrike" spc="0">
                <a:solidFill>
                  <a:srgbClr val="404040">
                    <a:alpha val="100000"/>
                  </a:srgbClr>
                </a:solidFill>
                <a:latin typeface="Calibri" panose="020F0502020204030204"/>
              </a:defRPr>
            </a:lvl1pPr>
          </a:lstStyle>
          <a:p>
            <a:pPr marL="254000" indent="-254000" algn="l">
              <a:lnSpc>
                <a:spcPct val="13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MLIR A reusable, extensible open-source compilation infrastructure framework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Addressing software fragmentation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Support for compilation targeting heterogeneous hardware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Reducing overhead for domain-specific compiler development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Connecting existing various compilers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3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MLIRWhy Can Solve the Problem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Unified syntax, reusable components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Shared ecosystem, coordinated optimization across levels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Small gaps between levels, easy to implement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60260" y="3429000"/>
            <a:ext cx="4686935" cy="20478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Components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829300" cy="4853305"/>
          </a:xfrm>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Module: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Top-level container encapsulating the entire compilation unit, isolating external variable scopes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Region: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Breaking through flat CFG  limitations, preserving loops as“first-class citizens” in nested structures.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Block: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IntroducingBlock Arguments  avoiding traditional LLVM  high-maintenance PHI  nodes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Operation and Attribute: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Highly unified opaque API, along with globally uniqued attribute dictionaries for representing constants.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587490" y="2320925"/>
            <a:ext cx="5307965" cy="26358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-Based Deep Learning Framework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https://hku-systems.github.io/events/iscas2021/1-2-Hongbin%20Zhang%20MLIR.pdf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727190" cy="4853305"/>
          </a:xfrm>
          <a:prstGeom prst="rect">
            <a:avLst/>
          </a:prstGeom>
        </p:spPr>
        <p:txBody>
          <a:bodyPr wrap="square" lIns="91440" tIns="45720" rIns="91440" bIns="45720" anchor="t">
            <a:norm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From Model Translation to MLIR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Splitting the program into host  and deviceGenerating intermediate artifacts (VM FlatBuffers, C file, etc.</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Linking host  and device -side code to generate executables/ library and IREE  Hardware Abstraction Layer (HAL) linking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IREE Bytecode Virtual Machine (Bytecode VM)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Hardware Abstraction Layer API (HAL API) and various hardware abstractions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General interface and various language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60615" y="1446530"/>
            <a:ext cx="4493895" cy="45961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Dialect  Dialect System·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https://mlir.llvm.org/docs/Dialects/Vector/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161280" cy="4853305"/>
          </a:xfrm>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Dialect Mechanism Definition: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Dialect  is a logical namespace encapsulating operators, types, and attributes customized for specific computational domains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Within a computation graph, high-level framework dialect (torch), tensor dialect (tensor), loop dialect (affine), and machine code dialect (llvm) can perfectly coexist.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Through inter-dialect Conversion Pass, the compiler can perform“the most appropriate abstraction level” at “the most suitable graph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853430" y="1132840"/>
            <a:ext cx="6089015" cy="48539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ODS Specification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https://mlir.llvm.org/docs/DefiningDialects/Operations/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468745" cy="4853305"/>
          </a:xfrm>
          <a:prstGeom prst="rect">
            <a:avLst/>
          </a:prstGeom>
        </p:spPr>
        <p:txBody>
          <a:bodyPr wrap="square" lIns="91440" tIns="45720" rIns="91440" bIns="45720" anchor="t">
            <a:normAutofit lnSpcReduction="10000"/>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Declarative Modeling: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Based on LLVM TableGen (.td  files) -based declarative operator definition framework.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Single Source of Truth:</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Defining operator name, operands, attributes, and return values in one shot through concise descriptive syntax.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Type Constraints: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Directly declaring operator traits in the specification (e.g.,Traits), such as declaring NoMemoryEffect  to explicitly inform the compiler that the operator has no memory side effects, allowing aggressive reordering.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21220" y="1584960"/>
            <a:ext cx="4810760" cy="39928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ODS Automated generation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795010" cy="4853305"/>
          </a:xfrm>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 Boilerplate Auto-Generation: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OpDefinitionsGen  tool automatically parses and generates standard C++  declaration and implementation code at compile time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Automatically generating strongly-typed, semantically explicit Getter/Setter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e.g., directly calling .stride()  to get stride.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Compile-Time Verification: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Automatically aggregating all constraints and generating a verify()  verifier. Before graph optimization begins, automatically intercepting illegal type or tensor shape mismatch cases.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555105" y="1409065"/>
            <a:ext cx="5246370" cy="43541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TOSA Dialect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https://community.arm.com/cfs-file/__key/communityserver-blogs-components-weblogfiles/00-00-00-37-98/Eric-Kunze-_2D00_-ODIW-2021-_2D00_.pdf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TOSA (Tensor Operator Set Architecture)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Hardware-Independent Tensor Operation Set Specification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Providing a standardized, general set of tensor operations to represent computations in DNNs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Serving as a universal bridge connecting various frontend high-level framework models with backend low-level hardware compilers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421890" y="3175000"/>
            <a:ext cx="6834505" cy="30962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TOSA Design Goals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 Agnosticism (Hardware Agnostic):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TOSA Making no assumptions related to specific hardware architectures (e.g., specific register sizes, cache hierarchies).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Focusing on expressing the mathematical computation semantics of neural networks, not hardware execution details.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Stability and Standardization (Stability &amp; Standardization):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TOSA  is backed by a strict specification (Specification)-supported Dialect, aiming to be a stable contract layer. Guaranteeing the legitimacy and consistency of input IR  to downstream compilers.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Completeness and Conciseness (Completeness vs. Conciseness):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Containing operators sufficient to express the vast majority of current deep learning models.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Avoiding operator explosion (Operator Explosion): Expressing complex operators through combinations of basic operators, rather than creating a new operator for every minor operation variant.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TOSA in the Compilation Ecosystem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Middle Layer (The Hourglass Neck):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Upward Frontend Connection (Frontend Lowering):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High-level framework models (e.g., TensorFlow Lite, PyTorch Export, ONNX) are converted to high-level Dialect (e.g., tf, torch or mhlo</a:t>
            </a:r>
            <a:r>
              <a:rPr lang="en-US" sz="1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These high-level Dialect  can directly or indirectly Lower ( lower)  to tosa Dialect.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Downward Backend Connection (Backend Lowering):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tosa  is typically lowered to linalg (Linear Algebra) Dialect, then to vector, scf, and finally to llvm Dialect  for CPU/GPU  execution.</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Custom Hardware Path:  Hardware vendors can directly extract tosa  the computation graph and map it to custom accelerator instruction sets.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394075" y="4081780"/>
            <a:ext cx="5537200" cy="25088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TOSA Dialect  Core Operations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461000" cy="4853305"/>
          </a:xfrm>
          <a:prstGeom prst="rect">
            <a:avLst/>
          </a:prstGeom>
        </p:spPr>
        <p:txBody>
          <a:bodyPr wrap="square" lIns="91440" tIns="45720" rIns="91440" bIns="45720" anchor="t">
            <a:normAutofit lnSpcReduction="20000"/>
          </a:bodyPr>
          <a:lstStyle>
            <a:lvl1pPr algn="l">
              <a:lnSpc>
                <a:spcPct val="117000"/>
              </a:lnSpc>
              <a:defRPr sz="2200" b="0" i="0" u="none" strike="noStrike" spc="0">
                <a:solidFill>
                  <a:srgbClr val="404040">
                    <a:alpha val="100000"/>
                  </a:srgbClr>
                </a:solidFill>
                <a:latin typeface="Calibri" panose="020F0502020204030204"/>
              </a:defRPr>
            </a:lvl1pPr>
          </a:lstStyle>
          <a:p>
            <a:pPr marL="279400" indent="-279400" algn="l">
              <a:lnSpc>
                <a:spcPct val="117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Core Operator Categories: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Element-wise Operations (Element-wise): tosa.add, tosa.mul, tosa.exp, tosa.sigmoid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Core Neural Network Computation (Neural Network Ops): tosa.conv2d, tosa.depthwise_conv2d, tosa.matmul, tosa.fully_connected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Tensor Data Manipulation (Data Manipulation): tosa.reshape, tosa.transpose, tosa.slice, tosa.concat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and Pooling (Reduction &amp; Pooling): tosa.reduce_sum, tosa.max_pool2d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096000" y="1323975"/>
            <a:ext cx="5133340" cy="45542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TOSA Dialect  Quantization Supporting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https://community.arm.com/cfs-file/__key/communityserver-blogs-components-weblogfiles/00-00-00-37-98/Eric-Kunze-_2D00_-ODIW-2021-_2D00_.pdf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First-Class Quantization Support: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TOSA  designed quantization as a first-class citizen from the outset (especially targeting edge computing).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Supports floating-point types (FP32, FP16, BF16), natively supports integer//quantization types (INT8, INT16, INT32, INT48</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Quantization parameters (e.g., scale  and zero-point) are directly embedded in operator semantics and attributes, ensuring strict consistency between hardware execution precision and software simulation.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766695" y="3659505"/>
            <a:ext cx="7374890" cy="25177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workflow of TOSA profile-based validation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2696255" y="1323975"/>
            <a:ext cx="6932840"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Affine Dialect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https://web.eecs.umich.edu/~mahlke/courses/583w23/lectures/Apr12/Group16_slides.pdf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82422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Affine Dialect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Specifically designed to express and optimize structured control flow and multi-dimensional memory access IR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Based on the polyhedral model (Polyhedral Model) mathematical foundations, with engineering simplifications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Purpose: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Enabling the compiler to perform precise data dependency analysis.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Achieving efficient automatic parallelization, data locality optimization, and complex loop transformations.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486525" y="1590675"/>
            <a:ext cx="5447030" cy="34493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Affine Dialect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https://www.researchgate.net/figure/Dialects-available-in-MLIR-and-their-entry-points-PET-to-MLIR-enables-entering-in-the_fig2_347152973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266940"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Why Is It Called “Affine”</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Loop bounds and memory access indices are strictly restricted to affine functions of loop induction variables and symbols.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Concepts: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Dimensions:  Typically corresponding to loop induction variables (Induction Variables, e.g., i, j, k</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Symbols:  Parameters that remain constant throughout the loop nest (e.g., dynamic tensor dimensions N, M</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Affine Map: Defines a mathematical transformation from dimensions and symbols to a set of results (commonly used for array index computation).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Integer Set:  An integer space defined using affine constraints, commonly used to represent if  condition boundaries.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809230" y="2113915"/>
            <a:ext cx="4225925" cy="32740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Affine Dialect  Key Operators and Syntax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https://code.ornl.gov/llvm-doe/llvm-project/-/blob/369891b6747e4ad4b5e4e6d06f3f7596f3ee3f02/mlir/docs/Dialects/Affine.md</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754370" cy="4853305"/>
          </a:xfrm>
          <a:prstGeom prst="rect">
            <a:avLst/>
          </a:prstGeom>
        </p:spPr>
        <p:txBody>
          <a:bodyPr wrap="square" lIns="91440" tIns="45720" rIns="91440" bIns="45720" anchor="t">
            <a:norm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Restricted Control Flow Operations: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affine.for: Defines a loop with known bounds,  stride must be a constant.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affine.if: Defines a conditional branch whose condition must be strictly evaluated by an affine integer set (Integer Set).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Restricted Memory Access Operations: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affine.load / affine.store: Reads from memory (MemRef  type) or/ writes data.</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Core Constraint:  Access indices must be valid Affine Map. The compiler knows exactly which memory block each loop iteration accesses.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427470" y="1441450"/>
            <a:ext cx="5414010" cy="29387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Affine Dialect Automatic Compilation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Precise Dependency Analysis: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Since all memory accesses are affine, the compiler can precisely determine data dependencies between instructions/loop iterations at compile time by solving integer linear programming (ILP) problems, precisely determining which instructions/ have data dependencies across loop iterations.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Loop Transformation Strategies: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Tiling:  Splitting large loops into smaller blocks, greatly improving CPU/GPU L1/L2 Cache  hit rates.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Unrolling :  Increasing instruction-level parallelism (ILP), reducing branch overhead.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Fusion and Fission:  Merging adjacent loops to reduce memory round-trips, or splitting loops to improve register utilization.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Permutation:  Changing the order of nested loops, optimizing stride for sequential memory access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Affine Dialect in MLIR  Position in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398895"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Typical Lowering  Path: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Upstream Connection:  High-order tensor computation Dialect (e.g., Linalg or Tensor) can have certain operations lowered (Lower) to Affine  loop nests.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Self-Optimization:  in Affine  level, performing intensive loop transformations and parallelism analysis (e.g., extracting parallel loops affine.parallel</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Downstream Output:  After optimization, Affine  is lowered to generic SCF (Structured Control Flow) or Standard Dialect, and finally converted to LLVM IR  to generate machine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39610" y="1644650"/>
            <a:ext cx="4606925" cy="35687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22: Operator Fusion Pass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Why Perform 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Gholami, A., Yao, Z., Kim, S., Hooper, C., Mahoney, M. W., &amp; Keutzer, K. (2024). Ai and memory wall. IEEE Micro, 44(3), 33-39.</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771515" cy="4853305"/>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Wall (Memory Wall)  Phenomenon: The computational bottleneck has shifted from ALU  ALU compute power to memory bandwidth and data transfer latency.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Cost of Frequent Memory Access: In unoptimized computation graphs, each operator must go through the complete“read main memory -&gt;  compute -&gt; write main memory” lifecycle.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Introducing Operator Fusion: By merging computation kernels, keeping intermediate results in L1/L2 Cache  or registers, breaking through memory bottlenecks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511925" y="984250"/>
            <a:ext cx="5289550" cy="27876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664325" y="3601720"/>
            <a:ext cx="5196840" cy="27565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Fusion (Operator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Dao, Tri, et al. "Flashattention: Fast and memory-efficient exact attention with io-awareness." Advances in neural information processing systems 35 (2022): 16344-16359.</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834505" cy="4853305"/>
          </a:xfrm>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Core Definition: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Merging multiple adjacent independent operators in the computation graph (e.g., Conv + BN + ReLU) into a single, more efficient execution kernel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Key Benefits: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Eliminating intermediate feature map read/write DRAM  bandwidth consumption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Significantly reducing kernel launch (Kernel Launch)  overhead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Lowering peak memory usage during inference deployment.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Three Core Stages: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Graph Matching: Finding specific topological structures in the computation graph.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Pattern Recognition: Validating semantic legality and physical constraints.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Subgraph Rewriting: Performing equivalent graph transformations.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358380" y="1323975"/>
            <a:ext cx="4567555" cy="46609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Graph Matching Algorithm (Graph Matching)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https://thinklab.sjtu.edu.cn/project/GANN-GM/index.html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50000"/>
              </a:lnSpc>
              <a:defRPr sz="1800" b="0" i="0" u="none" strike="noStrike" spc="0">
                <a:solidFill>
                  <a:srgbClr val="404040">
                    <a:alpha val="100000"/>
                  </a:srgbClr>
                </a:solidFill>
                <a:latin typeface="Calibri" panose="020F0502020204030204"/>
              </a:defRPr>
            </a:lvl1pPr>
          </a:lstStyle>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Directed Acyclic Graph (DAG):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Data structure for neural networks in compilers, with nodes representing operators and edges representing tensor data flow.</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Subgraph Isomorphism Problem: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Defining fusion rules as a pattern graph (Pattern Graph), and searching for exact matches in the host computation graph (Host Graph)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Complexity: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full graph matching is an NP -Complete problem, but deep learning computation graphs have strong domain-specific properties enabling significant pruning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581265" y="2644140"/>
            <a:ext cx="4345305" cy="26225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Graph Matching Acceleration Strategies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Cutler, Joseph W., et al. "Pattern Matching in AI Compilers and its Formalization (Extended Version)." arXiv preprint arXiv:2412.13398 (2024).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Liu, Xuanzhou, et al. "D2match: leveraging deep learning and degeneracy for subgraph matching." International Conference on Machine Learning. PMLR, 2023.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681980" cy="4853305"/>
          </a:xfrm>
          <a:prstGeom prst="rect">
            <a:avLst/>
          </a:prstGeom>
        </p:spPr>
        <p:txBody>
          <a:bodyPr wrap="square" lIns="91440" tIns="45720" rIns="91440" bIns="45720" anchor="t">
            <a:noAutofit/>
          </a:bodyPr>
          <a:lstStyle>
            <a:lvl1pPr algn="l">
              <a:lnSpc>
                <a:spcPct val="142000"/>
              </a:lnSpc>
              <a:defRPr sz="1800" b="0" i="0" u="none" strike="noStrike" spc="0">
                <a:solidFill>
                  <a:srgbClr val="404040">
                    <a:alpha val="100000"/>
                  </a:srgbClr>
                </a:solidFill>
                <a:latin typeface="Calibri" panose="020F0502020204030204"/>
              </a:defRPr>
            </a:lvl1pPr>
          </a:lstStyle>
          <a:p>
            <a:pPr marL="228600" indent="-228600" algn="l">
              <a:lnSpc>
                <a:spcPct val="14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Strong Type Label Filtering: Hash-based filtering by operator type (e.g., Conv2D, BatchNorm), quickly excluding incompatible nodes.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4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Topological Sort and Use-Def  Chains: Traversing along or against the tensor's“Using-Definition” chain for local depth-first traversal, limiting the search space.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4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Approximate and Degenerate Matching: Some advanced compilers employ graph neural networks or structural degeneracy properties, reducing matching time complexity to linear level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74180" y="1132840"/>
            <a:ext cx="3954780" cy="22244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05855" y="3605530"/>
            <a:ext cx="5801995" cy="2070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Pattern Recognition (Pattern Recognition)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Dataflow Constraints and Exclusivity Analysis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DAG, an operator's output may be consumed by multiple downstream operators, , when performing vertical fusion, the compiler must conduct strict liveness and multi-user checks.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Operation Attributes and Shape Constraints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Tensor Dimension Verification: Matching logic must verify whether input tensor shapes and dimensions meet fusion requirements (e.g., alignment requirements).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Memory Layout: Hardware acceleration libraries (e.g., cuDNN) typically have strict NCHW or NHWC  have strict data layout requirements.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Cost Model-Based Benefit Assessment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Fusion is not always optimal: Excessive fusion may cause local variable explosion and register spilling.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Hardware-Aware Cost Model: Automatically evaluating the balance between computation, data transfer, and launch overhead.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Benefit Constraint: If the cost model predicts negative benefit from fusion, the recognition engine proactively abandons the merge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Subgraph Rewriting (Subgraph Rewriting)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https://www.cas.mcmaster.ca/~kahl/CAS701/2007/P/DPO.pdf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716395" cy="4853305"/>
          </a:xfrm>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Semantically Equivalent Graph Transformation Theory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 --&gt; R</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where L  called the pattern graph (Pattern Graph), representing the subgraph structure to be replaced;R  called the replacement graph (Replacement Graph), representing the efficient fused structure.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Double-Pushout (DPO)  Semantic Framework: The host graph is partitioned into the match portion (Match), context (Context) , and patch/interface edges connecting the two (Patch/Interface)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Principle: Semantic equivalence must be guaranteed, i.e., given the same input, computation output before and after rewriting must remain absolutely identical.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9340" y="1938020"/>
            <a:ext cx="4382135" cy="27489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Pattern Rewrite Engine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https://mlir.llvm.org/docs/PatternRewriter/#matchandrewrite-implementation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610985" cy="4853305"/>
          </a:xfrm>
          <a:prstGeom prst="rect">
            <a:avLst/>
          </a:prstGeom>
        </p:spPr>
        <p:txBody>
          <a:bodyPr wrap="square" lIns="91440" tIns="45720" rIns="91440" bIns="45720" anchor="t">
            <a:norm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Decoupled Design: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MLIR  strictly decouples pattern definition from pattern application (e.g., Greedy Pattern Rewrite Driver).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Imperative Writing: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 RewritePattern: inheriting from OpRewritePattern, overriding thematchAndRewrite  Function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Characteristics: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Full freedom to directly manipulate low-level IR  and compute complex mathematical logic.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Drawbacks: Excessive boilerplate code, manual type conversion and safety checks required, graph topology not intuitive.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343140" y="2254250"/>
            <a:ext cx="4614545" cy="29235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Pattern Rewrite Engine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https://mlir.llvm.org/docs/DeclarativeRewrites/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https://mlir.llvm.org/docs/PDLL/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8000"/>
              </a:lnSpc>
              <a:defRPr sz="2400" b="0" i="0" u="none" strike="noStrike" spc="0">
                <a:solidFill>
                  <a:srgbClr val="404040">
                    <a:alpha val="100000"/>
                  </a:srgbClr>
                </a:solidFill>
                <a:latin typeface="Calibri" panose="020F0502020204030204"/>
              </a:defRPr>
            </a:lvl1pPr>
          </a:lstStyle>
          <a:p>
            <a:pPr marL="304800" indent="-304800" algn="l">
              <a:lnSpc>
                <a:spcPct val="108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DRR (Table-driven Declarative Rewrite Rule, DRR):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Using DAG  syntax (Source DAG) -&gt; (Result DAG)  syntax for declaring rules, expanded to C++  code at compile time, greatly reducing boilerplate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8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More modern PDLL: Specifically designed for MLIR  syntax-designed pattern description language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Natively supporting multi-result operations, regions, and variadic arguments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Allowing constraint conditions and mathematical logic expressions to be declared directly within the language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Supporting AOT Compile-time and runtime JIT  bytecode interpretation execution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 MLIR Writing in Conv+BN Fusion Pass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Pattern Definition and Root Node Selection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Inheriting Base Class: In C++  create a class inheriting from OpRewritePattern&lt;BatchNormOp&gt;  class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Anchoring the Root Node (Root Node): Setting the pattern matching trigger point to the downstream BatchNormOp.</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Reverse Tracing Advantage: From consumer (BN)  tracing upstream to producer (Conv2D)  is deterministic and unique, greatly reducing the logical complexity of multi-path search.</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283585" y="3429000"/>
            <a:ext cx="5996305" cy="27482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 MLIR Writing in Conv+BN Fusion Pass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Graph Traversal and Safety Verification (Match  Logic)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 Location: Via getDefiningOp()  from BN 's input node and verifying whether it comes from Conv2DOp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Multi-User Blocking Mechanism: The most critical safety check. Verifying whether the convolution output tensor result is exclusively used by this single BN  node.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API  Call: Mandating that convOp.getResult().hasOneUse()  returns True, preventing weight rewriting from polluting external dependency branches (e.g., residual connections)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 MLIR Writing in Conv+BN Fusion Pass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Execute Rewriting and Dataflow Switching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Constant Reading and Computation: Reading global BN  statistical attributes at compile time, using C++  to compute new W</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fold</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and b</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fold</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dense tensors.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 Materialization and Switching: Calling rewriter.create  to instantiate new constant nodes and the fused Conv2DOp.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call rewriter.replaceOp(bnOp, fusedConvOp.getResult())  to switch all downstream connections to the new node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Clean up old nodes rewriter.eraseOp(convOp).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548755" y="2111375"/>
            <a:ext cx="5007610" cy="28905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23</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Loop-Invariant Code Motion (LICM)</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Loop Invariant Code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Code that produces the same result regardless of which loop iteration it runs in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Loop Invariant Code Motion, LICM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Hoisting loop-invariant code outside the loop to reduce the number of executions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Positioned toward the earlier/frontend stage in compilation process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Influence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Before: Execute N times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Time = N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After: 1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 + Execute N times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0 = 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Save: (N-1)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1362075" y="3154045"/>
            <a:ext cx="8521065" cy="1162685"/>
            <a:chOff x="1362075" y="3154045"/>
            <a:chExt cx="8521065" cy="1162685"/>
          </a:xfrm>
        </p:grpSpPr>
        <p:sp>
          <p:nvSpPr>
            <p:cNvPr id="7" name="AutoShape 7"/>
            <p:cNvSpPr/>
            <p:nvPr/>
          </p:nvSpPr>
          <p:spPr>
            <a:xfrm>
              <a:off x="1362075" y="3910011"/>
              <a:ext cx="1508513" cy="40671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Source Code</a:t>
              </a:r>
              <a:endParaRPr lang="en-US" sz="1600"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3699592" y="3910011"/>
              <a:ext cx="1508513" cy="40671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IR</a:t>
              </a:r>
              <a:endParaRPr lang="en-US" sz="1600"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6037109" y="3910011"/>
              <a:ext cx="1508513" cy="40671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OptimizationPass</a:t>
              </a:r>
              <a:endParaRPr lang="en-US" sz="1600"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8374627" y="3910011"/>
              <a:ext cx="1508513" cy="40671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Target Code</a:t>
              </a:r>
              <a:endParaRPr lang="en-US" sz="1600"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11" name="Connector 11"/>
            <p:cNvCxnSpPr/>
            <p:nvPr/>
          </p:nvCxnSpPr>
          <p:spPr>
            <a:xfrm>
              <a:off x="2870588" y="4113370"/>
              <a:ext cx="829004"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id="12" name="Connector 12"/>
            <p:cNvCxnSpPr/>
            <p:nvPr/>
          </p:nvCxnSpPr>
          <p:spPr>
            <a:xfrm>
              <a:off x="5208106" y="4113370"/>
              <a:ext cx="829004"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id="13" name="Connector 13"/>
            <p:cNvCxnSpPr/>
            <p:nvPr/>
          </p:nvCxnSpPr>
          <p:spPr>
            <a:xfrm>
              <a:off x="7545623" y="4113370"/>
              <a:ext cx="829004" cy="0"/>
            </a:xfrm>
            <a:prstGeom prst="straightConnector1">
              <a:avLst/>
            </a:prstGeom>
            <a:noFill/>
            <a:ln w="12700" cap="flat">
              <a:solidFill>
                <a:srgbClr val="4472C4">
                  <a:alpha val="100000"/>
                </a:srgbClr>
              </a:solidFill>
              <a:prstDash val="solid"/>
              <a:headEnd type="none" w="med" len="med"/>
              <a:tailEnd type="triangle" w="med" len="med"/>
            </a:ln>
          </p:spPr>
        </p:cxnSp>
        <p:sp>
          <p:nvSpPr>
            <p:cNvPr id="14" name="AutoShape 14"/>
            <p:cNvSpPr/>
            <p:nvPr/>
          </p:nvSpPr>
          <p:spPr>
            <a:xfrm>
              <a:off x="3699592" y="3154045"/>
              <a:ext cx="1508513" cy="40671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LICM</a:t>
              </a:r>
              <a:endParaRPr lang="en-US" sz="1600"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15" name="Connector 15"/>
            <p:cNvCxnSpPr/>
            <p:nvPr/>
          </p:nvCxnSpPr>
          <p:spPr>
            <a:xfrm rot="10800000" flipV="1">
              <a:off x="3285091" y="3357404"/>
              <a:ext cx="414502" cy="755966"/>
            </a:xfrm>
            <a:prstGeom prst="bentConnector2">
              <a:avLst/>
            </a:prstGeom>
            <a:noFill/>
            <a:ln w="12700" cap="flat">
              <a:solidFill>
                <a:srgbClr val="4472C4">
                  <a:alpha val="100000"/>
                </a:srgbClr>
              </a:solidFill>
              <a:prstDash val="dash"/>
              <a:headEnd type="none" w="med" len="med"/>
              <a:tailEnd type="triangle" w="med" len="med"/>
            </a:ln>
          </p:spPr>
        </p:cxnSp>
        <p:cxnSp>
          <p:nvCxnSpPr>
            <p:cNvPr id="16" name="Connector 16"/>
            <p:cNvCxnSpPr/>
            <p:nvPr/>
          </p:nvCxnSpPr>
          <p:spPr>
            <a:xfrm>
              <a:off x="5208106" y="3357405"/>
              <a:ext cx="414502" cy="755965"/>
            </a:xfrm>
            <a:prstGeom prst="bentConnector2">
              <a:avLst/>
            </a:prstGeom>
            <a:noFill/>
            <a:ln w="12700" cap="flat">
              <a:solidFill>
                <a:srgbClr val="4472C4">
                  <a:alpha val="100000"/>
                </a:srgbClr>
              </a:solidFill>
              <a:prstDash val="dash"/>
              <a:headEnd type="none" w="med" len="med"/>
              <a:tailEnd type="triangle" w="med" len="med"/>
            </a:ln>
          </p:spPr>
        </p:cxn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Loop Invariant Code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Hoist the computation of x and y outside the loop.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10775" y="1840675"/>
            <a:ext cx="9791291" cy="158832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x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 Loop-Invariant varaibles: a, b not changed in loop</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y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x </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c</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 Loop-Invariant varaibles: dependent on x</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arr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[i]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y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 Loop-variant</a:t>
            </a:r>
            <a:r>
              <a:rPr lang="en-US" sz="1800" b="0" i="1"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depend on i</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610775" y="4181447"/>
            <a:ext cx="2500560" cy="158832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for ...</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x=a+b</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y=x*c</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use(y)</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5323300" y="4095006"/>
            <a:ext cx="2500560" cy="80950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x=a+b</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y=x*c</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5323300" y="5165763"/>
            <a:ext cx="2500560" cy="80950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for ... </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use(y)</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0" name="AutoShape 10"/>
          <p:cNvSpPr/>
          <p:nvPr/>
        </p:nvSpPr>
        <p:spPr>
          <a:xfrm>
            <a:off x="3198236" y="4963734"/>
            <a:ext cx="1971304" cy="172883"/>
          </a:xfrm>
          <a:prstGeom prst="right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LICM Flow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Compute Reaching Definitions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Find Loop Ivariants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Compute Dominators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Check Safety Conditions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Move to Preheader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4159304"/>
            <a:ext cx="7772400" cy="10613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Loop and Domination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Loop Structure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Header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Only entry to the loop, dominating all nodes in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 Edge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 Jumping back to header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Loop Body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Nodes between header and back edge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Domination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 Dominates B</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 path from entry to B must pass 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 Dominates B strictly</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dominates B and A ≠ B</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419100" y="4986494"/>
            <a:ext cx="5563771" cy="1099664"/>
            <a:chOff x="419100" y="4986494"/>
            <a:chExt cx="5563771" cy="1099664"/>
          </a:xfrm>
        </p:grpSpPr>
        <p:sp>
          <p:nvSpPr>
            <p:cNvPr id="8" name="AutoShape 8"/>
            <p:cNvSpPr/>
            <p:nvPr/>
          </p:nvSpPr>
          <p:spPr>
            <a:xfrm>
              <a:off x="419100" y="4986496"/>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Entry</a:t>
              </a:r>
              <a:endParaRPr lang="en-US" sz="1100"/>
            </a:p>
          </p:txBody>
        </p:sp>
        <p:sp>
          <p:nvSpPr>
            <p:cNvPr id="9" name="AutoShape 9"/>
            <p:cNvSpPr/>
            <p:nvPr/>
          </p:nvSpPr>
          <p:spPr>
            <a:xfrm>
              <a:off x="1933512" y="4986496"/>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header</a:t>
              </a:r>
              <a:endParaRPr lang="en-US" sz="1100"/>
            </a:p>
          </p:txBody>
        </p:sp>
        <p:sp>
          <p:nvSpPr>
            <p:cNvPr id="10" name="AutoShape 10"/>
            <p:cNvSpPr/>
            <p:nvPr/>
          </p:nvSpPr>
          <p:spPr>
            <a:xfrm>
              <a:off x="3447924" y="4986495"/>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Body</a:t>
              </a:r>
              <a:endParaRPr lang="en-US" sz="1100"/>
            </a:p>
          </p:txBody>
        </p:sp>
        <p:sp>
          <p:nvSpPr>
            <p:cNvPr id="11" name="AutoShape 11"/>
            <p:cNvSpPr/>
            <p:nvPr/>
          </p:nvSpPr>
          <p:spPr>
            <a:xfrm>
              <a:off x="4929431" y="4986494"/>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Exit</a:t>
              </a:r>
              <a:endParaRPr lang="en-US" sz="1100"/>
            </a:p>
          </p:txBody>
        </p:sp>
        <p:cxnSp>
          <p:nvCxnSpPr>
            <p:cNvPr id="12" name="Connector 12"/>
            <p:cNvCxnSpPr/>
            <p:nvPr/>
          </p:nvCxnSpPr>
          <p:spPr>
            <a:xfrm>
              <a:off x="1472540" y="5229941"/>
              <a:ext cx="460972"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id="13" name="Connector 13"/>
            <p:cNvCxnSpPr/>
            <p:nvPr/>
          </p:nvCxnSpPr>
          <p:spPr>
            <a:xfrm flipV="1">
              <a:off x="2986952" y="5229940"/>
              <a:ext cx="460972" cy="1"/>
            </a:xfrm>
            <a:prstGeom prst="straightConnector1">
              <a:avLst/>
            </a:prstGeom>
            <a:noFill/>
            <a:ln w="12700" cap="flat">
              <a:solidFill>
                <a:srgbClr val="4472C4">
                  <a:alpha val="100000"/>
                </a:srgbClr>
              </a:solidFill>
              <a:prstDash val="solid"/>
              <a:headEnd type="none" w="med" len="med"/>
              <a:tailEnd type="triangle" w="med" len="med"/>
            </a:ln>
          </p:spPr>
        </p:cxnSp>
        <p:cxnSp>
          <p:nvCxnSpPr>
            <p:cNvPr id="14" name="Connector 14"/>
            <p:cNvCxnSpPr/>
            <p:nvPr/>
          </p:nvCxnSpPr>
          <p:spPr>
            <a:xfrm flipV="1">
              <a:off x="4501364" y="5229939"/>
              <a:ext cx="428067" cy="1"/>
            </a:xfrm>
            <a:prstGeom prst="straightConnector1">
              <a:avLst/>
            </a:prstGeom>
            <a:noFill/>
            <a:ln w="12700" cap="flat">
              <a:solidFill>
                <a:srgbClr val="4472C4">
                  <a:alpha val="100000"/>
                </a:srgbClr>
              </a:solidFill>
              <a:prstDash val="solid"/>
              <a:headEnd type="none" w="med" len="med"/>
              <a:tailEnd type="triangle" w="med" len="med"/>
            </a:ln>
          </p:spPr>
        </p:cxnSp>
        <p:cxnSp>
          <p:nvCxnSpPr>
            <p:cNvPr id="15" name="Connector 15"/>
            <p:cNvCxnSpPr/>
            <p:nvPr/>
          </p:nvCxnSpPr>
          <p:spPr>
            <a:xfrm rot="5400000">
              <a:off x="3217438" y="4716178"/>
              <a:ext cx="1" cy="1514412"/>
            </a:xfrm>
            <a:prstGeom prst="bentConnector3">
              <a:avLst/>
            </a:prstGeom>
            <a:noFill/>
            <a:ln w="12700" cap="flat">
              <a:solidFill>
                <a:srgbClr val="4472C4">
                  <a:alpha val="100000"/>
                </a:srgbClr>
              </a:solidFill>
              <a:prstDash val="solid"/>
              <a:headEnd type="none" w="med" len="med"/>
              <a:tailEnd type="triangle" w="med" len="med"/>
            </a:ln>
          </p:spPr>
        </p:cxnSp>
        <p:sp>
          <p:nvSpPr>
            <p:cNvPr id="16" name="AutoShape 16"/>
            <p:cNvSpPr/>
            <p:nvPr/>
          </p:nvSpPr>
          <p:spPr>
            <a:xfrm>
              <a:off x="2567260" y="5716826"/>
              <a:ext cx="1300356"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Back Edge</a:t>
              </a:r>
              <a:endParaRPr lang="en-US" sz="1100"/>
            </a:p>
          </p:txBody>
        </p:sp>
      </p:grpSp>
      <p:pic>
        <p:nvPicPr>
          <p:cNvPr id="17" name="Picture 17"/>
          <p:cNvPicPr>
            <a:picLocks noChangeAspect="1"/>
          </p:cNvPicPr>
          <p:nvPr/>
        </p:nvPicPr>
        <p:blipFill>
          <a:blip r:embed="rId1"/>
          <a:srcRect/>
          <a:stretch>
            <a:fillRect/>
          </a:stretch>
        </p:blipFill>
        <p:spPr>
          <a:xfrm>
            <a:off x="6405328" y="3609027"/>
            <a:ext cx="3745439" cy="311240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Loop and Domination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900" b="0" i="0" u="none" strike="noStrike" spc="0">
                <a:solidFill>
                  <a:srgbClr val="404040">
                    <a:alpha val="100000"/>
                  </a:srgbClr>
                </a:solidFill>
                <a:latin typeface="Calibri" panose="020F0502020204030204"/>
              </a:defRPr>
            </a:lvl1pPr>
          </a:lstStyle>
          <a:p>
            <a:pPr marL="368300" indent="-368300" algn="l">
              <a:lnSpc>
                <a:spcPct val="100000"/>
              </a:lnSpc>
              <a:spcBef>
                <a:spcPts val="1500"/>
              </a:spcBef>
              <a:buClr>
                <a:srgbClr val="404040"/>
              </a:buClr>
              <a:buChar char="•"/>
            </a:pPr>
            <a:r>
              <a:rPr 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Domination represented in Tree</a:t>
            </a:r>
            <a:endParaRPr lang="en-US" sz="2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Parent node dominates all children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LICM use domination to check safety conditions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sz="2800"/>
          </a:p>
          <a:p>
            <a:pPr indent="0" algn="l">
              <a:lnSpc>
                <a:spcPct val="100000"/>
              </a:lnSpc>
              <a:spcBef>
                <a:spcPts val="1500"/>
              </a:spcBef>
            </a:pPr>
            <a:endParaRPr sz="2800"/>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1328263" y="2962808"/>
            <a:ext cx="3745439" cy="3112407"/>
          </a:xfrm>
          <a:prstGeom prst="rect">
            <a:avLst/>
          </a:prstGeom>
          <a:ln w="12700">
            <a:noFill/>
            <a:prstDash val="solid"/>
          </a:ln>
        </p:spPr>
      </p:pic>
      <p:sp>
        <p:nvSpPr>
          <p:cNvPr id="7" name="AutoShape 7"/>
          <p:cNvSpPr/>
          <p:nvPr/>
        </p:nvSpPr>
        <p:spPr>
          <a:xfrm>
            <a:off x="6265967" y="2806195"/>
            <a:ext cx="6254337" cy="342553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FB080"/>
                </a:solidFill>
                <a:latin typeface="Menlo" panose="020B0609030804020204"/>
                <a:ea typeface="Menlo" panose="020B0609030804020204"/>
                <a:cs typeface="Menlo" panose="020B0609030804020204"/>
                <a:sym typeface="Menlo" panose="020B0609030804020204"/>
              </a:rPr>
              <a:t>compute_dominators</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F8C762"/>
                </a:solidFill>
                <a:latin typeface="Menlo" panose="020B0609030804020204"/>
                <a:ea typeface="Menlo" panose="020B0609030804020204"/>
                <a:cs typeface="Menlo" panose="020B0609030804020204"/>
                <a:sym typeface="Menlo" panose="020B0609030804020204"/>
              </a:rPr>
              <a:t>cfg</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p>
          <a:p>
            <a:pPr marL="457200" lvl="1" indent="0" algn="l">
              <a:lnSpc>
                <a:spcPct val="100000"/>
              </a:lnSpc>
            </a:pP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1. Calculate DFS tree and DFS index</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dfs_tree</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dfnum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dfs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cfg</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entry</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p>
          <a:p>
            <a:pPr marL="457200" lvl="1" indent="0" algn="l">
              <a:lnSpc>
                <a:spcPct val="100000"/>
              </a:lnSpc>
            </a:pP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2. Calculate semi-dominator</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sdom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 </a:t>
            </a: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reverse_dfs_order:</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sdom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FB080"/>
                </a:solidFill>
                <a:latin typeface="Menlo" panose="020B0609030804020204"/>
                <a:ea typeface="Menlo" panose="020B0609030804020204"/>
                <a:cs typeface="Menlo" panose="020B0609030804020204"/>
                <a:sym typeface="Menlo" panose="020B0609030804020204"/>
              </a:rPr>
              <a:t>min</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dfnum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u</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u </a:t>
            </a: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predecessors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p>
          <a:p>
            <a:pPr marL="457200" lvl="1" indent="0" algn="l">
              <a:lnSpc>
                <a:spcPct val="100000"/>
              </a:lnSpc>
            </a:pP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3. Calculate dominator from semi-dominant</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idom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 </a:t>
            </a: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dfs_order:</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idom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compute_idom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sdom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p>
          <a:p>
            <a:pPr marL="457200" lvl="1"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return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idom</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6361326" y="1413383"/>
            <a:ext cx="5591177" cy="4852988"/>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Lengauer-Tarjan Algorithm</a:t>
            </a:r>
            <a:endParaRPr lang="en-US" sz="1200"/>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Based on DFS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Semidominator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sz="1200"/>
          </a:p>
          <a:p>
            <a:pPr indent="0" algn="l">
              <a:lnSpc>
                <a:spcPct val="100000"/>
              </a:lnSpc>
              <a:spcBef>
                <a:spcPts val="1500"/>
              </a:spcBef>
            </a:pPr>
            <a:endParaRPr sz="1200"/>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Reaching Definitions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Analyze the variable definitions that may reach each point in the program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IN[B] = ∪(OUT[P]) for all predecessors P of B</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OUT[B] = GEN[B] ∪ (IN[B] - KILL[B])</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Reaching Definitions in LICM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Determine where operands are defined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Check whether a definition originates from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outside the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Detect whether a variable has multiple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822440" y="2453640"/>
            <a:ext cx="4658995" cy="35077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Loop-Invariant Detection Algorithm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Initialization: Mark all instructions whose operands are defined outside the loop as "invariant"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Iterate until a fixed point is reached</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For each instruction I: "x = y op z" inside the loop:</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If any of the following conditions are met, mark it as "invariant":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1. All reaching definitions of y are outside the loop, 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2. There is exactly one reaching definition, and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that definition is loop-invariant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And: z satisfies the same conditions (if applicable)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803065" y="3562250"/>
            <a:ext cx="5149115" cy="2614778"/>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FB080"/>
                </a:solidFill>
                <a:latin typeface="Menlo" panose="020B0609030804020204"/>
                <a:ea typeface="Menlo" panose="020B0609030804020204"/>
                <a:cs typeface="Menlo" panose="020B0609030804020204"/>
                <a:sym typeface="Menlo" panose="020B0609030804020204"/>
              </a:rPr>
              <a:t>find_loop_invariants</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F8C762"/>
                </a:solidFill>
                <a:latin typeface="Menlo" panose="020B0609030804020204"/>
                <a:ea typeface="Menlo" panose="020B0609030804020204"/>
                <a:cs typeface="Menlo" panose="020B0609030804020204"/>
                <a:sym typeface="Menlo" panose="020B0609030804020204"/>
              </a:rPr>
              <a:t>loop</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marL="457200" lvl="1"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invariant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set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changed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True</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while</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changed:</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changed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False</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loop</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instructions:</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1371600" lvl="3"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is_invariant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invariant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1828800" lvl="4"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not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invariant:</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2286000" lvl="5"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invariant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add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2286000" lvl="5"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changed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True</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return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invariant</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Loop-Invariant Detection Algorithm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Initialization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Iterate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Round 1: {x = a+b} → INVARIANT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Round 2: {y = x*c} → INVARIANT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Round 3: No newly added → Fixed Point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Final Invariant Set: {x = a+b, y = x*c}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523873" y="2551471"/>
            <a:ext cx="5266400" cy="298255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a, b, c defined outside the loop</a:t>
            </a:r>
            <a:endParaRPr lang="en-US" sz="1100"/>
          </a:p>
          <a:p>
            <a:pPr indent="0" algn="l">
              <a:lnSpc>
                <a:spcPct val="100000"/>
              </a:lnSpc>
            </a:pP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60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60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x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It 1</a:t>
            </a:r>
            <a:r>
              <a:rPr lang="en-US" sz="1600" b="0" i="1"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Invariable (a,b defined outside)</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y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x </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c</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It 2</a:t>
            </a:r>
            <a:r>
              <a:rPr lang="en-US" sz="1600" b="0" i="1"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Invariable (x invariable, c defined outside)</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z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y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Variable (depend on i)</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w </a:t>
            </a:r>
            <a:r>
              <a:rPr lang="en-US" sz="16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z </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600" b="0" i="0" u="none" strike="noStrike">
                <a:solidFill>
                  <a:srgbClr val="EBC88D"/>
                </a:solidFill>
                <a:latin typeface="Menlo" panose="020B0609030804020204"/>
                <a:ea typeface="Menlo" panose="020B0609030804020204"/>
                <a:cs typeface="Menlo" panose="020B0609030804020204"/>
                <a:sym typeface="Menlo" panose="020B0609030804020204"/>
              </a:rPr>
              <a:t>2</a:t>
            </a: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1" u="none" strike="noStrike">
                <a:solidFill>
                  <a:srgbClr val="E4E4E4"/>
                </a:solidFill>
                <a:latin typeface="Menlo" panose="020B0609030804020204"/>
                <a:ea typeface="Menlo" panose="020B0609030804020204"/>
                <a:cs typeface="Menlo" panose="020B0609030804020204"/>
                <a:sym typeface="Menlo" panose="020B0609030804020204"/>
              </a:rPr>
              <a:t>// Variable (depend on z)</a:t>
            </a:r>
            <a:endParaRPr lang="en-US" sz="16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6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Dependence Type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True/Flow Dependence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Anti Dependence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Output Dependence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958645" y="1961535"/>
            <a:ext cx="4395035" cy="825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S1: x = ...</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S2: ... = x // S2 depends on S1 </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958644" y="3578941"/>
            <a:ext cx="4395020" cy="825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S1: ... = x</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S2: x = ... // S2 executed after S1</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958644" y="5196347"/>
            <a:ext cx="4395020" cy="82591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S1: x = ...</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S2: x = ... // maintain write sequence</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6597445" y="1311942"/>
            <a:ext cx="5204030" cy="4852988"/>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Input Dependence</a:t>
            </a:r>
            <a:endParaRPr lang="en-US" sz="1100"/>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Loop-Carried Dependence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Cannot apply LICM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10" name="AutoShape 10"/>
          <p:cNvSpPr/>
          <p:nvPr/>
        </p:nvSpPr>
        <p:spPr>
          <a:xfrm>
            <a:off x="6597445" y="1961535"/>
            <a:ext cx="4773560" cy="825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S1: ... = x</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S2: ... = x // can be executed in parallel</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1" name="AutoShape 11"/>
          <p:cNvSpPr/>
          <p:nvPr/>
        </p:nvSpPr>
        <p:spPr>
          <a:xfrm>
            <a:off x="6597444" y="4347475"/>
            <a:ext cx="4773561" cy="181745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for (i = 1; i &lt; n; i++) {</a:t>
            </a:r>
            <a:endParaRPr lang="en-US" sz="1100"/>
          </a:p>
          <a:p>
            <a:pPr marL="457200" lvl="1"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a[i] = a[i-1] + 1; </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Loop-carried: a[i] ← a[i-1]</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Safety Conditions for Code Motion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Dominate All Exits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Instruction's basic block must dominate all exits of the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Guarantees the instruction will always be executed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Unique Definition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variable has only this one definition within the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Avoids conflicts with other definitions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Dominate All Uses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definition dominates all uses of the variable within the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Or: this is the only definition that reaches the use points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95561" y="1604135"/>
            <a:ext cx="4635500" cy="2070100"/>
          </a:xfrm>
          <a:prstGeom prst="rect">
            <a:avLst/>
          </a:prstGeom>
          <a:ln w="12700">
            <a:noFill/>
            <a:prstDash val="solid"/>
          </a:ln>
        </p:spPr>
      </p:pic>
      <p:sp>
        <p:nvSpPr>
          <p:cNvPr id="7" name="AutoShape 7"/>
          <p:cNvSpPr/>
          <p:nvPr/>
        </p:nvSpPr>
        <p:spPr>
          <a:xfrm>
            <a:off x="7387812" y="3674236"/>
            <a:ext cx="10464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Feasible</a:t>
            </a:r>
            <a:endParaRPr lang="en-US" sz="1100"/>
          </a:p>
        </p:txBody>
      </p:sp>
      <p:sp>
        <p:nvSpPr>
          <p:cNvPr id="8" name="AutoShape 8"/>
          <p:cNvSpPr/>
          <p:nvPr/>
        </p:nvSpPr>
        <p:spPr>
          <a:xfrm>
            <a:off x="9971339" y="3674236"/>
            <a:ext cx="1160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Infeasible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Preheader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special basic block placed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before the loop entry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Has exactly one successor (i.e., the header)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location where loop-invariant code is placed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LICM Pseudo 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97803" y="1132554"/>
            <a:ext cx="1716548" cy="314367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873487" y="1132554"/>
            <a:ext cx="2200423" cy="3910704"/>
          </a:xfrm>
          <a:prstGeom prst="rect">
            <a:avLst/>
          </a:prstGeom>
          <a:ln w="12700">
            <a:noFill/>
            <a:prstDash val="solid"/>
          </a:ln>
        </p:spPr>
      </p:pic>
      <p:sp>
        <p:nvSpPr>
          <p:cNvPr id="8" name="AutoShape 8"/>
          <p:cNvSpPr/>
          <p:nvPr/>
        </p:nvSpPr>
        <p:spPr>
          <a:xfrm>
            <a:off x="8758344" y="2704393"/>
            <a:ext cx="1115143" cy="154387"/>
          </a:xfrm>
          <a:prstGeom prst="right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8900548" y="2369358"/>
            <a:ext cx="736099"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LICM</a:t>
            </a:r>
            <a:endParaRPr lang="en-US" sz="1100"/>
          </a:p>
        </p:txBody>
      </p:sp>
      <p:sp>
        <p:nvSpPr>
          <p:cNvPr id="10" name="AutoShape 10"/>
          <p:cNvSpPr/>
          <p:nvPr/>
        </p:nvSpPr>
        <p:spPr>
          <a:xfrm>
            <a:off x="741397" y="3956105"/>
            <a:ext cx="5497164" cy="2400199"/>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candidates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invariants:</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dominates_all_exits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block</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exits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and</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is_only_definition</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and</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dominates_all_uses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candidates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append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p>
          <a:p>
            <a:pPr indent="0" algn="l">
              <a:lnSpc>
                <a:spcPct val="100000"/>
              </a:lnSpc>
            </a:pP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Move to preheader based on dependency</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4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topological_sort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candidates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	move_to_preheader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loop</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preheader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LICM in LLVM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lib/Transforms/Scalar/LICM.cpp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Loop-Invariant Code Motion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Hoisting memory accesses into registers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Sinking code to loop exits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LoopInfo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LoopInfo &amp;LI = getAnalysis&lt;LoopInfoWrapperPass&gt;().getLoopInfo();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DominatorTree for Dominance Analysis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DominatorTree &amp;DT = getAnalysis&lt;DominatorTreeWrapperPass&gt;().getDomTree();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AliasAnalysis for Mameory Operation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AliasAnalysis &amp;AA = getAnalysis&lt;AAResultsWrapperPass&gt;().getAAResults();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Special Handling of Memory Operations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operations may have side effects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Must-Alias Analysis: Identify pointers that definitively point to the same memory location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Scalar Promotion: Lift memory operations within the loop into scalar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https://llvm.gnu.ac.cn/docs/AliasAnalysis.html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2669458"/>
            <a:ext cx="8264187" cy="91440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p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p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arr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[i]</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 Each iteration read and writes*p</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741404" y="3996815"/>
            <a:ext cx="8264218" cy="148818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temp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p</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 Read outside the loop</a:t>
            </a:r>
            <a:endParaRPr lang="en-US" sz="1100"/>
          </a:p>
          <a:p>
            <a:pPr indent="0" algn="l">
              <a:lnSpc>
                <a:spcPct val="100000"/>
              </a:lnSpc>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temp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temp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arr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[i]</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 Scalar operation</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p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temp</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 Write back outside the loop</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4247534" y="3601015"/>
            <a:ext cx="235975" cy="378643"/>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Loop Optimization in Triton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 Compilation Flow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Triton Python → Triton IR (TTIR) → TritonGPU IR → LLVM IR → PTX/CUBIN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General Optimization Methods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Pipelining: Software Pipeline, Latency Hiding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Unrolling: Loop unrolling, Reduce Control Cost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LICM generally carried on at TTIR and TritonGPU IR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Based on MLIR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Reuse MLIR Analysis Pass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Optimize at different abstract levels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Loop Structure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Matrix Multiplication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p>
          <a:p>
            <a:pPr indent="0" algn="l">
              <a:lnSpc>
                <a:spcPct val="92000"/>
              </a:lnSpc>
              <a:spcBef>
                <a:spcPts val="1500"/>
              </a:spcBef>
            </a:pPr>
          </a:p>
          <a:p>
            <a:pPr indent="0" algn="l">
              <a:lnSpc>
                <a:spcPct val="92000"/>
              </a:lnSpc>
              <a:spcBef>
                <a:spcPts val="1500"/>
              </a:spcBef>
            </a:pPr>
          </a:p>
          <a:p>
            <a:pPr indent="0" algn="l">
              <a:lnSpc>
                <a:spcPct val="92000"/>
              </a:lnSpc>
              <a:spcBef>
                <a:spcPts val="1500"/>
              </a:spcBef>
            </a:pPr>
          </a:p>
          <a:p>
            <a:pPr indent="0" algn="l">
              <a:lnSpc>
                <a:spcPct val="92000"/>
              </a:lnSpc>
              <a:spcBef>
                <a:spcPts val="1500"/>
              </a:spcBef>
            </a:pPr>
          </a:p>
          <a:p>
            <a:pPr indent="0" algn="l">
              <a:lnSpc>
                <a:spcPct val="92000"/>
              </a:lnSpc>
              <a:spcBef>
                <a:spcPts val="1500"/>
              </a:spcBef>
            </a:p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Opportunities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Base address of pointer might be loop invariant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stride calculation is usually loop invariant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991870" y="1737995"/>
            <a:ext cx="7030085" cy="289242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000"/>
          </a:p>
          <a:p>
            <a:pPr indent="0" algn="l">
              <a:lnSpc>
                <a:spcPct val="100000"/>
              </a:lnSpc>
            </a:pPr>
            <a:r>
              <a:rPr lang="en-US"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FB080"/>
                </a:solidFill>
                <a:latin typeface="Menlo" panose="020B0609030804020204"/>
                <a:ea typeface="Menlo" panose="020B0609030804020204"/>
                <a:cs typeface="Menlo" panose="020B0609030804020204"/>
                <a:sym typeface="Menlo" panose="020B0609030804020204"/>
              </a:rPr>
              <a:t>matmul_kernel</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A</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B</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C</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M</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N</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K</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Initialize Accumulator</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acc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zeros</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BLOCK_M</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BLOCK_N</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D6D6DD"/>
                </a:solidFill>
                <a:latin typeface="Menlo" panose="020B0609030804020204"/>
                <a:ea typeface="Menlo" panose="020B0609030804020204"/>
                <a:cs typeface="Menlo" panose="020B0609030804020204"/>
                <a:sym typeface="Menlo" panose="020B0609030804020204"/>
              </a:rPr>
              <a:t>dtype</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float32</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Main loop - K-dimension iteration</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k </a:t>
            </a:r>
            <a:r>
              <a:rPr lang="en-US"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FB080"/>
                </a:solidFill>
                <a:latin typeface="Menlo" panose="020B0609030804020204"/>
                <a:ea typeface="Menlo" panose="020B0609030804020204"/>
                <a:cs typeface="Menlo" panose="020B0609030804020204"/>
                <a:sym typeface="Menlo" panose="020B0609030804020204"/>
              </a:rPr>
              <a:t>range</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K</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BLOCK_K</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Load blocks of A, B</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A_ptr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k  stride_ak</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Possible Loop Invariant</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b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B_ptr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k  stride_bk</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acc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dot</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Store result</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store</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C_ptr</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acc</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LICM in MLIR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Refere to mlir/lib/Transforms/LoopInvariantCodeMotion.cpp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1798100"/>
            <a:ext cx="10231396" cy="4453809"/>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void</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LoopInvariantCodeMotion</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runOnOperation</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00"/>
          </a:p>
          <a:p>
            <a:pPr marL="457200" lvl="1"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LoopLikeOpInterface loopOp </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	getOperation</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()-&gt;</a:t>
            </a:r>
            <a:r>
              <a:rPr lang="en-US" sz="1800" b="0" i="0" u="none" strike="noStrike">
                <a:solidFill>
                  <a:srgbClr val="AAA0FA"/>
                </a:solidFill>
                <a:latin typeface="Menlo" panose="020B0609030804020204"/>
                <a:ea typeface="Menlo" panose="020B0609030804020204"/>
                <a:cs typeface="Menlo" panose="020B0609030804020204"/>
                <a:sym typeface="Menlo" panose="020B0609030804020204"/>
              </a:rPr>
              <a:t>getParentOfType</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LoopLikeOpInterface</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&gt;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p>
          <a:p>
            <a:pPr marL="457200" lvl="1" indent="0" algn="l">
              <a:lnSpc>
                <a:spcPct val="100000"/>
              </a:lnSpc>
            </a:pP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Collect loop invariant operations</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SmallVector</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Operation</a:t>
            </a: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&gt;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invariantOps;</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(Operation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&amp;</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op :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loopOp</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getLoopBody</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getOps</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	if</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isLoopInvariant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&amp;</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op</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loopOp))</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		invariantOps</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push_back</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&amp;</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op);</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p>
          <a:p>
            <a:pPr marL="457200" lvl="1" indent="0" algn="l">
              <a:lnSpc>
                <a:spcPct val="100000"/>
              </a:lnSpc>
            </a:pPr>
            <a:r>
              <a:rPr lang="en-US" sz="1800" b="0" i="1" u="none" strike="noStrike">
                <a:solidFill>
                  <a:srgbClr val="E4E4E4"/>
                </a:solidFill>
                <a:latin typeface="Menlo" panose="020B0609030804020204"/>
                <a:ea typeface="Menlo" panose="020B0609030804020204"/>
                <a:cs typeface="Menlo" panose="020B0609030804020204"/>
                <a:sym typeface="Menlo" panose="020B0609030804020204"/>
              </a:rPr>
              <a:t>// Move to preheader</a:t>
            </a:r>
            <a:endParaRPr lang="en-US" sz="18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(Operation </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op : invariantOps) </a:t>
            </a: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	op</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-&gt;</a:t>
            </a:r>
            <a:r>
              <a:rPr lang="en-US" sz="1800" b="0" i="0" u="none" strike="noStrike">
                <a:solidFill>
                  <a:srgbClr val="EFB080"/>
                </a:solidFill>
                <a:latin typeface="Menlo" panose="020B0609030804020204"/>
                <a:ea typeface="Menlo" panose="020B0609030804020204"/>
                <a:cs typeface="Menlo" panose="020B0609030804020204"/>
                <a:sym typeface="Menlo" panose="020B0609030804020204"/>
              </a:rPr>
              <a:t>moveBefore</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(loopOp);</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8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Limitation and Improvements of LICM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Limitations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Exception Handling: Moving code that may throw exceptions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Speculative Execution: If the loop may not execute, moving code could introduce additional overhead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Side Effects: Complex memory aliasing relationships are difficult to analyze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Improvements: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Unswitching: Move conditional checks inside the loop to outside the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Versioning: Create multiple versions of the loop to enable further optimizations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Speculative LICM: Perform speculative hoisting when provably safe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100000"/>
              </a:lnSpc>
              <a:spcBef>
                <a:spcPts val="75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24</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Layout and Memory Planning</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Memory Hierarchy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Bandwidth increases 10-100x from left to right 10-100x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Capacity decreases 100-1000x from right to left 100-1000x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key to layout optimization is maximizing high-speed memory utilization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 programs for efficient memory usage, minimizing excessive data movement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FlashAttention core design philosophy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2497302"/>
            <a:ext cx="7772400" cy="156243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Memory Transaction Mechanism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 accesses Global Memory  not byte-by-byte, but in fixed-size "transactions":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memory transaction transfers 32  bytes or 128  bytes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Transactions must be aligned to their size boundaries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warp</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32 threads) are coalesced into as few transactions as possible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Maximum concurrent transactions are limited</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constrained by memory controller queue depth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Number of transactions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latency =  total wait time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Coalesced Access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When a warp 's 32  threads access addresses meeting the following conditions, they can be coalesced into minimal transactions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Addresses fall within the same or adjacent cache lines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thread accesses contiguous elements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p>
          <a:p>
            <a:pPr marL="342900" lvl="1"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Memory Transaction Mechanism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Contiguous access</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 transaction(s) suffice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Strided access</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 transactions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210297" y="1814051"/>
            <a:ext cx="5761703" cy="63418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threadIdx.x </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BC88D"/>
                </a:solidFill>
                <a:latin typeface="Menlo" panose="020B0609030804020204"/>
                <a:ea typeface="Menlo" panose="020B0609030804020204"/>
                <a:cs typeface="Menlo" panose="020B0609030804020204"/>
                <a:sym typeface="Menlo" panose="020B0609030804020204"/>
              </a:rPr>
              <a:t>2</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T0→0, T1→2, T2→4, ...</a:t>
            </a:r>
            <a:endParaRPr lang="en-US" sz="1100"/>
          </a:p>
          <a:p>
            <a:pPr indent="0" algn="l">
              <a:lnSpc>
                <a:spcPct val="100000"/>
              </a:lnSpc>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data</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725736" y="1814051"/>
            <a:ext cx="5187449" cy="63418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T0→0, T1→1, T2→2, ...</a:t>
            </a:r>
            <a:endParaRPr lang="en-US" sz="1100"/>
          </a:p>
          <a:p>
            <a:pPr indent="0" algn="l">
              <a:lnSpc>
                <a:spcPct val="100000"/>
              </a:lnSpc>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data</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Contiguous addresses</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p:txBody>
      </p:sp>
      <p:pic>
        <p:nvPicPr>
          <p:cNvPr id="9" name="Picture 9"/>
          <p:cNvPicPr>
            <a:picLocks noChangeAspect="1"/>
          </p:cNvPicPr>
          <p:nvPr/>
        </p:nvPicPr>
        <p:blipFill>
          <a:blip r:embed="rId1"/>
          <a:srcRect/>
          <a:stretch>
            <a:fillRect/>
          </a:stretch>
        </p:blipFill>
        <p:spPr>
          <a:xfrm>
            <a:off x="1092789" y="2624444"/>
            <a:ext cx="4453341" cy="2833944"/>
          </a:xfrm>
          <a:prstGeom prst="rect">
            <a:avLst/>
          </a:prstGeom>
          <a:ln w="12700">
            <a:noFill/>
            <a:prstDash val="solid"/>
          </a:ln>
        </p:spPr>
      </p:pic>
      <p:pic>
        <p:nvPicPr>
          <p:cNvPr id="10" name="Picture 10"/>
          <p:cNvPicPr>
            <a:picLocks noChangeAspect="1"/>
          </p:cNvPicPr>
          <p:nvPr/>
        </p:nvPicPr>
        <p:blipFill>
          <a:blip r:embed="rId2"/>
          <a:srcRect/>
          <a:stretch>
            <a:fillRect/>
          </a:stretch>
        </p:blipFill>
        <p:spPr>
          <a:xfrm>
            <a:off x="6199012" y="2532255"/>
            <a:ext cx="5613746" cy="301832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Memory Transaction Mechanism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Random access: worst case 32 transactions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Efficiency Comparison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nvSpPr>
        <p:spPr>
          <a:xfrm>
            <a:off x="1009952" y="2133330"/>
            <a:ext cx="5105570" cy="70453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index_table</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threadIdx</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x</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Random addresses</a:t>
            </a:r>
            <a:endParaRPr lang="en-US" sz="1100"/>
          </a:p>
          <a:p>
            <a:pPr indent="0" algn="l">
              <a:lnSpc>
                <a:spcPct val="100000"/>
              </a:lnSpc>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data</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graphicFrame>
        <p:nvGraphicFramePr>
          <p:cNvPr id="7" name="Table 7"/>
          <p:cNvGraphicFramePr>
            <a:graphicFrameLocks noGrp="1"/>
          </p:cNvGraphicFramePr>
          <p:nvPr/>
        </p:nvGraphicFramePr>
        <p:xfrm>
          <a:off x="1089327" y="3638136"/>
          <a:ext cx="3949704" cy="2225040"/>
        </p:xfrm>
        <a:graphic>
          <a:graphicData uri="http://schemas.openxmlformats.org/drawingml/2006/table">
            <a:tbl>
              <a:tblPr>
                <a:effectLst/>
              </a:tblPr>
              <a:tblGrid>
                <a:gridCol w="1316568"/>
                <a:gridCol w="1316568"/>
                <a:gridCol w="1316568"/>
              </a:tblGrid>
              <a:tr h="370840">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Stride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Transactions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Bandwidth Utilization</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7084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100%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50%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84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32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32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3.125%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840">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Random</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Up to 32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3.125%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Matrix Access: Row-Major vs  Column-Major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warp reads one row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warp reads one column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523874" y="1757083"/>
            <a:ext cx="4980456" cy="555812"/>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0,1,2,...,31</a:t>
            </a:r>
            <a:endParaRPr lang="en-US" sz="1100"/>
          </a:p>
          <a:p>
            <a:pPr indent="0" algn="l">
              <a:lnSpc>
                <a:spcPct val="100000"/>
              </a:lnSpc>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M</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[row </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BC88D"/>
                </a:solidFill>
                <a:latin typeface="Menlo" panose="020B0609030804020204"/>
                <a:ea typeface="Menlo" panose="020B0609030804020204"/>
                <a:cs typeface="Menlo" panose="020B0609030804020204"/>
                <a:sym typeface="Menlo" panose="020B0609030804020204"/>
              </a:rPr>
              <a:t>32</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col]</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6210297" y="1757082"/>
            <a:ext cx="4690785" cy="55581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row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0,1,2,...,31</a:t>
            </a:r>
            <a:endParaRPr lang="en-US" sz="1100"/>
          </a:p>
          <a:p>
            <a:pPr indent="0" algn="l">
              <a:lnSpc>
                <a:spcPct val="100000"/>
              </a:lnSpc>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M</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[row </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BC88D"/>
                </a:solidFill>
                <a:latin typeface="Menlo" panose="020B0609030804020204"/>
                <a:ea typeface="Menlo" panose="020B0609030804020204"/>
                <a:cs typeface="Menlo" panose="020B0609030804020204"/>
                <a:sym typeface="Menlo" panose="020B0609030804020204"/>
              </a:rPr>
              <a:t>32</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col]</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pic>
        <p:nvPicPr>
          <p:cNvPr id="9" name="Picture 9"/>
          <p:cNvPicPr>
            <a:picLocks noChangeAspect="1"/>
          </p:cNvPicPr>
          <p:nvPr/>
        </p:nvPicPr>
        <p:blipFill>
          <a:blip r:embed="rId1"/>
          <a:srcRect/>
          <a:stretch>
            <a:fillRect/>
          </a:stretch>
        </p:blipFill>
        <p:spPr>
          <a:xfrm>
            <a:off x="523872" y="2320535"/>
            <a:ext cx="4702614" cy="4105836"/>
          </a:xfrm>
          <a:prstGeom prst="rect">
            <a:avLst/>
          </a:prstGeom>
          <a:ln w="12700">
            <a:noFill/>
            <a:prstDash val="solid"/>
          </a:ln>
        </p:spPr>
      </p:pic>
      <p:pic>
        <p:nvPicPr>
          <p:cNvPr id="10" name="Picture 10"/>
          <p:cNvPicPr>
            <a:picLocks noChangeAspect="1"/>
          </p:cNvPicPr>
          <p:nvPr/>
        </p:nvPicPr>
        <p:blipFill>
          <a:blip r:embed="rId2"/>
          <a:srcRect/>
          <a:stretch>
            <a:fillRect/>
          </a:stretch>
        </p:blipFill>
        <p:spPr>
          <a:xfrm>
            <a:off x="6210297" y="2495205"/>
            <a:ext cx="4835958" cy="393116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Shared Memory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~100x faster than Global Memory ~100 x, but ~1000x smaller in capacity~1000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Programmers can explicitly control data placement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Shares space with L1 Cache Cache; ratio is manually configurable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33000"/>
              </a:lnSpc>
              <a:defRPr sz="2000" b="0" i="0" u="none" strike="noStrike" spc="0">
                <a:solidFill>
                  <a:srgbClr val="404040">
                    <a:alpha val="100000"/>
                  </a:srgbClr>
                </a:solidFill>
                <a:latin typeface="Calibri" panose="020F0502020204030204"/>
              </a:defRPr>
            </a:lvl1pPr>
          </a:lstStyle>
          <a:p>
            <a:pPr marL="254000" indent="-254000" algn="l">
              <a:lnSpc>
                <a:spcPct val="13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is divided into 32  independent Bank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Can simultaneously serve 32  requests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Ideal case: 32  threads simultaneously access 32  different Bank</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3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Efficient utilization of Shared Memory is the core of memory layout planning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When multiple threads within the same Warp  map to the same Bank , serialized access is required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33000"/>
              </a:lnSpc>
              <a:spcBef>
                <a:spcPts val="1500"/>
              </a:spcBef>
            </a:pPr>
          </a:p>
          <a:p>
            <a:pPr indent="0" algn="l">
              <a:lnSpc>
                <a:spcPct val="133000"/>
              </a:lnSpc>
              <a:spcBef>
                <a:spcPts val="1500"/>
              </a:spcBef>
            </a:pPr>
          </a:p>
          <a:p>
            <a:pPr indent="0" algn="l">
              <a:lnSpc>
                <a:spcPct val="133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343025" y="3357245"/>
            <a:ext cx="4513580" cy="29991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Shared Memory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Ideal Case vs. Worst Case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Access patterns causing Bank Conflict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Access with specific stride values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Access with specific stride value</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32</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368935" y="2364740"/>
            <a:ext cx="5594985" cy="2508250"/>
            <a:chOff x="368935" y="2364740"/>
            <a:chExt cx="5594985" cy="2508250"/>
          </a:xfrm>
        </p:grpSpPr>
        <p:pic>
          <p:nvPicPr>
            <p:cNvPr id="8" name="Picture 8"/>
            <p:cNvPicPr>
              <a:picLocks noChangeAspect="1"/>
            </p:cNvPicPr>
            <p:nvPr/>
          </p:nvPicPr>
          <p:blipFill>
            <a:blip r:embed="rId1"/>
            <a:srcRect r="1310"/>
            <a:stretch>
              <a:fillRect/>
            </a:stretch>
          </p:blipFill>
          <p:spPr>
            <a:xfrm>
              <a:off x="368935" y="2372730"/>
              <a:ext cx="2757056" cy="2500260"/>
            </a:xfrm>
            <a:prstGeom prst="rect">
              <a:avLst/>
            </a:prstGeom>
            <a:ln w="12700">
              <a:noFill/>
              <a:prstDash val="solid"/>
            </a:ln>
          </p:spPr>
        </p:pic>
        <p:pic>
          <p:nvPicPr>
            <p:cNvPr id="9" name="Picture 9"/>
            <p:cNvPicPr>
              <a:picLocks noChangeAspect="1"/>
            </p:cNvPicPr>
            <p:nvPr/>
          </p:nvPicPr>
          <p:blipFill>
            <a:blip r:embed="rId2"/>
            <a:srcRect l="1988"/>
            <a:stretch>
              <a:fillRect/>
            </a:stretch>
          </p:blipFill>
          <p:spPr>
            <a:xfrm>
              <a:off x="3125991" y="2364740"/>
              <a:ext cx="2837929" cy="2500260"/>
            </a:xfrm>
            <a:prstGeom prst="rect">
              <a:avLst/>
            </a:prstGeom>
            <a:ln w="12700">
              <a:noFill/>
              <a:prstDash val="solid"/>
            </a:ln>
          </p:spPr>
        </p:pic>
      </p:grpSp>
      <p:sp>
        <p:nvSpPr>
          <p:cNvPr id="10" name="AutoShape 10"/>
          <p:cNvSpPr/>
          <p:nvPr/>
        </p:nvSpPr>
        <p:spPr>
          <a:xfrm>
            <a:off x="6724952" y="2711480"/>
            <a:ext cx="5076216" cy="717746"/>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row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0 to 31</a:t>
            </a:r>
            <a:endParaRPr lang="en-US" sz="1100"/>
          </a:p>
          <a:p>
            <a:pPr indent="0" algn="l">
              <a:lnSpc>
                <a:spcPct val="100000"/>
              </a:lnSpc>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smem</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[row][</a:t>
            </a:r>
            <a:r>
              <a:rPr lang="en-US" sz="140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  All threads access column 0</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1" name="AutoShape 11"/>
          <p:cNvSpPr/>
          <p:nvPr/>
        </p:nvSpPr>
        <p:spPr>
          <a:xfrm>
            <a:off x="6725285" y="4244340"/>
            <a:ext cx="5076190" cy="14795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threadIdx.x </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BC88D"/>
                </a:solidFill>
                <a:latin typeface="Menlo" panose="020B0609030804020204"/>
                <a:ea typeface="Menlo" panose="020B0609030804020204"/>
                <a:cs typeface="Menlo" panose="020B0609030804020204"/>
                <a:sym typeface="Menlo" panose="020B0609030804020204"/>
              </a:rPr>
              <a:t>32</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40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smem_1d</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b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b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idx = 0, 32, 64, 96, ...  All mapped to Bank 0</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Resolving Bank Conflict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Padding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Increase actual storage size per row, staggering column elements to different Bank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Swizzling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Dynamically alter address mapping via XOR  operations, so the same column in different rows maps to different Bank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Original:	 addr = row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stride + col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Swizzle:	 addr = row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stride + (col XOR row)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26110" y="2787650"/>
            <a:ext cx="5488940" cy="151257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__shared__ float smem[32][32];</a:t>
            </a:r>
            <a:b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Row 0: [B0 ][B1 ][B2 ]...[B31] ← 128  bytes</a:t>
            </a:r>
            <a:endParaRPr lang="en-US" sz="11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Row 1: [B0 ][B1 ][B2 ]...[B31] ← 128  bytes, starts at Bank 0</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Row 2: [B0 ][B1 ][B2 ]...[B31]</a:t>
            </a:r>
            <a:b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Column access: : smem[0][0], smem[1][0], smem[2][0],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All in Bank 0 → 32-way conflict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625947" y="4719320"/>
            <a:ext cx="5489103" cy="1808958"/>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__shared__ float smem[32][33]; // Each row has 1 extra element(s)</a:t>
            </a:r>
            <a:b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Row 0: [B0 ][B1 ][B2 ]...[B31][B0 ] ← 132  bytes (33 float)</a:t>
            </a:r>
            <a:endParaRPr lang="en-US" sz="11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Row 1: [B1 ][B2 ][B3 ]...[B0 ][B1 ] ← starts at Bank 1</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Row 2: [B2 ][B3 ][B4 ]...[B1 ][B2 ] ← starts at Bank 2</a:t>
            </a:r>
            <a:b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Column access: : smem[0][0] → Bank 0</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smem[1][0] → Bank 1 ← Different Bank</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smem[2][0] → Bank 2 ← Different Bank</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No conflict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3241632" y="4300093"/>
            <a:ext cx="155657" cy="409767"/>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6536057" y="3263265"/>
            <a:ext cx="5132070" cy="13144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Accessing column 0: </a:t>
            </a:r>
            <a:endParaRPr lang="en-US" sz="1100"/>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0, col 0 → addr 0 → Bank 0</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1, col 0 → addr 128 → Bank 0</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2, col 0 → addr 256 → Bank 0</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3, col 0 → addr 384 → Bank 0 </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32-way conflict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1" name="AutoShape 11"/>
          <p:cNvSpPr/>
          <p:nvPr/>
        </p:nvSpPr>
        <p:spPr>
          <a:xfrm>
            <a:off x="6536057" y="4931603"/>
            <a:ext cx="5132070" cy="13144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Accessing column 0 (col XOR row):</a:t>
            </a:r>
            <a:endParaRPr lang="en-US" sz="1100"/>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0, col 0^0=0 → Bank 0</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1, col 0^1=1 → Bank 1</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2, col 0^2=2 → Bank 2</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row 3, col 0^3=3 → Bank 3</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No conflict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2" name="AutoShape 12"/>
          <p:cNvSpPr/>
          <p:nvPr/>
        </p:nvSpPr>
        <p:spPr>
          <a:xfrm>
            <a:off x="9014055" y="4651506"/>
            <a:ext cx="171450" cy="224948"/>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Automatic Layout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compiler automatically generates swizzled  access code based on these parameters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vec: Number of contiguously accessed elements, affects vectorization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perPhase and maxPhase: Control swizzle  period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714500" lvl="5"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  compiler automatically handles Shared Memory  layout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2765425" y="2973705"/>
            <a:ext cx="6257925" cy="153670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#shared = #triton_gpu.shared&lt;{</a:t>
            </a:r>
            <a:endParaRPr lang="en-US" sz="1100"/>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vec = 4, // Vectorization width (accesses 4 elements at once)</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perPhase = 2, // Rows per phase</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maxPhase = 8, // Maximum phase count (for swizzle)</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order = [1, 0], // Memory traversal order</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hasLeadingOffset = false</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2765425" y="5126990"/>
            <a:ext cx="6257925" cy="159448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100"/>
          </a:p>
          <a:p>
            <a:pPr indent="0" algn="l">
              <a:lnSpc>
                <a:spcPct val="100000"/>
              </a:lnSpc>
            </a:pPr>
            <a:r>
              <a:rPr lang="en-US" sz="120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0" u="none" strike="noStrike">
                <a:solidFill>
                  <a:srgbClr val="EFB080"/>
                </a:solidFill>
                <a:latin typeface="Menlo" panose="020B0609030804020204"/>
                <a:ea typeface="Menlo" panose="020B0609030804020204"/>
                <a:cs typeface="Menlo" panose="020B0609030804020204"/>
                <a:sym typeface="Menlo" panose="020B0609030804020204"/>
              </a:rPr>
              <a:t>kernel</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Triton  automatically selects optimal layout</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A_ptr </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offs</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Global → Register</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Explicitly using shared memory</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Triton  automatically applies swizzling</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a_shared </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AA0FA"/>
                </a:solidFill>
                <a:latin typeface="Menlo" panose="020B0609030804020204"/>
                <a:ea typeface="Menlo" panose="020B0609030804020204"/>
                <a:cs typeface="Menlo" panose="020B0609030804020204"/>
                <a:sym typeface="Menlo" panose="020B0609030804020204"/>
              </a:rPr>
              <a:t>trans</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Auto-optimized during transpose</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Layout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Mapping from logical tensor elements to physical storage locations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arrangement order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Distribution of elements across hardware units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Common Layout Types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Row-major</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Row-contiguous storage,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C/C++  default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Column-major</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Column-contiguous storage</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Fortran, MATLAB</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Blocked</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 storage,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parallelism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Strided</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Strided storage</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Slicing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453505" y="4057650"/>
            <a:ext cx="5605780" cy="250126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2x4  matrix: : 		Row-major:</a:t>
            </a:r>
            <a:endParaRPr lang="en-US" sz="1000"/>
          </a:p>
          <a:p>
            <a:pPr indent="0" algn="l">
              <a:lnSpc>
                <a:spcPct val="100000"/>
              </a:lnSpc>
            </a:pP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[0,1,2,3,4,5,6,7]</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0</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1</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2</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3</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Column-major </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4</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5</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6</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7</a:t>
            </a: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[0,4,1,5,2,6,3,7]</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Layout Encoding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Using MLIR Attribute  to represent layouts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marL="342900" lvl="1" indent="0" algn="l">
              <a:lnSpc>
                <a:spcPct val="100000"/>
              </a:lnSpc>
              <a:spcBef>
                <a:spcPts val="750"/>
              </a:spcBef>
            </a:p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BlockedEncodingAttr: GPU Global memory access pattern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SharedEncodingAttr: Shared memory access pattern (swizzle)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NvidiaMmaEncodingAttr: Tensor Core  operation layout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DotOperandEncodingAttr: Matrix multiplication operand layout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Unified Layout Representation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Represent layouts as mappings from hardware positions (warp, thread, register) to logical indices (m, n)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Use binary bits for strides, XOR  operation composition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2055219" y="1830229"/>
            <a:ext cx="6614160" cy="129016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#blocked = #triton_gpu.blocked&lt;{</a:t>
            </a:r>
            <a:endParaRPr lang="en-US" sz="1000"/>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sizePerThread = [4], 	 // Elements per thread</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threadsPerWarp = [32], // Threads per warp </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warpsPerCTA = [4], 	// Threads per CTA warp  count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order = [0] 			// Dimension traversal order</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}&gt;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MMA (Matrix Multiply-Accumulate)  Layout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 arrangement designed for GPU Tensor Core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Tensor Core computes D = A </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B + 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Fragment size is fixed (e.g., Volta architecture 16*16), conforming to TC  hardware requirements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Each thread holds 8  elements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Thread 0: A[0,0:2], A[8,0:2], A[0,8:10], A[8,8:10]</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Thread 1: A[0,2:4], A[8,2:4], A[0,10:12]</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8000"/>
              </a:lnSpc>
              <a:spcBef>
                <a:spcPts val="750"/>
              </a:spcBef>
            </a:pPr>
          </a:p>
          <a:p>
            <a:pPr marL="342900" lvl="1" indent="0" algn="l">
              <a:lnSpc>
                <a:spcPct val="108000"/>
              </a:lnSpc>
              <a:spcBef>
                <a:spcPts val="750"/>
              </a:spcBef>
            </a:pPr>
          </a:p>
          <a:p>
            <a:pPr indent="0" algn="l">
              <a:lnSpc>
                <a:spcPct val="108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288540" y="3277870"/>
            <a:ext cx="6893560" cy="307857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MMA (Matrix Multiply-Accumulate)  layout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From Blocked  to MMA  Layout Conversion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ldmatrix instruction, loads from shared memory and rearranges to MMA  layout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Read 8</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8  matrix fragment from shared memory-&gt;Distribute to registers of threads within the warp -&gt;Rearrange to MMA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  in TritonMMA  Encoding Attribute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  Layout Conversion in Triton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591945" y="3429000"/>
            <a:ext cx="6973570" cy="113284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#mma = #triton_gpu.nvidia_mma&lt;{</a:t>
            </a:r>
            <a:endParaRPr lang="en-US" sz="1100"/>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versionMajor = 2, // MMA version (1=Volta, 2=Ampere, 3=Hopper)</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versionMinor = 0,</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warpsPerCTA = [2, 2], // Warp  grid layout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instrShape = [16, 8, 16] // M </a:t>
            </a:r>
            <a:r>
              <a:rPr lang="en-US" sz="12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N </a:t>
            </a:r>
            <a:r>
              <a:rPr lang="en-US" sz="12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K  instruction shape</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}&gt;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1591669" y="5205730"/>
            <a:ext cx="6973846" cy="9715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From blocked  layout to mma  layout</a:t>
            </a:r>
            <a:endParaRPr lang="en-US" sz="1100"/>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%0 = triton_gpu.convert_layout %arg : </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tensor&lt;128x64xf16, #blocked&gt; -&gt; tensor&lt;128x64xf16, #mma&gt;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Allocation Strategies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Static Allocation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Compile-time allocation</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0 runtime overhead, predictable fragmentation, low flexibility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All tensor sizes known at compile time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Dynamic Allocation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Runtime allocation, with malloc overhead, high flexibility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ML Compiler Strategy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Compile-time analysis -&gt; determine tensor lifetimes -&gt; compute optimal allocation plan -&gt; generate allocation code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Use memory pools to support dynamic shapes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Reuse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Tensors with non-overlapping lifetimes can share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ABC can be reused among each other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 and ABC cannot be reused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Common Algorithms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 Coloring:  Build interference graph,  minimize number of colors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Greedy Algorithm:  Sort tensors by size,  maximize reuse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ILP  Method:  Integer Linear Programming for optimal solution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Minimize: : max(offset[i] + size[i]) for all i</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Constraints: :	1. offset[i] &gt;= 0 (Non-negative offset)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 offset[i] + size[i] &lt;= offset[j] (if i, j  non-overlapping and i  precedes)  or offset[j] + size[j] &lt;= offset[i] (if j  precedes)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3. Tensors with overlapping lifetimes must have distinct address spaces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p>
          <a:p>
            <a:pPr marL="342900" lvl="1" indent="0" algn="l">
              <a:lnSpc>
                <a:spcPct val="92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981698" y="1703705"/>
            <a:ext cx="5223510" cy="109728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Tensor A: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9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Tensor B: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Tensor C: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Tensor D: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Rematerialization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Image Source: Capuchin: Tensor-based GPU Memory Management for Deep Learning</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insufficient to store all intermediate tensors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Selectively discard and recompute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Input-&gt;A-&gt;B-&gt;C-&gt;Output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Do not store A, retain B and C for backward pass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Recompute during backward pass: 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Objective: Minimize (computation time +  peak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Runtime dynamic decision-making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problem solving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796973" y="4325122"/>
            <a:ext cx="4932237" cy="154608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Layout and Memory Planning Optimization Strategies</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Layout Conversion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Defer conversions as late as possible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Detect and remove redundant conversions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Merge adjacent conversions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Prefer layouts favorable to dominant operations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Consider the entire computation graph, not just individual operators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Reduce Conversions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Unify to the same layout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 conversions at compute-intensive points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indent="0" algn="l">
              <a:lnSpc>
                <a:spcPct val="92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Combined with Dead Code Elimination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Reduce memory allocation: Remove dead variables -&gt; no allocation needed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Shorten lifetimes: Remove useless operations -&gt; free memory earlier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Enable more reuse: Shorter lifetimes -&gt; more reuse opportunities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25</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Multi-end Support I</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Codegen</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1747" b="27785"/>
          <a:stretch>
            <a:fillRect/>
          </a:stretch>
        </p:blipFill>
        <p:spPr>
          <a:xfrm>
            <a:off x="523875" y="1863090"/>
            <a:ext cx="5531485" cy="916940"/>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Multi-end Compilation Flow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 Compilation Flow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Multi-end Support in Triton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741404" y="3488405"/>
            <a:ext cx="5499376" cy="2528953"/>
          </a:xfrm>
          <a:prstGeom prst="rect">
            <a:avLst/>
          </a:prstGeom>
          <a:ln w="12700">
            <a:noFill/>
            <a:prstDash val="solid"/>
          </a:ln>
        </p:spPr>
      </p:pic>
      <p:sp>
        <p:nvSpPr>
          <p:cNvPr id="8" name="AutoShape 8"/>
          <p:cNvSpPr/>
          <p:nvPr/>
        </p:nvSpPr>
        <p:spPr>
          <a:xfrm>
            <a:off x="6210297" y="1323977"/>
            <a:ext cx="5981703" cy="4856162"/>
          </a:xfrm>
          <a:prstGeom prst="rect">
            <a:avLst/>
          </a:prstGeom>
          <a:noFill/>
          <a:ln w="12700">
            <a:noFill/>
            <a:prstDash val="solid"/>
          </a:ln>
        </p:spPr>
        <p:txBody>
          <a:bodyPr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Compiler Backend</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IR-&gt;Machine Code</a:t>
            </a:r>
            <a:endParaRPr lang="en-US" sz="1100"/>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Adapting to different target architectures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Generating efficient target code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Leveraging hardware features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Main Pipeline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Selection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Register Allocation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Scheduling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Code Emission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Fragmentation of AI Computing Hardware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same algorithm requires generating different code for different hardware targets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Instruction Selection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process of translating IR into target machine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 single IR instruction may correspond to multiple machine instruction combinations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Selecting the optimal instruction sequence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Tree Covering Algorithm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Cover the entire tree with the fewest and fastest instructions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Dynamic Programming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Cost Model: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Cost(node) = min over all matching patterns {pattern_cost + Σ Cost(children not covered)}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Calculate Optimal Coverage Bottom-Up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SelectionDAG Matching in LLVM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Define patterns using TableGen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Automatically generate matching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Support complex instruction fusion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523875" y="4262120"/>
            <a:ext cx="5353685" cy="191516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IR Tree: 		Machine Code:</a:t>
            </a:r>
            <a:endParaRPr lang="en-US" sz="1100"/>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add </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 \ 		add r1, r2, r3</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load mul 		add r1, r2, imm</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 	 / \ 		madd r1,r2,r3,r4</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ptr a   b 		ld.add r1, [ptr]</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Register Allocation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Inifinite Virtual Register → Finite Physical Registers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Variables that are live simultaneously cannot share a register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Interference Graph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Nodes = Variables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Edges = Simultaneously live (conflicting)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200" b="0" i="0" u="none" strike="noStrike" spc="0">
                <a:solidFill>
                  <a:srgbClr val="404040">
                    <a:alpha val="100000"/>
                  </a:srgbClr>
                </a:solidFill>
                <a:latin typeface="Calibri" panose="020F0502020204030204"/>
              </a:defRPr>
            </a:lvl1pPr>
          </a:lstStyle>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Graph Coloring Algorithm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Input: Interference graph G, k physical registers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Goal: k-coloring (adjacent nodes get different colors)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Chaitin's Algorithm: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Remove nodes with degree &lt; k onto the stack</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If all nodes have degree &gt;= k, select one to spill to memory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Pop stack and assign colors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Insert load/store to handle spills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Linear Scan: O(n) complexity, commonly used in JIT compilation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PBQP: Partitioned Boolean Quadratic Programming</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2786955" y="4528461"/>
            <a:ext cx="3280410" cy="14516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7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b: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c: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d: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e: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523852" y="4812729"/>
            <a:ext cx="2263140" cy="883128"/>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b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c</a:t>
            </a:r>
            <a:endParaRPr lang="en-US" sz="7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d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e</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Register Allocation-GPU Cases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Unique Characteristics of GPU Register Allocation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p>
          <a:p>
            <a:pPr indent="0" algn="l">
              <a:lnSpc>
                <a:spcPct val="92000"/>
              </a:lnSpc>
              <a:spcBef>
                <a:spcPts val="1500"/>
              </a:spcBef>
            </a:pPr>
          </a:p>
          <a:p>
            <a:pPr indent="0" algn="l">
              <a:lnSpc>
                <a:spcPct val="92000"/>
              </a:lnSpc>
              <a:spcBef>
                <a:spcPts val="1500"/>
              </a:spcBef>
            </a:pPr>
          </a:p>
          <a:p>
            <a:pPr indent="0" algn="l">
              <a:lnSpc>
                <a:spcPct val="92000"/>
              </a:lnSpc>
              <a:spcBef>
                <a:spcPts val="1500"/>
              </a:spcBef>
            </a:p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More registers (fewer warps)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Fewer spills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May reduce parallelism; all data has zero latency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Latency cannot be hidden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a:bodyPr>
          <a:lstStyle>
            <a:lvl1pPr algn="l">
              <a:lnSpc>
                <a:spcPct val="83000"/>
              </a:lnSpc>
              <a:defRPr sz="2200" b="0" i="0" u="none" strike="noStrike" spc="0">
                <a:solidFill>
                  <a:srgbClr val="404040">
                    <a:alpha val="100000"/>
                  </a:srgbClr>
                </a:solidFill>
                <a:latin typeface="Calibri" panose="020F0502020204030204"/>
              </a:defRPr>
            </a:lvl1pPr>
          </a:lstStyle>
          <a:p>
            <a:pPr marL="279400" indent="-279400" algn="l">
              <a:lnSpc>
                <a:spcPct val="8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Triton Register Allocation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Indirectly controls register pressure via num_warps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83000"/>
              </a:lnSpc>
              <a:spcBef>
                <a:spcPts val="750"/>
              </a:spcBef>
            </a:pPr>
            <a:endParaRPr sz="1200"/>
          </a:p>
          <a:p>
            <a:pPr marL="342900" lvl="1" indent="0" algn="l">
              <a:lnSpc>
                <a:spcPct val="83000"/>
              </a:lnSpc>
              <a:spcBef>
                <a:spcPts val="750"/>
              </a:spcBef>
            </a:pPr>
            <a:endParaRPr sz="1200"/>
          </a:p>
          <a:p>
            <a:pPr marL="342900" lvl="1" indent="0" algn="l">
              <a:lnSpc>
                <a:spcPct val="83000"/>
              </a:lnSpc>
              <a:spcBef>
                <a:spcPts val="750"/>
              </a:spcBef>
            </a:pPr>
            <a:endParaRPr sz="1200"/>
          </a:p>
          <a:p>
            <a:pPr marL="342900" lvl="1" indent="0" algn="l">
              <a:lnSpc>
                <a:spcPct val="83000"/>
              </a:lnSpc>
              <a:spcBef>
                <a:spcPts val="750"/>
              </a:spcBef>
            </a:pPr>
            <a:endParaRPr sz="1200"/>
          </a:p>
          <a:p>
            <a:pPr marL="279400" indent="-279400" algn="l">
              <a:lnSpc>
                <a:spcPct val="8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Configuration Tradeoffs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64 registers per thread, Occupancy 50%</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83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No spills, sufficient warps to hide latency, good performance</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32 registers per thread, Occupancy 100%</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83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Some data spills to Local Memory; although more warps, the spill penalty is large, poor performance</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200 registers per thread, Occupancy 15%</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83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No spills, but too few warps to hide memory latency, poor performance</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7" name="Table 7"/>
          <p:cNvGraphicFramePr>
            <a:graphicFrameLocks noGrp="1"/>
          </p:cNvGraphicFramePr>
          <p:nvPr/>
        </p:nvGraphicFramePr>
        <p:xfrm>
          <a:off x="741412" y="2137528"/>
          <a:ext cx="5123180" cy="1854200"/>
        </p:xfrm>
        <a:graphic>
          <a:graphicData uri="http://schemas.openxmlformats.org/drawingml/2006/table">
            <a:tbl>
              <a:tblPr>
                <a:effectLst/>
              </a:tblPr>
              <a:tblGrid>
                <a:gridCol w="1707515"/>
                <a:gridCol w="1708150"/>
                <a:gridCol w="1707515"/>
              </a:tblGrid>
              <a:tr h="370840">
                <a:tc>
                  <a:txBody>
                    <a:bodyPr rtlCol="0"/>
                    <a:lstStyle/>
                    <a:p>
                      <a:pPr indent="0" algn="l">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Feature</a:t>
                      </a:r>
                      <a:endParaRPr lang="en-US" sz="1200" b="1" i="0" u="none" strike="noStrike">
                        <a:solidFill>
                          <a:srgbClr val="FFFFFF"/>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CPU</a:t>
                      </a:r>
                      <a:endParaRPr lang="en-US" sz="1600" b="0" i="0" u="none" strike="noStrike">
                        <a:solidFill>
                          <a:srgbClr val="FFFFFF"/>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GPU</a:t>
                      </a:r>
                      <a:endParaRPr lang="en-US" sz="1600" b="0" i="0" u="none" strike="noStrike">
                        <a:solidFill>
                          <a:srgbClr val="FFFFFF"/>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7084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Register Size</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~16-32</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~255 per thread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Parallelism</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Small</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Thousands</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84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Overflow Cost</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Low</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High</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Occupation</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No harm</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Direct Influence</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sp>
        <p:nvSpPr>
          <p:cNvPr id="8" name="AutoShape 8"/>
          <p:cNvSpPr/>
          <p:nvPr/>
        </p:nvSpPr>
        <p:spPr>
          <a:xfrm>
            <a:off x="6746240" y="2257425"/>
            <a:ext cx="4594860" cy="98361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0" u="none" strike="noStrike">
                <a:solidFill>
                  <a:srgbClr val="EFB080"/>
                </a:solidFill>
                <a:latin typeface="Menlo" panose="020B0609030804020204"/>
                <a:ea typeface="Menlo" panose="020B0609030804020204"/>
                <a:cs typeface="Menlo" panose="020B0609030804020204"/>
                <a:sym typeface="Menlo" panose="020B0609030804020204"/>
              </a:rPr>
              <a:t>kernel</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t>
            </a:r>
            <a:b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Many warps → each warp has fewer register → High Occupancy</a:t>
            </a:r>
            <a:endParaRPr lang="en-US" sz="1000"/>
          </a:p>
          <a:p>
            <a:pPr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kernel</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grid</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CCCCCC"/>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1" u="none" strike="noStrike">
                <a:solidFill>
                  <a:srgbClr val="D6D6DD"/>
                </a:solidFill>
                <a:latin typeface="Menlo" panose="020B0609030804020204"/>
                <a:ea typeface="Menlo" panose="020B0609030804020204"/>
                <a:cs typeface="Menlo" panose="020B0609030804020204"/>
                <a:sym typeface="Menlo" panose="020B0609030804020204"/>
              </a:rPr>
              <a:t>num_warps</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BC88D"/>
                </a:solidFill>
                <a:latin typeface="Menlo" panose="020B0609030804020204"/>
                <a:ea typeface="Menlo" panose="020B0609030804020204"/>
                <a:cs typeface="Menlo" panose="020B0609030804020204"/>
                <a:sym typeface="Menlo" panose="020B0609030804020204"/>
              </a:rPr>
              <a:t>8</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Instruction Scheduling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Minimize execution time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Hide latency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Exploit Instruction-Level Parallelism (ILP)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251090" y="3534887"/>
            <a:ext cx="4133592" cy="22288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Instruction Sequence:</a:t>
            </a:r>
            <a:endParaRPr lang="en-US" sz="1000"/>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1: r1 = load [ptr1] Delay: 300 cycles</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2: r2 = load [ptr2] Delay: 300 cycles</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3: r3 = r1 + r2 depend on 1, 2</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4: r4 = r3 * 2 depend on 3</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5: store [ptr3], r4 depend on 4</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4469130" y="3534887"/>
            <a:ext cx="3131820" cy="22288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Dependency graph:</a:t>
            </a:r>
            <a:endParaRPr lang="en-US" sz="1000"/>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load1 (300) load2 (300)</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 			/</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add (4)</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mul (4)</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store</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7772399" y="3534887"/>
            <a:ext cx="4122421" cy="22288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Scheduling Result (2-issue):</a:t>
            </a:r>
            <a:endParaRPr lang="en-US" sz="1000"/>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Cycle 0: load1, load2 (parallel)</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Cycle 300: add (wait load)</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Cycle 304: mul</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Cycle 308: store</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Instruction Scheduling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List Scheduling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Priority Queue Scheduling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Compute the priority of each instruction (critical path length)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Maintain a ready queue (dependencies satisfied)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Each cycle, select the highest-priority ready instruction to issue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Update dependency state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Software Pipelining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Overlap instruction execution from different iterations within a loop.</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Software Pipelining Implementation on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uses the num_stages parameter to control pipelining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Asynchronous memory copy (cp.async)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Hopper TMA natively supports multi-stage pipelining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741652" y="5044379"/>
            <a:ext cx="4973957" cy="1566546"/>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Iter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Stage1(Load)</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Stage2(Compute)</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Stage3(Store)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T=0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load[0]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T=1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load[1]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compute[0]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T=2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load[2]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compute[1]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store[0]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T=3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load[3]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compute[2]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store[1]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6590166" y="3647399"/>
            <a:ext cx="5211282" cy="2708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00"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000"/>
          </a:p>
          <a:p>
            <a:pPr indent="0" algn="l">
              <a:lnSpc>
                <a:spcPct val="100000"/>
              </a:lnSpc>
            </a:pPr>
            <a:r>
              <a:rPr lang="en-US" sz="120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0" u="none" strike="noStrike">
                <a:solidFill>
                  <a:srgbClr val="EFB080"/>
                </a:solidFill>
                <a:latin typeface="Menlo" panose="020B0609030804020204"/>
                <a:ea typeface="Menlo" panose="020B0609030804020204"/>
                <a:cs typeface="Menlo" panose="020B0609030804020204"/>
                <a:sym typeface="Menlo" panose="020B0609030804020204"/>
              </a:rPr>
              <a:t>matmul_kernel</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endParaRPr sz="1200"/>
          </a:p>
          <a:p>
            <a:pPr marL="457200" lvl="1" indent="0" algn="l">
              <a:lnSpc>
                <a:spcPct val="100000"/>
              </a:lnSpc>
            </a:pP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num_stages control pipeline depth</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k </a:t>
            </a:r>
            <a:r>
              <a:rPr lang="en-US" sz="12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0" u="none" strike="noStrike">
                <a:solidFill>
                  <a:srgbClr val="EFB080"/>
                </a:solidFill>
                <a:latin typeface="Menlo" panose="020B0609030804020204"/>
                <a:ea typeface="Menlo" panose="020B0609030804020204"/>
                <a:cs typeface="Menlo" panose="020B0609030804020204"/>
                <a:sym typeface="Menlo" panose="020B0609030804020204"/>
              </a:rPr>
              <a:t>range</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K</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BLOCK_K</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endParaRPr sz="1200"/>
          </a:p>
          <a:p>
            <a:pPr marL="914400" lvl="2" indent="0" algn="l">
              <a:lnSpc>
                <a:spcPct val="100000"/>
              </a:lnSpc>
            </a:pP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Stage 1: Prefetch next tile</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tl</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A_ptr_next</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0" u="none" strike="noStrike">
                <a:solidFill>
                  <a:srgbClr val="CCCCCC"/>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asynchrous</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endParaRPr sz="1200"/>
          </a:p>
          <a:p>
            <a:pPr marL="914400" lvl="2" indent="0" algn="l">
              <a:lnSpc>
                <a:spcPct val="100000"/>
              </a:lnSpc>
            </a:pP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Stage 2: Compute current tile</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acc </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AA0FA"/>
                </a:solidFill>
                <a:latin typeface="Menlo" panose="020B0609030804020204"/>
                <a:ea typeface="Menlo" panose="020B0609030804020204"/>
                <a:cs typeface="Menlo" panose="020B0609030804020204"/>
                <a:sym typeface="Menlo" panose="020B0609030804020204"/>
              </a:rPr>
              <a:t>dot</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a</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t> acc</a:t>
            </a:r>
            <a:r>
              <a:rPr lang="en-US" sz="12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00" b="0" i="1" u="none" strike="noStrike">
                <a:solidFill>
                  <a:srgbClr val="E4E4E4"/>
                </a:solidFill>
                <a:latin typeface="Menlo" panose="020B0609030804020204"/>
                <a:ea typeface="Menlo" panose="020B0609030804020204"/>
                <a:cs typeface="Menlo" panose="020B0609030804020204"/>
                <a:sym typeface="Menlo" panose="020B0609030804020204"/>
              </a:rPr>
              <a:t># Hidden pipeline: load and compute</a:t>
            </a:r>
            <a:endParaRPr lang="en-US" sz="1200" b="0" i="1"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LLVM Code Generation Framework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LLVM IR -&gt; SelectionDAG -&gt; Machine IR (MIR) -&gt; MC Layer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1953491"/>
            <a:ext cx="768741" cy="399010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LLVM</a:t>
            </a:r>
            <a:endParaRPr lang="en-US" sz="1000" b="1">
              <a:latin typeface="Arial Bold" panose="020B0604020202090204" charset="0"/>
              <a:cs typeface="Arial Bold" panose="020B0604020202090204" charset="0"/>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IR</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p:txBody>
      </p:sp>
      <p:sp>
        <p:nvSpPr>
          <p:cNvPr id="7" name="AutoShape 7"/>
          <p:cNvSpPr/>
          <p:nvPr/>
        </p:nvSpPr>
        <p:spPr>
          <a:xfrm>
            <a:off x="1932894" y="1953491"/>
            <a:ext cx="4163105" cy="3990109"/>
          </a:xfrm>
          <a:prstGeom prst="rect">
            <a:avLst/>
          </a:prstGeom>
          <a:solidFill>
            <a:srgbClr val="ED7D31">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SelectionDAG</a:t>
            </a:r>
            <a:endParaRPr lang="en-US" sz="1000" b="1">
              <a:latin typeface="Arial Bold" panose="020B0604020202090204" charset="0"/>
              <a:cs typeface="Arial Bold" panose="020B0604020202090204" charset="0"/>
            </a:endParaRPr>
          </a:p>
          <a:p>
            <a:pPr indent="0" algn="ctr">
              <a:lnSpc>
                <a:spcPct val="100000"/>
              </a:lnSpc>
            </a:pPr>
            <a:endParaRPr sz="1200" b="1">
              <a:latin typeface="Arial Bold" panose="020B0604020202090204" charset="0"/>
              <a:cs typeface="Arial Bold" panose="020B0604020202090204" charset="0"/>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1. DAG Construction (Build DAG)</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2. Type Legalization</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3. Operation Legalization</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4. DAG Optimization (DAG Combine)</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5. Instruction Selection</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6. Scheduling</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p:txBody>
      </p:sp>
      <p:sp>
        <p:nvSpPr>
          <p:cNvPr id="8" name="AutoShape 8"/>
          <p:cNvSpPr/>
          <p:nvPr/>
        </p:nvSpPr>
        <p:spPr>
          <a:xfrm>
            <a:off x="6518748" y="1953490"/>
            <a:ext cx="2999325" cy="3990109"/>
          </a:xfrm>
          <a:prstGeom prst="rect">
            <a:avLst/>
          </a:prstGeom>
          <a:solidFill>
            <a:srgbClr val="70AD47">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Machine IR (MIR) </a:t>
            </a:r>
            <a:endParaRPr lang="en-US" sz="1000" b="1">
              <a:latin typeface="Arial Bold" panose="020B0604020202090204" charset="0"/>
              <a:cs typeface="Arial Bold" panose="020B0604020202090204" charset="0"/>
            </a:endParaRPr>
          </a:p>
          <a:p>
            <a:pPr marL="228600" indent="-228600" algn="ctr">
              <a:lnSpc>
                <a:spcPct val="100000"/>
              </a:lnSpc>
              <a:buClr>
                <a:srgbClr val="FFFFFF"/>
              </a:buClr>
              <a:buFont typeface="+mj-lt"/>
              <a:buAutoNum type="arabicPeriod"/>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Machine Instructions in SSA Form</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marL="228600" indent="-228600" algn="ctr">
              <a:lnSpc>
                <a:spcPct val="100000"/>
              </a:lnSpc>
              <a:buClr>
                <a:srgbClr val="FFFFFF"/>
              </a:buClr>
              <a:buFont typeface="+mj-lt"/>
              <a:buAutoNum type="arabicPeriod"/>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Register Allocation</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marL="228600" indent="-228600" algn="ctr">
              <a:lnSpc>
                <a:spcPct val="100000"/>
              </a:lnSpc>
              <a:buClr>
                <a:srgbClr val="FFFFFF"/>
              </a:buClr>
              <a:buFont typeface="+mj-lt"/>
              <a:buAutoNum type="arabicPeriod"/>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Prologue/Epilogue Insertion</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a:p>
            <a:pPr marL="228600" indent="-228600" algn="ctr">
              <a:lnSpc>
                <a:spcPct val="100000"/>
              </a:lnSpc>
              <a:buClr>
                <a:srgbClr val="FFFFFF"/>
              </a:buClr>
              <a:buFont typeface="+mj-lt"/>
              <a:buAutoNum type="arabicPeriod"/>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Late Machine Code Optimization</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p:txBody>
      </p:sp>
      <p:sp>
        <p:nvSpPr>
          <p:cNvPr id="9" name="AutoShape 9"/>
          <p:cNvSpPr/>
          <p:nvPr/>
        </p:nvSpPr>
        <p:spPr>
          <a:xfrm>
            <a:off x="9940823" y="1953490"/>
            <a:ext cx="1860652" cy="3990109"/>
          </a:xfrm>
          <a:prstGeom prst="rect">
            <a:avLst/>
          </a:prstGeom>
          <a:solidFill>
            <a:srgbClr val="FFC000">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Assembly Emission</a:t>
            </a:r>
            <a:endParaRPr lang="en-US" sz="1000" b="1">
              <a:latin typeface="Arial Bold" panose="020B0604020202090204" charset="0"/>
              <a:cs typeface="Arial Bold" panose="020B0604020202090204" charset="0"/>
            </a:endParaRPr>
          </a:p>
          <a:p>
            <a:pPr indent="0" algn="ctr">
              <a:lnSpc>
                <a:spcPct val="100000"/>
              </a:lnSpc>
            </a:pPr>
            <a:endParaRPr sz="1200" b="1">
              <a:latin typeface="Arial Bold" panose="020B0604020202090204" charset="0"/>
              <a:cs typeface="Arial Bold" panose="020B0604020202090204" charset="0"/>
            </a:endParaRPr>
          </a:p>
          <a:p>
            <a:pPr indent="0" algn="ctr">
              <a:lnSpc>
                <a:spcPct val="100000"/>
              </a:lnSpc>
            </a:pPr>
            <a:r>
              <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rPr>
              <a:t>Object File Generation</a:t>
            </a:r>
            <a:endParaRPr lang="en-US" sz="1600" b="1" i="0" u="none" strike="noStrike">
              <a:solidFill>
                <a:srgbClr val="FFFFFF"/>
              </a:solidFill>
              <a:latin typeface="Arial Bold" panose="020B0604020202090204" charset="0"/>
              <a:ea typeface="Arial" panose="020B0604020202020204"/>
              <a:cs typeface="Arial Bold" panose="020B0604020202090204" charset="0"/>
              <a:sym typeface="Arial" panose="020B0604020202020204"/>
            </a:endParaRPr>
          </a:p>
        </p:txBody>
      </p:sp>
      <p:cxnSp>
        <p:nvCxnSpPr>
          <p:cNvPr id="10" name="Connector 10"/>
          <p:cNvCxnSpPr/>
          <p:nvPr/>
        </p:nvCxnSpPr>
        <p:spPr>
          <a:xfrm>
            <a:off x="1510145" y="3948546"/>
            <a:ext cx="422749" cy="0"/>
          </a:xfrm>
          <a:prstGeom prst="straightConnector1">
            <a:avLst/>
          </a:prstGeom>
          <a:noFill/>
          <a:ln w="63500" cap="flat">
            <a:solidFill>
              <a:srgbClr val="4472C4">
                <a:alpha val="100000"/>
              </a:srgbClr>
            </a:solidFill>
            <a:prstDash val="solid"/>
            <a:headEnd type="none" w="med" len="med"/>
            <a:tailEnd type="triangle" w="med" len="med"/>
          </a:ln>
        </p:spPr>
      </p:cxnSp>
      <p:cxnSp>
        <p:nvCxnSpPr>
          <p:cNvPr id="11" name="Connector 11"/>
          <p:cNvCxnSpPr/>
          <p:nvPr/>
        </p:nvCxnSpPr>
        <p:spPr>
          <a:xfrm flipV="1">
            <a:off x="6095999" y="3948545"/>
            <a:ext cx="422749" cy="1"/>
          </a:xfrm>
          <a:prstGeom prst="straightConnector1">
            <a:avLst/>
          </a:prstGeom>
          <a:noFill/>
          <a:ln w="63500" cap="flat">
            <a:solidFill>
              <a:srgbClr val="4472C4">
                <a:alpha val="100000"/>
              </a:srgbClr>
            </a:solidFill>
            <a:prstDash val="solid"/>
            <a:headEnd type="none" w="med" len="med"/>
            <a:tailEnd type="triangle" w="med" len="med"/>
          </a:ln>
        </p:spPr>
      </p:cxnSp>
      <p:cxnSp>
        <p:nvCxnSpPr>
          <p:cNvPr id="12" name="Connector 12"/>
          <p:cNvCxnSpPr/>
          <p:nvPr/>
        </p:nvCxnSpPr>
        <p:spPr>
          <a:xfrm>
            <a:off x="9518073" y="3948545"/>
            <a:ext cx="422750" cy="0"/>
          </a:xfrm>
          <a:prstGeom prst="straightConnector1">
            <a:avLst/>
          </a:prstGeom>
          <a:noFill/>
          <a:ln w="63500" cap="flat">
            <a:solidFill>
              <a:srgbClr val="4472C4">
                <a:alpha val="100000"/>
              </a:srgbClr>
            </a:solidFill>
            <a:prstDash val="solid"/>
            <a:headEnd type="none" w="med" len="med"/>
            <a:tailEnd type="triangle"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SelectionDAG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Node Types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Opcode: ADD, MUL, LOAD, STORE,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Type: i32, f32, v4f32,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Operand Chain: Dependency relationships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Debug Information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Type Legalization (when the target machine does not support certain types)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Original: add i128 %a, %b</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Legalized (split into two i64s):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%lo = add i64 %a.lo, %b.lo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%carry =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%hi = add i64 %a.hi, %b.hi</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%hi = add i64 %hi, %carry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897657" y="3646573"/>
            <a:ext cx="2114163" cy="242533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Machine IR and Target Description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MIR Stage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Still uses virtual registers (%vreg0, %vreg1,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After register allocation, converted to physical registers (%eax, %r0,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Add function prologue/epilogue (stack frame setup)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200" b="0" i="0" u="none" strike="noStrike" spc="0">
                <a:solidFill>
                  <a:srgbClr val="404040">
                    <a:alpha val="100000"/>
                  </a:srgbClr>
                </a:solidFill>
                <a:latin typeface="Calibri" panose="020F0502020204030204"/>
              </a:defRPr>
            </a:lvl1pPr>
          </a:lstStyle>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Target.td - Target Architecture Description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Register Defination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def R0 : Register&lt;"r0"&gt;;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def R1 : Register&lt;"r1"&gt;;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def GPR : RegisterClass&lt;"GPR", [i32], 32, (add R0, R1, R2, ...)&gt;;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Defination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def ADDrr : Instruction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let OutOperandList = (outs GPR:$dst);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let InOperandList = (ins GPR:$src1, GPR:$src2);</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let AsmString = "add $dst, $src1, $src2";</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let Pattern = [(set GPR:$dst, (add GPR:$src1, GPR:$src2))];}</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900545" y="3928930"/>
            <a:ext cx="4156364" cy="46412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%1 = add i32 %a, %b</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900545" y="5070848"/>
            <a:ext cx="4156364" cy="46412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ADD32rr %vreg1, %vreg2</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2867891" y="4448475"/>
            <a:ext cx="221672" cy="566954"/>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LLVM NVPTX Backend Structure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Copilation from LLVM IR to NVIDIA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611815" y="1995060"/>
            <a:ext cx="8968483" cy="1025237"/>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E4E4E4"/>
                </a:solidFill>
                <a:latin typeface="Arial" panose="020B0604020202020204"/>
                <a:ea typeface="Arial" panose="020B0604020202020204"/>
                <a:cs typeface="Arial" panose="020B0604020202020204"/>
                <a:sym typeface="Arial" panose="020B0604020202020204"/>
              </a:rPr>
              <a:t>LLVM IR       Internal Functions:</a:t>
            </a:r>
            <a:endParaRPr lang="en-US" sz="1100"/>
          </a:p>
          <a:p>
            <a:pPr indent="0" algn="ctr">
              <a:lnSpc>
                <a:spcPct val="100000"/>
              </a:lnSpc>
            </a:pPr>
            <a:r>
              <a:rPr lang="en-US" sz="1600" b="0" i="0" u="none" strike="noStrike">
                <a:solidFill>
                  <a:srgbClr val="E4E4E4"/>
                </a:solidFill>
                <a:latin typeface="Arial" panose="020B0604020202020204"/>
                <a:ea typeface="Arial" panose="020B0604020202020204"/>
                <a:cs typeface="Arial" panose="020B0604020202020204"/>
                <a:sym typeface="Arial" panose="020B0604020202020204"/>
              </a:rPr>
              <a:t>llvm.nvvm.read.ptx.sreg.tid.x (Thread ID)</a:t>
            </a:r>
            <a:endParaRPr lang="en-US" sz="1600" b="0" i="0" u="none" strike="noStrike">
              <a:solidFill>
                <a:srgbClr val="E4E4E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600" b="0" i="0" u="none" strike="noStrike">
                <a:solidFill>
                  <a:srgbClr val="E4E4E4"/>
                </a:solidFill>
                <a:latin typeface="Arial" panose="020B0604020202020204"/>
                <a:ea typeface="Arial" panose="020B0604020202020204"/>
                <a:cs typeface="Arial" panose="020B0604020202020204"/>
                <a:sym typeface="Arial" panose="020B0604020202020204"/>
              </a:rPr>
              <a:t>llvm.nvvm.barrier0 (Sychronization)</a:t>
            </a:r>
            <a:endParaRPr lang="en-US" sz="1600" b="0" i="0" u="none" strike="noStrike">
              <a:solidFill>
                <a:srgbClr val="E4E4E4"/>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600" b="0" i="0" u="none" strike="noStrike">
                <a:solidFill>
                  <a:srgbClr val="E4E4E4"/>
                </a:solidFill>
                <a:latin typeface="Arial" panose="020B0604020202020204"/>
                <a:ea typeface="Arial" panose="020B0604020202020204"/>
                <a:cs typeface="Arial" panose="020B0604020202020204"/>
                <a:sym typeface="Arial" panose="020B0604020202020204"/>
              </a:rPr>
              <a:t>llvm.nvvm.shfl.* (warp shuffle) </a:t>
            </a:r>
            <a:endParaRPr lang="en-US" sz="1600" b="0" i="0" u="none" strike="noStrike">
              <a:solidFill>
                <a:srgbClr val="E4E4E4"/>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1611863" y="3442754"/>
            <a:ext cx="8968387" cy="1025237"/>
          </a:xfrm>
          <a:prstGeom prst="rect">
            <a:avLst/>
          </a:prstGeom>
          <a:solidFill>
            <a:srgbClr val="ED7D31">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NVPTX Instrution Selection</a:t>
            </a:r>
            <a:endParaRPr lang="en-US" sz="1100"/>
          </a:p>
          <a:p>
            <a:pPr indent="0" algn="ctr">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Memory Address Mapping: addrspace(1)=global, addrspace(3)=shared</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ctr">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Tensor Core Instruction Mapping</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ctr">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Special Function Calls </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1611815" y="4896288"/>
            <a:ext cx="8968483" cy="1025237"/>
          </a:xfrm>
          <a:prstGeom prst="rect">
            <a:avLst/>
          </a:prstGeom>
          <a:solidFill>
            <a:srgbClr val="70AD47">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PTX Assembly Issue</a:t>
            </a:r>
            <a:endParaRPr lang="en-US" sz="1100"/>
          </a:p>
          <a:p>
            <a:pPr indent="0" algn="ctr">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Registers Prefixed with %r, %f, %p</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ctr">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Memory operations with address space qualifiers</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ctr">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Output .ptx file</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cxnSp>
        <p:nvCxnSpPr>
          <p:cNvPr id="9" name="Connector 9"/>
          <p:cNvCxnSpPr/>
          <p:nvPr/>
        </p:nvCxnSpPr>
        <p:spPr>
          <a:xfrm>
            <a:off x="6096000" y="3020932"/>
            <a:ext cx="0" cy="422275"/>
          </a:xfrm>
          <a:prstGeom prst="straightConnector1">
            <a:avLst/>
          </a:prstGeom>
          <a:noFill/>
          <a:ln w="63500" cap="flat">
            <a:solidFill>
              <a:srgbClr val="4472C4">
                <a:alpha val="100000"/>
              </a:srgbClr>
            </a:solidFill>
            <a:prstDash val="solid"/>
            <a:headEnd type="none" w="med" len="med"/>
            <a:tailEnd type="triangle" w="med" len="med"/>
          </a:ln>
        </p:spPr>
      </p:cxnSp>
      <p:cxnSp>
        <p:nvCxnSpPr>
          <p:cNvPr id="10" name="Connector 10"/>
          <p:cNvCxnSpPr/>
          <p:nvPr/>
        </p:nvCxnSpPr>
        <p:spPr>
          <a:xfrm>
            <a:off x="6096000" y="4468371"/>
            <a:ext cx="0" cy="427990"/>
          </a:xfrm>
          <a:prstGeom prst="straightConnector1">
            <a:avLst/>
          </a:prstGeom>
          <a:noFill/>
          <a:ln w="63500" cap="flat">
            <a:solidFill>
              <a:srgbClr val="4472C4">
                <a:alpha val="100000"/>
              </a:srgbClr>
            </a:solidFill>
            <a:prstDash val="solid"/>
            <a:headEnd type="none" w="med" len="med"/>
            <a:tailEnd type="triangle"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Code Generation Visualization Tools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LLVM IR</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triton-opt --dump-llir kernel.py &gt; kernel.ll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SelectionDAG</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llc -view-dag-combine1-dags kernel.ll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MIR</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llc -print-after-all kernel.ll 2&gt;&amp;1 | less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PTX</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triton-opt --dump-ptx kernel.py &gt; kernel.ptx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 Compilation Results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4003964"/>
            <a:ext cx="7931541" cy="2050472"/>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compiled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triton</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compile</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add_kernel</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D6D6DD"/>
                </a:solidFill>
                <a:latin typeface="Menlo" panose="020B0609030804020204"/>
                <a:ea typeface="Menlo" panose="020B0609030804020204"/>
                <a:cs typeface="Menlo" panose="020B0609030804020204"/>
                <a:sym typeface="Menlo" panose="020B0609030804020204"/>
              </a:rPr>
              <a:t>signature</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"*fp32,*fp32,*fp32,i32"</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00"/>
          </a:p>
          <a:p>
            <a:pPr indent="0" algn="l">
              <a:lnSpc>
                <a:spcPct val="100000"/>
              </a:lnSpc>
            </a:pPr>
            <a:r>
              <a:rPr lang="en-US" sz="1400" b="0" i="1" u="none" strike="noStrike">
                <a:solidFill>
                  <a:srgbClr val="D6D6DD"/>
                </a:solidFill>
                <a:latin typeface="Menlo" panose="020B0609030804020204"/>
                <a:ea typeface="Menlo" panose="020B0609030804020204"/>
                <a:cs typeface="Menlo" panose="020B0609030804020204"/>
                <a:sym typeface="Menlo" panose="020B0609030804020204"/>
              </a:rPr>
              <a:t>constants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"BLOCK"</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BC88D"/>
                </a:solidFill>
                <a:latin typeface="Menlo" panose="020B0609030804020204"/>
                <a:ea typeface="Menlo" panose="020B0609030804020204"/>
                <a:cs typeface="Menlo" panose="020B0609030804020204"/>
                <a:sym typeface="Menlo" panose="020B0609030804020204"/>
              </a:rPr>
              <a:t>1024</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b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b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Obtain IR of different stages</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ttir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'ttir'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Triton IR</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ttgir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'ttgir'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TritonGPU IR </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llir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'llir'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LLVM IR</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ptx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'ptx'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Multi-Level Intermediate Representation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Supports multi-level, extensible IR, suitable for DSL and accelerator compilation</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Dialect is the core design unit</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set of related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Types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Attributes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Lowering implementation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Common MLIR Dialects: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arith — arithmetic operations; scf — structured control flow; triton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Dialects used by the Triton compiler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Triton — tensor operations, block-level abstraction →TritonGPU — GPU parallelism, layout, memory hierarchy →LLVM — low-level operations, close to machine code</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p>
          <a:p>
            <a:pPr indent="0" algn="l">
              <a:lnSpc>
                <a:spcPct val="92000"/>
              </a:lnSpc>
              <a:spcBef>
                <a:spcPts val="1500"/>
              </a:spcBef>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77051" y="1929130"/>
            <a:ext cx="2597785" cy="256540"/>
          </a:xfrm>
          <a:prstGeom prst="rect">
            <a:avLst/>
          </a:prstGeom>
          <a:ln w="12700">
            <a:noFill/>
            <a:prstDash val="solid"/>
          </a:ln>
        </p:spPr>
      </p:pic>
      <p:sp>
        <p:nvSpPr>
          <p:cNvPr id="7" name="AutoShape 7"/>
          <p:cNvSpPr/>
          <p:nvPr/>
        </p:nvSpPr>
        <p:spPr>
          <a:xfrm>
            <a:off x="9109026" y="1918335"/>
            <a:ext cx="685800" cy="267335"/>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8993456" y="2410460"/>
            <a:ext cx="91757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attribute</a:t>
            </a:r>
            <a:endParaRPr lang="en-US" sz="1100"/>
          </a:p>
        </p:txBody>
      </p:sp>
      <p:sp>
        <p:nvSpPr>
          <p:cNvPr id="9" name="AutoShape 9"/>
          <p:cNvSpPr/>
          <p:nvPr/>
        </p:nvSpPr>
        <p:spPr>
          <a:xfrm>
            <a:off x="7277051" y="1929130"/>
            <a:ext cx="396875" cy="267335"/>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7135446" y="2360295"/>
            <a:ext cx="68008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result</a:t>
            </a:r>
            <a:endParaRPr lang="en-US" sz="1100"/>
          </a:p>
        </p:txBody>
      </p:sp>
      <p:pic>
        <p:nvPicPr>
          <p:cNvPr id="11" name="Picture 11"/>
          <p:cNvPicPr>
            <a:picLocks noChangeAspect="1"/>
          </p:cNvPicPr>
          <p:nvPr/>
        </p:nvPicPr>
        <p:blipFill>
          <a:blip r:embed="rId2"/>
          <a:srcRect/>
          <a:stretch>
            <a:fillRect/>
          </a:stretch>
        </p:blipFill>
        <p:spPr>
          <a:xfrm>
            <a:off x="6969076" y="3077845"/>
            <a:ext cx="3759835" cy="889000"/>
          </a:xfrm>
          <a:prstGeom prst="rect">
            <a:avLst/>
          </a:prstGeom>
          <a:ln w="12700">
            <a:noFill/>
            <a:prstDash val="solid"/>
          </a:ln>
        </p:spPr>
      </p:pic>
      <p:sp>
        <p:nvSpPr>
          <p:cNvPr id="12" name="AutoShape 12"/>
          <p:cNvSpPr/>
          <p:nvPr/>
        </p:nvSpPr>
        <p:spPr>
          <a:xfrm>
            <a:off x="8307656" y="3027045"/>
            <a:ext cx="2179955" cy="267335"/>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13" name="Connector 13"/>
          <p:cNvCxnSpPr/>
          <p:nvPr/>
        </p:nvCxnSpPr>
        <p:spPr>
          <a:xfrm rot="10800000">
            <a:off x="9451926" y="2185670"/>
            <a:ext cx="635" cy="224790"/>
          </a:xfrm>
          <a:prstGeom prst="line">
            <a:avLst/>
          </a:prstGeom>
          <a:noFill/>
          <a:ln w="12700" cap="flat">
            <a:solidFill>
              <a:srgbClr val="4472C4">
                <a:alpha val="100000"/>
              </a:srgbClr>
            </a:solidFill>
            <a:prstDash val="solid"/>
            <a:headEnd type="none" w="med" len="med"/>
            <a:tailEnd type="none" w="med" len="med"/>
          </a:ln>
        </p:spPr>
      </p:cxnSp>
      <p:cxnSp>
        <p:nvCxnSpPr>
          <p:cNvPr id="14" name="Connector 14"/>
          <p:cNvCxnSpPr/>
          <p:nvPr/>
        </p:nvCxnSpPr>
        <p:spPr>
          <a:xfrm flipV="1">
            <a:off x="9397951" y="2747645"/>
            <a:ext cx="54610" cy="279400"/>
          </a:xfrm>
          <a:prstGeom prst="line">
            <a:avLst/>
          </a:prstGeom>
          <a:noFill/>
          <a:ln w="12700" cap="flat">
            <a:solidFill>
              <a:srgbClr val="4472C4">
                <a:alpha val="100000"/>
              </a:srgbClr>
            </a:solidFill>
            <a:prstDash val="solid"/>
            <a:headEnd type="none" w="med" len="med"/>
            <a:tailEnd type="none" w="med" len="med"/>
          </a:ln>
        </p:spPr>
      </p:cxnSp>
      <p:cxnSp>
        <p:nvCxnSpPr>
          <p:cNvPr id="15" name="Connector 15"/>
          <p:cNvCxnSpPr/>
          <p:nvPr/>
        </p:nvCxnSpPr>
        <p:spPr>
          <a:xfrm flipV="1">
            <a:off x="7475806" y="2196465"/>
            <a:ext cx="0" cy="163830"/>
          </a:xfrm>
          <a:prstGeom prst="line">
            <a:avLst/>
          </a:prstGeom>
          <a:noFill/>
          <a:ln w="12700" cap="flat">
            <a:solidFill>
              <a:srgbClr val="4472C4">
                <a:alpha val="100000"/>
              </a:srgbClr>
            </a:solidFill>
            <a:prstDash val="solid"/>
            <a:headEnd type="none" w="med" len="med"/>
            <a:tailEnd type="none" w="med" len="med"/>
          </a:ln>
        </p:spPr>
      </p:cxnSp>
      <p:sp>
        <p:nvSpPr>
          <p:cNvPr id="16" name="AutoShape 16"/>
          <p:cNvSpPr/>
          <p:nvPr/>
        </p:nvSpPr>
        <p:spPr>
          <a:xfrm>
            <a:off x="9109026" y="3952875"/>
            <a:ext cx="92900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operand</a:t>
            </a:r>
            <a:endParaRPr lang="en-US" sz="1100"/>
          </a:p>
        </p:txBody>
      </p:sp>
      <p:sp>
        <p:nvSpPr>
          <p:cNvPr id="17" name="AutoShape 17"/>
          <p:cNvSpPr/>
          <p:nvPr/>
        </p:nvSpPr>
        <p:spPr>
          <a:xfrm>
            <a:off x="8483551" y="3294380"/>
            <a:ext cx="1249045" cy="246380"/>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18" name="Connector 18"/>
          <p:cNvCxnSpPr/>
          <p:nvPr/>
        </p:nvCxnSpPr>
        <p:spPr>
          <a:xfrm rot="10800000">
            <a:off x="9108391" y="3540760"/>
            <a:ext cx="465455" cy="412115"/>
          </a:xfrm>
          <a:prstGeom prst="line">
            <a:avLst/>
          </a:prstGeom>
          <a:noFill/>
          <a:ln w="12700" cap="flat">
            <a:solidFill>
              <a:srgbClr val="4472C4">
                <a:alpha val="100000"/>
              </a:srgbClr>
            </a:solidFill>
            <a:prstDash val="soli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Multi-Level Intermediate Representation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Supports conversions between dialects, allowing users to focus only on the optimization and lowering logic at the current level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708910" y="2186305"/>
            <a:ext cx="6774180" cy="45351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MLIR: CodeGen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73659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Create OpBuilder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 Op can Only be Created by Builder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MLIR will manage some internal types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Build Type by builder.getXXXType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Or XXXType::get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Set InsertionPoint in builder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 fill the Block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261100" y="958850"/>
            <a:ext cx="5775325" cy="54229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and MLIR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Dialect-&gt;Triton IR-&gt;LLVM IR-&gt;PTX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 Automatic Parallelism by SM and by Instance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289093" y="1735345"/>
            <a:ext cx="2080527" cy="1114204"/>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@jit</a:t>
            </a:r>
            <a:endParaRPr lang="en-US" sz="1100"/>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def add(X, Y, Z, N):</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pid = program_id(0)</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idx= pid * 512 + arange(512)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mask = idx &lt; N</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x = load(X + idx, mask=mask)</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y = load(Y + idx, mask=mask)</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store(Z + idx, x + y, mask=mask)</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289093" y="2958569"/>
            <a:ext cx="2961798" cy="3394607"/>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def void add(i32* X .aligned(16) , i32* Y .aligned(16) , i32* Z .aligned(16) , i32 N .multipleof(2) ) {</a:t>
            </a:r>
            <a:endParaRPr lang="en-US" sz="1100"/>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entry:</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%0 = get_program_id[0] i32;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%1 = mul i32 %0, 512;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%3 = make_range[0 : 512] i32&lt;512&gt;;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%4 = splat i32&lt;512&gt; %1;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%6 = add i32&lt;512&gt; %4, %3;</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%9 = splat i32&lt;512&gt; N;</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%11 = icmp_slt i1&lt;512&gt; %6, %9;</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%14 = splat i32*&lt;512&gt; X;</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%16 = getelementptr i32*&lt;512&gt; %14, %6;</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%19 = broadcast i1&lt;512&gt; %11;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%21 = splat i32&lt;512&gt; undef;</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%22 = masked_load i32&lt;512&gt; %16, %19, %21;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%26 = splat i32*&lt;512&gt; Y;</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%28 = getelementptr i32*&lt;512&gt; %26, %6;</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%31 = broadcast i1&lt;512&gt; %11;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%33 = splat i32&lt;512&gt; undef;</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%34 = masked_load i32&lt;512&gt; %28, %31, %33;</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%38 = splat i32*&lt;512&gt; Z;</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%40 = getelementptr i32*&lt;512&gt; %38, %6;</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%43 = add i32&lt;512&gt; %22, %34;</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%46 = broadcast i32&lt;512&gt; %43;</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%48 = broadcast i1&lt;512&gt; %11;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masked_store void %40, %46, %48;</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ret void;}</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3114419" y="1735328"/>
            <a:ext cx="3207101" cy="4423619"/>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visible .entry add(</a:t>
            </a:r>
            <a:endParaRPr lang="en-US" sz="1100"/>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.param .u64 add_param_0, .param .u64 add_param_1,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.param .u64 add_param_2, .param .u32 add_param_3</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.maxntid 128, 1, 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.reg .pred     %p&lt;4&gt;;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.reg .b32     %r&lt;18&gt;;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.reg .b64     %rd&lt;8&gt;;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ld.param.u64     %rd4, [add_param_0];</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ld.param.u64     %rd5, [add_param_1];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mov.u32     %r13, %tid.x;</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ld.param.u32     %r14, [add_param_3];</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shl.b32     %r15, %r13, 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mov.u32     %r16, %ctaid.x;</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mad.lo.s32     %r17, %r16, 512, %r15;</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setp.ge.s32     %p3, %r17, %r14;</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setp.lt.s32     %p1, %r17, %r14;</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mul.wide.s32     %rd7, %r17, 4;</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add.s64     %rd2, %rd4, %rd7;</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@%p1 ld.global.cg.v4.b32 {%r5,%r6,%r7,%r8}, [ %rd2 + 0];</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add.s64     %rd3, %rd5, %rd7;</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@%p1 ld.global.cg.v4.b32 {%r9,%r10,%r11,%r12}, [ %rd3 + 0];</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@%p3 bra     LBB0_2;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ld.param.u64     %rd6, [add_param_2];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add.s64     %rd1, %rd6, %rd7;</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add.s32     %r1, %r5, %r9;</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add.s32     %r2, %r6, %r10;</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add.s32     %r3, %r7, %r11;</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add.s32     %r4, %r8, %r12;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st.global.v4.u32     [%rd1], {%r1, %r2, %r3, %r4};</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LBB0_2:</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    ret;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8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1601086" y="2789237"/>
            <a:ext cx="105116" cy="169332"/>
          </a:xfrm>
          <a:prstGeom prst="downArrow">
            <a:avLst>
              <a:gd name="adj1" fmla="val 50000"/>
              <a:gd name="adj2" fmla="val 50000"/>
            </a:avLst>
          </a:prstGeom>
          <a:solidFill>
            <a:srgbClr val="4472C4">
              <a:alpha val="100000"/>
            </a:srgbClr>
          </a:solidFill>
          <a:ln w="12700" cap="flat" cmpd="sng">
            <a:solidFill>
              <a:srgbClr val="FFFFFF">
                <a:alpha val="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rot="-5400000">
            <a:off x="3032074" y="4442563"/>
            <a:ext cx="105116" cy="169332"/>
          </a:xfrm>
          <a:prstGeom prst="downArrow">
            <a:avLst>
              <a:gd name="adj1" fmla="val 50000"/>
              <a:gd name="adj2" fmla="val 50000"/>
            </a:avLst>
          </a:prstGeom>
          <a:solidFill>
            <a:srgbClr val="4472C4">
              <a:alpha val="100000"/>
            </a:srgbClr>
          </a:solidFill>
          <a:ln w="12700" cap="flat" cmpd="sng">
            <a:solidFill>
              <a:srgbClr val="FFFFFF">
                <a:alpha val="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pic>
        <p:nvPicPr>
          <p:cNvPr id="12" name="Picture 12"/>
          <p:cNvPicPr>
            <a:picLocks noChangeAspect="1"/>
          </p:cNvPicPr>
          <p:nvPr/>
        </p:nvPicPr>
        <p:blipFill>
          <a:blip r:embed="rId1"/>
          <a:srcRect/>
          <a:stretch>
            <a:fillRect/>
          </a:stretch>
        </p:blipFill>
        <p:spPr>
          <a:xfrm>
            <a:off x="6391827" y="2601767"/>
            <a:ext cx="5592486" cy="3190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Dialects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Most Triton dialects inherits from MLIR native dialects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Arith: addf, addi, constant, cmpf, cmpi,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Math: exp, sin, cos, log, absi, absf, sqrt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StructuredControlFlow: for, if, while, yield, condition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Reduce effort to LLVM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Leverage LLVM optimizer for nvcc-like optimization after lowring to LLVM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TTIR: From python AST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Tensor operation abstraction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parallelism representation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316345" y="2854960"/>
            <a:ext cx="5591175" cy="34099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module {</a:t>
            </a:r>
            <a:endParaRPr lang="en-US" sz="10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tt.func @add_kernel(%arg0: !tt.ptr&lt;f32&gt;,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%arg1: !tt.ptr&lt;f32&gt;,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%arg2: !tt.ptr&lt;f32&gt;,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%arg3: i32)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%c1024 = arith.constant 1024 : i32</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%pid = tt.get_program_id x : i32</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%offset = arith.muli %pid, %c1024 : i32</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%range = tt.make_range {end = 1024, start = 0} : tensor&lt;1024xi32&gt;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%offsets = arith.addi %offset_splat, %range : tensor&lt;1024xi32&gt;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加载</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%x = tt.load %ptr_x : tensor&lt;1024x!tt.ptr&lt;f32&gt;&gt;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%y = tt.load %ptr_y : tensor&lt;1024x!tt.ptr&lt;f32&gt;&gt;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计算</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%z = arith.addf %x, %y : tensor&lt;1024xf32&gt;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存储</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tt.store %ptr_z, %z : tensor&lt;1024x!tt.ptr&lt;f32&gt;&gt;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tt.return}}</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Dialect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TritonGPU IR</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TTGIR</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Add layout information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Incorporate hardware target and warp configuration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PTX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Virtual instruction set for NVIDIA GPUs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Platform-independent intermediate representation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Compiled into actual machine code by ptxas (Streaming ASSembler)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PTX Instruction Examples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390525" y="2935605"/>
            <a:ext cx="5705475" cy="324421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#blocked = #triton_gpu.blocked&lt;{</a:t>
            </a:r>
            <a:endParaRPr lang="en-US" sz="10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sizePerThread = [4],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threadsPerWarp = [32],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warpsPerCTA = [4],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order = [0]</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}&gt;</a:t>
            </a:r>
            <a:b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module attributes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"triton_gpu.num-warps" = 4 : i32,</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triton_gpu.target = "cuda:80" // Ampere</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tt.func @add_kernel(...)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t>现在张量带有布局属性</a:t>
            </a:r>
            <a:endParaRPr lang="en-US" sz="10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%x = tt.load %ptr : tensor&lt;1024x!tt.ptr&lt;f32&gt;, #blocked&gt;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%y = tt.load %ptr : tensor&lt;1024x!tt.ptr&lt;f32&gt;, #blocked&gt;%z = arith.addf %x, %y : tensor&lt;1024xf32, #blocked&gt;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6296077" y="4244426"/>
            <a:ext cx="5419729" cy="939114"/>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wmma.mma.sync.aligned.m16n16k16.row.col.f32.f32</a:t>
            </a:r>
            <a:endParaRPr lang="en-US" sz="10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{%d0, %d1, %d2, %d3, %d4, %d5, %d6, %d7},</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{%a0, %a1, %a2, %a3, %a4, %a5, %a6, %a7},</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{%b0, %b1, %b2, %b3, %b4, %b5, %b6, %b7},</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{%c0, %c1, %c2, %c3, %c4, %c5, %c6, %c7};</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Other GPU Backend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AMD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LLVM IR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AMDGPUISelDAGToDAG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SIInstrInfo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GCNRegisterInfo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GCN/CDNA Assembly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llvm-mc/ROCM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AMD GPU Binary (ELF)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AMD Matrix Core: Like Tensorcore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No Significant Difference at TritonIR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p>
          <a:p>
            <a:pPr marL="342900" lvl="1" indent="0" algn="l">
              <a:lnSpc>
                <a:spcPct val="92000"/>
              </a:lnSpc>
              <a:spcBef>
                <a:spcPts val="750"/>
              </a:spcBef>
            </a:pPr>
          </a:p>
          <a:p>
            <a:pPr marL="342900" lvl="1" indent="0" algn="l">
              <a:lnSpc>
                <a:spcPct val="92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MLIR SPIR-V Dialects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spirv.Load, spirv.Store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spirv.GroupOperation (SIMD)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spirv.CooperativeMatrix (XMX)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SPIR-V Binary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Intel Graphics Compiler - IGC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Gen ISA Binary (ELF)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Special SPIR-V extentions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Cross-Backend Code Generation Challenges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Model Difference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NVIDIA: Warp = 32 threads, lockstep execution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AMD: Wave = 64 threads (CDNA), or 32 (RDNA)</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Intel: SIMD width editable(8/16/32)</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Abstracted as an "execution width" parameter at the TritonGPU IR level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Memory Hierarchy Difference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NVIDIA: Shared Memory (explicitly managed)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AMD: LDS (similar, but different size/bank count)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Intel: SLM (Shared Local Memory, smaller)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abstraction + backend-specific size configuration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100000"/>
              </a:lnSpc>
              <a:spcBef>
                <a:spcPts val="75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Differences in Matrix Acceleration Units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NVIDIA: Tensor Core (mma.sync, wgmma)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AMD: Matrix Core (v_mfma_*)</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Intel: XMX (dpas, joint_matrix)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tt.dot unified interface, backend maps to specific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730777" y="4221529"/>
            <a:ext cx="4893276" cy="1853514"/>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82D2CE"/>
                </a:solidFill>
                <a:latin typeface="Menlo" panose="020B0609030804020204"/>
                <a:ea typeface="Menlo" panose="020B0609030804020204"/>
                <a:cs typeface="Menlo" panose="020B0609030804020204"/>
                <a:sym typeface="Menlo" panose="020B0609030804020204"/>
              </a:rPr>
              <a:t>class</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87C3FF"/>
                </a:solidFill>
                <a:latin typeface="Menlo" panose="020B0609030804020204"/>
                <a:ea typeface="Menlo" panose="020B0609030804020204"/>
                <a:cs typeface="Menlo" panose="020B0609030804020204"/>
                <a:sym typeface="Menlo" panose="020B0609030804020204"/>
              </a:rPr>
              <a:t>NVIDIABackend</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b="0" i="0" u="none" strike="noStrike">
                <a:solidFill>
                  <a:srgbClr val="EFB080"/>
                </a:solidFill>
                <a:latin typeface="Menlo" panose="020B0609030804020204"/>
                <a:ea typeface="Menlo" panose="020B0609030804020204"/>
                <a:cs typeface="Menlo" panose="020B0609030804020204"/>
                <a:sym typeface="Menlo" panose="020B0609030804020204"/>
              </a:rPr>
              <a:t>Backend</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000"/>
          </a:p>
          <a:p>
            <a:pPr indent="0" algn="l">
              <a:lnSpc>
                <a:spcPct val="100000"/>
              </a:lnSpc>
            </a:pPr>
            <a:r>
              <a:rPr lang="en-US" b="0" i="0" u="none" strike="noStrike">
                <a:solidFill>
                  <a:srgbClr val="82D2CE"/>
                </a:solidFill>
                <a:latin typeface="Menlo" panose="020B0609030804020204"/>
                <a:ea typeface="Menlo" panose="020B0609030804020204"/>
                <a:cs typeface="Menlo" panose="020B0609030804020204"/>
                <a:sym typeface="Menlo" panose="020B0609030804020204"/>
              </a:rPr>
              <a:t>	def</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FB080"/>
                </a:solidFill>
                <a:latin typeface="Menlo" panose="020B0609030804020204"/>
                <a:ea typeface="Menlo" panose="020B0609030804020204"/>
                <a:cs typeface="Menlo" panose="020B0609030804020204"/>
                <a:sym typeface="Menlo" panose="020B0609030804020204"/>
              </a:rPr>
              <a:t>get_wave_size</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b="0" i="1" u="none" strike="noStrike">
                <a:solidFill>
                  <a:srgbClr val="EFB080"/>
                </a:solidFill>
                <a:latin typeface="Menlo" panose="020B0609030804020204"/>
                <a:ea typeface="Menlo" panose="020B0609030804020204"/>
                <a:cs typeface="Menlo" panose="020B0609030804020204"/>
                <a:sym typeface="Menlo" panose="020B0609030804020204"/>
              </a:rPr>
              <a:t>self</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82D2CE"/>
                </a:solidFill>
                <a:latin typeface="Menlo" panose="020B0609030804020204"/>
                <a:ea typeface="Menlo" panose="020B0609030804020204"/>
                <a:cs typeface="Menlo" panose="020B0609030804020204"/>
                <a:sym typeface="Menlo" panose="020B0609030804020204"/>
              </a:rPr>
              <a:t>return</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BC88D"/>
                </a:solidFill>
                <a:latin typeface="Menlo" panose="020B0609030804020204"/>
                <a:ea typeface="Menlo" panose="020B0609030804020204"/>
                <a:cs typeface="Menlo" panose="020B0609030804020204"/>
                <a:sym typeface="Menlo" panose="020B0609030804020204"/>
              </a:rPr>
              <a:t>32</a:t>
            </a:r>
            <a:endParaRPr lang="en-US" b="0" i="0" u="none" strike="noStrike">
              <a:solidFill>
                <a:srgbClr val="EBC88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FB080"/>
                </a:solidFill>
                <a:latin typeface="Menlo" panose="020B0609030804020204"/>
                <a:ea typeface="Menlo" panose="020B0609030804020204"/>
                <a:cs typeface="Menlo" panose="020B0609030804020204"/>
                <a:sym typeface="Menlo" panose="020B0609030804020204"/>
              </a:rPr>
              <a:t>lower_dot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b="0" i="1" u="none" strike="noStrike">
                <a:solidFill>
                  <a:srgbClr val="EFB080"/>
                </a:solidFill>
                <a:latin typeface="Menlo" panose="020B0609030804020204"/>
                <a:ea typeface="Menlo" panose="020B0609030804020204"/>
                <a:cs typeface="Menlo" panose="020B0609030804020204"/>
                <a:sym typeface="Menlo" panose="020B0609030804020204"/>
              </a:rPr>
              <a:t>self</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op</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CC7C8A"/>
                </a:solidFill>
                <a:latin typeface="Menlo" panose="020B0609030804020204"/>
                <a:ea typeface="Menlo" panose="020B0609030804020204"/>
                <a:cs typeface="Menlo" panose="020B0609030804020204"/>
                <a:sym typeface="Menlo" panose="020B0609030804020204"/>
              </a:rPr>
              <a:t>self</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capability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&gt;=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BC88D"/>
                </a:solidFill>
                <a:latin typeface="Menlo" panose="020B0609030804020204"/>
                <a:ea typeface="Menlo" panose="020B0609030804020204"/>
                <a:cs typeface="Menlo" panose="020B0609030804020204"/>
                <a:sym typeface="Menlo" panose="020B0609030804020204"/>
              </a:rPr>
              <a:t>90</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1" u="none" strike="noStrike">
                <a:solidFill>
                  <a:srgbClr val="82D2CE"/>
                </a:solidFill>
                <a:latin typeface="Menlo" panose="020B0609030804020204"/>
                <a:ea typeface="Menlo" panose="020B0609030804020204"/>
                <a:cs typeface="Menlo" panose="020B0609030804020204"/>
                <a:sym typeface="Menlo" panose="020B0609030804020204"/>
              </a:rPr>
              <a:t>	return</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emit_wgmma</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op</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1" u="none" strike="noStrike">
                <a:solidFill>
                  <a:srgbClr val="82D2CE"/>
                </a:solidFill>
                <a:latin typeface="Menlo" panose="020B0609030804020204"/>
                <a:ea typeface="Menlo" panose="020B0609030804020204"/>
                <a:cs typeface="Menlo" panose="020B0609030804020204"/>
                <a:sym typeface="Menlo" panose="020B0609030804020204"/>
              </a:rPr>
              <a:t>else</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b="0" i="1" u="none" strike="noStrike">
                <a:solidFill>
                  <a:srgbClr val="82D2CE"/>
                </a:solidFill>
                <a:latin typeface="Menlo" panose="020B0609030804020204"/>
                <a:ea typeface="Menlo" panose="020B0609030804020204"/>
                <a:cs typeface="Menlo" panose="020B0609030804020204"/>
                <a:sym typeface="Menlo" panose="020B0609030804020204"/>
              </a:rPr>
              <a:t>	return</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emit_mma</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op</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Code Generation Optimizations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Vectorization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Scalar version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Vector version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Vectorization in Triton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Loop Unrolling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Reduce loop overhead (branches, counters)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Expose more instruction-level parallelism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Better register reuse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1017270" y="2160270"/>
            <a:ext cx="5097780" cy="62674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for i in range(N):</a:t>
            </a:r>
            <a:endParaRPr lang="en-US" sz="1000"/>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c[i] = a[i] + b[i]</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1017270" y="3156585"/>
            <a:ext cx="5078730" cy="62674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for i in range(0, N, 4):</a:t>
            </a:r>
            <a:endParaRPr lang="en-US" sz="1000"/>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c[i:i+4] = a[i:i+4] + b[i:i+4]</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167005" y="4458970"/>
            <a:ext cx="5928995" cy="189738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000"/>
          </a:p>
          <a:p>
            <a:pPr marL="457200" lvl="1" indent="0" algn="l">
              <a:lnSpc>
                <a:spcPct val="100000"/>
              </a:lnSpc>
            </a:pPr>
            <a:r>
              <a:rPr lang="en-US"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0" u="none" strike="noStrike">
                <a:solidFill>
                  <a:srgbClr val="EFB080"/>
                </a:solidFill>
                <a:latin typeface="Menlo" panose="020B0609030804020204"/>
                <a:ea typeface="Menlo" panose="020B0609030804020204"/>
                <a:cs typeface="Menlo" panose="020B0609030804020204"/>
                <a:sym typeface="Menlo" panose="020B0609030804020204"/>
              </a:rPr>
              <a:t>kernel</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ptr</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N</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F8C762"/>
                </a:solidFill>
                <a:latin typeface="Menlo" panose="020B0609030804020204"/>
                <a:ea typeface="Menlo" panose="020B0609030804020204"/>
                <a:cs typeface="Menlo" panose="020B0609030804020204"/>
                <a:sym typeface="Menlo" panose="020B0609030804020204"/>
              </a:rPr>
              <a:t>BLOCK</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constexpr):</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offs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arange</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BLOCK</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b="0" i="1" u="none" strike="noStrike">
                <a:solidFill>
                  <a:srgbClr val="E4E4E4"/>
                </a:solidFill>
                <a:latin typeface="Menlo" panose="020B0609030804020204"/>
                <a:ea typeface="Menlo" panose="020B0609030804020204"/>
                <a:cs typeface="Menlo" panose="020B0609030804020204"/>
                <a:sym typeface="Menlo" panose="020B0609030804020204"/>
              </a:rPr>
              <a:t># Generate vector index</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Triton select vector size automatically</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based on BLOCK size and data type</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x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ptr </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offs</a:t>
            </a:r>
            <a:r>
              <a:rPr lang="en-US"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1" u="none" strike="noStrike">
                <a:solidFill>
                  <a:srgbClr val="E4E4E4"/>
                </a:solidFill>
                <a:latin typeface="Menlo" panose="020B0609030804020204"/>
                <a:ea typeface="Menlo" panose="020B0609030804020204"/>
                <a:cs typeface="Menlo" panose="020B0609030804020204"/>
                <a:sym typeface="Menlo" panose="020B0609030804020204"/>
              </a:rPr>
              <a:t># Compile as vector oprtation</a:t>
            </a:r>
            <a:endParaRPr lang="en-US" b="0" i="1"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0" name="AutoShape 10"/>
          <p:cNvSpPr/>
          <p:nvPr/>
        </p:nvSpPr>
        <p:spPr>
          <a:xfrm>
            <a:off x="6290310" y="3449320"/>
            <a:ext cx="5791200" cy="62674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for k in range(0, K, 16):</a:t>
            </a:r>
            <a:endParaRPr lang="en-US" sz="1000"/>
          </a:p>
          <a:p>
            <a:pPr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	acc = dot(a[k:k+16], b[k:k+16], acc)</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1" name="AutoShape 11"/>
          <p:cNvSpPr/>
          <p:nvPr/>
        </p:nvSpPr>
        <p:spPr>
          <a:xfrm>
            <a:off x="6290310" y="4687570"/>
            <a:ext cx="5791200" cy="165925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for k in range(0, K, 64):</a:t>
            </a:r>
            <a:endParaRPr lang="en-US" sz="1000"/>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acc = dot(a[k:k+16], b[k:k+16], acc)</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acc = dot(a[k+16:k+32], b[k+16:k+32], acc)</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acc = dot(a[k+32:k+48], b[k+32:k+48], acc)</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b="0" i="0" u="none" strike="noStrike">
                <a:solidFill>
                  <a:srgbClr val="E4E4E4"/>
                </a:solidFill>
                <a:latin typeface="Menlo" panose="020B0609030804020204"/>
                <a:ea typeface="Menlo" panose="020B0609030804020204"/>
                <a:cs typeface="Menlo" panose="020B0609030804020204"/>
                <a:sym typeface="Menlo" panose="020B0609030804020204"/>
              </a:rPr>
              <a:t>acc = dot(a[k+48:k+64], b[k+48:k+64], acc)</a:t>
            </a:r>
            <a:endParaRPr lang="en-US"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2" name="AutoShape 12"/>
          <p:cNvSpPr/>
          <p:nvPr/>
        </p:nvSpPr>
        <p:spPr>
          <a:xfrm>
            <a:off x="9045890" y="4191000"/>
            <a:ext cx="140017" cy="445770"/>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400" b="0" i="0" u="none" strike="noStrike">
                <a:solidFill>
                  <a:srgbClr val="262626"/>
                </a:solidFill>
                <a:latin typeface="Calibri" panose="020F0502020204030204"/>
                <a:ea typeface="Calibri" panose="020F0502020204030204"/>
                <a:cs typeface="Calibri" panose="020F0502020204030204"/>
                <a:sym typeface="Calibri" panose="020F0502020204030204"/>
              </a:rPr>
              <a:t>Group Discussion: How does Triton support different NVIDIA architectures?</a:t>
            </a:r>
            <a:endParaRPr lang="en-US" sz="24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6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Lecture 26: Multi-Chip Backend Support II </a:t>
            </a:r>
            <a:b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(Runtime Integration)</a:t>
            </a:r>
            <a:endPar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Runtime Multi-Backend Support Layer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https://github.com/flagos-ai/KernelGen/blob/main/AtenOperator.md, visualized by Claucd Sonnet 4.6 Extended.</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198235" cy="4853305"/>
          </a:xfrm>
          <a:prstGeom prst="rect">
            <a:avLst/>
          </a:prstGeom>
        </p:spPr>
        <p:txBody>
          <a:bodyPr wrap="square" lIns="91440" tIns="45720" rIns="91440" bIns="45720" anchor="t">
            <a:noAutofit/>
          </a:bodyPr>
          <a:lstStyle>
            <a:lvl1pPr algn="l">
              <a:lnSpc>
                <a:spcPct val="150000"/>
              </a:lnSpc>
              <a:defRPr sz="1800" b="0" i="0" u="none" strike="noStrike" spc="0">
                <a:solidFill>
                  <a:srgbClr val="404040">
                    <a:alpha val="100000"/>
                  </a:srgbClr>
                </a:solidFill>
                <a:latin typeface="Calibri" panose="020F0502020204030204"/>
              </a:defRPr>
            </a:lvl1pPr>
          </a:lstStyle>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Necessity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Taking PyTorch  as an example, the native framework contains over 2600  low-level operators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For hardware vendors to integrate, the traditional approach requires writing C++  backend implementations one by one and modifying the framework's core code.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ecosystem is severely fragmented, and the cost of compute migration is extremely high.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FlagTree/FlagGems Solution Approach</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Decouple compile-time and runtime through a unified Runtime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6904355" y="1457960"/>
            <a:ext cx="4897755" cy="4396105"/>
            <a:chOff x="6904355" y="1457960"/>
            <a:chExt cx="4897755" cy="4396105"/>
          </a:xfrm>
        </p:grpSpPr>
        <p:pic>
          <p:nvPicPr>
            <p:cNvPr id="7" name="Picture 7"/>
            <p:cNvPicPr>
              <a:picLocks noChangeAspect="1"/>
            </p:cNvPicPr>
            <p:nvPr/>
          </p:nvPicPr>
          <p:blipFill>
            <a:blip r:embed="rId1"/>
            <a:srcRect/>
            <a:stretch>
              <a:fillRect/>
            </a:stretch>
          </p:blipFill>
          <p:spPr>
            <a:xfrm>
              <a:off x="6904355" y="1457960"/>
              <a:ext cx="4896485" cy="345122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04355" y="4909185"/>
              <a:ext cx="4897755" cy="944880"/>
            </a:xfrm>
            <a:prstGeom prst="rect">
              <a:avLst/>
            </a:prstGeom>
            <a:ln w="12700">
              <a:noFill/>
              <a:prstDash val="solid"/>
            </a:ln>
          </p:spPr>
        </p:pic>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Runtime System Responsibility Boundaries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https://www.techtarget.com/searchsoftwarequality/definition/runtime</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913880" cy="4853305"/>
          </a:xfrm>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Device Management: Initialization and state maintenance of hardware contexts.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Scheduling: Managing the allocation and deallocation of device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 Transfer: Host-to-Device (H2D) and Device-to-Host (D2H) data movement.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Dispatch: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Distributing compiled kernel binaries to the correct physical devices and synchronizing execution streams.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Providing a highly abstracted layer of API  Wrapping, shielding the vast differences in low-level driver API s across different hardware vendors.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l="10167" t="22724" r="10191" b="12148"/>
          <a:stretch>
            <a:fillRect/>
          </a:stretch>
        </p:blipFill>
        <p:spPr>
          <a:xfrm>
            <a:off x="7439660" y="1630045"/>
            <a:ext cx="4361815" cy="35979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API Wrapping Paradigm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https://github.com/pytorch/pytorch/issues/139602</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356985" cy="4853305"/>
          </a:xfrm>
          <a:prstGeom prst="rect">
            <a:avLst/>
          </a:prstGeom>
        </p:spPr>
        <p:txBody>
          <a:bodyPr wrap="square" lIns="91440" tIns="45720" rIns="91440" bIns="45720" anchor="t">
            <a:noAutofit/>
          </a:bodyPr>
          <a:lstStyle>
            <a:lvl1pPr algn="l">
              <a:lnSpc>
                <a:spcPct val="150000"/>
              </a:lnSpc>
              <a:defRPr sz="1800" b="0" i="0" u="none" strike="noStrike" spc="0">
                <a:solidFill>
                  <a:srgbClr val="404040">
                    <a:alpha val="100000"/>
                  </a:srgbClr>
                </a:solidFill>
                <a:latin typeface="Calibri" panose="020F0502020204030204"/>
              </a:defRPr>
            </a:lvl1pPr>
          </a:lstStyle>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Case Study: FlagGems's ATen  Transparent Interception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Design Philosophy: Avoid modifying users' existing model code; expose a fully consistent API.</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Out-of-Tree Registration Mechanism: FlagGems  leverages torch.Library  and other low-level API  for out-of-tree (Out-of-tree) extension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Interception Workflow:  Intercept native ATen  operator calls -&gt;  Provide backend-specific Triton  implementation -&gt;  Forcibly override native behavior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Enable seamless compute migration for model developers, without modifying any existing code.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35800" y="803275"/>
            <a:ext cx="4662170" cy="55530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ReducingOverhead:Runtime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236335"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Problem:  Frequent Python API  calls and Just-In-Time compilation (JIT) introduce significant runtime overhead.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Solution: Introduce LibEntry  runtime wrapper.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  Eliminate Python GIL  contention.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Fully offload operator wrapping logic, registration mechanisms, and execution stream management to the C++  layer, deeply integrating CUDA/low-level driver workflows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17055" y="1624330"/>
            <a:ext cx="4820285" cy="39630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Environment Variable-Driven Backend Routing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https://github.com/flagos-ai/FlagGems/blob/master/docs/how_to_use_flaggems.md</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  compiler and FlagGems  operator library integrate over 10  hardware platforms: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NVIDIA GPU, Kunlunxin (Kunlunxin), Iluvatar (Iluvatar), MetaX (MetaX), Moore Threads (MThreads), Huawei Ascend (Ascend), and Tsingmicro (Tsingmicro) and other.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Lazy Loading Lazy Loading backend support: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user interface is unified as </a:t>
            </a:r>
            <a:r>
              <a:rPr lang="en-US" sz="1800" b="0" i="0" u="none" strike="noStrike">
                <a:solidFill>
                  <a:srgbClr val="404040"/>
                </a:solidFill>
                <a:latin typeface="Courier New Regular" panose="02070409020205090404"/>
                <a:ea typeface="Courier New Regular" panose="02070409020205090404"/>
                <a:cs typeface="Courier New Regular" panose="02070409020205090404"/>
                <a:sym typeface="Courier New Regular" panose="02070409020205090404"/>
              </a:rPr>
              <a:t>import flag_gems; flag_gems.enable()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Auto-detection and Manual Override:  The system attempts to automatically detect hardware; if it fails, it relies on environment variables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Routing Switch:  Use export GEMS_VENDOR=&lt;vendor_name&gt;  to forcibly specify the dispatch target (e.g., nvidia, tsingmicro).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Ensure strict isolation of multi-branch physical files to reduce code conflicts.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Hardware Specialization Priority Dispatch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https://github.com/flagos-ai/FlagGems/blob/master/src/flag_gems/runtime/backend/_tsingmicro/heuristics_config_utils.py</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674485" cy="4853305"/>
          </a:xfrm>
          <a:prstGeom prst="rect">
            <a:avLst/>
          </a:prstGeom>
        </p:spPr>
        <p:txBody>
          <a:bodyPr wrap="square" lIns="91440" tIns="45720" rIns="91440" bIns="45720" anchor="t">
            <a:noAutofit/>
          </a:bodyPr>
          <a:lstStyle>
            <a:lvl1pPr algn="l">
              <a:lnSpc>
                <a:spcPct val="142000"/>
              </a:lnSpc>
              <a:defRPr sz="2000" b="0" i="0" u="none" strike="noStrike" spc="0">
                <a:solidFill>
                  <a:srgbClr val="404040">
                    <a:alpha val="100000"/>
                  </a:srgbClr>
                </a:solidFill>
                <a:latin typeface="Calibri" panose="020F0502020204030204"/>
              </a:defRPr>
            </a:lvl1pPr>
          </a:lstStyle>
          <a:p>
            <a:pPr marL="254000" indent="-254000" algn="l">
              <a:lnSpc>
                <a:spcPct val="142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Generic MLIR  lowering code is functionally correct but may not achieve the specific hardware's optimal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42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Specialization Dispatch Logic:  Before dispatch, the system first checks whether vendor-optimized versions exist under backend/&lt;vendor&gt;/ops/  or fused/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42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a specialized version exists, the generic cross-platform logic is short-circuited (Short-circuit), routing directly to the specialized code.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08545" y="1487170"/>
            <a:ext cx="4300855" cy="45262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Analysis: Tsingmicro</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https://docs.pytorch.org/docs/stable/generated/torch.nn.CrossEntropyLoss.html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521450" cy="4853305"/>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Cross-Entropy is central to LLM training.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Mathematical Expansion: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Hidden state projection to compute Logits -&gt; Softmax  normalization extraction -&gt;  negative log-likelihood evaluation.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Modern LLM  have large vocabulary sizes (32K-128K), making intermediate variable matrices grow significantly.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Default Execution:Replaceintermediate variable matrices back to HBM, and reload them for the next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access becomes a bottleneck,significant waste of compute resources.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41540" y="1627505"/>
            <a:ext cx="4402455" cy="42779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Analysis: Tsingmicro</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Code Location: src/flag_gems/runtime/backend/_tsingmicro/fused/cross_entropy_loss.py</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Online Log-Sum-Exp  Algorithm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Tsingmicro implements a specialized fused linear cross-entropy Triton  kernel.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Avoid materializing intermediate Logits  tensor materialization, leverages SRAM  to perform efficient Online LSE.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Optimize with Tsingmicro chip-specific shared memory management instructions and warp (Warp) synchronization strategies for optimization.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92935" y="3429000"/>
            <a:ext cx="2995930" cy="274828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374005" y="3429000"/>
            <a:ext cx="5142865" cy="27476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Analysis: Tsingmicro</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https://docs.flagos.io/en/latest/overview.html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System-Level Significance of Specialization Priority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An advanced Runtime  integration mechanism is essentially a router that intelligently balances generality and specialization.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FlagTree  is responsible for generic graph lowering and code generation (generalization).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FlagGems 's Backend  folder provides a Short-circuit (specialization).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166745" y="3155315"/>
            <a:ext cx="5858510" cy="3021965"/>
          </a:xfrm>
          <a:prstGeom prst="rect">
            <a:avLst/>
          </a:prstGeom>
          <a:ln w="12700">
            <a:noFill/>
            <a:prstDash val="solid"/>
          </a:ln>
        </p:spPr>
      </p:pic>
      <p:sp>
        <p:nvSpPr>
          <p:cNvPr id="7" name="AutoShape 7"/>
          <p:cNvSpPr/>
          <p:nvPr/>
        </p:nvSpPr>
        <p:spPr>
          <a:xfrm>
            <a:off x="3010535" y="4478020"/>
            <a:ext cx="1993265" cy="1699260"/>
          </a:xfrm>
          <a:prstGeom prst="rect">
            <a:avLst/>
          </a:prstGeom>
          <a:noFill/>
          <a:ln w="381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Adding a New Hardware Backend to FlagTree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https://github.com/flagos-ai/FlagTree</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418580" cy="4853305"/>
          </a:xfrm>
          <a:prstGeom prst="rect">
            <a:avLst/>
          </a:prstGeom>
        </p:spPr>
        <p:txBody>
          <a:bodyPr wrap="square" lIns="91440" tIns="45720" rIns="91440" bIns="45720" anchor="t">
            <a:noAutofit/>
          </a:bodyPr>
          <a:lstStyle>
            <a:lvl1pPr algn="l">
              <a:lnSpc>
                <a:spcPct val="150000"/>
              </a:lnSpc>
              <a:defRPr sz="2000" b="0" i="0" u="none" strike="noStrike" spc="0">
                <a:solidFill>
                  <a:srgbClr val="404040">
                    <a:alpha val="100000"/>
                  </a:srgbClr>
                </a:solidFill>
                <a:latin typeface="Calibri" panose="020F0502020204030204"/>
              </a:defRPr>
            </a:lvl1pPr>
          </a:lstStyle>
          <a:p>
            <a:pPr marL="254000" indent="-254000" algn="l">
              <a:lnSpc>
                <a:spcPct val="15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Lab Description: New Chip NeuroX  Integration Plan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Lab Objective:  Learn how to use FlagGems  plugin mechanism to add Runtime backend support for a fictional new AI  chip NeuroX  and add Runtime  backend support.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Applicable Scenario:  Simulate the real engineering process of a chip vendor integrating into a unified large model infrastructure.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Core Requirements:  Follow unified API  wrapping and enable independent maintenance.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55155" y="1932305"/>
            <a:ext cx="4956175" cy="42449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Phase 1</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b="1">
                <a:solidFill>
                  <a:srgbClr val="262626"/>
                </a:solidFill>
                <a:ea typeface="Calibri" panose="020F0502020204030204"/>
                <a:cs typeface="Calibri" panose="020F0502020204030204"/>
                <a:sym typeface="Calibri" panose="020F0502020204030204"/>
              </a:rPr>
              <a:t>Low-Level Compilation Support and Build Environment Initialization</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Confirm that the underlying FlagTree  compiler has merged the target chip's branch.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Set host environment variables to force routing directives to the detection mechanism: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ourier New Regular" panose="02070409020205090404"/>
                <a:ea typeface="Courier New Regular" panose="02070409020205090404"/>
                <a:cs typeface="Courier New Regular" panose="02070409020205090404"/>
                <a:sym typeface="Courier New Regular" panose="02070409020205090404"/>
              </a:rPr>
              <a:t>export FLAGTREE_BACKEND=neurox</a:t>
            </a:r>
            <a:endParaRPr lang="en-US" sz="1800" b="0" i="0" u="none" strike="noStrike">
              <a:solidFill>
                <a:srgbClr val="404040"/>
              </a:solidFill>
              <a:latin typeface="Courier New Regular" panose="02070409020205090404"/>
              <a:ea typeface="Courier New Regular" panose="02070409020205090404"/>
              <a:cs typeface="Courier New Regular" panose="02070409020205090404"/>
              <a:sym typeface="Courier New Regular" panose="020704090202050904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ourier New Regular" panose="02070409020205090404"/>
                <a:ea typeface="Courier New Regular" panose="02070409020205090404"/>
                <a:cs typeface="Courier New Regular" panose="02070409020205090404"/>
                <a:sym typeface="Courier New Regular" panose="02070409020205090404"/>
              </a:rPr>
              <a:t>export GEMS_VENDOR=neurox </a:t>
            </a:r>
            <a:endParaRPr lang="en-US" sz="1800" b="0" i="0" u="none" strike="noStrike">
              <a:solidFill>
                <a:srgbClr val="404040"/>
              </a:solidFill>
              <a:latin typeface="Courier New Regular" panose="02070409020205090404"/>
              <a:ea typeface="Courier New Regular" panose="02070409020205090404"/>
              <a:cs typeface="Courier New Regular" panose="02070409020205090404"/>
              <a:sym typeface="Courier New Regular" panose="020704090202050904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Execute in the source root directory: </a:t>
            </a:r>
            <a:r>
              <a:rPr lang="en-US" sz="2000" b="0" i="0" u="none" strike="noStrike">
                <a:solidFill>
                  <a:srgbClr val="404040"/>
                </a:solidFill>
                <a:latin typeface="Courier New Regular" panose="02070409020205090404"/>
                <a:ea typeface="Courier New Regular" panose="02070409020205090404"/>
                <a:cs typeface="Courier New Regular" panose="02070409020205090404"/>
                <a:sym typeface="Courier New Regular" panose="02070409020205090404"/>
              </a:rPr>
              <a:t>pip install --no-build-isolation -e.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Phase 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b="1">
                <a:solidFill>
                  <a:srgbClr val="262626"/>
                </a:solidFill>
                <a:ea typeface="Calibri" panose="020F0502020204030204"/>
                <a:cs typeface="Calibri" panose="020F0502020204030204"/>
                <a:sym typeface="Calibri" panose="020F0502020204030204"/>
              </a:rPr>
              <a:t>Building the Hardware Plugin Directory Architecture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Under src/flag_gems/runtime/backend/ , strictly create an independent namespace _neurox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Directory structure breakdown: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__init__.py: Registration binding layer.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device.py: Driver wrapping layer.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ops/  and fused/: Specialized primitive operators and composite optimized operators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Achieve separation of concerns at the physical code level.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Phase 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b="1">
                <a:solidFill>
                  <a:srgbClr val="262626"/>
                </a:solidFill>
                <a:ea typeface="Calibri" panose="020F0502020204030204"/>
                <a:cs typeface="Calibri" panose="020F0502020204030204"/>
                <a:sym typeface="Calibri" panose="020F0502020204030204"/>
              </a:rPr>
              <a:t>Device Abstraction Layer (Device API)  Wrapping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Implement the _neurox/device.py  file.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Follow the system-specified Backend  interface abstraction contract.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Specific Implementation: Obtain the current device's asynchronous execution stream (Stream) and other low-level primitives.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Ensure precise mapping between upper-layer Python  calls and the underlying NeuroX  private driver API 's precise mapping.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Phase 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b="1">
                <a:solidFill>
                  <a:srgbClr val="262626"/>
                </a:solidFill>
                <a:ea typeface="Calibri" panose="020F0502020204030204"/>
                <a:cs typeface="Calibri" panose="020F0502020204030204"/>
                <a:sym typeface="Calibri" panose="020F0502020204030204"/>
              </a:rPr>
              <a:t>Specialized Operator Development and Dispatch System Registration</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Under fused/  directory, develop optimized operators for NeuroX  (e.g., layer_norm.py).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Action:  leverages torch.Library  to mount functions onto the PrivateUse1  dispatch key reserved for custom extensions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Under __init__.py , trigger registration injection to forcibly intercept the framework's default operator dispatch logic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Import the Triton  language and optimized for the NeuroX  chip's cache hierarchy with tuned parameters: layer_norm  function.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Create a wrapper function matching the native signature of aten::native_layer_norm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Execute the registration injection logic to notify PyTorch  system: when any computation graph performs layer normalization within this hardware context, abandon generic C++  derivation and instead execute the just-loaded Triton  high-speed kernel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Lab Phase 5</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b="1">
                <a:solidFill>
                  <a:srgbClr val="262626"/>
                </a:solidFill>
                <a:ea typeface="Calibri" panose="020F0502020204030204"/>
                <a:cs typeface="Calibri" panose="020F0502020204030204"/>
                <a:sym typeface="Calibri" panose="020F0502020204030204"/>
              </a:rPr>
              <a:t>Automated Benchmarking</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Based on Pytest  Accuracy Verification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Constrain the absolute error between the output tensors of new hardware-specialized operators and the CPU reference implementation strictly following IEEE 754  standard CPU  within the preset tolerance range.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Throughput Analysis and Performance Feedback:Run performance test scripts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Summary and Outlook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Generated by Gemini 3.1 Pro.</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FlagGems Key Optimization Techniques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215900" y="1811999"/>
          <a:ext cx="11760200" cy="4186555"/>
        </p:xfrm>
        <a:graphic>
          <a:graphicData uri="http://schemas.openxmlformats.org/drawingml/2006/table">
            <a:tbl>
              <a:tblPr>
                <a:effectLst/>
              </a:tblPr>
              <a:tblGrid>
                <a:gridCol w="2672715"/>
                <a:gridCol w="2588895"/>
                <a:gridCol w="6498590"/>
              </a:tblGrid>
              <a:tr h="508000">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Abstraction Level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Core Component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Technical Mechanism and Objective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r>
              <a:tr h="72771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Framework Interface Layer</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ATen Dispatcher Hook</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Use torch.Library  registry to override native operators, enabling transparent interception without modifying user code </a:t>
                      </a:r>
                      <a:r>
                        <a:rPr lang="en-US" sz="1400" b="0" i="0" u="none" strike="noStrike" spc="120" baseline="30000">
                          <a:solidFill>
                            <a:srgbClr val="000000"/>
                          </a:solidFill>
                          <a:latin typeface="Arial" panose="020B0604020202020204"/>
                          <a:ea typeface="Arial" panose="020B0604020202020204"/>
                          <a:cs typeface="Arial" panose="020B0604020202020204"/>
                          <a:sym typeface="Arial" panose="020B0604020202020204"/>
                        </a:rPr>
                        <a:t> 1 </a:t>
                      </a: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983615">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Logic Control Layer</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 LibEntry Wrapper</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Eliminate Python GIL  bottleneck; at the C++  layer for tensor shape validation, contiguity checks, and memory pointer extraction </a:t>
                      </a:r>
                      <a:r>
                        <a:rPr lang="en-US" sz="1400" b="0" i="0" u="none" strike="noStrike" spc="120" baseline="30000">
                          <a:solidFill>
                            <a:srgbClr val="000000"/>
                          </a:solidFill>
                          <a:latin typeface="Arial" panose="020B0604020202020204"/>
                          <a:ea typeface="Arial" panose="020B0604020202020204"/>
                          <a:cs typeface="Arial" panose="020B0604020202020204"/>
                          <a:sym typeface="Arial" panose="020B0604020202020204"/>
                        </a:rPr>
                        <a:t> 2 </a:t>
                      </a: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983615">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Hardware Dispatch Layer</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GEMS_VENDOR  Routing Mechanism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Parse environment variables to dynamically map unified operator calls to the dedicated backend execution modules of specific hardware vendors </a:t>
                      </a:r>
                      <a:r>
                        <a:rPr lang="en-US" sz="1400" b="0" i="0" u="none" strike="noStrike" spc="120" baseline="30000">
                          <a:solidFill>
                            <a:srgbClr val="000000"/>
                          </a:solidFill>
                          <a:latin typeface="Arial" panose="020B0604020202020204"/>
                          <a:ea typeface="Arial" panose="020B0604020202020204"/>
                          <a:cs typeface="Arial" panose="020B0604020202020204"/>
                          <a:sym typeface="Arial" panose="020B0604020202020204"/>
                        </a:rPr>
                        <a:t> 3 </a:t>
                      </a: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983615">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Driver Adaptation Layer</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Backend Device  Interface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Unify device context abstraction, converting logical execution streams (Stream) into hardware-specific command queues (Command Queue) calls </a:t>
                      </a:r>
                      <a:r>
                        <a:rPr lang="en-US" sz="1400" b="0" i="0" u="none" strike="noStrike" spc="120" baseline="30000">
                          <a:solidFill>
                            <a:srgbClr val="000000"/>
                          </a:solidFill>
                          <a:latin typeface="Arial" panose="020B0604020202020204"/>
                          <a:ea typeface="Arial" panose="020B0604020202020204"/>
                          <a:cs typeface="Arial" panose="020B0604020202020204"/>
                          <a:sym typeface="Arial" panose="020B0604020202020204"/>
                        </a:rPr>
                        <a:t> 4 </a:t>
                      </a: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Summary and Outlook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858000" cy="4853305"/>
          </a:xfrm>
          <a:prstGeom prst="rect">
            <a:avLst/>
          </a:prstGeom>
        </p:spPr>
        <p:txBody>
          <a:bodyPr wrap="square" lIns="91440" tIns="45720" rIns="91440" bIns="45720" anchor="t">
            <a:noAutofit/>
          </a:bodyPr>
          <a:lstStyle>
            <a:lvl1pPr algn="l">
              <a:lnSpc>
                <a:spcPct val="150000"/>
              </a:lnSpc>
              <a:defRPr sz="1800" b="0" i="0" u="none" strike="noStrike" spc="0">
                <a:solidFill>
                  <a:srgbClr val="404040">
                    <a:alpha val="100000"/>
                  </a:srgbClr>
                </a:solidFill>
                <a:latin typeface="Calibri" panose="020F0502020204030204"/>
              </a:defRPr>
            </a:lvl1pPr>
          </a:lstStyle>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Write Once, Run Anywhere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 highly robust Runtime  requires support for both“ generality” and“ specificity (hardware specialization priority)”'s support.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Plugin-based directory isolation and ATen  out-of-tree registration truly decentralize ecosystem development, enabling hardware vendors to independently maintain and optimize.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FlagTree/FlagGems  is reshaping the large model compute infrastructure through this architecture, reducing industry R&amp;D and migration costs.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531735" y="958850"/>
            <a:ext cx="4269740" cy="50863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27</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Module III Final Project</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(FlagTree Pass Contribution)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Projects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318604"/>
          <a:ext cx="11760200" cy="5173345"/>
        </p:xfrm>
        <a:graphic>
          <a:graphicData uri="http://schemas.openxmlformats.org/drawingml/2006/table">
            <a:tbl>
              <a:tblPr>
                <a:effectLst/>
              </a:tblPr>
              <a:tblGrid>
                <a:gridCol w="1196340"/>
                <a:gridCol w="3369945"/>
                <a:gridCol w="1627505"/>
                <a:gridCol w="5566410"/>
              </a:tblGrid>
              <a:tr h="539115">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Lecture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Project Name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Type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Key Assessment Criteria</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Environment Setup and Toolchain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Lab Session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Four-Phase Operational Verification + + Lab Report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Softmax Kernel (Midterm)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Correctness 40pts + Performance70% Threshold</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RMSNorm+Residual  Fusion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Performance must reach FlagGems Benchmark 90%</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FlagTree Pass  Contribution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Choose from 3 directions, FileCheck Test Verification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7B  Multi-Node Distributed Training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3-Person Team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Comparison of 3 Parallelism Strategies + + Linear Speedup Ratio</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Capstone Project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Group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Proposal Feasibility + + Authenticity of Progress</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Project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Project Background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Compiler Pass  is  AI  the core mechanism of AI compiler optimization. FlagTree  is built on the  MLIR  framework, through a series of  Pass  progressively lowering high-level operator representations  Lower to target hardware code. Students must choose one of the following directions to contribute a functional optimization  FlagTree  Pass  or operator extension to FlagTree, gaining real-world compiler engineering experience.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Development Process Requirements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Week 1: Read  FlagTree  source code, choose direction, submit design document (1–2  pages)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Week 2: Complete core  Pass  implementation, submit code  PR Draft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Week 3: Write  FileCheck  unit tests, complete performance//correctness verification, final submission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Selectable Directions (Choose One of Three)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2100" b="0" i="0" u="none" strike="noStrike" spc="0">
                <a:solidFill>
                  <a:srgbClr val="404040">
                    <a:alpha val="100000"/>
                  </a:srgbClr>
                </a:solidFill>
                <a:latin typeface="Calibri" panose="020F0502020204030204"/>
              </a:defRPr>
            </a:lvl1pPr>
          </a:lstStyle>
          <a:p>
            <a:pPr marL="266700" indent="-266700" algn="l">
              <a:lnSpc>
                <a:spcPct val="83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Direction A: Implement a New  Fusion Pass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MLIR  implement a pattern-matching fusion rule, e.g.: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Add + LayerNorm → FusedAddLayerNorm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Mul + Softmax → ScaledSoftmax</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Requirement: Pass  correctly identifies and rewrites the computation graph, generating fused operator  Triton Kernel  calls.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83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Direction B: Extend Multi-Chip Support for Existing Operators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For  FlagTree  add support for an existing operator (e.g.,  GELU  or  LayerNorm) targeting Ascend  NPU  or  AMD GPU  backend: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Implement the corresponding  Codegen  path (SPIR-V  or  Ascend C  target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Via  FlagTree 's  Runtime  interface for operator registration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83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Direction C: Implement a Graph Optimization  Pass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Implement Loop-Invariant Code Motion (LICM) or Common Subexpression Elimination (CSE</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Pass</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Affine Dialect  level to identify hoistable computations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Verify semantic equivalence before and after transformation (using  MLIR 's  FileCheck  tests)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Submission Requirements and Grading Criteria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Code Requirements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Using  C++17, conforming to  LLVM  Coding Standards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Pass  must pass at least  3   FileCheck  test cases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Provide  Python -level verification script for end-to-end operator output correctness validation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Documentation Requirements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Pass  Design Description: describe  Pattern  matching logic and transformation rules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Test Report: demonstrate optimization results (Kernel  count reduction, execution time comparison)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Grading Criteria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998220" y="4571365"/>
          <a:ext cx="9603740" cy="1887220"/>
        </p:xfrm>
        <a:graphic>
          <a:graphicData uri="http://schemas.openxmlformats.org/drawingml/2006/table">
            <a:tbl>
              <a:tblPr>
                <a:effectLst/>
              </a:tblPr>
              <a:tblGrid>
                <a:gridCol w="3077845"/>
                <a:gridCol w="1846580"/>
                <a:gridCol w="4679315"/>
              </a:tblGrid>
              <a:tr h="330200">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Assessment Dimension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Score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Grading Criteria</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1115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Pass  Correctness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40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FileCheck  tests all passed, end-to-end verification correct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46736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Optimization Effect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25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Quantitatively demonstrate performance gains from fusion//optimization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46736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Code Quality</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20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Conforms to  LLVM  standards, complete comments, clear structure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1115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Design Document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15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Clear approach, describes  Pattern  matching logic</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83608</Words>
  <Application>WPS 演示</Application>
  <PresentationFormat/>
  <Paragraphs>2475</Paragraphs>
  <Slides>154</Slides>
  <Notes>0</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154</vt:i4>
      </vt:variant>
    </vt:vector>
  </HeadingPairs>
  <TitlesOfParts>
    <vt:vector size="182"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Chinese Quote</vt:lpstr>
      <vt:lpstr>等线</vt:lpstr>
      <vt:lpstr>Helvetica Neue</vt:lpstr>
      <vt:lpstr>Arial Unicode MS</vt:lpstr>
      <vt:lpstr>BatangChe</vt:lpstr>
      <vt:lpstr>Helvetica</vt:lpstr>
      <vt:lpstr>Bahnschrift</vt:lpstr>
      <vt:lpstr>Ebrima</vt:lpstr>
      <vt:lpstr>DejaVu Math TeX Gyre</vt:lpstr>
      <vt:lpstr>Courier New</vt:lpstr>
      <vt:lpstr>Menlo</vt:lpstr>
      <vt:lpstr>Arial Bold</vt:lpstr>
      <vt:lpstr>Courier New Regular</vt:lpstr>
      <vt:lpstr>Courier New</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11</cp:revision>
  <dcterms:created xsi:type="dcterms:W3CDTF">2026-04-17T05:07:00Z</dcterms:created>
  <dcterms:modified xsi:type="dcterms:W3CDTF">2026-04-24T01:58:11Z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C79E56846FEAA2CF55BFE1693E6D39DC_42</vt:lpwstr>
  </property>
  <property fmtid="{D5CDD505-2E9C-101B-9397-08002B2CF9AE}" pid="3" name="KSOProductBuildVer">
    <vt:lpwstr>2052-12.1.0.19302</vt:lpwstr>
  </property>
</Properties>
</file>