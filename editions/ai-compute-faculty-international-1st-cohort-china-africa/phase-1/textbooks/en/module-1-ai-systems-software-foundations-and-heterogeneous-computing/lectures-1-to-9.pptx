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2.webp" ContentType="image/webp"/>
  <Override PartName="/ppt/media/image53.webp" ContentType="image/webp"/>
  <Override PartName="/ppt/media/image57.webp" ContentType="image/webp"/>
  <Override PartName="/ppt/media/image68.webp" ContentType="image/webp"/>
  <Override PartName="/ppt/media/image69.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329"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4" r:id="rId68"/>
    <p:sldId id="326" r:id="rId69"/>
    <p:sldId id="327" r:id="rId70"/>
    <p:sldId id="328" r:id="rId71"/>
    <p:sldId id="398" r:id="rId72"/>
    <p:sldId id="399" r:id="rId73"/>
    <p:sldId id="400" r:id="rId74"/>
    <p:sldId id="401" r:id="rId75"/>
    <p:sldId id="402" r:id="rId76"/>
    <p:sldId id="403" r:id="rId77"/>
    <p:sldId id="404" r:id="rId78"/>
    <p:sldId id="405" r:id="rId79"/>
    <p:sldId id="406" r:id="rId80"/>
    <p:sldId id="407" r:id="rId81"/>
    <p:sldId id="408" r:id="rId82"/>
    <p:sldId id="409" r:id="rId83"/>
    <p:sldId id="410" r:id="rId84"/>
    <p:sldId id="411" r:id="rId85"/>
    <p:sldId id="412" r:id="rId86"/>
    <p:sldId id="413" r:id="rId87"/>
    <p:sldId id="414" r:id="rId88"/>
    <p:sldId id="415" r:id="rId89"/>
    <p:sldId id="416" r:id="rId90"/>
    <p:sldId id="417" r:id="rId91"/>
    <p:sldId id="418" r:id="rId92"/>
    <p:sldId id="419" r:id="rId93"/>
    <p:sldId id="420" r:id="rId94"/>
    <p:sldId id="421" r:id="rId95"/>
    <p:sldId id="422" r:id="rId96"/>
    <p:sldId id="423" r:id="rId97"/>
    <p:sldId id="424" r:id="rId98"/>
    <p:sldId id="425" r:id="rId99"/>
    <p:sldId id="426" r:id="rId100"/>
    <p:sldId id="427" r:id="rId101"/>
    <p:sldId id="428" r:id="rId102"/>
    <p:sldId id="429" r:id="rId103"/>
    <p:sldId id="430" r:id="rId104"/>
    <p:sldId id="431" r:id="rId105"/>
    <p:sldId id="432" r:id="rId106"/>
    <p:sldId id="433" r:id="rId107"/>
    <p:sldId id="434" r:id="rId108"/>
    <p:sldId id="435" r:id="rId109"/>
    <p:sldId id="436" r:id="rId110"/>
    <p:sldId id="437" r:id="rId111"/>
    <p:sldId id="438" r:id="rId112"/>
    <p:sldId id="439" r:id="rId113"/>
    <p:sldId id="440" r:id="rId114"/>
    <p:sldId id="441" r:id="rId115"/>
    <p:sldId id="442" r:id="rId116"/>
    <p:sldId id="443" r:id="rId117"/>
    <p:sldId id="444" r:id="rId118"/>
    <p:sldId id="445" r:id="rId119"/>
    <p:sldId id="446" r:id="rId120"/>
    <p:sldId id="447" r:id="rId121"/>
    <p:sldId id="448" r:id="rId122"/>
    <p:sldId id="449" r:id="rId123"/>
    <p:sldId id="450" r:id="rId124"/>
    <p:sldId id="451" r:id="rId125"/>
    <p:sldId id="452" r:id="rId126"/>
    <p:sldId id="453" r:id="rId127"/>
    <p:sldId id="454" r:id="rId128"/>
    <p:sldId id="455" r:id="rId129"/>
    <p:sldId id="456" r:id="rId130"/>
    <p:sldId id="457" r:id="rId131"/>
    <p:sldId id="458" r:id="rId132"/>
    <p:sldId id="459" r:id="rId133"/>
    <p:sldId id="460" r:id="rId134"/>
    <p:sldId id="461" r:id="rId135"/>
    <p:sldId id="462" r:id="rId136"/>
    <p:sldId id="463" r:id="rId137"/>
    <p:sldId id="464" r:id="rId138"/>
    <p:sldId id="465" r:id="rId139"/>
    <p:sldId id="466" r:id="rId140"/>
    <p:sldId id="467" r:id="rId141"/>
    <p:sldId id="468" r:id="rId142"/>
    <p:sldId id="469" r:id="rId143"/>
    <p:sldId id="470" r:id="rId144"/>
    <p:sldId id="471" r:id="rId145"/>
    <p:sldId id="472" r:id="rId146"/>
    <p:sldId id="473" r:id="rId147"/>
    <p:sldId id="474" r:id="rId148"/>
    <p:sldId id="475" r:id="rId149"/>
    <p:sldId id="476" r:id="rId150"/>
    <p:sldId id="477" r:id="rId151"/>
    <p:sldId id="478" r:id="rId152"/>
    <p:sldId id="479" r:id="rId153"/>
    <p:sldId id="480" r:id="rId154"/>
    <p:sldId id="481" r:id="rId155"/>
    <p:sldId id="482" r:id="rId156"/>
    <p:sldId id="483" r:id="rId157"/>
    <p:sldId id="484" r:id="rId158"/>
    <p:sldId id="485" r:id="rId159"/>
    <p:sldId id="486" r:id="rId160"/>
    <p:sldId id="487" r:id="rId161"/>
    <p:sldId id="488" r:id="rId162"/>
    <p:sldId id="489" r:id="rId163"/>
    <p:sldId id="490" r:id="rId164"/>
    <p:sldId id="491" r:id="rId165"/>
    <p:sldId id="492" r:id="rId166"/>
    <p:sldId id="493" r:id="rId167"/>
    <p:sldId id="494" r:id="rId168"/>
    <p:sldId id="495" r:id="rId169"/>
    <p:sldId id="496" r:id="rId170"/>
    <p:sldId id="497" r:id="rId171"/>
    <p:sldId id="498" r:id="rId172"/>
    <p:sldId id="499" r:id="rId173"/>
    <p:sldId id="500" r:id="rId174"/>
    <p:sldId id="501" r:id="rId175"/>
    <p:sldId id="502" r:id="rId176"/>
    <p:sldId id="503" r:id="rId177"/>
    <p:sldId id="504" r:id="rId178"/>
    <p:sldId id="505" r:id="rId179"/>
    <p:sldId id="506" r:id="rId180"/>
    <p:sldId id="507" r:id="rId181"/>
    <p:sldId id="508" r:id="rId182"/>
    <p:sldId id="509" r:id="rId183"/>
    <p:sldId id="510" r:id="rId184"/>
    <p:sldId id="511" r:id="rId185"/>
    <p:sldId id="512" r:id="rId186"/>
    <p:sldId id="513" r:id="rId187"/>
    <p:sldId id="514" r:id="rId188"/>
    <p:sldId id="321" r:id="rId189"/>
    <p:sldId id="322" r:id="rId190"/>
    <p:sldId id="281" r:id="rId191"/>
  </p:sldIdLst>
  <p:sldSz cx="12192000" cy="6858000"/>
  <p:notesSz cx="6858000" cy="9144000"/>
  <p:custDataLst>
    <p:tags r:id="rId19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E4B644-D0C3-4EBC-B9ED-63DD680D83BC}"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19A74872-F02B-4E3C-AB47-1B6172E16CCE}"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0"/>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presProps" Target="presProps.xml"/><Relationship Id="rId193" Type="http://schemas.openxmlformats.org/officeDocument/2006/relationships/viewProps" Target="viewProps.xml"/><Relationship Id="rId194" Type="http://schemas.openxmlformats.org/officeDocument/2006/relationships/tableStyles" Target="tableStyles.xml"/><Relationship Id="rId195" Type="http://schemas.openxmlformats.org/officeDocument/2006/relationships/tags" Target="tags/tag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 Id="rId3" Type="http://schemas.openxmlformats.org/officeDocument/2006/relationships/hyperlink" Target="https://support.huawei.com/enterprise/zh/doc/EDOC1100162135/74b99d2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需要涉及的要点</a:t>
            </a:r>
            <a:r>
              <a:rPr lang="en-US" altLang="zh-CN"/>
              <a:t>：</a:t>
            </a:r>
            <a:endParaRPr lang="en-US" altLang="zh-CN"/>
          </a:p>
          <a:p>
            <a:r>
              <a:rPr lang="en-US" altLang="zh-CN"/>
              <a:t>- </a:t>
            </a:r>
            <a:r>
              <a:rPr lang="zh-CN" altLang="en-US"/>
              <a:t>第一课时</a:t>
            </a:r>
            <a:r>
              <a:rPr lang="en-US" altLang="zh-CN"/>
              <a:t>：</a:t>
            </a:r>
            <a:r>
              <a:rPr lang="en-US">
                <a:solidFill>
                  <a:srgbClr val="262626"/>
                </a:solidFill>
                <a:latin typeface="Calibri" panose="020F0502020204030204"/>
                <a:ea typeface="Calibri" panose="020F0502020204030204"/>
                <a:cs typeface="Calibri" panose="020F0502020204030204"/>
                <a:sym typeface="Calibri" panose="020F0502020204030204"/>
              </a:rPr>
              <a:t>Compute Architectures </a:t>
            </a:r>
            <a:r>
              <a:rPr lang="zh-CN" altLang="en-US">
                <a:solidFill>
                  <a:srgbClr val="262626"/>
                </a:solidFill>
                <a:latin typeface="Calibri" panose="020F0502020204030204"/>
                <a:ea typeface="Calibri" panose="020F0502020204030204"/>
                <a:cs typeface="Calibri" panose="020F0502020204030204"/>
                <a:sym typeface="Calibri" panose="020F0502020204030204"/>
              </a:rPr>
              <a:t>的逐渐演化</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由</a:t>
            </a:r>
            <a:r>
              <a:rPr lang="en-US" altLang="zh-CN">
                <a:solidFill>
                  <a:srgbClr val="262626"/>
                </a:solidFill>
                <a:latin typeface="Calibri" panose="020F0502020204030204"/>
                <a:ea typeface="Calibri" panose="020F0502020204030204"/>
                <a:cs typeface="Calibri" panose="020F0502020204030204"/>
                <a:sym typeface="Calibri" panose="020F0502020204030204"/>
              </a:rPr>
              <a:t>AI/ML workload </a:t>
            </a:r>
            <a:r>
              <a:rPr lang="zh-CN" altLang="en-US">
                <a:solidFill>
                  <a:srgbClr val="262626"/>
                </a:solidFill>
                <a:latin typeface="Calibri" panose="020F0502020204030204"/>
                <a:ea typeface="Calibri" panose="020F0502020204030204"/>
                <a:cs typeface="Calibri" panose="020F0502020204030204"/>
                <a:sym typeface="Calibri" panose="020F0502020204030204"/>
              </a:rPr>
              <a:t>引导</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逐渐展示出多种多样的架构</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如华为达芬奇</a:t>
            </a:r>
            <a:r>
              <a:rPr lang="en-US" altLang="zh-CN">
                <a:solidFill>
                  <a:srgbClr val="262626"/>
                </a:solidFill>
                <a:latin typeface="Calibri" panose="020F0502020204030204"/>
                <a:ea typeface="Calibri" panose="020F0502020204030204"/>
                <a:cs typeface="Calibri" panose="020F0502020204030204"/>
                <a:sym typeface="Calibri" panose="020F0502020204030204"/>
              </a:rPr>
              <a:t>、AMD</a:t>
            </a:r>
            <a:r>
              <a:rPr lang="zh-CN" altLang="en-US">
                <a:solidFill>
                  <a:srgbClr val="262626"/>
                </a:solidFill>
                <a:latin typeface="Calibri" panose="020F0502020204030204"/>
                <a:ea typeface="Calibri" panose="020F0502020204030204"/>
                <a:cs typeface="Calibri" panose="020F0502020204030204"/>
                <a:sym typeface="Calibri" panose="020F0502020204030204"/>
              </a:rPr>
              <a:t>等等</a:t>
            </a:r>
            <a:endParaRPr lang="zh-CN" altLang="en-US">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第二课时</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互联的硬件基础</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与</a:t>
            </a:r>
            <a:r>
              <a:rPr lang="en-US" altLang="zh-CN">
                <a:solidFill>
                  <a:srgbClr val="262626"/>
                </a:solidFill>
                <a:latin typeface="Calibri" panose="020F0502020204030204"/>
                <a:ea typeface="Calibri" panose="020F0502020204030204"/>
                <a:cs typeface="Calibri" panose="020F0502020204030204"/>
                <a:sym typeface="Calibri" panose="020F0502020204030204"/>
              </a:rPr>
              <a:t>CUDA core、Tensor core </a:t>
            </a:r>
            <a:r>
              <a:rPr lang="zh-CN" altLang="en-US">
                <a:solidFill>
                  <a:srgbClr val="262626"/>
                </a:solidFill>
                <a:latin typeface="Calibri" panose="020F0502020204030204"/>
                <a:ea typeface="Calibri" panose="020F0502020204030204"/>
                <a:cs typeface="Calibri" panose="020F0502020204030204"/>
                <a:sym typeface="Calibri" panose="020F0502020204030204"/>
              </a:rPr>
              <a:t>的编程</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可能还需要涉及的点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课程整体设计</a:t>
            </a:r>
            <a:r>
              <a:rPr lang="en-US" altLang="zh-CN">
                <a:solidFill>
                  <a:srgbClr val="262626"/>
                </a:solidFill>
                <a:latin typeface="Calibri" panose="020F0502020204030204"/>
                <a:ea typeface="Calibri" panose="020F0502020204030204"/>
                <a:cs typeface="Calibri" panose="020F0502020204030204"/>
                <a:sym typeface="Calibri" panose="020F0502020204030204"/>
              </a:rPr>
              <a:t>（Syllabus、</a:t>
            </a:r>
            <a:r>
              <a:rPr lang="zh-CN" altLang="en-US">
                <a:solidFill>
                  <a:srgbClr val="262626"/>
                </a:solidFill>
                <a:latin typeface="Calibri" panose="020F0502020204030204"/>
                <a:ea typeface="Calibri" panose="020F0502020204030204"/>
                <a:cs typeface="Calibri" panose="020F0502020204030204"/>
                <a:sym typeface="Calibri" panose="020F0502020204030204"/>
              </a:rPr>
              <a:t>各个模块的内容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根据教学大纲生成了个</a:t>
            </a:r>
            <a:r>
              <a:rPr lang="en-US" altLang="zh-CN">
                <a:solidFill>
                  <a:srgbClr val="262626"/>
                </a:solidFill>
                <a:latin typeface="Calibri" panose="020F0502020204030204"/>
                <a:ea typeface="Calibri" panose="020F0502020204030204"/>
                <a:cs typeface="Calibri" panose="020F0502020204030204"/>
                <a:sym typeface="Calibri" panose="020F0502020204030204"/>
              </a:rPr>
              <a:t>overview</a:t>
            </a:r>
            <a:r>
              <a:rPr lang="zh-CN" altLang="en-US">
                <a:solidFill>
                  <a:srgbClr val="262626"/>
                </a:solidFill>
                <a:latin typeface="Calibri" panose="020F0502020204030204"/>
                <a:ea typeface="Calibri" panose="020F0502020204030204"/>
                <a:cs typeface="Calibri" panose="020F0502020204030204"/>
                <a:sym typeface="Calibri" panose="020F0502020204030204"/>
              </a:rPr>
              <a:t>的图</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https://lilianweng.github.io/posts/2023-06-23-agent/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https://openrouter.ai/announcements/the-2025-state-of-ai-report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https://github.com/baaivision/URSA</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https://eu.36kr.com/en/p/3576900266261385</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hlinkClick r:id="rId3" tooltip="https://support.huawei.com/enterprise/zh/doc/EDOC1100162135/74b99d28"/>
              </a:rPr>
              <a:t>https://support.huawei.com/enterprise/zh/doc/EDOC1100162135/74b99d28</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https://consumer.huawei.com/cn/phones/mate-x7/</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找权威的数据或者来源</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找权威的数据或者来源</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详细讲一些</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AI model timeline: https://lifearchitect.ai/timeline/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Janapa Reddi, V. ML Systems Textbook. , from https://www.mlsysbook.ai/contents/core/ml_systems/ml_systems.html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Janapa Reddi, V. ML Systems Textbook. , from https://www.mlsysbook.ai/contents/core/ml_systems/ml_systems.html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https://applieddatasystems.com/hpc-solutions-2/gpu-servers/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https://developer.nvidia.com/blog/introducing-nvidia-jetson-thor-the-ultimate-platform-for-physical-ai/</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src: https://www.fibermall.com/blog/pcie-development.htm?srsltid=AfmBOorQpZIXd2vThqYRYSiPnQA0t-vEEgy2qs2bqBwevFxZ18Css9BG</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src: https://global.icydock.com/resources/icy_tips_367.html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https://e2e.ti.com/support/processors-group/processors/f/processors-forum/465737/pcie-system-architecture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https://www.corsair.com/us/en/explorer/diy-builder/storage/what-is-pcie-and-how-does-it-work/?srsltid=AfmBOopOClHgxQNRCjM-qE1GfLF5emw_NG9baHGOoHVaTlt9bfUfwAtF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https://www.zhihu.com/question/22233341/answer/1889610843068535566</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gpu-cpu pic src: https://developer.nvidia.com/gpudirect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gpudirect: https://developer.download.nvidia.com/devzone/devcenter/cuda/docs/GPUDirect_Technology_Overview.pdf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 src: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https://developer.nvidia.com/blog/introduction-cuda-aware-mpi/</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https://keeneland.gatech.edu/software/gpudirect.html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并行方式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产生大量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P2P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通信的阶段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典型通信量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P2P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带宽</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延迟的敏感度</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梯度聚合（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All-Reduce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大，但可用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Ring/Tree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算法分摊到多链路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中等</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张量并行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每一步前向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反向，层内张量切片之间频繁交换中间结果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持续且密集的小包</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极高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流水线并行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阶段边界的前向激活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&amp;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反向梯度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阶段性脉冲式流量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 https://en.wikichip.org/wiki/nvidia/nvlink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pic1: https://mp.weixin.qq.com/s?__biz=MzI1OTExNzkzNw==&amp;mid=2650480852&amp;idx=3&amp;sn=9c1730bc2ba0262937e29a7096a0697d&amp;chksm=f3811d2cccd9dfae64115574577a78a3875cdf8ef926a79ac1b03232dc910508cff4df37533b&amp;scene=27&amp;poc_token=HHU-pGij3SZqHxnt9yGj91eq4cMpN2yXbZjC5abD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pic2: https://www.nvidia.com/zh-tw/data-center/nvlink/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https://developer.nvidia.com/blog/using-cuda-warp-level-primitives/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GPUs execute warps of 32 parallel threads using SIMT, which enables each thread to access its own registers, to load and store from divergent addresses, and to follow divergent control flow paths.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This is the start of an example explaining how GPU’s wide memory buses work.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desired element is at 0x00001232 as shown 2 slides back.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Basic ML Framework: PyTorch &amp; Tensorflow.</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Training Framework: DeepSpeed, Megatron-LLM, Accelerate</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Inference Framework: vLLM, SGLang, llama.cpp</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Flexible Post Training Framework: verl</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Basic ML Framework: PyTorch &amp; Tensorflow.</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Training Framework: DeepSpeed, Megatron-LLM, Accelerate</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Inference Framework: vLLM, SGLang, llama.cpp</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Flexible Post Training Framework: verl</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Basic ML Framework: PyTorch &amp; Tensorflow.</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Training Framework: DeepSpeed, Megatron-LLM, Accelerate</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Efficient LLM Inference Framework: vLLM, SGLang, llama.cpp</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Flexible Post Training Framework: verl</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https://sites.cc.gatech.edu/classes/AY2021/cs7650_fall/slides/Introduction_to_PyTorch.pdf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https://docs.pytorch.org/tutorials/beginner/dist_overview.html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https://sites.cc.gatech.edu/classes/AY2021/cs7650_fall/slides/Introduction_to_PyTorch.pdf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https://sites.cc.gatech.edu/classes/AY2021/cs7650_fall/slides/Introduction_to_PyTorch.pdf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https://dl.acm.org/doi/pdf/10.1145/3620665.3640366</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https://zhuanlan.zhihu.com/p/630933479</a:t>
            </a: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https://chips-compilers-mlsys-22.github.io/assets/slides/PyTorch%20Compilers%20(Compiler%20&amp;%20Chips%20Symposium%202022).pdf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https://docs.pytorch.org/docs/stable/torch.compiler_ir.html</a:t>
            </a: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https://pytorch.org/get-started/pytorch-2-x/</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https://dev-discuss.pytorch.org/t/torchinductor-a-pytorch-native-compiler-with-define-by-run-ir-and-symbolic-shapes/747</a:t>
            </a: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这里面最重要的理念是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define-by-run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https://blog.csdn.net/weixin_38235865/article/details/130085600</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既是一种编程语言，也是一个编译器。从程序员的视角来看，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作为一门编程语言，专门用于并行编程，它为了运行在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硬件上而设计，但也可以用在一些其他的、和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CPU</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都不同的加速器芯片上。</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语言可以用来编写神经网络当中的算子，实现非常好的计算性能，使大模型的程序能够更快地运行在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上，更迅速地给我们问题的答案。</a:t>
            </a:r>
            <a:b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而从芯片的角度来看，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作为编译器，可以把人类程序员能够理解的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编程语言，一步步地转换成芯片可以理解的机器语言，把程序代码生成出一个可以执行的二进制文件。在转换的过程中，编译器还会进行分析、思考和调整，让编译出的机器语言更优美、更高效。</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下面两个网址分别是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Github</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上的开源项目地址，和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编程语言的说明文档地址。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Feature	PyTorch (Eager)		CUDA C++		Triton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Ease of Use	Excellent (Python)	Low (C++)		Great (Pythonic)</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Performance	Moderate		Maximum		Near-Maximum</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Memory Mgmt.	Automatic		Manual (Shared/Global)	Automatic (Tiled)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Optimization	Limited		Manual (Hard)		Compiler-Driven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图片来源：Triton 官方文档</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图片来源：向量加法并行计算示意图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图片来源：Triton 官方文档 https://triton-lang.org/main/python-api/generated/triton.language.load.html</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图片来源：Triton 官方文档 https://triton-lang.org/main/python-api/generated/triton.language.store.html</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配图建议：Naive memory access 示意图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配图建议：GPU bandwidth vs compute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配图建议：矩阵 tile 分块图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配图建议：矩阵分块乘法示意图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配图建议：Tile multiply animation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配图建议：Data reuse 示意图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配图建议：compute vs memory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配图建议：Arithmetic intensity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配图建议：Roofline model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配图建议：Roofline 提升示意图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配图建议：Triton tile mapping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配图建议：2D tile grid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pPr indent="0" algn="l">
              <a:lnSpc>
                <a:spcPct val="100000"/>
              </a:lnSpc>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配图建议：Streaming tile 图</a:t>
            </a:r>
            <a:endPar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配图建议：GPU Memory Hierarchy 总图（CUDA官方图）</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代码示例：CUDA Shared Memory 声明与使用</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配图建议：memory access flow 图</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图片来源：NVIDIA Developer Forums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配图建议：padding 避免 conflict 图</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配图建议：reduction shared memory 图</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15"/>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Layout" Target="../slideLayouts/slideLayout2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slideLayout" Target="../slideLayouts/slideLayout14.xml"/><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3.xml"/><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3.xml"/><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Relationship Id="rId3"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slideLayout" Target="../slideLayouts/slideLayout13.xml"/><Relationship Id="rId6"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slideLayout" Target="../slideLayouts/slideLayout13.xml"/><Relationship Id="rId5"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webp"/><Relationship Id="rId4" Type="http://schemas.openxmlformats.org/officeDocument/2006/relationships/image" Target="../media/image53.webp"/><Relationship Id="rId5" Type="http://schemas.openxmlformats.org/officeDocument/2006/relationships/slideLayout" Target="../slideLayouts/slideLayout14.xml"/><Relationship Id="rId6"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webp"/><Relationship Id="rId3"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image" Target="../media/image54.jpeg"/><Relationship Id="rId2" Type="http://schemas.openxmlformats.org/officeDocument/2006/relationships/image" Target="../media/image55.jpeg"/><Relationship Id="rId3" Type="http://schemas.openxmlformats.org/officeDocument/2006/relationships/slideLayout" Target="../slideLayouts/slideLayout14.xml"/><Relationship Id="rId4"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webp"/><Relationship Id="rId3" Type="http://schemas.openxmlformats.org/officeDocument/2006/relationships/slideLayout" Target="../slideLayouts/slideLayout13.xml"/><Relationship Id="rId4"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jpeg"/><Relationship Id="rId4" Type="http://schemas.openxmlformats.org/officeDocument/2006/relationships/image" Target="../media/image61.jpeg"/><Relationship Id="rId5" Type="http://schemas.openxmlformats.org/officeDocument/2006/relationships/image" Target="../media/image62.jpeg"/><Relationship Id="rId6" Type="http://schemas.openxmlformats.org/officeDocument/2006/relationships/image" Target="../media/image63.jpeg"/><Relationship Id="rId7"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jpeg"/><Relationship Id="rId3" Type="http://schemas.openxmlformats.org/officeDocument/2006/relationships/slideLayout" Target="../slideLayouts/slideLayout13.xml"/><Relationship Id="rId4"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slideLayout" Target="../slideLayouts/slideLayout13.xml"/><Relationship Id="rId4"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image" Target="../media/image68.webp"/><Relationship Id="rId2" Type="http://schemas.openxmlformats.org/officeDocument/2006/relationships/image" Target="../media/image69.webp"/><Relationship Id="rId3" Type="http://schemas.openxmlformats.org/officeDocument/2006/relationships/slideLayout" Target="../slideLayouts/slideLayout13.xml"/><Relationship Id="rId4"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image" Target="../media/image70.png"/><Relationship Id="rId2" Type="http://schemas.openxmlformats.org/officeDocument/2006/relationships/tags" Target="../tags/tag1.xml"/><Relationship Id="rId3" Type="http://schemas.openxmlformats.org/officeDocument/2006/relationships/slideLayout" Target="../slideLayouts/slideLayout13.xml"/><Relationship Id="rId4"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4.xml"/><Relationship Id="rId3"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image" Target="../media/image76.jpeg"/><Relationship Id="rId2"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7.png"/><Relationship Id="rId3"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image" Target="../media/image78.png"/><Relationship Id="rId2" Type="http://schemas.openxmlformats.org/officeDocument/2006/relationships/image" Target="../media/image79.png"/><Relationship Id="rId3"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image" Target="../media/image82.jpeg"/><Relationship Id="rId2"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image" Target="../media/image83.jpeg"/><Relationship Id="rId2" Type="http://schemas.openxmlformats.org/officeDocument/2006/relationships/image" Target="../media/image84.png"/><Relationship Id="rId3"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image" Target="../media/image85.png"/><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slideLayout" Target="../slideLayouts/slideLayout13.xml"/><Relationship Id="rId11" Type="http://schemas.openxmlformats.org/officeDocument/2006/relationships/notesSlide" Target="../notesSlides/notesSlide22.xml"/></Relationships>
</file>

<file path=ppt/slides/_rels/slide71.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slideLayout" Target="../slideLayouts/slideLayout13.xml"/><Relationship Id="rId10" Type="http://schemas.openxmlformats.org/officeDocument/2006/relationships/notesSlide" Target="../notesSlides/notesSlide23.xml"/></Relationships>
</file>

<file path=ppt/slides/_rels/slide72.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slideLayout" Target="../slideLayouts/slideLayout13.xml"/><Relationship Id="rId10" Type="http://schemas.openxmlformats.org/officeDocument/2006/relationships/notesSlide" Target="../notesSlides/notesSlide24.xml"/></Relationships>
</file>

<file path=ppt/slides/_rels/slide73.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5.png"/><Relationship Id="rId3"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77.xml.rels><?xml version='1.0' encoding='UTF-8' standalone='yes'?>
<Relationships xmlns="http://schemas.openxmlformats.org/package/2006/relationships"><Relationship Id="rId1" Type="http://schemas.openxmlformats.org/officeDocument/2006/relationships/image" Target="../media/image106.png"/><Relationship Id="rId2" Type="http://schemas.openxmlformats.org/officeDocument/2006/relationships/slideLayout" Target="../slideLayouts/slideLayout13.xml"/><Relationship Id="rId3" Type="http://schemas.openxmlformats.org/officeDocument/2006/relationships/notesSlide" Target="../notesSlides/notesSlide28.xml"/></Relationships>
</file>

<file path=ppt/slides/_rels/slide78.xml.rels><?xml version='1.0' encoding='UTF-8' standalone='yes'?>
<Relationships xmlns="http://schemas.openxmlformats.org/package/2006/relationships"><Relationship Id="rId1" Type="http://schemas.openxmlformats.org/officeDocument/2006/relationships/image" Target="../media/image107.png"/><Relationship Id="rId2" Type="http://schemas.openxmlformats.org/officeDocument/2006/relationships/image" Target="../media/image108.png"/><Relationship Id="rId3" Type="http://schemas.openxmlformats.org/officeDocument/2006/relationships/slideLayout" Target="../slideLayouts/slideLayout13.xml"/><Relationship Id="rId4" Type="http://schemas.openxmlformats.org/officeDocument/2006/relationships/notesSlide" Target="../notesSlides/notesSlide29.xml"/></Relationships>
</file>

<file path=ppt/slides/_rels/slide79.xml.rels><?xml version='1.0' encoding='UTF-8' standalone='yes'?>
<Relationships xmlns="http://schemas.openxmlformats.org/package/2006/relationships"><Relationship Id="rId1" Type="http://schemas.openxmlformats.org/officeDocument/2006/relationships/image" Target="../media/image109.png"/><Relationship Id="rId2" Type="http://schemas.openxmlformats.org/officeDocument/2006/relationships/slideLayout" Target="../slideLayouts/slideLayout13.xml"/><Relationship Id="rId3" Type="http://schemas.openxmlformats.org/officeDocument/2006/relationships/notesSlide" Target="../notesSlides/notesSlide30.xml"/></Relationships>
</file>

<file path=ppt/slides/_rels/slide80.xml.rels><?xml version='1.0' encoding='UTF-8' standalone='yes'?>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111.png"/><Relationship Id="rId3" Type="http://schemas.openxmlformats.org/officeDocument/2006/relationships/slideLayout" Target="../slideLayouts/slideLayout13.xml"/><Relationship Id="rId4" Type="http://schemas.openxmlformats.org/officeDocument/2006/relationships/notesSlide" Target="../notesSlides/notesSlide31.xml"/></Relationships>
</file>

<file path=ppt/slides/_rels/slide81.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113.png"/><Relationship Id="rId3" Type="http://schemas.openxmlformats.org/officeDocument/2006/relationships/slideLayout" Target="../slideLayouts/slideLayout14.xml"/><Relationship Id="rId4" Type="http://schemas.openxmlformats.org/officeDocument/2006/relationships/notesSlide" Target="../notesSlides/notesSlide3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image" Target="../media/image114.png"/><Relationship Id="rId2" Type="http://schemas.openxmlformats.org/officeDocument/2006/relationships/image" Target="../media/image115.png"/><Relationship Id="rId3" Type="http://schemas.openxmlformats.org/officeDocument/2006/relationships/slideLayout" Target="../slideLayouts/slideLayout13.xml"/><Relationship Id="rId4" Type="http://schemas.openxmlformats.org/officeDocument/2006/relationships/notesSlide" Target="../notesSlides/notesSlide3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86.xml.rels><?xml version='1.0' encoding='UTF-8' standalone='yes'?>
<Relationships xmlns="http://schemas.openxmlformats.org/package/2006/relationships"><Relationship Id="rId1" Type="http://schemas.openxmlformats.org/officeDocument/2006/relationships/image" Target="../media/image115.png"/><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slideLayout" Target="../slideLayouts/slideLayout13.xml"/><Relationship Id="rId6" Type="http://schemas.openxmlformats.org/officeDocument/2006/relationships/notesSlide" Target="../notesSlides/notesSlide35.xml"/></Relationships>
</file>

<file path=ppt/slides/_rels/slide87.xml.rels><?xml version='1.0' encoding='UTF-8' standalone='yes'?>
<Relationships xmlns="http://schemas.openxmlformats.org/package/2006/relationships"><Relationship Id="rId1" Type="http://schemas.openxmlformats.org/officeDocument/2006/relationships/image" Target="../media/image119.png"/><Relationship Id="rId2" Type="http://schemas.openxmlformats.org/officeDocument/2006/relationships/slideLayout" Target="../slideLayouts/slideLayout13.xml"/><Relationship Id="rId3" Type="http://schemas.openxmlformats.org/officeDocument/2006/relationships/notesSlide" Target="../notesSlides/notesSlide3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1" Type="http://schemas.openxmlformats.org/officeDocument/2006/relationships/hyperlink" Target="https://triton-lang.org/main/index.html" TargetMode="External"/><Relationship Id="rId2" Type="http://schemas.openxmlformats.org/officeDocument/2006/relationships/hyperlink" Target="https://github.com/triton-lang/triton/tree/main/docs/meetups" TargetMode="External"/><Relationship Id="rId3" Type="http://schemas.openxmlformats.org/officeDocument/2006/relationships/hyperlink" Target="https://github.com/dao-ailab/flash-attention/blob/main/flash_attn/flash_attn_triton.py" TargetMode="External"/><Relationship Id="rId4"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image" Target="../media/image120.png"/><Relationship Id="rId2"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7.xml"/><Relationship Id="rId3" Type="http://schemas.openxmlformats.org/officeDocument/2006/relationships/notesSlide" Target="../notesSlides/notesSlide4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123.xml.rels><?xml version='1.0' encoding='UTF-8' standalone='yes'?>
<Relationships xmlns="http://schemas.openxmlformats.org/package/2006/relationships"><Relationship Id="rId1" Type="http://schemas.openxmlformats.org/officeDocument/2006/relationships/image" Target="../media/image122.png"/><Relationship Id="rId2" Type="http://schemas.openxmlformats.org/officeDocument/2006/relationships/slideLayout" Target="../slideLayouts/slideLayout17.xml"/><Relationship Id="rId3" Type="http://schemas.openxmlformats.org/officeDocument/2006/relationships/notesSlide" Target="../notesSlides/notesSlide4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s>
</file>

<file path=ppt/slides/_rels/slide125.xml.rels><?xml version='1.0' encoding='UTF-8' standalone='yes'?>
<Relationships xmlns="http://schemas.openxmlformats.org/package/2006/relationships"><Relationship Id="rId1" Type="http://schemas.openxmlformats.org/officeDocument/2006/relationships/image" Target="../media/image123.png"/><Relationship Id="rId2" Type="http://schemas.openxmlformats.org/officeDocument/2006/relationships/slideLayout" Target="../slideLayouts/slideLayout17.xml"/><Relationship Id="rId3" Type="http://schemas.openxmlformats.org/officeDocument/2006/relationships/notesSlide" Target="../notesSlides/notesSlide4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image" Target="../media/image124.png"/><Relationship Id="rId2" Type="http://schemas.openxmlformats.org/officeDocument/2006/relationships/slideLayout" Target="../slideLayouts/slideLayout17.xml"/><Relationship Id="rId3" Type="http://schemas.openxmlformats.org/officeDocument/2006/relationships/notesSlide" Target="../notesSlides/notesSlide5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159.xml.rels><?xml version='1.0' encoding='UTF-8' standalone='yes'?>
<Relationships xmlns="http://schemas.openxmlformats.org/package/2006/relationships"><Relationship Id="rId1" Type="http://schemas.openxmlformats.org/officeDocument/2006/relationships/image" Target="../media/image125.png"/><Relationship Id="rId2" Type="http://schemas.openxmlformats.org/officeDocument/2006/relationships/slideLayout" Target="../slideLayouts/slideLayout17.xml"/><Relationship Id="rId3" Type="http://schemas.openxmlformats.org/officeDocument/2006/relationships/notesSlide" Target="../notesSlides/notesSlide8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1.xml"/></Relationships>
</file>

<file path=ppt/slides/_rels/slide161.xml.rels><?xml version='1.0' encoding='UTF-8' standalone='yes'?>
<Relationships xmlns="http://schemas.openxmlformats.org/package/2006/relationships"><Relationship Id="rId1" Type="http://schemas.openxmlformats.org/officeDocument/2006/relationships/image" Target="../media/image126.png"/><Relationship Id="rId2" Type="http://schemas.openxmlformats.org/officeDocument/2006/relationships/slideLayout" Target="../slideLayouts/slideLayout17.xml"/><Relationship Id="rId3" Type="http://schemas.openxmlformats.org/officeDocument/2006/relationships/notesSlide" Target="../notesSlides/notesSlide82.xml"/></Relationships>
</file>

<file path=ppt/slides/_rels/slide162.xml.rels><?xml version='1.0' encoding='UTF-8' standalone='yes'?>
<Relationships xmlns="http://schemas.openxmlformats.org/package/2006/relationships"><Relationship Id="rId1" Type="http://schemas.openxmlformats.org/officeDocument/2006/relationships/image" Target="../media/image127.png"/><Relationship Id="rId2" Type="http://schemas.openxmlformats.org/officeDocument/2006/relationships/slideLayout" Target="../slideLayouts/slideLayout17.xml"/><Relationship Id="rId3" Type="http://schemas.openxmlformats.org/officeDocument/2006/relationships/notesSlide" Target="../notesSlides/notesSlide83.xml"/></Relationships>
</file>

<file path=ppt/slides/_rels/slide163.xml.rels><?xml version='1.0' encoding='UTF-8' standalone='yes'?>
<Relationships xmlns="http://schemas.openxmlformats.org/package/2006/relationships"><Relationship Id="rId1" Type="http://schemas.openxmlformats.org/officeDocument/2006/relationships/image" Target="../media/image128.png"/><Relationship Id="rId2" Type="http://schemas.openxmlformats.org/officeDocument/2006/relationships/slideLayout" Target="../slideLayouts/slideLayout17.xml"/><Relationship Id="rId3" Type="http://schemas.openxmlformats.org/officeDocument/2006/relationships/notesSlide" Target="../notesSlides/notesSlide8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6.xml"/></Relationships>
</file>

<file path=ppt/slides/_rels/slide166.xml.rels><?xml version='1.0' encoding='UTF-8' standalone='yes'?>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7.xml"/><Relationship Id="rId3" Type="http://schemas.openxmlformats.org/officeDocument/2006/relationships/notesSlide" Target="../notesSlides/notesSlide87.xml"/></Relationships>
</file>

<file path=ppt/slides/_rels/slide167.xml.rels><?xml version='1.0' encoding='UTF-8' standalone='yes'?>
<Relationships xmlns="http://schemas.openxmlformats.org/package/2006/relationships"><Relationship Id="rId1" Type="http://schemas.openxmlformats.org/officeDocument/2006/relationships/image" Target="../media/image130.png"/><Relationship Id="rId2" Type="http://schemas.openxmlformats.org/officeDocument/2006/relationships/slideLayout" Target="../slideLayouts/slideLayout17.xml"/><Relationship Id="rId3" Type="http://schemas.openxmlformats.org/officeDocument/2006/relationships/notesSlide" Target="../notesSlides/notesSlide8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9.xml"/></Relationships>
</file>

<file path=ppt/slides/_rels/slide169.xml.rels><?xml version='1.0' encoding='UTF-8' standalone='yes'?>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7.xml"/><Relationship Id="rId3" Type="http://schemas.openxmlformats.org/officeDocument/2006/relationships/notesSlide" Target="../notesSlides/notesSlide9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1.xml"/></Relationships>
</file>

<file path=ppt/slides/_rels/slide171.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7.xml"/><Relationship Id="rId3" Type="http://schemas.openxmlformats.org/officeDocument/2006/relationships/notesSlide" Target="../notesSlides/notesSlide92.xml"/></Relationships>
</file>

<file path=ppt/slides/_rels/slide172.xml.rels><?xml version='1.0' encoding='UTF-8' standalone='yes'?>
<Relationships xmlns="http://schemas.openxmlformats.org/package/2006/relationships"><Relationship Id="rId1" Type="http://schemas.openxmlformats.org/officeDocument/2006/relationships/image" Target="../media/image126.png"/><Relationship Id="rId2" Type="http://schemas.openxmlformats.org/officeDocument/2006/relationships/slideLayout" Target="../slideLayouts/slideLayout17.xml"/><Relationship Id="rId3" Type="http://schemas.openxmlformats.org/officeDocument/2006/relationships/notesSlide" Target="../notesSlides/notesSlide93.xml"/></Relationships>
</file>

<file path=ppt/slides/_rels/slide173.xml.rels><?xml version='1.0' encoding='UTF-8' standalone='yes'?>
<Relationships xmlns="http://schemas.openxmlformats.org/package/2006/relationships"><Relationship Id="rId1" Type="http://schemas.openxmlformats.org/officeDocument/2006/relationships/image" Target="../media/image132.png"/><Relationship Id="rId2" Type="http://schemas.openxmlformats.org/officeDocument/2006/relationships/slideLayout" Target="../slideLayouts/slideLayout17.xml"/><Relationship Id="rId3" Type="http://schemas.openxmlformats.org/officeDocument/2006/relationships/notesSlide" Target="../notesSlides/notesSlide94.xml"/></Relationships>
</file>

<file path=ppt/slides/_rels/slide174.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slideLayout" Target="../slideLayouts/slideLayout17.xml"/><Relationship Id="rId3" Type="http://schemas.openxmlformats.org/officeDocument/2006/relationships/notesSlide" Target="../notesSlides/notesSlide9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7.xml"/></Relationships>
</file>

<file path=ppt/slides/_rels/slide177.xml.rels><?xml version='1.0' encoding='UTF-8' standalone='yes'?>
<Relationships xmlns="http://schemas.openxmlformats.org/package/2006/relationships"><Relationship Id="rId1" Type="http://schemas.openxmlformats.org/officeDocument/2006/relationships/image" Target="../media/image134.png"/><Relationship Id="rId2" Type="http://schemas.openxmlformats.org/officeDocument/2006/relationships/slideLayout" Target="../slideLayouts/slideLayout17.xml"/><Relationship Id="rId3" Type="http://schemas.openxmlformats.org/officeDocument/2006/relationships/notesSlide" Target="../notesSlides/notesSlide9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image" Target="../media/image135.png"/><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hyperlink" Target="https://github.com/flagos-ai" TargetMode="External"/><Relationship Id="rId8" Type="http://schemas.openxmlformats.org/officeDocument/2006/relationships/hyperlink" Target="https://space.bilibili.com/3546791834290849" TargetMode="External"/><Relationship Id="rId9" Type="http://schemas.openxmlformats.org/officeDocument/2006/relationships/hyperlink" Target="https://www.zhihu.com/people/95-22-20-18/posts" TargetMode="External"/><Relationship Id="rId10" Type="http://schemas.openxmlformats.org/officeDocument/2006/relationships/hyperlink" Target="https://flagos.io/Home" TargetMode="External"/><Relationship Id="rId11" Type="http://schemas.openxmlformats.org/officeDocument/2006/relationships/image" Target="../media/image141.jpeg"/><Relationship Id="rId12" Type="http://schemas.openxmlformats.org/officeDocument/2006/relationships/image" Target="../media/image142.png"/><Relationship Id="rId13" Type="http://schemas.openxmlformats.org/officeDocument/2006/relationships/slideLayout" Target="../slideLayouts/slideLayout17.xml"/></Relationships>
</file>

<file path=ppt/slides/_rels/slide187.xml.rels><?xml version='1.0' encoding='UTF-8' standalone='yes'?>
<Relationships xmlns="http://schemas.openxmlformats.org/package/2006/relationships"><Relationship Id="rId1" Type="http://schemas.openxmlformats.org/officeDocument/2006/relationships/image" Target="../media/image143.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logo-africa"/>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endParaRPr lang="en-US"/>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11" name="表格 10"/>
          <p:cNvGraphicFramePr/>
          <p:nvPr/>
        </p:nvGraphicFramePr>
        <p:xfrm>
          <a:off x="215900" y="1333675"/>
          <a:ext cx="11760200" cy="4821555"/>
        </p:xfrm>
        <a:graphic>
          <a:graphicData uri="http://schemas.openxmlformats.org/drawingml/2006/table">
            <a:tbl>
              <a:tblPr firstRow="1" bandCol="1">
                <a:tableStyleId>{F5E4B644-D0C3-4EBC-B9ED-63DD680D83BC}</a:tableStyleId>
              </a:tblPr>
              <a:tblGrid>
                <a:gridCol w="674370"/>
                <a:gridCol w="3578225"/>
                <a:gridCol w="7507605"/>
              </a:tblGrid>
              <a:tr h="262255">
                <a:tc>
                  <a:txBody>
                    <a:bodyPr/>
                    <a:p>
                      <a:pPr marL="0" indent="0" algn="ctr">
                        <a:lnSpc>
                          <a:spcPct val="120000"/>
                        </a:lnSpc>
                      </a:pPr>
                      <a:r>
                        <a:rPr lang="en-US" altLang="zh-CN" sz="1200" spc="120"/>
                        <a:t>Week</a:t>
                      </a:r>
                      <a:endParaRPr lang="en-US" altLang="zh-CN" sz="1200" spc="120"/>
                    </a:p>
                  </a:txBody>
                  <a:tcPr marL="107950" marR="107950" marT="12700" marB="12700" anchor="ctr" anchorCtr="0">
                    <a:lnB w="12700">
                      <a:solidFill>
                        <a:schemeClr val="accent1"/>
                      </a:solidFill>
                      <a:prstDash val="solid"/>
                    </a:lnB>
                  </a:tcPr>
                </a:tc>
                <a:tc>
                  <a:txBody>
                    <a:bodyPr/>
                    <a:p>
                      <a:pPr marL="0" indent="0" algn="ctr">
                        <a:lnSpc>
                          <a:spcPct val="120000"/>
                        </a:lnSpc>
                      </a:pPr>
                      <a:r>
                        <a:rPr lang="en-US" altLang="zh-CN" sz="1200" spc="120"/>
                        <a:t>Module</a:t>
                      </a:r>
                      <a:endParaRPr lang="en-US" altLang="zh-CN" sz="1200" spc="120"/>
                    </a:p>
                  </a:txBody>
                  <a:tcPr marL="107950" marR="107950" marT="12700" marB="12700" anchor="ctr" anchorCtr="0">
                    <a:lnB w="12700">
                      <a:solidFill>
                        <a:schemeClr val="accent1"/>
                      </a:solidFill>
                      <a:prstDash val="solid"/>
                    </a:lnB>
                  </a:tcPr>
                </a:tc>
                <a:tc>
                  <a:txBody>
                    <a:bodyPr/>
                    <a:p>
                      <a:pPr marL="0" indent="0" algn="ctr">
                        <a:lnSpc>
                          <a:spcPct val="120000"/>
                        </a:lnSpc>
                      </a:pPr>
                      <a:r>
                        <a:rPr lang="en-US" altLang="zh-CN" sz="1200" spc="120"/>
                        <a:t>Main Content</a:t>
                      </a:r>
                      <a:endParaRPr lang="en-US" altLang="zh-CN" sz="1200" spc="120"/>
                    </a:p>
                  </a:txBody>
                  <a:tcPr marL="107950" marR="107950" marT="12700" marB="12700" anchor="ctr" anchorCtr="0">
                    <a:lnB w="12700">
                      <a:solidFill>
                        <a:schemeClr val="accent1"/>
                      </a:solidFill>
                      <a:prstDash val="solid"/>
                    </a:lnB>
                  </a:tcPr>
                </a:tc>
              </a:tr>
              <a:tr h="420370">
                <a:tc>
                  <a:txBody>
                    <a:bodyPr/>
                    <a:p>
                      <a:pPr marL="0" indent="0" algn="ctr">
                        <a:lnSpc>
                          <a:spcPct val="120000"/>
                        </a:lnSpc>
                      </a:pPr>
                      <a:r>
                        <a:rPr lang="en-US" altLang="zh-CN" sz="1000" spc="60"/>
                        <a:t>1</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1: AI System Fundamentals &amp; Heterogeneous Computing</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Overview of AI hardware architecture; challenges to Moore's Law and trends in heterogeneous computing</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2</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SIMT programming model; thread hierarchy and memory hierarchy</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3</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Analysis of deep learning framework call chains; Shared Memory and Bank Conflict</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4</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Cache locality optimization; Tiled matrix multiplication; Introduction to Triton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5</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2: High-Performance AI Operators &amp; Operator Engineering</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Principles of Transformer attention mechanism; design and implementation of FlashAttention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6</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Optimization of convolution, normalization, and activation function operators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7</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Operator fusion techniques; debugging and profiling of complex operators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4155">
                <a:tc>
                  <a:txBody>
                    <a:bodyPr/>
                    <a:p>
                      <a:pPr marL="0" indent="0" algn="ctr">
                        <a:lnSpc>
                          <a:spcPct val="120000"/>
                        </a:lnSpc>
                      </a:pPr>
                      <a:r>
                        <a:rPr lang="en-US" altLang="zh-CN" sz="1000" spc="60"/>
                        <a:t>8</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Q&amp;A and discussion on Module 1 / Module 2 labs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9</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3: AI Compiler Principles &amp; Optimization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Overview of AI compilers; fundamentals of Intermediate Representation (IR); SSA and computation graphs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10</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In-depth analysis of MLIR architecture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11</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Operator fusion passes: graph matching, pattern recognition, and subgraph rewriting</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12</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Layout and memory planning; multi-chip backend code generation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13</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2">
                  <a:txBody>
                    <a:bodyPr/>
                    <a:p>
                      <a:pPr marL="0" indent="0" algn="l">
                        <a:lnSpc>
                          <a:spcPct val="120000"/>
                        </a:lnSpc>
                      </a:pPr>
                      <a:r>
                        <a:rPr lang="en-US" altLang="zh-CN" sz="1000" spc="60"/>
                        <a:t>Module 4: Distributed Parallel Training &amp; Communication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Principles of data parallelism, tensor parallelism, and pipeline parallelism</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14</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Communication primitives and topology optimization; hybrid parallelism and memory optimization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20370">
                <a:tc>
                  <a:txBody>
                    <a:bodyPr/>
                    <a:p>
                      <a:pPr marL="0" indent="0" algn="ctr">
                        <a:lnSpc>
                          <a:spcPct val="120000"/>
                        </a:lnSpc>
                      </a:pPr>
                      <a:r>
                        <a:rPr lang="en-US" altLang="zh-CN" sz="1000" spc="60"/>
                        <a:t>15</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2">
                  <a:txBody>
                    <a:bodyPr/>
                    <a:p>
                      <a:pPr marL="0" indent="0" algn="l">
                        <a:lnSpc>
                          <a:spcPct val="120000"/>
                        </a:lnSpc>
                      </a:pPr>
                      <a:r>
                        <a:rPr lang="en-US" altLang="zh-CN" sz="1000" spc="60"/>
                        <a:t>Module 5: Performance Evaluation &amp; Frontier Outlook</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Operator performance metrics; automatic operator tuning; LLM-assisted code generation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16</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Specialized optimization for domestic AI chips; FlagOS ecosystem and frontier technology outlook; course summary</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01: Course Introduction and AI Hardware Landscape</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Token-Hungry Generative AI Applications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endParaRPr lang="en-US"/>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LLM-powered autonomous agents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Token consumption trends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image source:  lilianweng.github.io,  openrouter.ai,  36kr.com (with doubao phone),  github.com/baaivision/URSA</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AI mobile phone and AI PC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Video generation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402715" y="1762760"/>
            <a:ext cx="4115435" cy="163258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79805" y="3874770"/>
            <a:ext cx="4680000" cy="2387614"/>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115050" y="4262120"/>
            <a:ext cx="5760000" cy="1800000"/>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7550150" y="1762760"/>
            <a:ext cx="2889250" cy="16256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Hardware Spectrum: Key Examples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pic>
        <p:nvPicPr>
          <p:cNvPr id="5" name="Picture 5"/>
          <p:cNvPicPr>
            <a:picLocks noChangeAspect="1"/>
          </p:cNvPicPr>
          <p:nvPr/>
        </p:nvPicPr>
        <p:blipFill>
          <a:blip r:embed="rId1"/>
          <a:srcRect/>
          <a:stretch>
            <a:fillRect/>
          </a:stretch>
        </p:blipFill>
        <p:spPr>
          <a:xfrm>
            <a:off x="5450504" y="3763828"/>
            <a:ext cx="4847835" cy="2721497"/>
          </a:xfrm>
          <a:prstGeom prst="rect">
            <a:avLst/>
          </a:prstGeom>
          <a:ln w="12700">
            <a:noFill/>
            <a:prstDash val="solid"/>
          </a:ln>
        </p:spPr>
      </p:pic>
      <p:sp>
        <p:nvSpPr>
          <p:cNvPr id="6" name="AutoShape 6"/>
          <p:cNvSpPr/>
          <p:nvPr/>
        </p:nvSpPr>
        <p:spPr>
          <a:xfrm>
            <a:off x="419250" y="1978814"/>
            <a:ext cx="2160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Cloud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Huawei Ascend</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Cambricon MLU370</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etc.</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9354070" y="1978586"/>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Edge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Iluvatar</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TY1200</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568475" y="4868975"/>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Mobile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Kirin 9030 Pro</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9292377" y="4869029"/>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Tiny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Arduino Nano 33</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BLE Sense</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0" name="Picture 10"/>
          <p:cNvPicPr>
            <a:picLocks noChangeAspect="1"/>
          </p:cNvPicPr>
          <p:nvPr/>
        </p:nvPicPr>
        <p:blipFill>
          <a:blip r:embed="rId2"/>
          <a:srcRect/>
          <a:stretch>
            <a:fillRect/>
          </a:stretch>
        </p:blipFill>
        <p:spPr>
          <a:xfrm>
            <a:off x="6074410" y="1403350"/>
            <a:ext cx="3600000" cy="1751050"/>
          </a:xfrm>
          <a:prstGeom prst="rect">
            <a:avLst/>
          </a:prstGeom>
          <a:ln w="12700">
            <a:noFill/>
            <a:prstDash val="solid"/>
          </a:ln>
        </p:spPr>
      </p:pic>
      <p:pic>
        <p:nvPicPr>
          <p:cNvPr id="11" name="Picture 11"/>
          <p:cNvPicPr>
            <a:picLocks noChangeAspect="1"/>
          </p:cNvPicPr>
          <p:nvPr/>
        </p:nvPicPr>
        <p:blipFill>
          <a:blip r:embed="rId3"/>
          <a:srcRect/>
          <a:stretch>
            <a:fillRect/>
          </a:stretch>
        </p:blipFill>
        <p:spPr>
          <a:xfrm>
            <a:off x="3115945" y="3996055"/>
            <a:ext cx="2160000" cy="2160000"/>
          </a:xfrm>
          <a:prstGeom prst="rect">
            <a:avLst/>
          </a:prstGeom>
          <a:ln w="12700">
            <a:noFill/>
            <a:prstDash val="solid"/>
          </a:ln>
        </p:spPr>
      </p:pic>
      <p:pic>
        <p:nvPicPr>
          <p:cNvPr id="12" name="Picture 12"/>
          <p:cNvPicPr>
            <a:picLocks noChangeAspect="1"/>
          </p:cNvPicPr>
          <p:nvPr/>
        </p:nvPicPr>
        <p:blipFill>
          <a:blip r:embed="rId4"/>
          <a:srcRect/>
          <a:stretch>
            <a:fillRect/>
          </a:stretch>
        </p:blipFill>
        <p:spPr>
          <a:xfrm>
            <a:off x="2755900" y="1266190"/>
            <a:ext cx="2880000" cy="202581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3" name="AutoShape 3"/>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pic>
        <p:nvPicPr>
          <p:cNvPr id="4" name="Picture 4"/>
          <p:cNvPicPr>
            <a:picLocks noChangeAspect="1"/>
          </p:cNvPicPr>
          <p:nvPr>
            <p:ph type="body" sz="quarter" idx="9"/>
          </p:nvPr>
        </p:nvPicPr>
        <p:blipFill>
          <a:blip r:embed="rId1"/>
          <a:srcRect/>
          <a:stretch>
            <a:fillRect/>
          </a:stretch>
        </p:blipFill>
        <p:spPr>
          <a:xfrm>
            <a:off x="682625" y="675503"/>
            <a:ext cx="11277600" cy="1891622"/>
          </a:xfrm>
          <a:prstGeom prst="rect">
            <a:avLst/>
          </a:prstGeom>
        </p:spPr>
      </p:pic>
      <p:pic>
        <p:nvPicPr>
          <p:cNvPr id="6" name="Picture 5" descr="E:/BAAI/COURSE/i18n/fr/unitree.pngunitree"/>
          <p:cNvPicPr>
            <a:picLocks noChangeAspect="1"/>
          </p:cNvPicPr>
          <p:nvPr/>
        </p:nvPicPr>
        <p:blipFill>
          <a:blip r:embed="rId2"/>
          <a:srcRect t="8" b="8"/>
          <a:stretch>
            <a:fillRect/>
          </a:stretch>
        </p:blipFill>
        <p:spPr>
          <a:xfrm>
            <a:off x="4406900" y="2717800"/>
            <a:ext cx="7497445" cy="40036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Hardware Demands of AI/ML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image:	https://medium.com/geekculture/business-analysis-ai-computational-cost-67a136957c95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45720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https://ourworldindata.org/grapher/artificial-intelligence-parameter-count</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5283835" cy="4853305"/>
          </a:xfrm>
          <a:prstGeom prst="rect">
            <a:avLst/>
          </a:prstGeom>
        </p:spPr>
        <p:txBody>
          <a:bodyPr wrap="square" lIns="91440" tIns="45720" rIns="91440" bIns="45720" anchor="t">
            <a:normAutofit lnSpcReduction="20000"/>
          </a:bodyPr>
          <a:lstStyle>
            <a:lvl1pPr algn="l">
              <a:lnSpc>
                <a:spcPct val="117000"/>
              </a:lnSpc>
              <a:defRPr sz="2400" b="0" i="0" u="none" strike="noStrike" spc="0">
                <a:solidFill>
                  <a:srgbClr val="404040">
                    <a:alpha val="100000"/>
                  </a:srgbClr>
                </a:solidFill>
                <a:latin typeface="Calibri" panose="020F0502020204030204"/>
              </a:defRPr>
            </a:lvl1pPr>
          </a:lstStyle>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Model Parameters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exponential growth.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Demand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Outpacing the Moore's Law.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 between compute cost and U.S GDP byOpenAI.</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Scale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new critical bottleneck.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b="27273"/>
          <a:stretch>
            <a:fillRect/>
          </a:stretch>
        </p:blipFill>
        <p:spPr>
          <a:xfrm>
            <a:off x="6054090" y="3467100"/>
            <a:ext cx="5261610" cy="2806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37580" y="1066800"/>
            <a:ext cx="5261610" cy="25996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General-Purpose CPUs Failed AI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 Gholami, Z. Yao, S. Kim, C. Hooper, M. W. Mahoney and K. Keutzer, "AI and Memory Wall," in IEEE Micro, vol. 44, no. 3, pp. 33-39, May-June 2024, doi: 10.1109/MM.2024.3373763.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666813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CPU's Legacy: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decades, the Central Processing Unit (CPU) was the universal engine of computing, designed for sequential, general-purpose tasks.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Two Crises: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Von Neumann Bottleneck</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Constant data shuffling between processing and memory units created a fundamental efficiency limit, consuming more energy than the actual computation.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End of Performance Scaling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Dennard Scaling and the derived performance effects from Moore’s Law, which provided decades of exponential performance growth, came to an end.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65010" y="1243965"/>
            <a:ext cx="4661535" cy="24511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36180" y="3585845"/>
            <a:ext cx="3581400" cy="26257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General-Purpose CPUs Failed AI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 Gholami et al., "AI and Memory Wall," in IEEE Micro, vol. 44, no. 3, pp. 33-39, May-June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580072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Mismatch: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CPUs' sequential design is fundamentally inefficient for the massive parallelism inherent in AI workloads like matrix multiplication.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A5A5A5"/>
              </a:buClr>
              <a:buChar char="•"/>
            </a:pPr>
            <a:r>
              <a:rPr lang="en-US" sz="2000" b="0" i="1" u="none" strike="noStrike">
                <a:solidFill>
                  <a:srgbClr val="A5A5A5"/>
                </a:solidFill>
                <a:latin typeface="Calibri" panose="020F0502020204030204"/>
                <a:ea typeface="Calibri" panose="020F0502020204030204"/>
                <a:cs typeface="Calibri" panose="020F0502020204030204"/>
                <a:sym typeface="Calibri" panose="020F0502020204030204"/>
              </a:rPr>
              <a:t>CPUs achieve only 5-10% utilization on neural network workloads, delivering approximately 100 GFLOPS10 while consuming hundreds of watts*.</a:t>
            </a:r>
            <a:endParaRPr lang="en-US" sz="2000" b="0" i="1" u="none" strike="noStrike">
              <a:solidFill>
                <a:srgbClr val="A5A5A5"/>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Conclusion: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AI's exponential demands exposed the limits of the general-purpose model, forcing a shift to specialized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625590" y="1740535"/>
            <a:ext cx="5432425" cy="36595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Rise of the GPU</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J. D. Owens, M. Houston, D. Luebke, S. Green, J. E. Stone and J. C. Phillips, "GPU Computing," in Proceedings of the IEEE, vol. 96, no. 5, pp. 879-899, May 2008, doi: 10.1109/JPROC.2008.917757.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629920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 Unlikely Hero: The Graphics Processing Unit (GPU) was born in the late 1990s for video game graphics, featuring thousands of simple cores for parallel tasks.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Architectural Resonance: The core math of graphics (matrix and vector operations) was identical to the math of deep learning, making GPUs a perfect, albeit accidental, fit.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08190" y="834390"/>
            <a:ext cx="4105275" cy="5047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Rise of the GPU</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J. D. Owens, M. Houston, D. Luebke, S. Green, J. E. Stone and J. C. Phillips, "GPU Computing," in Proceedings of the IEEE, vol. 96, no. 5, pp. 879-899, May 2008, doi: 10.1109/JPROC.2008.917757.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631063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Software Catalyst: CUDA: NVIDIA's CUDA platform (2007) unlocked the GPU for general-purpose computing, making its power accessible to AI researchers without deep graphics expertise.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Result: Training times for AI models plummeted from weeks to hours, establishing the GPU as the de facto standard for AI training.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53580" y="1132840"/>
            <a:ext cx="4160520" cy="25082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834505" y="3641090"/>
            <a:ext cx="4379595" cy="24142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1st-Gen Tensor Core: Warp-scoped MMA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4054" y="1537049"/>
            <a:ext cx="7200000" cy="44263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23958" y="1537028"/>
            <a:ext cx="4263571" cy="2538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Scaling of Tensor Cores in NIVIDIA GPUs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pic>
        <p:nvPicPr>
          <p:cNvPr id="5" name="Picture 5"/>
          <p:cNvPicPr>
            <a:picLocks noChangeAspect="1"/>
          </p:cNvPicPr>
          <p:nvPr>
            <p:ph type="body" sz="quarter" idx="9"/>
          </p:nvPr>
        </p:nvPicPr>
        <p:blipFill>
          <a:blip r:embed="rId1"/>
          <a:srcRect/>
          <a:stretch>
            <a:fillRect/>
          </a:stretch>
        </p:blipFill>
        <p:spPr>
          <a:xfrm>
            <a:off x="523875" y="1473261"/>
            <a:ext cx="11277600" cy="45544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Scaling of Tensor Cores in NIVIDIA GPUs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495300" y="1206500"/>
            <a:ext cx="11201400" cy="4445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Scaling of Tensor Cores in NIVIDIA GPUs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 Core throughput doubled every generation, but global memory load latency didn’t decrease and in fact increased. As a result, we need to increase the staging SMEM size for buffering more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0525" y="2677021"/>
            <a:ext cx="11316190" cy="334181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Compute Architectures Evolve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series (+ Tensor cores)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TPU series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Ascend series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 series:  Intel (+ matrix extension);  AMD (+ NPU)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compute-in-memory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wafer-scale chip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Supernode and Hypercomputer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Huawei DaVinci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 Liao, J. Tu, J. Xia and X. Zhou, "DaVinci: A Scalable Architecture for Neural Network Computing," IEEE Hot Chips 31 Symposium (HCS), 2019.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Cube</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4096(16^3) FP16 MACs + 8192 INT8 MACs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Vector</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2048bit INT8/FP16/FP32 vector with special functions</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activation functions, NMS- Non Minimum Suppression, ROI, SORT</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Explicit memory hierarchy design, managed by MTE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324735" y="3357245"/>
            <a:ext cx="7362190" cy="29991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Intel’s Advanced Matrix Extensions (AMX)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611378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Strategy: Enhance CPU with AI acceleration capabilities.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Architecture: An extension to the x86 ISA, not a separate chip.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Components: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Tiles: 2D register files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TMUL: dedicated matrix multiply instruction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Explicit load/store/configuration model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Instructions: tilecfg, tileload, tmul, tilestore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Initial support: INT8, BF16 (extensions for FP16)</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63740" y="1323975"/>
            <a:ext cx="5008880" cy="19494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287260" y="3562350"/>
            <a:ext cx="4648835" cy="27787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AMD Zen + RDNA + XDNA SoC</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pSp>
        <p:nvGrpSpPr>
          <p:cNvPr id="6" name="Group 6"/>
          <p:cNvGrpSpPr/>
          <p:nvPr/>
        </p:nvGrpSpPr>
        <p:grpSpPr>
          <a:xfrm>
            <a:off x="523875" y="1323975"/>
            <a:ext cx="7201059" cy="3677271"/>
            <a:chOff x="523875" y="1323975"/>
            <a:chExt cx="7201059" cy="3677271"/>
          </a:xfrm>
        </p:grpSpPr>
        <p:pic>
          <p:nvPicPr>
            <p:cNvPr id="7" name="Picture 7"/>
            <p:cNvPicPr>
              <a:picLocks noChangeAspect="1"/>
            </p:cNvPicPr>
            <p:nvPr/>
          </p:nvPicPr>
          <p:blipFill>
            <a:blip r:embed="rId1"/>
            <a:srcRect l="15649" t="23097" r="14961" b="13910"/>
            <a:stretch>
              <a:fillRect/>
            </a:stretch>
          </p:blipFill>
          <p:spPr>
            <a:xfrm>
              <a:off x="523875" y="1323975"/>
              <a:ext cx="7201059" cy="3677271"/>
            </a:xfrm>
            <a:prstGeom prst="rect">
              <a:avLst/>
            </a:prstGeom>
            <a:ln w="12700">
              <a:noFill/>
              <a:prstDash val="solid"/>
            </a:ln>
          </p:spPr>
        </p:pic>
        <p:sp>
          <p:nvSpPr>
            <p:cNvPr id="8" name="AutoShape 8"/>
            <p:cNvSpPr/>
            <p:nvPr/>
          </p:nvSpPr>
          <p:spPr>
            <a:xfrm>
              <a:off x="893296" y="166375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893296" y="192732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893296" y="2172902"/>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893296" y="2424828"/>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3802087" y="166375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3802087" y="192732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3802087" y="2172902"/>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3802087" y="2424828"/>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4712408" y="326528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4712408" y="3641058"/>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4712408" y="403376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4712408" y="441800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1012908"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1726345"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2429197"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pic>
        <p:nvPicPr>
          <p:cNvPr id="23" name="Picture 23"/>
          <p:cNvPicPr>
            <a:picLocks noChangeAspect="1"/>
          </p:cNvPicPr>
          <p:nvPr/>
        </p:nvPicPr>
        <p:blipFill>
          <a:blip r:embed="rId2"/>
          <a:srcRect/>
          <a:stretch>
            <a:fillRect/>
          </a:stretch>
        </p:blipFill>
        <p:spPr>
          <a:xfrm>
            <a:off x="8201660" y="2490470"/>
            <a:ext cx="3600000" cy="2510840"/>
          </a:xfrm>
          <a:prstGeom prst="rect">
            <a:avLst/>
          </a:prstGeom>
          <a:ln w="12700">
            <a:noFill/>
            <a:prstDash val="solid"/>
          </a:ln>
        </p:spPr>
      </p:pic>
      <p:sp>
        <p:nvSpPr>
          <p:cNvPr id="24" name="AutoShape 24"/>
          <p:cNvSpPr/>
          <p:nvPr/>
        </p:nvSpPr>
        <p:spPr>
          <a:xfrm>
            <a:off x="8201660" y="5001260"/>
            <a:ext cx="359981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XDNA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Digital IMC Architecture (d-Matrix)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7138670" cy="4853305"/>
          </a:xfrm>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Digital IMC (DIMC)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Zero Data Movement: Logic units integrated within SRAM to eliminate transfer overhead.</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Digital Precision: Supports MXINT8/MXINT4 block-floating-point formats.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a:t>
            </a:r>
            <a:r>
              <a:rPr lang="en-US" sz="1700" b="1" i="0" u="none" strike="noStrike">
                <a:solidFill>
                  <a:srgbClr val="8B0012"/>
                </a:solidFill>
                <a:latin typeface="Calibri" panose="020F0502020204030204"/>
                <a:ea typeface="Calibri" panose="020F0502020204030204"/>
                <a:cs typeface="Calibri" panose="020F0502020204030204"/>
                <a:sym typeface="Calibri" panose="020F0502020204030204"/>
              </a:rPr>
              <a:t>38 TOPS/W</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(vs. ~2.8 TOPS/W for H100).</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Storage: SRAM &amp; Memory Hierarchy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Stash (Weights): 6MB/slice; 150 TB/s aggregate bandwidth.</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Global Memory (Activations): 4MB/slice.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LPDDR5 (256GB): For massive models and KV Cache.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Scalability &amp; Software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Scale-Out: Transparent interconnect bypassing RDMA.</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Host-Free Runtime: RISC-V cores manage graph execution, eliminating Host CPU bottlenecks.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57440" y="824865"/>
            <a:ext cx="4594860" cy="5790565"/>
            <a:chOff x="7145020" y="431800"/>
            <a:chExt cx="4907280" cy="6183630"/>
          </a:xfrm>
        </p:grpSpPr>
        <p:pic>
          <p:nvPicPr>
            <p:cNvPr id="7" name="Picture 7"/>
            <p:cNvPicPr>
              <a:picLocks noChangeAspect="1"/>
            </p:cNvPicPr>
            <p:nvPr/>
          </p:nvPicPr>
          <p:blipFill>
            <a:blip r:embed="rId1"/>
            <a:srcRect/>
            <a:stretch>
              <a:fillRect/>
            </a:stretch>
          </p:blipFill>
          <p:spPr>
            <a:xfrm>
              <a:off x="7145020" y="3429000"/>
              <a:ext cx="4907280" cy="318643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7968615" y="431800"/>
              <a:ext cx="3239770" cy="2507615"/>
            </a:xfrm>
            <a:prstGeom prst="rect">
              <a:avLst/>
            </a:prstGeom>
            <a:ln w="12700">
              <a:noFill/>
              <a:prstDash val="solid"/>
            </a:ln>
          </p:spPr>
        </p:pic>
        <p:cxnSp>
          <p:nvCxnSpPr>
            <p:cNvPr id="9" name="Connector 9"/>
            <p:cNvCxnSpPr/>
            <p:nvPr/>
          </p:nvCxnSpPr>
          <p:spPr>
            <a:xfrm>
              <a:off x="7954010" y="2908935"/>
              <a:ext cx="2936240" cy="659130"/>
            </a:xfrm>
            <a:prstGeom prst="line">
              <a:avLst/>
            </a:prstGeom>
            <a:noFill/>
            <a:ln w="12700" cap="flat">
              <a:solidFill>
                <a:srgbClr val="A5A5A5">
                  <a:alpha val="100000"/>
                </a:srgbClr>
              </a:solidFill>
              <a:prstDash val="solid"/>
              <a:headEnd type="none" w="med" len="med"/>
              <a:tailEnd type="none" w="med" len="med"/>
            </a:ln>
          </p:spPr>
        </p:cxnSp>
        <p:cxnSp>
          <p:nvCxnSpPr>
            <p:cNvPr id="10" name="Connector 10"/>
            <p:cNvCxnSpPr/>
            <p:nvPr/>
          </p:nvCxnSpPr>
          <p:spPr>
            <a:xfrm>
              <a:off x="11181080" y="2886710"/>
              <a:ext cx="27305" cy="681355"/>
            </a:xfrm>
            <a:prstGeom prst="line">
              <a:avLst/>
            </a:prstGeom>
            <a:noFill/>
            <a:ln w="12700" cap="flat">
              <a:solidFill>
                <a:srgbClr val="A5A5A5">
                  <a:alpha val="100000"/>
                </a:srgbClr>
              </a:solidFill>
              <a:prstDash val="solid"/>
              <a:headEnd type="none" w="med" len="med"/>
              <a:tailEnd type="none" w="med" len="med"/>
            </a:ln>
          </p:spPr>
        </p:cxn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Wafer-Scale Architecture (Cerebras)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7734300" cy="4853305"/>
          </a:xfrm>
          <a:prstGeom prst="rect">
            <a:avLst/>
          </a:prstGeom>
        </p:spPr>
        <p:txBody>
          <a:bodyPr wrap="square" lIns="91440" tIns="45720" rIns="91440" bIns="45720" anchor="t">
            <a:normAutofit/>
          </a:bodyPr>
          <a:lstStyle>
            <a:lvl1pPr algn="l">
              <a:lnSpc>
                <a:spcPct val="100000"/>
              </a:lnSpc>
              <a:defRPr sz="1700" b="0" i="0" u="none" strike="noStrike" spc="0">
                <a:solidFill>
                  <a:srgbClr val="404040">
                    <a:alpha val="100000"/>
                  </a:srgbClr>
                </a:solidFill>
                <a:latin typeface="Calibri" panose="020F0502020204030204"/>
              </a:defRPr>
            </a:lvl1pPr>
          </a:lstStyle>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WSE-3 Specs (vs. NVIDIA H100) </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Die Area: 46,225 mm</a:t>
            </a:r>
            <a:r>
              <a:rPr lang="en-US" sz="1400" b="0" i="0" u="none" strike="noStrike" baseline="30000">
                <a:solidFill>
                  <a:srgbClr val="404040"/>
                </a:solidFill>
                <a:latin typeface="Calibri" panose="020F0502020204030204"/>
                <a:ea typeface="Calibri" panose="020F0502020204030204"/>
                <a:cs typeface="Calibri" panose="020F0502020204030204"/>
                <a:sym typeface="Calibri" panose="020F0502020204030204"/>
              </a:rPr>
              <a:t>2</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(57x</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AI Cores: 900,000 AI cores (52x</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on-chip Memory: 44 GB SRAM (880x)</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Memory Bandwidth: 21 PB/s (7000x)</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WSE-3 Core Architecture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Co-located Compute &amp; Memory: Logic and storage are tightly coupled to minimize latency.</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High-Performance AI Compute: 8/16-way SIMD supporting 16-bit/8-bit data formats.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High-Bandwidth Storage: Massive local SRAM and specialized cache hierarchies.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Inference Strategy: On-Chip Pipeline Parallelism</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Physical Mapping: Model layers are mapped across different wafer regions.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Near-Zero Latency: Communication happens via a high-speed Silicon Interconnect, effectively eliminating traditional networking overhead.</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r="38870" b="-807"/>
          <a:stretch>
            <a:fillRect/>
          </a:stretch>
        </p:blipFill>
        <p:spPr>
          <a:xfrm>
            <a:off x="8434705" y="1237615"/>
            <a:ext cx="1799590" cy="20624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568690" y="3404870"/>
            <a:ext cx="2690495" cy="3126105"/>
          </a:xfrm>
          <a:prstGeom prst="rect">
            <a:avLst/>
          </a:prstGeom>
          <a:ln w="12700">
            <a:noFill/>
            <a:prstDash val="solid"/>
          </a:ln>
        </p:spPr>
      </p:pic>
      <p:pic>
        <p:nvPicPr>
          <p:cNvPr id="8" name="Picture 8"/>
          <p:cNvPicPr>
            <a:picLocks noChangeAspect="1"/>
          </p:cNvPicPr>
          <p:nvPr/>
        </p:nvPicPr>
        <p:blipFill>
          <a:blip r:embed="rId1"/>
          <a:srcRect l="75302" t="69305"/>
          <a:stretch>
            <a:fillRect/>
          </a:stretch>
        </p:blipFill>
        <p:spPr>
          <a:xfrm>
            <a:off x="10410825" y="1931670"/>
            <a:ext cx="727075" cy="6280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Supernode Architecture (NVL72 &amp; CloudMatrix 384)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https://zhuanlan.zhihu.com/p/1919101924445254162</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xfrm>
            <a:off x="523875" y="1323975"/>
            <a:ext cx="6653530" cy="4853305"/>
          </a:xfrm>
          <a:prstGeom prst="rect">
            <a:avLst/>
          </a:prstGeom>
        </p:spPr>
        <p:txBody>
          <a:bodyPr wrap="square" lIns="91440" tIns="45720" rIns="91440" bIns="45720" anchor="t">
            <a:norm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NVIDIA NVL72: "The Rack is the Chip"</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Chip-Centric, Compute-First Supernode: Designed as a unified computational entity.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Architecture: 72 Blackwell GPUs integrated into a single rack, interconnected via a Copper Backplane (NVLink Switch).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Objective: Emulate Wafer-Scale (WSI) performance using discrete components; leverages copper interconnects for rack-level All-to-All high bandwidth.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Huawei Cloud-Matrix 384</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System-Centric, Communication-First Unified Supernode: Prioritizes large-scale interconnect efficiency.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Mechanism: Interconnects hundreds of Ascend processors via the proprietary HCCS protocol to build a Unified Memory Pool.</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General-Purpose Advantage: Unlike niche inference chips, it balances large-scale training and inference, backed by the mature CANN ecosystem.</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112125" y="1065530"/>
            <a:ext cx="2963545" cy="296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179310" y="4284980"/>
            <a:ext cx="4622165" cy="19932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Model Parameter vs GPU Memory Capacity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NLP Moore’s Law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Model Params: </a:t>
            </a:r>
            <a:r>
              <a:rPr lang="en-US" sz="1800" b="1" i="0" u="none" strike="noStrike">
                <a:solidFill>
                  <a:srgbClr val="C00000"/>
                </a:solidFill>
                <a:latin typeface="Calibri" panose="020F0502020204030204"/>
                <a:ea typeface="Calibri" panose="020F0502020204030204"/>
                <a:cs typeface="Calibri" panose="020F0502020204030204"/>
                <a:sym typeface="Calibri" panose="020F0502020204030204"/>
              </a:rPr>
              <a:t>&gt;10,000</a:t>
            </a:r>
            <a:r>
              <a:rPr lang="en-US" sz="18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growth in 7 years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Growth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Memory Capacity: </a:t>
            </a:r>
            <a:r>
              <a:rPr lang="en-US" sz="1800" b="1" i="0" u="none" strike="noStrike">
                <a:solidFill>
                  <a:srgbClr val="C00000"/>
                </a:solidFill>
                <a:latin typeface="Calibri" panose="020F0502020204030204"/>
                <a:ea typeface="Calibri" panose="020F0502020204030204"/>
                <a:cs typeface="Calibri" panose="020F0502020204030204"/>
                <a:sym typeface="Calibri" panose="020F0502020204030204"/>
              </a:rPr>
              <a:t>&lt;10</a:t>
            </a:r>
            <a:r>
              <a:rPr lang="en-US" sz="18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growth in 7 years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7" name="Table 7"/>
          <p:cNvGraphicFramePr>
            <a:graphicFrameLocks noGrp="1"/>
          </p:cNvGraphicFramePr>
          <p:nvPr/>
        </p:nvGraphicFramePr>
        <p:xfrm>
          <a:off x="991235" y="2295525"/>
          <a:ext cx="4288155" cy="3503295"/>
        </p:xfrm>
        <a:graphic>
          <a:graphicData uri="http://schemas.openxmlformats.org/drawingml/2006/table">
            <a:tbl>
              <a:tblPr>
                <a:effectLst/>
              </a:tblPr>
              <a:tblGrid>
                <a:gridCol w="1250950"/>
                <a:gridCol w="1391285"/>
                <a:gridCol w="1645920"/>
              </a:tblGrid>
              <a:tr h="389255">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Time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Model</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Size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2018</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BERT-Large </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0.34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2019</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175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≈1.8 T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Llama-3.1</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405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Gemini 1.5 Pro</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≈1.5 T</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DeepSeek-V3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671 B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GPT-4.5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≈12.8 T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graphicFrame>
        <p:nvGraphicFramePr>
          <p:cNvPr id="8" name="Table 8"/>
          <p:cNvGraphicFramePr>
            <a:graphicFrameLocks noGrp="1"/>
          </p:cNvGraphicFramePr>
          <p:nvPr/>
        </p:nvGraphicFramePr>
        <p:xfrm>
          <a:off x="6156325" y="2295525"/>
          <a:ext cx="4861560" cy="3120390"/>
        </p:xfrm>
        <a:graphic>
          <a:graphicData uri="http://schemas.openxmlformats.org/drawingml/2006/table">
            <a:tbl>
              <a:tblPr>
                <a:effectLst/>
              </a:tblPr>
              <a:tblGrid>
                <a:gridCol w="1215390"/>
                <a:gridCol w="1215390"/>
                <a:gridCol w="1215390"/>
                <a:gridCol w="1215390"/>
              </a:tblGrid>
              <a:tr h="530225">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Time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GPU</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Memory Capacity</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Memory Bandwidth</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20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2018</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V100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32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900 GB/s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20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80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6957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A800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80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6957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94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3.9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6957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H200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141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4.8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B200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192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8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205">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B300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288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9" name="AutoShape 9"/>
          <p:cNvSpPr/>
          <p:nvPr/>
        </p:nvSpPr>
        <p:spPr>
          <a:xfrm>
            <a:off x="5183505" y="5927090"/>
            <a:ext cx="661797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1" i="1" u="none" strike="noStrike">
                <a:solidFill>
                  <a:srgbClr val="000000"/>
                </a:solidFill>
                <a:latin typeface="Arial" panose="020B0604020202020204"/>
                <a:ea typeface="Arial" panose="020B0604020202020204"/>
                <a:cs typeface="Arial" panose="020B0604020202020204"/>
                <a:sym typeface="Arial" panose="020B0604020202020204"/>
              </a:rPr>
              <a:t>Massive-scale, high-bandwidth</a:t>
            </a:r>
            <a:r>
              <a:rPr lang="en-US" sz="1800" b="0" i="1" u="none" strike="noStrike">
                <a:solidFill>
                  <a:srgbClr val="000000"/>
                </a:solidFill>
                <a:latin typeface="Arial" panose="020B0604020202020204"/>
                <a:ea typeface="Arial" panose="020B0604020202020204"/>
                <a:cs typeface="Arial" panose="020B0604020202020204"/>
                <a:sym typeface="Arial" panose="020B0604020202020204"/>
              </a:rPr>
              <a:t> interconnects are mandatory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AI Obstacle Course: </a:t>
            </a:r>
            <a:r>
              <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rPr>
              <a:t>The Challenge of a Multi-Chip World</a:t>
            </a:r>
            <a:endPar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2562860" y="1741170"/>
            <a:ext cx="7200000" cy="40186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02: Fundamentals of Heterogeneous Computing Programming Models</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1" i="0" u="none" strike="noStrike" spc="0">
                <a:solidFill>
                  <a:srgbClr val="8B0012">
                    <a:alpha val="100000"/>
                  </a:srgbClr>
                </a:solidFill>
                <a:latin typeface="Ebrima" panose="02000000000000000000"/>
              </a:defRPr>
            </a:lvl1pPr>
          </a:lstStyle>
          <a:p>
            <a:pPr marL="355600" indent="-355600" algn="l">
              <a:lnSpc>
                <a:spcPct val="100000"/>
              </a:lnSpc>
              <a:spcBef>
                <a:spcPts val="3000"/>
              </a:spcBef>
              <a:buClr>
                <a:srgbClr val="8B0012"/>
              </a:buClr>
              <a:buChar char="•"/>
            </a:pPr>
            <a:r>
              <a:rPr lang="en-US" sz="2800" b="1" i="0" u="none" strike="noStrike">
                <a:solidFill>
                  <a:srgbClr val="8B0012"/>
                </a:solidFill>
                <a:latin typeface="Ebrima" panose="02000000000000000000"/>
                <a:ea typeface="Ebrima" panose="02000000000000000000"/>
                <a:cs typeface="Ebrima" panose="02000000000000000000"/>
                <a:sym typeface="Ebrima" panose="02000000000000000000"/>
              </a:rPr>
              <a:t>Host, Device, and Interconnect</a:t>
            </a:r>
            <a:endParaRPr lang="en-US" sz="2800" b="1" i="0" u="none" strike="noStrike">
              <a:solidFill>
                <a:srgbClr val="8B0012"/>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host-dev: PCIe, NVLink-C2C</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dev-dev: PCIe, NVLink, (RDMA)</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Programming CUDA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Programming Tensor </a:t>
            </a: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Hardware Spectrum: Key Examples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1/2</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1"/>
          <a:srcRect/>
          <a:stretch>
            <a:fillRect/>
          </a:stretch>
        </p:blipFill>
        <p:spPr>
          <a:xfrm>
            <a:off x="1997341" y="1040818"/>
            <a:ext cx="4397504" cy="2476360"/>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6649612" y="958566"/>
            <a:ext cx="2449563" cy="2454433"/>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2886321" y="3763880"/>
            <a:ext cx="2620322" cy="2625532"/>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5450504" y="3763828"/>
            <a:ext cx="4847835" cy="2721497"/>
          </a:xfrm>
          <a:prstGeom prst="rect">
            <a:avLst/>
          </a:prstGeom>
          <a:ln w="12700">
            <a:noFill/>
            <a:prstDash val="solid"/>
          </a:ln>
        </p:spPr>
      </p:pic>
      <p:sp>
        <p:nvSpPr>
          <p:cNvPr id="9" name="AutoShape 9"/>
          <p:cNvSpPr/>
          <p:nvPr/>
        </p:nvSpPr>
        <p:spPr>
          <a:xfrm>
            <a:off x="568475" y="1978814"/>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Cloud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DGX 100</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9354070" y="1978586"/>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Edge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Jetson</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AGX Orin</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568475" y="4868975"/>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Mobile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iPhone</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9292377" y="4869029"/>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Arial" panose="020B0604020202020204"/>
                <a:ea typeface="Arial" panose="020B0604020202020204"/>
                <a:cs typeface="Arial" panose="020B0604020202020204"/>
                <a:sym typeface="Arial" panose="020B0604020202020204"/>
              </a:rPr>
              <a:t>Tiny ML</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Arduino Nano 33</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BLE Sense</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Hardware Spectrum: Key Examples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2/2</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https://www.mlsysbook.ai/contents/core/ml_systems/ml_systems.html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254531" y="1531795"/>
            <a:ext cx="5825790" cy="39732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80311" y="2007539"/>
            <a:ext cx="5857124" cy="2399067"/>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80311" y="1531838"/>
            <a:ext cx="5838623" cy="475691"/>
          </a:xfrm>
          <a:prstGeom prst="rect">
            <a:avLst/>
          </a:prstGeom>
          <a:ln w="12700">
            <a:noFill/>
            <a:prstDash val="solid"/>
          </a:ln>
        </p:spPr>
      </p:pic>
      <p:sp>
        <p:nvSpPr>
          <p:cNvPr id="9" name="AutoShape 9"/>
          <p:cNvSpPr/>
          <p:nvPr/>
        </p:nvSpPr>
        <p:spPr>
          <a:xfrm>
            <a:off x="935355" y="1531620"/>
            <a:ext cx="5144770" cy="2367280"/>
          </a:xfrm>
          <a:prstGeom prst="rect">
            <a:avLst/>
          </a:prstGeom>
          <a:solidFill>
            <a:srgbClr val="4472C4">
              <a:alpha val="20000"/>
            </a:srgbClr>
          </a:solidFill>
          <a:ln w="12700" cap="flat">
            <a:solidFill>
              <a:srgbClr val="2F5597">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5355" y="3898900"/>
            <a:ext cx="5144770" cy="1606550"/>
          </a:xfrm>
          <a:prstGeom prst="rect">
            <a:avLst/>
          </a:prstGeom>
          <a:solidFill>
            <a:srgbClr val="ED7D31">
              <a:alpha val="20000"/>
            </a:srgbClr>
          </a:solidFill>
          <a:ln w="12700" cap="flat">
            <a:solidFill>
              <a:srgbClr val="843C0B">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6774180" y="1531620"/>
            <a:ext cx="5144770" cy="1435100"/>
          </a:xfrm>
          <a:prstGeom prst="rect">
            <a:avLst/>
          </a:prstGeom>
          <a:solidFill>
            <a:srgbClr val="FFC000">
              <a:alpha val="20000"/>
            </a:srgbClr>
          </a:solidFill>
          <a:ln w="12700" cap="flat">
            <a:solidFill>
              <a:srgbClr val="806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774180" y="2966720"/>
            <a:ext cx="5144770" cy="1435100"/>
          </a:xfrm>
          <a:prstGeom prst="rect">
            <a:avLst/>
          </a:prstGeom>
          <a:solidFill>
            <a:srgbClr val="70AD47">
              <a:alpha val="20000"/>
            </a:srgbClr>
          </a:solidFill>
          <a:ln w="12700" cap="flat">
            <a:solidFill>
              <a:srgbClr val="38572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Two Forms of AI Chips (NVIDIA)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Discrete AI Chip: Standalone accelerators (e.g., DGX A100).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Integrated AI Chip: System-on-Chip/SoC (e.g., DRIVE Thor).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r="6249"/>
          <a:stretch>
            <a:fillRect/>
          </a:stretch>
        </p:blipFill>
        <p:spPr>
          <a:xfrm>
            <a:off x="523875" y="2051050"/>
            <a:ext cx="5400000" cy="3402133"/>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524099" y="5000625"/>
            <a:ext cx="2880000" cy="1720992"/>
          </a:xfrm>
          <a:prstGeom prst="rect">
            <a:avLst/>
          </a:prstGeom>
          <a:ln w="12700">
            <a:noFill/>
            <a:prstDash val="solid"/>
          </a:ln>
        </p:spPr>
      </p:pic>
      <p:cxnSp>
        <p:nvCxnSpPr>
          <p:cNvPr id="11" name="Connector 11"/>
          <p:cNvCxnSpPr/>
          <p:nvPr/>
        </p:nvCxnSpPr>
        <p:spPr>
          <a:xfrm>
            <a:off x="3373120" y="3381375"/>
            <a:ext cx="1800000" cy="0"/>
          </a:xfrm>
          <a:prstGeom prst="line">
            <a:avLst/>
          </a:prstGeom>
          <a:noFill/>
          <a:ln w="38100" cap="flat">
            <a:solidFill>
              <a:srgbClr val="FF0000">
                <a:alpha val="100000"/>
              </a:srgbClr>
            </a:solidFill>
            <a:prstDash val="solid"/>
            <a:headEnd type="none" w="med" len="med"/>
            <a:tailEnd type="none" w="med" len="med"/>
          </a:ln>
        </p:spPr>
      </p:cxnSp>
      <p:cxnSp>
        <p:nvCxnSpPr>
          <p:cNvPr id="12" name="Connector 12"/>
          <p:cNvCxnSpPr/>
          <p:nvPr/>
        </p:nvCxnSpPr>
        <p:spPr>
          <a:xfrm>
            <a:off x="3151505" y="3857625"/>
            <a:ext cx="900000" cy="0"/>
          </a:xfrm>
          <a:prstGeom prst="line">
            <a:avLst/>
          </a:prstGeom>
          <a:noFill/>
          <a:ln w="38100" cap="flat">
            <a:solidFill>
              <a:srgbClr val="92D050">
                <a:alpha val="100000"/>
              </a:srgbClr>
            </a:solidFill>
            <a:prstDash val="solid"/>
            <a:headEnd type="none" w="med" len="med"/>
            <a:tailEnd type="none" w="med" len="med"/>
          </a:ln>
        </p:spPr>
      </p:cxnSp>
      <p:cxnSp>
        <p:nvCxnSpPr>
          <p:cNvPr id="13" name="Connector 13"/>
          <p:cNvCxnSpPr/>
          <p:nvPr/>
        </p:nvCxnSpPr>
        <p:spPr>
          <a:xfrm>
            <a:off x="3016885" y="4324350"/>
            <a:ext cx="900000" cy="0"/>
          </a:xfrm>
          <a:prstGeom prst="line">
            <a:avLst/>
          </a:prstGeom>
          <a:noFill/>
          <a:ln w="38100" cap="flat">
            <a:solidFill>
              <a:srgbClr val="00B050">
                <a:alpha val="100000"/>
              </a:srgbClr>
            </a:solidFill>
            <a:prstDash val="solid"/>
            <a:headEnd type="none" w="med" len="med"/>
            <a:tailEnd type="none" w="med" len="med"/>
          </a:ln>
        </p:spPr>
      </p:cxnSp>
      <p:cxnSp>
        <p:nvCxnSpPr>
          <p:cNvPr id="14" name="Connector 14"/>
          <p:cNvCxnSpPr/>
          <p:nvPr/>
        </p:nvCxnSpPr>
        <p:spPr>
          <a:xfrm>
            <a:off x="2921000" y="4781550"/>
            <a:ext cx="900000" cy="0"/>
          </a:xfrm>
          <a:prstGeom prst="line">
            <a:avLst/>
          </a:prstGeom>
          <a:noFill/>
          <a:ln w="38100" cap="flat">
            <a:solidFill>
              <a:srgbClr val="EA609E">
                <a:alpha val="100000"/>
              </a:srgbClr>
            </a:solidFill>
            <a:prstDash val="solid"/>
            <a:headEnd type="none" w="med" len="med"/>
            <a:tailEnd type="none" w="med" len="med"/>
          </a:ln>
        </p:spPr>
      </p:cxnSp>
      <p:cxnSp>
        <p:nvCxnSpPr>
          <p:cNvPr id="15" name="Connector 15"/>
          <p:cNvCxnSpPr/>
          <p:nvPr/>
        </p:nvCxnSpPr>
        <p:spPr>
          <a:xfrm>
            <a:off x="3723640" y="2867660"/>
            <a:ext cx="2160000" cy="0"/>
          </a:xfrm>
          <a:prstGeom prst="line">
            <a:avLst/>
          </a:prstGeom>
          <a:noFill/>
          <a:ln w="38100" cap="flat">
            <a:solidFill>
              <a:srgbClr val="00B0F0">
                <a:alpha val="100000"/>
              </a:srgbClr>
            </a:solidFill>
            <a:prstDash val="solid"/>
            <a:headEnd type="none" w="med" len="med"/>
            <a:tailEnd type="none" w="med" len="med"/>
          </a:ln>
        </p:spPr>
      </p:cxnSp>
      <p:pic>
        <p:nvPicPr>
          <p:cNvPr id="16" name="图片 15"/>
          <p:cNvPicPr>
            <a:picLocks noChangeAspect="1"/>
          </p:cNvPicPr>
          <p:nvPr/>
        </p:nvPicPr>
        <p:blipFill>
          <a:blip r:embed="rId3"/>
          <a:stretch>
            <a:fillRect/>
          </a:stretch>
        </p:blipFill>
        <p:spPr>
          <a:xfrm>
            <a:off x="6041390" y="3450570"/>
            <a:ext cx="5760000" cy="2814619"/>
          </a:xfrm>
          <a:prstGeom prst="rect">
            <a:avLst/>
          </a:prstGeom>
        </p:spPr>
      </p:pic>
      <p:pic>
        <p:nvPicPr>
          <p:cNvPr id="17" name="图片 16"/>
          <p:cNvPicPr>
            <a:picLocks noChangeAspect="1"/>
          </p:cNvPicPr>
          <p:nvPr/>
        </p:nvPicPr>
        <p:blipFill>
          <a:blip r:embed="rId4"/>
          <a:srcRect l="20776" t="49408" r="24224" b="6128"/>
          <a:stretch>
            <a:fillRect/>
          </a:stretch>
        </p:blipFill>
        <p:spPr>
          <a:xfrm>
            <a:off x="6852020" y="2010575"/>
            <a:ext cx="3168000" cy="14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Hetergeneous Integration of CPU and XPUs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20000"/>
          </a:bodyPr>
          <a:lstStyle>
            <a:lvl1pPr algn="l">
              <a:lnSpc>
                <a:spcPct val="83000"/>
              </a:lnSpc>
              <a:defRPr sz="2400" b="0" i="0" u="none" strike="noStrike" spc="0">
                <a:solidFill>
                  <a:srgbClr val="404040">
                    <a:alpha val="100000"/>
                  </a:srgbClr>
                </a:solidFill>
                <a:latin typeface="Calibri" panose="020F0502020204030204"/>
              </a:defRPr>
            </a:lvl1pPr>
          </a:lstStyle>
          <a:p>
            <a:pPr marL="304800" indent="-304800" algn="l">
              <a:lnSpc>
                <a:spcPct val="83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Inter-chip (board-level)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83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342900" lvl="1" indent="0" algn="l">
              <a:lnSpc>
                <a:spcPct val="83000"/>
              </a:lnSpc>
              <a:spcBef>
                <a:spcPts val="750"/>
              </a:spcBef>
            </a:pPr>
          </a:p>
          <a:p>
            <a:pPr marL="596900" lvl="1" indent="-254000" algn="l">
              <a:lnSpc>
                <a:spcPct val="83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protocols: PCIe, NVLink,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Intra-chip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protocols: one-way or two-way coherency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354965" y="1708150"/>
            <a:ext cx="5760085" cy="3441700"/>
            <a:chOff x="354965" y="1708150"/>
            <a:chExt cx="5760085" cy="3441700"/>
          </a:xfrm>
        </p:grpSpPr>
        <p:pic>
          <p:nvPicPr>
            <p:cNvPr id="8" name="Picture 8"/>
            <p:cNvPicPr>
              <a:picLocks noChangeAspect="1"/>
            </p:cNvPicPr>
            <p:nvPr/>
          </p:nvPicPr>
          <p:blipFill>
            <a:blip r:embed="rId1"/>
            <a:srcRect/>
            <a:stretch>
              <a:fillRect/>
            </a:stretch>
          </p:blipFill>
          <p:spPr>
            <a:xfrm>
              <a:off x="354965" y="1708150"/>
              <a:ext cx="5760085" cy="3441700"/>
            </a:xfrm>
            <a:prstGeom prst="rect">
              <a:avLst/>
            </a:prstGeom>
            <a:ln w="12700">
              <a:noFill/>
              <a:prstDash val="solid"/>
            </a:ln>
          </p:spPr>
        </p:pic>
        <p:sp>
          <p:nvSpPr>
            <p:cNvPr id="9" name="AutoShape 9"/>
            <p:cNvSpPr/>
            <p:nvPr/>
          </p:nvSpPr>
          <p:spPr>
            <a:xfrm>
              <a:off x="1508125" y="2423795"/>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523875" y="3928110"/>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11" name="Connector 11"/>
            <p:cNvCxnSpPr/>
            <p:nvPr/>
          </p:nvCxnSpPr>
          <p:spPr>
            <a:xfrm rot="10800000" flipV="1">
              <a:off x="812165" y="2963545"/>
              <a:ext cx="984250" cy="964565"/>
            </a:xfrm>
            <a:prstGeom prst="line">
              <a:avLst/>
            </a:prstGeom>
            <a:noFill/>
            <a:ln w="38100" cap="flat">
              <a:solidFill>
                <a:srgbClr val="7030A0">
                  <a:alpha val="100000"/>
                </a:srgbClr>
              </a:solidFill>
              <a:prstDash val="sysDot"/>
              <a:headEnd type="none" w="med" len="med"/>
              <a:tailEnd type="none" w="med" len="med"/>
            </a:ln>
          </p:spPr>
        </p:cxnSp>
        <p:sp>
          <p:nvSpPr>
            <p:cNvPr id="12" name="AutoShape 12"/>
            <p:cNvSpPr/>
            <p:nvPr/>
          </p:nvSpPr>
          <p:spPr>
            <a:xfrm>
              <a:off x="1245235" y="1840230"/>
              <a:ext cx="864235"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CPU</a:t>
              </a:r>
              <a:endParaRPr lang="en-US" sz="1100"/>
            </a:p>
            <a:p>
              <a:pPr indent="0" algn="ctr">
                <a:lnSpc>
                  <a:spcPct val="100000"/>
                </a:lnSpc>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“host”</a:t>
              </a:r>
              <a:endParaRPr lang="en-US" sz="1400" b="1" i="0" u="none" strike="noStrike">
                <a:solidFill>
                  <a:srgbClr val="7030A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381000" y="4485005"/>
              <a:ext cx="864235"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XPU</a:t>
              </a:r>
              <a:endParaRPr lang="en-US" sz="1100"/>
            </a:p>
            <a:p>
              <a:pPr indent="0" algn="ctr">
                <a:lnSpc>
                  <a:spcPct val="100000"/>
                </a:lnSpc>
              </a:pPr>
              <a:r>
                <a:rPr lang="en-US" sz="1400" b="1" i="0" u="none" strike="noStrike">
                  <a:solidFill>
                    <a:srgbClr val="7030A0"/>
                  </a:solidFill>
                  <a:latin typeface="Arial" panose="020B0604020202020204"/>
                  <a:ea typeface="Arial" panose="020B0604020202020204"/>
                  <a:cs typeface="Arial" panose="020B0604020202020204"/>
                  <a:sym typeface="Arial" panose="020B0604020202020204"/>
                </a:rPr>
                <a:t>“device”</a:t>
              </a:r>
              <a:endParaRPr lang="en-US" sz="1400" b="1" i="0" u="none" strike="noStrike">
                <a:solidFill>
                  <a:srgbClr val="7030A0"/>
                </a:solidFill>
                <a:latin typeface="Arial" panose="020B0604020202020204"/>
                <a:ea typeface="Arial" panose="020B0604020202020204"/>
                <a:cs typeface="Arial" panose="020B0604020202020204"/>
                <a:sym typeface="Arial" panose="020B0604020202020204"/>
              </a:endParaRPr>
            </a:p>
          </p:txBody>
        </p:sp>
      </p:grpSp>
      <p:grpSp>
        <p:nvGrpSpPr>
          <p:cNvPr id="22" name="组合 21"/>
          <p:cNvGrpSpPr/>
          <p:nvPr/>
        </p:nvGrpSpPr>
        <p:grpSpPr>
          <a:xfrm>
            <a:off x="6210300" y="1840230"/>
            <a:ext cx="5760085" cy="3224530"/>
            <a:chOff x="9780" y="2898"/>
            <a:chExt cx="9071" cy="5078"/>
          </a:xfrm>
          <a:solidFill>
            <a:schemeClr val="bg1"/>
          </a:solidFill>
        </p:grpSpPr>
        <p:grpSp>
          <p:nvGrpSpPr>
            <p:cNvPr id="23" name="组合 22"/>
            <p:cNvGrpSpPr/>
            <p:nvPr/>
          </p:nvGrpSpPr>
          <p:grpSpPr>
            <a:xfrm>
              <a:off x="9780" y="3544"/>
              <a:ext cx="9071" cy="4432"/>
              <a:chOff x="9780" y="3544"/>
              <a:chExt cx="9071" cy="4432"/>
            </a:xfrm>
            <a:grpFill/>
          </p:grpSpPr>
          <p:pic>
            <p:nvPicPr>
              <p:cNvPr id="24" name="图片 23"/>
              <p:cNvPicPr>
                <a:picLocks noChangeAspect="1"/>
              </p:cNvPicPr>
              <p:nvPr/>
            </p:nvPicPr>
            <p:blipFill>
              <a:blip r:embed="rId2"/>
              <a:stretch>
                <a:fillRect/>
              </a:stretch>
            </p:blipFill>
            <p:spPr>
              <a:xfrm>
                <a:off x="9780" y="3544"/>
                <a:ext cx="9071" cy="4432"/>
              </a:xfrm>
              <a:prstGeom prst="rect">
                <a:avLst/>
              </a:prstGeom>
              <a:grpFill/>
            </p:spPr>
          </p:pic>
          <p:sp>
            <p:nvSpPr>
              <p:cNvPr id="25" name="矩形 24"/>
              <p:cNvSpPr/>
              <p:nvPr/>
            </p:nvSpPr>
            <p:spPr>
              <a:xfrm>
                <a:off x="11053" y="4207"/>
                <a:ext cx="1417" cy="1417"/>
              </a:xfrm>
              <a:prstGeom prst="rect">
                <a:avLst/>
              </a:prstGeom>
              <a:noFill/>
              <a:ln w="38100">
                <a:solidFill>
                  <a:srgbClr val="7030A0"/>
                </a:solidFill>
              </a:ln>
              <a:extLst>
                <a:ext uri="{909E8E84-426E-40DD-AFC4-6F175D3DCCD1}">
                  <a14:hiddenFill xmlns:a14="http://schemas.microsoft.com/office/drawing/2010/main">
                    <a:grp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12655" y="3863"/>
                <a:ext cx="1871" cy="1984"/>
              </a:xfrm>
              <a:prstGeom prst="rect">
                <a:avLst/>
              </a:prstGeom>
              <a:noFill/>
              <a:ln w="38100">
                <a:solidFill>
                  <a:srgbClr val="7030A0"/>
                </a:solidFill>
              </a:ln>
              <a:extLst>
                <a:ext uri="{909E8E84-426E-40DD-AFC4-6F175D3DCCD1}">
                  <a14:hiddenFill xmlns:a14="http://schemas.microsoft.com/office/drawing/2010/main">
                    <a:grp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7" name="肘形连接符 26"/>
              <p:cNvCxnSpPr>
                <a:stCxn id="25" idx="2"/>
                <a:endCxn id="26" idx="2"/>
              </p:cNvCxnSpPr>
              <p:nvPr/>
            </p:nvCxnSpPr>
            <p:spPr>
              <a:xfrm rot="5400000" flipV="1">
                <a:off x="12565" y="4820"/>
                <a:ext cx="223" cy="1829"/>
              </a:xfrm>
              <a:prstGeom prst="bentConnector3">
                <a:avLst>
                  <a:gd name="adj1" fmla="val 597309"/>
                </a:avLst>
              </a:prstGeom>
              <a:grpFill/>
              <a:ln w="38100">
                <a:solidFill>
                  <a:srgbClr val="7030A0"/>
                </a:solidFill>
                <a:prstDash val="sysDot"/>
              </a:ln>
            </p:spPr>
            <p:style>
              <a:lnRef idx="2">
                <a:schemeClr val="accent1"/>
              </a:lnRef>
              <a:fillRef idx="0">
                <a:srgbClr val="FFFFFF"/>
              </a:fillRef>
              <a:effectRef idx="0">
                <a:srgbClr val="FFFFFF"/>
              </a:effectRef>
              <a:fontRef idx="minor">
                <a:schemeClr val="tx1"/>
              </a:fontRef>
            </p:style>
          </p:cxnSp>
        </p:grpSp>
        <p:sp>
          <p:nvSpPr>
            <p:cNvPr id="28" name="文本框 27"/>
            <p:cNvSpPr txBox="1"/>
            <p:nvPr/>
          </p:nvSpPr>
          <p:spPr>
            <a:xfrm>
              <a:off x="11053" y="3288"/>
              <a:ext cx="1361" cy="822"/>
            </a:xfrm>
            <a:prstGeom prst="rect">
              <a:avLst/>
            </a:prstGeom>
            <a:grpFill/>
          </p:spPr>
          <p:txBody>
            <a:bodyPr wrap="square" rtlCol="0">
              <a:spAutoFit/>
            </a:bodyPr>
            <a:p>
              <a:pPr algn="ctr"/>
              <a:r>
                <a:rPr lang="x-none" altLang="zh-CN" sz="1400" b="1">
                  <a:solidFill>
                    <a:srgbClr val="7030A0"/>
                  </a:solidFill>
                </a:rPr>
                <a:t>CPU</a:t>
              </a:r>
              <a:endParaRPr lang="x-none" altLang="zh-CN" sz="1400" b="1">
                <a:solidFill>
                  <a:srgbClr val="7030A0"/>
                </a:solidFill>
              </a:endParaRPr>
            </a:p>
            <a:p>
              <a:pPr algn="ctr"/>
              <a:r>
                <a:rPr lang="x-none" altLang="zh-CN" sz="1400" b="1">
                  <a:solidFill>
                    <a:srgbClr val="7030A0"/>
                  </a:solidFill>
                </a:rPr>
                <a:t>“host”</a:t>
              </a:r>
              <a:endParaRPr lang="x-none" altLang="zh-CN" sz="1400" b="1">
                <a:solidFill>
                  <a:srgbClr val="7030A0"/>
                </a:solidFill>
              </a:endParaRPr>
            </a:p>
          </p:txBody>
        </p:sp>
        <p:sp>
          <p:nvSpPr>
            <p:cNvPr id="29" name="文本框 28"/>
            <p:cNvSpPr txBox="1"/>
            <p:nvPr/>
          </p:nvSpPr>
          <p:spPr>
            <a:xfrm>
              <a:off x="12910" y="2898"/>
              <a:ext cx="1361" cy="822"/>
            </a:xfrm>
            <a:prstGeom prst="rect">
              <a:avLst/>
            </a:prstGeom>
            <a:grpFill/>
          </p:spPr>
          <p:txBody>
            <a:bodyPr wrap="square" rtlCol="0">
              <a:spAutoFit/>
            </a:bodyPr>
            <a:p>
              <a:pPr algn="ctr"/>
              <a:r>
                <a:rPr lang="x-none" altLang="zh-CN" sz="1400" b="1">
                  <a:solidFill>
                    <a:srgbClr val="7030A0"/>
                  </a:solidFill>
                </a:rPr>
                <a:t>XPU</a:t>
              </a:r>
              <a:endParaRPr lang="x-none" altLang="zh-CN" sz="1400" b="1">
                <a:solidFill>
                  <a:srgbClr val="7030A0"/>
                </a:solidFill>
              </a:endParaRPr>
            </a:p>
            <a:p>
              <a:pPr algn="ctr"/>
              <a:r>
                <a:rPr lang="x-none" altLang="zh-CN" sz="1400" b="1">
                  <a:solidFill>
                    <a:srgbClr val="7030A0"/>
                  </a:solidFill>
                </a:rPr>
                <a:t>“device”</a:t>
              </a:r>
              <a:endParaRPr lang="x-none" altLang="zh-CN" sz="1400" b="1">
                <a:solidFill>
                  <a:srgbClr val="7030A0"/>
                </a:solidFill>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Basic Knowledge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Market Adoption (in Aug. 2025)</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Mainstream: PCIe 4.0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Latest device: PCIe 5.0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Not yet in production: PCIe 6.0/7.0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PCIe Lanes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 = number of lane pairs (TX/RX)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e.g. PCIe 5.0, “x1” = 4GB/s, “x16” = 32GB/s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x4: most NVMe SSD, NIC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x16: most GPU, FPGA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495300" y="3530346"/>
            <a:ext cx="5669280" cy="308152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193155" y="3721100"/>
            <a:ext cx="5608320" cy="28295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3240" y="1656715"/>
            <a:ext cx="5003800" cy="4187825"/>
          </a:xfrm>
          <a:prstGeom prst="rect">
            <a:avLst/>
          </a:prstGeom>
          <a:ln w="12700">
            <a:noFill/>
            <a:prstDash val="solid"/>
          </a:ln>
        </p:spPr>
      </p:pic>
      <p:pic>
        <p:nvPicPr>
          <p:cNvPr id="8" name="图片 7"/>
          <p:cNvPicPr/>
          <p:nvPr/>
        </p:nvPicPr>
        <p:blipFill>
          <a:blip r:embed="rId2"/>
          <a:stretch>
            <a:fillRect/>
          </a:stretch>
        </p:blipFill>
        <p:spPr>
          <a:xfrm>
            <a:off x="5891530" y="857250"/>
            <a:ext cx="6041390" cy="55930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Devices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955675" y="1229995"/>
            <a:ext cx="2491740" cy="1934845"/>
          </a:xfrm>
          <a:prstGeom prst="rect">
            <a:avLst/>
          </a:prstGeom>
          <a:ln w="12700">
            <a:noFill/>
            <a:prstDash val="solid"/>
          </a:ln>
        </p:spPr>
      </p:pic>
      <p:sp>
        <p:nvSpPr>
          <p:cNvPr id="7" name="AutoShape 7"/>
          <p:cNvSpPr/>
          <p:nvPr/>
        </p:nvSpPr>
        <p:spPr>
          <a:xfrm>
            <a:off x="539750"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GPU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(Nvidia A100, PCIe 4.0 x16)</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8" name="Picture 8"/>
          <p:cNvPicPr>
            <a:picLocks noChangeAspect="1"/>
          </p:cNvPicPr>
          <p:nvPr/>
        </p:nvPicPr>
        <p:blipFill>
          <a:blip r:embed="rId2"/>
          <a:srcRect/>
          <a:stretch>
            <a:fillRect/>
          </a:stretch>
        </p:blipFill>
        <p:spPr>
          <a:xfrm>
            <a:off x="8595360" y="1767205"/>
            <a:ext cx="2664460" cy="860425"/>
          </a:xfrm>
          <a:prstGeom prst="rect">
            <a:avLst/>
          </a:prstGeom>
          <a:ln w="12700">
            <a:noFill/>
            <a:prstDash val="solid"/>
          </a:ln>
        </p:spPr>
      </p:pic>
      <p:sp>
        <p:nvSpPr>
          <p:cNvPr id="9" name="AutoShape 9"/>
          <p:cNvSpPr/>
          <p:nvPr/>
        </p:nvSpPr>
        <p:spPr>
          <a:xfrm>
            <a:off x="832548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NVMe SSD</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(Sumsung 970, PCIe 4.0 x4)</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0" name="Picture 10"/>
          <p:cNvPicPr>
            <a:picLocks noChangeAspect="1"/>
          </p:cNvPicPr>
          <p:nvPr/>
        </p:nvPicPr>
        <p:blipFill>
          <a:blip r:embed="rId3"/>
          <a:srcRect l="-1658" t="3077" r="1658" b="46340"/>
          <a:stretch>
            <a:fillRect/>
          </a:stretch>
        </p:blipFill>
        <p:spPr>
          <a:xfrm>
            <a:off x="4304665" y="1464310"/>
            <a:ext cx="3077845" cy="1629410"/>
          </a:xfrm>
          <a:prstGeom prst="rect">
            <a:avLst/>
          </a:prstGeom>
          <a:ln w="12700">
            <a:noFill/>
            <a:prstDash val="solid"/>
          </a:ln>
        </p:spPr>
      </p:pic>
      <p:sp>
        <p:nvSpPr>
          <p:cNvPr id="11" name="AutoShape 11"/>
          <p:cNvSpPr/>
          <p:nvPr/>
        </p:nvSpPr>
        <p:spPr>
          <a:xfrm>
            <a:off x="425640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FPGA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(AMD V80, PCIe 4.0/5.0 x16)</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2" name="Picture 12"/>
          <p:cNvPicPr>
            <a:picLocks noChangeAspect="1"/>
          </p:cNvPicPr>
          <p:nvPr/>
        </p:nvPicPr>
        <p:blipFill>
          <a:blip r:embed="rId4"/>
          <a:srcRect/>
          <a:stretch>
            <a:fillRect/>
          </a:stretch>
        </p:blipFill>
        <p:spPr>
          <a:xfrm>
            <a:off x="986790" y="4113530"/>
            <a:ext cx="2460625" cy="1684655"/>
          </a:xfrm>
          <a:prstGeom prst="rect">
            <a:avLst/>
          </a:prstGeom>
          <a:ln w="12700">
            <a:noFill/>
            <a:prstDash val="solid"/>
          </a:ln>
        </p:spPr>
      </p:pic>
      <p:sp>
        <p:nvSpPr>
          <p:cNvPr id="13" name="AutoShape 13"/>
          <p:cNvSpPr/>
          <p:nvPr/>
        </p:nvSpPr>
        <p:spPr>
          <a:xfrm>
            <a:off x="240665"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Network Interface Card, NIC</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(Intel E810 10/25 GbE, PCIe 4.0 x4)</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4" name="Picture 14"/>
          <p:cNvPicPr>
            <a:picLocks noChangeAspect="1"/>
          </p:cNvPicPr>
          <p:nvPr/>
        </p:nvPicPr>
        <p:blipFill>
          <a:blip r:embed="rId5"/>
          <a:srcRect/>
          <a:stretch>
            <a:fillRect/>
          </a:stretch>
        </p:blipFill>
        <p:spPr>
          <a:xfrm>
            <a:off x="4837430" y="4025265"/>
            <a:ext cx="2304415" cy="1739265"/>
          </a:xfrm>
          <a:prstGeom prst="rect">
            <a:avLst/>
          </a:prstGeom>
          <a:ln w="12700">
            <a:noFill/>
            <a:prstDash val="solid"/>
          </a:ln>
        </p:spPr>
      </p:pic>
      <p:sp>
        <p:nvSpPr>
          <p:cNvPr id="15" name="AutoShape 15"/>
          <p:cNvSpPr/>
          <p:nvPr/>
        </p:nvSpPr>
        <p:spPr>
          <a:xfrm>
            <a:off x="417957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WiFi 6E Card</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(Intel AX210, PCIe 3.0 x1)</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6" name="Picture 16"/>
          <p:cNvPicPr>
            <a:picLocks noChangeAspect="1"/>
          </p:cNvPicPr>
          <p:nvPr/>
        </p:nvPicPr>
        <p:blipFill>
          <a:blip r:embed="rId6"/>
          <a:srcRect/>
          <a:stretch>
            <a:fillRect/>
          </a:stretch>
        </p:blipFill>
        <p:spPr>
          <a:xfrm>
            <a:off x="8655050" y="4265295"/>
            <a:ext cx="2545080" cy="1567815"/>
          </a:xfrm>
          <a:prstGeom prst="rect">
            <a:avLst/>
          </a:prstGeom>
          <a:ln w="12700">
            <a:noFill/>
            <a:prstDash val="solid"/>
          </a:ln>
        </p:spPr>
      </p:pic>
      <p:sp>
        <p:nvSpPr>
          <p:cNvPr id="17" name="AutoShape 17"/>
          <p:cNvSpPr/>
          <p:nvPr/>
        </p:nvSpPr>
        <p:spPr>
          <a:xfrm>
            <a:off x="807085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RAID Controller</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(Broadcom 9560-16i, PCIe 4.0 x8)</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531" t="17681" r="12704" b="9334"/>
          <a:stretch>
            <a:fillRect/>
          </a:stretch>
        </p:blipFill>
        <p:spPr>
          <a:xfrm>
            <a:off x="6472555" y="3593465"/>
            <a:ext cx="5648960" cy="2800985"/>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Role in AI: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GPU-Host Connection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xfrm>
            <a:off x="523875" y="1323975"/>
            <a:ext cx="1053274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connect to most Host with PCIe </a:t>
            </a:r>
            <a:r>
              <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rPr>
              <a:t>(currently 2025.08)</a:t>
            </a:r>
            <a:endPar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Host-&gt;GPU: Commands (CUDA  kernels, OpenCL bin)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Training data, Model weights...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GPU-&gt;Host: GPU status (kernel completion, CUDA events)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Computation results (gradients, inference 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Data Transfer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1st Copy: NVMe SSD -&gt; host Memory [with DMA]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2nd Copy: host Memory -&gt; GPU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GPUDirect Storage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(from 2020.06)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Only 1 Copy: NVMe SSD -&gt; GPU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9" name="组合 8"/>
          <p:cNvGrpSpPr/>
          <p:nvPr/>
        </p:nvGrpSpPr>
        <p:grpSpPr>
          <a:xfrm>
            <a:off x="8512175" y="880745"/>
            <a:ext cx="3346450" cy="2400300"/>
            <a:chOff x="13405" y="1387"/>
            <a:chExt cx="5270" cy="3780"/>
          </a:xfrm>
        </p:grpSpPr>
        <p:pic>
          <p:nvPicPr>
            <p:cNvPr id="7" name="Picture 7"/>
            <p:cNvPicPr>
              <a:picLocks noChangeAspect="1"/>
            </p:cNvPicPr>
            <p:nvPr/>
          </p:nvPicPr>
          <p:blipFill>
            <a:blip r:embed="rId2"/>
            <a:srcRect/>
            <a:stretch>
              <a:fillRect/>
            </a:stretch>
          </p:blipFill>
          <p:spPr>
            <a:xfrm>
              <a:off x="13673" y="1387"/>
              <a:ext cx="4644" cy="3110"/>
            </a:xfrm>
            <a:prstGeom prst="rect">
              <a:avLst/>
            </a:prstGeom>
            <a:ln w="12700">
              <a:noFill/>
              <a:prstDash val="solid"/>
            </a:ln>
          </p:spPr>
        </p:pic>
        <p:sp>
          <p:nvSpPr>
            <p:cNvPr id="8" name="AutoShape 8"/>
            <p:cNvSpPr/>
            <p:nvPr/>
          </p:nvSpPr>
          <p:spPr>
            <a:xfrm>
              <a:off x="13405" y="4587"/>
              <a:ext cx="5270" cy="58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GPUs to mainboard with PCIe</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PCIe Role in AI: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GPU-GPU Connection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connect each other with PCIe </a:t>
            </a:r>
            <a:r>
              <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rPr>
              <a:t>(before 2016 NVlink published)</a:t>
            </a:r>
            <a:endParaRPr lang="en-US" sz="1800" b="0"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Data/Pipeline/Tensor/Expert Parallelism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Data Transfer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write to host 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read from host 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GPUDirect Peer-to-Peer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 access with Load/Store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 transfer with cudaMemCpy()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643245" y="1922780"/>
            <a:ext cx="6231255" cy="17684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90335" y="4077970"/>
            <a:ext cx="4413250" cy="23869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NVLink: GPU Interconnect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NVLink 1.0 first introduced with P100 GPU in 2016</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4 NVLinks, each with 8 channels, 40 GB/s bidirectional bandwidth, 160 GB/s in total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Faster than PCIe 3.0 x 16 (32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Serial communication based on high-speed differential signaling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NVLink 1.0, 5 GB/s per channel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图片 7"/>
          <p:cNvPicPr/>
          <p:nvPr/>
        </p:nvPicPr>
        <p:blipFill>
          <a:blip r:embed="rId1"/>
          <a:stretch>
            <a:fillRect/>
          </a:stretch>
        </p:blipFill>
        <p:spPr>
          <a:xfrm>
            <a:off x="668020" y="3832860"/>
            <a:ext cx="4147820" cy="2273300"/>
          </a:xfrm>
          <a:prstGeom prst="rect">
            <a:avLst/>
          </a:prstGeom>
        </p:spPr>
      </p:pic>
      <p:pic>
        <p:nvPicPr>
          <p:cNvPr id="9" name="图片 8"/>
          <p:cNvPicPr/>
          <p:nvPr/>
        </p:nvPicPr>
        <p:blipFill>
          <a:blip r:embed="rId2"/>
          <a:stretch>
            <a:fillRect/>
          </a:stretch>
        </p:blipFill>
        <p:spPr>
          <a:xfrm>
            <a:off x="5165090" y="4199890"/>
            <a:ext cx="6636385" cy="19062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NVLink Generations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Updatest: NVLink 5.0 in 2024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07860" y="2142490"/>
            <a:ext cx="5143500" cy="3616960"/>
          </a:xfrm>
          <a:prstGeom prst="rect">
            <a:avLst/>
          </a:prstGeom>
          <a:ln w="12700">
            <a:noFill/>
            <a:prstDash val="solid"/>
          </a:ln>
        </p:spPr>
      </p:pic>
      <p:sp>
        <p:nvSpPr>
          <p:cNvPr id="10" name="AutoShape 10"/>
          <p:cNvSpPr/>
          <p:nvPr/>
        </p:nvSpPr>
        <p:spPr>
          <a:xfrm>
            <a:off x="12216765" y="6080760"/>
            <a:ext cx="40640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aphicFrame>
        <p:nvGraphicFramePr>
          <p:cNvPr id="12" name="表格 11"/>
          <p:cNvGraphicFramePr/>
          <p:nvPr>
            <p:custDataLst>
              <p:tags r:id="rId2"/>
            </p:custDataLst>
          </p:nvPr>
        </p:nvGraphicFramePr>
        <p:xfrm>
          <a:off x="316230" y="2142490"/>
          <a:ext cx="6831330" cy="3305175"/>
        </p:xfrm>
        <a:graphic>
          <a:graphicData uri="http://schemas.openxmlformats.org/drawingml/2006/table">
            <a:tbl>
              <a:tblPr firstRow="1" bandCol="1">
                <a:tableStyleId>{19A74872-F02B-4E3C-AB47-1B6172E16CCE}</a:tableStyleId>
              </a:tblPr>
              <a:tblGrid>
                <a:gridCol w="1985010"/>
                <a:gridCol w="969264"/>
                <a:gridCol w="969264"/>
                <a:gridCol w="969264"/>
                <a:gridCol w="969264"/>
                <a:gridCol w="969264"/>
              </a:tblGrid>
              <a:tr h="292735">
                <a:tc>
                  <a:txBody>
                    <a:bodyPr/>
                    <a:p>
                      <a:endParaRPr sz="1200"/>
                    </a:p>
                  </a:txBody>
                  <a:tcPr marL="0" marR="0" marT="0" marB="0" anchor="ctr" anchorCtr="0"/>
                </a:tc>
                <a:tc>
                  <a:txBody>
                    <a:bodyPr/>
                    <a:p>
                      <a:pPr algn="ctr"/>
                      <a:r>
                        <a:rPr lang="en-US" altLang="zh-CN" sz="1200"/>
                        <a:t>NVLink 1</a:t>
                      </a:r>
                      <a:endParaRPr lang="en-US" altLang="zh-CN" sz="1200"/>
                    </a:p>
                  </a:txBody>
                  <a:tcPr marL="0" marR="0" marT="0" marB="0" anchor="ctr" anchorCtr="0"/>
                </a:tc>
                <a:tc>
                  <a:txBody>
                    <a:bodyPr/>
                    <a:p>
                      <a:pPr algn="ctr"/>
                      <a:r>
                        <a:rPr lang="en-US" altLang="zh-CN" sz="1200"/>
                        <a:t>NVLink 2</a:t>
                      </a:r>
                      <a:endParaRPr lang="en-US" altLang="zh-CN" sz="1200"/>
                    </a:p>
                  </a:txBody>
                  <a:tcPr marL="0" marR="0" marT="0" marB="0" anchor="ctr" anchorCtr="0"/>
                </a:tc>
                <a:tc>
                  <a:txBody>
                    <a:bodyPr/>
                    <a:p>
                      <a:pPr algn="ctr"/>
                      <a:r>
                        <a:rPr lang="en-US" altLang="zh-CN" sz="1200"/>
                        <a:t>NVLink 3</a:t>
                      </a:r>
                      <a:endParaRPr lang="en-US" altLang="zh-CN" sz="1200"/>
                    </a:p>
                  </a:txBody>
                  <a:tcPr marL="0" marR="0" marT="0" marB="0" anchor="ctr" anchorCtr="0"/>
                </a:tc>
                <a:tc>
                  <a:txBody>
                    <a:bodyPr/>
                    <a:p>
                      <a:pPr algn="ctr"/>
                      <a:r>
                        <a:rPr lang="en-US" altLang="zh-CN" sz="1200"/>
                        <a:t>NVLink 4</a:t>
                      </a:r>
                      <a:endParaRPr lang="en-US" altLang="zh-CN" sz="1200"/>
                    </a:p>
                  </a:txBody>
                  <a:tcPr marL="0" marR="0" marT="0" marB="0" anchor="ctr" anchorCtr="0"/>
                </a:tc>
                <a:tc>
                  <a:txBody>
                    <a:bodyPr/>
                    <a:p>
                      <a:pPr algn="ctr"/>
                      <a:r>
                        <a:rPr lang="en-US" altLang="zh-CN" sz="1200"/>
                        <a:t>NVLink 5</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Year</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2016</a:t>
                      </a:r>
                      <a:endParaRPr lang="en-US" altLang="zh-CN" sz="1200"/>
                    </a:p>
                  </a:txBody>
                  <a:tcPr marL="0" marR="0" marT="0" marB="0" anchor="ctr" anchorCtr="0"/>
                </a:tc>
                <a:tc>
                  <a:txBody>
                    <a:bodyPr/>
                    <a:p>
                      <a:pPr algn="ctr"/>
                      <a:r>
                        <a:rPr lang="en-US" altLang="zh-CN" sz="1200"/>
                        <a:t>2018</a:t>
                      </a:r>
                      <a:endParaRPr lang="en-US" altLang="zh-CN" sz="1200"/>
                    </a:p>
                  </a:txBody>
                  <a:tcPr marL="0" marR="0" marT="0" marB="0" anchor="ctr" anchorCtr="0"/>
                </a:tc>
                <a:tc>
                  <a:txBody>
                    <a:bodyPr/>
                    <a:p>
                      <a:pPr algn="ctr"/>
                      <a:r>
                        <a:rPr lang="en-US" altLang="zh-CN" sz="1200"/>
                        <a:t>2020</a:t>
                      </a:r>
                      <a:endParaRPr lang="en-US" altLang="zh-CN" sz="1200"/>
                    </a:p>
                  </a:txBody>
                  <a:tcPr marL="0" marR="0" marT="0" marB="0" anchor="ctr" anchorCtr="0"/>
                </a:tc>
                <a:tc>
                  <a:txBody>
                    <a:bodyPr/>
                    <a:p>
                      <a:pPr algn="ctr"/>
                      <a:r>
                        <a:rPr lang="en-US" altLang="zh-CN" sz="1200"/>
                        <a:t>2022</a:t>
                      </a:r>
                      <a:endParaRPr lang="en-US" altLang="zh-CN" sz="1200"/>
                    </a:p>
                  </a:txBody>
                  <a:tcPr marL="0" marR="0" marT="0" marB="0" anchor="ctr" anchorCtr="0"/>
                </a:tc>
                <a:tc>
                  <a:txBody>
                    <a:bodyPr/>
                    <a:p>
                      <a:pPr algn="ctr"/>
                      <a:r>
                        <a:rPr lang="en-US" altLang="zh-CN" sz="1200"/>
                        <a:t>2024</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Lanes per port</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X8</a:t>
                      </a:r>
                      <a:endParaRPr lang="en-US" altLang="zh-CN" sz="1200"/>
                    </a:p>
                  </a:txBody>
                  <a:tcPr marL="0" marR="0" marT="0" marB="0" anchor="ctr" anchorCtr="0"/>
                </a:tc>
                <a:tc>
                  <a:txBody>
                    <a:bodyPr/>
                    <a:p>
                      <a:pPr algn="ctr"/>
                      <a:r>
                        <a:rPr lang="en-US" altLang="zh-CN" sz="1200"/>
                        <a:t>X8</a:t>
                      </a:r>
                      <a:endParaRPr lang="en-US" altLang="zh-CN" sz="1200"/>
                    </a:p>
                  </a:txBody>
                  <a:tcPr marL="0" marR="0" marT="0" marB="0" anchor="ctr" anchorCtr="0"/>
                </a:tc>
                <a:tc>
                  <a:txBody>
                    <a:bodyPr/>
                    <a:p>
                      <a:pPr algn="ctr"/>
                      <a:r>
                        <a:rPr lang="en-US" altLang="zh-CN" sz="1200"/>
                        <a:t>X4</a:t>
                      </a:r>
                      <a:endParaRPr lang="en-US" altLang="zh-CN" sz="1200"/>
                    </a:p>
                  </a:txBody>
                  <a:tcPr marL="0" marR="0" marT="0" marB="0" anchor="ctr" anchorCtr="0"/>
                </a:tc>
                <a:tc>
                  <a:txBody>
                    <a:bodyPr/>
                    <a:p>
                      <a:pPr algn="ctr"/>
                      <a:r>
                        <a:rPr lang="en-US" altLang="zh-CN" sz="1200"/>
                        <a:t>X2</a:t>
                      </a:r>
                      <a:endParaRPr lang="en-US" altLang="zh-CN" sz="1200"/>
                    </a:p>
                  </a:txBody>
                  <a:tcPr marL="0" marR="0" marT="0" marB="0" anchor="ctr" anchorCtr="0"/>
                </a:tc>
                <a:tc>
                  <a:txBody>
                    <a:bodyPr/>
                    <a:p>
                      <a:pPr algn="ctr"/>
                      <a:r>
                        <a:rPr lang="en-US" altLang="zh-CN" sz="1200"/>
                        <a:t>X2</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Lane rate (Gbps)</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20</a:t>
                      </a:r>
                      <a:endParaRPr lang="en-US" altLang="zh-CN" sz="1200"/>
                    </a:p>
                  </a:txBody>
                  <a:tcPr marL="0" marR="0" marT="0" marB="0" anchor="ctr" anchorCtr="0"/>
                </a:tc>
                <a:tc>
                  <a:txBody>
                    <a:bodyPr/>
                    <a:p>
                      <a:pPr algn="ctr"/>
                      <a:r>
                        <a:rPr lang="en-US" altLang="zh-CN" sz="1200"/>
                        <a:t>25</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100</a:t>
                      </a:r>
                      <a:endParaRPr lang="en-US" altLang="zh-CN" sz="1200"/>
                    </a:p>
                  </a:txBody>
                  <a:tcPr marL="0" marR="0" marT="0" marB="0" anchor="ctr" anchorCtr="0"/>
                </a:tc>
                <a:tc>
                  <a:txBody>
                    <a:bodyPr/>
                    <a:p>
                      <a:pPr algn="ctr"/>
                      <a:r>
                        <a:rPr lang="en-US" altLang="zh-CN" sz="1200"/>
                        <a:t>200</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Modulation</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NRZ</a:t>
                      </a:r>
                      <a:endParaRPr lang="en-US" altLang="zh-CN" sz="1200"/>
                    </a:p>
                  </a:txBody>
                  <a:tcPr marL="0" marR="0" marT="0" marB="0" anchor="ctr" anchorCtr="0"/>
                </a:tc>
                <a:tc>
                  <a:txBody>
                    <a:bodyPr/>
                    <a:p>
                      <a:pPr algn="ctr"/>
                      <a:r>
                        <a:rPr lang="en-US" altLang="zh-CN" sz="1200"/>
                        <a:t>NRZ</a:t>
                      </a:r>
                      <a:endParaRPr lang="en-US" altLang="zh-CN" sz="1200"/>
                    </a:p>
                  </a:txBody>
                  <a:tcPr marL="0" marR="0" marT="0" marB="0" anchor="ctr" anchorCtr="0"/>
                </a:tc>
                <a:tc>
                  <a:txBody>
                    <a:bodyPr/>
                    <a:p>
                      <a:pPr algn="ctr"/>
                      <a:r>
                        <a:rPr lang="en-US" altLang="zh-CN" sz="1200"/>
                        <a:t>NRZ</a:t>
                      </a:r>
                      <a:endParaRPr lang="en-US" altLang="zh-CN" sz="1200"/>
                    </a:p>
                  </a:txBody>
                  <a:tcPr marL="0" marR="0" marT="0" marB="0" anchor="ctr" anchorCtr="0"/>
                </a:tc>
                <a:tc>
                  <a:txBody>
                    <a:bodyPr/>
                    <a:p>
                      <a:pPr algn="ctr"/>
                      <a:r>
                        <a:rPr lang="en-US" altLang="zh-CN" sz="1200"/>
                        <a:t>PAM4</a:t>
                      </a:r>
                      <a:endParaRPr lang="en-US" altLang="zh-CN" sz="1200"/>
                    </a:p>
                  </a:txBody>
                  <a:tcPr marL="0" marR="0" marT="0" marB="0" anchor="ctr" anchorCtr="0"/>
                </a:tc>
                <a:tc>
                  <a:txBody>
                    <a:bodyPr/>
                    <a:p>
                      <a:pPr algn="ctr"/>
                      <a:r>
                        <a:rPr lang="en-US" altLang="zh-CN" sz="1200"/>
                        <a:t>PAM4</a:t>
                      </a:r>
                      <a:endParaRPr lang="en-US" altLang="zh-CN" sz="1200"/>
                    </a:p>
                  </a:txBody>
                  <a:tcPr marL="0" marR="0" marT="0" marB="0" anchor="ctr" anchorCtr="0"/>
                </a:tc>
              </a:tr>
              <a:tr h="335280">
                <a:tc>
                  <a:txBody>
                    <a:bodyPr/>
                    <a:p>
                      <a:r>
                        <a:rPr lang="en-US" altLang="zh-CN" sz="1200" b="1">
                          <a:latin typeface="Arial Bold" panose="020B0604020202090204" charset="0"/>
                          <a:cs typeface="Arial Bold" panose="020B0604020202090204" charset="0"/>
                        </a:rPr>
                        <a:t>Nyquist frequency (Gbaud)</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20</a:t>
                      </a:r>
                      <a:endParaRPr lang="en-US" altLang="zh-CN" sz="1200"/>
                    </a:p>
                  </a:txBody>
                  <a:tcPr marL="0" marR="0" marT="0" marB="0" anchor="ctr" anchorCtr="0"/>
                </a:tc>
                <a:tc>
                  <a:txBody>
                    <a:bodyPr/>
                    <a:p>
                      <a:pPr algn="ctr"/>
                      <a:r>
                        <a:rPr lang="en-US" altLang="zh-CN" sz="1200"/>
                        <a:t>25</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100</a:t>
                      </a:r>
                      <a:endParaRPr lang="en-US" altLang="zh-CN" sz="1200"/>
                    </a:p>
                  </a:txBody>
                  <a:tcPr marL="0" marR="0" marT="0" marB="0" anchor="ctr" anchorCtr="0"/>
                </a:tc>
              </a:tr>
              <a:tr h="585470">
                <a:tc>
                  <a:txBody>
                    <a:bodyPr/>
                    <a:p>
                      <a:r>
                        <a:rPr lang="en-US" altLang="zh-CN" sz="1200" b="1">
                          <a:latin typeface="Arial Bold" panose="020B0604020202090204" charset="0"/>
                          <a:cs typeface="Arial Bold" panose="020B0604020202090204" charset="0"/>
                        </a:rPr>
                        <a:t>Bidirectional bandwidth per port (GB/s)</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40</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50</a:t>
                      </a:r>
                      <a:endParaRPr lang="en-US" altLang="zh-CN" sz="1200"/>
                    </a:p>
                  </a:txBody>
                  <a:tcPr marL="0" marR="0" marT="0" marB="0" anchor="ctr" anchorCtr="0"/>
                </a:tc>
                <a:tc>
                  <a:txBody>
                    <a:bodyPr/>
                    <a:p>
                      <a:pPr algn="ctr"/>
                      <a:r>
                        <a:rPr lang="en-US" altLang="zh-CN" sz="1200"/>
                        <a:t>100</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Applicable GPU</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P100</a:t>
                      </a:r>
                      <a:endParaRPr lang="en-US" altLang="zh-CN" sz="1200"/>
                    </a:p>
                  </a:txBody>
                  <a:tcPr marL="0" marR="0" marT="0" marB="0" anchor="ctr" anchorCtr="0"/>
                </a:tc>
                <a:tc>
                  <a:txBody>
                    <a:bodyPr/>
                    <a:p>
                      <a:pPr algn="ctr"/>
                      <a:r>
                        <a:rPr lang="en-US" altLang="zh-CN" sz="1200"/>
                        <a:t>V100</a:t>
                      </a:r>
                      <a:endParaRPr lang="en-US" altLang="zh-CN" sz="1200"/>
                    </a:p>
                  </a:txBody>
                  <a:tcPr marL="0" marR="0" marT="0" marB="0" anchor="ctr" anchorCtr="0"/>
                </a:tc>
                <a:tc>
                  <a:txBody>
                    <a:bodyPr/>
                    <a:p>
                      <a:pPr algn="ctr"/>
                      <a:r>
                        <a:rPr lang="en-US" altLang="zh-CN" sz="1200"/>
                        <a:t>A100</a:t>
                      </a:r>
                      <a:endParaRPr lang="en-US" altLang="zh-CN" sz="1200"/>
                    </a:p>
                  </a:txBody>
                  <a:tcPr marL="0" marR="0" marT="0" marB="0" anchor="ctr" anchorCtr="0"/>
                </a:tc>
                <a:tc>
                  <a:txBody>
                    <a:bodyPr/>
                    <a:p>
                      <a:pPr algn="ctr"/>
                      <a:r>
                        <a:rPr lang="en-US" altLang="zh-CN" sz="1200"/>
                        <a:t>H100</a:t>
                      </a:r>
                      <a:endParaRPr lang="en-US" altLang="zh-CN" sz="1200"/>
                    </a:p>
                  </a:txBody>
                  <a:tcPr marL="0" marR="0" marT="0" marB="0" anchor="ctr" anchorCtr="0"/>
                </a:tc>
                <a:tc>
                  <a:txBody>
                    <a:bodyPr/>
                    <a:p>
                      <a:pPr algn="ctr"/>
                      <a:r>
                        <a:rPr lang="en-US" altLang="zh-CN" sz="1200"/>
                        <a:t>B100</a:t>
                      </a:r>
                      <a:endParaRPr lang="en-US" altLang="zh-CN" sz="1200"/>
                    </a:p>
                  </a:txBody>
                  <a:tcPr marL="0" marR="0" marT="0" marB="0" anchor="ctr" anchorCtr="0"/>
                </a:tc>
              </a:tr>
              <a:tr h="292735">
                <a:tc>
                  <a:txBody>
                    <a:bodyPr/>
                    <a:p>
                      <a:r>
                        <a:rPr lang="en-US" altLang="zh-CN" sz="1200" b="1">
                          <a:latin typeface="Arial Bold" panose="020B0604020202090204" charset="0"/>
                          <a:cs typeface="Arial Bold" panose="020B0604020202090204" charset="0"/>
                        </a:rPr>
                        <a:t>Ports per GPU</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4</a:t>
                      </a:r>
                      <a:endParaRPr lang="en-US" altLang="zh-CN" sz="1200"/>
                    </a:p>
                  </a:txBody>
                  <a:tcPr marL="0" marR="0" marT="0" marB="0" anchor="ctr" anchorCtr="0"/>
                </a:tc>
                <a:tc>
                  <a:txBody>
                    <a:bodyPr/>
                    <a:p>
                      <a:pPr algn="ctr"/>
                      <a:r>
                        <a:rPr lang="en-US" altLang="zh-CN" sz="1200"/>
                        <a:t>6</a:t>
                      </a:r>
                      <a:endParaRPr lang="en-US" altLang="zh-CN" sz="1200"/>
                    </a:p>
                  </a:txBody>
                  <a:tcPr marL="0" marR="0" marT="0" marB="0" anchor="ctr" anchorCtr="0"/>
                </a:tc>
                <a:tc>
                  <a:txBody>
                    <a:bodyPr/>
                    <a:p>
                      <a:pPr algn="ctr"/>
                      <a:r>
                        <a:rPr lang="en-US" altLang="zh-CN" sz="1200"/>
                        <a:t>12</a:t>
                      </a:r>
                      <a:endParaRPr lang="en-US" altLang="zh-CN" sz="1200"/>
                    </a:p>
                  </a:txBody>
                  <a:tcPr marL="0" marR="0" marT="0" marB="0" anchor="ctr" anchorCtr="0"/>
                </a:tc>
                <a:tc>
                  <a:txBody>
                    <a:bodyPr/>
                    <a:p>
                      <a:pPr algn="ctr"/>
                      <a:r>
                        <a:rPr lang="en-US" altLang="zh-CN" sz="1200"/>
                        <a:t>18</a:t>
                      </a:r>
                      <a:endParaRPr lang="en-US" altLang="zh-CN" sz="1200"/>
                    </a:p>
                  </a:txBody>
                  <a:tcPr marL="0" marR="0" marT="0" marB="0" anchor="ctr" anchorCtr="0"/>
                </a:tc>
                <a:tc>
                  <a:txBody>
                    <a:bodyPr/>
                    <a:p>
                      <a:pPr algn="ctr"/>
                      <a:r>
                        <a:rPr lang="en-US" altLang="zh-CN" sz="1200"/>
                        <a:t>18</a:t>
                      </a:r>
                      <a:endParaRPr lang="en-US" altLang="zh-CN" sz="1200"/>
                    </a:p>
                  </a:txBody>
                  <a:tcPr marL="0" marR="0" marT="0" marB="0" anchor="ctr" anchorCtr="0"/>
                </a:tc>
              </a:tr>
              <a:tr h="335280">
                <a:tc>
                  <a:txBody>
                    <a:bodyPr/>
                    <a:p>
                      <a:r>
                        <a:rPr lang="en-US" altLang="zh-CN" sz="1200" b="1">
                          <a:latin typeface="Arial Bold" panose="020B0604020202090204" charset="0"/>
                          <a:cs typeface="Arial Bold" panose="020B0604020202090204" charset="0"/>
                        </a:rPr>
                        <a:t>Bandwidth per GPU (GB/s)</a:t>
                      </a:r>
                      <a:endParaRPr lang="en-US" altLang="zh-CN" sz="1200" b="1">
                        <a:latin typeface="Arial Bold" panose="020B0604020202090204" charset="0"/>
                        <a:cs typeface="Arial Bold" panose="020B0604020202090204" charset="0"/>
                      </a:endParaRPr>
                    </a:p>
                  </a:txBody>
                  <a:tcPr marL="0" marR="0" marT="0" marB="0" anchor="ctr" anchorCtr="0"/>
                </a:tc>
                <a:tc>
                  <a:txBody>
                    <a:bodyPr/>
                    <a:p>
                      <a:pPr algn="ctr"/>
                      <a:r>
                        <a:rPr lang="en-US" altLang="zh-CN" sz="1200"/>
                        <a:t>160</a:t>
                      </a:r>
                      <a:endParaRPr lang="en-US" altLang="zh-CN" sz="1200"/>
                    </a:p>
                  </a:txBody>
                  <a:tcPr marL="0" marR="0" marT="0" marB="0" anchor="ctr" anchorCtr="0"/>
                </a:tc>
                <a:tc>
                  <a:txBody>
                    <a:bodyPr/>
                    <a:p>
                      <a:pPr algn="ctr"/>
                      <a:r>
                        <a:rPr lang="en-US" altLang="zh-CN" sz="1200"/>
                        <a:t>300</a:t>
                      </a:r>
                      <a:endParaRPr lang="en-US" altLang="zh-CN" sz="1200"/>
                    </a:p>
                  </a:txBody>
                  <a:tcPr marL="0" marR="0" marT="0" marB="0" anchor="ctr" anchorCtr="0"/>
                </a:tc>
                <a:tc>
                  <a:txBody>
                    <a:bodyPr/>
                    <a:p>
                      <a:pPr algn="ctr"/>
                      <a:r>
                        <a:rPr lang="en-US" altLang="zh-CN" sz="1200"/>
                        <a:t>600</a:t>
                      </a:r>
                      <a:endParaRPr lang="en-US" altLang="zh-CN" sz="1200"/>
                    </a:p>
                  </a:txBody>
                  <a:tcPr marL="0" marR="0" marT="0" marB="0" anchor="ctr" anchorCtr="0"/>
                </a:tc>
                <a:tc>
                  <a:txBody>
                    <a:bodyPr/>
                    <a:p>
                      <a:pPr algn="ctr"/>
                      <a:r>
                        <a:rPr lang="en-US" altLang="zh-CN" sz="1200"/>
                        <a:t>900</a:t>
                      </a:r>
                      <a:endParaRPr lang="en-US" altLang="zh-CN" sz="1200"/>
                    </a:p>
                  </a:txBody>
                  <a:tcPr marL="0" marR="0" marT="0" marB="0" anchor="ctr" anchorCtr="0"/>
                </a:tc>
                <a:tc>
                  <a:txBody>
                    <a:bodyPr/>
                    <a:p>
                      <a:pPr algn="ctr"/>
                      <a:r>
                        <a:rPr lang="en-US" altLang="zh-CN" sz="1200"/>
                        <a:t>900</a:t>
                      </a:r>
                      <a:endParaRPr lang="en-US" altLang="zh-CN" sz="1200"/>
                    </a:p>
                  </a:txBody>
                  <a:tcPr marL="0" marR="0" marT="0" marB="0" anchor="ctr" anchorCtr="0"/>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Heterogeneous Host-Device Interaction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without Unified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with Unified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519555" y="2704465"/>
            <a:ext cx="3600000" cy="3651589"/>
          </a:xfrm>
          <a:prstGeom prst="rect">
            <a:avLst/>
          </a:prstGeom>
          <a:ln w="12700">
            <a:noFill/>
            <a:prstDash val="solid"/>
          </a:ln>
        </p:spPr>
      </p:pic>
      <p:pic>
        <p:nvPicPr>
          <p:cNvPr id="8" name="Picture 8"/>
          <p:cNvPicPr>
            <a:picLocks noChangeAspect="1"/>
          </p:cNvPicPr>
          <p:nvPr/>
        </p:nvPicPr>
        <p:blipFill>
          <a:blip r:embed="rId1"/>
          <a:srcRect/>
          <a:stretch>
            <a:fillRect/>
          </a:stretch>
        </p:blipFill>
        <p:spPr>
          <a:xfrm>
            <a:off x="7129145" y="2704465"/>
            <a:ext cx="3600000" cy="3651589"/>
          </a:xfrm>
          <a:prstGeom prst="rect">
            <a:avLst/>
          </a:prstGeom>
          <a:ln w="12700">
            <a:noFill/>
            <a:prstDash val="solid"/>
          </a:ln>
        </p:spPr>
      </p:pic>
      <p:sp>
        <p:nvSpPr>
          <p:cNvPr id="9" name="AutoShape 9"/>
          <p:cNvSpPr/>
          <p:nvPr/>
        </p:nvSpPr>
        <p:spPr>
          <a:xfrm>
            <a:off x="1122680" y="1691640"/>
            <a:ext cx="1800000" cy="1476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①</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malloc</a:t>
            </a:r>
            <a:endParaRPr lang="en-US" sz="1100"/>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②</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cudaMalloc</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③</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cudaMemcpy</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⑥</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cudaMemcpy</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419100" y="6076315"/>
            <a:ext cx="2880000" cy="64516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④</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 cudaLaunchKernel</a:t>
            </a:r>
            <a:endParaRPr lang="en-US" sz="1100"/>
          </a:p>
          <a:p>
            <a:pPr indent="0" algn="l">
              <a:lnSpc>
                <a:spcPct val="100000"/>
              </a:lnSpc>
            </a:pPr>
            <a:r>
              <a:rPr lang="en-US" sz="1800" b="0" i="0" u="none" strike="noStrike">
                <a:solidFill>
                  <a:srgbClr val="7C7C7C"/>
                </a:solidFill>
                <a:latin typeface="微软雅黑" panose="020B0503020204020204" charset="-122"/>
                <a:ea typeface="微软雅黑" panose="020B0503020204020204" charset="-122"/>
                <a:cs typeface="微软雅黑" panose="020B0503020204020204" charset="-122"/>
                <a:sym typeface="微软雅黑" panose="020B0503020204020204" charset="-122"/>
              </a:rPr>
              <a:t>⑤</a:t>
            </a:r>
            <a:r>
              <a:rPr lang="en-US" sz="1800" b="0" i="0" u="none" strike="noStrike">
                <a:solidFill>
                  <a:srgbClr val="7C7C7C"/>
                </a:solidFill>
                <a:latin typeface="Arial" panose="020B0604020202020204"/>
                <a:ea typeface="Arial" panose="020B0604020202020204"/>
                <a:cs typeface="Arial" panose="020B0604020202020204"/>
                <a:sym typeface="Arial" panose="020B0604020202020204"/>
              </a:rPr>
              <a:t>cudaDeviceSynchronize</a:t>
            </a:r>
            <a:endParaRPr lang="en-US" sz="1800" b="0" i="0" u="none" strike="noStrike">
              <a:solidFill>
                <a:srgbClr val="7C7C7C"/>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Host, Device, and Interconnect</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SzTx/>
              <a:buChar char="•"/>
            </a:pPr>
            <a:r>
              <a:rPr lang="en-US" sz="2800" b="1" i="0" u="none" strike="noStrike">
                <a:solidFill>
                  <a:srgbClr val="8B0012"/>
                </a:solidFill>
                <a:latin typeface="Ebrima" panose="02000000000000000000"/>
                <a:ea typeface="Ebrima" panose="02000000000000000000"/>
                <a:cs typeface="Ebrima" panose="02000000000000000000"/>
                <a:sym typeface="Ebrima" panose="02000000000000000000"/>
              </a:rPr>
              <a:t>Programming CUDA Cores</a:t>
            </a:r>
            <a:endParaRPr lang="en-US" sz="280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SzTx/>
              <a:buChar char="•"/>
            </a:pPr>
            <a:r>
              <a:rPr lang="en-US">
                <a:solidFill>
                  <a:srgbClr val="404040"/>
                </a:solidFill>
                <a:ea typeface="Ebrima" panose="02000000000000000000"/>
                <a:cs typeface="Ebrima" panose="02000000000000000000"/>
                <a:sym typeface="Ebrima" panose="02000000000000000000"/>
              </a:rPr>
              <a:t>Programming Tensor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Questions on Heterogeneous Programming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compile the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do CPU and GPU interact?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manage and access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is kernel code executed on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Misc. topics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debugging tools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useful libraries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(incomplete list of) Concepts on Hetero-Programming</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compile the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do CPU and GPU interact?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express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manage and access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is kernel code executed on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“”compiler” </a:t>
            </a:r>
            <a:r>
              <a:rPr lang="en-US" sz="2400" b="0" i="0" u="none" strike="noStrike">
                <a:solidFill>
                  <a:srgbClr val="808080"/>
                </a:solidFill>
                <a:latin typeface="Calibri" panose="020F0502020204030204"/>
                <a:ea typeface="Calibri" panose="020F0502020204030204"/>
                <a:cs typeface="Calibri" panose="020F0502020204030204"/>
                <a:sym typeface="Calibri" panose="020F0502020204030204"/>
              </a:rPr>
              <a:t>(later lectures)</a:t>
            </a:r>
            <a:endParaRPr lang="en-US" sz="2400" b="0" i="0" u="none" strike="noStrike">
              <a:solidFill>
                <a:srgbClr val="80808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host, device, kernels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blocks, grid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xxMalloc(), xxxMemcpy(), global/shared/constant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scheduling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Tale of </a:t>
            </a:r>
            <a:r>
              <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rPr>
              <a:t>Host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rPr>
              <a:t>Device</a:t>
            </a:r>
            <a:endParaRPr lang="en-US" sz="2400" b="0" i="0" u="none" strike="noStrike">
              <a:solidFill>
                <a:srgbClr val="548235"/>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host ~ CPU;  device ~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OpenCL/ROCm, CPUs can also serve as devices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CPU-GPU interface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x86-NV5090 @ PCIe 5.0: 64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Grace-Hopper NVLink C2C: 900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Grace-Blackwell NVLink C2C: 1.8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 a device function interface for the host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BFBFBF"/>
              </a:buClr>
              <a:buChar char="•"/>
            </a:pPr>
            <a:r>
              <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rPr>
              <a:t>xxxMalloc(), xxxMemcpy()</a:t>
            </a:r>
            <a:endPar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 (host program)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Host program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Running as part of normal C/C++ application on CPU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Launch a grid of kernel thread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Call returns when all threads have terminated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124200" y="3074035"/>
            <a:ext cx="5928995" cy="31032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do CPU and GPU interact? (kernel program)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definition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__global__ denotes a kernel function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computes its thread id from its position in its block (threadIdx) and its block’s position in the grid (blockIdx)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575050" y="3292475"/>
            <a:ext cx="4320000" cy="185674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Express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 Hierachy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smallest unit of execution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(not the smallest unit of scheduling)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Block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group of threads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Cooperate through shared memory and synchronization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Organized in up to 3-dims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Grid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collection of thread blocks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Organized in up to 3-dims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Lauched by CPUs, executed on GPUs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7205980" y="1323975"/>
            <a:ext cx="3600000" cy="445347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Grid: Blocks of Threads in 1D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in grid have access to: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“Thread” above: ==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thread ID in a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“Thread” above: == 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block's dimension: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blockDim.x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example above: ==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blocks in the grid: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gridDim.x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(for the example above: == 8)</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496185" y="1324052"/>
            <a:ext cx="7200000" cy="17691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Grid: Blocks of Threads in 2D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color is a block of 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small square is a thread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concept is the same in 1D and 2D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2D each block and thread now has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two-dimensional index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Threads in grid have access to: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block IDs: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 blockIdx.y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Their respective thread IDs in a block: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 threadIdx.y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6210330" y="1323956"/>
            <a:ext cx="4320000" cy="424520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Express Synchronizations?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xxxDeviceSynchronize()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events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be discussed in later lectures)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Manage and Access Data?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memory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Distinct host and device address spaces </a:t>
            </a:r>
            <a:r>
              <a:rPr lang="en-US" sz="2000" b="0" i="0" u="none" strike="noStrike">
                <a:solidFill>
                  <a:srgbClr val="F4B183"/>
                </a:solidFill>
                <a:latin typeface="Calibri" panose="020F0502020204030204"/>
                <a:ea typeface="Calibri" panose="020F0502020204030204"/>
                <a:cs typeface="Calibri" panose="020F0502020204030204"/>
                <a:sym typeface="Calibri" panose="020F0502020204030204"/>
              </a:rPr>
              <a:t>(when not using unified memory)</a:t>
            </a:r>
            <a:endParaRPr lang="en-US" sz="2000" b="0" i="0" u="none" strike="noStrike">
              <a:solidFill>
                <a:srgbClr val="F4B183"/>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allocation in GPU through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cudaMalloc()</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Move data between address spaces through </a:t>
            </a: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cudaMemcpy()</a:t>
            </a:r>
            <a:endPar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p:txBody>
      </p:sp>
      <p:pic>
        <p:nvPicPr>
          <p:cNvPr id="5" name="Picture 5"/>
          <p:cNvPicPr>
            <a:picLocks noChangeAspect="1"/>
          </p:cNvPicPr>
          <p:nvPr/>
        </p:nvPicPr>
        <p:blipFill>
          <a:blip r:embed="rId1"/>
          <a:srcRect/>
          <a:stretch>
            <a:fillRect/>
          </a:stretch>
        </p:blipFill>
        <p:spPr>
          <a:xfrm>
            <a:off x="1129665" y="3429000"/>
            <a:ext cx="4680000" cy="2449664"/>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6049010" y="3657600"/>
            <a:ext cx="4680000" cy="1901367"/>
          </a:xfrm>
          <a:prstGeom prst="rect">
            <a:avLst/>
          </a:prstGeom>
          <a:ln w="12700">
            <a:noFill/>
            <a:prstDash val="solid"/>
          </a:ln>
        </p:spPr>
      </p:pic>
      <p:sp>
        <p:nvSpPr>
          <p:cNvPr id="7" name="AutoShape 7"/>
          <p:cNvSpPr/>
          <p:nvPr/>
        </p:nvSpPr>
        <p:spPr>
          <a:xfrm>
            <a:off x="1407160" y="4256405"/>
            <a:ext cx="4133850" cy="826135"/>
          </a:xfrm>
          <a:prstGeom prst="rect">
            <a:avLst/>
          </a:prstGeom>
          <a:noFill/>
          <a:ln w="12700" cap="flat" cmpd="sng">
            <a:solidFill>
              <a:srgbClr val="548235">
                <a:alpha val="100000"/>
              </a:srgbClr>
            </a:solidFill>
            <a:prstDash val="solid"/>
            <a:roun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to Manage and Access Data?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memory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Three distinct types of address spaces visible to kernels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__global__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accessible by all threads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__device__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distinct from CPU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__shared__</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shared by threads in a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1151255" y="3877945"/>
            <a:ext cx="9000000" cy="1888713"/>
            <a:chOff x="1151255" y="3877945"/>
            <a:chExt cx="9000000" cy="1888713"/>
          </a:xfrm>
        </p:grpSpPr>
        <p:pic>
          <p:nvPicPr>
            <p:cNvPr id="6" name="Picture 6"/>
            <p:cNvPicPr>
              <a:picLocks noChangeAspect="1"/>
            </p:cNvPicPr>
            <p:nvPr/>
          </p:nvPicPr>
          <p:blipFill>
            <a:blip r:embed="rId1"/>
            <a:srcRect r="11284"/>
            <a:stretch>
              <a:fillRect/>
            </a:stretch>
          </p:blipFill>
          <p:spPr>
            <a:xfrm>
              <a:off x="1151255" y="3877945"/>
              <a:ext cx="6176072" cy="188871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058704" y="4203001"/>
              <a:ext cx="2092551" cy="1218962"/>
            </a:xfrm>
            <a:prstGeom prst="rect">
              <a:avLst/>
            </a:prstGeom>
            <a:ln w="12700">
              <a:noFill/>
              <a:prstDash val="solid"/>
            </a:ln>
          </p:spPr>
        </p:pic>
        <p:cxnSp>
          <p:nvCxnSpPr>
            <p:cNvPr id="8" name="Connector 8"/>
            <p:cNvCxnSpPr/>
            <p:nvPr/>
          </p:nvCxnSpPr>
          <p:spPr>
            <a:xfrm flipV="1">
              <a:off x="7327327" y="4812482"/>
              <a:ext cx="731377" cy="10158"/>
            </a:xfrm>
            <a:prstGeom prst="straightConnector1">
              <a:avLst/>
            </a:prstGeom>
            <a:solidFill>
              <a:srgbClr val="4472C4">
                <a:alpha val="100000"/>
              </a:srgbClr>
            </a:solidFill>
            <a:ln w="12700" cap="flat" cmpd="sng">
              <a:solidFill>
                <a:srgbClr val="000000">
                  <a:alpha val="100000"/>
                </a:srgbClr>
              </a:solidFill>
              <a:prstDash val="solid"/>
              <a:round/>
              <a:headEnd type="triangle" w="med" len="med"/>
              <a:tailEnd type="triangle" w="med" len="med"/>
            </a:ln>
          </p:spPr>
        </p:cxn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How is Kernel Code Executed on GPU?</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SIMD execution can be combined with pipelining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ALUs all execute the same instruction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Pipelining is used to break instruction into phases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first instruction completes (4 cycles here), the next instruction is ready to execute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4113607" y="6121095"/>
          <a:ext cx="5360670" cy="262890"/>
        </p:xfrm>
        <a:graphic>
          <a:graphicData uri="http://schemas.openxmlformats.org/drawingml/2006/table">
            <a:tbl>
              <a:tblPr>
                <a:effectLst/>
              </a:tblPr>
              <a:tblGrid>
                <a:gridCol w="595630"/>
                <a:gridCol w="595630"/>
                <a:gridCol w="595630"/>
                <a:gridCol w="595630"/>
                <a:gridCol w="595630"/>
                <a:gridCol w="595630"/>
                <a:gridCol w="595630"/>
                <a:gridCol w="595630"/>
                <a:gridCol w="595630"/>
              </a:tblGrid>
              <a:tr h="262890">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1</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2</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3</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4</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6</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7</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8</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grpSp>
        <p:nvGrpSpPr>
          <p:cNvPr id="6" name="Group 6"/>
          <p:cNvGrpSpPr/>
          <p:nvPr/>
        </p:nvGrpSpPr>
        <p:grpSpPr>
          <a:xfrm>
            <a:off x="4085691" y="3495766"/>
            <a:ext cx="964406" cy="910828"/>
            <a:chOff x="4085691" y="3495766"/>
            <a:chExt cx="964406" cy="910828"/>
          </a:xfrm>
        </p:grpSpPr>
        <p:sp>
          <p:nvSpPr>
            <p:cNvPr id="7" name="AutoShape 7"/>
            <p:cNvSpPr/>
            <p:nvPr/>
          </p:nvSpPr>
          <p:spPr>
            <a:xfrm>
              <a:off x="4460738" y="34957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8" name="AutoShape 8"/>
            <p:cNvSpPr/>
            <p:nvPr/>
          </p:nvSpPr>
          <p:spPr>
            <a:xfrm>
              <a:off x="4407160" y="35493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9" name="AutoShape 9"/>
            <p:cNvSpPr/>
            <p:nvPr/>
          </p:nvSpPr>
          <p:spPr>
            <a:xfrm>
              <a:off x="4353582" y="36029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0" name="AutoShape 10"/>
            <p:cNvSpPr/>
            <p:nvPr/>
          </p:nvSpPr>
          <p:spPr>
            <a:xfrm>
              <a:off x="4300003" y="365650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1" name="AutoShape 11"/>
            <p:cNvSpPr/>
            <p:nvPr/>
          </p:nvSpPr>
          <p:spPr>
            <a:xfrm>
              <a:off x="4246425" y="371007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2" name="AutoShape 12"/>
            <p:cNvSpPr/>
            <p:nvPr/>
          </p:nvSpPr>
          <p:spPr>
            <a:xfrm>
              <a:off x="4192847" y="37636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3" name="AutoShape 13"/>
            <p:cNvSpPr/>
            <p:nvPr/>
          </p:nvSpPr>
          <p:spPr>
            <a:xfrm>
              <a:off x="4139269" y="381723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4" name="AutoShape 14"/>
            <p:cNvSpPr/>
            <p:nvPr/>
          </p:nvSpPr>
          <p:spPr>
            <a:xfrm>
              <a:off x="4085691" y="387081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15" name="Group 15"/>
          <p:cNvGrpSpPr/>
          <p:nvPr/>
        </p:nvGrpSpPr>
        <p:grpSpPr>
          <a:xfrm>
            <a:off x="4675050" y="4031548"/>
            <a:ext cx="964406" cy="910828"/>
            <a:chOff x="4675050" y="4031548"/>
            <a:chExt cx="964406" cy="910828"/>
          </a:xfrm>
        </p:grpSpPr>
        <p:sp>
          <p:nvSpPr>
            <p:cNvPr id="16" name="AutoShape 16"/>
            <p:cNvSpPr/>
            <p:nvPr/>
          </p:nvSpPr>
          <p:spPr>
            <a:xfrm>
              <a:off x="5050097" y="403154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7" name="AutoShape 17"/>
            <p:cNvSpPr/>
            <p:nvPr/>
          </p:nvSpPr>
          <p:spPr>
            <a:xfrm>
              <a:off x="4996519" y="408512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8" name="AutoShape 18"/>
            <p:cNvSpPr/>
            <p:nvPr/>
          </p:nvSpPr>
          <p:spPr>
            <a:xfrm>
              <a:off x="4942941" y="413870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19" name="AutoShape 19"/>
            <p:cNvSpPr/>
            <p:nvPr/>
          </p:nvSpPr>
          <p:spPr>
            <a:xfrm>
              <a:off x="4889362" y="419228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0" name="AutoShape 20"/>
            <p:cNvSpPr/>
            <p:nvPr/>
          </p:nvSpPr>
          <p:spPr>
            <a:xfrm>
              <a:off x="4835784" y="424586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1" name="AutoShape 21"/>
            <p:cNvSpPr/>
            <p:nvPr/>
          </p:nvSpPr>
          <p:spPr>
            <a:xfrm>
              <a:off x="4782206" y="429943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2" name="AutoShape 22"/>
            <p:cNvSpPr/>
            <p:nvPr/>
          </p:nvSpPr>
          <p:spPr>
            <a:xfrm>
              <a:off x="4728628" y="435301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3" name="AutoShape 23"/>
            <p:cNvSpPr/>
            <p:nvPr/>
          </p:nvSpPr>
          <p:spPr>
            <a:xfrm>
              <a:off x="4675050" y="440659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24" name="Group 24"/>
          <p:cNvGrpSpPr/>
          <p:nvPr/>
        </p:nvGrpSpPr>
        <p:grpSpPr>
          <a:xfrm>
            <a:off x="5264409" y="4567329"/>
            <a:ext cx="964406" cy="910828"/>
            <a:chOff x="5264409" y="4567329"/>
            <a:chExt cx="964406" cy="910828"/>
          </a:xfrm>
        </p:grpSpPr>
        <p:sp>
          <p:nvSpPr>
            <p:cNvPr id="25" name="AutoShape 25"/>
            <p:cNvSpPr/>
            <p:nvPr/>
          </p:nvSpPr>
          <p:spPr>
            <a:xfrm>
              <a:off x="5639456" y="456732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6" name="AutoShape 26"/>
            <p:cNvSpPr/>
            <p:nvPr/>
          </p:nvSpPr>
          <p:spPr>
            <a:xfrm>
              <a:off x="5585878" y="462090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7" name="AutoShape 27"/>
            <p:cNvSpPr/>
            <p:nvPr/>
          </p:nvSpPr>
          <p:spPr>
            <a:xfrm>
              <a:off x="5532300" y="467448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8" name="AutoShape 28"/>
            <p:cNvSpPr/>
            <p:nvPr/>
          </p:nvSpPr>
          <p:spPr>
            <a:xfrm>
              <a:off x="5478721" y="472806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29" name="AutoShape 29"/>
            <p:cNvSpPr/>
            <p:nvPr/>
          </p:nvSpPr>
          <p:spPr>
            <a:xfrm>
              <a:off x="5425143" y="478164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0" name="AutoShape 30"/>
            <p:cNvSpPr/>
            <p:nvPr/>
          </p:nvSpPr>
          <p:spPr>
            <a:xfrm>
              <a:off x="5371565" y="483522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1" name="AutoShape 31"/>
            <p:cNvSpPr/>
            <p:nvPr/>
          </p:nvSpPr>
          <p:spPr>
            <a:xfrm>
              <a:off x="5317987" y="488879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2" name="AutoShape 32"/>
            <p:cNvSpPr/>
            <p:nvPr/>
          </p:nvSpPr>
          <p:spPr>
            <a:xfrm>
              <a:off x="5264409" y="494237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33" name="Group 33"/>
          <p:cNvGrpSpPr/>
          <p:nvPr/>
        </p:nvGrpSpPr>
        <p:grpSpPr>
          <a:xfrm>
            <a:off x="5853769" y="5103110"/>
            <a:ext cx="964406" cy="910828"/>
            <a:chOff x="5853769" y="5103110"/>
            <a:chExt cx="964406" cy="910828"/>
          </a:xfrm>
        </p:grpSpPr>
        <p:sp>
          <p:nvSpPr>
            <p:cNvPr id="34" name="AutoShape 34"/>
            <p:cNvSpPr/>
            <p:nvPr/>
          </p:nvSpPr>
          <p:spPr>
            <a:xfrm>
              <a:off x="6228816" y="510311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5" name="AutoShape 35"/>
            <p:cNvSpPr/>
            <p:nvPr/>
          </p:nvSpPr>
          <p:spPr>
            <a:xfrm>
              <a:off x="6175238" y="515668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6" name="AutoShape 36"/>
            <p:cNvSpPr/>
            <p:nvPr/>
          </p:nvSpPr>
          <p:spPr>
            <a:xfrm>
              <a:off x="6121660" y="52102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7" name="AutoShape 37"/>
            <p:cNvSpPr/>
            <p:nvPr/>
          </p:nvSpPr>
          <p:spPr>
            <a:xfrm>
              <a:off x="6068081" y="52638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8" name="AutoShape 38"/>
            <p:cNvSpPr/>
            <p:nvPr/>
          </p:nvSpPr>
          <p:spPr>
            <a:xfrm>
              <a:off x="6014503" y="53174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39" name="AutoShape 39"/>
            <p:cNvSpPr/>
            <p:nvPr/>
          </p:nvSpPr>
          <p:spPr>
            <a:xfrm>
              <a:off x="5960925" y="537100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40" name="AutoShape 40"/>
            <p:cNvSpPr/>
            <p:nvPr/>
          </p:nvSpPr>
          <p:spPr>
            <a:xfrm>
              <a:off x="5907347" y="542457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sp>
          <p:nvSpPr>
            <p:cNvPr id="41" name="AutoShape 41"/>
            <p:cNvSpPr/>
            <p:nvPr/>
          </p:nvSpPr>
          <p:spPr>
            <a:xfrm>
              <a:off x="5853769" y="54781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Add</a:t>
              </a:r>
              <a:endParaRPr lang="en-US" sz="1100"/>
            </a:p>
          </p:txBody>
        </p:sp>
      </p:grpSp>
      <p:grpSp>
        <p:nvGrpSpPr>
          <p:cNvPr id="42" name="Group 42"/>
          <p:cNvGrpSpPr/>
          <p:nvPr/>
        </p:nvGrpSpPr>
        <p:grpSpPr>
          <a:xfrm>
            <a:off x="6496706" y="3495766"/>
            <a:ext cx="964406" cy="910828"/>
            <a:chOff x="6496706" y="3495766"/>
            <a:chExt cx="964406" cy="910828"/>
          </a:xfrm>
        </p:grpSpPr>
        <p:sp>
          <p:nvSpPr>
            <p:cNvPr id="43" name="AutoShape 43"/>
            <p:cNvSpPr/>
            <p:nvPr/>
          </p:nvSpPr>
          <p:spPr>
            <a:xfrm>
              <a:off x="6871753" y="34957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4" name="AutoShape 44"/>
            <p:cNvSpPr/>
            <p:nvPr/>
          </p:nvSpPr>
          <p:spPr>
            <a:xfrm>
              <a:off x="6818175" y="35493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5" name="AutoShape 45"/>
            <p:cNvSpPr/>
            <p:nvPr/>
          </p:nvSpPr>
          <p:spPr>
            <a:xfrm>
              <a:off x="6764597" y="36029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6" name="AutoShape 46"/>
            <p:cNvSpPr/>
            <p:nvPr/>
          </p:nvSpPr>
          <p:spPr>
            <a:xfrm>
              <a:off x="6711018" y="365650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7" name="AutoShape 47"/>
            <p:cNvSpPr/>
            <p:nvPr/>
          </p:nvSpPr>
          <p:spPr>
            <a:xfrm>
              <a:off x="6657440" y="371007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8" name="AutoShape 48"/>
            <p:cNvSpPr/>
            <p:nvPr/>
          </p:nvSpPr>
          <p:spPr>
            <a:xfrm>
              <a:off x="6603862" y="37636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49" name="AutoShape 49"/>
            <p:cNvSpPr/>
            <p:nvPr/>
          </p:nvSpPr>
          <p:spPr>
            <a:xfrm>
              <a:off x="6550284" y="381723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0" name="AutoShape 50"/>
            <p:cNvSpPr/>
            <p:nvPr/>
          </p:nvSpPr>
          <p:spPr>
            <a:xfrm>
              <a:off x="6496706" y="387081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51" name="Group 51"/>
          <p:cNvGrpSpPr/>
          <p:nvPr/>
        </p:nvGrpSpPr>
        <p:grpSpPr>
          <a:xfrm>
            <a:off x="7086066" y="4031548"/>
            <a:ext cx="964406" cy="910828"/>
            <a:chOff x="7086066" y="4031548"/>
            <a:chExt cx="964406" cy="910828"/>
          </a:xfrm>
        </p:grpSpPr>
        <p:sp>
          <p:nvSpPr>
            <p:cNvPr id="52" name="AutoShape 52"/>
            <p:cNvSpPr/>
            <p:nvPr/>
          </p:nvSpPr>
          <p:spPr>
            <a:xfrm>
              <a:off x="7461113" y="403154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3" name="AutoShape 53"/>
            <p:cNvSpPr/>
            <p:nvPr/>
          </p:nvSpPr>
          <p:spPr>
            <a:xfrm>
              <a:off x="7407535" y="408512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4" name="AutoShape 54"/>
            <p:cNvSpPr/>
            <p:nvPr/>
          </p:nvSpPr>
          <p:spPr>
            <a:xfrm>
              <a:off x="7353957" y="413870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5" name="AutoShape 55"/>
            <p:cNvSpPr/>
            <p:nvPr/>
          </p:nvSpPr>
          <p:spPr>
            <a:xfrm>
              <a:off x="7300378" y="419228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6" name="AutoShape 56"/>
            <p:cNvSpPr/>
            <p:nvPr/>
          </p:nvSpPr>
          <p:spPr>
            <a:xfrm>
              <a:off x="7246800" y="424586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7" name="AutoShape 57"/>
            <p:cNvSpPr/>
            <p:nvPr/>
          </p:nvSpPr>
          <p:spPr>
            <a:xfrm>
              <a:off x="7193222" y="429943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8" name="AutoShape 58"/>
            <p:cNvSpPr/>
            <p:nvPr/>
          </p:nvSpPr>
          <p:spPr>
            <a:xfrm>
              <a:off x="7139644" y="435301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59" name="AutoShape 59"/>
            <p:cNvSpPr/>
            <p:nvPr/>
          </p:nvSpPr>
          <p:spPr>
            <a:xfrm>
              <a:off x="7086066" y="440659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60" name="Group 60"/>
          <p:cNvGrpSpPr/>
          <p:nvPr/>
        </p:nvGrpSpPr>
        <p:grpSpPr>
          <a:xfrm>
            <a:off x="7675425" y="4567329"/>
            <a:ext cx="964406" cy="910828"/>
            <a:chOff x="7675425" y="4567329"/>
            <a:chExt cx="964406" cy="910828"/>
          </a:xfrm>
        </p:grpSpPr>
        <p:sp>
          <p:nvSpPr>
            <p:cNvPr id="61" name="AutoShape 61"/>
            <p:cNvSpPr/>
            <p:nvPr/>
          </p:nvSpPr>
          <p:spPr>
            <a:xfrm>
              <a:off x="8050472" y="456732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2" name="AutoShape 62"/>
            <p:cNvSpPr/>
            <p:nvPr/>
          </p:nvSpPr>
          <p:spPr>
            <a:xfrm>
              <a:off x="7996894" y="462090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3" name="AutoShape 63"/>
            <p:cNvSpPr/>
            <p:nvPr/>
          </p:nvSpPr>
          <p:spPr>
            <a:xfrm>
              <a:off x="7943316" y="467448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4" name="AutoShape 64"/>
            <p:cNvSpPr/>
            <p:nvPr/>
          </p:nvSpPr>
          <p:spPr>
            <a:xfrm>
              <a:off x="7889737" y="472806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5" name="AutoShape 65"/>
            <p:cNvSpPr/>
            <p:nvPr/>
          </p:nvSpPr>
          <p:spPr>
            <a:xfrm>
              <a:off x="7836159" y="478164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6" name="AutoShape 66"/>
            <p:cNvSpPr/>
            <p:nvPr/>
          </p:nvSpPr>
          <p:spPr>
            <a:xfrm>
              <a:off x="7782581" y="483522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7" name="AutoShape 67"/>
            <p:cNvSpPr/>
            <p:nvPr/>
          </p:nvSpPr>
          <p:spPr>
            <a:xfrm>
              <a:off x="7729003" y="488879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68" name="AutoShape 68"/>
            <p:cNvSpPr/>
            <p:nvPr/>
          </p:nvSpPr>
          <p:spPr>
            <a:xfrm>
              <a:off x="7675425" y="494237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grpSp>
        <p:nvGrpSpPr>
          <p:cNvPr id="69" name="Group 69"/>
          <p:cNvGrpSpPr/>
          <p:nvPr/>
        </p:nvGrpSpPr>
        <p:grpSpPr>
          <a:xfrm>
            <a:off x="8264784" y="5103110"/>
            <a:ext cx="964406" cy="910828"/>
            <a:chOff x="8264784" y="5103110"/>
            <a:chExt cx="964406" cy="910828"/>
          </a:xfrm>
        </p:grpSpPr>
        <p:sp>
          <p:nvSpPr>
            <p:cNvPr id="70" name="AutoShape 70"/>
            <p:cNvSpPr/>
            <p:nvPr/>
          </p:nvSpPr>
          <p:spPr>
            <a:xfrm>
              <a:off x="8639831" y="510311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1" name="AutoShape 71"/>
            <p:cNvSpPr/>
            <p:nvPr/>
          </p:nvSpPr>
          <p:spPr>
            <a:xfrm>
              <a:off x="8586253" y="515668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2" name="AutoShape 72"/>
            <p:cNvSpPr/>
            <p:nvPr/>
          </p:nvSpPr>
          <p:spPr>
            <a:xfrm>
              <a:off x="8532675" y="52102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3" name="AutoShape 73"/>
            <p:cNvSpPr/>
            <p:nvPr/>
          </p:nvSpPr>
          <p:spPr>
            <a:xfrm>
              <a:off x="8479096" y="52638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4" name="AutoShape 74"/>
            <p:cNvSpPr/>
            <p:nvPr/>
          </p:nvSpPr>
          <p:spPr>
            <a:xfrm>
              <a:off x="8425518" y="53174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5" name="AutoShape 75"/>
            <p:cNvSpPr/>
            <p:nvPr/>
          </p:nvSpPr>
          <p:spPr>
            <a:xfrm>
              <a:off x="8371940" y="537100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6" name="AutoShape 76"/>
            <p:cNvSpPr/>
            <p:nvPr/>
          </p:nvSpPr>
          <p:spPr>
            <a:xfrm>
              <a:off x="8318362" y="542457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sp>
          <p:nvSpPr>
            <p:cNvPr id="77" name="AutoShape 77"/>
            <p:cNvSpPr/>
            <p:nvPr/>
          </p:nvSpPr>
          <p:spPr>
            <a:xfrm>
              <a:off x="8264784" y="54781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Mul</a:t>
              </a:r>
              <a:endParaRPr lang="en-US" sz="1100"/>
            </a:p>
          </p:txBody>
        </p:sp>
      </p:grpSp>
      <p:sp>
        <p:nvSpPr>
          <p:cNvPr id="78" name="AutoShape 78"/>
          <p:cNvSpPr/>
          <p:nvPr/>
        </p:nvSpPr>
        <p:spPr>
          <a:xfrm>
            <a:off x="9282769" y="3873592"/>
            <a:ext cx="33147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79" name="AutoShape 79"/>
          <p:cNvSpPr/>
          <p:nvPr/>
        </p:nvSpPr>
        <p:spPr>
          <a:xfrm rot="10800000" flipV="1">
            <a:off x="3577828" y="3870813"/>
            <a:ext cx="160734" cy="2143125"/>
          </a:xfrm>
          <a:prstGeom prst="leftBracket">
            <a:avLst>
              <a:gd name="adj" fmla="val 8333"/>
            </a:avLst>
          </a:prstGeom>
          <a:noFill/>
          <a:ln w="12700" cap="flat">
            <a:solidFill>
              <a:srgbClr val="000000">
                <a:alpha val="100000"/>
              </a:srgbClr>
            </a:solidFill>
            <a:prstDash val="solid"/>
          </a:ln>
        </p:spPr>
        <p:txBody>
          <a:bodyPr wrap="square" lIns="64291" tIns="32146" rIns="64291" bIns="32146"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0" name="AutoShape 80"/>
          <p:cNvSpPr/>
          <p:nvPr/>
        </p:nvSpPr>
        <p:spPr>
          <a:xfrm>
            <a:off x="9614535" y="6014085"/>
            <a:ext cx="335280" cy="304165"/>
          </a:xfrm>
          <a:prstGeom prst="rect">
            <a:avLst/>
          </a:prstGeom>
          <a:noFill/>
          <a:ln w="12700">
            <a:noFill/>
            <a:prstDash val="solid"/>
          </a:ln>
        </p:spPr>
        <p:txBody>
          <a:bodyPr wrap="square" lIns="64291" tIns="32146" rIns="64291" bIns="32146"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81" name="AutoShape 81"/>
          <p:cNvSpPr/>
          <p:nvPr/>
        </p:nvSpPr>
        <p:spPr>
          <a:xfrm>
            <a:off x="3417094" y="6121095"/>
            <a:ext cx="67056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Cycle</a:t>
            </a:r>
            <a:endParaRPr lang="en-US" sz="1100"/>
          </a:p>
        </p:txBody>
      </p:sp>
      <p:cxnSp>
        <p:nvCxnSpPr>
          <p:cNvPr id="82" name="Connector 82"/>
          <p:cNvCxnSpPr/>
          <p:nvPr/>
        </p:nvCxnSpPr>
        <p:spPr>
          <a:xfrm>
            <a:off x="4810125" y="408400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3" name="Connector 83"/>
          <p:cNvCxnSpPr/>
          <p:nvPr/>
        </p:nvCxnSpPr>
        <p:spPr>
          <a:xfrm>
            <a:off x="5399484" y="461979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4" name="Connector 84"/>
          <p:cNvCxnSpPr/>
          <p:nvPr/>
        </p:nvCxnSpPr>
        <p:spPr>
          <a:xfrm>
            <a:off x="5988844" y="520915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5" name="Connector 85"/>
          <p:cNvCxnSpPr/>
          <p:nvPr/>
        </p:nvCxnSpPr>
        <p:spPr>
          <a:xfrm>
            <a:off x="6578203" y="569246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6" name="Connector 86"/>
          <p:cNvCxnSpPr/>
          <p:nvPr/>
        </p:nvCxnSpPr>
        <p:spPr>
          <a:xfrm>
            <a:off x="7221141" y="4085126"/>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7" name="Connector 87"/>
          <p:cNvCxnSpPr/>
          <p:nvPr/>
        </p:nvCxnSpPr>
        <p:spPr>
          <a:xfrm>
            <a:off x="7810500" y="4620907"/>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8" name="Connector 88"/>
          <p:cNvCxnSpPr/>
          <p:nvPr/>
        </p:nvCxnSpPr>
        <p:spPr>
          <a:xfrm>
            <a:off x="8399859" y="5156688"/>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9" name="Connector 89"/>
          <p:cNvCxnSpPr/>
          <p:nvPr/>
        </p:nvCxnSpPr>
        <p:spPr>
          <a:xfrm>
            <a:off x="9042797" y="5691353"/>
            <a:ext cx="1339453" cy="1117"/>
          </a:xfrm>
          <a:prstGeom prst="straightConnector1">
            <a:avLst/>
          </a:prstGeom>
          <a:noFill/>
          <a:ln w="12700" cap="flat">
            <a:solidFill>
              <a:srgbClr val="000000">
                <a:alpha val="100000"/>
              </a:srgbClr>
            </a:solidFill>
            <a:prstDash val="solid"/>
            <a:headEnd type="none" w="med" len="med"/>
            <a:tailEnd type="none" w="med" len="med"/>
          </a:ln>
        </p:spPr>
      </p:cxnSp>
      <p:grpSp>
        <p:nvGrpSpPr>
          <p:cNvPr id="90" name="Group 90"/>
          <p:cNvGrpSpPr/>
          <p:nvPr/>
        </p:nvGrpSpPr>
        <p:grpSpPr>
          <a:xfrm>
            <a:off x="2660000" y="3026508"/>
            <a:ext cx="1668180" cy="808446"/>
            <a:chOff x="2660000" y="3026508"/>
            <a:chExt cx="1668180" cy="808446"/>
          </a:xfrm>
        </p:grpSpPr>
        <p:sp>
          <p:nvSpPr>
            <p:cNvPr id="91" name="AutoShape 91"/>
            <p:cNvSpPr/>
            <p:nvPr/>
          </p:nvSpPr>
          <p:spPr>
            <a:xfrm>
              <a:off x="3890961" y="3245595"/>
              <a:ext cx="437219" cy="589359"/>
            </a:xfrm>
            <a:prstGeom prst="rightBrace">
              <a:avLst>
                <a:gd name="adj1" fmla="val 8333"/>
                <a:gd name="adj2" fmla="val 50000"/>
              </a:avLst>
            </a:prstGeom>
            <a:noFill/>
            <a:ln w="12700" cap="flat">
              <a:solidFill>
                <a:srgbClr val="000000">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2" name="AutoShape 92"/>
            <p:cNvSpPr/>
            <p:nvPr/>
          </p:nvSpPr>
          <p:spPr>
            <a:xfrm>
              <a:off x="2660000" y="3026508"/>
              <a:ext cx="123063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SIMD Width</a:t>
              </a:r>
              <a:endParaRPr lang="en-US" sz="1100"/>
            </a:p>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(16 in AMD)</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(8 in NVIDIA)</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3" name="AutoShape 93"/>
          <p:cNvSpPr/>
          <p:nvPr/>
        </p:nvSpPr>
        <p:spPr>
          <a:xfrm>
            <a:off x="1100455" y="4086225"/>
            <a:ext cx="1728000" cy="13220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AMD: Wavefront</a:t>
            </a:r>
            <a:endParaRPr lang="en-US" sz="1100"/>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(64 work-items)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NVIDIA: Warp</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(32 threads)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https://www.intel.com/content/www/us/en/developer/articles/technical/accelerating-compute-intensive-workloads-with-intel-avx-512-using-microsoft-visual-studio.html</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SIMD is an architecture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a:t>
            </a:r>
            <a:r>
              <a:rPr lang="en-US" sz="2000" b="0" i="0" u="none" strike="noStrike">
                <a:solidFill>
                  <a:srgbClr val="548235"/>
                </a:solidFill>
                <a:latin typeface="Calibri" panose="020F0502020204030204"/>
                <a:ea typeface="Calibri" panose="020F0502020204030204"/>
                <a:cs typeface="Calibri" panose="020F0502020204030204"/>
                <a:sym typeface="Calibri" panose="020F0502020204030204"/>
              </a:rPr>
              <a:t>single sequential instruction stream</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of SIMD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a matrix-vector multiplcation using AVX-512: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179830" y="2739390"/>
          <a:ext cx="6480000" cy="381000"/>
        </p:xfrm>
        <a:graphic>
          <a:graphicData uri="http://schemas.openxmlformats.org/drawingml/2006/table">
            <a:tbl>
              <a:tblPr>
                <a:effectLst/>
              </a:tblPr>
              <a:tblGrid>
                <a:gridCol w="6480000"/>
              </a:tblGrid>
              <a:tr h="381000">
                <a:tc>
                  <a:txBody>
                    <a:bodyPr rtlCol="0"/>
                    <a:lstStyle/>
                    <a:p>
                      <a:pPr indent="0" algn="l">
                        <a:lnSpc>
                          <a:spcPct val="100000"/>
                        </a:lnSpc>
                        <a:defRPr/>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static float *outx16;</a:t>
                      </a:r>
                      <a:endParaRPr lang="en-US" sz="1100"/>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static float *avx512Multiply()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for (uint64_t i = 0; i &lt; row; i++)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sumx16 = _mm512_set1_ps(0.0);</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for (uint64_t j = 0; j &lt; col; j += 16)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a = _mm512_loadu_ps(&amp;(t1[i*col + j]));</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__m512 b = _mm512_loadu_ps(&amp;(t2[j]));</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sumx16 = _mm512_fmadd_ps(a, b, sumx16);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outx16[i] = _mm512_reduce_add_ps(sumx16);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  return outx16;</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SPMD is a programming paradigm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“programmers normally write a single program that runs on all processors of an MIMD computer, relying on conditional statements when different processors should execute different sections of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A6A6A6"/>
              </a:buClr>
              <a:buChar char="•"/>
            </a:pP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see Section 6.3 of Computer Organization and Design, Fifth Edition: The Hardware/Software interface by David A. Patterson, John L. Hennessy</a:t>
            </a:r>
            <a:endPar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SIMD, SPMD, and SIMT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SIMT is both a programming model and an execution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Multiple instruction streams of scalar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Can treat each thread separately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i.e., can execute each thread  independently (on any type of scalar pipeline)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MIMD processing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Can group threads into warps flexibly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i.e., can group threads  that are supposed to truly execute the same instruction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dynamically obtain and maximize benefits of SIMD processing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For NVIDIA GPUs, </a:t>
            </a:r>
            <a:r>
              <a:rPr lang="en-US" sz="1600" b="1" i="0" u="none" strike="noStrike">
                <a:solidFill>
                  <a:srgbClr val="548235"/>
                </a:solidFill>
                <a:latin typeface="Calibri" panose="020F0502020204030204"/>
                <a:ea typeface="Calibri" panose="020F0502020204030204"/>
                <a:cs typeface="Calibri" panose="020F0502020204030204"/>
                <a:sym typeface="Calibri" panose="020F0502020204030204"/>
              </a:rPr>
              <a:t>warp</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size = 32; For AMD GPUs, </a:t>
            </a:r>
            <a:r>
              <a:rPr lang="en-US" sz="1600" b="1" i="0" u="none" strike="noStrike">
                <a:solidFill>
                  <a:srgbClr val="548235"/>
                </a:solidFill>
                <a:latin typeface="Calibri" panose="020F0502020204030204"/>
                <a:ea typeface="Calibri" panose="020F0502020204030204"/>
                <a:cs typeface="Calibri" panose="020F0502020204030204"/>
                <a:sym typeface="Calibri" panose="020F0502020204030204"/>
              </a:rPr>
              <a:t>wavefront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size = 64</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SIMT: How to Express the Work of a Thread?</a:t>
            </a:r>
            <a:b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(the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Single Instruction</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 Stream in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SI</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MT)</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p>
          <a:p>
            <a:pPr indent="0" algn="l">
              <a:lnSpc>
                <a:spcPct val="100000"/>
              </a:lnSpc>
              <a:spcBef>
                <a:spcPts val="1500"/>
              </a:spcBef>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A simple embarrassingly parallel loop:</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for (int i= 0; i&lt;N; i++)</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h_a[i] *= 2.0;</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p>
          <a:p>
            <a:pPr indent="0" algn="l">
              <a:lnSpc>
                <a:spcPct val="100000"/>
              </a:lnSpc>
              <a:spcBef>
                <a:spcPts val="1500"/>
              </a:spcBef>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Can be translated into a GPU kernel:</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1" i="0" u="none" strike="noStrike">
                <a:solidFill>
                  <a:srgbClr val="C00000"/>
                </a:solidFill>
                <a:latin typeface="Courier New" panose="02070309020205020404"/>
                <a:ea typeface="Courier New" panose="02070309020205020404"/>
                <a:cs typeface="Courier New" panose="02070309020205020404"/>
                <a:sym typeface="Courier New" panose="02070309020205020404"/>
              </a:rPr>
              <a:t>__global__</a:t>
            </a: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void myKernel(int N, double *d_a) {</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int i = threadldx.x + blockldx.x * blockDim.x; </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if (i&lt;N) d_a[i] *= 2.0;</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a:t>
            </a:r>
            <a:endParaRPr lang="en-US" sz="1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adapted from UW CSEP 590, Dr. Hari Sadasivan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rm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 device function that will be  launched from the host program is called a kernel &amp; is declared with the </a:t>
            </a:r>
            <a:r>
              <a:rPr lang="en-US" sz="1900" b="0" i="0" u="none" strike="noStrike">
                <a:solidFill>
                  <a:srgbClr val="C00000"/>
                </a:solidFill>
                <a:latin typeface="Calibri" panose="020F0502020204030204"/>
                <a:ea typeface="Calibri" panose="020F0502020204030204"/>
                <a:cs typeface="Calibri" panose="020F0502020204030204"/>
                <a:sym typeface="Calibri" panose="020F0502020204030204"/>
              </a:rPr>
              <a:t>__global__</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attribute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Kernels should be declared void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All pointers passed to kernels  must point to memory on the device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All threads execute the kernel's  body “simultaneously”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Each thread uses its unique thread and block IDs to compute a global 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There could be more than N threads in the grid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SIMT: How to Express the Thread Structure?</a:t>
            </a:r>
            <a:b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(The Grid: </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Multi-threading</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 in SI</a:t>
            </a:r>
            <a:r>
              <a:rPr lang="en-US" sz="2000" b="1" i="0" u="none" strike="noStrike">
                <a:solidFill>
                  <a:srgbClr val="548235"/>
                </a:solidFill>
                <a:latin typeface="Calibri" panose="020F0502020204030204"/>
                <a:ea typeface="Calibri" panose="020F0502020204030204"/>
                <a:cs typeface="Calibri" panose="020F0502020204030204"/>
                <a:sym typeface="Calibri" panose="020F0502020204030204"/>
              </a:rPr>
              <a:t>MT</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500" b="0" i="0" u="none" strike="noStrike" spc="0">
                <a:solidFill>
                  <a:srgbClr val="404040">
                    <a:alpha val="100000"/>
                  </a:srgbClr>
                </a:solidFill>
                <a:latin typeface="Calibri" panose="020F0502020204030204"/>
              </a:defRPr>
            </a:lvl1pPr>
          </a:lstStyle>
          <a:p>
            <a:pPr indent="0" algn="l">
              <a:lnSpc>
                <a:spcPct val="100000"/>
              </a:lnSpc>
              <a:spcBef>
                <a:spcPts val="1500"/>
              </a:spcBef>
            </a:pPr>
            <a:r>
              <a:rPr lang="en-US" sz="2500" b="0" i="0" u="none" strike="noStrike">
                <a:solidFill>
                  <a:srgbClr val="404040"/>
                </a:solidFill>
                <a:latin typeface="Calibri" panose="020F0502020204030204"/>
                <a:ea typeface="Calibri" panose="020F0502020204030204"/>
                <a:cs typeface="Calibri" panose="020F0502020204030204"/>
                <a:sym typeface="Calibri" panose="020F0502020204030204"/>
              </a:rPr>
              <a:t>Kernels are launched from the host:</a:t>
            </a:r>
            <a:endParaRPr lang="en-US" sz="2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threads(256,1,1);           // 3D dimensions of a block of threads</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blocks((N+256-1)/256,1,1);  // 3D dimensions the grid of blocks</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myKernel&lt;&lt;&lt;blocks,threads,0,0&gt;&gt;&gt;(N,a);</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548235">
                    <a:alpha val="100000"/>
                  </a:srgbClr>
                </a:solidFill>
                <a:latin typeface="Calibri" panose="020F0502020204030204"/>
              </a:defRPr>
            </a:lvl1pPr>
          </a:lstStyle>
          <a:p>
            <a:pPr marL="304800" indent="-304800" algn="l">
              <a:lnSpc>
                <a:spcPct val="100000"/>
              </a:lnSpc>
              <a:spcBef>
                <a:spcPts val="1500"/>
              </a:spcBef>
              <a:buClr>
                <a:srgbClr val="548235"/>
              </a:buClr>
              <a:buChar char="•"/>
            </a:pPr>
            <a:r>
              <a:rPr lang="en-US" sz="2400" b="1" i="0" u="none" strike="noStrike">
                <a:solidFill>
                  <a:srgbClr val="548235"/>
                </a:solidFill>
                <a:latin typeface="Calibri" panose="020F0502020204030204"/>
                <a:ea typeface="Calibri" panose="020F0502020204030204"/>
                <a:cs typeface="Calibri" panose="020F0502020204030204"/>
                <a:sym typeface="Calibri" panose="020F0502020204030204"/>
              </a:rPr>
              <a:t>Resource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-aware optimizations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resouces: SM, registers, shared memory, memory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(a incomplete list)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choose an “optimal” block size, to maximize active warps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improve the utilization of memory bandwidth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after partitioning, map the (task, data) to a suitable thread id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avoid control divergence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coalese global memory access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avoid shared memory bank conflicts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analysis tools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81570" y="2277110"/>
            <a:ext cx="4320000" cy="230285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Array X is a pointer to an array of integers (4-bytes each) located at address 0x00001232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thread wants to access the data at X[0]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int tmp = X[0];</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948200" y="284427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0x00001232</a:t>
            </a:r>
            <a:endParaRPr lang="en-US" sz="1100"/>
          </a:p>
        </p:txBody>
      </p:sp>
      <p:sp>
        <p:nvSpPr>
          <p:cNvPr id="6" name="AutoShape 6"/>
          <p:cNvSpPr/>
          <p:nvPr/>
        </p:nvSpPr>
        <p:spPr>
          <a:xfrm>
            <a:off x="2618000" y="2806178"/>
            <a:ext cx="28956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ourier"/>
                <a:ea typeface="Courier"/>
                <a:cs typeface="Courier"/>
                <a:sym typeface="Courier"/>
              </a:rPr>
              <a:t>X</a:t>
            </a:r>
            <a:endParaRPr lang="en-US" sz="1100"/>
          </a:p>
        </p:txBody>
      </p:sp>
      <p:cxnSp>
        <p:nvCxnSpPr>
          <p:cNvPr id="7" name="Connector 7"/>
          <p:cNvCxnSpPr/>
          <p:nvPr/>
        </p:nvCxnSpPr>
        <p:spPr>
          <a:xfrm flipV="1">
            <a:off x="4573800" y="2313104"/>
            <a:ext cx="2243086" cy="683574"/>
          </a:xfrm>
          <a:prstGeom prst="straightConnector1">
            <a:avLst/>
          </a:prstGeom>
          <a:noFill/>
          <a:ln w="12700" cap="flat">
            <a:solidFill>
              <a:srgbClr val="4472C4">
                <a:alpha val="100000"/>
              </a:srgbClr>
            </a:solidFill>
            <a:prstDash val="solid"/>
            <a:headEnd type="none" w="med" len="med"/>
            <a:tailEnd type="arrow" w="med" len="med"/>
          </a:ln>
        </p:spPr>
      </p:cxnSp>
      <p:sp>
        <p:nvSpPr>
          <p:cNvPr id="8" name="AutoShape 8"/>
          <p:cNvSpPr/>
          <p:nvPr/>
        </p:nvSpPr>
        <p:spPr>
          <a:xfrm>
            <a:off x="6816886" y="217582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9" name="AutoShape 9"/>
          <p:cNvSpPr/>
          <p:nvPr/>
        </p:nvSpPr>
        <p:spPr>
          <a:xfrm>
            <a:off x="6816886" y="248626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0" name="AutoShape 10"/>
          <p:cNvSpPr/>
          <p:nvPr/>
        </p:nvSpPr>
        <p:spPr>
          <a:xfrm>
            <a:off x="6816886" y="279068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1" name="AutoShape 11"/>
          <p:cNvSpPr/>
          <p:nvPr/>
        </p:nvSpPr>
        <p:spPr>
          <a:xfrm>
            <a:off x="6816886" y="31007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nvSpPr>
        <p:spPr>
          <a:xfrm>
            <a:off x="6816886" y="34055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3" name="AutoShape 13"/>
          <p:cNvSpPr/>
          <p:nvPr/>
        </p:nvSpPr>
        <p:spPr>
          <a:xfrm>
            <a:off x="6816886" y="371599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4" name="AutoShape 14"/>
          <p:cNvSpPr/>
          <p:nvPr/>
        </p:nvSpPr>
        <p:spPr>
          <a:xfrm>
            <a:off x="6816886" y="402042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5" name="AutoShape 15"/>
          <p:cNvSpPr/>
          <p:nvPr/>
        </p:nvSpPr>
        <p:spPr>
          <a:xfrm>
            <a:off x="6816886" y="4330486"/>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
        <p:nvSpPr>
          <p:cNvPr id="16" name="AutoShape 16"/>
          <p:cNvSpPr/>
          <p:nvPr/>
        </p:nvSpPr>
        <p:spPr>
          <a:xfrm>
            <a:off x="8442486" y="2128438"/>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0x00001232</a:t>
            </a:r>
            <a:endParaRPr lang="en-US" sz="1100"/>
          </a:p>
        </p:txBody>
      </p:sp>
      <p:sp>
        <p:nvSpPr>
          <p:cNvPr id="17" name="AutoShape 17"/>
          <p:cNvSpPr/>
          <p:nvPr/>
        </p:nvSpPr>
        <p:spPr>
          <a:xfrm>
            <a:off x="8442486" y="2440906"/>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0x00001236</a:t>
            </a:r>
            <a:endParaRPr lang="en-US" sz="1100"/>
          </a:p>
        </p:txBody>
      </p:sp>
      <p:sp>
        <p:nvSpPr>
          <p:cNvPr id="18" name="AutoShape 18"/>
          <p:cNvSpPr/>
          <p:nvPr/>
        </p:nvSpPr>
        <p:spPr>
          <a:xfrm>
            <a:off x="8442486" y="4294984"/>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0x00001248</a:t>
            </a:r>
            <a:endParaRPr lang="en-US" sz="1100"/>
          </a:p>
        </p:txBody>
      </p:sp>
      <p:sp>
        <p:nvSpPr>
          <p:cNvPr id="19" name="AutoShape 19"/>
          <p:cNvSpPr/>
          <p:nvPr/>
        </p:nvSpPr>
        <p:spPr>
          <a:xfrm>
            <a:off x="9022654" y="3110978"/>
            <a:ext cx="23241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AutoShape 20"/>
          <p:cNvSpPr/>
          <p:nvPr/>
        </p:nvSpPr>
        <p:spPr>
          <a:xfrm>
            <a:off x="9039973" y="460653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7508441" y="460775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a:p>
            <a:pPr indent="0" algn="l">
              <a:lnSpc>
                <a:spcPct val="100000"/>
              </a:lnSpc>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Bus Addressing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Assume that the GDDR memory bus is 32-bytes (256-bits) wide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byte-addressable bus must make accesses that are aligned to the bus width, so the bottom 5 bits are masked off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Any access in the range 0x00001220 to 0x0000123F will produce the address 0x00001220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2730474" y="2872740"/>
          <a:ext cx="6096000" cy="1112520"/>
        </p:xfrm>
        <a:graphic>
          <a:graphicData uri="http://schemas.openxmlformats.org/drawingml/2006/table">
            <a:tbl>
              <a:tblPr>
                <a:effectLst/>
              </a:tblPr>
              <a:tblGrid>
                <a:gridCol w="3048000"/>
                <a:gridCol w="3048000"/>
              </a:tblGrid>
              <a:tr h="370840">
                <a:tc>
                  <a:txBody>
                    <a:bodyPr rtlCol="0"/>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Desired address:</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0x00001232</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r>
              <a:tr h="370840">
                <a:tc>
                  <a:txBody>
                    <a:bodyPr rtlCol="0"/>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Bus mask:</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0xFFFFFFE0</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r>
              <a:tr h="370840">
                <a:tc>
                  <a:txBody>
                    <a:bodyPr rtlCol="0"/>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Bus access:</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0x00001220</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Bus Addressing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 data in the range 0x00001220 to 0x0000123F is returned on the bus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this case, 4 bytes are useful and 28 bytes are wasted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5576588" y="4940816"/>
            <a:ext cx="4519912" cy="304800"/>
            <a:chOff x="5576588" y="4940816"/>
            <a:chExt cx="4519912" cy="304800"/>
          </a:xfrm>
        </p:grpSpPr>
        <p:sp>
          <p:nvSpPr>
            <p:cNvPr id="6" name="AutoShape 6"/>
            <p:cNvSpPr/>
            <p:nvPr/>
          </p:nvSpPr>
          <p:spPr>
            <a:xfrm>
              <a:off x="557658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7" name="AutoShape 7"/>
            <p:cNvSpPr/>
            <p:nvPr/>
          </p:nvSpPr>
          <p:spPr>
            <a:xfrm>
              <a:off x="615110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8" name="AutoShape 8"/>
            <p:cNvSpPr/>
            <p:nvPr/>
          </p:nvSpPr>
          <p:spPr>
            <a:xfrm>
              <a:off x="672561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9" name="AutoShape 9"/>
            <p:cNvSpPr/>
            <p:nvPr/>
          </p:nvSpPr>
          <p:spPr>
            <a:xfrm>
              <a:off x="7287430"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7849244"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841105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897287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953468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grpSp>
      <p:sp>
        <p:nvSpPr>
          <p:cNvPr id="14" name="AutoShape 14"/>
          <p:cNvSpPr/>
          <p:nvPr/>
        </p:nvSpPr>
        <p:spPr>
          <a:xfrm rot="-5400000">
            <a:off x="3433961" y="4338955"/>
            <a:ext cx="146566" cy="1705888"/>
          </a:xfrm>
          <a:prstGeom prst="leftBracket">
            <a:avLst>
              <a:gd name="adj" fmla="val 8333"/>
            </a:avLst>
          </a:prstGeom>
          <a:noFill/>
          <a:ln w="12700" cap="flat">
            <a:solidFill>
              <a:srgbClr val="4472C4">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2960602" y="4895850"/>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0x00001232</a:t>
            </a:r>
            <a:endParaRPr lang="en-US" sz="1100"/>
          </a:p>
        </p:txBody>
      </p:sp>
      <p:cxnSp>
        <p:nvCxnSpPr>
          <p:cNvPr id="16" name="Connector 16"/>
          <p:cNvCxnSpPr/>
          <p:nvPr/>
        </p:nvCxnSpPr>
        <p:spPr>
          <a:xfrm rot="-5400000">
            <a:off x="3505200" y="3638550"/>
            <a:ext cx="1244600" cy="1117600"/>
          </a:xfrm>
          <a:prstGeom prst="straightConnector1">
            <a:avLst/>
          </a:prstGeom>
          <a:noFill/>
          <a:ln w="12700" cap="flat">
            <a:solidFill>
              <a:srgbClr val="4472C4">
                <a:alpha val="100000"/>
              </a:srgbClr>
            </a:solidFill>
            <a:prstDash val="solid"/>
            <a:headEnd type="none" w="med" len="med"/>
            <a:tailEnd type="arrow" w="med" len="med"/>
          </a:ln>
        </p:spPr>
      </p:cxnSp>
      <p:cxnSp>
        <p:nvCxnSpPr>
          <p:cNvPr id="17" name="Connector 17"/>
          <p:cNvCxnSpPr/>
          <p:nvPr/>
        </p:nvCxnSpPr>
        <p:spPr>
          <a:xfrm>
            <a:off x="5317212" y="3575050"/>
            <a:ext cx="1395704" cy="1244600"/>
          </a:xfrm>
          <a:prstGeom prst="straightConnector1">
            <a:avLst/>
          </a:prstGeom>
          <a:noFill/>
          <a:ln w="12700" cap="flat">
            <a:solidFill>
              <a:srgbClr val="4472C4">
                <a:alpha val="100000"/>
              </a:srgbClr>
            </a:solidFill>
            <a:prstDash val="solid"/>
            <a:headEnd type="none" w="med" len="med"/>
            <a:tailEnd type="arrow" w="med" len="med"/>
          </a:ln>
        </p:spPr>
      </p:cxnSp>
      <p:sp>
        <p:nvSpPr>
          <p:cNvPr id="18" name="AutoShape 18"/>
          <p:cNvSpPr/>
          <p:nvPr/>
        </p:nvSpPr>
        <p:spPr>
          <a:xfrm>
            <a:off x="2233504" y="3758684"/>
            <a:ext cx="1434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Send an address</a:t>
            </a:r>
            <a:endParaRPr lang="en-US" sz="1100"/>
          </a:p>
        </p:txBody>
      </p:sp>
      <p:sp>
        <p:nvSpPr>
          <p:cNvPr id="19" name="AutoShape 19"/>
          <p:cNvSpPr/>
          <p:nvPr/>
        </p:nvSpPr>
        <p:spPr>
          <a:xfrm>
            <a:off x="6029379" y="3758684"/>
            <a:ext cx="115824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Receive data</a:t>
            </a:r>
            <a:endParaRPr lang="en-US" sz="1100"/>
          </a:p>
        </p:txBody>
      </p:sp>
      <p:sp>
        <p:nvSpPr>
          <p:cNvPr id="20" name="AutoShape 20"/>
          <p:cNvSpPr/>
          <p:nvPr/>
        </p:nvSpPr>
        <p:spPr>
          <a:xfrm>
            <a:off x="5368012" y="5253682"/>
            <a:ext cx="95885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0x00001220</a:t>
            </a:r>
            <a:endParaRPr lang="en-US" sz="1100"/>
          </a:p>
        </p:txBody>
      </p:sp>
      <p:sp>
        <p:nvSpPr>
          <p:cNvPr id="21" name="AutoShape 21"/>
          <p:cNvSpPr/>
          <p:nvPr/>
        </p:nvSpPr>
        <p:spPr>
          <a:xfrm>
            <a:off x="3969629" y="2787650"/>
            <a:ext cx="1961271" cy="762000"/>
          </a:xfrm>
          <a:prstGeom prst="rect">
            <a:avLst/>
          </a:prstGeom>
          <a:gradFill rotWithShape="1">
            <a:gsLst>
              <a:gs pos="0">
                <a:srgbClr val="ED7D31">
                  <a:alpha val="100000"/>
                </a:srgbClr>
              </a:gs>
              <a:gs pos="100000">
                <a:srgbClr val="BF4D00">
                  <a:alpha val="100000"/>
                </a:srgbClr>
              </a:gs>
            </a:gsLst>
            <a:lin ang="4140000"/>
          </a:gradFill>
          <a:ln w="12700" cap="flat">
            <a:solidFill>
              <a:srgbClr val="ED7D31">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Memory Controller</a:t>
            </a:r>
            <a:endParaRPr lang="en-US" sz="1100"/>
          </a:p>
        </p:txBody>
      </p:sp>
      <p:sp>
        <p:nvSpPr>
          <p:cNvPr id="22" name="AutoShape 22"/>
          <p:cNvSpPr/>
          <p:nvPr/>
        </p:nvSpPr>
        <p:spPr>
          <a:xfrm>
            <a:off x="8041218" y="3943350"/>
            <a:ext cx="143192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Desired element</a:t>
            </a:r>
            <a:endParaRPr lang="en-US" sz="1100"/>
          </a:p>
        </p:txBody>
      </p:sp>
      <p:sp>
        <p:nvSpPr>
          <p:cNvPr id="23" name="AutoShape 23"/>
          <p:cNvSpPr/>
          <p:nvPr/>
        </p:nvSpPr>
        <p:spPr>
          <a:xfrm>
            <a:off x="7295975" y="4840551"/>
            <a:ext cx="561814" cy="502082"/>
          </a:xfrm>
          <a:prstGeom prst="donut">
            <a:avLst>
              <a:gd name="adj" fmla="val 13588"/>
            </a:avLst>
          </a:prstGeom>
          <a:solidFill>
            <a:srgbClr val="FF0000">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24" name="Connector 24"/>
          <p:cNvCxnSpPr/>
          <p:nvPr/>
        </p:nvCxnSpPr>
        <p:spPr>
          <a:xfrm rot="10800000" flipV="1">
            <a:off x="7775514" y="4312681"/>
            <a:ext cx="635545" cy="601397"/>
          </a:xfrm>
          <a:prstGeom prst="straightConnector1">
            <a:avLst/>
          </a:prstGeom>
          <a:noFill/>
          <a:ln w="12700" cap="flat">
            <a:solidFill>
              <a:srgbClr val="4472C4">
                <a:alpha val="100000"/>
              </a:srgbClr>
            </a:solidFill>
            <a:prstDash val="solid"/>
            <a:headEnd type="none" w="med" len="med"/>
            <a:tailEnd type="arrow"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fully utilize the bus, GPUs combine the accesses of multiple threads into fewer requests when possible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the following kernel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Assuming that array X is the same array from the example, the first 16 threads will access addresses 0x00001232 through 0x00001272</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each request was sent out individually, there would be 16 accesses total, with 64 useful bytes of data and 448 wasted bytes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Notice that each access in the same 32-byte range would return exactly the same data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051050" y="2789555"/>
            <a:ext cx="8107680" cy="39878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int tmp = X[threadIdx.x + blockDim.x * blockIdx.x];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Coalescing Memory Accesses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When GPU threads access data in the same 32-byte range, multiple accesses are combined so that each range is only accessed once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Combining accesses is called coalescing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 this example, only 3 accesses are required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the start of the array was 256-bit aligned, only two accesses would be required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3682570" y="3921998"/>
            <a:ext cx="4753888" cy="2072986"/>
            <a:chOff x="3682570" y="3921998"/>
            <a:chExt cx="4753888" cy="2072986"/>
          </a:xfrm>
        </p:grpSpPr>
        <p:sp>
          <p:nvSpPr>
            <p:cNvPr id="6" name="AutoShape 6"/>
            <p:cNvSpPr/>
            <p:nvPr/>
          </p:nvSpPr>
          <p:spPr>
            <a:xfrm>
              <a:off x="392212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7" name="AutoShape 7"/>
            <p:cNvSpPr/>
            <p:nvPr/>
          </p:nvSpPr>
          <p:spPr>
            <a:xfrm>
              <a:off x="448114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8" name="AutoShape 8"/>
            <p:cNvSpPr/>
            <p:nvPr/>
          </p:nvSpPr>
          <p:spPr>
            <a:xfrm>
              <a:off x="504017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9" name="AutoShape 9"/>
            <p:cNvSpPr/>
            <p:nvPr/>
          </p:nvSpPr>
          <p:spPr>
            <a:xfrm>
              <a:off x="560198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616380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6725616"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7287430"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784924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4" name="AutoShape 14"/>
            <p:cNvSpPr/>
            <p:nvPr/>
          </p:nvSpPr>
          <p:spPr>
            <a:xfrm>
              <a:off x="3682570" y="423486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0x00001220</a:t>
              </a:r>
              <a:endParaRPr lang="en-US" sz="1100"/>
            </a:p>
          </p:txBody>
        </p:sp>
        <p:sp>
          <p:nvSpPr>
            <p:cNvPr id="15" name="AutoShape 15"/>
            <p:cNvSpPr/>
            <p:nvPr/>
          </p:nvSpPr>
          <p:spPr>
            <a:xfrm>
              <a:off x="395031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6" name="AutoShape 16"/>
            <p:cNvSpPr/>
            <p:nvPr/>
          </p:nvSpPr>
          <p:spPr>
            <a:xfrm>
              <a:off x="449384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7" name="AutoShape 17"/>
            <p:cNvSpPr/>
            <p:nvPr/>
          </p:nvSpPr>
          <p:spPr>
            <a:xfrm>
              <a:off x="505287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
          <p:nvSpPr>
            <p:cNvPr id="18" name="AutoShape 18"/>
            <p:cNvSpPr/>
            <p:nvPr/>
          </p:nvSpPr>
          <p:spPr>
            <a:xfrm>
              <a:off x="561468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8</a:t>
              </a:r>
              <a:endParaRPr lang="en-US" sz="1100"/>
            </a:p>
          </p:txBody>
        </p:sp>
        <p:sp>
          <p:nvSpPr>
            <p:cNvPr id="19" name="AutoShape 19"/>
            <p:cNvSpPr/>
            <p:nvPr/>
          </p:nvSpPr>
          <p:spPr>
            <a:xfrm>
              <a:off x="6176502"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9</a:t>
              </a:r>
              <a:endParaRPr lang="en-US" sz="1100"/>
            </a:p>
          </p:txBody>
        </p:sp>
        <p:sp>
          <p:nvSpPr>
            <p:cNvPr id="20" name="AutoShape 20"/>
            <p:cNvSpPr/>
            <p:nvPr/>
          </p:nvSpPr>
          <p:spPr>
            <a:xfrm>
              <a:off x="6738316"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10</a:t>
              </a:r>
              <a:endParaRPr lang="en-US" sz="1100"/>
            </a:p>
          </p:txBody>
        </p:sp>
        <p:sp>
          <p:nvSpPr>
            <p:cNvPr id="21" name="AutoShape 21"/>
            <p:cNvSpPr/>
            <p:nvPr/>
          </p:nvSpPr>
          <p:spPr>
            <a:xfrm>
              <a:off x="730013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11</a:t>
              </a:r>
              <a:endParaRPr lang="en-US" sz="1100"/>
            </a:p>
          </p:txBody>
        </p:sp>
        <p:sp>
          <p:nvSpPr>
            <p:cNvPr id="22" name="AutoShape 22"/>
            <p:cNvSpPr/>
            <p:nvPr/>
          </p:nvSpPr>
          <p:spPr>
            <a:xfrm>
              <a:off x="786194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12</a:t>
              </a:r>
              <a:endParaRPr lang="en-US" sz="1100"/>
            </a:p>
          </p:txBody>
        </p:sp>
        <p:sp>
          <p:nvSpPr>
            <p:cNvPr id="23" name="AutoShape 23"/>
            <p:cNvSpPr/>
            <p:nvPr/>
          </p:nvSpPr>
          <p:spPr>
            <a:xfrm>
              <a:off x="3695270" y="4977129"/>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0x00001240</a:t>
              </a:r>
              <a:endParaRPr lang="en-US" sz="1100"/>
            </a:p>
          </p:txBody>
        </p:sp>
        <p:sp>
          <p:nvSpPr>
            <p:cNvPr id="24" name="AutoShape 24"/>
            <p:cNvSpPr/>
            <p:nvPr/>
          </p:nvSpPr>
          <p:spPr>
            <a:xfrm>
              <a:off x="394752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13</a:t>
              </a:r>
              <a:endParaRPr lang="en-US" sz="1100"/>
            </a:p>
          </p:txBody>
        </p:sp>
        <p:sp>
          <p:nvSpPr>
            <p:cNvPr id="25" name="AutoShape 25"/>
            <p:cNvSpPr/>
            <p:nvPr/>
          </p:nvSpPr>
          <p:spPr>
            <a:xfrm>
              <a:off x="450654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14</a:t>
              </a:r>
              <a:endParaRPr lang="en-US" sz="1100"/>
            </a:p>
          </p:txBody>
        </p:sp>
        <p:sp>
          <p:nvSpPr>
            <p:cNvPr id="26" name="AutoShape 26"/>
            <p:cNvSpPr/>
            <p:nvPr/>
          </p:nvSpPr>
          <p:spPr>
            <a:xfrm>
              <a:off x="506557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15</a:t>
              </a:r>
              <a:endParaRPr lang="en-US" sz="1100"/>
            </a:p>
          </p:txBody>
        </p:sp>
        <p:sp>
          <p:nvSpPr>
            <p:cNvPr id="27" name="AutoShape 27"/>
            <p:cNvSpPr/>
            <p:nvPr/>
          </p:nvSpPr>
          <p:spPr>
            <a:xfrm>
              <a:off x="562738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28" name="AutoShape 28"/>
            <p:cNvSpPr/>
            <p:nvPr/>
          </p:nvSpPr>
          <p:spPr>
            <a:xfrm>
              <a:off x="618920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29" name="AutoShape 29"/>
            <p:cNvSpPr/>
            <p:nvPr/>
          </p:nvSpPr>
          <p:spPr>
            <a:xfrm>
              <a:off x="6751016"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0" name="AutoShape 30"/>
            <p:cNvSpPr/>
            <p:nvPr/>
          </p:nvSpPr>
          <p:spPr>
            <a:xfrm>
              <a:off x="7312830"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1" name="AutoShape 31"/>
            <p:cNvSpPr/>
            <p:nvPr/>
          </p:nvSpPr>
          <p:spPr>
            <a:xfrm>
              <a:off x="787464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a:t>
              </a:r>
              <a:endParaRPr lang="en-US" sz="1100"/>
            </a:p>
          </p:txBody>
        </p:sp>
        <p:sp>
          <p:nvSpPr>
            <p:cNvPr id="32" name="AutoShape 32"/>
            <p:cNvSpPr/>
            <p:nvPr/>
          </p:nvSpPr>
          <p:spPr>
            <a:xfrm>
              <a:off x="3707970" y="571939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0x00001260</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Host, Device, and Interconnect</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SzTx/>
              <a:buChar char="•"/>
            </a:pPr>
            <a:r>
              <a:rPr lang="en-US" sz="2800" i="0" u="none" strike="noStrike">
                <a:solidFill>
                  <a:srgbClr val="404040"/>
                </a:solidFill>
                <a:latin typeface="Ebrima" panose="02000000000000000000"/>
                <a:ea typeface="Ebrima" panose="02000000000000000000"/>
                <a:cs typeface="Ebrima" panose="02000000000000000000"/>
                <a:sym typeface="Ebrima" panose="02000000000000000000"/>
              </a:rPr>
              <a:t>Programming CUDA Cores</a:t>
            </a:r>
            <a:endParaRPr lang="en-US" sz="280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8B0012"/>
              </a:buClr>
              <a:buChar char="•"/>
            </a:pPr>
            <a:r>
              <a:rPr lang="en-US" b="1">
                <a:solidFill>
                  <a:srgbClr val="8B0012"/>
                </a:solidFill>
                <a:ea typeface="Ebrima" panose="02000000000000000000"/>
                <a:cs typeface="Ebrima" panose="02000000000000000000"/>
                <a:sym typeface="Ebrima" panose="02000000000000000000"/>
              </a:rPr>
              <a:t>Programming Tensor Cores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Tensor Core Evolution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Trending:</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Larger MMA size and arithmetic intensity</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 for lower precisions and async, vectorized memory copy</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33" name="Content Placeholder 5"/>
          <p:cNvGraphicFramePr/>
          <p:nvPr/>
        </p:nvGraphicFramePr>
        <p:xfrm>
          <a:off x="390525" y="3253054"/>
          <a:ext cx="11440887" cy="2673350"/>
        </p:xfrm>
        <a:graphic>
          <a:graphicData uri="http://schemas.openxmlformats.org/drawingml/2006/table">
            <a:tbl>
              <a:tblPr firstRow="1" bandRow="1">
                <a:tableStyleId>{5C22544A-7EE6-4342-B048-85BDC9FD1C3A}</a:tableStyleId>
              </a:tblPr>
              <a:tblGrid>
                <a:gridCol w="1833193"/>
                <a:gridCol w="2609539"/>
                <a:gridCol w="947057"/>
                <a:gridCol w="1197429"/>
                <a:gridCol w="794657"/>
                <a:gridCol w="1491343"/>
                <a:gridCol w="2567669"/>
              </a:tblGrid>
              <a:tr h="370840">
                <a:tc>
                  <a:txBody>
                    <a:bodyPr/>
                    <a:p>
                      <a:pPr algn="l" latinLnBrk="1">
                        <a:buNone/>
                      </a:pPr>
                      <a:r>
                        <a:rPr lang="en-US" sz="1800" dirty="0">
                          <a:solidFill>
                            <a:srgbClr val="E6E6E6"/>
                          </a:solidFill>
                          <a:effectLst/>
                        </a:rPr>
                        <a:t>Arch</a:t>
                      </a:r>
                      <a:endParaRPr lang="en-US" sz="1800" dirty="0">
                        <a:solidFill>
                          <a:srgbClr val="E6E6E6"/>
                        </a:solidFill>
                        <a:effectLst/>
                      </a:endParaRPr>
                    </a:p>
                  </a:txBody>
                  <a:tcPr marL="95250" marR="95250" marT="47625" marB="47625" anchor="ctr"/>
                </a:tc>
                <a:tc>
                  <a:txBody>
                    <a:bodyPr/>
                    <a:p>
                      <a:pPr algn="l" latinLnBrk="1">
                        <a:buNone/>
                      </a:pPr>
                      <a:r>
                        <a:rPr lang="en-US" sz="1800" dirty="0" err="1">
                          <a:solidFill>
                            <a:srgbClr val="E6E6E6"/>
                          </a:solidFill>
                          <a:effectLst/>
                        </a:rPr>
                        <a:t>Dtype</a:t>
                      </a:r>
                      <a:endParaRPr lang="en-US" sz="1800" dirty="0">
                        <a:solidFill>
                          <a:srgbClr val="E6E6E6"/>
                        </a:solidFill>
                        <a:effectLst/>
                      </a:endParaRPr>
                    </a:p>
                  </a:txBody>
                  <a:tcPr marL="95250" marR="95250" marT="47625" marB="47625" anchor="ctr"/>
                </a:tc>
                <a:tc>
                  <a:txBody>
                    <a:bodyPr/>
                    <a:p>
                      <a:pPr algn="l" latinLnBrk="1">
                        <a:buNone/>
                      </a:pPr>
                      <a:r>
                        <a:rPr lang="en-US" sz="1800">
                          <a:solidFill>
                            <a:srgbClr val="E6E6E6"/>
                          </a:solidFill>
                          <a:effectLst/>
                        </a:rPr>
                        <a:t>TC per SM</a:t>
                      </a:r>
                      <a:endParaRPr lang="en-US" sz="1800">
                        <a:solidFill>
                          <a:srgbClr val="E6E6E6"/>
                        </a:solidFill>
                        <a:effectLst/>
                      </a:endParaRPr>
                    </a:p>
                  </a:txBody>
                  <a:tcPr marL="95250" marR="95250" marT="47625" marB="47625" anchor="ctr"/>
                </a:tc>
                <a:tc>
                  <a:txBody>
                    <a:bodyPr/>
                    <a:p>
                      <a:pPr algn="l" latinLnBrk="1">
                        <a:buNone/>
                      </a:pPr>
                      <a:r>
                        <a:rPr lang="en-US" sz="1800" dirty="0">
                          <a:solidFill>
                            <a:srgbClr val="E6E6E6"/>
                          </a:solidFill>
                          <a:effectLst/>
                        </a:rPr>
                        <a:t>TC </a:t>
                      </a:r>
                      <a:r>
                        <a:rPr lang="en-US" sz="1800" dirty="0" err="1">
                          <a:solidFill>
                            <a:srgbClr val="E6E6E6"/>
                          </a:solidFill>
                          <a:effectLst/>
                        </a:rPr>
                        <a:t>m,n,k</a:t>
                      </a:r>
                      <a:endParaRPr 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Sparsity</a:t>
                      </a:r>
                      <a:endParaRPr lang="zh-CN" alt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Mem.</a:t>
                      </a:r>
                      <a:endParaRPr lang="en-US" altLang="zh-CN" sz="1800" dirty="0">
                        <a:solidFill>
                          <a:srgbClr val="E6E6E6"/>
                        </a:solidFill>
                        <a:effectLst/>
                      </a:endParaRPr>
                    </a:p>
                    <a:p>
                      <a:pPr algn="l" latinLnBrk="1">
                        <a:buNone/>
                      </a:pPr>
                      <a:r>
                        <a:rPr lang="en-US" altLang="zh-CN" sz="1800" dirty="0">
                          <a:solidFill>
                            <a:srgbClr val="E6E6E6"/>
                          </a:solidFill>
                          <a:effectLst/>
                        </a:rPr>
                        <a:t>Access</a:t>
                      </a:r>
                      <a:endParaRPr lang="zh-CN" alt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Instructions</a:t>
                      </a:r>
                      <a:endParaRPr lang="zh-CN" altLang="en-US" sz="1800" dirty="0">
                        <a:solidFill>
                          <a:srgbClr val="E6E6E6"/>
                        </a:solidFill>
                        <a:effectLst/>
                      </a:endParaRPr>
                    </a:p>
                  </a:txBody>
                  <a:tcPr marL="95250" marR="95250" marT="47625" marB="47625" anchor="ctr"/>
                </a:tc>
              </a:tr>
              <a:tr h="370840">
                <a:tc>
                  <a:txBody>
                    <a:bodyPr/>
                    <a:p>
                      <a:pPr latinLnBrk="1">
                        <a:buNone/>
                      </a:pPr>
                      <a:r>
                        <a:rPr lang="en-US" sz="1800">
                          <a:effectLst/>
                        </a:rPr>
                        <a:t>Volta(SM70)</a:t>
                      </a:r>
                      <a:endParaRPr lang="en-US" sz="1800">
                        <a:effectLst/>
                      </a:endParaRPr>
                    </a:p>
                  </a:txBody>
                  <a:tcPr marL="95250" marR="95250" marT="47625" marB="47625" anchor="ctr"/>
                </a:tc>
                <a:tc>
                  <a:txBody>
                    <a:bodyPr/>
                    <a:p>
                      <a:pPr latinLnBrk="1">
                        <a:buNone/>
                      </a:pPr>
                      <a:r>
                        <a:rPr lang="en-US" sz="1800">
                          <a:effectLst/>
                        </a:rPr>
                        <a:t>FP16</a:t>
                      </a:r>
                      <a:endParaRPr lang="en-US" sz="1800">
                        <a:effectLst/>
                      </a:endParaRPr>
                    </a:p>
                  </a:txBody>
                  <a:tcPr marL="95250" marR="95250" marT="47625" marB="47625" anchor="ctr"/>
                </a:tc>
                <a:tc>
                  <a:txBody>
                    <a:bodyPr/>
                    <a:p>
                      <a:pPr latinLnBrk="1">
                        <a:buNone/>
                      </a:pPr>
                      <a:r>
                        <a:rPr lang="en-US" sz="1800">
                          <a:effectLst/>
                        </a:rPr>
                        <a:t>8</a:t>
                      </a:r>
                      <a:endParaRPr lang="en-US" sz="1800">
                        <a:effectLst/>
                      </a:endParaRPr>
                    </a:p>
                  </a:txBody>
                  <a:tcPr marL="95250" marR="95250" marT="47625" marB="47625" anchor="ctr"/>
                </a:tc>
                <a:tc>
                  <a:txBody>
                    <a:bodyPr/>
                    <a:p>
                      <a:pPr latinLnBrk="1">
                        <a:buNone/>
                      </a:pPr>
                      <a:r>
                        <a:rPr lang="en-US" sz="1800">
                          <a:effectLst/>
                        </a:rPr>
                        <a:t>4 x 4 x 4</a:t>
                      </a:r>
                      <a:endParaRPr lang="en-US" sz="1800">
                        <a:effectLst/>
                      </a:endParaRPr>
                    </a:p>
                  </a:txBody>
                  <a:tcPr marL="95250" marR="95250" marT="47625" marB="47625" anchor="ctr"/>
                </a:tc>
                <a:tc>
                  <a:txBody>
                    <a:bodyPr/>
                    <a:p>
                      <a:pPr latinLnBrk="1">
                        <a:buNone/>
                      </a:pPr>
                      <a:r>
                        <a:rPr lang="en-US" sz="1800">
                          <a:effectLst/>
                        </a:rPr>
                        <a:t>No</a:t>
                      </a:r>
                      <a:endParaRPr lang="en-US" sz="1800">
                        <a:effectLst/>
                      </a:endParaRPr>
                    </a:p>
                  </a:txBody>
                  <a:tcPr marL="95250" marR="95250" marT="47625" marB="47625" anchor="ctr"/>
                </a:tc>
                <a:tc>
                  <a:txBody>
                    <a:bodyPr/>
                    <a:p>
                      <a:pPr latinLnBrk="1">
                        <a:buNone/>
                      </a:pPr>
                      <a:r>
                        <a:rPr lang="en-US" sz="1800">
                          <a:effectLst/>
                        </a:rPr>
                        <a:t>N/A</a:t>
                      </a:r>
                      <a:endParaRPr lang="en-US" sz="1800">
                        <a:effectLst/>
                      </a:endParaRPr>
                    </a:p>
                  </a:txBody>
                  <a:tcPr marL="95250" marR="95250" marT="47625" marB="47625" anchor="ctr"/>
                </a:tc>
                <a:tc>
                  <a:txBody>
                    <a:bodyPr/>
                    <a:p>
                      <a:pPr latinLnBrk="1">
                        <a:buNone/>
                      </a:pPr>
                      <a:r>
                        <a:rPr lang="en-US" sz="1800">
                          <a:effectLst/>
                        </a:rPr>
                        <a:t>mma</a:t>
                      </a:r>
                      <a:endParaRPr lang="en-US" sz="1800">
                        <a:effectLst/>
                      </a:endParaRPr>
                    </a:p>
                  </a:txBody>
                  <a:tcPr marL="95250" marR="95250" marT="47625" marB="47625" anchor="ctr"/>
                </a:tc>
              </a:tr>
              <a:tr h="370840">
                <a:tc>
                  <a:txBody>
                    <a:bodyPr/>
                    <a:p>
                      <a:pPr latinLnBrk="1">
                        <a:buNone/>
                      </a:pPr>
                      <a:r>
                        <a:rPr lang="en-US" sz="1800">
                          <a:effectLst/>
                        </a:rPr>
                        <a:t>Turing(SM75)</a:t>
                      </a:r>
                      <a:endParaRPr lang="en-US" sz="1800">
                        <a:effectLst/>
                      </a:endParaRPr>
                    </a:p>
                  </a:txBody>
                  <a:tcPr marL="95250" marR="95250" marT="47625" marB="47625" anchor="ctr"/>
                </a:tc>
                <a:tc>
                  <a:txBody>
                    <a:bodyPr/>
                    <a:p>
                      <a:pPr latinLnBrk="1">
                        <a:buNone/>
                      </a:pPr>
                      <a:r>
                        <a:rPr lang="en-US" sz="1800">
                          <a:effectLst/>
                        </a:rPr>
                        <a:t>FP16,INT8,INT4,Binary</a:t>
                      </a:r>
                      <a:endParaRPr lang="en-US" sz="1800">
                        <a:effectLst/>
                      </a:endParaRPr>
                    </a:p>
                  </a:txBody>
                  <a:tcPr marL="95250" marR="95250" marT="47625" marB="47625" anchor="ctr"/>
                </a:tc>
                <a:tc>
                  <a:txBody>
                    <a:bodyPr/>
                    <a:p>
                      <a:pPr latinLnBrk="1">
                        <a:buNone/>
                      </a:pPr>
                      <a:r>
                        <a:rPr lang="en-US" sz="1800" dirty="0">
                          <a:effectLst/>
                        </a:rPr>
                        <a:t>8</a:t>
                      </a:r>
                      <a:endParaRPr lang="en-US" sz="1800" dirty="0">
                        <a:effectLst/>
                      </a:endParaRPr>
                    </a:p>
                  </a:txBody>
                  <a:tcPr marL="95250" marR="95250" marT="47625" marB="47625" anchor="ctr"/>
                </a:tc>
                <a:tc>
                  <a:txBody>
                    <a:bodyPr/>
                    <a:p>
                      <a:pPr latinLnBrk="1">
                        <a:buNone/>
                      </a:pPr>
                      <a:r>
                        <a:rPr lang="en-US" sz="1800" dirty="0">
                          <a:effectLst/>
                        </a:rPr>
                        <a:t>4 x 4 x 4</a:t>
                      </a:r>
                      <a:endParaRPr lang="en-US" sz="1800" dirty="0">
                        <a:effectLst/>
                      </a:endParaRPr>
                    </a:p>
                  </a:txBody>
                  <a:tcPr marL="95250" marR="95250" marT="47625" marB="47625" anchor="ctr"/>
                </a:tc>
                <a:tc>
                  <a:txBody>
                    <a:bodyPr/>
                    <a:p>
                      <a:pPr latinLnBrk="1">
                        <a:buNone/>
                      </a:pPr>
                      <a:r>
                        <a:rPr lang="en-US" sz="1800">
                          <a:effectLst/>
                        </a:rPr>
                        <a:t>No</a:t>
                      </a:r>
                      <a:endParaRPr lang="en-US" sz="1800">
                        <a:effectLst/>
                      </a:endParaRPr>
                    </a:p>
                  </a:txBody>
                  <a:tcPr marL="95250" marR="95250" marT="47625" marB="47625" anchor="ctr"/>
                </a:tc>
                <a:tc>
                  <a:txBody>
                    <a:bodyPr/>
                    <a:p>
                      <a:pPr latinLnBrk="1">
                        <a:buNone/>
                      </a:pPr>
                      <a:r>
                        <a:rPr lang="en-US" sz="1800">
                          <a:effectLst/>
                        </a:rPr>
                        <a:t>ldmatrix</a:t>
                      </a:r>
                      <a:endParaRPr lang="en-US" sz="1800">
                        <a:effectLst/>
                      </a:endParaRPr>
                    </a:p>
                  </a:txBody>
                  <a:tcPr marL="95250" marR="95250" marT="47625" marB="47625" anchor="ctr"/>
                </a:tc>
                <a:tc>
                  <a:txBody>
                    <a:bodyPr/>
                    <a:p>
                      <a:pPr latinLnBrk="1">
                        <a:buNone/>
                      </a:pPr>
                      <a:r>
                        <a:rPr lang="en-US" sz="1800">
                          <a:effectLst/>
                        </a:rPr>
                        <a:t>mma,ldmatrix</a:t>
                      </a:r>
                      <a:endParaRPr lang="en-US" sz="1800">
                        <a:effectLst/>
                      </a:endParaRPr>
                    </a:p>
                  </a:txBody>
                  <a:tcPr marL="95250" marR="95250" marT="47625" marB="47625" anchor="ctr"/>
                </a:tc>
              </a:tr>
              <a:tr h="370840">
                <a:tc>
                  <a:txBody>
                    <a:bodyPr/>
                    <a:p>
                      <a:pPr latinLnBrk="1">
                        <a:buNone/>
                      </a:pPr>
                      <a:r>
                        <a:rPr lang="en-US" sz="1800">
                          <a:effectLst/>
                        </a:rPr>
                        <a:t>Ampere(SM80)</a:t>
                      </a:r>
                      <a:endParaRPr lang="en-US" sz="1800">
                        <a:effectLst/>
                      </a:endParaRPr>
                    </a:p>
                  </a:txBody>
                  <a:tcPr marL="95250" marR="95250" marT="47625" marB="47625" anchor="ctr"/>
                </a:tc>
                <a:tc>
                  <a:txBody>
                    <a:bodyPr/>
                    <a:p>
                      <a:pPr latinLnBrk="1">
                        <a:buNone/>
                      </a:pPr>
                      <a:r>
                        <a:rPr lang="en-US" sz="1800">
                          <a:effectLst/>
                        </a:rPr>
                        <a:t>FP16,BF16,TF32,FP64,INT8,INT4,Binary</a:t>
                      </a:r>
                      <a:endParaRPr lang="en-US" sz="1800">
                        <a:effectLst/>
                      </a:endParaRPr>
                    </a:p>
                  </a:txBody>
                  <a:tcPr marL="95250" marR="95250" marT="47625" marB="47625" anchor="ctr"/>
                </a:tc>
                <a:tc>
                  <a:txBody>
                    <a:bodyPr/>
                    <a:p>
                      <a:pPr latinLnBrk="1">
                        <a:buNone/>
                      </a:pPr>
                      <a:r>
                        <a:rPr lang="en-US" sz="1800">
                          <a:effectLst/>
                        </a:rPr>
                        <a:t>4</a:t>
                      </a:r>
                      <a:endParaRPr lang="en-US" sz="1800">
                        <a:effectLst/>
                      </a:endParaRPr>
                    </a:p>
                  </a:txBody>
                  <a:tcPr marL="95250" marR="95250" marT="47625" marB="47625" anchor="ctr"/>
                </a:tc>
                <a:tc>
                  <a:txBody>
                    <a:bodyPr/>
                    <a:p>
                      <a:pPr latinLnBrk="1">
                        <a:buNone/>
                      </a:pPr>
                      <a:r>
                        <a:rPr lang="en-US" sz="1800">
                          <a:effectLst/>
                        </a:rPr>
                        <a:t>8 x 4 x 8</a:t>
                      </a:r>
                      <a:endParaRPr lang="en-US" sz="1800">
                        <a:effectLst/>
                      </a:endParaRPr>
                    </a:p>
                  </a:txBody>
                  <a:tcPr marL="95250" marR="95250" marT="47625" marB="47625" anchor="ctr"/>
                </a:tc>
                <a:tc>
                  <a:txBody>
                    <a:bodyPr/>
                    <a:p>
                      <a:pPr latinLnBrk="1">
                        <a:buNone/>
                      </a:pPr>
                      <a:r>
                        <a:rPr lang="en-US" sz="1800">
                          <a:effectLst/>
                        </a:rPr>
                        <a:t>Yes</a:t>
                      </a:r>
                      <a:endParaRPr lang="en-US" sz="1800">
                        <a:effectLst/>
                      </a:endParaRPr>
                    </a:p>
                  </a:txBody>
                  <a:tcPr marL="95250" marR="95250" marT="47625" marB="47625" anchor="ctr"/>
                </a:tc>
                <a:tc>
                  <a:txBody>
                    <a:bodyPr/>
                    <a:p>
                      <a:pPr latinLnBrk="1">
                        <a:buNone/>
                      </a:pPr>
                      <a:r>
                        <a:rPr lang="en-US" sz="1800">
                          <a:effectLst/>
                        </a:rPr>
                        <a:t>async Copy</a:t>
                      </a:r>
                      <a:endParaRPr lang="en-US" sz="1800">
                        <a:effectLst/>
                      </a:endParaRPr>
                    </a:p>
                  </a:txBody>
                  <a:tcPr marL="95250" marR="95250" marT="47625" marB="47625" anchor="ctr"/>
                </a:tc>
                <a:tc>
                  <a:txBody>
                    <a:bodyPr/>
                    <a:p>
                      <a:pPr latinLnBrk="1">
                        <a:buNone/>
                      </a:pPr>
                      <a:r>
                        <a:rPr lang="en-US" sz="1800">
                          <a:effectLst/>
                        </a:rPr>
                        <a:t>mma,ldmatrix, mma.sp</a:t>
                      </a:r>
                      <a:endParaRPr lang="en-US" sz="1800">
                        <a:effectLst/>
                      </a:endParaRPr>
                    </a:p>
                  </a:txBody>
                  <a:tcPr marL="95250" marR="95250" marT="47625" marB="47625" anchor="ctr"/>
                </a:tc>
              </a:tr>
              <a:tr h="370840">
                <a:tc>
                  <a:txBody>
                    <a:bodyPr/>
                    <a:p>
                      <a:pPr latinLnBrk="1">
                        <a:buNone/>
                      </a:pPr>
                      <a:r>
                        <a:rPr lang="en-US" sz="1800">
                          <a:effectLst/>
                        </a:rPr>
                        <a:t>Hopper(SM90)</a:t>
                      </a:r>
                      <a:endParaRPr lang="en-US" sz="1800">
                        <a:effectLst/>
                      </a:endParaRPr>
                    </a:p>
                  </a:txBody>
                  <a:tcPr marL="95250" marR="95250" marT="47625" marB="47625" anchor="ctr"/>
                </a:tc>
                <a:tc>
                  <a:txBody>
                    <a:bodyPr/>
                    <a:p>
                      <a:pPr latinLnBrk="1">
                        <a:buNone/>
                      </a:pPr>
                      <a:r>
                        <a:rPr lang="en-US" sz="1800" dirty="0">
                          <a:effectLst/>
                        </a:rPr>
                        <a:t>FP16,BF16,TF32,FP64,INT8,Binary</a:t>
                      </a:r>
                      <a:endParaRPr lang="en-US" sz="1800" dirty="0">
                        <a:effectLst/>
                      </a:endParaRPr>
                    </a:p>
                  </a:txBody>
                  <a:tcPr marL="95250" marR="95250" marT="47625" marB="47625" anchor="ctr"/>
                </a:tc>
                <a:tc>
                  <a:txBody>
                    <a:bodyPr/>
                    <a:p>
                      <a:pPr latinLnBrk="1">
                        <a:buNone/>
                      </a:pPr>
                      <a:r>
                        <a:rPr lang="en-US" sz="1800">
                          <a:effectLst/>
                        </a:rPr>
                        <a:t>4</a:t>
                      </a:r>
                      <a:endParaRPr lang="en-US" sz="1800">
                        <a:effectLst/>
                      </a:endParaRPr>
                    </a:p>
                  </a:txBody>
                  <a:tcPr marL="95250" marR="95250" marT="47625" marB="47625" anchor="ctr"/>
                </a:tc>
                <a:tc>
                  <a:txBody>
                    <a:bodyPr/>
                    <a:p>
                      <a:pPr latinLnBrk="1">
                        <a:buNone/>
                      </a:pPr>
                      <a:r>
                        <a:rPr lang="en-US" sz="1800">
                          <a:effectLst/>
                        </a:rPr>
                        <a:t>8 x 4 x 16</a:t>
                      </a:r>
                      <a:endParaRPr lang="en-US" sz="1800">
                        <a:effectLst/>
                      </a:endParaRPr>
                    </a:p>
                  </a:txBody>
                  <a:tcPr marL="95250" marR="95250" marT="47625" marB="47625" anchor="ctr"/>
                </a:tc>
                <a:tc>
                  <a:txBody>
                    <a:bodyPr/>
                    <a:p>
                      <a:pPr latinLnBrk="1">
                        <a:buNone/>
                      </a:pPr>
                      <a:r>
                        <a:rPr lang="en-US" sz="1800">
                          <a:effectLst/>
                        </a:rPr>
                        <a:t>Yes</a:t>
                      </a:r>
                      <a:endParaRPr lang="en-US" sz="1800">
                        <a:effectLst/>
                      </a:endParaRPr>
                    </a:p>
                  </a:txBody>
                  <a:tcPr marL="95250" marR="95250" marT="47625" marB="47625" anchor="ctr"/>
                </a:tc>
                <a:tc>
                  <a:txBody>
                    <a:bodyPr/>
                    <a:p>
                      <a:pPr latinLnBrk="1">
                        <a:buNone/>
                      </a:pPr>
                      <a:r>
                        <a:rPr lang="en-US" sz="1800">
                          <a:effectLst/>
                        </a:rPr>
                        <a:t>TMA</a:t>
                      </a:r>
                      <a:endParaRPr lang="en-US" sz="1800">
                        <a:effectLst/>
                      </a:endParaRPr>
                    </a:p>
                  </a:txBody>
                  <a:tcPr marL="95250" marR="95250" marT="47625" marB="47625" anchor="ctr"/>
                </a:tc>
                <a:tc>
                  <a:txBody>
                    <a:bodyPr/>
                    <a:p>
                      <a:pPr latinLnBrk="1">
                        <a:buNone/>
                      </a:pPr>
                      <a:r>
                        <a:rPr lang="en-US" sz="1800" dirty="0" err="1">
                          <a:effectLst/>
                        </a:rPr>
                        <a:t>mma,ldmatrix</a:t>
                      </a:r>
                      <a:r>
                        <a:rPr lang="en-US" sz="1800" dirty="0">
                          <a:effectLst/>
                        </a:rPr>
                        <a:t>, </a:t>
                      </a:r>
                      <a:r>
                        <a:rPr lang="en-US" sz="1800" dirty="0" err="1">
                          <a:effectLst/>
                        </a:rPr>
                        <a:t>mma.sp</a:t>
                      </a:r>
                      <a:r>
                        <a:rPr lang="en-US" sz="1800" dirty="0">
                          <a:effectLst/>
                        </a:rPr>
                        <a:t>, </a:t>
                      </a:r>
                      <a:r>
                        <a:rPr lang="en-US" sz="1800" dirty="0" err="1">
                          <a:effectLst/>
                        </a:rPr>
                        <a:t>wgmma</a:t>
                      </a:r>
                      <a:endParaRPr lang="en-US" sz="1800" dirty="0">
                        <a:effectLst/>
                      </a:endParaRPr>
                    </a:p>
                  </a:txBody>
                  <a:tcPr marL="95250" marR="95250" marT="47625" marB="476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Tensor Core Evolution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146" name="Picture 2" descr="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8372" y="1091325"/>
            <a:ext cx="9226686" cy="57666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MMA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xfrm>
            <a:off x="523875" y="1323975"/>
            <a:ext cx="58553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Given a matrix, the multiply and accumulate (MMA) instruction computes D = A * B + C:</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A is an M by K matrix</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B is a K by N matrix</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 and D are M by N matrices</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We denote the matrix shapes as</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mMnNkK</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or MxNxK.</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SMEM &lt;-&gt; RF &lt;-&gt; Tensor Core</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0606" y="1132872"/>
            <a:ext cx="5699588" cy="53666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03: Deep Learning Framework Call Chain Analysis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 System Lifecycle &amp; Three Scaling Laws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217920" y="3310255"/>
            <a:ext cx="5760000" cy="32400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51485" y="1839595"/>
            <a:ext cx="8027035" cy="2240280"/>
          </a:xfrm>
          <a:prstGeom prst="rect">
            <a:avLst/>
          </a:prstGeom>
          <a:ln w="12700">
            <a:noFill/>
            <a:prstDash val="solid"/>
          </a:ln>
        </p:spPr>
      </p:pic>
      <p:sp>
        <p:nvSpPr>
          <p:cNvPr id="8" name="AutoShape 8"/>
          <p:cNvSpPr/>
          <p:nvPr/>
        </p:nvSpPr>
        <p:spPr>
          <a:xfrm>
            <a:off x="6140450" y="2178685"/>
            <a:ext cx="126000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1" i="0" u="none" strike="noStrike">
                <a:solidFill>
                  <a:srgbClr val="548235"/>
                </a:solidFill>
                <a:latin typeface="Arial" panose="020B0604020202020204"/>
                <a:ea typeface="Arial" panose="020B0604020202020204"/>
                <a:cs typeface="Arial" panose="020B0604020202020204"/>
                <a:sym typeface="Arial" panose="020B0604020202020204"/>
              </a:rPr>
              <a:t>serve</a:t>
            </a:r>
            <a:endParaRPr lang="en-US" sz="1100"/>
          </a:p>
        </p:txBody>
      </p:sp>
      <p:sp>
        <p:nvSpPr>
          <p:cNvPr id="9" name="AutoShape 9"/>
          <p:cNvSpPr/>
          <p:nvPr/>
        </p:nvSpPr>
        <p:spPr>
          <a:xfrm>
            <a:off x="2316480" y="2915920"/>
            <a:ext cx="162000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1" i="0" u="none" strike="noStrike">
                <a:solidFill>
                  <a:srgbClr val="548235"/>
                </a:solidFill>
                <a:latin typeface="Arial" panose="020B0604020202020204"/>
                <a:ea typeface="Arial" panose="020B0604020202020204"/>
                <a:cs typeface="Arial" panose="020B0604020202020204"/>
                <a:sym typeface="Arial" panose="020B0604020202020204"/>
              </a:rPr>
              <a:t>develop</a:t>
            </a:r>
            <a:endParaRPr lang="en-US" sz="1100"/>
          </a:p>
        </p:txBody>
      </p:sp>
      <p:sp>
        <p:nvSpPr>
          <p:cNvPr id="10" name="AutoShape 10"/>
          <p:cNvSpPr/>
          <p:nvPr/>
        </p:nvSpPr>
        <p:spPr>
          <a:xfrm>
            <a:off x="2313305" y="1256030"/>
            <a:ext cx="162000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1" i="0" u="none" strike="noStrike">
                <a:solidFill>
                  <a:srgbClr val="548235"/>
                </a:solidFill>
                <a:latin typeface="Arial" panose="020B0604020202020204"/>
                <a:ea typeface="Arial" panose="020B0604020202020204"/>
                <a:cs typeface="Arial" panose="020B0604020202020204"/>
                <a:sym typeface="Arial" panose="020B0604020202020204"/>
              </a:rPr>
              <a:t>pre-train</a:t>
            </a:r>
            <a:endParaRPr lang="en-US" sz="1100"/>
          </a:p>
          <a:p>
            <a:pPr indent="0" algn="ctr">
              <a:lnSpc>
                <a:spcPct val="100000"/>
              </a:lnSpc>
            </a:pPr>
            <a:r>
              <a:rPr lang="en-US" sz="1600" b="1" i="0" u="none" strike="noStrike">
                <a:solidFill>
                  <a:srgbClr val="548235"/>
                </a:solidFill>
                <a:latin typeface="Arial" panose="020B0604020202020204"/>
                <a:ea typeface="Arial" panose="020B0604020202020204"/>
                <a:cs typeface="Arial" panose="020B0604020202020204"/>
                <a:sym typeface="Arial" panose="020B0604020202020204"/>
              </a:rPr>
              <a:t>post-train</a:t>
            </a:r>
            <a:endParaRPr lang="en-US" sz="1600" b="1" i="0" u="none" strike="noStrike">
              <a:solidFill>
                <a:srgbClr val="548235"/>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Book Antiqua" panose="02040602050305030304"/>
              </a:defRPr>
            </a:lvl1pPr>
          </a:lstStyle>
          <a:p>
            <a:pPr indent="0" algn="l">
              <a:lnSpc>
                <a:spcPct val="100000"/>
              </a:lnSpc>
            </a:pPr>
            <a:r>
              <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Overview of LLM Software Framework</a:t>
            </a:r>
            <a:endPar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Basics</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Serve</a:t>
                </a:r>
                <a:endParaRPr lang="en-US" sz="1100"/>
              </a:p>
            </p:txBody>
          </p:sp>
        </p:grpSp>
      </p:grpSp>
      <p:grpSp>
        <p:nvGrpSpPr>
          <p:cNvPr id="13" name="Group 13"/>
          <p:cNvGrpSpPr/>
          <p:nvPr/>
        </p:nvGrpSpPr>
        <p:grpSpPr>
          <a:xfrm>
            <a:off x="6200149" y="1132554"/>
            <a:ext cx="5850892" cy="5526082"/>
            <a:chOff x="6200149" y="1132554"/>
            <a:chExt cx="5850892" cy="5526082"/>
          </a:xfrm>
        </p:grpSpPr>
        <p:grpSp>
          <p:nvGrpSpPr>
            <p:cNvPr id="14" name="Group 14"/>
            <p:cNvGrpSpPr/>
            <p:nvPr/>
          </p:nvGrpSpPr>
          <p:grpSpPr>
            <a:xfrm>
              <a:off x="6200149" y="1132554"/>
              <a:ext cx="5850892" cy="2701097"/>
              <a:chOff x="6200149" y="1132554"/>
              <a:chExt cx="5850892" cy="2701097"/>
            </a:xfrm>
          </p:grpSpPr>
          <p:sp>
            <p:nvSpPr>
              <p:cNvPr id="15" name="AutoShape 15"/>
              <p:cNvSpPr/>
              <p:nvPr/>
            </p:nvSpPr>
            <p:spPr>
              <a:xfrm>
                <a:off x="6200149" y="1308884"/>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8532441" y="1132554"/>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Pre-train</a:t>
                </a:r>
                <a:endParaRPr lang="en-US" sz="1100"/>
              </a:p>
            </p:txBody>
          </p:sp>
        </p:grpSp>
        <p:grpSp>
          <p:nvGrpSpPr>
            <p:cNvPr id="17" name="Group 17"/>
            <p:cNvGrpSpPr/>
            <p:nvPr/>
          </p:nvGrpSpPr>
          <p:grpSpPr>
            <a:xfrm>
              <a:off x="6200149" y="3957539"/>
              <a:ext cx="5850892" cy="2701097"/>
              <a:chOff x="6200149" y="3957539"/>
              <a:chExt cx="5850892" cy="2701097"/>
            </a:xfrm>
          </p:grpSpPr>
          <p:sp>
            <p:nvSpPr>
              <p:cNvPr id="18" name="AutoShape 18"/>
              <p:cNvSpPr/>
              <p:nvPr/>
            </p:nvSpPr>
            <p:spPr>
              <a:xfrm>
                <a:off x="6200149" y="4133869"/>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8532441" y="3957539"/>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sp>
        <p:nvSpPr>
          <p:cNvPr id="20" name="AutoShape 20"/>
          <p:cNvSpPr/>
          <p:nvPr/>
        </p:nvSpPr>
        <p:spPr>
          <a:xfrm>
            <a:off x="6075354" y="3949202"/>
            <a:ext cx="6100482"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Post-train</a:t>
            </a:r>
            <a:endParaRPr lang="en-US" sz="1100"/>
          </a:p>
        </p:txBody>
      </p:sp>
      <p:pic>
        <p:nvPicPr>
          <p:cNvPr id="21" name="Picture 21"/>
          <p:cNvPicPr>
            <a:picLocks noChangeAspect="1"/>
          </p:cNvPicPr>
          <p:nvPr/>
        </p:nvPicPr>
        <p:blipFill>
          <a:blip r:embed="rId1"/>
          <a:srcRect/>
          <a:stretch>
            <a:fillRect/>
          </a:stretch>
        </p:blipFill>
        <p:spPr>
          <a:xfrm>
            <a:off x="312358" y="1579715"/>
            <a:ext cx="2265589" cy="1587356"/>
          </a:xfrm>
          <a:prstGeom prst="rect">
            <a:avLst/>
          </a:prstGeom>
          <a:ln w="12700">
            <a:noFill/>
            <a:prstDash val="solid"/>
          </a:ln>
        </p:spPr>
      </p:pic>
      <p:sp>
        <p:nvSpPr>
          <p:cNvPr id="22" name="AutoShape 22"/>
          <p:cNvSpPr/>
          <p:nvPr/>
        </p:nvSpPr>
        <p:spPr>
          <a:xfrm>
            <a:off x="366744" y="3198926"/>
            <a:ext cx="532897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PyTorch &amp; Tensorflow</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DSL&amp;API, Graph, AutoDiff, Compiler, CodeGen</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3" name="Picture 23"/>
          <p:cNvPicPr>
            <a:picLocks noChangeAspect="1"/>
          </p:cNvPicPr>
          <p:nvPr/>
        </p:nvPicPr>
        <p:blipFill>
          <a:blip r:embed="rId2"/>
          <a:srcRect/>
          <a:stretch>
            <a:fillRect/>
          </a:stretch>
        </p:blipFill>
        <p:spPr>
          <a:xfrm>
            <a:off x="2857932" y="1725914"/>
            <a:ext cx="3090002" cy="1473012"/>
          </a:xfrm>
          <a:prstGeom prst="rect">
            <a:avLst/>
          </a:prstGeom>
          <a:ln w="12700">
            <a:noFill/>
            <a:prstDash val="solid"/>
          </a:ln>
        </p:spPr>
      </p:pic>
      <p:sp>
        <p:nvSpPr>
          <p:cNvPr id="24" name="AutoShape 24"/>
          <p:cNvSpPr/>
          <p:nvPr/>
        </p:nvSpPr>
        <p:spPr>
          <a:xfrm>
            <a:off x="6227919" y="3167071"/>
            <a:ext cx="5823122"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Megatron-LM &amp; Accelerate</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Parallelism Settings, FP/BP Optimization, Redundancy</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5" name="Picture 25"/>
          <p:cNvPicPr>
            <a:picLocks noChangeAspect="1"/>
          </p:cNvPicPr>
          <p:nvPr/>
        </p:nvPicPr>
        <p:blipFill>
          <a:blip r:embed="rId3"/>
          <a:srcRect/>
          <a:stretch>
            <a:fillRect/>
          </a:stretch>
        </p:blipFill>
        <p:spPr>
          <a:xfrm>
            <a:off x="6291832" y="1816138"/>
            <a:ext cx="3163020" cy="1335041"/>
          </a:xfrm>
          <a:prstGeom prst="rect">
            <a:avLst/>
          </a:prstGeom>
          <a:ln w="12700">
            <a:noFill/>
            <a:prstDash val="solid"/>
          </a:ln>
        </p:spPr>
      </p:pic>
      <p:pic>
        <p:nvPicPr>
          <p:cNvPr id="26" name="Picture 26"/>
          <p:cNvPicPr>
            <a:picLocks noChangeAspect="1"/>
          </p:cNvPicPr>
          <p:nvPr/>
        </p:nvPicPr>
        <p:blipFill>
          <a:blip r:embed="rId4"/>
          <a:srcRect/>
          <a:stretch>
            <a:fillRect/>
          </a:stretch>
        </p:blipFill>
        <p:spPr>
          <a:xfrm>
            <a:off x="9410124" y="2375545"/>
            <a:ext cx="2620921" cy="791526"/>
          </a:xfrm>
          <a:prstGeom prst="rect">
            <a:avLst/>
          </a:prstGeom>
          <a:ln w="12700">
            <a:noFill/>
            <a:prstDash val="solid"/>
          </a:ln>
        </p:spPr>
      </p:pic>
      <p:pic>
        <p:nvPicPr>
          <p:cNvPr id="27" name="Picture 27"/>
          <p:cNvPicPr>
            <a:picLocks noChangeAspect="1"/>
          </p:cNvPicPr>
          <p:nvPr/>
        </p:nvPicPr>
        <p:blipFill>
          <a:blip r:embed="rId5"/>
          <a:srcRect/>
          <a:stretch>
            <a:fillRect/>
          </a:stretch>
        </p:blipFill>
        <p:spPr>
          <a:xfrm>
            <a:off x="9444257" y="1641775"/>
            <a:ext cx="2552653" cy="762222"/>
          </a:xfrm>
          <a:prstGeom prst="rect">
            <a:avLst/>
          </a:prstGeom>
          <a:ln w="12700">
            <a:noFill/>
            <a:prstDash val="solid"/>
          </a:ln>
        </p:spPr>
      </p:pic>
      <p:sp>
        <p:nvSpPr>
          <p:cNvPr id="28" name="AutoShape 28"/>
          <p:cNvSpPr/>
          <p:nvPr/>
        </p:nvSpPr>
        <p:spPr>
          <a:xfrm>
            <a:off x="140960" y="6012305"/>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vLLM &amp; SGLang</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Paged Attention, Prefix Caching, Speculative Decoding</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9" name="Picture 29"/>
          <p:cNvPicPr>
            <a:picLocks noChangeAspect="1"/>
          </p:cNvPicPr>
          <p:nvPr/>
        </p:nvPicPr>
        <p:blipFill>
          <a:blip r:embed="rId6"/>
          <a:srcRect/>
          <a:stretch>
            <a:fillRect/>
          </a:stretch>
        </p:blipFill>
        <p:spPr>
          <a:xfrm>
            <a:off x="412780" y="4682964"/>
            <a:ext cx="2391298" cy="1098091"/>
          </a:xfrm>
          <a:prstGeom prst="rect">
            <a:avLst/>
          </a:prstGeom>
          <a:ln w="12700">
            <a:noFill/>
            <a:prstDash val="solid"/>
          </a:ln>
        </p:spPr>
      </p:pic>
      <p:pic>
        <p:nvPicPr>
          <p:cNvPr id="30" name="Picture 30"/>
          <p:cNvPicPr>
            <a:picLocks noChangeAspect="1"/>
          </p:cNvPicPr>
          <p:nvPr/>
        </p:nvPicPr>
        <p:blipFill>
          <a:blip r:embed="rId7"/>
          <a:srcRect/>
          <a:stretch>
            <a:fillRect/>
          </a:stretch>
        </p:blipFill>
        <p:spPr>
          <a:xfrm>
            <a:off x="2992380" y="4675951"/>
            <a:ext cx="2675867" cy="1207123"/>
          </a:xfrm>
          <a:prstGeom prst="rect">
            <a:avLst/>
          </a:prstGeom>
          <a:ln w="12700">
            <a:noFill/>
            <a:prstDash val="solid"/>
          </a:ln>
        </p:spPr>
      </p:pic>
      <p:sp>
        <p:nvSpPr>
          <p:cNvPr id="31" name="AutoShape 31"/>
          <p:cNvSpPr/>
          <p:nvPr/>
        </p:nvSpPr>
        <p:spPr>
          <a:xfrm>
            <a:off x="6242551" y="6003968"/>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OpenRLHF &amp; veRL</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Controller &amp; Dataflow Opt, Efficiency &amp; Flexibility </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32" name="Picture 32"/>
          <p:cNvPicPr>
            <a:picLocks noChangeAspect="1"/>
          </p:cNvPicPr>
          <p:nvPr/>
        </p:nvPicPr>
        <p:blipFill>
          <a:blip r:embed="rId8"/>
          <a:srcRect/>
          <a:stretch>
            <a:fillRect/>
          </a:stretch>
        </p:blipFill>
        <p:spPr>
          <a:xfrm>
            <a:off x="6410987" y="4407995"/>
            <a:ext cx="2279825" cy="1650265"/>
          </a:xfrm>
          <a:prstGeom prst="rect">
            <a:avLst/>
          </a:prstGeom>
          <a:ln w="12700">
            <a:noFill/>
            <a:prstDash val="solid"/>
          </a:ln>
        </p:spPr>
      </p:pic>
      <p:pic>
        <p:nvPicPr>
          <p:cNvPr id="33" name="Picture 33"/>
          <p:cNvPicPr>
            <a:picLocks noChangeAspect="1"/>
          </p:cNvPicPr>
          <p:nvPr/>
        </p:nvPicPr>
        <p:blipFill>
          <a:blip r:embed="rId9"/>
          <a:srcRect/>
          <a:stretch>
            <a:fillRect/>
          </a:stretch>
        </p:blipFill>
        <p:spPr>
          <a:xfrm>
            <a:off x="8826722" y="4535679"/>
            <a:ext cx="3088408" cy="130663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Book Antiqua" panose="02040602050305030304"/>
              </a:defRPr>
            </a:lvl1pPr>
          </a:lstStyle>
          <a:p>
            <a:pPr indent="0" algn="l">
              <a:lnSpc>
                <a:spcPct val="100000"/>
              </a:lnSpc>
            </a:pPr>
            <a:r>
              <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Key Concepts of LLM Software Framework (1/2)</a:t>
            </a:r>
            <a:endPar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Basics</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Algo.</a:t>
                </a:r>
                <a:endParaRPr lang="en-US" sz="1100"/>
              </a:p>
            </p:txBody>
          </p:sp>
        </p:grpSp>
      </p:grpSp>
      <p:grpSp>
        <p:nvGrpSpPr>
          <p:cNvPr id="13" name="Group 13"/>
          <p:cNvGrpSpPr/>
          <p:nvPr/>
        </p:nvGrpSpPr>
        <p:grpSpPr>
          <a:xfrm>
            <a:off x="6200149" y="1132554"/>
            <a:ext cx="5850892" cy="5526082"/>
            <a:chOff x="6200149" y="1132554"/>
            <a:chExt cx="5850892" cy="5526082"/>
          </a:xfrm>
        </p:grpSpPr>
        <p:sp>
          <p:nvSpPr>
            <p:cNvPr id="14" name="AutoShape 14"/>
            <p:cNvSpPr/>
            <p:nvPr/>
          </p:nvSpPr>
          <p:spPr>
            <a:xfrm>
              <a:off x="6200149" y="1308884"/>
              <a:ext cx="5850892" cy="5349752"/>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8532441" y="1132554"/>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System</a:t>
              </a:r>
              <a:endParaRPr lang="en-US" sz="1100"/>
            </a:p>
          </p:txBody>
        </p:sp>
      </p:grpSp>
      <p:sp>
        <p:nvSpPr>
          <p:cNvPr id="16" name="AutoShape 16"/>
          <p:cNvSpPr/>
          <p:nvPr/>
        </p:nvSpPr>
        <p:spPr>
          <a:xfrm>
            <a:off x="160955" y="1509151"/>
            <a:ext cx="5850891"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Features: Automation, Abstraction, Backend Portability</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Programming Model: Eager Execution v.s. Static Graph</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7" name="AutoShape 17"/>
          <p:cNvSpPr/>
          <p:nvPr/>
        </p:nvSpPr>
        <p:spPr>
          <a:xfrm>
            <a:off x="6227919" y="1528168"/>
            <a:ext cx="5823122"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Computation, Memory, and Communication Wall</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8" name="AutoShape 18"/>
          <p:cNvSpPr/>
          <p:nvPr/>
        </p:nvSpPr>
        <p:spPr>
          <a:xfrm>
            <a:off x="100329" y="4355991"/>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Runtime: Dynamicity at the inference time.</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Post-training: DPO, PPO, GRPO, and etc. </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9" name="AutoShape 19"/>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0" name="Picture 20"/>
          <p:cNvPicPr>
            <a:picLocks noChangeAspect="1"/>
          </p:cNvPicPr>
          <p:nvPr/>
        </p:nvPicPr>
        <p:blipFill>
          <a:blip r:embed="rId1"/>
          <a:srcRect/>
          <a:stretch>
            <a:fillRect/>
          </a:stretch>
        </p:blipFill>
        <p:spPr>
          <a:xfrm>
            <a:off x="3007066" y="2226174"/>
            <a:ext cx="2927400" cy="1562400"/>
          </a:xfrm>
          <a:prstGeom prst="rect">
            <a:avLst/>
          </a:prstGeom>
          <a:ln w="12700">
            <a:noFill/>
            <a:prstDash val="solid"/>
          </a:ln>
        </p:spPr>
      </p:pic>
      <p:pic>
        <p:nvPicPr>
          <p:cNvPr id="21" name="Picture 21"/>
          <p:cNvPicPr>
            <a:picLocks noChangeAspect="1"/>
          </p:cNvPicPr>
          <p:nvPr/>
        </p:nvPicPr>
        <p:blipFill>
          <a:blip r:embed="rId2"/>
          <a:srcRect/>
          <a:stretch>
            <a:fillRect/>
          </a:stretch>
        </p:blipFill>
        <p:spPr>
          <a:xfrm>
            <a:off x="328742" y="2412834"/>
            <a:ext cx="2559374" cy="1094649"/>
          </a:xfrm>
          <a:prstGeom prst="rect">
            <a:avLst/>
          </a:prstGeom>
          <a:ln w="12700">
            <a:noFill/>
            <a:prstDash val="solid"/>
          </a:ln>
        </p:spPr>
      </p:pic>
      <p:pic>
        <p:nvPicPr>
          <p:cNvPr id="22" name="Picture 22"/>
          <p:cNvPicPr>
            <a:picLocks noChangeAspect="1"/>
          </p:cNvPicPr>
          <p:nvPr/>
        </p:nvPicPr>
        <p:blipFill>
          <a:blip r:embed="rId3"/>
          <a:srcRect/>
          <a:stretch>
            <a:fillRect/>
          </a:stretch>
        </p:blipFill>
        <p:spPr>
          <a:xfrm>
            <a:off x="3931449" y="5277122"/>
            <a:ext cx="2067831" cy="954669"/>
          </a:xfrm>
          <a:prstGeom prst="rect">
            <a:avLst/>
          </a:prstGeom>
          <a:ln w="12700">
            <a:noFill/>
            <a:prstDash val="solid"/>
          </a:ln>
        </p:spPr>
      </p:pic>
      <p:pic>
        <p:nvPicPr>
          <p:cNvPr id="23" name="Picture 23"/>
          <p:cNvPicPr>
            <a:picLocks noChangeAspect="1"/>
          </p:cNvPicPr>
          <p:nvPr/>
        </p:nvPicPr>
        <p:blipFill>
          <a:blip r:embed="rId4"/>
          <a:srcRect/>
          <a:stretch>
            <a:fillRect/>
          </a:stretch>
        </p:blipFill>
        <p:spPr>
          <a:xfrm>
            <a:off x="287830" y="5033781"/>
            <a:ext cx="1481368" cy="531893"/>
          </a:xfrm>
          <a:prstGeom prst="rect">
            <a:avLst/>
          </a:prstGeom>
          <a:ln w="12700">
            <a:noFill/>
            <a:prstDash val="solid"/>
          </a:ln>
        </p:spPr>
      </p:pic>
      <p:pic>
        <p:nvPicPr>
          <p:cNvPr id="24" name="Picture 24"/>
          <p:cNvPicPr>
            <a:picLocks noChangeAspect="1"/>
          </p:cNvPicPr>
          <p:nvPr/>
        </p:nvPicPr>
        <p:blipFill>
          <a:blip r:embed="rId5"/>
          <a:srcRect t="1" r="20093" b="4026"/>
          <a:stretch>
            <a:fillRect/>
          </a:stretch>
        </p:blipFill>
        <p:spPr>
          <a:xfrm>
            <a:off x="1829823" y="5055155"/>
            <a:ext cx="2067831" cy="1337425"/>
          </a:xfrm>
          <a:prstGeom prst="rect">
            <a:avLst/>
          </a:prstGeom>
          <a:ln w="12700">
            <a:noFill/>
            <a:prstDash val="solid"/>
          </a:ln>
        </p:spPr>
      </p:pic>
      <p:pic>
        <p:nvPicPr>
          <p:cNvPr id="25" name="Picture 25"/>
          <p:cNvPicPr>
            <a:picLocks noChangeAspect="1"/>
          </p:cNvPicPr>
          <p:nvPr/>
        </p:nvPicPr>
        <p:blipFill>
          <a:blip r:embed="rId6"/>
          <a:srcRect/>
          <a:stretch>
            <a:fillRect/>
          </a:stretch>
        </p:blipFill>
        <p:spPr>
          <a:xfrm>
            <a:off x="287830" y="5690631"/>
            <a:ext cx="1481369" cy="735740"/>
          </a:xfrm>
          <a:prstGeom prst="rect">
            <a:avLst/>
          </a:prstGeom>
          <a:ln w="12700">
            <a:noFill/>
            <a:prstDash val="solid"/>
          </a:ln>
        </p:spPr>
      </p:pic>
      <p:sp>
        <p:nvSpPr>
          <p:cNvPr id="26" name="AutoShape 2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7" name="Picture 27"/>
          <p:cNvPicPr>
            <a:picLocks noChangeAspect="1"/>
          </p:cNvPicPr>
          <p:nvPr/>
        </p:nvPicPr>
        <p:blipFill>
          <a:blip r:embed="rId7"/>
          <a:srcRect/>
          <a:stretch>
            <a:fillRect/>
          </a:stretch>
        </p:blipFill>
        <p:spPr>
          <a:xfrm>
            <a:off x="6868029" y="2039134"/>
            <a:ext cx="4297276" cy="2163791"/>
          </a:xfrm>
          <a:prstGeom prst="rect">
            <a:avLst/>
          </a:prstGeom>
          <a:ln w="12700">
            <a:noFill/>
            <a:prstDash val="solid"/>
          </a:ln>
        </p:spPr>
      </p:pic>
      <p:pic>
        <p:nvPicPr>
          <p:cNvPr id="28" name="Picture 28"/>
          <p:cNvPicPr>
            <a:picLocks noChangeAspect="1"/>
          </p:cNvPicPr>
          <p:nvPr/>
        </p:nvPicPr>
        <p:blipFill>
          <a:blip r:embed="rId8"/>
          <a:srcRect/>
          <a:stretch>
            <a:fillRect/>
          </a:stretch>
        </p:blipFill>
        <p:spPr>
          <a:xfrm>
            <a:off x="6801728" y="4313256"/>
            <a:ext cx="4429878" cy="2264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Book Antiqua" panose="02040602050305030304"/>
              </a:defRPr>
            </a:lvl1pPr>
          </a:lstStyle>
          <a:p>
            <a:pPr indent="0" algn="l">
              <a:lnSpc>
                <a:spcPct val="100000"/>
              </a:lnSpc>
            </a:pPr>
            <a:r>
              <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Key Concepts of LLM Software Framework (2/2)</a:t>
            </a:r>
            <a:endParaRPr lang="en-US" sz="360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Basics</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Algo.</a:t>
                </a:r>
                <a:endParaRPr lang="en-US" sz="1100"/>
              </a:p>
            </p:txBody>
          </p:sp>
        </p:grpSp>
      </p:grpSp>
      <p:grpSp>
        <p:nvGrpSpPr>
          <p:cNvPr id="13" name="Group 13"/>
          <p:cNvGrpSpPr/>
          <p:nvPr/>
        </p:nvGrpSpPr>
        <p:grpSpPr>
          <a:xfrm>
            <a:off x="6200149" y="1132554"/>
            <a:ext cx="5850892" cy="5526082"/>
            <a:chOff x="6200149" y="1132554"/>
            <a:chExt cx="5850892" cy="5526082"/>
          </a:xfrm>
        </p:grpSpPr>
        <p:sp>
          <p:nvSpPr>
            <p:cNvPr id="14" name="AutoShape 14"/>
            <p:cNvSpPr/>
            <p:nvPr/>
          </p:nvSpPr>
          <p:spPr>
            <a:xfrm>
              <a:off x="6200149" y="1308884"/>
              <a:ext cx="5850892" cy="5349752"/>
            </a:xfrm>
            <a:prstGeom prst="rect">
              <a:avLst/>
            </a:prstGeom>
            <a:no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8532441" y="1132554"/>
              <a:ext cx="1186308" cy="352659"/>
            </a:xfrm>
            <a:prstGeom prst="roundRect">
              <a:avLst>
                <a:gd name="adj" fmla="val 16666"/>
              </a:avLst>
            </a:prstGeom>
            <a:solidFill>
              <a:srgbClr val="549E39">
                <a:alpha val="100000"/>
              </a:srgbClr>
            </a:solidFill>
            <a:ln w="12700" cap="flat">
              <a:solidFill>
                <a:srgbClr val="549E39">
                  <a:alpha val="100000"/>
                </a:srgbClr>
              </a:solid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FFFFFF"/>
                  </a:solidFill>
                  <a:latin typeface="Book Antiqua" panose="02040602050305030304"/>
                  <a:ea typeface="Book Antiqua" panose="02040602050305030304"/>
                  <a:cs typeface="Book Antiqua" panose="02040602050305030304"/>
                  <a:sym typeface="Book Antiqua" panose="02040602050305030304"/>
                </a:rPr>
                <a:t>System</a:t>
              </a:r>
              <a:endParaRPr lang="en-US" sz="1100"/>
            </a:p>
          </p:txBody>
        </p:sp>
      </p:grpSp>
      <p:sp>
        <p:nvSpPr>
          <p:cNvPr id="16" name="AutoShape 16"/>
          <p:cNvSpPr/>
          <p:nvPr/>
        </p:nvSpPr>
        <p:spPr>
          <a:xfrm>
            <a:off x="160955" y="1509151"/>
            <a:ext cx="5850891"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Features: Automation, Abstraction, Backend Portability</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Programming Model: Eager Execution v.s. Static Graph</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7" name="AutoShape 17"/>
          <p:cNvSpPr/>
          <p:nvPr/>
        </p:nvSpPr>
        <p:spPr>
          <a:xfrm>
            <a:off x="6227919" y="1528168"/>
            <a:ext cx="5823122"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Computation, Memory, and Communication Wall</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8" name="AutoShape 18"/>
          <p:cNvSpPr/>
          <p:nvPr/>
        </p:nvSpPr>
        <p:spPr>
          <a:xfrm>
            <a:off x="100329" y="4355991"/>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Runtime: Dynamicity at the inference time.</a:t>
            </a:r>
            <a:endParaRPr lang="en-US" sz="1000"/>
          </a:p>
          <a:p>
            <a:pPr indent="0" algn="ctr">
              <a:lnSpc>
                <a:spcPct val="100000"/>
              </a:lnSpc>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Post-training: DPO, PPO, GRPO, and etc. </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9" name="AutoShape 19"/>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0" name="Picture 20"/>
          <p:cNvPicPr>
            <a:picLocks noChangeAspect="1"/>
          </p:cNvPicPr>
          <p:nvPr/>
        </p:nvPicPr>
        <p:blipFill>
          <a:blip r:embed="rId1"/>
          <a:srcRect/>
          <a:stretch>
            <a:fillRect/>
          </a:stretch>
        </p:blipFill>
        <p:spPr>
          <a:xfrm>
            <a:off x="3007066" y="2226174"/>
            <a:ext cx="2927400" cy="1562400"/>
          </a:xfrm>
          <a:prstGeom prst="rect">
            <a:avLst/>
          </a:prstGeom>
          <a:ln w="12700">
            <a:noFill/>
            <a:prstDash val="solid"/>
          </a:ln>
        </p:spPr>
      </p:pic>
      <p:pic>
        <p:nvPicPr>
          <p:cNvPr id="21" name="Picture 21"/>
          <p:cNvPicPr>
            <a:picLocks noChangeAspect="1"/>
          </p:cNvPicPr>
          <p:nvPr/>
        </p:nvPicPr>
        <p:blipFill>
          <a:blip r:embed="rId2"/>
          <a:srcRect/>
          <a:stretch>
            <a:fillRect/>
          </a:stretch>
        </p:blipFill>
        <p:spPr>
          <a:xfrm>
            <a:off x="328742" y="2412834"/>
            <a:ext cx="2559374" cy="1094649"/>
          </a:xfrm>
          <a:prstGeom prst="rect">
            <a:avLst/>
          </a:prstGeom>
          <a:ln w="12700">
            <a:noFill/>
            <a:prstDash val="solid"/>
          </a:ln>
        </p:spPr>
      </p:pic>
      <p:pic>
        <p:nvPicPr>
          <p:cNvPr id="22" name="Picture 22"/>
          <p:cNvPicPr>
            <a:picLocks noChangeAspect="1"/>
          </p:cNvPicPr>
          <p:nvPr/>
        </p:nvPicPr>
        <p:blipFill>
          <a:blip r:embed="rId3"/>
          <a:srcRect/>
          <a:stretch>
            <a:fillRect/>
          </a:stretch>
        </p:blipFill>
        <p:spPr>
          <a:xfrm>
            <a:off x="3931449" y="5277122"/>
            <a:ext cx="2067831" cy="954669"/>
          </a:xfrm>
          <a:prstGeom prst="rect">
            <a:avLst/>
          </a:prstGeom>
          <a:ln w="12700">
            <a:noFill/>
            <a:prstDash val="solid"/>
          </a:ln>
        </p:spPr>
      </p:pic>
      <p:pic>
        <p:nvPicPr>
          <p:cNvPr id="23" name="Picture 23"/>
          <p:cNvPicPr>
            <a:picLocks noChangeAspect="1"/>
          </p:cNvPicPr>
          <p:nvPr/>
        </p:nvPicPr>
        <p:blipFill>
          <a:blip r:embed="rId4"/>
          <a:srcRect/>
          <a:stretch>
            <a:fillRect/>
          </a:stretch>
        </p:blipFill>
        <p:spPr>
          <a:xfrm>
            <a:off x="287830" y="5033781"/>
            <a:ext cx="1481368" cy="531893"/>
          </a:xfrm>
          <a:prstGeom prst="rect">
            <a:avLst/>
          </a:prstGeom>
          <a:ln w="12700">
            <a:noFill/>
            <a:prstDash val="solid"/>
          </a:ln>
        </p:spPr>
      </p:pic>
      <p:pic>
        <p:nvPicPr>
          <p:cNvPr id="24" name="Picture 24"/>
          <p:cNvPicPr>
            <a:picLocks noChangeAspect="1"/>
          </p:cNvPicPr>
          <p:nvPr/>
        </p:nvPicPr>
        <p:blipFill>
          <a:blip r:embed="rId5"/>
          <a:srcRect t="1" r="20093" b="4026"/>
          <a:stretch>
            <a:fillRect/>
          </a:stretch>
        </p:blipFill>
        <p:spPr>
          <a:xfrm>
            <a:off x="1829823" y="5055155"/>
            <a:ext cx="2067831" cy="1337425"/>
          </a:xfrm>
          <a:prstGeom prst="rect">
            <a:avLst/>
          </a:prstGeom>
          <a:ln w="12700">
            <a:noFill/>
            <a:prstDash val="solid"/>
          </a:ln>
        </p:spPr>
      </p:pic>
      <p:pic>
        <p:nvPicPr>
          <p:cNvPr id="25" name="Picture 25"/>
          <p:cNvPicPr>
            <a:picLocks noChangeAspect="1"/>
          </p:cNvPicPr>
          <p:nvPr/>
        </p:nvPicPr>
        <p:blipFill>
          <a:blip r:embed="rId6"/>
          <a:srcRect/>
          <a:stretch>
            <a:fillRect/>
          </a:stretch>
        </p:blipFill>
        <p:spPr>
          <a:xfrm>
            <a:off x="287830" y="5690631"/>
            <a:ext cx="1481369" cy="735740"/>
          </a:xfrm>
          <a:prstGeom prst="rect">
            <a:avLst/>
          </a:prstGeom>
          <a:ln w="12700">
            <a:noFill/>
            <a:prstDash val="solid"/>
          </a:ln>
        </p:spPr>
      </p:pic>
      <p:sp>
        <p:nvSpPr>
          <p:cNvPr id="26" name="AutoShape 2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7" name="Picture 27"/>
          <p:cNvPicPr>
            <a:picLocks noChangeAspect="1"/>
          </p:cNvPicPr>
          <p:nvPr/>
        </p:nvPicPr>
        <p:blipFill>
          <a:blip r:embed="rId7"/>
          <a:srcRect/>
          <a:stretch>
            <a:fillRect/>
          </a:stretch>
        </p:blipFill>
        <p:spPr>
          <a:xfrm>
            <a:off x="6858499" y="4291248"/>
            <a:ext cx="4531268" cy="2346204"/>
          </a:xfrm>
          <a:prstGeom prst="rect">
            <a:avLst/>
          </a:prstGeom>
          <a:ln w="12700">
            <a:noFill/>
            <a:prstDash val="solid"/>
          </a:ln>
        </p:spPr>
      </p:pic>
      <p:pic>
        <p:nvPicPr>
          <p:cNvPr id="28" name="Picture 28"/>
          <p:cNvPicPr>
            <a:picLocks noChangeAspect="1"/>
          </p:cNvPicPr>
          <p:nvPr/>
        </p:nvPicPr>
        <p:blipFill>
          <a:blip r:embed="rId8"/>
          <a:srcRect/>
          <a:stretch>
            <a:fillRect/>
          </a:stretch>
        </p:blipFill>
        <p:spPr>
          <a:xfrm>
            <a:off x="7519356" y="1917786"/>
            <a:ext cx="3209555" cy="23954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PyTorch: The (most) popular open-source ML library.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Tensor definition; GPU-enabled computation; Automatic Differentiation; Compiler Support.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63950" y="2626443"/>
            <a:ext cx="3120105" cy="198552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3790950" y="2626360"/>
            <a:ext cx="8293100" cy="3353435"/>
          </a:xfrm>
          <a:prstGeom prst="rect">
            <a:avLst/>
          </a:prstGeom>
          <a:ln w="12700">
            <a:noFill/>
            <a:prstDash val="solid"/>
          </a:ln>
        </p:spPr>
      </p:pic>
      <p:sp>
        <p:nvSpPr>
          <p:cNvPr id="8" name="AutoShape 8"/>
          <p:cNvSpPr/>
          <p:nvPr/>
        </p:nvSpPr>
        <p:spPr>
          <a:xfrm>
            <a:off x="419160" y="4961940"/>
            <a:ext cx="2771023"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Other ML Frameworks</a:t>
            </a:r>
            <a:endParaRPr lang="en-US" sz="1100"/>
          </a:p>
        </p:txBody>
      </p:sp>
      <p:sp>
        <p:nvSpPr>
          <p:cNvPr id="9" name="AutoShape 9"/>
          <p:cNvSpPr/>
          <p:nvPr/>
        </p:nvSpPr>
        <p:spPr>
          <a:xfrm>
            <a:off x="6431999" y="5690346"/>
            <a:ext cx="4473039"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Numpy vs TensorFlow vs PyTorch</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Tensors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N-dims array in PyTorch, which is similar with NumPy’s ndarrays.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But torch.Tensor has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gradient support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device flag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Gradient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t.requires_grad_() </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or </a:t>
            </a: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 requires_grad=True)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Access the value: </a:t>
            </a: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t.data</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Access the gradient: </a:t>
            </a: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t.grad</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Tensors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N-dims array in PyTorch, which is similar with NumPy’s ndarrays.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But torch.Tensor has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gradient support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device flag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Hetero-device Support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t.to("gpu:1")</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torch.cuda.is_available()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685800" lvl="2"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torch-npu (by Huawei)</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t.to("npu:0")</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torch.npu.is_available()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735157" y="3750469"/>
            <a:ext cx="6693911" cy="3425032"/>
          </a:xfrm>
          <a:prstGeom prst="rect">
            <a:avLst/>
          </a:prstGeom>
          <a:noFill/>
          <a:ln w="12700">
            <a:noFill/>
            <a:prstDash val="solid"/>
          </a:ln>
        </p:spPr>
        <p:txBody>
          <a:bodyPr vert="horz" wrap="square" lIns="91440" tIns="45720" rIns="91440" bIns="45720" rtlCol="0" anchor="t">
            <a:normAutofit/>
          </a:bodyPr>
          <a:lstStyle/>
          <a:p>
            <a:pPr indent="0" algn="ctr">
              <a:lnSpc>
                <a:spcPct val="100000"/>
              </a:lnSpc>
              <a:spcBef>
                <a:spcPts val="1500"/>
              </a:spcBef>
              <a:defRPr/>
            </a:pPr>
            <a:r>
              <a:rPr lang="en-US" sz="24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Distributed Support</a:t>
            </a:r>
            <a:endParaRPr lang="en-US" sz="1100"/>
          </a:p>
          <a:p>
            <a:pPr indent="0" algn="ctr">
              <a:lnSpc>
                <a:spcPct val="100000"/>
              </a:lnSpc>
              <a:spcBef>
                <a:spcPts val="1500"/>
              </a:spcBef>
            </a:pPr>
            <a:r>
              <a:rPr lang="en-US" sz="24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DTensor &amp; DeviceMesh</a:t>
            </a:r>
            <a:endParaRPr lang="en-US" sz="24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Autograd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Autograd: Automatic Differentiation Package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 need to worry about partial differentiation, chain rule etc.   </a:t>
            </a: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=&gt; backward()</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Gradients are accumulated for each step =&gt; zero-out gradient after update </a:t>
            </a: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grad_zero()</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Hetero-device Support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x = torch.tensor(1., requires_grad = True)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w = torch.tensor(2., requires_grad = True)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 = torch.tensor(3., requires_grad = True)</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y = w * x + b    </a:t>
            </a:r>
            <a:r>
              <a:rPr lang="en-US" sz="2000" b="0" i="0" u="none" strike="noStrike">
                <a:solidFill>
                  <a:srgbClr val="A5A5A5"/>
                </a:solidFill>
                <a:latin typeface="Courier New" panose="02070309020205020404"/>
                <a:ea typeface="Courier New" panose="02070309020205020404"/>
                <a:cs typeface="Courier New" panose="02070309020205020404"/>
                <a:sym typeface="Courier New" panose="02070309020205020404"/>
              </a:rPr>
              <a:t># y = 2 * x + 3</a:t>
            </a:r>
            <a:endParaRPr lang="en-US" sz="2000" b="0" i="0" u="none" strike="noStrike">
              <a:solidFill>
                <a:srgbClr val="A5A5A5"/>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y.backward()</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print(x.grad, w.grad, b.grad)   </a:t>
            </a:r>
            <a:r>
              <a:rPr lang="en-US" sz="2000" b="0" i="0" u="none" strike="noStrike">
                <a:solidFill>
                  <a:srgbClr val="A5A5A5"/>
                </a:solidFill>
                <a:latin typeface="Courier New" panose="02070309020205020404"/>
                <a:ea typeface="Courier New" panose="02070309020205020404"/>
                <a:cs typeface="Courier New" panose="02070309020205020404"/>
                <a:sym typeface="Courier New" panose="02070309020205020404"/>
              </a:rPr>
              <a:t># 2, 1, 1</a:t>
            </a:r>
            <a:endParaRPr lang="en-US" sz="2000" b="0" i="0" u="none" strike="noStrike">
              <a:solidFill>
                <a:srgbClr val="A5A5A5"/>
              </a:solidFill>
              <a:latin typeface="Courier New" panose="02070309020205020404"/>
              <a:ea typeface="Courier New" panose="02070309020205020404"/>
              <a:cs typeface="Courier New" panose="02070309020205020404"/>
              <a:sym typeface="Courier New" panose="020703090202050204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Inside (1/5)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Enabling a training or inference task is simple. But how about the performance?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the beginning, one of the design principles of PyTorch – Easy to use &gt;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With the increase of hardware computing power,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ctr">
              <a:lnSpc>
                <a:spcPct val="100000"/>
              </a:lnSpc>
              <a:spcBef>
                <a:spcPts val="750"/>
              </a:spcBef>
            </a:pP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performance, portability, scalability and become more and more important.</a:t>
            </a:r>
            <a:endPar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 what is the advanced internal workflow of PyTorch (2.0)?</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How can we accelerate?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Compilation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 capturing (acquisition)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 lowering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 compilation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866784" y="3680300"/>
            <a:ext cx="5139884" cy="2496515"/>
          </a:xfrm>
          <a:prstGeom prst="rect">
            <a:avLst/>
          </a:prstGeom>
          <a:ln w="12700">
            <a:noFill/>
            <a:prstDash val="solid"/>
          </a:ln>
        </p:spPr>
      </p:pic>
      <p:sp>
        <p:nvSpPr>
          <p:cNvPr id="7" name="AutoShape 7"/>
          <p:cNvSpPr/>
          <p:nvPr/>
        </p:nvSpPr>
        <p:spPr>
          <a:xfrm>
            <a:off x="7328435" y="6176816"/>
            <a:ext cx="310035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The backend of PyTorch 2.0 </a:t>
            </a:r>
            <a:endParaRPr lang="en-US" sz="16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092440" y="3836035"/>
            <a:ext cx="4099560" cy="2736215"/>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Inside (2/5)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900" b="0" i="0" u="none" strike="noStrike" spc="0">
                <a:solidFill>
                  <a:srgbClr val="404040">
                    <a:alpha val="100000"/>
                  </a:srgbClr>
                </a:solidFill>
                <a:latin typeface="Book Antiqua" panose="02040602050305030304"/>
              </a:defRPr>
            </a:lvl1pPr>
          </a:lstStyle>
          <a:p>
            <a:pPr marL="241300" indent="-241300" algn="l">
              <a:lnSpc>
                <a:spcPct val="92000"/>
              </a:lnSpc>
              <a:spcBef>
                <a:spcPts val="150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Unified Entrance @ PyTorch 2.0: torch.compile()</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241300" indent="-241300" algn="l">
              <a:lnSpc>
                <a:spcPct val="92000"/>
              </a:lnSpc>
              <a:spcBef>
                <a:spcPts val="150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Torch Dynamo (for FP)</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A JIT compiler for computation graph extraction.</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Before Dynamo, there are several initial tries</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927100" lvl="2"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TorchScript, TorchFX, LazyTensor, etc</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Dynamo has more flexible support combining </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342900" lvl="1" indent="0" algn="l">
              <a:lnSpc>
                <a:spcPct val="92000"/>
              </a:lnSpc>
              <a:spcBef>
                <a:spcPts val="750"/>
              </a:spcBef>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    with the bytecode and VM.</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Graph break when it meets the unsupported ops.</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Graph re-compilation checking (@ static shape mode).</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927100" lvl="2"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Tensor Shape, Stride, Device and etc.</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Dynamo also supports dynamic shapes without re-compilation.</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241300" indent="-241300" algn="l">
              <a:lnSpc>
                <a:spcPct val="92000"/>
              </a:lnSpc>
              <a:spcBef>
                <a:spcPts val="1500"/>
              </a:spcBef>
              <a:buClr>
                <a:srgbClr val="404040"/>
              </a:buClr>
              <a:buChar char="•"/>
            </a:pPr>
            <a:r>
              <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AOTAutograd is for the graph extraction during the BP.</a:t>
            </a:r>
            <a:endParaRPr lang="en-US" sz="19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indent="0" algn="l">
              <a:lnSpc>
                <a:spcPct val="92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8028712" y="1144587"/>
            <a:ext cx="3772762" cy="213488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Inside (3/5)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28027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Unified Entrance @ PyTorch 2.0: torch.compile()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ATen/PrimIR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ops in PyTorch: 1200+ (2000+ overload 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ops in Prim IR: ~250 (fairly low-level)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canonical ops in ATen: ~750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Prim IR operators should be fused for better perf.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ATen IR operators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suited for backends that already integrate at ATen level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backends that won’t have compilation to recover performance from a lower-level operator set like Prim 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673687" y="1254791"/>
            <a:ext cx="4392756" cy="548776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Inside (4/5)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Unified Entrance @ PyTorch 2.0: torch.compile()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Torch Inductor w/ OpenAI Triton support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default compiler backend.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Python-native &amp; PyTorch-first.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Loop-level TorchInductor IR has 54 primitive operators.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Define-by-run Concept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IR uses executable Python code to define the bodies of loops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Sympy symbols for the dynamic shapes.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Scheduling: mainly for the operator fusions.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CodeGen: Triton, C++, and wrapper.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25912" y="958583"/>
            <a:ext cx="4097867" cy="285499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100223" y="3840163"/>
            <a:ext cx="3949243" cy="24264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Programming: PyTorch – Inside (5/5)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Evaluations of PyTorch 2.0</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Better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Dynamic shapes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More model supports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523874" y="3194700"/>
            <a:ext cx="4913285" cy="333401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4600" y="1189990"/>
            <a:ext cx="5142230" cy="53536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04: Introduction to the Triton Language</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Programming: </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High-Performance GPU Kernels with Pythonic Ease</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Overview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barrier between Python productivity and CUDA C++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Solution: an embedded DSL and compiler for writing efficient custom deep-learning 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Goal: Enabling developers to write “block-based” algorithms that rival hand-tuned CUDA.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 contrast to “thread-based”; also being called “tile-centric”</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this lecture: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Philosophy: Why not just use CUDA?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Execution Model: Understanding Grids and Programs.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Building Blocks: Master Block-based programming and Pointer Arithmetic.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Hands-on Syntax: Defining and launching your first @triton.jit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3849370" y="1365250"/>
            <a:ext cx="6634480" cy="17532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21B5C2"/>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is a </a:t>
            </a:r>
            <a:r>
              <a:rPr lang="en-US" sz="18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language</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and </a:t>
            </a:r>
            <a:r>
              <a:rPr lang="en-US" sz="18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compiler</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designed for parallel programming. It aims to provide a Python-based programming environment for efficiently writing custom DNN compute kernels, enabling them to run at maximum throughput on modern GPU hardware.</a:t>
            </a:r>
            <a:endParaRPr lang="en-US" sz="1100"/>
          </a:p>
        </p:txBody>
      </p:sp>
      <p:pic>
        <p:nvPicPr>
          <p:cNvPr id="6" name="Picture 6"/>
          <p:cNvPicPr>
            <a:picLocks noChangeAspect="1"/>
          </p:cNvPicPr>
          <p:nvPr/>
        </p:nvPicPr>
        <p:blipFill>
          <a:blip r:embed="rId1"/>
          <a:srcRect t="14451" r="831" b="10333"/>
          <a:stretch>
            <a:fillRect/>
          </a:stretch>
        </p:blipFill>
        <p:spPr>
          <a:xfrm>
            <a:off x="1510030" y="3300730"/>
            <a:ext cx="9646920" cy="310642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126841" y="1324157"/>
            <a:ext cx="1737383" cy="197627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vs. Other Open-Source Programming Models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5748030" y="2316787"/>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6" name="AutoShape 6"/>
          <p:cNvSpPr/>
          <p:nvPr/>
        </p:nvSpPr>
        <p:spPr>
          <a:xfrm>
            <a:off x="467360" y="5026025"/>
            <a:ext cx="8201025" cy="1443355"/>
          </a:xfrm>
          <a:prstGeom prst="rect">
            <a:avLst/>
          </a:prstGeom>
          <a:noFill/>
          <a:ln w="12700">
            <a:noFill/>
            <a:prstDash val="solid"/>
          </a:ln>
        </p:spPr>
        <p:txBody>
          <a:bodyPr wrap="square" lIns="91440" tIns="45720" rIns="91440" bIns="45720" rtlCol="0" anchor="t">
            <a:noAutofit/>
          </a:bodyPr>
          <a:lstStyle/>
          <a:p>
            <a:pPr indent="0" algn="l">
              <a:lnSpc>
                <a:spcPct val="100000"/>
              </a:lnSpc>
              <a:spcBef>
                <a:spcPts val="1000"/>
              </a:spcBef>
              <a:defRPr/>
            </a:pPr>
            <a:r>
              <a:rPr lang="en-US" sz="12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Evaluation Criteria</a:t>
            </a:r>
            <a:endParaRPr lang="en-US" sz="1100"/>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Architectural Advancement: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Evaluates technical generation and the sophistication of software architecture.</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Implementation Efficiency: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Assesses whether critical and complex operators are efficiently implemented, with performance approaching or exceeding manual optimization.</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Implementation Quality:</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Evaluates the quality of the software as an infrastructure for broader adoption and secondary development.</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Programmability: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Measures the reduction in programming complexity and the effective improvement in development productivity.</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Compatibility:</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Examines the applicability and constraints across different frameworks, as well as the breadth of the high-level ecosystem.</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1714041" y="956108"/>
            <a:ext cx="789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p:txBody>
      </p:sp>
      <p:sp>
        <p:nvSpPr>
          <p:cNvPr id="8" name="AutoShape 8"/>
          <p:cNvSpPr/>
          <p:nvPr/>
        </p:nvSpPr>
        <p:spPr>
          <a:xfrm>
            <a:off x="5207785" y="945820"/>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9" name="AutoShape 9"/>
          <p:cNvSpPr/>
          <p:nvPr/>
        </p:nvSpPr>
        <p:spPr>
          <a:xfrm>
            <a:off x="9177323" y="945820"/>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10" name="AutoShape 10"/>
          <p:cNvSpPr/>
          <p:nvPr/>
        </p:nvSpPr>
        <p:spPr>
          <a:xfrm>
            <a:off x="4449093" y="1600769"/>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11" name="AutoShape 11"/>
          <p:cNvSpPr/>
          <p:nvPr/>
        </p:nvSpPr>
        <p:spPr>
          <a:xfrm>
            <a:off x="5660833"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TF</a:t>
            </a:r>
            <a:endParaRPr lang="en-US" sz="1100"/>
          </a:p>
        </p:txBody>
      </p:sp>
      <p:sp>
        <p:nvSpPr>
          <p:cNvPr id="12" name="AutoShape 12"/>
          <p:cNvSpPr/>
          <p:nvPr/>
        </p:nvSpPr>
        <p:spPr>
          <a:xfrm>
            <a:off x="6619578"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JAX</a:t>
            </a:r>
            <a:endParaRPr lang="en-US" sz="1100"/>
          </a:p>
        </p:txBody>
      </p:sp>
      <p:sp>
        <p:nvSpPr>
          <p:cNvPr id="13" name="AutoShape 13"/>
          <p:cNvSpPr/>
          <p:nvPr/>
        </p:nvSpPr>
        <p:spPr>
          <a:xfrm>
            <a:off x="4594951" y="2177365"/>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14" name="AutoShape 14"/>
          <p:cNvSpPr/>
          <p:nvPr/>
        </p:nvSpPr>
        <p:spPr>
          <a:xfrm>
            <a:off x="4449093" y="2825427"/>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sp>
        <p:nvSpPr>
          <p:cNvPr id="15" name="AutoShape 15"/>
          <p:cNvSpPr/>
          <p:nvPr/>
        </p:nvSpPr>
        <p:spPr>
          <a:xfrm>
            <a:off x="5660832" y="2825427"/>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TPU</a:t>
            </a:r>
            <a:endParaRPr lang="en-US" sz="1100"/>
          </a:p>
        </p:txBody>
      </p:sp>
      <p:sp>
        <p:nvSpPr>
          <p:cNvPr id="16" name="AutoShape 16"/>
          <p:cNvSpPr/>
          <p:nvPr/>
        </p:nvSpPr>
        <p:spPr>
          <a:xfrm>
            <a:off x="6619578" y="2814820"/>
            <a:ext cx="870333"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CPU</a:t>
            </a:r>
            <a:endParaRPr lang="en-US" sz="1100"/>
          </a:p>
        </p:txBody>
      </p:sp>
      <p:cxnSp>
        <p:nvCxnSpPr>
          <p:cNvPr id="17" name="Connector 17"/>
          <p:cNvCxnSpPr/>
          <p:nvPr/>
        </p:nvCxnSpPr>
        <p:spPr>
          <a:xfrm rot="10800000" flipV="1">
            <a:off x="5697901" y="1909241"/>
            <a:ext cx="398099"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8" name="Connector 18"/>
          <p:cNvCxnSpPr/>
          <p:nvPr/>
        </p:nvCxnSpPr>
        <p:spPr>
          <a:xfrm>
            <a:off x="5010757" y="1909241"/>
            <a:ext cx="6871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9" name="Connector 19"/>
          <p:cNvCxnSpPr/>
          <p:nvPr/>
        </p:nvCxnSpPr>
        <p:spPr>
          <a:xfrm rot="10800000" flipV="1">
            <a:off x="5697901" y="1909241"/>
            <a:ext cx="13568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20" name="Connector 20"/>
          <p:cNvCxnSpPr/>
          <p:nvPr/>
        </p:nvCxnSpPr>
        <p:spPr>
          <a:xfrm rot="10800000" flipV="1">
            <a:off x="5010757" y="2546696"/>
            <a:ext cx="687144"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1" name="Connector 21"/>
          <p:cNvCxnSpPr/>
          <p:nvPr/>
        </p:nvCxnSpPr>
        <p:spPr>
          <a:xfrm>
            <a:off x="5697901" y="2546696"/>
            <a:ext cx="398098"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2" name="Connector 22"/>
          <p:cNvCxnSpPr/>
          <p:nvPr/>
        </p:nvCxnSpPr>
        <p:spPr>
          <a:xfrm>
            <a:off x="5697901" y="2546696"/>
            <a:ext cx="1356844" cy="268124"/>
          </a:xfrm>
          <a:prstGeom prst="straightConnector1">
            <a:avLst/>
          </a:prstGeom>
          <a:noFill/>
          <a:ln w="12700" cap="flat">
            <a:solidFill>
              <a:srgbClr val="4472C4">
                <a:alpha val="100000"/>
              </a:srgbClr>
            </a:solidFill>
            <a:prstDash val="solid"/>
            <a:headEnd type="none" w="med" len="med"/>
            <a:tailEnd type="triangle" w="med" len="med"/>
          </a:ln>
        </p:spPr>
      </p:cxnSp>
      <p:sp>
        <p:nvSpPr>
          <p:cNvPr id="23" name="AutoShape 23"/>
          <p:cNvSpPr/>
          <p:nvPr/>
        </p:nvSpPr>
        <p:spPr>
          <a:xfrm>
            <a:off x="2090217"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24" name="AutoShape 24"/>
          <p:cNvSpPr/>
          <p:nvPr/>
        </p:nvSpPr>
        <p:spPr>
          <a:xfrm>
            <a:off x="1528553" y="1600769"/>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25" name="AutoShape 25"/>
          <p:cNvSpPr/>
          <p:nvPr/>
        </p:nvSpPr>
        <p:spPr>
          <a:xfrm>
            <a:off x="937138"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p:txBody>
      </p:sp>
      <p:sp>
        <p:nvSpPr>
          <p:cNvPr id="26" name="AutoShape 26"/>
          <p:cNvSpPr/>
          <p:nvPr/>
        </p:nvSpPr>
        <p:spPr>
          <a:xfrm>
            <a:off x="1432193" y="2814820"/>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cxnSp>
        <p:nvCxnSpPr>
          <p:cNvPr id="27" name="Connector 27"/>
          <p:cNvCxnSpPr/>
          <p:nvPr/>
        </p:nvCxnSpPr>
        <p:spPr>
          <a:xfrm rot="10800000" flipV="1">
            <a:off x="2040088" y="1909241"/>
            <a:ext cx="50129" cy="257517"/>
          </a:xfrm>
          <a:prstGeom prst="straightConnector1">
            <a:avLst/>
          </a:prstGeom>
          <a:noFill/>
          <a:ln w="12700" cap="flat">
            <a:solidFill>
              <a:srgbClr val="4472C4">
                <a:alpha val="100000"/>
              </a:srgbClr>
            </a:solidFill>
            <a:prstDash val="solid"/>
            <a:headEnd type="none" w="med" len="med"/>
            <a:tailEnd type="triangle" w="med" len="med"/>
          </a:ln>
        </p:spPr>
      </p:cxnSp>
      <p:cxnSp>
        <p:nvCxnSpPr>
          <p:cNvPr id="28" name="Connector 28"/>
          <p:cNvCxnSpPr/>
          <p:nvPr/>
        </p:nvCxnSpPr>
        <p:spPr>
          <a:xfrm rot="10800000" flipV="1">
            <a:off x="1993857" y="2536089"/>
            <a:ext cx="46231" cy="278731"/>
          </a:xfrm>
          <a:prstGeom prst="straightConnector1">
            <a:avLst/>
          </a:prstGeom>
          <a:noFill/>
          <a:ln w="12700" cap="flat">
            <a:solidFill>
              <a:srgbClr val="4472C4">
                <a:alpha val="100000"/>
              </a:srgbClr>
            </a:solidFill>
            <a:prstDash val="solid"/>
            <a:headEnd type="none" w="med" len="med"/>
            <a:tailEnd type="triangle" w="med" len="med"/>
          </a:ln>
        </p:spPr>
      </p:cxnSp>
      <p:sp>
        <p:nvSpPr>
          <p:cNvPr id="29" name="AutoShape 29"/>
          <p:cNvSpPr/>
          <p:nvPr/>
        </p:nvSpPr>
        <p:spPr>
          <a:xfrm>
            <a:off x="9821649"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30" name="AutoShape 30"/>
          <p:cNvSpPr/>
          <p:nvPr/>
        </p:nvSpPr>
        <p:spPr>
          <a:xfrm>
            <a:off x="8668570"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31" name="AutoShape 31"/>
          <p:cNvSpPr/>
          <p:nvPr/>
        </p:nvSpPr>
        <p:spPr>
          <a:xfrm>
            <a:off x="8507403" y="2823700"/>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sp>
        <p:nvSpPr>
          <p:cNvPr id="32" name="AutoShape 32"/>
          <p:cNvSpPr/>
          <p:nvPr/>
        </p:nvSpPr>
        <p:spPr>
          <a:xfrm>
            <a:off x="9719142" y="2823700"/>
            <a:ext cx="870333" cy="308472"/>
          </a:xfrm>
          <a:prstGeom prst="roundRect">
            <a:avLst>
              <a:gd name="adj" fmla="val 16666"/>
            </a:avLst>
          </a:prstGeom>
          <a:no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33" name="AutoShape 33"/>
          <p:cNvSpPr/>
          <p:nvPr/>
        </p:nvSpPr>
        <p:spPr>
          <a:xfrm>
            <a:off x="10677888" y="2813093"/>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CPU</a:t>
            </a:r>
            <a:endParaRPr lang="en-US" sz="1100"/>
          </a:p>
        </p:txBody>
      </p:sp>
      <p:cxnSp>
        <p:nvCxnSpPr>
          <p:cNvPr id="34" name="Connector 34"/>
          <p:cNvCxnSpPr/>
          <p:nvPr/>
        </p:nvCxnSpPr>
        <p:spPr>
          <a:xfrm rot="10800000" flipV="1">
            <a:off x="9069067" y="2536089"/>
            <a:ext cx="702453" cy="287611"/>
          </a:xfrm>
          <a:prstGeom prst="straightConnector1">
            <a:avLst/>
          </a:prstGeom>
          <a:noFill/>
          <a:ln w="12700" cap="flat">
            <a:solidFill>
              <a:srgbClr val="4472C4">
                <a:alpha val="100000"/>
              </a:srgbClr>
            </a:solidFill>
            <a:prstDash val="solid"/>
            <a:headEnd type="none" w="med" len="med"/>
            <a:tailEnd type="triangle" w="med" len="med"/>
          </a:ln>
        </p:spPr>
      </p:cxnSp>
      <p:cxnSp>
        <p:nvCxnSpPr>
          <p:cNvPr id="35" name="Connector 35"/>
          <p:cNvCxnSpPr/>
          <p:nvPr/>
        </p:nvCxnSpPr>
        <p:spPr>
          <a:xfrm>
            <a:off x="9771520" y="2536089"/>
            <a:ext cx="1341535" cy="277004"/>
          </a:xfrm>
          <a:prstGeom prst="straightConnector1">
            <a:avLst/>
          </a:prstGeom>
          <a:noFill/>
          <a:ln w="12700" cap="flat">
            <a:solidFill>
              <a:srgbClr val="4472C4">
                <a:alpha val="100000"/>
              </a:srgbClr>
            </a:solidFill>
            <a:prstDash val="solid"/>
            <a:headEnd type="none" w="med" len="med"/>
            <a:tailEnd type="triangle" w="med" len="med"/>
          </a:ln>
        </p:spPr>
      </p:cxnSp>
      <p:cxnSp>
        <p:nvCxnSpPr>
          <p:cNvPr id="36" name="Connector 36"/>
          <p:cNvCxnSpPr/>
          <p:nvPr/>
        </p:nvCxnSpPr>
        <p:spPr>
          <a:xfrm>
            <a:off x="9771520" y="2536089"/>
            <a:ext cx="382789" cy="287611"/>
          </a:xfrm>
          <a:prstGeom prst="straightConnector1">
            <a:avLst/>
          </a:prstGeom>
          <a:noFill/>
          <a:ln w="12700" cap="flat">
            <a:solidFill>
              <a:srgbClr val="4472C4">
                <a:alpha val="100000"/>
              </a:srgbClr>
            </a:solidFill>
            <a:prstDash val="solid"/>
            <a:headEnd type="none" w="med" len="med"/>
            <a:tailEnd type="triangle" w="med" len="med"/>
          </a:ln>
        </p:spPr>
      </p:cxnSp>
      <p:sp>
        <p:nvSpPr>
          <p:cNvPr id="37" name="AutoShape 37"/>
          <p:cNvSpPr/>
          <p:nvPr/>
        </p:nvSpPr>
        <p:spPr>
          <a:xfrm>
            <a:off x="8584925"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8" name="AutoShape 38"/>
          <p:cNvSpPr/>
          <p:nvPr/>
        </p:nvSpPr>
        <p:spPr>
          <a:xfrm>
            <a:off x="9151376"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39" name="Connector 39"/>
          <p:cNvCxnSpPr/>
          <p:nvPr/>
        </p:nvCxnSpPr>
        <p:spPr>
          <a:xfrm>
            <a:off x="8985422" y="6120904"/>
            <a:ext cx="165954" cy="0"/>
          </a:xfrm>
          <a:prstGeom prst="straightConnector1">
            <a:avLst/>
          </a:prstGeom>
          <a:noFill/>
          <a:ln w="12700" cap="flat">
            <a:solidFill>
              <a:srgbClr val="4472C4">
                <a:alpha val="100000"/>
              </a:srgbClr>
            </a:solidFill>
            <a:prstDash val="solid"/>
            <a:headEnd type="none" w="med" len="med"/>
            <a:tailEnd type="triangle" w="med" len="med"/>
          </a:ln>
        </p:spPr>
      </p:cxnSp>
      <p:sp>
        <p:nvSpPr>
          <p:cNvPr id="40" name="AutoShape 40"/>
          <p:cNvSpPr/>
          <p:nvPr/>
        </p:nvSpPr>
        <p:spPr>
          <a:xfrm>
            <a:off x="9630962" y="5968194"/>
            <a:ext cx="230949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represent the Primary Path</a:t>
            </a:r>
            <a:endParaRPr lang="en-US" sz="1100"/>
          </a:p>
        </p:txBody>
      </p:sp>
      <p:sp>
        <p:nvSpPr>
          <p:cNvPr id="41" name="AutoShape 41"/>
          <p:cNvSpPr/>
          <p:nvPr/>
        </p:nvSpPr>
        <p:spPr>
          <a:xfrm>
            <a:off x="523875" y="3279140"/>
            <a:ext cx="3453765" cy="1529715"/>
          </a:xfrm>
          <a:prstGeom prst="rect">
            <a:avLst/>
          </a:prstGeom>
          <a:noFill/>
          <a:ln w="12700">
            <a:noFill/>
            <a:prstDash val="solid"/>
          </a:ln>
        </p:spPr>
        <p:txBody>
          <a:bodyPr wrap="square" lIns="91440" tIns="45720" rIns="91440" bIns="45720" rtlCol="0" anchor="t">
            <a:spAutoFit/>
          </a:bodyPr>
          <a:lstStyle/>
          <a:p>
            <a:pPr indent="0" algn="l">
              <a:lnSpc>
                <a:spcPct val="133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Next-generation kernel programming model.</a:t>
            </a:r>
            <a:endParaRPr lang="en-US" sz="1100"/>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Leading; achieves high hardware utilization.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Robust; high-quality software infrastructure.</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Superior to CUDA; significantly lowers the development barrier.</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Native support within the PyTorch ecosystem.</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AutoShape 42"/>
          <p:cNvSpPr/>
          <p:nvPr/>
        </p:nvSpPr>
        <p:spPr>
          <a:xfrm>
            <a:off x="4053205" y="3279140"/>
            <a:ext cx="4465955" cy="186118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Overall generational lead, but lacks fine-grained kernel programming capabilities.</a:t>
            </a:r>
            <a:endParaRPr lang="en-US" sz="1100"/>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Leading, though GPU performance remains inferior to Triton.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Solid; reliable for secondary development.</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Kernel programming model heavily draws inspiration from Triton.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Strong support for TensorFlow and JAX; lacks native PyTorch support (requires model exportation).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AutoShape 43"/>
          <p:cNvSpPr/>
          <p:nvPr/>
        </p:nvSpPr>
        <p:spPr>
          <a:xfrm>
            <a:off x="8507095" y="3279140"/>
            <a:ext cx="3433445" cy="208216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Leading by two generations in design philosophy.</a:t>
            </a:r>
            <a:endParaRPr lang="en-US" sz="1100"/>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Currently lacking; primarily supports CPU execution.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Closed-source at present, but backed by a world-class technical team.</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Introduces a novel programming model; limited user feedback for validation.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No mainstream framework support as of yet.</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AutoShape 44"/>
          <p:cNvSpPr/>
          <p:nvPr/>
        </p:nvSpPr>
        <p:spPr>
          <a:xfrm>
            <a:off x="2555521" y="948450"/>
            <a:ext cx="11982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OpenAI</a:t>
            </a:r>
            <a:endParaRPr lang="en-US" sz="1100"/>
          </a:p>
        </p:txBody>
      </p:sp>
      <p:sp>
        <p:nvSpPr>
          <p:cNvPr id="45" name="AutoShape 45"/>
          <p:cNvSpPr/>
          <p:nvPr/>
        </p:nvSpPr>
        <p:spPr>
          <a:xfrm>
            <a:off x="6410770" y="934731"/>
            <a:ext cx="1170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Google</a:t>
            </a:r>
            <a:endParaRPr lang="en-US" sz="1100"/>
          </a:p>
        </p:txBody>
      </p:sp>
      <p:sp>
        <p:nvSpPr>
          <p:cNvPr id="46" name="AutoShape 46"/>
          <p:cNvSpPr/>
          <p:nvPr/>
        </p:nvSpPr>
        <p:spPr>
          <a:xfrm>
            <a:off x="9862126" y="956108"/>
            <a:ext cx="129540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Modular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Language &amp; Compiler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2673250" y="1105365"/>
            <a:ext cx="8391577" cy="5492750"/>
          </a:xfrm>
          <a:prstGeom prst="rect">
            <a:avLst/>
          </a:prstGeom>
          <a:noFill/>
          <a:ln w="12700">
            <a:noFill/>
            <a:prstDash val="solid"/>
          </a:ln>
        </p:spPr>
        <p:txBody>
          <a:bodyPr wrap="square" lIns="91440" tIns="45720" rIns="91440" bIns="45720" rtlCol="0" anchor="t">
            <a:spAutoFit/>
          </a:bodyPr>
          <a:lstStyle/>
          <a:p>
            <a:pPr indent="0" algn="l">
              <a:lnSpc>
                <a:spcPct val="15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Language</a:t>
            </a:r>
            <a:endParaRPr lang="en-US" sz="1100"/>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Target: Domain-Specific Language (DSL) for parallel programming.</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Hardware: Modern GPUs and AI accelerators.</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Capability: High-performance neural network operator development.</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p>
          <a:p>
            <a:pPr indent="0" algn="l">
              <a:lnSpc>
                <a:spcPct val="150000"/>
              </a:lnSpc>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Compiler</a:t>
            </a:r>
            <a:endPar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Core Task: Translates Triton DSL into optimized machine code.</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Function: Performs advanced static analysis and hardware-specific optimizations.</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p>
          <a:p>
            <a:pPr indent="0" algn="l">
              <a:lnSpc>
                <a:spcPct val="150000"/>
              </a:lnSpc>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Resources</a:t>
            </a:r>
            <a:endPar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GitHub: triton-lang/triton</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Docs: triton-lang.org</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248985" y="4957046"/>
            <a:ext cx="1369970" cy="155678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635821" y="1266340"/>
            <a:ext cx="764287" cy="764287"/>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1635821" y="3348750"/>
            <a:ext cx="764287" cy="764287"/>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1635821" y="5353224"/>
            <a:ext cx="764287" cy="76428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Overview | Triton as a Programming Language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11315785" y="6333924"/>
            <a:ext cx="495300" cy="365125"/>
          </a:xfrm>
          <a:prstGeom prst="rect">
            <a:avLst/>
          </a:prstGeom>
          <a:noFill/>
          <a:ln w="12700">
            <a:noFill/>
            <a:prstDash val="solid"/>
          </a:ln>
        </p:spPr>
        <p:txBody>
          <a:bodyPr vert="horz" wrap="square" lIns="91440" tIns="45720" rIns="91440" bIns="45720" rtlCol="0" anchor="ctr">
            <a:noAutofit/>
          </a:bodyPr>
          <a:lstStyle/>
          <a:p>
            <a:pPr indent="0" algn="r">
              <a:lnSpc>
                <a:spcPct val="100000"/>
              </a:lnSpc>
              <a:defRPr/>
            </a:pPr>
            <a:fld id="{22346B48-D9FE-47A3-AB3E-290C5828BBC2}" type="slidenum">
              <a:rPr sz="1200" b="0" i="0" u="none" strike="noStrike">
                <a:solidFill>
                  <a:srgbClr val="767676"/>
                </a:solidFill>
                <a:latin typeface="Arial" panose="020B0604020202020204"/>
                <a:ea typeface="Arial" panose="020B0604020202020204"/>
                <a:cs typeface="Arial" panose="020B0604020202020204"/>
                <a:sym typeface="Arial" panose="020B0604020202020204"/>
              </a:rPr>
            </a:fld>
            <a:endParaRPr lang="en-US" sz="1100"/>
          </a:p>
        </p:txBody>
      </p:sp>
      <p:pic>
        <p:nvPicPr>
          <p:cNvPr id="6" name="Picture 6"/>
          <p:cNvPicPr>
            <a:picLocks noChangeAspect="1"/>
          </p:cNvPicPr>
          <p:nvPr/>
        </p:nvPicPr>
        <p:blipFill>
          <a:blip r:embed="rId1"/>
          <a:srcRect/>
          <a:stretch>
            <a:fillRect/>
          </a:stretch>
        </p:blipFill>
        <p:spPr>
          <a:xfrm>
            <a:off x="3148965" y="1390015"/>
            <a:ext cx="6315075" cy="2050415"/>
          </a:xfrm>
          <a:prstGeom prst="rect">
            <a:avLst/>
          </a:prstGeom>
          <a:ln w="12700">
            <a:noFill/>
            <a:prstDash val="solid"/>
          </a:ln>
        </p:spPr>
      </p:pic>
      <p:sp>
        <p:nvSpPr>
          <p:cNvPr id="7" name="AutoShape 7"/>
          <p:cNvSpPr/>
          <p:nvPr/>
        </p:nvSpPr>
        <p:spPr>
          <a:xfrm>
            <a:off x="283210" y="3535045"/>
            <a:ext cx="6908800" cy="2913380"/>
          </a:xfrm>
          <a:prstGeom prst="rect">
            <a:avLst/>
          </a:prstGeom>
          <a:noFill/>
          <a:ln w="12700">
            <a:noFill/>
            <a:prstDash val="solid"/>
          </a:ln>
        </p:spPr>
        <p:txBody>
          <a:bodyPr wrap="square" lIns="91440" tIns="45720" rIns="91440" bIns="45720" rtlCol="0" anchor="t">
            <a:spAutoFit/>
          </a:bodyPr>
          <a:lstStyle/>
          <a:p>
            <a:pPr indent="0" algn="l">
              <a:lnSpc>
                <a:spcPct val="167000"/>
              </a:lnSpc>
              <a:defRPr/>
            </a:pPr>
            <a:r>
              <a:rPr lang="en-US" sz="1200" b="0" i="0" u="none" strike="noStrike">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rPr>
              <a:t>Challenges in GPU Programming</a:t>
            </a:r>
            <a:endParaRPr lang="en-US" sz="1100"/>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Achieving peak performance in CUDA requires manual orchestration of DRAM, SRAM, and ALUs:</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Memory Coalescing: </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DRAM accesses must be coalesced to saturate available bandwidth.</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Shared Memory Management:</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Data must be manually staged and managed in SRAM to minimize bank conflicts during retrieval.</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Execution Scheduling:</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Computation must be precisely partitioned and scheduled—both across and within Streaming Multiprocessors (SMs)—to maximize Instruction/Thread-Level -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Parallelism (ILP/TLP)</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and leverage specialized units like Tensor Cores.</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8" name="Table 8"/>
          <p:cNvGraphicFramePr>
            <a:graphicFrameLocks noGrp="1"/>
          </p:cNvGraphicFramePr>
          <p:nvPr/>
        </p:nvGraphicFramePr>
        <p:xfrm>
          <a:off x="7499350" y="3800475"/>
          <a:ext cx="4311650" cy="2383155"/>
        </p:xfrm>
        <a:graphic>
          <a:graphicData uri="http://schemas.openxmlformats.org/drawingml/2006/table">
            <a:tbl>
              <a:tblPr>
                <a:effectLst/>
              </a:tblPr>
              <a:tblGrid>
                <a:gridCol w="2075180"/>
                <a:gridCol w="977265"/>
                <a:gridCol w="1259205"/>
              </a:tblGrid>
              <a:tr h="305435">
                <a:tc>
                  <a:txBody>
                    <a:bodyPr rtlCol="0"/>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CUDA</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521335">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Memory Coalescing</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518795">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Shared Memory Management</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518795">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Intra-SM Scheduling</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518795">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Inter-SM Scheduling</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Open-Source Advantages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PyTorch Ecosystem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Custom Operators for LLMs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cxnSp>
        <p:nvCxnSpPr>
          <p:cNvPr id="5" name="Connector 5"/>
          <p:cNvCxnSpPr/>
          <p:nvPr/>
        </p:nvCxnSpPr>
        <p:spPr>
          <a:xfrm flipV="1">
            <a:off x="264577" y="5716228"/>
            <a:ext cx="10929654" cy="15804"/>
          </a:xfrm>
          <a:prstGeom prst="straightConnector1">
            <a:avLst/>
          </a:prstGeom>
          <a:noFill/>
          <a:ln w="38100" cap="flat">
            <a:solidFill>
              <a:srgbClr val="4472C4">
                <a:alpha val="100000"/>
              </a:srgbClr>
            </a:solidFill>
            <a:prstDash val="solid"/>
            <a:headEnd type="none" w="med" len="med"/>
            <a:tailEnd type="triangle" w="med" len="med"/>
          </a:ln>
        </p:spPr>
      </p:cxnSp>
      <p:cxnSp>
        <p:nvCxnSpPr>
          <p:cNvPr id="6" name="Connector 6"/>
          <p:cNvCxnSpPr/>
          <p:nvPr/>
        </p:nvCxnSpPr>
        <p:spPr>
          <a:xfrm flipV="1">
            <a:off x="1869428" y="5715593"/>
            <a:ext cx="1276" cy="425418"/>
          </a:xfrm>
          <a:prstGeom prst="line">
            <a:avLst/>
          </a:prstGeom>
          <a:noFill/>
          <a:ln w="12700" cap="flat">
            <a:solidFill>
              <a:srgbClr val="4472C4">
                <a:alpha val="100000"/>
              </a:srgbClr>
            </a:solidFill>
            <a:prstDash val="solid"/>
            <a:headEnd type="none" w="med" len="med"/>
            <a:tailEnd type="none" w="med" len="med"/>
          </a:ln>
        </p:spPr>
      </p:cxnSp>
      <p:sp>
        <p:nvSpPr>
          <p:cNvPr id="7" name="AutoShape 7"/>
          <p:cNvSpPr/>
          <p:nvPr/>
        </p:nvSpPr>
        <p:spPr>
          <a:xfrm>
            <a:off x="1869428"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2016</a:t>
            </a:r>
            <a:endParaRPr lang="en-US" sz="1100"/>
          </a:p>
        </p:txBody>
      </p:sp>
      <p:cxnSp>
        <p:nvCxnSpPr>
          <p:cNvPr id="8" name="Connector 8"/>
          <p:cNvCxnSpPr/>
          <p:nvPr/>
        </p:nvCxnSpPr>
        <p:spPr>
          <a:xfrm flipV="1">
            <a:off x="3455296"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9" name="AutoShape 9"/>
          <p:cNvSpPr/>
          <p:nvPr/>
        </p:nvSpPr>
        <p:spPr>
          <a:xfrm>
            <a:off x="3455296"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2018</a:t>
            </a:r>
            <a:endParaRPr lang="en-US" sz="1100"/>
          </a:p>
        </p:txBody>
      </p:sp>
      <p:cxnSp>
        <p:nvCxnSpPr>
          <p:cNvPr id="10" name="Connector 10"/>
          <p:cNvCxnSpPr/>
          <p:nvPr/>
        </p:nvCxnSpPr>
        <p:spPr>
          <a:xfrm flipV="1">
            <a:off x="4993937"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1" name="AutoShape 11"/>
          <p:cNvSpPr/>
          <p:nvPr/>
        </p:nvSpPr>
        <p:spPr>
          <a:xfrm>
            <a:off x="4993937"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2020</a:t>
            </a:r>
            <a:endParaRPr lang="en-US" sz="1100"/>
          </a:p>
        </p:txBody>
      </p:sp>
      <p:cxnSp>
        <p:nvCxnSpPr>
          <p:cNvPr id="12" name="Connector 12"/>
          <p:cNvCxnSpPr/>
          <p:nvPr/>
        </p:nvCxnSpPr>
        <p:spPr>
          <a:xfrm flipV="1">
            <a:off x="8142063"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3" name="AutoShape 13"/>
          <p:cNvSpPr/>
          <p:nvPr/>
        </p:nvSpPr>
        <p:spPr>
          <a:xfrm>
            <a:off x="8142063"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2023</a:t>
            </a:r>
            <a:endParaRPr lang="en-US" sz="1100"/>
          </a:p>
        </p:txBody>
      </p:sp>
      <p:sp>
        <p:nvSpPr>
          <p:cNvPr id="14" name="Freeform 14"/>
          <p:cNvSpPr/>
          <p:nvPr/>
        </p:nvSpPr>
        <p:spPr>
          <a:xfrm>
            <a:off x="1388297" y="2734778"/>
            <a:ext cx="4682169" cy="2057400"/>
          </a:xfrm>
          <a:custGeom>
            <a:avLst/>
            <a:gdLst/>
            <a:ahLst/>
            <a:cxnLst/>
            <a:rect l="l" t="t" r="r" b="b"/>
            <a:pathLst>
              <a:path w="4682169" h="2057400">
                <a:moveTo>
                  <a:pt x="0" y="2057400"/>
                </a:moveTo>
                <a:cubicBezTo>
                  <a:pt x="948369" y="1904288"/>
                  <a:pt x="1896737" y="1751174"/>
                  <a:pt x="2677099" y="1408274"/>
                </a:cubicBezTo>
                <a:cubicBezTo>
                  <a:pt x="3457461" y="1065374"/>
                  <a:pt x="4069815" y="532688"/>
                  <a:pt x="4682169" y="0"/>
                </a:cubicBezTo>
              </a:path>
            </a:pathLst>
          </a:custGeom>
          <a:no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Freeform 15"/>
          <p:cNvSpPr/>
          <p:nvPr/>
        </p:nvSpPr>
        <p:spPr>
          <a:xfrm>
            <a:off x="892539" y="2381622"/>
            <a:ext cx="5501096" cy="1951821"/>
          </a:xfrm>
          <a:custGeom>
            <a:avLst/>
            <a:gdLst/>
            <a:ahLst/>
            <a:cxnLst/>
            <a:rect l="l" t="t" r="r" b="b"/>
            <a:pathLst>
              <a:path w="5501096" h="1951821">
                <a:moveTo>
                  <a:pt x="0" y="1927951"/>
                </a:moveTo>
                <a:cubicBezTo>
                  <a:pt x="1022640" y="1939886"/>
                  <a:pt x="2045280" y="1951821"/>
                  <a:pt x="2962129" y="1630496"/>
                </a:cubicBezTo>
                <a:cubicBezTo>
                  <a:pt x="3878978" y="1309171"/>
                  <a:pt x="5501096" y="0"/>
                  <a:pt x="5501096" y="0"/>
                </a:cubicBezTo>
                <a:lnTo>
                  <a:pt x="5501096" y="0"/>
                </a:lnTo>
              </a:path>
            </a:pathLst>
          </a:custGeom>
          <a:noFill/>
          <a:ln w="508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1855479" y="4317446"/>
            <a:ext cx="12928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Tensorflow</a:t>
            </a:r>
            <a:endParaRPr lang="en-US" sz="1100"/>
          </a:p>
        </p:txBody>
      </p:sp>
      <p:sp>
        <p:nvSpPr>
          <p:cNvPr id="17" name="AutoShape 17"/>
          <p:cNvSpPr/>
          <p:nvPr/>
        </p:nvSpPr>
        <p:spPr>
          <a:xfrm>
            <a:off x="4249757" y="3749108"/>
            <a:ext cx="9556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18" name="AutoShape 18"/>
          <p:cNvSpPr/>
          <p:nvPr/>
        </p:nvSpPr>
        <p:spPr>
          <a:xfrm>
            <a:off x="1464327" y="4600935"/>
            <a:ext cx="6934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Caffe</a:t>
            </a:r>
            <a:endParaRPr lang="en-US" sz="1100"/>
          </a:p>
        </p:txBody>
      </p:sp>
      <p:sp>
        <p:nvSpPr>
          <p:cNvPr id="19" name="AutoShape 19"/>
          <p:cNvSpPr/>
          <p:nvPr/>
        </p:nvSpPr>
        <p:spPr>
          <a:xfrm>
            <a:off x="2440640" y="4689207"/>
            <a:ext cx="672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MxNet</a:t>
            </a:r>
            <a:endParaRPr lang="en-US" sz="1100"/>
          </a:p>
        </p:txBody>
      </p:sp>
      <p:sp>
        <p:nvSpPr>
          <p:cNvPr id="20" name="AutoShape 20"/>
          <p:cNvSpPr/>
          <p:nvPr/>
        </p:nvSpPr>
        <p:spPr>
          <a:xfrm>
            <a:off x="3963241" y="4027791"/>
            <a:ext cx="125095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PaddlePaddle</a:t>
            </a:r>
            <a:endParaRPr lang="en-US" sz="1100"/>
          </a:p>
        </p:txBody>
      </p:sp>
      <p:sp>
        <p:nvSpPr>
          <p:cNvPr id="21" name="AutoShape 21"/>
          <p:cNvSpPr/>
          <p:nvPr/>
        </p:nvSpPr>
        <p:spPr>
          <a:xfrm>
            <a:off x="5085346" y="3236757"/>
            <a:ext cx="48577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Jax</a:t>
            </a:r>
            <a:endParaRPr lang="en-US" sz="1100"/>
          </a:p>
        </p:txBody>
      </p:sp>
      <p:sp>
        <p:nvSpPr>
          <p:cNvPr id="22" name="Freeform 22"/>
          <p:cNvSpPr/>
          <p:nvPr/>
        </p:nvSpPr>
        <p:spPr>
          <a:xfrm>
            <a:off x="3910363" y="2556689"/>
            <a:ext cx="5221995" cy="1830635"/>
          </a:xfrm>
          <a:custGeom>
            <a:avLst/>
            <a:gdLst/>
            <a:ahLst/>
            <a:cxnLst/>
            <a:rect l="l" t="t" r="r" b="b"/>
            <a:pathLst>
              <a:path w="5221995" h="1830635">
                <a:moveTo>
                  <a:pt x="0" y="1795750"/>
                </a:moveTo>
                <a:cubicBezTo>
                  <a:pt x="1272449" y="1813192"/>
                  <a:pt x="2544896" y="1830635"/>
                  <a:pt x="3415228" y="1531344"/>
                </a:cubicBezTo>
                <a:cubicBezTo>
                  <a:pt x="4285560" y="1232052"/>
                  <a:pt x="5221995" y="0"/>
                  <a:pt x="5221995" y="0"/>
                </a:cubicBezTo>
                <a:lnTo>
                  <a:pt x="5221995" y="0"/>
                </a:lnTo>
                <a:lnTo>
                  <a:pt x="5221995" y="0"/>
                </a:lnTo>
                <a:lnTo>
                  <a:pt x="5221995" y="0"/>
                </a:lnTo>
              </a:path>
            </a:pathLst>
          </a:custGeom>
          <a:noFill/>
          <a:ln w="50800" cap="flat">
            <a:solidFill>
              <a:srgbClr val="548235">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5875153" y="2932084"/>
            <a:ext cx="6089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Jittor</a:t>
            </a:r>
            <a:endParaRPr lang="en-US" sz="1100"/>
          </a:p>
        </p:txBody>
      </p:sp>
      <p:sp>
        <p:nvSpPr>
          <p:cNvPr id="24" name="AutoShape 24"/>
          <p:cNvSpPr/>
          <p:nvPr/>
        </p:nvSpPr>
        <p:spPr>
          <a:xfrm>
            <a:off x="4231895" y="2460109"/>
            <a:ext cx="1414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Ecosystems</a:t>
            </a:r>
            <a:endParaRPr lang="en-US" sz="1100"/>
          </a:p>
        </p:txBody>
      </p:sp>
      <p:sp>
        <p:nvSpPr>
          <p:cNvPr id="25" name="AutoShape 25"/>
          <p:cNvSpPr/>
          <p:nvPr/>
        </p:nvSpPr>
        <p:spPr>
          <a:xfrm>
            <a:off x="7839321" y="2280314"/>
            <a:ext cx="12115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Compilers</a:t>
            </a:r>
            <a:endParaRPr lang="en-US" sz="1100"/>
          </a:p>
        </p:txBody>
      </p:sp>
      <p:sp>
        <p:nvSpPr>
          <p:cNvPr id="26" name="AutoShape 26"/>
          <p:cNvSpPr/>
          <p:nvPr/>
        </p:nvSpPr>
        <p:spPr>
          <a:xfrm>
            <a:off x="4073262" y="4487887"/>
            <a:ext cx="60071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TVM</a:t>
            </a:r>
            <a:endParaRPr lang="en-US" sz="1100"/>
          </a:p>
        </p:txBody>
      </p:sp>
      <p:sp>
        <p:nvSpPr>
          <p:cNvPr id="27" name="AutoShape 27"/>
          <p:cNvSpPr/>
          <p:nvPr/>
        </p:nvSpPr>
        <p:spPr>
          <a:xfrm>
            <a:off x="6027260" y="4401090"/>
            <a:ext cx="6680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28" name="AutoShape 28"/>
          <p:cNvSpPr/>
          <p:nvPr/>
        </p:nvSpPr>
        <p:spPr>
          <a:xfrm>
            <a:off x="4003735" y="4819437"/>
            <a:ext cx="198310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Tensorcomprehensions</a:t>
            </a:r>
            <a:endParaRPr lang="en-US" sz="1100"/>
          </a:p>
        </p:txBody>
      </p:sp>
      <p:sp>
        <p:nvSpPr>
          <p:cNvPr id="29" name="AutoShape 29"/>
          <p:cNvSpPr/>
          <p:nvPr/>
        </p:nvSpPr>
        <p:spPr>
          <a:xfrm>
            <a:off x="7370495" y="3930803"/>
            <a:ext cx="159956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Arial" panose="020B0604020202020204"/>
                <a:ea typeface="Arial" panose="020B0604020202020204"/>
                <a:cs typeface="Arial" panose="020B0604020202020204"/>
                <a:sym typeface="Arial" panose="020B0604020202020204"/>
              </a:rPr>
              <a:t>TorchInductor</a:t>
            </a:r>
            <a:endParaRPr lang="en-US" sz="1100"/>
          </a:p>
        </p:txBody>
      </p:sp>
      <p:sp>
        <p:nvSpPr>
          <p:cNvPr id="30" name="AutoShape 30"/>
          <p:cNvSpPr/>
          <p:nvPr/>
        </p:nvSpPr>
        <p:spPr>
          <a:xfrm>
            <a:off x="7062682" y="4226599"/>
            <a:ext cx="155511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Arial" panose="020B0604020202020204"/>
                <a:ea typeface="Arial" panose="020B0604020202020204"/>
                <a:cs typeface="Arial" panose="020B0604020202020204"/>
                <a:sym typeface="Arial" panose="020B0604020202020204"/>
              </a:rPr>
              <a:t>OpenAI Triton</a:t>
            </a:r>
            <a:endParaRPr lang="en-US" sz="1100"/>
          </a:p>
        </p:txBody>
      </p:sp>
      <p:sp>
        <p:nvSpPr>
          <p:cNvPr id="31" name="AutoShape 31"/>
          <p:cNvSpPr/>
          <p:nvPr/>
        </p:nvSpPr>
        <p:spPr>
          <a:xfrm>
            <a:off x="8161769" y="3552909"/>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32" name="AutoShape 32"/>
          <p:cNvSpPr/>
          <p:nvPr/>
        </p:nvSpPr>
        <p:spPr>
          <a:xfrm>
            <a:off x="5188840" y="4422846"/>
            <a:ext cx="5492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XLA</a:t>
            </a:r>
            <a:endParaRPr lang="en-US" sz="1100"/>
          </a:p>
        </p:txBody>
      </p:sp>
      <p:sp>
        <p:nvSpPr>
          <p:cNvPr id="33" name="AutoShape 33"/>
          <p:cNvSpPr/>
          <p:nvPr/>
        </p:nvSpPr>
        <p:spPr>
          <a:xfrm>
            <a:off x="8872894" y="2913362"/>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34" name="Freeform 34"/>
          <p:cNvSpPr/>
          <p:nvPr/>
        </p:nvSpPr>
        <p:spPr>
          <a:xfrm>
            <a:off x="7629424" y="2205213"/>
            <a:ext cx="3926142" cy="2562112"/>
          </a:xfrm>
          <a:custGeom>
            <a:avLst/>
            <a:gdLst/>
            <a:ahLst/>
            <a:cxnLst/>
            <a:rect l="l" t="t" r="r" b="b"/>
            <a:pathLst>
              <a:path w="3926142" h="2562112">
                <a:moveTo>
                  <a:pt x="0" y="2513286"/>
                </a:moveTo>
                <a:cubicBezTo>
                  <a:pt x="956686" y="2537699"/>
                  <a:pt x="1913372" y="2562112"/>
                  <a:pt x="2567729" y="2143232"/>
                </a:cubicBezTo>
                <a:cubicBezTo>
                  <a:pt x="3222085" y="1724351"/>
                  <a:pt x="3926142" y="0"/>
                  <a:pt x="3926142" y="0"/>
                </a:cubicBezTo>
                <a:lnTo>
                  <a:pt x="3926142" y="0"/>
                </a:lnTo>
                <a:lnTo>
                  <a:pt x="3926142" y="0"/>
                </a:lnTo>
                <a:lnTo>
                  <a:pt x="3926142" y="0"/>
                </a:lnTo>
              </a:path>
            </a:pathLst>
          </a:custGeom>
          <a:noFill/>
          <a:ln w="508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8161769" y="4804129"/>
            <a:ext cx="112712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FlashAttn</a:t>
            </a:r>
            <a:endParaRPr lang="en-US" sz="1100"/>
          </a:p>
        </p:txBody>
      </p:sp>
      <p:sp>
        <p:nvSpPr>
          <p:cNvPr id="36" name="AutoShape 36"/>
          <p:cNvSpPr/>
          <p:nvPr/>
        </p:nvSpPr>
        <p:spPr>
          <a:xfrm>
            <a:off x="10560724" y="2071171"/>
            <a:ext cx="7416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LLMs</a:t>
            </a:r>
            <a:endParaRPr lang="en-US" sz="1100"/>
          </a:p>
        </p:txBody>
      </p:sp>
      <p:sp>
        <p:nvSpPr>
          <p:cNvPr id="37" name="AutoShape 37"/>
          <p:cNvSpPr/>
          <p:nvPr/>
        </p:nvSpPr>
        <p:spPr>
          <a:xfrm>
            <a:off x="9160969" y="4634435"/>
            <a:ext cx="190817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Segment anything fast</a:t>
            </a:r>
            <a:endParaRPr lang="en-US" sz="1100"/>
          </a:p>
        </p:txBody>
      </p:sp>
      <p:sp>
        <p:nvSpPr>
          <p:cNvPr id="38" name="AutoShape 38"/>
          <p:cNvSpPr/>
          <p:nvPr/>
        </p:nvSpPr>
        <p:spPr>
          <a:xfrm>
            <a:off x="10296760" y="4137627"/>
            <a:ext cx="9347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unsloth</a:t>
            </a:r>
            <a:endParaRPr lang="en-US" sz="1100"/>
          </a:p>
        </p:txBody>
      </p:sp>
      <p:sp>
        <p:nvSpPr>
          <p:cNvPr id="39" name="AutoShape 39"/>
          <p:cNvSpPr/>
          <p:nvPr/>
        </p:nvSpPr>
        <p:spPr>
          <a:xfrm>
            <a:off x="9897939" y="4380765"/>
            <a:ext cx="88455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gptfast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Why Triton?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Balancing Productivity and Performance</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Productivity-Performance Dilemma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Frameworks like PyTorch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High productivity, but "fusing" custom operators often requires using CUDA C++ to avoid overhead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CUDA 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Offers maximum hardware utilization but is notoriously difficult to write, debug, and maintain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Gap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Most researchers cannot afford weeks of development time to optimize a single CUDA kernel</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Triton’s "Secret Sauce"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Abstraction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Don't manage individual threads; you manage blocks of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Parallelization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compiler handles memory coalescing, shared memory allocation, and hardware scheduling.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OpenAI Backing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Developed specifically to make GPU programming accessible for the next generation of AI models.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Triton Execution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From Threads to Blocks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CUDA Model: Focuses on Threads and Warps. Developers must manually manage synchronization and shared memory.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Triton Model: Focuses on Programs and Blocks. You write code that operates on a "tile" (Block) of data as a single unit.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Key Components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Grid (Coordinate Space) The Grid is a 1D, 2D, or 3D space of execution instances. When you launch a kernel, you define the grid size (e.g., grid=(1024, )). Each point in this grid is called a Program.</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Program (Instance) A Program is an independent execution instance of your kernel. Programs run in parallel across the GPU's Compute Units. Each program identifies itself using tl.program_id(axis).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Block (Data Unit) A Block is a contiguous chunk of data (a "tile") processed by one Program. Constraint: Block sizes must be powers of two (e.g., 128, 256, 512, 1024) to allow for hardware-level optimizations.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Anatomy &amp; Pointer Arithmetic</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Defining a Triton Kernel</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@triton.jit Decorator: Transforms a standard Python function into a GPU-executable kernel.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Function Signature: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Pointers: Memory addresses for inputs/outputs (e.g., x_ptr).</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Metadata: Size constants or strides (e.g., n_elements).tl.constexpr: Special arguments that must be known at compile-time (like BLOCK_SIZE).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Core Logic: Pointer Arithmetic</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Identify the Program: pid = tl.program_id(axis=0)Calculate the Start Offset: block_start = pid * BLOCK_SIZE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Generate a Range of Offsets: offsets = block_start + tl.arange(0, BLOCK_SIZE)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Construct Pointers: pointers = base_ptr + offsets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Visualizing the Address Map</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tl.arange(0, 4) $\rightarrow$ [0, 1, 2, 3]</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base_ptr + [0, 1, 2, 3] $\rightarrow$ A vector of 4 memory addresses.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Operations — Load, Store, and Masking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Data Bridge: Global Memory (DRAM) &lt;-&gt; SRAM/Registers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tl.load(pointers,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Reads a block of data from the addresses specified by the pointers.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Triton automatically ensures "Coalesced Memory Access," meaning the hardware reads data in the most efficient bursts possible.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tl.store(pointers, data,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Writes the computed results from the registers back to Global Memory.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"Masking" Essential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Because Triton requires Block Sizes to be powers of two (e.g., 512), but your actual data might not be (e.g., 500 elements), you must prevent out-of-bounds memory access.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Logic: Create a boolean mask where offsets &lt; total_elements.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Syntax: Python mask = offsets &lt; n_elements data = tl.load(ptr + offsets, mask=mask)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Benefit: If the mask is False, the operation is safely ignored, preventing segmentation faults.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Vector Addition Kernel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6" name="AutoShape 6"/>
          <p:cNvSpPr/>
          <p:nvPr/>
        </p:nvSpPr>
        <p:spPr>
          <a:xfrm>
            <a:off x="1904365" y="1323975"/>
            <a:ext cx="8382635" cy="5304790"/>
          </a:xfrm>
          <a:prstGeom prst="rect">
            <a:avLst/>
          </a:prstGeom>
          <a:noFill/>
          <a:ln w="12700">
            <a:solidFill>
              <a:srgbClr val="262626">
                <a:alpha val="100000"/>
              </a:srgbClr>
            </a:solid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Droid Sans Mono"/>
                <a:ea typeface="Droid Sans Mono"/>
                <a:cs typeface="Droid Sans Mono"/>
                <a:sym typeface="Droid Sans Mono"/>
              </a:rPr>
              <a:t>import triton</a:t>
            </a:r>
            <a:endParaRPr lang="en-US" sz="1100"/>
          </a:p>
          <a:p>
            <a:pPr indent="0" algn="l">
              <a:lnSpc>
                <a:spcPct val="100000"/>
              </a:lnSpc>
            </a:pPr>
            <a:r>
              <a:rPr lang="en-US" sz="1200" b="0" i="0" u="none" strike="noStrike">
                <a:solidFill>
                  <a:srgbClr val="000000"/>
                </a:solidFill>
                <a:latin typeface="Droid Sans Mono"/>
                <a:ea typeface="Droid Sans Mono"/>
                <a:cs typeface="Droid Sans Mono"/>
                <a:sym typeface="Droid Sans Mono"/>
              </a:rPr>
              <a:t>import triton.language as tl</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@triton.jit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def add_kernel(</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x_ptr,  # Pointer to first input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y_ptr,  # Pointer to second input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out_ptr, # Pointer to output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n_elements, # Size of the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BLOCK_SIZE: tl.constexpr, # Compile-time constant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1. Identify which "Tile" this program handles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pid = tl.program_id(axis=0)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2. Calculate memory offsets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block_start = pid * BLOCK_SIZE</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offsets = block_start + tl.arange(0, BLOCK_SIZE)</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3. Create a mask to avoid out-of-bounds access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mask = offsets &lt; n_elements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4. Load data from DRAM to Registers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x = tl.load(x_ptr + offsets, mask=mask)</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y = tl.load(y_ptr + offsets, mask=mask)</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5. Perform the operation and Store back to DRAM</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output = x + y</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tl.store(out_ptr + offsets, output, mask=mask)</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Launching the Kernel from Python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Host-Device Interaction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Calculating the Grid Size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p>
          <a:p>
            <a:pPr marL="685800" lvl="2" indent="0" algn="l">
              <a:lnSpc>
                <a:spcPct val="92000"/>
              </a:lnSpc>
              <a:spcBef>
                <a:spcPts val="750"/>
              </a:spcBef>
            </a:p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Call Syntax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p>
          <a:p>
            <a:pPr marL="685800" lvl="2" indent="0" algn="l">
              <a:lnSpc>
                <a:spcPct val="92000"/>
              </a:lnSpc>
              <a:spcBef>
                <a:spcPts val="750"/>
              </a:spcBef>
            </a:pPr>
          </a:p>
          <a:p>
            <a:pPr marL="685800" lvl="2" indent="0" algn="l">
              <a:lnSpc>
                <a:spcPct val="92000"/>
              </a:lnSpc>
              <a:spcBef>
                <a:spcPts val="750"/>
              </a:spcBef>
            </a:p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Key Mechanics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Lazy Compilation: Triton compiles the kernel the first time it is called. Subsequent calls are near-instant.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Autotuning (Preview): Triton can automatically test different BLOCK_SIZE values to find the fastest one for your specific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724660" y="2129790"/>
            <a:ext cx="6407150" cy="460375"/>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 A common pattern to calculate grid size</a:t>
            </a:r>
            <a:endParaRPr lang="en-US" sz="1100"/>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grid = lambda meta: (triton.cdiv(n_elements, meta['BLOCK_SIZE']), )</a:t>
            </a:r>
            <a:endParaRPr lang="en-US" sz="1200" b="0" i="0" u="none" strike="noStrike">
              <a:solidFill>
                <a:srgbClr val="000000"/>
              </a:solidFill>
              <a:latin typeface="Droid Sans Mono"/>
              <a:ea typeface="Droid Sans Mono"/>
              <a:cs typeface="Droid Sans Mono"/>
              <a:sym typeface="Droid Sans Mono"/>
            </a:endParaRPr>
          </a:p>
        </p:txBody>
      </p:sp>
      <p:sp>
        <p:nvSpPr>
          <p:cNvPr id="7" name="AutoShape 7"/>
          <p:cNvSpPr/>
          <p:nvPr/>
        </p:nvSpPr>
        <p:spPr>
          <a:xfrm>
            <a:off x="1724660" y="3027680"/>
            <a:ext cx="6407150" cy="8026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add_kernel[grid](</a:t>
            </a:r>
            <a:endParaRPr lang="en-US" sz="1100"/>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x, y, output, n_elements, </a:t>
            </a:r>
            <a:endParaRPr lang="en-US" sz="1200"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BLOCK_SIZE=1024  # Passed as a tl.constexpr</a:t>
            </a:r>
            <a:endParaRPr lang="en-US" sz="1200"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The Power of Compile-Time Constants &amp; Specialization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use tl.constexpr?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 The compiler can unroll loops if the number of iterations is a constant.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Allocation: Hardware needs to know exactly how much memory to reserve before the kernel starts.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Dead Code Elimination: If a tl.constexpr value makes a condition always False, the compiler removes that code entirely.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Specialization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generates a new version of the kernel for every unique combination of constexpr values and data types.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Scenario A: Launch with BLOCK_SIZE=128 → Compiled Kernel V1.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Scenario B: Launch with BLOCK_SIZE=512 → Compiled Kernel V2.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 No "if-statements" at runtime to check the block size; the code is hard-coded for that specific size, leading to maximum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Moving to 2D: Tiling &amp; Matrix Multiplication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100" b="0" i="0" u="none" strike="noStrike" spc="0">
                <a:solidFill>
                  <a:srgbClr val="404040">
                    <a:alpha val="100000"/>
                  </a:srgbClr>
                </a:solidFill>
                <a:latin typeface="Calibri" panose="020F0502020204030204"/>
              </a:defRPr>
            </a:lvl1pPr>
          </a:lstStyle>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Beyond Vectors: Thinking in Tiles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offs_m = tl.arange(0, BLOCK_SIZE_M) (Vertical)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offs_n = tl.arange(0, BLOCK_SIZE_N) (Horizontal)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tile_pointers = base_ptr + offs_m[:, None] * stride_m + offs_n[None, :] * stride_n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The tl.dot Primitive</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Matrix Multiplication ($C = A \times B$) is the "heavy lifter" of AI. Triton provides a hardware-accelerated primitive for this: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Syntax: accumulator = tl.dot(a_tile, b_tile, accumulator)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Requirement: Triton's tl.dot requires input tiles to be powers of two and typically at least 16 in dimension (depending on GPU architecture).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Memory Layout: Strides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navigate 2D memory, Triton uses Strides. A stride tells the kernel how many elements to skip in memory to move to the next row or column.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row_major_stride = [Width, 1]</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Understanding the Memory Hierarchy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5" y="1132840"/>
            <a:ext cx="6553835" cy="4853305"/>
          </a:xfrm>
          <a:prstGeom prst="rect">
            <a:avLst/>
          </a:prstGeom>
        </p:spPr>
        <p:txBody>
          <a:bodyPr wrap="square" lIns="91440" tIns="45720" rIns="91440" bIns="45720" anchor="t">
            <a:normAutofit fontScale="90000" lnSpcReduction="10000"/>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Global Memory (DRAM)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The large, "slow" memory on the GPU (e.g., 16GB HBM).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Role: Where your input and output tensors (PyTorch tensors) reside.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Access: Costly. We use tl.load and tl.store to access it.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(SRAM)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Fast, on-chip memory shared by a multiprocessor.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Triton’s Advantage: In CUDA, you must manage this manually (__shared__). In Triton, the compiler automatically uses SRAM to buffer data during operations like tl.dot.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Registers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The fastest, immediate storage for the "Program."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Role: Where actual arithmetic ($+, -, \times$) happens.Scale: Smallest capacity; Triton optimizes register allocation to prevent "spilling."</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xfrm>
            <a:off x="7247890" y="1132840"/>
            <a:ext cx="4601210" cy="485584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Flow of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Global Memory $\rightarrow$ Registers (via SRAM)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Arithmetic performed on Registers.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Store: Registers $\rightarrow$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Common Built-in Functions &amp; 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Element-wise Math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Arithmetic: +, -, *, /,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Math: tl.exp(), tl.log(), tl.sqrt(), tl.sin(), tl.cos()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 ==, !=, &lt;, &gt;, tl.where(condition, x, 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tl.sum(data, axis=...): Computes the sum along the specified axis.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tl.max(data, axis=...): Finds the maximum value.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tl.argmin() / tl.argmax(): Finds the index of the min/max.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Atomic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tl.atomic_add(pointer, value,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tl.atomic_max(pointer, value,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Softmax &amp; Dimensional 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6" name="AutoShape 6"/>
          <p:cNvSpPr/>
          <p:nvPr/>
        </p:nvSpPr>
        <p:spPr>
          <a:xfrm>
            <a:off x="1776095" y="1132840"/>
            <a:ext cx="8640000" cy="51587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Droid Sans Mono"/>
                <a:ea typeface="Droid Sans Mono"/>
                <a:cs typeface="Droid Sans Mono"/>
                <a:sym typeface="Droid Sans Mono"/>
              </a:rPr>
              <a:t>@triton.jit</a:t>
            </a:r>
            <a:endParaRPr lang="en-US" sz="1100"/>
          </a:p>
          <a:p>
            <a:pPr indent="0" algn="l">
              <a:lnSpc>
                <a:spcPct val="100000"/>
              </a:lnSpc>
            </a:pPr>
            <a:r>
              <a:rPr lang="en-US" sz="1600" b="0" i="0" u="none" strike="noStrike">
                <a:solidFill>
                  <a:srgbClr val="000000"/>
                </a:solidFill>
                <a:latin typeface="Droid Sans Mono"/>
                <a:ea typeface="Droid Sans Mono"/>
                <a:cs typeface="Droid Sans Mono"/>
                <a:sym typeface="Droid Sans Mono"/>
              </a:rPr>
              <a:t>def softmax_kernel(output_ptr, input_ptr, row_stride, n_cols, BLOCK_SIZE: tl.constexpr):</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row_idx = tl.program_id(0)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Move pointer to the start of the current row</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row_start_ptr = input_ptr + row_idx * row_stride</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offsets = tl.arange(0, BLOCK_SIZE)</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mask = offsets &lt; n_cols</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Load data</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x = tl.load(row_start_ptr + offsets, mask=mask, other=-float('inf'))</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Compute Safe Softmax</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z = x - tl.max(x, axis=0)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numerator = tl.exp(z)</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denominator = tl.sum(numerator, axis=0)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softmax_out = numerator / denominator</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Store result</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tl.store(output_ptr + row_idx * row_stride + offsets, softmax_out, mask=mask)</a:t>
            </a:r>
            <a:endParaRPr lang="en-US" sz="1600"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Debugging &amp; The Triton Interpreter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800" b="0"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Challenge: Debugging the GPU</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GPU debugging (using cuda-gdb or Nsight) is complex. Because Triton kernels are JIT-compiled and highly parallel, "printing" variables from inside the GPU is not straightforward.</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Interpreter (CPU Mode)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Triton provides a built-in Interpreter that allows you to run your kernel on the CPU for debugging purposes.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How it works: Instead of compiling to PTX (GPU machine code), Triton executes the logic using NumPy-like operations on the CPU.</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Key Benefit: You can use standard Python tools like print() or pdb.set_trace() inside your @triton.jit function.Activation:Python# Force execution on the CPU interpreter</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Best Practices for Debugging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Start Small: Use a small BLOCK_SIZE (e.g., 8 or 16) and a small input vector.</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Verify Masks: Check if your masking logic is correctly handling out-of-bounds indices.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Check Shapes: Ensure that your 2D tiles and tl.dot inputs have compatible dimensions.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172210" y="3822065"/>
            <a:ext cx="4320000" cy="8026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422275" lvl="1"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import os</a:t>
            </a:r>
            <a:endParaRPr lang="en-US" sz="1100"/>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os.environ["TRITON_INTERPRET"] = "1"</a:t>
            </a:r>
            <a:endParaRPr lang="en-US" sz="1200"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Now calling the kernel will run on CPU</a:t>
            </a:r>
            <a:endParaRPr lang="en-US" sz="1200"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add_kernel[grid](...)</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Optimization &amp; Autotuning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Finding the "Sweet Spot"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on a GPU depends heavily on hardware-specific parameters like Block Size and the number of Warps. A configuration that is fast on an NVIDIA A100 might be slow on an RTX 4090.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triton.autotune DecoratorInstead of hard-coding values, you can provide Triton with a list of configurations to test. Triton will automatically benchmark them and pick the winner.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23875" y="3721735"/>
            <a:ext cx="5400000" cy="17678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000" b="0" i="0" u="none" strike="noStrike">
                <a:solidFill>
                  <a:srgbClr val="000000"/>
                </a:solidFill>
                <a:latin typeface="Droid Sans Mono"/>
                <a:ea typeface="Droid Sans Mono"/>
                <a:cs typeface="Droid Sans Mono"/>
                <a:sym typeface="Droid Sans Mono"/>
              </a:rPr>
              <a:t>@triton.autotune(</a:t>
            </a:r>
            <a:endParaRPr lang="en-US" sz="1100"/>
          </a:p>
          <a:p>
            <a:pPr indent="0" algn="l">
              <a:lnSpc>
                <a:spcPct val="100000"/>
              </a:lnSpc>
            </a:pPr>
            <a:r>
              <a:rPr lang="en-US" sz="1000" b="0" i="0" u="none" strike="noStrike">
                <a:solidFill>
                  <a:srgbClr val="000000"/>
                </a:solidFill>
                <a:latin typeface="Droid Sans Mono"/>
                <a:ea typeface="Droid Sans Mono"/>
                <a:cs typeface="Droid Sans Mono"/>
                <a:sym typeface="Droid Sans Mono"/>
              </a:rPr>
              <a:t>configs=[</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128}, num_warps=4),</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256}, num_warps=8),</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512}, num_warps=8),</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key=['n_elements'], # Re-run tuning if N changes significantly</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@triton.jit</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def optimized_kernel(..., BLOCK_SIZE: tl.constexpr):</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6401435" y="3721735"/>
            <a:ext cx="5400000" cy="1844041"/>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Key Tuning Knobs</a:t>
            </a:r>
            <a:endParaRPr lang="en-US" sz="1100"/>
          </a:p>
          <a:p>
            <a:pPr marL="254000" lvl="1" indent="-203200" algn="l">
              <a:lnSpc>
                <a:spcPct val="100000"/>
              </a:lnSpc>
              <a:buClr>
                <a:srgbClr val="000000"/>
              </a:buClr>
              <a:buChar cha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num_warps: Controls how many warps (groups of 32 threads) execute the block. More warps can hide memory latency but use more registers.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marL="254000" lvl="1" indent="-203200" algn="l">
              <a:lnSpc>
                <a:spcPct val="100000"/>
              </a:lnSpc>
              <a:buClr>
                <a:srgbClr val="000000"/>
              </a:buClr>
              <a:buChar cha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num_stages: Controls software pipelining. Higher values allow the GPU to load the next block of data while calculating the current one.</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Matrix Multiplication: Strides &amp; Layout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Constructing 2D Tile Pointers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Strides Matter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Strides allow your kernel to handle Transposed Matrices or Sub-views (Slices) without copying data.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Proper strides ensure "Coalesced" access, where the GPU reads contiguous memory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985010" y="1877695"/>
            <a:ext cx="7200265" cy="2030095"/>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Droid Sans Mono"/>
                <a:ea typeface="Droid Sans Mono"/>
                <a:cs typeface="Droid Sans Mono"/>
                <a:sym typeface="Droid Sans Mono"/>
              </a:rPr>
              <a:t># Create 1D offset vectors</a:t>
            </a:r>
            <a:endParaRPr lang="en-US" sz="1100"/>
          </a:p>
          <a:p>
            <a:pPr indent="0" algn="l">
              <a:lnSpc>
                <a:spcPct val="100000"/>
              </a:lnSpc>
            </a:pPr>
            <a:r>
              <a:rPr lang="en-US" sz="1600" b="0" i="0" u="none" strike="noStrike">
                <a:solidFill>
                  <a:srgbClr val="000000"/>
                </a:solidFill>
                <a:latin typeface="Droid Sans Mono"/>
                <a:ea typeface="Droid Sans Mono"/>
                <a:cs typeface="Droid Sans Mono"/>
                <a:sym typeface="Droid Sans Mono"/>
              </a:rPr>
              <a:t>offs_m = tl.arange(0, BLOCK_SIZE_M)</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offs_n = tl.arange(0, BLOCK_SIZE_N)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Combine into 2D pointer grid (M, 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[M, 1] * stride_m + [1, N] * stride_n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tile_ptr = base_ptr + (offs_m[:, None] * stride_m +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offs_n[None, :] * stride_n)</a:t>
            </a:r>
            <a:endParaRPr lang="en-US" sz="1600"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Software Pipelining &amp; num_stages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fontScale="9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1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Overcoming the Memory Wall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Arithmetic operations on a GPU (like floating-point additions) are much faster than the time it takes to fetch data from Global Memory. To prevent the GPU from sitting idle while waiting for data, we use Software Pipelining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What is Software Pipelining?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Instead of a "Load-then-Compute" sequence, the compiler overlaps them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data for the next iteration while computing the current iteration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Benefit: Hides memory latency by keeping the arithmetic logic units (ALUs) busy.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fontScale="90000" lnSpcReduction="10000"/>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10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num_stages Parameter</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Triton, this is a tuning knob that determines the depth of the pipeline.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num_stages=2: Standard double-buffering.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num_stages=3+: Used for complex kernels (like FlashAttention) to pre-fetch data even further in advance.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Hardware Requirement: This feature leverages NVIDIA's cp.async instructions, which allow the hardware to move data from Global Memory to SRAM asynchronously.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Balancing Act</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Higher num_stages: Better latency hiding but uses more SRAM.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Lower num_stages: Saves memory but might lead to "pipeline stalls" where the compute units wait for data.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vs. CUDA — Shifting Your Mental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A Philosophical Shift</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When to use which?</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Use CUDA if: extreme bit-level manipulation, irregular data structures, or legacy h/w support.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Use Triton if: building DL ops (MatMul, Attn, Norms) and want high perf. with 10x faster devel.</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018540" y="1908175"/>
          <a:ext cx="8280000" cy="2286000"/>
        </p:xfrm>
        <a:graphic>
          <a:graphicData uri="http://schemas.openxmlformats.org/drawingml/2006/table">
            <a:tbl>
              <a:tblPr>
                <a:effectLst/>
              </a:tblPr>
              <a:tblGrid>
                <a:gridCol w="1800000"/>
                <a:gridCol w="3240000"/>
                <a:gridCol w="3240000"/>
              </a:tblGrid>
              <a:tr h="381000">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Feature</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CUDA C++ (Thread-Centric)</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Triton (Block-Centric)</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Unit of Work</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Single Thread</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Block / Tile (e.g., 128x128)</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Index</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threadIdx, blockIdx</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tl.program_id, tl.arange</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Communication</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Implicit (Handled by Compiler)</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Implicit (Handled by Compiler)</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Optimization</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Automatic via Tiled Abstraction</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Automatic via Tiled Abstraction</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Portability</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Target-specific (PTX/SASS)</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High-level IR (Easier to retarget)</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Limitations &amp; Current Constraints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Structural Constraints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Power of Two: Block sizes (M, N, K) must be powers of two (e.g., 64, 128, 1024). This is a hard requirement for the compiler's tiling logic.</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Static Shapes: While tensors can have dynamic sizes, the BLOCK_SIZE must be a tl.constexpr (fixed at compile time for each specialized version).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Control Flow Restrictions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No Unstructured Jumps: Triton supports if and else, but complex, highly divergent branching (common in graph algorithms) can lead to significant performance degradation.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Limited Recursion: High-performance kernels are generally flat; recursive logic is not supported.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Hardware Support</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Primary Platform: Highly optimized for NVIDIA GPUs (Ampere, Hopper, etc.).</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Evolving Support: Support for AMD (ROCm) and Intel GPUs is improving but may lag behind in feature parity or specialized performance primitives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Learning Path: The 4-Stage Roadmap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Level 1: The Basics (1D)</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Goal: Master the "Triton Mindset."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Vector Addition and Layer Normalization.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Focus: Pointer arithmetic, tl.arange, and the critical importance of Masking.</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Level 2: Reductions &amp; Memory (Intermediate)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Goal: Understand how blocks communicate internally.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Softmax or a Fast Dropout kernel.</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Focus: tl.sum, tl.max, and using other values in loads for numerical stability.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Level 3: Tiling &amp; Strides (Advanced)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Goal: High-performance 2D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Task: Build a Matrix Multiplication (MatMul) from scratch.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Focus: 2D broadcasting, tl.dot, and optimizing Strides for memory coalescing.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Level 4: Production Optimization (Expert)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Goal: Squeeze every TFLOPS out of the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FlashAttention or fused Transformer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Focus: autotune, num_stages (pipelining), and num_warps.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Conclusion &amp; Next Steps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Revolution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Near-CUDA speeds with a fraction of the code complexity.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Accessibility: If you can write Python and understand NumPy, you can write GPU kernels.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Let the compiler handle the "dirty work" of memory management, synchronization, and hardware specialized instructions.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Key Resources for Further Exploration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Official documents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triton-lang.org/main/index.html"/>
              </a:rPr>
              <a:t>https://triton-lang.org/main/index.html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community meetup notes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github.com/triton-lang/triton/tree/main/docs/meetups"/>
              </a:rPr>
              <a:t>https://github.com/triton-lang/triton/tree/main/docs/meetups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Blog (OpenAI) https://openai.com/index/triton/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Example: FlashAttention in Triton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github.com/dao-ailab/flash-attention/blob/main/flash_attn/flash_attn_triton.py"/>
              </a:rPr>
              <a:t>https://github.com/Dao-AILab/flash-attention/blob/main/flash_attn/flash_attn_triton.py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Final Thought: "The goal of Triton is not just to make GPU programming faster, but to make it programmable by the researchers who are actually designing the models."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05: Environment Setup and Toolchain Configuration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FlagOS  Ecosystem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“Model-System-Chip” Decoupling, “Develop Once, Run Everywhere”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(Intelligent Source): LLM -Driven Operator Generation and Test Verification Agent </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(High-Performance Operator Library): Based on  Triton , a High-Performance Generalized Operator Library.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 (Compilation Engine): A Unified  MLIR  Compiler Bridging Operators to Over Ten Heterogeneous Chip Architectures.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3601720" y="3537585"/>
            <a:ext cx="5532043" cy="2639695"/>
            <a:chOff x="3601720" y="3537585"/>
            <a:chExt cx="5532043" cy="2639695"/>
          </a:xfrm>
        </p:grpSpPr>
        <p:pic>
          <p:nvPicPr>
            <p:cNvPr id="7" name="Picture 7"/>
            <p:cNvPicPr>
              <a:picLocks noChangeAspect="1"/>
            </p:cNvPicPr>
            <p:nvPr/>
          </p:nvPicPr>
          <p:blipFill>
            <a:blip r:embed="rId1"/>
            <a:srcRect/>
            <a:stretch>
              <a:fillRect/>
            </a:stretch>
          </p:blipFill>
          <p:spPr>
            <a:xfrm>
              <a:off x="3601720" y="3537585"/>
              <a:ext cx="5532043" cy="2639695"/>
            </a:xfrm>
            <a:prstGeom prst="rect">
              <a:avLst/>
            </a:prstGeom>
            <a:ln w="12700">
              <a:noFill/>
              <a:prstDash val="solid"/>
            </a:ln>
          </p:spPr>
        </p:pic>
        <p:sp>
          <p:nvSpPr>
            <p:cNvPr id="8" name="AutoShape 8"/>
            <p:cNvSpPr/>
            <p:nvPr/>
          </p:nvSpPr>
          <p:spPr>
            <a:xfrm>
              <a:off x="3601720" y="4795738"/>
              <a:ext cx="1751749" cy="1381542"/>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LabObjectives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Independently complete  FlagOS  development environment setup (Docker  or  Conda  route)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Successfully install and verify  CUDA Toolkit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NVCC) and  Triton  Compiler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Clone  flagos-ai/FlagGems  repository and pass compilation verification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 the first  Hello World Triton Kernel, understand the basic execution workflow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Prerequisites: Lectures  1–4  foundational theory; basic  Linux  command-line proficiency; GitHub  account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Environment Specifications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Requirements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Capability ≥ 8.0, recommended:  A100/A800  or  RTX 30  series or above)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 16 GB, Disk Space  ≥ 50 GB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Software Dependencies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OS	Ubuntu 20.04 / 22.04 LTS (recommended)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CUDA Toolkit	12.1  or  12.2 (compatible with  PyTorch 2.x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Python  Environment	3.10  or  3.11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Docker  Version	≥ 24.0 (optional route)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Procedures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Phase A: Environment Selection and Initialization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Choose one of the following two routes based on available resources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758950" y="2364740"/>
          <a:ext cx="9097645" cy="1311910"/>
        </p:xfrm>
        <a:graphic>
          <a:graphicData uri="http://schemas.openxmlformats.org/drawingml/2006/table">
            <a:tbl>
              <a:tblPr>
                <a:effectLst/>
              </a:tblPr>
              <a:tblGrid>
                <a:gridCol w="9097645"/>
              </a:tblGrid>
              <a:tr h="451485">
                <a:tc>
                  <a:txBody>
                    <a:bodyPr rtlCol="0"/>
                    <a:lstStyle/>
                    <a:p>
                      <a:pPr indent="0" algn="just">
                        <a:lnSpc>
                          <a:spcPct val="100000"/>
                        </a:lnSpc>
                        <a:defRPr/>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Route 1 — Docker (Recommended)</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3053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docker pull nvcr.io/nvidia/pytorch:24.03-py3</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2989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docker run --gpus all -it --name flaggems-dev -v $(pwd):/workspace ...</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1758950" y="4133215"/>
          <a:ext cx="9097645" cy="1860550"/>
        </p:xfrm>
        <a:graphic>
          <a:graphicData uri="http://schemas.openxmlformats.org/drawingml/2006/table">
            <a:tbl>
              <a:tblPr>
                <a:effectLst/>
              </a:tblPr>
              <a:tblGrid>
                <a:gridCol w="9097645"/>
              </a:tblGrid>
              <a:tr h="482600">
                <a:tc>
                  <a:txBody>
                    <a:bodyPr rtlCol="0"/>
                    <a:lstStyle/>
                    <a:p>
                      <a:pPr indent="0" algn="just">
                        <a:lnSpc>
                          <a:spcPct val="100000"/>
                        </a:lnSpc>
                        <a:defRPr/>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Route 2 — Conda</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10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conda create -n flaggems python=3.11 -y</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74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conda activate flaggems</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10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pip install torch==2.3.0 triton==2.3.0</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Procedures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Phase B</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NVCC  and  CUDA  Verification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Phase C: Clone  FlagGems  and Install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635760" y="1878965"/>
          <a:ext cx="8004810" cy="1352550"/>
        </p:xfrm>
        <a:graphic>
          <a:graphicData uri="http://schemas.openxmlformats.org/drawingml/2006/table">
            <a:tbl>
              <a:tblPr>
                <a:effectLst/>
              </a:tblPr>
              <a:tblGrid>
                <a:gridCol w="8004810"/>
              </a:tblGrid>
              <a:tr h="45085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nvcc --version          # Verify CUDA  version</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085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nvidia-smi              # Verify GPU  visibility</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085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python -c "import torch; print(torch.cuda.is_available())"</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1635760" y="4038600"/>
          <a:ext cx="8047990" cy="2080260"/>
        </p:xfrm>
        <a:graphic>
          <a:graphicData uri="http://schemas.openxmlformats.org/drawingml/2006/table">
            <a:tbl>
              <a:tblPr>
                <a:effectLst/>
              </a:tblPr>
              <a:tblGrid>
                <a:gridCol w="8047990"/>
              </a:tblGrid>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git clone https://github.com/flagos-ai/FlagGems.git</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cd FlagGems</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pip install -e .         #  Install in development mode</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python -c "import flag_gems; print('FlagGems OK')"</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Procedures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Phase D</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Hello World Triton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Write and run the following minimal  Triton Kernel to complete print output verification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Observe  Triton 's  JIT  compilation output; record in the lab report the  PTX  file path and  Kernel  launch time.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690370" y="2830195"/>
          <a:ext cx="8373110" cy="3196590"/>
        </p:xfrm>
        <a:graphic>
          <a:graphicData uri="http://schemas.openxmlformats.org/drawingml/2006/table">
            <a:tbl>
              <a:tblPr>
                <a:effectLst/>
              </a:tblPr>
              <a:tblGrid>
                <a:gridCol w="8373110"/>
              </a:tblGrid>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import triton, triton.language as tl, torch</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@triton.jit</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hello_kernel(x_ptr, out_ptr, n: tl.constexpr):</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idx = tl.program_id(0)</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x = tl.load(x_ptr + idx)</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tl.store(out_ptr + idx, x * 2)</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Lab Report Requirements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Screenshots: terminal output of all four phases (nvcc version, GPU info, FlagGems import success, Kernel output)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Text: describe encountered environment issues and resolution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Analysis: compare  Docker  and  Conda  routes - pros and cons (within 200  words)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Bonus (optional): draw a toolchain call graph from  Python  code to  GPU  execution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081405" y="3966845"/>
          <a:ext cx="9110980" cy="1967865"/>
        </p:xfrm>
        <a:graphic>
          <a:graphicData uri="http://schemas.openxmlformats.org/drawingml/2006/table">
            <a:tbl>
              <a:tblPr>
                <a:effectLst/>
              </a:tblPr>
              <a:tblGrid>
                <a:gridCol w="2920365"/>
                <a:gridCol w="1751965"/>
                <a:gridCol w="4438650"/>
              </a:tblGrid>
              <a:tr h="412115">
                <a:tc>
                  <a:txBody>
                    <a:bodyPr rtlCol="0"/>
                    <a:lstStyle/>
                    <a:p>
                      <a:pPr indent="0" algn="ctr">
                        <a:lnSpc>
                          <a:spcPct val="100000"/>
                        </a:lnSpc>
                        <a:defRPr/>
                      </a:pPr>
                      <a:r>
                        <a:rPr lang="en-US" sz="1400" b="1" i="0" u="none" strike="noStrike">
                          <a:solidFill>
                            <a:srgbClr val="FFFFFF"/>
                          </a:solidFill>
                          <a:latin typeface="Arial Bold" panose="020B0604020202090204"/>
                          <a:ea typeface="Arial Bold" panose="020B0604020202090204"/>
                          <a:cs typeface="Arial Bold" panose="020B0604020202090204"/>
                          <a:sym typeface="Arial Bold" panose="020B0604020202090204"/>
                        </a:rPr>
                        <a:t>Assessment Dimension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Bold" panose="020B0604020202090204"/>
                          <a:ea typeface="Arial Bold" panose="020B0604020202090204"/>
                          <a:cs typeface="Arial Bold" panose="020B0604020202090204"/>
                          <a:sym typeface="Arial Bold" panose="020B060402020209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Bold" panose="020B0604020202090204"/>
                          <a:ea typeface="Arial Bold" panose="020B0604020202090204"/>
                          <a:cs typeface="Arial Bold" panose="020B0604020202090204"/>
                          <a:sym typeface="Arial Bold" panose="020B0604020202090204"/>
                        </a:rPr>
                        <a:t>Grading Criteria</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8925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Environment Configuration Completeness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All four phases completed with screenshot evidence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88620">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Kernel  Execution Verification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Hello World  output correct, compilation parameters recorded</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8925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Lab Report Quality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Thorough analysis, clear troubleshooting approach</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88620">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Bonus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Toolchain call graph accurate and complete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06: Vector Computation Basics </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3600" b="0" i="0" u="none" strike="noStrike">
                <a:solidFill>
                  <a:srgbClr val="767171"/>
                </a:solidFill>
                <a:latin typeface="Calibri" panose="020F0502020204030204"/>
                <a:ea typeface="Calibri" panose="020F0502020204030204"/>
                <a:cs typeface="Calibri" panose="020F0502020204030204"/>
                <a:sym typeface="Calibri" panose="020F0502020204030204"/>
              </a:rPr>
              <a:t>Vector Add in Triton</a:t>
            </a:r>
            <a:endParaRPr lang="en-US" sz="3600" b="0" i="0" u="none" strike="noStrike">
              <a:solidFill>
                <a:srgbClr val="767171"/>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4294967295" hasCustomPrompt="1"/>
          </p:nvPr>
        </p:nvSpPr>
        <p:spPr>
          <a:xfrm>
            <a:off x="1800225" y="4846638"/>
            <a:ext cx="10391775" cy="474662"/>
          </a:xfrm>
          <a:prstGeom prst="rect">
            <a:avLst/>
          </a:prstGeom>
          <a:noFill/>
          <a:ln w="12700">
            <a:noFill/>
            <a:prstDash val="solid"/>
          </a:ln>
        </p:spPr>
        <p:txBody>
          <a:bodyPr wrap="square" lIns="91440" tIns="45720" rIns="91440" bIns="45720" anchor="t">
            <a:noAutofit/>
          </a:bodyPr>
          <a:lstStyle>
            <a:lvl1pPr algn="l">
              <a:lnSpc>
                <a:spcPct val="100000"/>
              </a:lnSpc>
              <a:defRPr sz="2000" b="0" i="0" u="none" strike="noStrike" spc="0">
                <a:solidFill>
                  <a:srgbClr val="767171">
                    <a:alpha val="100000"/>
                  </a:srgbClr>
                </a:solidFill>
                <a:latin typeface="微软雅黑" panose="020B0503020204020204" charset="-122"/>
              </a:defRPr>
            </a:lvl1pPr>
          </a:lstStyle>
          <a:p>
            <a:pPr marL="254000" indent="-254000" algn="l">
              <a:lnSpc>
                <a:spcPct val="100000"/>
              </a:lnSpc>
              <a:spcBef>
                <a:spcPts val="1500"/>
              </a:spcBef>
              <a:buClr>
                <a:srgbClr val="767171"/>
              </a:buClr>
              <a:buChar char="•"/>
            </a:pPr>
            <a:r>
              <a:rPr lang="en-US" sz="2000" b="0" i="0" u="none" strike="noStrike">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rPr>
              <a:t>Understanding the GPU Kernel Execution Model and Triton Programming Model</a:t>
            </a:r>
            <a:endParaRPr lang="en-US" sz="2000" b="0" i="0" u="none" strike="noStrike">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0937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Starting with Vector Add </a:t>
            </a:r>
            <a:endParaRPr lang="en-US" sz="1100"/>
          </a:p>
        </p:txBody>
      </p:sp>
      <p:grpSp>
        <p:nvGrpSpPr>
          <p:cNvPr id="3" name="Group 3"/>
          <p:cNvGrpSpPr/>
          <p:nvPr/>
        </p:nvGrpSpPr>
        <p:grpSpPr>
          <a:xfrm>
            <a:off x="6471854" y="2202376"/>
            <a:ext cx="5720146" cy="2693813"/>
            <a:chOff x="6471854" y="2202376"/>
            <a:chExt cx="5720146" cy="2693813"/>
          </a:xfrm>
        </p:grpSpPr>
        <p:sp>
          <p:nvSpPr>
            <p:cNvPr id="4" name="Freeform 4"/>
            <p:cNvSpPr/>
            <p:nvPr/>
          </p:nvSpPr>
          <p:spPr>
            <a:xfrm>
              <a:off x="6518271" y="2202376"/>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1854" y="2202376"/>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7112336" y="2202376"/>
              <a:ext cx="4845918"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Parallel Task Partitioning</a:t>
              </a:r>
              <a:endParaRPr lang="en-US" sz="1100"/>
            </a:p>
          </p:txBody>
        </p:sp>
        <p:sp>
          <p:nvSpPr>
            <p:cNvPr id="7" name="AutoShape 7"/>
            <p:cNvSpPr/>
            <p:nvPr/>
          </p:nvSpPr>
          <p:spPr>
            <a:xfrm>
              <a:off x="7112336" y="2545273"/>
              <a:ext cx="5079664" cy="5619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Decompose large-scale vector addition into multiple independent subtasks, each processing a portion of the data</a:t>
              </a:r>
              <a:endParaRPr lang="en-US" sz="1100"/>
            </a:p>
          </p:txBody>
        </p:sp>
        <p:sp>
          <p:nvSpPr>
            <p:cNvPr id="8" name="Freeform 8"/>
            <p:cNvSpPr/>
            <p:nvPr/>
          </p:nvSpPr>
          <p:spPr>
            <a:xfrm>
              <a:off x="6518271" y="3331100"/>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471854" y="3331100"/>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7112336" y="3331100"/>
              <a:ext cx="3871164"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Global Memory Access</a:t>
              </a:r>
              <a:endParaRPr lang="en-US" sz="1100"/>
            </a:p>
          </p:txBody>
        </p:sp>
        <p:sp>
          <p:nvSpPr>
            <p:cNvPr id="11" name="AutoShape 11"/>
            <p:cNvSpPr/>
            <p:nvPr/>
          </p:nvSpPr>
          <p:spPr>
            <a:xfrm>
              <a:off x="7112336" y="3673997"/>
              <a:ext cx="4756453"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Understand GPU global memory read/write patterns and optimize memory access efficiency</a:t>
              </a:r>
              <a:endParaRPr lang="en-US" sz="1100"/>
            </a:p>
          </p:txBody>
        </p:sp>
        <p:sp>
          <p:nvSpPr>
            <p:cNvPr id="12" name="Freeform 12"/>
            <p:cNvSpPr/>
            <p:nvPr/>
          </p:nvSpPr>
          <p:spPr>
            <a:xfrm>
              <a:off x="6518271" y="4243633"/>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1854" y="4181197"/>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056706" y="4243633"/>
              <a:ext cx="310064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Bounds Control</a:t>
              </a:r>
              <a:endParaRPr lang="en-US" sz="1100"/>
            </a:p>
          </p:txBody>
        </p:sp>
        <p:sp>
          <p:nvSpPr>
            <p:cNvPr id="15" name="AutoShape 15"/>
            <p:cNvSpPr/>
            <p:nvPr/>
          </p:nvSpPr>
          <p:spPr>
            <a:xfrm>
              <a:off x="7112336" y="4619964"/>
              <a:ext cx="4916013"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Handle data block boundary cases to ensure safe program execution</a:t>
              </a:r>
              <a:endParaRPr lang="en-US" sz="1100"/>
            </a:p>
          </p:txBody>
        </p:sp>
      </p:grpSp>
      <p:grpSp>
        <p:nvGrpSpPr>
          <p:cNvPr id="16" name="Group 16"/>
          <p:cNvGrpSpPr/>
          <p:nvPr/>
        </p:nvGrpSpPr>
        <p:grpSpPr>
          <a:xfrm>
            <a:off x="494462" y="2084135"/>
            <a:ext cx="5486400" cy="3169061"/>
            <a:chOff x="494462" y="2084135"/>
            <a:chExt cx="5486400" cy="3169061"/>
          </a:xfrm>
        </p:grpSpPr>
        <p:sp>
          <p:nvSpPr>
            <p:cNvPr id="17" name="Freeform 17"/>
            <p:cNvSpPr/>
            <p:nvPr/>
          </p:nvSpPr>
          <p:spPr>
            <a:xfrm>
              <a:off x="494462" y="2084135"/>
              <a:ext cx="5486400" cy="3169061"/>
            </a:xfrm>
            <a:custGeom>
              <a:avLst/>
              <a:gdLst/>
              <a:ahLst/>
              <a:cxnLst/>
              <a:rect l="l" t="t" r="r" b="b"/>
              <a:pathLst>
                <a:path w="5486400" h="3169061">
                  <a:moveTo>
                    <a:pt x="114306" y="0"/>
                  </a:moveTo>
                  <a:lnTo>
                    <a:pt x="5372094" y="0"/>
                  </a:lnTo>
                  <a:cubicBezTo>
                    <a:pt x="5435223" y="0"/>
                    <a:pt x="5486400" y="55463"/>
                    <a:pt x="5486400" y="123878"/>
                  </a:cubicBezTo>
                  <a:lnTo>
                    <a:pt x="5486400" y="3045183"/>
                  </a:lnTo>
                  <a:cubicBezTo>
                    <a:pt x="5486400" y="3113599"/>
                    <a:pt x="5435223" y="3169061"/>
                    <a:pt x="5372094" y="3169061"/>
                  </a:cubicBezTo>
                  <a:lnTo>
                    <a:pt x="114306" y="3169061"/>
                  </a:lnTo>
                  <a:cubicBezTo>
                    <a:pt x="51177" y="3169061"/>
                    <a:pt x="0" y="3113599"/>
                    <a:pt x="0" y="3045183"/>
                  </a:cubicBezTo>
                  <a:lnTo>
                    <a:pt x="0" y="123878"/>
                  </a:lnTo>
                  <a:cubicBezTo>
                    <a:pt x="0" y="55463"/>
                    <a:pt x="51177" y="0"/>
                    <a:pt x="1143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951962" y="2412365"/>
              <a:ext cx="571500" cy="623475"/>
            </a:xfrm>
            <a:custGeom>
              <a:avLst/>
              <a:gdLst/>
              <a:ahLst/>
              <a:cxnLst/>
              <a:rect l="l" t="t" r="r" b="b"/>
              <a:pathLst>
                <a:path w="571500" h="623475">
                  <a:moveTo>
                    <a:pt x="259519" y="8347"/>
                  </a:moveTo>
                  <a:cubicBezTo>
                    <a:pt x="276151" y="0"/>
                    <a:pt x="295349" y="0"/>
                    <a:pt x="311981" y="8347"/>
                  </a:cubicBezTo>
                  <a:lnTo>
                    <a:pt x="555984" y="130526"/>
                  </a:lnTo>
                  <a:cubicBezTo>
                    <a:pt x="565473" y="135244"/>
                    <a:pt x="571500" y="145526"/>
                    <a:pt x="571500" y="156897"/>
                  </a:cubicBezTo>
                  <a:cubicBezTo>
                    <a:pt x="571500" y="168268"/>
                    <a:pt x="565473" y="178550"/>
                    <a:pt x="555984" y="183268"/>
                  </a:cubicBezTo>
                  <a:lnTo>
                    <a:pt x="311981" y="305447"/>
                  </a:lnTo>
                  <a:cubicBezTo>
                    <a:pt x="295349" y="313795"/>
                    <a:pt x="276151" y="313795"/>
                    <a:pt x="259519" y="305447"/>
                  </a:cubicBezTo>
                  <a:lnTo>
                    <a:pt x="15516" y="183268"/>
                  </a:lnTo>
                  <a:cubicBezTo>
                    <a:pt x="6027" y="178431"/>
                    <a:pt x="0" y="168148"/>
                    <a:pt x="0" y="156897"/>
                  </a:cubicBezTo>
                  <a:cubicBezTo>
                    <a:pt x="0" y="145647"/>
                    <a:pt x="6027" y="135244"/>
                    <a:pt x="15516" y="130526"/>
                  </a:cubicBezTo>
                  <a:lnTo>
                    <a:pt x="259519" y="8347"/>
                  </a:lnTo>
                  <a:close/>
                  <a:moveTo>
                    <a:pt x="53691" y="266253"/>
                  </a:moveTo>
                  <a:lnTo>
                    <a:pt x="237084" y="358068"/>
                  </a:lnTo>
                  <a:cubicBezTo>
                    <a:pt x="268002" y="373552"/>
                    <a:pt x="303609" y="373552"/>
                    <a:pt x="334528" y="358068"/>
                  </a:cubicBezTo>
                  <a:lnTo>
                    <a:pt x="517923" y="266253"/>
                  </a:lnTo>
                  <a:lnTo>
                    <a:pt x="555984" y="285367"/>
                  </a:lnTo>
                  <a:cubicBezTo>
                    <a:pt x="565473" y="290084"/>
                    <a:pt x="571500" y="300367"/>
                    <a:pt x="571500" y="311738"/>
                  </a:cubicBezTo>
                  <a:cubicBezTo>
                    <a:pt x="571500" y="323108"/>
                    <a:pt x="565473" y="333391"/>
                    <a:pt x="555984" y="338108"/>
                  </a:cubicBezTo>
                  <a:lnTo>
                    <a:pt x="311981" y="460288"/>
                  </a:lnTo>
                  <a:cubicBezTo>
                    <a:pt x="295349" y="468635"/>
                    <a:pt x="276151" y="468635"/>
                    <a:pt x="259519" y="460288"/>
                  </a:cubicBezTo>
                  <a:lnTo>
                    <a:pt x="15516" y="338108"/>
                  </a:lnTo>
                  <a:cubicBezTo>
                    <a:pt x="6027" y="333270"/>
                    <a:pt x="0" y="322987"/>
                    <a:pt x="0" y="311738"/>
                  </a:cubicBezTo>
                  <a:cubicBezTo>
                    <a:pt x="0" y="300487"/>
                    <a:pt x="6027" y="290084"/>
                    <a:pt x="15516" y="285367"/>
                  </a:cubicBezTo>
                  <a:lnTo>
                    <a:pt x="53577" y="266253"/>
                  </a:lnTo>
                  <a:close/>
                  <a:moveTo>
                    <a:pt x="15516" y="440207"/>
                  </a:moveTo>
                  <a:lnTo>
                    <a:pt x="53577" y="421093"/>
                  </a:lnTo>
                  <a:lnTo>
                    <a:pt x="236972" y="512909"/>
                  </a:lnTo>
                  <a:cubicBezTo>
                    <a:pt x="267891" y="528392"/>
                    <a:pt x="303498" y="528392"/>
                    <a:pt x="334416" y="512909"/>
                  </a:cubicBezTo>
                  <a:lnTo>
                    <a:pt x="517809" y="421093"/>
                  </a:lnTo>
                  <a:lnTo>
                    <a:pt x="555873" y="440207"/>
                  </a:lnTo>
                  <a:cubicBezTo>
                    <a:pt x="565361" y="444925"/>
                    <a:pt x="571388" y="455207"/>
                    <a:pt x="571388" y="466577"/>
                  </a:cubicBezTo>
                  <a:cubicBezTo>
                    <a:pt x="571388" y="477949"/>
                    <a:pt x="565361" y="488231"/>
                    <a:pt x="555873" y="492949"/>
                  </a:cubicBezTo>
                  <a:lnTo>
                    <a:pt x="311869" y="615128"/>
                  </a:lnTo>
                  <a:cubicBezTo>
                    <a:pt x="295238" y="623474"/>
                    <a:pt x="276040" y="623474"/>
                    <a:pt x="259406" y="615128"/>
                  </a:cubicBezTo>
                  <a:lnTo>
                    <a:pt x="15516" y="492949"/>
                  </a:lnTo>
                  <a:cubicBezTo>
                    <a:pt x="6027" y="488110"/>
                    <a:pt x="0" y="477828"/>
                    <a:pt x="0" y="466577"/>
                  </a:cubicBezTo>
                  <a:cubicBezTo>
                    <a:pt x="0" y="455328"/>
                    <a:pt x="6027" y="444925"/>
                    <a:pt x="15516" y="44020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42076" y="3300163"/>
              <a:ext cx="4991100" cy="330326"/>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Vector addition</a:t>
              </a:r>
              <a:endParaRPr lang="en-US" sz="1100"/>
            </a:p>
          </p:txBody>
        </p:sp>
        <p:sp>
          <p:nvSpPr>
            <p:cNvPr id="20" name="AutoShape 20"/>
            <p:cNvSpPr/>
            <p:nvPr/>
          </p:nvSpPr>
          <p:spPr>
            <a:xfrm>
              <a:off x="756364" y="3795514"/>
              <a:ext cx="4962525" cy="299358"/>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GPU the most classic introductory GPU programming operator, where each element's computation is independent</a:t>
              </a:r>
              <a:endParaRPr lang="en-US" sz="1100"/>
            </a:p>
          </p:txBody>
        </p:sp>
        <p:sp>
          <p:nvSpPr>
            <p:cNvPr id="21" name="Freeform 21"/>
            <p:cNvSpPr/>
            <p:nvPr/>
          </p:nvSpPr>
          <p:spPr>
            <a:xfrm>
              <a:off x="818181" y="4345189"/>
              <a:ext cx="4857655" cy="578070"/>
            </a:xfrm>
            <a:custGeom>
              <a:avLst/>
              <a:gdLst/>
              <a:ahLst/>
              <a:cxnLst/>
              <a:rect l="l" t="t" r="r" b="b"/>
              <a:pathLst>
                <a:path w="4857655" h="578070">
                  <a:moveTo>
                    <a:pt x="37909" y="0"/>
                  </a:moveTo>
                  <a:lnTo>
                    <a:pt x="4781453" y="0"/>
                  </a:lnTo>
                  <a:cubicBezTo>
                    <a:pt x="4823539" y="0"/>
                    <a:pt x="4857655" y="36975"/>
                    <a:pt x="4857655" y="82583"/>
                  </a:cubicBezTo>
                  <a:lnTo>
                    <a:pt x="4857655" y="495487"/>
                  </a:lnTo>
                  <a:cubicBezTo>
                    <a:pt x="4857655" y="541096"/>
                    <a:pt x="4823539" y="578070"/>
                    <a:pt x="4781453" y="578070"/>
                  </a:cubicBezTo>
                  <a:lnTo>
                    <a:pt x="37909" y="578070"/>
                  </a:lnTo>
                  <a:cubicBezTo>
                    <a:pt x="16974" y="578070"/>
                    <a:pt x="0" y="559675"/>
                    <a:pt x="0" y="536985"/>
                  </a:cubicBezTo>
                  <a:lnTo>
                    <a:pt x="0" y="41085"/>
                  </a:lnTo>
                  <a:cubicBezTo>
                    <a:pt x="0" y="18410"/>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18181" y="4345189"/>
              <a:ext cx="37909" cy="578070"/>
            </a:xfrm>
            <a:custGeom>
              <a:avLst/>
              <a:gdLst/>
              <a:ahLst/>
              <a:cxnLst/>
              <a:rect l="l" t="t" r="r" b="b"/>
              <a:pathLst>
                <a:path w="37909" h="578070">
                  <a:moveTo>
                    <a:pt x="37909" y="0"/>
                  </a:moveTo>
                  <a:lnTo>
                    <a:pt x="37909" y="0"/>
                  </a:lnTo>
                  <a:lnTo>
                    <a:pt x="37909" y="578070"/>
                  </a:lnTo>
                  <a:lnTo>
                    <a:pt x="37909" y="578070"/>
                  </a:lnTo>
                  <a:cubicBezTo>
                    <a:pt x="16974" y="578070"/>
                    <a:pt x="0" y="559675"/>
                    <a:pt x="0" y="536985"/>
                  </a:cubicBezTo>
                  <a:lnTo>
                    <a:pt x="0" y="41085"/>
                  </a:lnTo>
                  <a:cubicBezTo>
                    <a:pt x="0" y="18410"/>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989519" y="4510333"/>
              <a:ext cx="4610100" cy="247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c[i] = a[i] + b[i]</a:t>
              </a:r>
              <a:endParaRPr lang="en-US" sz="1100"/>
            </a:p>
          </p:txBody>
        </p:sp>
      </p:grpSp>
      <p:sp>
        <p:nvSpPr>
          <p:cNvPr id="24" name="AutoShape 24"/>
          <p:cNvSpPr/>
          <p:nvPr/>
        </p:nvSpPr>
        <p:spPr>
          <a:xfrm>
            <a:off x="931857" y="4846517"/>
            <a:ext cx="4725423" cy="46166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00" b="0" i="0" u="none" strike="noStrike">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rPr>
              <a:t>For each index i, add the corresponding elements of arrays A and B , storing results in array C</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0080" y="629177"/>
            <a:ext cx="3724639"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What is Triton?</a:t>
            </a:r>
            <a:endParaRPr lang="en-US" sz="1100"/>
          </a:p>
        </p:txBody>
      </p:sp>
      <p:grpSp>
        <p:nvGrpSpPr>
          <p:cNvPr id="3" name="Group 3"/>
          <p:cNvGrpSpPr/>
          <p:nvPr/>
        </p:nvGrpSpPr>
        <p:grpSpPr>
          <a:xfrm>
            <a:off x="4580898" y="1500393"/>
            <a:ext cx="3423285" cy="1295400"/>
            <a:chOff x="4580898" y="1500393"/>
            <a:chExt cx="3423285" cy="1295400"/>
          </a:xfrm>
        </p:grpSpPr>
        <p:sp>
          <p:nvSpPr>
            <p:cNvPr id="4" name="Freeform 4"/>
            <p:cNvSpPr/>
            <p:nvPr/>
          </p:nvSpPr>
          <p:spPr>
            <a:xfrm>
              <a:off x="4629166" y="150039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934516" y="1806487"/>
              <a:ext cx="303855" cy="303521"/>
            </a:xfrm>
            <a:custGeom>
              <a:avLst/>
              <a:gdLst/>
              <a:ahLst/>
              <a:cxnLst/>
              <a:rect l="l" t="t" r="r" b="b"/>
              <a:pathLst>
                <a:path w="303855" h="303521">
                  <a:moveTo>
                    <a:pt x="296354" y="113921"/>
                  </a:moveTo>
                  <a:cubicBezTo>
                    <a:pt x="291197" y="93227"/>
                    <a:pt x="281419" y="77621"/>
                    <a:pt x="260590" y="77621"/>
                  </a:cubicBezTo>
                  <a:lnTo>
                    <a:pt x="233734" y="77621"/>
                  </a:lnTo>
                  <a:lnTo>
                    <a:pt x="233734" y="109366"/>
                  </a:lnTo>
                  <a:cubicBezTo>
                    <a:pt x="233734" y="134013"/>
                    <a:pt x="212839" y="154774"/>
                    <a:pt x="188997" y="154774"/>
                  </a:cubicBezTo>
                  <a:lnTo>
                    <a:pt x="117469" y="154774"/>
                  </a:lnTo>
                  <a:cubicBezTo>
                    <a:pt x="97914" y="154774"/>
                    <a:pt x="81706" y="171518"/>
                    <a:pt x="81706" y="191140"/>
                  </a:cubicBezTo>
                  <a:lnTo>
                    <a:pt x="81706" y="259319"/>
                  </a:lnTo>
                  <a:cubicBezTo>
                    <a:pt x="81706" y="278741"/>
                    <a:pt x="98583" y="290126"/>
                    <a:pt x="117469" y="295686"/>
                  </a:cubicBezTo>
                  <a:cubicBezTo>
                    <a:pt x="140107" y="302315"/>
                    <a:pt x="161872" y="303521"/>
                    <a:pt x="188997" y="295686"/>
                  </a:cubicBezTo>
                  <a:cubicBezTo>
                    <a:pt x="207012" y="290461"/>
                    <a:pt x="224760" y="279946"/>
                    <a:pt x="224760" y="259319"/>
                  </a:cubicBezTo>
                  <a:lnTo>
                    <a:pt x="224760" y="232061"/>
                  </a:lnTo>
                  <a:lnTo>
                    <a:pt x="153300" y="232061"/>
                  </a:lnTo>
                  <a:lnTo>
                    <a:pt x="153300" y="222953"/>
                  </a:lnTo>
                  <a:lnTo>
                    <a:pt x="260590" y="222953"/>
                  </a:lnTo>
                  <a:cubicBezTo>
                    <a:pt x="281419" y="222953"/>
                    <a:pt x="289121" y="208420"/>
                    <a:pt x="296354" y="186654"/>
                  </a:cubicBezTo>
                  <a:cubicBezTo>
                    <a:pt x="303855" y="164218"/>
                    <a:pt x="303521" y="142652"/>
                    <a:pt x="296354" y="113921"/>
                  </a:cubicBezTo>
                  <a:close/>
                  <a:moveTo>
                    <a:pt x="193484" y="277467"/>
                  </a:moveTo>
                  <a:cubicBezTo>
                    <a:pt x="188388" y="277826"/>
                    <a:pt x="183516" y="275308"/>
                    <a:pt x="180858" y="270945"/>
                  </a:cubicBezTo>
                  <a:cubicBezTo>
                    <a:pt x="178201" y="266581"/>
                    <a:pt x="178201" y="261098"/>
                    <a:pt x="180858" y="256733"/>
                  </a:cubicBezTo>
                  <a:cubicBezTo>
                    <a:pt x="183516" y="252370"/>
                    <a:pt x="188388" y="249853"/>
                    <a:pt x="193484" y="250211"/>
                  </a:cubicBezTo>
                  <a:cubicBezTo>
                    <a:pt x="198581" y="249853"/>
                    <a:pt x="203452" y="252370"/>
                    <a:pt x="206109" y="256733"/>
                  </a:cubicBezTo>
                  <a:cubicBezTo>
                    <a:pt x="208767" y="261098"/>
                    <a:pt x="208767" y="266581"/>
                    <a:pt x="206109" y="270945"/>
                  </a:cubicBezTo>
                  <a:cubicBezTo>
                    <a:pt x="203452" y="275308"/>
                    <a:pt x="198581" y="277826"/>
                    <a:pt x="193484" y="277467"/>
                  </a:cubicBezTo>
                  <a:close/>
                  <a:moveTo>
                    <a:pt x="114188" y="145800"/>
                  </a:moveTo>
                  <a:lnTo>
                    <a:pt x="185715" y="145800"/>
                  </a:lnTo>
                  <a:cubicBezTo>
                    <a:pt x="205606" y="145800"/>
                    <a:pt x="221479" y="129392"/>
                    <a:pt x="221479" y="109434"/>
                  </a:cubicBezTo>
                  <a:lnTo>
                    <a:pt x="221479" y="41189"/>
                  </a:lnTo>
                  <a:cubicBezTo>
                    <a:pt x="221479" y="21767"/>
                    <a:pt x="205138" y="7234"/>
                    <a:pt x="185715" y="3953"/>
                  </a:cubicBezTo>
                  <a:cubicBezTo>
                    <a:pt x="161739" y="0"/>
                    <a:pt x="135686" y="202"/>
                    <a:pt x="114188" y="4019"/>
                  </a:cubicBezTo>
                  <a:cubicBezTo>
                    <a:pt x="83916" y="9377"/>
                    <a:pt x="78425" y="20560"/>
                    <a:pt x="78425" y="41256"/>
                  </a:cubicBezTo>
                  <a:lnTo>
                    <a:pt x="78425" y="68514"/>
                  </a:lnTo>
                  <a:lnTo>
                    <a:pt x="150018" y="68514"/>
                  </a:lnTo>
                  <a:lnTo>
                    <a:pt x="150018" y="77621"/>
                  </a:lnTo>
                  <a:lnTo>
                    <a:pt x="51569" y="77621"/>
                  </a:lnTo>
                  <a:cubicBezTo>
                    <a:pt x="30740" y="77621"/>
                    <a:pt x="12524" y="90146"/>
                    <a:pt x="6831" y="113921"/>
                  </a:cubicBezTo>
                  <a:cubicBezTo>
                    <a:pt x="267" y="141179"/>
                    <a:pt x="0" y="158190"/>
                    <a:pt x="6831" y="186654"/>
                  </a:cubicBezTo>
                  <a:cubicBezTo>
                    <a:pt x="11921" y="207817"/>
                    <a:pt x="24043" y="222953"/>
                    <a:pt x="44871" y="222953"/>
                  </a:cubicBezTo>
                  <a:lnTo>
                    <a:pt x="69449" y="222953"/>
                  </a:lnTo>
                  <a:lnTo>
                    <a:pt x="69449" y="190271"/>
                  </a:lnTo>
                  <a:cubicBezTo>
                    <a:pt x="69449" y="166629"/>
                    <a:pt x="89877" y="145800"/>
                    <a:pt x="114188" y="145800"/>
                  </a:cubicBezTo>
                  <a:close/>
                  <a:moveTo>
                    <a:pt x="109768" y="22972"/>
                  </a:moveTo>
                  <a:cubicBezTo>
                    <a:pt x="117308" y="22972"/>
                    <a:pt x="123430" y="29094"/>
                    <a:pt x="123430" y="36635"/>
                  </a:cubicBezTo>
                  <a:cubicBezTo>
                    <a:pt x="123430" y="44175"/>
                    <a:pt x="117308" y="50297"/>
                    <a:pt x="109768" y="50297"/>
                  </a:cubicBezTo>
                  <a:cubicBezTo>
                    <a:pt x="102227" y="50297"/>
                    <a:pt x="96106" y="44175"/>
                    <a:pt x="96106" y="36635"/>
                  </a:cubicBezTo>
                  <a:cubicBezTo>
                    <a:pt x="96106" y="29094"/>
                    <a:pt x="102227" y="22972"/>
                    <a:pt x="109768" y="2297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4580898" y="2529010"/>
              <a:ext cx="10096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Python DSL</a:t>
              </a:r>
              <a:endParaRPr lang="en-US" sz="1100"/>
            </a:p>
          </p:txBody>
        </p:sp>
        <p:sp>
          <p:nvSpPr>
            <p:cNvPr id="7" name="AutoShape 7"/>
            <p:cNvSpPr/>
            <p:nvPr/>
          </p:nvSpPr>
          <p:spPr>
            <a:xfrm>
              <a:off x="5853703" y="1957540"/>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579259" y="150039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864985" y="1786128"/>
              <a:ext cx="342900" cy="342900"/>
            </a:xfrm>
            <a:custGeom>
              <a:avLst/>
              <a:gdLst/>
              <a:ahLst/>
              <a:cxnLst/>
              <a:rect l="l" t="t" r="r" b="b"/>
              <a:pathLst>
                <a:path w="342900" h="342900">
                  <a:moveTo>
                    <a:pt x="117873" y="16073"/>
                  </a:moveTo>
                  <a:cubicBezTo>
                    <a:pt x="117873" y="7167"/>
                    <a:pt x="110706" y="0"/>
                    <a:pt x="101798" y="0"/>
                  </a:cubicBezTo>
                  <a:cubicBezTo>
                    <a:pt x="92892" y="0"/>
                    <a:pt x="85725" y="7167"/>
                    <a:pt x="85725" y="16073"/>
                  </a:cubicBezTo>
                  <a:lnTo>
                    <a:pt x="85725" y="42862"/>
                  </a:lnTo>
                  <a:cubicBezTo>
                    <a:pt x="62084" y="42862"/>
                    <a:pt x="42862" y="62084"/>
                    <a:pt x="42862" y="85725"/>
                  </a:cubicBezTo>
                  <a:lnTo>
                    <a:pt x="16073" y="85725"/>
                  </a:lnTo>
                  <a:cubicBezTo>
                    <a:pt x="7167" y="85725"/>
                    <a:pt x="0" y="92892"/>
                    <a:pt x="0" y="101798"/>
                  </a:cubicBezTo>
                  <a:cubicBezTo>
                    <a:pt x="0" y="110706"/>
                    <a:pt x="7167" y="117873"/>
                    <a:pt x="16073" y="117873"/>
                  </a:cubicBezTo>
                  <a:lnTo>
                    <a:pt x="42862" y="117873"/>
                  </a:lnTo>
                  <a:lnTo>
                    <a:pt x="42862" y="155377"/>
                  </a:lnTo>
                  <a:lnTo>
                    <a:pt x="16073" y="155377"/>
                  </a:lnTo>
                  <a:cubicBezTo>
                    <a:pt x="7167" y="155377"/>
                    <a:pt x="0" y="162543"/>
                    <a:pt x="0" y="171450"/>
                  </a:cubicBezTo>
                  <a:cubicBezTo>
                    <a:pt x="0" y="180357"/>
                    <a:pt x="7167" y="187523"/>
                    <a:pt x="16073" y="187523"/>
                  </a:cubicBezTo>
                  <a:lnTo>
                    <a:pt x="42862" y="187523"/>
                  </a:lnTo>
                  <a:lnTo>
                    <a:pt x="42862" y="225027"/>
                  </a:lnTo>
                  <a:lnTo>
                    <a:pt x="16073" y="225027"/>
                  </a:lnTo>
                  <a:cubicBezTo>
                    <a:pt x="7167" y="225027"/>
                    <a:pt x="0" y="232194"/>
                    <a:pt x="0" y="241102"/>
                  </a:cubicBezTo>
                  <a:cubicBezTo>
                    <a:pt x="0" y="250008"/>
                    <a:pt x="7167" y="257175"/>
                    <a:pt x="16073" y="257175"/>
                  </a:cubicBezTo>
                  <a:lnTo>
                    <a:pt x="42862" y="257175"/>
                  </a:lnTo>
                  <a:cubicBezTo>
                    <a:pt x="42862" y="280816"/>
                    <a:pt x="62084" y="300037"/>
                    <a:pt x="85725" y="300037"/>
                  </a:cubicBezTo>
                  <a:lnTo>
                    <a:pt x="85725" y="326827"/>
                  </a:lnTo>
                  <a:cubicBezTo>
                    <a:pt x="85725" y="335733"/>
                    <a:pt x="92892" y="342900"/>
                    <a:pt x="101798" y="342900"/>
                  </a:cubicBezTo>
                  <a:cubicBezTo>
                    <a:pt x="110706" y="342900"/>
                    <a:pt x="117873" y="335733"/>
                    <a:pt x="117873" y="326827"/>
                  </a:cubicBezTo>
                  <a:lnTo>
                    <a:pt x="117873" y="300037"/>
                  </a:lnTo>
                  <a:lnTo>
                    <a:pt x="155377" y="300037"/>
                  </a:lnTo>
                  <a:lnTo>
                    <a:pt x="155377" y="326827"/>
                  </a:lnTo>
                  <a:cubicBezTo>
                    <a:pt x="155377" y="335733"/>
                    <a:pt x="162543" y="342900"/>
                    <a:pt x="171450" y="342900"/>
                  </a:cubicBezTo>
                  <a:cubicBezTo>
                    <a:pt x="180357" y="342900"/>
                    <a:pt x="187523" y="335733"/>
                    <a:pt x="187523" y="326827"/>
                  </a:cubicBezTo>
                  <a:lnTo>
                    <a:pt x="187523" y="300037"/>
                  </a:lnTo>
                  <a:lnTo>
                    <a:pt x="225027" y="300037"/>
                  </a:lnTo>
                  <a:lnTo>
                    <a:pt x="225027" y="326827"/>
                  </a:lnTo>
                  <a:cubicBezTo>
                    <a:pt x="225027" y="335733"/>
                    <a:pt x="232194" y="342900"/>
                    <a:pt x="241102" y="342900"/>
                  </a:cubicBezTo>
                  <a:cubicBezTo>
                    <a:pt x="250008" y="342900"/>
                    <a:pt x="257175" y="335733"/>
                    <a:pt x="257175" y="326827"/>
                  </a:cubicBezTo>
                  <a:lnTo>
                    <a:pt x="257175" y="300037"/>
                  </a:lnTo>
                  <a:cubicBezTo>
                    <a:pt x="280816" y="300037"/>
                    <a:pt x="300037" y="280816"/>
                    <a:pt x="300037" y="257175"/>
                  </a:cubicBezTo>
                  <a:lnTo>
                    <a:pt x="326827" y="257175"/>
                  </a:lnTo>
                  <a:cubicBezTo>
                    <a:pt x="335733" y="257175"/>
                    <a:pt x="342900" y="250008"/>
                    <a:pt x="342900" y="241102"/>
                  </a:cubicBezTo>
                  <a:cubicBezTo>
                    <a:pt x="342900" y="232194"/>
                    <a:pt x="335733" y="225027"/>
                    <a:pt x="326827" y="225027"/>
                  </a:cubicBezTo>
                  <a:lnTo>
                    <a:pt x="300037" y="225027"/>
                  </a:lnTo>
                  <a:lnTo>
                    <a:pt x="300037" y="187523"/>
                  </a:lnTo>
                  <a:lnTo>
                    <a:pt x="326827" y="187523"/>
                  </a:lnTo>
                  <a:cubicBezTo>
                    <a:pt x="335733" y="187523"/>
                    <a:pt x="342900" y="180357"/>
                    <a:pt x="342900" y="171450"/>
                  </a:cubicBezTo>
                  <a:cubicBezTo>
                    <a:pt x="342900" y="162543"/>
                    <a:pt x="335733" y="155377"/>
                    <a:pt x="326827" y="155377"/>
                  </a:cubicBezTo>
                  <a:lnTo>
                    <a:pt x="300037" y="155377"/>
                  </a:lnTo>
                  <a:lnTo>
                    <a:pt x="300037" y="117873"/>
                  </a:lnTo>
                  <a:lnTo>
                    <a:pt x="326827" y="117873"/>
                  </a:lnTo>
                  <a:cubicBezTo>
                    <a:pt x="335733" y="117873"/>
                    <a:pt x="342900" y="110706"/>
                    <a:pt x="342900" y="101798"/>
                  </a:cubicBezTo>
                  <a:cubicBezTo>
                    <a:pt x="342900" y="92892"/>
                    <a:pt x="335733" y="85725"/>
                    <a:pt x="326827" y="85725"/>
                  </a:cubicBezTo>
                  <a:lnTo>
                    <a:pt x="300037" y="85725"/>
                  </a:lnTo>
                  <a:cubicBezTo>
                    <a:pt x="300037" y="62084"/>
                    <a:pt x="280816" y="42862"/>
                    <a:pt x="257175" y="42862"/>
                  </a:cubicBezTo>
                  <a:lnTo>
                    <a:pt x="257175" y="16073"/>
                  </a:lnTo>
                  <a:cubicBezTo>
                    <a:pt x="257175" y="7167"/>
                    <a:pt x="250008" y="0"/>
                    <a:pt x="241102" y="0"/>
                  </a:cubicBezTo>
                  <a:cubicBezTo>
                    <a:pt x="232194" y="0"/>
                    <a:pt x="225027" y="7167"/>
                    <a:pt x="225027" y="16073"/>
                  </a:cubicBezTo>
                  <a:lnTo>
                    <a:pt x="225027" y="42862"/>
                  </a:lnTo>
                  <a:lnTo>
                    <a:pt x="187523" y="42862"/>
                  </a:lnTo>
                  <a:lnTo>
                    <a:pt x="187523" y="16073"/>
                  </a:lnTo>
                  <a:cubicBezTo>
                    <a:pt x="187523" y="7167"/>
                    <a:pt x="180357" y="0"/>
                    <a:pt x="171450" y="0"/>
                  </a:cubicBezTo>
                  <a:cubicBezTo>
                    <a:pt x="162543" y="0"/>
                    <a:pt x="155377" y="7167"/>
                    <a:pt x="155377" y="16073"/>
                  </a:cubicBezTo>
                  <a:lnTo>
                    <a:pt x="155377" y="42862"/>
                  </a:lnTo>
                  <a:lnTo>
                    <a:pt x="117873" y="42862"/>
                  </a:lnTo>
                  <a:lnTo>
                    <a:pt x="117873" y="16073"/>
                  </a:lnTo>
                  <a:close/>
                  <a:moveTo>
                    <a:pt x="107156" y="85725"/>
                  </a:moveTo>
                  <a:lnTo>
                    <a:pt x="235744" y="85725"/>
                  </a:lnTo>
                  <a:cubicBezTo>
                    <a:pt x="247598" y="85725"/>
                    <a:pt x="257175" y="95302"/>
                    <a:pt x="257175" y="107156"/>
                  </a:cubicBezTo>
                  <a:lnTo>
                    <a:pt x="257175" y="235744"/>
                  </a:lnTo>
                  <a:cubicBezTo>
                    <a:pt x="257175" y="247598"/>
                    <a:pt x="247598" y="257175"/>
                    <a:pt x="235744" y="257175"/>
                  </a:cubicBezTo>
                  <a:lnTo>
                    <a:pt x="107156" y="257175"/>
                  </a:lnTo>
                  <a:cubicBezTo>
                    <a:pt x="95302" y="257175"/>
                    <a:pt x="85725" y="247598"/>
                    <a:pt x="85725" y="235744"/>
                  </a:cubicBezTo>
                  <a:lnTo>
                    <a:pt x="85725" y="107156"/>
                  </a:lnTo>
                  <a:cubicBezTo>
                    <a:pt x="85725" y="95302"/>
                    <a:pt x="95302" y="85725"/>
                    <a:pt x="107156" y="85725"/>
                  </a:cubicBezTo>
                  <a:close/>
                  <a:moveTo>
                    <a:pt x="117873" y="117873"/>
                  </a:moveTo>
                  <a:lnTo>
                    <a:pt x="117873" y="225027"/>
                  </a:lnTo>
                  <a:lnTo>
                    <a:pt x="225027" y="225027"/>
                  </a:lnTo>
                  <a:lnTo>
                    <a:pt x="225027" y="117873"/>
                  </a:lnTo>
                  <a:lnTo>
                    <a:pt x="117873" y="11787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458593" y="2529093"/>
              <a:ext cx="154559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High-Performance Kernel</a:t>
              </a:r>
              <a:endParaRPr lang="en-US" sz="1100"/>
            </a:p>
          </p:txBody>
        </p:sp>
      </p:grpSp>
      <p:grpSp>
        <p:nvGrpSpPr>
          <p:cNvPr id="11" name="Group 11"/>
          <p:cNvGrpSpPr/>
          <p:nvPr/>
        </p:nvGrpSpPr>
        <p:grpSpPr>
          <a:xfrm>
            <a:off x="1578762" y="3167710"/>
            <a:ext cx="3657600" cy="1371600"/>
            <a:chOff x="1578762" y="3167710"/>
            <a:chExt cx="3657600" cy="1371600"/>
          </a:xfrm>
        </p:grpSpPr>
        <p:sp>
          <p:nvSpPr>
            <p:cNvPr id="12" name="Freeform 12"/>
            <p:cNvSpPr/>
            <p:nvPr/>
          </p:nvSpPr>
          <p:spPr>
            <a:xfrm>
              <a:off x="1578762" y="316771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1820238" y="3413660"/>
              <a:ext cx="259988" cy="231905"/>
            </a:xfrm>
            <a:custGeom>
              <a:avLst/>
              <a:gdLst/>
              <a:ahLst/>
              <a:cxnLst/>
              <a:rect l="l" t="t" r="r" b="b"/>
              <a:pathLst>
                <a:path w="259988" h="231905">
                  <a:moveTo>
                    <a:pt x="162476" y="2188"/>
                  </a:moveTo>
                  <a:cubicBezTo>
                    <a:pt x="154885" y="0"/>
                    <a:pt x="146983" y="4421"/>
                    <a:pt x="144795" y="12010"/>
                  </a:cubicBezTo>
                  <a:lnTo>
                    <a:pt x="87645" y="212035"/>
                  </a:lnTo>
                  <a:cubicBezTo>
                    <a:pt x="85457" y="219626"/>
                    <a:pt x="89878" y="227528"/>
                    <a:pt x="97467" y="229716"/>
                  </a:cubicBezTo>
                  <a:cubicBezTo>
                    <a:pt x="105058" y="231904"/>
                    <a:pt x="112960" y="227483"/>
                    <a:pt x="115148" y="219894"/>
                  </a:cubicBezTo>
                  <a:lnTo>
                    <a:pt x="172298" y="19869"/>
                  </a:lnTo>
                  <a:cubicBezTo>
                    <a:pt x="174486" y="12278"/>
                    <a:pt x="170065" y="4376"/>
                    <a:pt x="162476" y="2188"/>
                  </a:cubicBezTo>
                  <a:close/>
                  <a:moveTo>
                    <a:pt x="191318" y="62954"/>
                  </a:moveTo>
                  <a:cubicBezTo>
                    <a:pt x="185737" y="68535"/>
                    <a:pt x="185737" y="77599"/>
                    <a:pt x="191318" y="83180"/>
                  </a:cubicBezTo>
                  <a:lnTo>
                    <a:pt x="224090" y="115952"/>
                  </a:lnTo>
                  <a:lnTo>
                    <a:pt x="191318" y="148724"/>
                  </a:lnTo>
                  <a:cubicBezTo>
                    <a:pt x="185737" y="154305"/>
                    <a:pt x="185737" y="163369"/>
                    <a:pt x="191318" y="168950"/>
                  </a:cubicBezTo>
                  <a:cubicBezTo>
                    <a:pt x="196900" y="174531"/>
                    <a:pt x="205963" y="174531"/>
                    <a:pt x="211544" y="168950"/>
                  </a:cubicBezTo>
                  <a:lnTo>
                    <a:pt x="254407" y="126087"/>
                  </a:lnTo>
                  <a:cubicBezTo>
                    <a:pt x="259988" y="120506"/>
                    <a:pt x="259988" y="111443"/>
                    <a:pt x="254407" y="105861"/>
                  </a:cubicBezTo>
                  <a:lnTo>
                    <a:pt x="211544" y="62999"/>
                  </a:lnTo>
                  <a:cubicBezTo>
                    <a:pt x="205963" y="57418"/>
                    <a:pt x="196900" y="57418"/>
                    <a:pt x="191318" y="62999"/>
                  </a:cubicBezTo>
                  <a:close/>
                  <a:moveTo>
                    <a:pt x="68669" y="62954"/>
                  </a:moveTo>
                  <a:cubicBezTo>
                    <a:pt x="63088" y="57373"/>
                    <a:pt x="54026" y="57373"/>
                    <a:pt x="48443" y="62954"/>
                  </a:cubicBezTo>
                  <a:lnTo>
                    <a:pt x="5581" y="105817"/>
                  </a:lnTo>
                  <a:cubicBezTo>
                    <a:pt x="0" y="111398"/>
                    <a:pt x="0" y="120460"/>
                    <a:pt x="5581" y="126043"/>
                  </a:cubicBezTo>
                  <a:lnTo>
                    <a:pt x="48443" y="168905"/>
                  </a:lnTo>
                  <a:cubicBezTo>
                    <a:pt x="54026" y="174486"/>
                    <a:pt x="63088" y="174486"/>
                    <a:pt x="68669" y="168905"/>
                  </a:cubicBezTo>
                  <a:cubicBezTo>
                    <a:pt x="74250" y="163324"/>
                    <a:pt x="74250" y="154260"/>
                    <a:pt x="68669" y="148679"/>
                  </a:cubicBezTo>
                  <a:lnTo>
                    <a:pt x="35898" y="115952"/>
                  </a:lnTo>
                  <a:lnTo>
                    <a:pt x="68625" y="83180"/>
                  </a:lnTo>
                  <a:cubicBezTo>
                    <a:pt x="74206" y="77599"/>
                    <a:pt x="74206" y="68535"/>
                    <a:pt x="68625" y="629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2207319" y="3396283"/>
              <a:ext cx="2610157"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OpenAI Open Source</a:t>
              </a:r>
              <a:endParaRPr lang="en-US" sz="1100"/>
            </a:p>
          </p:txBody>
        </p:sp>
        <p:sp>
          <p:nvSpPr>
            <p:cNvPr id="15" name="AutoShape 15"/>
            <p:cNvSpPr/>
            <p:nvPr/>
          </p:nvSpPr>
          <p:spPr>
            <a:xfrm>
              <a:off x="1807335" y="3815371"/>
              <a:ext cx="3276600" cy="49530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 GPU programming language developed by OpenAI, using a Python-style Domain Specific Language (DSL)</a:t>
              </a:r>
              <a:endParaRPr lang="en-US" sz="1100"/>
            </a:p>
          </p:txBody>
        </p:sp>
      </p:grpSp>
      <p:grpSp>
        <p:nvGrpSpPr>
          <p:cNvPr id="16" name="Group 16"/>
          <p:cNvGrpSpPr/>
          <p:nvPr/>
        </p:nvGrpSpPr>
        <p:grpSpPr>
          <a:xfrm>
            <a:off x="6941929" y="3128128"/>
            <a:ext cx="3657600" cy="1371600"/>
            <a:chOff x="6941929" y="3128128"/>
            <a:chExt cx="3657600" cy="1371600"/>
          </a:xfrm>
        </p:grpSpPr>
        <p:sp>
          <p:nvSpPr>
            <p:cNvPr id="17" name="Freeform 17"/>
            <p:cNvSpPr/>
            <p:nvPr/>
          </p:nvSpPr>
          <p:spPr>
            <a:xfrm>
              <a:off x="6941929" y="3128128"/>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7192067" y="3386714"/>
              <a:ext cx="224626" cy="224626"/>
            </a:xfrm>
            <a:custGeom>
              <a:avLst/>
              <a:gdLst/>
              <a:ahLst/>
              <a:cxnLst/>
              <a:rect l="l" t="t" r="r" b="b"/>
              <a:pathLst>
                <a:path w="224626" h="224626">
                  <a:moveTo>
                    <a:pt x="64160" y="131891"/>
                  </a:moveTo>
                  <a:lnTo>
                    <a:pt x="17949" y="131891"/>
                  </a:lnTo>
                  <a:cubicBezTo>
                    <a:pt x="6831" y="131891"/>
                    <a:pt x="0" y="119790"/>
                    <a:pt x="5715" y="110238"/>
                  </a:cubicBezTo>
                  <a:lnTo>
                    <a:pt x="29334" y="70857"/>
                  </a:lnTo>
                  <a:cubicBezTo>
                    <a:pt x="33219" y="64383"/>
                    <a:pt x="40184" y="60454"/>
                    <a:pt x="47729" y="60454"/>
                  </a:cubicBezTo>
                  <a:lnTo>
                    <a:pt x="90145" y="60454"/>
                  </a:lnTo>
                  <a:cubicBezTo>
                    <a:pt x="124123" y="2902"/>
                    <a:pt x="174799" y="0"/>
                    <a:pt x="208687" y="4954"/>
                  </a:cubicBezTo>
                  <a:cubicBezTo>
                    <a:pt x="214402" y="5804"/>
                    <a:pt x="218868" y="10269"/>
                    <a:pt x="219671" y="15939"/>
                  </a:cubicBezTo>
                  <a:cubicBezTo>
                    <a:pt x="224626" y="49827"/>
                    <a:pt x="221724" y="100503"/>
                    <a:pt x="164173" y="134481"/>
                  </a:cubicBezTo>
                  <a:lnTo>
                    <a:pt x="164173" y="176897"/>
                  </a:lnTo>
                  <a:cubicBezTo>
                    <a:pt x="164173" y="184442"/>
                    <a:pt x="160243" y="191407"/>
                    <a:pt x="153769" y="195292"/>
                  </a:cubicBezTo>
                  <a:lnTo>
                    <a:pt x="114389" y="218911"/>
                  </a:lnTo>
                  <a:cubicBezTo>
                    <a:pt x="104879" y="224626"/>
                    <a:pt x="92735" y="217751"/>
                    <a:pt x="92735" y="206677"/>
                  </a:cubicBezTo>
                  <a:lnTo>
                    <a:pt x="92735" y="160466"/>
                  </a:lnTo>
                  <a:cubicBezTo>
                    <a:pt x="92735" y="144705"/>
                    <a:pt x="79921" y="131891"/>
                    <a:pt x="64160" y="131891"/>
                  </a:cubicBezTo>
                  <a:lnTo>
                    <a:pt x="64116" y="131891"/>
                  </a:lnTo>
                  <a:close/>
                  <a:moveTo>
                    <a:pt x="185604" y="60454"/>
                  </a:moveTo>
                  <a:cubicBezTo>
                    <a:pt x="185604" y="48625"/>
                    <a:pt x="176001" y="39022"/>
                    <a:pt x="164173" y="39022"/>
                  </a:cubicBezTo>
                  <a:cubicBezTo>
                    <a:pt x="152344" y="39022"/>
                    <a:pt x="142741" y="48625"/>
                    <a:pt x="142741" y="60454"/>
                  </a:cubicBezTo>
                  <a:cubicBezTo>
                    <a:pt x="142741" y="72282"/>
                    <a:pt x="152344" y="81885"/>
                    <a:pt x="164173" y="81885"/>
                  </a:cubicBezTo>
                  <a:cubicBezTo>
                    <a:pt x="176001" y="81885"/>
                    <a:pt x="185604" y="72282"/>
                    <a:pt x="185604" y="604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570487" y="3356701"/>
              <a:ext cx="2799891"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Auto-generate Kernels</a:t>
              </a:r>
              <a:endParaRPr lang="en-US" sz="1100"/>
            </a:p>
          </p:txBody>
        </p:sp>
        <p:sp>
          <p:nvSpPr>
            <p:cNvPr id="20" name="AutoShape 20"/>
            <p:cNvSpPr/>
            <p:nvPr/>
          </p:nvSpPr>
          <p:spPr>
            <a:xfrm>
              <a:off x="7170502" y="3775789"/>
              <a:ext cx="3276600" cy="49530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Compiler automatically converts Python code into high-performance GPU kernels — no handwritten CUDA required</a:t>
              </a:r>
              <a:endParaRPr lang="en-US" sz="1100"/>
            </a:p>
          </p:txBody>
        </p:sp>
      </p:grpSp>
      <p:grpSp>
        <p:nvGrpSpPr>
          <p:cNvPr id="21" name="Group 21"/>
          <p:cNvGrpSpPr/>
          <p:nvPr/>
        </p:nvGrpSpPr>
        <p:grpSpPr>
          <a:xfrm>
            <a:off x="6921729" y="5059591"/>
            <a:ext cx="3657600" cy="1371600"/>
            <a:chOff x="6921729" y="5059591"/>
            <a:chExt cx="3657600" cy="1371600"/>
          </a:xfrm>
        </p:grpSpPr>
        <p:sp>
          <p:nvSpPr>
            <p:cNvPr id="22" name="Freeform 22"/>
            <p:cNvSpPr/>
            <p:nvPr/>
          </p:nvSpPr>
          <p:spPr>
            <a:xfrm>
              <a:off x="6921729" y="5059591"/>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7149543" y="5307193"/>
              <a:ext cx="286777" cy="228600"/>
            </a:xfrm>
            <a:custGeom>
              <a:avLst/>
              <a:gdLst/>
              <a:ahLst/>
              <a:cxnLst/>
              <a:rect l="l" t="t" r="r" b="b"/>
              <a:pathLst>
                <a:path w="286777" h="228600">
                  <a:moveTo>
                    <a:pt x="172209" y="14287"/>
                  </a:moveTo>
                  <a:lnTo>
                    <a:pt x="229359" y="14287"/>
                  </a:lnTo>
                  <a:cubicBezTo>
                    <a:pt x="237262" y="14287"/>
                    <a:pt x="243647" y="20672"/>
                    <a:pt x="243647" y="28575"/>
                  </a:cubicBezTo>
                  <a:cubicBezTo>
                    <a:pt x="243647" y="36478"/>
                    <a:pt x="237262" y="42863"/>
                    <a:pt x="229359" y="42863"/>
                  </a:cubicBezTo>
                  <a:lnTo>
                    <a:pt x="178638" y="42863"/>
                  </a:lnTo>
                  <a:cubicBezTo>
                    <a:pt x="176317" y="54381"/>
                    <a:pt x="168414" y="63892"/>
                    <a:pt x="157922" y="68445"/>
                  </a:cubicBezTo>
                  <a:lnTo>
                    <a:pt x="157922" y="200025"/>
                  </a:lnTo>
                  <a:lnTo>
                    <a:pt x="229359" y="200025"/>
                  </a:lnTo>
                  <a:cubicBezTo>
                    <a:pt x="237262" y="200025"/>
                    <a:pt x="243647" y="206411"/>
                    <a:pt x="243647" y="214313"/>
                  </a:cubicBezTo>
                  <a:cubicBezTo>
                    <a:pt x="243647" y="222214"/>
                    <a:pt x="237262" y="228600"/>
                    <a:pt x="229359" y="228600"/>
                  </a:cubicBezTo>
                  <a:lnTo>
                    <a:pt x="57909" y="228600"/>
                  </a:lnTo>
                  <a:cubicBezTo>
                    <a:pt x="50006" y="228600"/>
                    <a:pt x="43622" y="222214"/>
                    <a:pt x="43622" y="214313"/>
                  </a:cubicBezTo>
                  <a:cubicBezTo>
                    <a:pt x="43622" y="206411"/>
                    <a:pt x="50006" y="200025"/>
                    <a:pt x="57909" y="200025"/>
                  </a:cubicBezTo>
                  <a:lnTo>
                    <a:pt x="129347" y="200025"/>
                  </a:lnTo>
                  <a:lnTo>
                    <a:pt x="129347" y="68445"/>
                  </a:lnTo>
                  <a:cubicBezTo>
                    <a:pt x="118854" y="63847"/>
                    <a:pt x="110951" y="54337"/>
                    <a:pt x="108630" y="42863"/>
                  </a:cubicBezTo>
                  <a:lnTo>
                    <a:pt x="57909" y="42863"/>
                  </a:lnTo>
                  <a:cubicBezTo>
                    <a:pt x="50006" y="42863"/>
                    <a:pt x="43622" y="36478"/>
                    <a:pt x="43622" y="28575"/>
                  </a:cubicBezTo>
                  <a:cubicBezTo>
                    <a:pt x="43622" y="20672"/>
                    <a:pt x="50006" y="14287"/>
                    <a:pt x="57909" y="14287"/>
                  </a:cubicBezTo>
                  <a:lnTo>
                    <a:pt x="115059" y="14287"/>
                  </a:lnTo>
                  <a:cubicBezTo>
                    <a:pt x="121578" y="5626"/>
                    <a:pt x="131936" y="0"/>
                    <a:pt x="143634" y="0"/>
                  </a:cubicBezTo>
                  <a:cubicBezTo>
                    <a:pt x="155332" y="0"/>
                    <a:pt x="165690" y="5626"/>
                    <a:pt x="172209" y="14287"/>
                  </a:cubicBezTo>
                  <a:close/>
                  <a:moveTo>
                    <a:pt x="197034" y="142875"/>
                  </a:moveTo>
                  <a:lnTo>
                    <a:pt x="261684" y="142875"/>
                  </a:lnTo>
                  <a:lnTo>
                    <a:pt x="229359" y="87422"/>
                  </a:lnTo>
                  <a:lnTo>
                    <a:pt x="197034" y="142875"/>
                  </a:lnTo>
                  <a:close/>
                  <a:moveTo>
                    <a:pt x="229359" y="185737"/>
                  </a:moveTo>
                  <a:cubicBezTo>
                    <a:pt x="201275" y="185737"/>
                    <a:pt x="177924" y="170557"/>
                    <a:pt x="173102" y="150510"/>
                  </a:cubicBezTo>
                  <a:cubicBezTo>
                    <a:pt x="171941" y="145599"/>
                    <a:pt x="173548" y="140553"/>
                    <a:pt x="176093" y="136178"/>
                  </a:cubicBezTo>
                  <a:lnTo>
                    <a:pt x="218600" y="63311"/>
                  </a:lnTo>
                  <a:cubicBezTo>
                    <a:pt x="220831" y="59472"/>
                    <a:pt x="224939" y="57150"/>
                    <a:pt x="229359" y="57150"/>
                  </a:cubicBezTo>
                  <a:cubicBezTo>
                    <a:pt x="233779" y="57150"/>
                    <a:pt x="237887" y="59516"/>
                    <a:pt x="240118" y="63311"/>
                  </a:cubicBezTo>
                  <a:lnTo>
                    <a:pt x="282625" y="136178"/>
                  </a:lnTo>
                  <a:cubicBezTo>
                    <a:pt x="285170" y="140553"/>
                    <a:pt x="286777" y="145599"/>
                    <a:pt x="285616" y="150510"/>
                  </a:cubicBezTo>
                  <a:cubicBezTo>
                    <a:pt x="280794" y="170511"/>
                    <a:pt x="257443" y="185737"/>
                    <a:pt x="229359" y="185737"/>
                  </a:cubicBezTo>
                  <a:close/>
                  <a:moveTo>
                    <a:pt x="57373" y="87422"/>
                  </a:moveTo>
                  <a:lnTo>
                    <a:pt x="25048" y="142875"/>
                  </a:lnTo>
                  <a:lnTo>
                    <a:pt x="89743" y="142875"/>
                  </a:lnTo>
                  <a:lnTo>
                    <a:pt x="57373" y="87422"/>
                  </a:lnTo>
                  <a:close/>
                  <a:moveTo>
                    <a:pt x="1162" y="150510"/>
                  </a:moveTo>
                  <a:cubicBezTo>
                    <a:pt x="0" y="145599"/>
                    <a:pt x="1607" y="140553"/>
                    <a:pt x="4152" y="136178"/>
                  </a:cubicBezTo>
                  <a:lnTo>
                    <a:pt x="46658" y="63311"/>
                  </a:lnTo>
                  <a:cubicBezTo>
                    <a:pt x="48889" y="59472"/>
                    <a:pt x="52998" y="57150"/>
                    <a:pt x="57418" y="57150"/>
                  </a:cubicBezTo>
                  <a:cubicBezTo>
                    <a:pt x="61838" y="57150"/>
                    <a:pt x="65946" y="59516"/>
                    <a:pt x="68178" y="63311"/>
                  </a:cubicBezTo>
                  <a:lnTo>
                    <a:pt x="110683" y="136178"/>
                  </a:lnTo>
                  <a:cubicBezTo>
                    <a:pt x="113228" y="140553"/>
                    <a:pt x="114835" y="145599"/>
                    <a:pt x="113675" y="150510"/>
                  </a:cubicBezTo>
                  <a:cubicBezTo>
                    <a:pt x="108853" y="170511"/>
                    <a:pt x="85502" y="185737"/>
                    <a:pt x="57418" y="185737"/>
                  </a:cubicBezTo>
                  <a:cubicBezTo>
                    <a:pt x="29334" y="185737"/>
                    <a:pt x="5983" y="170557"/>
                    <a:pt x="1162" y="1505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550287" y="5288164"/>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Design Goals</a:t>
              </a:r>
              <a:endParaRPr lang="en-US" sz="1100"/>
            </a:p>
          </p:txBody>
        </p:sp>
        <p:sp>
          <p:nvSpPr>
            <p:cNvPr id="25" name="AutoShape 25"/>
            <p:cNvSpPr/>
            <p:nvPr/>
          </p:nvSpPr>
          <p:spPr>
            <a:xfrm>
              <a:off x="7150302" y="5802466"/>
              <a:ext cx="3276600" cy="24765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Performance close to CUDA</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t>
              </a: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Development cost close to PyTorch</a:t>
              </a:r>
              <a:endParaRPr lang="en-US" sz="1100"/>
            </a:p>
          </p:txBody>
        </p:sp>
      </p:grpSp>
      <p:grpSp>
        <p:nvGrpSpPr>
          <p:cNvPr id="26" name="Group 26"/>
          <p:cNvGrpSpPr/>
          <p:nvPr/>
        </p:nvGrpSpPr>
        <p:grpSpPr>
          <a:xfrm>
            <a:off x="1408728" y="5059591"/>
            <a:ext cx="3827634" cy="1371600"/>
            <a:chOff x="1408728" y="5059591"/>
            <a:chExt cx="3827634" cy="1371600"/>
          </a:xfrm>
        </p:grpSpPr>
        <p:sp>
          <p:nvSpPr>
            <p:cNvPr id="27" name="Freeform 27"/>
            <p:cNvSpPr/>
            <p:nvPr/>
          </p:nvSpPr>
          <p:spPr>
            <a:xfrm>
              <a:off x="1578762" y="5059591"/>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895724" y="5238950"/>
              <a:ext cx="208490" cy="233362"/>
            </a:xfrm>
            <a:custGeom>
              <a:avLst/>
              <a:gdLst/>
              <a:ahLst/>
              <a:cxnLst/>
              <a:rect l="l" t="t" r="r" b="b"/>
              <a:pathLst>
                <a:path w="208490" h="233362">
                  <a:moveTo>
                    <a:pt x="13031" y="0"/>
                  </a:moveTo>
                  <a:cubicBezTo>
                    <a:pt x="5823" y="0"/>
                    <a:pt x="0" y="7448"/>
                    <a:pt x="0" y="16667"/>
                  </a:cubicBezTo>
                  <a:lnTo>
                    <a:pt x="0" y="208360"/>
                  </a:lnTo>
                  <a:cubicBezTo>
                    <a:pt x="0" y="222163"/>
                    <a:pt x="8755" y="233362"/>
                    <a:pt x="19547" y="233362"/>
                  </a:cubicBezTo>
                  <a:lnTo>
                    <a:pt x="188943" y="233362"/>
                  </a:lnTo>
                  <a:cubicBezTo>
                    <a:pt x="199734" y="233362"/>
                    <a:pt x="208490" y="222163"/>
                    <a:pt x="208490" y="208360"/>
                  </a:cubicBezTo>
                  <a:lnTo>
                    <a:pt x="208490" y="62612"/>
                  </a:lnTo>
                  <a:cubicBezTo>
                    <a:pt x="208490" y="53131"/>
                    <a:pt x="200589" y="47141"/>
                    <a:pt x="194075" y="51621"/>
                  </a:cubicBezTo>
                  <a:lnTo>
                    <a:pt x="130306" y="95533"/>
                  </a:lnTo>
                  <a:lnTo>
                    <a:pt x="130306" y="62612"/>
                  </a:lnTo>
                  <a:cubicBezTo>
                    <a:pt x="130306" y="53131"/>
                    <a:pt x="122405" y="47141"/>
                    <a:pt x="115890" y="51621"/>
                  </a:cubicBezTo>
                  <a:lnTo>
                    <a:pt x="52122" y="95533"/>
                  </a:lnTo>
                  <a:lnTo>
                    <a:pt x="52122" y="16667"/>
                  </a:lnTo>
                  <a:cubicBezTo>
                    <a:pt x="52122" y="7448"/>
                    <a:pt x="46299" y="0"/>
                    <a:pt x="39092" y="0"/>
                  </a:cubicBezTo>
                  <a:lnTo>
                    <a:pt x="13031" y="0"/>
                  </a:lnTo>
                  <a:close/>
                </a:path>
              </a:pathLst>
            </a:custGeom>
            <a:solidFill>
              <a:srgbClr val="8B0012">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2264535" y="52235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Applied to</a:t>
              </a:r>
              <a:endParaRPr lang="en-US" sz="1100"/>
            </a:p>
          </p:txBody>
        </p:sp>
        <p:grpSp>
          <p:nvGrpSpPr>
            <p:cNvPr id="30" name="Group 30"/>
            <p:cNvGrpSpPr/>
            <p:nvPr/>
          </p:nvGrpSpPr>
          <p:grpSpPr>
            <a:xfrm>
              <a:off x="1408728" y="5746099"/>
              <a:ext cx="1571625" cy="444469"/>
              <a:chOff x="1408728" y="5746099"/>
              <a:chExt cx="1571625" cy="444469"/>
            </a:xfrm>
          </p:grpSpPr>
          <p:sp>
            <p:nvSpPr>
              <p:cNvPr id="31" name="Freeform 31"/>
              <p:cNvSpPr/>
              <p:nvPr/>
            </p:nvSpPr>
            <p:spPr>
              <a:xfrm>
                <a:off x="2099340" y="5746099"/>
                <a:ext cx="190500" cy="190500"/>
              </a:xfrm>
              <a:custGeom>
                <a:avLst/>
                <a:gdLst/>
                <a:ahLst/>
                <a:cxnLst/>
                <a:rect l="l" t="t" r="r" b="b"/>
                <a:pathLst>
                  <a:path w="190500" h="190500">
                    <a:moveTo>
                      <a:pt x="65484" y="8929"/>
                    </a:moveTo>
                    <a:cubicBezTo>
                      <a:pt x="65484" y="3981"/>
                      <a:pt x="61504" y="0"/>
                      <a:pt x="56554" y="0"/>
                    </a:cubicBezTo>
                    <a:cubicBezTo>
                      <a:pt x="51606" y="0"/>
                      <a:pt x="47625" y="3981"/>
                      <a:pt x="47625" y="8929"/>
                    </a:cubicBezTo>
                    <a:lnTo>
                      <a:pt x="47625" y="23813"/>
                    </a:lnTo>
                    <a:cubicBezTo>
                      <a:pt x="34491" y="23813"/>
                      <a:pt x="23812" y="34491"/>
                      <a:pt x="23812" y="47625"/>
                    </a:cubicBezTo>
                    <a:lnTo>
                      <a:pt x="8929" y="47625"/>
                    </a:lnTo>
                    <a:cubicBezTo>
                      <a:pt x="3981" y="47625"/>
                      <a:pt x="0" y="51606"/>
                      <a:pt x="0" y="56554"/>
                    </a:cubicBezTo>
                    <a:cubicBezTo>
                      <a:pt x="0" y="61504"/>
                      <a:pt x="3981" y="65484"/>
                      <a:pt x="8929" y="65484"/>
                    </a:cubicBezTo>
                    <a:lnTo>
                      <a:pt x="23812" y="65484"/>
                    </a:lnTo>
                    <a:lnTo>
                      <a:pt x="23812" y="86321"/>
                    </a:lnTo>
                    <a:lnTo>
                      <a:pt x="8929" y="86321"/>
                    </a:lnTo>
                    <a:cubicBezTo>
                      <a:pt x="3981" y="86321"/>
                      <a:pt x="0" y="90301"/>
                      <a:pt x="0" y="95250"/>
                    </a:cubicBezTo>
                    <a:cubicBezTo>
                      <a:pt x="0" y="100199"/>
                      <a:pt x="3981" y="104179"/>
                      <a:pt x="8929" y="104179"/>
                    </a:cubicBezTo>
                    <a:lnTo>
                      <a:pt x="23812" y="104179"/>
                    </a:lnTo>
                    <a:lnTo>
                      <a:pt x="23812" y="125016"/>
                    </a:lnTo>
                    <a:lnTo>
                      <a:pt x="8929" y="125016"/>
                    </a:lnTo>
                    <a:cubicBezTo>
                      <a:pt x="3981" y="125016"/>
                      <a:pt x="0" y="128996"/>
                      <a:pt x="0" y="133946"/>
                    </a:cubicBezTo>
                    <a:cubicBezTo>
                      <a:pt x="0" y="138894"/>
                      <a:pt x="3981" y="142875"/>
                      <a:pt x="8929" y="142875"/>
                    </a:cubicBezTo>
                    <a:lnTo>
                      <a:pt x="23812" y="142875"/>
                    </a:lnTo>
                    <a:cubicBezTo>
                      <a:pt x="23812" y="156009"/>
                      <a:pt x="34491" y="166687"/>
                      <a:pt x="47625" y="166687"/>
                    </a:cubicBezTo>
                    <a:lnTo>
                      <a:pt x="47625" y="181571"/>
                    </a:lnTo>
                    <a:cubicBezTo>
                      <a:pt x="47625" y="186519"/>
                      <a:pt x="51606" y="190500"/>
                      <a:pt x="56554" y="190500"/>
                    </a:cubicBezTo>
                    <a:cubicBezTo>
                      <a:pt x="61504" y="190500"/>
                      <a:pt x="65484" y="186519"/>
                      <a:pt x="65484" y="181571"/>
                    </a:cubicBezTo>
                    <a:lnTo>
                      <a:pt x="65484" y="166687"/>
                    </a:lnTo>
                    <a:lnTo>
                      <a:pt x="86321" y="166687"/>
                    </a:lnTo>
                    <a:lnTo>
                      <a:pt x="86321" y="181571"/>
                    </a:lnTo>
                    <a:cubicBezTo>
                      <a:pt x="86321" y="186519"/>
                      <a:pt x="90301" y="190500"/>
                      <a:pt x="95250" y="190500"/>
                    </a:cubicBezTo>
                    <a:cubicBezTo>
                      <a:pt x="100199" y="190500"/>
                      <a:pt x="104179" y="186519"/>
                      <a:pt x="104179" y="181571"/>
                    </a:cubicBezTo>
                    <a:lnTo>
                      <a:pt x="104179" y="166687"/>
                    </a:lnTo>
                    <a:lnTo>
                      <a:pt x="125016" y="166687"/>
                    </a:lnTo>
                    <a:lnTo>
                      <a:pt x="125016" y="181571"/>
                    </a:lnTo>
                    <a:cubicBezTo>
                      <a:pt x="125016" y="186519"/>
                      <a:pt x="128996" y="190500"/>
                      <a:pt x="133946" y="190500"/>
                    </a:cubicBezTo>
                    <a:cubicBezTo>
                      <a:pt x="138894" y="190500"/>
                      <a:pt x="142875" y="186519"/>
                      <a:pt x="142875" y="181571"/>
                    </a:cubicBezTo>
                    <a:lnTo>
                      <a:pt x="142875" y="166687"/>
                    </a:lnTo>
                    <a:cubicBezTo>
                      <a:pt x="156009" y="166687"/>
                      <a:pt x="166688" y="156009"/>
                      <a:pt x="166688" y="142875"/>
                    </a:cubicBezTo>
                    <a:lnTo>
                      <a:pt x="181571" y="142875"/>
                    </a:lnTo>
                    <a:cubicBezTo>
                      <a:pt x="186519" y="142875"/>
                      <a:pt x="190500" y="138894"/>
                      <a:pt x="190500" y="133946"/>
                    </a:cubicBezTo>
                    <a:cubicBezTo>
                      <a:pt x="190500" y="128996"/>
                      <a:pt x="186519" y="125016"/>
                      <a:pt x="181571" y="125016"/>
                    </a:cubicBezTo>
                    <a:lnTo>
                      <a:pt x="166688" y="125016"/>
                    </a:lnTo>
                    <a:lnTo>
                      <a:pt x="166688" y="104179"/>
                    </a:lnTo>
                    <a:lnTo>
                      <a:pt x="181571" y="104179"/>
                    </a:lnTo>
                    <a:cubicBezTo>
                      <a:pt x="186519" y="104179"/>
                      <a:pt x="190500" y="100199"/>
                      <a:pt x="190500" y="95250"/>
                    </a:cubicBezTo>
                    <a:cubicBezTo>
                      <a:pt x="190500" y="90301"/>
                      <a:pt x="186519" y="86321"/>
                      <a:pt x="181571" y="86321"/>
                    </a:cubicBezTo>
                    <a:lnTo>
                      <a:pt x="166688" y="86321"/>
                    </a:lnTo>
                    <a:lnTo>
                      <a:pt x="166688" y="65484"/>
                    </a:lnTo>
                    <a:lnTo>
                      <a:pt x="181571" y="65484"/>
                    </a:lnTo>
                    <a:cubicBezTo>
                      <a:pt x="186519" y="65484"/>
                      <a:pt x="190500" y="61504"/>
                      <a:pt x="190500" y="56554"/>
                    </a:cubicBezTo>
                    <a:cubicBezTo>
                      <a:pt x="190500" y="51606"/>
                      <a:pt x="186519" y="47625"/>
                      <a:pt x="181571" y="47625"/>
                    </a:cubicBezTo>
                    <a:lnTo>
                      <a:pt x="166688" y="47625"/>
                    </a:lnTo>
                    <a:cubicBezTo>
                      <a:pt x="166688" y="34491"/>
                      <a:pt x="156009" y="23813"/>
                      <a:pt x="142875" y="23813"/>
                    </a:cubicBezTo>
                    <a:lnTo>
                      <a:pt x="142875" y="8929"/>
                    </a:lnTo>
                    <a:cubicBezTo>
                      <a:pt x="142875" y="3981"/>
                      <a:pt x="138894" y="0"/>
                      <a:pt x="133946" y="0"/>
                    </a:cubicBezTo>
                    <a:cubicBezTo>
                      <a:pt x="128996" y="0"/>
                      <a:pt x="125016" y="3981"/>
                      <a:pt x="125016" y="8929"/>
                    </a:cubicBezTo>
                    <a:lnTo>
                      <a:pt x="125016" y="23813"/>
                    </a:lnTo>
                    <a:lnTo>
                      <a:pt x="104179" y="23813"/>
                    </a:lnTo>
                    <a:lnTo>
                      <a:pt x="104179" y="8929"/>
                    </a:lnTo>
                    <a:cubicBezTo>
                      <a:pt x="104179" y="3981"/>
                      <a:pt x="100199" y="0"/>
                      <a:pt x="95250" y="0"/>
                    </a:cubicBezTo>
                    <a:cubicBezTo>
                      <a:pt x="90301" y="0"/>
                      <a:pt x="86321" y="3981"/>
                      <a:pt x="86321" y="8929"/>
                    </a:cubicBezTo>
                    <a:lnTo>
                      <a:pt x="86321" y="23813"/>
                    </a:lnTo>
                    <a:lnTo>
                      <a:pt x="65484" y="23813"/>
                    </a:lnTo>
                    <a:lnTo>
                      <a:pt x="65484" y="8929"/>
                    </a:lnTo>
                    <a:close/>
                    <a:moveTo>
                      <a:pt x="59531" y="47625"/>
                    </a:moveTo>
                    <a:lnTo>
                      <a:pt x="130969" y="47625"/>
                    </a:lnTo>
                    <a:cubicBezTo>
                      <a:pt x="137554" y="47625"/>
                      <a:pt x="142875" y="52946"/>
                      <a:pt x="142875" y="59531"/>
                    </a:cubicBezTo>
                    <a:lnTo>
                      <a:pt x="142875" y="130969"/>
                    </a:lnTo>
                    <a:cubicBezTo>
                      <a:pt x="142875" y="137554"/>
                      <a:pt x="137554" y="142875"/>
                      <a:pt x="130969" y="142875"/>
                    </a:cubicBezTo>
                    <a:lnTo>
                      <a:pt x="59531" y="142875"/>
                    </a:lnTo>
                    <a:cubicBezTo>
                      <a:pt x="52946" y="142875"/>
                      <a:pt x="47625" y="137554"/>
                      <a:pt x="47625" y="130969"/>
                    </a:cubicBezTo>
                    <a:lnTo>
                      <a:pt x="47625" y="59531"/>
                    </a:lnTo>
                    <a:cubicBezTo>
                      <a:pt x="47625" y="52946"/>
                      <a:pt x="52946" y="47625"/>
                      <a:pt x="59531" y="47625"/>
                    </a:cubicBezTo>
                    <a:close/>
                    <a:moveTo>
                      <a:pt x="65484" y="65484"/>
                    </a:moveTo>
                    <a:lnTo>
                      <a:pt x="65484" y="125016"/>
                    </a:lnTo>
                    <a:lnTo>
                      <a:pt x="125016" y="125016"/>
                    </a:lnTo>
                    <a:lnTo>
                      <a:pt x="125016" y="65484"/>
                    </a:lnTo>
                    <a:lnTo>
                      <a:pt x="65484" y="65484"/>
                    </a:lnTo>
                    <a:close/>
                  </a:path>
                </a:pathLst>
              </a:custGeom>
              <a:solidFill>
                <a:srgbClr val="E07A5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408728" y="6000068"/>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767171"/>
                    </a:solidFill>
                    <a:latin typeface="MiSans" panose="00000500000000000000" charset="-122"/>
                    <a:ea typeface="MiSans" panose="00000500000000000000" charset="-122"/>
                    <a:cs typeface="MiSans" panose="00000500000000000000" charset="-122"/>
                    <a:sym typeface="MiSans" panose="00000500000000000000" charset="-122"/>
                  </a:rPr>
                  <a:t>Kernel</a:t>
                </a:r>
                <a:endParaRPr lang="en-US" sz="1100"/>
              </a:p>
            </p:txBody>
          </p:sp>
        </p:grpSp>
        <p:grpSp>
          <p:nvGrpSpPr>
            <p:cNvPr id="33" name="Group 33"/>
            <p:cNvGrpSpPr/>
            <p:nvPr/>
          </p:nvGrpSpPr>
          <p:grpSpPr>
            <a:xfrm>
              <a:off x="2515047" y="5756525"/>
              <a:ext cx="1571625" cy="444469"/>
              <a:chOff x="2515047" y="5756525"/>
              <a:chExt cx="1571625" cy="444469"/>
            </a:xfrm>
          </p:grpSpPr>
          <p:sp>
            <p:nvSpPr>
              <p:cNvPr id="34" name="Freeform 34"/>
              <p:cNvSpPr/>
              <p:nvPr/>
            </p:nvSpPr>
            <p:spPr>
              <a:xfrm>
                <a:off x="3208697" y="5756525"/>
                <a:ext cx="184546" cy="190500"/>
              </a:xfrm>
              <a:custGeom>
                <a:avLst/>
                <a:gdLst/>
                <a:ahLst/>
                <a:cxnLst/>
                <a:rect l="l" t="t" r="r" b="b"/>
                <a:pathLst>
                  <a:path w="184546" h="190500">
                    <a:moveTo>
                      <a:pt x="41671" y="20836"/>
                    </a:moveTo>
                    <a:cubicBezTo>
                      <a:pt x="41671" y="9340"/>
                      <a:pt x="51009" y="0"/>
                      <a:pt x="62507" y="0"/>
                    </a:cubicBezTo>
                    <a:lnTo>
                      <a:pt x="71437" y="0"/>
                    </a:lnTo>
                    <a:cubicBezTo>
                      <a:pt x="78024" y="0"/>
                      <a:pt x="83344" y="5321"/>
                      <a:pt x="83344" y="11906"/>
                    </a:cubicBezTo>
                    <a:lnTo>
                      <a:pt x="83344" y="178594"/>
                    </a:lnTo>
                    <a:cubicBezTo>
                      <a:pt x="83344" y="185179"/>
                      <a:pt x="78024" y="190500"/>
                      <a:pt x="71437" y="190500"/>
                    </a:cubicBezTo>
                    <a:lnTo>
                      <a:pt x="59531" y="190500"/>
                    </a:lnTo>
                    <a:cubicBezTo>
                      <a:pt x="48443" y="190500"/>
                      <a:pt x="39104" y="182910"/>
                      <a:pt x="36462" y="172641"/>
                    </a:cubicBezTo>
                    <a:cubicBezTo>
                      <a:pt x="36203" y="172641"/>
                      <a:pt x="35979" y="172641"/>
                      <a:pt x="35719" y="172641"/>
                    </a:cubicBezTo>
                    <a:cubicBezTo>
                      <a:pt x="19273" y="172641"/>
                      <a:pt x="5952" y="159321"/>
                      <a:pt x="5952" y="142875"/>
                    </a:cubicBezTo>
                    <a:cubicBezTo>
                      <a:pt x="5952" y="136178"/>
                      <a:pt x="8185" y="130001"/>
                      <a:pt x="11906" y="125016"/>
                    </a:cubicBezTo>
                    <a:cubicBezTo>
                      <a:pt x="4687" y="119583"/>
                      <a:pt x="0" y="110951"/>
                      <a:pt x="0" y="101202"/>
                    </a:cubicBezTo>
                    <a:cubicBezTo>
                      <a:pt x="0" y="89706"/>
                      <a:pt x="6548" y="79698"/>
                      <a:pt x="16073" y="74748"/>
                    </a:cubicBezTo>
                    <a:cubicBezTo>
                      <a:pt x="13431" y="70284"/>
                      <a:pt x="11906" y="65075"/>
                      <a:pt x="11906" y="59531"/>
                    </a:cubicBezTo>
                    <a:cubicBezTo>
                      <a:pt x="11906" y="43086"/>
                      <a:pt x="25226" y="29766"/>
                      <a:pt x="41671" y="29766"/>
                    </a:cubicBezTo>
                    <a:lnTo>
                      <a:pt x="41671" y="20836"/>
                    </a:lnTo>
                    <a:close/>
                    <a:moveTo>
                      <a:pt x="142875" y="20836"/>
                    </a:moveTo>
                    <a:lnTo>
                      <a:pt x="142875" y="29766"/>
                    </a:lnTo>
                    <a:cubicBezTo>
                      <a:pt x="159320" y="29766"/>
                      <a:pt x="172640" y="43086"/>
                      <a:pt x="172640" y="59531"/>
                    </a:cubicBezTo>
                    <a:cubicBezTo>
                      <a:pt x="172640" y="65112"/>
                      <a:pt x="171115" y="70321"/>
                      <a:pt x="168473" y="74748"/>
                    </a:cubicBezTo>
                    <a:cubicBezTo>
                      <a:pt x="178035" y="79698"/>
                      <a:pt x="184546" y="89670"/>
                      <a:pt x="184546" y="101202"/>
                    </a:cubicBezTo>
                    <a:cubicBezTo>
                      <a:pt x="184546" y="110951"/>
                      <a:pt x="179859" y="119583"/>
                      <a:pt x="172640" y="125016"/>
                    </a:cubicBezTo>
                    <a:cubicBezTo>
                      <a:pt x="176361" y="130001"/>
                      <a:pt x="178594" y="136178"/>
                      <a:pt x="178594" y="142875"/>
                    </a:cubicBezTo>
                    <a:cubicBezTo>
                      <a:pt x="178594" y="159321"/>
                      <a:pt x="165273" y="172641"/>
                      <a:pt x="148827" y="172641"/>
                    </a:cubicBezTo>
                    <a:cubicBezTo>
                      <a:pt x="148567" y="172641"/>
                      <a:pt x="148344" y="172641"/>
                      <a:pt x="148084" y="172641"/>
                    </a:cubicBezTo>
                    <a:cubicBezTo>
                      <a:pt x="145442" y="182910"/>
                      <a:pt x="136103" y="190500"/>
                      <a:pt x="125015" y="190500"/>
                    </a:cubicBezTo>
                    <a:lnTo>
                      <a:pt x="113109" y="190500"/>
                    </a:lnTo>
                    <a:cubicBezTo>
                      <a:pt x="106522" y="190500"/>
                      <a:pt x="101202" y="185179"/>
                      <a:pt x="101202" y="178594"/>
                    </a:cubicBezTo>
                    <a:lnTo>
                      <a:pt x="101202" y="11906"/>
                    </a:lnTo>
                    <a:cubicBezTo>
                      <a:pt x="101202" y="5321"/>
                      <a:pt x="106522" y="0"/>
                      <a:pt x="113109" y="0"/>
                    </a:cubicBezTo>
                    <a:lnTo>
                      <a:pt x="122039" y="0"/>
                    </a:lnTo>
                    <a:cubicBezTo>
                      <a:pt x="133537" y="0"/>
                      <a:pt x="142875" y="9340"/>
                      <a:pt x="142875" y="20836"/>
                    </a:cubicBezTo>
                    <a:close/>
                  </a:path>
                </a:pathLst>
              </a:custGeom>
              <a:solidFill>
                <a:srgbClr val="4A6C8C">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2515047" y="6010494"/>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767171"/>
                    </a:solidFill>
                    <a:latin typeface="MiSans" panose="00000500000000000000" charset="-122"/>
                    <a:ea typeface="MiSans" panose="00000500000000000000" charset="-122"/>
                    <a:cs typeface="MiSans" panose="00000500000000000000" charset="-122"/>
                    <a:sym typeface="MiSans" panose="00000500000000000000" charset="-122"/>
                  </a:rPr>
                  <a:t>Deep Learning</a:t>
                </a:r>
                <a:endParaRPr lang="en-US" sz="1100"/>
              </a:p>
            </p:txBody>
          </p:sp>
        </p:grpSp>
        <p:grpSp>
          <p:nvGrpSpPr>
            <p:cNvPr id="36" name="Group 36"/>
            <p:cNvGrpSpPr/>
            <p:nvPr/>
          </p:nvGrpSpPr>
          <p:grpSpPr>
            <a:xfrm>
              <a:off x="3577000" y="5756524"/>
              <a:ext cx="1571625" cy="457194"/>
              <a:chOff x="3577000" y="5756524"/>
              <a:chExt cx="1571625" cy="457194"/>
            </a:xfrm>
          </p:grpSpPr>
          <p:sp>
            <p:nvSpPr>
              <p:cNvPr id="37" name="Freeform 37"/>
              <p:cNvSpPr/>
              <p:nvPr/>
            </p:nvSpPr>
            <p:spPr>
              <a:xfrm>
                <a:off x="4279518" y="5756524"/>
                <a:ext cx="166649" cy="203189"/>
              </a:xfrm>
              <a:custGeom>
                <a:avLst/>
                <a:gdLst/>
                <a:ahLst/>
                <a:cxnLst/>
                <a:rect l="l" t="t" r="r" b="b"/>
                <a:pathLst>
                  <a:path w="166649" h="203189">
                    <a:moveTo>
                      <a:pt x="59717" y="2902"/>
                    </a:moveTo>
                    <a:cubicBezTo>
                      <a:pt x="63177" y="0"/>
                      <a:pt x="68275" y="113"/>
                      <a:pt x="71586" y="3237"/>
                    </a:cubicBezTo>
                    <a:cubicBezTo>
                      <a:pt x="76163" y="7554"/>
                      <a:pt x="80256" y="12316"/>
                      <a:pt x="84200" y="17153"/>
                    </a:cubicBezTo>
                    <a:cubicBezTo>
                      <a:pt x="89223" y="23291"/>
                      <a:pt x="95250" y="31403"/>
                      <a:pt x="101054" y="41040"/>
                    </a:cubicBezTo>
                    <a:cubicBezTo>
                      <a:pt x="102989" y="38509"/>
                      <a:pt x="104775" y="36277"/>
                      <a:pt x="106338" y="34378"/>
                    </a:cubicBezTo>
                    <a:cubicBezTo>
                      <a:pt x="106747" y="33896"/>
                      <a:pt x="107156" y="33375"/>
                      <a:pt x="107566" y="32854"/>
                    </a:cubicBezTo>
                    <a:cubicBezTo>
                      <a:pt x="110505" y="29208"/>
                      <a:pt x="114151" y="24631"/>
                      <a:pt x="119024" y="24631"/>
                    </a:cubicBezTo>
                    <a:cubicBezTo>
                      <a:pt x="124010" y="24631"/>
                      <a:pt x="127508" y="29058"/>
                      <a:pt x="130485" y="32854"/>
                    </a:cubicBezTo>
                    <a:cubicBezTo>
                      <a:pt x="130969" y="33487"/>
                      <a:pt x="131453" y="34083"/>
                      <a:pt x="131936" y="34640"/>
                    </a:cubicBezTo>
                    <a:cubicBezTo>
                      <a:pt x="135768" y="39254"/>
                      <a:pt x="140866" y="45914"/>
                      <a:pt x="145962" y="54136"/>
                    </a:cubicBezTo>
                    <a:cubicBezTo>
                      <a:pt x="156083" y="70471"/>
                      <a:pt x="166649" y="93726"/>
                      <a:pt x="166649" y="119844"/>
                    </a:cubicBezTo>
                    <a:cubicBezTo>
                      <a:pt x="166649" y="165869"/>
                      <a:pt x="129332" y="203188"/>
                      <a:pt x="83307" y="203188"/>
                    </a:cubicBezTo>
                    <a:cubicBezTo>
                      <a:pt x="37281" y="203188"/>
                      <a:pt x="0" y="165906"/>
                      <a:pt x="0" y="119881"/>
                    </a:cubicBezTo>
                    <a:cubicBezTo>
                      <a:pt x="0" y="85986"/>
                      <a:pt x="15292" y="56629"/>
                      <a:pt x="29952" y="36165"/>
                    </a:cubicBezTo>
                    <a:cubicBezTo>
                      <a:pt x="37356" y="25859"/>
                      <a:pt x="44723" y="17599"/>
                      <a:pt x="50267" y="11944"/>
                    </a:cubicBezTo>
                    <a:cubicBezTo>
                      <a:pt x="53318" y="8818"/>
                      <a:pt x="56406" y="5730"/>
                      <a:pt x="59754" y="2940"/>
                    </a:cubicBezTo>
                    <a:close/>
                    <a:moveTo>
                      <a:pt x="83976" y="167506"/>
                    </a:moveTo>
                    <a:cubicBezTo>
                      <a:pt x="93389" y="167506"/>
                      <a:pt x="101724" y="164901"/>
                      <a:pt x="109576" y="159693"/>
                    </a:cubicBezTo>
                    <a:cubicBezTo>
                      <a:pt x="125239" y="148753"/>
                      <a:pt x="129443" y="126876"/>
                      <a:pt x="120030" y="109687"/>
                    </a:cubicBezTo>
                    <a:cubicBezTo>
                      <a:pt x="118356" y="106338"/>
                      <a:pt x="114076" y="106114"/>
                      <a:pt x="111658" y="108941"/>
                    </a:cubicBezTo>
                    <a:lnTo>
                      <a:pt x="102282" y="119844"/>
                    </a:lnTo>
                    <a:cubicBezTo>
                      <a:pt x="99826" y="122671"/>
                      <a:pt x="95399" y="122597"/>
                      <a:pt x="93092" y="119658"/>
                    </a:cubicBezTo>
                    <a:cubicBezTo>
                      <a:pt x="86655" y="111434"/>
                      <a:pt x="74823" y="96441"/>
                      <a:pt x="68796" y="88776"/>
                    </a:cubicBezTo>
                    <a:cubicBezTo>
                      <a:pt x="66787" y="86208"/>
                      <a:pt x="63141" y="85800"/>
                      <a:pt x="60796" y="88069"/>
                    </a:cubicBezTo>
                    <a:cubicBezTo>
                      <a:pt x="53986" y="94692"/>
                      <a:pt x="41634" y="109203"/>
                      <a:pt x="41634" y="126876"/>
                    </a:cubicBezTo>
                    <a:cubicBezTo>
                      <a:pt x="41634" y="152400"/>
                      <a:pt x="60461" y="167506"/>
                      <a:pt x="83939" y="167506"/>
                    </a:cubicBezTo>
                    <a:close/>
                  </a:path>
                </a:pathLst>
              </a:custGeom>
              <a:solidFill>
                <a:srgbClr val="E07A5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3577000" y="6023218"/>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767171"/>
                    </a:solidFill>
                    <a:latin typeface="MiSans" panose="00000500000000000000" charset="-122"/>
                    <a:ea typeface="MiSans" panose="00000500000000000000" charset="-122"/>
                    <a:cs typeface="MiSans" panose="00000500000000000000" charset="-122"/>
                    <a:sym typeface="MiSans" panose="00000500000000000000" charset="-122"/>
                  </a:rPr>
                  <a:t>PyTorch</a:t>
                </a:r>
                <a:endParaRPr lang="en-US" sz="1100"/>
              </a:p>
            </p:txBody>
          </p:sp>
        </p:gr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9796" y="623039"/>
            <a:ext cx="10529386"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Triton Execution Model</a:t>
            </a:r>
            <a:endParaRPr lang="en-US" sz="1100"/>
          </a:p>
        </p:txBody>
      </p:sp>
      <p:sp>
        <p:nvSpPr>
          <p:cNvPr id="3" name="AutoShape 3"/>
          <p:cNvSpPr/>
          <p:nvPr/>
        </p:nvSpPr>
        <p:spPr>
          <a:xfrm>
            <a:off x="380956" y="1694493"/>
            <a:ext cx="115157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Triton basic execution unit </a:t>
            </a:r>
            <a:r>
              <a:rPr lang="en-US" sz="15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program</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multiple programs form a </a:t>
            </a:r>
            <a:r>
              <a:rPr lang="en-US" sz="15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grid</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each program handles one data block</a:t>
            </a:r>
            <a:endParaRPr lang="en-US" sz="1100"/>
          </a:p>
        </p:txBody>
      </p:sp>
      <p:sp>
        <p:nvSpPr>
          <p:cNvPr id="4" name="Freeform 4"/>
          <p:cNvSpPr/>
          <p:nvPr/>
        </p:nvSpPr>
        <p:spPr>
          <a:xfrm>
            <a:off x="380956" y="2354076"/>
            <a:ext cx="11430000" cy="2771775"/>
          </a:xfrm>
          <a:custGeom>
            <a:avLst/>
            <a:gdLst/>
            <a:ahLst/>
            <a:cxnLst/>
            <a:rect l="l" t="t" r="r" b="b"/>
            <a:pathLst>
              <a:path w="11430000" h="2771775">
                <a:moveTo>
                  <a:pt x="114308" y="0"/>
                </a:moveTo>
                <a:lnTo>
                  <a:pt x="11315692" y="0"/>
                </a:lnTo>
                <a:cubicBezTo>
                  <a:pt x="11378823" y="0"/>
                  <a:pt x="11430000" y="51177"/>
                  <a:pt x="11430000" y="114308"/>
                </a:cubicBezTo>
                <a:lnTo>
                  <a:pt x="11430000" y="2657467"/>
                </a:lnTo>
                <a:cubicBezTo>
                  <a:pt x="11430000" y="2720598"/>
                  <a:pt x="11378823" y="2771775"/>
                  <a:pt x="11315692" y="2771775"/>
                </a:cubicBezTo>
                <a:lnTo>
                  <a:pt x="114308" y="2771775"/>
                </a:lnTo>
                <a:cubicBezTo>
                  <a:pt x="51177" y="2771775"/>
                  <a:pt x="0" y="2720598"/>
                  <a:pt x="0" y="2657467"/>
                </a:cubicBezTo>
                <a:lnTo>
                  <a:pt x="0" y="114308"/>
                </a:lnTo>
                <a:cubicBezTo>
                  <a:pt x="0" y="51220"/>
                  <a:pt x="51220" y="0"/>
                  <a:pt x="1143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graphicFrame>
        <p:nvGraphicFramePr>
          <p:cNvPr id="5" name="Table 5"/>
          <p:cNvGraphicFramePr>
            <a:graphicFrameLocks noGrp="1"/>
          </p:cNvGraphicFramePr>
          <p:nvPr/>
        </p:nvGraphicFramePr>
        <p:xfrm>
          <a:off x="609529" y="2582649"/>
          <a:ext cx="10972800" cy="2314576"/>
        </p:xfrm>
        <a:graphic>
          <a:graphicData uri="http://schemas.openxmlformats.org/drawingml/2006/table">
            <a:tbl>
              <a:tblPr>
                <a:effectLst/>
              </a:tblPr>
              <a:tblGrid>
                <a:gridCol w="5153025"/>
                <a:gridCol w="1733550"/>
                <a:gridCol w="4086225"/>
              </a:tblGrid>
              <a:tr h="578644">
                <a:tc>
                  <a:txBody>
                    <a:bodyPr rtlCol="0"/>
                    <a:lstStyle/>
                    <a:p>
                      <a:pPr indent="0" algn="l">
                        <a:lnSpc>
                          <a:spcPct val="100000"/>
                        </a:lnSpc>
                        <a:defRPr/>
                      </a:pPr>
                      <a:r>
                        <a:rPr lang="en-US" sz="15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CUDA Concept</a:t>
                      </a:r>
                      <a:endParaRPr lang="en-US" sz="1100"/>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800" b="1" i="0" u="none" strike="noStrike">
                          <a:solidFill>
                            <a:srgbClr val="99A1A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5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Concept</a:t>
                      </a:r>
                      <a:endParaRPr lang="en-US" sz="1100"/>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thread block</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program</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blockIdx</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program_id</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gridDim</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launch grid</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r>
            </a:tbl>
          </a:graphicData>
        </a:graphic>
      </p:graphicFrame>
      <p:sp>
        <p:nvSpPr>
          <p:cNvPr id="6" name="Freeform 6"/>
          <p:cNvSpPr/>
          <p:nvPr/>
        </p:nvSpPr>
        <p:spPr>
          <a:xfrm>
            <a:off x="380956" y="5353739"/>
            <a:ext cx="11430000" cy="533400"/>
          </a:xfrm>
          <a:custGeom>
            <a:avLst/>
            <a:gdLst/>
            <a:ahLst/>
            <a:cxnLst/>
            <a:rect l="l" t="t" r="r" b="b"/>
            <a:pathLst>
              <a:path w="11430000" h="533400">
                <a:moveTo>
                  <a:pt x="76203" y="0"/>
                </a:moveTo>
                <a:lnTo>
                  <a:pt x="11353797" y="0"/>
                </a:lnTo>
                <a:cubicBezTo>
                  <a:pt x="11395883" y="0"/>
                  <a:pt x="11430000" y="34117"/>
                  <a:pt x="11430000" y="76203"/>
                </a:cubicBezTo>
                <a:lnTo>
                  <a:pt x="11430000" y="457197"/>
                </a:lnTo>
                <a:cubicBezTo>
                  <a:pt x="11430000" y="499283"/>
                  <a:pt x="11395883" y="533400"/>
                  <a:pt x="11353797" y="533400"/>
                </a:cubicBezTo>
                <a:lnTo>
                  <a:pt x="76203" y="533400"/>
                </a:lnTo>
                <a:cubicBezTo>
                  <a:pt x="34117" y="533400"/>
                  <a:pt x="0" y="499283"/>
                  <a:pt x="0" y="4571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0488" y="5506123"/>
            <a:ext cx="171450" cy="235744"/>
          </a:xfrm>
          <a:custGeom>
            <a:avLst/>
            <a:gdLst/>
            <a:ahLst/>
            <a:cxnLst/>
            <a:rect l="l" t="t" r="r" b="b"/>
            <a:pathLst>
              <a:path w="171450" h="235744">
                <a:moveTo>
                  <a:pt x="130774" y="171450"/>
                </a:moveTo>
                <a:cubicBezTo>
                  <a:pt x="134035" y="161493"/>
                  <a:pt x="140553" y="152474"/>
                  <a:pt x="147919" y="144706"/>
                </a:cubicBezTo>
                <a:cubicBezTo>
                  <a:pt x="162521" y="129347"/>
                  <a:pt x="171450" y="108585"/>
                  <a:pt x="171450" y="85725"/>
                </a:cubicBezTo>
                <a:cubicBezTo>
                  <a:pt x="171450" y="38398"/>
                  <a:pt x="133052" y="0"/>
                  <a:pt x="85725" y="0"/>
                </a:cubicBezTo>
                <a:cubicBezTo>
                  <a:pt x="38398" y="0"/>
                  <a:pt x="0" y="38398"/>
                  <a:pt x="0" y="85725"/>
                </a:cubicBezTo>
                <a:cubicBezTo>
                  <a:pt x="0" y="108585"/>
                  <a:pt x="8929" y="129347"/>
                  <a:pt x="23531" y="144706"/>
                </a:cubicBezTo>
                <a:cubicBezTo>
                  <a:pt x="30897" y="152474"/>
                  <a:pt x="37460" y="161493"/>
                  <a:pt x="40676" y="171450"/>
                </a:cubicBezTo>
                <a:lnTo>
                  <a:pt x="130731" y="171450"/>
                </a:lnTo>
                <a:close/>
                <a:moveTo>
                  <a:pt x="128588" y="192881"/>
                </a:moveTo>
                <a:lnTo>
                  <a:pt x="42862" y="192881"/>
                </a:lnTo>
                <a:lnTo>
                  <a:pt x="42862" y="200025"/>
                </a:lnTo>
                <a:cubicBezTo>
                  <a:pt x="42862" y="219760"/>
                  <a:pt x="58847" y="235744"/>
                  <a:pt x="78581" y="235744"/>
                </a:cubicBezTo>
                <a:lnTo>
                  <a:pt x="92869" y="235744"/>
                </a:lnTo>
                <a:cubicBezTo>
                  <a:pt x="112603" y="235744"/>
                  <a:pt x="128588" y="219760"/>
                  <a:pt x="128588" y="200025"/>
                </a:cubicBezTo>
                <a:lnTo>
                  <a:pt x="128588" y="192881"/>
                </a:lnTo>
                <a:close/>
                <a:moveTo>
                  <a:pt x="82152" y="50006"/>
                </a:moveTo>
                <a:cubicBezTo>
                  <a:pt x="64383" y="50006"/>
                  <a:pt x="50006" y="64383"/>
                  <a:pt x="50006" y="82152"/>
                </a:cubicBezTo>
                <a:cubicBezTo>
                  <a:pt x="50006" y="88091"/>
                  <a:pt x="45229" y="92869"/>
                  <a:pt x="39291" y="92869"/>
                </a:cubicBezTo>
                <a:cubicBezTo>
                  <a:pt x="33351" y="92869"/>
                  <a:pt x="28575" y="88091"/>
                  <a:pt x="28575" y="82152"/>
                </a:cubicBezTo>
                <a:cubicBezTo>
                  <a:pt x="28575" y="52551"/>
                  <a:pt x="52551" y="28575"/>
                  <a:pt x="82152" y="28575"/>
                </a:cubicBezTo>
                <a:cubicBezTo>
                  <a:pt x="88091" y="28575"/>
                  <a:pt x="92869" y="33351"/>
                  <a:pt x="92869" y="39291"/>
                </a:cubicBezTo>
                <a:cubicBezTo>
                  <a:pt x="92869" y="45229"/>
                  <a:pt x="88091" y="50006"/>
                  <a:pt x="82152" y="5000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971455" y="5506123"/>
            <a:ext cx="9565624" cy="15211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Key Insight:</a:t>
            </a: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Triton's program corresponds to CUDA's thread block, but Triton operates on data in a vectorized manner rather than per-thread</a:t>
            </a:r>
            <a:endParaRPr lang="en-US" sz="1100"/>
          </a:p>
        </p:txBody>
      </p:sp>
      <p:sp>
        <p:nvSpPr>
          <p:cNvPr id="9" name="AutoShape 9"/>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36897" y="62303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Vector Add Problem Definition</a:t>
            </a:r>
            <a:endParaRPr lang="en-US" sz="1100"/>
          </a:p>
        </p:txBody>
      </p:sp>
      <p:sp>
        <p:nvSpPr>
          <p:cNvPr id="3" name="Freeform 3"/>
          <p:cNvSpPr/>
          <p:nvPr/>
        </p:nvSpPr>
        <p:spPr>
          <a:xfrm>
            <a:off x="380956" y="1356854"/>
            <a:ext cx="3916625" cy="1575526"/>
          </a:xfrm>
          <a:custGeom>
            <a:avLst/>
            <a:gdLst/>
            <a:ahLst/>
            <a:cxnLst/>
            <a:rect l="l" t="t" r="r" b="b"/>
            <a:pathLst>
              <a:path w="3916625" h="1575526">
                <a:moveTo>
                  <a:pt x="147805" y="0"/>
                </a:moveTo>
                <a:lnTo>
                  <a:pt x="3768822" y="0"/>
                </a:lnTo>
                <a:cubicBezTo>
                  <a:pt x="3850452" y="0"/>
                  <a:pt x="3916625" y="47028"/>
                  <a:pt x="3916625" y="105040"/>
                </a:cubicBezTo>
                <a:lnTo>
                  <a:pt x="3916625" y="1470486"/>
                </a:lnTo>
                <a:cubicBezTo>
                  <a:pt x="3916625" y="1528498"/>
                  <a:pt x="3850452" y="1575526"/>
                  <a:pt x="3768822" y="1575526"/>
                </a:cubicBezTo>
                <a:lnTo>
                  <a:pt x="147805" y="1575526"/>
                </a:lnTo>
                <a:cubicBezTo>
                  <a:pt x="66175" y="1575526"/>
                  <a:pt x="0" y="1528498"/>
                  <a:pt x="0" y="1470486"/>
                </a:cubicBezTo>
                <a:lnTo>
                  <a:pt x="0" y="105040"/>
                </a:lnTo>
                <a:cubicBezTo>
                  <a:pt x="0" y="47067"/>
                  <a:pt x="66229" y="0"/>
                  <a:pt x="14780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4" name="Group 4"/>
          <p:cNvGrpSpPr/>
          <p:nvPr/>
        </p:nvGrpSpPr>
        <p:grpSpPr>
          <a:xfrm>
            <a:off x="494853" y="1522995"/>
            <a:ext cx="3514725" cy="1180919"/>
            <a:chOff x="494853" y="1522995"/>
            <a:chExt cx="3514725" cy="1180919"/>
          </a:xfrm>
        </p:grpSpPr>
        <p:sp>
          <p:nvSpPr>
            <p:cNvPr id="5" name="Freeform 5"/>
            <p:cNvSpPr/>
            <p:nvPr/>
          </p:nvSpPr>
          <p:spPr>
            <a:xfrm>
              <a:off x="556671" y="1522995"/>
              <a:ext cx="3409855" cy="762000"/>
            </a:xfrm>
            <a:custGeom>
              <a:avLst/>
              <a:gdLst/>
              <a:ahLst/>
              <a:cxnLst/>
              <a:rect l="l" t="t" r="r" b="b"/>
              <a:pathLst>
                <a:path w="3409855" h="762000">
                  <a:moveTo>
                    <a:pt x="37909" y="0"/>
                  </a:moveTo>
                  <a:lnTo>
                    <a:pt x="3333655" y="0"/>
                  </a:lnTo>
                  <a:cubicBezTo>
                    <a:pt x="3375711" y="0"/>
                    <a:pt x="3409855" y="34144"/>
                    <a:pt x="3409855" y="76200"/>
                  </a:cubicBezTo>
                  <a:lnTo>
                    <a:pt x="3409855" y="685800"/>
                  </a:lnTo>
                  <a:cubicBezTo>
                    <a:pt x="3409855" y="727856"/>
                    <a:pt x="3375711" y="762000"/>
                    <a:pt x="3333655" y="762000"/>
                  </a:cubicBezTo>
                  <a:lnTo>
                    <a:pt x="37909" y="762000"/>
                  </a:lnTo>
                  <a:cubicBezTo>
                    <a:pt x="16974" y="762000"/>
                    <a:pt x="0" y="745026"/>
                    <a:pt x="0" y="724091"/>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56671" y="1522995"/>
              <a:ext cx="37909" cy="762000"/>
            </a:xfrm>
            <a:custGeom>
              <a:avLst/>
              <a:gdLst/>
              <a:ahLst/>
              <a:cxnLst/>
              <a:rect l="l" t="t" r="r" b="b"/>
              <a:pathLst>
                <a:path w="37909" h="762000">
                  <a:moveTo>
                    <a:pt x="37909" y="0"/>
                  </a:moveTo>
                  <a:lnTo>
                    <a:pt x="37909" y="0"/>
                  </a:lnTo>
                  <a:lnTo>
                    <a:pt x="37909" y="762000"/>
                  </a:lnTo>
                  <a:lnTo>
                    <a:pt x="37909" y="762000"/>
                  </a:lnTo>
                  <a:cubicBezTo>
                    <a:pt x="16974" y="762000"/>
                    <a:pt x="0" y="745026"/>
                    <a:pt x="0" y="7240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47049" y="1751567"/>
              <a:ext cx="3048000" cy="304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c[i] = a[i] + b[i]</a:t>
              </a:r>
              <a:endParaRPr lang="en-US" sz="1100"/>
            </a:p>
          </p:txBody>
        </p:sp>
        <p:sp>
          <p:nvSpPr>
            <p:cNvPr id="8" name="AutoShape 8"/>
            <p:cNvSpPr/>
            <p:nvPr/>
          </p:nvSpPr>
          <p:spPr>
            <a:xfrm>
              <a:off x="494853" y="2437214"/>
              <a:ext cx="351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Element-wise addition of two vectors, storing results in a third vector</a:t>
              </a:r>
              <a:endParaRPr lang="en-US" sz="1100"/>
            </a:p>
          </p:txBody>
        </p:sp>
      </p:grpSp>
      <p:grpSp>
        <p:nvGrpSpPr>
          <p:cNvPr id="9" name="Group 9"/>
          <p:cNvGrpSpPr/>
          <p:nvPr/>
        </p:nvGrpSpPr>
        <p:grpSpPr>
          <a:xfrm>
            <a:off x="380956" y="3052629"/>
            <a:ext cx="5325128" cy="1575128"/>
            <a:chOff x="380956" y="3052629"/>
            <a:chExt cx="5325128" cy="1575128"/>
          </a:xfrm>
        </p:grpSpPr>
        <p:sp>
          <p:nvSpPr>
            <p:cNvPr id="10" name="Freeform 10"/>
            <p:cNvSpPr/>
            <p:nvPr/>
          </p:nvSpPr>
          <p:spPr>
            <a:xfrm>
              <a:off x="380956" y="3052629"/>
              <a:ext cx="5144185" cy="1485688"/>
            </a:xfrm>
            <a:custGeom>
              <a:avLst/>
              <a:gdLst/>
              <a:ahLst/>
              <a:cxnLst/>
              <a:rect l="l" t="t" r="r" b="b"/>
              <a:pathLst>
                <a:path w="5144185" h="1485688">
                  <a:moveTo>
                    <a:pt x="105694" y="0"/>
                  </a:moveTo>
                  <a:lnTo>
                    <a:pt x="5038489" y="0"/>
                  </a:lnTo>
                  <a:cubicBezTo>
                    <a:pt x="5096863" y="0"/>
                    <a:pt x="5144185" y="37648"/>
                    <a:pt x="5144185" y="84089"/>
                  </a:cubicBezTo>
                  <a:lnTo>
                    <a:pt x="5144185" y="1401599"/>
                  </a:lnTo>
                  <a:cubicBezTo>
                    <a:pt x="5144185" y="1448040"/>
                    <a:pt x="5096863" y="1485688"/>
                    <a:pt x="5038489" y="1485688"/>
                  </a:cubicBezTo>
                  <a:lnTo>
                    <a:pt x="105694" y="1485688"/>
                  </a:lnTo>
                  <a:cubicBezTo>
                    <a:pt x="47321" y="1485688"/>
                    <a:pt x="0" y="1448040"/>
                    <a:pt x="0" y="1401599"/>
                  </a:cubicBezTo>
                  <a:lnTo>
                    <a:pt x="0" y="84089"/>
                  </a:lnTo>
                  <a:cubicBezTo>
                    <a:pt x="0" y="37680"/>
                    <a:pt x="47361" y="0"/>
                    <a:pt x="1056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93091" y="3281201"/>
              <a:ext cx="249531" cy="228600"/>
            </a:xfrm>
            <a:custGeom>
              <a:avLst/>
              <a:gdLst/>
              <a:ahLst/>
              <a:cxnLst/>
              <a:rect l="l" t="t" r="r" b="b"/>
              <a:pathLst>
                <a:path w="249531" h="228600">
                  <a:moveTo>
                    <a:pt x="218340" y="114300"/>
                  </a:moveTo>
                  <a:cubicBezTo>
                    <a:pt x="218340" y="66987"/>
                    <a:pt x="176411" y="28575"/>
                    <a:pt x="124766" y="28575"/>
                  </a:cubicBezTo>
                  <a:cubicBezTo>
                    <a:pt x="73120" y="28575"/>
                    <a:pt x="31191" y="66987"/>
                    <a:pt x="31191" y="114300"/>
                  </a:cubicBezTo>
                  <a:cubicBezTo>
                    <a:pt x="31191" y="161613"/>
                    <a:pt x="73120" y="200025"/>
                    <a:pt x="124766" y="200025"/>
                  </a:cubicBezTo>
                  <a:cubicBezTo>
                    <a:pt x="176411" y="200025"/>
                    <a:pt x="218340" y="161613"/>
                    <a:pt x="218340" y="114300"/>
                  </a:cubicBezTo>
                  <a:close/>
                  <a:moveTo>
                    <a:pt x="0" y="114300"/>
                  </a:moveTo>
                  <a:cubicBezTo>
                    <a:pt x="0" y="51217"/>
                    <a:pt x="55905" y="0"/>
                    <a:pt x="124766" y="0"/>
                  </a:cubicBezTo>
                  <a:cubicBezTo>
                    <a:pt x="193625" y="0"/>
                    <a:pt x="249531" y="51217"/>
                    <a:pt x="249531" y="114300"/>
                  </a:cubicBezTo>
                  <a:cubicBezTo>
                    <a:pt x="249531" y="177383"/>
                    <a:pt x="193625" y="228600"/>
                    <a:pt x="124766" y="228600"/>
                  </a:cubicBezTo>
                  <a:cubicBezTo>
                    <a:pt x="55905" y="228600"/>
                    <a:pt x="0" y="177383"/>
                    <a:pt x="0" y="114300"/>
                  </a:cubicBezTo>
                  <a:close/>
                  <a:moveTo>
                    <a:pt x="124766" y="150019"/>
                  </a:moveTo>
                  <a:cubicBezTo>
                    <a:pt x="146285" y="150019"/>
                    <a:pt x="163755" y="134014"/>
                    <a:pt x="163755" y="114300"/>
                  </a:cubicBezTo>
                  <a:cubicBezTo>
                    <a:pt x="163755" y="94586"/>
                    <a:pt x="146285" y="78581"/>
                    <a:pt x="124766" y="78581"/>
                  </a:cubicBezTo>
                  <a:cubicBezTo>
                    <a:pt x="103246" y="78581"/>
                    <a:pt x="85776" y="94586"/>
                    <a:pt x="85776" y="114300"/>
                  </a:cubicBezTo>
                  <a:cubicBezTo>
                    <a:pt x="85776" y="134014"/>
                    <a:pt x="103246" y="150019"/>
                    <a:pt x="124766" y="150019"/>
                  </a:cubicBezTo>
                  <a:close/>
                  <a:moveTo>
                    <a:pt x="124766" y="50006"/>
                  </a:moveTo>
                  <a:cubicBezTo>
                    <a:pt x="163500" y="50006"/>
                    <a:pt x="194946" y="78815"/>
                    <a:pt x="194946" y="114300"/>
                  </a:cubicBezTo>
                  <a:cubicBezTo>
                    <a:pt x="194946" y="149785"/>
                    <a:pt x="163500" y="178594"/>
                    <a:pt x="124766" y="178594"/>
                  </a:cubicBezTo>
                  <a:cubicBezTo>
                    <a:pt x="86031" y="178594"/>
                    <a:pt x="54585" y="149785"/>
                    <a:pt x="54585" y="114300"/>
                  </a:cubicBezTo>
                  <a:cubicBezTo>
                    <a:pt x="54585" y="78815"/>
                    <a:pt x="86031" y="50006"/>
                    <a:pt x="124766" y="50006"/>
                  </a:cubicBezTo>
                  <a:close/>
                  <a:moveTo>
                    <a:pt x="109170" y="114300"/>
                  </a:moveTo>
                  <a:cubicBezTo>
                    <a:pt x="109170" y="106415"/>
                    <a:pt x="116158" y="100013"/>
                    <a:pt x="124766" y="100013"/>
                  </a:cubicBezTo>
                  <a:cubicBezTo>
                    <a:pt x="133373" y="100013"/>
                    <a:pt x="140362" y="106415"/>
                    <a:pt x="140362" y="114300"/>
                  </a:cubicBezTo>
                  <a:cubicBezTo>
                    <a:pt x="140362" y="122185"/>
                    <a:pt x="133373" y="128587"/>
                    <a:pt x="124766" y="128587"/>
                  </a:cubicBezTo>
                  <a:cubicBezTo>
                    <a:pt x="116158" y="128587"/>
                    <a:pt x="109170" y="122185"/>
                    <a:pt x="109170" y="11430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998508" y="3262172"/>
              <a:ext cx="719828"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Goals</a:t>
              </a:r>
              <a:endParaRPr lang="en-US" sz="1100"/>
            </a:p>
          </p:txBody>
        </p:sp>
        <p:sp>
          <p:nvSpPr>
            <p:cNvPr id="13" name="AutoShape 13"/>
            <p:cNvSpPr/>
            <p:nvPr/>
          </p:nvSpPr>
          <p:spPr>
            <a:xfrm>
              <a:off x="561900" y="3681260"/>
              <a:ext cx="28072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4" name="AutoShape 14"/>
            <p:cNvSpPr/>
            <p:nvPr/>
          </p:nvSpPr>
          <p:spPr>
            <a:xfrm>
              <a:off x="832255" y="3681260"/>
              <a:ext cx="4873829"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Parallel computation</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fully leverage GPU parallel capabilities</a:t>
              </a:r>
              <a:endParaRPr lang="en-US" sz="1100"/>
            </a:p>
          </p:txBody>
        </p:sp>
        <p:sp>
          <p:nvSpPr>
            <p:cNvPr id="15" name="AutoShape 15"/>
            <p:cNvSpPr/>
            <p:nvPr/>
          </p:nvSpPr>
          <p:spPr>
            <a:xfrm>
              <a:off x="561900" y="4062216"/>
              <a:ext cx="28072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6" name="AutoShape 16"/>
            <p:cNvSpPr/>
            <p:nvPr/>
          </p:nvSpPr>
          <p:spPr>
            <a:xfrm>
              <a:off x="827070" y="4142070"/>
              <a:ext cx="4692886" cy="48568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Block processing</a:t>
              </a:r>
              <a:r>
                <a:rPr lang="en-US" sz="14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 each program handles BLOCK_SIZE elements</a:t>
              </a:r>
              <a:endParaRPr lang="en-US" sz="1100"/>
            </a:p>
          </p:txBody>
        </p:sp>
      </p:grpSp>
      <p:grpSp>
        <p:nvGrpSpPr>
          <p:cNvPr id="17" name="Group 17"/>
          <p:cNvGrpSpPr/>
          <p:nvPr/>
        </p:nvGrpSpPr>
        <p:grpSpPr>
          <a:xfrm>
            <a:off x="400803" y="4662117"/>
            <a:ext cx="5202197" cy="2019300"/>
            <a:chOff x="400803" y="4662117"/>
            <a:chExt cx="5202197" cy="2019300"/>
          </a:xfrm>
        </p:grpSpPr>
        <p:sp>
          <p:nvSpPr>
            <p:cNvPr id="18" name="Freeform 18"/>
            <p:cNvSpPr/>
            <p:nvPr/>
          </p:nvSpPr>
          <p:spPr>
            <a:xfrm>
              <a:off x="400803" y="4662117"/>
              <a:ext cx="5202197" cy="2019300"/>
            </a:xfrm>
            <a:custGeom>
              <a:avLst/>
              <a:gdLst/>
              <a:ahLst/>
              <a:cxnLst/>
              <a:rect l="l" t="t" r="r" b="b"/>
              <a:pathLst>
                <a:path w="5202197" h="2019300">
                  <a:moveTo>
                    <a:pt x="106887" y="0"/>
                  </a:moveTo>
                  <a:lnTo>
                    <a:pt x="5095310" y="0"/>
                  </a:lnTo>
                  <a:cubicBezTo>
                    <a:pt x="5154342" y="0"/>
                    <a:pt x="5202197" y="51170"/>
                    <a:pt x="5202197" y="114292"/>
                  </a:cubicBezTo>
                  <a:lnTo>
                    <a:pt x="5202197" y="1905008"/>
                  </a:lnTo>
                  <a:cubicBezTo>
                    <a:pt x="5202197" y="1968130"/>
                    <a:pt x="5154342" y="2019300"/>
                    <a:pt x="5095310" y="2019300"/>
                  </a:cubicBezTo>
                  <a:lnTo>
                    <a:pt x="106887" y="2019300"/>
                  </a:lnTo>
                  <a:cubicBezTo>
                    <a:pt x="47855" y="2019300"/>
                    <a:pt x="0" y="1968130"/>
                    <a:pt x="0" y="1905008"/>
                  </a:cubicBezTo>
                  <a:lnTo>
                    <a:pt x="0" y="114292"/>
                  </a:lnTo>
                  <a:cubicBezTo>
                    <a:pt x="0" y="51213"/>
                    <a:pt x="47896" y="0"/>
                    <a:pt x="10688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41291" y="4924006"/>
              <a:ext cx="213789" cy="200025"/>
            </a:xfrm>
            <a:custGeom>
              <a:avLst/>
              <a:gdLst/>
              <a:ahLst/>
              <a:cxnLst/>
              <a:rect l="l" t="t" r="r" b="b"/>
              <a:pathLst>
                <a:path w="213789" h="200025">
                  <a:moveTo>
                    <a:pt x="80171" y="14287"/>
                  </a:moveTo>
                  <a:cubicBezTo>
                    <a:pt x="80171" y="6384"/>
                    <a:pt x="86142" y="0"/>
                    <a:pt x="93533" y="0"/>
                  </a:cubicBezTo>
                  <a:lnTo>
                    <a:pt x="120256" y="0"/>
                  </a:lnTo>
                  <a:cubicBezTo>
                    <a:pt x="127646" y="0"/>
                    <a:pt x="133618" y="6384"/>
                    <a:pt x="133618" y="14287"/>
                  </a:cubicBezTo>
                  <a:lnTo>
                    <a:pt x="133618" y="42862"/>
                  </a:lnTo>
                  <a:cubicBezTo>
                    <a:pt x="133618" y="50765"/>
                    <a:pt x="127646" y="57150"/>
                    <a:pt x="120256" y="57150"/>
                  </a:cubicBezTo>
                  <a:lnTo>
                    <a:pt x="116916" y="57150"/>
                  </a:lnTo>
                  <a:lnTo>
                    <a:pt x="116916" y="85724"/>
                  </a:lnTo>
                  <a:lnTo>
                    <a:pt x="167023" y="85724"/>
                  </a:lnTo>
                  <a:cubicBezTo>
                    <a:pt x="183642" y="85724"/>
                    <a:pt x="197087" y="100101"/>
                    <a:pt x="197087" y="117871"/>
                  </a:cubicBezTo>
                  <a:lnTo>
                    <a:pt x="197087" y="142874"/>
                  </a:lnTo>
                  <a:lnTo>
                    <a:pt x="200428" y="142874"/>
                  </a:lnTo>
                  <a:cubicBezTo>
                    <a:pt x="207818" y="142874"/>
                    <a:pt x="213789" y="149259"/>
                    <a:pt x="213789" y="157162"/>
                  </a:cubicBezTo>
                  <a:lnTo>
                    <a:pt x="213789" y="185737"/>
                  </a:lnTo>
                  <a:cubicBezTo>
                    <a:pt x="213789" y="193640"/>
                    <a:pt x="207818" y="200024"/>
                    <a:pt x="200428" y="200024"/>
                  </a:cubicBezTo>
                  <a:lnTo>
                    <a:pt x="173704" y="200024"/>
                  </a:lnTo>
                  <a:cubicBezTo>
                    <a:pt x="166313" y="200024"/>
                    <a:pt x="160341" y="193640"/>
                    <a:pt x="160341" y="185737"/>
                  </a:cubicBezTo>
                  <a:lnTo>
                    <a:pt x="160341" y="157162"/>
                  </a:lnTo>
                  <a:cubicBezTo>
                    <a:pt x="160341" y="149259"/>
                    <a:pt x="166313" y="142874"/>
                    <a:pt x="173704" y="142874"/>
                  </a:cubicBezTo>
                  <a:lnTo>
                    <a:pt x="177043" y="142874"/>
                  </a:lnTo>
                  <a:lnTo>
                    <a:pt x="177043" y="117871"/>
                  </a:lnTo>
                  <a:cubicBezTo>
                    <a:pt x="177043" y="111933"/>
                    <a:pt x="172576" y="107156"/>
                    <a:pt x="167023" y="107156"/>
                  </a:cubicBezTo>
                  <a:lnTo>
                    <a:pt x="116916" y="107156"/>
                  </a:lnTo>
                  <a:lnTo>
                    <a:pt x="116916" y="142874"/>
                  </a:lnTo>
                  <a:lnTo>
                    <a:pt x="120256" y="142874"/>
                  </a:lnTo>
                  <a:cubicBezTo>
                    <a:pt x="127646" y="142874"/>
                    <a:pt x="133618" y="149259"/>
                    <a:pt x="133618" y="157162"/>
                  </a:cubicBezTo>
                  <a:lnTo>
                    <a:pt x="133618" y="185737"/>
                  </a:lnTo>
                  <a:cubicBezTo>
                    <a:pt x="133618" y="193640"/>
                    <a:pt x="127646" y="200024"/>
                    <a:pt x="120256" y="200024"/>
                  </a:cubicBezTo>
                  <a:lnTo>
                    <a:pt x="93533" y="200024"/>
                  </a:lnTo>
                  <a:cubicBezTo>
                    <a:pt x="86142" y="200024"/>
                    <a:pt x="80171" y="193640"/>
                    <a:pt x="80171" y="185737"/>
                  </a:cubicBezTo>
                  <a:lnTo>
                    <a:pt x="80171" y="157162"/>
                  </a:lnTo>
                  <a:cubicBezTo>
                    <a:pt x="80171" y="149259"/>
                    <a:pt x="86142" y="142874"/>
                    <a:pt x="93533" y="142874"/>
                  </a:cubicBezTo>
                  <a:lnTo>
                    <a:pt x="96873" y="142874"/>
                  </a:lnTo>
                  <a:lnTo>
                    <a:pt x="96873" y="107156"/>
                  </a:lnTo>
                  <a:lnTo>
                    <a:pt x="46766" y="107156"/>
                  </a:lnTo>
                  <a:cubicBezTo>
                    <a:pt x="41213" y="107156"/>
                    <a:pt x="36745" y="111933"/>
                    <a:pt x="36745" y="117871"/>
                  </a:cubicBezTo>
                  <a:lnTo>
                    <a:pt x="36745" y="142874"/>
                  </a:lnTo>
                  <a:lnTo>
                    <a:pt x="40086" y="142874"/>
                  </a:lnTo>
                  <a:cubicBezTo>
                    <a:pt x="47476" y="142874"/>
                    <a:pt x="53447" y="149259"/>
                    <a:pt x="53447" y="157162"/>
                  </a:cubicBezTo>
                  <a:lnTo>
                    <a:pt x="53447" y="185737"/>
                  </a:lnTo>
                  <a:cubicBezTo>
                    <a:pt x="53447" y="193640"/>
                    <a:pt x="47476" y="200024"/>
                    <a:pt x="40086" y="200024"/>
                  </a:cubicBezTo>
                  <a:lnTo>
                    <a:pt x="13362" y="200024"/>
                  </a:lnTo>
                  <a:cubicBezTo>
                    <a:pt x="5972" y="200024"/>
                    <a:pt x="0" y="193640"/>
                    <a:pt x="0" y="185737"/>
                  </a:cubicBezTo>
                  <a:lnTo>
                    <a:pt x="0" y="157162"/>
                  </a:lnTo>
                  <a:cubicBezTo>
                    <a:pt x="0" y="149259"/>
                    <a:pt x="5972" y="142874"/>
                    <a:pt x="13362" y="142874"/>
                  </a:cubicBezTo>
                  <a:lnTo>
                    <a:pt x="16702" y="142874"/>
                  </a:lnTo>
                  <a:lnTo>
                    <a:pt x="16702" y="117871"/>
                  </a:lnTo>
                  <a:cubicBezTo>
                    <a:pt x="16702" y="100101"/>
                    <a:pt x="30147" y="85724"/>
                    <a:pt x="46766" y="85724"/>
                  </a:cubicBezTo>
                  <a:lnTo>
                    <a:pt x="96873" y="85724"/>
                  </a:lnTo>
                  <a:lnTo>
                    <a:pt x="96873" y="57150"/>
                  </a:lnTo>
                  <a:lnTo>
                    <a:pt x="93533" y="57150"/>
                  </a:lnTo>
                  <a:cubicBezTo>
                    <a:pt x="86142" y="57150"/>
                    <a:pt x="80171" y="50765"/>
                    <a:pt x="80171" y="42862"/>
                  </a:cubicBezTo>
                  <a:lnTo>
                    <a:pt x="80171" y="1428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988638" y="4890689"/>
              <a:ext cx="2337569"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Parallel Strategy</a:t>
              </a:r>
              <a:endParaRPr lang="en-US" sz="1100"/>
            </a:p>
          </p:txBody>
        </p:sp>
        <p:sp>
          <p:nvSpPr>
            <p:cNvPr id="21" name="Freeform 21"/>
            <p:cNvSpPr/>
            <p:nvPr/>
          </p:nvSpPr>
          <p:spPr>
            <a:xfrm>
              <a:off x="614568" y="5309777"/>
              <a:ext cx="285051" cy="304800"/>
            </a:xfrm>
            <a:custGeom>
              <a:avLst/>
              <a:gdLst/>
              <a:ahLst/>
              <a:cxnLst/>
              <a:rect l="l" t="t" r="r" b="b"/>
              <a:pathLst>
                <a:path w="285051" h="304800">
                  <a:moveTo>
                    <a:pt x="35631" y="0"/>
                  </a:moveTo>
                  <a:lnTo>
                    <a:pt x="249420" y="0"/>
                  </a:lnTo>
                  <a:cubicBezTo>
                    <a:pt x="269086" y="0"/>
                    <a:pt x="285051" y="17073"/>
                    <a:pt x="285051" y="38100"/>
                  </a:cubicBezTo>
                  <a:lnTo>
                    <a:pt x="285051" y="266700"/>
                  </a:lnTo>
                  <a:cubicBezTo>
                    <a:pt x="285051" y="287727"/>
                    <a:pt x="269086" y="304800"/>
                    <a:pt x="249420" y="304800"/>
                  </a:cubicBezTo>
                  <a:lnTo>
                    <a:pt x="35631" y="304800"/>
                  </a:lnTo>
                  <a:cubicBezTo>
                    <a:pt x="15966" y="304800"/>
                    <a:pt x="0" y="287727"/>
                    <a:pt x="0" y="266700"/>
                  </a:cubicBezTo>
                  <a:lnTo>
                    <a:pt x="0" y="38100"/>
                  </a:lnTo>
                  <a:cubicBezTo>
                    <a:pt x="0" y="17073"/>
                    <a:pt x="15966" y="0"/>
                    <a:pt x="3563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83391" y="5309777"/>
              <a:ext cx="347407"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3" name="AutoShape 23"/>
            <p:cNvSpPr/>
            <p:nvPr/>
          </p:nvSpPr>
          <p:spPr>
            <a:xfrm>
              <a:off x="1006434" y="5328806"/>
              <a:ext cx="2743749"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Divide the vector into multiple data blocks</a:t>
              </a:r>
              <a:endParaRPr lang="en-US" sz="1100"/>
            </a:p>
          </p:txBody>
        </p:sp>
        <p:sp>
          <p:nvSpPr>
            <p:cNvPr id="24" name="Freeform 24"/>
            <p:cNvSpPr/>
            <p:nvPr/>
          </p:nvSpPr>
          <p:spPr>
            <a:xfrm>
              <a:off x="614568" y="5728791"/>
              <a:ext cx="285051" cy="304800"/>
            </a:xfrm>
            <a:custGeom>
              <a:avLst/>
              <a:gdLst/>
              <a:ahLst/>
              <a:cxnLst/>
              <a:rect l="l" t="t" r="r" b="b"/>
              <a:pathLst>
                <a:path w="285051" h="304800">
                  <a:moveTo>
                    <a:pt x="35631" y="0"/>
                  </a:moveTo>
                  <a:lnTo>
                    <a:pt x="249420" y="0"/>
                  </a:lnTo>
                  <a:cubicBezTo>
                    <a:pt x="269086" y="0"/>
                    <a:pt x="285051" y="17073"/>
                    <a:pt x="285051" y="38100"/>
                  </a:cubicBezTo>
                  <a:lnTo>
                    <a:pt x="285051" y="266700"/>
                  </a:lnTo>
                  <a:cubicBezTo>
                    <a:pt x="285051" y="287727"/>
                    <a:pt x="269086" y="304800"/>
                    <a:pt x="249420" y="304800"/>
                  </a:cubicBezTo>
                  <a:lnTo>
                    <a:pt x="35631" y="304800"/>
                  </a:lnTo>
                  <a:cubicBezTo>
                    <a:pt x="15966" y="304800"/>
                    <a:pt x="0" y="287727"/>
                    <a:pt x="0" y="266700"/>
                  </a:cubicBezTo>
                  <a:lnTo>
                    <a:pt x="0" y="38100"/>
                  </a:lnTo>
                  <a:cubicBezTo>
                    <a:pt x="0" y="17073"/>
                    <a:pt x="15966" y="0"/>
                    <a:pt x="3563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583391" y="5728791"/>
              <a:ext cx="347407"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6" name="AutoShape 26"/>
            <p:cNvSpPr/>
            <p:nvPr/>
          </p:nvSpPr>
          <p:spPr>
            <a:xfrm>
              <a:off x="1006434" y="5747820"/>
              <a:ext cx="282689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Each program handles one block</a:t>
              </a:r>
              <a:endParaRPr lang="en-US" sz="1100"/>
            </a:p>
          </p:txBody>
        </p:sp>
        <p:sp>
          <p:nvSpPr>
            <p:cNvPr id="27" name="Freeform 27"/>
            <p:cNvSpPr/>
            <p:nvPr/>
          </p:nvSpPr>
          <p:spPr>
            <a:xfrm>
              <a:off x="614568" y="6147805"/>
              <a:ext cx="285051" cy="304800"/>
            </a:xfrm>
            <a:custGeom>
              <a:avLst/>
              <a:gdLst/>
              <a:ahLst/>
              <a:cxnLst/>
              <a:rect l="l" t="t" r="r" b="b"/>
              <a:pathLst>
                <a:path w="285051" h="304800">
                  <a:moveTo>
                    <a:pt x="35631" y="0"/>
                  </a:moveTo>
                  <a:lnTo>
                    <a:pt x="249420" y="0"/>
                  </a:lnTo>
                  <a:cubicBezTo>
                    <a:pt x="269086" y="0"/>
                    <a:pt x="285051" y="17073"/>
                    <a:pt x="285051" y="38100"/>
                  </a:cubicBezTo>
                  <a:lnTo>
                    <a:pt x="285051" y="266700"/>
                  </a:lnTo>
                  <a:cubicBezTo>
                    <a:pt x="285051" y="287727"/>
                    <a:pt x="269086" y="304800"/>
                    <a:pt x="249420" y="304800"/>
                  </a:cubicBezTo>
                  <a:lnTo>
                    <a:pt x="35631" y="304800"/>
                  </a:lnTo>
                  <a:cubicBezTo>
                    <a:pt x="15966" y="304800"/>
                    <a:pt x="0" y="287727"/>
                    <a:pt x="0" y="266700"/>
                  </a:cubicBezTo>
                  <a:lnTo>
                    <a:pt x="0" y="38100"/>
                  </a:lnTo>
                  <a:cubicBezTo>
                    <a:pt x="0" y="17073"/>
                    <a:pt x="15966" y="0"/>
                    <a:pt x="3563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583391" y="6147805"/>
              <a:ext cx="347407"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9" name="AutoShape 29"/>
            <p:cNvSpPr/>
            <p:nvPr/>
          </p:nvSpPr>
          <p:spPr>
            <a:xfrm>
              <a:off x="1006433" y="6166834"/>
              <a:ext cx="217278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Elements within a block computed in parallel</a:t>
              </a:r>
              <a:endParaRPr lang="en-US" sz="1100"/>
            </a:p>
          </p:txBody>
        </p:sp>
      </p:grpSp>
      <p:pic>
        <p:nvPicPr>
          <p:cNvPr id="30" name="Picture 30"/>
          <p:cNvPicPr>
            <a:picLocks noChangeAspect="1"/>
          </p:cNvPicPr>
          <p:nvPr/>
        </p:nvPicPr>
        <p:blipFill>
          <a:blip r:embed="rId1"/>
          <a:srcRect/>
          <a:stretch>
            <a:fillRect/>
          </a:stretch>
        </p:blipFill>
        <p:spPr>
          <a:xfrm>
            <a:off x="5991918" y="1352439"/>
            <a:ext cx="5638182" cy="4442845"/>
          </a:xfrm>
          <a:prstGeom prst="rect">
            <a:avLst/>
          </a:prstGeom>
          <a:ln w="12700">
            <a:noFill/>
            <a:prstDash val="solid"/>
          </a:ln>
        </p:spPr>
      </p:pic>
      <p:sp>
        <p:nvSpPr>
          <p:cNvPr id="31" name="AutoShape 31"/>
          <p:cNvSpPr/>
          <p:nvPr/>
        </p:nvSpPr>
        <p:spPr>
          <a:xfrm>
            <a:off x="5520299" y="6542917"/>
            <a:ext cx="6799699" cy="276999"/>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Image source: https://www.learnpdc.org/PDCBeginners/4-cuda/6-VectorAddTiming.html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439" y="60945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Official Kernel Example </a:t>
            </a:r>
            <a:endParaRPr lang="en-US" sz="1100"/>
          </a:p>
        </p:txBody>
      </p:sp>
      <p:sp>
        <p:nvSpPr>
          <p:cNvPr id="3" name="Freeform 3"/>
          <p:cNvSpPr/>
          <p:nvPr/>
        </p:nvSpPr>
        <p:spPr>
          <a:xfrm>
            <a:off x="399911" y="1333235"/>
            <a:ext cx="11267980" cy="4953000"/>
          </a:xfrm>
          <a:custGeom>
            <a:avLst/>
            <a:gdLst/>
            <a:ahLst/>
            <a:cxnLst/>
            <a:rect l="l" t="t" r="r" b="b"/>
            <a:pathLst>
              <a:path w="11267980" h="4953000">
                <a:moveTo>
                  <a:pt x="37909" y="0"/>
                </a:moveTo>
                <a:lnTo>
                  <a:pt x="11153665" y="0"/>
                </a:lnTo>
                <a:cubicBezTo>
                  <a:pt x="11216800" y="0"/>
                  <a:pt x="11267980" y="51181"/>
                  <a:pt x="11267980" y="114315"/>
                </a:cubicBezTo>
                <a:lnTo>
                  <a:pt x="11267980" y="4838685"/>
                </a:lnTo>
                <a:cubicBezTo>
                  <a:pt x="11267980" y="4901819"/>
                  <a:pt x="11216800" y="4953000"/>
                  <a:pt x="11153665" y="4953000"/>
                </a:cubicBezTo>
                <a:lnTo>
                  <a:pt x="37909" y="4953000"/>
                </a:lnTo>
                <a:cubicBezTo>
                  <a:pt x="16974" y="4953000"/>
                  <a:pt x="0" y="4936026"/>
                  <a:pt x="0" y="4915090"/>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333235"/>
            <a:ext cx="37909" cy="4953000"/>
          </a:xfrm>
          <a:custGeom>
            <a:avLst/>
            <a:gdLst/>
            <a:ahLst/>
            <a:cxnLst/>
            <a:rect l="l" t="t" r="r" b="b"/>
            <a:pathLst>
              <a:path w="37909" h="4953000">
                <a:moveTo>
                  <a:pt x="37909" y="0"/>
                </a:moveTo>
                <a:lnTo>
                  <a:pt x="37909" y="0"/>
                </a:lnTo>
                <a:lnTo>
                  <a:pt x="37909" y="4953000"/>
                </a:lnTo>
                <a:lnTo>
                  <a:pt x="37909" y="4953000"/>
                </a:lnTo>
                <a:cubicBezTo>
                  <a:pt x="16974" y="4953000"/>
                  <a:pt x="0" y="4936026"/>
                  <a:pt x="0" y="49150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99888" y="704537"/>
            <a:ext cx="10868025" cy="59436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8B0000"/>
                </a:solidFill>
                <a:latin typeface="Calibri" panose="020F0502020204030204"/>
                <a:ea typeface="Calibri" panose="020F0502020204030204"/>
                <a:cs typeface="Calibri" panose="020F0502020204030204"/>
                <a:sym typeface="Calibri" panose="020F0502020204030204"/>
              </a:rPr>
              <a:t>@triton.jit </a:t>
            </a:r>
            <a:br>
              <a:rPr lang="en-US" sz="1200" b="1" i="0" u="none" strike="noStrike">
                <a:solidFill>
                  <a:srgbClr val="8B0000"/>
                </a:solidFill>
                <a:latin typeface="Calibri" panose="020F0502020204030204"/>
                <a:ea typeface="Calibri" panose="020F0502020204030204"/>
                <a:cs typeface="Calibri" panose="020F0502020204030204"/>
                <a:sym typeface="Calibri" panose="020F0502020204030204"/>
              </a:rPr>
            </a:br>
            <a:r>
              <a:rPr lang="en-US" sz="1200" b="1" i="0" u="none" strike="noStrike">
                <a:solidFill>
                  <a:srgbClr val="0066CC"/>
                </a:solidFill>
                <a:latin typeface="Calibri" panose="020F0502020204030204"/>
                <a:ea typeface="Calibri" panose="020F0502020204030204"/>
                <a:cs typeface="Calibri" panose="020F0502020204030204"/>
                <a:sym typeface="Calibri" panose="020F0502020204030204"/>
              </a:rPr>
              <a:t>def </a:t>
            </a:r>
            <a:r>
              <a:rPr lang="en-US" sz="1200" b="1" i="0" u="none" strike="noStrike">
                <a:solidFill>
                  <a:srgbClr val="8B0000"/>
                </a:solidFill>
                <a:latin typeface="Calibri" panose="020F0502020204030204"/>
                <a:ea typeface="Calibri" panose="020F0502020204030204"/>
                <a:cs typeface="Calibri" panose="020F0502020204030204"/>
                <a:sym typeface="Calibri" panose="020F0502020204030204"/>
              </a:rPr>
              <a:t>add_kernel</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(x_ptr, y_ptr, output_ptr, n_elements,</a:t>
            </a:r>
            <a:endParaRPr lang="en-US" sz="1100"/>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BLOCK_SIZE: tl.constexpr):</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Get the ID of the current program</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pid = tl.program_id(axis=</a:t>
            </a:r>
            <a:r>
              <a:rPr lang="en-US" sz="1200" b="0" i="0" u="none" strike="noStrike">
                <a:solidFill>
                  <a:srgbClr val="0099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Calculate the starting position of the current block</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block_start = pid * BLOCK_SIZE</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Generate local offset array [0, 1, 2, ..., BLOCK_SIZE-1]</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offsets = block_start + tl.arange(</a:t>
            </a:r>
            <a:r>
              <a:rPr lang="en-US" sz="1200" b="0" i="0" u="none" strike="noStrike">
                <a:solidFill>
                  <a:srgbClr val="0099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BLOCK_SIZE)</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Create mask to prevent out-of-bounds access</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mask = offsets &lt; n_elements</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Load data from global memory</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x = tl.load(x_ptr + offsets,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y = tl.load(y_ptr + offsets,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Perform vector addition</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output = x + y</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Write results back to global memory</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tl.store(output_ptr + offsets, output,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380956" y="6571937"/>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Source: Triton Official Tutorial https://triton-lang.org/main/getting-started/tutorials/01-vector-add.html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32" y="62917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 program_id</a:t>
            </a:r>
            <a:endParaRPr lang="en-US" sz="1100"/>
          </a:p>
        </p:txBody>
      </p:sp>
      <p:grpSp>
        <p:nvGrpSpPr>
          <p:cNvPr id="3" name="Group 3"/>
          <p:cNvGrpSpPr/>
          <p:nvPr/>
        </p:nvGrpSpPr>
        <p:grpSpPr>
          <a:xfrm>
            <a:off x="378890" y="2830298"/>
            <a:ext cx="5505355" cy="2133540"/>
            <a:chOff x="378890" y="2830298"/>
            <a:chExt cx="5505355" cy="2133540"/>
          </a:xfrm>
        </p:grpSpPr>
        <p:sp>
          <p:nvSpPr>
            <p:cNvPr id="4" name="Freeform 4"/>
            <p:cNvSpPr/>
            <p:nvPr/>
          </p:nvSpPr>
          <p:spPr>
            <a:xfrm>
              <a:off x="378890" y="2830298"/>
              <a:ext cx="5505355" cy="762000"/>
            </a:xfrm>
            <a:custGeom>
              <a:avLst/>
              <a:gdLst/>
              <a:ahLst/>
              <a:cxnLst/>
              <a:rect l="l" t="t" r="r" b="b"/>
              <a:pathLst>
                <a:path w="5505355" h="762000">
                  <a:moveTo>
                    <a:pt x="37910" y="0"/>
                  </a:moveTo>
                  <a:lnTo>
                    <a:pt x="5391055" y="0"/>
                  </a:lnTo>
                  <a:cubicBezTo>
                    <a:pt x="5454139" y="0"/>
                    <a:pt x="5505355" y="51217"/>
                    <a:pt x="5505355" y="114300"/>
                  </a:cubicBezTo>
                  <a:lnTo>
                    <a:pt x="5505355" y="647700"/>
                  </a:lnTo>
                  <a:cubicBezTo>
                    <a:pt x="5505355" y="710783"/>
                    <a:pt x="5454139" y="762000"/>
                    <a:pt x="5391055" y="762000"/>
                  </a:cubicBezTo>
                  <a:lnTo>
                    <a:pt x="37910" y="762000"/>
                  </a:lnTo>
                  <a:cubicBezTo>
                    <a:pt x="16974" y="762000"/>
                    <a:pt x="0" y="745026"/>
                    <a:pt x="0" y="7240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78890" y="2830298"/>
              <a:ext cx="37909" cy="762000"/>
            </a:xfrm>
            <a:custGeom>
              <a:avLst/>
              <a:gdLst/>
              <a:ahLst/>
              <a:cxnLst/>
              <a:rect l="l" t="t" r="r" b="b"/>
              <a:pathLst>
                <a:path w="37909" h="762000">
                  <a:moveTo>
                    <a:pt x="37910" y="0"/>
                  </a:moveTo>
                  <a:lnTo>
                    <a:pt x="37910" y="0"/>
                  </a:lnTo>
                  <a:lnTo>
                    <a:pt x="37910" y="762000"/>
                  </a:lnTo>
                  <a:lnTo>
                    <a:pt x="37910" y="762000"/>
                  </a:lnTo>
                  <a:cubicBezTo>
                    <a:pt x="16974" y="762000"/>
                    <a:pt x="0" y="745026"/>
                    <a:pt x="0" y="7240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26418" y="3058870"/>
              <a:ext cx="5124450" cy="31432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pid = tl.program_id(axis=0)</a:t>
              </a:r>
              <a:endParaRPr lang="en-US" sz="1100"/>
            </a:p>
          </p:txBody>
        </p:sp>
        <p:sp>
          <p:nvSpPr>
            <p:cNvPr id="7" name="Freeform 7"/>
            <p:cNvSpPr/>
            <p:nvPr/>
          </p:nvSpPr>
          <p:spPr>
            <a:xfrm>
              <a:off x="383747" y="3863654"/>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12309" y="3825596"/>
              <a:ext cx="319087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Returns the index of the current program in dimension 0 of the grid</a:t>
              </a:r>
              <a:endParaRPr lang="en-US" sz="1100"/>
            </a:p>
          </p:txBody>
        </p:sp>
        <p:sp>
          <p:nvSpPr>
            <p:cNvPr id="9" name="Freeform 9"/>
            <p:cNvSpPr/>
            <p:nvPr/>
          </p:nvSpPr>
          <p:spPr>
            <a:xfrm>
              <a:off x="383747" y="429466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2309" y="4256602"/>
              <a:ext cx="22193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Similar to CUDA's </a:t>
              </a:r>
              <a:r>
                <a:rPr lang="en-US" sz="12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blockIdx.x</a:t>
              </a:r>
              <a:endParaRPr lang="en-US" sz="1100"/>
            </a:p>
          </p:txBody>
        </p:sp>
        <p:sp>
          <p:nvSpPr>
            <p:cNvPr id="11" name="Freeform 11"/>
            <p:cNvSpPr/>
            <p:nvPr/>
          </p:nvSpPr>
          <p:spPr>
            <a:xfrm>
              <a:off x="383747" y="472567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12309" y="4687613"/>
              <a:ext cx="3429000"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Used to determine which data block the current program should handle</a:t>
              </a:r>
              <a:endParaRPr lang="en-US" sz="1100"/>
            </a:p>
          </p:txBody>
        </p:sp>
      </p:grpSp>
      <p:grpSp>
        <p:nvGrpSpPr>
          <p:cNvPr id="13" name="Group 13"/>
          <p:cNvGrpSpPr/>
          <p:nvPr/>
        </p:nvGrpSpPr>
        <p:grpSpPr>
          <a:xfrm>
            <a:off x="6415345" y="1494066"/>
            <a:ext cx="5524500" cy="3619500"/>
            <a:chOff x="6415345" y="1494066"/>
            <a:chExt cx="5524500" cy="3619500"/>
          </a:xfrm>
        </p:grpSpPr>
        <p:sp>
          <p:nvSpPr>
            <p:cNvPr id="14" name="Freeform 14"/>
            <p:cNvSpPr/>
            <p:nvPr/>
          </p:nvSpPr>
          <p:spPr>
            <a:xfrm>
              <a:off x="6415345" y="1494066"/>
              <a:ext cx="5524500" cy="3619500"/>
            </a:xfrm>
            <a:custGeom>
              <a:avLst/>
              <a:gdLst/>
              <a:ahLst/>
              <a:cxnLst/>
              <a:rect l="l" t="t" r="r" b="b"/>
              <a:pathLst>
                <a:path w="5524500" h="3619500">
                  <a:moveTo>
                    <a:pt x="114304" y="0"/>
                  </a:moveTo>
                  <a:lnTo>
                    <a:pt x="5410196" y="0"/>
                  </a:lnTo>
                  <a:cubicBezTo>
                    <a:pt x="5473324" y="0"/>
                    <a:pt x="5524500" y="51176"/>
                    <a:pt x="5524500" y="114304"/>
                  </a:cubicBezTo>
                  <a:lnTo>
                    <a:pt x="5524500" y="3505196"/>
                  </a:lnTo>
                  <a:cubicBezTo>
                    <a:pt x="5524500" y="3568324"/>
                    <a:pt x="5473324" y="3619500"/>
                    <a:pt x="5410196" y="3619500"/>
                  </a:cubicBezTo>
                  <a:lnTo>
                    <a:pt x="114304" y="3619500"/>
                  </a:lnTo>
                  <a:cubicBezTo>
                    <a:pt x="51176" y="3619500"/>
                    <a:pt x="0" y="3568324"/>
                    <a:pt x="0" y="3505196"/>
                  </a:cubicBezTo>
                  <a:lnTo>
                    <a:pt x="0" y="114304"/>
                  </a:lnTo>
                  <a:cubicBezTo>
                    <a:pt x="0" y="51218"/>
                    <a:pt x="51218" y="0"/>
                    <a:pt x="11430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596294" y="1722641"/>
              <a:ext cx="5162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Program distribution in the Grid</a:t>
              </a:r>
              <a:endParaRPr lang="en-US" sz="1100"/>
            </a:p>
          </p:txBody>
        </p:sp>
        <p:sp>
          <p:nvSpPr>
            <p:cNvPr id="16" name="Freeform 16"/>
            <p:cNvSpPr/>
            <p:nvPr/>
          </p:nvSpPr>
          <p:spPr>
            <a:xfrm>
              <a:off x="6643919" y="2217922"/>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05819" y="2217922"/>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a:t>
              </a:r>
              <a:endParaRPr lang="en-US" sz="1100"/>
            </a:p>
          </p:txBody>
        </p:sp>
        <p:sp>
          <p:nvSpPr>
            <p:cNvPr id="18" name="Freeform 18"/>
            <p:cNvSpPr/>
            <p:nvPr/>
          </p:nvSpPr>
          <p:spPr>
            <a:xfrm>
              <a:off x="7215315" y="2217922"/>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215315" y="2217922"/>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Handles data block 0</a:t>
              </a:r>
              <a:endParaRPr lang="en-US" sz="1100"/>
            </a:p>
          </p:txBody>
        </p:sp>
        <p:sp>
          <p:nvSpPr>
            <p:cNvPr id="20" name="Freeform 20"/>
            <p:cNvSpPr/>
            <p:nvPr/>
          </p:nvSpPr>
          <p:spPr>
            <a:xfrm>
              <a:off x="6643919" y="2789315"/>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605819" y="2789315"/>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2" name="Freeform 22"/>
            <p:cNvSpPr/>
            <p:nvPr/>
          </p:nvSpPr>
          <p:spPr>
            <a:xfrm>
              <a:off x="7215315" y="2789315"/>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215315" y="2789315"/>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Handles data block 1</a:t>
              </a:r>
              <a:endParaRPr lang="en-US" sz="1100"/>
            </a:p>
          </p:txBody>
        </p:sp>
        <p:sp>
          <p:nvSpPr>
            <p:cNvPr id="24" name="Freeform 24"/>
            <p:cNvSpPr/>
            <p:nvPr/>
          </p:nvSpPr>
          <p:spPr>
            <a:xfrm>
              <a:off x="6643919" y="3360713"/>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605819" y="3360713"/>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6" name="Freeform 26"/>
            <p:cNvSpPr/>
            <p:nvPr/>
          </p:nvSpPr>
          <p:spPr>
            <a:xfrm>
              <a:off x="7215315" y="3360713"/>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215315" y="3360713"/>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Handles data block 2</a:t>
              </a:r>
              <a:endParaRPr lang="en-US" sz="1100"/>
            </a:p>
          </p:txBody>
        </p:sp>
        <p:sp>
          <p:nvSpPr>
            <p:cNvPr id="28" name="AutoShape 28"/>
            <p:cNvSpPr/>
            <p:nvPr/>
          </p:nvSpPr>
          <p:spPr>
            <a:xfrm>
              <a:off x="6605819" y="3932110"/>
              <a:ext cx="5143500" cy="381000"/>
            </a:xfrm>
            <a:prstGeom prst="rect">
              <a:avLst/>
            </a:prstGeom>
            <a:noFill/>
            <a:ln w="12700">
              <a:noFill/>
              <a:prstDash val="solid"/>
            </a:ln>
          </p:spPr>
          <p:txBody>
            <a:bodyPr wrap="square" lIns="0" tIns="76200" rIns="0" bIns="76200" rtlCol="0" anchor="ctr">
              <a:noAutofit/>
            </a:bodyPr>
            <a:lstStyle/>
            <a:p>
              <a:pPr indent="0" algn="ctr">
                <a:lnSpc>
                  <a:spcPct val="133000"/>
                </a:lnSpc>
                <a:defRPr/>
              </a:pPr>
              <a:r>
                <a:rPr lang="en-US" sz="12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9" name="Freeform 29"/>
            <p:cNvSpPr/>
            <p:nvPr/>
          </p:nvSpPr>
          <p:spPr>
            <a:xfrm>
              <a:off x="6643919" y="4427313"/>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605819" y="4427313"/>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31" name="Freeform 31"/>
            <p:cNvSpPr/>
            <p:nvPr/>
          </p:nvSpPr>
          <p:spPr>
            <a:xfrm>
              <a:off x="7215315" y="4427313"/>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7215315" y="4427313"/>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Handles data block N</a:t>
              </a:r>
              <a:endParaRPr lang="en-US" sz="1100"/>
            </a:p>
          </p:txBody>
        </p:sp>
      </p:grpSp>
      <p:sp>
        <p:nvSpPr>
          <p:cNvPr id="33" name="AutoShape 33"/>
          <p:cNvSpPr/>
          <p:nvPr/>
        </p:nvSpPr>
        <p:spPr>
          <a:xfrm>
            <a:off x="380956" y="6533258"/>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Image source: Triton Official Docs https://triton-lang.org/main/python-api/generated/triton.language.program_id.html</a:t>
            </a:r>
            <a:endParaRPr lang="en-US" sz="1100"/>
          </a:p>
        </p:txBody>
      </p:sp>
      <p:pic>
        <p:nvPicPr>
          <p:cNvPr id="34" name="Picture 34"/>
          <p:cNvPicPr>
            <a:picLocks noChangeAspect="1"/>
          </p:cNvPicPr>
          <p:nvPr/>
        </p:nvPicPr>
        <p:blipFill>
          <a:blip r:embed="rId1"/>
          <a:srcRect/>
          <a:stretch>
            <a:fillRect/>
          </a:stretch>
        </p:blipFill>
        <p:spPr>
          <a:xfrm>
            <a:off x="380957" y="1494066"/>
            <a:ext cx="5715044" cy="97901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2349" y="63880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Offset Calculation Method</a:t>
            </a:r>
            <a:endParaRPr lang="en-US" sz="1100"/>
          </a:p>
        </p:txBody>
      </p:sp>
      <p:sp>
        <p:nvSpPr>
          <p:cNvPr id="3" name="Freeform 3"/>
          <p:cNvSpPr/>
          <p:nvPr/>
        </p:nvSpPr>
        <p:spPr>
          <a:xfrm>
            <a:off x="399911" y="1570620"/>
            <a:ext cx="5543455" cy="1847850"/>
          </a:xfrm>
          <a:custGeom>
            <a:avLst/>
            <a:gdLst/>
            <a:ahLst/>
            <a:cxnLst/>
            <a:rect l="l" t="t" r="r" b="b"/>
            <a:pathLst>
              <a:path w="5543455" h="1847850">
                <a:moveTo>
                  <a:pt x="37909" y="0"/>
                </a:moveTo>
                <a:lnTo>
                  <a:pt x="5429147" y="0"/>
                </a:lnTo>
                <a:cubicBezTo>
                  <a:pt x="5492278" y="0"/>
                  <a:pt x="5543455" y="51177"/>
                  <a:pt x="5543455" y="114308"/>
                </a:cubicBezTo>
                <a:lnTo>
                  <a:pt x="5543455" y="1733542"/>
                </a:lnTo>
                <a:cubicBezTo>
                  <a:pt x="5543455" y="1796673"/>
                  <a:pt x="5492278" y="1847850"/>
                  <a:pt x="5429147" y="1847850"/>
                </a:cubicBezTo>
                <a:lnTo>
                  <a:pt x="37909" y="1847850"/>
                </a:lnTo>
                <a:cubicBezTo>
                  <a:pt x="16974" y="1847850"/>
                  <a:pt x="0" y="1830876"/>
                  <a:pt x="0" y="180994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570620"/>
            <a:ext cx="37909" cy="1847850"/>
          </a:xfrm>
          <a:custGeom>
            <a:avLst/>
            <a:gdLst/>
            <a:ahLst/>
            <a:cxnLst/>
            <a:rect l="l" t="t" r="r" b="b"/>
            <a:pathLst>
              <a:path w="37909" h="1847850">
                <a:moveTo>
                  <a:pt x="37909" y="0"/>
                </a:moveTo>
                <a:lnTo>
                  <a:pt x="37909" y="0"/>
                </a:lnTo>
                <a:lnTo>
                  <a:pt x="37909" y="1847850"/>
                </a:lnTo>
                <a:lnTo>
                  <a:pt x="37909" y="1847850"/>
                </a:lnTo>
                <a:cubicBezTo>
                  <a:pt x="16974" y="1847850"/>
                  <a:pt x="0" y="1830876"/>
                  <a:pt x="0" y="180994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799193"/>
            <a:ext cx="5153025" cy="139065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Calculate the starting position of the current block</a:t>
            </a:r>
            <a:endParaRPr lang="en-US" sz="1100"/>
          </a:p>
          <a:p>
            <a:pPr indent="0" algn="l">
              <a:lnSpc>
                <a:spcPct val="100000"/>
              </a:lnSpc>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pid * BLOCK_SIZE</a:t>
            </a:r>
            <a:endPar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Generate global offsets</a:t>
            </a:r>
            <a:endPar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a:t>
            </a:r>
            <a:r>
              <a:rPr lang="en-US" sz="14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BLOCK_SIZE)</a:t>
            </a:r>
            <a:endPar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248338" y="1771948"/>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210238" y="1771948"/>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6743543" y="1771948"/>
            <a:ext cx="3495675" cy="314325"/>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Each program handles </a:t>
            </a: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consecutive elements</a:t>
            </a:r>
            <a:endParaRPr lang="en-US" sz="1100"/>
          </a:p>
        </p:txBody>
      </p:sp>
      <p:sp>
        <p:nvSpPr>
          <p:cNvPr id="9" name="Freeform 9"/>
          <p:cNvSpPr/>
          <p:nvPr/>
        </p:nvSpPr>
        <p:spPr>
          <a:xfrm>
            <a:off x="6248338" y="2305283"/>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210238" y="2305283"/>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AutoShape 11"/>
          <p:cNvSpPr/>
          <p:nvPr/>
        </p:nvSpPr>
        <p:spPr>
          <a:xfrm>
            <a:off x="6743543" y="2305283"/>
            <a:ext cx="4724400" cy="323850"/>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sz="14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tl.arange </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Generates local indices </a:t>
            </a:r>
            <a:r>
              <a:rPr lang="en-US" sz="14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[0, 1, ..., BLOCK_SIZE-1]</a:t>
            </a:r>
            <a:endParaRPr lang="en-US" sz="1100"/>
          </a:p>
        </p:txBody>
      </p:sp>
      <p:sp>
        <p:nvSpPr>
          <p:cNvPr id="12" name="Freeform 12"/>
          <p:cNvSpPr/>
          <p:nvPr/>
        </p:nvSpPr>
        <p:spPr>
          <a:xfrm>
            <a:off x="6248338" y="283862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210238" y="283862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6743543" y="2838622"/>
            <a:ext cx="2743200" cy="323850"/>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Adding </a:t>
            </a:r>
            <a:r>
              <a:rPr lang="en-US" sz="14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block_start </a:t>
            </a: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to get global indices</a:t>
            </a:r>
            <a:endParaRPr lang="en-US" sz="1100"/>
          </a:p>
        </p:txBody>
      </p:sp>
      <p:sp>
        <p:nvSpPr>
          <p:cNvPr id="15" name="Freeform 15"/>
          <p:cNvSpPr/>
          <p:nvPr/>
        </p:nvSpPr>
        <p:spPr>
          <a:xfrm>
            <a:off x="380956" y="3649475"/>
            <a:ext cx="11430000" cy="2362200"/>
          </a:xfrm>
          <a:custGeom>
            <a:avLst/>
            <a:gdLst/>
            <a:ahLst/>
            <a:cxnLst/>
            <a:rect l="l" t="t" r="r" b="b"/>
            <a:pathLst>
              <a:path w="11430000" h="2362200">
                <a:moveTo>
                  <a:pt x="114308" y="0"/>
                </a:moveTo>
                <a:lnTo>
                  <a:pt x="11315692" y="0"/>
                </a:lnTo>
                <a:cubicBezTo>
                  <a:pt x="11378781" y="0"/>
                  <a:pt x="11430000" y="51219"/>
                  <a:pt x="11430000" y="114308"/>
                </a:cubicBezTo>
                <a:lnTo>
                  <a:pt x="11430000" y="2247892"/>
                </a:lnTo>
                <a:cubicBezTo>
                  <a:pt x="11430000" y="2310981"/>
                  <a:pt x="11378781" y="2362200"/>
                  <a:pt x="11315692" y="2362200"/>
                </a:cubicBezTo>
                <a:lnTo>
                  <a:pt x="114308" y="2362200"/>
                </a:lnTo>
                <a:cubicBezTo>
                  <a:pt x="51219" y="2362200"/>
                  <a:pt x="0" y="2310981"/>
                  <a:pt x="0" y="2247892"/>
                </a:cubicBezTo>
                <a:lnTo>
                  <a:pt x="0" y="114308"/>
                </a:lnTo>
                <a:cubicBezTo>
                  <a:pt x="0" y="51219"/>
                  <a:pt x="51219" y="0"/>
                  <a:pt x="1143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529" y="387804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Calculation Example (BLOCK_SIZE = 256)</a:t>
            </a:r>
            <a:endParaRPr lang="en-US" sz="1100"/>
          </a:p>
        </p:txBody>
      </p:sp>
      <p:sp>
        <p:nvSpPr>
          <p:cNvPr id="17" name="Freeform 17"/>
          <p:cNvSpPr/>
          <p:nvPr/>
        </p:nvSpPr>
        <p:spPr>
          <a:xfrm>
            <a:off x="619007"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780866"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0</a:t>
            </a:r>
            <a:endParaRPr lang="en-US" sz="1100"/>
          </a:p>
        </p:txBody>
      </p:sp>
      <p:sp>
        <p:nvSpPr>
          <p:cNvPr id="19" name="Freeform 19"/>
          <p:cNvSpPr/>
          <p:nvPr/>
        </p:nvSpPr>
        <p:spPr>
          <a:xfrm>
            <a:off x="799822"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99822" y="4735106"/>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933026"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0</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[0..255]</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780866"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Handles elements 0–255</a:t>
            </a:r>
            <a:endParaRPr lang="en-US" sz="1100"/>
          </a:p>
        </p:txBody>
      </p:sp>
      <p:sp>
        <p:nvSpPr>
          <p:cNvPr id="23" name="Freeform 23"/>
          <p:cNvSpPr/>
          <p:nvPr/>
        </p:nvSpPr>
        <p:spPr>
          <a:xfrm>
            <a:off x="4327418"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4489278"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1</a:t>
            </a:r>
            <a:endParaRPr lang="en-US" sz="1100"/>
          </a:p>
        </p:txBody>
      </p:sp>
      <p:sp>
        <p:nvSpPr>
          <p:cNvPr id="25" name="Freeform 25"/>
          <p:cNvSpPr/>
          <p:nvPr/>
        </p:nvSpPr>
        <p:spPr>
          <a:xfrm>
            <a:off x="4508233"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508233" y="4735106"/>
            <a:ext cx="37910" cy="609600"/>
          </a:xfrm>
          <a:custGeom>
            <a:avLst/>
            <a:gdLst/>
            <a:ahLst/>
            <a:cxnLst/>
            <a:rect l="l" t="t" r="r" b="b"/>
            <a:pathLst>
              <a:path w="37910" h="609600">
                <a:moveTo>
                  <a:pt x="37909" y="0"/>
                </a:moveTo>
                <a:lnTo>
                  <a:pt x="37909" y="0"/>
                </a:lnTo>
                <a:lnTo>
                  <a:pt x="37909" y="609600"/>
                </a:lnTo>
                <a:lnTo>
                  <a:pt x="37909" y="609600"/>
                </a:lnTo>
                <a:cubicBezTo>
                  <a:pt x="16974" y="609600"/>
                  <a:pt x="0" y="592626"/>
                  <a:pt x="0" y="5716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641438"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256</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[256..511]</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4489278"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Handles elements 256–511</a:t>
            </a:r>
            <a:endParaRPr lang="en-US" sz="1100"/>
          </a:p>
        </p:txBody>
      </p:sp>
      <p:sp>
        <p:nvSpPr>
          <p:cNvPr id="29" name="Freeform 29"/>
          <p:cNvSpPr/>
          <p:nvPr/>
        </p:nvSpPr>
        <p:spPr>
          <a:xfrm>
            <a:off x="8035830"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8197690"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2</a:t>
            </a:r>
            <a:endParaRPr lang="en-US" sz="1100"/>
          </a:p>
        </p:txBody>
      </p:sp>
      <p:sp>
        <p:nvSpPr>
          <p:cNvPr id="31" name="Freeform 31"/>
          <p:cNvSpPr/>
          <p:nvPr/>
        </p:nvSpPr>
        <p:spPr>
          <a:xfrm>
            <a:off x="8216645"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216645" y="4735106"/>
            <a:ext cx="37910" cy="609600"/>
          </a:xfrm>
          <a:custGeom>
            <a:avLst/>
            <a:gdLst/>
            <a:ahLst/>
            <a:cxnLst/>
            <a:rect l="l" t="t" r="r" b="b"/>
            <a:pathLst>
              <a:path w="37910" h="609600">
                <a:moveTo>
                  <a:pt x="37909" y="0"/>
                </a:moveTo>
                <a:lnTo>
                  <a:pt x="37909" y="0"/>
                </a:lnTo>
                <a:lnTo>
                  <a:pt x="37909" y="609600"/>
                </a:lnTo>
                <a:lnTo>
                  <a:pt x="37909" y="609600"/>
                </a:lnTo>
                <a:cubicBezTo>
                  <a:pt x="16974" y="609600"/>
                  <a:pt x="0" y="592626"/>
                  <a:pt x="0" y="5716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8349850"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512</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[512..767]</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8197690"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Handles elements 512–767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9260" y="615256"/>
            <a:ext cx="11665604" cy="33961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4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tl.arange</a:t>
            </a:r>
            <a:endParaRPr lang="en-US" sz="1100"/>
          </a:p>
        </p:txBody>
      </p:sp>
      <p:grpSp>
        <p:nvGrpSpPr>
          <p:cNvPr id="3" name="Group 3"/>
          <p:cNvGrpSpPr/>
          <p:nvPr/>
        </p:nvGrpSpPr>
        <p:grpSpPr>
          <a:xfrm>
            <a:off x="375935" y="3383603"/>
            <a:ext cx="5586585" cy="2943784"/>
            <a:chOff x="375935" y="3383603"/>
            <a:chExt cx="5586585" cy="2943784"/>
          </a:xfrm>
        </p:grpSpPr>
        <p:sp>
          <p:nvSpPr>
            <p:cNvPr id="4" name="Freeform 4"/>
            <p:cNvSpPr/>
            <p:nvPr/>
          </p:nvSpPr>
          <p:spPr>
            <a:xfrm>
              <a:off x="392831" y="3383603"/>
              <a:ext cx="5569520" cy="679220"/>
            </a:xfrm>
            <a:custGeom>
              <a:avLst/>
              <a:gdLst/>
              <a:ahLst/>
              <a:cxnLst/>
              <a:rect l="l" t="t" r="r" b="b"/>
              <a:pathLst>
                <a:path w="5569520" h="679220">
                  <a:moveTo>
                    <a:pt x="33792" y="0"/>
                  </a:moveTo>
                  <a:lnTo>
                    <a:pt x="5467637" y="0"/>
                  </a:lnTo>
                  <a:cubicBezTo>
                    <a:pt x="5523904" y="0"/>
                    <a:pt x="5569520" y="45615"/>
                    <a:pt x="5569520" y="101883"/>
                  </a:cubicBezTo>
                  <a:lnTo>
                    <a:pt x="5569520" y="577337"/>
                  </a:lnTo>
                  <a:cubicBezTo>
                    <a:pt x="5569520" y="633606"/>
                    <a:pt x="5523904" y="679220"/>
                    <a:pt x="5467637" y="679220"/>
                  </a:cubicBezTo>
                  <a:lnTo>
                    <a:pt x="33792" y="679220"/>
                  </a:lnTo>
                  <a:cubicBezTo>
                    <a:pt x="15130" y="679220"/>
                    <a:pt x="0" y="664091"/>
                    <a:pt x="0" y="645428"/>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2831" y="3383603"/>
              <a:ext cx="33792" cy="679220"/>
            </a:xfrm>
            <a:custGeom>
              <a:avLst/>
              <a:gdLst/>
              <a:ahLst/>
              <a:cxnLst/>
              <a:rect l="l" t="t" r="r" b="b"/>
              <a:pathLst>
                <a:path w="33792" h="679220">
                  <a:moveTo>
                    <a:pt x="33792" y="0"/>
                  </a:moveTo>
                  <a:lnTo>
                    <a:pt x="33792" y="0"/>
                  </a:lnTo>
                  <a:lnTo>
                    <a:pt x="33792" y="679220"/>
                  </a:lnTo>
                  <a:lnTo>
                    <a:pt x="33792" y="679220"/>
                  </a:lnTo>
                  <a:cubicBezTo>
                    <a:pt x="15130" y="679220"/>
                    <a:pt x="0" y="664091"/>
                    <a:pt x="0" y="645428"/>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13470" y="3587345"/>
              <a:ext cx="5229994" cy="280178"/>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3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tl.arange(</a:t>
              </a:r>
              <a:r>
                <a:rPr lang="en-US" sz="1300" b="0" i="0" u="none" strike="noStrike">
                  <a:solidFill>
                    <a:srgbClr val="009900"/>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sz="13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BLOCK_SIZE)</a:t>
              </a:r>
              <a:endParaRPr lang="en-US" sz="1100"/>
            </a:p>
          </p:txBody>
        </p:sp>
        <p:sp>
          <p:nvSpPr>
            <p:cNvPr id="7" name="Freeform 7"/>
            <p:cNvSpPr/>
            <p:nvPr/>
          </p:nvSpPr>
          <p:spPr>
            <a:xfrm>
              <a:off x="375935" y="4270777"/>
              <a:ext cx="5586585" cy="925438"/>
            </a:xfrm>
            <a:custGeom>
              <a:avLst/>
              <a:gdLst/>
              <a:ahLst/>
              <a:cxnLst/>
              <a:rect l="l" t="t" r="r" b="b"/>
              <a:pathLst>
                <a:path w="5586585" h="925438">
                  <a:moveTo>
                    <a:pt x="67918" y="0"/>
                  </a:moveTo>
                  <a:lnTo>
                    <a:pt x="5518667" y="0"/>
                  </a:lnTo>
                  <a:cubicBezTo>
                    <a:pt x="5556152" y="0"/>
                    <a:pt x="5586585" y="30433"/>
                    <a:pt x="5586585" y="67918"/>
                  </a:cubicBezTo>
                  <a:lnTo>
                    <a:pt x="5586585" y="857519"/>
                  </a:lnTo>
                  <a:cubicBezTo>
                    <a:pt x="5586585" y="895005"/>
                    <a:pt x="5556152" y="925438"/>
                    <a:pt x="5518667" y="925438"/>
                  </a:cubicBezTo>
                  <a:lnTo>
                    <a:pt x="67918" y="925438"/>
                  </a:lnTo>
                  <a:cubicBezTo>
                    <a:pt x="30433" y="925438"/>
                    <a:pt x="0" y="895005"/>
                    <a:pt x="0" y="857519"/>
                  </a:cubicBezTo>
                  <a:lnTo>
                    <a:pt x="0" y="67918"/>
                  </a:lnTo>
                  <a:cubicBezTo>
                    <a:pt x="0" y="30433"/>
                    <a:pt x="30433" y="0"/>
                    <a:pt x="6791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71119" y="4457487"/>
              <a:ext cx="203845" cy="203766"/>
            </a:xfrm>
            <a:custGeom>
              <a:avLst/>
              <a:gdLst/>
              <a:ahLst/>
              <a:cxnLst/>
              <a:rect l="l" t="t" r="r" b="b"/>
              <a:pathLst>
                <a:path w="203845" h="203766">
                  <a:moveTo>
                    <a:pt x="26266" y="90940"/>
                  </a:moveTo>
                  <a:cubicBezTo>
                    <a:pt x="31559" y="53925"/>
                    <a:pt x="63437" y="25471"/>
                    <a:pt x="101922" y="25471"/>
                  </a:cubicBezTo>
                  <a:cubicBezTo>
                    <a:pt x="123014" y="25471"/>
                    <a:pt x="142118" y="34027"/>
                    <a:pt x="155968" y="47837"/>
                  </a:cubicBezTo>
                  <a:cubicBezTo>
                    <a:pt x="156047" y="47917"/>
                    <a:pt x="156127" y="47996"/>
                    <a:pt x="156207" y="48076"/>
                  </a:cubicBezTo>
                  <a:lnTo>
                    <a:pt x="159231" y="50942"/>
                  </a:lnTo>
                  <a:lnTo>
                    <a:pt x="140168" y="50942"/>
                  </a:lnTo>
                  <a:cubicBezTo>
                    <a:pt x="133124" y="50942"/>
                    <a:pt x="127433" y="56633"/>
                    <a:pt x="127433" y="63677"/>
                  </a:cubicBezTo>
                  <a:cubicBezTo>
                    <a:pt x="127433" y="70721"/>
                    <a:pt x="133124" y="76412"/>
                    <a:pt x="140168" y="76412"/>
                  </a:cubicBezTo>
                  <a:lnTo>
                    <a:pt x="191109" y="76412"/>
                  </a:lnTo>
                  <a:cubicBezTo>
                    <a:pt x="198154" y="76412"/>
                    <a:pt x="203845" y="70721"/>
                    <a:pt x="203845" y="63677"/>
                  </a:cubicBezTo>
                  <a:lnTo>
                    <a:pt x="203845" y="12736"/>
                  </a:lnTo>
                  <a:cubicBezTo>
                    <a:pt x="203845" y="5691"/>
                    <a:pt x="198154" y="0"/>
                    <a:pt x="191109" y="0"/>
                  </a:cubicBezTo>
                  <a:cubicBezTo>
                    <a:pt x="184065" y="0"/>
                    <a:pt x="178374" y="5691"/>
                    <a:pt x="178374" y="12736"/>
                  </a:cubicBezTo>
                  <a:lnTo>
                    <a:pt x="178374" y="33988"/>
                  </a:lnTo>
                  <a:lnTo>
                    <a:pt x="173877" y="29729"/>
                  </a:lnTo>
                  <a:cubicBezTo>
                    <a:pt x="155450" y="11382"/>
                    <a:pt x="129980" y="0"/>
                    <a:pt x="101922" y="0"/>
                  </a:cubicBezTo>
                  <a:cubicBezTo>
                    <a:pt x="50582" y="0"/>
                    <a:pt x="8117" y="37967"/>
                    <a:pt x="1074" y="87357"/>
                  </a:cubicBezTo>
                  <a:cubicBezTo>
                    <a:pt x="78" y="94322"/>
                    <a:pt x="4894" y="100769"/>
                    <a:pt x="11859" y="101764"/>
                  </a:cubicBezTo>
                  <a:cubicBezTo>
                    <a:pt x="18824" y="102760"/>
                    <a:pt x="25271" y="97903"/>
                    <a:pt x="26266" y="90978"/>
                  </a:cubicBezTo>
                  <a:close/>
                  <a:moveTo>
                    <a:pt x="202770" y="116409"/>
                  </a:moveTo>
                  <a:cubicBezTo>
                    <a:pt x="203765" y="109445"/>
                    <a:pt x="198910" y="102997"/>
                    <a:pt x="191986" y="102003"/>
                  </a:cubicBezTo>
                  <a:cubicBezTo>
                    <a:pt x="185060" y="101007"/>
                    <a:pt x="178573" y="105863"/>
                    <a:pt x="177577" y="112787"/>
                  </a:cubicBezTo>
                  <a:cubicBezTo>
                    <a:pt x="172285" y="149800"/>
                    <a:pt x="140407" y="178255"/>
                    <a:pt x="101922" y="178255"/>
                  </a:cubicBezTo>
                  <a:cubicBezTo>
                    <a:pt x="80829" y="178255"/>
                    <a:pt x="61725" y="169699"/>
                    <a:pt x="47876" y="155889"/>
                  </a:cubicBezTo>
                  <a:cubicBezTo>
                    <a:pt x="47797" y="155809"/>
                    <a:pt x="47717" y="155730"/>
                    <a:pt x="47637" y="155650"/>
                  </a:cubicBezTo>
                  <a:lnTo>
                    <a:pt x="44613" y="152785"/>
                  </a:lnTo>
                  <a:lnTo>
                    <a:pt x="63676" y="152785"/>
                  </a:lnTo>
                  <a:cubicBezTo>
                    <a:pt x="70720" y="152785"/>
                    <a:pt x="76410" y="147094"/>
                    <a:pt x="76410" y="140049"/>
                  </a:cubicBezTo>
                  <a:cubicBezTo>
                    <a:pt x="76410" y="133005"/>
                    <a:pt x="70720" y="127314"/>
                    <a:pt x="63676" y="127314"/>
                  </a:cubicBezTo>
                  <a:lnTo>
                    <a:pt x="12775" y="127354"/>
                  </a:lnTo>
                  <a:cubicBezTo>
                    <a:pt x="9393" y="127354"/>
                    <a:pt x="6127" y="128707"/>
                    <a:pt x="3740" y="131135"/>
                  </a:cubicBezTo>
                  <a:cubicBezTo>
                    <a:pt x="1352" y="133562"/>
                    <a:pt x="0" y="136787"/>
                    <a:pt x="39" y="140209"/>
                  </a:cubicBezTo>
                  <a:lnTo>
                    <a:pt x="437" y="190751"/>
                  </a:lnTo>
                  <a:cubicBezTo>
                    <a:pt x="477" y="197796"/>
                    <a:pt x="6247" y="203448"/>
                    <a:pt x="13291" y="203368"/>
                  </a:cubicBezTo>
                  <a:cubicBezTo>
                    <a:pt x="20336" y="203288"/>
                    <a:pt x="25986" y="197557"/>
                    <a:pt x="25908" y="190513"/>
                  </a:cubicBezTo>
                  <a:lnTo>
                    <a:pt x="25749" y="170017"/>
                  </a:lnTo>
                  <a:lnTo>
                    <a:pt x="30007" y="174037"/>
                  </a:lnTo>
                  <a:cubicBezTo>
                    <a:pt x="48434" y="192383"/>
                    <a:pt x="73864" y="203766"/>
                    <a:pt x="101922" y="203766"/>
                  </a:cubicBezTo>
                  <a:cubicBezTo>
                    <a:pt x="153261" y="203766"/>
                    <a:pt x="195726" y="165799"/>
                    <a:pt x="202770" y="11640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902220" y="4440528"/>
              <a:ext cx="1103733" cy="23772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Generates vector indices</a:t>
              </a:r>
              <a:endParaRPr lang="en-US" sz="1100"/>
            </a:p>
          </p:txBody>
        </p:sp>
        <p:sp>
          <p:nvSpPr>
            <p:cNvPr id="10" name="AutoShape 10"/>
            <p:cNvSpPr/>
            <p:nvPr/>
          </p:nvSpPr>
          <p:spPr>
            <a:xfrm>
              <a:off x="545688" y="4780096"/>
              <a:ext cx="5323387" cy="24621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Generates a contiguous integer array from start to end-1</a:t>
              </a:r>
              <a:endParaRPr lang="en-US" sz="1100"/>
            </a:p>
          </p:txBody>
        </p:sp>
        <p:sp>
          <p:nvSpPr>
            <p:cNvPr id="11" name="Freeform 11"/>
            <p:cNvSpPr/>
            <p:nvPr/>
          </p:nvSpPr>
          <p:spPr>
            <a:xfrm>
              <a:off x="375935" y="5401949"/>
              <a:ext cx="5586585" cy="925438"/>
            </a:xfrm>
            <a:custGeom>
              <a:avLst/>
              <a:gdLst/>
              <a:ahLst/>
              <a:cxnLst/>
              <a:rect l="l" t="t" r="r" b="b"/>
              <a:pathLst>
                <a:path w="5586585" h="925438">
                  <a:moveTo>
                    <a:pt x="67918" y="0"/>
                  </a:moveTo>
                  <a:lnTo>
                    <a:pt x="5518667" y="0"/>
                  </a:lnTo>
                  <a:cubicBezTo>
                    <a:pt x="5556152" y="0"/>
                    <a:pt x="5586585" y="30433"/>
                    <a:pt x="5586585" y="67918"/>
                  </a:cubicBezTo>
                  <a:lnTo>
                    <a:pt x="5586585" y="857519"/>
                  </a:lnTo>
                  <a:cubicBezTo>
                    <a:pt x="5586585" y="895005"/>
                    <a:pt x="5556152" y="925438"/>
                    <a:pt x="5518667" y="925438"/>
                  </a:cubicBezTo>
                  <a:lnTo>
                    <a:pt x="67918" y="925438"/>
                  </a:lnTo>
                  <a:cubicBezTo>
                    <a:pt x="30433" y="925438"/>
                    <a:pt x="0" y="895005"/>
                    <a:pt x="0" y="857519"/>
                  </a:cubicBezTo>
                  <a:lnTo>
                    <a:pt x="0" y="67918"/>
                  </a:lnTo>
                  <a:cubicBezTo>
                    <a:pt x="0" y="30433"/>
                    <a:pt x="30433" y="0"/>
                    <a:pt x="6791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70959" y="5584167"/>
              <a:ext cx="204164" cy="204125"/>
            </a:xfrm>
            <a:custGeom>
              <a:avLst/>
              <a:gdLst/>
              <a:ahLst/>
              <a:cxnLst/>
              <a:rect l="l" t="t" r="r" b="b"/>
              <a:pathLst>
                <a:path w="204164" h="204125">
                  <a:moveTo>
                    <a:pt x="113225" y="3980"/>
                  </a:moveTo>
                  <a:cubicBezTo>
                    <a:pt x="106341" y="0"/>
                    <a:pt x="97824" y="0"/>
                    <a:pt x="90939" y="3980"/>
                  </a:cubicBezTo>
                  <a:lnTo>
                    <a:pt x="57429" y="23321"/>
                  </a:lnTo>
                  <a:cubicBezTo>
                    <a:pt x="50544" y="27301"/>
                    <a:pt x="46285" y="34665"/>
                    <a:pt x="46285" y="42624"/>
                  </a:cubicBezTo>
                  <a:lnTo>
                    <a:pt x="46285" y="83179"/>
                  </a:lnTo>
                  <a:lnTo>
                    <a:pt x="11143" y="103474"/>
                  </a:lnTo>
                  <a:cubicBezTo>
                    <a:pt x="4258" y="107455"/>
                    <a:pt x="0" y="114817"/>
                    <a:pt x="0" y="122777"/>
                  </a:cubicBezTo>
                  <a:lnTo>
                    <a:pt x="0" y="161499"/>
                  </a:lnTo>
                  <a:cubicBezTo>
                    <a:pt x="0" y="169460"/>
                    <a:pt x="4258" y="176823"/>
                    <a:pt x="11143" y="180802"/>
                  </a:cubicBezTo>
                  <a:lnTo>
                    <a:pt x="44693" y="200144"/>
                  </a:lnTo>
                  <a:cubicBezTo>
                    <a:pt x="51578" y="204124"/>
                    <a:pt x="60095" y="204124"/>
                    <a:pt x="66979" y="200144"/>
                  </a:cubicBezTo>
                  <a:lnTo>
                    <a:pt x="102122" y="179847"/>
                  </a:lnTo>
                  <a:lnTo>
                    <a:pt x="137262" y="200144"/>
                  </a:lnTo>
                  <a:cubicBezTo>
                    <a:pt x="144148" y="204124"/>
                    <a:pt x="152665" y="204124"/>
                    <a:pt x="159550" y="200144"/>
                  </a:cubicBezTo>
                  <a:lnTo>
                    <a:pt x="193021" y="180802"/>
                  </a:lnTo>
                  <a:cubicBezTo>
                    <a:pt x="199907" y="176823"/>
                    <a:pt x="204164" y="169460"/>
                    <a:pt x="204164" y="161499"/>
                  </a:cubicBezTo>
                  <a:lnTo>
                    <a:pt x="204164" y="122777"/>
                  </a:lnTo>
                  <a:cubicBezTo>
                    <a:pt x="204164" y="114817"/>
                    <a:pt x="199907" y="107455"/>
                    <a:pt x="193021" y="103474"/>
                  </a:cubicBezTo>
                  <a:lnTo>
                    <a:pt x="157878" y="83179"/>
                  </a:lnTo>
                  <a:lnTo>
                    <a:pt x="157878" y="42624"/>
                  </a:lnTo>
                  <a:cubicBezTo>
                    <a:pt x="157878" y="34665"/>
                    <a:pt x="153620" y="27301"/>
                    <a:pt x="146735" y="23321"/>
                  </a:cubicBezTo>
                  <a:lnTo>
                    <a:pt x="113225" y="3980"/>
                  </a:lnTo>
                  <a:close/>
                  <a:moveTo>
                    <a:pt x="92531" y="120946"/>
                  </a:moveTo>
                  <a:lnTo>
                    <a:pt x="92531" y="163331"/>
                  </a:lnTo>
                  <a:lnTo>
                    <a:pt x="57388" y="183628"/>
                  </a:lnTo>
                  <a:cubicBezTo>
                    <a:pt x="56911" y="183907"/>
                    <a:pt x="56355" y="184066"/>
                    <a:pt x="55797" y="184066"/>
                  </a:cubicBezTo>
                  <a:lnTo>
                    <a:pt x="55797" y="142157"/>
                  </a:lnTo>
                  <a:lnTo>
                    <a:pt x="92531" y="120946"/>
                  </a:lnTo>
                  <a:close/>
                  <a:moveTo>
                    <a:pt x="184623" y="121185"/>
                  </a:moveTo>
                  <a:cubicBezTo>
                    <a:pt x="184901" y="121662"/>
                    <a:pt x="185061" y="122220"/>
                    <a:pt x="185061" y="122777"/>
                  </a:cubicBezTo>
                  <a:lnTo>
                    <a:pt x="185061" y="161499"/>
                  </a:lnTo>
                  <a:cubicBezTo>
                    <a:pt x="185061" y="162654"/>
                    <a:pt x="184465" y="163689"/>
                    <a:pt x="183469" y="164246"/>
                  </a:cubicBezTo>
                  <a:lnTo>
                    <a:pt x="149919" y="183589"/>
                  </a:lnTo>
                  <a:cubicBezTo>
                    <a:pt x="149442" y="183867"/>
                    <a:pt x="148886" y="184025"/>
                    <a:pt x="148327" y="184025"/>
                  </a:cubicBezTo>
                  <a:lnTo>
                    <a:pt x="148327" y="142119"/>
                  </a:lnTo>
                  <a:lnTo>
                    <a:pt x="184623" y="121185"/>
                  </a:lnTo>
                  <a:close/>
                  <a:moveTo>
                    <a:pt x="138816" y="42624"/>
                  </a:moveTo>
                  <a:lnTo>
                    <a:pt x="138816" y="83179"/>
                  </a:lnTo>
                  <a:lnTo>
                    <a:pt x="102082" y="104390"/>
                  </a:lnTo>
                  <a:lnTo>
                    <a:pt x="102082" y="62005"/>
                  </a:lnTo>
                  <a:lnTo>
                    <a:pt x="138378" y="41070"/>
                  </a:lnTo>
                  <a:cubicBezTo>
                    <a:pt x="138656" y="41549"/>
                    <a:pt x="138816" y="42106"/>
                    <a:pt x="138816" y="426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02220" y="5571704"/>
              <a:ext cx="1010340" cy="23772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Tensor Operations</a:t>
              </a:r>
              <a:endParaRPr lang="en-US" sz="1100"/>
            </a:p>
          </p:txBody>
        </p:sp>
        <p:sp>
          <p:nvSpPr>
            <p:cNvPr id="14" name="AutoShape 14"/>
            <p:cNvSpPr/>
            <p:nvPr/>
          </p:nvSpPr>
          <p:spPr>
            <a:xfrm>
              <a:off x="545688" y="5911273"/>
              <a:ext cx="5323387" cy="24621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Triton operates on </a:t>
              </a: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tensor</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not individual threads</a:t>
              </a:r>
              <a:endParaRPr lang="en-US" sz="1100"/>
            </a:p>
          </p:txBody>
        </p:sp>
      </p:grpSp>
      <p:sp>
        <p:nvSpPr>
          <p:cNvPr id="15" name="Freeform 15"/>
          <p:cNvSpPr/>
          <p:nvPr/>
        </p:nvSpPr>
        <p:spPr>
          <a:xfrm>
            <a:off x="6267632" y="1256313"/>
            <a:ext cx="5586585" cy="5331877"/>
          </a:xfrm>
          <a:custGeom>
            <a:avLst/>
            <a:gdLst/>
            <a:ahLst/>
            <a:cxnLst/>
            <a:rect l="l" t="t" r="r" b="b"/>
            <a:pathLst>
              <a:path w="5586585" h="5331877">
                <a:moveTo>
                  <a:pt x="101892" y="0"/>
                </a:moveTo>
                <a:lnTo>
                  <a:pt x="5484693" y="0"/>
                </a:lnTo>
                <a:cubicBezTo>
                  <a:pt x="5540966" y="0"/>
                  <a:pt x="5586585" y="45618"/>
                  <a:pt x="5586585" y="101892"/>
                </a:cubicBezTo>
                <a:lnTo>
                  <a:pt x="5586585" y="5229984"/>
                </a:lnTo>
                <a:cubicBezTo>
                  <a:pt x="5586585" y="5286259"/>
                  <a:pt x="5540966" y="5331877"/>
                  <a:pt x="5484693" y="5331877"/>
                </a:cubicBezTo>
                <a:lnTo>
                  <a:pt x="101892" y="5331877"/>
                </a:lnTo>
                <a:cubicBezTo>
                  <a:pt x="45618" y="5331877"/>
                  <a:pt x="0" y="5286259"/>
                  <a:pt x="0" y="5229984"/>
                </a:cubicBezTo>
                <a:lnTo>
                  <a:pt x="0" y="101892"/>
                </a:lnTo>
                <a:cubicBezTo>
                  <a:pt x="0" y="45618"/>
                  <a:pt x="45618" y="0"/>
                  <a:pt x="1018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428923" y="1460054"/>
            <a:ext cx="5263955" cy="237727"/>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Vector vs Scalar Operation Comparison</a:t>
            </a:r>
            <a:endParaRPr lang="en-US" sz="1100"/>
          </a:p>
        </p:txBody>
      </p:sp>
      <p:sp>
        <p:nvSpPr>
          <p:cNvPr id="17" name="Freeform 17"/>
          <p:cNvSpPr/>
          <p:nvPr/>
        </p:nvSpPr>
        <p:spPr>
          <a:xfrm>
            <a:off x="6488270" y="1901530"/>
            <a:ext cx="5161987" cy="2241426"/>
          </a:xfrm>
          <a:custGeom>
            <a:avLst/>
            <a:gdLst/>
            <a:ahLst/>
            <a:cxnLst/>
            <a:rect l="l" t="t" r="r" b="b"/>
            <a:pathLst>
              <a:path w="5161987" h="2241426">
                <a:moveTo>
                  <a:pt x="33792" y="0"/>
                </a:moveTo>
                <a:lnTo>
                  <a:pt x="5094073" y="0"/>
                </a:lnTo>
                <a:cubicBezTo>
                  <a:pt x="5131581" y="0"/>
                  <a:pt x="5161987" y="30408"/>
                  <a:pt x="5161987" y="67915"/>
                </a:cubicBezTo>
                <a:lnTo>
                  <a:pt x="5161987" y="2173511"/>
                </a:lnTo>
                <a:cubicBezTo>
                  <a:pt x="5161987" y="2211020"/>
                  <a:pt x="5131581" y="2241426"/>
                  <a:pt x="5094073" y="2241426"/>
                </a:cubicBezTo>
                <a:lnTo>
                  <a:pt x="33792" y="2241426"/>
                </a:lnTo>
                <a:cubicBezTo>
                  <a:pt x="15130" y="2241426"/>
                  <a:pt x="0" y="2226297"/>
                  <a:pt x="0" y="2207633"/>
                </a:cubicBezTo>
                <a:lnTo>
                  <a:pt x="0" y="33792"/>
                </a:lnTo>
                <a:cubicBezTo>
                  <a:pt x="0" y="15142"/>
                  <a:pt x="15142" y="0"/>
                  <a:pt x="33792"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488270" y="1901530"/>
            <a:ext cx="33792" cy="2241426"/>
          </a:xfrm>
          <a:custGeom>
            <a:avLst/>
            <a:gdLst/>
            <a:ahLst/>
            <a:cxnLst/>
            <a:rect l="l" t="t" r="r" b="b"/>
            <a:pathLst>
              <a:path w="33792" h="2241426">
                <a:moveTo>
                  <a:pt x="33792" y="0"/>
                </a:moveTo>
                <a:lnTo>
                  <a:pt x="33792" y="0"/>
                </a:lnTo>
                <a:lnTo>
                  <a:pt x="33792" y="2241426"/>
                </a:lnTo>
                <a:lnTo>
                  <a:pt x="33792" y="2241426"/>
                </a:lnTo>
                <a:cubicBezTo>
                  <a:pt x="15130" y="2241426"/>
                  <a:pt x="0" y="2226297"/>
                  <a:pt x="0" y="2207633"/>
                </a:cubicBezTo>
                <a:lnTo>
                  <a:pt x="0" y="33792"/>
                </a:lnTo>
                <a:cubicBezTo>
                  <a:pt x="0" y="15142"/>
                  <a:pt x="15142" y="0"/>
                  <a:pt x="33792"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674918" y="2071281"/>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1"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CUDA (Scalar Operations)</a:t>
            </a:r>
            <a:endParaRPr lang="en-US" sz="1100"/>
          </a:p>
        </p:txBody>
      </p:sp>
      <p:sp>
        <p:nvSpPr>
          <p:cNvPr id="20" name="Freeform 20"/>
          <p:cNvSpPr/>
          <p:nvPr/>
        </p:nvSpPr>
        <p:spPr>
          <a:xfrm>
            <a:off x="6691814" y="2308946"/>
            <a:ext cx="4788417" cy="1426362"/>
          </a:xfrm>
          <a:custGeom>
            <a:avLst/>
            <a:gdLst/>
            <a:ahLst/>
            <a:cxnLst/>
            <a:rect l="l" t="t" r="r" b="b"/>
            <a:pathLst>
              <a:path w="4788417" h="1426362">
                <a:moveTo>
                  <a:pt x="33792" y="0"/>
                </a:moveTo>
                <a:lnTo>
                  <a:pt x="4754455" y="0"/>
                </a:lnTo>
                <a:cubicBezTo>
                  <a:pt x="4773212" y="0"/>
                  <a:pt x="4788417" y="15204"/>
                  <a:pt x="4788417" y="33962"/>
                </a:cubicBezTo>
                <a:lnTo>
                  <a:pt x="4788417" y="1392400"/>
                </a:lnTo>
                <a:cubicBezTo>
                  <a:pt x="4788417" y="1411157"/>
                  <a:pt x="4773212" y="1426362"/>
                  <a:pt x="4754455" y="1426362"/>
                </a:cubicBezTo>
                <a:lnTo>
                  <a:pt x="33792" y="1426362"/>
                </a:lnTo>
                <a:cubicBezTo>
                  <a:pt x="15130" y="1426362"/>
                  <a:pt x="0" y="1411233"/>
                  <a:pt x="0" y="1392570"/>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691814" y="2308946"/>
            <a:ext cx="33792" cy="1426362"/>
          </a:xfrm>
          <a:custGeom>
            <a:avLst/>
            <a:gdLst/>
            <a:ahLst/>
            <a:cxnLst/>
            <a:rect l="l" t="t" r="r" b="b"/>
            <a:pathLst>
              <a:path w="33792" h="1426362">
                <a:moveTo>
                  <a:pt x="33792" y="0"/>
                </a:moveTo>
                <a:lnTo>
                  <a:pt x="33792" y="0"/>
                </a:lnTo>
                <a:lnTo>
                  <a:pt x="33792" y="1426362"/>
                </a:lnTo>
                <a:lnTo>
                  <a:pt x="33792" y="1426362"/>
                </a:lnTo>
                <a:cubicBezTo>
                  <a:pt x="15130" y="1426362"/>
                  <a:pt x="0" y="1411233"/>
                  <a:pt x="0" y="1392570"/>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810549" y="2410788"/>
            <a:ext cx="4635677" cy="122259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666666"/>
                </a:solidFill>
                <a:latin typeface="Calibri" panose="020F0502020204030204"/>
                <a:ea typeface="Calibri" panose="020F0502020204030204"/>
                <a:cs typeface="Calibri" panose="020F0502020204030204"/>
                <a:sym typeface="Calibri" panose="020F0502020204030204"/>
              </a:rPr>
              <a:t>// Each thread handles one element</a:t>
            </a:r>
            <a:r>
              <a:rPr lang="en-US" sz="1100" b="1" i="0" u="none" strike="noStrike">
                <a:solidFill>
                  <a:srgbClr val="0066CC"/>
                </a:solidFill>
                <a:latin typeface="Calibri" panose="020F0502020204030204"/>
                <a:ea typeface="Calibri" panose="020F0502020204030204"/>
                <a:cs typeface="Calibri" panose="020F0502020204030204"/>
                <a:sym typeface="Calibri" panose="020F0502020204030204"/>
              </a:rPr>
              <a:t>int</a:t>
            </a: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 idx = blockIdx.x * blockDim.x </a:t>
            </a:r>
            <a:endParaRPr lang="en-US" sz="1100"/>
          </a:p>
          <a:p>
            <a:pPr indent="0" algn="l">
              <a:lnSpc>
                <a:spcPct val="100000"/>
              </a:lnSpc>
            </a:pP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          + threadIdx.x;</a:t>
            </a:r>
            <a:endPar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1" i="0" u="none" strike="noStrike">
                <a:solidFill>
                  <a:srgbClr val="0066CC"/>
                </a:solidFill>
                <a:latin typeface="Calibri" panose="020F0502020204030204"/>
                <a:ea typeface="Calibri" panose="020F0502020204030204"/>
                <a:cs typeface="Calibri" panose="020F0502020204030204"/>
                <a:sym typeface="Calibri" panose="020F0502020204030204"/>
              </a:rPr>
              <a:t>float</a:t>
            </a: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 x = input[idx];</a:t>
            </a:r>
            <a:endPar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1" i="0" u="none" strike="noStrike">
                <a:solidFill>
                  <a:srgbClr val="0066CC"/>
                </a:solidFill>
                <a:latin typeface="Calibri" panose="020F0502020204030204"/>
                <a:ea typeface="Calibri" panose="020F0502020204030204"/>
                <a:cs typeface="Calibri" panose="020F0502020204030204"/>
                <a:sym typeface="Calibri" panose="020F0502020204030204"/>
              </a:rPr>
              <a:t>float</a:t>
            </a: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 y = x * </a:t>
            </a:r>
            <a:r>
              <a:rPr lang="en-US" sz="1100" b="0" i="0" u="none" strike="noStrike">
                <a:solidFill>
                  <a:srgbClr val="009900"/>
                </a:solidFill>
                <a:latin typeface="Calibri" panose="020F0502020204030204"/>
                <a:ea typeface="Calibri" panose="020F0502020204030204"/>
                <a:cs typeface="Calibri" panose="020F0502020204030204"/>
                <a:sym typeface="Calibri" panose="020F0502020204030204"/>
              </a:rPr>
              <a:t>2.0</a:t>
            </a: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a:t>
            </a:r>
            <a:endPar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rPr>
              <a:t>output[idx] = y;</a:t>
            </a:r>
            <a:endParaRPr lang="en-US" sz="1100" b="0" i="0" u="none" strike="noStrike">
              <a:solidFill>
                <a:srgbClr val="1E2939"/>
              </a:solidFill>
              <a:latin typeface="Calibri" panose="020F0502020204030204"/>
              <a:ea typeface="Calibri" panose="020F0502020204030204"/>
              <a:cs typeface="Calibri" panose="020F0502020204030204"/>
              <a:sym typeface="Calibri" panose="020F0502020204030204"/>
            </a:endParaRPr>
          </a:p>
        </p:txBody>
      </p:sp>
      <p:sp>
        <p:nvSpPr>
          <p:cNvPr id="23" name="AutoShape 23"/>
          <p:cNvSpPr/>
          <p:nvPr/>
        </p:nvSpPr>
        <p:spPr>
          <a:xfrm>
            <a:off x="6674918" y="3802990"/>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Each thread handles one scalar value</a:t>
            </a:r>
            <a:endParaRPr lang="en-US" sz="1100"/>
          </a:p>
        </p:txBody>
      </p:sp>
      <p:sp>
        <p:nvSpPr>
          <p:cNvPr id="24" name="Freeform 24"/>
          <p:cNvSpPr/>
          <p:nvPr/>
        </p:nvSpPr>
        <p:spPr>
          <a:xfrm>
            <a:off x="6488270" y="4346237"/>
            <a:ext cx="5161987" cy="2037660"/>
          </a:xfrm>
          <a:custGeom>
            <a:avLst/>
            <a:gdLst/>
            <a:ahLst/>
            <a:cxnLst/>
            <a:rect l="l" t="t" r="r" b="b"/>
            <a:pathLst>
              <a:path w="5161987" h="2037660">
                <a:moveTo>
                  <a:pt x="33792" y="0"/>
                </a:moveTo>
                <a:lnTo>
                  <a:pt x="5094073" y="0"/>
                </a:lnTo>
                <a:cubicBezTo>
                  <a:pt x="5131581" y="0"/>
                  <a:pt x="5161987" y="30408"/>
                  <a:pt x="5161987" y="67915"/>
                </a:cubicBezTo>
                <a:lnTo>
                  <a:pt x="5161987" y="1969745"/>
                </a:lnTo>
                <a:cubicBezTo>
                  <a:pt x="5161987" y="2007253"/>
                  <a:pt x="5131581" y="2037660"/>
                  <a:pt x="5094073" y="2037660"/>
                </a:cubicBezTo>
                <a:lnTo>
                  <a:pt x="33792" y="2037660"/>
                </a:lnTo>
                <a:cubicBezTo>
                  <a:pt x="15130" y="2037660"/>
                  <a:pt x="0" y="2022531"/>
                  <a:pt x="0" y="2003868"/>
                </a:cubicBezTo>
                <a:lnTo>
                  <a:pt x="0" y="33792"/>
                </a:lnTo>
                <a:cubicBezTo>
                  <a:pt x="0" y="15142"/>
                  <a:pt x="15142" y="0"/>
                  <a:pt x="33792"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88270" y="4346237"/>
            <a:ext cx="33792" cy="2037660"/>
          </a:xfrm>
          <a:custGeom>
            <a:avLst/>
            <a:gdLst/>
            <a:ahLst/>
            <a:cxnLst/>
            <a:rect l="l" t="t" r="r" b="b"/>
            <a:pathLst>
              <a:path w="33792" h="2037660">
                <a:moveTo>
                  <a:pt x="33792" y="0"/>
                </a:moveTo>
                <a:lnTo>
                  <a:pt x="33792" y="0"/>
                </a:lnTo>
                <a:lnTo>
                  <a:pt x="33792" y="2037660"/>
                </a:lnTo>
                <a:lnTo>
                  <a:pt x="33792" y="2037660"/>
                </a:lnTo>
                <a:cubicBezTo>
                  <a:pt x="15130" y="2037660"/>
                  <a:pt x="0" y="2022531"/>
                  <a:pt x="0" y="2003868"/>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74918" y="4515988"/>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Triton (Vector Operations)</a:t>
            </a:r>
            <a:endParaRPr lang="en-US" sz="1100"/>
          </a:p>
        </p:txBody>
      </p:sp>
      <p:sp>
        <p:nvSpPr>
          <p:cNvPr id="27" name="Freeform 27"/>
          <p:cNvSpPr/>
          <p:nvPr/>
        </p:nvSpPr>
        <p:spPr>
          <a:xfrm>
            <a:off x="6691814" y="4753657"/>
            <a:ext cx="4788417" cy="1222596"/>
          </a:xfrm>
          <a:custGeom>
            <a:avLst/>
            <a:gdLst/>
            <a:ahLst/>
            <a:cxnLst/>
            <a:rect l="l" t="t" r="r" b="b"/>
            <a:pathLst>
              <a:path w="4788417" h="1222596">
                <a:moveTo>
                  <a:pt x="33792" y="0"/>
                </a:moveTo>
                <a:lnTo>
                  <a:pt x="4754453" y="0"/>
                </a:lnTo>
                <a:cubicBezTo>
                  <a:pt x="4773211" y="0"/>
                  <a:pt x="4788417" y="15206"/>
                  <a:pt x="4788417" y="33964"/>
                </a:cubicBezTo>
                <a:lnTo>
                  <a:pt x="4788417" y="1188632"/>
                </a:lnTo>
                <a:cubicBezTo>
                  <a:pt x="4788417" y="1207390"/>
                  <a:pt x="4773211" y="1222596"/>
                  <a:pt x="4754453" y="1222596"/>
                </a:cubicBezTo>
                <a:lnTo>
                  <a:pt x="33792" y="1222596"/>
                </a:lnTo>
                <a:cubicBezTo>
                  <a:pt x="15130" y="1222596"/>
                  <a:pt x="0" y="1207466"/>
                  <a:pt x="0" y="1188804"/>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6691814" y="4753657"/>
            <a:ext cx="33792" cy="1222596"/>
          </a:xfrm>
          <a:custGeom>
            <a:avLst/>
            <a:gdLst/>
            <a:ahLst/>
            <a:cxnLst/>
            <a:rect l="l" t="t" r="r" b="b"/>
            <a:pathLst>
              <a:path w="33792" h="1222596">
                <a:moveTo>
                  <a:pt x="33792" y="0"/>
                </a:moveTo>
                <a:lnTo>
                  <a:pt x="33792" y="0"/>
                </a:lnTo>
                <a:lnTo>
                  <a:pt x="33792" y="1222596"/>
                </a:lnTo>
                <a:lnTo>
                  <a:pt x="33792" y="1222596"/>
                </a:lnTo>
                <a:cubicBezTo>
                  <a:pt x="15130" y="1222596"/>
                  <a:pt x="0" y="1207466"/>
                  <a:pt x="0" y="1188804"/>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6810549" y="4855495"/>
            <a:ext cx="4635677" cy="101883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Each program handles one vector</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a:t>
            </a:r>
            <a:r>
              <a:rPr lang="en-US" sz="11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x = tl.load(ptr + offsets)</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y = x * </a:t>
            </a:r>
            <a:r>
              <a:rPr lang="en-US" sz="11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1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tl.store(out_ptr + offsets, y)</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6674918" y="6043960"/>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Each program handles one vector (multiple elements)</a:t>
            </a:r>
            <a:endParaRPr lang="en-US" sz="1100"/>
          </a:p>
        </p:txBody>
      </p:sp>
      <p:pic>
        <p:nvPicPr>
          <p:cNvPr id="31" name="Picture 31"/>
          <p:cNvPicPr>
            <a:picLocks noChangeAspect="1"/>
          </p:cNvPicPr>
          <p:nvPr/>
        </p:nvPicPr>
        <p:blipFill>
          <a:blip r:embed="rId1"/>
          <a:srcRect/>
          <a:stretch>
            <a:fillRect/>
          </a:stretch>
        </p:blipFill>
        <p:spPr>
          <a:xfrm>
            <a:off x="373213" y="1516155"/>
            <a:ext cx="5586585" cy="144986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8595" y="600050"/>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mask  Role</a:t>
            </a:r>
            <a:endParaRPr lang="en-US" sz="1100"/>
          </a:p>
        </p:txBody>
      </p:sp>
      <p:grpSp>
        <p:nvGrpSpPr>
          <p:cNvPr id="3" name="Group 3"/>
          <p:cNvGrpSpPr/>
          <p:nvPr/>
        </p:nvGrpSpPr>
        <p:grpSpPr>
          <a:xfrm>
            <a:off x="333259" y="1451391"/>
            <a:ext cx="5635546" cy="635000"/>
            <a:chOff x="333259" y="1451391"/>
            <a:chExt cx="5635546" cy="635000"/>
          </a:xfrm>
        </p:grpSpPr>
        <p:sp>
          <p:nvSpPr>
            <p:cNvPr id="4" name="Freeform 4"/>
            <p:cNvSpPr/>
            <p:nvPr/>
          </p:nvSpPr>
          <p:spPr>
            <a:xfrm>
              <a:off x="333259" y="1451391"/>
              <a:ext cx="5635546" cy="635000"/>
            </a:xfrm>
            <a:custGeom>
              <a:avLst/>
              <a:gdLst/>
              <a:ahLst/>
              <a:cxnLst/>
              <a:rect l="l" t="t" r="r" b="b"/>
              <a:pathLst>
                <a:path w="5635546" h="635000">
                  <a:moveTo>
                    <a:pt x="31593" y="0"/>
                  </a:moveTo>
                  <a:lnTo>
                    <a:pt x="5540296" y="0"/>
                  </a:lnTo>
                  <a:cubicBezTo>
                    <a:pt x="5592865" y="0"/>
                    <a:pt x="5635546" y="42680"/>
                    <a:pt x="5635546" y="95250"/>
                  </a:cubicBezTo>
                  <a:lnTo>
                    <a:pt x="5635546" y="539750"/>
                  </a:lnTo>
                  <a:cubicBezTo>
                    <a:pt x="5635546" y="592320"/>
                    <a:pt x="5592865" y="635000"/>
                    <a:pt x="5540296" y="635000"/>
                  </a:cubicBezTo>
                  <a:lnTo>
                    <a:pt x="31593" y="635000"/>
                  </a:lnTo>
                  <a:cubicBezTo>
                    <a:pt x="14144" y="635000"/>
                    <a:pt x="0" y="620856"/>
                    <a:pt x="0" y="603407"/>
                  </a:cubicBezTo>
                  <a:lnTo>
                    <a:pt x="0" y="31593"/>
                  </a:lnTo>
                  <a:cubicBezTo>
                    <a:pt x="0" y="14155"/>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33259" y="1451391"/>
              <a:ext cx="31593" cy="635000"/>
            </a:xfrm>
            <a:custGeom>
              <a:avLst/>
              <a:gdLst/>
              <a:ahLst/>
              <a:cxnLst/>
              <a:rect l="l" t="t" r="r" b="b"/>
              <a:pathLst>
                <a:path w="31593" h="635000">
                  <a:moveTo>
                    <a:pt x="31593" y="0"/>
                  </a:moveTo>
                  <a:lnTo>
                    <a:pt x="31593" y="0"/>
                  </a:lnTo>
                  <a:lnTo>
                    <a:pt x="31593" y="635000"/>
                  </a:lnTo>
                  <a:lnTo>
                    <a:pt x="31593" y="635000"/>
                  </a:lnTo>
                  <a:cubicBezTo>
                    <a:pt x="14144" y="635000"/>
                    <a:pt x="0" y="620856"/>
                    <a:pt x="0" y="603407"/>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539533" y="1641872"/>
              <a:ext cx="5318125" cy="26193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3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mask = offsets &lt; n_elements</a:t>
              </a:r>
              <a:endParaRPr lang="en-US" sz="1100"/>
            </a:p>
          </p:txBody>
        </p:sp>
      </p:grpSp>
      <p:grpSp>
        <p:nvGrpSpPr>
          <p:cNvPr id="7" name="Group 7"/>
          <p:cNvGrpSpPr/>
          <p:nvPr/>
        </p:nvGrpSpPr>
        <p:grpSpPr>
          <a:xfrm>
            <a:off x="333259" y="2237056"/>
            <a:ext cx="5635546" cy="928688"/>
            <a:chOff x="333259" y="2237056"/>
            <a:chExt cx="5635546" cy="928688"/>
          </a:xfrm>
        </p:grpSpPr>
        <p:sp>
          <p:nvSpPr>
            <p:cNvPr id="8" name="Freeform 8"/>
            <p:cNvSpPr/>
            <p:nvPr/>
          </p:nvSpPr>
          <p:spPr>
            <a:xfrm>
              <a:off x="333259" y="2237056"/>
              <a:ext cx="5635546" cy="928688"/>
            </a:xfrm>
            <a:custGeom>
              <a:avLst/>
              <a:gdLst/>
              <a:ahLst/>
              <a:cxnLst/>
              <a:rect l="l" t="t" r="r" b="b"/>
              <a:pathLst>
                <a:path w="5635546" h="928688">
                  <a:moveTo>
                    <a:pt x="31593" y="0"/>
                  </a:moveTo>
                  <a:lnTo>
                    <a:pt x="5540300" y="0"/>
                  </a:lnTo>
                  <a:cubicBezTo>
                    <a:pt x="5592903" y="0"/>
                    <a:pt x="5635546" y="42643"/>
                    <a:pt x="5635546" y="95246"/>
                  </a:cubicBezTo>
                  <a:lnTo>
                    <a:pt x="5635546" y="833441"/>
                  </a:lnTo>
                  <a:cubicBezTo>
                    <a:pt x="5635546" y="886043"/>
                    <a:pt x="5592903" y="928688"/>
                    <a:pt x="5540300" y="928688"/>
                  </a:cubicBezTo>
                  <a:lnTo>
                    <a:pt x="31593" y="928688"/>
                  </a:lnTo>
                  <a:cubicBezTo>
                    <a:pt x="14144" y="928688"/>
                    <a:pt x="0" y="914544"/>
                    <a:pt x="0" y="897095"/>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33259" y="2237056"/>
              <a:ext cx="31593" cy="928688"/>
            </a:xfrm>
            <a:custGeom>
              <a:avLst/>
              <a:gdLst/>
              <a:ahLst/>
              <a:cxnLst/>
              <a:rect l="l" t="t" r="r" b="b"/>
              <a:pathLst>
                <a:path w="31593" h="928688">
                  <a:moveTo>
                    <a:pt x="31593" y="0"/>
                  </a:moveTo>
                  <a:lnTo>
                    <a:pt x="31593" y="0"/>
                  </a:lnTo>
                  <a:lnTo>
                    <a:pt x="31593" y="928688"/>
                  </a:lnTo>
                  <a:lnTo>
                    <a:pt x="31593" y="928688"/>
                  </a:lnTo>
                  <a:cubicBezTo>
                    <a:pt x="14144" y="928688"/>
                    <a:pt x="0" y="914544"/>
                    <a:pt x="0" y="897095"/>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69297" y="2443392"/>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A6A6A6">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872854" y="2427537"/>
              <a:ext cx="714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Core Role</a:t>
              </a:r>
              <a:endParaRPr lang="en-US" sz="1100"/>
            </a:p>
          </p:txBody>
        </p:sp>
        <p:sp>
          <p:nvSpPr>
            <p:cNvPr id="12" name="AutoShape 12"/>
            <p:cNvSpPr/>
            <p:nvPr/>
          </p:nvSpPr>
          <p:spPr>
            <a:xfrm>
              <a:off x="539533" y="2744998"/>
              <a:ext cx="5310188" cy="23018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100" b="1"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Prevent the last block from going out of bounds</a:t>
              </a:r>
              <a:r>
                <a:rPr lang="en-US" sz="1100" b="0"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accessing memory</a:t>
              </a:r>
              <a:endParaRPr lang="en-US" sz="1100"/>
            </a:p>
          </p:txBody>
        </p:sp>
      </p:grpSp>
      <p:sp>
        <p:nvSpPr>
          <p:cNvPr id="13" name="Freeform 13"/>
          <p:cNvSpPr/>
          <p:nvPr/>
        </p:nvSpPr>
        <p:spPr>
          <a:xfrm>
            <a:off x="6222953" y="1174517"/>
            <a:ext cx="5651500" cy="1079500"/>
          </a:xfrm>
          <a:custGeom>
            <a:avLst/>
            <a:gdLst/>
            <a:ahLst/>
            <a:cxnLst/>
            <a:rect l="l" t="t" r="r" b="b"/>
            <a:pathLst>
              <a:path w="5651500" h="1079500">
                <a:moveTo>
                  <a:pt x="63496" y="0"/>
                </a:moveTo>
                <a:lnTo>
                  <a:pt x="5588004" y="0"/>
                </a:lnTo>
                <a:cubicBezTo>
                  <a:pt x="5623072" y="0"/>
                  <a:pt x="5651500" y="28428"/>
                  <a:pt x="5651500" y="63496"/>
                </a:cubicBezTo>
                <a:lnTo>
                  <a:pt x="5651500" y="1016004"/>
                </a:lnTo>
                <a:cubicBezTo>
                  <a:pt x="5651500" y="1051072"/>
                  <a:pt x="5623072" y="1079500"/>
                  <a:pt x="5588004" y="1079500"/>
                </a:cubicBezTo>
                <a:lnTo>
                  <a:pt x="63496" y="1079500"/>
                </a:lnTo>
                <a:cubicBezTo>
                  <a:pt x="28428" y="1079500"/>
                  <a:pt x="0" y="1051072"/>
                  <a:pt x="0" y="1016004"/>
                </a:cubicBezTo>
                <a:lnTo>
                  <a:pt x="0" y="63496"/>
                </a:lnTo>
                <a:cubicBezTo>
                  <a:pt x="0" y="28452"/>
                  <a:pt x="28452" y="0"/>
                  <a:pt x="634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05466" y="1349077"/>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6"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714974" y="1333221"/>
            <a:ext cx="2576312"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When offsets ≥ n_elements</a:t>
            </a:r>
            <a:endParaRPr lang="en-US" sz="1100"/>
          </a:p>
        </p:txBody>
      </p:sp>
      <p:sp>
        <p:nvSpPr>
          <p:cNvPr id="16" name="AutoShape 16"/>
          <p:cNvSpPr/>
          <p:nvPr/>
        </p:nvSpPr>
        <p:spPr>
          <a:xfrm>
            <a:off x="6381654" y="1650682"/>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0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load</a:t>
            </a: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does not access memory</a:t>
            </a:r>
            <a:endParaRPr lang="en-US" sz="1100"/>
          </a:p>
        </p:txBody>
      </p:sp>
      <p:sp>
        <p:nvSpPr>
          <p:cNvPr id="17" name="AutoShape 17"/>
          <p:cNvSpPr/>
          <p:nvPr/>
        </p:nvSpPr>
        <p:spPr>
          <a:xfrm>
            <a:off x="6381654" y="1904655"/>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0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store</a:t>
            </a: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does not write to memory</a:t>
            </a:r>
            <a:endParaRPr lang="en-US" sz="1100"/>
          </a:p>
        </p:txBody>
      </p:sp>
      <p:sp>
        <p:nvSpPr>
          <p:cNvPr id="18" name="Freeform 18"/>
          <p:cNvSpPr/>
          <p:nvPr/>
        </p:nvSpPr>
        <p:spPr>
          <a:xfrm>
            <a:off x="6222953" y="2380816"/>
            <a:ext cx="5651500" cy="1079500"/>
          </a:xfrm>
          <a:custGeom>
            <a:avLst/>
            <a:gdLst/>
            <a:ahLst/>
            <a:cxnLst/>
            <a:rect l="l" t="t" r="r" b="b"/>
            <a:pathLst>
              <a:path w="5651500" h="1079500">
                <a:moveTo>
                  <a:pt x="63496" y="0"/>
                </a:moveTo>
                <a:lnTo>
                  <a:pt x="5588004" y="0"/>
                </a:lnTo>
                <a:cubicBezTo>
                  <a:pt x="5623072" y="0"/>
                  <a:pt x="5651500" y="28428"/>
                  <a:pt x="5651500" y="63496"/>
                </a:cubicBezTo>
                <a:lnTo>
                  <a:pt x="5651500" y="1016004"/>
                </a:lnTo>
                <a:cubicBezTo>
                  <a:pt x="5651500" y="1051072"/>
                  <a:pt x="5623072" y="1079500"/>
                  <a:pt x="5588004" y="1079500"/>
                </a:cubicBezTo>
                <a:lnTo>
                  <a:pt x="63496" y="1079500"/>
                </a:lnTo>
                <a:cubicBezTo>
                  <a:pt x="28428" y="1079500"/>
                  <a:pt x="0" y="1051072"/>
                  <a:pt x="0" y="1016004"/>
                </a:cubicBezTo>
                <a:lnTo>
                  <a:pt x="0" y="63496"/>
                </a:lnTo>
                <a:cubicBezTo>
                  <a:pt x="0" y="28452"/>
                  <a:pt x="28452" y="0"/>
                  <a:pt x="634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405466" y="25553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A63E">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14974" y="2539516"/>
            <a:ext cx="2177413"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When offsets &lt; n_elements</a:t>
            </a:r>
            <a:endParaRPr lang="en-US" sz="1100"/>
          </a:p>
        </p:txBody>
      </p:sp>
      <p:sp>
        <p:nvSpPr>
          <p:cNvPr id="21" name="AutoShape 21"/>
          <p:cNvSpPr/>
          <p:nvPr/>
        </p:nvSpPr>
        <p:spPr>
          <a:xfrm>
            <a:off x="6381654" y="2856981"/>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0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load</a:t>
            </a: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reads data normally</a:t>
            </a:r>
            <a:endParaRPr lang="en-US" sz="1100"/>
          </a:p>
        </p:txBody>
      </p:sp>
      <p:sp>
        <p:nvSpPr>
          <p:cNvPr id="22" name="AutoShape 22"/>
          <p:cNvSpPr/>
          <p:nvPr/>
        </p:nvSpPr>
        <p:spPr>
          <a:xfrm>
            <a:off x="6381654" y="3110950"/>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0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store</a:t>
            </a: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writes results normally</a:t>
            </a:r>
            <a:endParaRPr lang="en-US" sz="1100"/>
          </a:p>
        </p:txBody>
      </p:sp>
      <p:grpSp>
        <p:nvGrpSpPr>
          <p:cNvPr id="23" name="Group 23"/>
          <p:cNvGrpSpPr/>
          <p:nvPr/>
        </p:nvGrpSpPr>
        <p:grpSpPr>
          <a:xfrm>
            <a:off x="317463" y="3650607"/>
            <a:ext cx="11557000" cy="2625938"/>
            <a:chOff x="317463" y="3650607"/>
            <a:chExt cx="11557000" cy="2625938"/>
          </a:xfrm>
        </p:grpSpPr>
        <p:sp>
          <p:nvSpPr>
            <p:cNvPr id="24" name="Freeform 24"/>
            <p:cNvSpPr/>
            <p:nvPr/>
          </p:nvSpPr>
          <p:spPr>
            <a:xfrm>
              <a:off x="317463" y="3650607"/>
              <a:ext cx="11557000" cy="2625938"/>
            </a:xfrm>
            <a:custGeom>
              <a:avLst/>
              <a:gdLst/>
              <a:ahLst/>
              <a:cxnLst/>
              <a:rect l="l" t="t" r="r" b="b"/>
              <a:pathLst>
                <a:path w="11557000" h="2625938">
                  <a:moveTo>
                    <a:pt x="95240" y="0"/>
                  </a:moveTo>
                  <a:lnTo>
                    <a:pt x="11461760" y="0"/>
                  </a:lnTo>
                  <a:cubicBezTo>
                    <a:pt x="11514360" y="0"/>
                    <a:pt x="11557000" y="32355"/>
                    <a:pt x="11557000" y="72266"/>
                  </a:cubicBezTo>
                  <a:lnTo>
                    <a:pt x="11557000" y="2553672"/>
                  </a:lnTo>
                  <a:cubicBezTo>
                    <a:pt x="11557000" y="2593584"/>
                    <a:pt x="11514360" y="2625938"/>
                    <a:pt x="11461760" y="2625938"/>
                  </a:cubicBezTo>
                  <a:lnTo>
                    <a:pt x="95240" y="2625938"/>
                  </a:lnTo>
                  <a:cubicBezTo>
                    <a:pt x="42640" y="2625938"/>
                    <a:pt x="0" y="2593584"/>
                    <a:pt x="0" y="2553672"/>
                  </a:cubicBezTo>
                  <a:lnTo>
                    <a:pt x="0" y="72266"/>
                  </a:lnTo>
                  <a:cubicBezTo>
                    <a:pt x="0" y="32381"/>
                    <a:pt x="42676" y="0"/>
                    <a:pt x="9524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507941" y="3841083"/>
              <a:ext cx="11255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 Usage Example</a:t>
              </a:r>
              <a:endParaRPr lang="en-US" sz="1100"/>
            </a:p>
          </p:txBody>
        </p:sp>
        <p:sp>
          <p:nvSpPr>
            <p:cNvPr id="26" name="Freeform 26"/>
            <p:cNvSpPr/>
            <p:nvPr/>
          </p:nvSpPr>
          <p:spPr>
            <a:xfrm>
              <a:off x="523737" y="4190326"/>
              <a:ext cx="11160046" cy="1903628"/>
            </a:xfrm>
            <a:custGeom>
              <a:avLst/>
              <a:gdLst/>
              <a:ahLst/>
              <a:cxnLst/>
              <a:rect l="l" t="t" r="r" b="b"/>
              <a:pathLst>
                <a:path w="11160046" h="1903628">
                  <a:moveTo>
                    <a:pt x="31593" y="0"/>
                  </a:moveTo>
                  <a:lnTo>
                    <a:pt x="11096535" y="0"/>
                  </a:lnTo>
                  <a:cubicBezTo>
                    <a:pt x="11131611" y="0"/>
                    <a:pt x="11160046" y="19825"/>
                    <a:pt x="11160046" y="44279"/>
                  </a:cubicBezTo>
                  <a:lnTo>
                    <a:pt x="11160046" y="1859350"/>
                  </a:lnTo>
                  <a:cubicBezTo>
                    <a:pt x="11160046" y="1883804"/>
                    <a:pt x="11131611" y="1903628"/>
                    <a:pt x="11096535" y="1903628"/>
                  </a:cubicBezTo>
                  <a:lnTo>
                    <a:pt x="31593" y="1903628"/>
                  </a:lnTo>
                  <a:cubicBezTo>
                    <a:pt x="14144" y="1903628"/>
                    <a:pt x="0" y="1893767"/>
                    <a:pt x="0" y="1881603"/>
                  </a:cubicBezTo>
                  <a:lnTo>
                    <a:pt x="0" y="22026"/>
                  </a:lnTo>
                  <a:cubicBezTo>
                    <a:pt x="0" y="9869"/>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Freeform 27"/>
            <p:cNvSpPr/>
            <p:nvPr/>
          </p:nvSpPr>
          <p:spPr>
            <a:xfrm>
              <a:off x="523736" y="4190326"/>
              <a:ext cx="45719" cy="1854533"/>
            </a:xfrm>
            <a:custGeom>
              <a:avLst/>
              <a:gdLst/>
              <a:ahLst/>
              <a:cxnLst/>
              <a:rect l="l" t="t" r="r" b="b"/>
              <a:pathLst>
                <a:path w="45719" h="1854533">
                  <a:moveTo>
                    <a:pt x="45719" y="0"/>
                  </a:moveTo>
                  <a:lnTo>
                    <a:pt x="45719" y="0"/>
                  </a:lnTo>
                  <a:lnTo>
                    <a:pt x="45719" y="1854533"/>
                  </a:lnTo>
                  <a:lnTo>
                    <a:pt x="45719" y="1854533"/>
                  </a:lnTo>
                  <a:cubicBezTo>
                    <a:pt x="20469" y="1854533"/>
                    <a:pt x="0" y="1844926"/>
                    <a:pt x="0" y="1833076"/>
                  </a:cubicBezTo>
                  <a:lnTo>
                    <a:pt x="0" y="21457"/>
                  </a:lnTo>
                  <a:cubicBezTo>
                    <a:pt x="0" y="9615"/>
                    <a:pt x="20486" y="0"/>
                    <a:pt x="4571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66518" y="3800045"/>
              <a:ext cx="10953750" cy="2476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Create mask</a:t>
              </a:r>
              <a:endParaRPr lang="en-US" sz="1100"/>
            </a:p>
            <a:p>
              <a:pPr indent="0" algn="l">
                <a:lnSpc>
                  <a:spcPct val="100000"/>
                </a:lnSpc>
              </a:pP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mask = offsets &lt; n_elements</a:t>
              </a:r>
              <a:endPar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load operation with mask</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x = tl.load(x_ptr + offsets, </a:t>
              </a:r>
              <a:r>
                <a:rPr lang="en-US" sz="1000" b="1" i="0" u="none" strike="noStrike">
                  <a:solidFill>
                    <a:srgbClr val="8B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mask=mask</a:t>
              </a: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y = tl.load(y_ptr + offsets, </a:t>
              </a:r>
              <a:r>
                <a:rPr lang="en-US" sz="1000" b="1" i="0" u="none" strike="noStrike">
                  <a:solidFill>
                    <a:srgbClr val="8B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mask=mask</a:t>
              </a: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Compute</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output = x + y</a:t>
              </a:r>
              <a:endPar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 store operation with mask</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tl.store(output_ptr + offsets, output, </a:t>
              </a:r>
              <a:r>
                <a:rPr lang="en-US" sz="1000" b="1" i="0" u="none" strike="noStrike">
                  <a:solidFill>
                    <a:srgbClr val="8B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mask=mask</a:t>
              </a:r>
              <a:r>
                <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1E293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25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 How It WorksExample</a:t>
            </a:r>
            <a:endParaRPr lang="en-US" sz="1100"/>
          </a:p>
        </p:txBody>
      </p:sp>
      <p:grpSp>
        <p:nvGrpSpPr>
          <p:cNvPr id="3" name="Group 3"/>
          <p:cNvGrpSpPr/>
          <p:nvPr/>
        </p:nvGrpSpPr>
        <p:grpSpPr>
          <a:xfrm>
            <a:off x="380956" y="1409793"/>
            <a:ext cx="11430000" cy="1714500"/>
            <a:chOff x="380956" y="1409793"/>
            <a:chExt cx="11430000" cy="1714500"/>
          </a:xfrm>
        </p:grpSpPr>
        <p:sp>
          <p:nvSpPr>
            <p:cNvPr id="4" name="Freeform 4"/>
            <p:cNvSpPr/>
            <p:nvPr/>
          </p:nvSpPr>
          <p:spPr>
            <a:xfrm>
              <a:off x="380956" y="1409793"/>
              <a:ext cx="11430000" cy="1714500"/>
            </a:xfrm>
            <a:custGeom>
              <a:avLst/>
              <a:gdLst/>
              <a:ahLst/>
              <a:cxnLst/>
              <a:rect l="l" t="t" r="r" b="b"/>
              <a:pathLst>
                <a:path w="11430000" h="1714500">
                  <a:moveTo>
                    <a:pt x="114306" y="0"/>
                  </a:moveTo>
                  <a:lnTo>
                    <a:pt x="11315694" y="0"/>
                  </a:lnTo>
                  <a:cubicBezTo>
                    <a:pt x="11378824" y="0"/>
                    <a:pt x="11430000" y="51176"/>
                    <a:pt x="11430000" y="114306"/>
                  </a:cubicBezTo>
                  <a:lnTo>
                    <a:pt x="11430000" y="1600194"/>
                  </a:lnTo>
                  <a:cubicBezTo>
                    <a:pt x="11430000" y="1663324"/>
                    <a:pt x="11378824" y="1714500"/>
                    <a:pt x="11315694"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1638365"/>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Assumed Conditions</a:t>
              </a:r>
              <a:endParaRPr lang="en-US" sz="1100"/>
            </a:p>
          </p:txBody>
        </p:sp>
        <p:sp>
          <p:nvSpPr>
            <p:cNvPr id="6" name="Freeform 6"/>
            <p:cNvSpPr/>
            <p:nvPr/>
          </p:nvSpPr>
          <p:spPr>
            <a:xfrm>
              <a:off x="628484" y="2057456"/>
              <a:ext cx="5486305" cy="838200"/>
            </a:xfrm>
            <a:custGeom>
              <a:avLst/>
              <a:gdLst/>
              <a:ahLst/>
              <a:cxnLst/>
              <a:rect l="l" t="t" r="r" b="b"/>
              <a:pathLst>
                <a:path w="5486305" h="838200">
                  <a:moveTo>
                    <a:pt x="37910" y="0"/>
                  </a:moveTo>
                  <a:lnTo>
                    <a:pt x="5410103" y="0"/>
                  </a:lnTo>
                  <a:cubicBezTo>
                    <a:pt x="5452189" y="0"/>
                    <a:pt x="5486305" y="34116"/>
                    <a:pt x="5486305" y="76201"/>
                  </a:cubicBezTo>
                  <a:lnTo>
                    <a:pt x="5486305" y="761999"/>
                  </a:lnTo>
                  <a:cubicBezTo>
                    <a:pt x="5486305" y="804084"/>
                    <a:pt x="5452189" y="838200"/>
                    <a:pt x="5410103" y="838200"/>
                  </a:cubicBezTo>
                  <a:lnTo>
                    <a:pt x="37910" y="838200"/>
                  </a:lnTo>
                  <a:cubicBezTo>
                    <a:pt x="16974" y="838200"/>
                    <a:pt x="0" y="821226"/>
                    <a:pt x="0" y="8002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057456"/>
              <a:ext cx="37909" cy="838200"/>
            </a:xfrm>
            <a:custGeom>
              <a:avLst/>
              <a:gdLst/>
              <a:ahLst/>
              <a:cxnLst/>
              <a:rect l="l" t="t" r="r" b="b"/>
              <a:pathLst>
                <a:path w="37909" h="838200">
                  <a:moveTo>
                    <a:pt x="37910" y="0"/>
                  </a:moveTo>
                  <a:lnTo>
                    <a:pt x="37910" y="0"/>
                  </a:lnTo>
                  <a:lnTo>
                    <a:pt x="37910" y="838200"/>
                  </a:lnTo>
                  <a:lnTo>
                    <a:pt x="37910" y="838200"/>
                  </a:lnTo>
                  <a:cubicBezTo>
                    <a:pt x="16974" y="838200"/>
                    <a:pt x="0" y="821226"/>
                    <a:pt x="0" y="8002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99822" y="2209837"/>
              <a:ext cx="5248275" cy="5334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a:t>
              </a:r>
              <a:r>
                <a:rPr lang="en-US" sz="1400"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sz="1100"/>
            </a:p>
            <a:p>
              <a:pPr indent="0" algn="l">
                <a:lnSpc>
                  <a:spcPct val="100000"/>
                </a:lnSpc>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a:t>
              </a:r>
              <a:r>
                <a:rPr lang="en-US" sz="1400"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1024</a:t>
              </a:r>
              <a:endParaRPr lang="en-US" sz="1400"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6419675" y="2209837"/>
              <a:ext cx="52482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Vector has 1000 elements, but each block processes 1024 — the last block exceeds the boundary</a:t>
              </a:r>
              <a:endParaRPr lang="en-US" sz="1100"/>
            </a:p>
          </p:txBody>
        </p:sp>
      </p:grpSp>
      <p:grpSp>
        <p:nvGrpSpPr>
          <p:cNvPr id="10" name="Group 10"/>
          <p:cNvGrpSpPr/>
          <p:nvPr/>
        </p:nvGrpSpPr>
        <p:grpSpPr>
          <a:xfrm>
            <a:off x="380956" y="3352777"/>
            <a:ext cx="11430000" cy="2819400"/>
            <a:chOff x="380956" y="3352777"/>
            <a:chExt cx="11430000" cy="2819400"/>
          </a:xfrm>
        </p:grpSpPr>
        <p:sp>
          <p:nvSpPr>
            <p:cNvPr id="11" name="Freeform 11"/>
            <p:cNvSpPr/>
            <p:nvPr/>
          </p:nvSpPr>
          <p:spPr>
            <a:xfrm>
              <a:off x="380956" y="3352777"/>
              <a:ext cx="11430000" cy="2819400"/>
            </a:xfrm>
            <a:custGeom>
              <a:avLst/>
              <a:gdLst/>
              <a:ahLst/>
              <a:cxnLst/>
              <a:rect l="l" t="t" r="r" b="b"/>
              <a:pathLst>
                <a:path w="11430000" h="2819400">
                  <a:moveTo>
                    <a:pt x="114297" y="0"/>
                  </a:moveTo>
                  <a:lnTo>
                    <a:pt x="11315703" y="0"/>
                  </a:lnTo>
                  <a:cubicBezTo>
                    <a:pt x="11378827" y="0"/>
                    <a:pt x="11430000" y="51173"/>
                    <a:pt x="11430000" y="114297"/>
                  </a:cubicBezTo>
                  <a:lnTo>
                    <a:pt x="11430000" y="2705103"/>
                  </a:lnTo>
                  <a:cubicBezTo>
                    <a:pt x="11430000" y="2768227"/>
                    <a:pt x="11378827" y="2819400"/>
                    <a:pt x="11315703" y="2819400"/>
                  </a:cubicBezTo>
                  <a:lnTo>
                    <a:pt x="114297" y="2819400"/>
                  </a:lnTo>
                  <a:cubicBezTo>
                    <a:pt x="51173" y="2819400"/>
                    <a:pt x="0" y="2768227"/>
                    <a:pt x="0" y="2705103"/>
                  </a:cubicBezTo>
                  <a:lnTo>
                    <a:pt x="0" y="114297"/>
                  </a:lnTo>
                  <a:cubicBezTo>
                    <a:pt x="0" y="51173"/>
                    <a:pt x="51173" y="0"/>
                    <a:pt x="1142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581353"/>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Last block (program_id = 0, only one block)</a:t>
              </a:r>
              <a:endParaRPr lang="en-US" sz="1100"/>
            </a:p>
          </p:txBody>
        </p:sp>
        <p:sp>
          <p:nvSpPr>
            <p:cNvPr id="13" name="AutoShape 13"/>
            <p:cNvSpPr/>
            <p:nvPr/>
          </p:nvSpPr>
          <p:spPr>
            <a:xfrm>
              <a:off x="609529" y="4000440"/>
              <a:ext cx="545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offsets array</a:t>
              </a:r>
              <a:endParaRPr lang="en-US" sz="1100"/>
            </a:p>
          </p:txBody>
        </p:sp>
        <p:sp>
          <p:nvSpPr>
            <p:cNvPr id="14" name="Freeform 14"/>
            <p:cNvSpPr/>
            <p:nvPr/>
          </p:nvSpPr>
          <p:spPr>
            <a:xfrm>
              <a:off x="609529" y="4381398"/>
              <a:ext cx="5372100" cy="876300"/>
            </a:xfrm>
            <a:custGeom>
              <a:avLst/>
              <a:gdLst/>
              <a:ahLst/>
              <a:cxnLst/>
              <a:rect l="l" t="t" r="r" b="b"/>
              <a:pathLst>
                <a:path w="5372100" h="876300">
                  <a:moveTo>
                    <a:pt x="76203" y="0"/>
                  </a:moveTo>
                  <a:lnTo>
                    <a:pt x="5295897" y="0"/>
                  </a:lnTo>
                  <a:cubicBezTo>
                    <a:pt x="5337983" y="0"/>
                    <a:pt x="5372100" y="34117"/>
                    <a:pt x="5372100" y="76203"/>
                  </a:cubicBezTo>
                  <a:lnTo>
                    <a:pt x="5372100" y="800097"/>
                  </a:lnTo>
                  <a:cubicBezTo>
                    <a:pt x="5372100" y="842183"/>
                    <a:pt x="5337983" y="876300"/>
                    <a:pt x="5295897" y="876300"/>
                  </a:cubicBezTo>
                  <a:lnTo>
                    <a:pt x="76203" y="876300"/>
                  </a:lnTo>
                  <a:cubicBezTo>
                    <a:pt x="34117" y="876300"/>
                    <a:pt x="0" y="842183"/>
                    <a:pt x="0" y="8000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76191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2381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0</a:t>
              </a:r>
              <a:endParaRPr lang="en-US" sz="1100"/>
            </a:p>
          </p:txBody>
        </p:sp>
        <p:sp>
          <p:nvSpPr>
            <p:cNvPr id="17" name="Freeform 17"/>
            <p:cNvSpPr/>
            <p:nvPr/>
          </p:nvSpPr>
          <p:spPr>
            <a:xfrm>
              <a:off x="140009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36199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9" name="Freeform 19"/>
            <p:cNvSpPr/>
            <p:nvPr/>
          </p:nvSpPr>
          <p:spPr>
            <a:xfrm>
              <a:off x="2038279"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2000179"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1" name="Freeform 21"/>
            <p:cNvSpPr/>
            <p:nvPr/>
          </p:nvSpPr>
          <p:spPr>
            <a:xfrm>
              <a:off x="2676463"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2638363"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3314647"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276547"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998</a:t>
              </a:r>
              <a:endParaRPr lang="en-US" sz="1100"/>
            </a:p>
          </p:txBody>
        </p:sp>
        <p:sp>
          <p:nvSpPr>
            <p:cNvPr id="25" name="Freeform 25"/>
            <p:cNvSpPr/>
            <p:nvPr/>
          </p:nvSpPr>
          <p:spPr>
            <a:xfrm>
              <a:off x="395283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391473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999</a:t>
              </a:r>
              <a:endParaRPr lang="en-US" sz="1100"/>
            </a:p>
          </p:txBody>
        </p:sp>
        <p:sp>
          <p:nvSpPr>
            <p:cNvPr id="27" name="Freeform 27"/>
            <p:cNvSpPr/>
            <p:nvPr/>
          </p:nvSpPr>
          <p:spPr>
            <a:xfrm>
              <a:off x="4591014"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4552914"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sz="1100"/>
            </a:p>
          </p:txBody>
        </p:sp>
        <p:sp>
          <p:nvSpPr>
            <p:cNvPr id="29" name="Freeform 29"/>
            <p:cNvSpPr/>
            <p:nvPr/>
          </p:nvSpPr>
          <p:spPr>
            <a:xfrm>
              <a:off x="5229198"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191098"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1" name="AutoShape 31"/>
            <p:cNvSpPr/>
            <p:nvPr/>
          </p:nvSpPr>
          <p:spPr>
            <a:xfrm>
              <a:off x="761911" y="4914658"/>
              <a:ext cx="51339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Index range: [0 ... 1023]</a:t>
              </a:r>
              <a:endParaRPr lang="en-US" sz="1100"/>
            </a:p>
          </p:txBody>
        </p:sp>
        <p:sp>
          <p:nvSpPr>
            <p:cNvPr id="32" name="AutoShape 32"/>
            <p:cNvSpPr/>
            <p:nvPr/>
          </p:nvSpPr>
          <p:spPr>
            <a:xfrm>
              <a:off x="6210279" y="4000440"/>
              <a:ext cx="545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 array</a:t>
              </a:r>
              <a:endParaRPr lang="en-US" sz="1100"/>
            </a:p>
          </p:txBody>
        </p:sp>
        <p:sp>
          <p:nvSpPr>
            <p:cNvPr id="33" name="Freeform 33"/>
            <p:cNvSpPr/>
            <p:nvPr/>
          </p:nvSpPr>
          <p:spPr>
            <a:xfrm>
              <a:off x="6210279" y="4381398"/>
              <a:ext cx="5372100" cy="876300"/>
            </a:xfrm>
            <a:custGeom>
              <a:avLst/>
              <a:gdLst/>
              <a:ahLst/>
              <a:cxnLst/>
              <a:rect l="l" t="t" r="r" b="b"/>
              <a:pathLst>
                <a:path w="5372100" h="876300">
                  <a:moveTo>
                    <a:pt x="76203" y="0"/>
                  </a:moveTo>
                  <a:lnTo>
                    <a:pt x="5295897" y="0"/>
                  </a:lnTo>
                  <a:cubicBezTo>
                    <a:pt x="5337983" y="0"/>
                    <a:pt x="5372100" y="34117"/>
                    <a:pt x="5372100" y="76203"/>
                  </a:cubicBezTo>
                  <a:lnTo>
                    <a:pt x="5372100" y="800097"/>
                  </a:lnTo>
                  <a:cubicBezTo>
                    <a:pt x="5372100" y="842183"/>
                    <a:pt x="5337983" y="876300"/>
                    <a:pt x="5295897" y="876300"/>
                  </a:cubicBezTo>
                  <a:lnTo>
                    <a:pt x="76203" y="876300"/>
                  </a:lnTo>
                  <a:cubicBezTo>
                    <a:pt x="34117" y="876300"/>
                    <a:pt x="0" y="842183"/>
                    <a:pt x="0" y="8000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6362662"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324562"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36" name="Freeform 36"/>
            <p:cNvSpPr/>
            <p:nvPr/>
          </p:nvSpPr>
          <p:spPr>
            <a:xfrm>
              <a:off x="700084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96274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38" name="Freeform 38"/>
            <p:cNvSpPr/>
            <p:nvPr/>
          </p:nvSpPr>
          <p:spPr>
            <a:xfrm>
              <a:off x="7639029"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600929"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40" name="Freeform 40"/>
            <p:cNvSpPr/>
            <p:nvPr/>
          </p:nvSpPr>
          <p:spPr>
            <a:xfrm>
              <a:off x="8277213"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239113"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2" name="Freeform 42"/>
            <p:cNvSpPr/>
            <p:nvPr/>
          </p:nvSpPr>
          <p:spPr>
            <a:xfrm>
              <a:off x="8915397"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3" name="AutoShape 43"/>
            <p:cNvSpPr/>
            <p:nvPr/>
          </p:nvSpPr>
          <p:spPr>
            <a:xfrm>
              <a:off x="8877297"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44" name="Freeform 44"/>
            <p:cNvSpPr/>
            <p:nvPr/>
          </p:nvSpPr>
          <p:spPr>
            <a:xfrm>
              <a:off x="955358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5" name="AutoShape 45"/>
            <p:cNvSpPr/>
            <p:nvPr/>
          </p:nvSpPr>
          <p:spPr>
            <a:xfrm>
              <a:off x="951548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sz="1100"/>
            </a:p>
          </p:txBody>
        </p:sp>
        <p:sp>
          <p:nvSpPr>
            <p:cNvPr id="46" name="Freeform 46"/>
            <p:cNvSpPr/>
            <p:nvPr/>
          </p:nvSpPr>
          <p:spPr>
            <a:xfrm>
              <a:off x="1019176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47" name="AutoShape 47"/>
            <p:cNvSpPr/>
            <p:nvPr/>
          </p:nvSpPr>
          <p:spPr>
            <a:xfrm>
              <a:off x="1015366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rPr>
                <a:t>F</a:t>
              </a:r>
              <a:endParaRPr lang="en-US" sz="1100"/>
            </a:p>
          </p:txBody>
        </p:sp>
        <p:sp>
          <p:nvSpPr>
            <p:cNvPr id="48" name="Freeform 48"/>
            <p:cNvSpPr/>
            <p:nvPr/>
          </p:nvSpPr>
          <p:spPr>
            <a:xfrm>
              <a:off x="10829948"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49" name="AutoShape 49"/>
            <p:cNvSpPr/>
            <p:nvPr/>
          </p:nvSpPr>
          <p:spPr>
            <a:xfrm>
              <a:off x="10791848"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sz="1200"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0" name="AutoShape 50"/>
            <p:cNvSpPr/>
            <p:nvPr/>
          </p:nvSpPr>
          <p:spPr>
            <a:xfrm>
              <a:off x="6362662" y="4914658"/>
              <a:ext cx="51339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True = access, False = skip</a:t>
              </a:r>
              <a:endParaRPr lang="en-US" sz="1100"/>
            </a:p>
          </p:txBody>
        </p:sp>
        <p:sp>
          <p:nvSpPr>
            <p:cNvPr id="51" name="Freeform 51"/>
            <p:cNvSpPr/>
            <p:nvPr/>
          </p:nvSpPr>
          <p:spPr>
            <a:xfrm>
              <a:off x="609529" y="5409865"/>
              <a:ext cx="10972800" cy="533400"/>
            </a:xfrm>
            <a:custGeom>
              <a:avLst/>
              <a:gdLst/>
              <a:ahLst/>
              <a:cxnLst/>
              <a:rect l="l" t="t" r="r" b="b"/>
              <a:pathLst>
                <a:path w="10972800" h="533400">
                  <a:moveTo>
                    <a:pt x="76203" y="0"/>
                  </a:moveTo>
                  <a:lnTo>
                    <a:pt x="10896597" y="0"/>
                  </a:lnTo>
                  <a:cubicBezTo>
                    <a:pt x="10938683" y="0"/>
                    <a:pt x="10972800" y="34117"/>
                    <a:pt x="10972800" y="76203"/>
                  </a:cubicBezTo>
                  <a:lnTo>
                    <a:pt x="10972800" y="457197"/>
                  </a:lnTo>
                  <a:cubicBezTo>
                    <a:pt x="10972800" y="499283"/>
                    <a:pt x="10938683" y="533400"/>
                    <a:pt x="10896597" y="533400"/>
                  </a:cubicBezTo>
                  <a:lnTo>
                    <a:pt x="76203" y="533400"/>
                  </a:lnTo>
                  <a:cubicBezTo>
                    <a:pt x="34117" y="533400"/>
                    <a:pt x="0" y="499283"/>
                    <a:pt x="0" y="4571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790486" y="5562247"/>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0012" y="71437"/>
                  </a:moveTo>
                  <a:cubicBezTo>
                    <a:pt x="100012" y="63552"/>
                    <a:pt x="106415" y="57150"/>
                    <a:pt x="114300" y="57150"/>
                  </a:cubicBezTo>
                  <a:cubicBezTo>
                    <a:pt x="122185" y="57150"/>
                    <a:pt x="128587" y="63552"/>
                    <a:pt x="128587" y="71437"/>
                  </a:cubicBezTo>
                  <a:cubicBezTo>
                    <a:pt x="128587" y="79323"/>
                    <a:pt x="122185" y="85725"/>
                    <a:pt x="114300" y="85725"/>
                  </a:cubicBezTo>
                  <a:cubicBezTo>
                    <a:pt x="106415" y="85725"/>
                    <a:pt x="100012" y="79323"/>
                    <a:pt x="100012" y="71437"/>
                  </a:cubicBezTo>
                  <a:close/>
                  <a:moveTo>
                    <a:pt x="96441" y="100013"/>
                  </a:moveTo>
                  <a:lnTo>
                    <a:pt x="117873" y="100013"/>
                  </a:lnTo>
                  <a:cubicBezTo>
                    <a:pt x="123810" y="100013"/>
                    <a:pt x="128587" y="104790"/>
                    <a:pt x="128587" y="110727"/>
                  </a:cubicBezTo>
                  <a:lnTo>
                    <a:pt x="128587" y="150019"/>
                  </a:lnTo>
                  <a:lnTo>
                    <a:pt x="132159" y="150019"/>
                  </a:lnTo>
                  <a:cubicBezTo>
                    <a:pt x="138099" y="150019"/>
                    <a:pt x="142875" y="154796"/>
                    <a:pt x="142875" y="160734"/>
                  </a:cubicBezTo>
                  <a:cubicBezTo>
                    <a:pt x="142875" y="166674"/>
                    <a:pt x="138099" y="171450"/>
                    <a:pt x="132159" y="171450"/>
                  </a:cubicBezTo>
                  <a:lnTo>
                    <a:pt x="96441" y="171450"/>
                  </a:lnTo>
                  <a:cubicBezTo>
                    <a:pt x="90501" y="171450"/>
                    <a:pt x="85725" y="166674"/>
                    <a:pt x="85725" y="160734"/>
                  </a:cubicBezTo>
                  <a:cubicBezTo>
                    <a:pt x="85725" y="154796"/>
                    <a:pt x="90501" y="150019"/>
                    <a:pt x="96441" y="150019"/>
                  </a:cubicBezTo>
                  <a:lnTo>
                    <a:pt x="107156" y="150019"/>
                  </a:lnTo>
                  <a:lnTo>
                    <a:pt x="107156" y="121444"/>
                  </a:lnTo>
                  <a:lnTo>
                    <a:pt x="96441" y="121444"/>
                  </a:lnTo>
                  <a:cubicBezTo>
                    <a:pt x="90501" y="121444"/>
                    <a:pt x="85725" y="116666"/>
                    <a:pt x="85725" y="110727"/>
                  </a:cubicBezTo>
                  <a:cubicBezTo>
                    <a:pt x="85725" y="104790"/>
                    <a:pt x="90501" y="100013"/>
                    <a:pt x="96441" y="10001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3" name="AutoShape 53"/>
            <p:cNvSpPr/>
            <p:nvPr/>
          </p:nvSpPr>
          <p:spPr>
            <a:xfrm>
              <a:off x="1200029" y="5562247"/>
              <a:ext cx="5276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Result:</a:t>
              </a: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Only positions where offsets &lt; 1000 are accessed; out-of-bounds positions are protected by the mask</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791" y="604784"/>
            <a:ext cx="11617605" cy="370578"/>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tl.load Details</a:t>
            </a:r>
            <a:endParaRPr lang="en-US" sz="1100"/>
          </a:p>
        </p:txBody>
      </p:sp>
      <p:grpSp>
        <p:nvGrpSpPr>
          <p:cNvPr id="3" name="Group 3"/>
          <p:cNvGrpSpPr/>
          <p:nvPr/>
        </p:nvGrpSpPr>
        <p:grpSpPr>
          <a:xfrm>
            <a:off x="388971" y="1370870"/>
            <a:ext cx="11414058" cy="1649070"/>
            <a:chOff x="388971" y="1370870"/>
            <a:chExt cx="11414058" cy="1649070"/>
          </a:xfrm>
        </p:grpSpPr>
        <p:sp>
          <p:nvSpPr>
            <p:cNvPr id="4" name="Freeform 4"/>
            <p:cNvSpPr/>
            <p:nvPr/>
          </p:nvSpPr>
          <p:spPr>
            <a:xfrm>
              <a:off x="388971" y="1370870"/>
              <a:ext cx="5435798" cy="1649070"/>
            </a:xfrm>
            <a:custGeom>
              <a:avLst/>
              <a:gdLst/>
              <a:ahLst/>
              <a:cxnLst/>
              <a:rect l="l" t="t" r="r" b="b"/>
              <a:pathLst>
                <a:path w="5435798" h="1649070">
                  <a:moveTo>
                    <a:pt x="36059" y="0"/>
                  </a:moveTo>
                  <a:lnTo>
                    <a:pt x="5327073" y="0"/>
                  </a:lnTo>
                  <a:cubicBezTo>
                    <a:pt x="5387120" y="0"/>
                    <a:pt x="5435798" y="49776"/>
                    <a:pt x="5435798" y="111180"/>
                  </a:cubicBezTo>
                  <a:lnTo>
                    <a:pt x="5435798" y="1537890"/>
                  </a:lnTo>
                  <a:cubicBezTo>
                    <a:pt x="5435798" y="1599293"/>
                    <a:pt x="5387120" y="1649070"/>
                    <a:pt x="5327073" y="1649070"/>
                  </a:cubicBezTo>
                  <a:lnTo>
                    <a:pt x="36059" y="1649070"/>
                  </a:lnTo>
                  <a:cubicBezTo>
                    <a:pt x="16144" y="1649070"/>
                    <a:pt x="0" y="1632561"/>
                    <a:pt x="0" y="1612196"/>
                  </a:cubicBezTo>
                  <a:lnTo>
                    <a:pt x="0" y="36873"/>
                  </a:lnTo>
                  <a:cubicBezTo>
                    <a:pt x="0" y="16521"/>
                    <a:pt x="16157" y="0"/>
                    <a:pt x="3605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88971" y="1370870"/>
              <a:ext cx="36059" cy="1649070"/>
            </a:xfrm>
            <a:custGeom>
              <a:avLst/>
              <a:gdLst/>
              <a:ahLst/>
              <a:cxnLst/>
              <a:rect l="l" t="t" r="r" b="b"/>
              <a:pathLst>
                <a:path w="36059" h="1649070">
                  <a:moveTo>
                    <a:pt x="36059" y="0"/>
                  </a:moveTo>
                  <a:lnTo>
                    <a:pt x="36059" y="0"/>
                  </a:lnTo>
                  <a:lnTo>
                    <a:pt x="36059" y="1649070"/>
                  </a:lnTo>
                  <a:lnTo>
                    <a:pt x="36059" y="1649070"/>
                  </a:lnTo>
                  <a:cubicBezTo>
                    <a:pt x="16144" y="1649070"/>
                    <a:pt x="0" y="1632561"/>
                    <a:pt x="0" y="1612196"/>
                  </a:cubicBezTo>
                  <a:lnTo>
                    <a:pt x="0" y="36873"/>
                  </a:lnTo>
                  <a:cubicBezTo>
                    <a:pt x="0" y="16509"/>
                    <a:pt x="16144" y="0"/>
                    <a:pt x="3605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24410" y="1593194"/>
              <a:ext cx="5073495" cy="120437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x = tl.load(</a:t>
              </a:r>
              <a:endParaRPr lang="en-US" sz="1100"/>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x_ptr + offsets, </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mask=mask</a:t>
              </a:r>
              <a:endPar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Freeform 7"/>
            <p:cNvSpPr/>
            <p:nvPr/>
          </p:nvSpPr>
          <p:spPr>
            <a:xfrm>
              <a:off x="6135487" y="1407887"/>
              <a:ext cx="181197" cy="185289"/>
            </a:xfrm>
            <a:custGeom>
              <a:avLst/>
              <a:gdLst/>
              <a:ahLst/>
              <a:cxnLst/>
              <a:rect l="l" t="t" r="r" b="b"/>
              <a:pathLst>
                <a:path w="181197" h="185289">
                  <a:moveTo>
                    <a:pt x="90598" y="185289"/>
                  </a:moveTo>
                  <a:cubicBezTo>
                    <a:pt x="140600" y="185289"/>
                    <a:pt x="181197" y="143775"/>
                    <a:pt x="181197" y="92644"/>
                  </a:cubicBezTo>
                  <a:cubicBezTo>
                    <a:pt x="181197" y="41512"/>
                    <a:pt x="140600" y="0"/>
                    <a:pt x="90598" y="0"/>
                  </a:cubicBezTo>
                  <a:cubicBezTo>
                    <a:pt x="40597" y="0"/>
                    <a:pt x="0" y="41512"/>
                    <a:pt x="0" y="92644"/>
                  </a:cubicBezTo>
                  <a:cubicBezTo>
                    <a:pt x="0" y="143775"/>
                    <a:pt x="40597" y="185289"/>
                    <a:pt x="90598" y="185289"/>
                  </a:cubicBezTo>
                  <a:close/>
                  <a:moveTo>
                    <a:pt x="120467" y="76973"/>
                  </a:moveTo>
                  <a:lnTo>
                    <a:pt x="92156" y="123297"/>
                  </a:lnTo>
                  <a:cubicBezTo>
                    <a:pt x="90669" y="125721"/>
                    <a:pt x="88121" y="127241"/>
                    <a:pt x="85325" y="127386"/>
                  </a:cubicBezTo>
                  <a:cubicBezTo>
                    <a:pt x="82530" y="127531"/>
                    <a:pt x="79840" y="126228"/>
                    <a:pt x="78176" y="123913"/>
                  </a:cubicBezTo>
                  <a:lnTo>
                    <a:pt x="61189" y="100750"/>
                  </a:lnTo>
                  <a:cubicBezTo>
                    <a:pt x="58358" y="96915"/>
                    <a:pt x="59136" y="91486"/>
                    <a:pt x="62888" y="88591"/>
                  </a:cubicBezTo>
                  <a:cubicBezTo>
                    <a:pt x="66639" y="85696"/>
                    <a:pt x="71948" y="86492"/>
                    <a:pt x="74779" y="90327"/>
                  </a:cubicBezTo>
                  <a:lnTo>
                    <a:pt x="84334" y="103356"/>
                  </a:lnTo>
                  <a:lnTo>
                    <a:pt x="106064" y="67782"/>
                  </a:lnTo>
                  <a:cubicBezTo>
                    <a:pt x="108541" y="63729"/>
                    <a:pt x="113778" y="62462"/>
                    <a:pt x="117779" y="65032"/>
                  </a:cubicBezTo>
                  <a:cubicBezTo>
                    <a:pt x="121776" y="67601"/>
                    <a:pt x="122980" y="72921"/>
                    <a:pt x="12046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448003" y="1370870"/>
              <a:ext cx="5355026"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Supports mask</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conditional read, prevents out-of-bounds</a:t>
              </a:r>
              <a:endParaRPr lang="en-US" sz="1100"/>
            </a:p>
          </p:txBody>
        </p:sp>
        <p:sp>
          <p:nvSpPr>
            <p:cNvPr id="9" name="Freeform 9"/>
            <p:cNvSpPr/>
            <p:nvPr/>
          </p:nvSpPr>
          <p:spPr>
            <a:xfrm>
              <a:off x="6135487" y="1827107"/>
              <a:ext cx="181197" cy="185289"/>
            </a:xfrm>
            <a:custGeom>
              <a:avLst/>
              <a:gdLst/>
              <a:ahLst/>
              <a:cxnLst/>
              <a:rect l="l" t="t" r="r" b="b"/>
              <a:pathLst>
                <a:path w="181197" h="185289">
                  <a:moveTo>
                    <a:pt x="90598" y="185289"/>
                  </a:moveTo>
                  <a:cubicBezTo>
                    <a:pt x="140600" y="185289"/>
                    <a:pt x="181197" y="143775"/>
                    <a:pt x="181197" y="92644"/>
                  </a:cubicBezTo>
                  <a:cubicBezTo>
                    <a:pt x="181197" y="41512"/>
                    <a:pt x="140600" y="0"/>
                    <a:pt x="90598" y="0"/>
                  </a:cubicBezTo>
                  <a:cubicBezTo>
                    <a:pt x="40597" y="0"/>
                    <a:pt x="0" y="41512"/>
                    <a:pt x="0" y="92644"/>
                  </a:cubicBezTo>
                  <a:cubicBezTo>
                    <a:pt x="0" y="143775"/>
                    <a:pt x="40597" y="185289"/>
                    <a:pt x="90598" y="185289"/>
                  </a:cubicBezTo>
                  <a:close/>
                  <a:moveTo>
                    <a:pt x="120467" y="76973"/>
                  </a:moveTo>
                  <a:lnTo>
                    <a:pt x="92156" y="123297"/>
                  </a:lnTo>
                  <a:cubicBezTo>
                    <a:pt x="90669" y="125721"/>
                    <a:pt x="88121" y="127241"/>
                    <a:pt x="85325" y="127386"/>
                  </a:cubicBezTo>
                  <a:cubicBezTo>
                    <a:pt x="82530" y="127531"/>
                    <a:pt x="79840" y="126228"/>
                    <a:pt x="78176" y="123913"/>
                  </a:cubicBezTo>
                  <a:lnTo>
                    <a:pt x="61189" y="100750"/>
                  </a:lnTo>
                  <a:cubicBezTo>
                    <a:pt x="58358" y="96915"/>
                    <a:pt x="59136" y="91486"/>
                    <a:pt x="62888" y="88591"/>
                  </a:cubicBezTo>
                  <a:cubicBezTo>
                    <a:pt x="66639" y="85696"/>
                    <a:pt x="71948" y="86492"/>
                    <a:pt x="74779" y="90327"/>
                  </a:cubicBezTo>
                  <a:lnTo>
                    <a:pt x="84334" y="103356"/>
                  </a:lnTo>
                  <a:lnTo>
                    <a:pt x="106064" y="67782"/>
                  </a:lnTo>
                  <a:cubicBezTo>
                    <a:pt x="108541" y="63729"/>
                    <a:pt x="113778" y="62462"/>
                    <a:pt x="117779" y="65032"/>
                  </a:cubicBezTo>
                  <a:cubicBezTo>
                    <a:pt x="121776" y="67601"/>
                    <a:pt x="122980" y="72921"/>
                    <a:pt x="12046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448003" y="1790090"/>
              <a:ext cx="4690494"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Vectorized read</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reads multiple elements at once</a:t>
              </a:r>
              <a:endParaRPr lang="en-US" sz="1100"/>
            </a:p>
          </p:txBody>
        </p:sp>
        <p:sp>
          <p:nvSpPr>
            <p:cNvPr id="11" name="Freeform 11"/>
            <p:cNvSpPr/>
            <p:nvPr/>
          </p:nvSpPr>
          <p:spPr>
            <a:xfrm>
              <a:off x="6135487" y="2246328"/>
              <a:ext cx="181197" cy="185289"/>
            </a:xfrm>
            <a:custGeom>
              <a:avLst/>
              <a:gdLst/>
              <a:ahLst/>
              <a:cxnLst/>
              <a:rect l="l" t="t" r="r" b="b"/>
              <a:pathLst>
                <a:path w="181197" h="185289">
                  <a:moveTo>
                    <a:pt x="90598" y="185289"/>
                  </a:moveTo>
                  <a:cubicBezTo>
                    <a:pt x="140600" y="185289"/>
                    <a:pt x="181197" y="143775"/>
                    <a:pt x="181197" y="92644"/>
                  </a:cubicBezTo>
                  <a:cubicBezTo>
                    <a:pt x="181197" y="41512"/>
                    <a:pt x="140600" y="0"/>
                    <a:pt x="90598" y="0"/>
                  </a:cubicBezTo>
                  <a:cubicBezTo>
                    <a:pt x="40597" y="0"/>
                    <a:pt x="0" y="41512"/>
                    <a:pt x="0" y="92644"/>
                  </a:cubicBezTo>
                  <a:cubicBezTo>
                    <a:pt x="0" y="143775"/>
                    <a:pt x="40597" y="185289"/>
                    <a:pt x="90598" y="185289"/>
                  </a:cubicBezTo>
                  <a:close/>
                  <a:moveTo>
                    <a:pt x="120467" y="76973"/>
                  </a:moveTo>
                  <a:lnTo>
                    <a:pt x="92156" y="123297"/>
                  </a:lnTo>
                  <a:cubicBezTo>
                    <a:pt x="90669" y="125721"/>
                    <a:pt x="88121" y="127241"/>
                    <a:pt x="85325" y="127386"/>
                  </a:cubicBezTo>
                  <a:cubicBezTo>
                    <a:pt x="82530" y="127531"/>
                    <a:pt x="79840" y="126228"/>
                    <a:pt x="78176" y="123913"/>
                  </a:cubicBezTo>
                  <a:lnTo>
                    <a:pt x="61189" y="100750"/>
                  </a:lnTo>
                  <a:cubicBezTo>
                    <a:pt x="58358" y="96915"/>
                    <a:pt x="59136" y="91486"/>
                    <a:pt x="62888" y="88591"/>
                  </a:cubicBezTo>
                  <a:cubicBezTo>
                    <a:pt x="66639" y="85696"/>
                    <a:pt x="71948" y="86492"/>
                    <a:pt x="74779" y="90327"/>
                  </a:cubicBezTo>
                  <a:lnTo>
                    <a:pt x="84334" y="103356"/>
                  </a:lnTo>
                  <a:lnTo>
                    <a:pt x="106064" y="67782"/>
                  </a:lnTo>
                  <a:cubicBezTo>
                    <a:pt x="108541" y="63729"/>
                    <a:pt x="113778" y="62462"/>
                    <a:pt x="117779" y="65032"/>
                  </a:cubicBezTo>
                  <a:cubicBezTo>
                    <a:pt x="121776" y="67601"/>
                    <a:pt x="122980" y="72921"/>
                    <a:pt x="12046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448003" y="2209311"/>
              <a:ext cx="5009613"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Returns tensor</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enables direct vectorized computation</a:t>
              </a:r>
              <a:endParaRPr lang="en-US" sz="1100"/>
            </a:p>
          </p:txBody>
        </p:sp>
      </p:grpSp>
      <p:grpSp>
        <p:nvGrpSpPr>
          <p:cNvPr id="13" name="Group 13"/>
          <p:cNvGrpSpPr/>
          <p:nvPr/>
        </p:nvGrpSpPr>
        <p:grpSpPr>
          <a:xfrm>
            <a:off x="370534" y="3242268"/>
            <a:ext cx="11450845" cy="3316669"/>
            <a:chOff x="370534" y="3242268"/>
            <a:chExt cx="11450845" cy="3316669"/>
          </a:xfrm>
        </p:grpSpPr>
        <p:sp>
          <p:nvSpPr>
            <p:cNvPr id="14" name="Freeform 14"/>
            <p:cNvSpPr/>
            <p:nvPr/>
          </p:nvSpPr>
          <p:spPr>
            <a:xfrm>
              <a:off x="370534" y="3242268"/>
              <a:ext cx="11450845" cy="3316669"/>
            </a:xfrm>
            <a:custGeom>
              <a:avLst/>
              <a:gdLst/>
              <a:ahLst/>
              <a:cxnLst/>
              <a:rect l="l" t="t" r="r" b="b"/>
              <a:pathLst>
                <a:path w="11450845" h="3316669">
                  <a:moveTo>
                    <a:pt x="111175" y="0"/>
                  </a:moveTo>
                  <a:lnTo>
                    <a:pt x="11339670" y="0"/>
                  </a:lnTo>
                  <a:cubicBezTo>
                    <a:pt x="11401069" y="0"/>
                    <a:pt x="11450845" y="49775"/>
                    <a:pt x="11450845" y="111175"/>
                  </a:cubicBezTo>
                  <a:lnTo>
                    <a:pt x="11450845" y="3205494"/>
                  </a:lnTo>
                  <a:cubicBezTo>
                    <a:pt x="11450845" y="3266893"/>
                    <a:pt x="11401069" y="3316668"/>
                    <a:pt x="11339670" y="3316668"/>
                  </a:cubicBezTo>
                  <a:lnTo>
                    <a:pt x="111175" y="3316668"/>
                  </a:lnTo>
                  <a:cubicBezTo>
                    <a:pt x="49775" y="3316668"/>
                    <a:pt x="0" y="3266893"/>
                    <a:pt x="0" y="3205494"/>
                  </a:cubicBezTo>
                  <a:lnTo>
                    <a:pt x="0" y="111175"/>
                  </a:lnTo>
                  <a:cubicBezTo>
                    <a:pt x="0" y="49816"/>
                    <a:pt x="49816" y="0"/>
                    <a:pt x="11117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592855" y="3464588"/>
              <a:ext cx="11098796" cy="2594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Full Parameter Description</a:t>
              </a:r>
              <a:endParaRPr lang="en-US" sz="1100"/>
            </a:p>
          </p:txBody>
        </p:sp>
        <p:sp>
          <p:nvSpPr>
            <p:cNvPr id="16" name="Freeform 16"/>
            <p:cNvSpPr/>
            <p:nvPr/>
          </p:nvSpPr>
          <p:spPr>
            <a:xfrm>
              <a:off x="611292" y="3872214"/>
              <a:ext cx="10987531" cy="537337"/>
            </a:xfrm>
            <a:custGeom>
              <a:avLst/>
              <a:gdLst/>
              <a:ahLst/>
              <a:cxnLst/>
              <a:rect l="l" t="t" r="r" b="b"/>
              <a:pathLst>
                <a:path w="10987531" h="537337">
                  <a:moveTo>
                    <a:pt x="36873" y="0"/>
                  </a:moveTo>
                  <a:lnTo>
                    <a:pt x="10913416" y="0"/>
                  </a:lnTo>
                  <a:cubicBezTo>
                    <a:pt x="10954349" y="0"/>
                    <a:pt x="10987531" y="33183"/>
                    <a:pt x="10987531" y="74115"/>
                  </a:cubicBezTo>
                  <a:lnTo>
                    <a:pt x="10987531" y="463222"/>
                  </a:lnTo>
                  <a:cubicBezTo>
                    <a:pt x="10987531" y="504154"/>
                    <a:pt x="10954349" y="537337"/>
                    <a:pt x="10913416" y="537337"/>
                  </a:cubicBezTo>
                  <a:lnTo>
                    <a:pt x="36873" y="537337"/>
                  </a:lnTo>
                  <a:cubicBezTo>
                    <a:pt x="16509" y="537337"/>
                    <a:pt x="0" y="520830"/>
                    <a:pt x="0" y="500464"/>
                  </a:cubicBezTo>
                  <a:lnTo>
                    <a:pt x="0" y="36873"/>
                  </a:lnTo>
                  <a:cubicBezTo>
                    <a:pt x="0" y="16509"/>
                    <a:pt x="16509"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11292" y="3872214"/>
              <a:ext cx="36873" cy="537337"/>
            </a:xfrm>
            <a:custGeom>
              <a:avLst/>
              <a:gdLst/>
              <a:ahLst/>
              <a:cxnLst/>
              <a:rect l="l" t="t" r="r" b="b"/>
              <a:pathLst>
                <a:path w="36873" h="537337">
                  <a:moveTo>
                    <a:pt x="36873" y="0"/>
                  </a:moveTo>
                  <a:lnTo>
                    <a:pt x="36873" y="0"/>
                  </a:lnTo>
                  <a:lnTo>
                    <a:pt x="36873" y="537337"/>
                  </a:lnTo>
                  <a:lnTo>
                    <a:pt x="36873" y="537337"/>
                  </a:lnTo>
                  <a:cubicBezTo>
                    <a:pt x="16509" y="537337"/>
                    <a:pt x="0" y="520830"/>
                    <a:pt x="0" y="50046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77942" y="4020427"/>
              <a:ext cx="10746748" cy="2408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tl.load(ptr, mask=None, other=None, cache_modifier="", eviction_policy="", volatile=False)</a:t>
              </a:r>
              <a:endParaRPr lang="en-US" sz="1100"/>
            </a:p>
          </p:txBody>
        </p:sp>
        <p:sp>
          <p:nvSpPr>
            <p:cNvPr id="19" name="Freeform 19"/>
            <p:cNvSpPr/>
            <p:nvPr/>
          </p:nvSpPr>
          <p:spPr>
            <a:xfrm>
              <a:off x="611292" y="4557683"/>
              <a:ext cx="5410338" cy="815271"/>
            </a:xfrm>
            <a:custGeom>
              <a:avLst/>
              <a:gdLst/>
              <a:ahLst/>
              <a:cxnLst/>
              <a:rect l="l" t="t" r="r" b="b"/>
              <a:pathLst>
                <a:path w="5410338" h="815271">
                  <a:moveTo>
                    <a:pt x="36873" y="0"/>
                  </a:moveTo>
                  <a:lnTo>
                    <a:pt x="5336223" y="0"/>
                  </a:lnTo>
                  <a:cubicBezTo>
                    <a:pt x="5377156" y="0"/>
                    <a:pt x="5410338" y="33183"/>
                    <a:pt x="5410338" y="74116"/>
                  </a:cubicBezTo>
                  <a:lnTo>
                    <a:pt x="5410338" y="741154"/>
                  </a:lnTo>
                  <a:cubicBezTo>
                    <a:pt x="5410338" y="782088"/>
                    <a:pt x="5377156" y="815271"/>
                    <a:pt x="5336223"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11292" y="4557683"/>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77942" y="4705896"/>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ptr</a:t>
              </a:r>
              <a:endParaRPr lang="en-US" sz="1100"/>
            </a:p>
          </p:txBody>
        </p:sp>
        <p:sp>
          <p:nvSpPr>
            <p:cNvPr id="22" name="AutoShape 22"/>
            <p:cNvSpPr/>
            <p:nvPr/>
          </p:nvSpPr>
          <p:spPr>
            <a:xfrm>
              <a:off x="777942" y="5002321"/>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Data pointer, can be a single address or array of addresses</a:t>
              </a:r>
              <a:endParaRPr lang="en-US" sz="1100"/>
            </a:p>
          </p:txBody>
        </p:sp>
        <p:sp>
          <p:nvSpPr>
            <p:cNvPr id="23" name="Freeform 23"/>
            <p:cNvSpPr/>
            <p:nvPr/>
          </p:nvSpPr>
          <p:spPr>
            <a:xfrm>
              <a:off x="6186446" y="4557683"/>
              <a:ext cx="5410338" cy="815271"/>
            </a:xfrm>
            <a:custGeom>
              <a:avLst/>
              <a:gdLst/>
              <a:ahLst/>
              <a:cxnLst/>
              <a:rect l="l" t="t" r="r" b="b"/>
              <a:pathLst>
                <a:path w="5410338" h="815271">
                  <a:moveTo>
                    <a:pt x="36873" y="0"/>
                  </a:moveTo>
                  <a:lnTo>
                    <a:pt x="5336222" y="0"/>
                  </a:lnTo>
                  <a:cubicBezTo>
                    <a:pt x="5377156" y="0"/>
                    <a:pt x="5410338" y="33183"/>
                    <a:pt x="5410338" y="74116"/>
                  </a:cubicBezTo>
                  <a:lnTo>
                    <a:pt x="5410338" y="741154"/>
                  </a:lnTo>
                  <a:cubicBezTo>
                    <a:pt x="5410338" y="782088"/>
                    <a:pt x="5377156" y="815271"/>
                    <a:pt x="5336222"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186446" y="4557683"/>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353097" y="4705896"/>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100"/>
            </a:p>
          </p:txBody>
        </p:sp>
        <p:sp>
          <p:nvSpPr>
            <p:cNvPr id="26" name="AutoShape 26"/>
            <p:cNvSpPr/>
            <p:nvPr/>
          </p:nvSpPr>
          <p:spPr>
            <a:xfrm>
              <a:off x="6353097" y="5002321"/>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Boolean array controlling which positions to read</a:t>
              </a:r>
              <a:endParaRPr lang="en-US" sz="1100"/>
            </a:p>
          </p:txBody>
        </p:sp>
        <p:sp>
          <p:nvSpPr>
            <p:cNvPr id="27" name="Freeform 27"/>
            <p:cNvSpPr/>
            <p:nvPr/>
          </p:nvSpPr>
          <p:spPr>
            <a:xfrm>
              <a:off x="611292" y="5521076"/>
              <a:ext cx="5410338" cy="815271"/>
            </a:xfrm>
            <a:custGeom>
              <a:avLst/>
              <a:gdLst/>
              <a:ahLst/>
              <a:cxnLst/>
              <a:rect l="l" t="t" r="r" b="b"/>
              <a:pathLst>
                <a:path w="5410338" h="815271">
                  <a:moveTo>
                    <a:pt x="36873" y="0"/>
                  </a:moveTo>
                  <a:lnTo>
                    <a:pt x="5336223" y="0"/>
                  </a:lnTo>
                  <a:cubicBezTo>
                    <a:pt x="5377156" y="0"/>
                    <a:pt x="5410338" y="33183"/>
                    <a:pt x="5410338" y="74116"/>
                  </a:cubicBezTo>
                  <a:lnTo>
                    <a:pt x="5410338" y="741154"/>
                  </a:lnTo>
                  <a:cubicBezTo>
                    <a:pt x="5410338" y="782088"/>
                    <a:pt x="5377156" y="815271"/>
                    <a:pt x="5336223"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611292" y="5521076"/>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777942" y="5669289"/>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other</a:t>
              </a:r>
              <a:endParaRPr lang="en-US" sz="1100"/>
            </a:p>
          </p:txBody>
        </p:sp>
        <p:sp>
          <p:nvSpPr>
            <p:cNvPr id="30" name="AutoShape 30"/>
            <p:cNvSpPr/>
            <p:nvPr/>
          </p:nvSpPr>
          <p:spPr>
            <a:xfrm>
              <a:off x="777942" y="5965714"/>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Default value when mask is False</a:t>
              </a:r>
              <a:endParaRPr lang="en-US" sz="1100"/>
            </a:p>
          </p:txBody>
        </p:sp>
        <p:sp>
          <p:nvSpPr>
            <p:cNvPr id="31" name="Freeform 31"/>
            <p:cNvSpPr/>
            <p:nvPr/>
          </p:nvSpPr>
          <p:spPr>
            <a:xfrm>
              <a:off x="6186446" y="5521076"/>
              <a:ext cx="5410338" cy="815271"/>
            </a:xfrm>
            <a:custGeom>
              <a:avLst/>
              <a:gdLst/>
              <a:ahLst/>
              <a:cxnLst/>
              <a:rect l="l" t="t" r="r" b="b"/>
              <a:pathLst>
                <a:path w="5410338" h="815271">
                  <a:moveTo>
                    <a:pt x="36873" y="0"/>
                  </a:moveTo>
                  <a:lnTo>
                    <a:pt x="5336222" y="0"/>
                  </a:lnTo>
                  <a:cubicBezTo>
                    <a:pt x="5377156" y="0"/>
                    <a:pt x="5410338" y="33183"/>
                    <a:pt x="5410338" y="74116"/>
                  </a:cubicBezTo>
                  <a:lnTo>
                    <a:pt x="5410338" y="741154"/>
                  </a:lnTo>
                  <a:cubicBezTo>
                    <a:pt x="5410338" y="782088"/>
                    <a:pt x="5377156" y="815271"/>
                    <a:pt x="5336222"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186446" y="5521076"/>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353097" y="5669289"/>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cache_modifier</a:t>
              </a:r>
              <a:endParaRPr lang="en-US" sz="1100"/>
            </a:p>
          </p:txBody>
        </p:sp>
        <p:sp>
          <p:nvSpPr>
            <p:cNvPr id="34" name="AutoShape 34"/>
            <p:cNvSpPr/>
            <p:nvPr/>
          </p:nvSpPr>
          <p:spPr>
            <a:xfrm>
              <a:off x="6353097" y="5965714"/>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Cache modifier (e.g., ".ca", ".cg")</a:t>
              </a:r>
              <a:endParaRPr lang="en-US" sz="1100"/>
            </a:p>
          </p:txBody>
        </p:sp>
      </p:grpSp>
      <p:sp>
        <p:nvSpPr>
          <p:cNvPr id="35" name="AutoShape 35"/>
          <p:cNvSpPr/>
          <p:nvPr/>
        </p:nvSpPr>
        <p:spPr>
          <a:xfrm>
            <a:off x="370534" y="6706779"/>
            <a:ext cx="11506432" cy="148231"/>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8165" y="585821"/>
            <a:ext cx="11617605" cy="370578"/>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tl.store Details</a:t>
            </a:r>
            <a:endParaRPr lang="en-US" sz="1100"/>
          </a:p>
        </p:txBody>
      </p:sp>
      <p:grpSp>
        <p:nvGrpSpPr>
          <p:cNvPr id="3" name="Group 3"/>
          <p:cNvGrpSpPr/>
          <p:nvPr/>
        </p:nvGrpSpPr>
        <p:grpSpPr>
          <a:xfrm>
            <a:off x="519504" y="1370874"/>
            <a:ext cx="12128673" cy="1954795"/>
            <a:chOff x="519504" y="1370874"/>
            <a:chExt cx="12128673" cy="1954795"/>
          </a:xfrm>
        </p:grpSpPr>
        <p:sp>
          <p:nvSpPr>
            <p:cNvPr id="4" name="Freeform 4"/>
            <p:cNvSpPr/>
            <p:nvPr/>
          </p:nvSpPr>
          <p:spPr>
            <a:xfrm>
              <a:off x="519504" y="1370874"/>
              <a:ext cx="5558570" cy="1954795"/>
            </a:xfrm>
            <a:custGeom>
              <a:avLst/>
              <a:gdLst/>
              <a:ahLst/>
              <a:cxnLst/>
              <a:rect l="l" t="t" r="r" b="b"/>
              <a:pathLst>
                <a:path w="5558570" h="1954795">
                  <a:moveTo>
                    <a:pt x="36873" y="0"/>
                  </a:moveTo>
                  <a:lnTo>
                    <a:pt x="5447401" y="0"/>
                  </a:lnTo>
                  <a:cubicBezTo>
                    <a:pt x="5508798" y="0"/>
                    <a:pt x="5558570" y="49773"/>
                    <a:pt x="5558570" y="111169"/>
                  </a:cubicBezTo>
                  <a:lnTo>
                    <a:pt x="5558570" y="1843627"/>
                  </a:lnTo>
                  <a:cubicBezTo>
                    <a:pt x="5558570" y="1905024"/>
                    <a:pt x="5508798" y="1954795"/>
                    <a:pt x="5447401" y="1954795"/>
                  </a:cubicBezTo>
                  <a:lnTo>
                    <a:pt x="36873" y="1954795"/>
                  </a:lnTo>
                  <a:cubicBezTo>
                    <a:pt x="16509" y="1954795"/>
                    <a:pt x="0" y="1938288"/>
                    <a:pt x="0" y="1917924"/>
                  </a:cubicBezTo>
                  <a:lnTo>
                    <a:pt x="0" y="36873"/>
                  </a:lnTo>
                  <a:cubicBezTo>
                    <a:pt x="0" y="16521"/>
                    <a:pt x="16521"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19504" y="1370874"/>
              <a:ext cx="36873" cy="1954795"/>
            </a:xfrm>
            <a:custGeom>
              <a:avLst/>
              <a:gdLst/>
              <a:ahLst/>
              <a:cxnLst/>
              <a:rect l="l" t="t" r="r" b="b"/>
              <a:pathLst>
                <a:path w="36873" h="1954795">
                  <a:moveTo>
                    <a:pt x="36873" y="0"/>
                  </a:moveTo>
                  <a:lnTo>
                    <a:pt x="36873" y="0"/>
                  </a:lnTo>
                  <a:lnTo>
                    <a:pt x="36873" y="1954795"/>
                  </a:lnTo>
                  <a:lnTo>
                    <a:pt x="36873" y="1954795"/>
                  </a:lnTo>
                  <a:cubicBezTo>
                    <a:pt x="16509" y="1954795"/>
                    <a:pt x="0" y="1938288"/>
                    <a:pt x="0" y="191792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60261" y="1593194"/>
              <a:ext cx="5188085" cy="151010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tl.store(</a:t>
              </a:r>
              <a:endParaRPr lang="en-US" sz="1100"/>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output_ptr + offsets, </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 </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mask=mask</a:t>
              </a:r>
              <a:endPar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Freeform 7"/>
            <p:cNvSpPr/>
            <p:nvPr/>
          </p:nvSpPr>
          <p:spPr>
            <a:xfrm>
              <a:off x="6395810" y="1407887"/>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715385" y="1370874"/>
              <a:ext cx="5932792"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Supports mask</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conditional write, prevents out-of-bounds</a:t>
              </a:r>
              <a:endParaRPr lang="en-US" sz="1100"/>
            </a:p>
          </p:txBody>
        </p:sp>
        <p:sp>
          <p:nvSpPr>
            <p:cNvPr id="9" name="Freeform 9"/>
            <p:cNvSpPr/>
            <p:nvPr/>
          </p:nvSpPr>
          <p:spPr>
            <a:xfrm>
              <a:off x="6395810" y="1827103"/>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715385" y="1790090"/>
              <a:ext cx="5343649"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Conditional write</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only writes to positions where mask is True</a:t>
              </a:r>
              <a:endParaRPr lang="en-US" sz="1100"/>
            </a:p>
          </p:txBody>
        </p:sp>
        <p:sp>
          <p:nvSpPr>
            <p:cNvPr id="11" name="Freeform 11"/>
            <p:cNvSpPr/>
            <p:nvPr/>
          </p:nvSpPr>
          <p:spPr>
            <a:xfrm>
              <a:off x="6395810" y="2246328"/>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15385" y="2209306"/>
              <a:ext cx="5161581" cy="26866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Guarantees memory safety</a:t>
              </a: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avoids illegal memory writes</a:t>
              </a:r>
              <a:endParaRPr lang="en-US" sz="1100"/>
            </a:p>
          </p:txBody>
        </p:sp>
      </p:grpSp>
      <p:sp>
        <p:nvSpPr>
          <p:cNvPr id="13" name="Freeform 13"/>
          <p:cNvSpPr/>
          <p:nvPr/>
        </p:nvSpPr>
        <p:spPr>
          <a:xfrm>
            <a:off x="370534" y="3543376"/>
            <a:ext cx="11450845" cy="3020207"/>
          </a:xfrm>
          <a:custGeom>
            <a:avLst/>
            <a:gdLst/>
            <a:ahLst/>
            <a:cxnLst/>
            <a:rect l="l" t="t" r="r" b="b"/>
            <a:pathLst>
              <a:path w="11450845" h="3020207">
                <a:moveTo>
                  <a:pt x="111175" y="0"/>
                </a:moveTo>
                <a:lnTo>
                  <a:pt x="11339671" y="0"/>
                </a:lnTo>
                <a:cubicBezTo>
                  <a:pt x="11401071" y="0"/>
                  <a:pt x="11450845" y="49774"/>
                  <a:pt x="11450845" y="111175"/>
                </a:cubicBezTo>
                <a:lnTo>
                  <a:pt x="11450845" y="2909033"/>
                </a:lnTo>
                <a:cubicBezTo>
                  <a:pt x="11450845" y="2970392"/>
                  <a:pt x="11401030" y="3020207"/>
                  <a:pt x="11339671" y="3020207"/>
                </a:cubicBezTo>
                <a:lnTo>
                  <a:pt x="111175" y="3020207"/>
                </a:lnTo>
                <a:cubicBezTo>
                  <a:pt x="49774" y="3020207"/>
                  <a:pt x="0" y="2970432"/>
                  <a:pt x="0" y="2909033"/>
                </a:cubicBezTo>
                <a:lnTo>
                  <a:pt x="0" y="111175"/>
                </a:lnTo>
                <a:cubicBezTo>
                  <a:pt x="0" y="49774"/>
                  <a:pt x="49774" y="0"/>
                  <a:pt x="11117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92855" y="3765695"/>
            <a:ext cx="11098796" cy="2594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Full Parameter Description</a:t>
            </a:r>
            <a:endParaRPr lang="en-US" sz="1100"/>
          </a:p>
        </p:txBody>
      </p:sp>
      <p:sp>
        <p:nvSpPr>
          <p:cNvPr id="15" name="Freeform 15"/>
          <p:cNvSpPr/>
          <p:nvPr/>
        </p:nvSpPr>
        <p:spPr>
          <a:xfrm>
            <a:off x="611292" y="4173322"/>
            <a:ext cx="10987531" cy="537337"/>
          </a:xfrm>
          <a:custGeom>
            <a:avLst/>
            <a:gdLst/>
            <a:ahLst/>
            <a:cxnLst/>
            <a:rect l="l" t="t" r="r" b="b"/>
            <a:pathLst>
              <a:path w="10987531" h="537337">
                <a:moveTo>
                  <a:pt x="36873" y="0"/>
                </a:moveTo>
                <a:lnTo>
                  <a:pt x="10913416" y="0"/>
                </a:lnTo>
                <a:cubicBezTo>
                  <a:pt x="10954349" y="0"/>
                  <a:pt x="10987531" y="33183"/>
                  <a:pt x="10987531" y="74115"/>
                </a:cubicBezTo>
                <a:lnTo>
                  <a:pt x="10987531" y="463222"/>
                </a:lnTo>
                <a:cubicBezTo>
                  <a:pt x="10987531" y="504154"/>
                  <a:pt x="10954349" y="537337"/>
                  <a:pt x="10913416" y="537337"/>
                </a:cubicBezTo>
                <a:lnTo>
                  <a:pt x="36873" y="537337"/>
                </a:lnTo>
                <a:cubicBezTo>
                  <a:pt x="16509" y="537337"/>
                  <a:pt x="0" y="520830"/>
                  <a:pt x="0" y="500464"/>
                </a:cubicBezTo>
                <a:lnTo>
                  <a:pt x="0" y="36873"/>
                </a:lnTo>
                <a:cubicBezTo>
                  <a:pt x="0" y="16509"/>
                  <a:pt x="16509"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11292" y="4173322"/>
            <a:ext cx="36873" cy="537337"/>
          </a:xfrm>
          <a:custGeom>
            <a:avLst/>
            <a:gdLst/>
            <a:ahLst/>
            <a:cxnLst/>
            <a:rect l="l" t="t" r="r" b="b"/>
            <a:pathLst>
              <a:path w="36873" h="537337">
                <a:moveTo>
                  <a:pt x="36873" y="0"/>
                </a:moveTo>
                <a:lnTo>
                  <a:pt x="36873" y="0"/>
                </a:lnTo>
                <a:lnTo>
                  <a:pt x="36873" y="537337"/>
                </a:lnTo>
                <a:lnTo>
                  <a:pt x="36873" y="537337"/>
                </a:lnTo>
                <a:cubicBezTo>
                  <a:pt x="16509" y="537337"/>
                  <a:pt x="0" y="520830"/>
                  <a:pt x="0" y="50046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777942" y="4321534"/>
            <a:ext cx="10746748" cy="2408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tl.store(ptr, value, mask=None, cache_modifier="", eviction_policy="")</a:t>
            </a:r>
            <a:endParaRPr lang="en-US" sz="1100"/>
          </a:p>
        </p:txBody>
      </p:sp>
      <p:sp>
        <p:nvSpPr>
          <p:cNvPr id="18" name="Freeform 18"/>
          <p:cNvSpPr/>
          <p:nvPr/>
        </p:nvSpPr>
        <p:spPr>
          <a:xfrm>
            <a:off x="611292"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11292"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777942"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ptr</a:t>
            </a:r>
            <a:endParaRPr lang="en-US" sz="1100"/>
          </a:p>
        </p:txBody>
      </p:sp>
      <p:sp>
        <p:nvSpPr>
          <p:cNvPr id="21" name="AutoShape 21"/>
          <p:cNvSpPr/>
          <p:nvPr/>
        </p:nvSpPr>
        <p:spPr>
          <a:xfrm>
            <a:off x="777942"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Target memory address</a:t>
            </a:r>
            <a:endParaRPr lang="en-US" sz="1100"/>
          </a:p>
        </p:txBody>
      </p:sp>
      <p:sp>
        <p:nvSpPr>
          <p:cNvPr id="22" name="Freeform 22"/>
          <p:cNvSpPr/>
          <p:nvPr/>
        </p:nvSpPr>
        <p:spPr>
          <a:xfrm>
            <a:off x="4328085"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328085"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4494736"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value</a:t>
            </a:r>
            <a:endParaRPr lang="en-US" sz="1100"/>
          </a:p>
        </p:txBody>
      </p:sp>
      <p:sp>
        <p:nvSpPr>
          <p:cNvPr id="25" name="AutoShape 25"/>
          <p:cNvSpPr/>
          <p:nvPr/>
        </p:nvSpPr>
        <p:spPr>
          <a:xfrm>
            <a:off x="4494736"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Data to write (tensor)</a:t>
            </a:r>
            <a:endParaRPr lang="en-US" sz="1100"/>
          </a:p>
        </p:txBody>
      </p:sp>
      <p:sp>
        <p:nvSpPr>
          <p:cNvPr id="26" name="Freeform 26"/>
          <p:cNvSpPr/>
          <p:nvPr/>
        </p:nvSpPr>
        <p:spPr>
          <a:xfrm>
            <a:off x="8044879"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8044879"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211530"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100"/>
          </a:p>
        </p:txBody>
      </p:sp>
      <p:sp>
        <p:nvSpPr>
          <p:cNvPr id="29" name="AutoShape 29"/>
          <p:cNvSpPr/>
          <p:nvPr/>
        </p:nvSpPr>
        <p:spPr>
          <a:xfrm>
            <a:off x="8211530"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Controls write positions</a:t>
            </a:r>
            <a:endParaRPr lang="en-US" sz="1100"/>
          </a:p>
        </p:txBody>
      </p:sp>
      <p:sp>
        <p:nvSpPr>
          <p:cNvPr id="30" name="Freeform 30"/>
          <p:cNvSpPr/>
          <p:nvPr/>
        </p:nvSpPr>
        <p:spPr>
          <a:xfrm>
            <a:off x="592855" y="5822183"/>
            <a:ext cx="11006151" cy="518809"/>
          </a:xfrm>
          <a:custGeom>
            <a:avLst/>
            <a:gdLst/>
            <a:ahLst/>
            <a:cxnLst/>
            <a:rect l="l" t="t" r="r" b="b"/>
            <a:pathLst>
              <a:path w="11006151" h="518809">
                <a:moveTo>
                  <a:pt x="74117" y="0"/>
                </a:moveTo>
                <a:lnTo>
                  <a:pt x="10932036" y="0"/>
                </a:lnTo>
                <a:cubicBezTo>
                  <a:pt x="10972969" y="0"/>
                  <a:pt x="11006151" y="33183"/>
                  <a:pt x="11006151" y="74117"/>
                </a:cubicBezTo>
                <a:lnTo>
                  <a:pt x="11006151" y="444692"/>
                </a:lnTo>
                <a:cubicBezTo>
                  <a:pt x="11006151" y="485625"/>
                  <a:pt x="10972969" y="518809"/>
                  <a:pt x="10932036" y="518809"/>
                </a:cubicBezTo>
                <a:lnTo>
                  <a:pt x="74117" y="518809"/>
                </a:lnTo>
                <a:cubicBezTo>
                  <a:pt x="33183" y="518809"/>
                  <a:pt x="0" y="485625"/>
                  <a:pt x="0" y="444692"/>
                </a:cubicBezTo>
                <a:lnTo>
                  <a:pt x="0" y="74117"/>
                </a:lnTo>
                <a:cubicBezTo>
                  <a:pt x="0" y="33211"/>
                  <a:pt x="33210" y="0"/>
                  <a:pt x="7411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763542" y="5988898"/>
            <a:ext cx="186665" cy="173708"/>
          </a:xfrm>
          <a:custGeom>
            <a:avLst/>
            <a:gdLst/>
            <a:ahLst/>
            <a:cxnLst/>
            <a:rect l="l" t="t" r="r" b="b"/>
            <a:pathLst>
              <a:path w="186665" h="173708">
                <a:moveTo>
                  <a:pt x="93332" y="0"/>
                </a:moveTo>
                <a:cubicBezTo>
                  <a:pt x="98652" y="0"/>
                  <a:pt x="103538" y="2931"/>
                  <a:pt x="106071" y="7600"/>
                </a:cubicBezTo>
                <a:lnTo>
                  <a:pt x="184240" y="152357"/>
                </a:lnTo>
                <a:cubicBezTo>
                  <a:pt x="186664" y="156844"/>
                  <a:pt x="186556" y="162272"/>
                  <a:pt x="183950" y="166651"/>
                </a:cubicBezTo>
                <a:cubicBezTo>
                  <a:pt x="181345" y="171030"/>
                  <a:pt x="176605" y="173708"/>
                  <a:pt x="171500" y="173708"/>
                </a:cubicBezTo>
                <a:lnTo>
                  <a:pt x="15163" y="173708"/>
                </a:lnTo>
                <a:cubicBezTo>
                  <a:pt x="10061" y="173708"/>
                  <a:pt x="5357" y="171030"/>
                  <a:pt x="2715" y="166651"/>
                </a:cubicBezTo>
                <a:cubicBezTo>
                  <a:pt x="73" y="162272"/>
                  <a:pt x="0" y="156844"/>
                  <a:pt x="2425" y="152357"/>
                </a:cubicBezTo>
                <a:lnTo>
                  <a:pt x="80594" y="7600"/>
                </a:lnTo>
                <a:cubicBezTo>
                  <a:pt x="83128" y="2931"/>
                  <a:pt x="88013" y="0"/>
                  <a:pt x="93332" y="0"/>
                </a:cubicBezTo>
                <a:close/>
                <a:moveTo>
                  <a:pt x="93332" y="60797"/>
                </a:moveTo>
                <a:cubicBezTo>
                  <a:pt x="88519" y="60797"/>
                  <a:pt x="84646" y="64670"/>
                  <a:pt x="84646" y="69483"/>
                </a:cubicBezTo>
                <a:lnTo>
                  <a:pt x="84646" y="110015"/>
                </a:lnTo>
                <a:cubicBezTo>
                  <a:pt x="84646" y="114828"/>
                  <a:pt x="88519" y="118701"/>
                  <a:pt x="93332" y="118701"/>
                </a:cubicBezTo>
                <a:cubicBezTo>
                  <a:pt x="98147" y="118701"/>
                  <a:pt x="102017" y="114828"/>
                  <a:pt x="102017" y="110015"/>
                </a:cubicBezTo>
                <a:lnTo>
                  <a:pt x="102017" y="69483"/>
                </a:lnTo>
                <a:cubicBezTo>
                  <a:pt x="102017" y="64670"/>
                  <a:pt x="98147" y="60797"/>
                  <a:pt x="93332" y="60797"/>
                </a:cubicBezTo>
                <a:close/>
                <a:moveTo>
                  <a:pt x="102995" y="138967"/>
                </a:moveTo>
                <a:cubicBezTo>
                  <a:pt x="103215" y="135379"/>
                  <a:pt x="101426" y="131968"/>
                  <a:pt x="98351" y="130108"/>
                </a:cubicBezTo>
                <a:cubicBezTo>
                  <a:pt x="95278" y="128248"/>
                  <a:pt x="91424" y="128248"/>
                  <a:pt x="88348" y="130108"/>
                </a:cubicBezTo>
                <a:cubicBezTo>
                  <a:pt x="85275" y="131968"/>
                  <a:pt x="83486" y="135379"/>
                  <a:pt x="83707" y="138967"/>
                </a:cubicBezTo>
                <a:cubicBezTo>
                  <a:pt x="83486" y="142552"/>
                  <a:pt x="85275" y="145966"/>
                  <a:pt x="88348" y="147825"/>
                </a:cubicBezTo>
                <a:cubicBezTo>
                  <a:pt x="91424" y="149685"/>
                  <a:pt x="95278" y="149685"/>
                  <a:pt x="98351" y="147825"/>
                </a:cubicBezTo>
                <a:cubicBezTo>
                  <a:pt x="101426" y="145966"/>
                  <a:pt x="103215" y="142552"/>
                  <a:pt x="102995" y="13896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083804" y="5970396"/>
            <a:ext cx="10177431"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store  operation must include mask, otherwise it may cause out-of-bounds memory access and data corruption</a:t>
            </a:r>
            <a:endParaRPr lang="en-US" sz="1100"/>
          </a:p>
        </p:txBody>
      </p:sp>
      <p:sp>
        <p:nvSpPr>
          <p:cNvPr id="33" name="AutoShape 33"/>
          <p:cNvSpPr/>
          <p:nvPr/>
        </p:nvSpPr>
        <p:spPr>
          <a:xfrm>
            <a:off x="370534" y="6711461"/>
            <a:ext cx="11506432" cy="148231"/>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9218" y="626561"/>
            <a:ext cx="11652454" cy="34809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5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Grid Definition </a:t>
            </a:r>
            <a:endParaRPr lang="en-US" sz="1100"/>
          </a:p>
        </p:txBody>
      </p:sp>
      <p:sp>
        <p:nvSpPr>
          <p:cNvPr id="3" name="Freeform 3"/>
          <p:cNvSpPr/>
          <p:nvPr/>
        </p:nvSpPr>
        <p:spPr>
          <a:xfrm>
            <a:off x="365372" y="1287694"/>
            <a:ext cx="5586827" cy="2680325"/>
          </a:xfrm>
          <a:custGeom>
            <a:avLst/>
            <a:gdLst/>
            <a:ahLst/>
            <a:cxnLst/>
            <a:rect l="l" t="t" r="r" b="b"/>
            <a:pathLst>
              <a:path w="5586827" h="2680325">
                <a:moveTo>
                  <a:pt x="34635" y="0"/>
                </a:moveTo>
                <a:lnTo>
                  <a:pt x="5482400" y="0"/>
                </a:lnTo>
                <a:cubicBezTo>
                  <a:pt x="5540073" y="0"/>
                  <a:pt x="5586827" y="46753"/>
                  <a:pt x="5586827" y="104424"/>
                </a:cubicBezTo>
                <a:lnTo>
                  <a:pt x="5586827" y="2575900"/>
                </a:lnTo>
                <a:cubicBezTo>
                  <a:pt x="5586827" y="2633574"/>
                  <a:pt x="5540073" y="2680325"/>
                  <a:pt x="5482400" y="2680325"/>
                </a:cubicBezTo>
                <a:lnTo>
                  <a:pt x="34635" y="2680325"/>
                </a:lnTo>
                <a:cubicBezTo>
                  <a:pt x="15507" y="2680325"/>
                  <a:pt x="0" y="2664818"/>
                  <a:pt x="0" y="2645689"/>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5372" y="1287694"/>
            <a:ext cx="34635" cy="2680325"/>
          </a:xfrm>
          <a:custGeom>
            <a:avLst/>
            <a:gdLst/>
            <a:ahLst/>
            <a:cxnLst/>
            <a:rect l="l" t="t" r="r" b="b"/>
            <a:pathLst>
              <a:path w="34635" h="2680325">
                <a:moveTo>
                  <a:pt x="34635" y="0"/>
                </a:moveTo>
                <a:lnTo>
                  <a:pt x="34635" y="0"/>
                </a:lnTo>
                <a:lnTo>
                  <a:pt x="34635" y="2680325"/>
                </a:lnTo>
                <a:lnTo>
                  <a:pt x="34635" y="2680325"/>
                </a:lnTo>
                <a:cubicBezTo>
                  <a:pt x="15507" y="2680325"/>
                  <a:pt x="0" y="2664818"/>
                  <a:pt x="0" y="2645689"/>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91522" y="1496525"/>
            <a:ext cx="5230116" cy="178398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Define grid</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grid = </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lambda</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triton.cdiv(n_elements, meta[</a:t>
            </a:r>
            <a:r>
              <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Launch kernel</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add_kernel[grid](...)</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grpSp>
        <p:nvGrpSpPr>
          <p:cNvPr id="6" name="Group 6"/>
          <p:cNvGrpSpPr/>
          <p:nvPr/>
        </p:nvGrpSpPr>
        <p:grpSpPr>
          <a:xfrm>
            <a:off x="6234726" y="1287694"/>
            <a:ext cx="5604317" cy="2680172"/>
            <a:chOff x="6234726" y="1287694"/>
            <a:chExt cx="5604317" cy="2680172"/>
          </a:xfrm>
        </p:grpSpPr>
        <p:sp>
          <p:nvSpPr>
            <p:cNvPr id="7" name="Freeform 7"/>
            <p:cNvSpPr/>
            <p:nvPr/>
          </p:nvSpPr>
          <p:spPr>
            <a:xfrm>
              <a:off x="6234726" y="1287694"/>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06581" y="1472568"/>
              <a:ext cx="152291" cy="152292"/>
            </a:xfrm>
            <a:custGeom>
              <a:avLst/>
              <a:gdLst/>
              <a:ahLst/>
              <a:cxnLst/>
              <a:rect l="l" t="t" r="r" b="b"/>
              <a:pathLst>
                <a:path w="152291" h="152292">
                  <a:moveTo>
                    <a:pt x="130534" y="21756"/>
                  </a:moveTo>
                  <a:lnTo>
                    <a:pt x="130534" y="43512"/>
                  </a:lnTo>
                  <a:lnTo>
                    <a:pt x="108779" y="43512"/>
                  </a:lnTo>
                  <a:lnTo>
                    <a:pt x="108779" y="21756"/>
                  </a:lnTo>
                  <a:lnTo>
                    <a:pt x="130534" y="21756"/>
                  </a:lnTo>
                  <a:close/>
                  <a:moveTo>
                    <a:pt x="130534" y="65267"/>
                  </a:moveTo>
                  <a:lnTo>
                    <a:pt x="130534" y="87022"/>
                  </a:lnTo>
                  <a:lnTo>
                    <a:pt x="108779" y="87022"/>
                  </a:lnTo>
                  <a:lnTo>
                    <a:pt x="108779" y="65267"/>
                  </a:lnTo>
                  <a:lnTo>
                    <a:pt x="130534" y="65267"/>
                  </a:lnTo>
                  <a:close/>
                  <a:moveTo>
                    <a:pt x="130534" y="108779"/>
                  </a:moveTo>
                  <a:lnTo>
                    <a:pt x="130534" y="130535"/>
                  </a:lnTo>
                  <a:lnTo>
                    <a:pt x="108779" y="130535"/>
                  </a:lnTo>
                  <a:lnTo>
                    <a:pt x="108779" y="108779"/>
                  </a:lnTo>
                  <a:lnTo>
                    <a:pt x="130534" y="108779"/>
                  </a:lnTo>
                  <a:close/>
                  <a:moveTo>
                    <a:pt x="87024" y="87022"/>
                  </a:moveTo>
                  <a:lnTo>
                    <a:pt x="65268" y="87022"/>
                  </a:lnTo>
                  <a:lnTo>
                    <a:pt x="65268" y="65267"/>
                  </a:lnTo>
                  <a:lnTo>
                    <a:pt x="87024" y="65267"/>
                  </a:lnTo>
                  <a:lnTo>
                    <a:pt x="87024" y="87022"/>
                  </a:lnTo>
                  <a:close/>
                  <a:moveTo>
                    <a:pt x="65268" y="108779"/>
                  </a:moveTo>
                  <a:lnTo>
                    <a:pt x="87024" y="108779"/>
                  </a:lnTo>
                  <a:lnTo>
                    <a:pt x="87024" y="130535"/>
                  </a:lnTo>
                  <a:lnTo>
                    <a:pt x="65268" y="130535"/>
                  </a:lnTo>
                  <a:lnTo>
                    <a:pt x="65268" y="108779"/>
                  </a:lnTo>
                  <a:close/>
                  <a:moveTo>
                    <a:pt x="43511" y="87022"/>
                  </a:moveTo>
                  <a:lnTo>
                    <a:pt x="21756" y="87022"/>
                  </a:lnTo>
                  <a:lnTo>
                    <a:pt x="21756" y="65267"/>
                  </a:lnTo>
                  <a:lnTo>
                    <a:pt x="43511" y="65267"/>
                  </a:lnTo>
                  <a:lnTo>
                    <a:pt x="43511" y="87022"/>
                  </a:lnTo>
                  <a:close/>
                  <a:moveTo>
                    <a:pt x="21756" y="108779"/>
                  </a:moveTo>
                  <a:lnTo>
                    <a:pt x="43511" y="108779"/>
                  </a:lnTo>
                  <a:lnTo>
                    <a:pt x="43511" y="130535"/>
                  </a:lnTo>
                  <a:lnTo>
                    <a:pt x="21756" y="130535"/>
                  </a:lnTo>
                  <a:lnTo>
                    <a:pt x="21756" y="108779"/>
                  </a:lnTo>
                  <a:close/>
                  <a:moveTo>
                    <a:pt x="21756" y="43512"/>
                  </a:moveTo>
                  <a:lnTo>
                    <a:pt x="21756" y="21756"/>
                  </a:lnTo>
                  <a:lnTo>
                    <a:pt x="43511" y="21756"/>
                  </a:lnTo>
                  <a:lnTo>
                    <a:pt x="43511" y="43512"/>
                  </a:lnTo>
                  <a:lnTo>
                    <a:pt x="21756" y="43512"/>
                  </a:lnTo>
                  <a:close/>
                  <a:moveTo>
                    <a:pt x="65268" y="43512"/>
                  </a:moveTo>
                  <a:lnTo>
                    <a:pt x="65268" y="21756"/>
                  </a:lnTo>
                  <a:lnTo>
                    <a:pt x="87024" y="21756"/>
                  </a:lnTo>
                  <a:lnTo>
                    <a:pt x="87024" y="43512"/>
                  </a:lnTo>
                  <a:lnTo>
                    <a:pt x="65268" y="43512"/>
                  </a:lnTo>
                  <a:close/>
                  <a:moveTo>
                    <a:pt x="21756" y="0"/>
                  </a:moveTo>
                  <a:cubicBezTo>
                    <a:pt x="9756" y="0"/>
                    <a:pt x="0" y="9756"/>
                    <a:pt x="0" y="21756"/>
                  </a:cubicBezTo>
                  <a:lnTo>
                    <a:pt x="0" y="130535"/>
                  </a:lnTo>
                  <a:cubicBezTo>
                    <a:pt x="0" y="142535"/>
                    <a:pt x="9756" y="152292"/>
                    <a:pt x="21756" y="152292"/>
                  </a:cubicBezTo>
                  <a:lnTo>
                    <a:pt x="130534" y="152292"/>
                  </a:lnTo>
                  <a:cubicBezTo>
                    <a:pt x="142535" y="152292"/>
                    <a:pt x="152291" y="142535"/>
                    <a:pt x="152291" y="130535"/>
                  </a:cubicBezTo>
                  <a:lnTo>
                    <a:pt x="152291" y="21756"/>
                  </a:lnTo>
                  <a:cubicBezTo>
                    <a:pt x="152291" y="9756"/>
                    <a:pt x="142535" y="0"/>
                    <a:pt x="130534" y="0"/>
                  </a:cubicBezTo>
                  <a:lnTo>
                    <a:pt x="21756"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695889" y="1426914"/>
              <a:ext cx="1889652"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 is a tuple</a:t>
              </a:r>
              <a:endParaRPr lang="en-US" sz="1100"/>
            </a:p>
          </p:txBody>
        </p:sp>
        <p:sp>
          <p:nvSpPr>
            <p:cNvPr id="10" name="AutoShape 10"/>
            <p:cNvSpPr/>
            <p:nvPr/>
          </p:nvSpPr>
          <p:spPr>
            <a:xfrm>
              <a:off x="6373947" y="1740199"/>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Represents a 1D, 2D, or 3D grid</a:t>
              </a:r>
              <a:endParaRPr lang="en-US" sz="1100"/>
            </a:p>
          </p:txBody>
        </p:sp>
        <p:sp>
          <p:nvSpPr>
            <p:cNvPr id="11" name="Freeform 11"/>
            <p:cNvSpPr/>
            <p:nvPr/>
          </p:nvSpPr>
          <p:spPr>
            <a:xfrm>
              <a:off x="6234726" y="2227472"/>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417459" y="2401468"/>
              <a:ext cx="130534" cy="174047"/>
            </a:xfrm>
            <a:custGeom>
              <a:avLst/>
              <a:gdLst/>
              <a:ahLst/>
              <a:cxnLst/>
              <a:rect l="l" t="t" r="r" b="b"/>
              <a:pathLst>
                <a:path w="130534" h="174047">
                  <a:moveTo>
                    <a:pt x="21756" y="0"/>
                  </a:moveTo>
                  <a:cubicBezTo>
                    <a:pt x="9756" y="0"/>
                    <a:pt x="0" y="9756"/>
                    <a:pt x="0" y="21756"/>
                  </a:cubicBezTo>
                  <a:lnTo>
                    <a:pt x="0" y="152291"/>
                  </a:lnTo>
                  <a:cubicBezTo>
                    <a:pt x="0" y="164291"/>
                    <a:pt x="9756" y="174047"/>
                    <a:pt x="21756" y="174047"/>
                  </a:cubicBezTo>
                  <a:lnTo>
                    <a:pt x="108779" y="174047"/>
                  </a:lnTo>
                  <a:cubicBezTo>
                    <a:pt x="120780" y="174047"/>
                    <a:pt x="130534" y="164291"/>
                    <a:pt x="130534" y="152291"/>
                  </a:cubicBezTo>
                  <a:lnTo>
                    <a:pt x="130534" y="21756"/>
                  </a:lnTo>
                  <a:cubicBezTo>
                    <a:pt x="130534" y="9756"/>
                    <a:pt x="120780" y="0"/>
                    <a:pt x="108779" y="0"/>
                  </a:cubicBezTo>
                  <a:lnTo>
                    <a:pt x="21756" y="0"/>
                  </a:lnTo>
                  <a:close/>
                  <a:moveTo>
                    <a:pt x="32634" y="21756"/>
                  </a:moveTo>
                  <a:lnTo>
                    <a:pt x="97900" y="21756"/>
                  </a:lnTo>
                  <a:cubicBezTo>
                    <a:pt x="103918" y="21756"/>
                    <a:pt x="108779" y="26617"/>
                    <a:pt x="108779" y="32634"/>
                  </a:cubicBezTo>
                  <a:lnTo>
                    <a:pt x="108779" y="43511"/>
                  </a:lnTo>
                  <a:cubicBezTo>
                    <a:pt x="108779" y="49529"/>
                    <a:pt x="103918" y="54390"/>
                    <a:pt x="97900" y="54390"/>
                  </a:cubicBezTo>
                  <a:lnTo>
                    <a:pt x="32634" y="54390"/>
                  </a:lnTo>
                  <a:cubicBezTo>
                    <a:pt x="26617" y="54390"/>
                    <a:pt x="21756" y="49529"/>
                    <a:pt x="21756" y="43511"/>
                  </a:cubicBezTo>
                  <a:lnTo>
                    <a:pt x="21756" y="32634"/>
                  </a:lnTo>
                  <a:cubicBezTo>
                    <a:pt x="21756" y="26617"/>
                    <a:pt x="26617" y="21756"/>
                    <a:pt x="32634" y="21756"/>
                  </a:cubicBezTo>
                  <a:close/>
                  <a:moveTo>
                    <a:pt x="38073" y="78864"/>
                  </a:moveTo>
                  <a:cubicBezTo>
                    <a:pt x="38073" y="83368"/>
                    <a:pt x="34417" y="87024"/>
                    <a:pt x="29914" y="87024"/>
                  </a:cubicBezTo>
                  <a:cubicBezTo>
                    <a:pt x="25411" y="87024"/>
                    <a:pt x="21756" y="83368"/>
                    <a:pt x="21756" y="78864"/>
                  </a:cubicBezTo>
                  <a:cubicBezTo>
                    <a:pt x="21756" y="74362"/>
                    <a:pt x="25411" y="70707"/>
                    <a:pt x="29914" y="70707"/>
                  </a:cubicBezTo>
                  <a:cubicBezTo>
                    <a:pt x="34417" y="70707"/>
                    <a:pt x="38073" y="74362"/>
                    <a:pt x="38073" y="78864"/>
                  </a:cubicBezTo>
                  <a:close/>
                  <a:moveTo>
                    <a:pt x="65268" y="87024"/>
                  </a:moveTo>
                  <a:cubicBezTo>
                    <a:pt x="60764" y="87024"/>
                    <a:pt x="57109" y="83368"/>
                    <a:pt x="57109" y="78864"/>
                  </a:cubicBezTo>
                  <a:cubicBezTo>
                    <a:pt x="57109" y="74362"/>
                    <a:pt x="60764" y="70707"/>
                    <a:pt x="65268" y="70707"/>
                  </a:cubicBezTo>
                  <a:cubicBezTo>
                    <a:pt x="69770" y="70707"/>
                    <a:pt x="73426" y="74362"/>
                    <a:pt x="73426" y="78864"/>
                  </a:cubicBezTo>
                  <a:cubicBezTo>
                    <a:pt x="73426" y="83368"/>
                    <a:pt x="69770" y="87024"/>
                    <a:pt x="65268" y="87024"/>
                  </a:cubicBezTo>
                  <a:close/>
                  <a:moveTo>
                    <a:pt x="108779" y="78864"/>
                  </a:moveTo>
                  <a:cubicBezTo>
                    <a:pt x="108779" y="83368"/>
                    <a:pt x="105124" y="87024"/>
                    <a:pt x="100621" y="87024"/>
                  </a:cubicBezTo>
                  <a:cubicBezTo>
                    <a:pt x="96117" y="87024"/>
                    <a:pt x="92464" y="83368"/>
                    <a:pt x="92464" y="78864"/>
                  </a:cubicBezTo>
                  <a:cubicBezTo>
                    <a:pt x="92464" y="74362"/>
                    <a:pt x="96117" y="70707"/>
                    <a:pt x="100621" y="70707"/>
                  </a:cubicBezTo>
                  <a:cubicBezTo>
                    <a:pt x="105124" y="70707"/>
                    <a:pt x="108779" y="74362"/>
                    <a:pt x="108779" y="78864"/>
                  </a:cubicBezTo>
                  <a:close/>
                  <a:moveTo>
                    <a:pt x="29914" y="119657"/>
                  </a:moveTo>
                  <a:cubicBezTo>
                    <a:pt x="25411" y="119657"/>
                    <a:pt x="21756" y="116002"/>
                    <a:pt x="21756" y="111498"/>
                  </a:cubicBezTo>
                  <a:cubicBezTo>
                    <a:pt x="21756" y="106996"/>
                    <a:pt x="25411" y="103340"/>
                    <a:pt x="29914" y="103340"/>
                  </a:cubicBezTo>
                  <a:cubicBezTo>
                    <a:pt x="34417" y="103340"/>
                    <a:pt x="38073" y="106996"/>
                    <a:pt x="38073" y="111498"/>
                  </a:cubicBezTo>
                  <a:cubicBezTo>
                    <a:pt x="38073" y="116002"/>
                    <a:pt x="34417" y="119657"/>
                    <a:pt x="29914" y="119657"/>
                  </a:cubicBezTo>
                  <a:close/>
                  <a:moveTo>
                    <a:pt x="73426" y="111498"/>
                  </a:moveTo>
                  <a:cubicBezTo>
                    <a:pt x="73426" y="116002"/>
                    <a:pt x="69770" y="119657"/>
                    <a:pt x="65268" y="119657"/>
                  </a:cubicBezTo>
                  <a:cubicBezTo>
                    <a:pt x="60764" y="119657"/>
                    <a:pt x="57109" y="116002"/>
                    <a:pt x="57109" y="111498"/>
                  </a:cubicBezTo>
                  <a:cubicBezTo>
                    <a:pt x="57109" y="106996"/>
                    <a:pt x="60764" y="103340"/>
                    <a:pt x="65268" y="103340"/>
                  </a:cubicBezTo>
                  <a:cubicBezTo>
                    <a:pt x="69770" y="103340"/>
                    <a:pt x="73426" y="106996"/>
                    <a:pt x="73426" y="111498"/>
                  </a:cubicBezTo>
                  <a:close/>
                  <a:moveTo>
                    <a:pt x="100621" y="119657"/>
                  </a:moveTo>
                  <a:cubicBezTo>
                    <a:pt x="96117" y="119657"/>
                    <a:pt x="92464" y="116002"/>
                    <a:pt x="92464" y="111498"/>
                  </a:cubicBezTo>
                  <a:cubicBezTo>
                    <a:pt x="92464" y="106996"/>
                    <a:pt x="96117" y="103340"/>
                    <a:pt x="100621" y="103340"/>
                  </a:cubicBezTo>
                  <a:cubicBezTo>
                    <a:pt x="105124" y="103340"/>
                    <a:pt x="108779" y="106996"/>
                    <a:pt x="108779" y="111498"/>
                  </a:cubicBezTo>
                  <a:cubicBezTo>
                    <a:pt x="108779" y="116002"/>
                    <a:pt x="105124" y="119657"/>
                    <a:pt x="100621" y="119657"/>
                  </a:cubicBezTo>
                  <a:close/>
                  <a:moveTo>
                    <a:pt x="21756" y="144134"/>
                  </a:moveTo>
                  <a:cubicBezTo>
                    <a:pt x="21756" y="139612"/>
                    <a:pt x="25392" y="135974"/>
                    <a:pt x="29914" y="135974"/>
                  </a:cubicBezTo>
                  <a:lnTo>
                    <a:pt x="67987" y="135974"/>
                  </a:lnTo>
                  <a:cubicBezTo>
                    <a:pt x="72508" y="135974"/>
                    <a:pt x="76145" y="139612"/>
                    <a:pt x="76145" y="144134"/>
                  </a:cubicBezTo>
                  <a:cubicBezTo>
                    <a:pt x="76145" y="148654"/>
                    <a:pt x="72508" y="152291"/>
                    <a:pt x="67987" y="152291"/>
                  </a:cubicBezTo>
                  <a:lnTo>
                    <a:pt x="29914" y="152291"/>
                  </a:lnTo>
                  <a:cubicBezTo>
                    <a:pt x="25392" y="152291"/>
                    <a:pt x="21756" y="148654"/>
                    <a:pt x="21756" y="144134"/>
                  </a:cubicBezTo>
                  <a:close/>
                  <a:moveTo>
                    <a:pt x="100621" y="135974"/>
                  </a:moveTo>
                  <a:cubicBezTo>
                    <a:pt x="105142" y="135974"/>
                    <a:pt x="108779" y="139612"/>
                    <a:pt x="108779" y="144134"/>
                  </a:cubicBezTo>
                  <a:cubicBezTo>
                    <a:pt x="108779" y="148654"/>
                    <a:pt x="105142" y="152291"/>
                    <a:pt x="100621" y="152291"/>
                  </a:cubicBezTo>
                  <a:cubicBezTo>
                    <a:pt x="96100" y="152291"/>
                    <a:pt x="92464" y="148654"/>
                    <a:pt x="92464" y="144134"/>
                  </a:cubicBezTo>
                  <a:cubicBezTo>
                    <a:pt x="92464" y="139612"/>
                    <a:pt x="96100" y="135974"/>
                    <a:pt x="100621" y="13597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695889" y="2366692"/>
              <a:ext cx="2484932" cy="16510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 Size Calculation</a:t>
              </a:r>
              <a:endParaRPr lang="en-US" sz="1100"/>
            </a:p>
          </p:txBody>
        </p:sp>
        <p:sp>
          <p:nvSpPr>
            <p:cNvPr id="14" name="AutoShape 14"/>
            <p:cNvSpPr/>
            <p:nvPr/>
          </p:nvSpPr>
          <p:spPr>
            <a:xfrm>
              <a:off x="6373947" y="2679977"/>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Size = ceil(n_elements / BLOCK_SIZE)</a:t>
              </a:r>
              <a:endParaRPr lang="en-US" sz="1100"/>
            </a:p>
          </p:txBody>
        </p:sp>
        <p:sp>
          <p:nvSpPr>
            <p:cNvPr id="15" name="Freeform 15"/>
            <p:cNvSpPr/>
            <p:nvPr/>
          </p:nvSpPr>
          <p:spPr>
            <a:xfrm>
              <a:off x="6234726" y="3167249"/>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394649" y="3340362"/>
              <a:ext cx="176190" cy="175781"/>
            </a:xfrm>
            <a:custGeom>
              <a:avLst/>
              <a:gdLst/>
              <a:ahLst/>
              <a:cxnLst/>
              <a:rect l="l" t="t" r="r" b="b"/>
              <a:pathLst>
                <a:path w="176190" h="175781">
                  <a:moveTo>
                    <a:pt x="171906" y="139102"/>
                  </a:moveTo>
                  <a:lnTo>
                    <a:pt x="139272" y="171736"/>
                  </a:lnTo>
                  <a:cubicBezTo>
                    <a:pt x="136144" y="174863"/>
                    <a:pt x="131487" y="175781"/>
                    <a:pt x="127408" y="174082"/>
                  </a:cubicBezTo>
                  <a:cubicBezTo>
                    <a:pt x="123330" y="172382"/>
                    <a:pt x="120711" y="168438"/>
                    <a:pt x="120711" y="164054"/>
                  </a:cubicBezTo>
                  <a:lnTo>
                    <a:pt x="120711" y="142297"/>
                  </a:lnTo>
                  <a:lnTo>
                    <a:pt x="11932" y="142297"/>
                  </a:lnTo>
                  <a:cubicBezTo>
                    <a:pt x="5916" y="142297"/>
                    <a:pt x="1054" y="137436"/>
                    <a:pt x="1054" y="131418"/>
                  </a:cubicBezTo>
                  <a:cubicBezTo>
                    <a:pt x="1054" y="125402"/>
                    <a:pt x="5916" y="120541"/>
                    <a:pt x="11932" y="120541"/>
                  </a:cubicBezTo>
                  <a:lnTo>
                    <a:pt x="120711" y="120541"/>
                  </a:lnTo>
                  <a:lnTo>
                    <a:pt x="120711" y="98784"/>
                  </a:lnTo>
                  <a:cubicBezTo>
                    <a:pt x="120711" y="94400"/>
                    <a:pt x="123363" y="90423"/>
                    <a:pt x="127442" y="88724"/>
                  </a:cubicBezTo>
                  <a:cubicBezTo>
                    <a:pt x="131521" y="87024"/>
                    <a:pt x="136178" y="87976"/>
                    <a:pt x="139306" y="91069"/>
                  </a:cubicBezTo>
                  <a:lnTo>
                    <a:pt x="171940" y="123703"/>
                  </a:lnTo>
                  <a:cubicBezTo>
                    <a:pt x="176190" y="127953"/>
                    <a:pt x="176190" y="134852"/>
                    <a:pt x="171940" y="139102"/>
                  </a:cubicBezTo>
                  <a:close/>
                  <a:moveTo>
                    <a:pt x="4249" y="52078"/>
                  </a:moveTo>
                  <a:cubicBezTo>
                    <a:pt x="0" y="47830"/>
                    <a:pt x="0" y="40928"/>
                    <a:pt x="4249" y="36679"/>
                  </a:cubicBezTo>
                  <a:lnTo>
                    <a:pt x="36883" y="4045"/>
                  </a:lnTo>
                  <a:cubicBezTo>
                    <a:pt x="40011" y="918"/>
                    <a:pt x="44668" y="0"/>
                    <a:pt x="48748" y="1701"/>
                  </a:cubicBezTo>
                  <a:cubicBezTo>
                    <a:pt x="52826" y="3400"/>
                    <a:pt x="55444" y="7378"/>
                    <a:pt x="55444" y="11762"/>
                  </a:cubicBezTo>
                  <a:lnTo>
                    <a:pt x="55444" y="33518"/>
                  </a:lnTo>
                  <a:lnTo>
                    <a:pt x="164224" y="33518"/>
                  </a:lnTo>
                  <a:cubicBezTo>
                    <a:pt x="170240" y="33518"/>
                    <a:pt x="175101" y="38379"/>
                    <a:pt x="175101" y="44395"/>
                  </a:cubicBezTo>
                  <a:cubicBezTo>
                    <a:pt x="175101" y="50413"/>
                    <a:pt x="170240" y="55274"/>
                    <a:pt x="164224" y="55274"/>
                  </a:cubicBezTo>
                  <a:lnTo>
                    <a:pt x="55444" y="55274"/>
                  </a:lnTo>
                  <a:lnTo>
                    <a:pt x="55444" y="77029"/>
                  </a:lnTo>
                  <a:cubicBezTo>
                    <a:pt x="55444" y="81415"/>
                    <a:pt x="52793" y="85392"/>
                    <a:pt x="48713" y="87092"/>
                  </a:cubicBezTo>
                  <a:cubicBezTo>
                    <a:pt x="44634" y="88791"/>
                    <a:pt x="39977" y="87840"/>
                    <a:pt x="36849" y="84746"/>
                  </a:cubicBezTo>
                  <a:lnTo>
                    <a:pt x="4215" y="5211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95889" y="3306470"/>
              <a:ext cx="722296"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1D grid</a:t>
              </a:r>
              <a:endParaRPr lang="en-US" sz="1100"/>
            </a:p>
          </p:txBody>
        </p:sp>
        <p:sp>
          <p:nvSpPr>
            <p:cNvPr id="18" name="AutoShape 18"/>
            <p:cNvSpPr/>
            <p:nvPr/>
          </p:nvSpPr>
          <p:spPr>
            <a:xfrm>
              <a:off x="6373947" y="3619755"/>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This example uses a 1D grid with only one dimension</a:t>
              </a:r>
              <a:endParaRPr lang="en-US" sz="1100"/>
            </a:p>
          </p:txBody>
        </p:sp>
      </p:grpSp>
      <p:grpSp>
        <p:nvGrpSpPr>
          <p:cNvPr id="19" name="Group 19"/>
          <p:cNvGrpSpPr/>
          <p:nvPr/>
        </p:nvGrpSpPr>
        <p:grpSpPr>
          <a:xfrm>
            <a:off x="348054" y="4176638"/>
            <a:ext cx="11495811" cy="2401849"/>
            <a:chOff x="348054" y="4176638"/>
            <a:chExt cx="11495811" cy="2401849"/>
          </a:xfrm>
        </p:grpSpPr>
        <p:sp>
          <p:nvSpPr>
            <p:cNvPr id="20" name="Freeform 20"/>
            <p:cNvSpPr/>
            <p:nvPr/>
          </p:nvSpPr>
          <p:spPr>
            <a:xfrm>
              <a:off x="348054" y="4176638"/>
              <a:ext cx="11495811" cy="2401849"/>
            </a:xfrm>
            <a:custGeom>
              <a:avLst/>
              <a:gdLst/>
              <a:ahLst/>
              <a:cxnLst/>
              <a:rect l="l" t="t" r="r" b="b"/>
              <a:pathLst>
                <a:path w="11495811" h="2401849">
                  <a:moveTo>
                    <a:pt x="104432" y="0"/>
                  </a:moveTo>
                  <a:lnTo>
                    <a:pt x="11391379" y="0"/>
                  </a:lnTo>
                  <a:cubicBezTo>
                    <a:pt x="11449056" y="0"/>
                    <a:pt x="11495811" y="46756"/>
                    <a:pt x="11495811" y="104432"/>
                  </a:cubicBezTo>
                  <a:lnTo>
                    <a:pt x="11495811" y="2297419"/>
                  </a:lnTo>
                  <a:cubicBezTo>
                    <a:pt x="11495811" y="2355094"/>
                    <a:pt x="11449056" y="2401849"/>
                    <a:pt x="11391379" y="2401849"/>
                  </a:cubicBezTo>
                  <a:lnTo>
                    <a:pt x="104432" y="2401849"/>
                  </a:lnTo>
                  <a:cubicBezTo>
                    <a:pt x="46756" y="2401849"/>
                    <a:pt x="0" y="2355094"/>
                    <a:pt x="0" y="2297419"/>
                  </a:cubicBezTo>
                  <a:lnTo>
                    <a:pt x="0" y="104432"/>
                  </a:lnTo>
                  <a:cubicBezTo>
                    <a:pt x="0" y="46794"/>
                    <a:pt x="46794" y="0"/>
                    <a:pt x="10443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56886" y="4385469"/>
              <a:ext cx="11165122"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Calculation Example</a:t>
              </a:r>
              <a:endParaRPr lang="en-US" sz="1100"/>
            </a:p>
          </p:txBody>
        </p:sp>
        <p:sp>
          <p:nvSpPr>
            <p:cNvPr id="22" name="Freeform 22"/>
            <p:cNvSpPr/>
            <p:nvPr/>
          </p:nvSpPr>
          <p:spPr>
            <a:xfrm>
              <a:off x="565545" y="4777023"/>
              <a:ext cx="5412779" cy="1583742"/>
            </a:xfrm>
            <a:custGeom>
              <a:avLst/>
              <a:gdLst/>
              <a:ahLst/>
              <a:cxnLst/>
              <a:rect l="l" t="t" r="r" b="b"/>
              <a:pathLst>
                <a:path w="5412779" h="1583742">
                  <a:moveTo>
                    <a:pt x="69621" y="0"/>
                  </a:moveTo>
                  <a:lnTo>
                    <a:pt x="5343157" y="0"/>
                  </a:lnTo>
                  <a:cubicBezTo>
                    <a:pt x="5381608" y="0"/>
                    <a:pt x="5412779" y="31171"/>
                    <a:pt x="5412779" y="69621"/>
                  </a:cubicBezTo>
                  <a:lnTo>
                    <a:pt x="5412779" y="1514121"/>
                  </a:lnTo>
                  <a:cubicBezTo>
                    <a:pt x="5412779" y="1552572"/>
                    <a:pt x="5381608" y="1583742"/>
                    <a:pt x="5343157" y="1583742"/>
                  </a:cubicBezTo>
                  <a:lnTo>
                    <a:pt x="69621" y="1583742"/>
                  </a:lnTo>
                  <a:cubicBezTo>
                    <a:pt x="31171" y="1583742"/>
                    <a:pt x="0" y="1552572"/>
                    <a:pt x="0" y="1514121"/>
                  </a:cubicBezTo>
                  <a:lnTo>
                    <a:pt x="0" y="69621"/>
                  </a:lnTo>
                  <a:cubicBezTo>
                    <a:pt x="0" y="31196"/>
                    <a:pt x="31196" y="0"/>
                    <a:pt x="6962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713425" y="4924904"/>
              <a:ext cx="5177901"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Example 1</a:t>
              </a:r>
              <a:endParaRPr lang="en-US" sz="1100"/>
            </a:p>
          </p:txBody>
        </p:sp>
        <p:sp>
          <p:nvSpPr>
            <p:cNvPr id="24" name="Freeform 24"/>
            <p:cNvSpPr/>
            <p:nvPr/>
          </p:nvSpPr>
          <p:spPr>
            <a:xfrm>
              <a:off x="730743" y="5168511"/>
              <a:ext cx="5099494" cy="556951"/>
            </a:xfrm>
            <a:custGeom>
              <a:avLst/>
              <a:gdLst/>
              <a:ahLst/>
              <a:cxnLst/>
              <a:rect l="l" t="t" r="r" b="b"/>
              <a:pathLst>
                <a:path w="5099494" h="556951">
                  <a:moveTo>
                    <a:pt x="34635" y="0"/>
                  </a:moveTo>
                  <a:lnTo>
                    <a:pt x="5064684" y="0"/>
                  </a:lnTo>
                  <a:cubicBezTo>
                    <a:pt x="5083909" y="0"/>
                    <a:pt x="5099495" y="15585"/>
                    <a:pt x="5099495" y="34809"/>
                  </a:cubicBezTo>
                  <a:lnTo>
                    <a:pt x="5099495" y="522141"/>
                  </a:lnTo>
                  <a:cubicBezTo>
                    <a:pt x="5099495" y="541365"/>
                    <a:pt x="5083909" y="556951"/>
                    <a:pt x="5064684" y="556951"/>
                  </a:cubicBezTo>
                  <a:lnTo>
                    <a:pt x="34635" y="556951"/>
                  </a:lnTo>
                  <a:cubicBezTo>
                    <a:pt x="15507" y="556951"/>
                    <a:pt x="0" y="541444"/>
                    <a:pt x="0" y="522315"/>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730743" y="5168511"/>
              <a:ext cx="34635" cy="556951"/>
            </a:xfrm>
            <a:custGeom>
              <a:avLst/>
              <a:gdLst/>
              <a:ahLst/>
              <a:cxnLst/>
              <a:rect l="l" t="t" r="r" b="b"/>
              <a:pathLst>
                <a:path w="34635" h="556951">
                  <a:moveTo>
                    <a:pt x="34635" y="0"/>
                  </a:moveTo>
                  <a:lnTo>
                    <a:pt x="34635" y="0"/>
                  </a:lnTo>
                  <a:lnTo>
                    <a:pt x="34635" y="556951"/>
                  </a:lnTo>
                  <a:lnTo>
                    <a:pt x="34635" y="556951"/>
                  </a:lnTo>
                  <a:cubicBezTo>
                    <a:pt x="15507" y="556951"/>
                    <a:pt x="0" y="541444"/>
                    <a:pt x="0" y="522315"/>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852444" y="5272888"/>
              <a:ext cx="4942938" cy="34809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10000</a:t>
              </a:r>
              <a:endParaRPr lang="en-US" sz="1100"/>
            </a:p>
            <a:p>
              <a:pPr indent="0" algn="l">
                <a:lnSpc>
                  <a:spcPct val="100000"/>
                </a:lnSpc>
              </a:pPr>
              <a:r>
                <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1024</a:t>
              </a:r>
              <a:endPar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713425" y="5794868"/>
              <a:ext cx="5186604" cy="41771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grid = (10,)</a:t>
              </a:r>
              <a:endParaRPr lang="en-US" sz="1100"/>
            </a:p>
            <a:p>
              <a:pPr indent="0" algn="l">
                <a:lnSpc>
                  <a:spcPct val="133000"/>
                </a:lnSpc>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ceil(10000/1024) = 10</a:t>
              </a:r>
              <a:endPar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6208546" y="4777023"/>
              <a:ext cx="5412779" cy="1583742"/>
            </a:xfrm>
            <a:custGeom>
              <a:avLst/>
              <a:gdLst/>
              <a:ahLst/>
              <a:cxnLst/>
              <a:rect l="l" t="t" r="r" b="b"/>
              <a:pathLst>
                <a:path w="5412779" h="1583742">
                  <a:moveTo>
                    <a:pt x="69621" y="0"/>
                  </a:moveTo>
                  <a:lnTo>
                    <a:pt x="5343157" y="0"/>
                  </a:lnTo>
                  <a:cubicBezTo>
                    <a:pt x="5381608" y="0"/>
                    <a:pt x="5412779" y="31171"/>
                    <a:pt x="5412779" y="69621"/>
                  </a:cubicBezTo>
                  <a:lnTo>
                    <a:pt x="5412779" y="1514121"/>
                  </a:lnTo>
                  <a:cubicBezTo>
                    <a:pt x="5412779" y="1552572"/>
                    <a:pt x="5381608" y="1583742"/>
                    <a:pt x="5343157" y="1583742"/>
                  </a:cubicBezTo>
                  <a:lnTo>
                    <a:pt x="69621" y="1583742"/>
                  </a:lnTo>
                  <a:cubicBezTo>
                    <a:pt x="31171" y="1583742"/>
                    <a:pt x="0" y="1552572"/>
                    <a:pt x="0" y="1514121"/>
                  </a:cubicBezTo>
                  <a:lnTo>
                    <a:pt x="0" y="69621"/>
                  </a:lnTo>
                  <a:cubicBezTo>
                    <a:pt x="0" y="31196"/>
                    <a:pt x="31196" y="0"/>
                    <a:pt x="69621"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356426" y="4924904"/>
              <a:ext cx="5177901"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Example 2</a:t>
              </a:r>
              <a:endParaRPr lang="en-US" sz="1100"/>
            </a:p>
          </p:txBody>
        </p:sp>
        <p:sp>
          <p:nvSpPr>
            <p:cNvPr id="30" name="Freeform 30"/>
            <p:cNvSpPr/>
            <p:nvPr/>
          </p:nvSpPr>
          <p:spPr>
            <a:xfrm>
              <a:off x="6373745" y="5168511"/>
              <a:ext cx="5099495" cy="556951"/>
            </a:xfrm>
            <a:custGeom>
              <a:avLst/>
              <a:gdLst/>
              <a:ahLst/>
              <a:cxnLst/>
              <a:rect l="l" t="t" r="r" b="b"/>
              <a:pathLst>
                <a:path w="5099495" h="556951">
                  <a:moveTo>
                    <a:pt x="34635" y="0"/>
                  </a:moveTo>
                  <a:lnTo>
                    <a:pt x="5064684" y="0"/>
                  </a:lnTo>
                  <a:cubicBezTo>
                    <a:pt x="5083909" y="0"/>
                    <a:pt x="5099495" y="15585"/>
                    <a:pt x="5099495" y="34809"/>
                  </a:cubicBezTo>
                  <a:lnTo>
                    <a:pt x="5099495" y="522141"/>
                  </a:lnTo>
                  <a:cubicBezTo>
                    <a:pt x="5099495" y="541365"/>
                    <a:pt x="5083909" y="556951"/>
                    <a:pt x="5064684" y="556951"/>
                  </a:cubicBezTo>
                  <a:lnTo>
                    <a:pt x="34635" y="556951"/>
                  </a:lnTo>
                  <a:cubicBezTo>
                    <a:pt x="15507" y="556951"/>
                    <a:pt x="0" y="541444"/>
                    <a:pt x="0" y="522315"/>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373745" y="5168511"/>
              <a:ext cx="34635" cy="556951"/>
            </a:xfrm>
            <a:custGeom>
              <a:avLst/>
              <a:gdLst/>
              <a:ahLst/>
              <a:cxnLst/>
              <a:rect l="l" t="t" r="r" b="b"/>
              <a:pathLst>
                <a:path w="34635" h="556951">
                  <a:moveTo>
                    <a:pt x="34635" y="0"/>
                  </a:moveTo>
                  <a:lnTo>
                    <a:pt x="34635" y="0"/>
                  </a:lnTo>
                  <a:lnTo>
                    <a:pt x="34635" y="556951"/>
                  </a:lnTo>
                  <a:lnTo>
                    <a:pt x="34635" y="556951"/>
                  </a:lnTo>
                  <a:cubicBezTo>
                    <a:pt x="15507" y="556951"/>
                    <a:pt x="0" y="541444"/>
                    <a:pt x="0" y="522315"/>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495445" y="5272888"/>
              <a:ext cx="4942938" cy="34809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5000</a:t>
              </a:r>
              <a:endParaRPr lang="en-US" sz="1100"/>
            </a:p>
            <a:p>
              <a:pPr indent="0" algn="l">
                <a:lnSpc>
                  <a:spcPct val="100000"/>
                </a:lnSpc>
              </a:pPr>
              <a:r>
                <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256</a:t>
              </a:r>
              <a:endParaRPr lang="en-US" sz="10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6356426" y="5794868"/>
              <a:ext cx="5186604" cy="41771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grid = (20,)</a:t>
              </a:r>
              <a:endParaRPr lang="en-US" sz="1100"/>
            </a:p>
            <a:p>
              <a:pPr indent="0" algn="l">
                <a:lnSpc>
                  <a:spcPct val="133000"/>
                </a:lnSpc>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ceil(5000/256) = 20</a:t>
              </a:r>
              <a:endPar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4" name="AutoShape 34"/>
          <p:cNvSpPr/>
          <p:nvPr/>
        </p:nvSpPr>
        <p:spPr>
          <a:xfrm>
            <a:off x="348054" y="6717131"/>
            <a:ext cx="11548026" cy="13923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3087" y="614621"/>
            <a:ext cx="11670327" cy="336563"/>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Why Use lambda meta?</a:t>
            </a:r>
            <a:endParaRPr lang="en-US" sz="1100"/>
          </a:p>
        </p:txBody>
      </p:sp>
      <p:grpSp>
        <p:nvGrpSpPr>
          <p:cNvPr id="3" name="Group 3"/>
          <p:cNvGrpSpPr/>
          <p:nvPr/>
        </p:nvGrpSpPr>
        <p:grpSpPr>
          <a:xfrm>
            <a:off x="336524" y="1779537"/>
            <a:ext cx="5603693" cy="984447"/>
            <a:chOff x="336524" y="1779537"/>
            <a:chExt cx="5603693" cy="984447"/>
          </a:xfrm>
        </p:grpSpPr>
        <p:sp>
          <p:nvSpPr>
            <p:cNvPr id="4" name="Freeform 4"/>
            <p:cNvSpPr/>
            <p:nvPr/>
          </p:nvSpPr>
          <p:spPr>
            <a:xfrm>
              <a:off x="336524" y="1779537"/>
              <a:ext cx="5603693" cy="984447"/>
            </a:xfrm>
            <a:custGeom>
              <a:avLst/>
              <a:gdLst/>
              <a:ahLst/>
              <a:cxnLst/>
              <a:rect l="l" t="t" r="r" b="b"/>
              <a:pathLst>
                <a:path w="5603693" h="984447">
                  <a:moveTo>
                    <a:pt x="33489" y="0"/>
                  </a:moveTo>
                  <a:lnTo>
                    <a:pt x="5502728" y="0"/>
                  </a:lnTo>
                  <a:cubicBezTo>
                    <a:pt x="5558489" y="0"/>
                    <a:pt x="5603693" y="45204"/>
                    <a:pt x="5603693" y="100965"/>
                  </a:cubicBezTo>
                  <a:lnTo>
                    <a:pt x="5603693" y="883482"/>
                  </a:lnTo>
                  <a:cubicBezTo>
                    <a:pt x="5603693" y="939244"/>
                    <a:pt x="5558489" y="984447"/>
                    <a:pt x="5502728" y="984447"/>
                  </a:cubicBezTo>
                  <a:lnTo>
                    <a:pt x="33489" y="984447"/>
                  </a:lnTo>
                  <a:cubicBezTo>
                    <a:pt x="14994" y="984447"/>
                    <a:pt x="0" y="969454"/>
                    <a:pt x="0" y="95095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Freeform 5"/>
            <p:cNvSpPr/>
            <p:nvPr/>
          </p:nvSpPr>
          <p:spPr>
            <a:xfrm>
              <a:off x="336524" y="1779537"/>
              <a:ext cx="33489" cy="984447"/>
            </a:xfrm>
            <a:custGeom>
              <a:avLst/>
              <a:gdLst/>
              <a:ahLst/>
              <a:cxnLst/>
              <a:rect l="l" t="t" r="r" b="b"/>
              <a:pathLst>
                <a:path w="33489" h="984447">
                  <a:moveTo>
                    <a:pt x="33489" y="0"/>
                  </a:moveTo>
                  <a:lnTo>
                    <a:pt x="33489" y="0"/>
                  </a:lnTo>
                  <a:lnTo>
                    <a:pt x="33489" y="984447"/>
                  </a:lnTo>
                  <a:lnTo>
                    <a:pt x="33489" y="984447"/>
                  </a:lnTo>
                  <a:cubicBezTo>
                    <a:pt x="14994" y="984447"/>
                    <a:pt x="0" y="969454"/>
                    <a:pt x="0" y="95095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80425" y="1998262"/>
              <a:ext cx="201938" cy="201938"/>
            </a:xfrm>
            <a:custGeom>
              <a:avLst/>
              <a:gdLst/>
              <a:ahLst/>
              <a:cxnLst/>
              <a:rect l="l" t="t" r="r" b="b"/>
              <a:pathLst>
                <a:path w="201938" h="201938">
                  <a:moveTo>
                    <a:pt x="100969" y="201938"/>
                  </a:moveTo>
                  <a:cubicBezTo>
                    <a:pt x="156695" y="201938"/>
                    <a:pt x="201938" y="156695"/>
                    <a:pt x="201938" y="100969"/>
                  </a:cubicBezTo>
                  <a:cubicBezTo>
                    <a:pt x="201938" y="45242"/>
                    <a:pt x="156695" y="0"/>
                    <a:pt x="100969" y="0"/>
                  </a:cubicBezTo>
                  <a:cubicBezTo>
                    <a:pt x="45242" y="0"/>
                    <a:pt x="0" y="45242"/>
                    <a:pt x="0" y="100969"/>
                  </a:cubicBezTo>
                  <a:cubicBezTo>
                    <a:pt x="0" y="156695"/>
                    <a:pt x="45242" y="201938"/>
                    <a:pt x="100969" y="201938"/>
                  </a:cubicBezTo>
                  <a:close/>
                  <a:moveTo>
                    <a:pt x="100969" y="69416"/>
                  </a:moveTo>
                  <a:cubicBezTo>
                    <a:pt x="93988" y="69416"/>
                    <a:pt x="88348" y="75056"/>
                    <a:pt x="88348" y="82037"/>
                  </a:cubicBezTo>
                  <a:cubicBezTo>
                    <a:pt x="88348" y="87283"/>
                    <a:pt x="84129" y="91504"/>
                    <a:pt x="78882" y="91504"/>
                  </a:cubicBezTo>
                  <a:cubicBezTo>
                    <a:pt x="73636" y="91504"/>
                    <a:pt x="69416" y="87283"/>
                    <a:pt x="69416" y="82037"/>
                  </a:cubicBezTo>
                  <a:cubicBezTo>
                    <a:pt x="69416" y="64604"/>
                    <a:pt x="83536" y="50484"/>
                    <a:pt x="100969" y="50484"/>
                  </a:cubicBezTo>
                  <a:cubicBezTo>
                    <a:pt x="118402" y="50484"/>
                    <a:pt x="132522" y="64604"/>
                    <a:pt x="132522" y="82037"/>
                  </a:cubicBezTo>
                  <a:cubicBezTo>
                    <a:pt x="132522" y="100653"/>
                    <a:pt x="118323" y="108542"/>
                    <a:pt x="110435" y="111421"/>
                  </a:cubicBezTo>
                  <a:lnTo>
                    <a:pt x="110435" y="112920"/>
                  </a:lnTo>
                  <a:cubicBezTo>
                    <a:pt x="110435" y="118165"/>
                    <a:pt x="106215" y="122385"/>
                    <a:pt x="100969" y="122385"/>
                  </a:cubicBezTo>
                  <a:cubicBezTo>
                    <a:pt x="95722" y="122385"/>
                    <a:pt x="91503" y="118165"/>
                    <a:pt x="91503" y="112920"/>
                  </a:cubicBezTo>
                  <a:lnTo>
                    <a:pt x="91503" y="109725"/>
                  </a:lnTo>
                  <a:cubicBezTo>
                    <a:pt x="91503" y="101639"/>
                    <a:pt x="97340" y="95842"/>
                    <a:pt x="103375" y="93870"/>
                  </a:cubicBezTo>
                  <a:cubicBezTo>
                    <a:pt x="105899" y="93041"/>
                    <a:pt x="108581" y="91700"/>
                    <a:pt x="110553" y="89807"/>
                  </a:cubicBezTo>
                  <a:cubicBezTo>
                    <a:pt x="112249" y="88151"/>
                    <a:pt x="113590" y="85863"/>
                    <a:pt x="113590" y="82078"/>
                  </a:cubicBezTo>
                  <a:cubicBezTo>
                    <a:pt x="113590" y="75096"/>
                    <a:pt x="107950" y="69456"/>
                    <a:pt x="100969" y="69456"/>
                  </a:cubicBezTo>
                  <a:close/>
                  <a:moveTo>
                    <a:pt x="88348" y="145143"/>
                  </a:moveTo>
                  <a:cubicBezTo>
                    <a:pt x="88348" y="138177"/>
                    <a:pt x="94003" y="132522"/>
                    <a:pt x="100969" y="132522"/>
                  </a:cubicBezTo>
                  <a:cubicBezTo>
                    <a:pt x="107935" y="132522"/>
                    <a:pt x="113590" y="138177"/>
                    <a:pt x="113590" y="145143"/>
                  </a:cubicBezTo>
                  <a:cubicBezTo>
                    <a:pt x="113590" y="152109"/>
                    <a:pt x="107935" y="157764"/>
                    <a:pt x="100969" y="157764"/>
                  </a:cubicBezTo>
                  <a:cubicBezTo>
                    <a:pt x="94003" y="157764"/>
                    <a:pt x="88348" y="152109"/>
                    <a:pt x="88348" y="14514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557779" y="2004646"/>
              <a:ext cx="2060185" cy="23559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Core Problem</a:t>
              </a:r>
              <a:endParaRPr lang="en-US" sz="1100"/>
            </a:p>
          </p:txBody>
        </p:sp>
        <p:sp>
          <p:nvSpPr>
            <p:cNvPr id="8" name="AutoShape 8"/>
            <p:cNvSpPr/>
            <p:nvPr/>
          </p:nvSpPr>
          <p:spPr>
            <a:xfrm>
              <a:off x="555183" y="2317973"/>
              <a:ext cx="5258799" cy="24400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BLOCK_SIZE is a </a:t>
              </a:r>
              <a:r>
                <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constexpr</a:t>
              </a: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(compile-time constant), and grid must be computed dynamically from meta</a:t>
              </a:r>
              <a:endParaRPr lang="en-US" sz="1100"/>
            </a:p>
          </p:txBody>
        </p:sp>
      </p:grpSp>
      <p:grpSp>
        <p:nvGrpSpPr>
          <p:cNvPr id="9" name="Group 9"/>
          <p:cNvGrpSpPr/>
          <p:nvPr/>
        </p:nvGrpSpPr>
        <p:grpSpPr>
          <a:xfrm>
            <a:off x="336524" y="3022371"/>
            <a:ext cx="5620605" cy="984447"/>
            <a:chOff x="336524" y="3022371"/>
            <a:chExt cx="5620605" cy="984447"/>
          </a:xfrm>
        </p:grpSpPr>
        <p:sp>
          <p:nvSpPr>
            <p:cNvPr id="10" name="Freeform 10"/>
            <p:cNvSpPr/>
            <p:nvPr/>
          </p:nvSpPr>
          <p:spPr>
            <a:xfrm>
              <a:off x="336524" y="3022371"/>
              <a:ext cx="5620605" cy="984447"/>
            </a:xfrm>
            <a:custGeom>
              <a:avLst/>
              <a:gdLst/>
              <a:ahLst/>
              <a:cxnLst/>
              <a:rect l="l" t="t" r="r" b="b"/>
              <a:pathLst>
                <a:path w="5620605" h="984447">
                  <a:moveTo>
                    <a:pt x="100965" y="0"/>
                  </a:moveTo>
                  <a:lnTo>
                    <a:pt x="5519640" y="0"/>
                  </a:lnTo>
                  <a:cubicBezTo>
                    <a:pt x="5575402" y="0"/>
                    <a:pt x="5620605" y="45204"/>
                    <a:pt x="5620605" y="100965"/>
                  </a:cubicBezTo>
                  <a:lnTo>
                    <a:pt x="5620605" y="883482"/>
                  </a:lnTo>
                  <a:cubicBezTo>
                    <a:pt x="5620605" y="939244"/>
                    <a:pt x="5575402" y="984447"/>
                    <a:pt x="5519640" y="984447"/>
                  </a:cubicBezTo>
                  <a:lnTo>
                    <a:pt x="100965" y="984447"/>
                  </a:lnTo>
                  <a:cubicBezTo>
                    <a:pt x="45204" y="984447"/>
                    <a:pt x="0" y="939244"/>
                    <a:pt x="0" y="883482"/>
                  </a:cubicBezTo>
                  <a:lnTo>
                    <a:pt x="0" y="100965"/>
                  </a:lnTo>
                  <a:cubicBezTo>
                    <a:pt x="0" y="45241"/>
                    <a:pt x="45241" y="0"/>
                    <a:pt x="10096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557779" y="3235975"/>
              <a:ext cx="757267" cy="23559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Solution</a:t>
              </a:r>
              <a:endParaRPr lang="en-US" sz="1100"/>
            </a:p>
          </p:txBody>
        </p:sp>
        <p:sp>
          <p:nvSpPr>
            <p:cNvPr id="12" name="AutoShape 12"/>
            <p:cNvSpPr/>
            <p:nvPr/>
          </p:nvSpPr>
          <p:spPr>
            <a:xfrm>
              <a:off x="538438" y="3560814"/>
              <a:ext cx="5292455" cy="24400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微软雅黑" panose="020B0503020204020204" charset="-122"/>
                  <a:ea typeface="微软雅黑" panose="020B0503020204020204" charset="-122"/>
                  <a:cs typeface="微软雅黑" panose="020B0503020204020204" charset="-122"/>
                  <a:sym typeface="微软雅黑" panose="020B0503020204020204" charset="-122"/>
                </a:rPr>
                <a:t>Use a lambda function to defer computation and retrieve the actual BLOCK_SIZE value at kernel compile time</a:t>
              </a:r>
              <a:endParaRPr lang="en-US" sz="1100"/>
            </a:p>
          </p:txBody>
        </p:sp>
      </p:grpSp>
      <p:sp>
        <p:nvSpPr>
          <p:cNvPr id="13" name="Freeform 13"/>
          <p:cNvSpPr/>
          <p:nvPr/>
        </p:nvSpPr>
        <p:spPr>
          <a:xfrm>
            <a:off x="6246852" y="1245045"/>
            <a:ext cx="5603693" cy="3357217"/>
          </a:xfrm>
          <a:custGeom>
            <a:avLst/>
            <a:gdLst/>
            <a:ahLst/>
            <a:cxnLst/>
            <a:rect l="l" t="t" r="r" b="b"/>
            <a:pathLst>
              <a:path w="5603693" h="3357217">
                <a:moveTo>
                  <a:pt x="33489" y="0"/>
                </a:moveTo>
                <a:lnTo>
                  <a:pt x="5502708" y="0"/>
                </a:lnTo>
                <a:cubicBezTo>
                  <a:pt x="5558480" y="0"/>
                  <a:pt x="5603693" y="45213"/>
                  <a:pt x="5603693" y="100985"/>
                </a:cubicBezTo>
                <a:lnTo>
                  <a:pt x="5603693" y="3256232"/>
                </a:lnTo>
                <a:cubicBezTo>
                  <a:pt x="5603693" y="3312005"/>
                  <a:pt x="5558480" y="3357217"/>
                  <a:pt x="5502708" y="3357217"/>
                </a:cubicBezTo>
                <a:lnTo>
                  <a:pt x="33489" y="3357217"/>
                </a:lnTo>
                <a:cubicBezTo>
                  <a:pt x="14994" y="3357217"/>
                  <a:pt x="0" y="3342223"/>
                  <a:pt x="0" y="3323728"/>
                </a:cubicBezTo>
                <a:lnTo>
                  <a:pt x="0" y="33489"/>
                </a:lnTo>
                <a:cubicBezTo>
                  <a:pt x="0" y="15006"/>
                  <a:pt x="15006" y="0"/>
                  <a:pt x="3348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246852" y="1245045"/>
            <a:ext cx="33489" cy="3357217"/>
          </a:xfrm>
          <a:custGeom>
            <a:avLst/>
            <a:gdLst/>
            <a:ahLst/>
            <a:cxnLst/>
            <a:rect l="l" t="t" r="r" b="b"/>
            <a:pathLst>
              <a:path w="33489" h="3357217">
                <a:moveTo>
                  <a:pt x="33489" y="0"/>
                </a:moveTo>
                <a:lnTo>
                  <a:pt x="33489" y="0"/>
                </a:lnTo>
                <a:lnTo>
                  <a:pt x="33489" y="3357217"/>
                </a:lnTo>
                <a:lnTo>
                  <a:pt x="33489" y="3357217"/>
                </a:lnTo>
                <a:cubicBezTo>
                  <a:pt x="14994" y="3357217"/>
                  <a:pt x="0" y="3342223"/>
                  <a:pt x="0" y="332372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465510" y="1446959"/>
            <a:ext cx="5258799" cy="295334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lambda meta syntax</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grid = </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lambda</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triton.cdiv(n_elements,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a:t>
            </a:r>
            <a:r>
              <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triton.cdiv function</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triton.cdiv(a, b) = ceil(a / b)</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Example</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triton.cdiv(</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1000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256</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4</a:t>
            </a: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ceil(1000/256) = ceil(3.906) = 4</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grpSp>
        <p:nvGrpSpPr>
          <p:cNvPr id="16" name="Group 16"/>
          <p:cNvGrpSpPr/>
          <p:nvPr/>
        </p:nvGrpSpPr>
        <p:grpSpPr>
          <a:xfrm>
            <a:off x="336524" y="4804349"/>
            <a:ext cx="11518875" cy="1783785"/>
            <a:chOff x="336524" y="4804349"/>
            <a:chExt cx="11518875" cy="1783785"/>
          </a:xfrm>
        </p:grpSpPr>
        <p:sp>
          <p:nvSpPr>
            <p:cNvPr id="17" name="Freeform 17"/>
            <p:cNvSpPr/>
            <p:nvPr/>
          </p:nvSpPr>
          <p:spPr>
            <a:xfrm>
              <a:off x="336524" y="4804349"/>
              <a:ext cx="11518875" cy="1783785"/>
            </a:xfrm>
            <a:custGeom>
              <a:avLst/>
              <a:gdLst/>
              <a:ahLst/>
              <a:cxnLst/>
              <a:rect l="l" t="t" r="r" b="b"/>
              <a:pathLst>
                <a:path w="11518875" h="1783785">
                  <a:moveTo>
                    <a:pt x="100962" y="0"/>
                  </a:moveTo>
                  <a:lnTo>
                    <a:pt x="11417911" y="0"/>
                  </a:lnTo>
                  <a:cubicBezTo>
                    <a:pt x="11473671" y="0"/>
                    <a:pt x="11518875" y="45202"/>
                    <a:pt x="11518875" y="100962"/>
                  </a:cubicBezTo>
                  <a:lnTo>
                    <a:pt x="11518875" y="1682822"/>
                  </a:lnTo>
                  <a:cubicBezTo>
                    <a:pt x="11518875" y="1738582"/>
                    <a:pt x="11473671" y="1783785"/>
                    <a:pt x="11417911" y="1783785"/>
                  </a:cubicBezTo>
                  <a:lnTo>
                    <a:pt x="100962" y="1783785"/>
                  </a:lnTo>
                  <a:cubicBezTo>
                    <a:pt x="45202" y="1783785"/>
                    <a:pt x="0" y="1738582"/>
                    <a:pt x="0" y="1682822"/>
                  </a:cubicBezTo>
                  <a:lnTo>
                    <a:pt x="0" y="100962"/>
                  </a:lnTo>
                  <a:cubicBezTo>
                    <a:pt x="0" y="45240"/>
                    <a:pt x="45240" y="0"/>
                    <a:pt x="10096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538438" y="5006262"/>
              <a:ext cx="11199139" cy="23559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Execution Flow</a:t>
              </a:r>
              <a:endParaRPr lang="en-US" sz="1100"/>
            </a:p>
          </p:txBody>
        </p:sp>
        <p:sp>
          <p:nvSpPr>
            <p:cNvPr id="19" name="Freeform 19"/>
            <p:cNvSpPr/>
            <p:nvPr/>
          </p:nvSpPr>
          <p:spPr>
            <a:xfrm>
              <a:off x="2037392"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995322"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1" name="AutoShape 21"/>
            <p:cNvSpPr/>
            <p:nvPr/>
          </p:nvSpPr>
          <p:spPr>
            <a:xfrm>
              <a:off x="504782"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Define kernel</a:t>
              </a:r>
              <a:endParaRPr lang="en-US" sz="1100"/>
            </a:p>
            <a:p>
              <a:pPr indent="0" algn="ctr">
                <a:lnSpc>
                  <a:spcPct val="133000"/>
                </a:lnSpc>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Specify BLOCK_SIZE</a:t>
              </a:r>
              <a:endPar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4074850" y="5729807"/>
              <a:ext cx="378634" cy="30290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0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5826279"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5784208"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5" name="AutoShape 25"/>
            <p:cNvSpPr/>
            <p:nvPr/>
          </p:nvSpPr>
          <p:spPr>
            <a:xfrm>
              <a:off x="4293668"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lambda retrieves</a:t>
              </a:r>
              <a:endParaRPr lang="en-US" sz="1100"/>
            </a:p>
            <a:p>
              <a:pPr indent="0" algn="ctr">
                <a:lnSpc>
                  <a:spcPct val="133000"/>
                </a:lnSpc>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meta['BLOCK_SIZE']</a:t>
              </a:r>
              <a:endPar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7863736" y="5729807"/>
              <a:ext cx="378634" cy="30290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0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9615165"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9573094"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9" name="AutoShape 29"/>
            <p:cNvSpPr/>
            <p:nvPr/>
          </p:nvSpPr>
          <p:spPr>
            <a:xfrm>
              <a:off x="8082555"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Compute grid</a:t>
              </a:r>
              <a:endParaRPr lang="en-US" sz="1100"/>
            </a:p>
            <a:p>
              <a:pPr indent="0" algn="ctr">
                <a:lnSpc>
                  <a:spcPct val="133000"/>
                </a:lnSpc>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Launch kernel</a:t>
              </a:r>
              <a:endPar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0" name="AutoShape 30"/>
          <p:cNvSpPr/>
          <p:nvPr/>
        </p:nvSpPr>
        <p:spPr>
          <a:xfrm>
            <a:off x="336524" y="6722569"/>
            <a:ext cx="11569358" cy="13462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Image source: Triton Official Docs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4392" y="610485"/>
            <a:ext cx="11614092" cy="37284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  Syntax</a:t>
            </a:r>
            <a:endParaRPr lang="en-US" sz="1100"/>
          </a:p>
        </p:txBody>
      </p:sp>
      <p:grpSp>
        <p:nvGrpSpPr>
          <p:cNvPr id="3" name="Group 3"/>
          <p:cNvGrpSpPr/>
          <p:nvPr/>
        </p:nvGrpSpPr>
        <p:grpSpPr>
          <a:xfrm>
            <a:off x="391350" y="1379250"/>
            <a:ext cx="5555284" cy="2870898"/>
            <a:chOff x="391350" y="1379250"/>
            <a:chExt cx="5555284" cy="2870898"/>
          </a:xfrm>
        </p:grpSpPr>
        <p:sp>
          <p:nvSpPr>
            <p:cNvPr id="4" name="Freeform 4"/>
            <p:cNvSpPr/>
            <p:nvPr/>
          </p:nvSpPr>
          <p:spPr>
            <a:xfrm>
              <a:off x="391350" y="1379250"/>
              <a:ext cx="5555284" cy="2870898"/>
            </a:xfrm>
            <a:custGeom>
              <a:avLst/>
              <a:gdLst/>
              <a:ahLst/>
              <a:cxnLst/>
              <a:rect l="l" t="t" r="r" b="b"/>
              <a:pathLst>
                <a:path w="5555284" h="2870898">
                  <a:moveTo>
                    <a:pt x="37099" y="0"/>
                  </a:moveTo>
                  <a:lnTo>
                    <a:pt x="5443433" y="0"/>
                  </a:lnTo>
                  <a:cubicBezTo>
                    <a:pt x="5505206" y="0"/>
                    <a:pt x="5555284" y="50077"/>
                    <a:pt x="5555284" y="111850"/>
                  </a:cubicBezTo>
                  <a:lnTo>
                    <a:pt x="5555284" y="2759050"/>
                  </a:lnTo>
                  <a:cubicBezTo>
                    <a:pt x="5555284" y="2820822"/>
                    <a:pt x="5505206" y="2870899"/>
                    <a:pt x="5443433" y="2870899"/>
                  </a:cubicBezTo>
                  <a:lnTo>
                    <a:pt x="37099" y="2870899"/>
                  </a:lnTo>
                  <a:cubicBezTo>
                    <a:pt x="16610" y="2870899"/>
                    <a:pt x="0" y="2854289"/>
                    <a:pt x="0" y="2833801"/>
                  </a:cubicBezTo>
                  <a:lnTo>
                    <a:pt x="0" y="37099"/>
                  </a:lnTo>
                  <a:cubicBezTo>
                    <a:pt x="0" y="16610"/>
                    <a:pt x="16610" y="0"/>
                    <a:pt x="370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1350" y="1379250"/>
              <a:ext cx="37099" cy="2870898"/>
            </a:xfrm>
            <a:custGeom>
              <a:avLst/>
              <a:gdLst/>
              <a:ahLst/>
              <a:cxnLst/>
              <a:rect l="l" t="t" r="r" b="b"/>
              <a:pathLst>
                <a:path w="37099" h="2870898">
                  <a:moveTo>
                    <a:pt x="37099" y="0"/>
                  </a:moveTo>
                  <a:lnTo>
                    <a:pt x="37099" y="0"/>
                  </a:lnTo>
                  <a:lnTo>
                    <a:pt x="37099" y="2870899"/>
                  </a:lnTo>
                  <a:lnTo>
                    <a:pt x="37099" y="2870899"/>
                  </a:lnTo>
                  <a:cubicBezTo>
                    <a:pt x="16610" y="2870899"/>
                    <a:pt x="0" y="2854289"/>
                    <a:pt x="0" y="2833801"/>
                  </a:cubicBezTo>
                  <a:lnTo>
                    <a:pt x="0" y="37099"/>
                  </a:lnTo>
                  <a:cubicBezTo>
                    <a:pt x="0" y="16623"/>
                    <a:pt x="16623" y="0"/>
                    <a:pt x="370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33580" y="1602929"/>
              <a:ext cx="5182532" cy="121174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add_kernel[grid](</a:t>
              </a:r>
              <a:endParaRPr lang="en-US" sz="1100"/>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x_ptr, y_ptr, </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output_ptr, n_elements</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5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7" name="Group 7"/>
          <p:cNvGrpSpPr/>
          <p:nvPr/>
        </p:nvGrpSpPr>
        <p:grpSpPr>
          <a:xfrm>
            <a:off x="6247181" y="1379250"/>
            <a:ext cx="5574019" cy="2875377"/>
            <a:chOff x="6247181" y="1379250"/>
            <a:chExt cx="5574019" cy="2875377"/>
          </a:xfrm>
        </p:grpSpPr>
        <p:sp>
          <p:nvSpPr>
            <p:cNvPr id="8" name="Freeform 8"/>
            <p:cNvSpPr/>
            <p:nvPr/>
          </p:nvSpPr>
          <p:spPr>
            <a:xfrm>
              <a:off x="6247181" y="1379250"/>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406824" y="1564270"/>
              <a:ext cx="212019" cy="189117"/>
            </a:xfrm>
            <a:custGeom>
              <a:avLst/>
              <a:gdLst/>
              <a:ahLst/>
              <a:cxnLst/>
              <a:rect l="l" t="t" r="r" b="b"/>
              <a:pathLst>
                <a:path w="212019" h="189117">
                  <a:moveTo>
                    <a:pt x="132498" y="1784"/>
                  </a:moveTo>
                  <a:cubicBezTo>
                    <a:pt x="126308" y="0"/>
                    <a:pt x="119864" y="3604"/>
                    <a:pt x="118079" y="9794"/>
                  </a:cubicBezTo>
                  <a:lnTo>
                    <a:pt x="71474" y="172914"/>
                  </a:lnTo>
                  <a:cubicBezTo>
                    <a:pt x="69690" y="179103"/>
                    <a:pt x="73295" y="185548"/>
                    <a:pt x="79485" y="187332"/>
                  </a:cubicBezTo>
                  <a:cubicBezTo>
                    <a:pt x="85674" y="189117"/>
                    <a:pt x="92119" y="185512"/>
                    <a:pt x="93902" y="179322"/>
                  </a:cubicBezTo>
                  <a:lnTo>
                    <a:pt x="140509" y="16203"/>
                  </a:lnTo>
                  <a:cubicBezTo>
                    <a:pt x="142293" y="10013"/>
                    <a:pt x="138688" y="3568"/>
                    <a:pt x="132498" y="1784"/>
                  </a:cubicBezTo>
                  <a:close/>
                  <a:moveTo>
                    <a:pt x="156019" y="51339"/>
                  </a:moveTo>
                  <a:cubicBezTo>
                    <a:pt x="151468" y="55890"/>
                    <a:pt x="151468" y="63281"/>
                    <a:pt x="156019" y="67833"/>
                  </a:cubicBezTo>
                  <a:lnTo>
                    <a:pt x="182745" y="94557"/>
                  </a:lnTo>
                  <a:lnTo>
                    <a:pt x="156019" y="121283"/>
                  </a:lnTo>
                  <a:cubicBezTo>
                    <a:pt x="151468" y="125835"/>
                    <a:pt x="151468" y="133226"/>
                    <a:pt x="156019" y="137777"/>
                  </a:cubicBezTo>
                  <a:cubicBezTo>
                    <a:pt x="160571" y="142328"/>
                    <a:pt x="167963" y="142328"/>
                    <a:pt x="172513" y="137777"/>
                  </a:cubicBezTo>
                  <a:lnTo>
                    <a:pt x="207468" y="102823"/>
                  </a:lnTo>
                  <a:cubicBezTo>
                    <a:pt x="212019" y="98272"/>
                    <a:pt x="212019" y="90881"/>
                    <a:pt x="207468" y="86329"/>
                  </a:cubicBezTo>
                  <a:lnTo>
                    <a:pt x="172513" y="51375"/>
                  </a:lnTo>
                  <a:cubicBezTo>
                    <a:pt x="167963" y="46824"/>
                    <a:pt x="160571" y="46824"/>
                    <a:pt x="156019" y="51375"/>
                  </a:cubicBezTo>
                  <a:close/>
                  <a:moveTo>
                    <a:pt x="56001" y="51339"/>
                  </a:moveTo>
                  <a:cubicBezTo>
                    <a:pt x="51448" y="46788"/>
                    <a:pt x="44058" y="46788"/>
                    <a:pt x="39506" y="51339"/>
                  </a:cubicBezTo>
                  <a:lnTo>
                    <a:pt x="4552" y="86293"/>
                  </a:lnTo>
                  <a:cubicBezTo>
                    <a:pt x="0" y="90844"/>
                    <a:pt x="0" y="98235"/>
                    <a:pt x="4552" y="102787"/>
                  </a:cubicBezTo>
                  <a:lnTo>
                    <a:pt x="39506" y="137741"/>
                  </a:lnTo>
                  <a:cubicBezTo>
                    <a:pt x="44058" y="142292"/>
                    <a:pt x="51448" y="142292"/>
                    <a:pt x="56001" y="137741"/>
                  </a:cubicBezTo>
                  <a:cubicBezTo>
                    <a:pt x="60551" y="133190"/>
                    <a:pt x="60551" y="125798"/>
                    <a:pt x="56001" y="121246"/>
                  </a:cubicBezTo>
                  <a:lnTo>
                    <a:pt x="29273" y="94557"/>
                  </a:lnTo>
                  <a:lnTo>
                    <a:pt x="55963" y="67833"/>
                  </a:lnTo>
                  <a:cubicBezTo>
                    <a:pt x="60515" y="63281"/>
                    <a:pt x="60515" y="55890"/>
                    <a:pt x="55963" y="5133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741132" y="1528369"/>
              <a:ext cx="2617660"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__getitem__ Override</a:t>
              </a:r>
              <a:endParaRPr lang="en-US" sz="1100"/>
            </a:p>
          </p:txBody>
        </p:sp>
        <p:sp>
          <p:nvSpPr>
            <p:cNvPr id="11" name="AutoShape 11"/>
            <p:cNvSpPr/>
            <p:nvPr/>
          </p:nvSpPr>
          <p:spPr>
            <a:xfrm>
              <a:off x="6396301" y="1863929"/>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Triton overrides Python's </a:t>
              </a:r>
              <a:r>
                <a:rPr lang="en-US" sz="12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__getitem__ </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method</a:t>
              </a:r>
              <a:endParaRPr lang="en-US" sz="1100"/>
            </a:p>
          </p:txBody>
        </p:sp>
        <p:sp>
          <p:nvSpPr>
            <p:cNvPr id="12" name="Freeform 12"/>
            <p:cNvSpPr/>
            <p:nvPr/>
          </p:nvSpPr>
          <p:spPr>
            <a:xfrm>
              <a:off x="6247181" y="2390489"/>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19604" y="2576847"/>
              <a:ext cx="186422" cy="186422"/>
            </a:xfrm>
            <a:custGeom>
              <a:avLst/>
              <a:gdLst/>
              <a:ahLst/>
              <a:cxnLst/>
              <a:rect l="l" t="t" r="r" b="b"/>
              <a:pathLst>
                <a:path w="186422" h="186422">
                  <a:moveTo>
                    <a:pt x="163119" y="93210"/>
                  </a:moveTo>
                  <a:cubicBezTo>
                    <a:pt x="163119" y="54628"/>
                    <a:pt x="131794" y="23303"/>
                    <a:pt x="93210" y="23303"/>
                  </a:cubicBezTo>
                  <a:cubicBezTo>
                    <a:pt x="54628" y="23303"/>
                    <a:pt x="23303" y="54628"/>
                    <a:pt x="23303" y="93210"/>
                  </a:cubicBezTo>
                  <a:cubicBezTo>
                    <a:pt x="23303" y="131794"/>
                    <a:pt x="54628" y="163119"/>
                    <a:pt x="93210" y="163119"/>
                  </a:cubicBezTo>
                  <a:cubicBezTo>
                    <a:pt x="131794" y="163119"/>
                    <a:pt x="163119" y="131794"/>
                    <a:pt x="163119" y="93210"/>
                  </a:cubicBezTo>
                  <a:close/>
                  <a:moveTo>
                    <a:pt x="0" y="93210"/>
                  </a:moveTo>
                  <a:cubicBezTo>
                    <a:pt x="0" y="41766"/>
                    <a:pt x="41766" y="0"/>
                    <a:pt x="93210" y="0"/>
                  </a:cubicBezTo>
                  <a:cubicBezTo>
                    <a:pt x="144656" y="0"/>
                    <a:pt x="186422" y="41766"/>
                    <a:pt x="186422" y="93210"/>
                  </a:cubicBezTo>
                  <a:cubicBezTo>
                    <a:pt x="186422" y="144656"/>
                    <a:pt x="144656" y="186422"/>
                    <a:pt x="93210" y="186422"/>
                  </a:cubicBezTo>
                  <a:cubicBezTo>
                    <a:pt x="41766" y="186422"/>
                    <a:pt x="0" y="144656"/>
                    <a:pt x="0" y="93210"/>
                  </a:cubicBezTo>
                  <a:close/>
                  <a:moveTo>
                    <a:pt x="93210" y="122339"/>
                  </a:moveTo>
                  <a:cubicBezTo>
                    <a:pt x="109287" y="122339"/>
                    <a:pt x="122339" y="109287"/>
                    <a:pt x="122339" y="93210"/>
                  </a:cubicBezTo>
                  <a:cubicBezTo>
                    <a:pt x="122339" y="77135"/>
                    <a:pt x="109287" y="64083"/>
                    <a:pt x="93210" y="64083"/>
                  </a:cubicBezTo>
                  <a:cubicBezTo>
                    <a:pt x="77135" y="64083"/>
                    <a:pt x="64083" y="77135"/>
                    <a:pt x="64083" y="93210"/>
                  </a:cubicBezTo>
                  <a:cubicBezTo>
                    <a:pt x="64083" y="109287"/>
                    <a:pt x="77135" y="122339"/>
                    <a:pt x="93210" y="122339"/>
                  </a:cubicBezTo>
                  <a:close/>
                  <a:moveTo>
                    <a:pt x="93210" y="40780"/>
                  </a:moveTo>
                  <a:cubicBezTo>
                    <a:pt x="122149" y="40780"/>
                    <a:pt x="145642" y="64273"/>
                    <a:pt x="145642" y="93210"/>
                  </a:cubicBezTo>
                  <a:cubicBezTo>
                    <a:pt x="145642" y="122149"/>
                    <a:pt x="122149" y="145642"/>
                    <a:pt x="93210" y="145642"/>
                  </a:cubicBezTo>
                  <a:cubicBezTo>
                    <a:pt x="64273" y="145642"/>
                    <a:pt x="40780" y="122149"/>
                    <a:pt x="40780" y="93210"/>
                  </a:cubicBezTo>
                  <a:cubicBezTo>
                    <a:pt x="40780" y="64273"/>
                    <a:pt x="64273" y="40780"/>
                    <a:pt x="93210" y="40780"/>
                  </a:cubicBezTo>
                  <a:close/>
                  <a:moveTo>
                    <a:pt x="81559" y="93210"/>
                  </a:moveTo>
                  <a:cubicBezTo>
                    <a:pt x="81559" y="86780"/>
                    <a:pt x="86780" y="81559"/>
                    <a:pt x="93210" y="81559"/>
                  </a:cubicBezTo>
                  <a:cubicBezTo>
                    <a:pt x="99642" y="81559"/>
                    <a:pt x="104863" y="86780"/>
                    <a:pt x="104863" y="93210"/>
                  </a:cubicBezTo>
                  <a:cubicBezTo>
                    <a:pt x="104863" y="99642"/>
                    <a:pt x="99642" y="104863"/>
                    <a:pt x="93210" y="104863"/>
                  </a:cubicBezTo>
                  <a:cubicBezTo>
                    <a:pt x="86780" y="104863"/>
                    <a:pt x="81559" y="99642"/>
                    <a:pt x="81559" y="932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741132" y="2539609"/>
              <a:ext cx="1408688"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kernel[grid]</a:t>
              </a:r>
              <a:endParaRPr lang="en-US" sz="1100"/>
            </a:p>
          </p:txBody>
        </p:sp>
        <p:sp>
          <p:nvSpPr>
            <p:cNvPr id="15" name="AutoShape 15"/>
            <p:cNvSpPr/>
            <p:nvPr/>
          </p:nvSpPr>
          <p:spPr>
            <a:xfrm>
              <a:off x="6396301" y="2875159"/>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Specifies the launch grid, determines number of programs</a:t>
              </a:r>
              <a:endParaRPr lang="en-US" sz="1100"/>
            </a:p>
          </p:txBody>
        </p:sp>
        <p:sp>
          <p:nvSpPr>
            <p:cNvPr id="16" name="Freeform 16"/>
            <p:cNvSpPr/>
            <p:nvPr/>
          </p:nvSpPr>
          <p:spPr>
            <a:xfrm>
              <a:off x="6247181" y="3397086"/>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442906" y="3594404"/>
              <a:ext cx="151468" cy="164502"/>
            </a:xfrm>
            <a:custGeom>
              <a:avLst/>
              <a:gdLst/>
              <a:ahLst/>
              <a:cxnLst/>
              <a:rect l="l" t="t" r="r" b="b"/>
              <a:pathLst>
                <a:path w="151468" h="164502">
                  <a:moveTo>
                    <a:pt x="21554" y="2475"/>
                  </a:moveTo>
                  <a:cubicBezTo>
                    <a:pt x="17041" y="0"/>
                    <a:pt x="11579" y="109"/>
                    <a:pt x="7137" y="2731"/>
                  </a:cubicBezTo>
                  <a:cubicBezTo>
                    <a:pt x="2695" y="5352"/>
                    <a:pt x="0" y="10122"/>
                    <a:pt x="0" y="15257"/>
                  </a:cubicBezTo>
                  <a:lnTo>
                    <a:pt x="0" y="149245"/>
                  </a:lnTo>
                  <a:cubicBezTo>
                    <a:pt x="0" y="154380"/>
                    <a:pt x="2730" y="159150"/>
                    <a:pt x="7137" y="161771"/>
                  </a:cubicBezTo>
                  <a:cubicBezTo>
                    <a:pt x="11543" y="164393"/>
                    <a:pt x="17041" y="164502"/>
                    <a:pt x="21554" y="162027"/>
                  </a:cubicBezTo>
                  <a:lnTo>
                    <a:pt x="143895" y="95030"/>
                  </a:lnTo>
                  <a:cubicBezTo>
                    <a:pt x="148554" y="92481"/>
                    <a:pt x="151468" y="87567"/>
                    <a:pt x="151468" y="82250"/>
                  </a:cubicBezTo>
                  <a:cubicBezTo>
                    <a:pt x="151468" y="76935"/>
                    <a:pt x="148554" y="72021"/>
                    <a:pt x="143895" y="69470"/>
                  </a:cubicBezTo>
                  <a:lnTo>
                    <a:pt x="21554" y="247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741132" y="3546206"/>
              <a:ext cx="689761"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 Execute</a:t>
              </a:r>
              <a:endParaRPr lang="en-US" sz="1100"/>
            </a:p>
          </p:txBody>
        </p:sp>
        <p:sp>
          <p:nvSpPr>
            <p:cNvPr id="19" name="AutoShape 19"/>
            <p:cNvSpPr/>
            <p:nvPr/>
          </p:nvSpPr>
          <p:spPr>
            <a:xfrm>
              <a:off x="6396301" y="3881756"/>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Pass arguments to actually execute the kernel</a:t>
              </a:r>
              <a:endParaRPr lang="en-US" sz="1100"/>
            </a:p>
          </p:txBody>
        </p:sp>
      </p:grpSp>
      <p:grpSp>
        <p:nvGrpSpPr>
          <p:cNvPr id="20" name="Group 20"/>
          <p:cNvGrpSpPr/>
          <p:nvPr/>
        </p:nvGrpSpPr>
        <p:grpSpPr>
          <a:xfrm>
            <a:off x="372801" y="4478243"/>
            <a:ext cx="11446312" cy="2087927"/>
            <a:chOff x="372801" y="4478243"/>
            <a:chExt cx="11446312" cy="2087927"/>
          </a:xfrm>
        </p:grpSpPr>
        <p:sp>
          <p:nvSpPr>
            <p:cNvPr id="21" name="Freeform 21"/>
            <p:cNvSpPr/>
            <p:nvPr/>
          </p:nvSpPr>
          <p:spPr>
            <a:xfrm>
              <a:off x="372801" y="4478243"/>
              <a:ext cx="11446312" cy="2087927"/>
            </a:xfrm>
            <a:custGeom>
              <a:avLst/>
              <a:gdLst/>
              <a:ahLst/>
              <a:cxnLst/>
              <a:rect l="l" t="t" r="r" b="b"/>
              <a:pathLst>
                <a:path w="11446312" h="2087927">
                  <a:moveTo>
                    <a:pt x="111850" y="0"/>
                  </a:moveTo>
                  <a:lnTo>
                    <a:pt x="11334462" y="0"/>
                  </a:lnTo>
                  <a:cubicBezTo>
                    <a:pt x="11396235" y="0"/>
                    <a:pt x="11446312" y="50077"/>
                    <a:pt x="11446312" y="111850"/>
                  </a:cubicBezTo>
                  <a:lnTo>
                    <a:pt x="11446312" y="1976076"/>
                  </a:lnTo>
                  <a:cubicBezTo>
                    <a:pt x="11446312" y="2037850"/>
                    <a:pt x="11396235" y="2087927"/>
                    <a:pt x="11334462" y="2087927"/>
                  </a:cubicBezTo>
                  <a:lnTo>
                    <a:pt x="111850" y="2087927"/>
                  </a:lnTo>
                  <a:cubicBezTo>
                    <a:pt x="50077" y="2087927"/>
                    <a:pt x="0" y="2037850"/>
                    <a:pt x="0" y="1976076"/>
                  </a:cubicBezTo>
                  <a:lnTo>
                    <a:pt x="0" y="111850"/>
                  </a:lnTo>
                  <a:cubicBezTo>
                    <a:pt x="0" y="50118"/>
                    <a:pt x="50118" y="0"/>
                    <a:pt x="11185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96481" y="4701922"/>
              <a:ext cx="11092110" cy="2609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Syntax Breakdown</a:t>
              </a:r>
              <a:endParaRPr lang="en-US" sz="1100"/>
            </a:p>
          </p:txBody>
        </p:sp>
        <p:sp>
          <p:nvSpPr>
            <p:cNvPr id="23" name="Freeform 23"/>
            <p:cNvSpPr/>
            <p:nvPr/>
          </p:nvSpPr>
          <p:spPr>
            <a:xfrm>
              <a:off x="4064649" y="5121316"/>
              <a:ext cx="1155724" cy="801522"/>
            </a:xfrm>
            <a:custGeom>
              <a:avLst/>
              <a:gdLst/>
              <a:ahLst/>
              <a:cxnLst/>
              <a:rect l="l" t="t" r="r" b="b"/>
              <a:pathLst>
                <a:path w="1155724" h="801522">
                  <a:moveTo>
                    <a:pt x="74566" y="0"/>
                  </a:moveTo>
                  <a:lnTo>
                    <a:pt x="1081159" y="0"/>
                  </a:lnTo>
                  <a:cubicBezTo>
                    <a:pt x="1122312" y="0"/>
                    <a:pt x="1155724" y="33412"/>
                    <a:pt x="1155724" y="74566"/>
                  </a:cubicBezTo>
                  <a:lnTo>
                    <a:pt x="1155724" y="726956"/>
                  </a:lnTo>
                  <a:cubicBezTo>
                    <a:pt x="1155724" y="768110"/>
                    <a:pt x="1122312" y="801522"/>
                    <a:pt x="1081159"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4223044" y="5279712"/>
              <a:ext cx="904147"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kernel object</a:t>
              </a:r>
              <a:endParaRPr lang="en-US" sz="1100"/>
            </a:p>
          </p:txBody>
        </p:sp>
        <p:sp>
          <p:nvSpPr>
            <p:cNvPr id="25" name="AutoShape 25"/>
            <p:cNvSpPr/>
            <p:nvPr/>
          </p:nvSpPr>
          <p:spPr>
            <a:xfrm>
              <a:off x="4223044" y="5503318"/>
              <a:ext cx="922789"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add_kernel</a:t>
              </a:r>
              <a:endParaRPr lang="en-US" sz="1100"/>
            </a:p>
          </p:txBody>
        </p:sp>
        <p:sp>
          <p:nvSpPr>
            <p:cNvPr id="26" name="AutoShape 26"/>
            <p:cNvSpPr/>
            <p:nvPr/>
          </p:nvSpPr>
          <p:spPr>
            <a:xfrm>
              <a:off x="5377458" y="5372886"/>
              <a:ext cx="186422"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613311" y="5121316"/>
              <a:ext cx="848128" cy="801522"/>
            </a:xfrm>
            <a:custGeom>
              <a:avLst/>
              <a:gdLst/>
              <a:ahLst/>
              <a:cxnLst/>
              <a:rect l="l" t="t" r="r" b="b"/>
              <a:pathLst>
                <a:path w="848128" h="801522">
                  <a:moveTo>
                    <a:pt x="74566" y="0"/>
                  </a:moveTo>
                  <a:lnTo>
                    <a:pt x="773562" y="0"/>
                  </a:lnTo>
                  <a:cubicBezTo>
                    <a:pt x="814716" y="0"/>
                    <a:pt x="848128" y="33412"/>
                    <a:pt x="848128" y="74566"/>
                  </a:cubicBezTo>
                  <a:lnTo>
                    <a:pt x="848128" y="726956"/>
                  </a:lnTo>
                  <a:cubicBezTo>
                    <a:pt x="848128" y="768110"/>
                    <a:pt x="814716" y="801522"/>
                    <a:pt x="773562"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8" name="AutoShape 28"/>
            <p:cNvSpPr/>
            <p:nvPr/>
          </p:nvSpPr>
          <p:spPr>
            <a:xfrm>
              <a:off x="5771706" y="5279712"/>
              <a:ext cx="596550"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grid config</a:t>
              </a:r>
              <a:endParaRPr lang="en-US" sz="1100"/>
            </a:p>
          </p:txBody>
        </p:sp>
        <p:sp>
          <p:nvSpPr>
            <p:cNvPr id="29" name="AutoShape 29"/>
            <p:cNvSpPr/>
            <p:nvPr/>
          </p:nvSpPr>
          <p:spPr>
            <a:xfrm>
              <a:off x="5771706" y="5503318"/>
              <a:ext cx="615193"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a:t>
              </a:r>
              <a:endParaRPr lang="en-US" sz="1100"/>
            </a:p>
          </p:txBody>
        </p:sp>
        <p:sp>
          <p:nvSpPr>
            <p:cNvPr id="30" name="AutoShape 30"/>
            <p:cNvSpPr/>
            <p:nvPr/>
          </p:nvSpPr>
          <p:spPr>
            <a:xfrm>
              <a:off x="6623315" y="5372886"/>
              <a:ext cx="186422"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1" name="AutoShape 31"/>
            <p:cNvSpPr/>
            <p:nvPr/>
          </p:nvSpPr>
          <p:spPr>
            <a:xfrm>
              <a:off x="6849893" y="5372886"/>
              <a:ext cx="177101"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2" name="Freeform 32"/>
            <p:cNvSpPr/>
            <p:nvPr/>
          </p:nvSpPr>
          <p:spPr>
            <a:xfrm>
              <a:off x="7075892" y="5121316"/>
              <a:ext cx="838806" cy="801522"/>
            </a:xfrm>
            <a:custGeom>
              <a:avLst/>
              <a:gdLst/>
              <a:ahLst/>
              <a:cxnLst/>
              <a:rect l="l" t="t" r="r" b="b"/>
              <a:pathLst>
                <a:path w="838806" h="801522">
                  <a:moveTo>
                    <a:pt x="74566" y="0"/>
                  </a:moveTo>
                  <a:lnTo>
                    <a:pt x="764242" y="0"/>
                  </a:lnTo>
                  <a:cubicBezTo>
                    <a:pt x="805395" y="0"/>
                    <a:pt x="838806" y="33412"/>
                    <a:pt x="838806" y="74566"/>
                  </a:cubicBezTo>
                  <a:lnTo>
                    <a:pt x="838806" y="726956"/>
                  </a:lnTo>
                  <a:cubicBezTo>
                    <a:pt x="838806" y="768110"/>
                    <a:pt x="805395" y="801522"/>
                    <a:pt x="764242"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3" name="AutoShape 33"/>
            <p:cNvSpPr/>
            <p:nvPr/>
          </p:nvSpPr>
          <p:spPr>
            <a:xfrm>
              <a:off x="7234287" y="5279712"/>
              <a:ext cx="587229"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function args</a:t>
              </a:r>
              <a:endParaRPr lang="en-US" sz="1100"/>
            </a:p>
          </p:txBody>
        </p:sp>
        <p:sp>
          <p:nvSpPr>
            <p:cNvPr id="34" name="AutoShape 34"/>
            <p:cNvSpPr/>
            <p:nvPr/>
          </p:nvSpPr>
          <p:spPr>
            <a:xfrm>
              <a:off x="7234287" y="5503318"/>
              <a:ext cx="605872"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5" name="AutoShape 35"/>
            <p:cNvSpPr/>
            <p:nvPr/>
          </p:nvSpPr>
          <p:spPr>
            <a:xfrm>
              <a:off x="8073070" y="5372886"/>
              <a:ext cx="177101"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6" name="AutoShape 36"/>
            <p:cNvSpPr/>
            <p:nvPr/>
          </p:nvSpPr>
          <p:spPr>
            <a:xfrm>
              <a:off x="554536" y="6081099"/>
              <a:ext cx="11082789" cy="26099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Equivalent to:</a:t>
              </a:r>
              <a:r>
                <a:rPr lang="en-US" sz="12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 add_kernel.__getitem__(grid).__call__(...)</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9664" y="61885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Triton vs CUDA Comparison</a:t>
            </a:r>
            <a:endParaRPr lang="en-US" sz="1100"/>
          </a:p>
        </p:txBody>
      </p:sp>
      <p:grpSp>
        <p:nvGrpSpPr>
          <p:cNvPr id="3" name="Group 3"/>
          <p:cNvGrpSpPr/>
          <p:nvPr/>
        </p:nvGrpSpPr>
        <p:grpSpPr>
          <a:xfrm>
            <a:off x="380956" y="1409421"/>
            <a:ext cx="5562600" cy="4876800"/>
            <a:chOff x="380956" y="1409421"/>
            <a:chExt cx="5562600" cy="4876800"/>
          </a:xfrm>
        </p:grpSpPr>
        <p:sp>
          <p:nvSpPr>
            <p:cNvPr id="4" name="Freeform 4"/>
            <p:cNvSpPr/>
            <p:nvPr/>
          </p:nvSpPr>
          <p:spPr>
            <a:xfrm>
              <a:off x="380956" y="1409421"/>
              <a:ext cx="5562600" cy="4876800"/>
            </a:xfrm>
            <a:custGeom>
              <a:avLst/>
              <a:gdLst/>
              <a:ahLst/>
              <a:cxnLst/>
              <a:rect l="l" t="t" r="r" b="b"/>
              <a:pathLst>
                <a:path w="5562600" h="4876800">
                  <a:moveTo>
                    <a:pt x="114311" y="0"/>
                  </a:moveTo>
                  <a:lnTo>
                    <a:pt x="5448289" y="0"/>
                  </a:lnTo>
                  <a:cubicBezTo>
                    <a:pt x="5511422" y="0"/>
                    <a:pt x="5562600" y="51178"/>
                    <a:pt x="5562600" y="114311"/>
                  </a:cubicBezTo>
                  <a:lnTo>
                    <a:pt x="5562600" y="4762489"/>
                  </a:lnTo>
                  <a:cubicBezTo>
                    <a:pt x="5562600" y="4825622"/>
                    <a:pt x="5511422" y="4876800"/>
                    <a:pt x="5448289" y="4876800"/>
                  </a:cubicBezTo>
                  <a:lnTo>
                    <a:pt x="114311" y="4876800"/>
                  </a:lnTo>
                  <a:cubicBezTo>
                    <a:pt x="51178" y="4876800"/>
                    <a:pt x="0" y="4825622"/>
                    <a:pt x="0" y="4762489"/>
                  </a:cubicBezTo>
                  <a:lnTo>
                    <a:pt x="0" y="114311"/>
                  </a:lnTo>
                  <a:cubicBezTo>
                    <a:pt x="0" y="51222"/>
                    <a:pt x="51222"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9529" y="1637993"/>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364153">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23773" y="1752247"/>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8" y="57150"/>
                  </a:moveTo>
                  <a:lnTo>
                    <a:pt x="157163" y="57150"/>
                  </a:lnTo>
                  <a:cubicBezTo>
                    <a:pt x="165064" y="57150"/>
                    <a:pt x="171450" y="63536"/>
                    <a:pt x="171450" y="71437"/>
                  </a:cubicBezTo>
                  <a:lnTo>
                    <a:pt x="171450" y="157162"/>
                  </a:lnTo>
                  <a:cubicBezTo>
                    <a:pt x="171450" y="165064"/>
                    <a:pt x="165064" y="171450"/>
                    <a:pt x="157163" y="171450"/>
                  </a:cubicBezTo>
                  <a:lnTo>
                    <a:pt x="71438" y="171450"/>
                  </a:lnTo>
                  <a:cubicBezTo>
                    <a:pt x="63536" y="171450"/>
                    <a:pt x="57150" y="165064"/>
                    <a:pt x="57150" y="157162"/>
                  </a:cubicBezTo>
                  <a:lnTo>
                    <a:pt x="57150" y="71437"/>
                  </a:lnTo>
                  <a:cubicBezTo>
                    <a:pt x="57150" y="63536"/>
                    <a:pt x="63536" y="57150"/>
                    <a:pt x="71438" y="57150"/>
                  </a:cubicBezTo>
                  <a:close/>
                  <a:moveTo>
                    <a:pt x="78581" y="78581"/>
                  </a:moveTo>
                  <a:lnTo>
                    <a:pt x="78581" y="150019"/>
                  </a:lnTo>
                  <a:lnTo>
                    <a:pt x="150019" y="150019"/>
                  </a:lnTo>
                  <a:lnTo>
                    <a:pt x="150019" y="78581"/>
                  </a:lnTo>
                  <a:lnTo>
                    <a:pt x="78581" y="78581"/>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180925" y="1714184"/>
              <a:ext cx="7524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CUDA</a:t>
              </a:r>
              <a:endParaRPr lang="en-US" sz="1100"/>
            </a:p>
          </p:txBody>
        </p:sp>
        <p:sp>
          <p:nvSpPr>
            <p:cNvPr id="8" name="Freeform 8"/>
            <p:cNvSpPr/>
            <p:nvPr/>
          </p:nvSpPr>
          <p:spPr>
            <a:xfrm>
              <a:off x="628484" y="2247519"/>
              <a:ext cx="5086255" cy="2533650"/>
            </a:xfrm>
            <a:custGeom>
              <a:avLst/>
              <a:gdLst/>
              <a:ahLst/>
              <a:cxnLst/>
              <a:rect l="l" t="t" r="r" b="b"/>
              <a:pathLst>
                <a:path w="5086255" h="2533650">
                  <a:moveTo>
                    <a:pt x="37910" y="0"/>
                  </a:moveTo>
                  <a:lnTo>
                    <a:pt x="5010043" y="0"/>
                  </a:lnTo>
                  <a:cubicBezTo>
                    <a:pt x="5052134" y="0"/>
                    <a:pt x="5086255" y="34121"/>
                    <a:pt x="5086255" y="76211"/>
                  </a:cubicBezTo>
                  <a:lnTo>
                    <a:pt x="5086255" y="2457439"/>
                  </a:lnTo>
                  <a:cubicBezTo>
                    <a:pt x="5086255" y="2499529"/>
                    <a:pt x="5052134" y="2533650"/>
                    <a:pt x="5010043" y="2533650"/>
                  </a:cubicBezTo>
                  <a:lnTo>
                    <a:pt x="37910" y="2533650"/>
                  </a:lnTo>
                  <a:cubicBezTo>
                    <a:pt x="16974" y="2533650"/>
                    <a:pt x="0" y="2516676"/>
                    <a:pt x="0" y="249574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28484" y="2247519"/>
              <a:ext cx="37909" cy="2533650"/>
            </a:xfrm>
            <a:custGeom>
              <a:avLst/>
              <a:gdLst/>
              <a:ahLst/>
              <a:cxnLst/>
              <a:rect l="l" t="t" r="r" b="b"/>
              <a:pathLst>
                <a:path w="37909" h="2533650">
                  <a:moveTo>
                    <a:pt x="37910" y="0"/>
                  </a:moveTo>
                  <a:lnTo>
                    <a:pt x="37910" y="0"/>
                  </a:lnTo>
                  <a:lnTo>
                    <a:pt x="37910" y="2533650"/>
                  </a:lnTo>
                  <a:lnTo>
                    <a:pt x="37910" y="2533650"/>
                  </a:lnTo>
                  <a:cubicBezTo>
                    <a:pt x="16974" y="2533650"/>
                    <a:pt x="0" y="2516676"/>
                    <a:pt x="0" y="249574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99822" y="2399909"/>
              <a:ext cx="4838700" cy="222885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Compute global thread index</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int</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idx = blockIdx.x * blockDim.x </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threadIdx.x;</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Bounds check</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if</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(idx &lt; n_elements)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float</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x = input[idx];</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output[idx] = x *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609529" y="4933094"/>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Requires manual management of thread, block, grid</a:t>
              </a:r>
              <a:endParaRPr lang="en-US" sz="1100"/>
            </a:p>
          </p:txBody>
        </p:sp>
        <p:sp>
          <p:nvSpPr>
            <p:cNvPr id="12" name="AutoShape 12"/>
            <p:cNvSpPr/>
            <p:nvPr/>
          </p:nvSpPr>
          <p:spPr>
            <a:xfrm>
              <a:off x="609529" y="523785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Each thread handles one element</a:t>
              </a:r>
              <a:endParaRPr lang="en-US" sz="1100"/>
            </a:p>
          </p:txBody>
        </p:sp>
        <p:sp>
          <p:nvSpPr>
            <p:cNvPr id="13" name="AutoShape 13"/>
            <p:cNvSpPr/>
            <p:nvPr/>
          </p:nvSpPr>
          <p:spPr>
            <a:xfrm>
              <a:off x="609529" y="55426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Requires explicit bounds checking</a:t>
              </a:r>
              <a:endParaRPr lang="en-US" sz="1100"/>
            </a:p>
          </p:txBody>
        </p:sp>
      </p:grpSp>
      <p:grpSp>
        <p:nvGrpSpPr>
          <p:cNvPr id="14" name="Group 14"/>
          <p:cNvGrpSpPr/>
          <p:nvPr/>
        </p:nvGrpSpPr>
        <p:grpSpPr>
          <a:xfrm>
            <a:off x="6257815" y="1418899"/>
            <a:ext cx="5543455" cy="4857655"/>
            <a:chOff x="6257815" y="1418899"/>
            <a:chExt cx="5543455" cy="4857655"/>
          </a:xfrm>
        </p:grpSpPr>
        <p:sp>
          <p:nvSpPr>
            <p:cNvPr id="15" name="Freeform 15"/>
            <p:cNvSpPr/>
            <p:nvPr/>
          </p:nvSpPr>
          <p:spPr>
            <a:xfrm>
              <a:off x="6257815" y="1418899"/>
              <a:ext cx="5543455" cy="4857655"/>
            </a:xfrm>
            <a:custGeom>
              <a:avLst/>
              <a:gdLst/>
              <a:ahLst/>
              <a:cxnLst/>
              <a:rect l="l" t="t" r="r" b="b"/>
              <a:pathLst>
                <a:path w="5543455" h="4857655">
                  <a:moveTo>
                    <a:pt x="114301" y="0"/>
                  </a:moveTo>
                  <a:lnTo>
                    <a:pt x="5429155" y="0"/>
                  </a:lnTo>
                  <a:cubicBezTo>
                    <a:pt x="5492281" y="0"/>
                    <a:pt x="5543455" y="51173"/>
                    <a:pt x="5543455" y="114301"/>
                  </a:cubicBezTo>
                  <a:lnTo>
                    <a:pt x="5543455" y="4743355"/>
                  </a:lnTo>
                  <a:cubicBezTo>
                    <a:pt x="5543455" y="4806481"/>
                    <a:pt x="5492281" y="4857655"/>
                    <a:pt x="5429155" y="4857655"/>
                  </a:cubicBezTo>
                  <a:lnTo>
                    <a:pt x="114301" y="4857655"/>
                  </a:lnTo>
                  <a:cubicBezTo>
                    <a:pt x="51173" y="4857655"/>
                    <a:pt x="0" y="4806481"/>
                    <a:pt x="0" y="4743355"/>
                  </a:cubicBezTo>
                  <a:lnTo>
                    <a:pt x="0" y="114301"/>
                  </a:lnTo>
                  <a:cubicBezTo>
                    <a:pt x="0" y="51217"/>
                    <a:pt x="51217"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6495866" y="1656950"/>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623190" y="1784776"/>
              <a:ext cx="202570" cy="202348"/>
            </a:xfrm>
            <a:custGeom>
              <a:avLst/>
              <a:gdLst/>
              <a:ahLst/>
              <a:cxnLst/>
              <a:rect l="l" t="t" r="r" b="b"/>
              <a:pathLst>
                <a:path w="202570" h="202348">
                  <a:moveTo>
                    <a:pt x="197571" y="75948"/>
                  </a:moveTo>
                  <a:cubicBezTo>
                    <a:pt x="194133" y="62152"/>
                    <a:pt x="187614" y="51749"/>
                    <a:pt x="173729" y="51749"/>
                  </a:cubicBezTo>
                  <a:lnTo>
                    <a:pt x="155824" y="51749"/>
                  </a:lnTo>
                  <a:lnTo>
                    <a:pt x="155824" y="72912"/>
                  </a:lnTo>
                  <a:cubicBezTo>
                    <a:pt x="155824" y="89342"/>
                    <a:pt x="141894" y="103184"/>
                    <a:pt x="125998" y="103184"/>
                  </a:cubicBezTo>
                  <a:lnTo>
                    <a:pt x="78315" y="103184"/>
                  </a:lnTo>
                  <a:cubicBezTo>
                    <a:pt x="65278" y="103184"/>
                    <a:pt x="54473" y="114346"/>
                    <a:pt x="54473" y="127428"/>
                  </a:cubicBezTo>
                  <a:lnTo>
                    <a:pt x="54473" y="172881"/>
                  </a:lnTo>
                  <a:cubicBezTo>
                    <a:pt x="54473" y="185828"/>
                    <a:pt x="65724" y="193418"/>
                    <a:pt x="78315" y="197124"/>
                  </a:cubicBezTo>
                  <a:cubicBezTo>
                    <a:pt x="93406" y="201544"/>
                    <a:pt x="107917" y="202348"/>
                    <a:pt x="125998" y="197124"/>
                  </a:cubicBezTo>
                  <a:cubicBezTo>
                    <a:pt x="138010" y="193641"/>
                    <a:pt x="149841" y="186632"/>
                    <a:pt x="149841" y="172881"/>
                  </a:cubicBezTo>
                  <a:lnTo>
                    <a:pt x="149841" y="154708"/>
                  </a:lnTo>
                  <a:lnTo>
                    <a:pt x="102202" y="154708"/>
                  </a:lnTo>
                  <a:lnTo>
                    <a:pt x="102202" y="148636"/>
                  </a:lnTo>
                  <a:lnTo>
                    <a:pt x="173729" y="148636"/>
                  </a:lnTo>
                  <a:cubicBezTo>
                    <a:pt x="187614" y="148636"/>
                    <a:pt x="192748" y="138947"/>
                    <a:pt x="197571" y="124436"/>
                  </a:cubicBezTo>
                  <a:cubicBezTo>
                    <a:pt x="202571" y="109480"/>
                    <a:pt x="202348" y="95102"/>
                    <a:pt x="197571" y="75948"/>
                  </a:cubicBezTo>
                  <a:close/>
                  <a:moveTo>
                    <a:pt x="128991" y="184980"/>
                  </a:moveTo>
                  <a:cubicBezTo>
                    <a:pt x="125593" y="185219"/>
                    <a:pt x="122346" y="183540"/>
                    <a:pt x="120574" y="180631"/>
                  </a:cubicBezTo>
                  <a:cubicBezTo>
                    <a:pt x="118801" y="177720"/>
                    <a:pt x="118801" y="174065"/>
                    <a:pt x="120574" y="171157"/>
                  </a:cubicBezTo>
                  <a:cubicBezTo>
                    <a:pt x="122346" y="168248"/>
                    <a:pt x="125593" y="166569"/>
                    <a:pt x="128991" y="166807"/>
                  </a:cubicBezTo>
                  <a:cubicBezTo>
                    <a:pt x="132389" y="166569"/>
                    <a:pt x="135637" y="168248"/>
                    <a:pt x="137408" y="171157"/>
                  </a:cubicBezTo>
                  <a:cubicBezTo>
                    <a:pt x="139179" y="174065"/>
                    <a:pt x="139179" y="177720"/>
                    <a:pt x="137408" y="180631"/>
                  </a:cubicBezTo>
                  <a:cubicBezTo>
                    <a:pt x="135637" y="183540"/>
                    <a:pt x="132389" y="185219"/>
                    <a:pt x="128991" y="184980"/>
                  </a:cubicBezTo>
                  <a:close/>
                  <a:moveTo>
                    <a:pt x="76127" y="97201"/>
                  </a:moveTo>
                  <a:lnTo>
                    <a:pt x="123812" y="97201"/>
                  </a:lnTo>
                  <a:cubicBezTo>
                    <a:pt x="137072" y="97201"/>
                    <a:pt x="147655" y="86261"/>
                    <a:pt x="147655" y="72957"/>
                  </a:cubicBezTo>
                  <a:lnTo>
                    <a:pt x="147655" y="27460"/>
                  </a:lnTo>
                  <a:cubicBezTo>
                    <a:pt x="147655" y="14512"/>
                    <a:pt x="136760" y="4823"/>
                    <a:pt x="123812" y="2634"/>
                  </a:cubicBezTo>
                  <a:cubicBezTo>
                    <a:pt x="107827" y="0"/>
                    <a:pt x="90459" y="135"/>
                    <a:pt x="76127" y="2680"/>
                  </a:cubicBezTo>
                  <a:cubicBezTo>
                    <a:pt x="55947" y="6251"/>
                    <a:pt x="52285" y="13708"/>
                    <a:pt x="52285" y="27505"/>
                  </a:cubicBezTo>
                  <a:lnTo>
                    <a:pt x="52285" y="45676"/>
                  </a:lnTo>
                  <a:lnTo>
                    <a:pt x="100014" y="45676"/>
                  </a:lnTo>
                  <a:lnTo>
                    <a:pt x="100014" y="51749"/>
                  </a:lnTo>
                  <a:lnTo>
                    <a:pt x="34381" y="51749"/>
                  </a:lnTo>
                  <a:cubicBezTo>
                    <a:pt x="20494" y="51749"/>
                    <a:pt x="8351" y="60098"/>
                    <a:pt x="4556" y="75948"/>
                  </a:cubicBezTo>
                  <a:cubicBezTo>
                    <a:pt x="180" y="94120"/>
                    <a:pt x="0" y="105461"/>
                    <a:pt x="4556" y="124436"/>
                  </a:cubicBezTo>
                  <a:cubicBezTo>
                    <a:pt x="7949" y="138545"/>
                    <a:pt x="16030" y="148636"/>
                    <a:pt x="29917" y="148636"/>
                  </a:cubicBezTo>
                  <a:lnTo>
                    <a:pt x="46302" y="148636"/>
                  </a:lnTo>
                  <a:lnTo>
                    <a:pt x="46302" y="126847"/>
                  </a:lnTo>
                  <a:cubicBezTo>
                    <a:pt x="46302" y="111086"/>
                    <a:pt x="59920" y="97201"/>
                    <a:pt x="76127" y="97201"/>
                  </a:cubicBezTo>
                  <a:close/>
                  <a:moveTo>
                    <a:pt x="73180" y="15315"/>
                  </a:moveTo>
                  <a:cubicBezTo>
                    <a:pt x="78207" y="15315"/>
                    <a:pt x="82289" y="19397"/>
                    <a:pt x="82289" y="24424"/>
                  </a:cubicBezTo>
                  <a:cubicBezTo>
                    <a:pt x="82289" y="29451"/>
                    <a:pt x="78207" y="33532"/>
                    <a:pt x="73180" y="33532"/>
                  </a:cubicBezTo>
                  <a:cubicBezTo>
                    <a:pt x="68153" y="33532"/>
                    <a:pt x="64072" y="29451"/>
                    <a:pt x="64072" y="24424"/>
                  </a:cubicBezTo>
                  <a:cubicBezTo>
                    <a:pt x="64072" y="19397"/>
                    <a:pt x="68153" y="15315"/>
                    <a:pt x="73180" y="1531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067263" y="1733141"/>
              <a:ext cx="7334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Triton</a:t>
              </a:r>
              <a:endParaRPr lang="en-US" sz="1100"/>
            </a:p>
          </p:txBody>
        </p:sp>
        <p:sp>
          <p:nvSpPr>
            <p:cNvPr id="19" name="Freeform 19"/>
            <p:cNvSpPr/>
            <p:nvPr/>
          </p:nvSpPr>
          <p:spPr>
            <a:xfrm>
              <a:off x="6514822" y="2266476"/>
              <a:ext cx="5048155" cy="2781300"/>
            </a:xfrm>
            <a:custGeom>
              <a:avLst/>
              <a:gdLst/>
              <a:ahLst/>
              <a:cxnLst/>
              <a:rect l="l" t="t" r="r" b="b"/>
              <a:pathLst>
                <a:path w="5048155" h="2781300">
                  <a:moveTo>
                    <a:pt x="37909" y="0"/>
                  </a:moveTo>
                  <a:lnTo>
                    <a:pt x="4971948" y="0"/>
                  </a:lnTo>
                  <a:cubicBezTo>
                    <a:pt x="5014036" y="0"/>
                    <a:pt x="5048155" y="34119"/>
                    <a:pt x="5048155" y="76208"/>
                  </a:cubicBezTo>
                  <a:lnTo>
                    <a:pt x="5048155" y="2705092"/>
                  </a:lnTo>
                  <a:cubicBezTo>
                    <a:pt x="5048155" y="2747181"/>
                    <a:pt x="5014036" y="2781300"/>
                    <a:pt x="4971948" y="2781300"/>
                  </a:cubicBezTo>
                  <a:lnTo>
                    <a:pt x="37909" y="2781300"/>
                  </a:lnTo>
                  <a:cubicBezTo>
                    <a:pt x="16974" y="2781300"/>
                    <a:pt x="0" y="2764326"/>
                    <a:pt x="0" y="27433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14822" y="2266476"/>
              <a:ext cx="37910" cy="2781300"/>
            </a:xfrm>
            <a:custGeom>
              <a:avLst/>
              <a:gdLst/>
              <a:ahLst/>
              <a:cxnLst/>
              <a:rect l="l" t="t" r="r" b="b"/>
              <a:pathLst>
                <a:path w="37910" h="2781300">
                  <a:moveTo>
                    <a:pt x="37910" y="0"/>
                  </a:moveTo>
                  <a:lnTo>
                    <a:pt x="37910" y="0"/>
                  </a:lnTo>
                  <a:lnTo>
                    <a:pt x="37910" y="2781300"/>
                  </a:lnTo>
                  <a:lnTo>
                    <a:pt x="37910" y="2781300"/>
                  </a:lnTo>
                  <a:cubicBezTo>
                    <a:pt x="16974" y="2781300"/>
                    <a:pt x="0" y="2764326"/>
                    <a:pt x="0" y="27433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686159" y="2418857"/>
              <a:ext cx="4800600" cy="2476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Get program ID</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pid = tl.program_id(</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Compute offsets (vectorized)</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pid * BLOCK_SIZE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tl.arange(</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BLOCK_SIZE)</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Memory operations with mask</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mask = offsets &lt; n_elements</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x = tl.load(ptr + offsets, mask=mask)</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6495866" y="5199655"/>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Program-level abstraction, auto-managed</a:t>
              </a:r>
              <a:endParaRPr lang="en-US" sz="1100"/>
            </a:p>
          </p:txBody>
        </p:sp>
        <p:sp>
          <p:nvSpPr>
            <p:cNvPr id="23" name="AutoShape 23"/>
            <p:cNvSpPr/>
            <p:nvPr/>
          </p:nvSpPr>
          <p:spPr>
            <a:xfrm>
              <a:off x="6495866" y="5504418"/>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Vectorized operations, processes multiple elements at once</a:t>
              </a:r>
              <a:endParaRPr lang="en-US" sz="1100"/>
            </a:p>
          </p:txBody>
        </p:sp>
        <p:sp>
          <p:nvSpPr>
            <p:cNvPr id="24" name="AutoShape 24"/>
            <p:cNvSpPr/>
            <p:nvPr/>
          </p:nvSpPr>
          <p:spPr>
            <a:xfrm>
              <a:off x="6495866" y="580918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mask mechanism simplifies bounds handling</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1373" y="61892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Official Benchmark</a:t>
            </a:r>
            <a:endParaRPr lang="en-US" sz="1100"/>
          </a:p>
        </p:txBody>
      </p:sp>
      <p:grpSp>
        <p:nvGrpSpPr>
          <p:cNvPr id="3" name="Group 3"/>
          <p:cNvGrpSpPr/>
          <p:nvPr/>
        </p:nvGrpSpPr>
        <p:grpSpPr>
          <a:xfrm>
            <a:off x="380956" y="1638374"/>
            <a:ext cx="5715044" cy="2781300"/>
            <a:chOff x="380956" y="1638374"/>
            <a:chExt cx="5715044" cy="2781300"/>
          </a:xfrm>
        </p:grpSpPr>
        <p:sp>
          <p:nvSpPr>
            <p:cNvPr id="4" name="Freeform 4"/>
            <p:cNvSpPr/>
            <p:nvPr/>
          </p:nvSpPr>
          <p:spPr>
            <a:xfrm>
              <a:off x="380956" y="1638374"/>
              <a:ext cx="5562600" cy="2781300"/>
            </a:xfrm>
            <a:custGeom>
              <a:avLst/>
              <a:gdLst/>
              <a:ahLst/>
              <a:cxnLst/>
              <a:rect l="l" t="t" r="r" b="b"/>
              <a:pathLst>
                <a:path w="5562600" h="2781300">
                  <a:moveTo>
                    <a:pt x="114311" y="0"/>
                  </a:moveTo>
                  <a:lnTo>
                    <a:pt x="5448289" y="0"/>
                  </a:lnTo>
                  <a:cubicBezTo>
                    <a:pt x="5511422" y="0"/>
                    <a:pt x="5562600" y="51178"/>
                    <a:pt x="5562600" y="114311"/>
                  </a:cubicBezTo>
                  <a:lnTo>
                    <a:pt x="5562600" y="2666989"/>
                  </a:lnTo>
                  <a:cubicBezTo>
                    <a:pt x="5562600" y="2730122"/>
                    <a:pt x="5511422" y="2781300"/>
                    <a:pt x="5448289" y="2781300"/>
                  </a:cubicBezTo>
                  <a:lnTo>
                    <a:pt x="114311" y="2781300"/>
                  </a:lnTo>
                  <a:cubicBezTo>
                    <a:pt x="51178" y="2781300"/>
                    <a:pt x="0" y="2730122"/>
                    <a:pt x="0" y="2666989"/>
                  </a:cubicBezTo>
                  <a:lnTo>
                    <a:pt x="0" y="114311"/>
                  </a:lnTo>
                  <a:cubicBezTo>
                    <a:pt x="0" y="51178"/>
                    <a:pt x="51178"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18669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Triton Performance Advantages</a:t>
              </a:r>
              <a:endParaRPr lang="en-US" sz="1100"/>
            </a:p>
          </p:txBody>
        </p:sp>
        <p:sp>
          <p:nvSpPr>
            <p:cNvPr id="6" name="Freeform 6"/>
            <p:cNvSpPr/>
            <p:nvPr/>
          </p:nvSpPr>
          <p:spPr>
            <a:xfrm>
              <a:off x="631094" y="2335075"/>
              <a:ext cx="224626" cy="224626"/>
            </a:xfrm>
            <a:custGeom>
              <a:avLst/>
              <a:gdLst/>
              <a:ahLst/>
              <a:cxnLst/>
              <a:rect l="l" t="t" r="r" b="b"/>
              <a:pathLst>
                <a:path w="224626" h="224626">
                  <a:moveTo>
                    <a:pt x="64160" y="131891"/>
                  </a:moveTo>
                  <a:lnTo>
                    <a:pt x="17949" y="131891"/>
                  </a:lnTo>
                  <a:cubicBezTo>
                    <a:pt x="6831" y="131891"/>
                    <a:pt x="0" y="119790"/>
                    <a:pt x="5715" y="110237"/>
                  </a:cubicBezTo>
                  <a:lnTo>
                    <a:pt x="29334" y="70857"/>
                  </a:lnTo>
                  <a:cubicBezTo>
                    <a:pt x="33219" y="64383"/>
                    <a:pt x="40184" y="60453"/>
                    <a:pt x="47729" y="60453"/>
                  </a:cubicBezTo>
                  <a:lnTo>
                    <a:pt x="90145" y="60453"/>
                  </a:lnTo>
                  <a:cubicBezTo>
                    <a:pt x="124123" y="2902"/>
                    <a:pt x="174799" y="0"/>
                    <a:pt x="208687" y="4955"/>
                  </a:cubicBezTo>
                  <a:cubicBezTo>
                    <a:pt x="214402" y="5804"/>
                    <a:pt x="218868" y="10269"/>
                    <a:pt x="219672" y="15939"/>
                  </a:cubicBezTo>
                  <a:cubicBezTo>
                    <a:pt x="224626" y="49827"/>
                    <a:pt x="221724" y="100503"/>
                    <a:pt x="164172" y="134481"/>
                  </a:cubicBezTo>
                  <a:lnTo>
                    <a:pt x="164172" y="176897"/>
                  </a:lnTo>
                  <a:cubicBezTo>
                    <a:pt x="164172" y="184442"/>
                    <a:pt x="160243" y="191407"/>
                    <a:pt x="153769" y="195292"/>
                  </a:cubicBezTo>
                  <a:lnTo>
                    <a:pt x="114388" y="218911"/>
                  </a:lnTo>
                  <a:cubicBezTo>
                    <a:pt x="104879" y="224626"/>
                    <a:pt x="92735" y="217751"/>
                    <a:pt x="92735" y="206677"/>
                  </a:cubicBezTo>
                  <a:lnTo>
                    <a:pt x="92735" y="160466"/>
                  </a:lnTo>
                  <a:cubicBezTo>
                    <a:pt x="92735" y="144705"/>
                    <a:pt x="79921" y="131891"/>
                    <a:pt x="64160" y="131891"/>
                  </a:cubicBezTo>
                  <a:lnTo>
                    <a:pt x="64116" y="131891"/>
                  </a:lnTo>
                  <a:close/>
                  <a:moveTo>
                    <a:pt x="185604" y="60453"/>
                  </a:moveTo>
                  <a:cubicBezTo>
                    <a:pt x="185604" y="48625"/>
                    <a:pt x="176001" y="39022"/>
                    <a:pt x="164172" y="39022"/>
                  </a:cubicBezTo>
                  <a:cubicBezTo>
                    <a:pt x="152344" y="39022"/>
                    <a:pt x="142741" y="48625"/>
                    <a:pt x="142741" y="60453"/>
                  </a:cubicBezTo>
                  <a:cubicBezTo>
                    <a:pt x="142741" y="72282"/>
                    <a:pt x="152344" y="81885"/>
                    <a:pt x="164172" y="81885"/>
                  </a:cubicBezTo>
                  <a:cubicBezTo>
                    <a:pt x="176001" y="81885"/>
                    <a:pt x="185604" y="72282"/>
                    <a:pt x="185604" y="6045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009514" y="2187118"/>
              <a:ext cx="2886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Performance close to CUDA</a:t>
              </a:r>
              <a:endParaRPr lang="en-US" sz="1100"/>
            </a:p>
          </p:txBody>
        </p:sp>
        <p:sp>
          <p:nvSpPr>
            <p:cNvPr id="8" name="AutoShape 8"/>
            <p:cNvSpPr/>
            <p:nvPr/>
          </p:nvSpPr>
          <p:spPr>
            <a:xfrm>
              <a:off x="1004797" y="2528715"/>
              <a:ext cx="4800665" cy="24763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Achieves handwritten CUDA performance levels through automatic optimization</a:t>
              </a:r>
              <a:endParaRPr lang="en-US" sz="1100"/>
            </a:p>
          </p:txBody>
        </p:sp>
        <p:sp>
          <p:nvSpPr>
            <p:cNvPr id="9" name="Freeform 9"/>
            <p:cNvSpPr/>
            <p:nvPr/>
          </p:nvSpPr>
          <p:spPr>
            <a:xfrm>
              <a:off x="622432" y="3008164"/>
              <a:ext cx="259988" cy="231905"/>
            </a:xfrm>
            <a:custGeom>
              <a:avLst/>
              <a:gdLst/>
              <a:ahLst/>
              <a:cxnLst/>
              <a:rect l="l" t="t" r="r" b="b"/>
              <a:pathLst>
                <a:path w="259988" h="231905">
                  <a:moveTo>
                    <a:pt x="162476" y="2188"/>
                  </a:moveTo>
                  <a:cubicBezTo>
                    <a:pt x="154885" y="0"/>
                    <a:pt x="146983" y="4421"/>
                    <a:pt x="144795" y="12010"/>
                  </a:cubicBezTo>
                  <a:lnTo>
                    <a:pt x="87645" y="212035"/>
                  </a:lnTo>
                  <a:cubicBezTo>
                    <a:pt x="85457" y="219626"/>
                    <a:pt x="89878" y="227528"/>
                    <a:pt x="97467" y="229716"/>
                  </a:cubicBezTo>
                  <a:cubicBezTo>
                    <a:pt x="105058" y="231904"/>
                    <a:pt x="112960" y="227483"/>
                    <a:pt x="115148" y="219894"/>
                  </a:cubicBezTo>
                  <a:lnTo>
                    <a:pt x="172298" y="19869"/>
                  </a:lnTo>
                  <a:cubicBezTo>
                    <a:pt x="174486" y="12278"/>
                    <a:pt x="170065" y="4376"/>
                    <a:pt x="162476" y="2188"/>
                  </a:cubicBezTo>
                  <a:close/>
                  <a:moveTo>
                    <a:pt x="191318" y="62954"/>
                  </a:moveTo>
                  <a:cubicBezTo>
                    <a:pt x="185737" y="68535"/>
                    <a:pt x="185737" y="77599"/>
                    <a:pt x="191318" y="83180"/>
                  </a:cubicBezTo>
                  <a:lnTo>
                    <a:pt x="224090" y="115952"/>
                  </a:lnTo>
                  <a:lnTo>
                    <a:pt x="191318" y="148724"/>
                  </a:lnTo>
                  <a:cubicBezTo>
                    <a:pt x="185737" y="154305"/>
                    <a:pt x="185737" y="163369"/>
                    <a:pt x="191318" y="168950"/>
                  </a:cubicBezTo>
                  <a:cubicBezTo>
                    <a:pt x="196900" y="174531"/>
                    <a:pt x="205963" y="174531"/>
                    <a:pt x="211544" y="168950"/>
                  </a:cubicBezTo>
                  <a:lnTo>
                    <a:pt x="254407" y="126087"/>
                  </a:lnTo>
                  <a:cubicBezTo>
                    <a:pt x="259988" y="120506"/>
                    <a:pt x="259988" y="111444"/>
                    <a:pt x="254407" y="105861"/>
                  </a:cubicBezTo>
                  <a:lnTo>
                    <a:pt x="211544" y="62999"/>
                  </a:lnTo>
                  <a:cubicBezTo>
                    <a:pt x="205963" y="57418"/>
                    <a:pt x="196900" y="57418"/>
                    <a:pt x="191318" y="62999"/>
                  </a:cubicBezTo>
                  <a:close/>
                  <a:moveTo>
                    <a:pt x="68669" y="62954"/>
                  </a:moveTo>
                  <a:cubicBezTo>
                    <a:pt x="63088" y="57373"/>
                    <a:pt x="54026" y="57373"/>
                    <a:pt x="48443" y="62954"/>
                  </a:cubicBezTo>
                  <a:lnTo>
                    <a:pt x="5581" y="105817"/>
                  </a:lnTo>
                  <a:cubicBezTo>
                    <a:pt x="0" y="111398"/>
                    <a:pt x="0" y="120460"/>
                    <a:pt x="5581" y="126043"/>
                  </a:cubicBezTo>
                  <a:lnTo>
                    <a:pt x="48443" y="168905"/>
                  </a:lnTo>
                  <a:cubicBezTo>
                    <a:pt x="54026" y="174486"/>
                    <a:pt x="63088" y="174486"/>
                    <a:pt x="68669" y="168905"/>
                  </a:cubicBezTo>
                  <a:cubicBezTo>
                    <a:pt x="74250" y="163324"/>
                    <a:pt x="74250" y="154260"/>
                    <a:pt x="68669" y="148679"/>
                  </a:cubicBezTo>
                  <a:lnTo>
                    <a:pt x="35898" y="115952"/>
                  </a:lnTo>
                  <a:lnTo>
                    <a:pt x="68625" y="83180"/>
                  </a:lnTo>
                  <a:cubicBezTo>
                    <a:pt x="74206" y="77599"/>
                    <a:pt x="74206" y="68535"/>
                    <a:pt x="68625" y="629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09514" y="2971753"/>
              <a:ext cx="2600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High Development Efficiency</a:t>
              </a:r>
              <a:endParaRPr lang="en-US" sz="1100"/>
            </a:p>
          </p:txBody>
        </p:sp>
        <p:sp>
          <p:nvSpPr>
            <p:cNvPr id="11" name="AutoShape 11"/>
            <p:cNvSpPr/>
            <p:nvPr/>
          </p:nvSpPr>
          <p:spPr>
            <a:xfrm>
              <a:off x="1009514" y="3276515"/>
              <a:ext cx="5086486" cy="24763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Concise Python syntax significantly reduces development cost</a:t>
              </a:r>
              <a:endParaRPr lang="en-US" sz="1100"/>
            </a:p>
          </p:txBody>
        </p:sp>
        <p:sp>
          <p:nvSpPr>
            <p:cNvPr id="12" name="Freeform 12"/>
            <p:cNvSpPr/>
            <p:nvPr/>
          </p:nvSpPr>
          <p:spPr>
            <a:xfrm>
              <a:off x="616539" y="3673789"/>
              <a:ext cx="272132" cy="272132"/>
            </a:xfrm>
            <a:custGeom>
              <a:avLst/>
              <a:gdLst/>
              <a:ahLst/>
              <a:cxnLst/>
              <a:rect l="l" t="t" r="r" b="b"/>
              <a:pathLst>
                <a:path w="272132" h="272132">
                  <a:moveTo>
                    <a:pt x="178683" y="115729"/>
                  </a:moveTo>
                  <a:cubicBezTo>
                    <a:pt x="184130" y="114256"/>
                    <a:pt x="189845" y="116845"/>
                    <a:pt x="192301" y="121890"/>
                  </a:cubicBezTo>
                  <a:lnTo>
                    <a:pt x="200605" y="138678"/>
                  </a:lnTo>
                  <a:cubicBezTo>
                    <a:pt x="205204" y="139303"/>
                    <a:pt x="209714" y="140553"/>
                    <a:pt x="213955" y="142295"/>
                  </a:cubicBezTo>
                  <a:lnTo>
                    <a:pt x="229582" y="131892"/>
                  </a:lnTo>
                  <a:cubicBezTo>
                    <a:pt x="234270" y="128766"/>
                    <a:pt x="240476" y="129390"/>
                    <a:pt x="244450" y="133366"/>
                  </a:cubicBezTo>
                  <a:lnTo>
                    <a:pt x="253023" y="141938"/>
                  </a:lnTo>
                  <a:cubicBezTo>
                    <a:pt x="256996" y="145911"/>
                    <a:pt x="257621" y="152162"/>
                    <a:pt x="254496" y="156806"/>
                  </a:cubicBezTo>
                  <a:lnTo>
                    <a:pt x="244093" y="172388"/>
                  </a:lnTo>
                  <a:cubicBezTo>
                    <a:pt x="244941" y="174486"/>
                    <a:pt x="245700" y="176674"/>
                    <a:pt x="246325" y="178951"/>
                  </a:cubicBezTo>
                  <a:cubicBezTo>
                    <a:pt x="246951" y="181228"/>
                    <a:pt x="247352" y="183461"/>
                    <a:pt x="247664" y="185738"/>
                  </a:cubicBezTo>
                  <a:lnTo>
                    <a:pt x="264497" y="194042"/>
                  </a:lnTo>
                  <a:cubicBezTo>
                    <a:pt x="269541" y="196543"/>
                    <a:pt x="272132" y="202258"/>
                    <a:pt x="270659" y="207661"/>
                  </a:cubicBezTo>
                  <a:lnTo>
                    <a:pt x="267534" y="219359"/>
                  </a:lnTo>
                  <a:cubicBezTo>
                    <a:pt x="266060" y="224760"/>
                    <a:pt x="261015" y="228423"/>
                    <a:pt x="255389" y="228064"/>
                  </a:cubicBezTo>
                  <a:lnTo>
                    <a:pt x="236637" y="226859"/>
                  </a:lnTo>
                  <a:cubicBezTo>
                    <a:pt x="233824" y="230475"/>
                    <a:pt x="230564" y="233824"/>
                    <a:pt x="226859" y="236683"/>
                  </a:cubicBezTo>
                  <a:lnTo>
                    <a:pt x="228064" y="255388"/>
                  </a:lnTo>
                  <a:cubicBezTo>
                    <a:pt x="228421" y="261015"/>
                    <a:pt x="224760" y="266105"/>
                    <a:pt x="219359" y="267533"/>
                  </a:cubicBezTo>
                  <a:lnTo>
                    <a:pt x="207659" y="270659"/>
                  </a:lnTo>
                  <a:cubicBezTo>
                    <a:pt x="202214" y="272132"/>
                    <a:pt x="196542" y="269543"/>
                    <a:pt x="194042" y="264498"/>
                  </a:cubicBezTo>
                  <a:lnTo>
                    <a:pt x="185737" y="247710"/>
                  </a:lnTo>
                  <a:cubicBezTo>
                    <a:pt x="181139" y="247085"/>
                    <a:pt x="176629" y="245835"/>
                    <a:pt x="172386" y="244093"/>
                  </a:cubicBezTo>
                  <a:lnTo>
                    <a:pt x="156760" y="254496"/>
                  </a:lnTo>
                  <a:cubicBezTo>
                    <a:pt x="152071" y="257622"/>
                    <a:pt x="145866" y="256998"/>
                    <a:pt x="141892" y="253022"/>
                  </a:cubicBezTo>
                  <a:lnTo>
                    <a:pt x="133320" y="244450"/>
                  </a:lnTo>
                  <a:cubicBezTo>
                    <a:pt x="129346" y="240477"/>
                    <a:pt x="128721" y="234271"/>
                    <a:pt x="131847" y="229582"/>
                  </a:cubicBezTo>
                  <a:lnTo>
                    <a:pt x="142251" y="213956"/>
                  </a:lnTo>
                  <a:cubicBezTo>
                    <a:pt x="141401" y="211857"/>
                    <a:pt x="140641" y="209668"/>
                    <a:pt x="140017" y="207393"/>
                  </a:cubicBezTo>
                  <a:cubicBezTo>
                    <a:pt x="139392" y="205115"/>
                    <a:pt x="138990" y="202838"/>
                    <a:pt x="138678" y="200606"/>
                  </a:cubicBezTo>
                  <a:lnTo>
                    <a:pt x="121845" y="192301"/>
                  </a:lnTo>
                  <a:cubicBezTo>
                    <a:pt x="116800" y="189801"/>
                    <a:pt x="114255" y="184086"/>
                    <a:pt x="115683" y="178683"/>
                  </a:cubicBezTo>
                  <a:lnTo>
                    <a:pt x="118809" y="166985"/>
                  </a:lnTo>
                  <a:cubicBezTo>
                    <a:pt x="120283" y="161582"/>
                    <a:pt x="125328" y="157922"/>
                    <a:pt x="130954" y="158279"/>
                  </a:cubicBezTo>
                  <a:lnTo>
                    <a:pt x="149661" y="159484"/>
                  </a:lnTo>
                  <a:cubicBezTo>
                    <a:pt x="152474" y="155867"/>
                    <a:pt x="155734" y="152518"/>
                    <a:pt x="159439" y="149662"/>
                  </a:cubicBezTo>
                  <a:lnTo>
                    <a:pt x="158234" y="131000"/>
                  </a:lnTo>
                  <a:cubicBezTo>
                    <a:pt x="157877" y="125373"/>
                    <a:pt x="161538" y="120283"/>
                    <a:pt x="166941" y="118855"/>
                  </a:cubicBezTo>
                  <a:lnTo>
                    <a:pt x="178639" y="115729"/>
                  </a:lnTo>
                  <a:close/>
                  <a:moveTo>
                    <a:pt x="193194" y="173548"/>
                  </a:moveTo>
                  <a:cubicBezTo>
                    <a:pt x="182351" y="173561"/>
                    <a:pt x="173559" y="182374"/>
                    <a:pt x="173571" y="193216"/>
                  </a:cubicBezTo>
                  <a:cubicBezTo>
                    <a:pt x="173583" y="204059"/>
                    <a:pt x="182397" y="212852"/>
                    <a:pt x="193239" y="212840"/>
                  </a:cubicBezTo>
                  <a:cubicBezTo>
                    <a:pt x="204081" y="212827"/>
                    <a:pt x="212874" y="204014"/>
                    <a:pt x="212861" y="193172"/>
                  </a:cubicBezTo>
                  <a:cubicBezTo>
                    <a:pt x="212849" y="182329"/>
                    <a:pt x="204036" y="173536"/>
                    <a:pt x="193194" y="173548"/>
                  </a:cubicBezTo>
                  <a:close/>
                  <a:moveTo>
                    <a:pt x="93404" y="1429"/>
                  </a:moveTo>
                  <a:lnTo>
                    <a:pt x="105102" y="4555"/>
                  </a:lnTo>
                  <a:cubicBezTo>
                    <a:pt x="110504" y="6028"/>
                    <a:pt x="114166" y="11118"/>
                    <a:pt x="113809" y="16700"/>
                  </a:cubicBezTo>
                  <a:lnTo>
                    <a:pt x="112602" y="35362"/>
                  </a:lnTo>
                  <a:cubicBezTo>
                    <a:pt x="116310" y="38218"/>
                    <a:pt x="119568" y="41523"/>
                    <a:pt x="122381" y="45184"/>
                  </a:cubicBezTo>
                  <a:lnTo>
                    <a:pt x="141134" y="43979"/>
                  </a:lnTo>
                  <a:cubicBezTo>
                    <a:pt x="146715" y="43622"/>
                    <a:pt x="151803" y="47282"/>
                    <a:pt x="153278" y="52685"/>
                  </a:cubicBezTo>
                  <a:lnTo>
                    <a:pt x="156403" y="64383"/>
                  </a:lnTo>
                  <a:cubicBezTo>
                    <a:pt x="157832" y="69786"/>
                    <a:pt x="155287" y="75501"/>
                    <a:pt x="150241" y="78001"/>
                  </a:cubicBezTo>
                  <a:lnTo>
                    <a:pt x="133409" y="86306"/>
                  </a:lnTo>
                  <a:cubicBezTo>
                    <a:pt x="133096" y="88583"/>
                    <a:pt x="132651" y="90860"/>
                    <a:pt x="132070" y="93093"/>
                  </a:cubicBezTo>
                  <a:cubicBezTo>
                    <a:pt x="131489" y="95325"/>
                    <a:pt x="130686" y="97557"/>
                    <a:pt x="129838" y="99656"/>
                  </a:cubicBezTo>
                  <a:lnTo>
                    <a:pt x="140241" y="115282"/>
                  </a:lnTo>
                  <a:cubicBezTo>
                    <a:pt x="143366" y="119971"/>
                    <a:pt x="142741" y="126177"/>
                    <a:pt x="138767" y="130150"/>
                  </a:cubicBezTo>
                  <a:lnTo>
                    <a:pt x="130194" y="138722"/>
                  </a:lnTo>
                  <a:cubicBezTo>
                    <a:pt x="126221" y="142698"/>
                    <a:pt x="120015" y="143322"/>
                    <a:pt x="115327" y="140196"/>
                  </a:cubicBezTo>
                  <a:lnTo>
                    <a:pt x="99700" y="129793"/>
                  </a:lnTo>
                  <a:cubicBezTo>
                    <a:pt x="95457" y="131535"/>
                    <a:pt x="90949" y="132785"/>
                    <a:pt x="86350" y="133410"/>
                  </a:cubicBezTo>
                  <a:lnTo>
                    <a:pt x="78044" y="150198"/>
                  </a:lnTo>
                  <a:cubicBezTo>
                    <a:pt x="75545" y="155243"/>
                    <a:pt x="69830" y="157788"/>
                    <a:pt x="64427" y="156359"/>
                  </a:cubicBezTo>
                  <a:lnTo>
                    <a:pt x="52730" y="153233"/>
                  </a:lnTo>
                  <a:cubicBezTo>
                    <a:pt x="47283" y="151760"/>
                    <a:pt x="43666" y="146670"/>
                    <a:pt x="44022" y="141088"/>
                  </a:cubicBezTo>
                  <a:lnTo>
                    <a:pt x="45229" y="122383"/>
                  </a:lnTo>
                  <a:cubicBezTo>
                    <a:pt x="41523" y="119524"/>
                    <a:pt x="38264" y="116221"/>
                    <a:pt x="35451" y="112559"/>
                  </a:cubicBezTo>
                  <a:lnTo>
                    <a:pt x="16698" y="113764"/>
                  </a:lnTo>
                  <a:cubicBezTo>
                    <a:pt x="11117" y="114123"/>
                    <a:pt x="6027" y="110460"/>
                    <a:pt x="4555" y="105059"/>
                  </a:cubicBezTo>
                  <a:lnTo>
                    <a:pt x="1429" y="93361"/>
                  </a:lnTo>
                  <a:cubicBezTo>
                    <a:pt x="0" y="87958"/>
                    <a:pt x="2545" y="82243"/>
                    <a:pt x="7590" y="79742"/>
                  </a:cubicBezTo>
                  <a:lnTo>
                    <a:pt x="24423" y="71438"/>
                  </a:lnTo>
                  <a:cubicBezTo>
                    <a:pt x="24735" y="69161"/>
                    <a:pt x="25182" y="66928"/>
                    <a:pt x="25762" y="64651"/>
                  </a:cubicBezTo>
                  <a:cubicBezTo>
                    <a:pt x="26387" y="62374"/>
                    <a:pt x="27101" y="60186"/>
                    <a:pt x="27994" y="58088"/>
                  </a:cubicBezTo>
                  <a:lnTo>
                    <a:pt x="17591" y="42506"/>
                  </a:lnTo>
                  <a:cubicBezTo>
                    <a:pt x="14466" y="37817"/>
                    <a:pt x="15091" y="31611"/>
                    <a:pt x="19064" y="27638"/>
                  </a:cubicBezTo>
                  <a:lnTo>
                    <a:pt x="27637" y="19066"/>
                  </a:lnTo>
                  <a:cubicBezTo>
                    <a:pt x="31611" y="15090"/>
                    <a:pt x="37817" y="14466"/>
                    <a:pt x="42505" y="17592"/>
                  </a:cubicBezTo>
                  <a:lnTo>
                    <a:pt x="58132" y="27995"/>
                  </a:lnTo>
                  <a:cubicBezTo>
                    <a:pt x="62374" y="26253"/>
                    <a:pt x="66882" y="25003"/>
                    <a:pt x="71482" y="24378"/>
                  </a:cubicBezTo>
                  <a:lnTo>
                    <a:pt x="79787" y="7590"/>
                  </a:lnTo>
                  <a:cubicBezTo>
                    <a:pt x="82288" y="2545"/>
                    <a:pt x="87957" y="0"/>
                    <a:pt x="93404" y="1429"/>
                  </a:cubicBezTo>
                  <a:close/>
                  <a:moveTo>
                    <a:pt x="78894" y="59248"/>
                  </a:moveTo>
                  <a:cubicBezTo>
                    <a:pt x="68051" y="59248"/>
                    <a:pt x="59248" y="68051"/>
                    <a:pt x="59248" y="78894"/>
                  </a:cubicBezTo>
                  <a:cubicBezTo>
                    <a:pt x="59248" y="89737"/>
                    <a:pt x="68051" y="98540"/>
                    <a:pt x="78894" y="98540"/>
                  </a:cubicBezTo>
                  <a:cubicBezTo>
                    <a:pt x="89736" y="98540"/>
                    <a:pt x="98538" y="89737"/>
                    <a:pt x="98538" y="78894"/>
                  </a:cubicBezTo>
                  <a:cubicBezTo>
                    <a:pt x="98538" y="68051"/>
                    <a:pt x="89736" y="59248"/>
                    <a:pt x="78894" y="592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514" y="3657470"/>
              <a:ext cx="2828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Automatic Optimization</a:t>
              </a:r>
              <a:endParaRPr lang="en-US" sz="1100"/>
            </a:p>
          </p:txBody>
        </p:sp>
        <p:sp>
          <p:nvSpPr>
            <p:cNvPr id="14" name="AutoShape 14"/>
            <p:cNvSpPr/>
            <p:nvPr/>
          </p:nvSpPr>
          <p:spPr>
            <a:xfrm>
              <a:off x="1009514" y="3962241"/>
              <a:ext cx="5086380" cy="4000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Compiler automatically performs memory access optimization, vectorization, and more</a:t>
              </a:r>
              <a:endParaRPr lang="en-US" sz="1100"/>
            </a:p>
          </p:txBody>
        </p:sp>
      </p:grpSp>
      <p:sp>
        <p:nvSpPr>
          <p:cNvPr id="15" name="Freeform 15"/>
          <p:cNvSpPr/>
          <p:nvPr/>
        </p:nvSpPr>
        <p:spPr>
          <a:xfrm>
            <a:off x="6248338" y="1638374"/>
            <a:ext cx="5562600" cy="2781300"/>
          </a:xfrm>
          <a:custGeom>
            <a:avLst/>
            <a:gdLst/>
            <a:ahLst/>
            <a:cxnLst/>
            <a:rect l="l" t="t" r="r" b="b"/>
            <a:pathLst>
              <a:path w="5562600" h="2781300">
                <a:moveTo>
                  <a:pt x="114311" y="0"/>
                </a:moveTo>
                <a:lnTo>
                  <a:pt x="5448289" y="0"/>
                </a:lnTo>
                <a:cubicBezTo>
                  <a:pt x="5511422" y="0"/>
                  <a:pt x="5562600" y="51178"/>
                  <a:pt x="5562600" y="114311"/>
                </a:cubicBezTo>
                <a:lnTo>
                  <a:pt x="5562600" y="2666989"/>
                </a:lnTo>
                <a:cubicBezTo>
                  <a:pt x="5562600" y="2730122"/>
                  <a:pt x="5511422" y="2781300"/>
                  <a:pt x="5448289" y="2781300"/>
                </a:cubicBezTo>
                <a:lnTo>
                  <a:pt x="114311" y="2781300"/>
                </a:lnTo>
                <a:cubicBezTo>
                  <a:pt x="51178" y="2781300"/>
                  <a:pt x="0" y="2730122"/>
                  <a:pt x="0" y="2666989"/>
                </a:cubicBezTo>
                <a:lnTo>
                  <a:pt x="0" y="114311"/>
                </a:lnTo>
                <a:cubicBezTo>
                  <a:pt x="0" y="51178"/>
                  <a:pt x="51178"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grpSp>
        <p:nvGrpSpPr>
          <p:cNvPr id="16" name="Group 16"/>
          <p:cNvGrpSpPr/>
          <p:nvPr/>
        </p:nvGrpSpPr>
        <p:grpSpPr>
          <a:xfrm>
            <a:off x="6429286" y="1924106"/>
            <a:ext cx="5231906" cy="2209493"/>
            <a:chOff x="6429286" y="1924106"/>
            <a:chExt cx="5231906" cy="2209493"/>
          </a:xfrm>
        </p:grpSpPr>
        <p:sp>
          <p:nvSpPr>
            <p:cNvPr id="17" name="AutoShape 17"/>
            <p:cNvSpPr/>
            <p:nvPr/>
          </p:nvSpPr>
          <p:spPr>
            <a:xfrm>
              <a:off x="6429286" y="1924106"/>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Performance Comparison</a:t>
              </a:r>
              <a:endParaRPr lang="en-US" sz="1100"/>
            </a:p>
          </p:txBody>
        </p:sp>
        <p:sp>
          <p:nvSpPr>
            <p:cNvPr id="18" name="AutoShape 18"/>
            <p:cNvSpPr/>
            <p:nvPr/>
          </p:nvSpPr>
          <p:spPr>
            <a:xfrm>
              <a:off x="6476911" y="2343197"/>
              <a:ext cx="5048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CUDA</a:t>
              </a:r>
              <a:endParaRPr lang="en-US" sz="1100"/>
            </a:p>
          </p:txBody>
        </p:sp>
        <p:sp>
          <p:nvSpPr>
            <p:cNvPr id="19" name="AutoShape 19"/>
            <p:cNvSpPr/>
            <p:nvPr/>
          </p:nvSpPr>
          <p:spPr>
            <a:xfrm>
              <a:off x="11206461" y="2343197"/>
              <a:ext cx="447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100%</a:t>
              </a:r>
              <a:endParaRPr lang="en-US" sz="1100"/>
            </a:p>
          </p:txBody>
        </p:sp>
        <p:sp>
          <p:nvSpPr>
            <p:cNvPr id="20" name="Freeform 20"/>
            <p:cNvSpPr/>
            <p:nvPr/>
          </p:nvSpPr>
          <p:spPr>
            <a:xfrm>
              <a:off x="6476911" y="2609831"/>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476911" y="2609831"/>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476911" y="2990785"/>
              <a:ext cx="4857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Triton</a:t>
              </a:r>
              <a:endParaRPr lang="en-US" sz="1100"/>
            </a:p>
          </p:txBody>
        </p:sp>
        <p:sp>
          <p:nvSpPr>
            <p:cNvPr id="23" name="AutoShape 23"/>
            <p:cNvSpPr/>
            <p:nvPr/>
          </p:nvSpPr>
          <p:spPr>
            <a:xfrm>
              <a:off x="10956342" y="2990785"/>
              <a:ext cx="704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95-100%</a:t>
              </a:r>
              <a:endParaRPr lang="en-US" sz="1100"/>
            </a:p>
          </p:txBody>
        </p:sp>
        <p:sp>
          <p:nvSpPr>
            <p:cNvPr id="24" name="Freeform 24"/>
            <p:cNvSpPr/>
            <p:nvPr/>
          </p:nvSpPr>
          <p:spPr>
            <a:xfrm>
              <a:off x="6476911" y="3257410"/>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76911" y="3257410"/>
              <a:ext cx="4848225" cy="228600"/>
            </a:xfrm>
            <a:custGeom>
              <a:avLst/>
              <a:gdLst/>
              <a:ahLst/>
              <a:cxnLst/>
              <a:rect l="l" t="t" r="r" b="b"/>
              <a:pathLst>
                <a:path w="4848225" h="228600">
                  <a:moveTo>
                    <a:pt x="114300" y="0"/>
                  </a:moveTo>
                  <a:lnTo>
                    <a:pt x="4733925" y="0"/>
                  </a:lnTo>
                  <a:cubicBezTo>
                    <a:pt x="4797008" y="0"/>
                    <a:pt x="4848225" y="51217"/>
                    <a:pt x="4848225" y="114300"/>
                  </a:cubicBezTo>
                  <a:lnTo>
                    <a:pt x="4848225" y="114300"/>
                  </a:lnTo>
                  <a:cubicBezTo>
                    <a:pt x="4848225" y="177383"/>
                    <a:pt x="4797008" y="228600"/>
                    <a:pt x="4733925" y="228600"/>
                  </a:cubicBezTo>
                  <a:lnTo>
                    <a:pt x="114300" y="228600"/>
                  </a:lnTo>
                  <a:cubicBezTo>
                    <a:pt x="51217" y="228600"/>
                    <a:pt x="0" y="177383"/>
                    <a:pt x="0" y="114300"/>
                  </a:cubicBezTo>
                  <a:lnTo>
                    <a:pt x="0" y="114300"/>
                  </a:lnTo>
                  <a:cubicBezTo>
                    <a:pt x="0" y="51217"/>
                    <a:pt x="51217" y="0"/>
                    <a:pt x="1143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476911" y="3638373"/>
              <a:ext cx="1636088" cy="2094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PyTorch (eager)</a:t>
              </a:r>
              <a:endParaRPr lang="en-US" sz="1100"/>
            </a:p>
          </p:txBody>
        </p:sp>
        <p:sp>
          <p:nvSpPr>
            <p:cNvPr id="27" name="AutoShape 27"/>
            <p:cNvSpPr/>
            <p:nvPr/>
          </p:nvSpPr>
          <p:spPr>
            <a:xfrm>
              <a:off x="11011356" y="3638373"/>
              <a:ext cx="647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60-80%</a:t>
              </a:r>
              <a:endParaRPr lang="en-US" sz="1100"/>
            </a:p>
          </p:txBody>
        </p:sp>
        <p:sp>
          <p:nvSpPr>
            <p:cNvPr id="28" name="Freeform 28"/>
            <p:cNvSpPr/>
            <p:nvPr/>
          </p:nvSpPr>
          <p:spPr>
            <a:xfrm>
              <a:off x="6476911" y="3904999"/>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6476911" y="3904999"/>
              <a:ext cx="3571875" cy="228600"/>
            </a:xfrm>
            <a:custGeom>
              <a:avLst/>
              <a:gdLst/>
              <a:ahLst/>
              <a:cxnLst/>
              <a:rect l="l" t="t" r="r" b="b"/>
              <a:pathLst>
                <a:path w="3571875" h="228600">
                  <a:moveTo>
                    <a:pt x="114300" y="0"/>
                  </a:moveTo>
                  <a:lnTo>
                    <a:pt x="3457575" y="0"/>
                  </a:lnTo>
                  <a:cubicBezTo>
                    <a:pt x="3520658" y="0"/>
                    <a:pt x="3571875" y="51217"/>
                    <a:pt x="3571875" y="114300"/>
                  </a:cubicBezTo>
                  <a:lnTo>
                    <a:pt x="3571875" y="114300"/>
                  </a:lnTo>
                  <a:cubicBezTo>
                    <a:pt x="3571875" y="177383"/>
                    <a:pt x="3520658" y="228600"/>
                    <a:pt x="3457575" y="228600"/>
                  </a:cubicBezTo>
                  <a:lnTo>
                    <a:pt x="114300" y="228600"/>
                  </a:lnTo>
                  <a:cubicBezTo>
                    <a:pt x="51217" y="228600"/>
                    <a:pt x="0" y="177383"/>
                    <a:pt x="0" y="114300"/>
                  </a:cubicBezTo>
                  <a:lnTo>
                    <a:pt x="0" y="114300"/>
                  </a:lnTo>
                  <a:cubicBezTo>
                    <a:pt x="0" y="51217"/>
                    <a:pt x="51217" y="0"/>
                    <a:pt x="114300"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grpSp>
      <p:sp>
        <p:nvSpPr>
          <p:cNvPr id="30" name="Freeform 30"/>
          <p:cNvSpPr/>
          <p:nvPr/>
        </p:nvSpPr>
        <p:spPr>
          <a:xfrm>
            <a:off x="399911" y="4647958"/>
            <a:ext cx="11410855" cy="1295400"/>
          </a:xfrm>
          <a:custGeom>
            <a:avLst/>
            <a:gdLst/>
            <a:ahLst/>
            <a:cxnLst/>
            <a:rect l="l" t="t" r="r" b="b"/>
            <a:pathLst>
              <a:path w="11410855" h="1295400">
                <a:moveTo>
                  <a:pt x="37909" y="0"/>
                </a:moveTo>
                <a:lnTo>
                  <a:pt x="11296548" y="0"/>
                </a:lnTo>
                <a:cubicBezTo>
                  <a:pt x="11359679" y="0"/>
                  <a:pt x="11410855" y="51177"/>
                  <a:pt x="11410855" y="114306"/>
                </a:cubicBezTo>
                <a:lnTo>
                  <a:pt x="11410855" y="1181094"/>
                </a:lnTo>
                <a:cubicBezTo>
                  <a:pt x="11410855" y="1244223"/>
                  <a:pt x="11359679" y="1295400"/>
                  <a:pt x="11296548" y="1295400"/>
                </a:cubicBezTo>
                <a:lnTo>
                  <a:pt x="37909" y="1295400"/>
                </a:lnTo>
                <a:cubicBezTo>
                  <a:pt x="16974" y="1295400"/>
                  <a:pt x="0" y="1278426"/>
                  <a:pt x="0" y="1257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399911" y="4647958"/>
            <a:ext cx="37909" cy="1295400"/>
          </a:xfrm>
          <a:custGeom>
            <a:avLst/>
            <a:gdLst/>
            <a:ahLst/>
            <a:cxnLst/>
            <a:rect l="l" t="t" r="r" b="b"/>
            <a:pathLst>
              <a:path w="37909" h="1295400">
                <a:moveTo>
                  <a:pt x="37909" y="0"/>
                </a:moveTo>
                <a:lnTo>
                  <a:pt x="37909" y="0"/>
                </a:lnTo>
                <a:lnTo>
                  <a:pt x="37909" y="1295400"/>
                </a:lnTo>
                <a:lnTo>
                  <a:pt x="37909" y="1295400"/>
                </a:lnTo>
                <a:cubicBezTo>
                  <a:pt x="16974" y="1295400"/>
                  <a:pt x="0" y="1278426"/>
                  <a:pt x="0" y="1257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85539" y="5152718"/>
            <a:ext cx="285750" cy="285750"/>
          </a:xfrm>
          <a:custGeom>
            <a:avLst/>
            <a:gdLst/>
            <a:ahLst/>
            <a:cxnLst/>
            <a:rect l="l" t="t" r="r" b="b"/>
            <a:pathLst>
              <a:path w="285750" h="285750">
                <a:moveTo>
                  <a:pt x="142875" y="285750"/>
                </a:moveTo>
                <a:cubicBezTo>
                  <a:pt x="221731" y="285750"/>
                  <a:pt x="285750" y="221731"/>
                  <a:pt x="285750" y="142875"/>
                </a:cubicBezTo>
                <a:cubicBezTo>
                  <a:pt x="285750" y="64019"/>
                  <a:pt x="221731" y="0"/>
                  <a:pt x="142875" y="0"/>
                </a:cubicBezTo>
                <a:cubicBezTo>
                  <a:pt x="64019" y="0"/>
                  <a:pt x="0" y="64019"/>
                  <a:pt x="0" y="142875"/>
                </a:cubicBezTo>
                <a:cubicBezTo>
                  <a:pt x="0" y="221731"/>
                  <a:pt x="64019" y="285750"/>
                  <a:pt x="142875" y="285750"/>
                </a:cubicBezTo>
                <a:close/>
                <a:moveTo>
                  <a:pt x="125016" y="89298"/>
                </a:moveTo>
                <a:cubicBezTo>
                  <a:pt x="125016" y="79440"/>
                  <a:pt x="133019" y="71438"/>
                  <a:pt x="142875" y="71438"/>
                </a:cubicBezTo>
                <a:cubicBezTo>
                  <a:pt x="152731" y="71438"/>
                  <a:pt x="160734" y="79440"/>
                  <a:pt x="160734" y="89298"/>
                </a:cubicBezTo>
                <a:cubicBezTo>
                  <a:pt x="160734" y="99154"/>
                  <a:pt x="152731" y="107156"/>
                  <a:pt x="142875" y="107156"/>
                </a:cubicBezTo>
                <a:cubicBezTo>
                  <a:pt x="133019" y="107156"/>
                  <a:pt x="125016" y="99154"/>
                  <a:pt x="125016" y="89298"/>
                </a:cubicBezTo>
                <a:close/>
                <a:moveTo>
                  <a:pt x="120551" y="125016"/>
                </a:moveTo>
                <a:lnTo>
                  <a:pt x="147340" y="125016"/>
                </a:lnTo>
                <a:cubicBezTo>
                  <a:pt x="154763" y="125016"/>
                  <a:pt x="160734" y="130987"/>
                  <a:pt x="160734" y="138410"/>
                </a:cubicBezTo>
                <a:lnTo>
                  <a:pt x="160734" y="187523"/>
                </a:lnTo>
                <a:lnTo>
                  <a:pt x="165199" y="187523"/>
                </a:lnTo>
                <a:cubicBezTo>
                  <a:pt x="172622" y="187523"/>
                  <a:pt x="178594" y="193495"/>
                  <a:pt x="178594" y="200918"/>
                </a:cubicBezTo>
                <a:cubicBezTo>
                  <a:pt x="178594" y="208341"/>
                  <a:pt x="172622" y="214312"/>
                  <a:pt x="165199" y="214312"/>
                </a:cubicBezTo>
                <a:lnTo>
                  <a:pt x="120551" y="214312"/>
                </a:lnTo>
                <a:cubicBezTo>
                  <a:pt x="113128" y="214312"/>
                  <a:pt x="107156" y="208341"/>
                  <a:pt x="107156" y="200918"/>
                </a:cubicBezTo>
                <a:cubicBezTo>
                  <a:pt x="107156" y="193495"/>
                  <a:pt x="113128" y="187523"/>
                  <a:pt x="120551" y="187523"/>
                </a:cubicBezTo>
                <a:lnTo>
                  <a:pt x="133946" y="187523"/>
                </a:lnTo>
                <a:lnTo>
                  <a:pt x="133946" y="151804"/>
                </a:lnTo>
                <a:lnTo>
                  <a:pt x="120551" y="151804"/>
                </a:lnTo>
                <a:cubicBezTo>
                  <a:pt x="113128" y="151804"/>
                  <a:pt x="107156" y="145833"/>
                  <a:pt x="107156" y="138410"/>
                </a:cubicBezTo>
                <a:cubicBezTo>
                  <a:pt x="107156" y="130987"/>
                  <a:pt x="113128" y="125016"/>
                  <a:pt x="120551" y="12501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1157009" y="4876530"/>
            <a:ext cx="6191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Reference</a:t>
            </a:r>
            <a:endParaRPr lang="en-US" sz="1100"/>
          </a:p>
        </p:txBody>
      </p:sp>
      <p:sp>
        <p:nvSpPr>
          <p:cNvPr id="34" name="AutoShape 34"/>
          <p:cNvSpPr/>
          <p:nvPr/>
        </p:nvSpPr>
        <p:spPr>
          <a:xfrm>
            <a:off x="1157009" y="5219430"/>
            <a:ext cx="106350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The bottom of the official Triton tutorial page provides detailed performance comparison charts for various operators across different hardware</a:t>
            </a:r>
            <a:endParaRPr lang="en-US" sz="1100"/>
          </a:p>
        </p:txBody>
      </p:sp>
      <p:sp>
        <p:nvSpPr>
          <p:cNvPr id="35" name="AutoShape 35"/>
          <p:cNvSpPr/>
          <p:nvPr/>
        </p:nvSpPr>
        <p:spPr>
          <a:xfrm>
            <a:off x="1157009" y="5524193"/>
            <a:ext cx="61626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https://triton-lang.org/main/getting-started/tutorials/01-vector-add.html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9540" y="650704"/>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Vector Add Workflow</a:t>
            </a:r>
            <a:endParaRPr lang="en-US" sz="1100"/>
          </a:p>
        </p:txBody>
      </p:sp>
      <p:sp>
        <p:nvSpPr>
          <p:cNvPr id="3" name="Freeform 3"/>
          <p:cNvSpPr/>
          <p:nvPr/>
        </p:nvSpPr>
        <p:spPr>
          <a:xfrm>
            <a:off x="5174739" y="1174525"/>
            <a:ext cx="1841500" cy="730250"/>
          </a:xfrm>
          <a:custGeom>
            <a:avLst/>
            <a:gdLst/>
            <a:ahLst/>
            <a:cxnLst/>
            <a:rect l="l" t="t" r="r" b="b"/>
            <a:pathLst>
              <a:path w="1841500" h="730250">
                <a:moveTo>
                  <a:pt x="95247" y="0"/>
                </a:moveTo>
                <a:lnTo>
                  <a:pt x="1746253" y="0"/>
                </a:lnTo>
                <a:cubicBezTo>
                  <a:pt x="1798857" y="0"/>
                  <a:pt x="1841500" y="42643"/>
                  <a:pt x="1841500" y="95247"/>
                </a:cubicBezTo>
                <a:lnTo>
                  <a:pt x="1841500" y="635003"/>
                </a:lnTo>
                <a:cubicBezTo>
                  <a:pt x="1841500" y="687607"/>
                  <a:pt x="1798857" y="730250"/>
                  <a:pt x="1746253" y="730250"/>
                </a:cubicBezTo>
                <a:lnTo>
                  <a:pt x="95247" y="730250"/>
                </a:lnTo>
                <a:cubicBezTo>
                  <a:pt x="42643" y="730250"/>
                  <a:pt x="0" y="687607"/>
                  <a:pt x="0" y="635003"/>
                </a:cubicBezTo>
                <a:lnTo>
                  <a:pt x="0" y="95247"/>
                </a:lnTo>
                <a:cubicBezTo>
                  <a:pt x="0" y="42680"/>
                  <a:pt x="42680" y="0"/>
                  <a:pt x="95247" y="0"/>
                </a:cubicBezTo>
                <a:close/>
              </a:path>
            </a:pathLst>
          </a:custGeom>
          <a:solidFill>
            <a:srgbClr val="8B0000">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4" name="AutoShape 4"/>
          <p:cNvSpPr/>
          <p:nvPr/>
        </p:nvSpPr>
        <p:spPr>
          <a:xfrm>
            <a:off x="5381084" y="1301510"/>
            <a:ext cx="142875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program_id</a:t>
            </a:r>
            <a:endParaRPr lang="en-US" sz="1100"/>
          </a:p>
        </p:txBody>
      </p:sp>
      <p:sp>
        <p:nvSpPr>
          <p:cNvPr id="5" name="AutoShape 5"/>
          <p:cNvSpPr/>
          <p:nvPr/>
        </p:nvSpPr>
        <p:spPr>
          <a:xfrm>
            <a:off x="5396959" y="1587136"/>
            <a:ext cx="1397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Get the current program ID</a:t>
            </a:r>
            <a:endParaRPr lang="en-US" sz="1100"/>
          </a:p>
        </p:txBody>
      </p:sp>
      <p:sp>
        <p:nvSpPr>
          <p:cNvPr id="6" name="Freeform 6"/>
          <p:cNvSpPr/>
          <p:nvPr/>
        </p:nvSpPr>
        <p:spPr>
          <a:xfrm>
            <a:off x="6007168" y="2031581"/>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26137" y="2396675"/>
            <a:ext cx="2341563" cy="730250"/>
          </a:xfrm>
          <a:custGeom>
            <a:avLst/>
            <a:gdLst/>
            <a:ahLst/>
            <a:cxnLst/>
            <a:rect l="l" t="t" r="r" b="b"/>
            <a:pathLst>
              <a:path w="2341563" h="730250">
                <a:moveTo>
                  <a:pt x="95247" y="0"/>
                </a:moveTo>
                <a:lnTo>
                  <a:pt x="2246316" y="0"/>
                </a:lnTo>
                <a:cubicBezTo>
                  <a:pt x="2298918" y="0"/>
                  <a:pt x="2341563" y="42643"/>
                  <a:pt x="2341563" y="95247"/>
                </a:cubicBezTo>
                <a:lnTo>
                  <a:pt x="2341563" y="635003"/>
                </a:lnTo>
                <a:cubicBezTo>
                  <a:pt x="2341563" y="687607"/>
                  <a:pt x="2298918" y="730250"/>
                  <a:pt x="2246316"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5011534" y="2540943"/>
            <a:ext cx="2213403"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Compute block start</a:t>
            </a:r>
            <a:endParaRPr lang="en-US" sz="1100"/>
          </a:p>
        </p:txBody>
      </p:sp>
      <p:sp>
        <p:nvSpPr>
          <p:cNvPr id="9" name="AutoShape 9"/>
          <p:cNvSpPr/>
          <p:nvPr/>
        </p:nvSpPr>
        <p:spPr>
          <a:xfrm>
            <a:off x="5148357" y="2872859"/>
            <a:ext cx="1897063"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block_start = pid * BLOCK_SIZE</a:t>
            </a:r>
            <a:endParaRPr lang="en-US" sz="1100"/>
          </a:p>
        </p:txBody>
      </p:sp>
      <p:sp>
        <p:nvSpPr>
          <p:cNvPr id="10" name="Freeform 10"/>
          <p:cNvSpPr/>
          <p:nvPr/>
        </p:nvSpPr>
        <p:spPr>
          <a:xfrm>
            <a:off x="6007168" y="3253739"/>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442384" y="3618833"/>
            <a:ext cx="3309938" cy="730250"/>
          </a:xfrm>
          <a:custGeom>
            <a:avLst/>
            <a:gdLst/>
            <a:ahLst/>
            <a:cxnLst/>
            <a:rect l="l" t="t" r="r" b="b"/>
            <a:pathLst>
              <a:path w="3309938" h="730250">
                <a:moveTo>
                  <a:pt x="95247" y="0"/>
                </a:moveTo>
                <a:lnTo>
                  <a:pt x="3214691" y="0"/>
                </a:lnTo>
                <a:cubicBezTo>
                  <a:pt x="3267293" y="0"/>
                  <a:pt x="3309938" y="42643"/>
                  <a:pt x="3309938" y="95247"/>
                </a:cubicBezTo>
                <a:lnTo>
                  <a:pt x="3309938" y="635003"/>
                </a:lnTo>
                <a:cubicBezTo>
                  <a:pt x="3309938" y="687607"/>
                  <a:pt x="3267293" y="730250"/>
                  <a:pt x="3214691"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2" name="AutoShape 12"/>
          <p:cNvSpPr/>
          <p:nvPr/>
        </p:nvSpPr>
        <p:spPr>
          <a:xfrm>
            <a:off x="4648729" y="3745818"/>
            <a:ext cx="289718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Generate offsets</a:t>
            </a:r>
            <a:endParaRPr lang="en-US" sz="1100"/>
          </a:p>
        </p:txBody>
      </p:sp>
      <p:sp>
        <p:nvSpPr>
          <p:cNvPr id="13" name="AutoShape 13"/>
          <p:cNvSpPr/>
          <p:nvPr/>
        </p:nvSpPr>
        <p:spPr>
          <a:xfrm>
            <a:off x="4664604" y="4031444"/>
            <a:ext cx="3087718"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tl.arange(0, BLOCK_SIZE)</a:t>
            </a:r>
            <a:endParaRPr lang="en-US" sz="1100"/>
          </a:p>
        </p:txBody>
      </p:sp>
      <p:sp>
        <p:nvSpPr>
          <p:cNvPr id="14" name="Freeform 14"/>
          <p:cNvSpPr/>
          <p:nvPr/>
        </p:nvSpPr>
        <p:spPr>
          <a:xfrm>
            <a:off x="6007168" y="4475890"/>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011534" y="4840990"/>
            <a:ext cx="2166938" cy="825431"/>
          </a:xfrm>
          <a:custGeom>
            <a:avLst/>
            <a:gdLst/>
            <a:ahLst/>
            <a:cxnLst/>
            <a:rect l="l" t="t" r="r" b="b"/>
            <a:pathLst>
              <a:path w="2166938" h="825431">
                <a:moveTo>
                  <a:pt x="95247" y="0"/>
                </a:moveTo>
                <a:lnTo>
                  <a:pt x="2071691" y="0"/>
                </a:lnTo>
                <a:cubicBezTo>
                  <a:pt x="2124293" y="0"/>
                  <a:pt x="2166938" y="48202"/>
                  <a:pt x="2166938" y="107662"/>
                </a:cubicBezTo>
                <a:lnTo>
                  <a:pt x="2166938" y="717770"/>
                </a:lnTo>
                <a:cubicBezTo>
                  <a:pt x="2166938" y="777230"/>
                  <a:pt x="2124293" y="825431"/>
                  <a:pt x="2071691" y="825431"/>
                </a:cubicBezTo>
                <a:lnTo>
                  <a:pt x="95247" y="825431"/>
                </a:lnTo>
                <a:cubicBezTo>
                  <a:pt x="42643" y="825431"/>
                  <a:pt x="0" y="777230"/>
                  <a:pt x="0" y="717770"/>
                </a:cubicBezTo>
                <a:lnTo>
                  <a:pt x="0" y="107662"/>
                </a:lnTo>
                <a:cubicBezTo>
                  <a:pt x="0" y="48242"/>
                  <a:pt x="42680" y="0"/>
                  <a:pt x="95247" y="0"/>
                </a:cubicBezTo>
                <a:close/>
              </a:path>
            </a:pathLst>
          </a:custGeom>
          <a:solidFill>
            <a:srgbClr val="8B0000">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6" name="AutoShape 16"/>
          <p:cNvSpPr/>
          <p:nvPr/>
        </p:nvSpPr>
        <p:spPr>
          <a:xfrm>
            <a:off x="5217880" y="5004342"/>
            <a:ext cx="175418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mask prevents out-of-bounds</a:t>
            </a:r>
            <a:endParaRPr lang="en-US" sz="1100"/>
          </a:p>
        </p:txBody>
      </p:sp>
      <p:sp>
        <p:nvSpPr>
          <p:cNvPr id="17" name="AutoShape 17"/>
          <p:cNvSpPr/>
          <p:nvPr/>
        </p:nvSpPr>
        <p:spPr>
          <a:xfrm>
            <a:off x="5174739" y="5418054"/>
            <a:ext cx="1891201"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mask = offsets &lt; n_elements</a:t>
            </a:r>
            <a:endParaRPr lang="en-US" sz="1100"/>
          </a:p>
        </p:txBody>
      </p:sp>
      <p:sp>
        <p:nvSpPr>
          <p:cNvPr id="18" name="Freeform 18"/>
          <p:cNvSpPr/>
          <p:nvPr/>
        </p:nvSpPr>
        <p:spPr>
          <a:xfrm>
            <a:off x="6007168" y="5698048"/>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4730229" y="6063142"/>
            <a:ext cx="2730500" cy="730250"/>
          </a:xfrm>
          <a:custGeom>
            <a:avLst/>
            <a:gdLst/>
            <a:ahLst/>
            <a:cxnLst/>
            <a:rect l="l" t="t" r="r" b="b"/>
            <a:pathLst>
              <a:path w="2730500" h="730250">
                <a:moveTo>
                  <a:pt x="95247" y="0"/>
                </a:moveTo>
                <a:lnTo>
                  <a:pt x="2635253" y="0"/>
                </a:lnTo>
                <a:cubicBezTo>
                  <a:pt x="2687857" y="0"/>
                  <a:pt x="2730500" y="42643"/>
                  <a:pt x="2730500" y="95247"/>
                </a:cubicBezTo>
                <a:lnTo>
                  <a:pt x="2730500" y="635003"/>
                </a:lnTo>
                <a:cubicBezTo>
                  <a:pt x="2730500" y="687607"/>
                  <a:pt x="2687857" y="730250"/>
                  <a:pt x="2635253"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AutoShape 20"/>
          <p:cNvSpPr/>
          <p:nvPr/>
        </p:nvSpPr>
        <p:spPr>
          <a:xfrm>
            <a:off x="4936575" y="6190126"/>
            <a:ext cx="231775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load</a:t>
            </a:r>
            <a:endParaRPr lang="en-US" sz="1100"/>
          </a:p>
        </p:txBody>
      </p:sp>
      <p:sp>
        <p:nvSpPr>
          <p:cNvPr id="21" name="AutoShape 21"/>
          <p:cNvSpPr/>
          <p:nvPr/>
        </p:nvSpPr>
        <p:spPr>
          <a:xfrm>
            <a:off x="4952449" y="6475752"/>
            <a:ext cx="2508279"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x = tl.load(x_ptr + offsets, mask=mask)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4758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Core Concepts: Summary</a:t>
            </a:r>
            <a:endParaRPr lang="en-US" sz="1100"/>
          </a:p>
        </p:txBody>
      </p:sp>
      <p:sp>
        <p:nvSpPr>
          <p:cNvPr id="3" name="Freeform 3"/>
          <p:cNvSpPr/>
          <p:nvPr/>
        </p:nvSpPr>
        <p:spPr>
          <a:xfrm>
            <a:off x="390433"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1485838"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1645581" y="2280045"/>
            <a:ext cx="214179" cy="241013"/>
          </a:xfrm>
          <a:custGeom>
            <a:avLst/>
            <a:gdLst/>
            <a:ahLst/>
            <a:cxnLst/>
            <a:rect l="l" t="t" r="r" b="b"/>
            <a:pathLst>
              <a:path w="214179" h="241013">
                <a:moveTo>
                  <a:pt x="92779" y="5090"/>
                </a:moveTo>
                <a:cubicBezTo>
                  <a:pt x="101621" y="0"/>
                  <a:pt x="112513" y="0"/>
                  <a:pt x="121354" y="5090"/>
                </a:cubicBezTo>
                <a:lnTo>
                  <a:pt x="199891" y="50408"/>
                </a:lnTo>
                <a:cubicBezTo>
                  <a:pt x="208731" y="55499"/>
                  <a:pt x="214179" y="64963"/>
                  <a:pt x="214179" y="75143"/>
                </a:cubicBezTo>
                <a:lnTo>
                  <a:pt x="214179" y="165780"/>
                </a:lnTo>
                <a:cubicBezTo>
                  <a:pt x="214179" y="176004"/>
                  <a:pt x="208731" y="185425"/>
                  <a:pt x="199891" y="190515"/>
                </a:cubicBezTo>
                <a:lnTo>
                  <a:pt x="121354" y="235922"/>
                </a:lnTo>
                <a:cubicBezTo>
                  <a:pt x="112513" y="241012"/>
                  <a:pt x="101621" y="241012"/>
                  <a:pt x="92779" y="235922"/>
                </a:cubicBezTo>
                <a:lnTo>
                  <a:pt x="14287" y="190604"/>
                </a:lnTo>
                <a:cubicBezTo>
                  <a:pt x="5447" y="185513"/>
                  <a:pt x="0" y="176049"/>
                  <a:pt x="0" y="165869"/>
                </a:cubicBezTo>
                <a:lnTo>
                  <a:pt x="0" y="75232"/>
                </a:lnTo>
                <a:cubicBezTo>
                  <a:pt x="0" y="65008"/>
                  <a:pt x="5447" y="55587"/>
                  <a:pt x="14287" y="50497"/>
                </a:cubicBezTo>
                <a:lnTo>
                  <a:pt x="92779" y="5090"/>
                </a:lnTo>
                <a:close/>
                <a:moveTo>
                  <a:pt x="185559" y="165823"/>
                </a:moveTo>
                <a:lnTo>
                  <a:pt x="185559" y="91663"/>
                </a:lnTo>
                <a:lnTo>
                  <a:pt x="121354" y="128722"/>
                </a:lnTo>
                <a:lnTo>
                  <a:pt x="121354" y="202882"/>
                </a:lnTo>
                <a:lnTo>
                  <a:pt x="185559" y="1658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547489"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program</a:t>
            </a:r>
            <a:endParaRPr lang="en-US" sz="1100"/>
          </a:p>
        </p:txBody>
      </p:sp>
      <p:sp>
        <p:nvSpPr>
          <p:cNvPr id="7" name="AutoShape 7"/>
          <p:cNvSpPr/>
          <p:nvPr/>
        </p:nvSpPr>
        <p:spPr>
          <a:xfrm>
            <a:off x="557014" y="312434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Triton's basic execution unit, corresponds to CUDA's thread block</a:t>
            </a:r>
            <a:endParaRPr lang="en-US" sz="1100"/>
          </a:p>
        </p:txBody>
      </p:sp>
      <p:sp>
        <p:nvSpPr>
          <p:cNvPr id="8" name="Freeform 8"/>
          <p:cNvSpPr/>
          <p:nvPr/>
        </p:nvSpPr>
        <p:spPr>
          <a:xfrm>
            <a:off x="3285992"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4381470"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533847" y="2286251"/>
            <a:ext cx="228644" cy="226412"/>
          </a:xfrm>
          <a:custGeom>
            <a:avLst/>
            <a:gdLst/>
            <a:ahLst/>
            <a:cxnLst/>
            <a:rect l="l" t="t" r="r" b="b"/>
            <a:pathLst>
              <a:path w="228644" h="226412">
                <a:moveTo>
                  <a:pt x="21431" y="114300"/>
                </a:moveTo>
                <a:cubicBezTo>
                  <a:pt x="21431" y="63000"/>
                  <a:pt x="63000" y="21431"/>
                  <a:pt x="114300" y="21431"/>
                </a:cubicBezTo>
                <a:cubicBezTo>
                  <a:pt x="142472" y="21431"/>
                  <a:pt x="167700" y="33978"/>
                  <a:pt x="184755" y="53801"/>
                </a:cubicBezTo>
                <a:cubicBezTo>
                  <a:pt x="188595" y="58311"/>
                  <a:pt x="195382" y="58802"/>
                  <a:pt x="199846" y="54962"/>
                </a:cubicBezTo>
                <a:cubicBezTo>
                  <a:pt x="204311" y="51123"/>
                  <a:pt x="204847" y="44336"/>
                  <a:pt x="201007" y="39870"/>
                </a:cubicBezTo>
                <a:cubicBezTo>
                  <a:pt x="180067" y="15448"/>
                  <a:pt x="148993" y="0"/>
                  <a:pt x="114300" y="0"/>
                </a:cubicBezTo>
                <a:cubicBezTo>
                  <a:pt x="51167" y="0"/>
                  <a:pt x="0" y="51167"/>
                  <a:pt x="0" y="114300"/>
                </a:cubicBezTo>
                <a:lnTo>
                  <a:pt x="0" y="132159"/>
                </a:lnTo>
                <a:cubicBezTo>
                  <a:pt x="0" y="138099"/>
                  <a:pt x="4776" y="142875"/>
                  <a:pt x="10716" y="142875"/>
                </a:cubicBezTo>
                <a:cubicBezTo>
                  <a:pt x="16654" y="142875"/>
                  <a:pt x="21431" y="138099"/>
                  <a:pt x="21431" y="132159"/>
                </a:cubicBezTo>
                <a:lnTo>
                  <a:pt x="21431" y="114300"/>
                </a:lnTo>
                <a:close/>
                <a:moveTo>
                  <a:pt x="226144" y="90681"/>
                </a:moveTo>
                <a:cubicBezTo>
                  <a:pt x="224939" y="84877"/>
                  <a:pt x="219224" y="81171"/>
                  <a:pt x="213464" y="82420"/>
                </a:cubicBezTo>
                <a:cubicBezTo>
                  <a:pt x="207705" y="83671"/>
                  <a:pt x="203954" y="89342"/>
                  <a:pt x="205204" y="95101"/>
                </a:cubicBezTo>
                <a:cubicBezTo>
                  <a:pt x="206499" y="101307"/>
                  <a:pt x="207213" y="107737"/>
                  <a:pt x="207213" y="114344"/>
                </a:cubicBezTo>
                <a:lnTo>
                  <a:pt x="207213" y="132204"/>
                </a:lnTo>
                <a:cubicBezTo>
                  <a:pt x="207213" y="138142"/>
                  <a:pt x="211991" y="142919"/>
                  <a:pt x="217929" y="142919"/>
                </a:cubicBezTo>
                <a:cubicBezTo>
                  <a:pt x="223867" y="142919"/>
                  <a:pt x="228644" y="138142"/>
                  <a:pt x="228644" y="132204"/>
                </a:cubicBezTo>
                <a:lnTo>
                  <a:pt x="228644" y="114344"/>
                </a:lnTo>
                <a:cubicBezTo>
                  <a:pt x="228644" y="106263"/>
                  <a:pt x="227796" y="98361"/>
                  <a:pt x="226190" y="90726"/>
                </a:cubicBezTo>
                <a:close/>
                <a:moveTo>
                  <a:pt x="114300" y="35719"/>
                </a:moveTo>
                <a:cubicBezTo>
                  <a:pt x="105816" y="35719"/>
                  <a:pt x="97601" y="37059"/>
                  <a:pt x="89967" y="39559"/>
                </a:cubicBezTo>
                <a:cubicBezTo>
                  <a:pt x="83180" y="41791"/>
                  <a:pt x="81617" y="50140"/>
                  <a:pt x="86261" y="55587"/>
                </a:cubicBezTo>
                <a:cubicBezTo>
                  <a:pt x="89431" y="59292"/>
                  <a:pt x="94654" y="60409"/>
                  <a:pt x="99386" y="59115"/>
                </a:cubicBezTo>
                <a:cubicBezTo>
                  <a:pt x="104120" y="57821"/>
                  <a:pt x="109121" y="57150"/>
                  <a:pt x="114300" y="57150"/>
                </a:cubicBezTo>
                <a:cubicBezTo>
                  <a:pt x="145866" y="57150"/>
                  <a:pt x="171450" y="82734"/>
                  <a:pt x="171450" y="114300"/>
                </a:cubicBezTo>
                <a:lnTo>
                  <a:pt x="171450" y="125418"/>
                </a:lnTo>
                <a:cubicBezTo>
                  <a:pt x="171450" y="136669"/>
                  <a:pt x="170779" y="147876"/>
                  <a:pt x="169485" y="159038"/>
                </a:cubicBezTo>
                <a:cubicBezTo>
                  <a:pt x="168726" y="165556"/>
                  <a:pt x="173681" y="171450"/>
                  <a:pt x="180290" y="171450"/>
                </a:cubicBezTo>
                <a:cubicBezTo>
                  <a:pt x="185558" y="171450"/>
                  <a:pt x="190068" y="167610"/>
                  <a:pt x="190693" y="162386"/>
                </a:cubicBezTo>
                <a:cubicBezTo>
                  <a:pt x="192168" y="150153"/>
                  <a:pt x="192926" y="137831"/>
                  <a:pt x="192926" y="125462"/>
                </a:cubicBezTo>
                <a:lnTo>
                  <a:pt x="192926" y="114344"/>
                </a:lnTo>
                <a:cubicBezTo>
                  <a:pt x="192926" y="70946"/>
                  <a:pt x="157743" y="35763"/>
                  <a:pt x="114344" y="35763"/>
                </a:cubicBezTo>
                <a:close/>
                <a:moveTo>
                  <a:pt x="67285" y="66392"/>
                </a:moveTo>
                <a:cubicBezTo>
                  <a:pt x="63222" y="61659"/>
                  <a:pt x="55989" y="61302"/>
                  <a:pt x="52149" y="66214"/>
                </a:cubicBezTo>
                <a:cubicBezTo>
                  <a:pt x="41836" y="79519"/>
                  <a:pt x="35719" y="96173"/>
                  <a:pt x="35719" y="114300"/>
                </a:cubicBezTo>
                <a:lnTo>
                  <a:pt x="35719" y="125418"/>
                </a:lnTo>
                <a:cubicBezTo>
                  <a:pt x="35719" y="136221"/>
                  <a:pt x="34558" y="147027"/>
                  <a:pt x="32236" y="157519"/>
                </a:cubicBezTo>
                <a:cubicBezTo>
                  <a:pt x="30717" y="164485"/>
                  <a:pt x="35763" y="171406"/>
                  <a:pt x="42907" y="171406"/>
                </a:cubicBezTo>
                <a:cubicBezTo>
                  <a:pt x="47595" y="171406"/>
                  <a:pt x="51792" y="168280"/>
                  <a:pt x="52819" y="163681"/>
                </a:cubicBezTo>
                <a:cubicBezTo>
                  <a:pt x="55677" y="151135"/>
                  <a:pt x="57150" y="138321"/>
                  <a:pt x="57150" y="125373"/>
                </a:cubicBezTo>
                <a:lnTo>
                  <a:pt x="57150" y="114256"/>
                </a:lnTo>
                <a:cubicBezTo>
                  <a:pt x="57150" y="102111"/>
                  <a:pt x="60945" y="90860"/>
                  <a:pt x="67373" y="81617"/>
                </a:cubicBezTo>
                <a:cubicBezTo>
                  <a:pt x="70589" y="76973"/>
                  <a:pt x="70946" y="70634"/>
                  <a:pt x="67285" y="66349"/>
                </a:cubicBezTo>
                <a:close/>
                <a:moveTo>
                  <a:pt x="114300" y="71437"/>
                </a:moveTo>
                <a:cubicBezTo>
                  <a:pt x="90636" y="71437"/>
                  <a:pt x="71437" y="90636"/>
                  <a:pt x="71437" y="114300"/>
                </a:cubicBezTo>
                <a:lnTo>
                  <a:pt x="71437" y="125418"/>
                </a:lnTo>
                <a:cubicBezTo>
                  <a:pt x="71437" y="141446"/>
                  <a:pt x="69384" y="157342"/>
                  <a:pt x="65275" y="172789"/>
                </a:cubicBezTo>
                <a:cubicBezTo>
                  <a:pt x="63579" y="179174"/>
                  <a:pt x="68268" y="185737"/>
                  <a:pt x="74875" y="185737"/>
                </a:cubicBezTo>
                <a:cubicBezTo>
                  <a:pt x="79117" y="185737"/>
                  <a:pt x="82867" y="182969"/>
                  <a:pt x="83984" y="178862"/>
                </a:cubicBezTo>
                <a:cubicBezTo>
                  <a:pt x="88671" y="161449"/>
                  <a:pt x="91083" y="143500"/>
                  <a:pt x="91083" y="125418"/>
                </a:cubicBezTo>
                <a:lnTo>
                  <a:pt x="91083" y="114300"/>
                </a:lnTo>
                <a:cubicBezTo>
                  <a:pt x="91083" y="101486"/>
                  <a:pt x="101486" y="91083"/>
                  <a:pt x="114300" y="91083"/>
                </a:cubicBezTo>
                <a:cubicBezTo>
                  <a:pt x="127114" y="91083"/>
                  <a:pt x="137517" y="101486"/>
                  <a:pt x="137517" y="114300"/>
                </a:cubicBezTo>
                <a:lnTo>
                  <a:pt x="137517" y="125418"/>
                </a:lnTo>
                <a:cubicBezTo>
                  <a:pt x="137517" y="141625"/>
                  <a:pt x="135953" y="157743"/>
                  <a:pt x="132874" y="173592"/>
                </a:cubicBezTo>
                <a:cubicBezTo>
                  <a:pt x="131669" y="179799"/>
                  <a:pt x="136312" y="185737"/>
                  <a:pt x="142607" y="185737"/>
                </a:cubicBezTo>
                <a:cubicBezTo>
                  <a:pt x="147161" y="185737"/>
                  <a:pt x="151091" y="182612"/>
                  <a:pt x="151983" y="178147"/>
                </a:cubicBezTo>
                <a:cubicBezTo>
                  <a:pt x="155421" y="160824"/>
                  <a:pt x="157163" y="143187"/>
                  <a:pt x="157163" y="125418"/>
                </a:cubicBezTo>
                <a:lnTo>
                  <a:pt x="157163" y="114300"/>
                </a:lnTo>
                <a:cubicBezTo>
                  <a:pt x="157163" y="90636"/>
                  <a:pt x="137964" y="71437"/>
                  <a:pt x="114300" y="71437"/>
                </a:cubicBezTo>
                <a:close/>
                <a:moveTo>
                  <a:pt x="125016" y="114300"/>
                </a:moveTo>
                <a:cubicBezTo>
                  <a:pt x="125016" y="108361"/>
                  <a:pt x="120239" y="103584"/>
                  <a:pt x="114300" y="103584"/>
                </a:cubicBezTo>
                <a:cubicBezTo>
                  <a:pt x="108361" y="103584"/>
                  <a:pt x="103584" y="108361"/>
                  <a:pt x="103584" y="114300"/>
                </a:cubicBezTo>
                <a:lnTo>
                  <a:pt x="103584" y="125418"/>
                </a:lnTo>
                <a:cubicBezTo>
                  <a:pt x="103584" y="152163"/>
                  <a:pt x="98673" y="178683"/>
                  <a:pt x="89074" y="203642"/>
                </a:cubicBezTo>
                <a:lnTo>
                  <a:pt x="86439" y="210473"/>
                </a:lnTo>
                <a:cubicBezTo>
                  <a:pt x="84296" y="216009"/>
                  <a:pt x="87064" y="222214"/>
                  <a:pt x="92601" y="224314"/>
                </a:cubicBezTo>
                <a:cubicBezTo>
                  <a:pt x="98137" y="226412"/>
                  <a:pt x="104343" y="223689"/>
                  <a:pt x="106443" y="218152"/>
                </a:cubicBezTo>
                <a:lnTo>
                  <a:pt x="109076" y="211320"/>
                </a:lnTo>
                <a:cubicBezTo>
                  <a:pt x="119612" y="183907"/>
                  <a:pt x="125016" y="154796"/>
                  <a:pt x="125016" y="125418"/>
                </a:cubicBezTo>
                <a:lnTo>
                  <a:pt x="125016" y="11430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3443047"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program_id</a:t>
            </a:r>
            <a:endParaRPr lang="en-US" sz="1100"/>
          </a:p>
        </p:txBody>
      </p:sp>
      <p:sp>
        <p:nvSpPr>
          <p:cNvPr id="12" name="AutoShape 12"/>
          <p:cNvSpPr/>
          <p:nvPr/>
        </p:nvSpPr>
        <p:spPr>
          <a:xfrm>
            <a:off x="3452572" y="312434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Index of the current program in the grid, similar to blockIdx.x</a:t>
            </a:r>
            <a:endParaRPr lang="en-US" sz="1100"/>
          </a:p>
        </p:txBody>
      </p:sp>
      <p:sp>
        <p:nvSpPr>
          <p:cNvPr id="13" name="Freeform 13"/>
          <p:cNvSpPr/>
          <p:nvPr/>
        </p:nvSpPr>
        <p:spPr>
          <a:xfrm>
            <a:off x="6181624"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4" name="Freeform 14"/>
          <p:cNvSpPr/>
          <p:nvPr/>
        </p:nvSpPr>
        <p:spPr>
          <a:xfrm>
            <a:off x="7277103"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7443767" y="2300538"/>
            <a:ext cx="200025" cy="200025"/>
          </a:xfrm>
          <a:custGeom>
            <a:avLst/>
            <a:gdLst/>
            <a:ahLst/>
            <a:cxnLst/>
            <a:rect l="l" t="t" r="r" b="b"/>
            <a:pathLst>
              <a:path w="200025" h="200025">
                <a:moveTo>
                  <a:pt x="171450" y="28576"/>
                </a:moveTo>
                <a:lnTo>
                  <a:pt x="171450" y="57150"/>
                </a:lnTo>
                <a:lnTo>
                  <a:pt x="142875" y="57150"/>
                </a:lnTo>
                <a:lnTo>
                  <a:pt x="142875" y="28576"/>
                </a:lnTo>
                <a:lnTo>
                  <a:pt x="171450" y="28576"/>
                </a:lnTo>
                <a:close/>
                <a:moveTo>
                  <a:pt x="171450" y="85726"/>
                </a:moveTo>
                <a:lnTo>
                  <a:pt x="171450" y="114300"/>
                </a:lnTo>
                <a:lnTo>
                  <a:pt x="142875" y="114300"/>
                </a:lnTo>
                <a:lnTo>
                  <a:pt x="142875" y="85726"/>
                </a:lnTo>
                <a:lnTo>
                  <a:pt x="171450" y="85726"/>
                </a:lnTo>
                <a:close/>
                <a:moveTo>
                  <a:pt x="171450" y="142876"/>
                </a:moveTo>
                <a:lnTo>
                  <a:pt x="171450" y="171450"/>
                </a:lnTo>
                <a:lnTo>
                  <a:pt x="142875" y="171450"/>
                </a:lnTo>
                <a:lnTo>
                  <a:pt x="142875" y="142876"/>
                </a:lnTo>
                <a:lnTo>
                  <a:pt x="171450" y="142876"/>
                </a:lnTo>
                <a:close/>
                <a:moveTo>
                  <a:pt x="114300" y="114300"/>
                </a:moveTo>
                <a:lnTo>
                  <a:pt x="85725" y="114300"/>
                </a:lnTo>
                <a:lnTo>
                  <a:pt x="85725" y="85726"/>
                </a:lnTo>
                <a:lnTo>
                  <a:pt x="114300" y="85726"/>
                </a:lnTo>
                <a:lnTo>
                  <a:pt x="114300" y="114300"/>
                </a:lnTo>
                <a:close/>
                <a:moveTo>
                  <a:pt x="85725" y="142876"/>
                </a:moveTo>
                <a:lnTo>
                  <a:pt x="114300" y="142876"/>
                </a:lnTo>
                <a:lnTo>
                  <a:pt x="114300" y="171450"/>
                </a:lnTo>
                <a:lnTo>
                  <a:pt x="85725" y="171450"/>
                </a:lnTo>
                <a:lnTo>
                  <a:pt x="85725" y="142876"/>
                </a:lnTo>
                <a:close/>
                <a:moveTo>
                  <a:pt x="57150" y="114300"/>
                </a:moveTo>
                <a:lnTo>
                  <a:pt x="28575" y="114300"/>
                </a:lnTo>
                <a:lnTo>
                  <a:pt x="28575" y="85726"/>
                </a:lnTo>
                <a:lnTo>
                  <a:pt x="57150" y="85726"/>
                </a:lnTo>
                <a:lnTo>
                  <a:pt x="57150" y="114300"/>
                </a:lnTo>
                <a:close/>
                <a:moveTo>
                  <a:pt x="28575" y="142876"/>
                </a:moveTo>
                <a:lnTo>
                  <a:pt x="57150" y="142876"/>
                </a:lnTo>
                <a:lnTo>
                  <a:pt x="57150" y="171450"/>
                </a:lnTo>
                <a:lnTo>
                  <a:pt x="28575" y="171450"/>
                </a:lnTo>
                <a:lnTo>
                  <a:pt x="28575" y="142876"/>
                </a:lnTo>
                <a:close/>
                <a:moveTo>
                  <a:pt x="28575" y="57150"/>
                </a:moveTo>
                <a:lnTo>
                  <a:pt x="28575" y="28576"/>
                </a:lnTo>
                <a:lnTo>
                  <a:pt x="57150" y="28576"/>
                </a:lnTo>
                <a:lnTo>
                  <a:pt x="57150" y="57150"/>
                </a:lnTo>
                <a:lnTo>
                  <a:pt x="28575" y="57150"/>
                </a:lnTo>
                <a:close/>
                <a:moveTo>
                  <a:pt x="85725" y="57150"/>
                </a:moveTo>
                <a:lnTo>
                  <a:pt x="85725" y="28576"/>
                </a:lnTo>
                <a:lnTo>
                  <a:pt x="114300" y="28576"/>
                </a:lnTo>
                <a:lnTo>
                  <a:pt x="114300" y="57150"/>
                </a:lnTo>
                <a:lnTo>
                  <a:pt x="85725" y="57150"/>
                </a:lnTo>
                <a:close/>
                <a:moveTo>
                  <a:pt x="28575" y="0"/>
                </a:moveTo>
                <a:cubicBezTo>
                  <a:pt x="12814" y="0"/>
                  <a:pt x="0" y="12815"/>
                  <a:pt x="0" y="28576"/>
                </a:cubicBezTo>
                <a:lnTo>
                  <a:pt x="0" y="171450"/>
                </a:lnTo>
                <a:cubicBezTo>
                  <a:pt x="0" y="187211"/>
                  <a:pt x="12814" y="200026"/>
                  <a:pt x="28575" y="200026"/>
                </a:cubicBezTo>
                <a:lnTo>
                  <a:pt x="171450" y="200026"/>
                </a:lnTo>
                <a:cubicBezTo>
                  <a:pt x="187211" y="200026"/>
                  <a:pt x="200025" y="187211"/>
                  <a:pt x="200025" y="171450"/>
                </a:cubicBezTo>
                <a:lnTo>
                  <a:pt x="200025" y="28576"/>
                </a:lnTo>
                <a:cubicBezTo>
                  <a:pt x="200025" y="12815"/>
                  <a:pt x="187211" y="0"/>
                  <a:pt x="171450" y="0"/>
                </a:cubicBezTo>
                <a:lnTo>
                  <a:pt x="28575" y="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338680"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a:t>
            </a:r>
            <a:endParaRPr lang="en-US" sz="1100"/>
          </a:p>
        </p:txBody>
      </p:sp>
      <p:sp>
        <p:nvSpPr>
          <p:cNvPr id="17" name="AutoShape 17"/>
          <p:cNvSpPr/>
          <p:nvPr/>
        </p:nvSpPr>
        <p:spPr>
          <a:xfrm>
            <a:off x="6348205" y="3124348"/>
            <a:ext cx="2390775" cy="390433"/>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Collection of programs defining the scale of parallel execution</a:t>
            </a:r>
            <a:endParaRPr lang="en-US" sz="1100"/>
          </a:p>
        </p:txBody>
      </p:sp>
      <p:sp>
        <p:nvSpPr>
          <p:cNvPr id="18" name="Freeform 18"/>
          <p:cNvSpPr/>
          <p:nvPr/>
        </p:nvSpPr>
        <p:spPr>
          <a:xfrm>
            <a:off x="9077257"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10172735"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0339399" y="2300538"/>
            <a:ext cx="200025" cy="200025"/>
          </a:xfrm>
          <a:custGeom>
            <a:avLst/>
            <a:gdLst/>
            <a:ahLst/>
            <a:cxnLst/>
            <a:rect l="l" t="t" r="r" b="b"/>
            <a:pathLst>
              <a:path w="200025" h="200025">
                <a:moveTo>
                  <a:pt x="75009" y="0"/>
                </a:moveTo>
                <a:lnTo>
                  <a:pt x="10716" y="0"/>
                </a:lnTo>
                <a:cubicBezTo>
                  <a:pt x="4776" y="0"/>
                  <a:pt x="0" y="4778"/>
                  <a:pt x="0" y="10715"/>
                </a:cubicBezTo>
                <a:lnTo>
                  <a:pt x="0" y="75011"/>
                </a:lnTo>
                <a:cubicBezTo>
                  <a:pt x="0" y="79341"/>
                  <a:pt x="2590" y="83271"/>
                  <a:pt x="6608" y="84922"/>
                </a:cubicBezTo>
                <a:cubicBezTo>
                  <a:pt x="10626" y="86574"/>
                  <a:pt x="15225" y="85637"/>
                  <a:pt x="18306" y="82600"/>
                </a:cubicBezTo>
                <a:lnTo>
                  <a:pt x="36165" y="64741"/>
                </a:lnTo>
                <a:lnTo>
                  <a:pt x="71437" y="100013"/>
                </a:lnTo>
                <a:lnTo>
                  <a:pt x="36165" y="135285"/>
                </a:lnTo>
                <a:lnTo>
                  <a:pt x="18306" y="117426"/>
                </a:lnTo>
                <a:cubicBezTo>
                  <a:pt x="15225" y="114345"/>
                  <a:pt x="10626" y="113452"/>
                  <a:pt x="6608" y="115104"/>
                </a:cubicBezTo>
                <a:cubicBezTo>
                  <a:pt x="2590" y="116755"/>
                  <a:pt x="0" y="120685"/>
                  <a:pt x="0" y="125015"/>
                </a:cubicBezTo>
                <a:lnTo>
                  <a:pt x="0" y="189311"/>
                </a:lnTo>
                <a:cubicBezTo>
                  <a:pt x="0" y="195248"/>
                  <a:pt x="4776" y="200026"/>
                  <a:pt x="10716" y="200026"/>
                </a:cubicBezTo>
                <a:lnTo>
                  <a:pt x="75009" y="200026"/>
                </a:lnTo>
                <a:cubicBezTo>
                  <a:pt x="79339" y="200026"/>
                  <a:pt x="83269" y="197436"/>
                  <a:pt x="84921" y="193418"/>
                </a:cubicBezTo>
                <a:cubicBezTo>
                  <a:pt x="86573" y="189399"/>
                  <a:pt x="85681" y="184799"/>
                  <a:pt x="82600" y="181720"/>
                </a:cubicBezTo>
                <a:lnTo>
                  <a:pt x="64740" y="163860"/>
                </a:lnTo>
                <a:lnTo>
                  <a:pt x="100013" y="128588"/>
                </a:lnTo>
                <a:lnTo>
                  <a:pt x="135285" y="163860"/>
                </a:lnTo>
                <a:lnTo>
                  <a:pt x="117425" y="181720"/>
                </a:lnTo>
                <a:cubicBezTo>
                  <a:pt x="114344" y="184799"/>
                  <a:pt x="113452" y="189399"/>
                  <a:pt x="115104" y="193418"/>
                </a:cubicBezTo>
                <a:cubicBezTo>
                  <a:pt x="116756" y="197436"/>
                  <a:pt x="120686" y="200026"/>
                  <a:pt x="125016" y="200026"/>
                </a:cubicBezTo>
                <a:lnTo>
                  <a:pt x="189309" y="200026"/>
                </a:lnTo>
                <a:cubicBezTo>
                  <a:pt x="195249" y="200026"/>
                  <a:pt x="200025" y="195248"/>
                  <a:pt x="200025" y="189311"/>
                </a:cubicBezTo>
                <a:lnTo>
                  <a:pt x="200025" y="125015"/>
                </a:lnTo>
                <a:cubicBezTo>
                  <a:pt x="200025" y="120685"/>
                  <a:pt x="197435" y="116755"/>
                  <a:pt x="193417" y="115104"/>
                </a:cubicBezTo>
                <a:cubicBezTo>
                  <a:pt x="189399" y="113452"/>
                  <a:pt x="184800" y="114345"/>
                  <a:pt x="181719" y="117426"/>
                </a:cubicBezTo>
                <a:lnTo>
                  <a:pt x="163860" y="135285"/>
                </a:lnTo>
                <a:lnTo>
                  <a:pt x="128587" y="100013"/>
                </a:lnTo>
                <a:lnTo>
                  <a:pt x="163860" y="64741"/>
                </a:lnTo>
                <a:lnTo>
                  <a:pt x="181719" y="82600"/>
                </a:lnTo>
                <a:cubicBezTo>
                  <a:pt x="184800" y="85681"/>
                  <a:pt x="189399" y="86574"/>
                  <a:pt x="193417" y="84922"/>
                </a:cubicBezTo>
                <a:cubicBezTo>
                  <a:pt x="197435" y="83271"/>
                  <a:pt x="200025" y="79341"/>
                  <a:pt x="200025" y="75011"/>
                </a:cubicBezTo>
                <a:lnTo>
                  <a:pt x="200025" y="10715"/>
                </a:lnTo>
                <a:cubicBezTo>
                  <a:pt x="200025" y="4778"/>
                  <a:pt x="195249" y="0"/>
                  <a:pt x="189309" y="0"/>
                </a:cubicBezTo>
                <a:lnTo>
                  <a:pt x="125016" y="0"/>
                </a:lnTo>
                <a:cubicBezTo>
                  <a:pt x="120686" y="0"/>
                  <a:pt x="116756" y="2590"/>
                  <a:pt x="115104" y="6608"/>
                </a:cubicBezTo>
                <a:cubicBezTo>
                  <a:pt x="113452" y="10627"/>
                  <a:pt x="114389" y="15227"/>
                  <a:pt x="117425" y="18306"/>
                </a:cubicBezTo>
                <a:lnTo>
                  <a:pt x="135285" y="36166"/>
                </a:lnTo>
                <a:lnTo>
                  <a:pt x="100013" y="71438"/>
                </a:lnTo>
                <a:lnTo>
                  <a:pt x="64740" y="36166"/>
                </a:lnTo>
                <a:lnTo>
                  <a:pt x="82600" y="18306"/>
                </a:lnTo>
                <a:cubicBezTo>
                  <a:pt x="85681" y="15227"/>
                  <a:pt x="86573" y="10627"/>
                  <a:pt x="84921" y="6608"/>
                </a:cubicBezTo>
                <a:cubicBezTo>
                  <a:pt x="83269" y="2590"/>
                  <a:pt x="79339" y="0"/>
                  <a:pt x="750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9234313"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BLOCK_SIZE</a:t>
            </a:r>
            <a:endParaRPr lang="en-US" sz="1100"/>
          </a:p>
        </p:txBody>
      </p:sp>
      <p:sp>
        <p:nvSpPr>
          <p:cNvPr id="22" name="AutoShape 22"/>
          <p:cNvSpPr/>
          <p:nvPr/>
        </p:nvSpPr>
        <p:spPr>
          <a:xfrm>
            <a:off x="9243838" y="312434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Number of elements each program handles, a compile-time constant</a:t>
            </a:r>
            <a:endParaRPr lang="en-US" sz="1100"/>
          </a:p>
        </p:txBody>
      </p:sp>
      <p:sp>
        <p:nvSpPr>
          <p:cNvPr id="23" name="Freeform 23"/>
          <p:cNvSpPr/>
          <p:nvPr/>
        </p:nvSpPr>
        <p:spPr>
          <a:xfrm>
            <a:off x="390433"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4" name="Freeform 24"/>
          <p:cNvSpPr/>
          <p:nvPr/>
        </p:nvSpPr>
        <p:spPr>
          <a:xfrm>
            <a:off x="1485838"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1636785" y="4250224"/>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47489"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tl.arange</a:t>
            </a:r>
            <a:endParaRPr lang="en-US" sz="1100"/>
          </a:p>
        </p:txBody>
      </p:sp>
      <p:sp>
        <p:nvSpPr>
          <p:cNvPr id="27" name="AutoShape 27"/>
          <p:cNvSpPr/>
          <p:nvPr/>
        </p:nvSpPr>
        <p:spPr>
          <a:xfrm>
            <a:off x="557014" y="5066891"/>
            <a:ext cx="2400300" cy="48087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Generates vector indices for vectorized operations</a:t>
            </a:r>
            <a:endParaRPr lang="en-US" sz="1100"/>
          </a:p>
        </p:txBody>
      </p:sp>
      <p:sp>
        <p:nvSpPr>
          <p:cNvPr id="28" name="Freeform 28"/>
          <p:cNvSpPr/>
          <p:nvPr/>
        </p:nvSpPr>
        <p:spPr>
          <a:xfrm>
            <a:off x="3285992"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4381470"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4540991" y="4228793"/>
            <a:ext cx="214403" cy="228243"/>
          </a:xfrm>
          <a:custGeom>
            <a:avLst/>
            <a:gdLst/>
            <a:ahLst/>
            <a:cxnLst/>
            <a:rect l="l" t="t" r="r" b="b"/>
            <a:pathLst>
              <a:path w="214403" h="228243">
                <a:moveTo>
                  <a:pt x="107156" y="0"/>
                </a:moveTo>
                <a:cubicBezTo>
                  <a:pt x="109210" y="0"/>
                  <a:pt x="111264" y="446"/>
                  <a:pt x="113139" y="1295"/>
                </a:cubicBezTo>
                <a:lnTo>
                  <a:pt x="197257" y="36968"/>
                </a:lnTo>
                <a:cubicBezTo>
                  <a:pt x="207080" y="41121"/>
                  <a:pt x="214402" y="50810"/>
                  <a:pt x="214357" y="62508"/>
                </a:cubicBezTo>
                <a:cubicBezTo>
                  <a:pt x="214134" y="106799"/>
                  <a:pt x="195918" y="187836"/>
                  <a:pt x="118989" y="224671"/>
                </a:cubicBezTo>
                <a:cubicBezTo>
                  <a:pt x="111532" y="228243"/>
                  <a:pt x="102870" y="228243"/>
                  <a:pt x="95414" y="224671"/>
                </a:cubicBezTo>
                <a:cubicBezTo>
                  <a:pt x="18440" y="187836"/>
                  <a:pt x="268" y="106799"/>
                  <a:pt x="44" y="62508"/>
                </a:cubicBezTo>
                <a:cubicBezTo>
                  <a:pt x="0" y="50810"/>
                  <a:pt x="7323" y="41121"/>
                  <a:pt x="17145" y="36968"/>
                </a:cubicBezTo>
                <a:lnTo>
                  <a:pt x="101217" y="1295"/>
                </a:lnTo>
                <a:cubicBezTo>
                  <a:pt x="103093" y="446"/>
                  <a:pt x="105102" y="0"/>
                  <a:pt x="107156" y="0"/>
                </a:cubicBezTo>
                <a:close/>
                <a:moveTo>
                  <a:pt x="107156" y="29825"/>
                </a:moveTo>
                <a:lnTo>
                  <a:pt x="107156" y="198641"/>
                </a:lnTo>
                <a:cubicBezTo>
                  <a:pt x="168771" y="168816"/>
                  <a:pt x="185335" y="102735"/>
                  <a:pt x="185737" y="63177"/>
                </a:cubicBezTo>
                <a:lnTo>
                  <a:pt x="107156" y="29870"/>
                </a:lnTo>
                <a:lnTo>
                  <a:pt x="107156" y="2987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3443047"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100"/>
          </a:p>
        </p:txBody>
      </p:sp>
      <p:sp>
        <p:nvSpPr>
          <p:cNvPr id="32" name="AutoShape 32"/>
          <p:cNvSpPr/>
          <p:nvPr/>
        </p:nvSpPr>
        <p:spPr>
          <a:xfrm>
            <a:off x="3452572" y="5066891"/>
            <a:ext cx="2390775" cy="581152"/>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Boolean array controlling memory access and preventing out-of-bounds</a:t>
            </a:r>
            <a:endParaRPr lang="en-US" sz="1100"/>
          </a:p>
        </p:txBody>
      </p:sp>
      <p:sp>
        <p:nvSpPr>
          <p:cNvPr id="33" name="Freeform 33"/>
          <p:cNvSpPr/>
          <p:nvPr/>
        </p:nvSpPr>
        <p:spPr>
          <a:xfrm>
            <a:off x="6181624"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4" name="Freeform 34"/>
          <p:cNvSpPr/>
          <p:nvPr/>
        </p:nvSpPr>
        <p:spPr>
          <a:xfrm>
            <a:off x="7277103"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7443767" y="4228793"/>
            <a:ext cx="200025" cy="214312"/>
          </a:xfrm>
          <a:custGeom>
            <a:avLst/>
            <a:gdLst/>
            <a:ahLst/>
            <a:cxnLst/>
            <a:rect l="l" t="t" r="r" b="b"/>
            <a:pathLst>
              <a:path w="200025" h="214312">
                <a:moveTo>
                  <a:pt x="114300" y="14287"/>
                </a:moveTo>
                <a:cubicBezTo>
                  <a:pt x="114300" y="6386"/>
                  <a:pt x="107914" y="0"/>
                  <a:pt x="100013" y="0"/>
                </a:cubicBezTo>
                <a:cubicBezTo>
                  <a:pt x="92111" y="0"/>
                  <a:pt x="85725" y="6386"/>
                  <a:pt x="85725" y="14287"/>
                </a:cubicBezTo>
                <a:lnTo>
                  <a:pt x="85725" y="108361"/>
                </a:lnTo>
                <a:lnTo>
                  <a:pt x="67241" y="89877"/>
                </a:lnTo>
                <a:cubicBezTo>
                  <a:pt x="61659" y="84296"/>
                  <a:pt x="52596" y="84296"/>
                  <a:pt x="47015" y="89877"/>
                </a:cubicBezTo>
                <a:cubicBezTo>
                  <a:pt x="41434" y="95458"/>
                  <a:pt x="41434" y="104522"/>
                  <a:pt x="47015" y="110103"/>
                </a:cubicBezTo>
                <a:lnTo>
                  <a:pt x="89877" y="152966"/>
                </a:lnTo>
                <a:cubicBezTo>
                  <a:pt x="95458" y="158547"/>
                  <a:pt x="104522" y="158547"/>
                  <a:pt x="110103" y="152966"/>
                </a:cubicBezTo>
                <a:lnTo>
                  <a:pt x="152966" y="110103"/>
                </a:lnTo>
                <a:cubicBezTo>
                  <a:pt x="158547" y="104522"/>
                  <a:pt x="158547" y="95458"/>
                  <a:pt x="152966" y="89877"/>
                </a:cubicBezTo>
                <a:cubicBezTo>
                  <a:pt x="147384" y="84296"/>
                  <a:pt x="138321" y="84296"/>
                  <a:pt x="132740" y="89877"/>
                </a:cubicBezTo>
                <a:lnTo>
                  <a:pt x="114300" y="108361"/>
                </a:lnTo>
                <a:lnTo>
                  <a:pt x="114300" y="14287"/>
                </a:lnTo>
                <a:close/>
                <a:moveTo>
                  <a:pt x="28575" y="142875"/>
                </a:moveTo>
                <a:cubicBezTo>
                  <a:pt x="12814" y="142875"/>
                  <a:pt x="0" y="155689"/>
                  <a:pt x="0" y="171450"/>
                </a:cubicBezTo>
                <a:lnTo>
                  <a:pt x="0" y="185737"/>
                </a:lnTo>
                <a:cubicBezTo>
                  <a:pt x="0" y="201498"/>
                  <a:pt x="12814" y="214313"/>
                  <a:pt x="28575" y="214313"/>
                </a:cubicBezTo>
                <a:lnTo>
                  <a:pt x="171450" y="214313"/>
                </a:lnTo>
                <a:cubicBezTo>
                  <a:pt x="187211" y="214313"/>
                  <a:pt x="200025" y="201498"/>
                  <a:pt x="200025" y="185737"/>
                </a:cubicBezTo>
                <a:lnTo>
                  <a:pt x="200025" y="171450"/>
                </a:lnTo>
                <a:cubicBezTo>
                  <a:pt x="200025" y="155689"/>
                  <a:pt x="187211" y="142875"/>
                  <a:pt x="171450" y="142875"/>
                </a:cubicBezTo>
                <a:lnTo>
                  <a:pt x="150510" y="142875"/>
                </a:lnTo>
                <a:lnTo>
                  <a:pt x="125239" y="168145"/>
                </a:lnTo>
                <a:cubicBezTo>
                  <a:pt x="111309" y="182076"/>
                  <a:pt x="88671" y="182076"/>
                  <a:pt x="74741" y="168145"/>
                </a:cubicBezTo>
                <a:lnTo>
                  <a:pt x="49515" y="142875"/>
                </a:lnTo>
                <a:lnTo>
                  <a:pt x="28575" y="142875"/>
                </a:lnTo>
                <a:close/>
                <a:moveTo>
                  <a:pt x="164306" y="167877"/>
                </a:moveTo>
                <a:cubicBezTo>
                  <a:pt x="170219" y="167877"/>
                  <a:pt x="175023" y="172681"/>
                  <a:pt x="175023" y="178594"/>
                </a:cubicBezTo>
                <a:cubicBezTo>
                  <a:pt x="175023" y="184508"/>
                  <a:pt x="170219" y="189309"/>
                  <a:pt x="164306" y="189309"/>
                </a:cubicBezTo>
                <a:cubicBezTo>
                  <a:pt x="158392" y="189309"/>
                  <a:pt x="153591" y="184508"/>
                  <a:pt x="153591" y="178594"/>
                </a:cubicBezTo>
                <a:cubicBezTo>
                  <a:pt x="153591" y="172681"/>
                  <a:pt x="158392" y="167877"/>
                  <a:pt x="164306" y="1678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338680"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tl.load</a:t>
            </a:r>
            <a:endParaRPr lang="en-US" sz="1100"/>
          </a:p>
        </p:txBody>
      </p:sp>
      <p:sp>
        <p:nvSpPr>
          <p:cNvPr id="37" name="AutoShape 37"/>
          <p:cNvSpPr/>
          <p:nvPr/>
        </p:nvSpPr>
        <p:spPr>
          <a:xfrm>
            <a:off x="6348205" y="5066891"/>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Reads data from global memory, supports mask and vectorization</a:t>
            </a:r>
            <a:endParaRPr lang="en-US" sz="1100"/>
          </a:p>
        </p:txBody>
      </p:sp>
      <p:sp>
        <p:nvSpPr>
          <p:cNvPr id="38" name="Freeform 38"/>
          <p:cNvSpPr/>
          <p:nvPr/>
        </p:nvSpPr>
        <p:spPr>
          <a:xfrm>
            <a:off x="9077257"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9" name="Freeform 39"/>
          <p:cNvSpPr/>
          <p:nvPr/>
        </p:nvSpPr>
        <p:spPr>
          <a:xfrm>
            <a:off x="10172735"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10339399" y="4227409"/>
            <a:ext cx="200025" cy="215697"/>
          </a:xfrm>
          <a:custGeom>
            <a:avLst/>
            <a:gdLst/>
            <a:ahLst/>
            <a:cxnLst/>
            <a:rect l="l" t="t" r="r" b="b"/>
            <a:pathLst>
              <a:path w="200025" h="215697">
                <a:moveTo>
                  <a:pt x="114300" y="50185"/>
                </a:moveTo>
                <a:lnTo>
                  <a:pt x="114300" y="144259"/>
                </a:lnTo>
                <a:cubicBezTo>
                  <a:pt x="114300" y="152162"/>
                  <a:pt x="107914" y="158547"/>
                  <a:pt x="100013" y="158547"/>
                </a:cubicBezTo>
                <a:cubicBezTo>
                  <a:pt x="92111" y="158547"/>
                  <a:pt x="85725" y="152162"/>
                  <a:pt x="85725" y="144259"/>
                </a:cubicBezTo>
                <a:lnTo>
                  <a:pt x="85725" y="50185"/>
                </a:lnTo>
                <a:lnTo>
                  <a:pt x="67241" y="68669"/>
                </a:lnTo>
                <a:cubicBezTo>
                  <a:pt x="61659" y="74250"/>
                  <a:pt x="52596" y="74250"/>
                  <a:pt x="47015" y="68669"/>
                </a:cubicBezTo>
                <a:cubicBezTo>
                  <a:pt x="41434" y="63088"/>
                  <a:pt x="41434" y="54025"/>
                  <a:pt x="47015" y="48443"/>
                </a:cubicBezTo>
                <a:lnTo>
                  <a:pt x="89877" y="5581"/>
                </a:lnTo>
                <a:cubicBezTo>
                  <a:pt x="95458" y="0"/>
                  <a:pt x="104522" y="0"/>
                  <a:pt x="110103" y="5581"/>
                </a:cubicBezTo>
                <a:lnTo>
                  <a:pt x="152966" y="48443"/>
                </a:lnTo>
                <a:cubicBezTo>
                  <a:pt x="158547" y="54025"/>
                  <a:pt x="158547" y="63088"/>
                  <a:pt x="152966" y="68669"/>
                </a:cubicBezTo>
                <a:cubicBezTo>
                  <a:pt x="147383" y="74250"/>
                  <a:pt x="138321" y="74250"/>
                  <a:pt x="132740" y="68669"/>
                </a:cubicBezTo>
                <a:lnTo>
                  <a:pt x="114300" y="50185"/>
                </a:lnTo>
                <a:close/>
                <a:moveTo>
                  <a:pt x="100013" y="179978"/>
                </a:moveTo>
                <a:cubicBezTo>
                  <a:pt x="119747" y="179978"/>
                  <a:pt x="135731" y="163994"/>
                  <a:pt x="135731" y="144259"/>
                </a:cubicBezTo>
                <a:lnTo>
                  <a:pt x="171450" y="144259"/>
                </a:lnTo>
                <a:cubicBezTo>
                  <a:pt x="187211" y="144259"/>
                  <a:pt x="200025" y="157073"/>
                  <a:pt x="200025" y="172834"/>
                </a:cubicBezTo>
                <a:lnTo>
                  <a:pt x="200025" y="187121"/>
                </a:lnTo>
                <a:cubicBezTo>
                  <a:pt x="200025" y="202882"/>
                  <a:pt x="187211" y="215697"/>
                  <a:pt x="171450" y="215697"/>
                </a:cubicBezTo>
                <a:lnTo>
                  <a:pt x="28575" y="215697"/>
                </a:lnTo>
                <a:cubicBezTo>
                  <a:pt x="12814" y="215697"/>
                  <a:pt x="0" y="202882"/>
                  <a:pt x="0" y="187121"/>
                </a:cubicBezTo>
                <a:lnTo>
                  <a:pt x="0" y="172834"/>
                </a:lnTo>
                <a:cubicBezTo>
                  <a:pt x="0" y="157073"/>
                  <a:pt x="12814" y="144259"/>
                  <a:pt x="28575" y="144259"/>
                </a:cubicBezTo>
                <a:lnTo>
                  <a:pt x="64294" y="144259"/>
                </a:lnTo>
                <a:cubicBezTo>
                  <a:pt x="64294" y="163994"/>
                  <a:pt x="80278" y="179978"/>
                  <a:pt x="100013" y="179978"/>
                </a:cubicBezTo>
                <a:close/>
                <a:moveTo>
                  <a:pt x="164306" y="190693"/>
                </a:moveTo>
                <a:cubicBezTo>
                  <a:pt x="170219" y="190693"/>
                  <a:pt x="175023" y="185892"/>
                  <a:pt x="175023" y="179978"/>
                </a:cubicBezTo>
                <a:cubicBezTo>
                  <a:pt x="175023" y="174065"/>
                  <a:pt x="170219" y="169261"/>
                  <a:pt x="164306" y="169261"/>
                </a:cubicBezTo>
                <a:cubicBezTo>
                  <a:pt x="158392" y="169261"/>
                  <a:pt x="153591" y="174065"/>
                  <a:pt x="153591" y="179978"/>
                </a:cubicBezTo>
                <a:cubicBezTo>
                  <a:pt x="153591" y="185892"/>
                  <a:pt x="158392" y="190693"/>
                  <a:pt x="164306" y="190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9234313"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tl.store</a:t>
            </a:r>
            <a:endParaRPr lang="en-US" sz="1100"/>
          </a:p>
        </p:txBody>
      </p:sp>
      <p:sp>
        <p:nvSpPr>
          <p:cNvPr id="42" name="AutoShape 42"/>
          <p:cNvSpPr/>
          <p:nvPr/>
        </p:nvSpPr>
        <p:spPr>
          <a:xfrm>
            <a:off x="9243838" y="5066891"/>
            <a:ext cx="2409825" cy="48087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Writes data to global memory, supports mask protection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07: Matrix Multiplication Optimization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3852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Matrix MultiplicationFundamentals</a:t>
            </a:r>
            <a:endParaRPr lang="en-US" sz="1100"/>
          </a:p>
        </p:txBody>
      </p:sp>
      <p:grpSp>
        <p:nvGrpSpPr>
          <p:cNvPr id="3" name="Group 3"/>
          <p:cNvGrpSpPr/>
          <p:nvPr/>
        </p:nvGrpSpPr>
        <p:grpSpPr>
          <a:xfrm>
            <a:off x="380956" y="1962236"/>
            <a:ext cx="5562600" cy="3504963"/>
            <a:chOff x="380956" y="1962236"/>
            <a:chExt cx="5562600" cy="3504963"/>
          </a:xfrm>
        </p:grpSpPr>
        <p:sp>
          <p:nvSpPr>
            <p:cNvPr id="4" name="Freeform 4"/>
            <p:cNvSpPr/>
            <p:nvPr/>
          </p:nvSpPr>
          <p:spPr>
            <a:xfrm>
              <a:off x="380956" y="1962236"/>
              <a:ext cx="5562600" cy="1485900"/>
            </a:xfrm>
            <a:custGeom>
              <a:avLst/>
              <a:gdLst/>
              <a:ahLst/>
              <a:cxnLst/>
              <a:rect l="l" t="t" r="r" b="b"/>
              <a:pathLst>
                <a:path w="5562600" h="1485900">
                  <a:moveTo>
                    <a:pt x="76197" y="0"/>
                  </a:moveTo>
                  <a:lnTo>
                    <a:pt x="5486403" y="0"/>
                  </a:lnTo>
                  <a:cubicBezTo>
                    <a:pt x="5528485" y="0"/>
                    <a:pt x="5562600" y="34115"/>
                    <a:pt x="5562600" y="76197"/>
                  </a:cubicBezTo>
                  <a:lnTo>
                    <a:pt x="5562600" y="1409703"/>
                  </a:lnTo>
                  <a:cubicBezTo>
                    <a:pt x="5562600" y="1451785"/>
                    <a:pt x="5528485" y="1485900"/>
                    <a:pt x="54864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2190809"/>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Matrix Multiplication Definition</a:t>
              </a:r>
              <a:endParaRPr lang="en-US" sz="1100"/>
            </a:p>
          </p:txBody>
        </p:sp>
        <p:sp>
          <p:nvSpPr>
            <p:cNvPr id="6" name="Freeform 6"/>
            <p:cNvSpPr/>
            <p:nvPr/>
          </p:nvSpPr>
          <p:spPr>
            <a:xfrm>
              <a:off x="628484" y="2609897"/>
              <a:ext cx="5086255" cy="609600"/>
            </a:xfrm>
            <a:custGeom>
              <a:avLst/>
              <a:gdLst/>
              <a:ahLst/>
              <a:cxnLst/>
              <a:rect l="l" t="t" r="r" b="b"/>
              <a:pathLst>
                <a:path w="5086255" h="609600">
                  <a:moveTo>
                    <a:pt x="37910" y="0"/>
                  </a:moveTo>
                  <a:lnTo>
                    <a:pt x="5048155" y="0"/>
                  </a:lnTo>
                  <a:cubicBezTo>
                    <a:pt x="5069183" y="0"/>
                    <a:pt x="5086255" y="17073"/>
                    <a:pt x="5086255" y="38100"/>
                  </a:cubicBezTo>
                  <a:lnTo>
                    <a:pt x="5086255" y="571500"/>
                  </a:lnTo>
                  <a:cubicBezTo>
                    <a:pt x="5086255" y="592527"/>
                    <a:pt x="5069183" y="609600"/>
                    <a:pt x="5048155" y="609600"/>
                  </a:cubicBezTo>
                  <a:lnTo>
                    <a:pt x="37910" y="609600"/>
                  </a:lnTo>
                  <a:cubicBezTo>
                    <a:pt x="16974" y="609600"/>
                    <a:pt x="0" y="592626"/>
                    <a:pt x="0" y="5716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609897"/>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2609897"/>
              <a:ext cx="5181600" cy="609600"/>
            </a:xfrm>
            <a:prstGeom prst="rect">
              <a:avLst/>
            </a:prstGeom>
            <a:noFill/>
            <a:ln w="12700">
              <a:noFill/>
              <a:prstDash val="solid"/>
            </a:ln>
          </p:spPr>
          <p:txBody>
            <a:bodyPr wrap="square" lIns="152400" tIns="152400" rIns="152400" bIns="152400" rtlCol="0" anchor="ctr">
              <a:noAutofit/>
            </a:bodyPr>
            <a:lstStyle/>
            <a:p>
              <a:pPr indent="0" algn="l">
                <a:lnSpc>
                  <a:spcPct val="108000"/>
                </a:lnSpc>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C[M, N] = A[M, K] × B[K, N]</a:t>
              </a:r>
              <a:endParaRPr lang="en-US" sz="1100"/>
            </a:p>
          </p:txBody>
        </p:sp>
        <p:sp>
          <p:nvSpPr>
            <p:cNvPr id="9" name="Freeform 9"/>
            <p:cNvSpPr/>
            <p:nvPr/>
          </p:nvSpPr>
          <p:spPr>
            <a:xfrm>
              <a:off x="380956" y="3676499"/>
              <a:ext cx="5562600" cy="1790700"/>
            </a:xfrm>
            <a:custGeom>
              <a:avLst/>
              <a:gdLst/>
              <a:ahLst/>
              <a:cxnLst/>
              <a:rect l="l" t="t" r="r" b="b"/>
              <a:pathLst>
                <a:path w="5562600" h="1790700">
                  <a:moveTo>
                    <a:pt x="76194" y="0"/>
                  </a:moveTo>
                  <a:lnTo>
                    <a:pt x="5486406" y="0"/>
                  </a:lnTo>
                  <a:cubicBezTo>
                    <a:pt x="5528459" y="0"/>
                    <a:pt x="5562600" y="34141"/>
                    <a:pt x="5562600" y="76194"/>
                  </a:cubicBezTo>
                  <a:lnTo>
                    <a:pt x="5562600" y="1714506"/>
                  </a:lnTo>
                  <a:cubicBezTo>
                    <a:pt x="5562600" y="1756587"/>
                    <a:pt x="5528487" y="1790700"/>
                    <a:pt x="5486406" y="1790700"/>
                  </a:cubicBezTo>
                  <a:lnTo>
                    <a:pt x="76194" y="1790700"/>
                  </a:lnTo>
                  <a:cubicBezTo>
                    <a:pt x="34141" y="1790700"/>
                    <a:pt x="0" y="1756559"/>
                    <a:pt x="0" y="1714506"/>
                  </a:cubicBezTo>
                  <a:lnTo>
                    <a:pt x="0" y="76194"/>
                  </a:lnTo>
                  <a:cubicBezTo>
                    <a:pt x="0" y="34141"/>
                    <a:pt x="34141" y="0"/>
                    <a:pt x="761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09529" y="3905072"/>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Computation Formula</a:t>
              </a:r>
              <a:endParaRPr lang="en-US" sz="1100"/>
            </a:p>
          </p:txBody>
        </p:sp>
        <p:sp>
          <p:nvSpPr>
            <p:cNvPr id="11" name="Freeform 11"/>
            <p:cNvSpPr/>
            <p:nvPr/>
          </p:nvSpPr>
          <p:spPr>
            <a:xfrm>
              <a:off x="628484" y="4324160"/>
              <a:ext cx="5086255" cy="571500"/>
            </a:xfrm>
            <a:custGeom>
              <a:avLst/>
              <a:gdLst/>
              <a:ahLst/>
              <a:cxnLst/>
              <a:rect l="l" t="t" r="r" b="b"/>
              <a:pathLst>
                <a:path w="5086255" h="571500">
                  <a:moveTo>
                    <a:pt x="37910" y="0"/>
                  </a:moveTo>
                  <a:lnTo>
                    <a:pt x="5048153" y="0"/>
                  </a:lnTo>
                  <a:cubicBezTo>
                    <a:pt x="5069196" y="0"/>
                    <a:pt x="5086255" y="17059"/>
                    <a:pt x="5086255" y="38103"/>
                  </a:cubicBezTo>
                  <a:lnTo>
                    <a:pt x="5086255" y="533397"/>
                  </a:lnTo>
                  <a:cubicBezTo>
                    <a:pt x="5086255" y="554441"/>
                    <a:pt x="5069196" y="571500"/>
                    <a:pt x="50481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8484" y="4324160"/>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29" y="4324160"/>
              <a:ext cx="5162550" cy="571500"/>
            </a:xfrm>
            <a:prstGeom prst="rect">
              <a:avLst/>
            </a:prstGeom>
            <a:noFill/>
            <a:ln w="12700">
              <a:noFill/>
              <a:prstDash val="solid"/>
            </a:ln>
          </p:spPr>
          <p:txBody>
            <a:bodyPr wrap="square" lIns="152400" tIns="152400" rIns="152400" bIns="152400" rtlCol="0" anchor="ctr">
              <a:noAutofit/>
            </a:bodyPr>
            <a:lstStyle/>
            <a:p>
              <a:pPr indent="0" algn="l">
                <a:lnSpc>
                  <a:spcPct val="117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C[i, j] = Σ A[i, k] × B[k, j]</a:t>
              </a:r>
              <a:endParaRPr lang="en-US" sz="1100"/>
            </a:p>
          </p:txBody>
        </p:sp>
        <p:sp>
          <p:nvSpPr>
            <p:cNvPr id="14" name="AutoShape 14"/>
            <p:cNvSpPr/>
            <p:nvPr/>
          </p:nvSpPr>
          <p:spPr>
            <a:xfrm>
              <a:off x="609529" y="500988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Sum over k from 0 to K-1</a:t>
              </a:r>
              <a:endParaRPr lang="en-US" sz="1100"/>
            </a:p>
          </p:txBody>
        </p:sp>
      </p:grpSp>
      <p:grpSp>
        <p:nvGrpSpPr>
          <p:cNvPr id="15" name="Group 15"/>
          <p:cNvGrpSpPr/>
          <p:nvPr/>
        </p:nvGrpSpPr>
        <p:grpSpPr>
          <a:xfrm>
            <a:off x="6305506" y="1052973"/>
            <a:ext cx="5562600" cy="3228619"/>
            <a:chOff x="6305506" y="1052973"/>
            <a:chExt cx="5562600" cy="3228619"/>
          </a:xfrm>
        </p:grpSpPr>
        <p:sp>
          <p:nvSpPr>
            <p:cNvPr id="16" name="Freeform 16"/>
            <p:cNvSpPr/>
            <p:nvPr/>
          </p:nvSpPr>
          <p:spPr>
            <a:xfrm>
              <a:off x="6305506" y="1052973"/>
              <a:ext cx="5562600" cy="1600200"/>
            </a:xfrm>
            <a:custGeom>
              <a:avLst/>
              <a:gdLst/>
              <a:ahLst/>
              <a:cxnLst/>
              <a:rect l="l" t="t" r="r" b="b"/>
              <a:pathLst>
                <a:path w="5562600" h="1600200">
                  <a:moveTo>
                    <a:pt x="76203" y="0"/>
                  </a:moveTo>
                  <a:lnTo>
                    <a:pt x="5486397" y="0"/>
                  </a:lnTo>
                  <a:cubicBezTo>
                    <a:pt x="5528483" y="0"/>
                    <a:pt x="5562600" y="34117"/>
                    <a:pt x="5562600" y="76203"/>
                  </a:cubicBezTo>
                  <a:lnTo>
                    <a:pt x="5562600" y="1523997"/>
                  </a:lnTo>
                  <a:cubicBezTo>
                    <a:pt x="5562600" y="1566083"/>
                    <a:pt x="5528483" y="1600200"/>
                    <a:pt x="5486397" y="1600200"/>
                  </a:cubicBezTo>
                  <a:lnTo>
                    <a:pt x="76203" y="1600200"/>
                  </a:lnTo>
                  <a:cubicBezTo>
                    <a:pt x="34117" y="1600200"/>
                    <a:pt x="0" y="1566083"/>
                    <a:pt x="0" y="1523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534079" y="1281546"/>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Computational Complexity</a:t>
              </a:r>
              <a:endParaRPr lang="en-US" sz="1100"/>
            </a:p>
          </p:txBody>
        </p:sp>
        <p:sp>
          <p:nvSpPr>
            <p:cNvPr id="18" name="AutoShape 18"/>
            <p:cNvSpPr/>
            <p:nvPr/>
          </p:nvSpPr>
          <p:spPr>
            <a:xfrm>
              <a:off x="6534079" y="1700635"/>
              <a:ext cx="52768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O(M × N × K)</a:t>
              </a:r>
              <a:endParaRPr lang="en-US" sz="1100"/>
            </a:p>
          </p:txBody>
        </p:sp>
        <p:sp>
          <p:nvSpPr>
            <p:cNvPr id="19" name="Freeform 19"/>
            <p:cNvSpPr/>
            <p:nvPr/>
          </p:nvSpPr>
          <p:spPr>
            <a:xfrm>
              <a:off x="6314983" y="2891037"/>
              <a:ext cx="5543455" cy="1390555"/>
            </a:xfrm>
            <a:custGeom>
              <a:avLst/>
              <a:gdLst/>
              <a:ahLst/>
              <a:cxnLst/>
              <a:rect l="l" t="t" r="r" b="b"/>
              <a:pathLst>
                <a:path w="5543455" h="1390555">
                  <a:moveTo>
                    <a:pt x="76203" y="0"/>
                  </a:moveTo>
                  <a:lnTo>
                    <a:pt x="5467253" y="0"/>
                  </a:lnTo>
                  <a:cubicBezTo>
                    <a:pt x="5509337" y="0"/>
                    <a:pt x="5543455" y="34117"/>
                    <a:pt x="5543455" y="76203"/>
                  </a:cubicBezTo>
                  <a:lnTo>
                    <a:pt x="5543455" y="1314353"/>
                  </a:lnTo>
                  <a:cubicBezTo>
                    <a:pt x="5543455" y="1356437"/>
                    <a:pt x="5509337" y="1390555"/>
                    <a:pt x="5467253" y="1390555"/>
                  </a:cubicBezTo>
                  <a:lnTo>
                    <a:pt x="76203" y="1390555"/>
                  </a:lnTo>
                  <a:cubicBezTo>
                    <a:pt x="34117" y="1390555"/>
                    <a:pt x="0" y="1356437"/>
                    <a:pt x="0" y="1314353"/>
                  </a:cubicBezTo>
                  <a:lnTo>
                    <a:pt x="0" y="76203"/>
                  </a:lnTo>
                  <a:cubicBezTo>
                    <a:pt x="0" y="34117"/>
                    <a:pt x="34117" y="0"/>
                    <a:pt x="76203"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6523051" y="3129088"/>
              <a:ext cx="48672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Characteristics</a:t>
              </a:r>
              <a:endParaRPr lang="en-US" sz="1100"/>
            </a:p>
          </p:txBody>
        </p:sp>
        <p:sp>
          <p:nvSpPr>
            <p:cNvPr id="21" name="AutoShape 21"/>
            <p:cNvSpPr/>
            <p:nvPr/>
          </p:nvSpPr>
          <p:spPr>
            <a:xfrm>
              <a:off x="6553034" y="3510044"/>
              <a:ext cx="515302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Compute-intensive task</a:t>
              </a:r>
              <a:endParaRPr lang="en-US" sz="1100"/>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Computation far exceeds data volume</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pic>
        <p:nvPicPr>
          <p:cNvPr id="22" name="Picture 22"/>
          <p:cNvPicPr>
            <a:picLocks noChangeAspect="1"/>
          </p:cNvPicPr>
          <p:nvPr/>
        </p:nvPicPr>
        <p:blipFill>
          <a:blip r:embed="rId1"/>
          <a:srcRect/>
          <a:stretch>
            <a:fillRect/>
          </a:stretch>
        </p:blipFill>
        <p:spPr>
          <a:xfrm>
            <a:off x="6314983" y="4443615"/>
            <a:ext cx="4476750" cy="2286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8486" y="590396"/>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Problems with Naive GPU MatMul</a:t>
            </a:r>
            <a:endParaRPr lang="en-US" sz="1100"/>
          </a:p>
        </p:txBody>
      </p:sp>
      <p:sp>
        <p:nvSpPr>
          <p:cNvPr id="3" name="Freeform 3"/>
          <p:cNvSpPr/>
          <p:nvPr/>
        </p:nvSpPr>
        <p:spPr>
          <a:xfrm>
            <a:off x="380956" y="2171928"/>
            <a:ext cx="4438650" cy="1524000"/>
          </a:xfrm>
          <a:custGeom>
            <a:avLst/>
            <a:gdLst/>
            <a:ahLst/>
            <a:cxnLst/>
            <a:rect l="l" t="t" r="r" b="b"/>
            <a:pathLst>
              <a:path w="4438650" h="1524000">
                <a:moveTo>
                  <a:pt x="76200" y="0"/>
                </a:moveTo>
                <a:lnTo>
                  <a:pt x="4362450" y="0"/>
                </a:lnTo>
                <a:cubicBezTo>
                  <a:pt x="4404506" y="0"/>
                  <a:pt x="4438650" y="34144"/>
                  <a:pt x="4438650" y="76200"/>
                </a:cubicBezTo>
                <a:lnTo>
                  <a:pt x="4438650" y="1447800"/>
                </a:lnTo>
                <a:cubicBezTo>
                  <a:pt x="4438650" y="1489856"/>
                  <a:pt x="4404506" y="1524000"/>
                  <a:pt x="436245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71396" y="2362369"/>
            <a:ext cx="4143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Naive Kernel Implementation</a:t>
            </a:r>
            <a:endParaRPr lang="en-US" sz="1100"/>
          </a:p>
        </p:txBody>
      </p:sp>
      <p:sp>
        <p:nvSpPr>
          <p:cNvPr id="5" name="Freeform 5"/>
          <p:cNvSpPr/>
          <p:nvPr/>
        </p:nvSpPr>
        <p:spPr>
          <a:xfrm>
            <a:off x="590352" y="2743324"/>
            <a:ext cx="4038505" cy="762000"/>
          </a:xfrm>
          <a:custGeom>
            <a:avLst/>
            <a:gdLst/>
            <a:ahLst/>
            <a:cxnLst/>
            <a:rect l="l" t="t" r="r" b="b"/>
            <a:pathLst>
              <a:path w="4038505" h="762000">
                <a:moveTo>
                  <a:pt x="37910" y="0"/>
                </a:moveTo>
                <a:lnTo>
                  <a:pt x="4000405" y="0"/>
                </a:lnTo>
                <a:cubicBezTo>
                  <a:pt x="4021433" y="0"/>
                  <a:pt x="4038505" y="17073"/>
                  <a:pt x="4038505" y="38100"/>
                </a:cubicBezTo>
                <a:lnTo>
                  <a:pt x="4038505" y="723900"/>
                </a:lnTo>
                <a:cubicBezTo>
                  <a:pt x="4038505" y="744927"/>
                  <a:pt x="4021433" y="762000"/>
                  <a:pt x="4000405" y="762000"/>
                </a:cubicBezTo>
                <a:lnTo>
                  <a:pt x="37910" y="762000"/>
                </a:lnTo>
                <a:cubicBezTo>
                  <a:pt x="16974" y="762000"/>
                  <a:pt x="0" y="745026"/>
                  <a:pt x="0" y="7240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90352" y="2743324"/>
            <a:ext cx="37909" cy="762000"/>
          </a:xfrm>
          <a:custGeom>
            <a:avLst/>
            <a:gdLst/>
            <a:ahLst/>
            <a:cxnLst/>
            <a:rect l="l" t="t" r="r" b="b"/>
            <a:pathLst>
              <a:path w="37909" h="762000">
                <a:moveTo>
                  <a:pt x="37910" y="0"/>
                </a:moveTo>
                <a:lnTo>
                  <a:pt x="37910" y="0"/>
                </a:lnTo>
                <a:lnTo>
                  <a:pt x="37910" y="762000"/>
                </a:lnTo>
                <a:lnTo>
                  <a:pt x="37910" y="762000"/>
                </a:lnTo>
                <a:cubicBezTo>
                  <a:pt x="16974" y="762000"/>
                  <a:pt x="0" y="745026"/>
                  <a:pt x="0" y="7240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396" y="2743324"/>
            <a:ext cx="4095750" cy="762000"/>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Each thread computes</a:t>
            </a:r>
            <a:endParaRPr lang="en-US" sz="1100"/>
          </a:p>
          <a:p>
            <a:pPr indent="0" algn="l">
              <a:lnSpc>
                <a:spcPct val="133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one C[i, j]</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80956" y="3886117"/>
            <a:ext cx="4438650" cy="1371600"/>
          </a:xfrm>
          <a:custGeom>
            <a:avLst/>
            <a:gdLst/>
            <a:ahLst/>
            <a:cxnLst/>
            <a:rect l="l" t="t" r="r" b="b"/>
            <a:pathLst>
              <a:path w="4438650" h="1371600">
                <a:moveTo>
                  <a:pt x="76206" y="0"/>
                </a:moveTo>
                <a:lnTo>
                  <a:pt x="4362444" y="0"/>
                </a:lnTo>
                <a:cubicBezTo>
                  <a:pt x="4404531" y="0"/>
                  <a:pt x="4438650" y="34119"/>
                  <a:pt x="4438650" y="76206"/>
                </a:cubicBezTo>
                <a:lnTo>
                  <a:pt x="4438650" y="1295394"/>
                </a:lnTo>
                <a:cubicBezTo>
                  <a:pt x="4438650" y="1337481"/>
                  <a:pt x="4404531" y="1371600"/>
                  <a:pt x="4362444" y="1371600"/>
                </a:cubicBezTo>
                <a:lnTo>
                  <a:pt x="76206" y="1371600"/>
                </a:lnTo>
                <a:cubicBezTo>
                  <a:pt x="34119" y="1371600"/>
                  <a:pt x="0" y="1337481"/>
                  <a:pt x="0" y="1295394"/>
                </a:cubicBezTo>
                <a:lnTo>
                  <a:pt x="0" y="76206"/>
                </a:lnTo>
                <a:cubicBezTo>
                  <a:pt x="0" y="34146"/>
                  <a:pt x="34146" y="0"/>
                  <a:pt x="7620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571396" y="4076558"/>
            <a:ext cx="4143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Core Problem</a:t>
            </a:r>
            <a:endParaRPr lang="en-US" sz="1100"/>
          </a:p>
        </p:txBody>
      </p:sp>
      <p:sp>
        <p:nvSpPr>
          <p:cNvPr id="10" name="AutoShape 10"/>
          <p:cNvSpPr/>
          <p:nvPr/>
        </p:nvSpPr>
        <p:spPr>
          <a:xfrm>
            <a:off x="571396" y="4457514"/>
            <a:ext cx="4171950" cy="6096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Repeated reads</a:t>
            </a:r>
            <a:endParaRPr lang="en-US" sz="1100"/>
          </a:p>
          <a:p>
            <a:pPr indent="0" algn="l">
              <a:lnSpc>
                <a:spcPct val="108000"/>
              </a:lnSpc>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5044385" y="1257116"/>
            <a:ext cx="6762750" cy="4914900"/>
          </a:xfrm>
          <a:custGeom>
            <a:avLst/>
            <a:gdLst/>
            <a:ahLst/>
            <a:cxnLst/>
            <a:rect l="l" t="t" r="r" b="b"/>
            <a:pathLst>
              <a:path w="6762750" h="4914900">
                <a:moveTo>
                  <a:pt x="76181" y="0"/>
                </a:moveTo>
                <a:lnTo>
                  <a:pt x="6686569" y="0"/>
                </a:lnTo>
                <a:cubicBezTo>
                  <a:pt x="6728643" y="0"/>
                  <a:pt x="6762750" y="34107"/>
                  <a:pt x="6762750" y="76181"/>
                </a:cubicBezTo>
                <a:lnTo>
                  <a:pt x="6762750" y="4838719"/>
                </a:lnTo>
                <a:cubicBezTo>
                  <a:pt x="6762750" y="4880793"/>
                  <a:pt x="6728643" y="4914900"/>
                  <a:pt x="6686569" y="4914900"/>
                </a:cubicBezTo>
                <a:lnTo>
                  <a:pt x="76181" y="4914900"/>
                </a:lnTo>
                <a:cubicBezTo>
                  <a:pt x="34107" y="4914900"/>
                  <a:pt x="0" y="4880793"/>
                  <a:pt x="0" y="4838719"/>
                </a:cubicBezTo>
                <a:lnTo>
                  <a:pt x="0" y="76181"/>
                </a:lnTo>
                <a:cubicBezTo>
                  <a:pt x="0" y="34136"/>
                  <a:pt x="34136" y="0"/>
                  <a:pt x="7618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272958" y="1485690"/>
            <a:ext cx="64008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Access Example</a:t>
            </a:r>
            <a:endParaRPr lang="en-US" sz="1100"/>
          </a:p>
        </p:txBody>
      </p:sp>
      <p:sp>
        <p:nvSpPr>
          <p:cNvPr id="13" name="Freeform 13"/>
          <p:cNvSpPr/>
          <p:nvPr/>
        </p:nvSpPr>
        <p:spPr>
          <a:xfrm>
            <a:off x="5291914" y="2419605"/>
            <a:ext cx="6286405" cy="952500"/>
          </a:xfrm>
          <a:custGeom>
            <a:avLst/>
            <a:gdLst/>
            <a:ahLst/>
            <a:cxnLst/>
            <a:rect l="l" t="t" r="r" b="b"/>
            <a:pathLst>
              <a:path w="6286405" h="952500">
                <a:moveTo>
                  <a:pt x="37910" y="0"/>
                </a:moveTo>
                <a:lnTo>
                  <a:pt x="6210205" y="0"/>
                </a:lnTo>
                <a:cubicBezTo>
                  <a:pt x="6252261" y="0"/>
                  <a:pt x="6286405" y="34144"/>
                  <a:pt x="6286405" y="76200"/>
                </a:cubicBezTo>
                <a:lnTo>
                  <a:pt x="6286405" y="876300"/>
                </a:lnTo>
                <a:cubicBezTo>
                  <a:pt x="6286405" y="918356"/>
                  <a:pt x="6252261" y="952500"/>
                  <a:pt x="621020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nvSpPr>
        <p:spPr>
          <a:xfrm>
            <a:off x="5291914" y="2419605"/>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5501310" y="2629074"/>
            <a:ext cx="12573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A[i, k]</a:t>
            </a:r>
            <a:endParaRPr lang="en-US" sz="1100"/>
          </a:p>
        </p:txBody>
      </p:sp>
      <p:sp>
        <p:nvSpPr>
          <p:cNvPr id="16" name="AutoShape 16"/>
          <p:cNvSpPr/>
          <p:nvPr/>
        </p:nvSpPr>
        <p:spPr>
          <a:xfrm>
            <a:off x="5501310" y="2933839"/>
            <a:ext cx="3151737" cy="34289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 single element of Matrix A</a:t>
            </a:r>
            <a:endParaRPr lang="en-US" sz="1100"/>
          </a:p>
        </p:txBody>
      </p:sp>
      <p:sp>
        <p:nvSpPr>
          <p:cNvPr id="17" name="AutoShape 17"/>
          <p:cNvSpPr/>
          <p:nvPr/>
        </p:nvSpPr>
        <p:spPr>
          <a:xfrm>
            <a:off x="10487008" y="2610045"/>
            <a:ext cx="904875" cy="342900"/>
          </a:xfrm>
          <a:prstGeom prst="rect">
            <a:avLst/>
          </a:prstGeom>
          <a:noFill/>
          <a:ln w="12700">
            <a:noFill/>
            <a:prstDash val="solid"/>
          </a:ln>
        </p:spPr>
        <p:txBody>
          <a:bodyPr wrap="square" lIns="0" tIns="0" rIns="0" bIns="0" rtlCol="0" anchor="ctr">
            <a:noAutofit/>
          </a:bodyPr>
          <a:lstStyle/>
          <a:p>
            <a:pPr indent="0" algn="r">
              <a:lnSpc>
                <a:spcPct val="100000"/>
              </a:lnSpc>
              <a:defRPr/>
            </a:pPr>
            <a:r>
              <a:rPr lang="en-US" sz="2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N times</a:t>
            </a:r>
            <a:endParaRPr lang="en-US" sz="1100"/>
          </a:p>
        </p:txBody>
      </p:sp>
      <p:sp>
        <p:nvSpPr>
          <p:cNvPr id="18" name="AutoShape 18"/>
          <p:cNvSpPr/>
          <p:nvPr/>
        </p:nvSpPr>
        <p:spPr>
          <a:xfrm>
            <a:off x="10553683" y="2952869"/>
            <a:ext cx="838200" cy="228600"/>
          </a:xfrm>
          <a:prstGeom prst="rect">
            <a:avLst/>
          </a:prstGeom>
          <a:noFill/>
          <a:ln w="12700">
            <a:noFill/>
            <a:prstDash val="solid"/>
          </a:ln>
        </p:spPr>
        <p:txBody>
          <a:bodyPr wrap="square" lIns="0" tIns="0" rIns="0" bIns="0" rtlCol="0" anchor="ctr">
            <a:noAutofit/>
          </a:bodyPr>
          <a:lstStyle/>
          <a:p>
            <a:pPr indent="0" algn="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is read repeatedly</a:t>
            </a:r>
            <a:endParaRPr lang="en-US" sz="1100"/>
          </a:p>
        </p:txBody>
      </p:sp>
      <p:sp>
        <p:nvSpPr>
          <p:cNvPr id="19" name="Freeform 19"/>
          <p:cNvSpPr/>
          <p:nvPr/>
        </p:nvSpPr>
        <p:spPr>
          <a:xfrm>
            <a:off x="5291914" y="3562323"/>
            <a:ext cx="6286405" cy="952500"/>
          </a:xfrm>
          <a:custGeom>
            <a:avLst/>
            <a:gdLst/>
            <a:ahLst/>
            <a:cxnLst/>
            <a:rect l="l" t="t" r="r" b="b"/>
            <a:pathLst>
              <a:path w="6286405" h="952500">
                <a:moveTo>
                  <a:pt x="37910" y="0"/>
                </a:moveTo>
                <a:lnTo>
                  <a:pt x="6210205" y="0"/>
                </a:lnTo>
                <a:cubicBezTo>
                  <a:pt x="6252261" y="0"/>
                  <a:pt x="6286405" y="34144"/>
                  <a:pt x="6286405" y="76200"/>
                </a:cubicBezTo>
                <a:lnTo>
                  <a:pt x="6286405" y="876300"/>
                </a:lnTo>
                <a:cubicBezTo>
                  <a:pt x="6286405" y="918356"/>
                  <a:pt x="6252261" y="952500"/>
                  <a:pt x="621020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5291914" y="3562323"/>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501310" y="3771793"/>
            <a:ext cx="12573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B[k, j]</a:t>
            </a:r>
            <a:endParaRPr lang="en-US" sz="1100"/>
          </a:p>
        </p:txBody>
      </p:sp>
      <p:sp>
        <p:nvSpPr>
          <p:cNvPr id="22" name="AutoShape 22"/>
          <p:cNvSpPr/>
          <p:nvPr/>
        </p:nvSpPr>
        <p:spPr>
          <a:xfrm>
            <a:off x="5501310" y="4076557"/>
            <a:ext cx="2881713" cy="30450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 single element of Matrix B</a:t>
            </a:r>
            <a:endParaRPr lang="en-US" sz="1100"/>
          </a:p>
        </p:txBody>
      </p:sp>
      <p:sp>
        <p:nvSpPr>
          <p:cNvPr id="23" name="AutoShape 23"/>
          <p:cNvSpPr/>
          <p:nvPr/>
        </p:nvSpPr>
        <p:spPr>
          <a:xfrm>
            <a:off x="10487008" y="3752764"/>
            <a:ext cx="904875" cy="342900"/>
          </a:xfrm>
          <a:prstGeom prst="rect">
            <a:avLst/>
          </a:prstGeom>
          <a:noFill/>
          <a:ln w="12700">
            <a:noFill/>
            <a:prstDash val="solid"/>
          </a:ln>
        </p:spPr>
        <p:txBody>
          <a:bodyPr wrap="square" lIns="0" tIns="0" rIns="0" bIns="0" rtlCol="0" anchor="ctr">
            <a:noAutofit/>
          </a:bodyPr>
          <a:lstStyle/>
          <a:p>
            <a:pPr indent="0" algn="r">
              <a:lnSpc>
                <a:spcPct val="100000"/>
              </a:lnSpc>
              <a:defRPr/>
            </a:pPr>
            <a:r>
              <a:rPr lang="en-US" sz="2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M times</a:t>
            </a:r>
            <a:endParaRPr lang="en-US" sz="1100"/>
          </a:p>
        </p:txBody>
      </p:sp>
      <p:sp>
        <p:nvSpPr>
          <p:cNvPr id="24" name="AutoShape 24"/>
          <p:cNvSpPr/>
          <p:nvPr/>
        </p:nvSpPr>
        <p:spPr>
          <a:xfrm>
            <a:off x="10553683" y="4095587"/>
            <a:ext cx="838200" cy="228600"/>
          </a:xfrm>
          <a:prstGeom prst="rect">
            <a:avLst/>
          </a:prstGeom>
          <a:noFill/>
          <a:ln w="12700">
            <a:noFill/>
            <a:prstDash val="solid"/>
          </a:ln>
        </p:spPr>
        <p:txBody>
          <a:bodyPr wrap="square" lIns="0" tIns="0" rIns="0" bIns="0" rtlCol="0" anchor="ctr">
            <a:noAutofit/>
          </a:bodyPr>
          <a:lstStyle/>
          <a:p>
            <a:pPr indent="0" algn="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is read repeatedly</a:t>
            </a:r>
            <a:endParaRPr lang="en-US" sz="1100"/>
          </a:p>
        </p:txBody>
      </p:sp>
      <p:sp>
        <p:nvSpPr>
          <p:cNvPr id="25" name="Freeform 25"/>
          <p:cNvSpPr/>
          <p:nvPr/>
        </p:nvSpPr>
        <p:spPr>
          <a:xfrm>
            <a:off x="5272958" y="4857424"/>
            <a:ext cx="6305550" cy="647700"/>
          </a:xfrm>
          <a:custGeom>
            <a:avLst/>
            <a:gdLst/>
            <a:ahLst/>
            <a:cxnLst/>
            <a:rect l="l" t="t" r="r" b="b"/>
            <a:pathLst>
              <a:path w="6305550" h="647700">
                <a:moveTo>
                  <a:pt x="76203" y="0"/>
                </a:moveTo>
                <a:lnTo>
                  <a:pt x="6229347" y="0"/>
                </a:lnTo>
                <a:cubicBezTo>
                  <a:pt x="6271433" y="0"/>
                  <a:pt x="6305550" y="34117"/>
                  <a:pt x="6305550" y="76203"/>
                </a:cubicBezTo>
                <a:lnTo>
                  <a:pt x="6305550" y="571497"/>
                </a:lnTo>
                <a:cubicBezTo>
                  <a:pt x="6305550" y="613583"/>
                  <a:pt x="6271433" y="647700"/>
                  <a:pt x="6229347"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758674" y="5047865"/>
            <a:ext cx="5724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Problem: severe memory bandwidth waste</a:t>
            </a:r>
            <a:endParaRPr lang="en-US" sz="1100"/>
          </a:p>
        </p:txBody>
      </p:sp>
      <p:sp>
        <p:nvSpPr>
          <p:cNvPr id="27" name="AutoShape 27"/>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2847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GPU Memory Bandwidth is the Main Bottleneck</a:t>
            </a:r>
            <a:endParaRPr lang="en-US" sz="1100"/>
          </a:p>
        </p:txBody>
      </p:sp>
      <p:sp>
        <p:nvSpPr>
          <p:cNvPr id="3" name="Freeform 3"/>
          <p:cNvSpPr/>
          <p:nvPr/>
        </p:nvSpPr>
        <p:spPr>
          <a:xfrm>
            <a:off x="380956" y="1371736"/>
            <a:ext cx="11430000" cy="1219200"/>
          </a:xfrm>
          <a:custGeom>
            <a:avLst/>
            <a:gdLst/>
            <a:ahLst/>
            <a:cxnLst/>
            <a:rect l="l" t="t" r="r" b="b"/>
            <a:pathLst>
              <a:path w="11430000" h="1219200">
                <a:moveTo>
                  <a:pt x="76200" y="0"/>
                </a:moveTo>
                <a:lnTo>
                  <a:pt x="11353800" y="0"/>
                </a:lnTo>
                <a:cubicBezTo>
                  <a:pt x="11395856" y="0"/>
                  <a:pt x="11430000" y="34144"/>
                  <a:pt x="11430000" y="76200"/>
                </a:cubicBezTo>
                <a:lnTo>
                  <a:pt x="11430000" y="1143000"/>
                </a:lnTo>
                <a:cubicBezTo>
                  <a:pt x="11430000" y="1185056"/>
                  <a:pt x="11395856" y="1219200"/>
                  <a:pt x="11353800" y="1219200"/>
                </a:cubicBezTo>
                <a:lnTo>
                  <a:pt x="76200" y="1219200"/>
                </a:lnTo>
                <a:cubicBezTo>
                  <a:pt x="34144" y="1219200"/>
                  <a:pt x="0" y="1185056"/>
                  <a:pt x="0" y="11430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00309"/>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GPU performance is limited by</a:t>
            </a:r>
            <a:endParaRPr lang="en-US" sz="1100"/>
          </a:p>
        </p:txBody>
      </p:sp>
      <p:sp>
        <p:nvSpPr>
          <p:cNvPr id="5" name="AutoShape 5"/>
          <p:cNvSpPr/>
          <p:nvPr/>
        </p:nvSpPr>
        <p:spPr>
          <a:xfrm>
            <a:off x="609529" y="1981191"/>
            <a:ext cx="111442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Memory Bandwidth</a:t>
            </a:r>
            <a:endParaRPr lang="en-US" sz="1100"/>
          </a:p>
        </p:txBody>
      </p:sp>
      <p:sp>
        <p:nvSpPr>
          <p:cNvPr id="6" name="Freeform 6"/>
          <p:cNvSpPr/>
          <p:nvPr/>
        </p:nvSpPr>
        <p:spPr>
          <a:xfrm>
            <a:off x="380956" y="2819293"/>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429" y="3047866"/>
            <a:ext cx="5219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GPU Compute Capacity</a:t>
            </a:r>
            <a:endParaRPr lang="en-US" sz="1100"/>
          </a:p>
        </p:txBody>
      </p:sp>
      <p:sp>
        <p:nvSpPr>
          <p:cNvPr id="8" name="AutoShape 8"/>
          <p:cNvSpPr/>
          <p:nvPr/>
        </p:nvSpPr>
        <p:spPr>
          <a:xfrm>
            <a:off x="495229" y="3352631"/>
            <a:ext cx="5372100" cy="4572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19</a:t>
            </a:r>
            <a:endParaRPr lang="en-US" sz="1100"/>
          </a:p>
        </p:txBody>
      </p:sp>
      <p:sp>
        <p:nvSpPr>
          <p:cNvPr id="9" name="AutoShape 9"/>
          <p:cNvSpPr/>
          <p:nvPr/>
        </p:nvSpPr>
        <p:spPr>
          <a:xfrm>
            <a:off x="561904" y="3886043"/>
            <a:ext cx="5238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TFLOPS</a:t>
            </a:r>
            <a:endParaRPr lang="en-US" sz="1100"/>
          </a:p>
        </p:txBody>
      </p:sp>
      <p:sp>
        <p:nvSpPr>
          <p:cNvPr id="10" name="Freeform 10"/>
          <p:cNvSpPr/>
          <p:nvPr/>
        </p:nvSpPr>
        <p:spPr>
          <a:xfrm>
            <a:off x="6210279" y="2819293"/>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400752" y="3047866"/>
            <a:ext cx="5219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Memory Bandwidth</a:t>
            </a:r>
            <a:endParaRPr lang="en-US" sz="1100"/>
          </a:p>
        </p:txBody>
      </p:sp>
      <p:sp>
        <p:nvSpPr>
          <p:cNvPr id="12" name="AutoShape 12"/>
          <p:cNvSpPr/>
          <p:nvPr/>
        </p:nvSpPr>
        <p:spPr>
          <a:xfrm>
            <a:off x="6324552" y="3352631"/>
            <a:ext cx="5372100" cy="4572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900</a:t>
            </a:r>
            <a:endParaRPr lang="en-US" sz="1100"/>
          </a:p>
        </p:txBody>
      </p:sp>
      <p:sp>
        <p:nvSpPr>
          <p:cNvPr id="13" name="AutoShape 13"/>
          <p:cNvSpPr/>
          <p:nvPr/>
        </p:nvSpPr>
        <p:spPr>
          <a:xfrm>
            <a:off x="6391227" y="3886043"/>
            <a:ext cx="5238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GB/s</a:t>
            </a:r>
            <a:endParaRPr lang="en-US" sz="1100"/>
          </a:p>
        </p:txBody>
      </p:sp>
      <p:sp>
        <p:nvSpPr>
          <p:cNvPr id="14" name="Freeform 14"/>
          <p:cNvSpPr/>
          <p:nvPr/>
        </p:nvSpPr>
        <p:spPr>
          <a:xfrm>
            <a:off x="380956" y="4609895"/>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55963" y="4866902"/>
            <a:ext cx="145258" cy="191653"/>
          </a:xfrm>
          <a:custGeom>
            <a:avLst/>
            <a:gdLst/>
            <a:ahLst/>
            <a:cxnLst/>
            <a:rect l="l" t="t" r="r" b="b"/>
            <a:pathLst>
              <a:path w="145258" h="191653">
                <a:moveTo>
                  <a:pt x="64220" y="187002"/>
                </a:moveTo>
                <a:cubicBezTo>
                  <a:pt x="68871" y="191653"/>
                  <a:pt x="76425" y="191653"/>
                  <a:pt x="81074" y="187002"/>
                </a:cubicBezTo>
                <a:lnTo>
                  <a:pt x="140607" y="127471"/>
                </a:lnTo>
                <a:cubicBezTo>
                  <a:pt x="145257" y="122820"/>
                  <a:pt x="145257" y="115266"/>
                  <a:pt x="140607" y="110617"/>
                </a:cubicBezTo>
                <a:cubicBezTo>
                  <a:pt x="135955" y="105966"/>
                  <a:pt x="128402" y="105966"/>
                  <a:pt x="123751" y="110617"/>
                </a:cubicBezTo>
                <a:lnTo>
                  <a:pt x="84535" y="149833"/>
                </a:lnTo>
                <a:lnTo>
                  <a:pt x="84535" y="11906"/>
                </a:lnTo>
                <a:cubicBezTo>
                  <a:pt x="84535" y="5321"/>
                  <a:pt x="79213" y="0"/>
                  <a:pt x="72629" y="0"/>
                </a:cubicBezTo>
                <a:cubicBezTo>
                  <a:pt x="66044" y="0"/>
                  <a:pt x="60722" y="5321"/>
                  <a:pt x="60722" y="11906"/>
                </a:cubicBezTo>
                <a:lnTo>
                  <a:pt x="60722" y="149833"/>
                </a:lnTo>
                <a:lnTo>
                  <a:pt x="21506" y="110617"/>
                </a:lnTo>
                <a:cubicBezTo>
                  <a:pt x="16855" y="105966"/>
                  <a:pt x="9302" y="105966"/>
                  <a:pt x="4650" y="110617"/>
                </a:cubicBezTo>
                <a:cubicBezTo>
                  <a:pt x="0" y="115266"/>
                  <a:pt x="0" y="122820"/>
                  <a:pt x="4650" y="127471"/>
                </a:cubicBezTo>
                <a:lnTo>
                  <a:pt x="64183" y="1870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04804" y="4838469"/>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If memory access is excessive</a:t>
            </a:r>
            <a:endParaRPr lang="en-US" sz="1100"/>
          </a:p>
        </p:txBody>
      </p:sp>
      <p:sp>
        <p:nvSpPr>
          <p:cNvPr id="17" name="Freeform 17"/>
          <p:cNvSpPr/>
          <p:nvPr/>
        </p:nvSpPr>
        <p:spPr>
          <a:xfrm>
            <a:off x="628484" y="5257557"/>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28484" y="5257557"/>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99822" y="5409938"/>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Units sit idle</a:t>
            </a:r>
            <a:endParaRPr lang="en-US" sz="1100"/>
          </a:p>
        </p:txBody>
      </p:sp>
      <p:sp>
        <p:nvSpPr>
          <p:cNvPr id="20" name="Freeform 20"/>
          <p:cNvSpPr/>
          <p:nvPr/>
        </p:nvSpPr>
        <p:spPr>
          <a:xfrm>
            <a:off x="6191102" y="5257557"/>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191102" y="5257557"/>
            <a:ext cx="37910" cy="571500"/>
          </a:xfrm>
          <a:custGeom>
            <a:avLst/>
            <a:gdLst/>
            <a:ahLst/>
            <a:cxnLst/>
            <a:rect l="l" t="t" r="r" b="b"/>
            <a:pathLst>
              <a:path w="37910" h="571500">
                <a:moveTo>
                  <a:pt x="37910" y="0"/>
                </a:moveTo>
                <a:lnTo>
                  <a:pt x="37910" y="0"/>
                </a:lnTo>
                <a:lnTo>
                  <a:pt x="37910" y="571500"/>
                </a:lnTo>
                <a:lnTo>
                  <a:pt x="37910" y="571500"/>
                </a:lnTo>
                <a:cubicBezTo>
                  <a:pt x="16974" y="571500"/>
                  <a:pt x="0" y="554526"/>
                  <a:pt x="0" y="5335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2440" y="5409938"/>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Performance drops significantly</a:t>
            </a:r>
            <a:endParaRPr lang="en-US" sz="1100"/>
          </a:p>
        </p:txBody>
      </p:sp>
      <p:sp>
        <p:nvSpPr>
          <p:cNvPr id="23" name="AutoShape 23"/>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7083" y="62897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Why Tiling Is Needed</a:t>
            </a:r>
            <a:endParaRPr lang="en-US" sz="1100"/>
          </a:p>
        </p:txBody>
      </p:sp>
      <p:sp>
        <p:nvSpPr>
          <p:cNvPr id="3" name="Freeform 3"/>
          <p:cNvSpPr/>
          <p:nvPr/>
        </p:nvSpPr>
        <p:spPr>
          <a:xfrm>
            <a:off x="380956" y="1276664"/>
            <a:ext cx="11430000" cy="1181100"/>
          </a:xfrm>
          <a:custGeom>
            <a:avLst/>
            <a:gdLst/>
            <a:ahLst/>
            <a:cxnLst/>
            <a:rect l="l" t="t" r="r" b="b"/>
            <a:pathLst>
              <a:path w="11430000" h="1181100">
                <a:moveTo>
                  <a:pt x="76205" y="0"/>
                </a:moveTo>
                <a:lnTo>
                  <a:pt x="11353795" y="0"/>
                </a:lnTo>
                <a:cubicBezTo>
                  <a:pt x="11395854" y="0"/>
                  <a:pt x="11430000" y="34146"/>
                  <a:pt x="11430000" y="76205"/>
                </a:cubicBezTo>
                <a:lnTo>
                  <a:pt x="11430000" y="1104895"/>
                </a:lnTo>
                <a:cubicBezTo>
                  <a:pt x="11430000" y="1146981"/>
                  <a:pt x="11395881" y="1181100"/>
                  <a:pt x="11353795" y="1181100"/>
                </a:cubicBezTo>
                <a:lnTo>
                  <a:pt x="76205" y="1181100"/>
                </a:lnTo>
                <a:cubicBezTo>
                  <a:pt x="34146" y="1181100"/>
                  <a:pt x="0" y="1146954"/>
                  <a:pt x="0" y="1104895"/>
                </a:cubicBezTo>
                <a:lnTo>
                  <a:pt x="0" y="76205"/>
                </a:lnTo>
                <a:cubicBezTo>
                  <a:pt x="0" y="34146"/>
                  <a:pt x="34146" y="0"/>
                  <a:pt x="762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05236"/>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Goal</a:t>
            </a:r>
            <a:endParaRPr lang="en-US" sz="1100"/>
          </a:p>
        </p:txBody>
      </p:sp>
      <p:sp>
        <p:nvSpPr>
          <p:cNvPr id="5" name="AutoShape 5"/>
          <p:cNvSpPr/>
          <p:nvPr/>
        </p:nvSpPr>
        <p:spPr>
          <a:xfrm>
            <a:off x="609529" y="1886117"/>
            <a:ext cx="111156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Reduce the number of Global Memory accesses</a:t>
            </a:r>
            <a:endParaRPr lang="en-US" sz="1100"/>
          </a:p>
        </p:txBody>
      </p:sp>
      <p:sp>
        <p:nvSpPr>
          <p:cNvPr id="6" name="Freeform 6"/>
          <p:cNvSpPr/>
          <p:nvPr/>
        </p:nvSpPr>
        <p:spPr>
          <a:xfrm>
            <a:off x="380956" y="2686087"/>
            <a:ext cx="5600700" cy="2590800"/>
          </a:xfrm>
          <a:custGeom>
            <a:avLst/>
            <a:gdLst/>
            <a:ahLst/>
            <a:cxnLst/>
            <a:rect l="l" t="t" r="r" b="b"/>
            <a:pathLst>
              <a:path w="5600700" h="2590800">
                <a:moveTo>
                  <a:pt x="76195" y="0"/>
                </a:moveTo>
                <a:lnTo>
                  <a:pt x="5524505" y="0"/>
                </a:lnTo>
                <a:cubicBezTo>
                  <a:pt x="5566559" y="0"/>
                  <a:pt x="5600700" y="34141"/>
                  <a:pt x="5600700" y="76195"/>
                </a:cubicBezTo>
                <a:lnTo>
                  <a:pt x="5600700" y="2514605"/>
                </a:lnTo>
                <a:cubicBezTo>
                  <a:pt x="5600700" y="2556687"/>
                  <a:pt x="5566587" y="2590800"/>
                  <a:pt x="5524505" y="2590800"/>
                </a:cubicBezTo>
                <a:lnTo>
                  <a:pt x="76195" y="2590800"/>
                </a:lnTo>
                <a:cubicBezTo>
                  <a:pt x="34141" y="2590800"/>
                  <a:pt x="0" y="2556659"/>
                  <a:pt x="0" y="2514605"/>
                </a:cubicBezTo>
                <a:lnTo>
                  <a:pt x="0" y="76195"/>
                </a:lnTo>
                <a:cubicBezTo>
                  <a:pt x="0" y="34141"/>
                  <a:pt x="34141" y="0"/>
                  <a:pt x="761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904804" y="2914662"/>
            <a:ext cx="494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Core Idea</a:t>
            </a:r>
            <a:endParaRPr lang="en-US" sz="1100"/>
          </a:p>
        </p:txBody>
      </p:sp>
      <p:sp>
        <p:nvSpPr>
          <p:cNvPr id="8" name="Freeform 8"/>
          <p:cNvSpPr/>
          <p:nvPr/>
        </p:nvSpPr>
        <p:spPr>
          <a:xfrm>
            <a:off x="619007" y="3343228"/>
            <a:ext cx="5124355" cy="742855"/>
          </a:xfrm>
          <a:custGeom>
            <a:avLst/>
            <a:gdLst/>
            <a:ahLst/>
            <a:cxnLst/>
            <a:rect l="l" t="t" r="r" b="b"/>
            <a:pathLst>
              <a:path w="5124355" h="742855">
                <a:moveTo>
                  <a:pt x="38101" y="0"/>
                </a:moveTo>
                <a:lnTo>
                  <a:pt x="5086253" y="0"/>
                </a:lnTo>
                <a:cubicBezTo>
                  <a:pt x="5107297" y="0"/>
                  <a:pt x="5124355" y="17057"/>
                  <a:pt x="5124355" y="38101"/>
                </a:cubicBezTo>
                <a:lnTo>
                  <a:pt x="5124355" y="704753"/>
                </a:lnTo>
                <a:cubicBezTo>
                  <a:pt x="5124355" y="725797"/>
                  <a:pt x="5107297" y="742855"/>
                  <a:pt x="50862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7487" y="3543147"/>
            <a:ext cx="48672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Data reuse</a:t>
            </a:r>
            <a:endParaRPr lang="en-US" sz="1100"/>
          </a:p>
        </p:txBody>
      </p:sp>
      <p:sp>
        <p:nvSpPr>
          <p:cNvPr id="10" name="Freeform 10"/>
          <p:cNvSpPr/>
          <p:nvPr/>
        </p:nvSpPr>
        <p:spPr>
          <a:xfrm>
            <a:off x="6210279" y="2686087"/>
            <a:ext cx="5600700" cy="2590800"/>
          </a:xfrm>
          <a:custGeom>
            <a:avLst/>
            <a:gdLst/>
            <a:ahLst/>
            <a:cxnLst/>
            <a:rect l="l" t="t" r="r" b="b"/>
            <a:pathLst>
              <a:path w="5600700" h="2590800">
                <a:moveTo>
                  <a:pt x="76195" y="0"/>
                </a:moveTo>
                <a:lnTo>
                  <a:pt x="5524505" y="0"/>
                </a:lnTo>
                <a:cubicBezTo>
                  <a:pt x="5566559" y="0"/>
                  <a:pt x="5600700" y="34141"/>
                  <a:pt x="5600700" y="76195"/>
                </a:cubicBezTo>
                <a:lnTo>
                  <a:pt x="5600700" y="2514605"/>
                </a:lnTo>
                <a:cubicBezTo>
                  <a:pt x="5600700" y="2556687"/>
                  <a:pt x="5566587" y="2590800"/>
                  <a:pt x="5524505" y="2590800"/>
                </a:cubicBezTo>
                <a:lnTo>
                  <a:pt x="76195" y="2590800"/>
                </a:lnTo>
                <a:cubicBezTo>
                  <a:pt x="34141" y="2590800"/>
                  <a:pt x="0" y="2556659"/>
                  <a:pt x="0" y="2514605"/>
                </a:cubicBezTo>
                <a:lnTo>
                  <a:pt x="0" y="76195"/>
                </a:lnTo>
                <a:cubicBezTo>
                  <a:pt x="0" y="34141"/>
                  <a:pt x="34141" y="0"/>
                  <a:pt x="761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734127" y="2914662"/>
            <a:ext cx="494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Method</a:t>
            </a:r>
            <a:endParaRPr lang="en-US" sz="1100"/>
          </a:p>
        </p:txBody>
      </p:sp>
      <p:sp>
        <p:nvSpPr>
          <p:cNvPr id="12" name="Freeform 12"/>
          <p:cNvSpPr/>
          <p:nvPr/>
        </p:nvSpPr>
        <p:spPr>
          <a:xfrm>
            <a:off x="6457808" y="3333750"/>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57808" y="3333750"/>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1013" y="3447999"/>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Partition the matrix into tiles</a:t>
            </a:r>
            <a:endParaRPr lang="en-US" sz="1100"/>
          </a:p>
        </p:txBody>
      </p:sp>
      <p:sp>
        <p:nvSpPr>
          <p:cNvPr id="15" name="Freeform 15"/>
          <p:cNvSpPr/>
          <p:nvPr/>
        </p:nvSpPr>
        <p:spPr>
          <a:xfrm>
            <a:off x="6457808" y="3943203"/>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457808" y="3943203"/>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591013" y="4057455"/>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Load small blocks at a time</a:t>
            </a:r>
            <a:endParaRPr lang="en-US" sz="1100"/>
          </a:p>
        </p:txBody>
      </p:sp>
      <p:sp>
        <p:nvSpPr>
          <p:cNvPr id="18" name="Freeform 18"/>
          <p:cNvSpPr/>
          <p:nvPr/>
        </p:nvSpPr>
        <p:spPr>
          <a:xfrm>
            <a:off x="6457808" y="4552659"/>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1"/>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457808" y="4552659"/>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91013" y="4666908"/>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Reuse them</a:t>
            </a:r>
            <a:endParaRPr lang="en-US" sz="1100"/>
          </a:p>
        </p:txBody>
      </p:sp>
      <p:sp>
        <p:nvSpPr>
          <p:cNvPr id="21" name="Freeform 21"/>
          <p:cNvSpPr/>
          <p:nvPr/>
        </p:nvSpPr>
        <p:spPr>
          <a:xfrm>
            <a:off x="380956" y="5505010"/>
            <a:ext cx="11430000" cy="647700"/>
          </a:xfrm>
          <a:custGeom>
            <a:avLst/>
            <a:gdLst/>
            <a:ahLst/>
            <a:cxnLst/>
            <a:rect l="l" t="t" r="r" b="b"/>
            <a:pathLst>
              <a:path w="11430000" h="647700">
                <a:moveTo>
                  <a:pt x="76203" y="0"/>
                </a:moveTo>
                <a:lnTo>
                  <a:pt x="11353797" y="0"/>
                </a:lnTo>
                <a:cubicBezTo>
                  <a:pt x="11395883" y="0"/>
                  <a:pt x="11430000" y="34117"/>
                  <a:pt x="11430000" y="76203"/>
                </a:cubicBezTo>
                <a:lnTo>
                  <a:pt x="11430000" y="571497"/>
                </a:lnTo>
                <a:cubicBezTo>
                  <a:pt x="11430000" y="613583"/>
                  <a:pt x="11395883" y="647700"/>
                  <a:pt x="113537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4316185" y="5733362"/>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3" y="60175"/>
                </a:cubicBezTo>
                <a:cubicBezTo>
                  <a:pt x="115226" y="62553"/>
                  <a:pt x="116365" y="67475"/>
                  <a:pt x="113988" y="7125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95234" y="5695452"/>
            <a:ext cx="10868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Data reuse dramatically reduces unnecessary memory accesses</a:t>
            </a:r>
            <a:endParaRPr lang="en-US" sz="1100"/>
          </a:p>
        </p:txBody>
      </p:sp>
      <p:sp>
        <p:nvSpPr>
          <p:cNvPr id="24" name="AutoShape 24"/>
          <p:cNvSpPr/>
          <p:nvPr/>
        </p:nvSpPr>
        <p:spPr>
          <a:xfrm>
            <a:off x="380956" y="6324602"/>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0468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Basic Idea of Tiling</a:t>
            </a:r>
            <a:endParaRPr lang="en-US" sz="1100"/>
          </a:p>
        </p:txBody>
      </p:sp>
      <p:sp>
        <p:nvSpPr>
          <p:cNvPr id="3" name="Freeform 3"/>
          <p:cNvSpPr/>
          <p:nvPr/>
        </p:nvSpPr>
        <p:spPr>
          <a:xfrm>
            <a:off x="380956" y="1257116"/>
            <a:ext cx="11430000" cy="1219200"/>
          </a:xfrm>
          <a:custGeom>
            <a:avLst/>
            <a:gdLst/>
            <a:ahLst/>
            <a:cxnLst/>
            <a:rect l="l" t="t" r="r" b="b"/>
            <a:pathLst>
              <a:path w="11430000" h="1219200">
                <a:moveTo>
                  <a:pt x="76200" y="0"/>
                </a:moveTo>
                <a:lnTo>
                  <a:pt x="11353800" y="0"/>
                </a:lnTo>
                <a:cubicBezTo>
                  <a:pt x="11395856" y="0"/>
                  <a:pt x="11430000" y="34144"/>
                  <a:pt x="11430000" y="76200"/>
                </a:cubicBezTo>
                <a:lnTo>
                  <a:pt x="11430000" y="1143000"/>
                </a:lnTo>
                <a:cubicBezTo>
                  <a:pt x="11430000" y="1185056"/>
                  <a:pt x="11395856" y="1219200"/>
                  <a:pt x="11353800" y="1219200"/>
                </a:cubicBezTo>
                <a:lnTo>
                  <a:pt x="76200" y="1219200"/>
                </a:lnTo>
                <a:cubicBezTo>
                  <a:pt x="34144" y="1219200"/>
                  <a:pt x="0" y="1185056"/>
                  <a:pt x="0" y="11430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1"/>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Partition the matrix into</a:t>
            </a:r>
            <a:endParaRPr lang="en-US" sz="1100"/>
          </a:p>
        </p:txBody>
      </p:sp>
      <p:sp>
        <p:nvSpPr>
          <p:cNvPr id="5" name="AutoShape 5"/>
          <p:cNvSpPr/>
          <p:nvPr/>
        </p:nvSpPr>
        <p:spPr>
          <a:xfrm>
            <a:off x="609529" y="1866572"/>
            <a:ext cx="111442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small tiles</a:t>
            </a:r>
            <a:endParaRPr lang="en-US" sz="1100"/>
          </a:p>
        </p:txBody>
      </p:sp>
      <p:sp>
        <p:nvSpPr>
          <p:cNvPr id="6" name="Freeform 6"/>
          <p:cNvSpPr/>
          <p:nvPr/>
        </p:nvSpPr>
        <p:spPr>
          <a:xfrm>
            <a:off x="380956" y="2704674"/>
            <a:ext cx="5562600" cy="1638300"/>
          </a:xfrm>
          <a:custGeom>
            <a:avLst/>
            <a:gdLst/>
            <a:ahLst/>
            <a:cxnLst/>
            <a:rect l="l" t="t" r="r" b="b"/>
            <a:pathLst>
              <a:path w="5562600" h="1638300">
                <a:moveTo>
                  <a:pt x="76197" y="0"/>
                </a:moveTo>
                <a:lnTo>
                  <a:pt x="5486403" y="0"/>
                </a:lnTo>
                <a:cubicBezTo>
                  <a:pt x="5528485" y="0"/>
                  <a:pt x="5562600" y="34115"/>
                  <a:pt x="5562600" y="76197"/>
                </a:cubicBezTo>
                <a:lnTo>
                  <a:pt x="5562600" y="1562103"/>
                </a:lnTo>
                <a:cubicBezTo>
                  <a:pt x="5562600" y="1604185"/>
                  <a:pt x="5528485" y="1638300"/>
                  <a:pt x="54864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29332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Matrix A tile</a:t>
            </a:r>
            <a:endParaRPr lang="en-US" sz="1100"/>
          </a:p>
        </p:txBody>
      </p:sp>
      <p:sp>
        <p:nvSpPr>
          <p:cNvPr id="8" name="Freeform 8"/>
          <p:cNvSpPr/>
          <p:nvPr/>
        </p:nvSpPr>
        <p:spPr>
          <a:xfrm>
            <a:off x="619007" y="3361813"/>
            <a:ext cx="5086255" cy="742855"/>
          </a:xfrm>
          <a:custGeom>
            <a:avLst/>
            <a:gdLst/>
            <a:ahLst/>
            <a:cxnLst/>
            <a:rect l="l" t="t" r="r" b="b"/>
            <a:pathLst>
              <a:path w="5086255" h="742855">
                <a:moveTo>
                  <a:pt x="38101" y="0"/>
                </a:moveTo>
                <a:lnTo>
                  <a:pt x="5048153" y="0"/>
                </a:lnTo>
                <a:cubicBezTo>
                  <a:pt x="5069197" y="0"/>
                  <a:pt x="5086255" y="17057"/>
                  <a:pt x="5086255" y="38101"/>
                </a:cubicBezTo>
                <a:lnTo>
                  <a:pt x="5086255" y="704753"/>
                </a:lnTo>
                <a:cubicBezTo>
                  <a:pt x="5086255" y="725797"/>
                  <a:pt x="5069197" y="742855"/>
                  <a:pt x="50481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7487" y="3561731"/>
            <a:ext cx="48291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 BLOCK_K</a:t>
            </a:r>
            <a:endParaRPr lang="en-US" sz="1100"/>
          </a:p>
        </p:txBody>
      </p:sp>
      <p:sp>
        <p:nvSpPr>
          <p:cNvPr id="10" name="Freeform 10"/>
          <p:cNvSpPr/>
          <p:nvPr/>
        </p:nvSpPr>
        <p:spPr>
          <a:xfrm>
            <a:off x="6248338" y="2704674"/>
            <a:ext cx="5562600" cy="1638300"/>
          </a:xfrm>
          <a:custGeom>
            <a:avLst/>
            <a:gdLst/>
            <a:ahLst/>
            <a:cxnLst/>
            <a:rect l="l" t="t" r="r" b="b"/>
            <a:pathLst>
              <a:path w="5562600" h="1638300">
                <a:moveTo>
                  <a:pt x="76197" y="0"/>
                </a:moveTo>
                <a:lnTo>
                  <a:pt x="5486403" y="0"/>
                </a:lnTo>
                <a:cubicBezTo>
                  <a:pt x="5528485" y="0"/>
                  <a:pt x="5562600" y="34115"/>
                  <a:pt x="5562600" y="76197"/>
                </a:cubicBezTo>
                <a:lnTo>
                  <a:pt x="5562600" y="1562103"/>
                </a:lnTo>
                <a:cubicBezTo>
                  <a:pt x="5562600" y="1604185"/>
                  <a:pt x="5528485" y="1638300"/>
                  <a:pt x="54864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476911" y="29332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Matrix B tile</a:t>
            </a:r>
            <a:endParaRPr lang="en-US" sz="1100"/>
          </a:p>
        </p:txBody>
      </p:sp>
      <p:sp>
        <p:nvSpPr>
          <p:cNvPr id="12" name="Freeform 12"/>
          <p:cNvSpPr/>
          <p:nvPr/>
        </p:nvSpPr>
        <p:spPr>
          <a:xfrm>
            <a:off x="6486389" y="3361813"/>
            <a:ext cx="5086255" cy="742855"/>
          </a:xfrm>
          <a:custGeom>
            <a:avLst/>
            <a:gdLst/>
            <a:ahLst/>
            <a:cxnLst/>
            <a:rect l="l" t="t" r="r" b="b"/>
            <a:pathLst>
              <a:path w="5086255" h="742855">
                <a:moveTo>
                  <a:pt x="38101" y="0"/>
                </a:moveTo>
                <a:lnTo>
                  <a:pt x="5048153" y="0"/>
                </a:lnTo>
                <a:cubicBezTo>
                  <a:pt x="5069197" y="0"/>
                  <a:pt x="5086255" y="17057"/>
                  <a:pt x="5086255" y="38101"/>
                </a:cubicBezTo>
                <a:lnTo>
                  <a:pt x="5086255" y="704753"/>
                </a:lnTo>
                <a:cubicBezTo>
                  <a:pt x="5086255" y="725797"/>
                  <a:pt x="5069197" y="742855"/>
                  <a:pt x="50481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6614869" y="3561731"/>
            <a:ext cx="48291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BLOCK_K × BLOCK_N</a:t>
            </a:r>
            <a:endParaRPr lang="en-US" sz="1100"/>
          </a:p>
        </p:txBody>
      </p:sp>
      <p:sp>
        <p:nvSpPr>
          <p:cNvPr id="14" name="Freeform 14"/>
          <p:cNvSpPr/>
          <p:nvPr/>
        </p:nvSpPr>
        <p:spPr>
          <a:xfrm>
            <a:off x="380956" y="4571098"/>
            <a:ext cx="11430000" cy="1638300"/>
          </a:xfrm>
          <a:custGeom>
            <a:avLst/>
            <a:gdLst/>
            <a:ahLst/>
            <a:cxnLst/>
            <a:rect l="l" t="t" r="r" b="b"/>
            <a:pathLst>
              <a:path w="11430000" h="1638300">
                <a:moveTo>
                  <a:pt x="76197" y="0"/>
                </a:moveTo>
                <a:lnTo>
                  <a:pt x="11353803" y="0"/>
                </a:lnTo>
                <a:cubicBezTo>
                  <a:pt x="11395885" y="0"/>
                  <a:pt x="11430000" y="34115"/>
                  <a:pt x="11430000" y="76197"/>
                </a:cubicBezTo>
                <a:lnTo>
                  <a:pt x="11430000" y="1562103"/>
                </a:lnTo>
                <a:cubicBezTo>
                  <a:pt x="11430000" y="1604185"/>
                  <a:pt x="11395885" y="1638300"/>
                  <a:pt x="113538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57154" y="4828103"/>
            <a:ext cx="142875" cy="190500"/>
          </a:xfrm>
          <a:custGeom>
            <a:avLst/>
            <a:gdLst/>
            <a:ahLst/>
            <a:cxnLst/>
            <a:rect l="l" t="t" r="r" b="b"/>
            <a:pathLst>
              <a:path w="142875" h="190500">
                <a:moveTo>
                  <a:pt x="23812" y="0"/>
                </a:moveTo>
                <a:cubicBezTo>
                  <a:pt x="10678" y="0"/>
                  <a:pt x="0" y="10678"/>
                  <a:pt x="0" y="23813"/>
                </a:cubicBezTo>
                <a:lnTo>
                  <a:pt x="0" y="166687"/>
                </a:lnTo>
                <a:cubicBezTo>
                  <a:pt x="0" y="179822"/>
                  <a:pt x="10678" y="190500"/>
                  <a:pt x="23812" y="190500"/>
                </a:cubicBezTo>
                <a:lnTo>
                  <a:pt x="119062" y="190500"/>
                </a:lnTo>
                <a:cubicBezTo>
                  <a:pt x="132197" y="190500"/>
                  <a:pt x="142875" y="179822"/>
                  <a:pt x="142875" y="166687"/>
                </a:cubicBezTo>
                <a:lnTo>
                  <a:pt x="142875" y="23813"/>
                </a:lnTo>
                <a:cubicBezTo>
                  <a:pt x="142875" y="10678"/>
                  <a:pt x="132197" y="0"/>
                  <a:pt x="119062" y="0"/>
                </a:cubicBezTo>
                <a:lnTo>
                  <a:pt x="23812" y="0"/>
                </a:lnTo>
                <a:close/>
                <a:moveTo>
                  <a:pt x="35719" y="23813"/>
                </a:moveTo>
                <a:lnTo>
                  <a:pt x="107156" y="23813"/>
                </a:lnTo>
                <a:cubicBezTo>
                  <a:pt x="113742" y="23813"/>
                  <a:pt x="119062" y="29133"/>
                  <a:pt x="119062" y="35719"/>
                </a:cubicBezTo>
                <a:lnTo>
                  <a:pt x="119062" y="47625"/>
                </a:lnTo>
                <a:cubicBezTo>
                  <a:pt x="119062" y="54211"/>
                  <a:pt x="113742" y="59531"/>
                  <a:pt x="107156" y="59531"/>
                </a:cubicBezTo>
                <a:lnTo>
                  <a:pt x="35719" y="59531"/>
                </a:lnTo>
                <a:cubicBezTo>
                  <a:pt x="29133" y="59531"/>
                  <a:pt x="23812" y="54211"/>
                  <a:pt x="23812" y="47625"/>
                </a:cubicBezTo>
                <a:lnTo>
                  <a:pt x="23812" y="35719"/>
                </a:lnTo>
                <a:cubicBezTo>
                  <a:pt x="23812" y="29133"/>
                  <a:pt x="29133" y="23813"/>
                  <a:pt x="35719" y="23813"/>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2" y="86321"/>
                </a:moveTo>
                <a:cubicBezTo>
                  <a:pt x="119062" y="91249"/>
                  <a:pt x="115061" y="95250"/>
                  <a:pt x="110133" y="95250"/>
                </a:cubicBezTo>
                <a:cubicBezTo>
                  <a:pt x="105204" y="95250"/>
                  <a:pt x="101202" y="91249"/>
                  <a:pt x="101202" y="86321"/>
                </a:cubicBezTo>
                <a:cubicBezTo>
                  <a:pt x="101202" y="81392"/>
                  <a:pt x="105204" y="77391"/>
                  <a:pt x="110133" y="77391"/>
                </a:cubicBezTo>
                <a:cubicBezTo>
                  <a:pt x="115061" y="77391"/>
                  <a:pt x="119062" y="81392"/>
                  <a:pt x="119062"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2" y="117111"/>
                  <a:pt x="119062" y="122039"/>
                </a:cubicBezTo>
                <a:cubicBezTo>
                  <a:pt x="119062"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2" y="152809"/>
                  <a:pt x="119062" y="157758"/>
                </a:cubicBezTo>
                <a:cubicBezTo>
                  <a:pt x="119062"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04804" y="4799670"/>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Output tile</a:t>
            </a:r>
            <a:endParaRPr lang="en-US" sz="1100"/>
          </a:p>
        </p:txBody>
      </p:sp>
      <p:sp>
        <p:nvSpPr>
          <p:cNvPr id="17" name="Freeform 17"/>
          <p:cNvSpPr/>
          <p:nvPr/>
        </p:nvSpPr>
        <p:spPr>
          <a:xfrm>
            <a:off x="619007" y="5228236"/>
            <a:ext cx="10953655" cy="742855"/>
          </a:xfrm>
          <a:custGeom>
            <a:avLst/>
            <a:gdLst/>
            <a:ahLst/>
            <a:cxnLst/>
            <a:rect l="l" t="t" r="r" b="b"/>
            <a:pathLst>
              <a:path w="10953655" h="742855">
                <a:moveTo>
                  <a:pt x="38101" y="0"/>
                </a:moveTo>
                <a:lnTo>
                  <a:pt x="10915553" y="0"/>
                </a:lnTo>
                <a:cubicBezTo>
                  <a:pt x="10936597" y="0"/>
                  <a:pt x="10953655" y="17057"/>
                  <a:pt x="10953655" y="38101"/>
                </a:cubicBezTo>
                <a:lnTo>
                  <a:pt x="10953655" y="704753"/>
                </a:lnTo>
                <a:cubicBezTo>
                  <a:pt x="10953655" y="725797"/>
                  <a:pt x="10936597" y="742855"/>
                  <a:pt x="109155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747487" y="5428155"/>
            <a:ext cx="10696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 BLOCK_N</a:t>
            </a:r>
            <a:endParaRPr lang="en-US" sz="1100"/>
          </a:p>
        </p:txBody>
      </p:sp>
      <p:sp>
        <p:nvSpPr>
          <p:cNvPr id="19" name="AutoShape 19"/>
          <p:cNvSpPr/>
          <p:nvPr/>
        </p:nvSpPr>
        <p:spPr>
          <a:xfrm>
            <a:off x="380956" y="6361328"/>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2033" y="647586"/>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Tile Computation Workflow</a:t>
            </a:r>
            <a:endParaRPr lang="en-US" sz="1100"/>
          </a:p>
        </p:txBody>
      </p:sp>
      <p:grpSp>
        <p:nvGrpSpPr>
          <p:cNvPr id="3" name="Group 3"/>
          <p:cNvGrpSpPr/>
          <p:nvPr/>
        </p:nvGrpSpPr>
        <p:grpSpPr>
          <a:xfrm>
            <a:off x="380956" y="2057530"/>
            <a:ext cx="11430023" cy="1600200"/>
            <a:chOff x="380956" y="2057530"/>
            <a:chExt cx="11430023" cy="1600200"/>
          </a:xfrm>
        </p:grpSpPr>
        <p:sp>
          <p:nvSpPr>
            <p:cNvPr id="4" name="Freeform 4"/>
            <p:cNvSpPr/>
            <p:nvPr/>
          </p:nvSpPr>
          <p:spPr>
            <a:xfrm>
              <a:off x="380956"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1485838"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428688"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AutoShape 7"/>
            <p:cNvSpPr/>
            <p:nvPr/>
          </p:nvSpPr>
          <p:spPr>
            <a:xfrm>
              <a:off x="528534"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Load Tile A</a:t>
              </a:r>
              <a:endParaRPr lang="en-US" sz="1100"/>
            </a:p>
          </p:txBody>
        </p:sp>
        <p:sp>
          <p:nvSpPr>
            <p:cNvPr id="8" name="AutoShape 8"/>
            <p:cNvSpPr/>
            <p:nvPr/>
          </p:nvSpPr>
          <p:spPr>
            <a:xfrm>
              <a:off x="533296"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from Global Memory</a:t>
              </a:r>
              <a:endParaRPr lang="en-US" sz="1100"/>
            </a:p>
          </p:txBody>
        </p:sp>
        <p:sp>
          <p:nvSpPr>
            <p:cNvPr id="9" name="Freeform 9"/>
            <p:cNvSpPr/>
            <p:nvPr/>
          </p:nvSpPr>
          <p:spPr>
            <a:xfrm>
              <a:off x="3276514"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381470"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4324320"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2" name="AutoShape 12"/>
            <p:cNvSpPr/>
            <p:nvPr/>
          </p:nvSpPr>
          <p:spPr>
            <a:xfrm>
              <a:off x="3424092"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Load Tile B</a:t>
              </a:r>
              <a:endParaRPr lang="en-US" sz="1100"/>
            </a:p>
          </p:txBody>
        </p:sp>
        <p:sp>
          <p:nvSpPr>
            <p:cNvPr id="13" name="AutoShape 13"/>
            <p:cNvSpPr/>
            <p:nvPr/>
          </p:nvSpPr>
          <p:spPr>
            <a:xfrm>
              <a:off x="3428855"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from Global Memory</a:t>
              </a:r>
              <a:endParaRPr lang="en-US" sz="1100"/>
            </a:p>
          </p:txBody>
        </p:sp>
        <p:sp>
          <p:nvSpPr>
            <p:cNvPr id="14" name="Freeform 14"/>
            <p:cNvSpPr/>
            <p:nvPr/>
          </p:nvSpPr>
          <p:spPr>
            <a:xfrm>
              <a:off x="6172147"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7277103"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219953"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7" name="AutoShape 17"/>
            <p:cNvSpPr/>
            <p:nvPr/>
          </p:nvSpPr>
          <p:spPr>
            <a:xfrm>
              <a:off x="6319725"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Partial Sum</a:t>
              </a:r>
              <a:endParaRPr lang="en-US" sz="1100"/>
            </a:p>
          </p:txBody>
        </p:sp>
        <p:sp>
          <p:nvSpPr>
            <p:cNvPr id="18" name="AutoShape 18"/>
            <p:cNvSpPr/>
            <p:nvPr/>
          </p:nvSpPr>
          <p:spPr>
            <a:xfrm>
              <a:off x="6324487"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Local matrix multiply</a:t>
              </a:r>
              <a:endParaRPr lang="en-US" sz="1100"/>
            </a:p>
          </p:txBody>
        </p:sp>
        <p:sp>
          <p:nvSpPr>
            <p:cNvPr id="19" name="Freeform 19"/>
            <p:cNvSpPr/>
            <p:nvPr/>
          </p:nvSpPr>
          <p:spPr>
            <a:xfrm>
              <a:off x="9067779"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0172735"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10115585"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22" name="AutoShape 22"/>
            <p:cNvSpPr/>
            <p:nvPr/>
          </p:nvSpPr>
          <p:spPr>
            <a:xfrm>
              <a:off x="9215357"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Repeat along K dimension</a:t>
              </a:r>
              <a:endParaRPr lang="en-US" sz="1100"/>
            </a:p>
          </p:txBody>
        </p:sp>
        <p:sp>
          <p:nvSpPr>
            <p:cNvPr id="23" name="AutoShape 23"/>
            <p:cNvSpPr/>
            <p:nvPr/>
          </p:nvSpPr>
          <p:spPr>
            <a:xfrm>
              <a:off x="9220120"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Loop until complete</a:t>
              </a:r>
              <a:endParaRPr lang="en-US" sz="1100"/>
            </a:p>
          </p:txBody>
        </p:sp>
      </p:grpSp>
      <p:sp>
        <p:nvSpPr>
          <p:cNvPr id="24" name="Freeform 24"/>
          <p:cNvSpPr/>
          <p:nvPr/>
        </p:nvSpPr>
        <p:spPr>
          <a:xfrm>
            <a:off x="380956" y="3886042"/>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952429" y="4114614"/>
            <a:ext cx="107442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Advantages</a:t>
            </a:r>
            <a:endParaRPr lang="en-US" sz="1100"/>
          </a:p>
        </p:txBody>
      </p:sp>
      <p:sp>
        <p:nvSpPr>
          <p:cNvPr id="26" name="Freeform 26"/>
          <p:cNvSpPr/>
          <p:nvPr/>
        </p:nvSpPr>
        <p:spPr>
          <a:xfrm>
            <a:off x="609529"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14286"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Reduce memory access count</a:t>
            </a:r>
            <a:endParaRPr lang="en-US" sz="1100"/>
          </a:p>
        </p:txBody>
      </p:sp>
      <p:sp>
        <p:nvSpPr>
          <p:cNvPr id="28" name="Freeform 28"/>
          <p:cNvSpPr/>
          <p:nvPr/>
        </p:nvSpPr>
        <p:spPr>
          <a:xfrm>
            <a:off x="4317941"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22698"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Increase data reuse</a:t>
            </a:r>
            <a:endParaRPr lang="en-US" sz="1100"/>
          </a:p>
        </p:txBody>
      </p:sp>
      <p:sp>
        <p:nvSpPr>
          <p:cNvPr id="30" name="Freeform 30"/>
          <p:cNvSpPr/>
          <p:nvPr/>
        </p:nvSpPr>
        <p:spPr>
          <a:xfrm>
            <a:off x="8026353"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8131110"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Improve cache utilization</a:t>
            </a:r>
            <a:endParaRPr lang="en-US" sz="1100"/>
          </a:p>
        </p:txBody>
      </p:sp>
      <p:sp>
        <p:nvSpPr>
          <p:cNvPr id="32" name="AutoShape 32"/>
          <p:cNvSpPr/>
          <p:nvPr/>
        </p:nvSpPr>
        <p:spPr>
          <a:xfrm>
            <a:off x="380956" y="6324600"/>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2042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Data Reuse Principle</a:t>
            </a:r>
            <a:endParaRPr lang="en-US" sz="1100"/>
          </a:p>
        </p:txBody>
      </p:sp>
      <p:sp>
        <p:nvSpPr>
          <p:cNvPr id="3" name="Freeform 3"/>
          <p:cNvSpPr/>
          <p:nvPr/>
        </p:nvSpPr>
        <p:spPr>
          <a:xfrm>
            <a:off x="390433" y="1266596"/>
            <a:ext cx="5543455" cy="2952655"/>
          </a:xfrm>
          <a:custGeom>
            <a:avLst/>
            <a:gdLst/>
            <a:ahLst/>
            <a:cxnLst/>
            <a:rect l="l" t="t" r="r" b="b"/>
            <a:pathLst>
              <a:path w="5543455" h="2952655">
                <a:moveTo>
                  <a:pt x="76208" y="0"/>
                </a:moveTo>
                <a:lnTo>
                  <a:pt x="5467247" y="0"/>
                </a:lnTo>
                <a:cubicBezTo>
                  <a:pt x="5509336" y="0"/>
                  <a:pt x="5543455" y="34119"/>
                  <a:pt x="5543455" y="76208"/>
                </a:cubicBezTo>
                <a:lnTo>
                  <a:pt x="5543455" y="2876447"/>
                </a:lnTo>
                <a:cubicBezTo>
                  <a:pt x="5543455" y="2918536"/>
                  <a:pt x="5509336" y="2952655"/>
                  <a:pt x="5467247" y="2952655"/>
                </a:cubicBezTo>
                <a:lnTo>
                  <a:pt x="76208" y="2952655"/>
                </a:lnTo>
                <a:cubicBezTo>
                  <a:pt x="34119" y="2952655"/>
                  <a:pt x="0" y="2918536"/>
                  <a:pt x="0" y="2876447"/>
                </a:cubicBezTo>
                <a:lnTo>
                  <a:pt x="0" y="76208"/>
                </a:lnTo>
                <a:cubicBezTo>
                  <a:pt x="0" y="34148"/>
                  <a:pt x="34148" y="0"/>
                  <a:pt x="76208" y="0"/>
                </a:cubicBezTo>
                <a:close/>
              </a:path>
            </a:pathLst>
          </a:custGeom>
          <a:solidFill>
            <a:srgbClr val="F3F4F6">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4" name="AutoShape 4"/>
          <p:cNvSpPr/>
          <p:nvPr/>
        </p:nvSpPr>
        <p:spPr>
          <a:xfrm>
            <a:off x="628484" y="1504648"/>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Naive Approach</a:t>
            </a:r>
            <a:endParaRPr lang="en-US" sz="1100"/>
          </a:p>
        </p:txBody>
      </p:sp>
      <p:sp>
        <p:nvSpPr>
          <p:cNvPr id="5" name="Freeform 5"/>
          <p:cNvSpPr/>
          <p:nvPr/>
        </p:nvSpPr>
        <p:spPr>
          <a:xfrm>
            <a:off x="628484" y="1961717"/>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80866" y="2114104"/>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Data read on every computation</a:t>
            </a:r>
            <a:endParaRPr lang="en-US" sz="1100"/>
          </a:p>
        </p:txBody>
      </p:sp>
      <p:sp>
        <p:nvSpPr>
          <p:cNvPr id="7" name="Freeform 7"/>
          <p:cNvSpPr/>
          <p:nvPr/>
        </p:nvSpPr>
        <p:spPr>
          <a:xfrm>
            <a:off x="628484" y="2685571"/>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80866" y="2837952"/>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No data reuse</a:t>
            </a:r>
            <a:endParaRPr lang="en-US" sz="1100"/>
          </a:p>
        </p:txBody>
      </p:sp>
      <p:sp>
        <p:nvSpPr>
          <p:cNvPr id="9" name="Freeform 9"/>
          <p:cNvSpPr/>
          <p:nvPr/>
        </p:nvSpPr>
        <p:spPr>
          <a:xfrm>
            <a:off x="628484" y="3409424"/>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80866" y="3561806"/>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High memory bandwidth consumption</a:t>
            </a:r>
            <a:endParaRPr lang="en-US" sz="1100"/>
          </a:p>
        </p:txBody>
      </p:sp>
      <p:sp>
        <p:nvSpPr>
          <p:cNvPr id="11" name="Freeform 11"/>
          <p:cNvSpPr/>
          <p:nvPr/>
        </p:nvSpPr>
        <p:spPr>
          <a:xfrm>
            <a:off x="3031564" y="4380807"/>
            <a:ext cx="261460" cy="344976"/>
          </a:xfrm>
          <a:custGeom>
            <a:avLst/>
            <a:gdLst/>
            <a:ahLst/>
            <a:cxnLst/>
            <a:rect l="l" t="t" r="r" b="b"/>
            <a:pathLst>
              <a:path w="261460" h="344976">
                <a:moveTo>
                  <a:pt x="115594" y="336605"/>
                </a:moveTo>
                <a:cubicBezTo>
                  <a:pt x="123965" y="344976"/>
                  <a:pt x="137561" y="344976"/>
                  <a:pt x="145931" y="336605"/>
                </a:cubicBezTo>
                <a:lnTo>
                  <a:pt x="253089" y="229448"/>
                </a:lnTo>
                <a:cubicBezTo>
                  <a:pt x="261459" y="221077"/>
                  <a:pt x="261459" y="207481"/>
                  <a:pt x="253089" y="199111"/>
                </a:cubicBezTo>
                <a:cubicBezTo>
                  <a:pt x="244717" y="190737"/>
                  <a:pt x="231122" y="190737"/>
                  <a:pt x="222750" y="199111"/>
                </a:cubicBezTo>
                <a:lnTo>
                  <a:pt x="152161" y="269698"/>
                </a:lnTo>
                <a:lnTo>
                  <a:pt x="152161" y="21431"/>
                </a:lnTo>
                <a:cubicBezTo>
                  <a:pt x="152161" y="9577"/>
                  <a:pt x="142584" y="0"/>
                  <a:pt x="130730" y="0"/>
                </a:cubicBezTo>
                <a:cubicBezTo>
                  <a:pt x="118875" y="0"/>
                  <a:pt x="109298" y="9577"/>
                  <a:pt x="109298" y="21431"/>
                </a:cubicBezTo>
                <a:lnTo>
                  <a:pt x="109298" y="269698"/>
                </a:lnTo>
                <a:lnTo>
                  <a:pt x="38709" y="199111"/>
                </a:lnTo>
                <a:cubicBezTo>
                  <a:pt x="30337" y="190737"/>
                  <a:pt x="16742" y="190737"/>
                  <a:pt x="8370" y="199111"/>
                </a:cubicBezTo>
                <a:cubicBezTo>
                  <a:pt x="0" y="207481"/>
                  <a:pt x="0" y="221077"/>
                  <a:pt x="8370" y="229448"/>
                </a:cubicBezTo>
                <a:lnTo>
                  <a:pt x="115528" y="336605"/>
                </a:ln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48338" y="1276076"/>
            <a:ext cx="5562600" cy="2933700"/>
          </a:xfrm>
          <a:custGeom>
            <a:avLst/>
            <a:gdLst/>
            <a:ahLst/>
            <a:cxnLst/>
            <a:rect l="l" t="t" r="r" b="b"/>
            <a:pathLst>
              <a:path w="5562600" h="2933700">
                <a:moveTo>
                  <a:pt x="76189" y="0"/>
                </a:moveTo>
                <a:lnTo>
                  <a:pt x="5486411" y="0"/>
                </a:lnTo>
                <a:cubicBezTo>
                  <a:pt x="5528489" y="0"/>
                  <a:pt x="5562600" y="34111"/>
                  <a:pt x="5562600" y="76189"/>
                </a:cubicBezTo>
                <a:lnTo>
                  <a:pt x="5562600" y="2857511"/>
                </a:lnTo>
                <a:cubicBezTo>
                  <a:pt x="5562600" y="2899589"/>
                  <a:pt x="5528489" y="2933700"/>
                  <a:pt x="5486411" y="2933700"/>
                </a:cubicBezTo>
                <a:lnTo>
                  <a:pt x="76189" y="2933700"/>
                </a:lnTo>
                <a:cubicBezTo>
                  <a:pt x="34111" y="2933700"/>
                  <a:pt x="0" y="2899589"/>
                  <a:pt x="0" y="2857511"/>
                </a:cubicBezTo>
                <a:lnTo>
                  <a:pt x="0" y="76189"/>
                </a:lnTo>
                <a:cubicBezTo>
                  <a:pt x="0" y="34139"/>
                  <a:pt x="34139" y="0"/>
                  <a:pt x="761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6911" y="1504648"/>
            <a:ext cx="5219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Tiled Approach</a:t>
            </a:r>
            <a:endParaRPr lang="en-US" sz="1100"/>
          </a:p>
        </p:txBody>
      </p:sp>
      <p:sp>
        <p:nvSpPr>
          <p:cNvPr id="14" name="Freeform 14"/>
          <p:cNvSpPr/>
          <p:nvPr/>
        </p:nvSpPr>
        <p:spPr>
          <a:xfrm>
            <a:off x="6476911" y="1961717"/>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6629293" y="2114104"/>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Read once</a:t>
            </a:r>
            <a:endParaRPr lang="en-US" sz="1100"/>
          </a:p>
        </p:txBody>
      </p:sp>
      <p:sp>
        <p:nvSpPr>
          <p:cNvPr id="16" name="Freeform 16"/>
          <p:cNvSpPr/>
          <p:nvPr/>
        </p:nvSpPr>
        <p:spPr>
          <a:xfrm>
            <a:off x="6476911" y="2685571"/>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29293" y="2837952"/>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Used multiple times</a:t>
            </a:r>
            <a:endParaRPr lang="en-US" sz="1100"/>
          </a:p>
        </p:txBody>
      </p:sp>
      <p:sp>
        <p:nvSpPr>
          <p:cNvPr id="18" name="Freeform 18"/>
          <p:cNvSpPr/>
          <p:nvPr/>
        </p:nvSpPr>
        <p:spPr>
          <a:xfrm>
            <a:off x="6476911" y="3409424"/>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629293" y="3561806"/>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Efficient data reuse</a:t>
            </a:r>
            <a:endParaRPr lang="en-US" sz="1100"/>
          </a:p>
        </p:txBody>
      </p:sp>
      <p:sp>
        <p:nvSpPr>
          <p:cNvPr id="20" name="Freeform 20"/>
          <p:cNvSpPr/>
          <p:nvPr/>
        </p:nvSpPr>
        <p:spPr>
          <a:xfrm>
            <a:off x="8898947" y="4365132"/>
            <a:ext cx="261460" cy="344976"/>
          </a:xfrm>
          <a:custGeom>
            <a:avLst/>
            <a:gdLst/>
            <a:ahLst/>
            <a:cxnLst/>
            <a:rect l="l" t="t" r="r" b="b"/>
            <a:pathLst>
              <a:path w="261460" h="344976">
                <a:moveTo>
                  <a:pt x="145865" y="8372"/>
                </a:moveTo>
                <a:cubicBezTo>
                  <a:pt x="137494" y="0"/>
                  <a:pt x="123898" y="0"/>
                  <a:pt x="115528" y="8372"/>
                </a:cubicBezTo>
                <a:lnTo>
                  <a:pt x="8370" y="115526"/>
                </a:lnTo>
                <a:cubicBezTo>
                  <a:pt x="0" y="123900"/>
                  <a:pt x="0" y="137495"/>
                  <a:pt x="8370" y="145866"/>
                </a:cubicBezTo>
                <a:cubicBezTo>
                  <a:pt x="16742" y="154237"/>
                  <a:pt x="30337" y="154237"/>
                  <a:pt x="38709" y="145866"/>
                </a:cubicBezTo>
                <a:lnTo>
                  <a:pt x="109298" y="75276"/>
                </a:lnTo>
                <a:lnTo>
                  <a:pt x="109298" y="323545"/>
                </a:lnTo>
                <a:cubicBezTo>
                  <a:pt x="109298" y="335399"/>
                  <a:pt x="118875" y="344976"/>
                  <a:pt x="130729" y="344976"/>
                </a:cubicBezTo>
                <a:cubicBezTo>
                  <a:pt x="142584" y="344976"/>
                  <a:pt x="152161" y="335399"/>
                  <a:pt x="152161" y="323545"/>
                </a:cubicBezTo>
                <a:lnTo>
                  <a:pt x="152161" y="75276"/>
                </a:lnTo>
                <a:lnTo>
                  <a:pt x="222750" y="145866"/>
                </a:lnTo>
                <a:cubicBezTo>
                  <a:pt x="231122" y="154237"/>
                  <a:pt x="244717" y="154237"/>
                  <a:pt x="253089" y="145866"/>
                </a:cubicBezTo>
                <a:cubicBezTo>
                  <a:pt x="261459" y="137495"/>
                  <a:pt x="261459" y="123900"/>
                  <a:pt x="253089" y="115526"/>
                </a:cubicBezTo>
                <a:lnTo>
                  <a:pt x="145931" y="837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80956" y="4908663"/>
            <a:ext cx="11430000" cy="1524000"/>
          </a:xfrm>
          <a:custGeom>
            <a:avLst/>
            <a:gdLst/>
            <a:ahLst/>
            <a:cxnLst/>
            <a:rect l="l" t="t" r="r" b="b"/>
            <a:pathLst>
              <a:path w="11430000" h="1524000">
                <a:moveTo>
                  <a:pt x="76200" y="0"/>
                </a:moveTo>
                <a:lnTo>
                  <a:pt x="11353800" y="0"/>
                </a:lnTo>
                <a:cubicBezTo>
                  <a:pt x="11395856" y="0"/>
                  <a:pt x="11430000" y="34144"/>
                  <a:pt x="11430000" y="76200"/>
                </a:cubicBezTo>
                <a:lnTo>
                  <a:pt x="11430000" y="1447800"/>
                </a:lnTo>
                <a:cubicBezTo>
                  <a:pt x="11430000" y="1489856"/>
                  <a:pt x="11395856" y="1524000"/>
                  <a:pt x="1135380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09529" y="513724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Reuse Effect Example</a:t>
            </a:r>
            <a:endParaRPr lang="en-US" sz="1100"/>
          </a:p>
        </p:txBody>
      </p:sp>
      <p:sp>
        <p:nvSpPr>
          <p:cNvPr id="23" name="Freeform 23"/>
          <p:cNvSpPr/>
          <p:nvPr/>
        </p:nvSpPr>
        <p:spPr>
          <a:xfrm>
            <a:off x="628484" y="5556326"/>
            <a:ext cx="5352955" cy="647700"/>
          </a:xfrm>
          <a:custGeom>
            <a:avLst/>
            <a:gdLst/>
            <a:ahLst/>
            <a:cxnLst/>
            <a:rect l="l" t="t" r="r" b="b"/>
            <a:pathLst>
              <a:path w="5352955" h="647700">
                <a:moveTo>
                  <a:pt x="37910" y="0"/>
                </a:moveTo>
                <a:lnTo>
                  <a:pt x="5314859" y="0"/>
                </a:lnTo>
                <a:cubicBezTo>
                  <a:pt x="5335883" y="0"/>
                  <a:pt x="5352955" y="17071"/>
                  <a:pt x="5352955" y="38097"/>
                </a:cubicBezTo>
                <a:lnTo>
                  <a:pt x="5352955" y="609603"/>
                </a:lnTo>
                <a:cubicBezTo>
                  <a:pt x="5352955" y="630643"/>
                  <a:pt x="5335897" y="647700"/>
                  <a:pt x="5314859" y="647700"/>
                </a:cubicBezTo>
                <a:lnTo>
                  <a:pt x="37910" y="647700"/>
                </a:lnTo>
                <a:cubicBezTo>
                  <a:pt x="16974" y="647700"/>
                  <a:pt x="0" y="630726"/>
                  <a:pt x="0" y="6097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8484" y="5556326"/>
            <a:ext cx="37909" cy="647700"/>
          </a:xfrm>
          <a:custGeom>
            <a:avLst/>
            <a:gdLst/>
            <a:ahLst/>
            <a:cxnLst/>
            <a:rect l="l" t="t" r="r" b="b"/>
            <a:pathLst>
              <a:path w="37909"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99822" y="5708707"/>
            <a:ext cx="5114925" cy="3429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Tile reused </a:t>
            </a:r>
            <a:r>
              <a:rPr lang="en-US" sz="2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32</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times</a:t>
            </a:r>
            <a:endParaRPr lang="en-US" sz="1100"/>
          </a:p>
        </p:txBody>
      </p:sp>
      <p:sp>
        <p:nvSpPr>
          <p:cNvPr id="26" name="Freeform 26"/>
          <p:cNvSpPr/>
          <p:nvPr/>
        </p:nvSpPr>
        <p:spPr>
          <a:xfrm>
            <a:off x="6229234" y="5556326"/>
            <a:ext cx="5352955" cy="647700"/>
          </a:xfrm>
          <a:custGeom>
            <a:avLst/>
            <a:gdLst/>
            <a:ahLst/>
            <a:cxnLst/>
            <a:rect l="l" t="t" r="r" b="b"/>
            <a:pathLst>
              <a:path w="5352955" h="647700">
                <a:moveTo>
                  <a:pt x="37910" y="0"/>
                </a:moveTo>
                <a:lnTo>
                  <a:pt x="5314859" y="0"/>
                </a:lnTo>
                <a:cubicBezTo>
                  <a:pt x="5335883" y="0"/>
                  <a:pt x="5352955" y="17071"/>
                  <a:pt x="5352955" y="38097"/>
                </a:cubicBezTo>
                <a:lnTo>
                  <a:pt x="5352955" y="609603"/>
                </a:lnTo>
                <a:cubicBezTo>
                  <a:pt x="5352955" y="630643"/>
                  <a:pt x="5335897" y="647700"/>
                  <a:pt x="5314859" y="647700"/>
                </a:cubicBezTo>
                <a:lnTo>
                  <a:pt x="37910" y="647700"/>
                </a:lnTo>
                <a:cubicBezTo>
                  <a:pt x="16974" y="647700"/>
                  <a:pt x="0" y="630726"/>
                  <a:pt x="0" y="6097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229234" y="5556326"/>
            <a:ext cx="37910" cy="647700"/>
          </a:xfrm>
          <a:custGeom>
            <a:avLst/>
            <a:gdLst/>
            <a:ahLst/>
            <a:cxnLst/>
            <a:rect l="l" t="t" r="r" b="b"/>
            <a:pathLst>
              <a:path w="37910"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00572" y="5708707"/>
            <a:ext cx="5114925" cy="3429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access reduced by </a:t>
            </a:r>
            <a:r>
              <a:rPr lang="en-US" sz="23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32×</a:t>
            </a:r>
            <a:endParaRPr lang="en-US" sz="1100"/>
          </a:p>
        </p:txBody>
      </p:sp>
      <p:sp>
        <p:nvSpPr>
          <p:cNvPr id="29" name="AutoShape 29"/>
          <p:cNvSpPr/>
          <p:nvPr/>
        </p:nvSpPr>
        <p:spPr>
          <a:xfrm>
            <a:off x="380956" y="658931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664" y="61492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Compute vs Memory Access Ratio</a:t>
            </a:r>
            <a:endParaRPr lang="en-US" sz="1100"/>
          </a:p>
        </p:txBody>
      </p:sp>
      <p:sp>
        <p:nvSpPr>
          <p:cNvPr id="3" name="Freeform 3"/>
          <p:cNvSpPr/>
          <p:nvPr/>
        </p:nvSpPr>
        <p:spPr>
          <a:xfrm>
            <a:off x="380956" y="1257119"/>
            <a:ext cx="5562600" cy="2095500"/>
          </a:xfrm>
          <a:custGeom>
            <a:avLst/>
            <a:gdLst/>
            <a:ahLst/>
            <a:cxnLst/>
            <a:rect l="l" t="t" r="r" b="b"/>
            <a:pathLst>
              <a:path w="5562600" h="2095500">
                <a:moveTo>
                  <a:pt x="76192" y="0"/>
                </a:moveTo>
                <a:lnTo>
                  <a:pt x="5486408" y="0"/>
                </a:lnTo>
                <a:cubicBezTo>
                  <a:pt x="5528488" y="0"/>
                  <a:pt x="5562600" y="34112"/>
                  <a:pt x="5562600" y="76192"/>
                </a:cubicBezTo>
                <a:lnTo>
                  <a:pt x="5562600" y="2019308"/>
                </a:lnTo>
                <a:cubicBezTo>
                  <a:pt x="5562600" y="2061388"/>
                  <a:pt x="5528488" y="2095500"/>
                  <a:pt x="5486408" y="2095500"/>
                </a:cubicBezTo>
                <a:lnTo>
                  <a:pt x="76192" y="2095500"/>
                </a:lnTo>
                <a:cubicBezTo>
                  <a:pt x="34112" y="2095500"/>
                  <a:pt x="0" y="2061388"/>
                  <a:pt x="0" y="2019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638104" y="1509382"/>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8" y="57150"/>
                </a:moveTo>
                <a:lnTo>
                  <a:pt x="157162" y="57150"/>
                </a:lnTo>
                <a:cubicBezTo>
                  <a:pt x="165064" y="57150"/>
                  <a:pt x="171450" y="63536"/>
                  <a:pt x="171450" y="71438"/>
                </a:cubicBezTo>
                <a:lnTo>
                  <a:pt x="171450" y="157162"/>
                </a:lnTo>
                <a:cubicBezTo>
                  <a:pt x="171450" y="165064"/>
                  <a:pt x="165064" y="171450"/>
                  <a:pt x="157162" y="171450"/>
                </a:cubicBezTo>
                <a:lnTo>
                  <a:pt x="71438" y="171450"/>
                </a:lnTo>
                <a:cubicBezTo>
                  <a:pt x="63536" y="171450"/>
                  <a:pt x="57150" y="165064"/>
                  <a:pt x="57150" y="157162"/>
                </a:cubicBezTo>
                <a:lnTo>
                  <a:pt x="57150" y="71438"/>
                </a:lnTo>
                <a:cubicBezTo>
                  <a:pt x="57150" y="63536"/>
                  <a:pt x="63536" y="57150"/>
                  <a:pt x="71438" y="57150"/>
                </a:cubicBezTo>
                <a:close/>
                <a:moveTo>
                  <a:pt x="78581" y="78581"/>
                </a:moveTo>
                <a:lnTo>
                  <a:pt x="78581" y="150019"/>
                </a:lnTo>
                <a:lnTo>
                  <a:pt x="150019" y="150019"/>
                </a:lnTo>
                <a:lnTo>
                  <a:pt x="150019" y="78581"/>
                </a:lnTo>
                <a:lnTo>
                  <a:pt x="78581" y="7858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952429" y="1485691"/>
            <a:ext cx="4876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a:t>
            </a:r>
            <a:endParaRPr lang="en-US" sz="1100"/>
          </a:p>
        </p:txBody>
      </p:sp>
      <p:sp>
        <p:nvSpPr>
          <p:cNvPr id="6" name="Freeform 6"/>
          <p:cNvSpPr/>
          <p:nvPr/>
        </p:nvSpPr>
        <p:spPr>
          <a:xfrm>
            <a:off x="619007" y="1952243"/>
            <a:ext cx="5086255" cy="1161955"/>
          </a:xfrm>
          <a:custGeom>
            <a:avLst/>
            <a:gdLst/>
            <a:ahLst/>
            <a:cxnLst/>
            <a:rect l="l" t="t" r="r" b="b"/>
            <a:pathLst>
              <a:path w="5086255" h="1161955">
                <a:moveTo>
                  <a:pt x="38101" y="0"/>
                </a:moveTo>
                <a:lnTo>
                  <a:pt x="5048155" y="0"/>
                </a:lnTo>
                <a:cubicBezTo>
                  <a:pt x="5069197" y="0"/>
                  <a:pt x="5086255" y="17057"/>
                  <a:pt x="5086255" y="38101"/>
                </a:cubicBezTo>
                <a:lnTo>
                  <a:pt x="5086255" y="1123855"/>
                </a:lnTo>
                <a:cubicBezTo>
                  <a:pt x="5086255" y="1144897"/>
                  <a:pt x="5069197" y="1161955"/>
                  <a:pt x="5048155" y="1161955"/>
                </a:cubicBezTo>
                <a:lnTo>
                  <a:pt x="38101" y="1161955"/>
                </a:lnTo>
                <a:cubicBezTo>
                  <a:pt x="17057" y="1161955"/>
                  <a:pt x="0" y="1144897"/>
                  <a:pt x="0" y="1123855"/>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7" name="AutoShape 7"/>
          <p:cNvSpPr/>
          <p:nvPr/>
        </p:nvSpPr>
        <p:spPr>
          <a:xfrm>
            <a:off x="771332" y="2190290"/>
            <a:ext cx="47815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8" name="AutoShape 8"/>
          <p:cNvSpPr/>
          <p:nvPr/>
        </p:nvSpPr>
        <p:spPr>
          <a:xfrm>
            <a:off x="818957" y="2647438"/>
            <a:ext cx="46863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Number of floating-point operations</a:t>
            </a:r>
            <a:endParaRPr lang="en-US" sz="1100"/>
          </a:p>
        </p:txBody>
      </p:sp>
      <p:sp>
        <p:nvSpPr>
          <p:cNvPr id="9" name="Freeform 9"/>
          <p:cNvSpPr/>
          <p:nvPr/>
        </p:nvSpPr>
        <p:spPr>
          <a:xfrm>
            <a:off x="6248338" y="1257119"/>
            <a:ext cx="5562600" cy="2095500"/>
          </a:xfrm>
          <a:custGeom>
            <a:avLst/>
            <a:gdLst/>
            <a:ahLst/>
            <a:cxnLst/>
            <a:rect l="l" t="t" r="r" b="b"/>
            <a:pathLst>
              <a:path w="5562600" h="2095500">
                <a:moveTo>
                  <a:pt x="76192" y="0"/>
                </a:moveTo>
                <a:lnTo>
                  <a:pt x="5486408" y="0"/>
                </a:lnTo>
                <a:cubicBezTo>
                  <a:pt x="5528488" y="0"/>
                  <a:pt x="5562600" y="34112"/>
                  <a:pt x="5562600" y="76192"/>
                </a:cubicBezTo>
                <a:lnTo>
                  <a:pt x="5562600" y="2019308"/>
                </a:lnTo>
                <a:cubicBezTo>
                  <a:pt x="5562600" y="2061388"/>
                  <a:pt x="5528488" y="2095500"/>
                  <a:pt x="5486408" y="2095500"/>
                </a:cubicBezTo>
                <a:lnTo>
                  <a:pt x="76192" y="2095500"/>
                </a:lnTo>
                <a:cubicBezTo>
                  <a:pt x="34112" y="2095500"/>
                  <a:pt x="0" y="2061388"/>
                  <a:pt x="0" y="2019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505486" y="1537957"/>
            <a:ext cx="228600" cy="171450"/>
          </a:xfrm>
          <a:custGeom>
            <a:avLst/>
            <a:gdLst/>
            <a:ahLst/>
            <a:cxnLst/>
            <a:rect l="l" t="t" r="r" b="b"/>
            <a:pathLst>
              <a:path w="228600" h="171450">
                <a:moveTo>
                  <a:pt x="28575" y="0"/>
                </a:moveTo>
                <a:cubicBezTo>
                  <a:pt x="12814" y="0"/>
                  <a:pt x="0" y="12814"/>
                  <a:pt x="0" y="28575"/>
                </a:cubicBezTo>
                <a:lnTo>
                  <a:pt x="0" y="31880"/>
                </a:lnTo>
                <a:cubicBezTo>
                  <a:pt x="0" y="34915"/>
                  <a:pt x="1965" y="37504"/>
                  <a:pt x="4509" y="39157"/>
                </a:cubicBezTo>
                <a:cubicBezTo>
                  <a:pt x="10403" y="42996"/>
                  <a:pt x="14288" y="49604"/>
                  <a:pt x="14288" y="57150"/>
                </a:cubicBezTo>
                <a:cubicBezTo>
                  <a:pt x="14288" y="64696"/>
                  <a:pt x="10403" y="71304"/>
                  <a:pt x="4509" y="75143"/>
                </a:cubicBezTo>
                <a:cubicBezTo>
                  <a:pt x="1965" y="76796"/>
                  <a:pt x="0" y="79385"/>
                  <a:pt x="0" y="82420"/>
                </a:cubicBezTo>
                <a:lnTo>
                  <a:pt x="0" y="107156"/>
                </a:lnTo>
                <a:lnTo>
                  <a:pt x="228600" y="107156"/>
                </a:lnTo>
                <a:lnTo>
                  <a:pt x="228600" y="82420"/>
                </a:lnTo>
                <a:cubicBezTo>
                  <a:pt x="228600" y="79385"/>
                  <a:pt x="226635" y="76796"/>
                  <a:pt x="224092" y="75143"/>
                </a:cubicBezTo>
                <a:cubicBezTo>
                  <a:pt x="218197" y="71304"/>
                  <a:pt x="214313" y="64696"/>
                  <a:pt x="214313" y="57150"/>
                </a:cubicBezTo>
                <a:cubicBezTo>
                  <a:pt x="214313" y="49604"/>
                  <a:pt x="218197" y="42996"/>
                  <a:pt x="224092" y="39157"/>
                </a:cubicBezTo>
                <a:cubicBezTo>
                  <a:pt x="226635" y="37504"/>
                  <a:pt x="228600" y="34915"/>
                  <a:pt x="228600" y="31880"/>
                </a:cubicBezTo>
                <a:lnTo>
                  <a:pt x="228600" y="28575"/>
                </a:lnTo>
                <a:cubicBezTo>
                  <a:pt x="228600" y="12814"/>
                  <a:pt x="215786" y="0"/>
                  <a:pt x="200025" y="0"/>
                </a:cubicBezTo>
                <a:lnTo>
                  <a:pt x="28575" y="0"/>
                </a:lnTo>
                <a:close/>
                <a:moveTo>
                  <a:pt x="228600" y="157162"/>
                </a:moveTo>
                <a:lnTo>
                  <a:pt x="228600" y="128587"/>
                </a:lnTo>
                <a:lnTo>
                  <a:pt x="0" y="128587"/>
                </a:lnTo>
                <a:lnTo>
                  <a:pt x="0" y="157162"/>
                </a:lnTo>
                <a:cubicBezTo>
                  <a:pt x="0" y="165064"/>
                  <a:pt x="6386" y="171450"/>
                  <a:pt x="14288" y="171450"/>
                </a:cubicBezTo>
                <a:lnTo>
                  <a:pt x="42863" y="171450"/>
                </a:lnTo>
                <a:lnTo>
                  <a:pt x="42863" y="160734"/>
                </a:lnTo>
                <a:cubicBezTo>
                  <a:pt x="42863" y="154796"/>
                  <a:pt x="47640" y="150019"/>
                  <a:pt x="53577" y="150019"/>
                </a:cubicBezTo>
                <a:cubicBezTo>
                  <a:pt x="59516" y="150019"/>
                  <a:pt x="64294" y="154796"/>
                  <a:pt x="64294" y="160734"/>
                </a:cubicBezTo>
                <a:lnTo>
                  <a:pt x="64294" y="171450"/>
                </a:lnTo>
                <a:lnTo>
                  <a:pt x="103584" y="171450"/>
                </a:lnTo>
                <a:lnTo>
                  <a:pt x="103584" y="160734"/>
                </a:lnTo>
                <a:cubicBezTo>
                  <a:pt x="103584" y="154796"/>
                  <a:pt x="108361" y="150019"/>
                  <a:pt x="114300" y="150019"/>
                </a:cubicBezTo>
                <a:cubicBezTo>
                  <a:pt x="120239" y="150019"/>
                  <a:pt x="125016" y="154796"/>
                  <a:pt x="125016" y="160734"/>
                </a:cubicBezTo>
                <a:lnTo>
                  <a:pt x="125016" y="171450"/>
                </a:lnTo>
                <a:lnTo>
                  <a:pt x="164306" y="171450"/>
                </a:lnTo>
                <a:lnTo>
                  <a:pt x="164306" y="160734"/>
                </a:lnTo>
                <a:cubicBezTo>
                  <a:pt x="164306" y="154796"/>
                  <a:pt x="169084" y="150019"/>
                  <a:pt x="175023" y="150019"/>
                </a:cubicBezTo>
                <a:cubicBezTo>
                  <a:pt x="180960" y="150019"/>
                  <a:pt x="185738" y="154796"/>
                  <a:pt x="185738" y="160734"/>
                </a:cubicBezTo>
                <a:lnTo>
                  <a:pt x="185738" y="171450"/>
                </a:lnTo>
                <a:lnTo>
                  <a:pt x="214313" y="171450"/>
                </a:lnTo>
                <a:cubicBezTo>
                  <a:pt x="222214" y="171450"/>
                  <a:pt x="228600" y="165064"/>
                  <a:pt x="228600" y="157162"/>
                </a:cubicBezTo>
                <a:close/>
                <a:moveTo>
                  <a:pt x="71438" y="42863"/>
                </a:moveTo>
                <a:lnTo>
                  <a:pt x="71438" y="71437"/>
                </a:lnTo>
                <a:cubicBezTo>
                  <a:pt x="71438" y="79339"/>
                  <a:pt x="65053" y="85725"/>
                  <a:pt x="57150" y="85725"/>
                </a:cubicBezTo>
                <a:cubicBezTo>
                  <a:pt x="49247" y="85725"/>
                  <a:pt x="42863" y="79339"/>
                  <a:pt x="42863" y="71437"/>
                </a:cubicBezTo>
                <a:lnTo>
                  <a:pt x="42863" y="42863"/>
                </a:lnTo>
                <a:cubicBezTo>
                  <a:pt x="42863" y="34961"/>
                  <a:pt x="49247" y="28575"/>
                  <a:pt x="57150" y="28575"/>
                </a:cubicBezTo>
                <a:cubicBezTo>
                  <a:pt x="65053" y="28575"/>
                  <a:pt x="71438" y="34961"/>
                  <a:pt x="71438" y="42863"/>
                </a:cubicBezTo>
                <a:close/>
                <a:moveTo>
                  <a:pt x="128588" y="42863"/>
                </a:moveTo>
                <a:lnTo>
                  <a:pt x="128588" y="71437"/>
                </a:lnTo>
                <a:cubicBezTo>
                  <a:pt x="128588" y="79339"/>
                  <a:pt x="122203" y="85725"/>
                  <a:pt x="114300" y="85725"/>
                </a:cubicBezTo>
                <a:cubicBezTo>
                  <a:pt x="106397" y="85725"/>
                  <a:pt x="100013" y="79339"/>
                  <a:pt x="100013" y="71437"/>
                </a:cubicBezTo>
                <a:lnTo>
                  <a:pt x="100013" y="42863"/>
                </a:lnTo>
                <a:cubicBezTo>
                  <a:pt x="100013" y="34961"/>
                  <a:pt x="106397" y="28575"/>
                  <a:pt x="114300" y="28575"/>
                </a:cubicBezTo>
                <a:cubicBezTo>
                  <a:pt x="122203" y="28575"/>
                  <a:pt x="128588" y="34961"/>
                  <a:pt x="128588" y="42863"/>
                </a:cubicBezTo>
                <a:close/>
                <a:moveTo>
                  <a:pt x="185738" y="42863"/>
                </a:moveTo>
                <a:lnTo>
                  <a:pt x="185738" y="71437"/>
                </a:lnTo>
                <a:cubicBezTo>
                  <a:pt x="185738" y="79339"/>
                  <a:pt x="179353" y="85725"/>
                  <a:pt x="171450" y="85725"/>
                </a:cubicBezTo>
                <a:cubicBezTo>
                  <a:pt x="163547" y="85725"/>
                  <a:pt x="157163" y="79339"/>
                  <a:pt x="157163" y="71437"/>
                </a:cubicBezTo>
                <a:lnTo>
                  <a:pt x="157163" y="42863"/>
                </a:lnTo>
                <a:cubicBezTo>
                  <a:pt x="157163" y="34961"/>
                  <a:pt x="163547" y="28575"/>
                  <a:pt x="171450" y="28575"/>
                </a:cubicBezTo>
                <a:cubicBezTo>
                  <a:pt x="179353" y="28575"/>
                  <a:pt x="185738" y="34961"/>
                  <a:pt x="185738" y="428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819811" y="1485691"/>
            <a:ext cx="4876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Access</a:t>
            </a:r>
            <a:endParaRPr lang="en-US" sz="1100"/>
          </a:p>
        </p:txBody>
      </p:sp>
      <p:sp>
        <p:nvSpPr>
          <p:cNvPr id="12" name="Freeform 12"/>
          <p:cNvSpPr/>
          <p:nvPr/>
        </p:nvSpPr>
        <p:spPr>
          <a:xfrm>
            <a:off x="6486389" y="1952243"/>
            <a:ext cx="5086255" cy="1161955"/>
          </a:xfrm>
          <a:custGeom>
            <a:avLst/>
            <a:gdLst/>
            <a:ahLst/>
            <a:cxnLst/>
            <a:rect l="l" t="t" r="r" b="b"/>
            <a:pathLst>
              <a:path w="5086255" h="1161955">
                <a:moveTo>
                  <a:pt x="38101" y="0"/>
                </a:moveTo>
                <a:lnTo>
                  <a:pt x="5048155" y="0"/>
                </a:lnTo>
                <a:cubicBezTo>
                  <a:pt x="5069197" y="0"/>
                  <a:pt x="5086255" y="17057"/>
                  <a:pt x="5086255" y="38101"/>
                </a:cubicBezTo>
                <a:lnTo>
                  <a:pt x="5086255" y="1123855"/>
                </a:lnTo>
                <a:cubicBezTo>
                  <a:pt x="5086255" y="1144897"/>
                  <a:pt x="5069197" y="1161955"/>
                  <a:pt x="5048155" y="1161955"/>
                </a:cubicBezTo>
                <a:lnTo>
                  <a:pt x="38101" y="1161955"/>
                </a:lnTo>
                <a:cubicBezTo>
                  <a:pt x="17057" y="1161955"/>
                  <a:pt x="0" y="1144897"/>
                  <a:pt x="0" y="1123855"/>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6638715" y="2190290"/>
            <a:ext cx="47815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Bytes</a:t>
            </a:r>
            <a:endParaRPr lang="en-US" sz="1100"/>
          </a:p>
        </p:txBody>
      </p:sp>
      <p:sp>
        <p:nvSpPr>
          <p:cNvPr id="14" name="AutoShape 14"/>
          <p:cNvSpPr/>
          <p:nvPr/>
        </p:nvSpPr>
        <p:spPr>
          <a:xfrm>
            <a:off x="6686340" y="2647438"/>
            <a:ext cx="46863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Bytes of memory accessed</a:t>
            </a:r>
            <a:endParaRPr lang="en-US" sz="1100"/>
          </a:p>
        </p:txBody>
      </p:sp>
      <p:sp>
        <p:nvSpPr>
          <p:cNvPr id="15" name="Freeform 15"/>
          <p:cNvSpPr/>
          <p:nvPr/>
        </p:nvSpPr>
        <p:spPr>
          <a:xfrm>
            <a:off x="380956" y="3580688"/>
            <a:ext cx="11430000" cy="2057400"/>
          </a:xfrm>
          <a:custGeom>
            <a:avLst/>
            <a:gdLst/>
            <a:ahLst/>
            <a:cxnLst/>
            <a:rect l="l" t="t" r="r" b="b"/>
            <a:pathLst>
              <a:path w="11430000" h="2057400">
                <a:moveTo>
                  <a:pt x="76206" y="0"/>
                </a:moveTo>
                <a:lnTo>
                  <a:pt x="11353794" y="0"/>
                </a:lnTo>
                <a:cubicBezTo>
                  <a:pt x="11395881" y="0"/>
                  <a:pt x="11430000" y="34119"/>
                  <a:pt x="11430000" y="76206"/>
                </a:cubicBezTo>
                <a:lnTo>
                  <a:pt x="11430000" y="1981194"/>
                </a:lnTo>
                <a:cubicBezTo>
                  <a:pt x="11430000" y="2023281"/>
                  <a:pt x="11395881" y="2057400"/>
                  <a:pt x="11353794" y="2057400"/>
                </a:cubicBezTo>
                <a:lnTo>
                  <a:pt x="76206" y="2057400"/>
                </a:lnTo>
                <a:cubicBezTo>
                  <a:pt x="34119" y="2057400"/>
                  <a:pt x="0" y="2023281"/>
                  <a:pt x="0" y="1981194"/>
                </a:cubicBezTo>
                <a:lnTo>
                  <a:pt x="0" y="76206"/>
                </a:lnTo>
                <a:cubicBezTo>
                  <a:pt x="0" y="34146"/>
                  <a:pt x="34146" y="0"/>
                  <a:pt x="7620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529" y="3809261"/>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Optimization Goal</a:t>
            </a:r>
            <a:endParaRPr lang="en-US" sz="1100"/>
          </a:p>
        </p:txBody>
      </p:sp>
      <p:sp>
        <p:nvSpPr>
          <p:cNvPr id="17" name="Freeform 17"/>
          <p:cNvSpPr/>
          <p:nvPr/>
        </p:nvSpPr>
        <p:spPr>
          <a:xfrm>
            <a:off x="609529" y="4266335"/>
            <a:ext cx="10972800" cy="1143000"/>
          </a:xfrm>
          <a:custGeom>
            <a:avLst/>
            <a:gdLst/>
            <a:ahLst/>
            <a:cxnLst/>
            <a:rect l="l" t="t" r="r" b="b"/>
            <a:pathLst>
              <a:path w="10972800" h="1143000">
                <a:moveTo>
                  <a:pt x="38096" y="0"/>
                </a:moveTo>
                <a:lnTo>
                  <a:pt x="10934704" y="0"/>
                </a:lnTo>
                <a:cubicBezTo>
                  <a:pt x="10955744" y="0"/>
                  <a:pt x="10972800" y="17056"/>
                  <a:pt x="10972800" y="38096"/>
                </a:cubicBezTo>
                <a:lnTo>
                  <a:pt x="10972800" y="1104904"/>
                </a:lnTo>
                <a:cubicBezTo>
                  <a:pt x="10972800" y="1125944"/>
                  <a:pt x="10955744" y="1143000"/>
                  <a:pt x="10934704" y="1143000"/>
                </a:cubicBezTo>
                <a:lnTo>
                  <a:pt x="38096" y="1143000"/>
                </a:lnTo>
                <a:cubicBezTo>
                  <a:pt x="17056" y="1143000"/>
                  <a:pt x="0" y="1125944"/>
                  <a:pt x="0" y="1104904"/>
                </a:cubicBezTo>
                <a:lnTo>
                  <a:pt x="0" y="38096"/>
                </a:lnTo>
                <a:cubicBezTo>
                  <a:pt x="0" y="17070"/>
                  <a:pt x="17070" y="0"/>
                  <a:pt x="38096"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742820" y="4456774"/>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Maximize</a:t>
            </a:r>
            <a:endParaRPr lang="en-US" sz="1100"/>
          </a:p>
        </p:txBody>
      </p:sp>
      <p:sp>
        <p:nvSpPr>
          <p:cNvPr id="19" name="AutoShape 19"/>
          <p:cNvSpPr/>
          <p:nvPr/>
        </p:nvSpPr>
        <p:spPr>
          <a:xfrm>
            <a:off x="714245" y="4837654"/>
            <a:ext cx="10763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Compute / Memory ratio</a:t>
            </a:r>
            <a:endParaRPr lang="en-US" sz="1100"/>
          </a:p>
        </p:txBody>
      </p:sp>
      <p:sp>
        <p:nvSpPr>
          <p:cNvPr id="20" name="Freeform 20"/>
          <p:cNvSpPr/>
          <p:nvPr/>
        </p:nvSpPr>
        <p:spPr>
          <a:xfrm>
            <a:off x="380956" y="5866200"/>
            <a:ext cx="11430000" cy="685800"/>
          </a:xfrm>
          <a:custGeom>
            <a:avLst/>
            <a:gdLst/>
            <a:ahLst/>
            <a:cxnLst/>
            <a:rect l="l" t="t" r="r" b="b"/>
            <a:pathLst>
              <a:path w="11430000" h="685800">
                <a:moveTo>
                  <a:pt x="76199" y="0"/>
                </a:moveTo>
                <a:lnTo>
                  <a:pt x="11353801" y="0"/>
                </a:lnTo>
                <a:cubicBezTo>
                  <a:pt x="11395884" y="0"/>
                  <a:pt x="11430000" y="34116"/>
                  <a:pt x="11430000" y="76199"/>
                </a:cubicBezTo>
                <a:lnTo>
                  <a:pt x="11430000" y="609601"/>
                </a:lnTo>
                <a:cubicBezTo>
                  <a:pt x="11430000" y="651684"/>
                  <a:pt x="11395884" y="685800"/>
                  <a:pt x="11353801"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221802" y="6130151"/>
            <a:ext cx="190500" cy="166688"/>
          </a:xfrm>
          <a:custGeom>
            <a:avLst/>
            <a:gdLst/>
            <a:ahLst/>
            <a:cxnLst/>
            <a:rect l="l" t="t" r="r" b="b"/>
            <a:pathLst>
              <a:path w="190500" h="166688">
                <a:moveTo>
                  <a:pt x="23812" y="11907"/>
                </a:moveTo>
                <a:cubicBezTo>
                  <a:pt x="23812" y="5322"/>
                  <a:pt x="18492" y="0"/>
                  <a:pt x="11906" y="0"/>
                </a:cubicBezTo>
                <a:cubicBezTo>
                  <a:pt x="5321" y="0"/>
                  <a:pt x="0" y="5322"/>
                  <a:pt x="0" y="11907"/>
                </a:cubicBezTo>
                <a:lnTo>
                  <a:pt x="0" y="136921"/>
                </a:lnTo>
                <a:cubicBezTo>
                  <a:pt x="0" y="153368"/>
                  <a:pt x="13320" y="166688"/>
                  <a:pt x="29766" y="166688"/>
                </a:cubicBezTo>
                <a:lnTo>
                  <a:pt x="178594" y="166688"/>
                </a:lnTo>
                <a:cubicBezTo>
                  <a:pt x="185179" y="166688"/>
                  <a:pt x="190500" y="161366"/>
                  <a:pt x="190500" y="154781"/>
                </a:cubicBezTo>
                <a:cubicBezTo>
                  <a:pt x="190500" y="148197"/>
                  <a:pt x="185179" y="142875"/>
                  <a:pt x="178594" y="142875"/>
                </a:cubicBezTo>
                <a:lnTo>
                  <a:pt x="29766" y="142875"/>
                </a:lnTo>
                <a:cubicBezTo>
                  <a:pt x="26491" y="142875"/>
                  <a:pt x="23812" y="140196"/>
                  <a:pt x="23812" y="136921"/>
                </a:cubicBezTo>
                <a:lnTo>
                  <a:pt x="23812" y="11907"/>
                </a:lnTo>
                <a:close/>
                <a:moveTo>
                  <a:pt x="175096" y="44128"/>
                </a:moveTo>
                <a:cubicBezTo>
                  <a:pt x="179747" y="39477"/>
                  <a:pt x="179747" y="31924"/>
                  <a:pt x="175096" y="27273"/>
                </a:cubicBezTo>
                <a:cubicBezTo>
                  <a:pt x="170445" y="22621"/>
                  <a:pt x="162891" y="22621"/>
                  <a:pt x="158242" y="27273"/>
                </a:cubicBezTo>
                <a:lnTo>
                  <a:pt x="119062" y="66489"/>
                </a:lnTo>
                <a:lnTo>
                  <a:pt x="97706" y="45170"/>
                </a:lnTo>
                <a:cubicBezTo>
                  <a:pt x="93055" y="40520"/>
                  <a:pt x="85501" y="40520"/>
                  <a:pt x="80851" y="45170"/>
                </a:cubicBezTo>
                <a:lnTo>
                  <a:pt x="45132" y="80888"/>
                </a:lnTo>
                <a:cubicBezTo>
                  <a:pt x="40481" y="85539"/>
                  <a:pt x="40481" y="93093"/>
                  <a:pt x="45132" y="97743"/>
                </a:cubicBezTo>
                <a:cubicBezTo>
                  <a:pt x="49783" y="102394"/>
                  <a:pt x="57335" y="102394"/>
                  <a:pt x="61987" y="97743"/>
                </a:cubicBezTo>
                <a:lnTo>
                  <a:pt x="89298" y="70433"/>
                </a:lnTo>
                <a:lnTo>
                  <a:pt x="110654" y="91789"/>
                </a:lnTo>
                <a:cubicBezTo>
                  <a:pt x="115305" y="96442"/>
                  <a:pt x="122859" y="96442"/>
                  <a:pt x="127508" y="91789"/>
                </a:cubicBezTo>
                <a:lnTo>
                  <a:pt x="175133" y="4416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819046" y="6056640"/>
            <a:ext cx="10848975"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This ratio is known as </a:t>
            </a:r>
            <a:r>
              <a:rPr lang="en-US" sz="18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100"/>
          </a:p>
        </p:txBody>
      </p:sp>
      <p:sp>
        <p:nvSpPr>
          <p:cNvPr id="23" name="AutoShape 23"/>
          <p:cNvSpPr/>
          <p:nvPr/>
        </p:nvSpPr>
        <p:spPr>
          <a:xfrm>
            <a:off x="380956" y="670415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4023" y="598559"/>
            <a:ext cx="11629571" cy="362857"/>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100"/>
          </a:p>
        </p:txBody>
      </p:sp>
      <p:sp>
        <p:nvSpPr>
          <p:cNvPr id="3" name="Freeform 3"/>
          <p:cNvSpPr/>
          <p:nvPr/>
        </p:nvSpPr>
        <p:spPr>
          <a:xfrm>
            <a:off x="362815" y="1197251"/>
            <a:ext cx="11466286" cy="1632857"/>
          </a:xfrm>
          <a:custGeom>
            <a:avLst/>
            <a:gdLst/>
            <a:ahLst/>
            <a:cxnLst/>
            <a:rect l="l" t="t" r="r" b="b"/>
            <a:pathLst>
              <a:path w="11466286" h="1632857">
                <a:moveTo>
                  <a:pt x="72564" y="0"/>
                </a:moveTo>
                <a:lnTo>
                  <a:pt x="11393722" y="0"/>
                </a:lnTo>
                <a:cubicBezTo>
                  <a:pt x="11433799" y="0"/>
                  <a:pt x="11466286" y="32488"/>
                  <a:pt x="11466286" y="72564"/>
                </a:cubicBezTo>
                <a:lnTo>
                  <a:pt x="11466286" y="1560293"/>
                </a:lnTo>
                <a:cubicBezTo>
                  <a:pt x="11466286" y="1600369"/>
                  <a:pt x="11433799" y="1632857"/>
                  <a:pt x="11393722" y="1632857"/>
                </a:cubicBezTo>
                <a:lnTo>
                  <a:pt x="72564" y="1632857"/>
                </a:lnTo>
                <a:cubicBezTo>
                  <a:pt x="32488" y="1632857"/>
                  <a:pt x="0" y="1600369"/>
                  <a:pt x="0" y="1560293"/>
                </a:cubicBezTo>
                <a:lnTo>
                  <a:pt x="0" y="72564"/>
                </a:lnTo>
                <a:cubicBezTo>
                  <a:pt x="0" y="32515"/>
                  <a:pt x="32515" y="0"/>
                  <a:pt x="72564"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80504" y="1414944"/>
            <a:ext cx="11139714"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Definition</a:t>
            </a:r>
            <a:endParaRPr lang="en-US" sz="1100"/>
          </a:p>
        </p:txBody>
      </p:sp>
      <p:sp>
        <p:nvSpPr>
          <p:cNvPr id="5" name="Freeform 5"/>
          <p:cNvSpPr/>
          <p:nvPr/>
        </p:nvSpPr>
        <p:spPr>
          <a:xfrm>
            <a:off x="580504" y="1850248"/>
            <a:ext cx="11030857" cy="762000"/>
          </a:xfrm>
          <a:custGeom>
            <a:avLst/>
            <a:gdLst/>
            <a:ahLst/>
            <a:cxnLst/>
            <a:rect l="l" t="t" r="r" b="b"/>
            <a:pathLst>
              <a:path w="11030857" h="762000">
                <a:moveTo>
                  <a:pt x="36286" y="0"/>
                </a:moveTo>
                <a:lnTo>
                  <a:pt x="10994572" y="0"/>
                </a:lnTo>
                <a:cubicBezTo>
                  <a:pt x="11014611" y="0"/>
                  <a:pt x="11030857" y="16246"/>
                  <a:pt x="11030857" y="36286"/>
                </a:cubicBezTo>
                <a:lnTo>
                  <a:pt x="11030857" y="725714"/>
                </a:lnTo>
                <a:cubicBezTo>
                  <a:pt x="11030857" y="745754"/>
                  <a:pt x="11014611" y="762000"/>
                  <a:pt x="10994572" y="762000"/>
                </a:cubicBezTo>
                <a:lnTo>
                  <a:pt x="36286" y="762000"/>
                </a:lnTo>
                <a:cubicBezTo>
                  <a:pt x="16246" y="762000"/>
                  <a:pt x="0" y="745754"/>
                  <a:pt x="0" y="725714"/>
                </a:cubicBezTo>
                <a:lnTo>
                  <a:pt x="0" y="36286"/>
                </a:lnTo>
                <a:cubicBezTo>
                  <a:pt x="0" y="16259"/>
                  <a:pt x="16259" y="0"/>
                  <a:pt x="36286"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30157" y="2067940"/>
            <a:ext cx="10731500"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00" b="1" i="0" u="none" strike="noStrike">
                <a:solidFill>
                  <a:srgbClr val="A6A6A6"/>
                </a:solidFill>
                <a:latin typeface="Noto Sans SC" panose="020B0200000000000000" charset="-122"/>
                <a:ea typeface="Noto Sans SC" panose="020B0200000000000000" charset="-122"/>
                <a:cs typeface="Noto Sans SC" panose="020B0200000000000000" charset="-122"/>
                <a:sym typeface="Noto Sans SC" panose="020B0200000000000000" charset="-122"/>
              </a:rPr>
              <a:t>Arithmetic Intensity = FLOPs / Bytes</a:t>
            </a:r>
            <a:endParaRPr lang="en-US" sz="1100"/>
          </a:p>
        </p:txBody>
      </p:sp>
      <p:sp>
        <p:nvSpPr>
          <p:cNvPr id="7" name="Freeform 7"/>
          <p:cNvSpPr/>
          <p:nvPr/>
        </p:nvSpPr>
        <p:spPr>
          <a:xfrm>
            <a:off x="371841" y="3056530"/>
            <a:ext cx="5569767" cy="1832338"/>
          </a:xfrm>
          <a:custGeom>
            <a:avLst/>
            <a:gdLst/>
            <a:ahLst/>
            <a:cxnLst/>
            <a:rect l="l" t="t" r="r" b="b"/>
            <a:pathLst>
              <a:path w="5569767" h="1832338">
                <a:moveTo>
                  <a:pt x="72579" y="0"/>
                </a:moveTo>
                <a:lnTo>
                  <a:pt x="5497187" y="0"/>
                </a:lnTo>
                <a:cubicBezTo>
                  <a:pt x="5537272" y="0"/>
                  <a:pt x="5569767" y="32495"/>
                  <a:pt x="5569767" y="72579"/>
                </a:cubicBezTo>
                <a:lnTo>
                  <a:pt x="5569767" y="1759759"/>
                </a:lnTo>
                <a:cubicBezTo>
                  <a:pt x="5569767" y="1799844"/>
                  <a:pt x="5537272" y="1832338"/>
                  <a:pt x="5497187" y="1832338"/>
                </a:cubicBezTo>
                <a:lnTo>
                  <a:pt x="72579" y="1832338"/>
                </a:lnTo>
                <a:cubicBezTo>
                  <a:pt x="32495" y="1832338"/>
                  <a:pt x="0" y="1799844"/>
                  <a:pt x="0" y="1759759"/>
                </a:cubicBezTo>
                <a:lnTo>
                  <a:pt x="0" y="72579"/>
                </a:lnTo>
                <a:cubicBezTo>
                  <a:pt x="0" y="32522"/>
                  <a:pt x="32522" y="0"/>
                  <a:pt x="72579" y="0"/>
                </a:cubicBezTo>
                <a:close/>
              </a:path>
            </a:pathLst>
          </a:custGeom>
          <a:solidFill>
            <a:srgbClr val="F3F4F6">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598556" y="3283246"/>
            <a:ext cx="5207000"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Naive MatMul</a:t>
            </a:r>
            <a:endParaRPr lang="en-US" sz="1100"/>
          </a:p>
        </p:txBody>
      </p:sp>
      <p:sp>
        <p:nvSpPr>
          <p:cNvPr id="9" name="Freeform 9"/>
          <p:cNvSpPr/>
          <p:nvPr/>
        </p:nvSpPr>
        <p:spPr>
          <a:xfrm>
            <a:off x="598556" y="3682375"/>
            <a:ext cx="5116286" cy="979714"/>
          </a:xfrm>
          <a:custGeom>
            <a:avLst/>
            <a:gdLst/>
            <a:ahLst/>
            <a:cxnLst/>
            <a:rect l="l" t="t" r="r" b="b"/>
            <a:pathLst>
              <a:path w="5116286" h="979714">
                <a:moveTo>
                  <a:pt x="36289" y="0"/>
                </a:moveTo>
                <a:lnTo>
                  <a:pt x="5079997" y="0"/>
                </a:lnTo>
                <a:cubicBezTo>
                  <a:pt x="5100039" y="0"/>
                  <a:pt x="5116286" y="16247"/>
                  <a:pt x="5116286" y="36289"/>
                </a:cubicBezTo>
                <a:lnTo>
                  <a:pt x="5116286" y="943426"/>
                </a:lnTo>
                <a:cubicBezTo>
                  <a:pt x="5116286" y="963466"/>
                  <a:pt x="5100039" y="979714"/>
                  <a:pt x="5079997" y="979714"/>
                </a:cubicBezTo>
                <a:lnTo>
                  <a:pt x="36289" y="979714"/>
                </a:lnTo>
                <a:cubicBezTo>
                  <a:pt x="16247" y="979714"/>
                  <a:pt x="0" y="963466"/>
                  <a:pt x="0" y="943426"/>
                </a:cubicBezTo>
                <a:lnTo>
                  <a:pt x="0" y="36289"/>
                </a:lnTo>
                <a:cubicBezTo>
                  <a:pt x="0" y="16260"/>
                  <a:pt x="16260" y="0"/>
                  <a:pt x="3628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1893" y="3863746"/>
            <a:ext cx="4889500"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Low intensity</a:t>
            </a:r>
            <a:endParaRPr lang="en-US" sz="1100"/>
          </a:p>
        </p:txBody>
      </p:sp>
      <p:sp>
        <p:nvSpPr>
          <p:cNvPr id="11" name="AutoShape 11"/>
          <p:cNvSpPr/>
          <p:nvPr/>
        </p:nvSpPr>
        <p:spPr>
          <a:xfrm>
            <a:off x="743643" y="4262810"/>
            <a:ext cx="4826000" cy="21771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Low compute-to-memory ratio</a:t>
            </a:r>
            <a:endParaRPr lang="en-US" sz="1100"/>
          </a:p>
        </p:txBody>
      </p:sp>
      <p:sp>
        <p:nvSpPr>
          <p:cNvPr id="12" name="Freeform 12"/>
          <p:cNvSpPr/>
          <p:nvPr/>
        </p:nvSpPr>
        <p:spPr>
          <a:xfrm>
            <a:off x="6241120" y="3047504"/>
            <a:ext cx="5588000" cy="1850572"/>
          </a:xfrm>
          <a:custGeom>
            <a:avLst/>
            <a:gdLst/>
            <a:ahLst/>
            <a:cxnLst/>
            <a:rect l="l" t="t" r="r" b="b"/>
            <a:pathLst>
              <a:path w="5588000" h="1850572">
                <a:moveTo>
                  <a:pt x="72579" y="0"/>
                </a:moveTo>
                <a:lnTo>
                  <a:pt x="5515421" y="0"/>
                </a:lnTo>
                <a:cubicBezTo>
                  <a:pt x="5555505" y="0"/>
                  <a:pt x="5588000" y="32495"/>
                  <a:pt x="5588000" y="72579"/>
                </a:cubicBezTo>
                <a:lnTo>
                  <a:pt x="5588000" y="1777992"/>
                </a:lnTo>
                <a:cubicBezTo>
                  <a:pt x="5588000" y="1818077"/>
                  <a:pt x="5555505" y="1850572"/>
                  <a:pt x="5515421" y="1850572"/>
                </a:cubicBezTo>
                <a:lnTo>
                  <a:pt x="72579" y="1850572"/>
                </a:lnTo>
                <a:cubicBezTo>
                  <a:pt x="32522" y="1850572"/>
                  <a:pt x="0" y="1818049"/>
                  <a:pt x="0" y="1777992"/>
                </a:cubicBezTo>
                <a:lnTo>
                  <a:pt x="0" y="72579"/>
                </a:lnTo>
                <a:cubicBezTo>
                  <a:pt x="0" y="32522"/>
                  <a:pt x="32522" y="0"/>
                  <a:pt x="7257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58809" y="3265192"/>
            <a:ext cx="5243286"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Tiled MatMul</a:t>
            </a:r>
            <a:endParaRPr lang="en-US" sz="1100"/>
          </a:p>
        </p:txBody>
      </p:sp>
      <p:sp>
        <p:nvSpPr>
          <p:cNvPr id="14" name="Freeform 14"/>
          <p:cNvSpPr/>
          <p:nvPr/>
        </p:nvSpPr>
        <p:spPr>
          <a:xfrm>
            <a:off x="6458809" y="3664321"/>
            <a:ext cx="5152572" cy="979714"/>
          </a:xfrm>
          <a:custGeom>
            <a:avLst/>
            <a:gdLst/>
            <a:ahLst/>
            <a:cxnLst/>
            <a:rect l="l" t="t" r="r" b="b"/>
            <a:pathLst>
              <a:path w="5152572" h="979714">
                <a:moveTo>
                  <a:pt x="36289" y="0"/>
                </a:moveTo>
                <a:lnTo>
                  <a:pt x="5116283" y="0"/>
                </a:lnTo>
                <a:cubicBezTo>
                  <a:pt x="5136325" y="0"/>
                  <a:pt x="5152572" y="16247"/>
                  <a:pt x="5152572" y="36289"/>
                </a:cubicBezTo>
                <a:lnTo>
                  <a:pt x="5152572" y="943426"/>
                </a:lnTo>
                <a:cubicBezTo>
                  <a:pt x="5152572" y="963466"/>
                  <a:pt x="5136325" y="979714"/>
                  <a:pt x="5116283" y="979714"/>
                </a:cubicBezTo>
                <a:lnTo>
                  <a:pt x="36289" y="979714"/>
                </a:lnTo>
                <a:cubicBezTo>
                  <a:pt x="16247" y="979714"/>
                  <a:pt x="0" y="963466"/>
                  <a:pt x="0" y="943426"/>
                </a:cubicBezTo>
                <a:lnTo>
                  <a:pt x="0" y="36289"/>
                </a:lnTo>
                <a:cubicBezTo>
                  <a:pt x="0" y="16260"/>
                  <a:pt x="16260" y="0"/>
                  <a:pt x="3628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572145" y="3845697"/>
            <a:ext cx="4925786"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1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High intensity</a:t>
            </a:r>
            <a:endParaRPr lang="en-US" sz="1100"/>
          </a:p>
        </p:txBody>
      </p:sp>
      <p:sp>
        <p:nvSpPr>
          <p:cNvPr id="16" name="AutoShape 16"/>
          <p:cNvSpPr/>
          <p:nvPr/>
        </p:nvSpPr>
        <p:spPr>
          <a:xfrm>
            <a:off x="6603895" y="4244755"/>
            <a:ext cx="4862286" cy="21771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High compute-to-memory ratio</a:t>
            </a:r>
            <a:endParaRPr lang="en-US" sz="1100"/>
          </a:p>
        </p:txBody>
      </p:sp>
      <p:sp>
        <p:nvSpPr>
          <p:cNvPr id="17" name="Freeform 17"/>
          <p:cNvSpPr/>
          <p:nvPr/>
        </p:nvSpPr>
        <p:spPr>
          <a:xfrm>
            <a:off x="362815" y="5115302"/>
            <a:ext cx="11466286" cy="1451428"/>
          </a:xfrm>
          <a:custGeom>
            <a:avLst/>
            <a:gdLst/>
            <a:ahLst/>
            <a:cxnLst/>
            <a:rect l="l" t="t" r="r" b="b"/>
            <a:pathLst>
              <a:path w="11466286" h="1451428">
                <a:moveTo>
                  <a:pt x="72572" y="0"/>
                </a:moveTo>
                <a:lnTo>
                  <a:pt x="11393714" y="0"/>
                </a:lnTo>
                <a:cubicBezTo>
                  <a:pt x="11433793" y="0"/>
                  <a:pt x="11466286" y="32490"/>
                  <a:pt x="11466286" y="72572"/>
                </a:cubicBezTo>
                <a:lnTo>
                  <a:pt x="11466286" y="1378857"/>
                </a:lnTo>
                <a:cubicBezTo>
                  <a:pt x="11466286" y="1418937"/>
                  <a:pt x="11433793" y="1451428"/>
                  <a:pt x="11393714" y="1451428"/>
                </a:cubicBezTo>
                <a:lnTo>
                  <a:pt x="72572" y="1451428"/>
                </a:lnTo>
                <a:cubicBezTo>
                  <a:pt x="32490" y="1451428"/>
                  <a:pt x="0" y="1418937"/>
                  <a:pt x="0" y="1378857"/>
                </a:cubicBezTo>
                <a:lnTo>
                  <a:pt x="0" y="72572"/>
                </a:lnTo>
                <a:cubicBezTo>
                  <a:pt x="0" y="32518"/>
                  <a:pt x="32518" y="0"/>
                  <a:pt x="72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59126" y="5332990"/>
            <a:ext cx="1084294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Freeform 19"/>
          <p:cNvSpPr/>
          <p:nvPr/>
        </p:nvSpPr>
        <p:spPr>
          <a:xfrm>
            <a:off x="598556" y="5695803"/>
            <a:ext cx="11012623" cy="653143"/>
          </a:xfrm>
          <a:custGeom>
            <a:avLst/>
            <a:gdLst/>
            <a:ahLst/>
            <a:cxnLst/>
            <a:rect l="l" t="t" r="r" b="b"/>
            <a:pathLst>
              <a:path w="11012623" h="653143">
                <a:moveTo>
                  <a:pt x="36105" y="0"/>
                </a:moveTo>
                <a:lnTo>
                  <a:pt x="10976334" y="0"/>
                </a:lnTo>
                <a:cubicBezTo>
                  <a:pt x="10996378" y="0"/>
                  <a:pt x="11012623" y="16247"/>
                  <a:pt x="11012623" y="36289"/>
                </a:cubicBezTo>
                <a:lnTo>
                  <a:pt x="11012623" y="616854"/>
                </a:lnTo>
                <a:cubicBezTo>
                  <a:pt x="11012623" y="636896"/>
                  <a:pt x="10996378" y="653143"/>
                  <a:pt x="10976334" y="653143"/>
                </a:cubicBezTo>
                <a:lnTo>
                  <a:pt x="36105" y="653143"/>
                </a:lnTo>
                <a:cubicBezTo>
                  <a:pt x="16165" y="653143"/>
                  <a:pt x="0" y="636977"/>
                  <a:pt x="0" y="617038"/>
                </a:cubicBezTo>
                <a:lnTo>
                  <a:pt x="0" y="36105"/>
                </a:lnTo>
                <a:cubicBezTo>
                  <a:pt x="0" y="16165"/>
                  <a:pt x="16165" y="0"/>
                  <a:pt x="3610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8556" y="5695803"/>
            <a:ext cx="36105" cy="653143"/>
          </a:xfrm>
          <a:custGeom>
            <a:avLst/>
            <a:gdLst/>
            <a:ahLst/>
            <a:cxnLst/>
            <a:rect l="l" t="t" r="r" b="b"/>
            <a:pathLst>
              <a:path w="36105" h="653143">
                <a:moveTo>
                  <a:pt x="36105" y="0"/>
                </a:moveTo>
                <a:lnTo>
                  <a:pt x="36105" y="0"/>
                </a:lnTo>
                <a:lnTo>
                  <a:pt x="36105" y="653143"/>
                </a:lnTo>
                <a:lnTo>
                  <a:pt x="36105" y="653143"/>
                </a:lnTo>
                <a:cubicBezTo>
                  <a:pt x="16165" y="653143"/>
                  <a:pt x="0" y="636977"/>
                  <a:pt x="0" y="617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43552" y="5877178"/>
            <a:ext cx="10740571" cy="290286"/>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Higher Arithmetic Intensity = Higher Performance</a:t>
            </a:r>
            <a:endParaRPr lang="en-US" sz="1100"/>
          </a:p>
        </p:txBody>
      </p:sp>
      <p:sp>
        <p:nvSpPr>
          <p:cNvPr id="22" name="AutoShape 22"/>
          <p:cNvSpPr/>
          <p:nvPr/>
        </p:nvSpPr>
        <p:spPr>
          <a:xfrm>
            <a:off x="362815" y="6711546"/>
            <a:ext cx="11520714" cy="14514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1034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Introduction to the Roofline Model</a:t>
            </a:r>
            <a:endParaRPr lang="en-US" sz="1100"/>
          </a:p>
        </p:txBody>
      </p:sp>
      <p:sp>
        <p:nvSpPr>
          <p:cNvPr id="3" name="Freeform 3"/>
          <p:cNvSpPr/>
          <p:nvPr/>
        </p:nvSpPr>
        <p:spPr>
          <a:xfrm>
            <a:off x="380956" y="1257114"/>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1"/>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Roofline Model Description</a:t>
            </a:r>
            <a:endParaRPr lang="en-US" sz="1100"/>
          </a:p>
        </p:txBody>
      </p:sp>
      <p:sp>
        <p:nvSpPr>
          <p:cNvPr id="5" name="Freeform 5"/>
          <p:cNvSpPr/>
          <p:nvPr/>
        </p:nvSpPr>
        <p:spPr>
          <a:xfrm>
            <a:off x="609529" y="1904777"/>
            <a:ext cx="10972800" cy="685800"/>
          </a:xfrm>
          <a:custGeom>
            <a:avLst/>
            <a:gdLst/>
            <a:ahLst/>
            <a:cxnLst/>
            <a:rect l="l" t="t" r="r" b="b"/>
            <a:pathLst>
              <a:path w="10972800" h="685800">
                <a:moveTo>
                  <a:pt x="76199" y="0"/>
                </a:moveTo>
                <a:lnTo>
                  <a:pt x="10896601" y="0"/>
                </a:lnTo>
                <a:cubicBezTo>
                  <a:pt x="10938684" y="0"/>
                  <a:pt x="10972800" y="34116"/>
                  <a:pt x="10972800" y="76199"/>
                </a:cubicBezTo>
                <a:lnTo>
                  <a:pt x="10972800" y="609601"/>
                </a:lnTo>
                <a:cubicBezTo>
                  <a:pt x="10972800" y="651684"/>
                  <a:pt x="10938684" y="685800"/>
                  <a:pt x="10896601" y="685800"/>
                </a:cubicBezTo>
                <a:lnTo>
                  <a:pt x="76199" y="685800"/>
                </a:lnTo>
                <a:cubicBezTo>
                  <a:pt x="34116" y="685800"/>
                  <a:pt x="0" y="651684"/>
                  <a:pt x="0" y="6096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42820" y="2095216"/>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Performance ceiling limited by Compute or Memory</a:t>
            </a:r>
            <a:endParaRPr lang="en-US" sz="1100"/>
          </a:p>
        </p:txBody>
      </p:sp>
      <p:grpSp>
        <p:nvGrpSpPr>
          <p:cNvPr id="7" name="Group 7"/>
          <p:cNvGrpSpPr/>
          <p:nvPr/>
        </p:nvGrpSpPr>
        <p:grpSpPr>
          <a:xfrm>
            <a:off x="380956" y="3047498"/>
            <a:ext cx="11430000" cy="2324100"/>
            <a:chOff x="380956" y="3047498"/>
            <a:chExt cx="11430000" cy="2324100"/>
          </a:xfrm>
        </p:grpSpPr>
        <p:sp>
          <p:nvSpPr>
            <p:cNvPr id="8" name="Freeform 8"/>
            <p:cNvSpPr/>
            <p:nvPr/>
          </p:nvSpPr>
          <p:spPr>
            <a:xfrm>
              <a:off x="380956" y="3047498"/>
              <a:ext cx="11430000" cy="2324100"/>
            </a:xfrm>
            <a:custGeom>
              <a:avLst/>
              <a:gdLst/>
              <a:ahLst/>
              <a:cxnLst/>
              <a:rect l="l" t="t" r="r" b="b"/>
              <a:pathLst>
                <a:path w="11430000" h="2324100">
                  <a:moveTo>
                    <a:pt x="76208" y="0"/>
                  </a:moveTo>
                  <a:lnTo>
                    <a:pt x="11353792" y="0"/>
                  </a:lnTo>
                  <a:cubicBezTo>
                    <a:pt x="11395881" y="0"/>
                    <a:pt x="11430000" y="34119"/>
                    <a:pt x="11430000" y="76208"/>
                  </a:cubicBezTo>
                  <a:lnTo>
                    <a:pt x="11430000" y="2247892"/>
                  </a:lnTo>
                  <a:cubicBezTo>
                    <a:pt x="11430000" y="2289981"/>
                    <a:pt x="11395881" y="2324100"/>
                    <a:pt x="11353792" y="2324100"/>
                  </a:cubicBezTo>
                  <a:lnTo>
                    <a:pt x="76208" y="2324100"/>
                  </a:lnTo>
                  <a:cubicBezTo>
                    <a:pt x="34119" y="2324100"/>
                    <a:pt x="0" y="2289981"/>
                    <a:pt x="0" y="2247892"/>
                  </a:cubicBezTo>
                  <a:lnTo>
                    <a:pt x="0" y="76208"/>
                  </a:lnTo>
                  <a:cubicBezTo>
                    <a:pt x="0" y="34119"/>
                    <a:pt x="34119"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904804" y="3276070"/>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Formula</a:t>
              </a:r>
              <a:endParaRPr lang="en-US" sz="1100"/>
            </a:p>
          </p:txBody>
        </p:sp>
        <p:sp>
          <p:nvSpPr>
            <p:cNvPr id="10" name="Freeform 10"/>
            <p:cNvSpPr/>
            <p:nvPr/>
          </p:nvSpPr>
          <p:spPr>
            <a:xfrm>
              <a:off x="628484" y="3695156"/>
              <a:ext cx="10953655" cy="1447800"/>
            </a:xfrm>
            <a:custGeom>
              <a:avLst/>
              <a:gdLst/>
              <a:ahLst/>
              <a:cxnLst/>
              <a:rect l="l" t="t" r="r" b="b"/>
              <a:pathLst>
                <a:path w="10953655" h="1447800">
                  <a:moveTo>
                    <a:pt x="37910" y="0"/>
                  </a:moveTo>
                  <a:lnTo>
                    <a:pt x="10915548" y="0"/>
                  </a:lnTo>
                  <a:cubicBezTo>
                    <a:pt x="10936595" y="0"/>
                    <a:pt x="10953655" y="17061"/>
                    <a:pt x="10953655" y="38106"/>
                  </a:cubicBezTo>
                  <a:lnTo>
                    <a:pt x="10953655" y="1409694"/>
                  </a:lnTo>
                  <a:cubicBezTo>
                    <a:pt x="10953655" y="1430739"/>
                    <a:pt x="10936595" y="1447800"/>
                    <a:pt x="10915548" y="1447800"/>
                  </a:cubicBezTo>
                  <a:lnTo>
                    <a:pt x="37910" y="1447800"/>
                  </a:lnTo>
                  <a:cubicBezTo>
                    <a:pt x="16974" y="1447800"/>
                    <a:pt x="0" y="1430826"/>
                    <a:pt x="0" y="14098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8484" y="3695156"/>
              <a:ext cx="37909" cy="1447800"/>
            </a:xfrm>
            <a:custGeom>
              <a:avLst/>
              <a:gdLst/>
              <a:ahLst/>
              <a:cxnLst/>
              <a:rect l="l" t="t" r="r" b="b"/>
              <a:pathLst>
                <a:path w="37909" h="1447800">
                  <a:moveTo>
                    <a:pt x="37910" y="0"/>
                  </a:moveTo>
                  <a:lnTo>
                    <a:pt x="37910" y="0"/>
                  </a:lnTo>
                  <a:lnTo>
                    <a:pt x="37910" y="1447800"/>
                  </a:lnTo>
                  <a:lnTo>
                    <a:pt x="37910" y="1447800"/>
                  </a:lnTo>
                  <a:cubicBezTo>
                    <a:pt x="16974" y="1447800"/>
                    <a:pt x="0" y="1430826"/>
                    <a:pt x="0" y="14098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695156"/>
              <a:ext cx="11020425" cy="14478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Performance = min(</a:t>
              </a:r>
              <a:endParaRPr lang="en-US" sz="1100"/>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Peak,</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Bandwidth × Arithmetic Intensity</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13" name="Freeform 13"/>
          <p:cNvSpPr/>
          <p:nvPr/>
        </p:nvSpPr>
        <p:spPr>
          <a:xfrm>
            <a:off x="399911" y="5600012"/>
            <a:ext cx="5581555" cy="952500"/>
          </a:xfrm>
          <a:custGeom>
            <a:avLst/>
            <a:gdLst/>
            <a:ahLst/>
            <a:cxnLst/>
            <a:rect l="l" t="t" r="r" b="b"/>
            <a:pathLst>
              <a:path w="5581555" h="952500">
                <a:moveTo>
                  <a:pt x="37909" y="0"/>
                </a:moveTo>
                <a:lnTo>
                  <a:pt x="5543455" y="0"/>
                </a:lnTo>
                <a:cubicBezTo>
                  <a:pt x="5564483" y="0"/>
                  <a:pt x="5581555" y="17073"/>
                  <a:pt x="5581555" y="38100"/>
                </a:cubicBezTo>
                <a:lnTo>
                  <a:pt x="5581555" y="914400"/>
                </a:lnTo>
                <a:cubicBezTo>
                  <a:pt x="5581555" y="935427"/>
                  <a:pt x="5564483" y="952500"/>
                  <a:pt x="5543455" y="952500"/>
                </a:cubicBezTo>
                <a:lnTo>
                  <a:pt x="37909" y="952500"/>
                </a:lnTo>
                <a:cubicBezTo>
                  <a:pt x="16974" y="952500"/>
                  <a:pt x="0" y="935526"/>
                  <a:pt x="0" y="9145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grpSp>
        <p:nvGrpSpPr>
          <p:cNvPr id="14" name="Group 14"/>
          <p:cNvGrpSpPr/>
          <p:nvPr/>
        </p:nvGrpSpPr>
        <p:grpSpPr>
          <a:xfrm>
            <a:off x="399911" y="5600012"/>
            <a:ext cx="5476721" cy="952500"/>
            <a:chOff x="399911" y="5600012"/>
            <a:chExt cx="5476721" cy="952500"/>
          </a:xfrm>
        </p:grpSpPr>
        <p:sp>
          <p:nvSpPr>
            <p:cNvPr id="15" name="Freeform 15"/>
            <p:cNvSpPr/>
            <p:nvPr/>
          </p:nvSpPr>
          <p:spPr>
            <a:xfrm>
              <a:off x="399911" y="5600012"/>
              <a:ext cx="37909" cy="952500"/>
            </a:xfrm>
            <a:custGeom>
              <a:avLst/>
              <a:gdLst/>
              <a:ahLst/>
              <a:cxnLst/>
              <a:rect l="l" t="t" r="r" b="b"/>
              <a:pathLst>
                <a:path w="37909" h="952500">
                  <a:moveTo>
                    <a:pt x="37909" y="0"/>
                  </a:moveTo>
                  <a:lnTo>
                    <a:pt x="37909" y="0"/>
                  </a:lnTo>
                  <a:lnTo>
                    <a:pt x="37909" y="952500"/>
                  </a:lnTo>
                  <a:lnTo>
                    <a:pt x="37909" y="952500"/>
                  </a:lnTo>
                  <a:cubicBezTo>
                    <a:pt x="16974" y="952500"/>
                    <a:pt x="0" y="935526"/>
                    <a:pt x="0" y="9145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307" y="5790451"/>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Memory-Bound</a:t>
              </a:r>
              <a:endParaRPr lang="en-US" sz="1100"/>
            </a:p>
          </p:txBody>
        </p:sp>
        <p:sp>
          <p:nvSpPr>
            <p:cNvPr id="17" name="AutoShape 17"/>
            <p:cNvSpPr/>
            <p:nvPr/>
          </p:nvSpPr>
          <p:spPr>
            <a:xfrm>
              <a:off x="609307" y="6133347"/>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Low Arithmetic Intensity region</a:t>
              </a:r>
              <a:endParaRPr lang="en-US" sz="1100"/>
            </a:p>
          </p:txBody>
        </p:sp>
      </p:grpSp>
      <p:grpSp>
        <p:nvGrpSpPr>
          <p:cNvPr id="18" name="Group 18"/>
          <p:cNvGrpSpPr/>
          <p:nvPr/>
        </p:nvGrpSpPr>
        <p:grpSpPr>
          <a:xfrm>
            <a:off x="6229234" y="5600012"/>
            <a:ext cx="5581555" cy="952500"/>
            <a:chOff x="6229234" y="5600012"/>
            <a:chExt cx="5581555" cy="952500"/>
          </a:xfrm>
        </p:grpSpPr>
        <p:sp>
          <p:nvSpPr>
            <p:cNvPr id="19" name="Freeform 19"/>
            <p:cNvSpPr/>
            <p:nvPr/>
          </p:nvSpPr>
          <p:spPr>
            <a:xfrm>
              <a:off x="6229234" y="5600012"/>
              <a:ext cx="5581555" cy="952500"/>
            </a:xfrm>
            <a:custGeom>
              <a:avLst/>
              <a:gdLst/>
              <a:ahLst/>
              <a:cxnLst/>
              <a:rect l="l" t="t" r="r" b="b"/>
              <a:pathLst>
                <a:path w="5581555" h="952500">
                  <a:moveTo>
                    <a:pt x="37910" y="0"/>
                  </a:moveTo>
                  <a:lnTo>
                    <a:pt x="5543455" y="0"/>
                  </a:lnTo>
                  <a:cubicBezTo>
                    <a:pt x="5564483" y="0"/>
                    <a:pt x="5581555" y="17073"/>
                    <a:pt x="5581555" y="38100"/>
                  </a:cubicBezTo>
                  <a:lnTo>
                    <a:pt x="5581555" y="914400"/>
                  </a:lnTo>
                  <a:cubicBezTo>
                    <a:pt x="5581555" y="935427"/>
                    <a:pt x="5564483" y="952500"/>
                    <a:pt x="554345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29234" y="5600012"/>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438630" y="5790451"/>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Compute-Bound</a:t>
              </a:r>
              <a:endParaRPr lang="en-US" sz="1100"/>
            </a:p>
          </p:txBody>
        </p:sp>
        <p:sp>
          <p:nvSpPr>
            <p:cNvPr id="22" name="AutoShape 22"/>
            <p:cNvSpPr/>
            <p:nvPr/>
          </p:nvSpPr>
          <p:spPr>
            <a:xfrm>
              <a:off x="6438630" y="6133347"/>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High Arithmetic Intensity region</a:t>
              </a:r>
              <a:endParaRPr lang="en-US" sz="1100"/>
            </a:p>
          </p:txBody>
        </p:sp>
      </p:grpSp>
      <p:sp>
        <p:nvSpPr>
          <p:cNvPr id="23" name="AutoShape 23"/>
          <p:cNvSpPr/>
          <p:nvPr/>
        </p:nvSpPr>
        <p:spPr>
          <a:xfrm>
            <a:off x="380956" y="670474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2341" y="60997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How Tiling Improves Performance</a:t>
            </a:r>
            <a:endParaRPr lang="en-US" sz="1100"/>
          </a:p>
        </p:txBody>
      </p:sp>
      <p:sp>
        <p:nvSpPr>
          <p:cNvPr id="3" name="Freeform 3"/>
          <p:cNvSpPr/>
          <p:nvPr/>
        </p:nvSpPr>
        <p:spPr>
          <a:xfrm>
            <a:off x="380956" y="1295767"/>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71396" y="1486207"/>
            <a:ext cx="11144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Tiling increases</a:t>
            </a:r>
            <a:endParaRPr lang="en-US" sz="1100"/>
          </a:p>
        </p:txBody>
      </p:sp>
      <p:sp>
        <p:nvSpPr>
          <p:cNvPr id="5" name="Freeform 5"/>
          <p:cNvSpPr/>
          <p:nvPr/>
        </p:nvSpPr>
        <p:spPr>
          <a:xfrm>
            <a:off x="571396" y="1905293"/>
            <a:ext cx="11049000" cy="647700"/>
          </a:xfrm>
          <a:custGeom>
            <a:avLst/>
            <a:gdLst/>
            <a:ahLst/>
            <a:cxnLst/>
            <a:rect l="l" t="t" r="r" b="b"/>
            <a:pathLst>
              <a:path w="11049000" h="647700">
                <a:moveTo>
                  <a:pt x="76203" y="0"/>
                </a:moveTo>
                <a:lnTo>
                  <a:pt x="10972797" y="0"/>
                </a:lnTo>
                <a:cubicBezTo>
                  <a:pt x="11014883" y="0"/>
                  <a:pt x="11049000" y="34117"/>
                  <a:pt x="11049000" y="76203"/>
                </a:cubicBezTo>
                <a:lnTo>
                  <a:pt x="11049000" y="571497"/>
                </a:lnTo>
                <a:cubicBezTo>
                  <a:pt x="11049000" y="613583"/>
                  <a:pt x="11014883" y="647700"/>
                  <a:pt x="10972797"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52341" y="2057674"/>
            <a:ext cx="108870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100"/>
          </a:p>
        </p:txBody>
      </p:sp>
      <p:sp>
        <p:nvSpPr>
          <p:cNvPr id="7" name="Freeform 7"/>
          <p:cNvSpPr/>
          <p:nvPr/>
        </p:nvSpPr>
        <p:spPr>
          <a:xfrm>
            <a:off x="380956" y="2933765"/>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10806" y="3162114"/>
            <a:ext cx="130731" cy="172488"/>
          </a:xfrm>
          <a:custGeom>
            <a:avLst/>
            <a:gdLst/>
            <a:ahLst/>
            <a:cxnLst/>
            <a:rect l="l" t="t" r="r" b="b"/>
            <a:pathLst>
              <a:path w="130731" h="172488">
                <a:moveTo>
                  <a:pt x="57798" y="168302"/>
                </a:moveTo>
                <a:cubicBezTo>
                  <a:pt x="61984" y="172488"/>
                  <a:pt x="68781" y="172488"/>
                  <a:pt x="72967" y="168302"/>
                </a:cubicBezTo>
                <a:lnTo>
                  <a:pt x="126545" y="114724"/>
                </a:lnTo>
                <a:cubicBezTo>
                  <a:pt x="130731" y="110538"/>
                  <a:pt x="130731" y="103741"/>
                  <a:pt x="126545" y="99555"/>
                </a:cubicBezTo>
                <a:cubicBezTo>
                  <a:pt x="122360" y="95369"/>
                  <a:pt x="115562" y="95369"/>
                  <a:pt x="111377" y="99555"/>
                </a:cubicBezTo>
                <a:lnTo>
                  <a:pt x="76081" y="134849"/>
                </a:lnTo>
                <a:lnTo>
                  <a:pt x="76081" y="10716"/>
                </a:lnTo>
                <a:cubicBezTo>
                  <a:pt x="76081" y="4789"/>
                  <a:pt x="71293" y="0"/>
                  <a:pt x="65366" y="0"/>
                </a:cubicBezTo>
                <a:cubicBezTo>
                  <a:pt x="59439" y="0"/>
                  <a:pt x="54649" y="4789"/>
                  <a:pt x="54649" y="10716"/>
                </a:cubicBezTo>
                <a:lnTo>
                  <a:pt x="54649" y="134849"/>
                </a:lnTo>
                <a:lnTo>
                  <a:pt x="19356" y="99555"/>
                </a:lnTo>
                <a:cubicBezTo>
                  <a:pt x="15170" y="95369"/>
                  <a:pt x="8372" y="95369"/>
                  <a:pt x="4186" y="99555"/>
                </a:cubicBezTo>
                <a:cubicBezTo>
                  <a:pt x="0" y="103741"/>
                  <a:pt x="0" y="110538"/>
                  <a:pt x="4186" y="114724"/>
                </a:cubicBezTo>
                <a:lnTo>
                  <a:pt x="57764" y="1683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38096" y="3124205"/>
            <a:ext cx="50387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Reduces</a:t>
            </a:r>
            <a:endParaRPr lang="en-US" sz="1100"/>
          </a:p>
        </p:txBody>
      </p:sp>
      <p:sp>
        <p:nvSpPr>
          <p:cNvPr id="10" name="Freeform 10"/>
          <p:cNvSpPr/>
          <p:nvPr/>
        </p:nvSpPr>
        <p:spPr>
          <a:xfrm>
            <a:off x="590352" y="3505158"/>
            <a:ext cx="5200555" cy="571500"/>
          </a:xfrm>
          <a:custGeom>
            <a:avLst/>
            <a:gdLst/>
            <a:ahLst/>
            <a:cxnLst/>
            <a:rect l="l" t="t" r="r" b="b"/>
            <a:pathLst>
              <a:path w="5200555" h="571500">
                <a:moveTo>
                  <a:pt x="37910" y="0"/>
                </a:moveTo>
                <a:lnTo>
                  <a:pt x="5162453" y="0"/>
                </a:lnTo>
                <a:cubicBezTo>
                  <a:pt x="5183496" y="0"/>
                  <a:pt x="5200555" y="17059"/>
                  <a:pt x="5200555" y="38103"/>
                </a:cubicBezTo>
                <a:lnTo>
                  <a:pt x="5200555" y="533397"/>
                </a:lnTo>
                <a:cubicBezTo>
                  <a:pt x="5200555" y="554441"/>
                  <a:pt x="5183496" y="571500"/>
                  <a:pt x="51624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90352" y="3505158"/>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61689" y="3657540"/>
            <a:ext cx="4972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bandwidth pressure</a:t>
            </a:r>
            <a:endParaRPr lang="en-US" sz="1100"/>
          </a:p>
        </p:txBody>
      </p:sp>
      <p:sp>
        <p:nvSpPr>
          <p:cNvPr id="13" name="Freeform 13"/>
          <p:cNvSpPr/>
          <p:nvPr/>
        </p:nvSpPr>
        <p:spPr>
          <a:xfrm>
            <a:off x="6210279" y="2933765"/>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40129" y="3163755"/>
            <a:ext cx="130731" cy="172488"/>
          </a:xfrm>
          <a:custGeom>
            <a:avLst/>
            <a:gdLst/>
            <a:ahLst/>
            <a:cxnLst/>
            <a:rect l="l" t="t" r="r" b="b"/>
            <a:pathLst>
              <a:path w="130731" h="172488">
                <a:moveTo>
                  <a:pt x="72934" y="4186"/>
                </a:moveTo>
                <a:cubicBezTo>
                  <a:pt x="68748" y="0"/>
                  <a:pt x="61949" y="0"/>
                  <a:pt x="57764" y="4186"/>
                </a:cubicBezTo>
                <a:lnTo>
                  <a:pt x="4186" y="57765"/>
                </a:lnTo>
                <a:cubicBezTo>
                  <a:pt x="0" y="61950"/>
                  <a:pt x="0" y="68747"/>
                  <a:pt x="4186" y="72933"/>
                </a:cubicBezTo>
                <a:cubicBezTo>
                  <a:pt x="8372" y="77119"/>
                  <a:pt x="15170" y="77119"/>
                  <a:pt x="19356" y="72933"/>
                </a:cubicBezTo>
                <a:lnTo>
                  <a:pt x="54649" y="37638"/>
                </a:lnTo>
                <a:lnTo>
                  <a:pt x="54649" y="161772"/>
                </a:lnTo>
                <a:cubicBezTo>
                  <a:pt x="54649" y="167700"/>
                  <a:pt x="59439" y="172487"/>
                  <a:pt x="65366" y="172487"/>
                </a:cubicBezTo>
                <a:cubicBezTo>
                  <a:pt x="71293" y="172487"/>
                  <a:pt x="76081" y="167700"/>
                  <a:pt x="76081" y="161772"/>
                </a:cubicBezTo>
                <a:lnTo>
                  <a:pt x="76081" y="37638"/>
                </a:lnTo>
                <a:lnTo>
                  <a:pt x="111377" y="72933"/>
                </a:lnTo>
                <a:cubicBezTo>
                  <a:pt x="115563" y="77119"/>
                  <a:pt x="122360" y="77119"/>
                  <a:pt x="126545" y="72933"/>
                </a:cubicBezTo>
                <a:cubicBezTo>
                  <a:pt x="130731" y="68747"/>
                  <a:pt x="130731" y="61950"/>
                  <a:pt x="126545" y="57765"/>
                </a:cubicBezTo>
                <a:lnTo>
                  <a:pt x="72967" y="418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667420" y="3124205"/>
            <a:ext cx="50387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Increases</a:t>
            </a:r>
            <a:endParaRPr lang="en-US" sz="1100"/>
          </a:p>
        </p:txBody>
      </p:sp>
      <p:sp>
        <p:nvSpPr>
          <p:cNvPr id="16" name="Freeform 16"/>
          <p:cNvSpPr/>
          <p:nvPr/>
        </p:nvSpPr>
        <p:spPr>
          <a:xfrm>
            <a:off x="6419675" y="3505158"/>
            <a:ext cx="5200555" cy="571500"/>
          </a:xfrm>
          <a:custGeom>
            <a:avLst/>
            <a:gdLst/>
            <a:ahLst/>
            <a:cxnLst/>
            <a:rect l="l" t="t" r="r" b="b"/>
            <a:pathLst>
              <a:path w="5200555" h="571500">
                <a:moveTo>
                  <a:pt x="37909" y="0"/>
                </a:moveTo>
                <a:lnTo>
                  <a:pt x="5162453" y="0"/>
                </a:lnTo>
                <a:cubicBezTo>
                  <a:pt x="5183496" y="0"/>
                  <a:pt x="5200555" y="17059"/>
                  <a:pt x="5200555" y="38103"/>
                </a:cubicBezTo>
                <a:lnTo>
                  <a:pt x="5200555" y="533397"/>
                </a:lnTo>
                <a:cubicBezTo>
                  <a:pt x="5200555" y="554441"/>
                  <a:pt x="5183496" y="571500"/>
                  <a:pt x="5162453" y="571500"/>
                </a:cubicBezTo>
                <a:lnTo>
                  <a:pt x="37909" y="571500"/>
                </a:lnTo>
                <a:cubicBezTo>
                  <a:pt x="16974" y="571500"/>
                  <a:pt x="0" y="554526"/>
                  <a:pt x="0" y="5335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419675" y="3505158"/>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591013" y="3657540"/>
            <a:ext cx="4972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Cache utilization</a:t>
            </a:r>
            <a:endParaRPr lang="en-US" sz="1100"/>
          </a:p>
        </p:txBody>
      </p:sp>
      <p:sp>
        <p:nvSpPr>
          <p:cNvPr id="19" name="Freeform 19"/>
          <p:cNvSpPr/>
          <p:nvPr/>
        </p:nvSpPr>
        <p:spPr>
          <a:xfrm>
            <a:off x="380956" y="4457509"/>
            <a:ext cx="11430000" cy="1676400"/>
          </a:xfrm>
          <a:custGeom>
            <a:avLst/>
            <a:gdLst/>
            <a:ahLst/>
            <a:cxnLst/>
            <a:rect l="l" t="t" r="r" b="b"/>
            <a:pathLst>
              <a:path w="11430000" h="1676400">
                <a:moveTo>
                  <a:pt x="76192" y="0"/>
                </a:moveTo>
                <a:lnTo>
                  <a:pt x="11353808" y="0"/>
                </a:lnTo>
                <a:cubicBezTo>
                  <a:pt x="11395888" y="0"/>
                  <a:pt x="11430000" y="34112"/>
                  <a:pt x="11430000" y="76192"/>
                </a:cubicBezTo>
                <a:lnTo>
                  <a:pt x="11430000" y="1600208"/>
                </a:lnTo>
                <a:cubicBezTo>
                  <a:pt x="11430000" y="1642288"/>
                  <a:pt x="11395888" y="1676400"/>
                  <a:pt x="11353808" y="1676400"/>
                </a:cubicBezTo>
                <a:lnTo>
                  <a:pt x="76192" y="1676400"/>
                </a:lnTo>
                <a:cubicBezTo>
                  <a:pt x="34112" y="1676400"/>
                  <a:pt x="0" y="1642288"/>
                  <a:pt x="0" y="1600208"/>
                </a:cubicBezTo>
                <a:lnTo>
                  <a:pt x="0" y="76192"/>
                </a:lnTo>
                <a:cubicBezTo>
                  <a:pt x="0" y="34141"/>
                  <a:pt x="34141" y="0"/>
                  <a:pt x="761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895279" y="4686086"/>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Final Result</a:t>
            </a:r>
            <a:endParaRPr lang="en-US" sz="1100"/>
          </a:p>
        </p:txBody>
      </p:sp>
      <p:sp>
        <p:nvSpPr>
          <p:cNvPr id="21" name="Freeform 21"/>
          <p:cNvSpPr/>
          <p:nvPr/>
        </p:nvSpPr>
        <p:spPr>
          <a:xfrm>
            <a:off x="609529" y="5143160"/>
            <a:ext cx="10972800" cy="762000"/>
          </a:xfrm>
          <a:custGeom>
            <a:avLst/>
            <a:gdLst/>
            <a:ahLst/>
            <a:cxnLst/>
            <a:rect l="l" t="t" r="r" b="b"/>
            <a:pathLst>
              <a:path w="10972800" h="762000">
                <a:moveTo>
                  <a:pt x="38100" y="0"/>
                </a:moveTo>
                <a:lnTo>
                  <a:pt x="10934700" y="0"/>
                </a:lnTo>
                <a:cubicBezTo>
                  <a:pt x="10955727" y="0"/>
                  <a:pt x="10972800" y="17073"/>
                  <a:pt x="10972800" y="38100"/>
                </a:cubicBezTo>
                <a:lnTo>
                  <a:pt x="10972800" y="723900"/>
                </a:lnTo>
                <a:cubicBezTo>
                  <a:pt x="10972800" y="744927"/>
                  <a:pt x="10955727" y="762000"/>
                  <a:pt x="10934700" y="762000"/>
                </a:cubicBezTo>
                <a:lnTo>
                  <a:pt x="38100" y="762000"/>
                </a:lnTo>
                <a:cubicBezTo>
                  <a:pt x="17073" y="762000"/>
                  <a:pt x="0" y="744927"/>
                  <a:pt x="0" y="7239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4245" y="5333595"/>
            <a:ext cx="10763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Performanceimprovement</a:t>
            </a:r>
            <a:endParaRPr lang="en-US" sz="1100"/>
          </a:p>
        </p:txBody>
      </p:sp>
      <p:sp>
        <p:nvSpPr>
          <p:cNvPr id="23" name="AutoShape 23"/>
          <p:cNvSpPr/>
          <p:nvPr/>
        </p:nvSpPr>
        <p:spPr>
          <a:xfrm>
            <a:off x="380956" y="6324605"/>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468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Tiling in Triton</a:t>
            </a:r>
            <a:endParaRPr lang="en-US" sz="1100"/>
          </a:p>
        </p:txBody>
      </p:sp>
      <p:sp>
        <p:nvSpPr>
          <p:cNvPr id="3" name="Freeform 3"/>
          <p:cNvSpPr/>
          <p:nvPr/>
        </p:nvSpPr>
        <p:spPr>
          <a:xfrm>
            <a:off x="380956" y="1257114"/>
            <a:ext cx="11430000" cy="1600200"/>
          </a:xfrm>
          <a:custGeom>
            <a:avLst/>
            <a:gdLst/>
            <a:ahLst/>
            <a:cxnLst/>
            <a:rect l="l" t="t" r="r" b="b"/>
            <a:pathLst>
              <a:path w="11430000" h="1600200">
                <a:moveTo>
                  <a:pt x="76203" y="0"/>
                </a:moveTo>
                <a:lnTo>
                  <a:pt x="11353797" y="0"/>
                </a:lnTo>
                <a:cubicBezTo>
                  <a:pt x="11395883" y="0"/>
                  <a:pt x="11430000" y="34117"/>
                  <a:pt x="11430000" y="76203"/>
                </a:cubicBezTo>
                <a:lnTo>
                  <a:pt x="11430000" y="1523997"/>
                </a:lnTo>
                <a:cubicBezTo>
                  <a:pt x="11430000" y="1566083"/>
                  <a:pt x="11395883" y="1600200"/>
                  <a:pt x="113537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5"/>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Triton uses</a:t>
            </a:r>
            <a:endParaRPr lang="en-US" sz="1100"/>
          </a:p>
        </p:txBody>
      </p:sp>
      <p:sp>
        <p:nvSpPr>
          <p:cNvPr id="5" name="Freeform 5"/>
          <p:cNvSpPr/>
          <p:nvPr/>
        </p:nvSpPr>
        <p:spPr>
          <a:xfrm>
            <a:off x="609529" y="1904777"/>
            <a:ext cx="10972800" cy="723900"/>
          </a:xfrm>
          <a:custGeom>
            <a:avLst/>
            <a:gdLst/>
            <a:ahLst/>
            <a:cxnLst/>
            <a:rect l="l" t="t" r="r" b="b"/>
            <a:pathLst>
              <a:path w="10972800" h="723900">
                <a:moveTo>
                  <a:pt x="76197" y="0"/>
                </a:moveTo>
                <a:lnTo>
                  <a:pt x="10896603" y="0"/>
                </a:lnTo>
                <a:cubicBezTo>
                  <a:pt x="10938657" y="0"/>
                  <a:pt x="10972800" y="34143"/>
                  <a:pt x="10972800" y="76197"/>
                </a:cubicBezTo>
                <a:lnTo>
                  <a:pt x="10972800" y="647703"/>
                </a:lnTo>
                <a:cubicBezTo>
                  <a:pt x="10972800" y="689757"/>
                  <a:pt x="10938657" y="723900"/>
                  <a:pt x="10896603" y="723900"/>
                </a:cubicBezTo>
                <a:lnTo>
                  <a:pt x="76197" y="723900"/>
                </a:lnTo>
                <a:cubicBezTo>
                  <a:pt x="34143" y="723900"/>
                  <a:pt x="0" y="689757"/>
                  <a:pt x="0" y="647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28532" y="2095221"/>
            <a:ext cx="107346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block-based programming</a:t>
            </a:r>
            <a:endParaRPr lang="en-US" sz="1100"/>
          </a:p>
        </p:txBody>
      </p:sp>
      <p:sp>
        <p:nvSpPr>
          <p:cNvPr id="7" name="Freeform 7"/>
          <p:cNvSpPr/>
          <p:nvPr/>
        </p:nvSpPr>
        <p:spPr>
          <a:xfrm>
            <a:off x="380956" y="3085635"/>
            <a:ext cx="11430000" cy="1638300"/>
          </a:xfrm>
          <a:custGeom>
            <a:avLst/>
            <a:gdLst/>
            <a:ahLst/>
            <a:cxnLst/>
            <a:rect l="l" t="t" r="r" b="b"/>
            <a:pathLst>
              <a:path w="11430000" h="1638300">
                <a:moveTo>
                  <a:pt x="76197" y="0"/>
                </a:moveTo>
                <a:lnTo>
                  <a:pt x="11353803" y="0"/>
                </a:lnTo>
                <a:cubicBezTo>
                  <a:pt x="11395885" y="0"/>
                  <a:pt x="11430000" y="34115"/>
                  <a:pt x="11430000" y="76197"/>
                </a:cubicBezTo>
                <a:lnTo>
                  <a:pt x="11430000" y="1562103"/>
                </a:lnTo>
                <a:cubicBezTo>
                  <a:pt x="11430000" y="1604185"/>
                  <a:pt x="11395885" y="1638300"/>
                  <a:pt x="113538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331420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Each program computes</a:t>
            </a:r>
            <a:endParaRPr lang="en-US" sz="1100"/>
          </a:p>
        </p:txBody>
      </p:sp>
      <p:sp>
        <p:nvSpPr>
          <p:cNvPr id="9" name="Freeform 9"/>
          <p:cNvSpPr/>
          <p:nvPr/>
        </p:nvSpPr>
        <p:spPr>
          <a:xfrm>
            <a:off x="619007" y="3742766"/>
            <a:ext cx="10953655" cy="742855"/>
          </a:xfrm>
          <a:custGeom>
            <a:avLst/>
            <a:gdLst/>
            <a:ahLst/>
            <a:cxnLst/>
            <a:rect l="l" t="t" r="r" b="b"/>
            <a:pathLst>
              <a:path w="10953655" h="742855">
                <a:moveTo>
                  <a:pt x="38101" y="0"/>
                </a:moveTo>
                <a:lnTo>
                  <a:pt x="10915553" y="0"/>
                </a:lnTo>
                <a:cubicBezTo>
                  <a:pt x="10936597" y="0"/>
                  <a:pt x="10953655" y="17057"/>
                  <a:pt x="10953655" y="38101"/>
                </a:cubicBezTo>
                <a:lnTo>
                  <a:pt x="10953655" y="704753"/>
                </a:lnTo>
                <a:cubicBezTo>
                  <a:pt x="10953655" y="725797"/>
                  <a:pt x="10936597" y="742855"/>
                  <a:pt x="109155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0" name="AutoShape 10"/>
          <p:cNvSpPr/>
          <p:nvPr/>
        </p:nvSpPr>
        <p:spPr>
          <a:xfrm>
            <a:off x="747487" y="3942690"/>
            <a:ext cx="10696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 BLOCK_N</a:t>
            </a:r>
            <a:endParaRPr lang="en-US" sz="1100"/>
          </a:p>
        </p:txBody>
      </p:sp>
      <p:sp>
        <p:nvSpPr>
          <p:cNvPr id="11" name="Freeform 11"/>
          <p:cNvSpPr/>
          <p:nvPr/>
        </p:nvSpPr>
        <p:spPr>
          <a:xfrm>
            <a:off x="380956" y="4952051"/>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0282" y="5207682"/>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3"/>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04804" y="5180623"/>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Example</a:t>
            </a:r>
            <a:endParaRPr lang="en-US" sz="1100"/>
          </a:p>
        </p:txBody>
      </p:sp>
      <p:sp>
        <p:nvSpPr>
          <p:cNvPr id="14" name="Freeform 14"/>
          <p:cNvSpPr/>
          <p:nvPr/>
        </p:nvSpPr>
        <p:spPr>
          <a:xfrm>
            <a:off x="628484" y="5599714"/>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28484" y="5599714"/>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99822" y="5752095"/>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BLOCK_M = 128</a:t>
            </a:r>
            <a:endParaRPr lang="en-US" sz="1100"/>
          </a:p>
        </p:txBody>
      </p:sp>
      <p:sp>
        <p:nvSpPr>
          <p:cNvPr id="17" name="Freeform 17"/>
          <p:cNvSpPr/>
          <p:nvPr/>
        </p:nvSpPr>
        <p:spPr>
          <a:xfrm>
            <a:off x="6191102" y="5599714"/>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191102" y="5599714"/>
            <a:ext cx="37910" cy="571500"/>
          </a:xfrm>
          <a:custGeom>
            <a:avLst/>
            <a:gdLst/>
            <a:ahLst/>
            <a:cxnLst/>
            <a:rect l="l" t="t" r="r" b="b"/>
            <a:pathLst>
              <a:path w="37910"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362440" y="5752095"/>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BLOCK_N = 128</a:t>
            </a:r>
            <a:endParaRPr lang="en-US" sz="1100"/>
          </a:p>
        </p:txBody>
      </p:sp>
      <p:sp>
        <p:nvSpPr>
          <p:cNvPr id="20" name="AutoShape 20"/>
          <p:cNvSpPr/>
          <p:nvPr/>
        </p:nvSpPr>
        <p:spPr>
          <a:xfrm>
            <a:off x="380956" y="6552140"/>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33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Multi-dimensional program_id</a:t>
            </a:r>
            <a:endParaRPr lang="en-US" sz="1100"/>
          </a:p>
        </p:txBody>
      </p:sp>
      <p:sp>
        <p:nvSpPr>
          <p:cNvPr id="3" name="Freeform 3"/>
          <p:cNvSpPr/>
          <p:nvPr/>
        </p:nvSpPr>
        <p:spPr>
          <a:xfrm>
            <a:off x="380956" y="1257114"/>
            <a:ext cx="11430000" cy="1714500"/>
          </a:xfrm>
          <a:custGeom>
            <a:avLst/>
            <a:gdLst/>
            <a:ahLst/>
            <a:cxnLst/>
            <a:rect l="l" t="t" r="r" b="b"/>
            <a:pathLst>
              <a:path w="11430000" h="1714500">
                <a:moveTo>
                  <a:pt x="76192" y="0"/>
                </a:moveTo>
                <a:lnTo>
                  <a:pt x="11353808" y="0"/>
                </a:lnTo>
                <a:cubicBezTo>
                  <a:pt x="11395888" y="0"/>
                  <a:pt x="11430000" y="34112"/>
                  <a:pt x="11430000" y="76192"/>
                </a:cubicBezTo>
                <a:lnTo>
                  <a:pt x="11430000" y="1638308"/>
                </a:lnTo>
                <a:cubicBezTo>
                  <a:pt x="11430000" y="1680388"/>
                  <a:pt x="11395888" y="1714500"/>
                  <a:pt x="11353808" y="1714500"/>
                </a:cubicBezTo>
                <a:lnTo>
                  <a:pt x="76192" y="1714500"/>
                </a:lnTo>
                <a:cubicBezTo>
                  <a:pt x="34112" y="1714500"/>
                  <a:pt x="0" y="1680388"/>
                  <a:pt x="0" y="1638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8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Get program ID</a:t>
            </a:r>
            <a:endParaRPr lang="en-US" sz="1100"/>
          </a:p>
        </p:txBody>
      </p:sp>
      <p:sp>
        <p:nvSpPr>
          <p:cNvPr id="5" name="Freeform 5"/>
          <p:cNvSpPr/>
          <p:nvPr/>
        </p:nvSpPr>
        <p:spPr>
          <a:xfrm>
            <a:off x="628484" y="1904777"/>
            <a:ext cx="10953655" cy="838200"/>
          </a:xfrm>
          <a:custGeom>
            <a:avLst/>
            <a:gdLst/>
            <a:ahLst/>
            <a:cxnLst/>
            <a:rect l="l" t="t" r="r" b="b"/>
            <a:pathLst>
              <a:path w="10953655" h="838200">
                <a:moveTo>
                  <a:pt x="37910" y="0"/>
                </a:moveTo>
                <a:lnTo>
                  <a:pt x="10915559" y="0"/>
                </a:lnTo>
                <a:cubicBezTo>
                  <a:pt x="10936599" y="0"/>
                  <a:pt x="10953655" y="17056"/>
                  <a:pt x="10953655" y="38096"/>
                </a:cubicBezTo>
                <a:lnTo>
                  <a:pt x="10953655" y="800104"/>
                </a:lnTo>
                <a:cubicBezTo>
                  <a:pt x="10953655" y="821144"/>
                  <a:pt x="10936599" y="838200"/>
                  <a:pt x="10915559" y="838200"/>
                </a:cubicBezTo>
                <a:lnTo>
                  <a:pt x="37910" y="838200"/>
                </a:lnTo>
                <a:cubicBezTo>
                  <a:pt x="16974" y="838200"/>
                  <a:pt x="0" y="821226"/>
                  <a:pt x="0" y="8002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1904777"/>
            <a:ext cx="37909" cy="838200"/>
          </a:xfrm>
          <a:custGeom>
            <a:avLst/>
            <a:gdLst/>
            <a:ahLst/>
            <a:cxnLst/>
            <a:rect l="l" t="t" r="r" b="b"/>
            <a:pathLst>
              <a:path w="37909" h="838200">
                <a:moveTo>
                  <a:pt x="37910" y="0"/>
                </a:moveTo>
                <a:lnTo>
                  <a:pt x="37910" y="0"/>
                </a:lnTo>
                <a:lnTo>
                  <a:pt x="37910" y="838200"/>
                </a:lnTo>
                <a:lnTo>
                  <a:pt x="37910" y="838200"/>
                </a:lnTo>
                <a:cubicBezTo>
                  <a:pt x="16974" y="838200"/>
                  <a:pt x="0" y="821226"/>
                  <a:pt x="0" y="8002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1904777"/>
            <a:ext cx="11010900" cy="8382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 = tl.program_id(0)</a:t>
            </a:r>
            <a:endParaRPr lang="en-US" sz="1100"/>
          </a:p>
          <a:p>
            <a:pPr indent="0" algn="l">
              <a:lnSpc>
                <a:spcPct val="133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 = tl.program_id(1)</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80956" y="3199954"/>
            <a:ext cx="11430000" cy="1905000"/>
          </a:xfrm>
          <a:custGeom>
            <a:avLst/>
            <a:gdLst/>
            <a:ahLst/>
            <a:cxnLst/>
            <a:rect l="l" t="t" r="r" b="b"/>
            <a:pathLst>
              <a:path w="11430000" h="1905000">
                <a:moveTo>
                  <a:pt x="76200" y="0"/>
                </a:moveTo>
                <a:lnTo>
                  <a:pt x="11353800" y="0"/>
                </a:lnTo>
                <a:cubicBezTo>
                  <a:pt x="11395856" y="0"/>
                  <a:pt x="11430000" y="34144"/>
                  <a:pt x="11430000" y="76200"/>
                </a:cubicBezTo>
                <a:lnTo>
                  <a:pt x="11430000" y="1828800"/>
                </a:lnTo>
                <a:cubicBezTo>
                  <a:pt x="11430000" y="1870856"/>
                  <a:pt x="11395856" y="1905000"/>
                  <a:pt x="11353800" y="1905000"/>
                </a:cubicBezTo>
                <a:lnTo>
                  <a:pt x="76200" y="1905000"/>
                </a:lnTo>
                <a:cubicBezTo>
                  <a:pt x="34144" y="1905000"/>
                  <a:pt x="0" y="1870856"/>
                  <a:pt x="0" y="1828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42852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Purpose</a:t>
            </a:r>
            <a:endParaRPr lang="en-US" sz="1100"/>
          </a:p>
        </p:txBody>
      </p:sp>
      <p:sp>
        <p:nvSpPr>
          <p:cNvPr id="10" name="Freeform 10"/>
          <p:cNvSpPr/>
          <p:nvPr/>
        </p:nvSpPr>
        <p:spPr>
          <a:xfrm>
            <a:off x="609529" y="3847616"/>
            <a:ext cx="10972800" cy="1028700"/>
          </a:xfrm>
          <a:custGeom>
            <a:avLst/>
            <a:gdLst/>
            <a:ahLst/>
            <a:cxnLst/>
            <a:rect l="l" t="t" r="r" b="b"/>
            <a:pathLst>
              <a:path w="10972800" h="1028700">
                <a:moveTo>
                  <a:pt x="38103" y="0"/>
                </a:moveTo>
                <a:lnTo>
                  <a:pt x="10934697" y="0"/>
                </a:lnTo>
                <a:cubicBezTo>
                  <a:pt x="10955741" y="0"/>
                  <a:pt x="10972800" y="17059"/>
                  <a:pt x="10972800" y="38103"/>
                </a:cubicBezTo>
                <a:lnTo>
                  <a:pt x="10972800" y="990597"/>
                </a:lnTo>
                <a:cubicBezTo>
                  <a:pt x="10972800" y="1011641"/>
                  <a:pt x="10955741" y="1028700"/>
                  <a:pt x="10934697" y="1028700"/>
                </a:cubicBezTo>
                <a:lnTo>
                  <a:pt x="38103" y="1028700"/>
                </a:lnTo>
                <a:cubicBezTo>
                  <a:pt x="17059" y="1028700"/>
                  <a:pt x="0" y="1011641"/>
                  <a:pt x="0" y="9905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742820" y="4038051"/>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Determine tile position</a:t>
            </a:r>
            <a:endParaRPr lang="en-US" sz="1100"/>
          </a:p>
        </p:txBody>
      </p:sp>
      <p:sp>
        <p:nvSpPr>
          <p:cNvPr id="12" name="AutoShape 12"/>
          <p:cNvSpPr/>
          <p:nvPr/>
        </p:nvSpPr>
        <p:spPr>
          <a:xfrm>
            <a:off x="752345" y="4418940"/>
            <a:ext cx="10687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 block index</a:t>
            </a:r>
            <a:endParaRPr lang="en-US" sz="1100"/>
          </a:p>
        </p:txBody>
      </p:sp>
      <p:sp>
        <p:nvSpPr>
          <p:cNvPr id="13" name="Freeform 13"/>
          <p:cNvSpPr/>
          <p:nvPr/>
        </p:nvSpPr>
        <p:spPr>
          <a:xfrm>
            <a:off x="380956" y="53332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71396" y="55236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a:t>
            </a:r>
            <a:endParaRPr lang="en-US" sz="1100"/>
          </a:p>
        </p:txBody>
      </p:sp>
      <p:sp>
        <p:nvSpPr>
          <p:cNvPr id="15" name="AutoShape 15"/>
          <p:cNvSpPr/>
          <p:nvPr/>
        </p:nvSpPr>
        <p:spPr>
          <a:xfrm>
            <a:off x="571396" y="586656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Program ID in the M dimension</a:t>
            </a:r>
            <a:endParaRPr lang="en-US" sz="1100"/>
          </a:p>
        </p:txBody>
      </p:sp>
      <p:sp>
        <p:nvSpPr>
          <p:cNvPr id="16" name="Freeform 16"/>
          <p:cNvSpPr/>
          <p:nvPr/>
        </p:nvSpPr>
        <p:spPr>
          <a:xfrm>
            <a:off x="6210279" y="53332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400720" y="55236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a:t>
            </a:r>
            <a:endParaRPr lang="en-US" sz="1100"/>
          </a:p>
        </p:txBody>
      </p:sp>
      <p:sp>
        <p:nvSpPr>
          <p:cNvPr id="18" name="AutoShape 18"/>
          <p:cNvSpPr/>
          <p:nvPr/>
        </p:nvSpPr>
        <p:spPr>
          <a:xfrm>
            <a:off x="6400720" y="586656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Program ID in the N dimension</a:t>
            </a:r>
            <a:endParaRPr lang="en-US" sz="1100"/>
          </a:p>
        </p:txBody>
      </p:sp>
      <p:sp>
        <p:nvSpPr>
          <p:cNvPr id="19" name="AutoShape 19"/>
          <p:cNvSpPr/>
          <p:nvPr/>
        </p:nvSpPr>
        <p:spPr>
          <a:xfrm>
            <a:off x="380956" y="6437961"/>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4758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Tile Indices</a:t>
            </a:r>
            <a:endParaRPr lang="en-US" sz="1100"/>
          </a:p>
        </p:txBody>
      </p:sp>
      <p:sp>
        <p:nvSpPr>
          <p:cNvPr id="3" name="Freeform 3"/>
          <p:cNvSpPr/>
          <p:nvPr/>
        </p:nvSpPr>
        <p:spPr>
          <a:xfrm>
            <a:off x="380956" y="1409942"/>
            <a:ext cx="11430000" cy="1943100"/>
          </a:xfrm>
          <a:custGeom>
            <a:avLst/>
            <a:gdLst/>
            <a:ahLst/>
            <a:cxnLst/>
            <a:rect l="l" t="t" r="r" b="b"/>
            <a:pathLst>
              <a:path w="11430000" h="1943100">
                <a:moveTo>
                  <a:pt x="76208" y="0"/>
                </a:moveTo>
                <a:lnTo>
                  <a:pt x="11353792" y="0"/>
                </a:lnTo>
                <a:cubicBezTo>
                  <a:pt x="11395880" y="0"/>
                  <a:pt x="11430000" y="34120"/>
                  <a:pt x="11430000" y="76208"/>
                </a:cubicBezTo>
                <a:lnTo>
                  <a:pt x="11430000" y="1866892"/>
                </a:lnTo>
                <a:cubicBezTo>
                  <a:pt x="11430000" y="1908980"/>
                  <a:pt x="11395880" y="1943100"/>
                  <a:pt x="11353792" y="1943100"/>
                </a:cubicBezTo>
                <a:lnTo>
                  <a:pt x="76208" y="1943100"/>
                </a:lnTo>
                <a:cubicBezTo>
                  <a:pt x="34120" y="1943100"/>
                  <a:pt x="0" y="1908980"/>
                  <a:pt x="0" y="1866892"/>
                </a:cubicBezTo>
                <a:lnTo>
                  <a:pt x="0" y="76208"/>
                </a:lnTo>
                <a:cubicBezTo>
                  <a:pt x="0" y="34148"/>
                  <a:pt x="34148"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38514"/>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offsets</a:t>
            </a:r>
            <a:endParaRPr lang="en-US" sz="1100"/>
          </a:p>
        </p:txBody>
      </p:sp>
      <p:sp>
        <p:nvSpPr>
          <p:cNvPr id="5" name="Freeform 5"/>
          <p:cNvSpPr/>
          <p:nvPr/>
        </p:nvSpPr>
        <p:spPr>
          <a:xfrm>
            <a:off x="628484" y="2057605"/>
            <a:ext cx="10953655" cy="1066800"/>
          </a:xfrm>
          <a:custGeom>
            <a:avLst/>
            <a:gdLst/>
            <a:ahLst/>
            <a:cxnLst/>
            <a:rect l="l" t="t" r="r" b="b"/>
            <a:pathLst>
              <a:path w="10953655" h="1066800">
                <a:moveTo>
                  <a:pt x="37910" y="0"/>
                </a:moveTo>
                <a:lnTo>
                  <a:pt x="10915560" y="0"/>
                </a:lnTo>
                <a:cubicBezTo>
                  <a:pt x="10936585" y="0"/>
                  <a:pt x="10953655" y="17070"/>
                  <a:pt x="10953655" y="38095"/>
                </a:cubicBezTo>
                <a:lnTo>
                  <a:pt x="10953655" y="1028705"/>
                </a:lnTo>
                <a:cubicBezTo>
                  <a:pt x="10953655" y="1049730"/>
                  <a:pt x="10936585" y="1066800"/>
                  <a:pt x="10915560" y="1066800"/>
                </a:cubicBezTo>
                <a:lnTo>
                  <a:pt x="37910" y="1066800"/>
                </a:lnTo>
                <a:cubicBezTo>
                  <a:pt x="16974" y="1066800"/>
                  <a:pt x="0" y="1049826"/>
                  <a:pt x="0" y="10288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2057605"/>
            <a:ext cx="37909" cy="1066800"/>
          </a:xfrm>
          <a:custGeom>
            <a:avLst/>
            <a:gdLst/>
            <a:ahLst/>
            <a:cxnLst/>
            <a:rect l="l" t="t" r="r" b="b"/>
            <a:pathLst>
              <a:path w="37909" h="1066800">
                <a:moveTo>
                  <a:pt x="37910" y="0"/>
                </a:moveTo>
                <a:lnTo>
                  <a:pt x="37910" y="0"/>
                </a:lnTo>
                <a:lnTo>
                  <a:pt x="37910" y="1066800"/>
                </a:lnTo>
                <a:lnTo>
                  <a:pt x="37910" y="1066800"/>
                </a:lnTo>
                <a:cubicBezTo>
                  <a:pt x="16974" y="1066800"/>
                  <a:pt x="0" y="1049826"/>
                  <a:pt x="0" y="10288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2057605"/>
            <a:ext cx="11010900" cy="10668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offs_m = pid_m * BLOCK_M + tl.arange(0, BLOCK_M)</a:t>
            </a:r>
            <a:endParaRPr lang="en-US" sz="1100"/>
          </a:p>
          <a:p>
            <a:pPr indent="0" algn="l">
              <a:lnSpc>
                <a:spcPct val="133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offs_n = pid_n * BLOCK_N + tl.arange(0, BLOCK_N)</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80956" y="3581353"/>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80992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Represents</a:t>
            </a:r>
            <a:endParaRPr lang="en-US" sz="1100"/>
          </a:p>
        </p:txBody>
      </p:sp>
      <p:sp>
        <p:nvSpPr>
          <p:cNvPr id="10" name="Freeform 10"/>
          <p:cNvSpPr/>
          <p:nvPr/>
        </p:nvSpPr>
        <p:spPr>
          <a:xfrm>
            <a:off x="609529" y="4229016"/>
            <a:ext cx="10972800" cy="685800"/>
          </a:xfrm>
          <a:custGeom>
            <a:avLst/>
            <a:gdLst/>
            <a:ahLst/>
            <a:cxnLst/>
            <a:rect l="l" t="t" r="r" b="b"/>
            <a:pathLst>
              <a:path w="10972800" h="685800">
                <a:moveTo>
                  <a:pt x="38103" y="0"/>
                </a:moveTo>
                <a:lnTo>
                  <a:pt x="10934697" y="0"/>
                </a:lnTo>
                <a:cubicBezTo>
                  <a:pt x="10955741" y="0"/>
                  <a:pt x="10972800" y="17059"/>
                  <a:pt x="10972800" y="38103"/>
                </a:cubicBezTo>
                <a:lnTo>
                  <a:pt x="10972800" y="647697"/>
                </a:lnTo>
                <a:cubicBezTo>
                  <a:pt x="10972800" y="668741"/>
                  <a:pt x="10955741" y="685800"/>
                  <a:pt x="10934697" y="685800"/>
                </a:cubicBezTo>
                <a:lnTo>
                  <a:pt x="38103" y="685800"/>
                </a:lnTo>
                <a:cubicBezTo>
                  <a:pt x="17059" y="685800"/>
                  <a:pt x="0" y="668741"/>
                  <a:pt x="0" y="6476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742820" y="4419451"/>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Current tile row/column position</a:t>
            </a:r>
            <a:endParaRPr lang="en-US" sz="1100"/>
          </a:p>
        </p:txBody>
      </p:sp>
      <p:sp>
        <p:nvSpPr>
          <p:cNvPr id="12" name="Freeform 12"/>
          <p:cNvSpPr/>
          <p:nvPr/>
        </p:nvSpPr>
        <p:spPr>
          <a:xfrm>
            <a:off x="380956" y="53717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71396" y="55621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offs_m</a:t>
            </a:r>
            <a:endParaRPr lang="en-US" sz="1100"/>
          </a:p>
        </p:txBody>
      </p:sp>
      <p:sp>
        <p:nvSpPr>
          <p:cNvPr id="14" name="AutoShape 14"/>
          <p:cNvSpPr/>
          <p:nvPr/>
        </p:nvSpPr>
        <p:spPr>
          <a:xfrm>
            <a:off x="571396" y="5905072"/>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Offset array in M dimension</a:t>
            </a:r>
            <a:endParaRPr lang="en-US" sz="1100"/>
          </a:p>
        </p:txBody>
      </p:sp>
      <p:sp>
        <p:nvSpPr>
          <p:cNvPr id="15" name="Freeform 15"/>
          <p:cNvSpPr/>
          <p:nvPr/>
        </p:nvSpPr>
        <p:spPr>
          <a:xfrm>
            <a:off x="6210279" y="53717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400720" y="55621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offs_n</a:t>
            </a:r>
            <a:endParaRPr lang="en-US" sz="1100"/>
          </a:p>
        </p:txBody>
      </p:sp>
      <p:sp>
        <p:nvSpPr>
          <p:cNvPr id="17" name="AutoShape 17"/>
          <p:cNvSpPr/>
          <p:nvPr/>
        </p:nvSpPr>
        <p:spPr>
          <a:xfrm>
            <a:off x="6400720" y="5905072"/>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Offset array in N dimension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842"/>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Loop over K Dimension</a:t>
            </a:r>
            <a:endParaRPr lang="en-US" sz="1100"/>
          </a:p>
        </p:txBody>
      </p:sp>
      <p:sp>
        <p:nvSpPr>
          <p:cNvPr id="3" name="Freeform 3"/>
          <p:cNvSpPr/>
          <p:nvPr/>
        </p:nvSpPr>
        <p:spPr>
          <a:xfrm>
            <a:off x="380956" y="1447921"/>
            <a:ext cx="11430000" cy="1524000"/>
          </a:xfrm>
          <a:custGeom>
            <a:avLst/>
            <a:gdLst/>
            <a:ahLst/>
            <a:cxnLst/>
            <a:rect l="l" t="t" r="r" b="b"/>
            <a:pathLst>
              <a:path w="11430000" h="1524000">
                <a:moveTo>
                  <a:pt x="76200" y="0"/>
                </a:moveTo>
                <a:lnTo>
                  <a:pt x="11353800" y="0"/>
                </a:lnTo>
                <a:cubicBezTo>
                  <a:pt x="11395856" y="0"/>
                  <a:pt x="11430000" y="34144"/>
                  <a:pt x="11430000" y="76200"/>
                </a:cubicBezTo>
                <a:lnTo>
                  <a:pt x="11430000" y="1447800"/>
                </a:lnTo>
                <a:cubicBezTo>
                  <a:pt x="11430000" y="1489856"/>
                  <a:pt x="11395856" y="1524000"/>
                  <a:pt x="1135380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76493"/>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Core Loop</a:t>
            </a:r>
            <a:endParaRPr lang="en-US" sz="1100"/>
          </a:p>
        </p:txBody>
      </p:sp>
      <p:sp>
        <p:nvSpPr>
          <p:cNvPr id="5" name="Freeform 5"/>
          <p:cNvSpPr/>
          <p:nvPr/>
        </p:nvSpPr>
        <p:spPr>
          <a:xfrm>
            <a:off x="628484" y="2095584"/>
            <a:ext cx="10953655" cy="647700"/>
          </a:xfrm>
          <a:custGeom>
            <a:avLst/>
            <a:gdLst/>
            <a:ahLst/>
            <a:cxnLst/>
            <a:rect l="l" t="t" r="r" b="b"/>
            <a:pathLst>
              <a:path w="10953655" h="647700">
                <a:moveTo>
                  <a:pt x="37910" y="0"/>
                </a:moveTo>
                <a:lnTo>
                  <a:pt x="10915559" y="0"/>
                </a:lnTo>
                <a:cubicBezTo>
                  <a:pt x="10936583" y="0"/>
                  <a:pt x="10953655" y="17071"/>
                  <a:pt x="10953655" y="38097"/>
                </a:cubicBezTo>
                <a:lnTo>
                  <a:pt x="10953655" y="609603"/>
                </a:lnTo>
                <a:cubicBezTo>
                  <a:pt x="10953655" y="630643"/>
                  <a:pt x="10936597" y="647700"/>
                  <a:pt x="10915559" y="647700"/>
                </a:cubicBezTo>
                <a:lnTo>
                  <a:pt x="37910" y="647700"/>
                </a:lnTo>
                <a:cubicBezTo>
                  <a:pt x="16974" y="647700"/>
                  <a:pt x="0" y="630726"/>
                  <a:pt x="0" y="6097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2095584"/>
            <a:ext cx="37909" cy="647700"/>
          </a:xfrm>
          <a:custGeom>
            <a:avLst/>
            <a:gdLst/>
            <a:ahLst/>
            <a:cxnLst/>
            <a:rect l="l" t="t" r="r" b="b"/>
            <a:pathLst>
              <a:path w="37909"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2095584"/>
            <a:ext cx="11020425" cy="6477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 k in range(0, K, BLOCK_K):</a:t>
            </a:r>
            <a:endParaRPr lang="en-US" sz="1100"/>
          </a:p>
        </p:txBody>
      </p:sp>
      <p:sp>
        <p:nvSpPr>
          <p:cNvPr id="8" name="Freeform 8"/>
          <p:cNvSpPr/>
          <p:nvPr/>
        </p:nvSpPr>
        <p:spPr>
          <a:xfrm>
            <a:off x="380956" y="3200316"/>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428898"/>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Each iteration performs</a:t>
            </a:r>
            <a:endParaRPr lang="en-US" sz="1100"/>
          </a:p>
        </p:txBody>
      </p:sp>
      <p:sp>
        <p:nvSpPr>
          <p:cNvPr id="10" name="Freeform 10"/>
          <p:cNvSpPr/>
          <p:nvPr/>
        </p:nvSpPr>
        <p:spPr>
          <a:xfrm>
            <a:off x="609529"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19049"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Load Tile A</a:t>
            </a:r>
            <a:endParaRPr lang="en-US" sz="1100"/>
          </a:p>
        </p:txBody>
      </p:sp>
      <p:sp>
        <p:nvSpPr>
          <p:cNvPr id="12" name="Freeform 12"/>
          <p:cNvSpPr/>
          <p:nvPr/>
        </p:nvSpPr>
        <p:spPr>
          <a:xfrm>
            <a:off x="4317941"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4427461"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Load Tile B</a:t>
            </a:r>
            <a:endParaRPr lang="en-US" sz="1100"/>
          </a:p>
        </p:txBody>
      </p:sp>
      <p:sp>
        <p:nvSpPr>
          <p:cNvPr id="14" name="Freeform 14"/>
          <p:cNvSpPr/>
          <p:nvPr/>
        </p:nvSpPr>
        <p:spPr>
          <a:xfrm>
            <a:off x="8026353"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8135872"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Accumulate result</a:t>
            </a:r>
            <a:endParaRPr lang="en-US" sz="1100"/>
          </a:p>
        </p:txBody>
      </p:sp>
      <p:sp>
        <p:nvSpPr>
          <p:cNvPr id="16" name="Freeform 16"/>
          <p:cNvSpPr/>
          <p:nvPr/>
        </p:nvSpPr>
        <p:spPr>
          <a:xfrm>
            <a:off x="380956" y="4876595"/>
            <a:ext cx="11430000" cy="1409700"/>
          </a:xfrm>
          <a:custGeom>
            <a:avLst/>
            <a:gdLst/>
            <a:ahLst/>
            <a:cxnLst/>
            <a:rect l="l" t="t" r="r" b="b"/>
            <a:pathLst>
              <a:path w="11430000" h="1409700">
                <a:moveTo>
                  <a:pt x="76194" y="0"/>
                </a:moveTo>
                <a:lnTo>
                  <a:pt x="11353806" y="0"/>
                </a:lnTo>
                <a:cubicBezTo>
                  <a:pt x="11395859" y="0"/>
                  <a:pt x="11430000" y="34141"/>
                  <a:pt x="11430000" y="76194"/>
                </a:cubicBezTo>
                <a:lnTo>
                  <a:pt x="11430000" y="1333506"/>
                </a:lnTo>
                <a:cubicBezTo>
                  <a:pt x="11430000" y="1375587"/>
                  <a:pt x="11395887" y="1409700"/>
                  <a:pt x="11353806" y="1409700"/>
                </a:cubicBezTo>
                <a:lnTo>
                  <a:pt x="76194" y="1409700"/>
                </a:lnTo>
                <a:cubicBezTo>
                  <a:pt x="34141" y="1409700"/>
                  <a:pt x="0" y="1375559"/>
                  <a:pt x="0" y="1333506"/>
                </a:cubicBezTo>
                <a:lnTo>
                  <a:pt x="0" y="76194"/>
                </a:lnTo>
                <a:cubicBezTo>
                  <a:pt x="0" y="34141"/>
                  <a:pt x="34141" y="0"/>
                  <a:pt x="761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33341" y="5132896"/>
            <a:ext cx="190500" cy="191915"/>
          </a:xfrm>
          <a:custGeom>
            <a:avLst/>
            <a:gdLst/>
            <a:ahLst/>
            <a:cxnLst/>
            <a:rect l="l" t="t" r="r" b="b"/>
            <a:pathLst>
              <a:path w="190500" h="191915">
                <a:moveTo>
                  <a:pt x="178631" y="72144"/>
                </a:moveTo>
                <a:lnTo>
                  <a:pt x="181571" y="72144"/>
                </a:lnTo>
                <a:cubicBezTo>
                  <a:pt x="186519" y="72144"/>
                  <a:pt x="190500" y="68163"/>
                  <a:pt x="190500" y="63215"/>
                </a:cubicBezTo>
                <a:lnTo>
                  <a:pt x="190500" y="9636"/>
                </a:lnTo>
                <a:cubicBezTo>
                  <a:pt x="190500" y="6028"/>
                  <a:pt x="188342" y="2753"/>
                  <a:pt x="184993" y="1378"/>
                </a:cubicBezTo>
                <a:cubicBezTo>
                  <a:pt x="181646" y="0"/>
                  <a:pt x="177811" y="781"/>
                  <a:pt x="175245" y="3310"/>
                </a:cubicBezTo>
                <a:lnTo>
                  <a:pt x="156009" y="22585"/>
                </a:lnTo>
                <a:cubicBezTo>
                  <a:pt x="139526" y="8930"/>
                  <a:pt x="118318" y="707"/>
                  <a:pt x="95250" y="707"/>
                </a:cubicBezTo>
                <a:cubicBezTo>
                  <a:pt x="47253" y="707"/>
                  <a:pt x="7553" y="36204"/>
                  <a:pt x="966" y="82376"/>
                </a:cubicBezTo>
                <a:cubicBezTo>
                  <a:pt x="37" y="88888"/>
                  <a:pt x="4539" y="94916"/>
                  <a:pt x="11050" y="95845"/>
                </a:cubicBezTo>
                <a:cubicBezTo>
                  <a:pt x="17562" y="96776"/>
                  <a:pt x="23589" y="92236"/>
                  <a:pt x="24519" y="85761"/>
                </a:cubicBezTo>
                <a:cubicBezTo>
                  <a:pt x="29468" y="51123"/>
                  <a:pt x="59271" y="24520"/>
                  <a:pt x="95250" y="24520"/>
                </a:cubicBezTo>
                <a:cubicBezTo>
                  <a:pt x="111770" y="24520"/>
                  <a:pt x="126950" y="30101"/>
                  <a:pt x="139043" y="39514"/>
                </a:cubicBezTo>
                <a:lnTo>
                  <a:pt x="121667" y="56891"/>
                </a:lnTo>
                <a:cubicBezTo>
                  <a:pt x="119101" y="59457"/>
                  <a:pt x="118356" y="63289"/>
                  <a:pt x="119732" y="66638"/>
                </a:cubicBezTo>
                <a:cubicBezTo>
                  <a:pt x="121108" y="69986"/>
                  <a:pt x="124383" y="72144"/>
                  <a:pt x="127992" y="72144"/>
                </a:cubicBezTo>
                <a:lnTo>
                  <a:pt x="178631" y="72144"/>
                </a:lnTo>
                <a:close/>
                <a:moveTo>
                  <a:pt x="189570" y="109538"/>
                </a:moveTo>
                <a:cubicBezTo>
                  <a:pt x="190500" y="103026"/>
                  <a:pt x="185961" y="96998"/>
                  <a:pt x="179487" y="96069"/>
                </a:cubicBezTo>
                <a:cubicBezTo>
                  <a:pt x="173013" y="95138"/>
                  <a:pt x="166948" y="99678"/>
                  <a:pt x="166018" y="106153"/>
                </a:cubicBezTo>
                <a:cubicBezTo>
                  <a:pt x="161069" y="140754"/>
                  <a:pt x="131266" y="167356"/>
                  <a:pt x="95287" y="167356"/>
                </a:cubicBezTo>
                <a:cubicBezTo>
                  <a:pt x="78767" y="167356"/>
                  <a:pt x="63588" y="161776"/>
                  <a:pt x="51495" y="152363"/>
                </a:cubicBezTo>
                <a:lnTo>
                  <a:pt x="68833" y="135023"/>
                </a:lnTo>
                <a:cubicBezTo>
                  <a:pt x="71399" y="132457"/>
                  <a:pt x="72144" y="128625"/>
                  <a:pt x="70768" y="125276"/>
                </a:cubicBezTo>
                <a:cubicBezTo>
                  <a:pt x="69392" y="121929"/>
                  <a:pt x="66117" y="119770"/>
                  <a:pt x="62508" y="119770"/>
                </a:cubicBezTo>
                <a:lnTo>
                  <a:pt x="8929" y="119770"/>
                </a:lnTo>
                <a:cubicBezTo>
                  <a:pt x="3981" y="119770"/>
                  <a:pt x="0" y="123751"/>
                  <a:pt x="0" y="128699"/>
                </a:cubicBezTo>
                <a:lnTo>
                  <a:pt x="0" y="182278"/>
                </a:lnTo>
                <a:cubicBezTo>
                  <a:pt x="0" y="185886"/>
                  <a:pt x="2158" y="189161"/>
                  <a:pt x="5507" y="190536"/>
                </a:cubicBezTo>
                <a:cubicBezTo>
                  <a:pt x="8854" y="191914"/>
                  <a:pt x="12689" y="191133"/>
                  <a:pt x="15255" y="188604"/>
                </a:cubicBezTo>
                <a:lnTo>
                  <a:pt x="34527" y="169329"/>
                </a:lnTo>
                <a:cubicBezTo>
                  <a:pt x="50974" y="182984"/>
                  <a:pt x="72182" y="191207"/>
                  <a:pt x="95250" y="191207"/>
                </a:cubicBezTo>
                <a:cubicBezTo>
                  <a:pt x="143247" y="191207"/>
                  <a:pt x="182947" y="155710"/>
                  <a:pt x="189534" y="10953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904804" y="5105167"/>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Loop Characteristics</a:t>
            </a:r>
            <a:endParaRPr lang="en-US" sz="1100"/>
          </a:p>
        </p:txBody>
      </p:sp>
      <p:sp>
        <p:nvSpPr>
          <p:cNvPr id="19" name="Freeform 19"/>
          <p:cNvSpPr/>
          <p:nvPr/>
        </p:nvSpPr>
        <p:spPr>
          <a:xfrm>
            <a:off x="628484" y="5524258"/>
            <a:ext cx="5391055" cy="533400"/>
          </a:xfrm>
          <a:custGeom>
            <a:avLst/>
            <a:gdLst/>
            <a:ahLst/>
            <a:cxnLst/>
            <a:rect l="l" t="t" r="r" b="b"/>
            <a:pathLst>
              <a:path w="5391055" h="533400">
                <a:moveTo>
                  <a:pt x="37910" y="0"/>
                </a:moveTo>
                <a:lnTo>
                  <a:pt x="5352953" y="0"/>
                </a:lnTo>
                <a:cubicBezTo>
                  <a:pt x="5373997" y="0"/>
                  <a:pt x="5391055" y="17057"/>
                  <a:pt x="5391055" y="38101"/>
                </a:cubicBezTo>
                <a:lnTo>
                  <a:pt x="5391055" y="495299"/>
                </a:lnTo>
                <a:cubicBezTo>
                  <a:pt x="5391055" y="516343"/>
                  <a:pt x="5373997" y="533400"/>
                  <a:pt x="5352953" y="533400"/>
                </a:cubicBezTo>
                <a:lnTo>
                  <a:pt x="37910" y="533400"/>
                </a:lnTo>
                <a:cubicBezTo>
                  <a:pt x="16974" y="533400"/>
                  <a:pt x="0" y="516426"/>
                  <a:pt x="0" y="4954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8484" y="5524258"/>
            <a:ext cx="37909" cy="533400"/>
          </a:xfrm>
          <a:custGeom>
            <a:avLst/>
            <a:gdLst/>
            <a:ahLst/>
            <a:cxnLst/>
            <a:rect l="l" t="t" r="r" b="b"/>
            <a:pathLst>
              <a:path w="37909" h="533400">
                <a:moveTo>
                  <a:pt x="37910" y="0"/>
                </a:moveTo>
                <a:lnTo>
                  <a:pt x="37910" y="0"/>
                </a:lnTo>
                <a:lnTo>
                  <a:pt x="37910" y="533400"/>
                </a:lnTo>
                <a:lnTo>
                  <a:pt x="37910" y="533400"/>
                </a:lnTo>
                <a:cubicBezTo>
                  <a:pt x="16974" y="533400"/>
                  <a:pt x="0" y="516426"/>
                  <a:pt x="0" y="4954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99822" y="567664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Step size is BLOCK_K</a:t>
            </a:r>
            <a:endParaRPr lang="en-US" sz="1100"/>
          </a:p>
        </p:txBody>
      </p:sp>
      <p:sp>
        <p:nvSpPr>
          <p:cNvPr id="22" name="Freeform 22"/>
          <p:cNvSpPr/>
          <p:nvPr/>
        </p:nvSpPr>
        <p:spPr>
          <a:xfrm>
            <a:off x="6191102" y="5524258"/>
            <a:ext cx="5391055" cy="533400"/>
          </a:xfrm>
          <a:custGeom>
            <a:avLst/>
            <a:gdLst/>
            <a:ahLst/>
            <a:cxnLst/>
            <a:rect l="l" t="t" r="r" b="b"/>
            <a:pathLst>
              <a:path w="5391055" h="533400">
                <a:moveTo>
                  <a:pt x="37910" y="0"/>
                </a:moveTo>
                <a:lnTo>
                  <a:pt x="5352953" y="0"/>
                </a:lnTo>
                <a:cubicBezTo>
                  <a:pt x="5373997" y="0"/>
                  <a:pt x="5391055" y="17057"/>
                  <a:pt x="5391055" y="38101"/>
                </a:cubicBezTo>
                <a:lnTo>
                  <a:pt x="5391055" y="495299"/>
                </a:lnTo>
                <a:cubicBezTo>
                  <a:pt x="5391055" y="516343"/>
                  <a:pt x="5373997" y="533400"/>
                  <a:pt x="5352953" y="533400"/>
                </a:cubicBezTo>
                <a:lnTo>
                  <a:pt x="37910" y="533400"/>
                </a:lnTo>
                <a:cubicBezTo>
                  <a:pt x="16974" y="533400"/>
                  <a:pt x="0" y="516426"/>
                  <a:pt x="0" y="4954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191102" y="5524258"/>
            <a:ext cx="37910" cy="533400"/>
          </a:xfrm>
          <a:custGeom>
            <a:avLst/>
            <a:gdLst/>
            <a:ahLst/>
            <a:cxnLst/>
            <a:rect l="l" t="t" r="r" b="b"/>
            <a:pathLst>
              <a:path w="37910" h="533400">
                <a:moveTo>
                  <a:pt x="37910" y="0"/>
                </a:moveTo>
                <a:lnTo>
                  <a:pt x="37910" y="0"/>
                </a:lnTo>
                <a:lnTo>
                  <a:pt x="37910" y="533400"/>
                </a:lnTo>
                <a:lnTo>
                  <a:pt x="37910" y="533400"/>
                </a:lnTo>
                <a:cubicBezTo>
                  <a:pt x="16974" y="533400"/>
                  <a:pt x="0" y="516426"/>
                  <a:pt x="0" y="4954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362440" y="567664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Covers the entire K dimension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59035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Local Accumulation (Accumulator)</a:t>
            </a:r>
            <a:endParaRPr lang="en-US" sz="1100"/>
          </a:p>
        </p:txBody>
      </p:sp>
      <p:sp>
        <p:nvSpPr>
          <p:cNvPr id="3" name="Freeform 3"/>
          <p:cNvSpPr/>
          <p:nvPr/>
        </p:nvSpPr>
        <p:spPr>
          <a:xfrm>
            <a:off x="380956" y="1257114"/>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8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Use an accumulator</a:t>
            </a:r>
            <a:endParaRPr lang="en-US" sz="1100"/>
          </a:p>
        </p:txBody>
      </p:sp>
      <p:sp>
        <p:nvSpPr>
          <p:cNvPr id="5" name="Freeform 5"/>
          <p:cNvSpPr/>
          <p:nvPr/>
        </p:nvSpPr>
        <p:spPr>
          <a:xfrm>
            <a:off x="628484" y="1904777"/>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1904777"/>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1904777"/>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tl.zeros((BLOCK_M, BLOCK_N))</a:t>
            </a:r>
            <a:endParaRPr lang="en-US" sz="1100"/>
          </a:p>
        </p:txBody>
      </p:sp>
      <p:sp>
        <p:nvSpPr>
          <p:cNvPr id="8" name="Freeform 8"/>
          <p:cNvSpPr/>
          <p:nvPr/>
        </p:nvSpPr>
        <p:spPr>
          <a:xfrm>
            <a:off x="380956" y="2971372"/>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199944"/>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Update</a:t>
            </a:r>
            <a:endParaRPr lang="en-US" sz="1100"/>
          </a:p>
        </p:txBody>
      </p:sp>
      <p:sp>
        <p:nvSpPr>
          <p:cNvPr id="10" name="Freeform 10"/>
          <p:cNvSpPr/>
          <p:nvPr/>
        </p:nvSpPr>
        <p:spPr>
          <a:xfrm>
            <a:off x="628484" y="3619035"/>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0"/>
                </a:cubicBezTo>
                <a:lnTo>
                  <a:pt x="0" y="37909"/>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8484" y="3619035"/>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619035"/>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tl.dot(a, b)</a:t>
            </a:r>
            <a:endParaRPr lang="en-US" sz="1100"/>
          </a:p>
        </p:txBody>
      </p:sp>
      <p:sp>
        <p:nvSpPr>
          <p:cNvPr id="13" name="Freeform 13"/>
          <p:cNvSpPr/>
          <p:nvPr/>
        </p:nvSpPr>
        <p:spPr>
          <a:xfrm>
            <a:off x="380956" y="4685640"/>
            <a:ext cx="11430000" cy="1905000"/>
          </a:xfrm>
          <a:custGeom>
            <a:avLst/>
            <a:gdLst/>
            <a:ahLst/>
            <a:cxnLst/>
            <a:rect l="l" t="t" r="r" b="b"/>
            <a:pathLst>
              <a:path w="11430000" h="1905000">
                <a:moveTo>
                  <a:pt x="76200" y="0"/>
                </a:moveTo>
                <a:lnTo>
                  <a:pt x="11353800" y="0"/>
                </a:lnTo>
                <a:cubicBezTo>
                  <a:pt x="11395856" y="0"/>
                  <a:pt x="11430000" y="34144"/>
                  <a:pt x="11430000" y="76200"/>
                </a:cubicBezTo>
                <a:lnTo>
                  <a:pt x="11430000" y="1828800"/>
                </a:lnTo>
                <a:cubicBezTo>
                  <a:pt x="11430000" y="1870856"/>
                  <a:pt x="11395856" y="1905000"/>
                  <a:pt x="11353800" y="1905000"/>
                </a:cubicBezTo>
                <a:lnTo>
                  <a:pt x="76200" y="1905000"/>
                </a:lnTo>
                <a:cubicBezTo>
                  <a:pt x="34144" y="1905000"/>
                  <a:pt x="0" y="1870856"/>
                  <a:pt x="0" y="1828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04804" y="4914212"/>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Advantages</a:t>
            </a:r>
            <a:endParaRPr lang="en-US" sz="1100"/>
          </a:p>
        </p:txBody>
      </p:sp>
      <p:sp>
        <p:nvSpPr>
          <p:cNvPr id="15" name="Freeform 15"/>
          <p:cNvSpPr/>
          <p:nvPr/>
        </p:nvSpPr>
        <p:spPr>
          <a:xfrm>
            <a:off x="609529" y="5333302"/>
            <a:ext cx="10972800" cy="1028700"/>
          </a:xfrm>
          <a:custGeom>
            <a:avLst/>
            <a:gdLst/>
            <a:ahLst/>
            <a:cxnLst/>
            <a:rect l="l" t="t" r="r" b="b"/>
            <a:pathLst>
              <a:path w="10972800" h="1028700">
                <a:moveTo>
                  <a:pt x="38103" y="0"/>
                </a:moveTo>
                <a:lnTo>
                  <a:pt x="10934697" y="0"/>
                </a:lnTo>
                <a:cubicBezTo>
                  <a:pt x="10955741" y="0"/>
                  <a:pt x="10972800" y="17059"/>
                  <a:pt x="10972800" y="38103"/>
                </a:cubicBezTo>
                <a:lnTo>
                  <a:pt x="10972800" y="990597"/>
                </a:lnTo>
                <a:cubicBezTo>
                  <a:pt x="10972800" y="1011641"/>
                  <a:pt x="10955741" y="1028700"/>
                  <a:pt x="10934697" y="1028700"/>
                </a:cubicBezTo>
                <a:lnTo>
                  <a:pt x="38103" y="1028700"/>
                </a:lnTo>
                <a:cubicBezTo>
                  <a:pt x="17059" y="1028700"/>
                  <a:pt x="0" y="1011641"/>
                  <a:pt x="0" y="9905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742820" y="5523737"/>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Avoids frequent writes to Global Memory</a:t>
            </a:r>
            <a:endParaRPr lang="en-US" sz="1100"/>
          </a:p>
        </p:txBody>
      </p:sp>
      <p:sp>
        <p:nvSpPr>
          <p:cNvPr id="17" name="AutoShape 17"/>
          <p:cNvSpPr/>
          <p:nvPr/>
        </p:nvSpPr>
        <p:spPr>
          <a:xfrm>
            <a:off x="757107" y="5904626"/>
            <a:ext cx="10677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Reduces memory access count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3813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Write Back to Global Memory</a:t>
            </a:r>
            <a:endParaRPr lang="en-US" sz="1100"/>
          </a:p>
        </p:txBody>
      </p:sp>
      <p:sp>
        <p:nvSpPr>
          <p:cNvPr id="3" name="Freeform 3"/>
          <p:cNvSpPr/>
          <p:nvPr/>
        </p:nvSpPr>
        <p:spPr>
          <a:xfrm>
            <a:off x="380956" y="1390845"/>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1941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After computation completes</a:t>
            </a:r>
            <a:endParaRPr lang="en-US" sz="1100"/>
          </a:p>
        </p:txBody>
      </p:sp>
      <p:sp>
        <p:nvSpPr>
          <p:cNvPr id="5" name="Freeform 5"/>
          <p:cNvSpPr/>
          <p:nvPr/>
        </p:nvSpPr>
        <p:spPr>
          <a:xfrm>
            <a:off x="609529" y="2038508"/>
            <a:ext cx="10972800" cy="685800"/>
          </a:xfrm>
          <a:custGeom>
            <a:avLst/>
            <a:gdLst/>
            <a:ahLst/>
            <a:cxnLst/>
            <a:rect l="l" t="t" r="r" b="b"/>
            <a:pathLst>
              <a:path w="10972800" h="685800">
                <a:moveTo>
                  <a:pt x="76199" y="0"/>
                </a:moveTo>
                <a:lnTo>
                  <a:pt x="10896601" y="0"/>
                </a:lnTo>
                <a:cubicBezTo>
                  <a:pt x="10938684" y="0"/>
                  <a:pt x="10972800" y="34116"/>
                  <a:pt x="10972800" y="76199"/>
                </a:cubicBezTo>
                <a:lnTo>
                  <a:pt x="10972800" y="609601"/>
                </a:lnTo>
                <a:cubicBezTo>
                  <a:pt x="10972800" y="651684"/>
                  <a:pt x="10938684" y="685800"/>
                  <a:pt x="10896601" y="685800"/>
                </a:cubicBezTo>
                <a:lnTo>
                  <a:pt x="76199" y="685800"/>
                </a:lnTo>
                <a:cubicBezTo>
                  <a:pt x="34116" y="685800"/>
                  <a:pt x="0" y="651684"/>
                  <a:pt x="0" y="6096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42820" y="2228943"/>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Write back results</a:t>
            </a:r>
            <a:endParaRPr lang="en-US" sz="1100"/>
          </a:p>
        </p:txBody>
      </p:sp>
      <p:sp>
        <p:nvSpPr>
          <p:cNvPr id="7" name="Freeform 7"/>
          <p:cNvSpPr/>
          <p:nvPr/>
        </p:nvSpPr>
        <p:spPr>
          <a:xfrm>
            <a:off x="380956" y="3181220"/>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3409792"/>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sp>
        <p:nvSpPr>
          <p:cNvPr id="9" name="Freeform 9"/>
          <p:cNvSpPr/>
          <p:nvPr/>
        </p:nvSpPr>
        <p:spPr>
          <a:xfrm>
            <a:off x="628484" y="3828883"/>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0"/>
                </a:cubicBezTo>
                <a:lnTo>
                  <a:pt x="0" y="37909"/>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28484" y="3828883"/>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29" y="3828883"/>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tl.store(C_ptr, acc)</a:t>
            </a:r>
            <a:endParaRPr lang="en-US" sz="1100"/>
          </a:p>
        </p:txBody>
      </p:sp>
      <p:sp>
        <p:nvSpPr>
          <p:cNvPr id="12" name="Freeform 12"/>
          <p:cNvSpPr/>
          <p:nvPr/>
        </p:nvSpPr>
        <p:spPr>
          <a:xfrm>
            <a:off x="380956" y="4895487"/>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04804" y="5124059"/>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Characteristics</a:t>
            </a:r>
            <a:endParaRPr lang="en-US" sz="1100"/>
          </a:p>
        </p:txBody>
      </p:sp>
      <p:sp>
        <p:nvSpPr>
          <p:cNvPr id="14" name="Freeform 14"/>
          <p:cNvSpPr/>
          <p:nvPr/>
        </p:nvSpPr>
        <p:spPr>
          <a:xfrm>
            <a:off x="609529" y="5543150"/>
            <a:ext cx="5410200" cy="571500"/>
          </a:xfrm>
          <a:custGeom>
            <a:avLst/>
            <a:gdLst/>
            <a:ahLst/>
            <a:cxnLst/>
            <a:rect l="l" t="t" r="r" b="b"/>
            <a:pathLst>
              <a:path w="5410200" h="571500">
                <a:moveTo>
                  <a:pt x="38103" y="0"/>
                </a:moveTo>
                <a:lnTo>
                  <a:pt x="5372097" y="0"/>
                </a:lnTo>
                <a:cubicBezTo>
                  <a:pt x="5393141" y="0"/>
                  <a:pt x="5410200" y="17059"/>
                  <a:pt x="5410200" y="38103"/>
                </a:cubicBezTo>
                <a:lnTo>
                  <a:pt x="5410200" y="533397"/>
                </a:lnTo>
                <a:cubicBezTo>
                  <a:pt x="5410200" y="554441"/>
                  <a:pt x="5393141" y="571500"/>
                  <a:pt x="53720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714286" y="5695531"/>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Written only once</a:t>
            </a:r>
            <a:endParaRPr lang="en-US" sz="1100"/>
          </a:p>
        </p:txBody>
      </p:sp>
      <p:sp>
        <p:nvSpPr>
          <p:cNvPr id="16" name="Freeform 16"/>
          <p:cNvSpPr/>
          <p:nvPr/>
        </p:nvSpPr>
        <p:spPr>
          <a:xfrm>
            <a:off x="6172147" y="5543150"/>
            <a:ext cx="5410200" cy="571500"/>
          </a:xfrm>
          <a:custGeom>
            <a:avLst/>
            <a:gdLst/>
            <a:ahLst/>
            <a:cxnLst/>
            <a:rect l="l" t="t" r="r" b="b"/>
            <a:pathLst>
              <a:path w="5410200" h="571500">
                <a:moveTo>
                  <a:pt x="38103" y="0"/>
                </a:moveTo>
                <a:lnTo>
                  <a:pt x="5372097" y="0"/>
                </a:lnTo>
                <a:cubicBezTo>
                  <a:pt x="5393141" y="0"/>
                  <a:pt x="5410200" y="17059"/>
                  <a:pt x="5410200" y="38103"/>
                </a:cubicBezTo>
                <a:lnTo>
                  <a:pt x="5410200" y="533397"/>
                </a:lnTo>
                <a:cubicBezTo>
                  <a:pt x="5410200" y="554441"/>
                  <a:pt x="5393141" y="571500"/>
                  <a:pt x="53720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6276904" y="5695531"/>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Reduces memory accesses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141" y="61926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GPU Memory Limits and Streaming Computation</a:t>
            </a:r>
            <a:endParaRPr lang="en-US" sz="1100"/>
          </a:p>
        </p:txBody>
      </p:sp>
      <p:sp>
        <p:nvSpPr>
          <p:cNvPr id="3" name="Freeform 3"/>
          <p:cNvSpPr/>
          <p:nvPr/>
        </p:nvSpPr>
        <p:spPr>
          <a:xfrm>
            <a:off x="380956" y="1657471"/>
            <a:ext cx="5562600" cy="2438400"/>
          </a:xfrm>
          <a:custGeom>
            <a:avLst/>
            <a:gdLst/>
            <a:ahLst/>
            <a:cxnLst/>
            <a:rect l="l" t="t" r="r" b="b"/>
            <a:pathLst>
              <a:path w="5562600" h="2438400">
                <a:moveTo>
                  <a:pt x="76200" y="0"/>
                </a:moveTo>
                <a:lnTo>
                  <a:pt x="5486400" y="0"/>
                </a:lnTo>
                <a:cubicBezTo>
                  <a:pt x="5528456" y="0"/>
                  <a:pt x="5562600" y="34144"/>
                  <a:pt x="5562600" y="76200"/>
                </a:cubicBezTo>
                <a:lnTo>
                  <a:pt x="5562600" y="2362200"/>
                </a:lnTo>
                <a:cubicBezTo>
                  <a:pt x="5562600" y="2404256"/>
                  <a:pt x="5528456" y="2438400"/>
                  <a:pt x="5486400" y="2438400"/>
                </a:cubicBezTo>
                <a:lnTo>
                  <a:pt x="76200" y="2438400"/>
                </a:lnTo>
                <a:cubicBezTo>
                  <a:pt x="34144" y="2438400"/>
                  <a:pt x="0" y="2404256"/>
                  <a:pt x="0" y="23622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895480"/>
            <a:ext cx="4905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Problem</a:t>
            </a:r>
            <a:endParaRPr lang="en-US" sz="1100"/>
          </a:p>
        </p:txBody>
      </p:sp>
      <p:sp>
        <p:nvSpPr>
          <p:cNvPr id="5" name="Freeform 5"/>
          <p:cNvSpPr/>
          <p:nvPr/>
        </p:nvSpPr>
        <p:spPr>
          <a:xfrm>
            <a:off x="628484" y="2305134"/>
            <a:ext cx="5086255" cy="571500"/>
          </a:xfrm>
          <a:custGeom>
            <a:avLst/>
            <a:gdLst/>
            <a:ahLst/>
            <a:cxnLst/>
            <a:rect l="l" t="t" r="r" b="b"/>
            <a:pathLst>
              <a:path w="5086255" h="571500">
                <a:moveTo>
                  <a:pt x="37910" y="0"/>
                </a:moveTo>
                <a:lnTo>
                  <a:pt x="5048153" y="0"/>
                </a:lnTo>
                <a:cubicBezTo>
                  <a:pt x="5069196" y="0"/>
                  <a:pt x="5086255" y="17059"/>
                  <a:pt x="5086255" y="38103"/>
                </a:cubicBezTo>
                <a:lnTo>
                  <a:pt x="5086255" y="533397"/>
                </a:lnTo>
                <a:cubicBezTo>
                  <a:pt x="5086255" y="554441"/>
                  <a:pt x="5069196" y="571500"/>
                  <a:pt x="50481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2305134"/>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99822" y="2457515"/>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Large matrices cannot be fully loaded at once</a:t>
            </a:r>
            <a:endParaRPr lang="en-US" sz="1100"/>
          </a:p>
        </p:txBody>
      </p:sp>
      <p:sp>
        <p:nvSpPr>
          <p:cNvPr id="8" name="Freeform 8"/>
          <p:cNvSpPr/>
          <p:nvPr/>
        </p:nvSpPr>
        <p:spPr>
          <a:xfrm>
            <a:off x="609529" y="2990859"/>
            <a:ext cx="5105400" cy="876300"/>
          </a:xfrm>
          <a:custGeom>
            <a:avLst/>
            <a:gdLst/>
            <a:ahLst/>
            <a:cxnLst/>
            <a:rect l="l" t="t" r="r" b="b"/>
            <a:pathLst>
              <a:path w="5105400" h="876300">
                <a:moveTo>
                  <a:pt x="38103" y="0"/>
                </a:moveTo>
                <a:lnTo>
                  <a:pt x="5067297" y="0"/>
                </a:lnTo>
                <a:cubicBezTo>
                  <a:pt x="5088341" y="0"/>
                  <a:pt x="5105400" y="17059"/>
                  <a:pt x="5105400" y="38103"/>
                </a:cubicBezTo>
                <a:lnTo>
                  <a:pt x="5105400" y="838197"/>
                </a:lnTo>
                <a:cubicBezTo>
                  <a:pt x="5105400" y="859241"/>
                  <a:pt x="5088341" y="876300"/>
                  <a:pt x="5067297" y="876300"/>
                </a:cubicBezTo>
                <a:lnTo>
                  <a:pt x="38103" y="876300"/>
                </a:lnTo>
                <a:cubicBezTo>
                  <a:pt x="17059" y="876300"/>
                  <a:pt x="0" y="859241"/>
                  <a:pt x="0" y="8381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61911" y="314324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Example: 4096 × 4096 matrix</a:t>
            </a:r>
            <a:endParaRPr lang="en-US" sz="1100"/>
          </a:p>
        </p:txBody>
      </p:sp>
      <p:sp>
        <p:nvSpPr>
          <p:cNvPr id="10" name="AutoShape 10"/>
          <p:cNvSpPr/>
          <p:nvPr/>
        </p:nvSpPr>
        <p:spPr>
          <a:xfrm>
            <a:off x="761911" y="3448003"/>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Requires 64MB+</a:t>
            </a:r>
            <a:endParaRPr lang="en-US" sz="1100"/>
          </a:p>
        </p:txBody>
      </p:sp>
      <p:sp>
        <p:nvSpPr>
          <p:cNvPr id="11" name="Freeform 11"/>
          <p:cNvSpPr/>
          <p:nvPr/>
        </p:nvSpPr>
        <p:spPr>
          <a:xfrm>
            <a:off x="380956" y="4286101"/>
            <a:ext cx="5562600" cy="1485900"/>
          </a:xfrm>
          <a:custGeom>
            <a:avLst/>
            <a:gdLst/>
            <a:ahLst/>
            <a:cxnLst/>
            <a:rect l="l" t="t" r="r" b="b"/>
            <a:pathLst>
              <a:path w="5562600" h="1485900">
                <a:moveTo>
                  <a:pt x="76197" y="0"/>
                </a:moveTo>
                <a:lnTo>
                  <a:pt x="5486403" y="0"/>
                </a:lnTo>
                <a:cubicBezTo>
                  <a:pt x="5528485" y="0"/>
                  <a:pt x="5562600" y="34115"/>
                  <a:pt x="5562600" y="76197"/>
                </a:cubicBezTo>
                <a:lnTo>
                  <a:pt x="5562600" y="1409703"/>
                </a:lnTo>
                <a:cubicBezTo>
                  <a:pt x="5562600" y="1451785"/>
                  <a:pt x="5528485" y="1485900"/>
                  <a:pt x="548640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4514673"/>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Solution</a:t>
            </a:r>
            <a:endParaRPr lang="en-US" sz="1100"/>
          </a:p>
        </p:txBody>
      </p:sp>
      <p:sp>
        <p:nvSpPr>
          <p:cNvPr id="13" name="Freeform 13"/>
          <p:cNvSpPr/>
          <p:nvPr/>
        </p:nvSpPr>
        <p:spPr>
          <a:xfrm>
            <a:off x="609529" y="4933764"/>
            <a:ext cx="5105400" cy="609600"/>
          </a:xfrm>
          <a:custGeom>
            <a:avLst/>
            <a:gdLst/>
            <a:ahLst/>
            <a:cxnLst/>
            <a:rect l="l" t="t" r="r" b="b"/>
            <a:pathLst>
              <a:path w="5105400" h="609600">
                <a:moveTo>
                  <a:pt x="38100" y="0"/>
                </a:moveTo>
                <a:lnTo>
                  <a:pt x="5067300" y="0"/>
                </a:lnTo>
                <a:cubicBezTo>
                  <a:pt x="5088327" y="0"/>
                  <a:pt x="5105400" y="17073"/>
                  <a:pt x="5105400" y="38100"/>
                </a:cubicBezTo>
                <a:lnTo>
                  <a:pt x="5105400" y="571500"/>
                </a:lnTo>
                <a:cubicBezTo>
                  <a:pt x="5105400" y="592527"/>
                  <a:pt x="5088327" y="609600"/>
                  <a:pt x="5067300" y="609600"/>
                </a:cubicBezTo>
                <a:lnTo>
                  <a:pt x="38100" y="609600"/>
                </a:lnTo>
                <a:cubicBezTo>
                  <a:pt x="17073" y="609600"/>
                  <a:pt x="0" y="592527"/>
                  <a:pt x="0" y="5715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704761" y="5086145"/>
            <a:ext cx="4914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Chunk</a:t>
            </a: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 </a:t>
            </a: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processing</a:t>
            </a:r>
            <a:endParaRPr lang="en-US" sz="1100"/>
          </a:p>
        </p:txBody>
      </p:sp>
      <p:sp>
        <p:nvSpPr>
          <p:cNvPr id="15" name="Freeform 15"/>
          <p:cNvSpPr/>
          <p:nvPr/>
        </p:nvSpPr>
        <p:spPr>
          <a:xfrm>
            <a:off x="6248338" y="1886043"/>
            <a:ext cx="5562600" cy="2819400"/>
          </a:xfrm>
          <a:custGeom>
            <a:avLst/>
            <a:gdLst/>
            <a:ahLst/>
            <a:cxnLst/>
            <a:rect l="l" t="t" r="r" b="b"/>
            <a:pathLst>
              <a:path w="5562600" h="2819400">
                <a:moveTo>
                  <a:pt x="76208" y="0"/>
                </a:moveTo>
                <a:lnTo>
                  <a:pt x="5486392" y="0"/>
                </a:lnTo>
                <a:cubicBezTo>
                  <a:pt x="5528480" y="0"/>
                  <a:pt x="5562600" y="34120"/>
                  <a:pt x="5562600" y="76208"/>
                </a:cubicBezTo>
                <a:lnTo>
                  <a:pt x="5562600" y="2743192"/>
                </a:lnTo>
                <a:cubicBezTo>
                  <a:pt x="5562600" y="2785280"/>
                  <a:pt x="5528480" y="2819400"/>
                  <a:pt x="5486392" y="2819400"/>
                </a:cubicBezTo>
                <a:lnTo>
                  <a:pt x="76208" y="2819400"/>
                </a:lnTo>
                <a:cubicBezTo>
                  <a:pt x="34120" y="2819400"/>
                  <a:pt x="0" y="2785280"/>
                  <a:pt x="0" y="2743192"/>
                </a:cubicBezTo>
                <a:lnTo>
                  <a:pt x="0" y="76208"/>
                </a:lnTo>
                <a:cubicBezTo>
                  <a:pt x="0" y="34148"/>
                  <a:pt x="34148"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500724" y="2166864"/>
            <a:ext cx="190500" cy="142875"/>
          </a:xfrm>
          <a:custGeom>
            <a:avLst/>
            <a:gdLst/>
            <a:ahLst/>
            <a:cxnLst/>
            <a:rect l="l" t="t" r="r" b="b"/>
            <a:pathLst>
              <a:path w="190500" h="142875">
                <a:moveTo>
                  <a:pt x="0" y="11906"/>
                </a:moveTo>
                <a:cubicBezTo>
                  <a:pt x="0" y="5320"/>
                  <a:pt x="5321" y="0"/>
                  <a:pt x="11906" y="0"/>
                </a:cubicBezTo>
                <a:lnTo>
                  <a:pt x="154781" y="0"/>
                </a:lnTo>
                <a:cubicBezTo>
                  <a:pt x="161367" y="0"/>
                  <a:pt x="166687" y="5320"/>
                  <a:pt x="166687" y="11906"/>
                </a:cubicBezTo>
                <a:cubicBezTo>
                  <a:pt x="166687" y="18491"/>
                  <a:pt x="161367" y="23812"/>
                  <a:pt x="154781" y="23812"/>
                </a:cubicBezTo>
                <a:lnTo>
                  <a:pt x="11906" y="23812"/>
                </a:lnTo>
                <a:cubicBezTo>
                  <a:pt x="5321" y="23812"/>
                  <a:pt x="0" y="18491"/>
                  <a:pt x="0" y="11906"/>
                </a:cubicBezTo>
                <a:close/>
                <a:moveTo>
                  <a:pt x="23812" y="71437"/>
                </a:moveTo>
                <a:cubicBezTo>
                  <a:pt x="23812" y="64851"/>
                  <a:pt x="29133" y="59531"/>
                  <a:pt x="35719" y="59531"/>
                </a:cubicBezTo>
                <a:lnTo>
                  <a:pt x="178594" y="59531"/>
                </a:lnTo>
                <a:cubicBezTo>
                  <a:pt x="185179" y="59531"/>
                  <a:pt x="190500" y="64851"/>
                  <a:pt x="190500" y="71437"/>
                </a:cubicBezTo>
                <a:cubicBezTo>
                  <a:pt x="190500" y="78023"/>
                  <a:pt x="185179" y="83343"/>
                  <a:pt x="178594" y="83343"/>
                </a:cubicBezTo>
                <a:lnTo>
                  <a:pt x="35719" y="83343"/>
                </a:lnTo>
                <a:cubicBezTo>
                  <a:pt x="29133" y="83343"/>
                  <a:pt x="23812" y="78023"/>
                  <a:pt x="23812" y="71437"/>
                </a:cubicBezTo>
                <a:close/>
                <a:moveTo>
                  <a:pt x="166687" y="130968"/>
                </a:moveTo>
                <a:cubicBezTo>
                  <a:pt x="166687" y="137554"/>
                  <a:pt x="161367" y="142874"/>
                  <a:pt x="154781" y="142874"/>
                </a:cubicBezTo>
                <a:lnTo>
                  <a:pt x="11906" y="142874"/>
                </a:lnTo>
                <a:cubicBezTo>
                  <a:pt x="5321" y="142874"/>
                  <a:pt x="0" y="137554"/>
                  <a:pt x="0" y="130968"/>
                </a:cubicBezTo>
                <a:cubicBezTo>
                  <a:pt x="0" y="124383"/>
                  <a:pt x="5321" y="119062"/>
                  <a:pt x="11906" y="119062"/>
                </a:cubicBezTo>
                <a:lnTo>
                  <a:pt x="154781" y="119062"/>
                </a:lnTo>
                <a:cubicBezTo>
                  <a:pt x="161367" y="119062"/>
                  <a:pt x="166687" y="124383"/>
                  <a:pt x="166687" y="13096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772186" y="2114624"/>
            <a:ext cx="4905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Streaming Computation</a:t>
            </a:r>
            <a:endParaRPr lang="en-US" sz="1100"/>
          </a:p>
        </p:txBody>
      </p:sp>
      <p:sp>
        <p:nvSpPr>
          <p:cNvPr id="18" name="Freeform 18"/>
          <p:cNvSpPr/>
          <p:nvPr/>
        </p:nvSpPr>
        <p:spPr>
          <a:xfrm>
            <a:off x="6495866" y="2533706"/>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495866" y="2533706"/>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667204" y="2686087"/>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Load block by block</a:t>
            </a:r>
            <a:endParaRPr lang="en-US" sz="1100"/>
          </a:p>
        </p:txBody>
      </p:sp>
      <p:sp>
        <p:nvSpPr>
          <p:cNvPr id="21" name="Freeform 21"/>
          <p:cNvSpPr/>
          <p:nvPr/>
        </p:nvSpPr>
        <p:spPr>
          <a:xfrm>
            <a:off x="6495866" y="3219431"/>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0"/>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6495866" y="3219431"/>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667204" y="3371813"/>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block by block</a:t>
            </a:r>
            <a:endParaRPr lang="en-US" sz="1100"/>
          </a:p>
        </p:txBody>
      </p:sp>
      <p:sp>
        <p:nvSpPr>
          <p:cNvPr id="24" name="Freeform 24"/>
          <p:cNvSpPr/>
          <p:nvPr/>
        </p:nvSpPr>
        <p:spPr>
          <a:xfrm>
            <a:off x="6495866" y="3905148"/>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95866" y="3905148"/>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67204" y="4057529"/>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Write back block by block</a:t>
            </a:r>
            <a:endParaRPr lang="en-US" sz="1100"/>
          </a:p>
        </p:txBody>
      </p:sp>
      <p:sp>
        <p:nvSpPr>
          <p:cNvPr id="27" name="Freeform 27"/>
          <p:cNvSpPr/>
          <p:nvPr/>
        </p:nvSpPr>
        <p:spPr>
          <a:xfrm>
            <a:off x="6248338" y="4895636"/>
            <a:ext cx="5562600" cy="647700"/>
          </a:xfrm>
          <a:custGeom>
            <a:avLst/>
            <a:gdLst/>
            <a:ahLst/>
            <a:cxnLst/>
            <a:rect l="l" t="t" r="r" b="b"/>
            <a:pathLst>
              <a:path w="5562600" h="647700">
                <a:moveTo>
                  <a:pt x="76203" y="0"/>
                </a:moveTo>
                <a:lnTo>
                  <a:pt x="5486397" y="0"/>
                </a:lnTo>
                <a:cubicBezTo>
                  <a:pt x="5528483" y="0"/>
                  <a:pt x="5562600" y="34117"/>
                  <a:pt x="5562600" y="76203"/>
                </a:cubicBezTo>
                <a:lnTo>
                  <a:pt x="5562600" y="571497"/>
                </a:lnTo>
                <a:cubicBezTo>
                  <a:pt x="5562600" y="613583"/>
                  <a:pt x="5528483" y="647700"/>
                  <a:pt x="54863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395916" y="5086071"/>
            <a:ext cx="5267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Known as: Streaming computation</a:t>
            </a:r>
            <a:endParaRPr lang="en-US" sz="1100"/>
          </a:p>
        </p:txBody>
      </p:sp>
      <p:sp>
        <p:nvSpPr>
          <p:cNvPr id="29" name="AutoShape 29"/>
          <p:cNvSpPr/>
          <p:nvPr/>
        </p:nvSpPr>
        <p:spPr>
          <a:xfrm>
            <a:off x="380956" y="6324609"/>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9391" y="58096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Triton MatMul Kernel Example</a:t>
            </a:r>
            <a:endParaRPr lang="en-US" sz="1100"/>
          </a:p>
        </p:txBody>
      </p:sp>
      <p:sp>
        <p:nvSpPr>
          <p:cNvPr id="3" name="Freeform 3"/>
          <p:cNvSpPr/>
          <p:nvPr/>
        </p:nvSpPr>
        <p:spPr>
          <a:xfrm>
            <a:off x="399911" y="1352485"/>
            <a:ext cx="11267980" cy="4953000"/>
          </a:xfrm>
          <a:custGeom>
            <a:avLst/>
            <a:gdLst/>
            <a:ahLst/>
            <a:cxnLst/>
            <a:rect l="l" t="t" r="r" b="b"/>
            <a:pathLst>
              <a:path w="11267980" h="4953000">
                <a:moveTo>
                  <a:pt x="37909" y="0"/>
                </a:moveTo>
                <a:lnTo>
                  <a:pt x="11229892" y="0"/>
                </a:lnTo>
                <a:cubicBezTo>
                  <a:pt x="11250927" y="0"/>
                  <a:pt x="11267980" y="17054"/>
                  <a:pt x="11267980" y="38089"/>
                </a:cubicBezTo>
                <a:lnTo>
                  <a:pt x="11267980" y="4914911"/>
                </a:lnTo>
                <a:cubicBezTo>
                  <a:pt x="11267980" y="4935946"/>
                  <a:pt x="11250927" y="4953000"/>
                  <a:pt x="11229892" y="4953000"/>
                </a:cubicBezTo>
                <a:lnTo>
                  <a:pt x="37909" y="4953000"/>
                </a:lnTo>
                <a:cubicBezTo>
                  <a:pt x="16974" y="4953000"/>
                  <a:pt x="0" y="4936026"/>
                  <a:pt x="0" y="4915090"/>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352485"/>
            <a:ext cx="37909" cy="4953000"/>
          </a:xfrm>
          <a:custGeom>
            <a:avLst/>
            <a:gdLst/>
            <a:ahLst/>
            <a:cxnLst/>
            <a:rect l="l" t="t" r="r" b="b"/>
            <a:pathLst>
              <a:path w="37909" h="4953000">
                <a:moveTo>
                  <a:pt x="37909" y="0"/>
                </a:moveTo>
                <a:lnTo>
                  <a:pt x="37909" y="0"/>
                </a:lnTo>
                <a:lnTo>
                  <a:pt x="37909" y="4953000"/>
                </a:lnTo>
                <a:lnTo>
                  <a:pt x="37909" y="4953000"/>
                </a:lnTo>
                <a:cubicBezTo>
                  <a:pt x="16974" y="4953000"/>
                  <a:pt x="0" y="4936026"/>
                  <a:pt x="0" y="49150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80956" y="1352485"/>
            <a:ext cx="11325225" cy="4953000"/>
          </a:xfrm>
          <a:prstGeom prst="rect">
            <a:avLst/>
          </a:prstGeom>
          <a:noFill/>
          <a:ln w="12700">
            <a:noFill/>
            <a:prstDash val="solid"/>
          </a:ln>
        </p:spPr>
        <p:txBody>
          <a:bodyPr wrap="square" lIns="152400" tIns="152400" rIns="152400" bIns="152400" rtlCol="0" anchor="ctr">
            <a:noAutofit/>
          </a:bodyPr>
          <a:lstStyle/>
          <a:p>
            <a:pPr indent="0" algn="l">
              <a:lnSpc>
                <a:spcPct val="142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@triton.jit</a:t>
            </a:r>
            <a:endParaRPr lang="en-US" sz="1100"/>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def matmul_kernel(A, B, C,</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 N, 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BLOCK_M: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BLOCK_N: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BLOCK_K: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 = tl.program_id(0)</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 = tl.program_id(1)</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tl.zeros((BLOCK_M, BLOCK_N))</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 k in range(0, K, BLOCK_K):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 = tl.load(...)</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 = tl.load(...)</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tl.dot(a, b)</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tl.store(C, acc)</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2855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Section Summary</a:t>
            </a:r>
            <a:endParaRPr lang="en-US" sz="1100"/>
          </a:p>
        </p:txBody>
      </p:sp>
      <p:grpSp>
        <p:nvGrpSpPr>
          <p:cNvPr id="3" name="Group 3"/>
          <p:cNvGrpSpPr/>
          <p:nvPr/>
        </p:nvGrpSpPr>
        <p:grpSpPr>
          <a:xfrm>
            <a:off x="437821" y="1466663"/>
            <a:ext cx="11410855" cy="3695105"/>
            <a:chOff x="437821" y="1466663"/>
            <a:chExt cx="11410855" cy="3695105"/>
          </a:xfrm>
        </p:grpSpPr>
        <p:sp>
          <p:nvSpPr>
            <p:cNvPr id="4" name="Freeform 4"/>
            <p:cNvSpPr/>
            <p:nvPr/>
          </p:nvSpPr>
          <p:spPr>
            <a:xfrm>
              <a:off x="437821" y="1466663"/>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09"/>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7821" y="1466663"/>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47217" y="165710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4354" y="1657107"/>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1142422" y="1714192"/>
              <a:ext cx="2947996"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Why Naive MatMul is Slow</a:t>
              </a:r>
              <a:endParaRPr lang="en-US" sz="1100"/>
            </a:p>
          </p:txBody>
        </p:sp>
        <p:sp>
          <p:nvSpPr>
            <p:cNvPr id="9" name="AutoShape 9"/>
            <p:cNvSpPr/>
            <p:nvPr/>
          </p:nvSpPr>
          <p:spPr>
            <a:xfrm>
              <a:off x="1142496" y="2152314"/>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Repeated Global Memory reads, memory bandwidth bottleneck</a:t>
              </a:r>
              <a:endParaRPr lang="en-US" sz="1100"/>
            </a:p>
          </p:txBody>
        </p:sp>
        <p:sp>
          <p:nvSpPr>
            <p:cNvPr id="10" name="Freeform 10"/>
            <p:cNvSpPr/>
            <p:nvPr/>
          </p:nvSpPr>
          <p:spPr>
            <a:xfrm>
              <a:off x="6248041" y="1466663"/>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09"/>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48041" y="1466663"/>
              <a:ext cx="37910" cy="1104900"/>
            </a:xfrm>
            <a:custGeom>
              <a:avLst/>
              <a:gdLst/>
              <a:ahLst/>
              <a:cxnLst/>
              <a:rect l="l" t="t" r="r" b="b"/>
              <a:pathLst>
                <a:path w="37910"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457437" y="165710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14575" y="1657107"/>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6952642" y="1714192"/>
              <a:ext cx="2571847"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Tiling Principle</a:t>
              </a:r>
              <a:endParaRPr lang="en-US" sz="1100"/>
            </a:p>
          </p:txBody>
        </p:sp>
        <p:sp>
          <p:nvSpPr>
            <p:cNvPr id="15" name="AutoShape 15"/>
            <p:cNvSpPr/>
            <p:nvPr/>
          </p:nvSpPr>
          <p:spPr>
            <a:xfrm>
              <a:off x="6952716" y="2152314"/>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Data reuse, block-based computation, reduced memory access</a:t>
              </a:r>
              <a:endParaRPr lang="en-US" sz="1100"/>
            </a:p>
          </p:txBody>
        </p:sp>
        <p:sp>
          <p:nvSpPr>
            <p:cNvPr id="16" name="Freeform 16"/>
            <p:cNvSpPr/>
            <p:nvPr/>
          </p:nvSpPr>
          <p:spPr>
            <a:xfrm>
              <a:off x="437821" y="2761766"/>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37821" y="2761766"/>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47217" y="295221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04354" y="2952210"/>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1142422" y="3009295"/>
              <a:ext cx="2999994"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100"/>
            </a:p>
          </p:txBody>
        </p:sp>
        <p:sp>
          <p:nvSpPr>
            <p:cNvPr id="21" name="AutoShape 21"/>
            <p:cNvSpPr/>
            <p:nvPr/>
          </p:nvSpPr>
          <p:spPr>
            <a:xfrm>
              <a:off x="1142496" y="3447417"/>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Compute-to-memory ratio, key performance metric</a:t>
              </a:r>
              <a:endParaRPr lang="en-US" sz="1100"/>
            </a:p>
          </p:txBody>
        </p:sp>
        <p:sp>
          <p:nvSpPr>
            <p:cNvPr id="22" name="Freeform 22"/>
            <p:cNvSpPr/>
            <p:nvPr/>
          </p:nvSpPr>
          <p:spPr>
            <a:xfrm>
              <a:off x="6248041" y="2761766"/>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248041" y="2761766"/>
              <a:ext cx="37910" cy="1104900"/>
            </a:xfrm>
            <a:custGeom>
              <a:avLst/>
              <a:gdLst/>
              <a:ahLst/>
              <a:cxnLst/>
              <a:rect l="l" t="t" r="r" b="b"/>
              <a:pathLst>
                <a:path w="37910"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457437" y="295221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14575" y="2952210"/>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26" name="AutoShape 26"/>
            <p:cNvSpPr/>
            <p:nvPr/>
          </p:nvSpPr>
          <p:spPr>
            <a:xfrm>
              <a:off x="6952642" y="3009295"/>
              <a:ext cx="2933924"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Roofline Model</a:t>
              </a:r>
              <a:endParaRPr lang="en-US" sz="1100"/>
            </a:p>
          </p:txBody>
        </p:sp>
        <p:sp>
          <p:nvSpPr>
            <p:cNvPr id="27" name="AutoShape 27"/>
            <p:cNvSpPr/>
            <p:nvPr/>
          </p:nvSpPr>
          <p:spPr>
            <a:xfrm>
              <a:off x="6952716" y="3447417"/>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Performance ceiling analysis model</a:t>
              </a:r>
              <a:endParaRPr lang="en-US" sz="1100"/>
            </a:p>
          </p:txBody>
        </p:sp>
        <p:sp>
          <p:nvSpPr>
            <p:cNvPr id="28" name="Freeform 28"/>
            <p:cNvSpPr/>
            <p:nvPr/>
          </p:nvSpPr>
          <p:spPr>
            <a:xfrm>
              <a:off x="437821" y="4056868"/>
              <a:ext cx="11410855" cy="1104900"/>
            </a:xfrm>
            <a:custGeom>
              <a:avLst/>
              <a:gdLst/>
              <a:ahLst/>
              <a:cxnLst/>
              <a:rect l="l" t="t" r="r" b="b"/>
              <a:pathLst>
                <a:path w="11410855" h="1104900">
                  <a:moveTo>
                    <a:pt x="37910" y="0"/>
                  </a:moveTo>
                  <a:lnTo>
                    <a:pt x="11334650" y="0"/>
                  </a:lnTo>
                  <a:cubicBezTo>
                    <a:pt x="11376737" y="0"/>
                    <a:pt x="11410855" y="34119"/>
                    <a:pt x="11410855" y="76205"/>
                  </a:cubicBezTo>
                  <a:lnTo>
                    <a:pt x="11410855" y="1028695"/>
                  </a:lnTo>
                  <a:cubicBezTo>
                    <a:pt x="11410855" y="1070781"/>
                    <a:pt x="11376737" y="1104900"/>
                    <a:pt x="11334650" y="1104900"/>
                  </a:cubicBezTo>
                  <a:lnTo>
                    <a:pt x="37910" y="1104900"/>
                  </a:lnTo>
                  <a:cubicBezTo>
                    <a:pt x="16974" y="1104900"/>
                    <a:pt x="0" y="1087926"/>
                    <a:pt x="0" y="1066990"/>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37821" y="4056868"/>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47217" y="424731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4354" y="4247312"/>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32" name="AutoShape 32"/>
            <p:cNvSpPr/>
            <p:nvPr/>
          </p:nvSpPr>
          <p:spPr>
            <a:xfrm>
              <a:off x="1142422" y="4304397"/>
              <a:ext cx="340503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Triton Tiled MatMul Implementation</a:t>
              </a:r>
              <a:endParaRPr lang="en-US" sz="1100"/>
            </a:p>
          </p:txBody>
        </p:sp>
        <p:sp>
          <p:nvSpPr>
            <p:cNvPr id="33" name="AutoShape 33"/>
            <p:cNvSpPr/>
            <p:nvPr/>
          </p:nvSpPr>
          <p:spPr>
            <a:xfrm>
              <a:off x="1142496" y="4742510"/>
              <a:ext cx="10591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Block-based programming, program_id, accumulator, Streaming</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0956" y="3124206"/>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Freeform 3"/>
          <p:cNvSpPr/>
          <p:nvPr/>
        </p:nvSpPr>
        <p:spPr>
          <a:xfrm>
            <a:off x="2412279" y="4925732"/>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2716968" y="4716188"/>
            <a:ext cx="32603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GPU Memory Hierarchy</a:t>
            </a:r>
            <a:endParaRPr lang="en-US" sz="1100"/>
          </a:p>
        </p:txBody>
      </p:sp>
      <p:sp>
        <p:nvSpPr>
          <p:cNvPr id="5" name="AutoShape 5"/>
          <p:cNvSpPr/>
          <p:nvPr/>
        </p:nvSpPr>
        <p:spPr>
          <a:xfrm>
            <a:off x="2716969" y="5020953"/>
            <a:ext cx="2133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Memory Hierarchy Overview</a:t>
            </a:r>
            <a:endParaRPr lang="en-US" sz="1100"/>
          </a:p>
        </p:txBody>
      </p:sp>
      <p:sp>
        <p:nvSpPr>
          <p:cNvPr id="6" name="Freeform 6"/>
          <p:cNvSpPr/>
          <p:nvPr/>
        </p:nvSpPr>
        <p:spPr>
          <a:xfrm>
            <a:off x="7723744" y="4968691"/>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028434" y="4759147"/>
            <a:ext cx="305483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8" name="AutoShape 8"/>
          <p:cNvSpPr/>
          <p:nvPr/>
        </p:nvSpPr>
        <p:spPr>
          <a:xfrm>
            <a:off x="8028434" y="5063912"/>
            <a:ext cx="1466850" cy="228600"/>
          </a:xfrm>
          <a:prstGeom prst="rect">
            <a:avLst/>
          </a:prstGeom>
          <a:noFill/>
          <a:ln w="12700">
            <a:noFill/>
            <a:prstDash val="solid"/>
          </a:ln>
        </p:spPr>
        <p:txBody>
          <a:bodyPr wrap="square" lIns="0" tIns="0" rIns="0" bIns="0" rtlCol="0" anchor="ctr">
            <a:noAutofit/>
          </a:bodyPr>
          <a:lstStyle/>
          <a:p>
            <a:pPr indent="0" algn="l">
              <a:lnSpc>
                <a:spcPct val="133000"/>
              </a:lnSpc>
              <a:defRPr/>
            </a:pPr>
            <a:endParaRPr lang="en-US" sz="1100"/>
          </a:p>
          <a:p>
            <a:pPr indent="0" algn="l">
              <a:lnSpc>
                <a:spcPct val="133000"/>
              </a:lnSpc>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 Optimization Strategies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2412279" y="576383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2716969" y="5554291"/>
            <a:ext cx="2198698"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a:t>
            </a:r>
            <a:endParaRPr lang="en-US" sz="1100"/>
          </a:p>
        </p:txBody>
      </p:sp>
      <p:sp>
        <p:nvSpPr>
          <p:cNvPr id="11" name="AutoShape 11"/>
          <p:cNvSpPr/>
          <p:nvPr/>
        </p:nvSpPr>
        <p:spPr>
          <a:xfrm>
            <a:off x="2716969" y="5859055"/>
            <a:ext cx="1295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Bank Conflicts and Solutions</a:t>
            </a:r>
            <a:endParaRPr lang="en-US" sz="1100"/>
          </a:p>
        </p:txBody>
      </p:sp>
      <p:sp>
        <p:nvSpPr>
          <p:cNvPr id="12" name="Freeform 12"/>
          <p:cNvSpPr/>
          <p:nvPr/>
        </p:nvSpPr>
        <p:spPr>
          <a:xfrm>
            <a:off x="7723744" y="5806794"/>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028434" y="5597250"/>
            <a:ext cx="2919818"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Reduction Kernel</a:t>
            </a:r>
            <a:endParaRPr lang="en-US" sz="1100"/>
          </a:p>
        </p:txBody>
      </p:sp>
      <p:sp>
        <p:nvSpPr>
          <p:cNvPr id="14" name="AutoShape 14"/>
          <p:cNvSpPr/>
          <p:nvPr/>
        </p:nvSpPr>
        <p:spPr>
          <a:xfrm>
            <a:off x="8028434" y="5902014"/>
            <a:ext cx="15716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Reduction Kernel Optimization</a:t>
            </a:r>
            <a:endParaRPr lang="en-US" sz="1100"/>
          </a:p>
        </p:txBody>
      </p:sp>
      <p:sp>
        <p:nvSpPr>
          <p:cNvPr id="15" name="AutoShape 15"/>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08: Memory Hierarchy Optimization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16" name="AutoShape 16"/>
          <p:cNvSpPr/>
          <p:nvPr>
            <p:ph type="body" sz="quarter" idx="4294967295" hasCustomPrompt="1"/>
          </p:nvPr>
        </p:nvSpPr>
        <p:spPr>
          <a:xfrm>
            <a:off x="1800225" y="3938588"/>
            <a:ext cx="10391775" cy="4746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A4A4A">
                    <a:alpha val="100000"/>
                  </a:srgbClr>
                </a:solidFill>
                <a:latin typeface="MiSans" panose="00000500000000000000" charset="-122"/>
              </a:defRPr>
            </a:lvl1pPr>
          </a:lstStyle>
          <a:p>
            <a:pPr marL="304800" indent="-304800" algn="l">
              <a:lnSpc>
                <a:spcPct val="100000"/>
              </a:lnSpc>
              <a:spcBef>
                <a:spcPts val="1500"/>
              </a:spcBef>
              <a:buClr>
                <a:srgbClr val="4A4A4A"/>
              </a:buClr>
              <a:buChar char="•"/>
            </a:pPr>
            <a:r>
              <a:rPr lang="en-US" sz="24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Shared Memory &amp; Cache Optimization Techniques</a:t>
            </a:r>
            <a:endParaRPr lang="en-US" sz="24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9136" y="616033"/>
            <a:ext cx="11607839" cy="376878"/>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GPU Memory Hierarchy Overview</a:t>
            </a:r>
            <a:endParaRPr lang="en-US" sz="1100"/>
          </a:p>
        </p:txBody>
      </p:sp>
      <p:sp>
        <p:nvSpPr>
          <p:cNvPr id="3" name="Freeform 3"/>
          <p:cNvSpPr/>
          <p:nvPr/>
        </p:nvSpPr>
        <p:spPr>
          <a:xfrm>
            <a:off x="376834" y="1318809"/>
            <a:ext cx="5606059" cy="4447159"/>
          </a:xfrm>
          <a:custGeom>
            <a:avLst/>
            <a:gdLst/>
            <a:ahLst/>
            <a:cxnLst/>
            <a:rect l="l" t="t" r="r" b="b"/>
            <a:pathLst>
              <a:path w="5606059" h="4447159">
                <a:moveTo>
                  <a:pt x="75380" y="0"/>
                </a:moveTo>
                <a:lnTo>
                  <a:pt x="5530679" y="0"/>
                </a:lnTo>
                <a:cubicBezTo>
                  <a:pt x="5572310" y="0"/>
                  <a:pt x="5606059" y="33748"/>
                  <a:pt x="5606059" y="75380"/>
                </a:cubicBezTo>
                <a:lnTo>
                  <a:pt x="5606059" y="4371779"/>
                </a:lnTo>
                <a:cubicBezTo>
                  <a:pt x="5606059" y="4413411"/>
                  <a:pt x="5572310" y="4447159"/>
                  <a:pt x="5530679" y="4447159"/>
                </a:cubicBezTo>
                <a:lnTo>
                  <a:pt x="75380" y="4447159"/>
                </a:lnTo>
                <a:cubicBezTo>
                  <a:pt x="33748" y="4447159"/>
                  <a:pt x="0" y="4413411"/>
                  <a:pt x="0" y="4371779"/>
                </a:cubicBezTo>
                <a:lnTo>
                  <a:pt x="0" y="75380"/>
                </a:lnTo>
                <a:cubicBezTo>
                  <a:pt x="0" y="33776"/>
                  <a:pt x="33776" y="0"/>
                  <a:pt x="7538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88769" y="1544211"/>
            <a:ext cx="188439" cy="189691"/>
          </a:xfrm>
          <a:custGeom>
            <a:avLst/>
            <a:gdLst/>
            <a:ahLst/>
            <a:cxnLst/>
            <a:rect l="l" t="t" r="r" b="b"/>
            <a:pathLst>
              <a:path w="188439" h="189691">
                <a:moveTo>
                  <a:pt x="85570" y="2540"/>
                </a:moveTo>
                <a:cubicBezTo>
                  <a:pt x="91054" y="0"/>
                  <a:pt x="97385" y="0"/>
                  <a:pt x="102869" y="2540"/>
                </a:cubicBezTo>
                <a:lnTo>
                  <a:pt x="183323" y="39712"/>
                </a:lnTo>
                <a:cubicBezTo>
                  <a:pt x="186453" y="41148"/>
                  <a:pt x="188439" y="44276"/>
                  <a:pt x="188439" y="47735"/>
                </a:cubicBezTo>
                <a:cubicBezTo>
                  <a:pt x="188439" y="51195"/>
                  <a:pt x="186453" y="54324"/>
                  <a:pt x="183323" y="55759"/>
                </a:cubicBezTo>
                <a:lnTo>
                  <a:pt x="102869" y="92932"/>
                </a:lnTo>
                <a:cubicBezTo>
                  <a:pt x="97385" y="95471"/>
                  <a:pt x="91054" y="95471"/>
                  <a:pt x="85570" y="92932"/>
                </a:cubicBezTo>
                <a:lnTo>
                  <a:pt x="5116" y="55759"/>
                </a:lnTo>
                <a:cubicBezTo>
                  <a:pt x="1988" y="54287"/>
                  <a:pt x="0" y="51159"/>
                  <a:pt x="0" y="47735"/>
                </a:cubicBezTo>
                <a:cubicBezTo>
                  <a:pt x="0" y="44313"/>
                  <a:pt x="1988" y="41148"/>
                  <a:pt x="5116" y="39712"/>
                </a:cubicBezTo>
                <a:lnTo>
                  <a:pt x="85570" y="2540"/>
                </a:lnTo>
                <a:close/>
                <a:moveTo>
                  <a:pt x="17703" y="81007"/>
                </a:moveTo>
                <a:lnTo>
                  <a:pt x="78174" y="108942"/>
                </a:lnTo>
                <a:cubicBezTo>
                  <a:pt x="88368" y="113653"/>
                  <a:pt x="100108" y="113653"/>
                  <a:pt x="110303" y="108942"/>
                </a:cubicBezTo>
                <a:lnTo>
                  <a:pt x="170773" y="81007"/>
                </a:lnTo>
                <a:lnTo>
                  <a:pt x="183323" y="86822"/>
                </a:lnTo>
                <a:cubicBezTo>
                  <a:pt x="186453" y="88257"/>
                  <a:pt x="188439" y="91387"/>
                  <a:pt x="188439" y="94845"/>
                </a:cubicBezTo>
                <a:cubicBezTo>
                  <a:pt x="188439" y="98306"/>
                  <a:pt x="186453" y="101434"/>
                  <a:pt x="183323" y="102869"/>
                </a:cubicBezTo>
                <a:lnTo>
                  <a:pt x="102869" y="140042"/>
                </a:lnTo>
                <a:cubicBezTo>
                  <a:pt x="97385" y="142582"/>
                  <a:pt x="91054" y="142582"/>
                  <a:pt x="85570" y="140042"/>
                </a:cubicBezTo>
                <a:lnTo>
                  <a:pt x="5116" y="102869"/>
                </a:lnTo>
                <a:cubicBezTo>
                  <a:pt x="1988" y="101397"/>
                  <a:pt x="0" y="98267"/>
                  <a:pt x="0" y="94845"/>
                </a:cubicBezTo>
                <a:cubicBezTo>
                  <a:pt x="0" y="91423"/>
                  <a:pt x="1988" y="88257"/>
                  <a:pt x="5116" y="86822"/>
                </a:cubicBezTo>
                <a:lnTo>
                  <a:pt x="17666" y="81007"/>
                </a:lnTo>
                <a:close/>
                <a:moveTo>
                  <a:pt x="5116" y="133932"/>
                </a:moveTo>
                <a:lnTo>
                  <a:pt x="17666" y="128117"/>
                </a:lnTo>
                <a:lnTo>
                  <a:pt x="78135" y="156051"/>
                </a:lnTo>
                <a:cubicBezTo>
                  <a:pt x="88331" y="160762"/>
                  <a:pt x="100071" y="160762"/>
                  <a:pt x="110266" y="156051"/>
                </a:cubicBezTo>
                <a:lnTo>
                  <a:pt x="170736" y="128117"/>
                </a:lnTo>
                <a:lnTo>
                  <a:pt x="183286" y="133932"/>
                </a:lnTo>
                <a:cubicBezTo>
                  <a:pt x="186414" y="135367"/>
                  <a:pt x="188402" y="138496"/>
                  <a:pt x="188402" y="141955"/>
                </a:cubicBezTo>
                <a:cubicBezTo>
                  <a:pt x="188402" y="145415"/>
                  <a:pt x="186414" y="148543"/>
                  <a:pt x="183286" y="149979"/>
                </a:cubicBezTo>
                <a:lnTo>
                  <a:pt x="102832" y="187151"/>
                </a:lnTo>
                <a:cubicBezTo>
                  <a:pt x="97348" y="189691"/>
                  <a:pt x="91017" y="189691"/>
                  <a:pt x="85535" y="187151"/>
                </a:cubicBezTo>
                <a:lnTo>
                  <a:pt x="5116" y="149979"/>
                </a:lnTo>
                <a:cubicBezTo>
                  <a:pt x="1988" y="148506"/>
                  <a:pt x="0" y="145378"/>
                  <a:pt x="0" y="141955"/>
                </a:cubicBezTo>
                <a:cubicBezTo>
                  <a:pt x="0" y="138531"/>
                  <a:pt x="1988" y="135367"/>
                  <a:pt x="5116" y="13393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43722" y="1501053"/>
            <a:ext cx="5087852" cy="2638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Structure (Fastest to Slowest)</a:t>
            </a:r>
            <a:endParaRPr lang="en-US" sz="1100"/>
          </a:p>
        </p:txBody>
      </p:sp>
      <p:sp>
        <p:nvSpPr>
          <p:cNvPr id="6" name="Freeform 6"/>
          <p:cNvSpPr/>
          <p:nvPr/>
        </p:nvSpPr>
        <p:spPr>
          <a:xfrm>
            <a:off x="583964" y="1921744"/>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3964" y="1921744"/>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715728" y="2091227"/>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78040" y="2091227"/>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0" name="AutoShape 10"/>
          <p:cNvSpPr/>
          <p:nvPr/>
        </p:nvSpPr>
        <p:spPr>
          <a:xfrm>
            <a:off x="1130209" y="2034757"/>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100"/>
          </a:p>
        </p:txBody>
      </p:sp>
      <p:sp>
        <p:nvSpPr>
          <p:cNvPr id="11" name="AutoShape 11"/>
          <p:cNvSpPr/>
          <p:nvPr/>
        </p:nvSpPr>
        <p:spPr>
          <a:xfrm>
            <a:off x="1130209" y="2260858"/>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Fastest, private to each thread</a:t>
            </a:r>
            <a:endParaRPr lang="en-US" sz="1100"/>
          </a:p>
        </p:txBody>
      </p:sp>
      <p:sp>
        <p:nvSpPr>
          <p:cNvPr id="12" name="Freeform 12"/>
          <p:cNvSpPr/>
          <p:nvPr/>
        </p:nvSpPr>
        <p:spPr>
          <a:xfrm>
            <a:off x="583964" y="2675265"/>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83964" y="2675265"/>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15728" y="2844748"/>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78040" y="2844748"/>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1130209" y="2788279"/>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17" name="AutoShape 17"/>
          <p:cNvSpPr/>
          <p:nvPr/>
        </p:nvSpPr>
        <p:spPr>
          <a:xfrm>
            <a:off x="1130209" y="3014379"/>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High-speed memory inside SM</a:t>
            </a:r>
            <a:endParaRPr lang="en-US" sz="1100"/>
          </a:p>
        </p:txBody>
      </p:sp>
      <p:sp>
        <p:nvSpPr>
          <p:cNvPr id="18" name="Freeform 18"/>
          <p:cNvSpPr/>
          <p:nvPr/>
        </p:nvSpPr>
        <p:spPr>
          <a:xfrm>
            <a:off x="583964" y="3428786"/>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583964" y="3428786"/>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15728" y="3598270"/>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040" y="3598270"/>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2" name="AutoShape 22"/>
          <p:cNvSpPr/>
          <p:nvPr/>
        </p:nvSpPr>
        <p:spPr>
          <a:xfrm>
            <a:off x="1130209" y="3541800"/>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L1 Cache</a:t>
            </a:r>
            <a:endParaRPr lang="en-US" sz="1100"/>
          </a:p>
        </p:txBody>
      </p:sp>
      <p:sp>
        <p:nvSpPr>
          <p:cNvPr id="23" name="AutoShape 23"/>
          <p:cNvSpPr/>
          <p:nvPr/>
        </p:nvSpPr>
        <p:spPr>
          <a:xfrm>
            <a:off x="1130209" y="3767900"/>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L1 Cache</a:t>
            </a:r>
            <a:endParaRPr lang="en-US" sz="1100"/>
          </a:p>
        </p:txBody>
      </p:sp>
      <p:sp>
        <p:nvSpPr>
          <p:cNvPr id="24" name="Freeform 24"/>
          <p:cNvSpPr/>
          <p:nvPr/>
        </p:nvSpPr>
        <p:spPr>
          <a:xfrm>
            <a:off x="583964" y="4182307"/>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3964" y="4182307"/>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715728" y="4351792"/>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78040" y="4351792"/>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28" name="AutoShape 28"/>
          <p:cNvSpPr/>
          <p:nvPr/>
        </p:nvSpPr>
        <p:spPr>
          <a:xfrm>
            <a:off x="1130209" y="4295321"/>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L2 Cache</a:t>
            </a:r>
            <a:endParaRPr lang="en-US" sz="1100"/>
          </a:p>
        </p:txBody>
      </p:sp>
      <p:sp>
        <p:nvSpPr>
          <p:cNvPr id="29" name="AutoShape 29"/>
          <p:cNvSpPr/>
          <p:nvPr/>
        </p:nvSpPr>
        <p:spPr>
          <a:xfrm>
            <a:off x="1130209" y="4521421"/>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L2 Cache</a:t>
            </a:r>
            <a:endParaRPr lang="en-US" sz="1100"/>
          </a:p>
        </p:txBody>
      </p:sp>
      <p:sp>
        <p:nvSpPr>
          <p:cNvPr id="30" name="Freeform 30"/>
          <p:cNvSpPr/>
          <p:nvPr/>
        </p:nvSpPr>
        <p:spPr>
          <a:xfrm>
            <a:off x="583964" y="4935830"/>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583964" y="4935830"/>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715728" y="5105313"/>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78040" y="5105313"/>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34" name="AutoShape 34"/>
          <p:cNvSpPr/>
          <p:nvPr/>
        </p:nvSpPr>
        <p:spPr>
          <a:xfrm>
            <a:off x="1130209" y="5048842"/>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35" name="AutoShape 35"/>
          <p:cNvSpPr/>
          <p:nvPr/>
        </p:nvSpPr>
        <p:spPr>
          <a:xfrm>
            <a:off x="1130209" y="5274943"/>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Slowest, largest capacity</a:t>
            </a:r>
            <a:endParaRPr lang="en-US" sz="1100"/>
          </a:p>
        </p:txBody>
      </p:sp>
      <p:sp>
        <p:nvSpPr>
          <p:cNvPr id="36" name="Freeform 36"/>
          <p:cNvSpPr/>
          <p:nvPr/>
        </p:nvSpPr>
        <p:spPr>
          <a:xfrm>
            <a:off x="6210033" y="1318809"/>
            <a:ext cx="5606059" cy="1846702"/>
          </a:xfrm>
          <a:custGeom>
            <a:avLst/>
            <a:gdLst/>
            <a:ahLst/>
            <a:cxnLst/>
            <a:rect l="l" t="t" r="r" b="b"/>
            <a:pathLst>
              <a:path w="5606059" h="1846702">
                <a:moveTo>
                  <a:pt x="75382" y="0"/>
                </a:moveTo>
                <a:lnTo>
                  <a:pt x="5530676" y="0"/>
                </a:lnTo>
                <a:cubicBezTo>
                  <a:pt x="5572309" y="0"/>
                  <a:pt x="5606059" y="33750"/>
                  <a:pt x="5606059" y="75382"/>
                </a:cubicBezTo>
                <a:lnTo>
                  <a:pt x="5606059" y="1771319"/>
                </a:lnTo>
                <a:cubicBezTo>
                  <a:pt x="5606059" y="1812952"/>
                  <a:pt x="5572309" y="1846702"/>
                  <a:pt x="5530676" y="1846702"/>
                </a:cubicBezTo>
                <a:lnTo>
                  <a:pt x="75382" y="1846702"/>
                </a:lnTo>
                <a:cubicBezTo>
                  <a:pt x="33750" y="1846702"/>
                  <a:pt x="0" y="1812952"/>
                  <a:pt x="0" y="1771319"/>
                </a:cubicBezTo>
                <a:lnTo>
                  <a:pt x="0" y="75382"/>
                </a:lnTo>
                <a:cubicBezTo>
                  <a:pt x="0" y="33778"/>
                  <a:pt x="33778" y="0"/>
                  <a:pt x="7538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421968" y="1544837"/>
            <a:ext cx="188439" cy="188439"/>
          </a:xfrm>
          <a:custGeom>
            <a:avLst/>
            <a:gdLst/>
            <a:ahLst/>
            <a:cxnLst/>
            <a:rect l="l" t="t" r="r" b="b"/>
            <a:pathLst>
              <a:path w="188439" h="188439">
                <a:moveTo>
                  <a:pt x="0" y="94219"/>
                </a:moveTo>
                <a:cubicBezTo>
                  <a:pt x="0" y="42219"/>
                  <a:pt x="42219" y="0"/>
                  <a:pt x="94219" y="0"/>
                </a:cubicBezTo>
                <a:cubicBezTo>
                  <a:pt x="146221" y="0"/>
                  <a:pt x="188439" y="42219"/>
                  <a:pt x="188439" y="94219"/>
                </a:cubicBezTo>
                <a:cubicBezTo>
                  <a:pt x="188439" y="146221"/>
                  <a:pt x="146221" y="188439"/>
                  <a:pt x="94219" y="188439"/>
                </a:cubicBezTo>
                <a:cubicBezTo>
                  <a:pt x="42219" y="188439"/>
                  <a:pt x="0" y="146221"/>
                  <a:pt x="0" y="94219"/>
                </a:cubicBezTo>
                <a:close/>
                <a:moveTo>
                  <a:pt x="105997" y="35331"/>
                </a:moveTo>
                <a:cubicBezTo>
                  <a:pt x="105997" y="28832"/>
                  <a:pt x="100720" y="23555"/>
                  <a:pt x="94219" y="23555"/>
                </a:cubicBezTo>
                <a:cubicBezTo>
                  <a:pt x="87719" y="23555"/>
                  <a:pt x="82442" y="28832"/>
                  <a:pt x="82442" y="35331"/>
                </a:cubicBezTo>
                <a:cubicBezTo>
                  <a:pt x="82442" y="41833"/>
                  <a:pt x="87719" y="47109"/>
                  <a:pt x="94219" y="47109"/>
                </a:cubicBezTo>
                <a:cubicBezTo>
                  <a:pt x="100720" y="47109"/>
                  <a:pt x="105997" y="41833"/>
                  <a:pt x="105997" y="35331"/>
                </a:cubicBezTo>
                <a:close/>
                <a:moveTo>
                  <a:pt x="94219" y="153107"/>
                </a:moveTo>
                <a:cubicBezTo>
                  <a:pt x="107211" y="153107"/>
                  <a:pt x="117773" y="142544"/>
                  <a:pt x="117773" y="129551"/>
                </a:cubicBezTo>
                <a:cubicBezTo>
                  <a:pt x="117773" y="123589"/>
                  <a:pt x="115566" y="118106"/>
                  <a:pt x="111886" y="113983"/>
                </a:cubicBezTo>
                <a:lnTo>
                  <a:pt x="137465" y="62862"/>
                </a:lnTo>
                <a:cubicBezTo>
                  <a:pt x="139636" y="58482"/>
                  <a:pt x="137870" y="53183"/>
                  <a:pt x="133527" y="51011"/>
                </a:cubicBezTo>
                <a:cubicBezTo>
                  <a:pt x="129184" y="48840"/>
                  <a:pt x="123847" y="50606"/>
                  <a:pt x="121676" y="54949"/>
                </a:cubicBezTo>
                <a:lnTo>
                  <a:pt x="96097" y="106070"/>
                </a:lnTo>
                <a:cubicBezTo>
                  <a:pt x="95471" y="106034"/>
                  <a:pt x="94845" y="105997"/>
                  <a:pt x="94219" y="105997"/>
                </a:cubicBezTo>
                <a:cubicBezTo>
                  <a:pt x="81227" y="105997"/>
                  <a:pt x="70665" y="116561"/>
                  <a:pt x="70665" y="129551"/>
                </a:cubicBezTo>
                <a:cubicBezTo>
                  <a:pt x="70665" y="142544"/>
                  <a:pt x="81227" y="153107"/>
                  <a:pt x="94219" y="153107"/>
                </a:cubicBezTo>
                <a:close/>
                <a:moveTo>
                  <a:pt x="64776" y="52998"/>
                </a:moveTo>
                <a:cubicBezTo>
                  <a:pt x="64776" y="46499"/>
                  <a:pt x="59500" y="41220"/>
                  <a:pt x="52998" y="41220"/>
                </a:cubicBezTo>
                <a:cubicBezTo>
                  <a:pt x="46499" y="41220"/>
                  <a:pt x="41220" y="46499"/>
                  <a:pt x="41220" y="52998"/>
                </a:cubicBezTo>
                <a:cubicBezTo>
                  <a:pt x="41220" y="59500"/>
                  <a:pt x="46499" y="64776"/>
                  <a:pt x="52998" y="64776"/>
                </a:cubicBezTo>
                <a:cubicBezTo>
                  <a:pt x="59500" y="64776"/>
                  <a:pt x="64776" y="59500"/>
                  <a:pt x="64776" y="52998"/>
                </a:cubicBezTo>
                <a:close/>
                <a:moveTo>
                  <a:pt x="35331" y="105997"/>
                </a:moveTo>
                <a:cubicBezTo>
                  <a:pt x="41833" y="105997"/>
                  <a:pt x="47109" y="100720"/>
                  <a:pt x="47109" y="94219"/>
                </a:cubicBezTo>
                <a:cubicBezTo>
                  <a:pt x="47109" y="87719"/>
                  <a:pt x="41833" y="82442"/>
                  <a:pt x="35331" y="82442"/>
                </a:cubicBezTo>
                <a:cubicBezTo>
                  <a:pt x="28832" y="82442"/>
                  <a:pt x="23555" y="87719"/>
                  <a:pt x="23555" y="94219"/>
                </a:cubicBezTo>
                <a:cubicBezTo>
                  <a:pt x="23555" y="100720"/>
                  <a:pt x="28832" y="105997"/>
                  <a:pt x="35331" y="105997"/>
                </a:cubicBezTo>
                <a:close/>
                <a:moveTo>
                  <a:pt x="164884" y="94219"/>
                </a:moveTo>
                <a:cubicBezTo>
                  <a:pt x="164884" y="87719"/>
                  <a:pt x="159607" y="82442"/>
                  <a:pt x="153107" y="82442"/>
                </a:cubicBezTo>
                <a:cubicBezTo>
                  <a:pt x="146608" y="82442"/>
                  <a:pt x="141329" y="87719"/>
                  <a:pt x="141329" y="94219"/>
                </a:cubicBezTo>
                <a:cubicBezTo>
                  <a:pt x="141329" y="100720"/>
                  <a:pt x="146608" y="105997"/>
                  <a:pt x="153107" y="105997"/>
                </a:cubicBezTo>
                <a:cubicBezTo>
                  <a:pt x="159607" y="105997"/>
                  <a:pt x="164884" y="100720"/>
                  <a:pt x="164884" y="9421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633962" y="1507190"/>
            <a:ext cx="5087852" cy="2638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Speed Difference</a:t>
            </a:r>
            <a:endParaRPr lang="en-US" sz="1100"/>
          </a:p>
        </p:txBody>
      </p:sp>
      <p:sp>
        <p:nvSpPr>
          <p:cNvPr id="39" name="AutoShape 39"/>
          <p:cNvSpPr/>
          <p:nvPr/>
        </p:nvSpPr>
        <p:spPr>
          <a:xfrm>
            <a:off x="6398413" y="1884023"/>
            <a:ext cx="5455308" cy="452253"/>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100×</a:t>
            </a:r>
            <a:endParaRPr lang="en-US" sz="1100"/>
          </a:p>
        </p:txBody>
      </p:sp>
      <p:sp>
        <p:nvSpPr>
          <p:cNvPr id="40" name="AutoShape 40"/>
          <p:cNvSpPr/>
          <p:nvPr/>
        </p:nvSpPr>
        <p:spPr>
          <a:xfrm>
            <a:off x="6398413" y="2411664"/>
            <a:ext cx="5313978" cy="26381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 vs Global Memory</a:t>
            </a:r>
            <a:endParaRPr lang="en-US" sz="1100"/>
          </a:p>
        </p:txBody>
      </p:sp>
      <p:sp>
        <p:nvSpPr>
          <p:cNvPr id="41" name="AutoShape 41"/>
          <p:cNvSpPr/>
          <p:nvPr/>
        </p:nvSpPr>
        <p:spPr>
          <a:xfrm>
            <a:off x="6398413" y="2750851"/>
            <a:ext cx="530455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Up to 100× performance gap</a:t>
            </a:r>
            <a:endParaRPr lang="en-US" sz="1100"/>
          </a:p>
        </p:txBody>
      </p:sp>
      <p:sp>
        <p:nvSpPr>
          <p:cNvPr id="42" name="Freeform 42"/>
          <p:cNvSpPr/>
          <p:nvPr/>
        </p:nvSpPr>
        <p:spPr>
          <a:xfrm>
            <a:off x="6210033" y="3316065"/>
            <a:ext cx="5606059" cy="3325947"/>
          </a:xfrm>
          <a:custGeom>
            <a:avLst/>
            <a:gdLst/>
            <a:ahLst/>
            <a:cxnLst/>
            <a:rect l="l" t="t" r="r" b="b"/>
            <a:pathLst>
              <a:path w="5606059" h="3325947">
                <a:moveTo>
                  <a:pt x="75366" y="0"/>
                </a:moveTo>
                <a:lnTo>
                  <a:pt x="5530693" y="0"/>
                </a:lnTo>
                <a:cubicBezTo>
                  <a:pt x="5572315" y="0"/>
                  <a:pt x="5606059" y="33743"/>
                  <a:pt x="5606059" y="75366"/>
                </a:cubicBezTo>
                <a:lnTo>
                  <a:pt x="5606059" y="3250582"/>
                </a:lnTo>
                <a:cubicBezTo>
                  <a:pt x="5606059" y="3292204"/>
                  <a:pt x="5572315" y="3325947"/>
                  <a:pt x="5530693" y="3325947"/>
                </a:cubicBezTo>
                <a:lnTo>
                  <a:pt x="75366" y="3325947"/>
                </a:lnTo>
                <a:cubicBezTo>
                  <a:pt x="33743" y="3325947"/>
                  <a:pt x="0" y="3292204"/>
                  <a:pt x="0" y="3250582"/>
                </a:cubicBezTo>
                <a:lnTo>
                  <a:pt x="0" y="75366"/>
                </a:lnTo>
                <a:cubicBezTo>
                  <a:pt x="0" y="33771"/>
                  <a:pt x="33771" y="0"/>
                  <a:pt x="75366"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43" name="Picture 43"/>
          <p:cNvPicPr>
            <a:picLocks noChangeAspect="1"/>
          </p:cNvPicPr>
          <p:nvPr/>
        </p:nvPicPr>
        <p:blipFill>
          <a:blip r:embed="rId1"/>
          <a:srcRect l="87" r="87"/>
          <a:stretch>
            <a:fillRect/>
          </a:stretch>
        </p:blipFill>
        <p:spPr>
          <a:xfrm>
            <a:off x="6398487" y="3504446"/>
            <a:ext cx="5229181" cy="2949070"/>
          </a:xfrm>
          <a:prstGeom prst="roundRect">
            <a:avLst>
              <a:gd name="adj" fmla="val 1278"/>
            </a:avLst>
          </a:prstGeom>
          <a:ln w="12700">
            <a:noFill/>
            <a:prstDash val="solid"/>
          </a:ln>
        </p:spPr>
      </p:pic>
      <p:sp>
        <p:nvSpPr>
          <p:cNvPr id="44" name="AutoShape 44"/>
          <p:cNvSpPr/>
          <p:nvPr/>
        </p:nvSpPr>
        <p:spPr>
          <a:xfrm>
            <a:off x="310880" y="6669561"/>
            <a:ext cx="11504198" cy="188439"/>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NVIDIA Developer Blog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3258" y="58621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100"/>
          </a:p>
        </p:txBody>
      </p:sp>
      <p:grpSp>
        <p:nvGrpSpPr>
          <p:cNvPr id="3" name="Group 3"/>
          <p:cNvGrpSpPr/>
          <p:nvPr/>
        </p:nvGrpSpPr>
        <p:grpSpPr>
          <a:xfrm>
            <a:off x="380956" y="1333234"/>
            <a:ext cx="6762750" cy="4228632"/>
            <a:chOff x="380956" y="1333234"/>
            <a:chExt cx="6762750" cy="4228632"/>
          </a:xfrm>
        </p:grpSpPr>
        <p:sp>
          <p:nvSpPr>
            <p:cNvPr id="4" name="Freeform 4"/>
            <p:cNvSpPr/>
            <p:nvPr/>
          </p:nvSpPr>
          <p:spPr>
            <a:xfrm>
              <a:off x="380956" y="1333234"/>
              <a:ext cx="6762750" cy="2590800"/>
            </a:xfrm>
            <a:custGeom>
              <a:avLst/>
              <a:gdLst/>
              <a:ahLst/>
              <a:cxnLst/>
              <a:rect l="l" t="t" r="r" b="b"/>
              <a:pathLst>
                <a:path w="6762750" h="2590800">
                  <a:moveTo>
                    <a:pt x="76195" y="0"/>
                  </a:moveTo>
                  <a:lnTo>
                    <a:pt x="6686555" y="0"/>
                  </a:lnTo>
                  <a:cubicBezTo>
                    <a:pt x="6728609" y="0"/>
                    <a:pt x="6762750" y="34141"/>
                    <a:pt x="6762750" y="76195"/>
                  </a:cubicBezTo>
                  <a:lnTo>
                    <a:pt x="6762750" y="2514605"/>
                  </a:lnTo>
                  <a:cubicBezTo>
                    <a:pt x="6762750" y="2556687"/>
                    <a:pt x="6728637" y="2590800"/>
                    <a:pt x="6686555" y="2590800"/>
                  </a:cubicBezTo>
                  <a:lnTo>
                    <a:pt x="76195" y="2590800"/>
                  </a:lnTo>
                  <a:cubicBezTo>
                    <a:pt x="34141" y="2590800"/>
                    <a:pt x="0" y="2556659"/>
                    <a:pt x="0" y="2514605"/>
                  </a:cubicBezTo>
                  <a:lnTo>
                    <a:pt x="0" y="76195"/>
                  </a:lnTo>
                  <a:cubicBezTo>
                    <a:pt x="0" y="34141"/>
                    <a:pt x="34141" y="0"/>
                    <a:pt x="7619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6110" y="1554850"/>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09521" y="1523674"/>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Register Characteristics</a:t>
              </a:r>
              <a:endParaRPr lang="en-US" sz="1100"/>
            </a:p>
          </p:txBody>
        </p:sp>
        <p:sp>
          <p:nvSpPr>
            <p:cNvPr id="7" name="Freeform 7"/>
            <p:cNvSpPr/>
            <p:nvPr/>
          </p:nvSpPr>
          <p:spPr>
            <a:xfrm>
              <a:off x="571396" y="20189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61837" y="1942763"/>
              <a:ext cx="2371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Fastest storage</a:t>
              </a:r>
              <a:endParaRPr lang="en-US" sz="1100"/>
            </a:p>
          </p:txBody>
        </p:sp>
        <p:sp>
          <p:nvSpPr>
            <p:cNvPr id="9" name="AutoShape 9"/>
            <p:cNvSpPr/>
            <p:nvPr/>
          </p:nvSpPr>
          <p:spPr>
            <a:xfrm>
              <a:off x="761837" y="2209393"/>
              <a:ext cx="4890260" cy="30386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Located inside GPU cores, extremely fast access</a:t>
              </a:r>
              <a:endParaRPr lang="en-US" sz="1100"/>
            </a:p>
          </p:txBody>
        </p:sp>
        <p:sp>
          <p:nvSpPr>
            <p:cNvPr id="10" name="Freeform 10"/>
            <p:cNvSpPr/>
            <p:nvPr/>
          </p:nvSpPr>
          <p:spPr>
            <a:xfrm>
              <a:off x="571396" y="2666541"/>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1837" y="2590350"/>
              <a:ext cx="2209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Private to each thread</a:t>
              </a:r>
              <a:endParaRPr lang="en-US" sz="1100"/>
            </a:p>
          </p:txBody>
        </p:sp>
        <p:sp>
          <p:nvSpPr>
            <p:cNvPr id="12" name="AutoShape 12"/>
            <p:cNvSpPr/>
            <p:nvPr/>
          </p:nvSpPr>
          <p:spPr>
            <a:xfrm>
              <a:off x="761837" y="2856981"/>
              <a:ext cx="4405444" cy="30386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Not visible between threads, ensures data independence</a:t>
              </a:r>
              <a:endParaRPr lang="en-US" sz="1100"/>
            </a:p>
          </p:txBody>
        </p:sp>
        <p:sp>
          <p:nvSpPr>
            <p:cNvPr id="13" name="Freeform 13"/>
            <p:cNvSpPr/>
            <p:nvPr/>
          </p:nvSpPr>
          <p:spPr>
            <a:xfrm>
              <a:off x="571396" y="3314129"/>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61837" y="3237937"/>
              <a:ext cx="15049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Small capacity</a:t>
              </a:r>
              <a:endParaRPr lang="en-US" sz="1100"/>
            </a:p>
          </p:txBody>
        </p:sp>
        <p:sp>
          <p:nvSpPr>
            <p:cNvPr id="15" name="AutoShape 15"/>
            <p:cNvSpPr/>
            <p:nvPr/>
          </p:nvSpPr>
          <p:spPr>
            <a:xfrm>
              <a:off x="761836" y="3504570"/>
              <a:ext cx="2371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Example: 64 KB per SM</a:t>
              </a:r>
              <a:endParaRPr lang="en-US" sz="1100"/>
            </a:p>
          </p:txBody>
        </p:sp>
        <p:sp>
          <p:nvSpPr>
            <p:cNvPr id="16" name="Freeform 16"/>
            <p:cNvSpPr/>
            <p:nvPr/>
          </p:nvSpPr>
          <p:spPr>
            <a:xfrm>
              <a:off x="380956" y="4075966"/>
              <a:ext cx="6762750" cy="1485900"/>
            </a:xfrm>
            <a:custGeom>
              <a:avLst/>
              <a:gdLst/>
              <a:ahLst/>
              <a:cxnLst/>
              <a:rect l="l" t="t" r="r" b="b"/>
              <a:pathLst>
                <a:path w="6762750" h="1485900">
                  <a:moveTo>
                    <a:pt x="76197" y="0"/>
                  </a:moveTo>
                  <a:lnTo>
                    <a:pt x="6686553" y="0"/>
                  </a:lnTo>
                  <a:cubicBezTo>
                    <a:pt x="6728635" y="0"/>
                    <a:pt x="6762750" y="34115"/>
                    <a:pt x="6762750" y="76197"/>
                  </a:cubicBezTo>
                  <a:lnTo>
                    <a:pt x="6762750" y="1409703"/>
                  </a:lnTo>
                  <a:cubicBezTo>
                    <a:pt x="6762750" y="1451785"/>
                    <a:pt x="6728635" y="1485900"/>
                    <a:pt x="668655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582150" y="4303088"/>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09521" y="4266407"/>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Primary Uses</a:t>
              </a:r>
              <a:endParaRPr lang="en-US" sz="1100"/>
            </a:p>
          </p:txBody>
        </p:sp>
        <p:sp>
          <p:nvSpPr>
            <p:cNvPr id="19" name="Freeform 19"/>
            <p:cNvSpPr/>
            <p:nvPr/>
          </p:nvSpPr>
          <p:spPr>
            <a:xfrm>
              <a:off x="571396" y="4685494"/>
              <a:ext cx="3133725" cy="685800"/>
            </a:xfrm>
            <a:custGeom>
              <a:avLst/>
              <a:gdLst/>
              <a:ahLst/>
              <a:cxnLst/>
              <a:rect l="l" t="t" r="r" b="b"/>
              <a:pathLst>
                <a:path w="3133725" h="685800">
                  <a:moveTo>
                    <a:pt x="76199" y="0"/>
                  </a:moveTo>
                  <a:lnTo>
                    <a:pt x="3057526" y="0"/>
                  </a:lnTo>
                  <a:cubicBezTo>
                    <a:pt x="3099609" y="0"/>
                    <a:pt x="3133725" y="34116"/>
                    <a:pt x="3133725" y="76199"/>
                  </a:cubicBezTo>
                  <a:lnTo>
                    <a:pt x="3133725" y="609601"/>
                  </a:lnTo>
                  <a:cubicBezTo>
                    <a:pt x="3133725" y="651684"/>
                    <a:pt x="3099609" y="685800"/>
                    <a:pt x="3057526"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85646" y="4799745"/>
              <a:ext cx="2981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Local variables</a:t>
              </a:r>
              <a:endParaRPr lang="en-US" sz="1100"/>
            </a:p>
          </p:txBody>
        </p:sp>
        <p:sp>
          <p:nvSpPr>
            <p:cNvPr id="21" name="AutoShape 21"/>
            <p:cNvSpPr/>
            <p:nvPr/>
          </p:nvSpPr>
          <p:spPr>
            <a:xfrm>
              <a:off x="685646" y="5066376"/>
              <a:ext cx="2971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Store temporary computation results</a:t>
              </a:r>
              <a:endParaRPr lang="en-US" sz="1100"/>
            </a:p>
          </p:txBody>
        </p:sp>
        <p:sp>
          <p:nvSpPr>
            <p:cNvPr id="22" name="Freeform 22"/>
            <p:cNvSpPr/>
            <p:nvPr/>
          </p:nvSpPr>
          <p:spPr>
            <a:xfrm>
              <a:off x="3821329" y="4685494"/>
              <a:ext cx="3133725" cy="685800"/>
            </a:xfrm>
            <a:custGeom>
              <a:avLst/>
              <a:gdLst/>
              <a:ahLst/>
              <a:cxnLst/>
              <a:rect l="l" t="t" r="r" b="b"/>
              <a:pathLst>
                <a:path w="3133725" h="685800">
                  <a:moveTo>
                    <a:pt x="76199" y="0"/>
                  </a:moveTo>
                  <a:lnTo>
                    <a:pt x="3057526" y="0"/>
                  </a:lnTo>
                  <a:cubicBezTo>
                    <a:pt x="3099609" y="0"/>
                    <a:pt x="3133725" y="34116"/>
                    <a:pt x="3133725" y="76199"/>
                  </a:cubicBezTo>
                  <a:lnTo>
                    <a:pt x="3133725" y="609601"/>
                  </a:lnTo>
                  <a:cubicBezTo>
                    <a:pt x="3133725" y="651684"/>
                    <a:pt x="3099609" y="685800"/>
                    <a:pt x="3057526"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935578" y="4799745"/>
              <a:ext cx="2981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Temporary results</a:t>
              </a:r>
              <a:endParaRPr lang="en-US" sz="1100"/>
            </a:p>
          </p:txBody>
        </p:sp>
        <p:sp>
          <p:nvSpPr>
            <p:cNvPr id="24" name="AutoShape 24"/>
            <p:cNvSpPr/>
            <p:nvPr/>
          </p:nvSpPr>
          <p:spPr>
            <a:xfrm>
              <a:off x="3935578" y="5066376"/>
              <a:ext cx="2971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Cache intermediate computation data</a:t>
              </a:r>
              <a:endParaRPr lang="en-US" sz="1100"/>
            </a:p>
          </p:txBody>
        </p:sp>
      </p:grpSp>
      <p:sp>
        <p:nvSpPr>
          <p:cNvPr id="25" name="Freeform 25"/>
          <p:cNvSpPr/>
          <p:nvPr/>
        </p:nvSpPr>
        <p:spPr>
          <a:xfrm>
            <a:off x="7376099" y="1333234"/>
            <a:ext cx="4438650" cy="4876800"/>
          </a:xfrm>
          <a:custGeom>
            <a:avLst/>
            <a:gdLst/>
            <a:ahLst/>
            <a:cxnLst/>
            <a:rect l="l" t="t" r="r" b="b"/>
            <a:pathLst>
              <a:path w="4438650" h="4876800">
                <a:moveTo>
                  <a:pt x="76211" y="0"/>
                </a:moveTo>
                <a:lnTo>
                  <a:pt x="4362439" y="0"/>
                </a:lnTo>
                <a:cubicBezTo>
                  <a:pt x="4404529" y="0"/>
                  <a:pt x="4438650" y="34121"/>
                  <a:pt x="4438650" y="76211"/>
                </a:cubicBezTo>
                <a:lnTo>
                  <a:pt x="4438650" y="4800589"/>
                </a:lnTo>
                <a:cubicBezTo>
                  <a:pt x="4438650" y="4842679"/>
                  <a:pt x="4404529" y="4876800"/>
                  <a:pt x="4362439" y="4876800"/>
                </a:cubicBezTo>
                <a:lnTo>
                  <a:pt x="76211" y="4876800"/>
                </a:lnTo>
                <a:cubicBezTo>
                  <a:pt x="34121" y="4876800"/>
                  <a:pt x="0" y="4842679"/>
                  <a:pt x="0" y="4800589"/>
                </a:cubicBezTo>
                <a:lnTo>
                  <a:pt x="0" y="76211"/>
                </a:lnTo>
                <a:cubicBezTo>
                  <a:pt x="0" y="34121"/>
                  <a:pt x="34121"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8768725" y="2476544"/>
            <a:ext cx="1647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Register per Thread</a:t>
            </a:r>
            <a:endParaRPr lang="en-US" sz="1100"/>
          </a:p>
        </p:txBody>
      </p:sp>
      <p:sp>
        <p:nvSpPr>
          <p:cNvPr id="27" name="Freeform 27"/>
          <p:cNvSpPr/>
          <p:nvPr/>
        </p:nvSpPr>
        <p:spPr>
          <a:xfrm>
            <a:off x="8412565"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379227"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R0</a:t>
            </a:r>
            <a:endParaRPr lang="en-US" sz="1100"/>
          </a:p>
        </p:txBody>
      </p:sp>
      <p:sp>
        <p:nvSpPr>
          <p:cNvPr id="29" name="Freeform 29"/>
          <p:cNvSpPr/>
          <p:nvPr/>
        </p:nvSpPr>
        <p:spPr>
          <a:xfrm>
            <a:off x="9022094"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8988757"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a:t>
            </a:r>
            <a:endParaRPr lang="en-US" sz="1100"/>
          </a:p>
        </p:txBody>
      </p:sp>
      <p:sp>
        <p:nvSpPr>
          <p:cNvPr id="31" name="Freeform 31"/>
          <p:cNvSpPr/>
          <p:nvPr/>
        </p:nvSpPr>
        <p:spPr>
          <a:xfrm>
            <a:off x="9631623"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9598286"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R2</a:t>
            </a:r>
            <a:endParaRPr lang="en-US" sz="1100"/>
          </a:p>
        </p:txBody>
      </p:sp>
      <p:sp>
        <p:nvSpPr>
          <p:cNvPr id="33" name="Freeform 33"/>
          <p:cNvSpPr/>
          <p:nvPr/>
        </p:nvSpPr>
        <p:spPr>
          <a:xfrm>
            <a:off x="10241152"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10207814"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R3</a:t>
            </a:r>
            <a:endParaRPr lang="en-US" sz="1100"/>
          </a:p>
        </p:txBody>
      </p:sp>
      <p:sp>
        <p:nvSpPr>
          <p:cNvPr id="35" name="Freeform 35"/>
          <p:cNvSpPr/>
          <p:nvPr/>
        </p:nvSpPr>
        <p:spPr>
          <a:xfrm>
            <a:off x="8412565"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8379227"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R4</a:t>
            </a:r>
            <a:endParaRPr lang="en-US" sz="1100"/>
          </a:p>
        </p:txBody>
      </p:sp>
      <p:sp>
        <p:nvSpPr>
          <p:cNvPr id="37" name="Freeform 37"/>
          <p:cNvSpPr/>
          <p:nvPr/>
        </p:nvSpPr>
        <p:spPr>
          <a:xfrm>
            <a:off x="9022094"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8988757"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R5</a:t>
            </a:r>
            <a:endParaRPr lang="en-US" sz="1100"/>
          </a:p>
        </p:txBody>
      </p:sp>
      <p:sp>
        <p:nvSpPr>
          <p:cNvPr id="39" name="Freeform 39"/>
          <p:cNvSpPr/>
          <p:nvPr/>
        </p:nvSpPr>
        <p:spPr>
          <a:xfrm>
            <a:off x="9631623"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9598286"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R6</a:t>
            </a:r>
            <a:endParaRPr lang="en-US" sz="1100"/>
          </a:p>
        </p:txBody>
      </p:sp>
      <p:sp>
        <p:nvSpPr>
          <p:cNvPr id="41" name="Freeform 41"/>
          <p:cNvSpPr/>
          <p:nvPr/>
        </p:nvSpPr>
        <p:spPr>
          <a:xfrm>
            <a:off x="10241152"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2" name="AutoShape 42"/>
          <p:cNvSpPr/>
          <p:nvPr/>
        </p:nvSpPr>
        <p:spPr>
          <a:xfrm>
            <a:off x="10207814"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R7</a:t>
            </a:r>
            <a:endParaRPr lang="en-US" sz="1100"/>
          </a:p>
        </p:txBody>
      </p:sp>
      <p:sp>
        <p:nvSpPr>
          <p:cNvPr id="43" name="Freeform 43"/>
          <p:cNvSpPr/>
          <p:nvPr/>
        </p:nvSpPr>
        <p:spPr>
          <a:xfrm>
            <a:off x="8412565"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379227"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R8</a:t>
            </a:r>
            <a:endParaRPr lang="en-US" sz="1100"/>
          </a:p>
        </p:txBody>
      </p:sp>
      <p:sp>
        <p:nvSpPr>
          <p:cNvPr id="45" name="Freeform 45"/>
          <p:cNvSpPr/>
          <p:nvPr/>
        </p:nvSpPr>
        <p:spPr>
          <a:xfrm>
            <a:off x="9022094"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8988757"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R9</a:t>
            </a:r>
            <a:endParaRPr lang="en-US" sz="1100"/>
          </a:p>
        </p:txBody>
      </p:sp>
      <p:sp>
        <p:nvSpPr>
          <p:cNvPr id="47" name="Freeform 47"/>
          <p:cNvSpPr/>
          <p:nvPr/>
        </p:nvSpPr>
        <p:spPr>
          <a:xfrm>
            <a:off x="9631623"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8" name="AutoShape 48"/>
          <p:cNvSpPr/>
          <p:nvPr/>
        </p:nvSpPr>
        <p:spPr>
          <a:xfrm>
            <a:off x="9598286"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R10</a:t>
            </a:r>
            <a:endParaRPr lang="en-US" sz="1100"/>
          </a:p>
        </p:txBody>
      </p:sp>
      <p:sp>
        <p:nvSpPr>
          <p:cNvPr id="49" name="Freeform 49"/>
          <p:cNvSpPr/>
          <p:nvPr/>
        </p:nvSpPr>
        <p:spPr>
          <a:xfrm>
            <a:off x="10241152"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50" name="AutoShape 50"/>
          <p:cNvSpPr/>
          <p:nvPr/>
        </p:nvSpPr>
        <p:spPr>
          <a:xfrm>
            <a:off x="10207814"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R11</a:t>
            </a:r>
            <a:endParaRPr lang="en-US" sz="1100"/>
          </a:p>
        </p:txBody>
      </p:sp>
      <p:sp>
        <p:nvSpPr>
          <p:cNvPr id="51" name="AutoShape 51"/>
          <p:cNvSpPr/>
          <p:nvPr/>
        </p:nvSpPr>
        <p:spPr>
          <a:xfrm>
            <a:off x="8626682" y="4876601"/>
            <a:ext cx="19335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Each thread has its own independent set of registers</a:t>
            </a:r>
            <a:endParaRPr lang="en-US" sz="1100"/>
          </a:p>
        </p:txBody>
      </p:sp>
      <p:sp>
        <p:nvSpPr>
          <p:cNvPr id="52" name="AutoShape 52"/>
          <p:cNvSpPr/>
          <p:nvPr/>
        </p:nvSpPr>
        <p:spPr>
          <a:xfrm>
            <a:off x="314281" y="6286545"/>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微软雅黑" panose="020B0503020204020204" charset="-122"/>
                <a:ea typeface="微软雅黑" panose="020B0503020204020204" charset="-122"/>
                <a:cs typeface="微软雅黑" panose="020B0503020204020204" charset="-122"/>
                <a:sym typeface="微软雅黑" panose="020B0503020204020204" charset="-122"/>
              </a:rPr>
              <a:t>Register per thread diagram</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60146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Global Memory</a:t>
            </a:r>
            <a:endParaRPr lang="en-US" sz="1100"/>
          </a:p>
        </p:txBody>
      </p:sp>
      <p:grpSp>
        <p:nvGrpSpPr>
          <p:cNvPr id="3" name="Group 3"/>
          <p:cNvGrpSpPr/>
          <p:nvPr/>
        </p:nvGrpSpPr>
        <p:grpSpPr>
          <a:xfrm>
            <a:off x="380956" y="1333233"/>
            <a:ext cx="5600700" cy="5180858"/>
            <a:chOff x="380956" y="1333233"/>
            <a:chExt cx="5600700" cy="5180858"/>
          </a:xfrm>
        </p:grpSpPr>
        <p:sp>
          <p:nvSpPr>
            <p:cNvPr id="4" name="Freeform 4"/>
            <p:cNvSpPr/>
            <p:nvPr/>
          </p:nvSpPr>
          <p:spPr>
            <a:xfrm>
              <a:off x="380956" y="1333233"/>
              <a:ext cx="5600700" cy="2514600"/>
            </a:xfrm>
            <a:custGeom>
              <a:avLst/>
              <a:gdLst/>
              <a:ahLst/>
              <a:cxnLst/>
              <a:rect l="l" t="t" r="r" b="b"/>
              <a:pathLst>
                <a:path w="5600700" h="2514600">
                  <a:moveTo>
                    <a:pt x="76192" y="0"/>
                  </a:moveTo>
                  <a:lnTo>
                    <a:pt x="5524508" y="0"/>
                  </a:lnTo>
                  <a:cubicBezTo>
                    <a:pt x="5566588" y="0"/>
                    <a:pt x="5600700" y="34112"/>
                    <a:pt x="5600700" y="76192"/>
                  </a:cubicBezTo>
                  <a:lnTo>
                    <a:pt x="5600700" y="2438408"/>
                  </a:lnTo>
                  <a:cubicBezTo>
                    <a:pt x="5600700" y="2480488"/>
                    <a:pt x="5566588" y="2514600"/>
                    <a:pt x="5524508" y="2514600"/>
                  </a:cubicBezTo>
                  <a:lnTo>
                    <a:pt x="76192" y="2514600"/>
                  </a:lnTo>
                  <a:cubicBezTo>
                    <a:pt x="34112" y="2514600"/>
                    <a:pt x="0" y="2480488"/>
                    <a:pt x="0" y="24384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09521" y="1523674"/>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Global Memory Characteristics</a:t>
              </a:r>
              <a:endParaRPr lang="en-US" sz="1100"/>
            </a:p>
          </p:txBody>
        </p:sp>
        <p:sp>
          <p:nvSpPr>
            <p:cNvPr id="6" name="Freeform 6"/>
            <p:cNvSpPr/>
            <p:nvPr/>
          </p:nvSpPr>
          <p:spPr>
            <a:xfrm>
              <a:off x="571396" y="20189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61837" y="1942763"/>
              <a:ext cx="18097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Large capacity</a:t>
              </a:r>
              <a:endParaRPr lang="en-US" sz="1100"/>
            </a:p>
          </p:txBody>
        </p:sp>
        <p:sp>
          <p:nvSpPr>
            <p:cNvPr id="8" name="AutoShape 8"/>
            <p:cNvSpPr/>
            <p:nvPr/>
          </p:nvSpPr>
          <p:spPr>
            <a:xfrm>
              <a:off x="761837" y="2209395"/>
              <a:ext cx="3509454" cy="30478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GB-scale, can store large amounts of data</a:t>
              </a:r>
              <a:endParaRPr lang="en-US" sz="1100"/>
            </a:p>
          </p:txBody>
        </p:sp>
        <p:sp>
          <p:nvSpPr>
            <p:cNvPr id="9" name="Freeform 9"/>
            <p:cNvSpPr/>
            <p:nvPr/>
          </p:nvSpPr>
          <p:spPr>
            <a:xfrm>
              <a:off x="571396" y="2628409"/>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61837" y="2552216"/>
              <a:ext cx="11906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High latency</a:t>
              </a:r>
              <a:endParaRPr lang="en-US" sz="1100"/>
            </a:p>
          </p:txBody>
        </p:sp>
        <p:sp>
          <p:nvSpPr>
            <p:cNvPr id="11" name="AutoShape 11"/>
            <p:cNvSpPr/>
            <p:nvPr/>
          </p:nvSpPr>
          <p:spPr>
            <a:xfrm>
              <a:off x="761837" y="2818849"/>
              <a:ext cx="11906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400-800 cycles</a:t>
              </a:r>
              <a:endParaRPr lang="en-US" sz="1100"/>
            </a:p>
          </p:txBody>
        </p:sp>
        <p:sp>
          <p:nvSpPr>
            <p:cNvPr id="12" name="Freeform 12"/>
            <p:cNvSpPr/>
            <p:nvPr/>
          </p:nvSpPr>
          <p:spPr>
            <a:xfrm>
              <a:off x="571396" y="3237863"/>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1837" y="3161672"/>
              <a:ext cx="2834394" cy="22798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Accessible by all threads</a:t>
              </a:r>
              <a:endParaRPr lang="en-US" sz="1100"/>
            </a:p>
          </p:txBody>
        </p:sp>
        <p:sp>
          <p:nvSpPr>
            <p:cNvPr id="14" name="AutoShape 14"/>
            <p:cNvSpPr/>
            <p:nvPr/>
          </p:nvSpPr>
          <p:spPr>
            <a:xfrm>
              <a:off x="761836" y="3428304"/>
              <a:ext cx="3257841" cy="2664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Globally visible, shared across threads</a:t>
              </a:r>
              <a:endParaRPr lang="en-US" sz="1100"/>
            </a:p>
          </p:txBody>
        </p:sp>
        <p:sp>
          <p:nvSpPr>
            <p:cNvPr id="15" name="Freeform 15"/>
            <p:cNvSpPr/>
            <p:nvPr/>
          </p:nvSpPr>
          <p:spPr>
            <a:xfrm>
              <a:off x="380956" y="3999700"/>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809521" y="4190142"/>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Main Problem</a:t>
              </a:r>
              <a:endParaRPr lang="en-US" sz="1100"/>
            </a:p>
          </p:txBody>
        </p:sp>
        <p:sp>
          <p:nvSpPr>
            <p:cNvPr id="17" name="AutoShape 17"/>
            <p:cNvSpPr/>
            <p:nvPr/>
          </p:nvSpPr>
          <p:spPr>
            <a:xfrm>
              <a:off x="571396" y="4571098"/>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Slow access speed</a:t>
              </a:r>
              <a:endParaRPr lang="en-US" sz="1100"/>
            </a:p>
          </p:txBody>
        </p:sp>
        <p:sp>
          <p:nvSpPr>
            <p:cNvPr id="18" name="AutoShape 18"/>
            <p:cNvSpPr/>
            <p:nvPr/>
          </p:nvSpPr>
          <p:spPr>
            <a:xfrm>
              <a:off x="571396" y="491399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High latency becomes a performance bottleneck</a:t>
              </a:r>
              <a:endParaRPr lang="en-US" sz="1100"/>
            </a:p>
          </p:txBody>
        </p:sp>
        <p:sp>
          <p:nvSpPr>
            <p:cNvPr id="19" name="Freeform 19"/>
            <p:cNvSpPr/>
            <p:nvPr/>
          </p:nvSpPr>
          <p:spPr>
            <a:xfrm>
              <a:off x="380956" y="5485391"/>
              <a:ext cx="5600700" cy="1028700"/>
            </a:xfrm>
            <a:custGeom>
              <a:avLst/>
              <a:gdLst/>
              <a:ahLst/>
              <a:cxnLst/>
              <a:rect l="l" t="t" r="r" b="b"/>
              <a:pathLst>
                <a:path w="5600700" h="1028700">
                  <a:moveTo>
                    <a:pt x="76196" y="0"/>
                  </a:moveTo>
                  <a:lnTo>
                    <a:pt x="5524504" y="0"/>
                  </a:lnTo>
                  <a:cubicBezTo>
                    <a:pt x="5566587" y="0"/>
                    <a:pt x="5600700" y="34113"/>
                    <a:pt x="5600700" y="76196"/>
                  </a:cubicBezTo>
                  <a:lnTo>
                    <a:pt x="5600700" y="952504"/>
                  </a:lnTo>
                  <a:cubicBezTo>
                    <a:pt x="5600700" y="994587"/>
                    <a:pt x="5566587" y="1028700"/>
                    <a:pt x="5524504" y="1028700"/>
                  </a:cubicBezTo>
                  <a:lnTo>
                    <a:pt x="76196" y="1028700"/>
                  </a:lnTo>
                  <a:cubicBezTo>
                    <a:pt x="34113" y="1028700"/>
                    <a:pt x="0" y="994587"/>
                    <a:pt x="0" y="952504"/>
                  </a:cubicBezTo>
                  <a:lnTo>
                    <a:pt x="0" y="76196"/>
                  </a:lnTo>
                  <a:cubicBezTo>
                    <a:pt x="0" y="34141"/>
                    <a:pt x="34141" y="0"/>
                    <a:pt x="76196"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809521" y="5675830"/>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Optimization Goal</a:t>
              </a:r>
              <a:endParaRPr lang="en-US" sz="1100"/>
            </a:p>
          </p:txBody>
        </p:sp>
        <p:sp>
          <p:nvSpPr>
            <p:cNvPr id="21" name="AutoShape 21"/>
            <p:cNvSpPr/>
            <p:nvPr/>
          </p:nvSpPr>
          <p:spPr>
            <a:xfrm>
              <a:off x="571396" y="6056786"/>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Reduce Global Memory accesses</a:t>
              </a:r>
              <a:endParaRPr lang="en-US" sz="1100"/>
            </a:p>
          </p:txBody>
        </p:sp>
      </p:grpSp>
      <p:sp>
        <p:nvSpPr>
          <p:cNvPr id="22" name="Freeform 22"/>
          <p:cNvSpPr/>
          <p:nvPr/>
        </p:nvSpPr>
        <p:spPr>
          <a:xfrm>
            <a:off x="6210279" y="1333233"/>
            <a:ext cx="5600700" cy="4038600"/>
          </a:xfrm>
          <a:custGeom>
            <a:avLst/>
            <a:gdLst/>
            <a:ahLst/>
            <a:cxnLst/>
            <a:rect l="l" t="t" r="r" b="b"/>
            <a:pathLst>
              <a:path w="5600700" h="4038600">
                <a:moveTo>
                  <a:pt x="76208" y="0"/>
                </a:moveTo>
                <a:lnTo>
                  <a:pt x="5524492" y="0"/>
                </a:lnTo>
                <a:cubicBezTo>
                  <a:pt x="5566580" y="0"/>
                  <a:pt x="5600700" y="34120"/>
                  <a:pt x="5600700" y="76208"/>
                </a:cubicBezTo>
                <a:lnTo>
                  <a:pt x="5600700" y="3962392"/>
                </a:lnTo>
                <a:cubicBezTo>
                  <a:pt x="5600700" y="4004480"/>
                  <a:pt x="5566580" y="4038600"/>
                  <a:pt x="5524492" y="4038600"/>
                </a:cubicBezTo>
                <a:lnTo>
                  <a:pt x="76208" y="4038600"/>
                </a:lnTo>
                <a:cubicBezTo>
                  <a:pt x="34120" y="4038600"/>
                  <a:pt x="0" y="4004480"/>
                  <a:pt x="0" y="39623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3" name="Picture 23"/>
          <p:cNvPicPr>
            <a:picLocks noChangeAspect="1"/>
          </p:cNvPicPr>
          <p:nvPr/>
        </p:nvPicPr>
        <p:blipFill>
          <a:blip r:embed="rId1"/>
          <a:srcRect l="60" r="60"/>
          <a:stretch>
            <a:fillRect/>
          </a:stretch>
        </p:blipFill>
        <p:spPr>
          <a:xfrm>
            <a:off x="6400720" y="2343785"/>
            <a:ext cx="5219700" cy="2019300"/>
          </a:xfrm>
          <a:prstGeom prst="roundRect">
            <a:avLst>
              <a:gd name="adj" fmla="val 1886"/>
            </a:avLst>
          </a:prstGeom>
          <a:ln w="12700">
            <a:noFill/>
            <a:prstDash val="solid"/>
          </a:ln>
        </p:spPr>
      </p:pic>
      <p:sp>
        <p:nvSpPr>
          <p:cNvPr id="24" name="Freeform 24"/>
          <p:cNvSpPr/>
          <p:nvPr/>
        </p:nvSpPr>
        <p:spPr>
          <a:xfrm>
            <a:off x="6219757" y="5533147"/>
            <a:ext cx="5581555" cy="971455"/>
          </a:xfrm>
          <a:custGeom>
            <a:avLst/>
            <a:gdLst/>
            <a:ahLst/>
            <a:cxnLst/>
            <a:rect l="l" t="t" r="r" b="b"/>
            <a:pathLst>
              <a:path w="5581555" h="971455">
                <a:moveTo>
                  <a:pt x="76201" y="0"/>
                </a:moveTo>
                <a:lnTo>
                  <a:pt x="5505353" y="0"/>
                </a:lnTo>
                <a:cubicBezTo>
                  <a:pt x="5547439" y="0"/>
                  <a:pt x="5581555" y="34116"/>
                  <a:pt x="5581555" y="76201"/>
                </a:cubicBezTo>
                <a:lnTo>
                  <a:pt x="5581555" y="895253"/>
                </a:lnTo>
                <a:cubicBezTo>
                  <a:pt x="5581555" y="937339"/>
                  <a:pt x="5547439" y="971455"/>
                  <a:pt x="5505353" y="971455"/>
                </a:cubicBezTo>
                <a:lnTo>
                  <a:pt x="76201" y="971455"/>
                </a:lnTo>
                <a:cubicBezTo>
                  <a:pt x="34116" y="971455"/>
                  <a:pt x="0" y="937339"/>
                  <a:pt x="0" y="895253"/>
                </a:cubicBezTo>
                <a:lnTo>
                  <a:pt x="0" y="76201"/>
                </a:lnTo>
                <a:cubicBezTo>
                  <a:pt x="0" y="34144"/>
                  <a:pt x="34144"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295892" y="5695008"/>
            <a:ext cx="5429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400-800</a:t>
            </a:r>
            <a:endParaRPr lang="en-US" sz="1100"/>
          </a:p>
        </p:txBody>
      </p:sp>
      <p:sp>
        <p:nvSpPr>
          <p:cNvPr id="26" name="AutoShape 26"/>
          <p:cNvSpPr/>
          <p:nvPr/>
        </p:nvSpPr>
        <p:spPr>
          <a:xfrm>
            <a:off x="6343517" y="6114022"/>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 latency</a:t>
            </a:r>
            <a:endParaRPr lang="en-US" sz="1100"/>
          </a:p>
        </p:txBody>
      </p:sp>
      <p:sp>
        <p:nvSpPr>
          <p:cNvPr id="27" name="AutoShape 27"/>
          <p:cNvSpPr/>
          <p:nvPr/>
        </p:nvSpPr>
        <p:spPr>
          <a:xfrm>
            <a:off x="314281" y="6590123"/>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POP CoE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58966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Shared Memory Concepts</a:t>
            </a:r>
            <a:endParaRPr lang="en-US" sz="1100"/>
          </a:p>
        </p:txBody>
      </p:sp>
      <p:grpSp>
        <p:nvGrpSpPr>
          <p:cNvPr id="3" name="Group 3"/>
          <p:cNvGrpSpPr/>
          <p:nvPr/>
        </p:nvGrpSpPr>
        <p:grpSpPr>
          <a:xfrm>
            <a:off x="380956" y="1333235"/>
            <a:ext cx="5600700" cy="1143000"/>
            <a:chOff x="380956" y="1333235"/>
            <a:chExt cx="5600700" cy="1143000"/>
          </a:xfrm>
        </p:grpSpPr>
        <p:sp>
          <p:nvSpPr>
            <p:cNvPr id="4" name="Freeform 4"/>
            <p:cNvSpPr/>
            <p:nvPr/>
          </p:nvSpPr>
          <p:spPr>
            <a:xfrm>
              <a:off x="380956" y="1333235"/>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1561807"/>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6" name="AutoShape 6"/>
            <p:cNvSpPr/>
            <p:nvPr/>
          </p:nvSpPr>
          <p:spPr>
            <a:xfrm>
              <a:off x="609529" y="1980749"/>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High-speed memory inside the SM</a:t>
              </a:r>
              <a:endParaRPr lang="en-US" sz="1100"/>
            </a:p>
          </p:txBody>
        </p:sp>
      </p:grpSp>
      <p:grpSp>
        <p:nvGrpSpPr>
          <p:cNvPr id="7" name="Group 7"/>
          <p:cNvGrpSpPr/>
          <p:nvPr/>
        </p:nvGrpSpPr>
        <p:grpSpPr>
          <a:xfrm>
            <a:off x="380956" y="2628409"/>
            <a:ext cx="5600700" cy="3714750"/>
            <a:chOff x="380956" y="2628409"/>
            <a:chExt cx="5600700" cy="3714750"/>
          </a:xfrm>
        </p:grpSpPr>
        <p:sp>
          <p:nvSpPr>
            <p:cNvPr id="8" name="Freeform 8"/>
            <p:cNvSpPr/>
            <p:nvPr/>
          </p:nvSpPr>
          <p:spPr>
            <a:xfrm>
              <a:off x="380956" y="2628409"/>
              <a:ext cx="5600700" cy="3714750"/>
            </a:xfrm>
            <a:custGeom>
              <a:avLst/>
              <a:gdLst/>
              <a:ahLst/>
              <a:cxnLst/>
              <a:rect l="l" t="t" r="r" b="b"/>
              <a:pathLst>
                <a:path w="5600700" h="3714750">
                  <a:moveTo>
                    <a:pt x="76190" y="0"/>
                  </a:moveTo>
                  <a:lnTo>
                    <a:pt x="5524510" y="0"/>
                  </a:lnTo>
                  <a:cubicBezTo>
                    <a:pt x="5566589" y="0"/>
                    <a:pt x="5600700" y="34111"/>
                    <a:pt x="5600700" y="76190"/>
                  </a:cubicBezTo>
                  <a:lnTo>
                    <a:pt x="5600700" y="3638560"/>
                  </a:lnTo>
                  <a:cubicBezTo>
                    <a:pt x="5600700" y="3680639"/>
                    <a:pt x="5566589" y="3714750"/>
                    <a:pt x="5524510" y="3714750"/>
                  </a:cubicBezTo>
                  <a:lnTo>
                    <a:pt x="76190" y="3714750"/>
                  </a:lnTo>
                  <a:cubicBezTo>
                    <a:pt x="34111" y="3714750"/>
                    <a:pt x="0" y="3680639"/>
                    <a:pt x="0" y="3638560"/>
                  </a:cubicBezTo>
                  <a:lnTo>
                    <a:pt x="0" y="76190"/>
                  </a:lnTo>
                  <a:cubicBezTo>
                    <a:pt x="0" y="34111"/>
                    <a:pt x="34111" y="0"/>
                    <a:pt x="7619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7507" y="2845003"/>
              <a:ext cx="205904" cy="196118"/>
            </a:xfrm>
            <a:custGeom>
              <a:avLst/>
              <a:gdLst/>
              <a:ahLst/>
              <a:cxnLst/>
              <a:rect l="l" t="t" r="r" b="b"/>
              <a:pathLst>
                <a:path w="205904" h="196118">
                  <a:moveTo>
                    <a:pt x="110952" y="4874"/>
                  </a:moveTo>
                  <a:cubicBezTo>
                    <a:pt x="109425" y="1897"/>
                    <a:pt x="106338" y="0"/>
                    <a:pt x="102989" y="0"/>
                  </a:cubicBezTo>
                  <a:cubicBezTo>
                    <a:pt x="99641" y="0"/>
                    <a:pt x="96553" y="1897"/>
                    <a:pt x="95027" y="4874"/>
                  </a:cubicBezTo>
                  <a:lnTo>
                    <a:pt x="67642" y="58526"/>
                  </a:lnTo>
                  <a:lnTo>
                    <a:pt x="8149" y="67977"/>
                  </a:lnTo>
                  <a:cubicBezTo>
                    <a:pt x="4837" y="68498"/>
                    <a:pt x="2084" y="70842"/>
                    <a:pt x="1042" y="74042"/>
                  </a:cubicBezTo>
                  <a:cubicBezTo>
                    <a:pt x="0" y="77242"/>
                    <a:pt x="856" y="80739"/>
                    <a:pt x="3200" y="83120"/>
                  </a:cubicBezTo>
                  <a:lnTo>
                    <a:pt x="45765" y="125722"/>
                  </a:lnTo>
                  <a:lnTo>
                    <a:pt x="36389" y="185217"/>
                  </a:lnTo>
                  <a:cubicBezTo>
                    <a:pt x="35868" y="188527"/>
                    <a:pt x="37245" y="191876"/>
                    <a:pt x="39962" y="193847"/>
                  </a:cubicBezTo>
                  <a:cubicBezTo>
                    <a:pt x="42677" y="195820"/>
                    <a:pt x="46249" y="196118"/>
                    <a:pt x="49263" y="194593"/>
                  </a:cubicBezTo>
                  <a:lnTo>
                    <a:pt x="102989" y="167283"/>
                  </a:lnTo>
                  <a:lnTo>
                    <a:pt x="156680" y="194593"/>
                  </a:lnTo>
                  <a:cubicBezTo>
                    <a:pt x="159656" y="196118"/>
                    <a:pt x="163265" y="195820"/>
                    <a:pt x="165981" y="193847"/>
                  </a:cubicBezTo>
                  <a:cubicBezTo>
                    <a:pt x="168698" y="191876"/>
                    <a:pt x="170074" y="188566"/>
                    <a:pt x="169554" y="185217"/>
                  </a:cubicBezTo>
                  <a:lnTo>
                    <a:pt x="160139" y="125722"/>
                  </a:lnTo>
                  <a:lnTo>
                    <a:pt x="202704" y="83120"/>
                  </a:lnTo>
                  <a:cubicBezTo>
                    <a:pt x="205086" y="80739"/>
                    <a:pt x="205904" y="77242"/>
                    <a:pt x="204862" y="74042"/>
                  </a:cubicBezTo>
                  <a:cubicBezTo>
                    <a:pt x="203821" y="70842"/>
                    <a:pt x="201104" y="68498"/>
                    <a:pt x="197756" y="67977"/>
                  </a:cubicBezTo>
                  <a:lnTo>
                    <a:pt x="138299" y="58526"/>
                  </a:lnTo>
                  <a:lnTo>
                    <a:pt x="110952" y="4874"/>
                  </a:ln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09521" y="2818849"/>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Key Characteristics</a:t>
              </a:r>
              <a:endParaRPr lang="en-US" sz="1100"/>
            </a:p>
          </p:txBody>
        </p:sp>
        <p:sp>
          <p:nvSpPr>
            <p:cNvPr id="11" name="Freeform 11"/>
            <p:cNvSpPr/>
            <p:nvPr/>
          </p:nvSpPr>
          <p:spPr>
            <a:xfrm>
              <a:off x="571396" y="331413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61837" y="3237937"/>
              <a:ext cx="30384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Low latency</a:t>
              </a:r>
              <a:endParaRPr lang="en-US" sz="1100"/>
            </a:p>
          </p:txBody>
        </p:sp>
        <p:sp>
          <p:nvSpPr>
            <p:cNvPr id="13" name="AutoShape 13"/>
            <p:cNvSpPr/>
            <p:nvPr/>
          </p:nvSpPr>
          <p:spPr>
            <a:xfrm>
              <a:off x="761837" y="3504570"/>
              <a:ext cx="4546593" cy="3047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~20 cycles, 20–40× faster than Global Memory</a:t>
              </a:r>
              <a:endParaRPr lang="en-US" sz="1100"/>
            </a:p>
          </p:txBody>
        </p:sp>
        <p:sp>
          <p:nvSpPr>
            <p:cNvPr id="14" name="Freeform 14"/>
            <p:cNvSpPr/>
            <p:nvPr/>
          </p:nvSpPr>
          <p:spPr>
            <a:xfrm>
              <a:off x="571396" y="392358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61837" y="3847393"/>
              <a:ext cx="2209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within a block</a:t>
              </a:r>
              <a:endParaRPr lang="en-US" sz="1100"/>
            </a:p>
          </p:txBody>
        </p:sp>
        <p:sp>
          <p:nvSpPr>
            <p:cNvPr id="16" name="AutoShape 16"/>
            <p:cNvSpPr/>
            <p:nvPr/>
          </p:nvSpPr>
          <p:spPr>
            <a:xfrm>
              <a:off x="761837" y="4114026"/>
              <a:ext cx="3951312" cy="3047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Threads within the same block can share access</a:t>
              </a:r>
              <a:endParaRPr lang="en-US" sz="1100"/>
            </a:p>
          </p:txBody>
        </p:sp>
        <p:sp>
          <p:nvSpPr>
            <p:cNvPr id="17" name="Freeform 17"/>
            <p:cNvSpPr/>
            <p:nvPr/>
          </p:nvSpPr>
          <p:spPr>
            <a:xfrm>
              <a:off x="571396" y="453304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61837" y="4456849"/>
              <a:ext cx="15049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Limited capacity</a:t>
              </a:r>
              <a:endParaRPr lang="en-US" sz="1100"/>
            </a:p>
          </p:txBody>
        </p:sp>
        <p:sp>
          <p:nvSpPr>
            <p:cNvPr id="19" name="AutoShape 19"/>
            <p:cNvSpPr/>
            <p:nvPr/>
          </p:nvSpPr>
          <p:spPr>
            <a:xfrm>
              <a:off x="761836" y="4723479"/>
              <a:ext cx="2521411"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Example: 48 KB per SM</a:t>
              </a:r>
              <a:endParaRPr lang="en-US" sz="1100"/>
            </a:p>
          </p:txBody>
        </p:sp>
      </p:grpSp>
      <p:grpSp>
        <p:nvGrpSpPr>
          <p:cNvPr id="20" name="Group 20"/>
          <p:cNvGrpSpPr/>
          <p:nvPr/>
        </p:nvGrpSpPr>
        <p:grpSpPr>
          <a:xfrm>
            <a:off x="6210279" y="1333235"/>
            <a:ext cx="5600700" cy="4996311"/>
            <a:chOff x="6210279" y="1333235"/>
            <a:chExt cx="5600700" cy="4996311"/>
          </a:xfrm>
        </p:grpSpPr>
        <p:sp>
          <p:nvSpPr>
            <p:cNvPr id="21" name="Freeform 21"/>
            <p:cNvSpPr/>
            <p:nvPr/>
          </p:nvSpPr>
          <p:spPr>
            <a:xfrm>
              <a:off x="6210279" y="1333235"/>
              <a:ext cx="5600700" cy="4019550"/>
            </a:xfrm>
            <a:custGeom>
              <a:avLst/>
              <a:gdLst/>
              <a:ahLst/>
              <a:cxnLst/>
              <a:rect l="l" t="t" r="r" b="b"/>
              <a:pathLst>
                <a:path w="5600700" h="4019550">
                  <a:moveTo>
                    <a:pt x="76211" y="0"/>
                  </a:moveTo>
                  <a:lnTo>
                    <a:pt x="5524489" y="0"/>
                  </a:lnTo>
                  <a:cubicBezTo>
                    <a:pt x="5566579" y="0"/>
                    <a:pt x="5600700" y="34121"/>
                    <a:pt x="5600700" y="76211"/>
                  </a:cubicBezTo>
                  <a:lnTo>
                    <a:pt x="5600700" y="3943339"/>
                  </a:lnTo>
                  <a:cubicBezTo>
                    <a:pt x="5600700" y="3985429"/>
                    <a:pt x="5566579" y="4019550"/>
                    <a:pt x="5524489" y="4019550"/>
                  </a:cubicBezTo>
                  <a:lnTo>
                    <a:pt x="76211" y="4019550"/>
                  </a:lnTo>
                  <a:cubicBezTo>
                    <a:pt x="34121" y="4019550"/>
                    <a:pt x="0" y="3985429"/>
                    <a:pt x="0" y="3943339"/>
                  </a:cubicBezTo>
                  <a:lnTo>
                    <a:pt x="0" y="76211"/>
                  </a:lnTo>
                  <a:cubicBezTo>
                    <a:pt x="0" y="34149"/>
                    <a:pt x="34149"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57" r="56"/>
            <a:stretch>
              <a:fillRect/>
            </a:stretch>
          </p:blipFill>
          <p:spPr>
            <a:xfrm>
              <a:off x="6400720" y="1523674"/>
              <a:ext cx="5219700" cy="3638550"/>
            </a:xfrm>
            <a:prstGeom prst="roundRect">
              <a:avLst>
                <a:gd name="adj" fmla="val 1047"/>
              </a:avLst>
            </a:prstGeom>
            <a:ln w="12700">
              <a:noFill/>
              <a:prstDash val="solid"/>
            </a:ln>
          </p:spPr>
        </p:pic>
        <p:sp>
          <p:nvSpPr>
            <p:cNvPr id="23" name="Freeform 23"/>
            <p:cNvSpPr/>
            <p:nvPr/>
          </p:nvSpPr>
          <p:spPr>
            <a:xfrm>
              <a:off x="6219757" y="5510491"/>
              <a:ext cx="2724055" cy="819055"/>
            </a:xfrm>
            <a:custGeom>
              <a:avLst/>
              <a:gdLst/>
              <a:ahLst/>
              <a:cxnLst/>
              <a:rect l="l" t="t" r="r" b="b"/>
              <a:pathLst>
                <a:path w="2724055" h="819055">
                  <a:moveTo>
                    <a:pt x="76197" y="0"/>
                  </a:moveTo>
                  <a:lnTo>
                    <a:pt x="2647859" y="0"/>
                  </a:lnTo>
                  <a:cubicBezTo>
                    <a:pt x="2689913" y="0"/>
                    <a:pt x="2724055" y="34143"/>
                    <a:pt x="2724055" y="76197"/>
                  </a:cubicBezTo>
                  <a:lnTo>
                    <a:pt x="2724055" y="742859"/>
                  </a:lnTo>
                  <a:cubicBezTo>
                    <a:pt x="2724055" y="784913"/>
                    <a:pt x="2689913" y="819055"/>
                    <a:pt x="2647859" y="819055"/>
                  </a:cubicBezTo>
                  <a:lnTo>
                    <a:pt x="76197" y="819055"/>
                  </a:lnTo>
                  <a:cubicBezTo>
                    <a:pt x="34143" y="819055"/>
                    <a:pt x="0" y="784913"/>
                    <a:pt x="0" y="742859"/>
                  </a:cubicBezTo>
                  <a:lnTo>
                    <a:pt x="0" y="76197"/>
                  </a:lnTo>
                  <a:cubicBezTo>
                    <a:pt x="0" y="34143"/>
                    <a:pt x="34143" y="0"/>
                    <a:pt x="761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272047" y="5634219"/>
              <a:ext cx="26193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100"/>
            </a:p>
          </p:txBody>
        </p:sp>
        <p:sp>
          <p:nvSpPr>
            <p:cNvPr id="25" name="AutoShape 25"/>
            <p:cNvSpPr/>
            <p:nvPr/>
          </p:nvSpPr>
          <p:spPr>
            <a:xfrm>
              <a:off x="6310147" y="6015100"/>
              <a:ext cx="25431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a:t>
              </a:r>
              <a:endParaRPr lang="en-US" sz="1100"/>
            </a:p>
          </p:txBody>
        </p:sp>
        <p:sp>
          <p:nvSpPr>
            <p:cNvPr id="26" name="Freeform 26"/>
            <p:cNvSpPr/>
            <p:nvPr/>
          </p:nvSpPr>
          <p:spPr>
            <a:xfrm>
              <a:off x="9077257" y="5510491"/>
              <a:ext cx="2724055" cy="819055"/>
            </a:xfrm>
            <a:custGeom>
              <a:avLst/>
              <a:gdLst/>
              <a:ahLst/>
              <a:cxnLst/>
              <a:rect l="l" t="t" r="r" b="b"/>
              <a:pathLst>
                <a:path w="2724055" h="819055">
                  <a:moveTo>
                    <a:pt x="76197" y="0"/>
                  </a:moveTo>
                  <a:lnTo>
                    <a:pt x="2647859" y="0"/>
                  </a:lnTo>
                  <a:cubicBezTo>
                    <a:pt x="2689913" y="0"/>
                    <a:pt x="2724055" y="34143"/>
                    <a:pt x="2724055" y="76197"/>
                  </a:cubicBezTo>
                  <a:lnTo>
                    <a:pt x="2724055" y="742859"/>
                  </a:lnTo>
                  <a:cubicBezTo>
                    <a:pt x="2724055" y="784913"/>
                    <a:pt x="2689913" y="819055"/>
                    <a:pt x="2647859" y="819055"/>
                  </a:cubicBezTo>
                  <a:lnTo>
                    <a:pt x="76197" y="819055"/>
                  </a:lnTo>
                  <a:cubicBezTo>
                    <a:pt x="34143" y="819055"/>
                    <a:pt x="0" y="784913"/>
                    <a:pt x="0" y="742859"/>
                  </a:cubicBezTo>
                  <a:lnTo>
                    <a:pt x="0" y="76197"/>
                  </a:lnTo>
                  <a:cubicBezTo>
                    <a:pt x="0" y="34143"/>
                    <a:pt x="34143" y="0"/>
                    <a:pt x="76197" y="0"/>
                  </a:cubicBezTo>
                  <a:close/>
                </a:path>
              </a:pathLst>
            </a:custGeom>
            <a:solidFill>
              <a:srgbClr val="FFFFFF">
                <a:alpha val="100000"/>
              </a:srgbClr>
            </a:solidFill>
            <a:ln w="12700">
              <a:solidFill>
                <a:srgbClr val="B89A6A">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9546" y="5634219"/>
              <a:ext cx="26193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48KB</a:t>
              </a:r>
              <a:endParaRPr lang="en-US" sz="1100"/>
            </a:p>
          </p:txBody>
        </p:sp>
        <p:sp>
          <p:nvSpPr>
            <p:cNvPr id="28" name="AutoShape 28"/>
            <p:cNvSpPr/>
            <p:nvPr/>
          </p:nvSpPr>
          <p:spPr>
            <a:xfrm>
              <a:off x="9167646" y="6015100"/>
              <a:ext cx="25431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per SM</a:t>
              </a:r>
              <a:endParaRPr lang="en-US" sz="1100"/>
            </a:p>
          </p:txBody>
        </p:sp>
      </p:grpSp>
      <p:sp>
        <p:nvSpPr>
          <p:cNvPr id="29" name="AutoShape 29"/>
          <p:cNvSpPr/>
          <p:nvPr/>
        </p:nvSpPr>
        <p:spPr>
          <a:xfrm>
            <a:off x="314281" y="6414936"/>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The Beard Sage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3235" y="633523"/>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Why Shared Memory is Faster</a:t>
            </a:r>
            <a:endParaRPr lang="en-US" sz="1100"/>
          </a:p>
        </p:txBody>
      </p:sp>
      <p:grpSp>
        <p:nvGrpSpPr>
          <p:cNvPr id="3" name="Group 3"/>
          <p:cNvGrpSpPr/>
          <p:nvPr/>
        </p:nvGrpSpPr>
        <p:grpSpPr>
          <a:xfrm>
            <a:off x="317514" y="1589087"/>
            <a:ext cx="5683250" cy="3555537"/>
            <a:chOff x="317514" y="1589087"/>
            <a:chExt cx="5683250" cy="3555537"/>
          </a:xfrm>
        </p:grpSpPr>
        <p:sp>
          <p:nvSpPr>
            <p:cNvPr id="4" name="Freeform 4"/>
            <p:cNvSpPr/>
            <p:nvPr/>
          </p:nvSpPr>
          <p:spPr>
            <a:xfrm>
              <a:off x="333310" y="1589087"/>
              <a:ext cx="5667296" cy="1333500"/>
            </a:xfrm>
            <a:custGeom>
              <a:avLst/>
              <a:gdLst/>
              <a:ahLst/>
              <a:cxnLst/>
              <a:rect l="l" t="t" r="r" b="b"/>
              <a:pathLst>
                <a:path w="5667296" h="1333500">
                  <a:moveTo>
                    <a:pt x="31593" y="0"/>
                  </a:moveTo>
                  <a:lnTo>
                    <a:pt x="5603795" y="0"/>
                  </a:lnTo>
                  <a:cubicBezTo>
                    <a:pt x="5638866" y="0"/>
                    <a:pt x="5667296" y="28430"/>
                    <a:pt x="5667296" y="63501"/>
                  </a:cubicBezTo>
                  <a:lnTo>
                    <a:pt x="5667296" y="1269999"/>
                  </a:lnTo>
                  <a:cubicBezTo>
                    <a:pt x="5667296" y="1305070"/>
                    <a:pt x="5638866" y="1333500"/>
                    <a:pt x="5603795" y="1333500"/>
                  </a:cubicBezTo>
                  <a:lnTo>
                    <a:pt x="31593" y="1333500"/>
                  </a:lnTo>
                  <a:cubicBezTo>
                    <a:pt x="14144" y="1333500"/>
                    <a:pt x="0" y="1319356"/>
                    <a:pt x="0" y="1301907"/>
                  </a:cubicBezTo>
                  <a:lnTo>
                    <a:pt x="0" y="31593"/>
                  </a:lnTo>
                  <a:cubicBezTo>
                    <a:pt x="0" y="14155"/>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33310" y="1589087"/>
              <a:ext cx="31593" cy="1333500"/>
            </a:xfrm>
            <a:custGeom>
              <a:avLst/>
              <a:gdLst/>
              <a:ahLst/>
              <a:cxnLst/>
              <a:rect l="l" t="t" r="r" b="b"/>
              <a:pathLst>
                <a:path w="31593" h="1333500">
                  <a:moveTo>
                    <a:pt x="31593" y="0"/>
                  </a:moveTo>
                  <a:lnTo>
                    <a:pt x="31593" y="0"/>
                  </a:lnTo>
                  <a:lnTo>
                    <a:pt x="31593" y="1333500"/>
                  </a:lnTo>
                  <a:lnTo>
                    <a:pt x="31593" y="1333500"/>
                  </a:lnTo>
                  <a:cubicBezTo>
                    <a:pt x="14144" y="1333500"/>
                    <a:pt x="0" y="1319356"/>
                    <a:pt x="0" y="1301907"/>
                  </a:cubicBezTo>
                  <a:lnTo>
                    <a:pt x="0" y="31593"/>
                  </a:lnTo>
                  <a:cubicBezTo>
                    <a:pt x="0" y="14155"/>
                    <a:pt x="14155" y="0"/>
                    <a:pt x="3159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28115" y="1779504"/>
              <a:ext cx="158068" cy="158750"/>
            </a:xfrm>
            <a:custGeom>
              <a:avLst/>
              <a:gdLst/>
              <a:ahLst/>
              <a:cxnLst/>
              <a:rect l="l" t="t" r="r" b="b"/>
              <a:pathLst>
                <a:path w="158068" h="158750">
                  <a:moveTo>
                    <a:pt x="108645" y="86816"/>
                  </a:moveTo>
                  <a:lnTo>
                    <a:pt x="49454" y="86816"/>
                  </a:lnTo>
                  <a:cubicBezTo>
                    <a:pt x="50354" y="106815"/>
                    <a:pt x="54788" y="125233"/>
                    <a:pt x="61082" y="138720"/>
                  </a:cubicBezTo>
                  <a:cubicBezTo>
                    <a:pt x="64616" y="146317"/>
                    <a:pt x="68430" y="151681"/>
                    <a:pt x="71964" y="154967"/>
                  </a:cubicBezTo>
                  <a:cubicBezTo>
                    <a:pt x="75437" y="158223"/>
                    <a:pt x="77825" y="158750"/>
                    <a:pt x="79065" y="158750"/>
                  </a:cubicBezTo>
                  <a:cubicBezTo>
                    <a:pt x="80304" y="158750"/>
                    <a:pt x="82693" y="158223"/>
                    <a:pt x="86166" y="154967"/>
                  </a:cubicBezTo>
                  <a:cubicBezTo>
                    <a:pt x="89700" y="151681"/>
                    <a:pt x="93514" y="146286"/>
                    <a:pt x="97048" y="138720"/>
                  </a:cubicBezTo>
                  <a:cubicBezTo>
                    <a:pt x="103344" y="125233"/>
                    <a:pt x="107776" y="106815"/>
                    <a:pt x="108676" y="86816"/>
                  </a:cubicBezTo>
                  <a:close/>
                  <a:moveTo>
                    <a:pt x="49423" y="71934"/>
                  </a:moveTo>
                  <a:lnTo>
                    <a:pt x="108614" y="71934"/>
                  </a:lnTo>
                  <a:cubicBezTo>
                    <a:pt x="107745" y="51935"/>
                    <a:pt x="103312" y="33517"/>
                    <a:pt x="97016" y="20030"/>
                  </a:cubicBezTo>
                  <a:cubicBezTo>
                    <a:pt x="93483" y="12464"/>
                    <a:pt x="89669" y="7069"/>
                    <a:pt x="86134" y="3783"/>
                  </a:cubicBezTo>
                  <a:cubicBezTo>
                    <a:pt x="82662" y="527"/>
                    <a:pt x="80274" y="0"/>
                    <a:pt x="79034" y="0"/>
                  </a:cubicBezTo>
                  <a:cubicBezTo>
                    <a:pt x="77794" y="0"/>
                    <a:pt x="75406" y="527"/>
                    <a:pt x="71934" y="3783"/>
                  </a:cubicBezTo>
                  <a:cubicBezTo>
                    <a:pt x="68399" y="7069"/>
                    <a:pt x="64584" y="12464"/>
                    <a:pt x="61051" y="20030"/>
                  </a:cubicBezTo>
                  <a:cubicBezTo>
                    <a:pt x="54756" y="33517"/>
                    <a:pt x="50324" y="51935"/>
                    <a:pt x="49423" y="71934"/>
                  </a:cubicBezTo>
                  <a:close/>
                  <a:moveTo>
                    <a:pt x="34541" y="71934"/>
                  </a:moveTo>
                  <a:cubicBezTo>
                    <a:pt x="35626" y="45394"/>
                    <a:pt x="42478" y="20743"/>
                    <a:pt x="52493" y="4558"/>
                  </a:cubicBezTo>
                  <a:cubicBezTo>
                    <a:pt x="23937" y="14666"/>
                    <a:pt x="2914" y="40679"/>
                    <a:pt x="0" y="71934"/>
                  </a:cubicBezTo>
                  <a:lnTo>
                    <a:pt x="34541" y="71934"/>
                  </a:lnTo>
                  <a:close/>
                  <a:moveTo>
                    <a:pt x="0" y="86816"/>
                  </a:moveTo>
                  <a:cubicBezTo>
                    <a:pt x="2914" y="118071"/>
                    <a:pt x="23937" y="144084"/>
                    <a:pt x="52493" y="154192"/>
                  </a:cubicBezTo>
                  <a:cubicBezTo>
                    <a:pt x="42478" y="138007"/>
                    <a:pt x="35626" y="113356"/>
                    <a:pt x="34541" y="86816"/>
                  </a:cubicBezTo>
                  <a:lnTo>
                    <a:pt x="0" y="86816"/>
                  </a:lnTo>
                  <a:close/>
                  <a:moveTo>
                    <a:pt x="123526" y="86816"/>
                  </a:moveTo>
                  <a:cubicBezTo>
                    <a:pt x="122442" y="113356"/>
                    <a:pt x="115590" y="138007"/>
                    <a:pt x="105575" y="154192"/>
                  </a:cubicBezTo>
                  <a:cubicBezTo>
                    <a:pt x="134131" y="144054"/>
                    <a:pt x="155153" y="118071"/>
                    <a:pt x="158068" y="86816"/>
                  </a:cubicBezTo>
                  <a:lnTo>
                    <a:pt x="123526" y="86816"/>
                  </a:lnTo>
                  <a:close/>
                  <a:moveTo>
                    <a:pt x="158068" y="71934"/>
                  </a:moveTo>
                  <a:cubicBezTo>
                    <a:pt x="155153" y="40679"/>
                    <a:pt x="134131" y="14666"/>
                    <a:pt x="105575" y="4558"/>
                  </a:cubicBezTo>
                  <a:cubicBezTo>
                    <a:pt x="115590" y="20743"/>
                    <a:pt x="122442" y="45394"/>
                    <a:pt x="123526" y="71934"/>
                  </a:cubicBezTo>
                  <a:lnTo>
                    <a:pt x="158068" y="71934"/>
                  </a:ln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06244" y="1747789"/>
              <a:ext cx="5214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8" name="Freeform 8"/>
            <p:cNvSpPr/>
            <p:nvPr/>
          </p:nvSpPr>
          <p:spPr>
            <a:xfrm>
              <a:off x="507807" y="212874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34792" y="2065252"/>
              <a:ext cx="2562540" cy="19018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Far from compute units</a:t>
              </a:r>
              <a:endParaRPr lang="en-US" sz="1100"/>
            </a:p>
          </p:txBody>
        </p:sp>
        <p:sp>
          <p:nvSpPr>
            <p:cNvPr id="10" name="Freeform 10"/>
            <p:cNvSpPr/>
            <p:nvPr/>
          </p:nvSpPr>
          <p:spPr>
            <a:xfrm>
              <a:off x="507807" y="2382713"/>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34792" y="2319221"/>
              <a:ext cx="2310926"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High-latency access</a:t>
              </a:r>
              <a:endParaRPr lang="en-US" sz="1100"/>
            </a:p>
          </p:txBody>
        </p:sp>
        <p:sp>
          <p:nvSpPr>
            <p:cNvPr id="12" name="Freeform 12"/>
            <p:cNvSpPr/>
            <p:nvPr/>
          </p:nvSpPr>
          <p:spPr>
            <a:xfrm>
              <a:off x="507807" y="263668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4791" y="2573191"/>
              <a:ext cx="1832247" cy="22199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Large capacity but slow</a:t>
              </a:r>
              <a:endParaRPr lang="en-US" sz="1100"/>
            </a:p>
          </p:txBody>
        </p:sp>
        <p:sp>
          <p:nvSpPr>
            <p:cNvPr id="14" name="Freeform 14"/>
            <p:cNvSpPr/>
            <p:nvPr/>
          </p:nvSpPr>
          <p:spPr>
            <a:xfrm>
              <a:off x="317514" y="3049357"/>
              <a:ext cx="5683250" cy="1333500"/>
            </a:xfrm>
            <a:custGeom>
              <a:avLst/>
              <a:gdLst/>
              <a:ahLst/>
              <a:cxnLst/>
              <a:rect l="l" t="t" r="r" b="b"/>
              <a:pathLst>
                <a:path w="5683250" h="1333500">
                  <a:moveTo>
                    <a:pt x="63501" y="0"/>
                  </a:moveTo>
                  <a:lnTo>
                    <a:pt x="5619749" y="0"/>
                  </a:lnTo>
                  <a:cubicBezTo>
                    <a:pt x="5654820" y="0"/>
                    <a:pt x="5683250" y="28430"/>
                    <a:pt x="5683250" y="63501"/>
                  </a:cubicBezTo>
                  <a:lnTo>
                    <a:pt x="5683250" y="1269999"/>
                  </a:lnTo>
                  <a:cubicBezTo>
                    <a:pt x="5683250" y="1305070"/>
                    <a:pt x="5654820" y="1333500"/>
                    <a:pt x="5619749" y="1333500"/>
                  </a:cubicBezTo>
                  <a:lnTo>
                    <a:pt x="63501" y="1333500"/>
                  </a:lnTo>
                  <a:cubicBezTo>
                    <a:pt x="28430" y="1333500"/>
                    <a:pt x="0" y="1305070"/>
                    <a:pt x="0" y="1269999"/>
                  </a:cubicBezTo>
                  <a:lnTo>
                    <a:pt x="0" y="63501"/>
                  </a:lnTo>
                  <a:cubicBezTo>
                    <a:pt x="0" y="28454"/>
                    <a:pt x="28454" y="0"/>
                    <a:pt x="635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96058" y="3239771"/>
              <a:ext cx="158750" cy="158750"/>
            </a:xfrm>
            <a:custGeom>
              <a:avLst/>
              <a:gdLst/>
              <a:ahLst/>
              <a:cxnLst/>
              <a:rect l="l" t="t" r="r" b="b"/>
              <a:pathLst>
                <a:path w="158750" h="158750">
                  <a:moveTo>
                    <a:pt x="54571" y="7441"/>
                  </a:moveTo>
                  <a:cubicBezTo>
                    <a:pt x="54571" y="3319"/>
                    <a:pt x="51253" y="0"/>
                    <a:pt x="47128" y="0"/>
                  </a:cubicBezTo>
                  <a:cubicBezTo>
                    <a:pt x="43005" y="0"/>
                    <a:pt x="39688" y="3319"/>
                    <a:pt x="39688" y="7441"/>
                  </a:cubicBezTo>
                  <a:lnTo>
                    <a:pt x="39688" y="19844"/>
                  </a:lnTo>
                  <a:cubicBezTo>
                    <a:pt x="28741" y="19844"/>
                    <a:pt x="19844" y="28741"/>
                    <a:pt x="19844" y="39687"/>
                  </a:cubicBezTo>
                  <a:lnTo>
                    <a:pt x="7441" y="39687"/>
                  </a:lnTo>
                  <a:cubicBezTo>
                    <a:pt x="3319" y="39687"/>
                    <a:pt x="0" y="43005"/>
                    <a:pt x="0" y="47128"/>
                  </a:cubicBezTo>
                  <a:cubicBezTo>
                    <a:pt x="0" y="51253"/>
                    <a:pt x="3319" y="54571"/>
                    <a:pt x="7441" y="54571"/>
                  </a:cubicBezTo>
                  <a:lnTo>
                    <a:pt x="19844" y="54571"/>
                  </a:lnTo>
                  <a:lnTo>
                    <a:pt x="19844" y="71934"/>
                  </a:lnTo>
                  <a:lnTo>
                    <a:pt x="7441" y="71934"/>
                  </a:lnTo>
                  <a:cubicBezTo>
                    <a:pt x="3319" y="71934"/>
                    <a:pt x="0" y="75251"/>
                    <a:pt x="0" y="79375"/>
                  </a:cubicBezTo>
                  <a:cubicBezTo>
                    <a:pt x="0" y="83499"/>
                    <a:pt x="3319" y="86816"/>
                    <a:pt x="7441" y="86816"/>
                  </a:cubicBezTo>
                  <a:lnTo>
                    <a:pt x="19844" y="86816"/>
                  </a:lnTo>
                  <a:lnTo>
                    <a:pt x="19844" y="104179"/>
                  </a:lnTo>
                  <a:lnTo>
                    <a:pt x="7441" y="104179"/>
                  </a:lnTo>
                  <a:cubicBezTo>
                    <a:pt x="3319" y="104179"/>
                    <a:pt x="0" y="107497"/>
                    <a:pt x="0" y="111622"/>
                  </a:cubicBezTo>
                  <a:cubicBezTo>
                    <a:pt x="0" y="115745"/>
                    <a:pt x="3319" y="119063"/>
                    <a:pt x="7441" y="119063"/>
                  </a:cubicBezTo>
                  <a:lnTo>
                    <a:pt x="19844" y="119063"/>
                  </a:lnTo>
                  <a:cubicBezTo>
                    <a:pt x="19844" y="130009"/>
                    <a:pt x="28741" y="138906"/>
                    <a:pt x="39688" y="138906"/>
                  </a:cubicBezTo>
                  <a:lnTo>
                    <a:pt x="39688" y="151309"/>
                  </a:lnTo>
                  <a:cubicBezTo>
                    <a:pt x="39688" y="155431"/>
                    <a:pt x="43005" y="158750"/>
                    <a:pt x="47128" y="158750"/>
                  </a:cubicBezTo>
                  <a:cubicBezTo>
                    <a:pt x="51253" y="158750"/>
                    <a:pt x="54571" y="155431"/>
                    <a:pt x="54571" y="151309"/>
                  </a:cubicBezTo>
                  <a:lnTo>
                    <a:pt x="54571" y="138906"/>
                  </a:lnTo>
                  <a:lnTo>
                    <a:pt x="71934" y="138906"/>
                  </a:lnTo>
                  <a:lnTo>
                    <a:pt x="71934" y="151309"/>
                  </a:lnTo>
                  <a:cubicBezTo>
                    <a:pt x="71934" y="155431"/>
                    <a:pt x="75251" y="158750"/>
                    <a:pt x="79375" y="158750"/>
                  </a:cubicBezTo>
                  <a:cubicBezTo>
                    <a:pt x="83499" y="158750"/>
                    <a:pt x="86816" y="155431"/>
                    <a:pt x="86816" y="151309"/>
                  </a:cubicBezTo>
                  <a:lnTo>
                    <a:pt x="86816" y="138906"/>
                  </a:lnTo>
                  <a:lnTo>
                    <a:pt x="104179" y="138906"/>
                  </a:lnTo>
                  <a:lnTo>
                    <a:pt x="104179" y="151309"/>
                  </a:lnTo>
                  <a:cubicBezTo>
                    <a:pt x="104179" y="155431"/>
                    <a:pt x="107497" y="158750"/>
                    <a:pt x="111622" y="158750"/>
                  </a:cubicBezTo>
                  <a:cubicBezTo>
                    <a:pt x="115745" y="158750"/>
                    <a:pt x="119062" y="155431"/>
                    <a:pt x="119062" y="151309"/>
                  </a:cubicBezTo>
                  <a:lnTo>
                    <a:pt x="119062" y="138906"/>
                  </a:lnTo>
                  <a:cubicBezTo>
                    <a:pt x="130009" y="138906"/>
                    <a:pt x="138906" y="130009"/>
                    <a:pt x="138906" y="119063"/>
                  </a:cubicBezTo>
                  <a:lnTo>
                    <a:pt x="151309" y="119063"/>
                  </a:lnTo>
                  <a:cubicBezTo>
                    <a:pt x="155431" y="119063"/>
                    <a:pt x="158750" y="115745"/>
                    <a:pt x="158750" y="111622"/>
                  </a:cubicBezTo>
                  <a:cubicBezTo>
                    <a:pt x="158750" y="107497"/>
                    <a:pt x="155431" y="104179"/>
                    <a:pt x="151309" y="104179"/>
                  </a:cubicBezTo>
                  <a:lnTo>
                    <a:pt x="138906" y="104179"/>
                  </a:lnTo>
                  <a:lnTo>
                    <a:pt x="138906" y="86816"/>
                  </a:lnTo>
                  <a:lnTo>
                    <a:pt x="151309" y="86816"/>
                  </a:lnTo>
                  <a:cubicBezTo>
                    <a:pt x="155431" y="86816"/>
                    <a:pt x="158750" y="83499"/>
                    <a:pt x="158750" y="79375"/>
                  </a:cubicBezTo>
                  <a:cubicBezTo>
                    <a:pt x="158750" y="75251"/>
                    <a:pt x="155431" y="71934"/>
                    <a:pt x="151309" y="71934"/>
                  </a:cubicBezTo>
                  <a:lnTo>
                    <a:pt x="138906" y="71934"/>
                  </a:lnTo>
                  <a:lnTo>
                    <a:pt x="138906" y="54571"/>
                  </a:lnTo>
                  <a:lnTo>
                    <a:pt x="151309" y="54571"/>
                  </a:lnTo>
                  <a:cubicBezTo>
                    <a:pt x="155431" y="54571"/>
                    <a:pt x="158750" y="51253"/>
                    <a:pt x="158750" y="47128"/>
                  </a:cubicBezTo>
                  <a:cubicBezTo>
                    <a:pt x="158750" y="43005"/>
                    <a:pt x="155431" y="39687"/>
                    <a:pt x="151309" y="39687"/>
                  </a:cubicBezTo>
                  <a:lnTo>
                    <a:pt x="138906" y="39687"/>
                  </a:lnTo>
                  <a:cubicBezTo>
                    <a:pt x="138906" y="28741"/>
                    <a:pt x="130009" y="19844"/>
                    <a:pt x="119062" y="19844"/>
                  </a:cubicBezTo>
                  <a:lnTo>
                    <a:pt x="119062" y="7441"/>
                  </a:lnTo>
                  <a:cubicBezTo>
                    <a:pt x="119062" y="3319"/>
                    <a:pt x="115745" y="0"/>
                    <a:pt x="111622" y="0"/>
                  </a:cubicBezTo>
                  <a:cubicBezTo>
                    <a:pt x="107497" y="0"/>
                    <a:pt x="104179" y="3319"/>
                    <a:pt x="104179" y="7441"/>
                  </a:cubicBezTo>
                  <a:lnTo>
                    <a:pt x="104179" y="19844"/>
                  </a:lnTo>
                  <a:lnTo>
                    <a:pt x="86816" y="19844"/>
                  </a:lnTo>
                  <a:lnTo>
                    <a:pt x="86816" y="7441"/>
                  </a:lnTo>
                  <a:cubicBezTo>
                    <a:pt x="86816" y="3319"/>
                    <a:pt x="83499" y="0"/>
                    <a:pt x="79375" y="0"/>
                  </a:cubicBezTo>
                  <a:cubicBezTo>
                    <a:pt x="75251" y="0"/>
                    <a:pt x="71934" y="3319"/>
                    <a:pt x="71934" y="7441"/>
                  </a:cubicBezTo>
                  <a:lnTo>
                    <a:pt x="71934" y="19844"/>
                  </a:lnTo>
                  <a:lnTo>
                    <a:pt x="54571" y="19844"/>
                  </a:lnTo>
                  <a:lnTo>
                    <a:pt x="54571" y="7441"/>
                  </a:lnTo>
                  <a:close/>
                  <a:moveTo>
                    <a:pt x="49609" y="39687"/>
                  </a:moveTo>
                  <a:lnTo>
                    <a:pt x="109141" y="39687"/>
                  </a:lnTo>
                  <a:cubicBezTo>
                    <a:pt x="114629" y="39687"/>
                    <a:pt x="119062" y="44121"/>
                    <a:pt x="119062" y="49609"/>
                  </a:cubicBezTo>
                  <a:lnTo>
                    <a:pt x="119062" y="109141"/>
                  </a:lnTo>
                  <a:cubicBezTo>
                    <a:pt x="119062" y="114629"/>
                    <a:pt x="114629" y="119063"/>
                    <a:pt x="109141" y="119063"/>
                  </a:cubicBezTo>
                  <a:lnTo>
                    <a:pt x="49609" y="119063"/>
                  </a:lnTo>
                  <a:cubicBezTo>
                    <a:pt x="44121" y="119063"/>
                    <a:pt x="39688" y="114629"/>
                    <a:pt x="39688" y="109141"/>
                  </a:cubicBezTo>
                  <a:lnTo>
                    <a:pt x="39688" y="49609"/>
                  </a:lnTo>
                  <a:cubicBezTo>
                    <a:pt x="39688" y="44121"/>
                    <a:pt x="44121" y="39687"/>
                    <a:pt x="49609" y="39687"/>
                  </a:cubicBezTo>
                  <a:close/>
                  <a:moveTo>
                    <a:pt x="54571" y="54571"/>
                  </a:moveTo>
                  <a:lnTo>
                    <a:pt x="54571" y="104179"/>
                  </a:lnTo>
                  <a:lnTo>
                    <a:pt x="104179" y="104179"/>
                  </a:lnTo>
                  <a:lnTo>
                    <a:pt x="104179" y="54571"/>
                  </a:lnTo>
                  <a:lnTo>
                    <a:pt x="54571" y="54571"/>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74652" y="3208056"/>
              <a:ext cx="524668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17" name="Freeform 17"/>
            <p:cNvSpPr/>
            <p:nvPr/>
          </p:nvSpPr>
          <p:spPr>
            <a:xfrm>
              <a:off x="476215" y="3589010"/>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3200" y="3525517"/>
              <a:ext cx="1250148"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Inside the SM</a:t>
              </a:r>
              <a:endParaRPr lang="en-US" sz="1100"/>
            </a:p>
          </p:txBody>
        </p:sp>
        <p:sp>
          <p:nvSpPr>
            <p:cNvPr id="19" name="Freeform 19"/>
            <p:cNvSpPr/>
            <p:nvPr/>
          </p:nvSpPr>
          <p:spPr>
            <a:xfrm>
              <a:off x="476215" y="3842983"/>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3200" y="3779489"/>
              <a:ext cx="1863838" cy="22224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Physically close, faster access</a:t>
              </a:r>
              <a:endParaRPr lang="en-US" sz="1100"/>
            </a:p>
          </p:txBody>
        </p:sp>
        <p:sp>
          <p:nvSpPr>
            <p:cNvPr id="21" name="Freeform 21"/>
            <p:cNvSpPr/>
            <p:nvPr/>
          </p:nvSpPr>
          <p:spPr>
            <a:xfrm>
              <a:off x="476215" y="409695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03200" y="4033459"/>
              <a:ext cx="1800336"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Similar to CPU cache</a:t>
              </a:r>
              <a:endParaRPr lang="en-US" sz="1100"/>
            </a:p>
          </p:txBody>
        </p:sp>
        <p:sp>
          <p:nvSpPr>
            <p:cNvPr id="23" name="Freeform 23"/>
            <p:cNvSpPr/>
            <p:nvPr/>
          </p:nvSpPr>
          <p:spPr>
            <a:xfrm>
              <a:off x="317514" y="4509624"/>
              <a:ext cx="5683250" cy="635000"/>
            </a:xfrm>
            <a:custGeom>
              <a:avLst/>
              <a:gdLst/>
              <a:ahLst/>
              <a:cxnLst/>
              <a:rect l="l" t="t" r="r" b="b"/>
              <a:pathLst>
                <a:path w="5683250" h="635000">
                  <a:moveTo>
                    <a:pt x="63500" y="0"/>
                  </a:moveTo>
                  <a:lnTo>
                    <a:pt x="5619750" y="0"/>
                  </a:lnTo>
                  <a:cubicBezTo>
                    <a:pt x="5654797" y="0"/>
                    <a:pt x="5683250" y="28453"/>
                    <a:pt x="5683250" y="63500"/>
                  </a:cubicBezTo>
                  <a:lnTo>
                    <a:pt x="5683250" y="571500"/>
                  </a:lnTo>
                  <a:cubicBezTo>
                    <a:pt x="5683250" y="606547"/>
                    <a:pt x="5654797" y="635000"/>
                    <a:pt x="5619750" y="635000"/>
                  </a:cubicBezTo>
                  <a:lnTo>
                    <a:pt x="63500" y="635000"/>
                  </a:lnTo>
                  <a:cubicBezTo>
                    <a:pt x="28453" y="635000"/>
                    <a:pt x="0" y="606547"/>
                    <a:pt x="0" y="571500"/>
                  </a:cubicBezTo>
                  <a:lnTo>
                    <a:pt x="0" y="63500"/>
                  </a:lnTo>
                  <a:cubicBezTo>
                    <a:pt x="0" y="28453"/>
                    <a:pt x="28453" y="0"/>
                    <a:pt x="6350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492124" y="4731816"/>
              <a:ext cx="142875" cy="196452"/>
            </a:xfrm>
            <a:custGeom>
              <a:avLst/>
              <a:gdLst/>
              <a:ahLst/>
              <a:cxnLst/>
              <a:rect l="l" t="t" r="r" b="b"/>
              <a:pathLst>
                <a:path w="142875" h="196452">
                  <a:moveTo>
                    <a:pt x="108979" y="142875"/>
                  </a:moveTo>
                  <a:cubicBezTo>
                    <a:pt x="111697"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3" y="73409"/>
                    <a:pt x="23813" y="68461"/>
                  </a:cubicBezTo>
                  <a:cubicBezTo>
                    <a:pt x="23813" y="43793"/>
                    <a:pt x="43793" y="23812"/>
                    <a:pt x="68461" y="23812"/>
                  </a:cubicBezTo>
                  <a:cubicBezTo>
                    <a:pt x="73409" y="23812"/>
                    <a:pt x="77391" y="27794"/>
                    <a:pt x="77391" y="32742"/>
                  </a:cubicBezTo>
                  <a:cubicBezTo>
                    <a:pt x="77391" y="37691"/>
                    <a:pt x="73409" y="41673"/>
                    <a:pt x="68461" y="416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77820" y="4636608"/>
              <a:ext cx="11747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Key Insight</a:t>
              </a:r>
              <a:endParaRPr lang="en-US" sz="1100"/>
            </a:p>
          </p:txBody>
        </p:sp>
        <p:sp>
          <p:nvSpPr>
            <p:cNvPr id="26" name="AutoShape 26"/>
            <p:cNvSpPr/>
            <p:nvPr/>
          </p:nvSpPr>
          <p:spPr>
            <a:xfrm>
              <a:off x="777820" y="4858799"/>
              <a:ext cx="2419512" cy="19049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Physical location determines access speed</a:t>
              </a:r>
              <a:endParaRPr lang="en-US" sz="1100"/>
            </a:p>
          </p:txBody>
        </p:sp>
      </p:grpSp>
      <p:sp>
        <p:nvSpPr>
          <p:cNvPr id="27" name="Freeform 27"/>
          <p:cNvSpPr/>
          <p:nvPr/>
        </p:nvSpPr>
        <p:spPr>
          <a:xfrm>
            <a:off x="6191237" y="1111027"/>
            <a:ext cx="5683250" cy="5498428"/>
          </a:xfrm>
          <a:custGeom>
            <a:avLst/>
            <a:gdLst/>
            <a:ahLst/>
            <a:cxnLst/>
            <a:rect l="l" t="t" r="r" b="b"/>
            <a:pathLst>
              <a:path w="5683250" h="5498428">
                <a:moveTo>
                  <a:pt x="63482" y="0"/>
                </a:moveTo>
                <a:lnTo>
                  <a:pt x="5619768" y="0"/>
                </a:lnTo>
                <a:cubicBezTo>
                  <a:pt x="5654827" y="0"/>
                  <a:pt x="5683250" y="23664"/>
                  <a:pt x="5683250" y="52855"/>
                </a:cubicBezTo>
                <a:lnTo>
                  <a:pt x="5683250" y="5445573"/>
                </a:lnTo>
                <a:cubicBezTo>
                  <a:pt x="5683250" y="5474764"/>
                  <a:pt x="5654827" y="5498428"/>
                  <a:pt x="5619768" y="5498428"/>
                </a:cubicBezTo>
                <a:lnTo>
                  <a:pt x="63482" y="5498428"/>
                </a:lnTo>
                <a:cubicBezTo>
                  <a:pt x="28423" y="5498428"/>
                  <a:pt x="0" y="5474764"/>
                  <a:pt x="0" y="5445573"/>
                </a:cubicBezTo>
                <a:lnTo>
                  <a:pt x="0" y="52855"/>
                </a:lnTo>
                <a:cubicBezTo>
                  <a:pt x="0" y="23683"/>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t="2" b="1"/>
          <a:stretch>
            <a:fillRect/>
          </a:stretch>
        </p:blipFill>
        <p:spPr>
          <a:xfrm>
            <a:off x="7286627" y="1234509"/>
            <a:ext cx="3420027" cy="4006896"/>
          </a:xfrm>
          <a:prstGeom prst="roundRect">
            <a:avLst>
              <a:gd name="adj" fmla="val 591"/>
            </a:avLst>
          </a:prstGeom>
          <a:ln w="12700">
            <a:noFill/>
            <a:prstDash val="solid"/>
          </a:ln>
        </p:spPr>
      </p:pic>
      <p:grpSp>
        <p:nvGrpSpPr>
          <p:cNvPr id="29" name="Group 29"/>
          <p:cNvGrpSpPr/>
          <p:nvPr/>
        </p:nvGrpSpPr>
        <p:grpSpPr>
          <a:xfrm>
            <a:off x="6207167" y="5381741"/>
            <a:ext cx="5667296" cy="1158796"/>
            <a:chOff x="6207167" y="5381741"/>
            <a:chExt cx="5667296" cy="1158796"/>
          </a:xfrm>
        </p:grpSpPr>
        <p:sp>
          <p:nvSpPr>
            <p:cNvPr id="30" name="Freeform 30"/>
            <p:cNvSpPr/>
            <p:nvPr/>
          </p:nvSpPr>
          <p:spPr>
            <a:xfrm>
              <a:off x="6207167" y="5381741"/>
              <a:ext cx="5667296" cy="1158796"/>
            </a:xfrm>
            <a:custGeom>
              <a:avLst/>
              <a:gdLst/>
              <a:ahLst/>
              <a:cxnLst/>
              <a:rect l="l" t="t" r="r" b="b"/>
              <a:pathLst>
                <a:path w="5667296" h="1158796">
                  <a:moveTo>
                    <a:pt x="63503" y="0"/>
                  </a:moveTo>
                  <a:lnTo>
                    <a:pt x="5603794" y="0"/>
                  </a:lnTo>
                  <a:cubicBezTo>
                    <a:pt x="5638865" y="0"/>
                    <a:pt x="5667296" y="28431"/>
                    <a:pt x="5667296" y="63503"/>
                  </a:cubicBezTo>
                  <a:lnTo>
                    <a:pt x="5667296" y="1095294"/>
                  </a:lnTo>
                  <a:cubicBezTo>
                    <a:pt x="5667296" y="1130365"/>
                    <a:pt x="5638865" y="1158796"/>
                    <a:pt x="5603794" y="1158796"/>
                  </a:cubicBezTo>
                  <a:lnTo>
                    <a:pt x="63503" y="1158796"/>
                  </a:lnTo>
                  <a:cubicBezTo>
                    <a:pt x="28431" y="1158796"/>
                    <a:pt x="0" y="1130365"/>
                    <a:pt x="0" y="1095294"/>
                  </a:cubicBezTo>
                  <a:lnTo>
                    <a:pt x="0" y="63503"/>
                  </a:lnTo>
                  <a:cubicBezTo>
                    <a:pt x="0" y="28454"/>
                    <a:pt x="28454" y="0"/>
                    <a:pt x="63503"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31" name="AutoShape 31"/>
            <p:cNvSpPr/>
            <p:nvPr/>
          </p:nvSpPr>
          <p:spPr>
            <a:xfrm>
              <a:off x="6310301" y="5516621"/>
              <a:ext cx="5461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Speed Comparison</a:t>
              </a:r>
              <a:endParaRPr lang="en-US" sz="1100"/>
            </a:p>
          </p:txBody>
        </p:sp>
        <p:sp>
          <p:nvSpPr>
            <p:cNvPr id="32" name="AutoShape 32"/>
            <p:cNvSpPr/>
            <p:nvPr/>
          </p:nvSpPr>
          <p:spPr>
            <a:xfrm>
              <a:off x="8173474" y="5770594"/>
              <a:ext cx="8890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400-800</a:t>
              </a:r>
              <a:endParaRPr lang="en-US" sz="1100"/>
            </a:p>
          </p:txBody>
        </p:sp>
        <p:sp>
          <p:nvSpPr>
            <p:cNvPr id="33" name="AutoShape 33"/>
            <p:cNvSpPr/>
            <p:nvPr/>
          </p:nvSpPr>
          <p:spPr>
            <a:xfrm>
              <a:off x="8193317" y="6024501"/>
              <a:ext cx="8493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Global</a:t>
              </a:r>
              <a:endParaRPr lang="en-US" sz="1100"/>
            </a:p>
          </p:txBody>
        </p:sp>
        <p:sp>
          <p:nvSpPr>
            <p:cNvPr id="34" name="AutoShape 34"/>
            <p:cNvSpPr/>
            <p:nvPr/>
          </p:nvSpPr>
          <p:spPr>
            <a:xfrm>
              <a:off x="9082179" y="5834024"/>
              <a:ext cx="349250" cy="28575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9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vs</a:t>
              </a:r>
              <a:endParaRPr lang="en-US" sz="1100"/>
            </a:p>
          </p:txBody>
        </p:sp>
        <p:sp>
          <p:nvSpPr>
            <p:cNvPr id="35" name="AutoShape 35"/>
            <p:cNvSpPr/>
            <p:nvPr/>
          </p:nvSpPr>
          <p:spPr>
            <a:xfrm>
              <a:off x="9452581" y="5770594"/>
              <a:ext cx="45243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100"/>
            </a:p>
          </p:txBody>
        </p:sp>
        <p:sp>
          <p:nvSpPr>
            <p:cNvPr id="36" name="AutoShape 36"/>
            <p:cNvSpPr/>
            <p:nvPr/>
          </p:nvSpPr>
          <p:spPr>
            <a:xfrm>
              <a:off x="9472424" y="6024501"/>
              <a:ext cx="412750"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Shared</a:t>
              </a:r>
              <a:endParaRPr lang="en-US" sz="1100"/>
            </a:p>
          </p:txBody>
        </p:sp>
        <p:sp>
          <p:nvSpPr>
            <p:cNvPr id="37" name="AutoShape 37"/>
            <p:cNvSpPr/>
            <p:nvPr/>
          </p:nvSpPr>
          <p:spPr>
            <a:xfrm>
              <a:off x="6314270" y="6246696"/>
              <a:ext cx="545306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a:t>
              </a:r>
              <a:endParaRPr lang="en-US" sz="1100"/>
            </a:p>
          </p:txBody>
        </p:sp>
      </p:grpSp>
      <p:sp>
        <p:nvSpPr>
          <p:cNvPr id="38" name="AutoShape 38"/>
          <p:cNvSpPr/>
          <p:nvPr/>
        </p:nvSpPr>
        <p:spPr>
          <a:xfrm>
            <a:off x="261900" y="6673532"/>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SLING Documentation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904" y="608970"/>
            <a:ext cx="11652454" cy="34809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 Usage Example</a:t>
            </a:r>
            <a:endParaRPr lang="en-US" sz="1100"/>
          </a:p>
        </p:txBody>
      </p:sp>
      <p:sp>
        <p:nvSpPr>
          <p:cNvPr id="3" name="Freeform 3"/>
          <p:cNvSpPr/>
          <p:nvPr/>
        </p:nvSpPr>
        <p:spPr>
          <a:xfrm>
            <a:off x="348054" y="1218088"/>
            <a:ext cx="6813944" cy="5395460"/>
          </a:xfrm>
          <a:custGeom>
            <a:avLst/>
            <a:gdLst/>
            <a:ahLst/>
            <a:cxnLst/>
            <a:rect l="l" t="t" r="r" b="b"/>
            <a:pathLst>
              <a:path w="6813944" h="5395460">
                <a:moveTo>
                  <a:pt x="69601" y="0"/>
                </a:moveTo>
                <a:lnTo>
                  <a:pt x="6744343" y="0"/>
                </a:lnTo>
                <a:cubicBezTo>
                  <a:pt x="6782783" y="0"/>
                  <a:pt x="6813944" y="31162"/>
                  <a:pt x="6813944" y="69601"/>
                </a:cubicBezTo>
                <a:lnTo>
                  <a:pt x="6813944" y="5325859"/>
                </a:lnTo>
                <a:cubicBezTo>
                  <a:pt x="6813944" y="5364298"/>
                  <a:pt x="6782783" y="5395460"/>
                  <a:pt x="6744343" y="5395460"/>
                </a:cubicBezTo>
                <a:lnTo>
                  <a:pt x="69601" y="5395460"/>
                </a:lnTo>
                <a:cubicBezTo>
                  <a:pt x="31162" y="5395460"/>
                  <a:pt x="0" y="5364298"/>
                  <a:pt x="0" y="5325859"/>
                </a:cubicBezTo>
                <a:lnTo>
                  <a:pt x="0" y="69601"/>
                </a:lnTo>
                <a:cubicBezTo>
                  <a:pt x="0" y="31187"/>
                  <a:pt x="31187" y="0"/>
                  <a:pt x="6960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31871" y="1425592"/>
            <a:ext cx="197945" cy="176563"/>
          </a:xfrm>
          <a:custGeom>
            <a:avLst/>
            <a:gdLst/>
            <a:ahLst/>
            <a:cxnLst/>
            <a:rect l="l" t="t" r="r" b="b"/>
            <a:pathLst>
              <a:path w="197945" h="176563">
                <a:moveTo>
                  <a:pt x="123703" y="1667"/>
                </a:moveTo>
                <a:cubicBezTo>
                  <a:pt x="117924" y="0"/>
                  <a:pt x="111907" y="3367"/>
                  <a:pt x="110241" y="9146"/>
                </a:cubicBezTo>
                <a:lnTo>
                  <a:pt x="66730" y="161436"/>
                </a:lnTo>
                <a:cubicBezTo>
                  <a:pt x="65065" y="167216"/>
                  <a:pt x="68429" y="173234"/>
                  <a:pt x="74209" y="174898"/>
                </a:cubicBezTo>
                <a:cubicBezTo>
                  <a:pt x="79987" y="176563"/>
                  <a:pt x="86004" y="173199"/>
                  <a:pt x="87671" y="167419"/>
                </a:cubicBezTo>
                <a:lnTo>
                  <a:pt x="131181" y="15127"/>
                </a:lnTo>
                <a:cubicBezTo>
                  <a:pt x="132847" y="9349"/>
                  <a:pt x="129481" y="3333"/>
                  <a:pt x="123703" y="1667"/>
                </a:cubicBezTo>
                <a:close/>
                <a:moveTo>
                  <a:pt x="145663" y="47932"/>
                </a:moveTo>
                <a:cubicBezTo>
                  <a:pt x="141413" y="52181"/>
                  <a:pt x="141413" y="59082"/>
                  <a:pt x="145663" y="63332"/>
                </a:cubicBezTo>
                <a:lnTo>
                  <a:pt x="170614" y="88283"/>
                </a:lnTo>
                <a:lnTo>
                  <a:pt x="145663" y="113234"/>
                </a:lnTo>
                <a:cubicBezTo>
                  <a:pt x="141413" y="117483"/>
                  <a:pt x="141413" y="124384"/>
                  <a:pt x="145663" y="128632"/>
                </a:cubicBezTo>
                <a:cubicBezTo>
                  <a:pt x="149912" y="132882"/>
                  <a:pt x="156813" y="132882"/>
                  <a:pt x="161063" y="128632"/>
                </a:cubicBezTo>
                <a:lnTo>
                  <a:pt x="193696" y="95998"/>
                </a:lnTo>
                <a:cubicBezTo>
                  <a:pt x="197945" y="91750"/>
                  <a:pt x="197945" y="84849"/>
                  <a:pt x="193696" y="80600"/>
                </a:cubicBezTo>
                <a:lnTo>
                  <a:pt x="161063" y="47966"/>
                </a:lnTo>
                <a:cubicBezTo>
                  <a:pt x="156813" y="43716"/>
                  <a:pt x="149912" y="43716"/>
                  <a:pt x="145663" y="47966"/>
                </a:cubicBezTo>
                <a:close/>
                <a:moveTo>
                  <a:pt x="52282" y="47932"/>
                </a:moveTo>
                <a:cubicBezTo>
                  <a:pt x="48033" y="43683"/>
                  <a:pt x="41131" y="43683"/>
                  <a:pt x="36883" y="47932"/>
                </a:cubicBezTo>
                <a:lnTo>
                  <a:pt x="4249" y="80565"/>
                </a:lnTo>
                <a:cubicBezTo>
                  <a:pt x="0" y="84815"/>
                  <a:pt x="0" y="91716"/>
                  <a:pt x="4249" y="95965"/>
                </a:cubicBezTo>
                <a:lnTo>
                  <a:pt x="36883" y="128599"/>
                </a:lnTo>
                <a:cubicBezTo>
                  <a:pt x="41131" y="132848"/>
                  <a:pt x="48033" y="132848"/>
                  <a:pt x="52282" y="128599"/>
                </a:cubicBezTo>
                <a:cubicBezTo>
                  <a:pt x="56531" y="124350"/>
                  <a:pt x="56531" y="117449"/>
                  <a:pt x="52282" y="113201"/>
                </a:cubicBezTo>
                <a:lnTo>
                  <a:pt x="27332" y="88283"/>
                </a:lnTo>
                <a:lnTo>
                  <a:pt x="52248" y="63332"/>
                </a:lnTo>
                <a:cubicBezTo>
                  <a:pt x="56498" y="59082"/>
                  <a:pt x="56498" y="52181"/>
                  <a:pt x="52248" y="4793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739606" y="1392079"/>
            <a:ext cx="6335315"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CUDA Example Code</a:t>
            </a:r>
            <a:endParaRPr lang="en-US" sz="1100"/>
          </a:p>
        </p:txBody>
      </p:sp>
      <p:sp>
        <p:nvSpPr>
          <p:cNvPr id="6" name="Freeform 6"/>
          <p:cNvSpPr/>
          <p:nvPr/>
        </p:nvSpPr>
        <p:spPr>
          <a:xfrm>
            <a:off x="539365" y="1774970"/>
            <a:ext cx="6448359" cy="4664464"/>
          </a:xfrm>
          <a:custGeom>
            <a:avLst/>
            <a:gdLst/>
            <a:ahLst/>
            <a:cxnLst/>
            <a:rect l="l" t="t" r="r" b="b"/>
            <a:pathLst>
              <a:path w="6448359" h="4664464">
                <a:moveTo>
                  <a:pt x="34635" y="0"/>
                </a:moveTo>
                <a:lnTo>
                  <a:pt x="6378719" y="0"/>
                </a:lnTo>
                <a:cubicBezTo>
                  <a:pt x="6417180" y="0"/>
                  <a:pt x="6448359" y="31178"/>
                  <a:pt x="6448359" y="69640"/>
                </a:cubicBezTo>
                <a:lnTo>
                  <a:pt x="6448359" y="4594822"/>
                </a:lnTo>
                <a:cubicBezTo>
                  <a:pt x="6448359" y="4633283"/>
                  <a:pt x="6417180" y="4664464"/>
                  <a:pt x="6378719" y="4664464"/>
                </a:cubicBezTo>
                <a:lnTo>
                  <a:pt x="34635" y="4664464"/>
                </a:lnTo>
                <a:cubicBezTo>
                  <a:pt x="15507" y="4664464"/>
                  <a:pt x="0" y="4648954"/>
                  <a:pt x="0" y="4629826"/>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39365" y="1774970"/>
            <a:ext cx="34635" cy="4664464"/>
          </a:xfrm>
          <a:custGeom>
            <a:avLst/>
            <a:gdLst/>
            <a:ahLst/>
            <a:cxnLst/>
            <a:rect l="l" t="t" r="r" b="b"/>
            <a:pathLst>
              <a:path w="34635" h="4664464">
                <a:moveTo>
                  <a:pt x="34635" y="0"/>
                </a:moveTo>
                <a:lnTo>
                  <a:pt x="34635" y="0"/>
                </a:lnTo>
                <a:lnTo>
                  <a:pt x="34635" y="4664464"/>
                </a:lnTo>
                <a:lnTo>
                  <a:pt x="34635" y="4664464"/>
                </a:lnTo>
                <a:cubicBezTo>
                  <a:pt x="15507" y="4664464"/>
                  <a:pt x="0" y="4648954"/>
                  <a:pt x="0" y="4629826"/>
                </a:cubicBezTo>
                <a:lnTo>
                  <a:pt x="0" y="34635"/>
                </a:lnTo>
                <a:cubicBezTo>
                  <a:pt x="0" y="15519"/>
                  <a:pt x="15519" y="0"/>
                  <a:pt x="3463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17850" y="1548109"/>
            <a:ext cx="6222184" cy="438598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Declare Shared Memory</a:t>
            </a:r>
            <a:endParaRPr lang="en-US" sz="1100"/>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__shared__ float tile[32][32];</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Use inside the kernel function</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__global__ void kernel(float* input, float* output)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Get thread indices</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int tx = threadIdx.x;</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int ty = threadIdx.y;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Load data from Global Memory to Shared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tile[ty][tx] = input[...];</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Sync threads to ensure data is loaded</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__syncthreads();</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Compute using data in Shared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float result = tile[ty][tx] * 2.0f;</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Write back to Global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output[...] = result;</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p:txBody>
      </p:sp>
      <p:sp>
        <p:nvSpPr>
          <p:cNvPr id="9" name="Freeform 9"/>
          <p:cNvSpPr/>
          <p:nvPr/>
        </p:nvSpPr>
        <p:spPr>
          <a:xfrm>
            <a:off x="7370281" y="1218088"/>
            <a:ext cx="4473011" cy="2088565"/>
          </a:xfrm>
          <a:custGeom>
            <a:avLst/>
            <a:gdLst/>
            <a:ahLst/>
            <a:cxnLst/>
            <a:rect l="l" t="t" r="r" b="b"/>
            <a:pathLst>
              <a:path w="4473011" h="2088565">
                <a:moveTo>
                  <a:pt x="69613" y="0"/>
                </a:moveTo>
                <a:lnTo>
                  <a:pt x="4403399" y="0"/>
                </a:lnTo>
                <a:cubicBezTo>
                  <a:pt x="4441844" y="0"/>
                  <a:pt x="4473011" y="31166"/>
                  <a:pt x="4473011" y="69613"/>
                </a:cubicBezTo>
                <a:lnTo>
                  <a:pt x="4473011" y="2018953"/>
                </a:lnTo>
                <a:cubicBezTo>
                  <a:pt x="4473011" y="2057399"/>
                  <a:pt x="4441844" y="2088565"/>
                  <a:pt x="4403399" y="2088565"/>
                </a:cubicBezTo>
                <a:lnTo>
                  <a:pt x="69613" y="2088565"/>
                </a:lnTo>
                <a:cubicBezTo>
                  <a:pt x="31166" y="2088565"/>
                  <a:pt x="0" y="2057399"/>
                  <a:pt x="0" y="2018953"/>
                </a:cubicBezTo>
                <a:lnTo>
                  <a:pt x="0" y="69613"/>
                </a:lnTo>
                <a:cubicBezTo>
                  <a:pt x="0" y="31192"/>
                  <a:pt x="31192" y="0"/>
                  <a:pt x="6961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566029" y="1426851"/>
            <a:ext cx="174047" cy="174047"/>
          </a:xfrm>
          <a:custGeom>
            <a:avLst/>
            <a:gdLst/>
            <a:ahLst/>
            <a:cxnLst/>
            <a:rect l="l" t="t" r="r" b="b"/>
            <a:pathLst>
              <a:path w="174047" h="174047">
                <a:moveTo>
                  <a:pt x="152291" y="87024"/>
                </a:moveTo>
                <a:cubicBezTo>
                  <a:pt x="152291" y="51001"/>
                  <a:pt x="123046" y="21756"/>
                  <a:pt x="87024" y="21756"/>
                </a:cubicBezTo>
                <a:cubicBezTo>
                  <a:pt x="51001" y="21756"/>
                  <a:pt x="21756" y="51001"/>
                  <a:pt x="21756" y="87024"/>
                </a:cubicBezTo>
                <a:cubicBezTo>
                  <a:pt x="21756" y="123046"/>
                  <a:pt x="51001" y="152291"/>
                  <a:pt x="87024" y="152291"/>
                </a:cubicBezTo>
                <a:cubicBezTo>
                  <a:pt x="123046" y="152291"/>
                  <a:pt x="152291" y="123046"/>
                  <a:pt x="152291" y="87024"/>
                </a:cubicBezTo>
                <a:close/>
                <a:moveTo>
                  <a:pt x="0" y="87024"/>
                </a:moveTo>
                <a:cubicBezTo>
                  <a:pt x="0" y="38994"/>
                  <a:pt x="38994" y="0"/>
                  <a:pt x="87024" y="0"/>
                </a:cubicBezTo>
                <a:cubicBezTo>
                  <a:pt x="135053" y="0"/>
                  <a:pt x="174047" y="38994"/>
                  <a:pt x="174047" y="87024"/>
                </a:cubicBezTo>
                <a:cubicBezTo>
                  <a:pt x="174047" y="135053"/>
                  <a:pt x="135053" y="174047"/>
                  <a:pt x="87024" y="174047"/>
                </a:cubicBezTo>
                <a:cubicBezTo>
                  <a:pt x="38994" y="174047"/>
                  <a:pt x="0" y="135053"/>
                  <a:pt x="0" y="87024"/>
                </a:cubicBezTo>
                <a:close/>
                <a:moveTo>
                  <a:pt x="87024" y="114217"/>
                </a:moveTo>
                <a:cubicBezTo>
                  <a:pt x="102033" y="114217"/>
                  <a:pt x="114217" y="102033"/>
                  <a:pt x="114217" y="87024"/>
                </a:cubicBezTo>
                <a:cubicBezTo>
                  <a:pt x="114217" y="72014"/>
                  <a:pt x="102033" y="59828"/>
                  <a:pt x="87024" y="59828"/>
                </a:cubicBezTo>
                <a:cubicBezTo>
                  <a:pt x="72014" y="59828"/>
                  <a:pt x="59828" y="72014"/>
                  <a:pt x="59828" y="87024"/>
                </a:cubicBezTo>
                <a:cubicBezTo>
                  <a:pt x="59828" y="102033"/>
                  <a:pt x="72014" y="114217"/>
                  <a:pt x="87024" y="114217"/>
                </a:cubicBezTo>
                <a:close/>
                <a:moveTo>
                  <a:pt x="87024" y="38073"/>
                </a:moveTo>
                <a:cubicBezTo>
                  <a:pt x="114040" y="38073"/>
                  <a:pt x="135974" y="60007"/>
                  <a:pt x="135974" y="87024"/>
                </a:cubicBezTo>
                <a:cubicBezTo>
                  <a:pt x="135974" y="114040"/>
                  <a:pt x="114040" y="135974"/>
                  <a:pt x="87024" y="135974"/>
                </a:cubicBezTo>
                <a:cubicBezTo>
                  <a:pt x="60007" y="135974"/>
                  <a:pt x="38073" y="114040"/>
                  <a:pt x="38073" y="87024"/>
                </a:cubicBezTo>
                <a:cubicBezTo>
                  <a:pt x="38073" y="60007"/>
                  <a:pt x="60007" y="38073"/>
                  <a:pt x="87024" y="38073"/>
                </a:cubicBezTo>
                <a:close/>
                <a:moveTo>
                  <a:pt x="76145" y="87024"/>
                </a:moveTo>
                <a:cubicBezTo>
                  <a:pt x="76145" y="81020"/>
                  <a:pt x="81020" y="76145"/>
                  <a:pt x="87024" y="76145"/>
                </a:cubicBezTo>
                <a:cubicBezTo>
                  <a:pt x="93027" y="76145"/>
                  <a:pt x="97900" y="81020"/>
                  <a:pt x="97900" y="87024"/>
                </a:cubicBezTo>
                <a:cubicBezTo>
                  <a:pt x="97900" y="93027"/>
                  <a:pt x="93027" y="97900"/>
                  <a:pt x="87024" y="97900"/>
                </a:cubicBezTo>
                <a:cubicBezTo>
                  <a:pt x="81020" y="97900"/>
                  <a:pt x="76145" y="93027"/>
                  <a:pt x="76145" y="870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61832" y="1392079"/>
            <a:ext cx="3994381"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Primary Uses</a:t>
            </a:r>
            <a:endParaRPr lang="en-US" sz="1100"/>
          </a:p>
        </p:txBody>
      </p:sp>
      <p:sp>
        <p:nvSpPr>
          <p:cNvPr id="12" name="Freeform 12"/>
          <p:cNvSpPr/>
          <p:nvPr/>
        </p:nvSpPr>
        <p:spPr>
          <a:xfrm>
            <a:off x="7544273" y="1774970"/>
            <a:ext cx="4124916" cy="626570"/>
          </a:xfrm>
          <a:custGeom>
            <a:avLst/>
            <a:gdLst/>
            <a:ahLst/>
            <a:cxnLst/>
            <a:rect l="l" t="t" r="r" b="b"/>
            <a:pathLst>
              <a:path w="4124916" h="626570">
                <a:moveTo>
                  <a:pt x="69618" y="0"/>
                </a:moveTo>
                <a:lnTo>
                  <a:pt x="4055298" y="0"/>
                </a:lnTo>
                <a:cubicBezTo>
                  <a:pt x="4093747" y="0"/>
                  <a:pt x="4124916" y="31170"/>
                  <a:pt x="4124916" y="69618"/>
                </a:cubicBezTo>
                <a:lnTo>
                  <a:pt x="4124916" y="556951"/>
                </a:lnTo>
                <a:cubicBezTo>
                  <a:pt x="4124916" y="595400"/>
                  <a:pt x="4093747" y="626570"/>
                  <a:pt x="4055298" y="626570"/>
                </a:cubicBezTo>
                <a:lnTo>
                  <a:pt x="69618" y="626570"/>
                </a:lnTo>
                <a:cubicBezTo>
                  <a:pt x="31170" y="626570"/>
                  <a:pt x="0" y="595400"/>
                  <a:pt x="0" y="556951"/>
                </a:cubicBezTo>
                <a:lnTo>
                  <a:pt x="0" y="69618"/>
                </a:lnTo>
                <a:cubicBezTo>
                  <a:pt x="0" y="31170"/>
                  <a:pt x="31170" y="0"/>
                  <a:pt x="69618"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48656" y="1879356"/>
            <a:ext cx="398567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Cache data</a:t>
            </a:r>
            <a:endParaRPr lang="en-US" sz="1100"/>
          </a:p>
        </p:txBody>
      </p:sp>
      <p:sp>
        <p:nvSpPr>
          <p:cNvPr id="14" name="AutoShape 14"/>
          <p:cNvSpPr/>
          <p:nvPr/>
        </p:nvSpPr>
        <p:spPr>
          <a:xfrm>
            <a:off x="7648656" y="2122958"/>
            <a:ext cx="3976976"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Temporarily store frequently accessed data</a:t>
            </a:r>
            <a:endParaRPr lang="en-US" sz="1100"/>
          </a:p>
        </p:txBody>
      </p:sp>
      <p:sp>
        <p:nvSpPr>
          <p:cNvPr id="15" name="Freeform 15"/>
          <p:cNvSpPr/>
          <p:nvPr/>
        </p:nvSpPr>
        <p:spPr>
          <a:xfrm>
            <a:off x="7544273" y="2505717"/>
            <a:ext cx="4124916" cy="626570"/>
          </a:xfrm>
          <a:custGeom>
            <a:avLst/>
            <a:gdLst/>
            <a:ahLst/>
            <a:cxnLst/>
            <a:rect l="l" t="t" r="r" b="b"/>
            <a:pathLst>
              <a:path w="4124916" h="626570">
                <a:moveTo>
                  <a:pt x="69618" y="0"/>
                </a:moveTo>
                <a:lnTo>
                  <a:pt x="4055298" y="0"/>
                </a:lnTo>
                <a:cubicBezTo>
                  <a:pt x="4093747" y="0"/>
                  <a:pt x="4124916" y="31170"/>
                  <a:pt x="4124916" y="69618"/>
                </a:cubicBezTo>
                <a:lnTo>
                  <a:pt x="4124916" y="556951"/>
                </a:lnTo>
                <a:cubicBezTo>
                  <a:pt x="4124916" y="595400"/>
                  <a:pt x="4093747" y="626570"/>
                  <a:pt x="4055298" y="626570"/>
                </a:cubicBezTo>
                <a:lnTo>
                  <a:pt x="69618" y="626570"/>
                </a:lnTo>
                <a:cubicBezTo>
                  <a:pt x="31170" y="626570"/>
                  <a:pt x="0" y="595400"/>
                  <a:pt x="0" y="556951"/>
                </a:cubicBezTo>
                <a:lnTo>
                  <a:pt x="0" y="69618"/>
                </a:lnTo>
                <a:cubicBezTo>
                  <a:pt x="0" y="31170"/>
                  <a:pt x="31170" y="0"/>
                  <a:pt x="69618"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48656" y="2610099"/>
            <a:ext cx="398567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Reduce global memory accesses</a:t>
            </a:r>
            <a:endParaRPr lang="en-US" sz="1100"/>
          </a:p>
        </p:txBody>
      </p:sp>
      <p:sp>
        <p:nvSpPr>
          <p:cNvPr id="17" name="AutoShape 17"/>
          <p:cNvSpPr/>
          <p:nvPr/>
        </p:nvSpPr>
        <p:spPr>
          <a:xfrm>
            <a:off x="7648656" y="2853701"/>
            <a:ext cx="3976976"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Reduce memory bandwidth pressure</a:t>
            </a:r>
            <a:endParaRPr lang="en-US" sz="1100"/>
          </a:p>
        </p:txBody>
      </p:sp>
      <p:sp>
        <p:nvSpPr>
          <p:cNvPr id="18" name="Freeform 18"/>
          <p:cNvSpPr/>
          <p:nvPr/>
        </p:nvSpPr>
        <p:spPr>
          <a:xfrm>
            <a:off x="7370281" y="3445291"/>
            <a:ext cx="4473011" cy="3167657"/>
          </a:xfrm>
          <a:custGeom>
            <a:avLst/>
            <a:gdLst/>
            <a:ahLst/>
            <a:cxnLst/>
            <a:rect l="l" t="t" r="r" b="b"/>
            <a:pathLst>
              <a:path w="4473011" h="3167657">
                <a:moveTo>
                  <a:pt x="69625" y="0"/>
                </a:moveTo>
                <a:lnTo>
                  <a:pt x="4403386" y="0"/>
                </a:lnTo>
                <a:cubicBezTo>
                  <a:pt x="4441838" y="0"/>
                  <a:pt x="4473011" y="31172"/>
                  <a:pt x="4473011" y="69625"/>
                </a:cubicBezTo>
                <a:lnTo>
                  <a:pt x="4473011" y="3098032"/>
                </a:lnTo>
                <a:cubicBezTo>
                  <a:pt x="4473011" y="3136485"/>
                  <a:pt x="4441838" y="3167657"/>
                  <a:pt x="4403386" y="3167657"/>
                </a:cubicBezTo>
                <a:lnTo>
                  <a:pt x="69625" y="3167657"/>
                </a:lnTo>
                <a:cubicBezTo>
                  <a:pt x="31172" y="3167657"/>
                  <a:pt x="0" y="3136485"/>
                  <a:pt x="0" y="3098032"/>
                </a:cubicBezTo>
                <a:lnTo>
                  <a:pt x="0" y="69625"/>
                </a:lnTo>
                <a:cubicBezTo>
                  <a:pt x="0" y="31198"/>
                  <a:pt x="31198" y="0"/>
                  <a:pt x="6962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7561678" y="3662782"/>
            <a:ext cx="156642" cy="156642"/>
          </a:xfrm>
          <a:custGeom>
            <a:avLst/>
            <a:gdLst/>
            <a:ahLst/>
            <a:cxnLst/>
            <a:rect l="l" t="t" r="r" b="b"/>
            <a:pathLst>
              <a:path w="156642" h="156642">
                <a:moveTo>
                  <a:pt x="102798" y="107692"/>
                </a:moveTo>
                <a:cubicBezTo>
                  <a:pt x="132533" y="107692"/>
                  <a:pt x="156642" y="83583"/>
                  <a:pt x="156642" y="53845"/>
                </a:cubicBezTo>
                <a:cubicBezTo>
                  <a:pt x="156642" y="24108"/>
                  <a:pt x="132533" y="0"/>
                  <a:pt x="102798" y="0"/>
                </a:cubicBezTo>
                <a:cubicBezTo>
                  <a:pt x="73059" y="0"/>
                  <a:pt x="48951" y="24108"/>
                  <a:pt x="48951" y="53845"/>
                </a:cubicBezTo>
                <a:cubicBezTo>
                  <a:pt x="48951" y="59567"/>
                  <a:pt x="49839" y="65104"/>
                  <a:pt x="51490" y="70275"/>
                </a:cubicBezTo>
                <a:lnTo>
                  <a:pt x="2142" y="119623"/>
                </a:lnTo>
                <a:cubicBezTo>
                  <a:pt x="765" y="121001"/>
                  <a:pt x="0" y="122866"/>
                  <a:pt x="0" y="124824"/>
                </a:cubicBezTo>
                <a:lnTo>
                  <a:pt x="0" y="149300"/>
                </a:lnTo>
                <a:cubicBezTo>
                  <a:pt x="0" y="153369"/>
                  <a:pt x="3274" y="156642"/>
                  <a:pt x="7343" y="156642"/>
                </a:cubicBezTo>
                <a:lnTo>
                  <a:pt x="31819" y="156642"/>
                </a:lnTo>
                <a:cubicBezTo>
                  <a:pt x="35886" y="156642"/>
                  <a:pt x="39160" y="153369"/>
                  <a:pt x="39160" y="149300"/>
                </a:cubicBezTo>
                <a:lnTo>
                  <a:pt x="39160" y="137062"/>
                </a:lnTo>
                <a:lnTo>
                  <a:pt x="51398" y="137062"/>
                </a:lnTo>
                <a:cubicBezTo>
                  <a:pt x="55467" y="137062"/>
                  <a:pt x="58741" y="133789"/>
                  <a:pt x="58741" y="129719"/>
                </a:cubicBezTo>
                <a:lnTo>
                  <a:pt x="58741" y="117483"/>
                </a:lnTo>
                <a:lnTo>
                  <a:pt x="70979" y="117483"/>
                </a:lnTo>
                <a:cubicBezTo>
                  <a:pt x="72937" y="117483"/>
                  <a:pt x="74803" y="116717"/>
                  <a:pt x="76180" y="115340"/>
                </a:cubicBezTo>
                <a:lnTo>
                  <a:pt x="86368" y="105152"/>
                </a:lnTo>
                <a:cubicBezTo>
                  <a:pt x="91538" y="106804"/>
                  <a:pt x="97075" y="107692"/>
                  <a:pt x="102798" y="107692"/>
                </a:cubicBezTo>
                <a:close/>
                <a:moveTo>
                  <a:pt x="115034" y="29370"/>
                </a:moveTo>
                <a:cubicBezTo>
                  <a:pt x="121788" y="29370"/>
                  <a:pt x="127272" y="34854"/>
                  <a:pt x="127272" y="41608"/>
                </a:cubicBezTo>
                <a:cubicBezTo>
                  <a:pt x="127272" y="48362"/>
                  <a:pt x="121788" y="53845"/>
                  <a:pt x="115034" y="53845"/>
                </a:cubicBezTo>
                <a:cubicBezTo>
                  <a:pt x="108280" y="53845"/>
                  <a:pt x="102798" y="48362"/>
                  <a:pt x="102798" y="41608"/>
                </a:cubicBezTo>
                <a:cubicBezTo>
                  <a:pt x="102798" y="34854"/>
                  <a:pt x="108280" y="29370"/>
                  <a:pt x="115034" y="2937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7735725" y="3619283"/>
            <a:ext cx="4011786"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Keywords</a:t>
            </a:r>
            <a:endParaRPr lang="en-US" sz="1100"/>
          </a:p>
        </p:txBody>
      </p:sp>
      <p:sp>
        <p:nvSpPr>
          <p:cNvPr id="21" name="Freeform 21"/>
          <p:cNvSpPr/>
          <p:nvPr/>
        </p:nvSpPr>
        <p:spPr>
          <a:xfrm>
            <a:off x="7561592" y="3967339"/>
            <a:ext cx="4107425" cy="626570"/>
          </a:xfrm>
          <a:custGeom>
            <a:avLst/>
            <a:gdLst/>
            <a:ahLst/>
            <a:cxnLst/>
            <a:rect l="l" t="t" r="r" b="b"/>
            <a:pathLst>
              <a:path w="4107425" h="626570">
                <a:moveTo>
                  <a:pt x="34635" y="0"/>
                </a:moveTo>
                <a:lnTo>
                  <a:pt x="4037808" y="0"/>
                </a:lnTo>
                <a:cubicBezTo>
                  <a:pt x="4076256" y="0"/>
                  <a:pt x="4107425" y="31170"/>
                  <a:pt x="4107425" y="69618"/>
                </a:cubicBezTo>
                <a:lnTo>
                  <a:pt x="4107425" y="556951"/>
                </a:lnTo>
                <a:cubicBezTo>
                  <a:pt x="4107425" y="595400"/>
                  <a:pt x="4076256" y="626570"/>
                  <a:pt x="4037808"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7561592" y="3967339"/>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683292" y="4071721"/>
            <a:ext cx="395086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__shared__</a:t>
            </a:r>
            <a:endParaRPr lang="en-US" sz="1100"/>
          </a:p>
        </p:txBody>
      </p:sp>
      <p:sp>
        <p:nvSpPr>
          <p:cNvPr id="24" name="AutoShape 24"/>
          <p:cNvSpPr/>
          <p:nvPr/>
        </p:nvSpPr>
        <p:spPr>
          <a:xfrm>
            <a:off x="7683292" y="4315323"/>
            <a:ext cx="3942167"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Declare shared memory</a:t>
            </a:r>
            <a:endParaRPr lang="en-US" sz="1100"/>
          </a:p>
        </p:txBody>
      </p:sp>
      <p:sp>
        <p:nvSpPr>
          <p:cNvPr id="25" name="Freeform 25"/>
          <p:cNvSpPr/>
          <p:nvPr/>
        </p:nvSpPr>
        <p:spPr>
          <a:xfrm>
            <a:off x="7561592" y="4663311"/>
            <a:ext cx="4107425" cy="626570"/>
          </a:xfrm>
          <a:custGeom>
            <a:avLst/>
            <a:gdLst/>
            <a:ahLst/>
            <a:cxnLst/>
            <a:rect l="l" t="t" r="r" b="b"/>
            <a:pathLst>
              <a:path w="4107425" h="626570">
                <a:moveTo>
                  <a:pt x="34635" y="0"/>
                </a:moveTo>
                <a:lnTo>
                  <a:pt x="4037808" y="0"/>
                </a:lnTo>
                <a:cubicBezTo>
                  <a:pt x="4076256" y="0"/>
                  <a:pt x="4107425" y="31170"/>
                  <a:pt x="4107425" y="69618"/>
                </a:cubicBezTo>
                <a:lnTo>
                  <a:pt x="4107425" y="556951"/>
                </a:lnTo>
                <a:cubicBezTo>
                  <a:pt x="4107425" y="595400"/>
                  <a:pt x="4076256" y="626570"/>
                  <a:pt x="4037808"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7561592" y="4663311"/>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683292" y="4767693"/>
            <a:ext cx="395086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__syncthreads()</a:t>
            </a:r>
            <a:endParaRPr lang="en-US" sz="1100"/>
          </a:p>
        </p:txBody>
      </p:sp>
      <p:sp>
        <p:nvSpPr>
          <p:cNvPr id="28" name="AutoShape 28"/>
          <p:cNvSpPr/>
          <p:nvPr/>
        </p:nvSpPr>
        <p:spPr>
          <a:xfrm>
            <a:off x="7683292" y="5011295"/>
            <a:ext cx="3942167"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 synchronization</a:t>
            </a:r>
            <a:endParaRPr lang="en-US" sz="1100"/>
          </a:p>
        </p:txBody>
      </p:sp>
      <p:sp>
        <p:nvSpPr>
          <p:cNvPr id="29" name="AutoShape 29"/>
          <p:cNvSpPr/>
          <p:nvPr/>
        </p:nvSpPr>
        <p:spPr>
          <a:xfrm>
            <a:off x="287137" y="6682495"/>
            <a:ext cx="11556728" cy="174047"/>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507" y="60912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 Optimization Principle</a:t>
            </a:r>
            <a:endParaRPr lang="en-US" sz="1100"/>
          </a:p>
        </p:txBody>
      </p:sp>
      <p:grpSp>
        <p:nvGrpSpPr>
          <p:cNvPr id="3" name="Group 3"/>
          <p:cNvGrpSpPr/>
          <p:nvPr/>
        </p:nvGrpSpPr>
        <p:grpSpPr>
          <a:xfrm>
            <a:off x="399911" y="1333235"/>
            <a:ext cx="5581555" cy="1714500"/>
            <a:chOff x="399911" y="1333235"/>
            <a:chExt cx="5581555" cy="1714500"/>
          </a:xfrm>
        </p:grpSpPr>
        <p:sp>
          <p:nvSpPr>
            <p:cNvPr id="4" name="Freeform 4"/>
            <p:cNvSpPr/>
            <p:nvPr/>
          </p:nvSpPr>
          <p:spPr>
            <a:xfrm>
              <a:off x="399911" y="1333235"/>
              <a:ext cx="5581555" cy="1714500"/>
            </a:xfrm>
            <a:custGeom>
              <a:avLst/>
              <a:gdLst/>
              <a:ahLst/>
              <a:cxnLst/>
              <a:rect l="l" t="t" r="r" b="b"/>
              <a:pathLst>
                <a:path w="5581555" h="1714500">
                  <a:moveTo>
                    <a:pt x="37909" y="0"/>
                  </a:moveTo>
                  <a:lnTo>
                    <a:pt x="5505362" y="0"/>
                  </a:lnTo>
                  <a:cubicBezTo>
                    <a:pt x="5547443" y="0"/>
                    <a:pt x="5581555" y="34112"/>
                    <a:pt x="5581555" y="76192"/>
                  </a:cubicBezTo>
                  <a:lnTo>
                    <a:pt x="5581555" y="1638308"/>
                  </a:lnTo>
                  <a:cubicBezTo>
                    <a:pt x="5581555" y="1680388"/>
                    <a:pt x="5547443" y="1714500"/>
                    <a:pt x="5505362" y="1714500"/>
                  </a:cubicBezTo>
                  <a:lnTo>
                    <a:pt x="37909" y="1714500"/>
                  </a:lnTo>
                  <a:cubicBezTo>
                    <a:pt x="16974" y="1714500"/>
                    <a:pt x="0" y="1697526"/>
                    <a:pt x="0" y="1676591"/>
                  </a:cubicBezTo>
                  <a:lnTo>
                    <a:pt x="0" y="37909"/>
                  </a:lnTo>
                  <a:cubicBezTo>
                    <a:pt x="0" y="16988"/>
                    <a:pt x="16988" y="0"/>
                    <a:pt x="37909"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9911" y="1333235"/>
              <a:ext cx="37909" cy="1714500"/>
            </a:xfrm>
            <a:custGeom>
              <a:avLst/>
              <a:gdLst/>
              <a:ahLst/>
              <a:cxnLst/>
              <a:rect l="l" t="t" r="r" b="b"/>
              <a:pathLst>
                <a:path w="37909" h="1714500">
                  <a:moveTo>
                    <a:pt x="37909" y="0"/>
                  </a:moveTo>
                  <a:lnTo>
                    <a:pt x="37909" y="0"/>
                  </a:lnTo>
                  <a:lnTo>
                    <a:pt x="37909" y="1714500"/>
                  </a:lnTo>
                  <a:lnTo>
                    <a:pt x="37909" y="1714500"/>
                  </a:lnTo>
                  <a:cubicBezTo>
                    <a:pt x="16974" y="1714500"/>
                    <a:pt x="0" y="1697526"/>
                    <a:pt x="0" y="1676591"/>
                  </a:cubicBezTo>
                  <a:lnTo>
                    <a:pt x="0" y="37909"/>
                  </a:lnTo>
                  <a:cubicBezTo>
                    <a:pt x="0" y="16988"/>
                    <a:pt x="16988" y="0"/>
                    <a:pt x="37909"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33119" y="156173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5"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47432" y="1523674"/>
              <a:ext cx="5038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Naive Approach</a:t>
              </a:r>
              <a:endParaRPr lang="en-US" sz="1100"/>
            </a:p>
          </p:txBody>
        </p:sp>
        <p:sp>
          <p:nvSpPr>
            <p:cNvPr id="8" name="Freeform 8"/>
            <p:cNvSpPr/>
            <p:nvPr/>
          </p:nvSpPr>
          <p:spPr>
            <a:xfrm>
              <a:off x="609307" y="2018956"/>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61689" y="1942765"/>
              <a:ext cx="3331632" cy="26641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Read from global memory every time</a:t>
              </a:r>
              <a:endParaRPr lang="en-US" sz="1100"/>
            </a:p>
          </p:txBody>
        </p:sp>
        <p:sp>
          <p:nvSpPr>
            <p:cNvPr id="10" name="Freeform 10"/>
            <p:cNvSpPr/>
            <p:nvPr/>
          </p:nvSpPr>
          <p:spPr>
            <a:xfrm>
              <a:off x="609307" y="236177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1689" y="2285586"/>
              <a:ext cx="2994102" cy="26641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High latency, poor performance</a:t>
              </a:r>
              <a:endParaRPr lang="en-US" sz="1100"/>
            </a:p>
          </p:txBody>
        </p:sp>
        <p:sp>
          <p:nvSpPr>
            <p:cNvPr id="12" name="Freeform 12"/>
            <p:cNvSpPr/>
            <p:nvPr/>
          </p:nvSpPr>
          <p:spPr>
            <a:xfrm>
              <a:off x="609307" y="2704602"/>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1689" y="2628412"/>
              <a:ext cx="2994102" cy="26641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Frequent global memory accesses</a:t>
              </a:r>
              <a:endParaRPr lang="en-US" sz="1100"/>
            </a:p>
          </p:txBody>
        </p:sp>
      </p:grpSp>
      <p:grpSp>
        <p:nvGrpSpPr>
          <p:cNvPr id="14" name="Group 14"/>
          <p:cNvGrpSpPr/>
          <p:nvPr/>
        </p:nvGrpSpPr>
        <p:grpSpPr>
          <a:xfrm>
            <a:off x="6210279" y="1333235"/>
            <a:ext cx="5600700" cy="1714500"/>
            <a:chOff x="6210279" y="1333235"/>
            <a:chExt cx="5600700" cy="1714500"/>
          </a:xfrm>
        </p:grpSpPr>
        <p:sp>
          <p:nvSpPr>
            <p:cNvPr id="15" name="Freeform 15"/>
            <p:cNvSpPr/>
            <p:nvPr/>
          </p:nvSpPr>
          <p:spPr>
            <a:xfrm>
              <a:off x="6210279" y="1333235"/>
              <a:ext cx="5600700" cy="1714500"/>
            </a:xfrm>
            <a:custGeom>
              <a:avLst/>
              <a:gdLst/>
              <a:ahLst/>
              <a:cxnLst/>
              <a:rect l="l" t="t" r="r" b="b"/>
              <a:pathLst>
                <a:path w="5600700" h="1714500">
                  <a:moveTo>
                    <a:pt x="76192" y="0"/>
                  </a:moveTo>
                  <a:lnTo>
                    <a:pt x="5524508" y="0"/>
                  </a:lnTo>
                  <a:cubicBezTo>
                    <a:pt x="5566588" y="0"/>
                    <a:pt x="5600700" y="34112"/>
                    <a:pt x="5600700" y="76192"/>
                  </a:cubicBezTo>
                  <a:lnTo>
                    <a:pt x="5600700" y="1638308"/>
                  </a:lnTo>
                  <a:cubicBezTo>
                    <a:pt x="5600700" y="1680388"/>
                    <a:pt x="5566588" y="1714500"/>
                    <a:pt x="5524508" y="1714500"/>
                  </a:cubicBezTo>
                  <a:lnTo>
                    <a:pt x="76192" y="1714500"/>
                  </a:lnTo>
                  <a:cubicBezTo>
                    <a:pt x="34112" y="1714500"/>
                    <a:pt x="0" y="1680388"/>
                    <a:pt x="0" y="1638308"/>
                  </a:cubicBezTo>
                  <a:lnTo>
                    <a:pt x="0" y="76192"/>
                  </a:lnTo>
                  <a:cubicBezTo>
                    <a:pt x="0" y="34141"/>
                    <a:pt x="34141" y="0"/>
                    <a:pt x="7619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424532" y="156173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38845" y="1523674"/>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Optimized Approach</a:t>
              </a:r>
              <a:endParaRPr lang="en-US" sz="1100"/>
            </a:p>
          </p:txBody>
        </p:sp>
        <p:sp>
          <p:nvSpPr>
            <p:cNvPr id="18" name="Freeform 18"/>
            <p:cNvSpPr/>
            <p:nvPr/>
          </p:nvSpPr>
          <p:spPr>
            <a:xfrm>
              <a:off x="6400720" y="2018956"/>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553102" y="1942765"/>
              <a:ext cx="2149040" cy="22846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100"/>
            </a:p>
          </p:txBody>
        </p:sp>
        <p:sp>
          <p:nvSpPr>
            <p:cNvPr id="20" name="Freeform 20"/>
            <p:cNvSpPr/>
            <p:nvPr/>
          </p:nvSpPr>
          <p:spPr>
            <a:xfrm>
              <a:off x="6400720" y="236177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553101" y="2285586"/>
              <a:ext cx="3339601" cy="22846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 → register</a:t>
              </a:r>
              <a:endParaRPr lang="en-US" sz="1100"/>
            </a:p>
          </p:txBody>
        </p:sp>
        <p:sp>
          <p:nvSpPr>
            <p:cNvPr id="22" name="Freeform 22"/>
            <p:cNvSpPr/>
            <p:nvPr/>
          </p:nvSpPr>
          <p:spPr>
            <a:xfrm>
              <a:off x="6400720" y="2704602"/>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553102" y="2628412"/>
              <a:ext cx="3517572" cy="26641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Reduce global memory accesses</a:t>
              </a:r>
              <a:endParaRPr lang="en-US" sz="1100"/>
            </a:p>
          </p:txBody>
        </p:sp>
      </p:grpSp>
      <p:grpSp>
        <p:nvGrpSpPr>
          <p:cNvPr id="24" name="Group 24"/>
          <p:cNvGrpSpPr/>
          <p:nvPr/>
        </p:nvGrpSpPr>
        <p:grpSpPr>
          <a:xfrm>
            <a:off x="380956" y="3199805"/>
            <a:ext cx="11430000" cy="3390900"/>
            <a:chOff x="380956" y="3199805"/>
            <a:chExt cx="11430000" cy="3390900"/>
          </a:xfrm>
        </p:grpSpPr>
        <p:sp>
          <p:nvSpPr>
            <p:cNvPr id="25" name="Freeform 25"/>
            <p:cNvSpPr/>
            <p:nvPr/>
          </p:nvSpPr>
          <p:spPr>
            <a:xfrm>
              <a:off x="380956" y="3199805"/>
              <a:ext cx="11430000" cy="3390900"/>
            </a:xfrm>
            <a:custGeom>
              <a:avLst/>
              <a:gdLst/>
              <a:ahLst/>
              <a:cxnLst/>
              <a:rect l="l" t="t" r="r" b="b"/>
              <a:pathLst>
                <a:path w="11430000" h="3390900">
                  <a:moveTo>
                    <a:pt x="76194" y="0"/>
                  </a:moveTo>
                  <a:lnTo>
                    <a:pt x="11353806" y="0"/>
                  </a:lnTo>
                  <a:cubicBezTo>
                    <a:pt x="11395887" y="0"/>
                    <a:pt x="11430000" y="34113"/>
                    <a:pt x="11430000" y="76194"/>
                  </a:cubicBezTo>
                  <a:lnTo>
                    <a:pt x="11430000" y="3314706"/>
                  </a:lnTo>
                  <a:cubicBezTo>
                    <a:pt x="11430000" y="3356787"/>
                    <a:pt x="11395887" y="3390900"/>
                    <a:pt x="11353806" y="3390900"/>
                  </a:cubicBezTo>
                  <a:lnTo>
                    <a:pt x="76194" y="3390900"/>
                  </a:lnTo>
                  <a:cubicBezTo>
                    <a:pt x="34113" y="3390900"/>
                    <a:pt x="0" y="3356787"/>
                    <a:pt x="0" y="3314706"/>
                  </a:cubicBezTo>
                  <a:lnTo>
                    <a:pt x="0" y="76194"/>
                  </a:lnTo>
                  <a:cubicBezTo>
                    <a:pt x="0" y="34113"/>
                    <a:pt x="34113" y="0"/>
                    <a:pt x="76194"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595209" y="3428307"/>
              <a:ext cx="190500" cy="190500"/>
            </a:xfrm>
            <a:custGeom>
              <a:avLst/>
              <a:gdLst/>
              <a:ahLst/>
              <a:cxnLst/>
              <a:rect l="l" t="t" r="r" b="b"/>
              <a:pathLst>
                <a:path w="190500" h="190500">
                  <a:moveTo>
                    <a:pt x="190500" y="35719"/>
                  </a:moveTo>
                  <a:cubicBezTo>
                    <a:pt x="190500" y="54397"/>
                    <a:pt x="168511" y="82266"/>
                    <a:pt x="159023" y="93389"/>
                  </a:cubicBezTo>
                  <a:cubicBezTo>
                    <a:pt x="157610" y="95026"/>
                    <a:pt x="155525" y="95659"/>
                    <a:pt x="153628" y="95250"/>
                  </a:cubicBezTo>
                  <a:lnTo>
                    <a:pt x="119063" y="95250"/>
                  </a:lnTo>
                  <a:cubicBezTo>
                    <a:pt x="112478" y="95250"/>
                    <a:pt x="107156" y="100571"/>
                    <a:pt x="107156" y="107156"/>
                  </a:cubicBezTo>
                  <a:cubicBezTo>
                    <a:pt x="107156" y="113742"/>
                    <a:pt x="112478" y="119063"/>
                    <a:pt x="119063" y="119063"/>
                  </a:cubicBezTo>
                  <a:lnTo>
                    <a:pt x="154781" y="119063"/>
                  </a:lnTo>
                  <a:cubicBezTo>
                    <a:pt x="174501" y="119063"/>
                    <a:pt x="190500" y="135062"/>
                    <a:pt x="190500" y="154781"/>
                  </a:cubicBezTo>
                  <a:cubicBezTo>
                    <a:pt x="190500" y="174501"/>
                    <a:pt x="174501" y="190500"/>
                    <a:pt x="154781" y="190500"/>
                  </a:cubicBezTo>
                  <a:lnTo>
                    <a:pt x="51940" y="190500"/>
                  </a:lnTo>
                  <a:cubicBezTo>
                    <a:pt x="55178" y="186817"/>
                    <a:pt x="59122" y="182091"/>
                    <a:pt x="63102" y="176808"/>
                  </a:cubicBezTo>
                  <a:cubicBezTo>
                    <a:pt x="65447" y="173681"/>
                    <a:pt x="67866" y="170259"/>
                    <a:pt x="70173" y="166687"/>
                  </a:cubicBezTo>
                  <a:lnTo>
                    <a:pt x="154781" y="166687"/>
                  </a:lnTo>
                  <a:cubicBezTo>
                    <a:pt x="161367" y="166687"/>
                    <a:pt x="166687" y="161367"/>
                    <a:pt x="166687" y="154781"/>
                  </a:cubicBezTo>
                  <a:cubicBezTo>
                    <a:pt x="166687" y="148196"/>
                    <a:pt x="161367" y="142875"/>
                    <a:pt x="154781" y="142875"/>
                  </a:cubicBezTo>
                  <a:lnTo>
                    <a:pt x="119063" y="142875"/>
                  </a:lnTo>
                  <a:cubicBezTo>
                    <a:pt x="99343" y="142875"/>
                    <a:pt x="83344" y="126876"/>
                    <a:pt x="83344" y="107156"/>
                  </a:cubicBezTo>
                  <a:cubicBezTo>
                    <a:pt x="83344" y="87437"/>
                    <a:pt x="99343" y="71437"/>
                    <a:pt x="119063" y="71437"/>
                  </a:cubicBezTo>
                  <a:lnTo>
                    <a:pt x="133871" y="71437"/>
                  </a:lnTo>
                  <a:cubicBezTo>
                    <a:pt x="126056" y="59717"/>
                    <a:pt x="119063" y="46248"/>
                    <a:pt x="119063" y="35719"/>
                  </a:cubicBezTo>
                  <a:cubicBezTo>
                    <a:pt x="119063" y="15999"/>
                    <a:pt x="135062" y="0"/>
                    <a:pt x="154781" y="0"/>
                  </a:cubicBezTo>
                  <a:cubicBezTo>
                    <a:pt x="174501" y="0"/>
                    <a:pt x="190500" y="15999"/>
                    <a:pt x="190500" y="35719"/>
                  </a:cubicBezTo>
                  <a:close/>
                  <a:moveTo>
                    <a:pt x="43569" y="181980"/>
                  </a:moveTo>
                  <a:cubicBezTo>
                    <a:pt x="42156" y="183579"/>
                    <a:pt x="40891" y="184993"/>
                    <a:pt x="39812" y="186185"/>
                  </a:cubicBezTo>
                  <a:lnTo>
                    <a:pt x="39141" y="186927"/>
                  </a:lnTo>
                  <a:lnTo>
                    <a:pt x="39066" y="186854"/>
                  </a:lnTo>
                  <a:cubicBezTo>
                    <a:pt x="36835" y="188565"/>
                    <a:pt x="33635" y="188342"/>
                    <a:pt x="31626" y="186185"/>
                  </a:cubicBezTo>
                  <a:cubicBezTo>
                    <a:pt x="22250" y="175989"/>
                    <a:pt x="0" y="149758"/>
                    <a:pt x="0" y="130969"/>
                  </a:cubicBezTo>
                  <a:cubicBezTo>
                    <a:pt x="0" y="111249"/>
                    <a:pt x="15999" y="95250"/>
                    <a:pt x="35719" y="95250"/>
                  </a:cubicBezTo>
                  <a:cubicBezTo>
                    <a:pt x="55438" y="95250"/>
                    <a:pt x="71437" y="111249"/>
                    <a:pt x="71437" y="130969"/>
                  </a:cubicBezTo>
                  <a:cubicBezTo>
                    <a:pt x="71437" y="142131"/>
                    <a:pt x="63588" y="155898"/>
                    <a:pt x="55253" y="167394"/>
                  </a:cubicBezTo>
                  <a:cubicBezTo>
                    <a:pt x="51271" y="172864"/>
                    <a:pt x="47179" y="177811"/>
                    <a:pt x="43793" y="181719"/>
                  </a:cubicBezTo>
                  <a:lnTo>
                    <a:pt x="43569" y="181980"/>
                  </a:lnTo>
                  <a:close/>
                  <a:moveTo>
                    <a:pt x="47625" y="130969"/>
                  </a:moveTo>
                  <a:cubicBezTo>
                    <a:pt x="47625" y="124398"/>
                    <a:pt x="42290" y="119063"/>
                    <a:pt x="35719" y="119063"/>
                  </a:cubicBezTo>
                  <a:cubicBezTo>
                    <a:pt x="29148" y="119063"/>
                    <a:pt x="23813" y="124398"/>
                    <a:pt x="23813" y="130969"/>
                  </a:cubicBezTo>
                  <a:cubicBezTo>
                    <a:pt x="23813" y="137540"/>
                    <a:pt x="29148" y="142875"/>
                    <a:pt x="35719" y="142875"/>
                  </a:cubicBezTo>
                  <a:cubicBezTo>
                    <a:pt x="42290" y="142875"/>
                    <a:pt x="47625" y="137540"/>
                    <a:pt x="47625" y="130969"/>
                  </a:cubicBezTo>
                  <a:close/>
                  <a:moveTo>
                    <a:pt x="154781" y="47625"/>
                  </a:moveTo>
                  <a:cubicBezTo>
                    <a:pt x="161352" y="47625"/>
                    <a:pt x="166687" y="42290"/>
                    <a:pt x="166687" y="35719"/>
                  </a:cubicBezTo>
                  <a:cubicBezTo>
                    <a:pt x="166687" y="29148"/>
                    <a:pt x="161352" y="23813"/>
                    <a:pt x="154781" y="23813"/>
                  </a:cubicBezTo>
                  <a:cubicBezTo>
                    <a:pt x="148210" y="23813"/>
                    <a:pt x="142875" y="29148"/>
                    <a:pt x="142875" y="35719"/>
                  </a:cubicBezTo>
                  <a:cubicBezTo>
                    <a:pt x="142875" y="42290"/>
                    <a:pt x="148210" y="47625"/>
                    <a:pt x="154781" y="47625"/>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809521" y="3390249"/>
              <a:ext cx="109061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Access Flow Comparison</a:t>
              </a:r>
              <a:endParaRPr lang="en-US" sz="1100"/>
            </a:p>
          </p:txBody>
        </p:sp>
        <p:sp>
          <p:nvSpPr>
            <p:cNvPr id="28" name="AutoShape 28"/>
            <p:cNvSpPr/>
            <p:nvPr/>
          </p:nvSpPr>
          <p:spPr>
            <a:xfrm>
              <a:off x="533296" y="3809335"/>
              <a:ext cx="5486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Naive</a:t>
              </a:r>
              <a:endParaRPr lang="en-US" sz="1100"/>
            </a:p>
          </p:txBody>
        </p:sp>
        <p:sp>
          <p:nvSpPr>
            <p:cNvPr id="29" name="Freeform 29"/>
            <p:cNvSpPr/>
            <p:nvPr/>
          </p:nvSpPr>
          <p:spPr>
            <a:xfrm>
              <a:off x="571396" y="4114098"/>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47546" y="4228351"/>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31" name="AutoShape 31"/>
            <p:cNvSpPr/>
            <p:nvPr/>
          </p:nvSpPr>
          <p:spPr>
            <a:xfrm>
              <a:off x="3162190" y="464736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2" name="Freeform 32"/>
            <p:cNvSpPr/>
            <p:nvPr/>
          </p:nvSpPr>
          <p:spPr>
            <a:xfrm>
              <a:off x="571396" y="5028247"/>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47546" y="5142495"/>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100"/>
            </a:p>
          </p:txBody>
        </p:sp>
        <p:sp>
          <p:nvSpPr>
            <p:cNvPr id="34" name="AutoShape 34"/>
            <p:cNvSpPr/>
            <p:nvPr/>
          </p:nvSpPr>
          <p:spPr>
            <a:xfrm>
              <a:off x="3162190" y="556150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5" name="Freeform 35"/>
            <p:cNvSpPr/>
            <p:nvPr/>
          </p:nvSpPr>
          <p:spPr>
            <a:xfrm>
              <a:off x="571396" y="5942391"/>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47546" y="605664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37" name="AutoShape 37"/>
            <p:cNvSpPr/>
            <p:nvPr/>
          </p:nvSpPr>
          <p:spPr>
            <a:xfrm>
              <a:off x="6172179" y="3809335"/>
              <a:ext cx="5486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Optimized</a:t>
              </a:r>
              <a:endParaRPr lang="en-US" sz="1100"/>
            </a:p>
          </p:txBody>
        </p:sp>
        <p:sp>
          <p:nvSpPr>
            <p:cNvPr id="38" name="Freeform 38"/>
            <p:cNvSpPr/>
            <p:nvPr/>
          </p:nvSpPr>
          <p:spPr>
            <a:xfrm>
              <a:off x="6210279" y="4114098"/>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6286429" y="4228351"/>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40" name="AutoShape 40"/>
            <p:cNvSpPr/>
            <p:nvPr/>
          </p:nvSpPr>
          <p:spPr>
            <a:xfrm>
              <a:off x="8801073" y="464736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1" name="Freeform 41"/>
            <p:cNvSpPr/>
            <p:nvPr/>
          </p:nvSpPr>
          <p:spPr>
            <a:xfrm>
              <a:off x="6210279" y="5028247"/>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2" name="AutoShape 42"/>
            <p:cNvSpPr/>
            <p:nvPr/>
          </p:nvSpPr>
          <p:spPr>
            <a:xfrm>
              <a:off x="6286429" y="5142495"/>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43" name="AutoShape 43"/>
            <p:cNvSpPr/>
            <p:nvPr/>
          </p:nvSpPr>
          <p:spPr>
            <a:xfrm>
              <a:off x="8801073" y="556150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4" name="Freeform 44"/>
            <p:cNvSpPr/>
            <p:nvPr/>
          </p:nvSpPr>
          <p:spPr>
            <a:xfrm>
              <a:off x="6210279" y="5942391"/>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5" name="AutoShape 45"/>
            <p:cNvSpPr/>
            <p:nvPr/>
          </p:nvSpPr>
          <p:spPr>
            <a:xfrm>
              <a:off x="6286429" y="605664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100"/>
            </a:p>
          </p:txBody>
        </p:sp>
      </p:grpSp>
      <p:sp>
        <p:nvSpPr>
          <p:cNvPr id="46" name="AutoShape 46"/>
          <p:cNvSpPr/>
          <p:nvPr/>
        </p:nvSpPr>
        <p:spPr>
          <a:xfrm>
            <a:off x="314281" y="6666095"/>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4601" y="634733"/>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Structure Introduction</a:t>
            </a:r>
            <a:endParaRPr lang="en-US" sz="1100"/>
          </a:p>
        </p:txBody>
      </p:sp>
      <p:grpSp>
        <p:nvGrpSpPr>
          <p:cNvPr id="3" name="Group 3"/>
          <p:cNvGrpSpPr/>
          <p:nvPr/>
        </p:nvGrpSpPr>
        <p:grpSpPr>
          <a:xfrm>
            <a:off x="353160" y="1341841"/>
            <a:ext cx="5683250" cy="952500"/>
            <a:chOff x="353160" y="1341841"/>
            <a:chExt cx="5683250" cy="952500"/>
          </a:xfrm>
        </p:grpSpPr>
        <p:sp>
          <p:nvSpPr>
            <p:cNvPr id="4" name="Freeform 4"/>
            <p:cNvSpPr/>
            <p:nvPr/>
          </p:nvSpPr>
          <p:spPr>
            <a:xfrm>
              <a:off x="353160" y="1341841"/>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43638" y="1532318"/>
              <a:ext cx="53975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 is divided into multiple Banks</a:t>
              </a:r>
              <a:endParaRPr lang="en-US" sz="1100"/>
            </a:p>
          </p:txBody>
        </p:sp>
        <p:sp>
          <p:nvSpPr>
            <p:cNvPr id="6" name="AutoShape 6"/>
            <p:cNvSpPr/>
            <p:nvPr/>
          </p:nvSpPr>
          <p:spPr>
            <a:xfrm>
              <a:off x="543638" y="1881436"/>
              <a:ext cx="537368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Key structure enabling parallel access</a:t>
              </a:r>
              <a:endParaRPr lang="en-US" sz="1100"/>
            </a:p>
          </p:txBody>
        </p:sp>
      </p:grpSp>
      <p:sp>
        <p:nvSpPr>
          <p:cNvPr id="7" name="Freeform 7"/>
          <p:cNvSpPr/>
          <p:nvPr/>
        </p:nvSpPr>
        <p:spPr>
          <a:xfrm>
            <a:off x="353060" y="2543175"/>
            <a:ext cx="5564505" cy="4314825"/>
          </a:xfrm>
          <a:custGeom>
            <a:avLst/>
            <a:gdLst/>
            <a:ahLst/>
            <a:cxnLst/>
            <a:rect l="l" t="t" r="r" b="b"/>
            <a:pathLst>
              <a:path w="5683250" h="4444985">
                <a:moveTo>
                  <a:pt x="63482" y="0"/>
                </a:moveTo>
                <a:lnTo>
                  <a:pt x="5619768" y="0"/>
                </a:lnTo>
                <a:cubicBezTo>
                  <a:pt x="5654827" y="0"/>
                  <a:pt x="5683250" y="21279"/>
                  <a:pt x="5683250" y="47526"/>
                </a:cubicBezTo>
                <a:lnTo>
                  <a:pt x="5683250" y="4397459"/>
                </a:lnTo>
                <a:cubicBezTo>
                  <a:pt x="5683250" y="4423707"/>
                  <a:pt x="5654827" y="4444985"/>
                  <a:pt x="5619768" y="4444985"/>
                </a:cubicBezTo>
                <a:lnTo>
                  <a:pt x="63482" y="4444985"/>
                </a:lnTo>
                <a:cubicBezTo>
                  <a:pt x="28423" y="4444985"/>
                  <a:pt x="0" y="4423707"/>
                  <a:pt x="0" y="4397459"/>
                </a:cubicBezTo>
                <a:lnTo>
                  <a:pt x="0" y="47526"/>
                </a:lnTo>
                <a:cubicBezTo>
                  <a:pt x="0" y="2129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grpSp>
        <p:nvGrpSpPr>
          <p:cNvPr id="8" name="Group 8"/>
          <p:cNvGrpSpPr/>
          <p:nvPr/>
        </p:nvGrpSpPr>
        <p:grpSpPr>
          <a:xfrm>
            <a:off x="545324" y="2793822"/>
            <a:ext cx="5445125" cy="1835626"/>
            <a:chOff x="545324" y="2793822"/>
            <a:chExt cx="5445125" cy="1835626"/>
          </a:xfrm>
        </p:grpSpPr>
        <p:sp>
          <p:nvSpPr>
            <p:cNvPr id="9" name="AutoShape 9"/>
            <p:cNvSpPr/>
            <p:nvPr/>
          </p:nvSpPr>
          <p:spPr>
            <a:xfrm>
              <a:off x="743761" y="2793822"/>
              <a:ext cx="524668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Characteristics</a:t>
              </a:r>
              <a:endParaRPr lang="en-US" sz="1100"/>
            </a:p>
          </p:txBody>
        </p:sp>
        <p:grpSp>
          <p:nvGrpSpPr>
            <p:cNvPr id="10" name="Group 10"/>
            <p:cNvGrpSpPr/>
            <p:nvPr/>
          </p:nvGrpSpPr>
          <p:grpSpPr>
            <a:xfrm>
              <a:off x="545324" y="2825537"/>
              <a:ext cx="4020538" cy="1803911"/>
              <a:chOff x="545324" y="2825537"/>
              <a:chExt cx="4020538" cy="1803911"/>
            </a:xfrm>
          </p:grpSpPr>
          <p:sp>
            <p:nvSpPr>
              <p:cNvPr id="11" name="Freeform 11"/>
              <p:cNvSpPr/>
              <p:nvPr/>
            </p:nvSpPr>
            <p:spPr>
              <a:xfrm>
                <a:off x="565167" y="2825537"/>
                <a:ext cx="158750" cy="158750"/>
              </a:xfrm>
              <a:custGeom>
                <a:avLst/>
                <a:gdLst/>
                <a:ahLst/>
                <a:cxnLst/>
                <a:rect l="l" t="t" r="r" b="b"/>
                <a:pathLst>
                  <a:path w="158750" h="158750">
                    <a:moveTo>
                      <a:pt x="79375" y="158750"/>
                    </a:moveTo>
                    <a:cubicBezTo>
                      <a:pt x="123182" y="158750"/>
                      <a:pt x="158750" y="123182"/>
                      <a:pt x="158750" y="79375"/>
                    </a:cubicBezTo>
                    <a:cubicBezTo>
                      <a:pt x="158750" y="35568"/>
                      <a:pt x="123182" y="0"/>
                      <a:pt x="79375" y="0"/>
                    </a:cubicBezTo>
                    <a:cubicBezTo>
                      <a:pt x="35568" y="0"/>
                      <a:pt x="0" y="35568"/>
                      <a:pt x="0" y="79375"/>
                    </a:cubicBezTo>
                    <a:cubicBezTo>
                      <a:pt x="0" y="123182"/>
                      <a:pt x="35568" y="158750"/>
                      <a:pt x="79375" y="158750"/>
                    </a:cubicBezTo>
                    <a:close/>
                    <a:moveTo>
                      <a:pt x="69452" y="49609"/>
                    </a:moveTo>
                    <a:cubicBezTo>
                      <a:pt x="69452" y="44133"/>
                      <a:pt x="73899" y="39687"/>
                      <a:pt x="79375" y="39687"/>
                    </a:cubicBezTo>
                    <a:cubicBezTo>
                      <a:pt x="84851" y="39687"/>
                      <a:pt x="89298" y="44133"/>
                      <a:pt x="89298" y="49609"/>
                    </a:cubicBezTo>
                    <a:cubicBezTo>
                      <a:pt x="89298" y="55085"/>
                      <a:pt x="84851" y="59531"/>
                      <a:pt x="79375" y="59531"/>
                    </a:cubicBezTo>
                    <a:cubicBezTo>
                      <a:pt x="73899" y="59531"/>
                      <a:pt x="69452" y="55085"/>
                      <a:pt x="69452" y="49609"/>
                    </a:cubicBezTo>
                    <a:close/>
                    <a:moveTo>
                      <a:pt x="66973" y="69452"/>
                    </a:moveTo>
                    <a:lnTo>
                      <a:pt x="81855" y="69452"/>
                    </a:lnTo>
                    <a:cubicBezTo>
                      <a:pt x="85979" y="69452"/>
                      <a:pt x="89298" y="72771"/>
                      <a:pt x="89298" y="76895"/>
                    </a:cubicBezTo>
                    <a:lnTo>
                      <a:pt x="89298" y="104179"/>
                    </a:lnTo>
                    <a:lnTo>
                      <a:pt x="91777" y="104179"/>
                    </a:lnTo>
                    <a:cubicBezTo>
                      <a:pt x="95902" y="104179"/>
                      <a:pt x="99219" y="107497"/>
                      <a:pt x="99219" y="111622"/>
                    </a:cubicBezTo>
                    <a:cubicBezTo>
                      <a:pt x="99219" y="115745"/>
                      <a:pt x="95902" y="119063"/>
                      <a:pt x="91777" y="119063"/>
                    </a:cubicBezTo>
                    <a:lnTo>
                      <a:pt x="66973" y="119063"/>
                    </a:lnTo>
                    <a:cubicBezTo>
                      <a:pt x="62848" y="119063"/>
                      <a:pt x="59531" y="115745"/>
                      <a:pt x="59531" y="111622"/>
                    </a:cubicBezTo>
                    <a:cubicBezTo>
                      <a:pt x="59531" y="107497"/>
                      <a:pt x="62848" y="104179"/>
                      <a:pt x="66973" y="104179"/>
                    </a:cubicBezTo>
                    <a:lnTo>
                      <a:pt x="74414" y="104179"/>
                    </a:lnTo>
                    <a:lnTo>
                      <a:pt x="74414" y="84336"/>
                    </a:lnTo>
                    <a:lnTo>
                      <a:pt x="66973" y="84336"/>
                    </a:lnTo>
                    <a:cubicBezTo>
                      <a:pt x="62848" y="84336"/>
                      <a:pt x="59531" y="81018"/>
                      <a:pt x="59531" y="76895"/>
                    </a:cubicBezTo>
                    <a:cubicBezTo>
                      <a:pt x="59531" y="72771"/>
                      <a:pt x="62848" y="69452"/>
                      <a:pt x="66973" y="6945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45324" y="320655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04024" y="3143060"/>
                <a:ext cx="96837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Multiple Banks</a:t>
                </a:r>
                <a:endParaRPr lang="en-US" sz="1100"/>
              </a:p>
            </p:txBody>
          </p:sp>
          <p:sp>
            <p:nvSpPr>
              <p:cNvPr id="14" name="AutoShape 14"/>
              <p:cNvSpPr/>
              <p:nvPr/>
            </p:nvSpPr>
            <p:spPr>
              <a:xfrm>
                <a:off x="704024" y="3365251"/>
                <a:ext cx="1996218" cy="21683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Example: 32 banks</a:t>
                </a:r>
                <a:endParaRPr lang="en-US" sz="1100"/>
              </a:p>
            </p:txBody>
          </p:sp>
          <p:sp>
            <p:nvSpPr>
              <p:cNvPr id="15" name="Freeform 15"/>
              <p:cNvSpPr/>
              <p:nvPr/>
            </p:nvSpPr>
            <p:spPr>
              <a:xfrm>
                <a:off x="545324" y="371443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04024" y="3650940"/>
                <a:ext cx="2929028" cy="19040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Each bank can be accessed independently</a:t>
                </a:r>
                <a:endParaRPr lang="en-US" sz="1100"/>
              </a:p>
            </p:txBody>
          </p:sp>
          <p:sp>
            <p:nvSpPr>
              <p:cNvPr id="17" name="AutoShape 17"/>
              <p:cNvSpPr/>
              <p:nvPr/>
            </p:nvSpPr>
            <p:spPr>
              <a:xfrm>
                <a:off x="704023" y="3873132"/>
                <a:ext cx="3861839" cy="21674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Different banks can be accessed simultaneously</a:t>
                </a:r>
                <a:endParaRPr lang="en-US" sz="1100"/>
              </a:p>
            </p:txBody>
          </p:sp>
          <p:sp>
            <p:nvSpPr>
              <p:cNvPr id="18" name="Freeform 18"/>
              <p:cNvSpPr/>
              <p:nvPr/>
            </p:nvSpPr>
            <p:spPr>
              <a:xfrm>
                <a:off x="545324" y="422231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04024" y="4158820"/>
                <a:ext cx="1817688"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a:t>
                </a:r>
                <a:endParaRPr lang="en-US" sz="1100"/>
              </a:p>
            </p:txBody>
          </p:sp>
          <p:sp>
            <p:nvSpPr>
              <p:cNvPr id="20" name="AutoShape 20"/>
              <p:cNvSpPr/>
              <p:nvPr/>
            </p:nvSpPr>
            <p:spPr>
              <a:xfrm>
                <a:off x="704023" y="4381012"/>
                <a:ext cx="3714085" cy="24843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Simultaneous access to the same bank causes a conflict</a:t>
                </a:r>
                <a:endParaRPr lang="en-US" sz="1100"/>
              </a:p>
            </p:txBody>
          </p:sp>
        </p:grpSp>
      </p:grpSp>
      <p:sp>
        <p:nvSpPr>
          <p:cNvPr id="21" name="Freeform 21"/>
          <p:cNvSpPr/>
          <p:nvPr/>
        </p:nvSpPr>
        <p:spPr>
          <a:xfrm>
            <a:off x="6191250" y="1111250"/>
            <a:ext cx="5385435" cy="5746750"/>
          </a:xfrm>
          <a:custGeom>
            <a:avLst/>
            <a:gdLst/>
            <a:ahLst/>
            <a:cxnLst/>
            <a:rect l="l" t="t" r="r" b="b"/>
            <a:pathLst>
              <a:path w="5683250" h="6064250">
                <a:moveTo>
                  <a:pt x="63482" y="0"/>
                </a:moveTo>
                <a:lnTo>
                  <a:pt x="5619768" y="0"/>
                </a:lnTo>
                <a:cubicBezTo>
                  <a:pt x="5654827" y="0"/>
                  <a:pt x="5683250" y="28423"/>
                  <a:pt x="5683250" y="63482"/>
                </a:cubicBezTo>
                <a:lnTo>
                  <a:pt x="5683250" y="6000768"/>
                </a:lnTo>
                <a:cubicBezTo>
                  <a:pt x="5683250" y="6035827"/>
                  <a:pt x="5654827" y="6064250"/>
                  <a:pt x="5619768" y="6064250"/>
                </a:cubicBezTo>
                <a:lnTo>
                  <a:pt x="63482" y="6064250"/>
                </a:lnTo>
                <a:cubicBezTo>
                  <a:pt x="28423" y="6064250"/>
                  <a:pt x="0" y="6035827"/>
                  <a:pt x="0" y="6000768"/>
                </a:cubicBezTo>
                <a:lnTo>
                  <a:pt x="0" y="63482"/>
                </a:lnTo>
                <a:cubicBezTo>
                  <a:pt x="0" y="2844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7100127" y="1269791"/>
            <a:ext cx="3001232" cy="4461790"/>
          </a:xfrm>
          <a:prstGeom prst="roundRect">
            <a:avLst>
              <a:gd name="adj" fmla="val 820"/>
            </a:avLst>
          </a:prstGeom>
          <a:ln w="12700">
            <a:noFill/>
            <a:prstDash val="solid"/>
          </a:ln>
        </p:spPr>
      </p:pic>
      <p:grpSp>
        <p:nvGrpSpPr>
          <p:cNvPr id="23" name="Group 23"/>
          <p:cNvGrpSpPr/>
          <p:nvPr/>
        </p:nvGrpSpPr>
        <p:grpSpPr>
          <a:xfrm>
            <a:off x="6207191" y="5894035"/>
            <a:ext cx="5667296" cy="809546"/>
            <a:chOff x="6207191" y="5894035"/>
            <a:chExt cx="5667296" cy="809546"/>
          </a:xfrm>
        </p:grpSpPr>
        <p:sp>
          <p:nvSpPr>
            <p:cNvPr id="24" name="Freeform 24"/>
            <p:cNvSpPr/>
            <p:nvPr/>
          </p:nvSpPr>
          <p:spPr>
            <a:xfrm>
              <a:off x="6207191" y="5894035"/>
              <a:ext cx="5667296" cy="809546"/>
            </a:xfrm>
            <a:custGeom>
              <a:avLst/>
              <a:gdLst/>
              <a:ahLst/>
              <a:cxnLst/>
              <a:rect l="l" t="t" r="r" b="b"/>
              <a:pathLst>
                <a:path w="5667296" h="809546">
                  <a:moveTo>
                    <a:pt x="63501" y="0"/>
                  </a:moveTo>
                  <a:lnTo>
                    <a:pt x="5603795" y="0"/>
                  </a:lnTo>
                  <a:cubicBezTo>
                    <a:pt x="5638866" y="0"/>
                    <a:pt x="5667296" y="28430"/>
                    <a:pt x="5667296" y="63501"/>
                  </a:cubicBezTo>
                  <a:lnTo>
                    <a:pt x="5667296" y="746045"/>
                  </a:lnTo>
                  <a:cubicBezTo>
                    <a:pt x="5667296" y="781116"/>
                    <a:pt x="5638866" y="809546"/>
                    <a:pt x="5603795" y="809546"/>
                  </a:cubicBezTo>
                  <a:lnTo>
                    <a:pt x="63501" y="809546"/>
                  </a:lnTo>
                  <a:cubicBezTo>
                    <a:pt x="28430" y="809546"/>
                    <a:pt x="0" y="781116"/>
                    <a:pt x="0" y="746045"/>
                  </a:cubicBezTo>
                  <a:lnTo>
                    <a:pt x="0" y="63501"/>
                  </a:lnTo>
                  <a:cubicBezTo>
                    <a:pt x="0" y="28454"/>
                    <a:pt x="28454" y="0"/>
                    <a:pt x="635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270637" y="6028919"/>
              <a:ext cx="5540375" cy="3175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3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32</a:t>
              </a:r>
              <a:endParaRPr lang="en-US" sz="1100"/>
            </a:p>
          </p:txBody>
        </p:sp>
        <p:sp>
          <p:nvSpPr>
            <p:cNvPr id="26" name="AutoShape 26"/>
            <p:cNvSpPr/>
            <p:nvPr/>
          </p:nvSpPr>
          <p:spPr>
            <a:xfrm>
              <a:off x="6310325" y="6378096"/>
              <a:ext cx="5461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banks (typical configuration)</a:t>
              </a:r>
              <a:endParaRPr lang="en-US" sz="1100"/>
            </a:p>
          </p:txBody>
        </p:sp>
      </p:grpSp>
      <p:sp>
        <p:nvSpPr>
          <p:cNvPr id="27" name="AutoShape 27"/>
          <p:cNvSpPr/>
          <p:nvPr/>
        </p:nvSpPr>
        <p:spPr>
          <a:xfrm>
            <a:off x="83820" y="6721475"/>
            <a:ext cx="11376025" cy="1524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Lei Mao's Log Book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4963" y="633814"/>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 Definition</a:t>
            </a:r>
            <a:endParaRPr lang="en-US" sz="1100"/>
          </a:p>
        </p:txBody>
      </p:sp>
      <p:sp>
        <p:nvSpPr>
          <p:cNvPr id="3" name="Freeform 3"/>
          <p:cNvSpPr/>
          <p:nvPr/>
        </p:nvSpPr>
        <p:spPr>
          <a:xfrm>
            <a:off x="317463" y="1111029"/>
            <a:ext cx="4508500" cy="952500"/>
          </a:xfrm>
          <a:custGeom>
            <a:avLst/>
            <a:gdLst/>
            <a:ahLst/>
            <a:cxnLst/>
            <a:rect l="l" t="t" r="r" b="b"/>
            <a:pathLst>
              <a:path w="4508500" h="952500">
                <a:moveTo>
                  <a:pt x="63503" y="0"/>
                </a:moveTo>
                <a:lnTo>
                  <a:pt x="4444997" y="0"/>
                </a:lnTo>
                <a:cubicBezTo>
                  <a:pt x="4480069" y="0"/>
                  <a:pt x="4508500" y="28431"/>
                  <a:pt x="4508500" y="63503"/>
                </a:cubicBezTo>
                <a:lnTo>
                  <a:pt x="4508500" y="888997"/>
                </a:lnTo>
                <a:cubicBezTo>
                  <a:pt x="4508500" y="924069"/>
                  <a:pt x="4480069" y="952500"/>
                  <a:pt x="444499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07941" y="1301506"/>
            <a:ext cx="4222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Bank Conflict</a:t>
            </a:r>
            <a:endParaRPr lang="en-US" sz="1100"/>
          </a:p>
        </p:txBody>
      </p:sp>
      <p:sp>
        <p:nvSpPr>
          <p:cNvPr id="5" name="AutoShape 5"/>
          <p:cNvSpPr/>
          <p:nvPr/>
        </p:nvSpPr>
        <p:spPr>
          <a:xfrm>
            <a:off x="507941" y="1650624"/>
            <a:ext cx="41989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Shared Memory Performance Killer</a:t>
            </a:r>
            <a:endParaRPr lang="en-US" sz="1100"/>
          </a:p>
        </p:txBody>
      </p:sp>
      <p:sp>
        <p:nvSpPr>
          <p:cNvPr id="6" name="Freeform 6"/>
          <p:cNvSpPr/>
          <p:nvPr/>
        </p:nvSpPr>
        <p:spPr>
          <a:xfrm>
            <a:off x="317463" y="2190339"/>
            <a:ext cx="4508500" cy="2984356"/>
          </a:xfrm>
          <a:custGeom>
            <a:avLst/>
            <a:gdLst/>
            <a:ahLst/>
            <a:cxnLst/>
            <a:rect l="l" t="t" r="r" b="b"/>
            <a:pathLst>
              <a:path w="4508500" h="2984356">
                <a:moveTo>
                  <a:pt x="63480" y="0"/>
                </a:moveTo>
                <a:lnTo>
                  <a:pt x="4445020" y="0"/>
                </a:lnTo>
                <a:cubicBezTo>
                  <a:pt x="4480079" y="0"/>
                  <a:pt x="4508500" y="16802"/>
                  <a:pt x="4508500" y="37527"/>
                </a:cubicBezTo>
                <a:lnTo>
                  <a:pt x="4508500" y="2946829"/>
                </a:lnTo>
                <a:cubicBezTo>
                  <a:pt x="4508500" y="2967554"/>
                  <a:pt x="4480079" y="2984356"/>
                  <a:pt x="4445020" y="2984356"/>
                </a:cubicBezTo>
                <a:lnTo>
                  <a:pt x="63480" y="2984356"/>
                </a:lnTo>
                <a:cubicBezTo>
                  <a:pt x="28421" y="2984356"/>
                  <a:pt x="0" y="2967554"/>
                  <a:pt x="0" y="2946829"/>
                </a:cubicBezTo>
                <a:lnTo>
                  <a:pt x="0" y="37527"/>
                </a:lnTo>
                <a:cubicBezTo>
                  <a:pt x="0" y="16815"/>
                  <a:pt x="28444" y="0"/>
                  <a:pt x="6348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5418" y="2380758"/>
            <a:ext cx="159929" cy="148827"/>
          </a:xfrm>
          <a:custGeom>
            <a:avLst/>
            <a:gdLst/>
            <a:ahLst/>
            <a:cxnLst/>
            <a:rect l="l" t="t" r="r" b="b"/>
            <a:pathLst>
              <a:path w="159929" h="148827">
                <a:moveTo>
                  <a:pt x="79964" y="0"/>
                </a:moveTo>
                <a:cubicBezTo>
                  <a:pt x="84522" y="0"/>
                  <a:pt x="88708" y="2511"/>
                  <a:pt x="90878" y="6511"/>
                </a:cubicBezTo>
                <a:lnTo>
                  <a:pt x="157851" y="130534"/>
                </a:lnTo>
                <a:cubicBezTo>
                  <a:pt x="159928" y="134379"/>
                  <a:pt x="159836" y="139029"/>
                  <a:pt x="157603" y="142782"/>
                </a:cubicBezTo>
                <a:cubicBezTo>
                  <a:pt x="155370" y="146534"/>
                  <a:pt x="151308" y="148827"/>
                  <a:pt x="146937" y="148827"/>
                </a:cubicBezTo>
                <a:lnTo>
                  <a:pt x="12991" y="148827"/>
                </a:lnTo>
                <a:cubicBezTo>
                  <a:pt x="8620" y="148827"/>
                  <a:pt x="4589" y="146534"/>
                  <a:pt x="2325" y="142782"/>
                </a:cubicBezTo>
                <a:cubicBezTo>
                  <a:pt x="62" y="139029"/>
                  <a:pt x="0" y="134379"/>
                  <a:pt x="2077" y="130534"/>
                </a:cubicBezTo>
                <a:lnTo>
                  <a:pt x="69050" y="6511"/>
                </a:lnTo>
                <a:cubicBezTo>
                  <a:pt x="71220" y="2511"/>
                  <a:pt x="75406" y="0"/>
                  <a:pt x="79964" y="0"/>
                </a:cubicBezTo>
                <a:close/>
                <a:moveTo>
                  <a:pt x="79964" y="52090"/>
                </a:moveTo>
                <a:cubicBezTo>
                  <a:pt x="75840" y="52090"/>
                  <a:pt x="72523" y="55408"/>
                  <a:pt x="72523" y="59531"/>
                </a:cubicBezTo>
                <a:lnTo>
                  <a:pt x="72523" y="94258"/>
                </a:lnTo>
                <a:cubicBezTo>
                  <a:pt x="72523" y="98382"/>
                  <a:pt x="75840" y="101699"/>
                  <a:pt x="79964" y="101699"/>
                </a:cubicBezTo>
                <a:cubicBezTo>
                  <a:pt x="84088" y="101699"/>
                  <a:pt x="87405" y="98382"/>
                  <a:pt x="87405" y="94258"/>
                </a:cubicBezTo>
                <a:lnTo>
                  <a:pt x="87405" y="59531"/>
                </a:lnTo>
                <a:cubicBezTo>
                  <a:pt x="87405" y="55408"/>
                  <a:pt x="84088" y="52090"/>
                  <a:pt x="79964" y="52090"/>
                </a:cubicBezTo>
                <a:close/>
                <a:moveTo>
                  <a:pt x="88243" y="119062"/>
                </a:moveTo>
                <a:cubicBezTo>
                  <a:pt x="88431" y="115990"/>
                  <a:pt x="86898" y="113066"/>
                  <a:pt x="84264" y="111473"/>
                </a:cubicBezTo>
                <a:cubicBezTo>
                  <a:pt x="81630" y="109879"/>
                  <a:pt x="78330" y="109879"/>
                  <a:pt x="75696" y="111473"/>
                </a:cubicBezTo>
                <a:cubicBezTo>
                  <a:pt x="73062" y="113066"/>
                  <a:pt x="71527" y="115990"/>
                  <a:pt x="71717" y="119062"/>
                </a:cubicBezTo>
                <a:cubicBezTo>
                  <a:pt x="71527" y="122135"/>
                  <a:pt x="73062" y="125059"/>
                  <a:pt x="75696" y="126652"/>
                </a:cubicBezTo>
                <a:cubicBezTo>
                  <a:pt x="78330" y="128246"/>
                  <a:pt x="81630" y="128246"/>
                  <a:pt x="84264" y="126652"/>
                </a:cubicBezTo>
                <a:cubicBezTo>
                  <a:pt x="86898" y="125059"/>
                  <a:pt x="88431" y="122135"/>
                  <a:pt x="88243" y="11906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74601" y="2349043"/>
            <a:ext cx="4071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Problem Definition</a:t>
            </a:r>
            <a:endParaRPr lang="en-US" sz="1100"/>
          </a:p>
        </p:txBody>
      </p:sp>
      <p:sp>
        <p:nvSpPr>
          <p:cNvPr id="9" name="Freeform 9"/>
          <p:cNvSpPr/>
          <p:nvPr/>
        </p:nvSpPr>
        <p:spPr>
          <a:xfrm>
            <a:off x="491960" y="2698281"/>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91960" y="2698281"/>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2964" y="2793488"/>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Multiple threads simultaneously access</a:t>
            </a:r>
            <a:endParaRPr lang="en-US" sz="1100"/>
          </a:p>
        </p:txBody>
      </p:sp>
      <p:sp>
        <p:nvSpPr>
          <p:cNvPr id="12" name="AutoShape 12"/>
          <p:cNvSpPr/>
          <p:nvPr/>
        </p:nvSpPr>
        <p:spPr>
          <a:xfrm>
            <a:off x="602964" y="3015684"/>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the same bank</a:t>
            </a:r>
            <a:endParaRPr lang="en-US" sz="1100"/>
          </a:p>
        </p:txBody>
      </p:sp>
      <p:sp>
        <p:nvSpPr>
          <p:cNvPr id="13" name="Freeform 13"/>
          <p:cNvSpPr/>
          <p:nvPr/>
        </p:nvSpPr>
        <p:spPr>
          <a:xfrm>
            <a:off x="491960" y="3396576"/>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491960" y="3396576"/>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02964" y="3491783"/>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Causes access to be serialized</a:t>
            </a:r>
            <a:endParaRPr lang="en-US" sz="1100"/>
          </a:p>
        </p:txBody>
      </p:sp>
      <p:sp>
        <p:nvSpPr>
          <p:cNvPr id="16" name="AutoShape 16"/>
          <p:cNvSpPr/>
          <p:nvPr/>
        </p:nvSpPr>
        <p:spPr>
          <a:xfrm>
            <a:off x="602964" y="3713979"/>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Cannot execute in parallel</a:t>
            </a:r>
            <a:endParaRPr lang="en-US" sz="1100"/>
          </a:p>
        </p:txBody>
      </p:sp>
      <p:sp>
        <p:nvSpPr>
          <p:cNvPr id="17" name="Freeform 17"/>
          <p:cNvSpPr/>
          <p:nvPr/>
        </p:nvSpPr>
        <p:spPr>
          <a:xfrm>
            <a:off x="491960" y="4094870"/>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491960" y="4094870"/>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02964" y="4190081"/>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Severe performance degradation</a:t>
            </a:r>
            <a:endParaRPr lang="en-US" sz="1100"/>
          </a:p>
        </p:txBody>
      </p:sp>
      <p:sp>
        <p:nvSpPr>
          <p:cNvPr id="20" name="AutoShape 20"/>
          <p:cNvSpPr/>
          <p:nvPr/>
        </p:nvSpPr>
        <p:spPr>
          <a:xfrm>
            <a:off x="602964" y="4412273"/>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Loses the parallel advantage</a:t>
            </a:r>
            <a:endParaRPr lang="en-US" sz="1100"/>
          </a:p>
        </p:txBody>
      </p:sp>
      <p:sp>
        <p:nvSpPr>
          <p:cNvPr id="21" name="Freeform 21"/>
          <p:cNvSpPr/>
          <p:nvPr/>
        </p:nvSpPr>
        <p:spPr>
          <a:xfrm>
            <a:off x="5016470" y="1111029"/>
            <a:ext cx="6858000" cy="5334000"/>
          </a:xfrm>
          <a:custGeom>
            <a:avLst/>
            <a:gdLst/>
            <a:ahLst/>
            <a:cxnLst/>
            <a:rect l="l" t="t" r="r" b="b"/>
            <a:pathLst>
              <a:path w="6858000" h="5334000">
                <a:moveTo>
                  <a:pt x="63475" y="0"/>
                </a:moveTo>
                <a:lnTo>
                  <a:pt x="6794525" y="0"/>
                </a:lnTo>
                <a:cubicBezTo>
                  <a:pt x="6829581" y="0"/>
                  <a:pt x="6858000" y="28419"/>
                  <a:pt x="6858000" y="63475"/>
                </a:cubicBezTo>
                <a:lnTo>
                  <a:pt x="6858000" y="5270525"/>
                </a:lnTo>
                <a:cubicBezTo>
                  <a:pt x="6858000" y="5305581"/>
                  <a:pt x="6829581" y="5334000"/>
                  <a:pt x="6794525" y="5334000"/>
                </a:cubicBezTo>
                <a:lnTo>
                  <a:pt x="63475" y="5334000"/>
                </a:lnTo>
                <a:cubicBezTo>
                  <a:pt x="28419" y="5334000"/>
                  <a:pt x="0" y="5305581"/>
                  <a:pt x="0" y="5270525"/>
                </a:cubicBezTo>
                <a:lnTo>
                  <a:pt x="0" y="63475"/>
                </a:lnTo>
                <a:cubicBezTo>
                  <a:pt x="0" y="28442"/>
                  <a:pt x="28442" y="0"/>
                  <a:pt x="6347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6691342" y="1269791"/>
            <a:ext cx="3213635" cy="4595062"/>
          </a:xfrm>
          <a:prstGeom prst="roundRect">
            <a:avLst>
              <a:gd name="adj" fmla="val 904"/>
            </a:avLst>
          </a:prstGeom>
          <a:ln w="12700">
            <a:noFill/>
            <a:prstDash val="solid"/>
          </a:ln>
        </p:spPr>
      </p:pic>
      <p:grpSp>
        <p:nvGrpSpPr>
          <p:cNvPr id="23" name="Group 23"/>
          <p:cNvGrpSpPr/>
          <p:nvPr/>
        </p:nvGrpSpPr>
        <p:grpSpPr>
          <a:xfrm>
            <a:off x="5024368" y="6039674"/>
            <a:ext cx="6842061" cy="650796"/>
            <a:chOff x="5024368" y="6039674"/>
            <a:chExt cx="6842061" cy="650796"/>
          </a:xfrm>
        </p:grpSpPr>
        <p:sp>
          <p:nvSpPr>
            <p:cNvPr id="24" name="Freeform 24"/>
            <p:cNvSpPr/>
            <p:nvPr/>
          </p:nvSpPr>
          <p:spPr>
            <a:xfrm>
              <a:off x="5024368"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5079849"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26" name="AutoShape 26"/>
            <p:cNvSpPr/>
            <p:nvPr/>
          </p:nvSpPr>
          <p:spPr>
            <a:xfrm>
              <a:off x="5099693"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threads</a:t>
              </a:r>
              <a:endParaRPr lang="en-US" sz="1100"/>
            </a:p>
          </p:txBody>
        </p:sp>
        <p:sp>
          <p:nvSpPr>
            <p:cNvPr id="27" name="Freeform 27"/>
            <p:cNvSpPr/>
            <p:nvPr/>
          </p:nvSpPr>
          <p:spPr>
            <a:xfrm>
              <a:off x="7342126"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8" name="AutoShape 28"/>
            <p:cNvSpPr/>
            <p:nvPr/>
          </p:nvSpPr>
          <p:spPr>
            <a:xfrm>
              <a:off x="7397607"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9" name="AutoShape 29"/>
            <p:cNvSpPr/>
            <p:nvPr/>
          </p:nvSpPr>
          <p:spPr>
            <a:xfrm>
              <a:off x="7417450"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bank</a:t>
              </a:r>
              <a:endParaRPr lang="en-US" sz="1100"/>
            </a:p>
          </p:txBody>
        </p:sp>
        <p:sp>
          <p:nvSpPr>
            <p:cNvPr id="30" name="Freeform 30"/>
            <p:cNvSpPr/>
            <p:nvPr/>
          </p:nvSpPr>
          <p:spPr>
            <a:xfrm>
              <a:off x="9659883"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31" name="AutoShape 31"/>
            <p:cNvSpPr/>
            <p:nvPr/>
          </p:nvSpPr>
          <p:spPr>
            <a:xfrm>
              <a:off x="9715364"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5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100"/>
            </a:p>
          </p:txBody>
        </p:sp>
        <p:sp>
          <p:nvSpPr>
            <p:cNvPr id="32" name="AutoShape 32"/>
            <p:cNvSpPr/>
            <p:nvPr/>
          </p:nvSpPr>
          <p:spPr>
            <a:xfrm>
              <a:off x="9735208"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slower</a:t>
              </a:r>
              <a:endParaRPr lang="en-US" sz="1100"/>
            </a:p>
          </p:txBody>
        </p:sp>
      </p:grpSp>
      <p:sp>
        <p:nvSpPr>
          <p:cNvPr id="33" name="AutoShape 33"/>
          <p:cNvSpPr/>
          <p:nvPr/>
        </p:nvSpPr>
        <p:spPr>
          <a:xfrm>
            <a:off x="261900" y="6707922"/>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UIC Mathematics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498" y="59879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No Bank Conflict Case</a:t>
            </a:r>
            <a:endParaRPr lang="en-US" sz="1100"/>
          </a:p>
        </p:txBody>
      </p:sp>
      <p:sp>
        <p:nvSpPr>
          <p:cNvPr id="3" name="Freeform 3"/>
          <p:cNvSpPr/>
          <p:nvPr/>
        </p:nvSpPr>
        <p:spPr>
          <a:xfrm>
            <a:off x="380956" y="1333235"/>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07"/>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Ideal Case</a:t>
            </a:r>
            <a:endParaRPr lang="en-US" sz="1100"/>
          </a:p>
        </p:txBody>
      </p:sp>
      <p:sp>
        <p:nvSpPr>
          <p:cNvPr id="5" name="AutoShape 5"/>
          <p:cNvSpPr/>
          <p:nvPr/>
        </p:nvSpPr>
        <p:spPr>
          <a:xfrm>
            <a:off x="609529" y="1980749"/>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Each thread accesses a different bank</a:t>
            </a:r>
            <a:endParaRPr lang="en-US" sz="1100"/>
          </a:p>
        </p:txBody>
      </p:sp>
      <p:sp>
        <p:nvSpPr>
          <p:cNvPr id="6" name="Freeform 6"/>
          <p:cNvSpPr/>
          <p:nvPr/>
        </p:nvSpPr>
        <p:spPr>
          <a:xfrm>
            <a:off x="380956" y="2628412"/>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5209" y="285690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47"/>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Access Pattern</a:t>
            </a:r>
            <a:endParaRPr lang="en-US" sz="1100"/>
          </a:p>
        </p:txBody>
      </p:sp>
      <p:sp>
        <p:nvSpPr>
          <p:cNvPr id="9" name="Freeform 9"/>
          <p:cNvSpPr/>
          <p:nvPr/>
        </p:nvSpPr>
        <p:spPr>
          <a:xfrm>
            <a:off x="590352" y="3237937"/>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90352" y="3237937"/>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85498" y="335219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sz="1100"/>
          </a:p>
        </p:txBody>
      </p:sp>
      <p:sp>
        <p:nvSpPr>
          <p:cNvPr id="12" name="AutoShape 12"/>
          <p:cNvSpPr/>
          <p:nvPr/>
        </p:nvSpPr>
        <p:spPr>
          <a:xfrm>
            <a:off x="1714115" y="331412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3" name="AutoShape 13"/>
          <p:cNvSpPr/>
          <p:nvPr/>
        </p:nvSpPr>
        <p:spPr>
          <a:xfrm>
            <a:off x="2057012" y="335219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100"/>
          </a:p>
        </p:txBody>
      </p:sp>
      <p:sp>
        <p:nvSpPr>
          <p:cNvPr id="14" name="Freeform 14"/>
          <p:cNvSpPr/>
          <p:nvPr/>
        </p:nvSpPr>
        <p:spPr>
          <a:xfrm>
            <a:off x="590352" y="3771198"/>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90352" y="3771198"/>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85498" y="388545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sz="1100"/>
          </a:p>
        </p:txBody>
      </p:sp>
      <p:sp>
        <p:nvSpPr>
          <p:cNvPr id="17" name="AutoShape 17"/>
          <p:cNvSpPr/>
          <p:nvPr/>
        </p:nvSpPr>
        <p:spPr>
          <a:xfrm>
            <a:off x="1714115" y="384739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AutoShape 18"/>
          <p:cNvSpPr/>
          <p:nvPr/>
        </p:nvSpPr>
        <p:spPr>
          <a:xfrm>
            <a:off x="2057012" y="388545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1</a:t>
            </a:r>
            <a:endParaRPr lang="en-US" sz="1100"/>
          </a:p>
        </p:txBody>
      </p:sp>
      <p:sp>
        <p:nvSpPr>
          <p:cNvPr id="19" name="Freeform 19"/>
          <p:cNvSpPr/>
          <p:nvPr/>
        </p:nvSpPr>
        <p:spPr>
          <a:xfrm>
            <a:off x="590352" y="4304467"/>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0352" y="4304467"/>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09"/>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498" y="4418712"/>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sz="1100"/>
          </a:p>
        </p:txBody>
      </p:sp>
      <p:sp>
        <p:nvSpPr>
          <p:cNvPr id="22" name="AutoShape 22"/>
          <p:cNvSpPr/>
          <p:nvPr/>
        </p:nvSpPr>
        <p:spPr>
          <a:xfrm>
            <a:off x="1714115" y="438065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AutoShape 23"/>
          <p:cNvSpPr/>
          <p:nvPr/>
        </p:nvSpPr>
        <p:spPr>
          <a:xfrm>
            <a:off x="2057012" y="4418712"/>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2</a:t>
            </a:r>
            <a:endParaRPr lang="en-US" sz="1100"/>
          </a:p>
        </p:txBody>
      </p:sp>
      <p:sp>
        <p:nvSpPr>
          <p:cNvPr id="24" name="Freeform 24"/>
          <p:cNvSpPr/>
          <p:nvPr/>
        </p:nvSpPr>
        <p:spPr>
          <a:xfrm>
            <a:off x="590352" y="4837728"/>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90352" y="4837728"/>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85498" y="495198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3</a:t>
            </a:r>
            <a:endParaRPr lang="en-US" sz="1100"/>
          </a:p>
        </p:txBody>
      </p:sp>
      <p:sp>
        <p:nvSpPr>
          <p:cNvPr id="27" name="AutoShape 27"/>
          <p:cNvSpPr/>
          <p:nvPr/>
        </p:nvSpPr>
        <p:spPr>
          <a:xfrm>
            <a:off x="1714115" y="4913919"/>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8" name="AutoShape 28"/>
          <p:cNvSpPr/>
          <p:nvPr/>
        </p:nvSpPr>
        <p:spPr>
          <a:xfrm>
            <a:off x="2057012" y="495198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3</a:t>
            </a:r>
            <a:endParaRPr lang="en-US" sz="1100"/>
          </a:p>
        </p:txBody>
      </p:sp>
      <p:sp>
        <p:nvSpPr>
          <p:cNvPr id="29" name="Freeform 29"/>
          <p:cNvSpPr/>
          <p:nvPr/>
        </p:nvSpPr>
        <p:spPr>
          <a:xfrm>
            <a:off x="6210279" y="1333235"/>
            <a:ext cx="5600700" cy="3657600"/>
          </a:xfrm>
          <a:custGeom>
            <a:avLst/>
            <a:gdLst/>
            <a:ahLst/>
            <a:cxnLst/>
            <a:rect l="l" t="t" r="r" b="b"/>
            <a:pathLst>
              <a:path w="5600700" h="3657600">
                <a:moveTo>
                  <a:pt x="76189" y="0"/>
                </a:moveTo>
                <a:lnTo>
                  <a:pt x="5524511" y="0"/>
                </a:lnTo>
                <a:cubicBezTo>
                  <a:pt x="5566590" y="0"/>
                  <a:pt x="5600700" y="34110"/>
                  <a:pt x="5600700" y="76189"/>
                </a:cubicBezTo>
                <a:lnTo>
                  <a:pt x="5600700" y="3581411"/>
                </a:lnTo>
                <a:cubicBezTo>
                  <a:pt x="5600700" y="3623490"/>
                  <a:pt x="5566590" y="3657600"/>
                  <a:pt x="5524511" y="3657600"/>
                </a:cubicBezTo>
                <a:lnTo>
                  <a:pt x="76189" y="3657600"/>
                </a:lnTo>
                <a:cubicBezTo>
                  <a:pt x="34110" y="3657600"/>
                  <a:pt x="0" y="3623490"/>
                  <a:pt x="0" y="3581411"/>
                </a:cubicBezTo>
                <a:lnTo>
                  <a:pt x="0" y="76189"/>
                </a:lnTo>
                <a:cubicBezTo>
                  <a:pt x="0" y="34110"/>
                  <a:pt x="34110" y="0"/>
                  <a:pt x="76189"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210279" y="5143756"/>
            <a:ext cx="5600700" cy="1066800"/>
          </a:xfrm>
          <a:custGeom>
            <a:avLst/>
            <a:gdLst/>
            <a:ahLst/>
            <a:cxnLst/>
            <a:rect l="l" t="t" r="r" b="b"/>
            <a:pathLst>
              <a:path w="5600700" h="1066800">
                <a:moveTo>
                  <a:pt x="76203" y="0"/>
                </a:moveTo>
                <a:lnTo>
                  <a:pt x="5524497" y="0"/>
                </a:lnTo>
                <a:cubicBezTo>
                  <a:pt x="5566583" y="0"/>
                  <a:pt x="5600700" y="34117"/>
                  <a:pt x="5600700" y="76203"/>
                </a:cubicBezTo>
                <a:lnTo>
                  <a:pt x="5600700" y="990597"/>
                </a:lnTo>
                <a:cubicBezTo>
                  <a:pt x="5600700" y="1032683"/>
                  <a:pt x="5566583" y="1066800"/>
                  <a:pt x="5524497" y="1066800"/>
                </a:cubicBezTo>
                <a:lnTo>
                  <a:pt x="76203" y="1066800"/>
                </a:lnTo>
                <a:cubicBezTo>
                  <a:pt x="34117" y="1066800"/>
                  <a:pt x="0" y="1032683"/>
                  <a:pt x="0" y="9905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329282" y="5334191"/>
            <a:ext cx="5362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Parallel access</a:t>
            </a:r>
            <a:endParaRPr lang="en-US" sz="1100"/>
          </a:p>
        </p:txBody>
      </p:sp>
      <p:sp>
        <p:nvSpPr>
          <p:cNvPr id="32" name="AutoShape 32"/>
          <p:cNvSpPr/>
          <p:nvPr/>
        </p:nvSpPr>
        <p:spPr>
          <a:xfrm>
            <a:off x="6357857" y="5753207"/>
            <a:ext cx="53054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Maximum performance</a:t>
            </a:r>
            <a:endParaRPr lang="en-US" sz="1100"/>
          </a:p>
        </p:txBody>
      </p:sp>
      <p:sp>
        <p:nvSpPr>
          <p:cNvPr id="33" name="AutoShape 33"/>
          <p:cNvSpPr/>
          <p:nvPr/>
        </p:nvSpPr>
        <p:spPr>
          <a:xfrm>
            <a:off x="314281" y="6286542"/>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4757" y="618924"/>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 </a:t>
            </a:r>
            <a:endParaRPr lang="en-US" sz="1100"/>
          </a:p>
        </p:txBody>
      </p:sp>
      <p:sp>
        <p:nvSpPr>
          <p:cNvPr id="3" name="Freeform 3"/>
          <p:cNvSpPr/>
          <p:nvPr/>
        </p:nvSpPr>
        <p:spPr>
          <a:xfrm>
            <a:off x="317463" y="1111033"/>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08000" y="1301750"/>
            <a:ext cx="3890010" cy="18288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Conflict Case</a:t>
            </a:r>
            <a:endParaRPr lang="en-US" sz="1100"/>
          </a:p>
        </p:txBody>
      </p:sp>
      <p:sp>
        <p:nvSpPr>
          <p:cNvPr id="5" name="AutoShape 5"/>
          <p:cNvSpPr/>
          <p:nvPr/>
        </p:nvSpPr>
        <p:spPr>
          <a:xfrm>
            <a:off x="508000" y="1650365"/>
            <a:ext cx="3873500" cy="16002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Multiple threads access the same bank</a:t>
            </a:r>
            <a:endParaRPr lang="en-US" sz="1100"/>
          </a:p>
        </p:txBody>
      </p:sp>
      <p:sp>
        <p:nvSpPr>
          <p:cNvPr id="6" name="Freeform 6"/>
          <p:cNvSpPr/>
          <p:nvPr/>
        </p:nvSpPr>
        <p:spPr>
          <a:xfrm>
            <a:off x="317500" y="2190115"/>
            <a:ext cx="4096385" cy="4324985"/>
          </a:xfrm>
          <a:custGeom>
            <a:avLst/>
            <a:gdLst/>
            <a:ahLst/>
            <a:cxnLst/>
            <a:rect l="l" t="t" r="r" b="b"/>
            <a:pathLst>
              <a:path w="4096385" h="4324985">
                <a:moveTo>
                  <a:pt x="45757" y="0"/>
                </a:moveTo>
                <a:lnTo>
                  <a:pt x="4050628" y="0"/>
                </a:lnTo>
                <a:cubicBezTo>
                  <a:pt x="4075899" y="0"/>
                  <a:pt x="4096385" y="20485"/>
                  <a:pt x="4096385" y="45754"/>
                </a:cubicBezTo>
                <a:lnTo>
                  <a:pt x="4096385" y="4279231"/>
                </a:lnTo>
                <a:cubicBezTo>
                  <a:pt x="4096385" y="4304500"/>
                  <a:pt x="4075899" y="4324985"/>
                  <a:pt x="4050628" y="4324985"/>
                </a:cubicBezTo>
                <a:lnTo>
                  <a:pt x="45757" y="4324985"/>
                </a:lnTo>
                <a:cubicBezTo>
                  <a:pt x="20486" y="4324985"/>
                  <a:pt x="0" y="4304500"/>
                  <a:pt x="0" y="4279231"/>
                </a:cubicBezTo>
                <a:lnTo>
                  <a:pt x="0" y="45754"/>
                </a:lnTo>
                <a:cubicBezTo>
                  <a:pt x="0" y="20502"/>
                  <a:pt x="20503" y="0"/>
                  <a:pt x="45757"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5935" y="2380615"/>
            <a:ext cx="114935" cy="114935"/>
          </a:xfrm>
          <a:custGeom>
            <a:avLst/>
            <a:gdLst/>
            <a:ahLst/>
            <a:cxnLst/>
            <a:rect l="l" t="t" r="r" b="b"/>
            <a:pathLst>
              <a:path w="114935" h="114935">
                <a:moveTo>
                  <a:pt x="57467" y="114935"/>
                </a:moveTo>
                <a:cubicBezTo>
                  <a:pt x="89184" y="114935"/>
                  <a:pt x="114935" y="89184"/>
                  <a:pt x="114935" y="57467"/>
                </a:cubicBezTo>
                <a:cubicBezTo>
                  <a:pt x="114935" y="25751"/>
                  <a:pt x="89184" y="0"/>
                  <a:pt x="57467" y="0"/>
                </a:cubicBezTo>
                <a:cubicBezTo>
                  <a:pt x="25751" y="0"/>
                  <a:pt x="0" y="25751"/>
                  <a:pt x="0" y="57467"/>
                </a:cubicBezTo>
                <a:cubicBezTo>
                  <a:pt x="0" y="89184"/>
                  <a:pt x="25751" y="114935"/>
                  <a:pt x="57467" y="114935"/>
                </a:cubicBezTo>
                <a:close/>
                <a:moveTo>
                  <a:pt x="37489" y="37489"/>
                </a:moveTo>
                <a:cubicBezTo>
                  <a:pt x="39599" y="35378"/>
                  <a:pt x="43011" y="35378"/>
                  <a:pt x="45099" y="37489"/>
                </a:cubicBezTo>
                <a:lnTo>
                  <a:pt x="57445" y="49835"/>
                </a:lnTo>
                <a:lnTo>
                  <a:pt x="69792" y="37489"/>
                </a:lnTo>
                <a:cubicBezTo>
                  <a:pt x="71902" y="35378"/>
                  <a:pt x="75314" y="35378"/>
                  <a:pt x="77401" y="37489"/>
                </a:cubicBezTo>
                <a:cubicBezTo>
                  <a:pt x="79489" y="39599"/>
                  <a:pt x="79512" y="43011"/>
                  <a:pt x="77401" y="45099"/>
                </a:cubicBezTo>
                <a:lnTo>
                  <a:pt x="65054" y="57445"/>
                </a:lnTo>
                <a:lnTo>
                  <a:pt x="77401" y="69792"/>
                </a:lnTo>
                <a:cubicBezTo>
                  <a:pt x="79512" y="71902"/>
                  <a:pt x="79512" y="75314"/>
                  <a:pt x="77401" y="77401"/>
                </a:cubicBezTo>
                <a:cubicBezTo>
                  <a:pt x="75292" y="79489"/>
                  <a:pt x="71879" y="79512"/>
                  <a:pt x="69792" y="77401"/>
                </a:cubicBezTo>
                <a:lnTo>
                  <a:pt x="57445" y="65054"/>
                </a:lnTo>
                <a:lnTo>
                  <a:pt x="45099" y="77401"/>
                </a:lnTo>
                <a:cubicBezTo>
                  <a:pt x="42988" y="79512"/>
                  <a:pt x="39576" y="79512"/>
                  <a:pt x="37489" y="77401"/>
                </a:cubicBezTo>
                <a:cubicBezTo>
                  <a:pt x="35401" y="75292"/>
                  <a:pt x="35378" y="71879"/>
                  <a:pt x="37489" y="69792"/>
                </a:cubicBezTo>
                <a:lnTo>
                  <a:pt x="49835" y="57445"/>
                </a:lnTo>
                <a:lnTo>
                  <a:pt x="37489" y="45099"/>
                </a:lnTo>
                <a:cubicBezTo>
                  <a:pt x="35378" y="42988"/>
                  <a:pt x="35378" y="39576"/>
                  <a:pt x="37489" y="37489"/>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74370" y="2348865"/>
            <a:ext cx="3781425" cy="16002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Access Pattern</a:t>
            </a:r>
            <a:endParaRPr lang="en-US" sz="1100"/>
          </a:p>
        </p:txBody>
      </p:sp>
      <p:sp>
        <p:nvSpPr>
          <p:cNvPr id="9" name="Freeform 9"/>
          <p:cNvSpPr/>
          <p:nvPr/>
        </p:nvSpPr>
        <p:spPr>
          <a:xfrm>
            <a:off x="492125" y="2698115"/>
            <a:ext cx="3855720" cy="274320"/>
          </a:xfrm>
          <a:custGeom>
            <a:avLst/>
            <a:gdLst/>
            <a:ahLst/>
            <a:cxnLst/>
            <a:rect l="l" t="t" r="r" b="b"/>
            <a:pathLst>
              <a:path w="3855720" h="274320">
                <a:moveTo>
                  <a:pt x="22769" y="0"/>
                </a:moveTo>
                <a:lnTo>
                  <a:pt x="3809953" y="0"/>
                </a:lnTo>
                <a:cubicBezTo>
                  <a:pt x="3835230" y="0"/>
                  <a:pt x="3855720" y="20470"/>
                  <a:pt x="3855720" y="45721"/>
                </a:cubicBezTo>
                <a:lnTo>
                  <a:pt x="3855720" y="228599"/>
                </a:lnTo>
                <a:cubicBezTo>
                  <a:pt x="3855720" y="253850"/>
                  <a:pt x="3835230" y="274320"/>
                  <a:pt x="3809953" y="274320"/>
                </a:cubicBezTo>
                <a:lnTo>
                  <a:pt x="22769" y="274320"/>
                </a:lnTo>
                <a:cubicBezTo>
                  <a:pt x="10194" y="274320"/>
                  <a:pt x="0" y="264136"/>
                  <a:pt x="0" y="251574"/>
                </a:cubicBezTo>
                <a:lnTo>
                  <a:pt x="0" y="22746"/>
                </a:lnTo>
                <a:cubicBezTo>
                  <a:pt x="0" y="10192"/>
                  <a:pt x="10203" y="0"/>
                  <a:pt x="2276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92125" y="2698115"/>
            <a:ext cx="76200" cy="281940"/>
          </a:xfrm>
          <a:custGeom>
            <a:avLst/>
            <a:gdLst/>
            <a:ahLst/>
            <a:cxnLst/>
            <a:rect l="l" t="t" r="r" b="b"/>
            <a:pathLst>
              <a:path w="76200" h="281940">
                <a:moveTo>
                  <a:pt x="76200" y="0"/>
                </a:moveTo>
                <a:lnTo>
                  <a:pt x="76200" y="0"/>
                </a:lnTo>
                <a:lnTo>
                  <a:pt x="76200" y="281940"/>
                </a:lnTo>
                <a:lnTo>
                  <a:pt x="76200" y="281940"/>
                </a:lnTo>
                <a:cubicBezTo>
                  <a:pt x="34115" y="281940"/>
                  <a:pt x="0" y="271474"/>
                  <a:pt x="0" y="258562"/>
                </a:cubicBezTo>
                <a:lnTo>
                  <a:pt x="0" y="23378"/>
                </a:lnTo>
                <a:cubicBezTo>
                  <a:pt x="0" y="10475"/>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71500" y="2793365"/>
            <a:ext cx="594995" cy="1371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sz="1100"/>
          </a:p>
        </p:txBody>
      </p:sp>
      <p:sp>
        <p:nvSpPr>
          <p:cNvPr id="12" name="AutoShape 12"/>
          <p:cNvSpPr/>
          <p:nvPr/>
        </p:nvSpPr>
        <p:spPr>
          <a:xfrm>
            <a:off x="1428115" y="2761615"/>
            <a:ext cx="206375" cy="1835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3" name="AutoShape 13"/>
          <p:cNvSpPr/>
          <p:nvPr/>
        </p:nvSpPr>
        <p:spPr>
          <a:xfrm>
            <a:off x="1713865" y="2793365"/>
            <a:ext cx="349250" cy="13779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100"/>
          </a:p>
        </p:txBody>
      </p:sp>
      <p:sp>
        <p:nvSpPr>
          <p:cNvPr id="14" name="Freeform 14"/>
          <p:cNvSpPr/>
          <p:nvPr/>
        </p:nvSpPr>
        <p:spPr>
          <a:xfrm>
            <a:off x="492125" y="3142615"/>
            <a:ext cx="3855720" cy="274320"/>
          </a:xfrm>
          <a:custGeom>
            <a:avLst/>
            <a:gdLst/>
            <a:ahLst/>
            <a:cxnLst/>
            <a:rect l="l" t="t" r="r" b="b"/>
            <a:pathLst>
              <a:path w="3855720" h="274320">
                <a:moveTo>
                  <a:pt x="22769" y="0"/>
                </a:moveTo>
                <a:lnTo>
                  <a:pt x="3809953" y="0"/>
                </a:lnTo>
                <a:cubicBezTo>
                  <a:pt x="3835230" y="0"/>
                  <a:pt x="3855720" y="20470"/>
                  <a:pt x="3855720" y="45721"/>
                </a:cubicBezTo>
                <a:lnTo>
                  <a:pt x="3855720" y="228599"/>
                </a:lnTo>
                <a:cubicBezTo>
                  <a:pt x="3855720" y="253850"/>
                  <a:pt x="3835230" y="274320"/>
                  <a:pt x="3809953" y="274320"/>
                </a:cubicBezTo>
                <a:lnTo>
                  <a:pt x="22769" y="274320"/>
                </a:lnTo>
                <a:cubicBezTo>
                  <a:pt x="10194" y="274320"/>
                  <a:pt x="0" y="264136"/>
                  <a:pt x="0" y="251574"/>
                </a:cubicBezTo>
                <a:lnTo>
                  <a:pt x="0" y="22746"/>
                </a:lnTo>
                <a:cubicBezTo>
                  <a:pt x="0" y="10192"/>
                  <a:pt x="10203" y="0"/>
                  <a:pt x="2276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92125" y="3142615"/>
            <a:ext cx="76200" cy="281940"/>
          </a:xfrm>
          <a:custGeom>
            <a:avLst/>
            <a:gdLst/>
            <a:ahLst/>
            <a:cxnLst/>
            <a:rect l="l" t="t" r="r" b="b"/>
            <a:pathLst>
              <a:path w="76200" h="281940">
                <a:moveTo>
                  <a:pt x="76200" y="0"/>
                </a:moveTo>
                <a:lnTo>
                  <a:pt x="76200" y="0"/>
                </a:lnTo>
                <a:lnTo>
                  <a:pt x="76200" y="281940"/>
                </a:lnTo>
                <a:lnTo>
                  <a:pt x="76200" y="281940"/>
                </a:lnTo>
                <a:cubicBezTo>
                  <a:pt x="34115" y="281940"/>
                  <a:pt x="0" y="271474"/>
                  <a:pt x="0" y="258562"/>
                </a:cubicBezTo>
                <a:lnTo>
                  <a:pt x="0" y="23378"/>
                </a:lnTo>
                <a:cubicBezTo>
                  <a:pt x="0" y="10475"/>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571500" y="3237865"/>
            <a:ext cx="594995" cy="1371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sz="1100"/>
          </a:p>
        </p:txBody>
      </p:sp>
      <p:sp>
        <p:nvSpPr>
          <p:cNvPr id="17" name="AutoShape 17"/>
          <p:cNvSpPr/>
          <p:nvPr/>
        </p:nvSpPr>
        <p:spPr>
          <a:xfrm>
            <a:off x="1428115" y="3206115"/>
            <a:ext cx="206375" cy="1835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AutoShape 18"/>
          <p:cNvSpPr/>
          <p:nvPr/>
        </p:nvSpPr>
        <p:spPr>
          <a:xfrm>
            <a:off x="1713865" y="3237865"/>
            <a:ext cx="349250" cy="13779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100"/>
          </a:p>
        </p:txBody>
      </p:sp>
      <p:sp>
        <p:nvSpPr>
          <p:cNvPr id="19" name="Freeform 19"/>
          <p:cNvSpPr/>
          <p:nvPr/>
        </p:nvSpPr>
        <p:spPr>
          <a:xfrm>
            <a:off x="492125" y="3587115"/>
            <a:ext cx="3855720" cy="274320"/>
          </a:xfrm>
          <a:custGeom>
            <a:avLst/>
            <a:gdLst/>
            <a:ahLst/>
            <a:cxnLst/>
            <a:rect l="l" t="t" r="r" b="b"/>
            <a:pathLst>
              <a:path w="3855720" h="274320">
                <a:moveTo>
                  <a:pt x="22769" y="0"/>
                </a:moveTo>
                <a:lnTo>
                  <a:pt x="3809953" y="0"/>
                </a:lnTo>
                <a:cubicBezTo>
                  <a:pt x="3835230" y="0"/>
                  <a:pt x="3855720" y="20470"/>
                  <a:pt x="3855720" y="45721"/>
                </a:cubicBezTo>
                <a:lnTo>
                  <a:pt x="3855720" y="228599"/>
                </a:lnTo>
                <a:cubicBezTo>
                  <a:pt x="3855720" y="253850"/>
                  <a:pt x="3835230" y="274320"/>
                  <a:pt x="3809953" y="274320"/>
                </a:cubicBezTo>
                <a:lnTo>
                  <a:pt x="22769" y="274320"/>
                </a:lnTo>
                <a:cubicBezTo>
                  <a:pt x="10194" y="274320"/>
                  <a:pt x="0" y="264136"/>
                  <a:pt x="0" y="251574"/>
                </a:cubicBezTo>
                <a:lnTo>
                  <a:pt x="0" y="22746"/>
                </a:lnTo>
                <a:cubicBezTo>
                  <a:pt x="0" y="10192"/>
                  <a:pt x="10203" y="0"/>
                  <a:pt x="2276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492125" y="3587115"/>
            <a:ext cx="76200" cy="281940"/>
          </a:xfrm>
          <a:custGeom>
            <a:avLst/>
            <a:gdLst/>
            <a:ahLst/>
            <a:cxnLst/>
            <a:rect l="l" t="t" r="r" b="b"/>
            <a:pathLst>
              <a:path w="76200" h="281940">
                <a:moveTo>
                  <a:pt x="76200" y="0"/>
                </a:moveTo>
                <a:lnTo>
                  <a:pt x="76200" y="0"/>
                </a:lnTo>
                <a:lnTo>
                  <a:pt x="76200" y="281940"/>
                </a:lnTo>
                <a:lnTo>
                  <a:pt x="76200" y="281940"/>
                </a:lnTo>
                <a:cubicBezTo>
                  <a:pt x="34115" y="281940"/>
                  <a:pt x="0" y="271474"/>
                  <a:pt x="0" y="258562"/>
                </a:cubicBezTo>
                <a:lnTo>
                  <a:pt x="0" y="23378"/>
                </a:lnTo>
                <a:cubicBezTo>
                  <a:pt x="0" y="10475"/>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71500" y="3682365"/>
            <a:ext cx="594995" cy="1371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sz="1100"/>
          </a:p>
        </p:txBody>
      </p:sp>
      <p:sp>
        <p:nvSpPr>
          <p:cNvPr id="22" name="AutoShape 22"/>
          <p:cNvSpPr/>
          <p:nvPr/>
        </p:nvSpPr>
        <p:spPr>
          <a:xfrm>
            <a:off x="1428115" y="3650615"/>
            <a:ext cx="206375" cy="1835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AutoShape 23"/>
          <p:cNvSpPr/>
          <p:nvPr/>
        </p:nvSpPr>
        <p:spPr>
          <a:xfrm>
            <a:off x="1713865" y="3682365"/>
            <a:ext cx="349250" cy="13779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100"/>
          </a:p>
        </p:txBody>
      </p:sp>
      <p:sp>
        <p:nvSpPr>
          <p:cNvPr id="24" name="Freeform 24"/>
          <p:cNvSpPr/>
          <p:nvPr/>
        </p:nvSpPr>
        <p:spPr>
          <a:xfrm>
            <a:off x="492125" y="4031615"/>
            <a:ext cx="3855720" cy="274320"/>
          </a:xfrm>
          <a:custGeom>
            <a:avLst/>
            <a:gdLst/>
            <a:ahLst/>
            <a:cxnLst/>
            <a:rect l="l" t="t" r="r" b="b"/>
            <a:pathLst>
              <a:path w="3855720" h="274320">
                <a:moveTo>
                  <a:pt x="22769" y="0"/>
                </a:moveTo>
                <a:lnTo>
                  <a:pt x="3809953" y="0"/>
                </a:lnTo>
                <a:cubicBezTo>
                  <a:pt x="3835230" y="0"/>
                  <a:pt x="3855720" y="20470"/>
                  <a:pt x="3855720" y="45721"/>
                </a:cubicBezTo>
                <a:lnTo>
                  <a:pt x="3855720" y="228599"/>
                </a:lnTo>
                <a:cubicBezTo>
                  <a:pt x="3855720" y="253850"/>
                  <a:pt x="3835230" y="274320"/>
                  <a:pt x="3809953" y="274320"/>
                </a:cubicBezTo>
                <a:lnTo>
                  <a:pt x="22769" y="274320"/>
                </a:lnTo>
                <a:cubicBezTo>
                  <a:pt x="10194" y="274320"/>
                  <a:pt x="0" y="264136"/>
                  <a:pt x="0" y="251574"/>
                </a:cubicBezTo>
                <a:lnTo>
                  <a:pt x="0" y="22746"/>
                </a:lnTo>
                <a:cubicBezTo>
                  <a:pt x="0" y="10192"/>
                  <a:pt x="10203" y="0"/>
                  <a:pt x="2276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92125" y="4031615"/>
            <a:ext cx="76200" cy="281940"/>
          </a:xfrm>
          <a:custGeom>
            <a:avLst/>
            <a:gdLst/>
            <a:ahLst/>
            <a:cxnLst/>
            <a:rect l="l" t="t" r="r" b="b"/>
            <a:pathLst>
              <a:path w="76200" h="281940">
                <a:moveTo>
                  <a:pt x="76200" y="0"/>
                </a:moveTo>
                <a:lnTo>
                  <a:pt x="76200" y="0"/>
                </a:lnTo>
                <a:lnTo>
                  <a:pt x="76200" y="281940"/>
                </a:lnTo>
                <a:lnTo>
                  <a:pt x="76200" y="281940"/>
                </a:lnTo>
                <a:cubicBezTo>
                  <a:pt x="34115" y="281940"/>
                  <a:pt x="0" y="271474"/>
                  <a:pt x="0" y="258562"/>
                </a:cubicBezTo>
                <a:lnTo>
                  <a:pt x="0" y="23378"/>
                </a:lnTo>
                <a:cubicBezTo>
                  <a:pt x="0" y="10475"/>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71500" y="4126865"/>
            <a:ext cx="594995" cy="1371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3</a:t>
            </a:r>
            <a:endParaRPr lang="en-US" sz="1100"/>
          </a:p>
        </p:txBody>
      </p:sp>
      <p:sp>
        <p:nvSpPr>
          <p:cNvPr id="27" name="AutoShape 27"/>
          <p:cNvSpPr/>
          <p:nvPr/>
        </p:nvSpPr>
        <p:spPr>
          <a:xfrm>
            <a:off x="1428115" y="4095115"/>
            <a:ext cx="206375" cy="1835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8" name="AutoShape 28"/>
          <p:cNvSpPr/>
          <p:nvPr/>
        </p:nvSpPr>
        <p:spPr>
          <a:xfrm>
            <a:off x="1713865" y="4126865"/>
            <a:ext cx="349250" cy="13779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100"/>
          </a:p>
        </p:txBody>
      </p:sp>
      <p:sp>
        <p:nvSpPr>
          <p:cNvPr id="29" name="Freeform 29"/>
          <p:cNvSpPr/>
          <p:nvPr/>
        </p:nvSpPr>
        <p:spPr>
          <a:xfrm>
            <a:off x="6191250" y="1111250"/>
            <a:ext cx="4818380" cy="5141595"/>
          </a:xfrm>
          <a:custGeom>
            <a:avLst/>
            <a:gdLst/>
            <a:ahLst/>
            <a:cxnLst/>
            <a:rect l="l" t="t" r="r" b="b"/>
            <a:pathLst>
              <a:path w="4818380" h="5141595">
                <a:moveTo>
                  <a:pt x="53821" y="0"/>
                </a:moveTo>
                <a:lnTo>
                  <a:pt x="4764559" y="0"/>
                </a:lnTo>
                <a:cubicBezTo>
                  <a:pt x="4794283" y="0"/>
                  <a:pt x="4818380" y="24098"/>
                  <a:pt x="4818380" y="53824"/>
                </a:cubicBezTo>
                <a:lnTo>
                  <a:pt x="4818380" y="5087771"/>
                </a:lnTo>
                <a:cubicBezTo>
                  <a:pt x="4818380" y="5117497"/>
                  <a:pt x="4794283" y="5141595"/>
                  <a:pt x="4764559" y="5141595"/>
                </a:cubicBezTo>
                <a:lnTo>
                  <a:pt x="53821" y="5141595"/>
                </a:lnTo>
                <a:cubicBezTo>
                  <a:pt x="24097" y="5141595"/>
                  <a:pt x="0" y="5117497"/>
                  <a:pt x="0" y="5087771"/>
                </a:cubicBezTo>
                <a:lnTo>
                  <a:pt x="0" y="53824"/>
                </a:lnTo>
                <a:cubicBezTo>
                  <a:pt x="0" y="24117"/>
                  <a:pt x="24116" y="0"/>
                  <a:pt x="5382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30" name="Picture 30"/>
          <p:cNvPicPr>
            <a:picLocks noChangeAspect="1"/>
          </p:cNvPicPr>
          <p:nvPr/>
        </p:nvPicPr>
        <p:blipFill>
          <a:blip r:embed="rId1"/>
          <a:srcRect/>
          <a:stretch>
            <a:fillRect/>
          </a:stretch>
        </p:blipFill>
        <p:spPr>
          <a:xfrm>
            <a:off x="6501765" y="1301750"/>
            <a:ext cx="3008630" cy="4473575"/>
          </a:xfrm>
          <a:prstGeom prst="roundRect">
            <a:avLst>
              <a:gd name="adj" fmla="val 821"/>
            </a:avLst>
          </a:prstGeom>
          <a:ln w="12700">
            <a:noFill/>
            <a:prstDash val="solid"/>
          </a:ln>
        </p:spPr>
      </p:pic>
      <p:sp>
        <p:nvSpPr>
          <p:cNvPr id="31" name="Freeform 31"/>
          <p:cNvSpPr/>
          <p:nvPr/>
        </p:nvSpPr>
        <p:spPr>
          <a:xfrm>
            <a:off x="6402692" y="5935561"/>
            <a:ext cx="5683250" cy="889000"/>
          </a:xfrm>
          <a:custGeom>
            <a:avLst/>
            <a:gdLst/>
            <a:ahLst/>
            <a:cxnLst/>
            <a:rect l="l" t="t" r="r" b="b"/>
            <a:pathLst>
              <a:path w="5683250" h="889000">
                <a:moveTo>
                  <a:pt x="63501" y="0"/>
                </a:moveTo>
                <a:lnTo>
                  <a:pt x="5619749" y="0"/>
                </a:lnTo>
                <a:cubicBezTo>
                  <a:pt x="5654820" y="0"/>
                  <a:pt x="5683250" y="28430"/>
                  <a:pt x="5683250" y="63501"/>
                </a:cubicBezTo>
                <a:lnTo>
                  <a:pt x="5683250" y="825499"/>
                </a:lnTo>
                <a:cubicBezTo>
                  <a:pt x="5683250" y="860570"/>
                  <a:pt x="5654820" y="889000"/>
                  <a:pt x="5619749" y="889000"/>
                </a:cubicBezTo>
                <a:lnTo>
                  <a:pt x="63501" y="889000"/>
                </a:lnTo>
                <a:cubicBezTo>
                  <a:pt x="28430" y="889000"/>
                  <a:pt x="0" y="860570"/>
                  <a:pt x="0" y="825499"/>
                </a:cubicBezTo>
                <a:lnTo>
                  <a:pt x="0" y="63501"/>
                </a:lnTo>
                <a:cubicBezTo>
                  <a:pt x="0" y="28454"/>
                  <a:pt x="28454" y="0"/>
                  <a:pt x="63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501862" y="6094265"/>
            <a:ext cx="5484813" cy="28575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9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Serialized execution</a:t>
            </a:r>
            <a:endParaRPr lang="en-US" sz="1100"/>
          </a:p>
        </p:txBody>
      </p:sp>
      <p:sp>
        <p:nvSpPr>
          <p:cNvPr id="33" name="AutoShape 33"/>
          <p:cNvSpPr/>
          <p:nvPr/>
        </p:nvSpPr>
        <p:spPr>
          <a:xfrm>
            <a:off x="6525674" y="6443445"/>
            <a:ext cx="5437188" cy="2222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Performance degraded</a:t>
            </a:r>
            <a:endParaRPr lang="en-US" sz="1100"/>
          </a:p>
        </p:txBody>
      </p:sp>
      <p:sp>
        <p:nvSpPr>
          <p:cNvPr id="34" name="AutoShape 34"/>
          <p:cNvSpPr/>
          <p:nvPr/>
        </p:nvSpPr>
        <p:spPr>
          <a:xfrm>
            <a:off x="261620" y="6641465"/>
            <a:ext cx="5929630" cy="150495"/>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Lei Mao's Log Book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9" y="61873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How to Avoid Bank Conflicts</a:t>
            </a:r>
            <a:endParaRPr lang="en-US" sz="1100"/>
          </a:p>
        </p:txBody>
      </p:sp>
      <p:sp>
        <p:nvSpPr>
          <p:cNvPr id="3" name="Freeform 3"/>
          <p:cNvSpPr/>
          <p:nvPr/>
        </p:nvSpPr>
        <p:spPr>
          <a:xfrm>
            <a:off x="380956" y="1333230"/>
            <a:ext cx="6762750" cy="1143000"/>
          </a:xfrm>
          <a:custGeom>
            <a:avLst/>
            <a:gdLst/>
            <a:ahLst/>
            <a:cxnLst/>
            <a:rect l="l" t="t" r="r" b="b"/>
            <a:pathLst>
              <a:path w="6762750" h="1143000">
                <a:moveTo>
                  <a:pt x="76204" y="0"/>
                </a:moveTo>
                <a:lnTo>
                  <a:pt x="6686546" y="0"/>
                </a:lnTo>
                <a:cubicBezTo>
                  <a:pt x="6728631" y="0"/>
                  <a:pt x="6762750" y="34119"/>
                  <a:pt x="6762750" y="76204"/>
                </a:cubicBezTo>
                <a:lnTo>
                  <a:pt x="6762750" y="1066796"/>
                </a:lnTo>
                <a:cubicBezTo>
                  <a:pt x="6762750" y="1108881"/>
                  <a:pt x="6728631" y="1143000"/>
                  <a:pt x="668654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12"/>
            <a:ext cx="64198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Padding Method</a:t>
            </a:r>
            <a:endParaRPr lang="en-US" sz="1100"/>
          </a:p>
        </p:txBody>
      </p:sp>
      <p:sp>
        <p:nvSpPr>
          <p:cNvPr id="5" name="AutoShape 5"/>
          <p:cNvSpPr/>
          <p:nvPr/>
        </p:nvSpPr>
        <p:spPr>
          <a:xfrm>
            <a:off x="609529" y="1980744"/>
            <a:ext cx="63912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Avoid conflicts by adding padding</a:t>
            </a:r>
            <a:endParaRPr lang="en-US" sz="1100"/>
          </a:p>
        </p:txBody>
      </p:sp>
      <p:sp>
        <p:nvSpPr>
          <p:cNvPr id="6" name="Freeform 6"/>
          <p:cNvSpPr/>
          <p:nvPr/>
        </p:nvSpPr>
        <p:spPr>
          <a:xfrm>
            <a:off x="380956" y="2628407"/>
            <a:ext cx="6762750" cy="3848100"/>
          </a:xfrm>
          <a:custGeom>
            <a:avLst/>
            <a:gdLst/>
            <a:ahLst/>
            <a:cxnLst/>
            <a:rect l="l" t="t" r="r" b="b"/>
            <a:pathLst>
              <a:path w="6762750" h="3848100">
                <a:moveTo>
                  <a:pt x="76192" y="0"/>
                </a:moveTo>
                <a:lnTo>
                  <a:pt x="6686558" y="0"/>
                </a:lnTo>
                <a:cubicBezTo>
                  <a:pt x="6728638" y="0"/>
                  <a:pt x="6762750" y="34112"/>
                  <a:pt x="6762750" y="76192"/>
                </a:cubicBezTo>
                <a:lnTo>
                  <a:pt x="6762750" y="3771908"/>
                </a:lnTo>
                <a:cubicBezTo>
                  <a:pt x="6762750" y="3813988"/>
                  <a:pt x="6728638" y="3848100"/>
                  <a:pt x="6686558" y="3848100"/>
                </a:cubicBezTo>
                <a:lnTo>
                  <a:pt x="76192" y="3848100"/>
                </a:lnTo>
                <a:cubicBezTo>
                  <a:pt x="34112" y="3848100"/>
                  <a:pt x="0" y="3813988"/>
                  <a:pt x="0" y="37719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2150" y="2855528"/>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51"/>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Code Example</a:t>
            </a:r>
            <a:endParaRPr lang="en-US" sz="1100"/>
          </a:p>
        </p:txBody>
      </p:sp>
      <p:sp>
        <p:nvSpPr>
          <p:cNvPr id="9" name="Freeform 9"/>
          <p:cNvSpPr/>
          <p:nvPr/>
        </p:nvSpPr>
        <p:spPr>
          <a:xfrm>
            <a:off x="590352" y="3237942"/>
            <a:ext cx="6362605" cy="3048000"/>
          </a:xfrm>
          <a:custGeom>
            <a:avLst/>
            <a:gdLst/>
            <a:ahLst/>
            <a:cxnLst/>
            <a:rect l="l" t="t" r="r" b="b"/>
            <a:pathLst>
              <a:path w="6362605" h="3048000">
                <a:moveTo>
                  <a:pt x="37910" y="0"/>
                </a:moveTo>
                <a:lnTo>
                  <a:pt x="6286405" y="0"/>
                </a:lnTo>
                <a:cubicBezTo>
                  <a:pt x="6328461" y="0"/>
                  <a:pt x="6362605" y="34144"/>
                  <a:pt x="6362605" y="76200"/>
                </a:cubicBezTo>
                <a:lnTo>
                  <a:pt x="6362605" y="2971800"/>
                </a:lnTo>
                <a:cubicBezTo>
                  <a:pt x="6362605" y="3013856"/>
                  <a:pt x="6328461" y="3048000"/>
                  <a:pt x="6286405" y="3048000"/>
                </a:cubicBezTo>
                <a:lnTo>
                  <a:pt x="37910" y="3048000"/>
                </a:lnTo>
                <a:cubicBezTo>
                  <a:pt x="16974" y="3048000"/>
                  <a:pt x="0" y="3031026"/>
                  <a:pt x="0" y="30100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90352" y="3237942"/>
            <a:ext cx="37909" cy="3048000"/>
          </a:xfrm>
          <a:custGeom>
            <a:avLst/>
            <a:gdLst/>
            <a:ahLst/>
            <a:cxnLst/>
            <a:rect l="l" t="t" r="r" b="b"/>
            <a:pathLst>
              <a:path w="37909" h="3048000">
                <a:moveTo>
                  <a:pt x="37910" y="0"/>
                </a:moveTo>
                <a:lnTo>
                  <a:pt x="37910" y="0"/>
                </a:lnTo>
                <a:lnTo>
                  <a:pt x="37910" y="3048000"/>
                </a:lnTo>
                <a:lnTo>
                  <a:pt x="37910" y="3048000"/>
                </a:lnTo>
                <a:cubicBezTo>
                  <a:pt x="16974" y="3048000"/>
                  <a:pt x="0" y="3031026"/>
                  <a:pt x="0" y="30100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1689" y="3390323"/>
            <a:ext cx="6115050" cy="27432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Original declaration (may cause bank conflict)</a:t>
            </a:r>
            <a:endParaRPr lang="en-US" sz="1100"/>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__shared__ float tile[32][32];</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After padding (avoids bank conflict)</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__shared__ float tile[32][33];</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Explanation:</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Original: 32 floats per row, exactly occupying 32 banks</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Result: elements in the same column share the same bank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Padding: 33 floats per row</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Result: elements in the same column are spread across different banks</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7376099" y="1333230"/>
            <a:ext cx="4438650" cy="4229100"/>
          </a:xfrm>
          <a:custGeom>
            <a:avLst/>
            <a:gdLst/>
            <a:ahLst/>
            <a:cxnLst/>
            <a:rect l="l" t="t" r="r" b="b"/>
            <a:pathLst>
              <a:path w="4438650" h="4229100">
                <a:moveTo>
                  <a:pt x="76208" y="0"/>
                </a:moveTo>
                <a:lnTo>
                  <a:pt x="4362442" y="0"/>
                </a:lnTo>
                <a:cubicBezTo>
                  <a:pt x="4404530" y="0"/>
                  <a:pt x="4438650" y="34120"/>
                  <a:pt x="4438650" y="76208"/>
                </a:cubicBezTo>
                <a:lnTo>
                  <a:pt x="4438650" y="4152892"/>
                </a:lnTo>
                <a:cubicBezTo>
                  <a:pt x="4438650" y="4194980"/>
                  <a:pt x="4404530" y="4229100"/>
                  <a:pt x="4362442" y="4229100"/>
                </a:cubicBezTo>
                <a:lnTo>
                  <a:pt x="76208" y="4229100"/>
                </a:lnTo>
                <a:cubicBezTo>
                  <a:pt x="34120" y="4229100"/>
                  <a:pt x="0" y="4194980"/>
                  <a:pt x="0" y="41528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607022" y="1571281"/>
            <a:ext cx="128588" cy="176808"/>
          </a:xfrm>
          <a:custGeom>
            <a:avLst/>
            <a:gdLst/>
            <a:ahLst/>
            <a:cxnLst/>
            <a:rect l="l" t="t" r="r" b="b"/>
            <a:pathLst>
              <a:path w="128588" h="176808">
                <a:moveTo>
                  <a:pt x="98081" y="128587"/>
                </a:moveTo>
                <a:cubicBezTo>
                  <a:pt x="100526" y="121120"/>
                  <a:pt x="105415" y="114356"/>
                  <a:pt x="110940" y="108529"/>
                </a:cubicBezTo>
                <a:cubicBezTo>
                  <a:pt x="121890" y="97010"/>
                  <a:pt x="128588" y="81439"/>
                  <a:pt x="128588" y="64294"/>
                </a:cubicBezTo>
                <a:cubicBezTo>
                  <a:pt x="128588" y="28799"/>
                  <a:pt x="99789" y="0"/>
                  <a:pt x="64294" y="0"/>
                </a:cubicBezTo>
                <a:cubicBezTo>
                  <a:pt x="28799" y="0"/>
                  <a:pt x="0" y="28799"/>
                  <a:pt x="0" y="64294"/>
                </a:cubicBezTo>
                <a:cubicBezTo>
                  <a:pt x="0" y="81439"/>
                  <a:pt x="6697" y="97010"/>
                  <a:pt x="17647" y="108529"/>
                </a:cubicBezTo>
                <a:cubicBezTo>
                  <a:pt x="23172" y="114356"/>
                  <a:pt x="28095" y="121120"/>
                  <a:pt x="30505" y="128587"/>
                </a:cubicBezTo>
                <a:lnTo>
                  <a:pt x="98048" y="128587"/>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776090" y="1523674"/>
            <a:ext cx="3933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How It Works</a:t>
            </a:r>
            <a:endParaRPr lang="en-US" sz="1100"/>
          </a:p>
        </p:txBody>
      </p:sp>
      <p:sp>
        <p:nvSpPr>
          <p:cNvPr id="15" name="Freeform 15"/>
          <p:cNvSpPr/>
          <p:nvPr/>
        </p:nvSpPr>
        <p:spPr>
          <a:xfrm>
            <a:off x="7585496" y="1904628"/>
            <a:ext cx="4038505" cy="914400"/>
          </a:xfrm>
          <a:custGeom>
            <a:avLst/>
            <a:gdLst/>
            <a:ahLst/>
            <a:cxnLst/>
            <a:rect l="l" t="t" r="r" b="b"/>
            <a:pathLst>
              <a:path w="4038505" h="914400">
                <a:moveTo>
                  <a:pt x="37909" y="0"/>
                </a:moveTo>
                <a:lnTo>
                  <a:pt x="3962309" y="0"/>
                </a:lnTo>
                <a:cubicBezTo>
                  <a:pt x="4004391" y="0"/>
                  <a:pt x="4038505" y="34115"/>
                  <a:pt x="4038505" y="76197"/>
                </a:cubicBezTo>
                <a:lnTo>
                  <a:pt x="4038505" y="838203"/>
                </a:lnTo>
                <a:cubicBezTo>
                  <a:pt x="4038505" y="880285"/>
                  <a:pt x="4004391" y="914400"/>
                  <a:pt x="3962309" y="914400"/>
                </a:cubicBezTo>
                <a:lnTo>
                  <a:pt x="37909" y="914400"/>
                </a:lnTo>
                <a:cubicBezTo>
                  <a:pt x="16974" y="914400"/>
                  <a:pt x="0" y="897426"/>
                  <a:pt x="0" y="8764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585496" y="1904628"/>
            <a:ext cx="37910" cy="914400"/>
          </a:xfrm>
          <a:custGeom>
            <a:avLst/>
            <a:gdLst/>
            <a:ahLst/>
            <a:cxnLst/>
            <a:rect l="l" t="t" r="r" b="b"/>
            <a:pathLst>
              <a:path w="37910" h="914400">
                <a:moveTo>
                  <a:pt x="37909" y="0"/>
                </a:moveTo>
                <a:lnTo>
                  <a:pt x="37909" y="0"/>
                </a:lnTo>
                <a:lnTo>
                  <a:pt x="37909" y="914400"/>
                </a:lnTo>
                <a:lnTo>
                  <a:pt x="37909" y="914400"/>
                </a:lnTo>
                <a:cubicBezTo>
                  <a:pt x="16974" y="914400"/>
                  <a:pt x="0" y="897426"/>
                  <a:pt x="0" y="876490"/>
                </a:cubicBezTo>
                <a:lnTo>
                  <a:pt x="0" y="37910"/>
                </a:lnTo>
                <a:cubicBezTo>
                  <a:pt x="0" y="16988"/>
                  <a:pt x="16988" y="0"/>
                  <a:pt x="3790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7718700" y="2018881"/>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Original array</a:t>
            </a:r>
            <a:endParaRPr lang="en-US" sz="1100"/>
          </a:p>
        </p:txBody>
      </p:sp>
      <p:sp>
        <p:nvSpPr>
          <p:cNvPr id="18" name="AutoShape 18"/>
          <p:cNvSpPr/>
          <p:nvPr/>
        </p:nvSpPr>
        <p:spPr>
          <a:xfrm>
            <a:off x="7718700" y="2285516"/>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tile[32][32]</a:t>
            </a:r>
            <a:endParaRPr lang="en-US" sz="1100"/>
          </a:p>
        </p:txBody>
      </p:sp>
      <p:sp>
        <p:nvSpPr>
          <p:cNvPr id="19" name="AutoShape 19"/>
          <p:cNvSpPr/>
          <p:nvPr/>
        </p:nvSpPr>
        <p:spPr>
          <a:xfrm>
            <a:off x="7718700" y="2514014"/>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32 elements per row, aligned to 32 banks</a:t>
            </a:r>
            <a:endParaRPr lang="en-US" sz="1100"/>
          </a:p>
        </p:txBody>
      </p:sp>
      <p:sp>
        <p:nvSpPr>
          <p:cNvPr id="20" name="Freeform 20"/>
          <p:cNvSpPr/>
          <p:nvPr/>
        </p:nvSpPr>
        <p:spPr>
          <a:xfrm>
            <a:off x="7585496" y="2932947"/>
            <a:ext cx="4038505" cy="914400"/>
          </a:xfrm>
          <a:custGeom>
            <a:avLst/>
            <a:gdLst/>
            <a:ahLst/>
            <a:cxnLst/>
            <a:rect l="l" t="t" r="r" b="b"/>
            <a:pathLst>
              <a:path w="4038505" h="914400">
                <a:moveTo>
                  <a:pt x="37909" y="0"/>
                </a:moveTo>
                <a:lnTo>
                  <a:pt x="3962309" y="0"/>
                </a:lnTo>
                <a:cubicBezTo>
                  <a:pt x="4004391" y="0"/>
                  <a:pt x="4038505" y="34115"/>
                  <a:pt x="4038505" y="76197"/>
                </a:cubicBezTo>
                <a:lnTo>
                  <a:pt x="4038505" y="838203"/>
                </a:lnTo>
                <a:cubicBezTo>
                  <a:pt x="4038505" y="880285"/>
                  <a:pt x="4004391" y="914400"/>
                  <a:pt x="3962309" y="914400"/>
                </a:cubicBezTo>
                <a:lnTo>
                  <a:pt x="37909" y="914400"/>
                </a:lnTo>
                <a:cubicBezTo>
                  <a:pt x="16974" y="914400"/>
                  <a:pt x="0" y="897426"/>
                  <a:pt x="0" y="876490"/>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585496" y="2932947"/>
            <a:ext cx="37910" cy="914400"/>
          </a:xfrm>
          <a:custGeom>
            <a:avLst/>
            <a:gdLst/>
            <a:ahLst/>
            <a:cxnLst/>
            <a:rect l="l" t="t" r="r" b="b"/>
            <a:pathLst>
              <a:path w="37910" h="914400">
                <a:moveTo>
                  <a:pt x="37909" y="0"/>
                </a:moveTo>
                <a:lnTo>
                  <a:pt x="37909" y="0"/>
                </a:lnTo>
                <a:lnTo>
                  <a:pt x="37909" y="914400"/>
                </a:lnTo>
                <a:lnTo>
                  <a:pt x="37909" y="914400"/>
                </a:lnTo>
                <a:cubicBezTo>
                  <a:pt x="16974" y="914400"/>
                  <a:pt x="0" y="897426"/>
                  <a:pt x="0" y="876490"/>
                </a:cubicBezTo>
                <a:lnTo>
                  <a:pt x="0" y="37909"/>
                </a:lnTo>
                <a:cubicBezTo>
                  <a:pt x="0" y="16988"/>
                  <a:pt x="16988" y="0"/>
                  <a:pt x="37909"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718700" y="3047200"/>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After padding</a:t>
            </a:r>
            <a:endParaRPr lang="en-US" sz="1100"/>
          </a:p>
        </p:txBody>
      </p:sp>
      <p:sp>
        <p:nvSpPr>
          <p:cNvPr id="23" name="AutoShape 23"/>
          <p:cNvSpPr/>
          <p:nvPr/>
        </p:nvSpPr>
        <p:spPr>
          <a:xfrm>
            <a:off x="7718700" y="3313835"/>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tile[32][33]</a:t>
            </a:r>
            <a:endParaRPr lang="en-US" sz="1100"/>
          </a:p>
        </p:txBody>
      </p:sp>
      <p:sp>
        <p:nvSpPr>
          <p:cNvPr id="24" name="AutoShape 24"/>
          <p:cNvSpPr/>
          <p:nvPr/>
        </p:nvSpPr>
        <p:spPr>
          <a:xfrm>
            <a:off x="7718700" y="3542333"/>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33 elements per row, staggering the bank distribution</a:t>
            </a:r>
            <a:endParaRPr lang="en-US" sz="1100"/>
          </a:p>
        </p:txBody>
      </p:sp>
      <p:sp>
        <p:nvSpPr>
          <p:cNvPr id="25" name="Freeform 25"/>
          <p:cNvSpPr/>
          <p:nvPr/>
        </p:nvSpPr>
        <p:spPr>
          <a:xfrm>
            <a:off x="7585496" y="3961274"/>
            <a:ext cx="4038505" cy="685800"/>
          </a:xfrm>
          <a:custGeom>
            <a:avLst/>
            <a:gdLst/>
            <a:ahLst/>
            <a:cxnLst/>
            <a:rect l="l" t="t" r="r" b="b"/>
            <a:pathLst>
              <a:path w="4038505" h="685800">
                <a:moveTo>
                  <a:pt x="37909" y="0"/>
                </a:moveTo>
                <a:lnTo>
                  <a:pt x="3962306" y="0"/>
                </a:lnTo>
                <a:cubicBezTo>
                  <a:pt x="4004390" y="0"/>
                  <a:pt x="4038505" y="34116"/>
                  <a:pt x="4038505" y="76199"/>
                </a:cubicBezTo>
                <a:lnTo>
                  <a:pt x="4038505" y="609601"/>
                </a:lnTo>
                <a:cubicBezTo>
                  <a:pt x="4038505" y="651684"/>
                  <a:pt x="4004390" y="685800"/>
                  <a:pt x="3962306" y="685800"/>
                </a:cubicBezTo>
                <a:lnTo>
                  <a:pt x="37909" y="685800"/>
                </a:lnTo>
                <a:cubicBezTo>
                  <a:pt x="16974" y="685800"/>
                  <a:pt x="0" y="668826"/>
                  <a:pt x="0" y="6478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7585496" y="3961274"/>
            <a:ext cx="37910" cy="685800"/>
          </a:xfrm>
          <a:custGeom>
            <a:avLst/>
            <a:gdLst/>
            <a:ahLst/>
            <a:cxnLst/>
            <a:rect l="l" t="t" r="r" b="b"/>
            <a:pathLst>
              <a:path w="37910" h="685800">
                <a:moveTo>
                  <a:pt x="37909" y="0"/>
                </a:moveTo>
                <a:lnTo>
                  <a:pt x="37909" y="0"/>
                </a:lnTo>
                <a:lnTo>
                  <a:pt x="37909" y="685800"/>
                </a:lnTo>
                <a:lnTo>
                  <a:pt x="37909" y="685800"/>
                </a:lnTo>
                <a:cubicBezTo>
                  <a:pt x="16974" y="685800"/>
                  <a:pt x="0" y="668826"/>
                  <a:pt x="0" y="647890"/>
                </a:cubicBezTo>
                <a:lnTo>
                  <a:pt x="0" y="37910"/>
                </a:lnTo>
                <a:cubicBezTo>
                  <a:pt x="0" y="16988"/>
                  <a:pt x="16988" y="0"/>
                  <a:pt x="37909"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718700" y="4075519"/>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Effect</a:t>
            </a:r>
            <a:endParaRPr lang="en-US" sz="1100"/>
          </a:p>
        </p:txBody>
      </p:sp>
      <p:sp>
        <p:nvSpPr>
          <p:cNvPr id="28" name="AutoShape 28"/>
          <p:cNvSpPr/>
          <p:nvPr/>
        </p:nvSpPr>
        <p:spPr>
          <a:xfrm>
            <a:off x="7718700" y="4342154"/>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Elements in the same column are distributed across different banks</a:t>
            </a:r>
            <a:endParaRPr lang="en-US" sz="1100"/>
          </a:p>
        </p:txBody>
      </p:sp>
      <p:sp>
        <p:nvSpPr>
          <p:cNvPr id="29" name="Freeform 29"/>
          <p:cNvSpPr/>
          <p:nvPr/>
        </p:nvSpPr>
        <p:spPr>
          <a:xfrm>
            <a:off x="7376099" y="5714181"/>
            <a:ext cx="4438650" cy="762000"/>
          </a:xfrm>
          <a:custGeom>
            <a:avLst/>
            <a:gdLst/>
            <a:ahLst/>
            <a:cxnLst/>
            <a:rect l="l" t="t" r="r" b="b"/>
            <a:pathLst>
              <a:path w="4438650" h="762000">
                <a:moveTo>
                  <a:pt x="76200" y="0"/>
                </a:moveTo>
                <a:lnTo>
                  <a:pt x="4362450" y="0"/>
                </a:lnTo>
                <a:cubicBezTo>
                  <a:pt x="4404506" y="0"/>
                  <a:pt x="4438650" y="34144"/>
                  <a:pt x="4438650" y="76200"/>
                </a:cubicBezTo>
                <a:lnTo>
                  <a:pt x="4438650" y="685800"/>
                </a:lnTo>
                <a:cubicBezTo>
                  <a:pt x="4438650" y="727856"/>
                  <a:pt x="4404506" y="762000"/>
                  <a:pt x="4362450" y="762000"/>
                </a:cubicBezTo>
                <a:lnTo>
                  <a:pt x="76200" y="762000"/>
                </a:lnTo>
                <a:cubicBezTo>
                  <a:pt x="34144" y="762000"/>
                  <a:pt x="0" y="727856"/>
                  <a:pt x="0" y="685800"/>
                </a:cubicBezTo>
                <a:lnTo>
                  <a:pt x="0" y="76200"/>
                </a:lnTo>
                <a:cubicBezTo>
                  <a:pt x="0" y="34144"/>
                  <a:pt x="34144" y="0"/>
                  <a:pt x="7620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7557057" y="5980816"/>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8"/>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7928610" y="5866765"/>
            <a:ext cx="30918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Key Technique</a:t>
            </a:r>
            <a:endParaRPr lang="en-US" sz="1100"/>
          </a:p>
        </p:txBody>
      </p:sp>
      <p:sp>
        <p:nvSpPr>
          <p:cNvPr id="32" name="AutoShape 32"/>
          <p:cNvSpPr/>
          <p:nvPr/>
        </p:nvSpPr>
        <p:spPr>
          <a:xfrm>
            <a:off x="7928610" y="6175375"/>
            <a:ext cx="36004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Adding one column of padding is enough to avoid conflicts</a:t>
            </a:r>
            <a:endParaRPr lang="en-US" sz="1100"/>
          </a:p>
        </p:txBody>
      </p:sp>
      <p:sp>
        <p:nvSpPr>
          <p:cNvPr id="33" name="AutoShape 33"/>
          <p:cNvSpPr/>
          <p:nvPr/>
        </p:nvSpPr>
        <p:spPr>
          <a:xfrm>
            <a:off x="314281" y="6552214"/>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61020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Coalescing Concept</a:t>
            </a:r>
            <a:endParaRPr lang="en-US" sz="1100"/>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0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Coalesced Access</a:t>
            </a:r>
            <a:endParaRPr lang="en-US" sz="1100"/>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Key to Global Memory Optimization</a:t>
            </a:r>
            <a:endParaRPr lang="en-US" sz="1100"/>
          </a:p>
        </p:txBody>
      </p:sp>
      <p:sp>
        <p:nvSpPr>
          <p:cNvPr id="6" name="Freeform 6"/>
          <p:cNvSpPr/>
          <p:nvPr/>
        </p:nvSpPr>
        <p:spPr>
          <a:xfrm>
            <a:off x="380956" y="2628407"/>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5209" y="28569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7"/>
                  <a:pt x="95250" y="71437"/>
                </a:cubicBezTo>
                <a:cubicBezTo>
                  <a:pt x="88679" y="71437"/>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6"/>
                  <a:pt x="119063" y="133946"/>
                </a:cubicBezTo>
                <a:cubicBezTo>
                  <a:pt x="119063" y="138894"/>
                  <a:pt x="115081" y="142875"/>
                  <a:pt x="110133" y="142875"/>
                </a:cubicBezTo>
                <a:lnTo>
                  <a:pt x="80367" y="142875"/>
                </a:lnTo>
                <a:cubicBezTo>
                  <a:pt x="75419" y="142875"/>
                  <a:pt x="71437" y="138894"/>
                  <a:pt x="71437" y="133946"/>
                </a:cubicBezTo>
                <a:cubicBezTo>
                  <a:pt x="71437" y="128996"/>
                  <a:pt x="75419" y="125016"/>
                  <a:pt x="80367" y="125016"/>
                </a:cubicBezTo>
                <a:lnTo>
                  <a:pt x="89298" y="125016"/>
                </a:lnTo>
                <a:lnTo>
                  <a:pt x="89298" y="101202"/>
                </a:lnTo>
                <a:lnTo>
                  <a:pt x="80367" y="101202"/>
                </a:lnTo>
                <a:cubicBezTo>
                  <a:pt x="75419" y="101202"/>
                  <a:pt x="71437" y="97222"/>
                  <a:pt x="71437" y="92273"/>
                </a:cubicBezTo>
                <a:cubicBezTo>
                  <a:pt x="71437" y="87325"/>
                  <a:pt x="75419" y="83344"/>
                  <a:pt x="80367" y="83344"/>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Definition</a:t>
            </a:r>
            <a:endParaRPr lang="en-US" sz="1100"/>
          </a:p>
        </p:txBody>
      </p:sp>
      <p:sp>
        <p:nvSpPr>
          <p:cNvPr id="9" name="Freeform 9"/>
          <p:cNvSpPr/>
          <p:nvPr/>
        </p:nvSpPr>
        <p:spPr>
          <a:xfrm>
            <a:off x="571396" y="3314123"/>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61837" y="3237933"/>
            <a:ext cx="2177744"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Consecutive threads</a:t>
            </a:r>
            <a:endParaRPr lang="en-US" sz="1100"/>
          </a:p>
        </p:txBody>
      </p:sp>
      <p:sp>
        <p:nvSpPr>
          <p:cNvPr id="11" name="AutoShape 11"/>
          <p:cNvSpPr/>
          <p:nvPr/>
        </p:nvSpPr>
        <p:spPr>
          <a:xfrm>
            <a:off x="761836" y="3504567"/>
            <a:ext cx="2803709"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Adjacent threads</a:t>
            </a:r>
            <a:endParaRPr lang="en-US" sz="1100"/>
          </a:p>
        </p:txBody>
      </p:sp>
      <p:sp>
        <p:nvSpPr>
          <p:cNvPr id="12" name="Freeform 12"/>
          <p:cNvSpPr/>
          <p:nvPr/>
        </p:nvSpPr>
        <p:spPr>
          <a:xfrm>
            <a:off x="571396" y="392358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1836" y="3847393"/>
            <a:ext cx="3405127" cy="3047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access contiguous addresses</a:t>
            </a:r>
            <a:endParaRPr lang="en-US" sz="1100"/>
          </a:p>
        </p:txBody>
      </p:sp>
      <p:sp>
        <p:nvSpPr>
          <p:cNvPr id="14" name="AutoShape 14"/>
          <p:cNvSpPr/>
          <p:nvPr/>
        </p:nvSpPr>
        <p:spPr>
          <a:xfrm>
            <a:off x="761836" y="4114019"/>
            <a:ext cx="3135103"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Contiguous memory addresses</a:t>
            </a:r>
            <a:endParaRPr lang="en-US" sz="1100"/>
          </a:p>
        </p:txBody>
      </p:sp>
      <p:sp>
        <p:nvSpPr>
          <p:cNvPr id="15" name="Freeform 15"/>
          <p:cNvSpPr/>
          <p:nvPr/>
        </p:nvSpPr>
        <p:spPr>
          <a:xfrm>
            <a:off x="571396" y="4533035"/>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1836" y="4456843"/>
            <a:ext cx="2466179" cy="2666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Maximum efficiency</a:t>
            </a:r>
            <a:endParaRPr lang="en-US" sz="1100"/>
          </a:p>
        </p:txBody>
      </p:sp>
      <p:sp>
        <p:nvSpPr>
          <p:cNvPr id="17" name="AutoShape 17"/>
          <p:cNvSpPr/>
          <p:nvPr/>
        </p:nvSpPr>
        <p:spPr>
          <a:xfrm>
            <a:off x="761837" y="4723479"/>
            <a:ext cx="3509454" cy="19054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Merged into a single memory transaction</a:t>
            </a:r>
            <a:endParaRPr lang="en-US" sz="1100"/>
          </a:p>
        </p:txBody>
      </p:sp>
      <p:sp>
        <p:nvSpPr>
          <p:cNvPr id="18" name="Freeform 18"/>
          <p:cNvSpPr/>
          <p:nvPr/>
        </p:nvSpPr>
        <p:spPr>
          <a:xfrm>
            <a:off x="6210279" y="1333230"/>
            <a:ext cx="5600700" cy="3543300"/>
          </a:xfrm>
          <a:custGeom>
            <a:avLst/>
            <a:gdLst/>
            <a:ahLst/>
            <a:cxnLst/>
            <a:rect l="l" t="t" r="r" b="b"/>
            <a:pathLst>
              <a:path w="5600700" h="3543300">
                <a:moveTo>
                  <a:pt x="76217" y="0"/>
                </a:moveTo>
                <a:lnTo>
                  <a:pt x="5524483" y="0"/>
                </a:lnTo>
                <a:cubicBezTo>
                  <a:pt x="5566576" y="0"/>
                  <a:pt x="5600700" y="34124"/>
                  <a:pt x="5600700" y="76217"/>
                </a:cubicBezTo>
                <a:lnTo>
                  <a:pt x="5600700" y="3467083"/>
                </a:lnTo>
                <a:cubicBezTo>
                  <a:pt x="5600700" y="3509176"/>
                  <a:pt x="5566576" y="3543300"/>
                  <a:pt x="5524483" y="3543300"/>
                </a:cubicBezTo>
                <a:lnTo>
                  <a:pt x="76217" y="3543300"/>
                </a:lnTo>
                <a:cubicBezTo>
                  <a:pt x="34124" y="3543300"/>
                  <a:pt x="0" y="3509176"/>
                  <a:pt x="0" y="3467083"/>
                </a:cubicBezTo>
                <a:lnTo>
                  <a:pt x="0" y="76217"/>
                </a:lnTo>
                <a:cubicBezTo>
                  <a:pt x="0" y="34152"/>
                  <a:pt x="34152" y="0"/>
                  <a:pt x="76217"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19" name="Picture 19"/>
          <p:cNvPicPr>
            <a:picLocks noChangeAspect="1"/>
          </p:cNvPicPr>
          <p:nvPr/>
        </p:nvPicPr>
        <p:blipFill>
          <a:blip r:embed="rId1"/>
          <a:srcRect t="58" b="57"/>
          <a:stretch>
            <a:fillRect/>
          </a:stretch>
        </p:blipFill>
        <p:spPr>
          <a:xfrm>
            <a:off x="6400720" y="1679535"/>
            <a:ext cx="5219700" cy="2847975"/>
          </a:xfrm>
          <a:prstGeom prst="roundRect">
            <a:avLst>
              <a:gd name="adj" fmla="val 1337"/>
            </a:avLst>
          </a:prstGeom>
          <a:ln w="12700">
            <a:noFill/>
            <a:prstDash val="solid"/>
          </a:ln>
        </p:spPr>
      </p:pic>
      <p:sp>
        <p:nvSpPr>
          <p:cNvPr id="20" name="Freeform 20"/>
          <p:cNvSpPr/>
          <p:nvPr/>
        </p:nvSpPr>
        <p:spPr>
          <a:xfrm>
            <a:off x="6219757" y="5039050"/>
            <a:ext cx="5581555" cy="1161955"/>
          </a:xfrm>
          <a:custGeom>
            <a:avLst/>
            <a:gdLst/>
            <a:ahLst/>
            <a:cxnLst/>
            <a:rect l="l" t="t" r="r" b="b"/>
            <a:pathLst>
              <a:path w="5581555" h="1161955">
                <a:moveTo>
                  <a:pt x="76201" y="0"/>
                </a:moveTo>
                <a:lnTo>
                  <a:pt x="5505353" y="0"/>
                </a:lnTo>
                <a:cubicBezTo>
                  <a:pt x="5547439" y="0"/>
                  <a:pt x="5581555" y="34116"/>
                  <a:pt x="5581555" y="76201"/>
                </a:cubicBezTo>
                <a:lnTo>
                  <a:pt x="5581555" y="1085753"/>
                </a:lnTo>
                <a:cubicBezTo>
                  <a:pt x="5581555" y="1127839"/>
                  <a:pt x="5547439" y="1161955"/>
                  <a:pt x="5505353" y="1161955"/>
                </a:cubicBezTo>
                <a:lnTo>
                  <a:pt x="76201" y="1161955"/>
                </a:lnTo>
                <a:cubicBezTo>
                  <a:pt x="34116" y="1161955"/>
                  <a:pt x="0" y="1127839"/>
                  <a:pt x="0" y="10857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6343517" y="5200910"/>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Example</a:t>
            </a:r>
            <a:endParaRPr lang="en-US" sz="1100"/>
          </a:p>
        </p:txBody>
      </p:sp>
      <p:sp>
        <p:nvSpPr>
          <p:cNvPr id="22" name="AutoShape 22"/>
          <p:cNvSpPr/>
          <p:nvPr/>
        </p:nvSpPr>
        <p:spPr>
          <a:xfrm>
            <a:off x="8298316" y="5524705"/>
            <a:ext cx="7429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 i</a:t>
            </a:r>
            <a:endParaRPr lang="en-US" sz="1100"/>
          </a:p>
        </p:txBody>
      </p:sp>
      <p:sp>
        <p:nvSpPr>
          <p:cNvPr id="23" name="AutoShape 23"/>
          <p:cNvSpPr/>
          <p:nvPr/>
        </p:nvSpPr>
        <p:spPr>
          <a:xfrm>
            <a:off x="9082958" y="5505673"/>
            <a:ext cx="285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4" name="AutoShape 24"/>
          <p:cNvSpPr/>
          <p:nvPr/>
        </p:nvSpPr>
        <p:spPr>
          <a:xfrm>
            <a:off x="9387722" y="5524705"/>
            <a:ext cx="4095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5" name="AutoShape 25"/>
          <p:cNvSpPr/>
          <p:nvPr/>
        </p:nvSpPr>
        <p:spPr>
          <a:xfrm>
            <a:off x="6348279" y="5848573"/>
            <a:ext cx="532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Consecutive threads accessing contiguous addresses</a:t>
            </a:r>
            <a:endParaRPr lang="en-US" sz="1100"/>
          </a:p>
        </p:txBody>
      </p:sp>
      <p:sp>
        <p:nvSpPr>
          <p:cNvPr id="26" name="AutoShape 26"/>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LinkedIn - Mayur Jain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498" y="59908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Non-coalesced Access Problem</a:t>
            </a:r>
            <a:endParaRPr lang="en-US" sz="1100"/>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0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Incorrect access pattern</a:t>
            </a:r>
            <a:endParaRPr lang="en-US" sz="1100"/>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Causes severe performance degradation</a:t>
            </a:r>
            <a:endParaRPr lang="en-US" sz="1100"/>
          </a:p>
        </p:txBody>
      </p:sp>
      <p:sp>
        <p:nvSpPr>
          <p:cNvPr id="6" name="Freeform 6"/>
          <p:cNvSpPr/>
          <p:nvPr/>
        </p:nvSpPr>
        <p:spPr>
          <a:xfrm>
            <a:off x="380956" y="2628407"/>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5209" y="28569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5"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Problem Example</a:t>
            </a:r>
            <a:endParaRPr lang="en-US" sz="1100"/>
          </a:p>
        </p:txBody>
      </p:sp>
      <p:sp>
        <p:nvSpPr>
          <p:cNvPr id="9" name="Freeform 9"/>
          <p:cNvSpPr/>
          <p:nvPr/>
        </p:nvSpPr>
        <p:spPr>
          <a:xfrm>
            <a:off x="590352" y="3237933"/>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90352" y="3237933"/>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85498" y="3352186"/>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sz="1100"/>
          </a:p>
        </p:txBody>
      </p:sp>
      <p:sp>
        <p:nvSpPr>
          <p:cNvPr id="12" name="AutoShape 12"/>
          <p:cNvSpPr/>
          <p:nvPr/>
        </p:nvSpPr>
        <p:spPr>
          <a:xfrm>
            <a:off x="1714115" y="331412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3" name="AutoShape 13"/>
          <p:cNvSpPr/>
          <p:nvPr/>
        </p:nvSpPr>
        <p:spPr>
          <a:xfrm>
            <a:off x="2057012" y="3352186"/>
            <a:ext cx="4095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A[0]</a:t>
            </a:r>
            <a:endParaRPr lang="en-US" sz="1100"/>
          </a:p>
        </p:txBody>
      </p:sp>
      <p:sp>
        <p:nvSpPr>
          <p:cNvPr id="14" name="Freeform 14"/>
          <p:cNvSpPr/>
          <p:nvPr/>
        </p:nvSpPr>
        <p:spPr>
          <a:xfrm>
            <a:off x="590352" y="3809256"/>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90352" y="3809256"/>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85498" y="3923509"/>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sz="1100"/>
          </a:p>
        </p:txBody>
      </p:sp>
      <p:sp>
        <p:nvSpPr>
          <p:cNvPr id="17" name="AutoShape 17"/>
          <p:cNvSpPr/>
          <p:nvPr/>
        </p:nvSpPr>
        <p:spPr>
          <a:xfrm>
            <a:off x="1714115" y="388544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AutoShape 18"/>
          <p:cNvSpPr/>
          <p:nvPr/>
        </p:nvSpPr>
        <p:spPr>
          <a:xfrm>
            <a:off x="2057012" y="3923509"/>
            <a:ext cx="6667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A[1000]</a:t>
            </a:r>
            <a:endParaRPr lang="en-US" sz="1100"/>
          </a:p>
        </p:txBody>
      </p:sp>
      <p:sp>
        <p:nvSpPr>
          <p:cNvPr id="19" name="Freeform 19"/>
          <p:cNvSpPr/>
          <p:nvPr/>
        </p:nvSpPr>
        <p:spPr>
          <a:xfrm>
            <a:off x="590352" y="4380579"/>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0352" y="4380579"/>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09"/>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498" y="4494833"/>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sz="1100"/>
          </a:p>
        </p:txBody>
      </p:sp>
      <p:sp>
        <p:nvSpPr>
          <p:cNvPr id="22" name="AutoShape 22"/>
          <p:cNvSpPr/>
          <p:nvPr/>
        </p:nvSpPr>
        <p:spPr>
          <a:xfrm>
            <a:off x="1714115" y="4456770"/>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AutoShape 23"/>
          <p:cNvSpPr/>
          <p:nvPr/>
        </p:nvSpPr>
        <p:spPr>
          <a:xfrm>
            <a:off x="2057012" y="4494833"/>
            <a:ext cx="6667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A[2000]</a:t>
            </a:r>
            <a:endParaRPr lang="en-US" sz="1100"/>
          </a:p>
        </p:txBody>
      </p:sp>
      <p:sp>
        <p:nvSpPr>
          <p:cNvPr id="24" name="Freeform 24"/>
          <p:cNvSpPr/>
          <p:nvPr/>
        </p:nvSpPr>
        <p:spPr>
          <a:xfrm>
            <a:off x="580874" y="4999508"/>
            <a:ext cx="5200555" cy="857155"/>
          </a:xfrm>
          <a:custGeom>
            <a:avLst/>
            <a:gdLst/>
            <a:ahLst/>
            <a:cxnLst/>
            <a:rect l="l" t="t" r="r" b="b"/>
            <a:pathLst>
              <a:path w="5200555" h="857155">
                <a:moveTo>
                  <a:pt x="76201" y="0"/>
                </a:moveTo>
                <a:lnTo>
                  <a:pt x="5124353" y="0"/>
                </a:lnTo>
                <a:cubicBezTo>
                  <a:pt x="5166439" y="0"/>
                  <a:pt x="5200555" y="34116"/>
                  <a:pt x="5200555" y="76201"/>
                </a:cubicBezTo>
                <a:lnTo>
                  <a:pt x="5200555" y="780953"/>
                </a:lnTo>
                <a:cubicBezTo>
                  <a:pt x="5200555" y="823039"/>
                  <a:pt x="5166439" y="857155"/>
                  <a:pt x="5124353" y="857155"/>
                </a:cubicBezTo>
                <a:lnTo>
                  <a:pt x="76201" y="857155"/>
                </a:lnTo>
                <a:cubicBezTo>
                  <a:pt x="34116" y="857155"/>
                  <a:pt x="0" y="823039"/>
                  <a:pt x="0" y="7809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66501" y="5123241"/>
            <a:ext cx="5029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Stride</a:t>
            </a:r>
            <a:endParaRPr lang="en-US" sz="1100"/>
          </a:p>
        </p:txBody>
      </p:sp>
      <p:sp>
        <p:nvSpPr>
          <p:cNvPr id="26" name="AutoShape 26"/>
          <p:cNvSpPr/>
          <p:nvPr/>
        </p:nvSpPr>
        <p:spPr>
          <a:xfrm>
            <a:off x="633164" y="5389876"/>
            <a:ext cx="50958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sz="1100"/>
          </a:p>
        </p:txBody>
      </p:sp>
      <p:sp>
        <p:nvSpPr>
          <p:cNvPr id="27" name="Freeform 27"/>
          <p:cNvSpPr/>
          <p:nvPr/>
        </p:nvSpPr>
        <p:spPr>
          <a:xfrm>
            <a:off x="6210279" y="1333230"/>
            <a:ext cx="5600700" cy="3429000"/>
          </a:xfrm>
          <a:custGeom>
            <a:avLst/>
            <a:gdLst/>
            <a:ahLst/>
            <a:cxnLst/>
            <a:rect l="l" t="t" r="r" b="b"/>
            <a:pathLst>
              <a:path w="5600700" h="3429000">
                <a:moveTo>
                  <a:pt x="76192" y="0"/>
                </a:moveTo>
                <a:lnTo>
                  <a:pt x="5524508" y="0"/>
                </a:lnTo>
                <a:cubicBezTo>
                  <a:pt x="5566588" y="0"/>
                  <a:pt x="5600700" y="34112"/>
                  <a:pt x="5600700" y="76192"/>
                </a:cubicBezTo>
                <a:lnTo>
                  <a:pt x="5600700" y="3352808"/>
                </a:lnTo>
                <a:cubicBezTo>
                  <a:pt x="5600700" y="3394888"/>
                  <a:pt x="5566588" y="3429000"/>
                  <a:pt x="5524508" y="3429000"/>
                </a:cubicBezTo>
                <a:lnTo>
                  <a:pt x="76192" y="3429000"/>
                </a:lnTo>
                <a:cubicBezTo>
                  <a:pt x="34112" y="3429000"/>
                  <a:pt x="0" y="3394888"/>
                  <a:pt x="0" y="33528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l="60" r="60"/>
          <a:stretch>
            <a:fillRect/>
          </a:stretch>
        </p:blipFill>
        <p:spPr>
          <a:xfrm>
            <a:off x="6400720" y="2039531"/>
            <a:ext cx="5219700" cy="2019300"/>
          </a:xfrm>
          <a:prstGeom prst="roundRect">
            <a:avLst>
              <a:gd name="adj" fmla="val 1886"/>
            </a:avLst>
          </a:prstGeom>
          <a:ln w="12700">
            <a:noFill/>
            <a:prstDash val="solid"/>
          </a:ln>
        </p:spPr>
      </p:pic>
      <p:sp>
        <p:nvSpPr>
          <p:cNvPr id="29" name="Freeform 29"/>
          <p:cNvSpPr/>
          <p:nvPr/>
        </p:nvSpPr>
        <p:spPr>
          <a:xfrm>
            <a:off x="6210279" y="4915179"/>
            <a:ext cx="5600700" cy="1295400"/>
          </a:xfrm>
          <a:custGeom>
            <a:avLst/>
            <a:gdLst/>
            <a:ahLst/>
            <a:cxnLst/>
            <a:rect l="l" t="t" r="r" b="b"/>
            <a:pathLst>
              <a:path w="5600700" h="1295400">
                <a:moveTo>
                  <a:pt x="76195" y="0"/>
                </a:moveTo>
                <a:lnTo>
                  <a:pt x="5524505" y="0"/>
                </a:lnTo>
                <a:cubicBezTo>
                  <a:pt x="5566559" y="0"/>
                  <a:pt x="5600700" y="34141"/>
                  <a:pt x="5600700" y="76195"/>
                </a:cubicBezTo>
                <a:lnTo>
                  <a:pt x="5600700" y="1219205"/>
                </a:lnTo>
                <a:cubicBezTo>
                  <a:pt x="5600700" y="1261287"/>
                  <a:pt x="5566587" y="1295400"/>
                  <a:pt x="5524505" y="1295400"/>
                </a:cubicBezTo>
                <a:lnTo>
                  <a:pt x="76195" y="1295400"/>
                </a:lnTo>
                <a:cubicBezTo>
                  <a:pt x="34141" y="1295400"/>
                  <a:pt x="0" y="1261259"/>
                  <a:pt x="0" y="1219205"/>
                </a:cubicBezTo>
                <a:lnTo>
                  <a:pt x="0" y="76195"/>
                </a:lnTo>
                <a:cubicBezTo>
                  <a:pt x="0" y="34141"/>
                  <a:pt x="34141" y="0"/>
                  <a:pt x="76195"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423825" y="5143677"/>
            <a:ext cx="191915" cy="178594"/>
          </a:xfrm>
          <a:custGeom>
            <a:avLst/>
            <a:gdLst/>
            <a:ahLst/>
            <a:cxnLst/>
            <a:rect l="l" t="t" r="r" b="b"/>
            <a:pathLst>
              <a:path w="191915" h="178594">
                <a:moveTo>
                  <a:pt x="95957" y="0"/>
                </a:moveTo>
                <a:cubicBezTo>
                  <a:pt x="101426" y="0"/>
                  <a:pt x="106448" y="3014"/>
                  <a:pt x="109055" y="7813"/>
                </a:cubicBezTo>
                <a:lnTo>
                  <a:pt x="189421" y="156642"/>
                </a:lnTo>
                <a:cubicBezTo>
                  <a:pt x="191914" y="161254"/>
                  <a:pt x="191803" y="166836"/>
                  <a:pt x="189123" y="171338"/>
                </a:cubicBezTo>
                <a:cubicBezTo>
                  <a:pt x="186444" y="175840"/>
                  <a:pt x="181570" y="178594"/>
                  <a:pt x="176324" y="178594"/>
                </a:cubicBezTo>
                <a:lnTo>
                  <a:pt x="15590" y="178594"/>
                </a:lnTo>
                <a:cubicBezTo>
                  <a:pt x="10344" y="178594"/>
                  <a:pt x="5508" y="175840"/>
                  <a:pt x="2791" y="171338"/>
                </a:cubicBezTo>
                <a:cubicBezTo>
                  <a:pt x="75" y="166836"/>
                  <a:pt x="0" y="161254"/>
                  <a:pt x="2493" y="156642"/>
                </a:cubicBezTo>
                <a:lnTo>
                  <a:pt x="82859" y="7813"/>
                </a:lnTo>
                <a:cubicBezTo>
                  <a:pt x="85466" y="3014"/>
                  <a:pt x="90488" y="0"/>
                  <a:pt x="95957" y="0"/>
                </a:cubicBezTo>
                <a:close/>
                <a:moveTo>
                  <a:pt x="95957" y="62508"/>
                </a:moveTo>
                <a:cubicBezTo>
                  <a:pt x="91008" y="62508"/>
                  <a:pt x="87028" y="66490"/>
                  <a:pt x="87028" y="71437"/>
                </a:cubicBezTo>
                <a:lnTo>
                  <a:pt x="87028" y="113109"/>
                </a:lnTo>
                <a:cubicBezTo>
                  <a:pt x="87028" y="118058"/>
                  <a:pt x="91008" y="122039"/>
                  <a:pt x="95957" y="122039"/>
                </a:cubicBezTo>
                <a:cubicBezTo>
                  <a:pt x="100906" y="122039"/>
                  <a:pt x="104886" y="118058"/>
                  <a:pt x="104886" y="113109"/>
                </a:cubicBezTo>
                <a:lnTo>
                  <a:pt x="104886" y="71437"/>
                </a:lnTo>
                <a:cubicBezTo>
                  <a:pt x="104886" y="66490"/>
                  <a:pt x="100906" y="62508"/>
                  <a:pt x="95957" y="62508"/>
                </a:cubicBezTo>
                <a:close/>
                <a:moveTo>
                  <a:pt x="105891" y="142875"/>
                </a:moveTo>
                <a:cubicBezTo>
                  <a:pt x="106117" y="139188"/>
                  <a:pt x="104278" y="135679"/>
                  <a:pt x="101117" y="133767"/>
                </a:cubicBezTo>
                <a:cubicBezTo>
                  <a:pt x="97956" y="131855"/>
                  <a:pt x="93995" y="131855"/>
                  <a:pt x="90834" y="133767"/>
                </a:cubicBezTo>
                <a:cubicBezTo>
                  <a:pt x="87673" y="135679"/>
                  <a:pt x="85834" y="139188"/>
                  <a:pt x="86060" y="142875"/>
                </a:cubicBezTo>
                <a:cubicBezTo>
                  <a:pt x="85834" y="146562"/>
                  <a:pt x="87673" y="150071"/>
                  <a:pt x="90834" y="151983"/>
                </a:cubicBezTo>
                <a:cubicBezTo>
                  <a:pt x="93995" y="153895"/>
                  <a:pt x="97956" y="153895"/>
                  <a:pt x="101117" y="151983"/>
                </a:cubicBezTo>
                <a:cubicBezTo>
                  <a:pt x="104278" y="150071"/>
                  <a:pt x="106117" y="146562"/>
                  <a:pt x="105891" y="1428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638845" y="5105614"/>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Causes</a:t>
            </a:r>
            <a:endParaRPr lang="en-US" sz="1100"/>
          </a:p>
        </p:txBody>
      </p:sp>
      <p:sp>
        <p:nvSpPr>
          <p:cNvPr id="32" name="Freeform 32"/>
          <p:cNvSpPr/>
          <p:nvPr/>
        </p:nvSpPr>
        <p:spPr>
          <a:xfrm>
            <a:off x="6400720" y="556276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53102" y="5486577"/>
            <a:ext cx="3511435" cy="26662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Multiple memory transactions</a:t>
            </a:r>
            <a:endParaRPr lang="en-US" sz="1100"/>
          </a:p>
        </p:txBody>
      </p:sp>
      <p:sp>
        <p:nvSpPr>
          <p:cNvPr id="34" name="Freeform 34"/>
          <p:cNvSpPr/>
          <p:nvPr/>
        </p:nvSpPr>
        <p:spPr>
          <a:xfrm>
            <a:off x="6400720" y="586753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553102" y="5791340"/>
            <a:ext cx="3130946" cy="26662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Severe performance degradation</a:t>
            </a:r>
            <a:endParaRPr lang="en-US" sz="1100"/>
          </a:p>
        </p:txBody>
      </p:sp>
      <p:sp>
        <p:nvSpPr>
          <p:cNvPr id="36" name="AutoShape 36"/>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POP CoE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7490" y="664612"/>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Cache Locality</a:t>
            </a:r>
            <a:endParaRPr lang="en-US" sz="1100"/>
          </a:p>
        </p:txBody>
      </p:sp>
      <p:sp>
        <p:nvSpPr>
          <p:cNvPr id="3" name="Freeform 3"/>
          <p:cNvSpPr/>
          <p:nvPr/>
        </p:nvSpPr>
        <p:spPr>
          <a:xfrm>
            <a:off x="317463" y="1111025"/>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07941" y="1301502"/>
            <a:ext cx="53975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Two Types of Locality</a:t>
            </a:r>
            <a:endParaRPr lang="en-US" sz="1100"/>
          </a:p>
        </p:txBody>
      </p:sp>
      <p:sp>
        <p:nvSpPr>
          <p:cNvPr id="5" name="AutoShape 5"/>
          <p:cNvSpPr/>
          <p:nvPr/>
        </p:nvSpPr>
        <p:spPr>
          <a:xfrm>
            <a:off x="507941" y="1650620"/>
            <a:ext cx="537368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Key to improving cache hit rate</a:t>
            </a:r>
            <a:endParaRPr lang="en-US" sz="1100"/>
          </a:p>
        </p:txBody>
      </p:sp>
      <p:sp>
        <p:nvSpPr>
          <p:cNvPr id="6" name="Freeform 6"/>
          <p:cNvSpPr/>
          <p:nvPr/>
        </p:nvSpPr>
        <p:spPr>
          <a:xfrm>
            <a:off x="333259" y="2190339"/>
            <a:ext cx="2762171" cy="4330675"/>
          </a:xfrm>
          <a:custGeom>
            <a:avLst/>
            <a:gdLst/>
            <a:ahLst/>
            <a:cxnLst/>
            <a:rect l="l" t="t" r="r" b="b"/>
            <a:pathLst>
              <a:path w="2762171" h="4330675">
                <a:moveTo>
                  <a:pt x="31593" y="0"/>
                </a:moveTo>
                <a:lnTo>
                  <a:pt x="2698669" y="0"/>
                </a:lnTo>
                <a:cubicBezTo>
                  <a:pt x="2733740" y="0"/>
                  <a:pt x="2762171" y="18292"/>
                  <a:pt x="2762171" y="40857"/>
                </a:cubicBezTo>
                <a:lnTo>
                  <a:pt x="2762171" y="4289819"/>
                </a:lnTo>
                <a:cubicBezTo>
                  <a:pt x="2762171" y="4312383"/>
                  <a:pt x="2733740" y="4330675"/>
                  <a:pt x="2698669" y="4330675"/>
                </a:cubicBezTo>
                <a:lnTo>
                  <a:pt x="31593" y="4330675"/>
                </a:lnTo>
                <a:cubicBezTo>
                  <a:pt x="14144" y="4330675"/>
                  <a:pt x="0" y="4321575"/>
                  <a:pt x="0" y="4310350"/>
                </a:cubicBezTo>
                <a:lnTo>
                  <a:pt x="0" y="20326"/>
                </a:lnTo>
                <a:cubicBezTo>
                  <a:pt x="0" y="9108"/>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333258" y="2190339"/>
            <a:ext cx="45719" cy="4350200"/>
          </a:xfrm>
          <a:custGeom>
            <a:avLst/>
            <a:gdLst/>
            <a:ahLst/>
            <a:cxnLst/>
            <a:rect l="l" t="t" r="r" b="b"/>
            <a:pathLst>
              <a:path w="45719" h="4350200">
                <a:moveTo>
                  <a:pt x="45719" y="0"/>
                </a:moveTo>
                <a:lnTo>
                  <a:pt x="45719" y="0"/>
                </a:lnTo>
                <a:lnTo>
                  <a:pt x="45719" y="4350200"/>
                </a:lnTo>
                <a:lnTo>
                  <a:pt x="45719" y="4350200"/>
                </a:lnTo>
                <a:cubicBezTo>
                  <a:pt x="20469" y="4350200"/>
                  <a:pt x="0" y="4341059"/>
                  <a:pt x="0" y="4329782"/>
                </a:cubicBezTo>
                <a:lnTo>
                  <a:pt x="0" y="20418"/>
                </a:lnTo>
                <a:cubicBezTo>
                  <a:pt x="0" y="9149"/>
                  <a:pt x="20486" y="0"/>
                  <a:pt x="4571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19848" y="2373003"/>
            <a:ext cx="166501" cy="174252"/>
          </a:xfrm>
          <a:custGeom>
            <a:avLst/>
            <a:gdLst/>
            <a:ahLst/>
            <a:cxnLst/>
            <a:rect l="l" t="t" r="r" b="b"/>
            <a:pathLst>
              <a:path w="166501" h="174252">
                <a:moveTo>
                  <a:pt x="143155" y="30912"/>
                </a:moveTo>
                <a:lnTo>
                  <a:pt x="146657" y="34231"/>
                </a:lnTo>
                <a:lnTo>
                  <a:pt x="146657" y="17674"/>
                </a:lnTo>
                <a:cubicBezTo>
                  <a:pt x="146657" y="12185"/>
                  <a:pt x="151091" y="7751"/>
                  <a:pt x="156578" y="7751"/>
                </a:cubicBezTo>
                <a:cubicBezTo>
                  <a:pt x="162067" y="7751"/>
                  <a:pt x="166501" y="12185"/>
                  <a:pt x="166501" y="17674"/>
                </a:cubicBezTo>
                <a:lnTo>
                  <a:pt x="166501" y="57360"/>
                </a:lnTo>
                <a:cubicBezTo>
                  <a:pt x="166501" y="62847"/>
                  <a:pt x="162067" y="67282"/>
                  <a:pt x="156578" y="67282"/>
                </a:cubicBezTo>
                <a:lnTo>
                  <a:pt x="116892" y="67282"/>
                </a:lnTo>
                <a:cubicBezTo>
                  <a:pt x="111405" y="67282"/>
                  <a:pt x="106970" y="62847"/>
                  <a:pt x="106970" y="57360"/>
                </a:cubicBezTo>
                <a:cubicBezTo>
                  <a:pt x="106970" y="51872"/>
                  <a:pt x="111405" y="47439"/>
                  <a:pt x="116892" y="47439"/>
                </a:cubicBezTo>
                <a:lnTo>
                  <a:pt x="131742" y="47439"/>
                </a:lnTo>
                <a:lnTo>
                  <a:pt x="129387" y="45206"/>
                </a:lnTo>
                <a:cubicBezTo>
                  <a:pt x="129326" y="45144"/>
                  <a:pt x="129263" y="45081"/>
                  <a:pt x="129201" y="45020"/>
                </a:cubicBezTo>
                <a:cubicBezTo>
                  <a:pt x="105947" y="21765"/>
                  <a:pt x="68274" y="21765"/>
                  <a:pt x="45020" y="45020"/>
                </a:cubicBezTo>
                <a:cubicBezTo>
                  <a:pt x="21765" y="68274"/>
                  <a:pt x="21765" y="105947"/>
                  <a:pt x="45020" y="129201"/>
                </a:cubicBezTo>
                <a:cubicBezTo>
                  <a:pt x="68274" y="152455"/>
                  <a:pt x="105947" y="152455"/>
                  <a:pt x="129201" y="129201"/>
                </a:cubicBezTo>
                <a:cubicBezTo>
                  <a:pt x="131742" y="126659"/>
                  <a:pt x="134007" y="123961"/>
                  <a:pt x="135991" y="121107"/>
                </a:cubicBezTo>
                <a:cubicBezTo>
                  <a:pt x="139124" y="116613"/>
                  <a:pt x="145324" y="115527"/>
                  <a:pt x="149820" y="118659"/>
                </a:cubicBezTo>
                <a:cubicBezTo>
                  <a:pt x="154317" y="121791"/>
                  <a:pt x="155401" y="127992"/>
                  <a:pt x="152269" y="132488"/>
                </a:cubicBezTo>
                <a:cubicBezTo>
                  <a:pt x="149634" y="136270"/>
                  <a:pt x="146626" y="139867"/>
                  <a:pt x="143247" y="143247"/>
                </a:cubicBezTo>
                <a:cubicBezTo>
                  <a:pt x="112242" y="174252"/>
                  <a:pt x="61980" y="174252"/>
                  <a:pt x="31005" y="143247"/>
                </a:cubicBezTo>
                <a:cubicBezTo>
                  <a:pt x="31" y="112242"/>
                  <a:pt x="0" y="62010"/>
                  <a:pt x="31005" y="31005"/>
                </a:cubicBezTo>
                <a:cubicBezTo>
                  <a:pt x="61980" y="31"/>
                  <a:pt x="112148" y="0"/>
                  <a:pt x="143155" y="3091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06193" y="2349035"/>
            <a:ext cx="2309813"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Temporal</a:t>
            </a:r>
            <a:endParaRPr lang="en-US" sz="1100"/>
          </a:p>
        </p:txBody>
      </p:sp>
      <p:sp>
        <p:nvSpPr>
          <p:cNvPr id="10" name="Freeform 10"/>
          <p:cNvSpPr/>
          <p:nvPr/>
        </p:nvSpPr>
        <p:spPr>
          <a:xfrm>
            <a:off x="507756" y="2761769"/>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34740" y="2698277"/>
            <a:ext cx="238126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Repeatedly accessing the same data</a:t>
            </a:r>
            <a:endParaRPr lang="en-US" sz="1100"/>
          </a:p>
        </p:txBody>
      </p:sp>
      <p:sp>
        <p:nvSpPr>
          <p:cNvPr id="12" name="Freeform 12"/>
          <p:cNvSpPr/>
          <p:nvPr/>
        </p:nvSpPr>
        <p:spPr>
          <a:xfrm>
            <a:off x="507756" y="3047457"/>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4740" y="2983964"/>
            <a:ext cx="1329071" cy="2661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Temporal Locality</a:t>
            </a:r>
            <a:endParaRPr lang="en-US" sz="1100"/>
          </a:p>
        </p:txBody>
      </p:sp>
      <p:sp>
        <p:nvSpPr>
          <p:cNvPr id="14" name="Freeform 14"/>
          <p:cNvSpPr/>
          <p:nvPr/>
        </p:nvSpPr>
        <p:spPr>
          <a:xfrm>
            <a:off x="507756" y="3269653"/>
            <a:ext cx="2428875" cy="349250"/>
          </a:xfrm>
          <a:custGeom>
            <a:avLst/>
            <a:gdLst/>
            <a:ahLst/>
            <a:cxnLst/>
            <a:rect l="l" t="t" r="r" b="b"/>
            <a:pathLst>
              <a:path w="2428875" h="349250">
                <a:moveTo>
                  <a:pt x="63501" y="0"/>
                </a:moveTo>
                <a:lnTo>
                  <a:pt x="2365374" y="0"/>
                </a:lnTo>
                <a:cubicBezTo>
                  <a:pt x="2400445" y="0"/>
                  <a:pt x="2428875" y="28430"/>
                  <a:pt x="2428875" y="63501"/>
                </a:cubicBezTo>
                <a:lnTo>
                  <a:pt x="2428875" y="285749"/>
                </a:lnTo>
                <a:cubicBezTo>
                  <a:pt x="2428875" y="320820"/>
                  <a:pt x="2400445" y="349250"/>
                  <a:pt x="2365374" y="349250"/>
                </a:cubicBezTo>
                <a:lnTo>
                  <a:pt x="63501" y="349250"/>
                </a:lnTo>
                <a:cubicBezTo>
                  <a:pt x="28430" y="349250"/>
                  <a:pt x="0" y="320820"/>
                  <a:pt x="0" y="285749"/>
                </a:cubicBezTo>
                <a:lnTo>
                  <a:pt x="0" y="63501"/>
                </a:lnTo>
                <a:cubicBezTo>
                  <a:pt x="0" y="28430"/>
                  <a:pt x="28430" y="0"/>
                  <a:pt x="63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02964" y="3364857"/>
            <a:ext cx="2293938"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Example: variables reused in a loop</a:t>
            </a:r>
            <a:endParaRPr lang="en-US" sz="1100"/>
          </a:p>
        </p:txBody>
      </p:sp>
      <p:sp>
        <p:nvSpPr>
          <p:cNvPr id="16" name="Freeform 16"/>
          <p:cNvSpPr/>
          <p:nvPr/>
        </p:nvSpPr>
        <p:spPr>
          <a:xfrm>
            <a:off x="3238369" y="2190339"/>
            <a:ext cx="2762171" cy="4350200"/>
          </a:xfrm>
          <a:custGeom>
            <a:avLst/>
            <a:gdLst/>
            <a:ahLst/>
            <a:cxnLst/>
            <a:rect l="l" t="t" r="r" b="b"/>
            <a:pathLst>
              <a:path w="2762171" h="4350200">
                <a:moveTo>
                  <a:pt x="31593" y="0"/>
                </a:moveTo>
                <a:lnTo>
                  <a:pt x="2698669" y="0"/>
                </a:lnTo>
                <a:cubicBezTo>
                  <a:pt x="2733740" y="0"/>
                  <a:pt x="2762171" y="18374"/>
                  <a:pt x="2762171" y="41041"/>
                </a:cubicBezTo>
                <a:lnTo>
                  <a:pt x="2762171" y="4309160"/>
                </a:lnTo>
                <a:cubicBezTo>
                  <a:pt x="2762171" y="4331825"/>
                  <a:pt x="2733740" y="4350200"/>
                  <a:pt x="2698669" y="4350200"/>
                </a:cubicBezTo>
                <a:lnTo>
                  <a:pt x="31593" y="4350200"/>
                </a:lnTo>
                <a:cubicBezTo>
                  <a:pt x="14144" y="4350200"/>
                  <a:pt x="0" y="4341059"/>
                  <a:pt x="0" y="4329782"/>
                </a:cubicBezTo>
                <a:lnTo>
                  <a:pt x="0" y="20418"/>
                </a:lnTo>
                <a:cubicBezTo>
                  <a:pt x="0" y="9149"/>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3238369" y="2190339"/>
            <a:ext cx="51402" cy="4350200"/>
          </a:xfrm>
          <a:custGeom>
            <a:avLst/>
            <a:gdLst/>
            <a:ahLst/>
            <a:cxnLst/>
            <a:rect l="l" t="t" r="r" b="b"/>
            <a:pathLst>
              <a:path w="51402" h="4350200">
                <a:moveTo>
                  <a:pt x="51402" y="0"/>
                </a:moveTo>
                <a:lnTo>
                  <a:pt x="51402" y="0"/>
                </a:lnTo>
                <a:lnTo>
                  <a:pt x="51402" y="4350200"/>
                </a:lnTo>
                <a:lnTo>
                  <a:pt x="51402" y="4350200"/>
                </a:lnTo>
                <a:cubicBezTo>
                  <a:pt x="23014" y="4350200"/>
                  <a:pt x="0" y="4341059"/>
                  <a:pt x="0" y="4329782"/>
                </a:cubicBezTo>
                <a:lnTo>
                  <a:pt x="0" y="20418"/>
                </a:lnTo>
                <a:cubicBezTo>
                  <a:pt x="0" y="9149"/>
                  <a:pt x="23033" y="0"/>
                  <a:pt x="51402"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431749" y="2379948"/>
            <a:ext cx="160703" cy="160331"/>
          </a:xfrm>
          <a:custGeom>
            <a:avLst/>
            <a:gdLst/>
            <a:ahLst/>
            <a:cxnLst/>
            <a:rect l="l" t="t" r="r" b="b"/>
            <a:pathLst>
              <a:path w="160703" h="160331">
                <a:moveTo>
                  <a:pt x="156796" y="126876"/>
                </a:moveTo>
                <a:lnTo>
                  <a:pt x="127031" y="156641"/>
                </a:lnTo>
                <a:cubicBezTo>
                  <a:pt x="124178" y="159494"/>
                  <a:pt x="119930" y="160331"/>
                  <a:pt x="116210" y="158781"/>
                </a:cubicBezTo>
                <a:cubicBezTo>
                  <a:pt x="112489" y="157231"/>
                  <a:pt x="110102" y="153634"/>
                  <a:pt x="110102" y="149633"/>
                </a:cubicBezTo>
                <a:lnTo>
                  <a:pt x="110102" y="129790"/>
                </a:lnTo>
                <a:lnTo>
                  <a:pt x="10884" y="129790"/>
                </a:lnTo>
                <a:cubicBezTo>
                  <a:pt x="5395" y="129790"/>
                  <a:pt x="961" y="125357"/>
                  <a:pt x="961" y="119868"/>
                </a:cubicBezTo>
                <a:cubicBezTo>
                  <a:pt x="961" y="114380"/>
                  <a:pt x="5395" y="109947"/>
                  <a:pt x="10884" y="109947"/>
                </a:cubicBezTo>
                <a:lnTo>
                  <a:pt x="110102" y="109947"/>
                </a:lnTo>
                <a:lnTo>
                  <a:pt x="110102" y="90104"/>
                </a:lnTo>
                <a:cubicBezTo>
                  <a:pt x="110102" y="86103"/>
                  <a:pt x="112520" y="82475"/>
                  <a:pt x="116241" y="80925"/>
                </a:cubicBezTo>
                <a:cubicBezTo>
                  <a:pt x="119961" y="79375"/>
                  <a:pt x="124209" y="80243"/>
                  <a:pt x="127062" y="83065"/>
                </a:cubicBezTo>
                <a:lnTo>
                  <a:pt x="156827" y="112830"/>
                </a:lnTo>
                <a:cubicBezTo>
                  <a:pt x="160703" y="116706"/>
                  <a:pt x="160703" y="123000"/>
                  <a:pt x="156827" y="126876"/>
                </a:cubicBezTo>
                <a:close/>
                <a:moveTo>
                  <a:pt x="3876" y="47501"/>
                </a:moveTo>
                <a:cubicBezTo>
                  <a:pt x="0" y="43625"/>
                  <a:pt x="0" y="37331"/>
                  <a:pt x="3876" y="33455"/>
                </a:cubicBezTo>
                <a:lnTo>
                  <a:pt x="33641" y="3690"/>
                </a:lnTo>
                <a:cubicBezTo>
                  <a:pt x="36494" y="836"/>
                  <a:pt x="40742" y="0"/>
                  <a:pt x="44462" y="1550"/>
                </a:cubicBezTo>
                <a:cubicBezTo>
                  <a:pt x="48183" y="3100"/>
                  <a:pt x="50570" y="6728"/>
                  <a:pt x="50570" y="10729"/>
                </a:cubicBezTo>
                <a:lnTo>
                  <a:pt x="50570" y="30572"/>
                </a:lnTo>
                <a:lnTo>
                  <a:pt x="149788" y="30572"/>
                </a:lnTo>
                <a:cubicBezTo>
                  <a:pt x="155277" y="30572"/>
                  <a:pt x="159711" y="35005"/>
                  <a:pt x="159711" y="40494"/>
                </a:cubicBezTo>
                <a:cubicBezTo>
                  <a:pt x="159711" y="45982"/>
                  <a:pt x="155277" y="50415"/>
                  <a:pt x="149788" y="50415"/>
                </a:cubicBezTo>
                <a:lnTo>
                  <a:pt x="50570" y="50415"/>
                </a:lnTo>
                <a:lnTo>
                  <a:pt x="50570" y="70258"/>
                </a:lnTo>
                <a:cubicBezTo>
                  <a:pt x="50570" y="74259"/>
                  <a:pt x="48152" y="77887"/>
                  <a:pt x="44431" y="79437"/>
                </a:cubicBezTo>
                <a:cubicBezTo>
                  <a:pt x="40711" y="80987"/>
                  <a:pt x="36463" y="80119"/>
                  <a:pt x="33610" y="77297"/>
                </a:cubicBezTo>
                <a:lnTo>
                  <a:pt x="3845" y="47532"/>
                </a:ln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3611303" y="2349035"/>
            <a:ext cx="2309813"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Spatial</a:t>
            </a:r>
            <a:endParaRPr lang="en-US" sz="1100"/>
          </a:p>
        </p:txBody>
      </p:sp>
      <p:sp>
        <p:nvSpPr>
          <p:cNvPr id="20" name="Freeform 20"/>
          <p:cNvSpPr/>
          <p:nvPr/>
        </p:nvSpPr>
        <p:spPr>
          <a:xfrm>
            <a:off x="3412866" y="2761769"/>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3539851" y="2698277"/>
            <a:ext cx="1694936"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Accessing nearby data</a:t>
            </a:r>
            <a:endParaRPr lang="en-US" sz="1100"/>
          </a:p>
        </p:txBody>
      </p:sp>
      <p:sp>
        <p:nvSpPr>
          <p:cNvPr id="22" name="Freeform 22"/>
          <p:cNvSpPr/>
          <p:nvPr/>
        </p:nvSpPr>
        <p:spPr>
          <a:xfrm>
            <a:off x="3412866" y="3047457"/>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539851" y="2983964"/>
            <a:ext cx="1460024" cy="22224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Spatial Locality</a:t>
            </a:r>
            <a:endParaRPr lang="en-US" sz="1100"/>
          </a:p>
        </p:txBody>
      </p:sp>
      <p:sp>
        <p:nvSpPr>
          <p:cNvPr id="24" name="Freeform 24"/>
          <p:cNvSpPr/>
          <p:nvPr/>
        </p:nvSpPr>
        <p:spPr>
          <a:xfrm>
            <a:off x="3412866" y="3269653"/>
            <a:ext cx="2428875" cy="349250"/>
          </a:xfrm>
          <a:custGeom>
            <a:avLst/>
            <a:gdLst/>
            <a:ahLst/>
            <a:cxnLst/>
            <a:rect l="l" t="t" r="r" b="b"/>
            <a:pathLst>
              <a:path w="2428875" h="349250">
                <a:moveTo>
                  <a:pt x="63501" y="0"/>
                </a:moveTo>
                <a:lnTo>
                  <a:pt x="2365374" y="0"/>
                </a:lnTo>
                <a:cubicBezTo>
                  <a:pt x="2400445" y="0"/>
                  <a:pt x="2428875" y="28430"/>
                  <a:pt x="2428875" y="63501"/>
                </a:cubicBezTo>
                <a:lnTo>
                  <a:pt x="2428875" y="285749"/>
                </a:lnTo>
                <a:cubicBezTo>
                  <a:pt x="2428875" y="320820"/>
                  <a:pt x="2400445" y="349250"/>
                  <a:pt x="2365374" y="349250"/>
                </a:cubicBezTo>
                <a:lnTo>
                  <a:pt x="63501" y="349250"/>
                </a:lnTo>
                <a:cubicBezTo>
                  <a:pt x="28430" y="349250"/>
                  <a:pt x="0" y="320820"/>
                  <a:pt x="0" y="285749"/>
                </a:cubicBezTo>
                <a:lnTo>
                  <a:pt x="0" y="63501"/>
                </a:lnTo>
                <a:cubicBezTo>
                  <a:pt x="0" y="28430"/>
                  <a:pt x="28430" y="0"/>
                  <a:pt x="63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3508074" y="3364857"/>
            <a:ext cx="2293938"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Example: sequentially accessing array elements</a:t>
            </a:r>
            <a:endParaRPr lang="en-US" sz="1100"/>
          </a:p>
        </p:txBody>
      </p:sp>
      <p:sp>
        <p:nvSpPr>
          <p:cNvPr id="26" name="Freeform 26"/>
          <p:cNvSpPr/>
          <p:nvPr/>
        </p:nvSpPr>
        <p:spPr>
          <a:xfrm>
            <a:off x="6131494" y="470318"/>
            <a:ext cx="5683250" cy="6131935"/>
          </a:xfrm>
          <a:custGeom>
            <a:avLst/>
            <a:gdLst/>
            <a:ahLst/>
            <a:cxnLst/>
            <a:rect l="l" t="t" r="r" b="b"/>
            <a:pathLst>
              <a:path w="5683250" h="6131935">
                <a:moveTo>
                  <a:pt x="63482" y="0"/>
                </a:moveTo>
                <a:lnTo>
                  <a:pt x="5619768" y="0"/>
                </a:lnTo>
                <a:cubicBezTo>
                  <a:pt x="5654827" y="0"/>
                  <a:pt x="5683250" y="24950"/>
                  <a:pt x="5683250" y="55729"/>
                </a:cubicBezTo>
                <a:lnTo>
                  <a:pt x="5683250" y="6076206"/>
                </a:lnTo>
                <a:cubicBezTo>
                  <a:pt x="5683250" y="6106984"/>
                  <a:pt x="5654827" y="6131935"/>
                  <a:pt x="5619768" y="6131935"/>
                </a:cubicBezTo>
                <a:lnTo>
                  <a:pt x="63482" y="6131935"/>
                </a:lnTo>
                <a:cubicBezTo>
                  <a:pt x="28423" y="6131935"/>
                  <a:pt x="0" y="6106984"/>
                  <a:pt x="0" y="6076206"/>
                </a:cubicBezTo>
                <a:lnTo>
                  <a:pt x="0" y="55729"/>
                </a:lnTo>
                <a:cubicBezTo>
                  <a:pt x="0" y="24971"/>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7" name="Picture 27"/>
          <p:cNvPicPr>
            <a:picLocks noChangeAspect="1"/>
          </p:cNvPicPr>
          <p:nvPr/>
        </p:nvPicPr>
        <p:blipFill>
          <a:blip r:embed="rId1"/>
          <a:srcRect/>
          <a:stretch>
            <a:fillRect/>
          </a:stretch>
        </p:blipFill>
        <p:spPr>
          <a:xfrm>
            <a:off x="6185760" y="524288"/>
            <a:ext cx="3918952" cy="5216988"/>
          </a:xfrm>
          <a:prstGeom prst="roundRect">
            <a:avLst>
              <a:gd name="adj" fmla="val 634"/>
            </a:avLst>
          </a:prstGeom>
          <a:ln w="12700">
            <a:noFill/>
            <a:prstDash val="solid"/>
          </a:ln>
        </p:spPr>
      </p:pic>
      <p:sp>
        <p:nvSpPr>
          <p:cNvPr id="28" name="Freeform 28"/>
          <p:cNvSpPr/>
          <p:nvPr/>
        </p:nvSpPr>
        <p:spPr>
          <a:xfrm>
            <a:off x="6191237" y="5822514"/>
            <a:ext cx="5683250" cy="698500"/>
          </a:xfrm>
          <a:custGeom>
            <a:avLst/>
            <a:gdLst/>
            <a:ahLst/>
            <a:cxnLst/>
            <a:rect l="l" t="t" r="r" b="b"/>
            <a:pathLst>
              <a:path w="5683250" h="698500">
                <a:moveTo>
                  <a:pt x="63501" y="0"/>
                </a:moveTo>
                <a:lnTo>
                  <a:pt x="5619749" y="0"/>
                </a:lnTo>
                <a:cubicBezTo>
                  <a:pt x="5654820" y="0"/>
                  <a:pt x="5683250" y="28430"/>
                  <a:pt x="5683250" y="63501"/>
                </a:cubicBezTo>
                <a:lnTo>
                  <a:pt x="5683250" y="634999"/>
                </a:lnTo>
                <a:cubicBezTo>
                  <a:pt x="5683250" y="670070"/>
                  <a:pt x="5654820" y="698500"/>
                  <a:pt x="5619749" y="698500"/>
                </a:cubicBezTo>
                <a:lnTo>
                  <a:pt x="63501" y="698500"/>
                </a:lnTo>
                <a:cubicBezTo>
                  <a:pt x="28430" y="698500"/>
                  <a:pt x="0" y="670070"/>
                  <a:pt x="0" y="634999"/>
                </a:cubicBezTo>
                <a:lnTo>
                  <a:pt x="0" y="63501"/>
                </a:lnTo>
                <a:cubicBezTo>
                  <a:pt x="0" y="28430"/>
                  <a:pt x="28430" y="0"/>
                  <a:pt x="635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6336928" y="6114011"/>
            <a:ext cx="190500" cy="190500"/>
          </a:xfrm>
          <a:custGeom>
            <a:avLst/>
            <a:gdLst/>
            <a:ahLst/>
            <a:cxnLst/>
            <a:rect l="l" t="t" r="r" b="b"/>
            <a:pathLst>
              <a:path w="190500" h="190500">
                <a:moveTo>
                  <a:pt x="166688" y="95250"/>
                </a:moveTo>
                <a:cubicBezTo>
                  <a:pt x="166688" y="55823"/>
                  <a:pt x="134677" y="23813"/>
                  <a:pt x="95250" y="23813"/>
                </a:cubicBezTo>
                <a:cubicBezTo>
                  <a:pt x="55823" y="23813"/>
                  <a:pt x="23812" y="55823"/>
                  <a:pt x="23812" y="95250"/>
                </a:cubicBezTo>
                <a:cubicBezTo>
                  <a:pt x="23812" y="134677"/>
                  <a:pt x="55823" y="166687"/>
                  <a:pt x="95250" y="166687"/>
                </a:cubicBezTo>
                <a:cubicBezTo>
                  <a:pt x="134677" y="166687"/>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7" y="125016"/>
                  <a:pt x="125016" y="111677"/>
                  <a:pt x="125016" y="95250"/>
                </a:cubicBezTo>
                <a:cubicBezTo>
                  <a:pt x="125016" y="78823"/>
                  <a:pt x="111677" y="65484"/>
                  <a:pt x="95250" y="65484"/>
                </a:cubicBezTo>
                <a:cubicBezTo>
                  <a:pt x="78823" y="65484"/>
                  <a:pt x="65484" y="78823"/>
                  <a:pt x="65484" y="95250"/>
                </a:cubicBezTo>
                <a:cubicBezTo>
                  <a:pt x="65484" y="111677"/>
                  <a:pt x="78823" y="125016"/>
                  <a:pt x="95250" y="125016"/>
                </a:cubicBezTo>
                <a:close/>
                <a:moveTo>
                  <a:pt x="95250" y="41673"/>
                </a:moveTo>
                <a:cubicBezTo>
                  <a:pt x="124821" y="41673"/>
                  <a:pt x="148827" y="65679"/>
                  <a:pt x="148827" y="95250"/>
                </a:cubicBezTo>
                <a:cubicBezTo>
                  <a:pt x="148827" y="124821"/>
                  <a:pt x="124821" y="148827"/>
                  <a:pt x="95250" y="148827"/>
                </a:cubicBezTo>
                <a:cubicBezTo>
                  <a:pt x="65679" y="148827"/>
                  <a:pt x="41673" y="124821"/>
                  <a:pt x="41673" y="95250"/>
                </a:cubicBezTo>
                <a:cubicBezTo>
                  <a:pt x="41673" y="65679"/>
                  <a:pt x="65679" y="41673"/>
                  <a:pt x="95250" y="41673"/>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646436" y="5975841"/>
            <a:ext cx="1595437" cy="1587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Optimization Goal</a:t>
            </a:r>
            <a:endParaRPr lang="en-US" sz="1100"/>
          </a:p>
        </p:txBody>
      </p:sp>
      <p:sp>
        <p:nvSpPr>
          <p:cNvPr id="31" name="AutoShape 31"/>
          <p:cNvSpPr/>
          <p:nvPr/>
        </p:nvSpPr>
        <p:spPr>
          <a:xfrm>
            <a:off x="6646437" y="6216447"/>
            <a:ext cx="1902997"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Improve cache hit rate</a:t>
            </a:r>
            <a:endParaRPr lang="en-US" sz="1100"/>
          </a:p>
        </p:txBody>
      </p:sp>
      <p:sp>
        <p:nvSpPr>
          <p:cNvPr id="32" name="AutoShape 32"/>
          <p:cNvSpPr/>
          <p:nvPr/>
        </p:nvSpPr>
        <p:spPr>
          <a:xfrm>
            <a:off x="202210" y="6666849"/>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Medium - InterviewNoodle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8" y="59042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Reduction Kernel Problem Definition</a:t>
            </a:r>
            <a:endParaRPr lang="en-US" sz="1100"/>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1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Reduction Example</a:t>
            </a:r>
            <a:endParaRPr lang="en-US" sz="1100"/>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Compute the sum of array elements</a:t>
            </a:r>
            <a:endParaRPr lang="en-US" sz="1100"/>
          </a:p>
        </p:txBody>
      </p:sp>
      <p:sp>
        <p:nvSpPr>
          <p:cNvPr id="6" name="Freeform 6"/>
          <p:cNvSpPr/>
          <p:nvPr/>
        </p:nvSpPr>
        <p:spPr>
          <a:xfrm>
            <a:off x="380956" y="2628407"/>
            <a:ext cx="5600700" cy="1866900"/>
          </a:xfrm>
          <a:custGeom>
            <a:avLst/>
            <a:gdLst/>
            <a:ahLst/>
            <a:cxnLst/>
            <a:rect l="l" t="t" r="r" b="b"/>
            <a:pathLst>
              <a:path w="5600700" h="1866900">
                <a:moveTo>
                  <a:pt x="76208" y="0"/>
                </a:moveTo>
                <a:lnTo>
                  <a:pt x="5524492" y="0"/>
                </a:lnTo>
                <a:cubicBezTo>
                  <a:pt x="5566581" y="0"/>
                  <a:pt x="5600700" y="34119"/>
                  <a:pt x="5600700" y="76208"/>
                </a:cubicBezTo>
                <a:lnTo>
                  <a:pt x="5600700" y="1790692"/>
                </a:lnTo>
                <a:cubicBezTo>
                  <a:pt x="5600700" y="1832781"/>
                  <a:pt x="5566581" y="1866900"/>
                  <a:pt x="5524492" y="1866900"/>
                </a:cubicBezTo>
                <a:lnTo>
                  <a:pt x="76208" y="1866900"/>
                </a:lnTo>
                <a:cubicBezTo>
                  <a:pt x="34119" y="1866900"/>
                  <a:pt x="0" y="1832781"/>
                  <a:pt x="0" y="1790692"/>
                </a:cubicBezTo>
                <a:lnTo>
                  <a:pt x="0" y="76208"/>
                </a:lnTo>
                <a:cubicBezTo>
                  <a:pt x="0" y="34146"/>
                  <a:pt x="34146"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Problem Definition</a:t>
            </a:r>
            <a:endParaRPr lang="en-US" sz="1100"/>
          </a:p>
        </p:txBody>
      </p:sp>
      <p:sp>
        <p:nvSpPr>
          <p:cNvPr id="8" name="Freeform 8"/>
          <p:cNvSpPr/>
          <p:nvPr/>
        </p:nvSpPr>
        <p:spPr>
          <a:xfrm>
            <a:off x="590352" y="3237942"/>
            <a:ext cx="5200555" cy="1066800"/>
          </a:xfrm>
          <a:custGeom>
            <a:avLst/>
            <a:gdLst/>
            <a:ahLst/>
            <a:cxnLst/>
            <a:rect l="l" t="t" r="r" b="b"/>
            <a:pathLst>
              <a:path w="5200555" h="1066800">
                <a:moveTo>
                  <a:pt x="37910" y="0"/>
                </a:moveTo>
                <a:lnTo>
                  <a:pt x="5124353" y="0"/>
                </a:lnTo>
                <a:cubicBezTo>
                  <a:pt x="5166439" y="0"/>
                  <a:pt x="5200555" y="34117"/>
                  <a:pt x="5200555" y="76203"/>
                </a:cubicBezTo>
                <a:lnTo>
                  <a:pt x="5200555" y="990597"/>
                </a:lnTo>
                <a:cubicBezTo>
                  <a:pt x="5200555" y="1032683"/>
                  <a:pt x="5166439" y="1066800"/>
                  <a:pt x="5124353" y="1066800"/>
                </a:cubicBezTo>
                <a:lnTo>
                  <a:pt x="37910" y="1066800"/>
                </a:lnTo>
                <a:cubicBezTo>
                  <a:pt x="16974" y="1066800"/>
                  <a:pt x="0" y="1049826"/>
                  <a:pt x="0" y="10288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90352" y="3237942"/>
            <a:ext cx="37909" cy="1066800"/>
          </a:xfrm>
          <a:custGeom>
            <a:avLst/>
            <a:gdLst/>
            <a:ahLst/>
            <a:cxnLst/>
            <a:rect l="l" t="t" r="r" b="b"/>
            <a:pathLst>
              <a:path w="37909" h="1066800">
                <a:moveTo>
                  <a:pt x="37910" y="0"/>
                </a:moveTo>
                <a:lnTo>
                  <a:pt x="37910" y="0"/>
                </a:lnTo>
                <a:lnTo>
                  <a:pt x="37910" y="1066800"/>
                </a:lnTo>
                <a:lnTo>
                  <a:pt x="37910" y="1066800"/>
                </a:lnTo>
                <a:cubicBezTo>
                  <a:pt x="16974" y="1066800"/>
                  <a:pt x="0" y="1049826"/>
                  <a:pt x="0" y="10288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61689" y="3390323"/>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sum(A)</a:t>
            </a:r>
            <a:endParaRPr lang="en-US" sz="1100"/>
          </a:p>
        </p:txBody>
      </p:sp>
      <p:sp>
        <p:nvSpPr>
          <p:cNvPr id="11" name="AutoShape 11"/>
          <p:cNvSpPr/>
          <p:nvPr/>
        </p:nvSpPr>
        <p:spPr>
          <a:xfrm>
            <a:off x="761689" y="3695086"/>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Input: array A</a:t>
            </a:r>
            <a:endParaRPr lang="en-US" sz="1100"/>
          </a:p>
        </p:txBody>
      </p:sp>
      <p:sp>
        <p:nvSpPr>
          <p:cNvPr id="12" name="AutoShape 12"/>
          <p:cNvSpPr/>
          <p:nvPr/>
        </p:nvSpPr>
        <p:spPr>
          <a:xfrm>
            <a:off x="761689" y="3923658"/>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Output: A[0] + A[1] + ... + A[n-1]</a:t>
            </a:r>
            <a:endParaRPr lang="en-US" sz="1100"/>
          </a:p>
        </p:txBody>
      </p:sp>
      <p:sp>
        <p:nvSpPr>
          <p:cNvPr id="13" name="Freeform 13"/>
          <p:cNvSpPr/>
          <p:nvPr/>
        </p:nvSpPr>
        <p:spPr>
          <a:xfrm>
            <a:off x="380956" y="4647437"/>
            <a:ext cx="5600700" cy="1905000"/>
          </a:xfrm>
          <a:custGeom>
            <a:avLst/>
            <a:gdLst/>
            <a:ahLst/>
            <a:cxnLst/>
            <a:rect l="l" t="t" r="r" b="b"/>
            <a:pathLst>
              <a:path w="5600700" h="1905000">
                <a:moveTo>
                  <a:pt x="76200" y="0"/>
                </a:moveTo>
                <a:lnTo>
                  <a:pt x="5524500" y="0"/>
                </a:lnTo>
                <a:cubicBezTo>
                  <a:pt x="5566556" y="0"/>
                  <a:pt x="5600700" y="34144"/>
                  <a:pt x="5600700" y="76200"/>
                </a:cubicBezTo>
                <a:lnTo>
                  <a:pt x="5600700" y="1828800"/>
                </a:lnTo>
                <a:cubicBezTo>
                  <a:pt x="5600700" y="1870856"/>
                  <a:pt x="5566556" y="1905000"/>
                  <a:pt x="5524500" y="1905000"/>
                </a:cubicBezTo>
                <a:lnTo>
                  <a:pt x="76200" y="1905000"/>
                </a:lnTo>
                <a:cubicBezTo>
                  <a:pt x="34144" y="1905000"/>
                  <a:pt x="0" y="1870856"/>
                  <a:pt x="0" y="1828800"/>
                </a:cubicBezTo>
                <a:lnTo>
                  <a:pt x="0" y="76200"/>
                </a:lnTo>
                <a:cubicBezTo>
                  <a:pt x="0" y="34144"/>
                  <a:pt x="34144" y="0"/>
                  <a:pt x="7620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09521" y="483788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Problems with the Naive Approach</a:t>
            </a:r>
            <a:endParaRPr lang="en-US" sz="1100"/>
          </a:p>
        </p:txBody>
      </p:sp>
      <p:sp>
        <p:nvSpPr>
          <p:cNvPr id="15" name="Freeform 15"/>
          <p:cNvSpPr/>
          <p:nvPr/>
        </p:nvSpPr>
        <p:spPr>
          <a:xfrm>
            <a:off x="571396" y="53331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1837" y="5256962"/>
            <a:ext cx="3779478" cy="30412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Each thread writes to global memory</a:t>
            </a:r>
            <a:endParaRPr lang="en-US" sz="1100"/>
          </a:p>
        </p:txBody>
      </p:sp>
      <p:sp>
        <p:nvSpPr>
          <p:cNvPr id="17" name="AutoShape 17"/>
          <p:cNvSpPr/>
          <p:nvPr/>
        </p:nvSpPr>
        <p:spPr>
          <a:xfrm>
            <a:off x="761837" y="5523598"/>
            <a:ext cx="2791435" cy="26642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Frequent global memory accesses</a:t>
            </a:r>
            <a:endParaRPr lang="en-US" sz="1100"/>
          </a:p>
        </p:txBody>
      </p:sp>
      <p:sp>
        <p:nvSpPr>
          <p:cNvPr id="18" name="Freeform 18"/>
          <p:cNvSpPr/>
          <p:nvPr/>
        </p:nvSpPr>
        <p:spPr>
          <a:xfrm>
            <a:off x="571396" y="594261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61837" y="5866422"/>
            <a:ext cx="2239113" cy="24766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Excessive memory accesses</a:t>
            </a:r>
            <a:endParaRPr lang="en-US" sz="1100"/>
          </a:p>
        </p:txBody>
      </p:sp>
      <p:sp>
        <p:nvSpPr>
          <p:cNvPr id="20" name="AutoShape 20"/>
          <p:cNvSpPr/>
          <p:nvPr/>
        </p:nvSpPr>
        <p:spPr>
          <a:xfrm>
            <a:off x="761837" y="6133048"/>
            <a:ext cx="3159650" cy="26642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Becomes a performance bottleneck</a:t>
            </a:r>
            <a:endParaRPr lang="en-US" sz="1100"/>
          </a:p>
        </p:txBody>
      </p:sp>
      <p:sp>
        <p:nvSpPr>
          <p:cNvPr id="21" name="Freeform 21"/>
          <p:cNvSpPr/>
          <p:nvPr/>
        </p:nvSpPr>
        <p:spPr>
          <a:xfrm>
            <a:off x="6210279" y="1333230"/>
            <a:ext cx="5600700" cy="3886200"/>
          </a:xfrm>
          <a:custGeom>
            <a:avLst/>
            <a:gdLst/>
            <a:ahLst/>
            <a:cxnLst/>
            <a:rect l="l" t="t" r="r" b="b"/>
            <a:pathLst>
              <a:path w="5600700" h="3886200">
                <a:moveTo>
                  <a:pt x="76208" y="0"/>
                </a:moveTo>
                <a:lnTo>
                  <a:pt x="5524492" y="0"/>
                </a:lnTo>
                <a:cubicBezTo>
                  <a:pt x="5566580" y="0"/>
                  <a:pt x="5600700" y="34120"/>
                  <a:pt x="5600700" y="76208"/>
                </a:cubicBezTo>
                <a:lnTo>
                  <a:pt x="5600700" y="3809992"/>
                </a:lnTo>
                <a:cubicBezTo>
                  <a:pt x="5600700" y="3852080"/>
                  <a:pt x="5566580" y="3886200"/>
                  <a:pt x="5524492" y="3886200"/>
                </a:cubicBezTo>
                <a:lnTo>
                  <a:pt x="76208" y="3886200"/>
                </a:lnTo>
                <a:cubicBezTo>
                  <a:pt x="34120" y="3886200"/>
                  <a:pt x="0" y="3852080"/>
                  <a:pt x="0" y="38099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80" r="80"/>
          <a:stretch>
            <a:fillRect/>
          </a:stretch>
        </p:blipFill>
        <p:spPr>
          <a:xfrm>
            <a:off x="6400720" y="1806820"/>
            <a:ext cx="5219700" cy="2943225"/>
          </a:xfrm>
          <a:prstGeom prst="roundRect">
            <a:avLst>
              <a:gd name="adj" fmla="val 1294"/>
            </a:avLst>
          </a:prstGeom>
          <a:ln w="12700">
            <a:noFill/>
            <a:prstDash val="solid"/>
          </a:ln>
        </p:spPr>
      </p:pic>
      <p:sp>
        <p:nvSpPr>
          <p:cNvPr id="23" name="Freeform 23"/>
          <p:cNvSpPr/>
          <p:nvPr/>
        </p:nvSpPr>
        <p:spPr>
          <a:xfrm>
            <a:off x="6219757" y="5380768"/>
            <a:ext cx="5581555" cy="1161955"/>
          </a:xfrm>
          <a:custGeom>
            <a:avLst/>
            <a:gdLst/>
            <a:ahLst/>
            <a:cxnLst/>
            <a:rect l="l" t="t" r="r" b="b"/>
            <a:pathLst>
              <a:path w="5581555" h="1161955">
                <a:moveTo>
                  <a:pt x="76201" y="0"/>
                </a:moveTo>
                <a:lnTo>
                  <a:pt x="5505353" y="0"/>
                </a:lnTo>
                <a:cubicBezTo>
                  <a:pt x="5547439" y="0"/>
                  <a:pt x="5581555" y="34116"/>
                  <a:pt x="5581555" y="76201"/>
                </a:cubicBezTo>
                <a:lnTo>
                  <a:pt x="5581555" y="1085753"/>
                </a:lnTo>
                <a:cubicBezTo>
                  <a:pt x="5581555" y="1127839"/>
                  <a:pt x="5547439" y="1161955"/>
                  <a:pt x="5505353" y="1161955"/>
                </a:cubicBezTo>
                <a:lnTo>
                  <a:pt x="76201" y="1161955"/>
                </a:lnTo>
                <a:cubicBezTo>
                  <a:pt x="34116" y="1161955"/>
                  <a:pt x="0" y="1127839"/>
                  <a:pt x="0" y="10857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343517" y="5542629"/>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Reduction Operation</a:t>
            </a:r>
            <a:endParaRPr lang="en-US" sz="1100"/>
          </a:p>
        </p:txBody>
      </p:sp>
      <p:sp>
        <p:nvSpPr>
          <p:cNvPr id="25" name="AutoShape 25"/>
          <p:cNvSpPr/>
          <p:nvPr/>
        </p:nvSpPr>
        <p:spPr>
          <a:xfrm>
            <a:off x="6338754" y="5847392"/>
            <a:ext cx="534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A[0] ⊕ A[1] ⊕ A[2] ⊕ ... ⊕ A[n-1]</a:t>
            </a:r>
            <a:endParaRPr lang="en-US" sz="1100"/>
          </a:p>
        </p:txBody>
      </p:sp>
      <p:sp>
        <p:nvSpPr>
          <p:cNvPr id="26" name="AutoShape 26"/>
          <p:cNvSpPr/>
          <p:nvPr/>
        </p:nvSpPr>
        <p:spPr>
          <a:xfrm>
            <a:off x="6348279" y="6190292"/>
            <a:ext cx="532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 can be +, ×, max, min, etc.</a:t>
            </a:r>
            <a:endParaRPr lang="en-US" sz="1100"/>
          </a:p>
        </p:txBody>
      </p:sp>
      <p:sp>
        <p:nvSpPr>
          <p:cNvPr id="27" name="AutoShape 27"/>
          <p:cNvSpPr/>
          <p:nvPr/>
        </p:nvSpPr>
        <p:spPr>
          <a:xfrm>
            <a:off x="314281" y="6628256"/>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ENCCS CUDA Training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9" y="58530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Optimizing Reduction with Shared Memory</a:t>
            </a:r>
            <a:endParaRPr lang="en-US" sz="1100"/>
          </a:p>
        </p:txBody>
      </p:sp>
      <p:sp>
        <p:nvSpPr>
          <p:cNvPr id="3" name="Freeform 3"/>
          <p:cNvSpPr/>
          <p:nvPr/>
        </p:nvSpPr>
        <p:spPr>
          <a:xfrm>
            <a:off x="380956" y="1142795"/>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0956"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71396"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523771"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AutoShape 7"/>
          <p:cNvSpPr/>
          <p:nvPr/>
        </p:nvSpPr>
        <p:spPr>
          <a:xfrm>
            <a:off x="1066602" y="1580759"/>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Load data</a:t>
            </a:r>
            <a:endParaRPr lang="en-US" sz="1100"/>
          </a:p>
        </p:txBody>
      </p:sp>
      <p:sp>
        <p:nvSpPr>
          <p:cNvPr id="8" name="AutoShape 8"/>
          <p:cNvSpPr/>
          <p:nvPr/>
        </p:nvSpPr>
        <p:spPr>
          <a:xfrm>
            <a:off x="571396"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100"/>
          </a:p>
        </p:txBody>
      </p:sp>
      <p:sp>
        <p:nvSpPr>
          <p:cNvPr id="9" name="Freeform 9"/>
          <p:cNvSpPr/>
          <p:nvPr/>
        </p:nvSpPr>
        <p:spPr>
          <a:xfrm>
            <a:off x="4241750"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432190"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4384565"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2" name="AutoShape 12"/>
          <p:cNvSpPr/>
          <p:nvPr/>
        </p:nvSpPr>
        <p:spPr>
          <a:xfrm>
            <a:off x="4927395" y="1580759"/>
            <a:ext cx="2491557"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Reduction computation</a:t>
            </a:r>
            <a:endParaRPr lang="en-US" sz="1100"/>
          </a:p>
        </p:txBody>
      </p:sp>
      <p:sp>
        <p:nvSpPr>
          <p:cNvPr id="13" name="AutoShape 13"/>
          <p:cNvSpPr/>
          <p:nvPr/>
        </p:nvSpPr>
        <p:spPr>
          <a:xfrm>
            <a:off x="4432190"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reduction within shared memory</a:t>
            </a:r>
            <a:endParaRPr lang="en-US" sz="1100"/>
          </a:p>
        </p:txBody>
      </p:sp>
      <p:sp>
        <p:nvSpPr>
          <p:cNvPr id="14" name="Freeform 14"/>
          <p:cNvSpPr/>
          <p:nvPr/>
        </p:nvSpPr>
        <p:spPr>
          <a:xfrm>
            <a:off x="8102544"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292985"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8245360"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7" name="AutoShape 17"/>
          <p:cNvSpPr/>
          <p:nvPr/>
        </p:nvSpPr>
        <p:spPr>
          <a:xfrm>
            <a:off x="8788189" y="1580759"/>
            <a:ext cx="2068009"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Write back result</a:t>
            </a:r>
            <a:endParaRPr lang="en-US" sz="1100"/>
          </a:p>
        </p:txBody>
      </p:sp>
      <p:sp>
        <p:nvSpPr>
          <p:cNvPr id="18" name="AutoShape 18"/>
          <p:cNvSpPr/>
          <p:nvPr/>
        </p:nvSpPr>
        <p:spPr>
          <a:xfrm>
            <a:off x="8292985"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Final write to global memory</a:t>
            </a:r>
            <a:endParaRPr lang="en-US" sz="1100"/>
          </a:p>
        </p:txBody>
      </p:sp>
      <p:sp>
        <p:nvSpPr>
          <p:cNvPr id="19" name="Freeform 19"/>
          <p:cNvSpPr/>
          <p:nvPr/>
        </p:nvSpPr>
        <p:spPr>
          <a:xfrm>
            <a:off x="380956" y="2590279"/>
            <a:ext cx="11430000" cy="2705100"/>
          </a:xfrm>
          <a:custGeom>
            <a:avLst/>
            <a:gdLst/>
            <a:ahLst/>
            <a:cxnLst/>
            <a:rect l="l" t="t" r="r" b="b"/>
            <a:pathLst>
              <a:path w="11430000" h="2705100">
                <a:moveTo>
                  <a:pt x="76203" y="0"/>
                </a:moveTo>
                <a:lnTo>
                  <a:pt x="11353797" y="0"/>
                </a:lnTo>
                <a:cubicBezTo>
                  <a:pt x="11395883" y="0"/>
                  <a:pt x="11430000" y="34117"/>
                  <a:pt x="11430000" y="76203"/>
                </a:cubicBezTo>
                <a:lnTo>
                  <a:pt x="11430000" y="2628897"/>
                </a:lnTo>
                <a:cubicBezTo>
                  <a:pt x="11430000" y="2670983"/>
                  <a:pt x="11395883" y="2705100"/>
                  <a:pt x="11353797" y="2705100"/>
                </a:cubicBezTo>
                <a:lnTo>
                  <a:pt x="76203" y="2705100"/>
                </a:lnTo>
                <a:cubicBezTo>
                  <a:pt x="34117" y="2705100"/>
                  <a:pt x="0" y="2670983"/>
                  <a:pt x="0" y="2628897"/>
                </a:cubicBezTo>
                <a:lnTo>
                  <a:pt x="0" y="76203"/>
                </a:lnTo>
                <a:cubicBezTo>
                  <a:pt x="0" y="34145"/>
                  <a:pt x="34145" y="0"/>
                  <a:pt x="7620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5209" y="2818777"/>
            <a:ext cx="190500" cy="190500"/>
          </a:xfrm>
          <a:custGeom>
            <a:avLst/>
            <a:gdLst/>
            <a:ahLst/>
            <a:cxnLst/>
            <a:rect l="l" t="t" r="r" b="b"/>
            <a:pathLst>
              <a:path w="190500" h="190500">
                <a:moveTo>
                  <a:pt x="190500" y="35719"/>
                </a:moveTo>
                <a:cubicBezTo>
                  <a:pt x="190500" y="54397"/>
                  <a:pt x="168511" y="82266"/>
                  <a:pt x="159023" y="93389"/>
                </a:cubicBezTo>
                <a:cubicBezTo>
                  <a:pt x="157610" y="95026"/>
                  <a:pt x="155525" y="95659"/>
                  <a:pt x="153628" y="95250"/>
                </a:cubicBezTo>
                <a:lnTo>
                  <a:pt x="119063" y="95250"/>
                </a:lnTo>
                <a:cubicBezTo>
                  <a:pt x="112478" y="95250"/>
                  <a:pt x="107156" y="100571"/>
                  <a:pt x="107156" y="107156"/>
                </a:cubicBezTo>
                <a:cubicBezTo>
                  <a:pt x="107156" y="113742"/>
                  <a:pt x="112478" y="119063"/>
                  <a:pt x="119063" y="119063"/>
                </a:cubicBezTo>
                <a:lnTo>
                  <a:pt x="154781" y="119063"/>
                </a:lnTo>
                <a:cubicBezTo>
                  <a:pt x="174501" y="119063"/>
                  <a:pt x="190500" y="135062"/>
                  <a:pt x="190500" y="154781"/>
                </a:cubicBezTo>
                <a:cubicBezTo>
                  <a:pt x="190500" y="174501"/>
                  <a:pt x="174501" y="190500"/>
                  <a:pt x="154781" y="190500"/>
                </a:cubicBezTo>
                <a:lnTo>
                  <a:pt x="51940" y="190500"/>
                </a:lnTo>
                <a:cubicBezTo>
                  <a:pt x="55178" y="186817"/>
                  <a:pt x="59122" y="182091"/>
                  <a:pt x="63102" y="176808"/>
                </a:cubicBezTo>
                <a:cubicBezTo>
                  <a:pt x="65447" y="173681"/>
                  <a:pt x="67866" y="170259"/>
                  <a:pt x="70173" y="166687"/>
                </a:cubicBezTo>
                <a:lnTo>
                  <a:pt x="154781" y="166687"/>
                </a:lnTo>
                <a:cubicBezTo>
                  <a:pt x="161367" y="166687"/>
                  <a:pt x="166687" y="161367"/>
                  <a:pt x="166687" y="154781"/>
                </a:cubicBezTo>
                <a:cubicBezTo>
                  <a:pt x="166687" y="148196"/>
                  <a:pt x="161367" y="142875"/>
                  <a:pt x="154781" y="142875"/>
                </a:cubicBezTo>
                <a:lnTo>
                  <a:pt x="119063" y="142875"/>
                </a:lnTo>
                <a:cubicBezTo>
                  <a:pt x="99343" y="142875"/>
                  <a:pt x="83344" y="126876"/>
                  <a:pt x="83344" y="107156"/>
                </a:cubicBezTo>
                <a:cubicBezTo>
                  <a:pt x="83344" y="87437"/>
                  <a:pt x="99343" y="71437"/>
                  <a:pt x="119063" y="71437"/>
                </a:cubicBezTo>
                <a:lnTo>
                  <a:pt x="133871" y="71437"/>
                </a:lnTo>
                <a:cubicBezTo>
                  <a:pt x="126056" y="59717"/>
                  <a:pt x="119063" y="46248"/>
                  <a:pt x="119063" y="35719"/>
                </a:cubicBezTo>
                <a:cubicBezTo>
                  <a:pt x="119063" y="15999"/>
                  <a:pt x="135062" y="0"/>
                  <a:pt x="154781" y="0"/>
                </a:cubicBezTo>
                <a:cubicBezTo>
                  <a:pt x="174501" y="0"/>
                  <a:pt x="190500" y="15999"/>
                  <a:pt x="190500" y="35719"/>
                </a:cubicBezTo>
                <a:close/>
                <a:moveTo>
                  <a:pt x="43569" y="181980"/>
                </a:moveTo>
                <a:cubicBezTo>
                  <a:pt x="42156" y="183579"/>
                  <a:pt x="40891" y="184993"/>
                  <a:pt x="39812" y="186185"/>
                </a:cubicBezTo>
                <a:lnTo>
                  <a:pt x="39141" y="186927"/>
                </a:lnTo>
                <a:lnTo>
                  <a:pt x="39066" y="186854"/>
                </a:lnTo>
                <a:cubicBezTo>
                  <a:pt x="36835" y="188565"/>
                  <a:pt x="33635" y="188342"/>
                  <a:pt x="31626" y="186185"/>
                </a:cubicBezTo>
                <a:cubicBezTo>
                  <a:pt x="22250" y="175989"/>
                  <a:pt x="0" y="149758"/>
                  <a:pt x="0" y="130969"/>
                </a:cubicBezTo>
                <a:cubicBezTo>
                  <a:pt x="0" y="111249"/>
                  <a:pt x="15999" y="95250"/>
                  <a:pt x="35719" y="95250"/>
                </a:cubicBezTo>
                <a:cubicBezTo>
                  <a:pt x="55438" y="95250"/>
                  <a:pt x="71437" y="111249"/>
                  <a:pt x="71437" y="130969"/>
                </a:cubicBezTo>
                <a:cubicBezTo>
                  <a:pt x="71437" y="142131"/>
                  <a:pt x="63588" y="155898"/>
                  <a:pt x="55253" y="167394"/>
                </a:cubicBezTo>
                <a:cubicBezTo>
                  <a:pt x="51271" y="172864"/>
                  <a:pt x="47179" y="177811"/>
                  <a:pt x="43793" y="181719"/>
                </a:cubicBezTo>
                <a:lnTo>
                  <a:pt x="43569" y="181980"/>
                </a:lnTo>
                <a:close/>
                <a:moveTo>
                  <a:pt x="47625" y="130969"/>
                </a:moveTo>
                <a:cubicBezTo>
                  <a:pt x="47625" y="124398"/>
                  <a:pt x="42290" y="119063"/>
                  <a:pt x="35719" y="119063"/>
                </a:cubicBezTo>
                <a:cubicBezTo>
                  <a:pt x="29148" y="119063"/>
                  <a:pt x="23813" y="124398"/>
                  <a:pt x="23813" y="130969"/>
                </a:cubicBezTo>
                <a:cubicBezTo>
                  <a:pt x="23813" y="137540"/>
                  <a:pt x="29148" y="142875"/>
                  <a:pt x="35719" y="142875"/>
                </a:cubicBezTo>
                <a:cubicBezTo>
                  <a:pt x="42290" y="142875"/>
                  <a:pt x="47625" y="137540"/>
                  <a:pt x="47625" y="130969"/>
                </a:cubicBezTo>
                <a:close/>
                <a:moveTo>
                  <a:pt x="154781" y="47625"/>
                </a:moveTo>
                <a:cubicBezTo>
                  <a:pt x="161352" y="47625"/>
                  <a:pt x="166687" y="42290"/>
                  <a:pt x="166687" y="35719"/>
                </a:cubicBezTo>
                <a:cubicBezTo>
                  <a:pt x="166687" y="29148"/>
                  <a:pt x="161352" y="23813"/>
                  <a:pt x="154781" y="23813"/>
                </a:cubicBezTo>
                <a:cubicBezTo>
                  <a:pt x="148210" y="23813"/>
                  <a:pt x="142875" y="29148"/>
                  <a:pt x="142875" y="35719"/>
                </a:cubicBezTo>
                <a:cubicBezTo>
                  <a:pt x="142875" y="42290"/>
                  <a:pt x="148210" y="47625"/>
                  <a:pt x="154781" y="47625"/>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809521" y="2780714"/>
            <a:ext cx="109061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Optimization Flow</a:t>
            </a:r>
            <a:endParaRPr lang="en-US" sz="1100"/>
          </a:p>
        </p:txBody>
      </p:sp>
      <p:sp>
        <p:nvSpPr>
          <p:cNvPr id="22" name="Freeform 22"/>
          <p:cNvSpPr/>
          <p:nvPr/>
        </p:nvSpPr>
        <p:spPr>
          <a:xfrm>
            <a:off x="3370624" y="3199805"/>
            <a:ext cx="1371600" cy="723900"/>
          </a:xfrm>
          <a:custGeom>
            <a:avLst/>
            <a:gdLst/>
            <a:ahLst/>
            <a:cxnLst/>
            <a:rect l="l" t="t" r="r" b="b"/>
            <a:pathLst>
              <a:path w="1371600" h="723900">
                <a:moveTo>
                  <a:pt x="76197" y="0"/>
                </a:moveTo>
                <a:lnTo>
                  <a:pt x="1295403" y="0"/>
                </a:lnTo>
                <a:cubicBezTo>
                  <a:pt x="1337457" y="0"/>
                  <a:pt x="1371600" y="34143"/>
                  <a:pt x="1371600" y="76197"/>
                </a:cubicBezTo>
                <a:lnTo>
                  <a:pt x="1371600" y="647703"/>
                </a:lnTo>
                <a:cubicBezTo>
                  <a:pt x="1371600" y="689757"/>
                  <a:pt x="1337457" y="723900"/>
                  <a:pt x="1295403" y="723900"/>
                </a:cubicBezTo>
                <a:lnTo>
                  <a:pt x="76197" y="723900"/>
                </a:lnTo>
                <a:cubicBezTo>
                  <a:pt x="34143" y="723900"/>
                  <a:pt x="0" y="689757"/>
                  <a:pt x="0" y="647703"/>
                </a:cubicBezTo>
                <a:lnTo>
                  <a:pt x="0" y="76197"/>
                </a:lnTo>
                <a:cubicBezTo>
                  <a:pt x="0" y="34143"/>
                  <a:pt x="34143" y="0"/>
                  <a:pt x="76197"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484906" y="3352186"/>
            <a:ext cx="1143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24" name="AutoShape 24"/>
          <p:cNvSpPr/>
          <p:nvPr/>
        </p:nvSpPr>
        <p:spPr>
          <a:xfrm>
            <a:off x="3489668" y="3691224"/>
            <a:ext cx="1133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Input Data</a:t>
            </a:r>
            <a:endParaRPr lang="en-US" sz="1100"/>
          </a:p>
        </p:txBody>
      </p:sp>
      <p:sp>
        <p:nvSpPr>
          <p:cNvPr id="25" name="AutoShape 25"/>
          <p:cNvSpPr/>
          <p:nvPr/>
        </p:nvSpPr>
        <p:spPr>
          <a:xfrm>
            <a:off x="3337286" y="3999774"/>
            <a:ext cx="1438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Input Data</a:t>
            </a:r>
            <a:endParaRPr lang="en-US" sz="1100"/>
          </a:p>
        </p:txBody>
      </p:sp>
      <p:sp>
        <p:nvSpPr>
          <p:cNvPr id="26" name="AutoShape 26"/>
          <p:cNvSpPr/>
          <p:nvPr/>
        </p:nvSpPr>
        <p:spPr>
          <a:xfrm>
            <a:off x="4892003" y="3504493"/>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387356" y="3199805"/>
            <a:ext cx="1419225" cy="723900"/>
          </a:xfrm>
          <a:custGeom>
            <a:avLst/>
            <a:gdLst/>
            <a:ahLst/>
            <a:cxnLst/>
            <a:rect l="l" t="t" r="r" b="b"/>
            <a:pathLst>
              <a:path w="1419225" h="723900">
                <a:moveTo>
                  <a:pt x="76197" y="0"/>
                </a:moveTo>
                <a:lnTo>
                  <a:pt x="1343028" y="0"/>
                </a:lnTo>
                <a:cubicBezTo>
                  <a:pt x="1385082" y="0"/>
                  <a:pt x="1419225" y="34143"/>
                  <a:pt x="1419225" y="76197"/>
                </a:cubicBezTo>
                <a:lnTo>
                  <a:pt x="1419225" y="647703"/>
                </a:lnTo>
                <a:cubicBezTo>
                  <a:pt x="1419225" y="689757"/>
                  <a:pt x="1385082" y="723900"/>
                  <a:pt x="1343028" y="723900"/>
                </a:cubicBezTo>
                <a:lnTo>
                  <a:pt x="76197" y="723900"/>
                </a:lnTo>
                <a:cubicBezTo>
                  <a:pt x="34143" y="723900"/>
                  <a:pt x="0" y="689757"/>
                  <a:pt x="0" y="647703"/>
                </a:cubicBezTo>
                <a:lnTo>
                  <a:pt x="0" y="76197"/>
                </a:lnTo>
                <a:cubicBezTo>
                  <a:pt x="0" y="34143"/>
                  <a:pt x="34143" y="0"/>
                  <a:pt x="76197"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5501638" y="3352186"/>
            <a:ext cx="11906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100"/>
          </a:p>
        </p:txBody>
      </p:sp>
      <p:sp>
        <p:nvSpPr>
          <p:cNvPr id="29" name="AutoShape 29"/>
          <p:cNvSpPr/>
          <p:nvPr/>
        </p:nvSpPr>
        <p:spPr>
          <a:xfrm>
            <a:off x="5524812" y="3709635"/>
            <a:ext cx="11811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Load &amp; Reduce</a:t>
            </a:r>
            <a:endParaRPr lang="en-US" sz="1100"/>
          </a:p>
        </p:txBody>
      </p:sp>
      <p:sp>
        <p:nvSpPr>
          <p:cNvPr id="30" name="AutoShape 30"/>
          <p:cNvSpPr/>
          <p:nvPr/>
        </p:nvSpPr>
        <p:spPr>
          <a:xfrm>
            <a:off x="5354019" y="3999774"/>
            <a:ext cx="14859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Load &amp; Reduce</a:t>
            </a:r>
            <a:endParaRPr lang="en-US" sz="1100"/>
          </a:p>
        </p:txBody>
      </p:sp>
      <p:sp>
        <p:nvSpPr>
          <p:cNvPr id="31" name="AutoShape 31"/>
          <p:cNvSpPr/>
          <p:nvPr/>
        </p:nvSpPr>
        <p:spPr>
          <a:xfrm>
            <a:off x="6956937" y="3504493"/>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2" name="Freeform 32"/>
          <p:cNvSpPr/>
          <p:nvPr/>
        </p:nvSpPr>
        <p:spPr>
          <a:xfrm>
            <a:off x="7452290" y="3199805"/>
            <a:ext cx="1371600" cy="723900"/>
          </a:xfrm>
          <a:custGeom>
            <a:avLst/>
            <a:gdLst/>
            <a:ahLst/>
            <a:cxnLst/>
            <a:rect l="l" t="t" r="r" b="b"/>
            <a:pathLst>
              <a:path w="1371600" h="723900">
                <a:moveTo>
                  <a:pt x="76197" y="0"/>
                </a:moveTo>
                <a:lnTo>
                  <a:pt x="1295403" y="0"/>
                </a:lnTo>
                <a:cubicBezTo>
                  <a:pt x="1337457" y="0"/>
                  <a:pt x="1371600" y="34143"/>
                  <a:pt x="1371600" y="76197"/>
                </a:cubicBezTo>
                <a:lnTo>
                  <a:pt x="1371600" y="647703"/>
                </a:lnTo>
                <a:cubicBezTo>
                  <a:pt x="1371600" y="689757"/>
                  <a:pt x="1337457" y="723900"/>
                  <a:pt x="1295403" y="723900"/>
                </a:cubicBezTo>
                <a:lnTo>
                  <a:pt x="76197" y="723900"/>
                </a:lnTo>
                <a:cubicBezTo>
                  <a:pt x="34143" y="723900"/>
                  <a:pt x="0" y="689757"/>
                  <a:pt x="0" y="647703"/>
                </a:cubicBezTo>
                <a:lnTo>
                  <a:pt x="0" y="76197"/>
                </a:lnTo>
                <a:cubicBezTo>
                  <a:pt x="0" y="34143"/>
                  <a:pt x="34143" y="0"/>
                  <a:pt x="7619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566573" y="3352186"/>
            <a:ext cx="1143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100"/>
          </a:p>
        </p:txBody>
      </p:sp>
      <p:sp>
        <p:nvSpPr>
          <p:cNvPr id="34" name="AutoShape 34"/>
          <p:cNvSpPr/>
          <p:nvPr/>
        </p:nvSpPr>
        <p:spPr>
          <a:xfrm>
            <a:off x="7571336" y="3709635"/>
            <a:ext cx="1133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Output Result</a:t>
            </a:r>
            <a:endParaRPr lang="en-US" sz="1100"/>
          </a:p>
        </p:txBody>
      </p:sp>
      <p:sp>
        <p:nvSpPr>
          <p:cNvPr id="35" name="AutoShape 35"/>
          <p:cNvSpPr/>
          <p:nvPr/>
        </p:nvSpPr>
        <p:spPr>
          <a:xfrm>
            <a:off x="7418953" y="3999774"/>
            <a:ext cx="1438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Output Result</a:t>
            </a:r>
            <a:endParaRPr lang="en-US" sz="1100"/>
          </a:p>
        </p:txBody>
      </p:sp>
      <p:sp>
        <p:nvSpPr>
          <p:cNvPr id="36" name="Freeform 36"/>
          <p:cNvSpPr/>
          <p:nvPr/>
        </p:nvSpPr>
        <p:spPr>
          <a:xfrm>
            <a:off x="380956" y="5448514"/>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561913" y="5715149"/>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933323" y="5600895"/>
            <a:ext cx="2533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Optimization Advantage</a:t>
            </a:r>
            <a:endParaRPr lang="en-US" sz="1100"/>
          </a:p>
        </p:txBody>
      </p:sp>
      <p:sp>
        <p:nvSpPr>
          <p:cNvPr id="39" name="AutoShape 39"/>
          <p:cNvSpPr/>
          <p:nvPr/>
        </p:nvSpPr>
        <p:spPr>
          <a:xfrm>
            <a:off x="933323" y="5867530"/>
            <a:ext cx="5162677"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Reduces global memory accesses and improves parallel efficiency</a:t>
            </a:r>
            <a:endParaRPr lang="en-US" sz="1100"/>
          </a:p>
        </p:txBody>
      </p:sp>
      <p:sp>
        <p:nvSpPr>
          <p:cNvPr id="40" name="AutoShape 40"/>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4601" y="614805"/>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Reduction Kernel Example</a:t>
            </a:r>
            <a:endParaRPr lang="en-US" sz="1100"/>
          </a:p>
        </p:txBody>
      </p:sp>
      <p:sp>
        <p:nvSpPr>
          <p:cNvPr id="3" name="Freeform 3"/>
          <p:cNvSpPr/>
          <p:nvPr/>
        </p:nvSpPr>
        <p:spPr>
          <a:xfrm>
            <a:off x="317463" y="1111025"/>
            <a:ext cx="6858000" cy="5523973"/>
          </a:xfrm>
          <a:custGeom>
            <a:avLst/>
            <a:gdLst/>
            <a:ahLst/>
            <a:cxnLst/>
            <a:rect l="l" t="t" r="r" b="b"/>
            <a:pathLst>
              <a:path w="6858000" h="5523973">
                <a:moveTo>
                  <a:pt x="63492" y="0"/>
                </a:moveTo>
                <a:lnTo>
                  <a:pt x="6794508" y="0"/>
                </a:lnTo>
                <a:cubicBezTo>
                  <a:pt x="6829574" y="0"/>
                  <a:pt x="6858000" y="25894"/>
                  <a:pt x="6858000" y="57836"/>
                </a:cubicBezTo>
                <a:lnTo>
                  <a:pt x="6858000" y="5466137"/>
                </a:lnTo>
                <a:cubicBezTo>
                  <a:pt x="6858000" y="5498079"/>
                  <a:pt x="6829574" y="5523973"/>
                  <a:pt x="6794508" y="5523973"/>
                </a:cubicBezTo>
                <a:lnTo>
                  <a:pt x="63492" y="5523973"/>
                </a:lnTo>
                <a:cubicBezTo>
                  <a:pt x="28426" y="5523973"/>
                  <a:pt x="0" y="5498079"/>
                  <a:pt x="0" y="5466137"/>
                </a:cubicBezTo>
                <a:lnTo>
                  <a:pt x="0" y="57836"/>
                </a:lnTo>
                <a:cubicBezTo>
                  <a:pt x="0" y="25916"/>
                  <a:pt x="28451" y="0"/>
                  <a:pt x="634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85124" y="1300293"/>
            <a:ext cx="180547" cy="161044"/>
          </a:xfrm>
          <a:custGeom>
            <a:avLst/>
            <a:gdLst/>
            <a:ahLst/>
            <a:cxnLst/>
            <a:rect l="l" t="t" r="r" b="b"/>
            <a:pathLst>
              <a:path w="180547" h="161044">
                <a:moveTo>
                  <a:pt x="112830" y="1519"/>
                </a:moveTo>
                <a:cubicBezTo>
                  <a:pt x="107558" y="0"/>
                  <a:pt x="102071" y="3069"/>
                  <a:pt x="100552" y="8340"/>
                </a:cubicBezTo>
                <a:lnTo>
                  <a:pt x="60864" y="147247"/>
                </a:lnTo>
                <a:cubicBezTo>
                  <a:pt x="59345" y="152518"/>
                  <a:pt x="62415" y="158006"/>
                  <a:pt x="67686" y="159525"/>
                </a:cubicBezTo>
                <a:cubicBezTo>
                  <a:pt x="72957" y="161044"/>
                  <a:pt x="78445" y="157975"/>
                  <a:pt x="79964" y="152704"/>
                </a:cubicBezTo>
                <a:lnTo>
                  <a:pt x="119651" y="13797"/>
                </a:lnTo>
                <a:cubicBezTo>
                  <a:pt x="121172" y="8526"/>
                  <a:pt x="118101" y="3038"/>
                  <a:pt x="112830" y="1519"/>
                </a:cubicBezTo>
                <a:close/>
                <a:moveTo>
                  <a:pt x="132859" y="43717"/>
                </a:moveTo>
                <a:cubicBezTo>
                  <a:pt x="128985" y="47593"/>
                  <a:pt x="128985" y="53888"/>
                  <a:pt x="132859" y="57764"/>
                </a:cubicBezTo>
                <a:lnTo>
                  <a:pt x="155618" y="80522"/>
                </a:lnTo>
                <a:lnTo>
                  <a:pt x="132859" y="103280"/>
                </a:lnTo>
                <a:cubicBezTo>
                  <a:pt x="128985" y="107156"/>
                  <a:pt x="128985" y="113451"/>
                  <a:pt x="132859" y="117327"/>
                </a:cubicBezTo>
                <a:cubicBezTo>
                  <a:pt x="136735" y="121201"/>
                  <a:pt x="143030" y="121201"/>
                  <a:pt x="146906" y="117327"/>
                </a:cubicBezTo>
                <a:lnTo>
                  <a:pt x="176671" y="87560"/>
                </a:lnTo>
                <a:cubicBezTo>
                  <a:pt x="180547" y="83686"/>
                  <a:pt x="180547" y="77390"/>
                  <a:pt x="176671" y="73515"/>
                </a:cubicBezTo>
                <a:lnTo>
                  <a:pt x="146906" y="43749"/>
                </a:lnTo>
                <a:cubicBezTo>
                  <a:pt x="143030" y="39873"/>
                  <a:pt x="136735" y="39873"/>
                  <a:pt x="132859" y="43749"/>
                </a:cubicBezTo>
                <a:close/>
                <a:moveTo>
                  <a:pt x="47687" y="43717"/>
                </a:moveTo>
                <a:cubicBezTo>
                  <a:pt x="43811" y="39843"/>
                  <a:pt x="37517" y="39843"/>
                  <a:pt x="33641" y="43717"/>
                </a:cubicBezTo>
                <a:lnTo>
                  <a:pt x="3876" y="73484"/>
                </a:lnTo>
                <a:cubicBezTo>
                  <a:pt x="0" y="77358"/>
                  <a:pt x="0" y="83654"/>
                  <a:pt x="3876" y="87529"/>
                </a:cubicBezTo>
                <a:lnTo>
                  <a:pt x="33641" y="117295"/>
                </a:lnTo>
                <a:cubicBezTo>
                  <a:pt x="37517" y="121171"/>
                  <a:pt x="43811" y="121171"/>
                  <a:pt x="47687" y="117295"/>
                </a:cubicBezTo>
                <a:cubicBezTo>
                  <a:pt x="51563" y="113419"/>
                  <a:pt x="51563" y="107125"/>
                  <a:pt x="47687" y="103249"/>
                </a:cubicBezTo>
                <a:lnTo>
                  <a:pt x="24928" y="80522"/>
                </a:lnTo>
                <a:lnTo>
                  <a:pt x="47656" y="57764"/>
                </a:lnTo>
                <a:cubicBezTo>
                  <a:pt x="51532" y="53888"/>
                  <a:pt x="51532" y="47593"/>
                  <a:pt x="47656" y="43717"/>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74601" y="1269729"/>
            <a:ext cx="64214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CUDA Implementation Code</a:t>
            </a:r>
            <a:endParaRPr lang="en-US" sz="1100"/>
          </a:p>
        </p:txBody>
      </p:sp>
      <p:sp>
        <p:nvSpPr>
          <p:cNvPr id="6" name="Freeform 6"/>
          <p:cNvSpPr/>
          <p:nvPr/>
        </p:nvSpPr>
        <p:spPr>
          <a:xfrm>
            <a:off x="491960" y="1618971"/>
            <a:ext cx="6524546" cy="4952442"/>
          </a:xfrm>
          <a:custGeom>
            <a:avLst/>
            <a:gdLst/>
            <a:ahLst/>
            <a:cxnLst/>
            <a:rect l="l" t="t" r="r" b="b"/>
            <a:pathLst>
              <a:path w="6524546" h="4952442">
                <a:moveTo>
                  <a:pt x="31593" y="0"/>
                </a:moveTo>
                <a:lnTo>
                  <a:pt x="6461070" y="0"/>
                </a:lnTo>
                <a:cubicBezTo>
                  <a:pt x="6496127" y="0"/>
                  <a:pt x="6524546" y="26076"/>
                  <a:pt x="6524546" y="58241"/>
                </a:cubicBezTo>
                <a:lnTo>
                  <a:pt x="6524546" y="4894202"/>
                </a:lnTo>
                <a:cubicBezTo>
                  <a:pt x="6524546" y="4926367"/>
                  <a:pt x="6496127" y="4952442"/>
                  <a:pt x="6461070" y="4952442"/>
                </a:cubicBezTo>
                <a:lnTo>
                  <a:pt x="31593" y="4952442"/>
                </a:lnTo>
                <a:cubicBezTo>
                  <a:pt x="14144" y="4952442"/>
                  <a:pt x="0" y="4939464"/>
                  <a:pt x="0" y="4923455"/>
                </a:cubicBezTo>
                <a:lnTo>
                  <a:pt x="0" y="28986"/>
                </a:lnTo>
                <a:cubicBezTo>
                  <a:pt x="0" y="12988"/>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1959" y="1618972"/>
            <a:ext cx="45719" cy="4990484"/>
          </a:xfrm>
          <a:custGeom>
            <a:avLst/>
            <a:gdLst/>
            <a:ahLst/>
            <a:cxnLst/>
            <a:rect l="l" t="t" r="r" b="b"/>
            <a:pathLst>
              <a:path w="45719" h="4990484">
                <a:moveTo>
                  <a:pt x="45719" y="0"/>
                </a:moveTo>
                <a:lnTo>
                  <a:pt x="45719" y="0"/>
                </a:lnTo>
                <a:lnTo>
                  <a:pt x="45719" y="4990484"/>
                </a:lnTo>
                <a:lnTo>
                  <a:pt x="45719" y="4990484"/>
                </a:lnTo>
                <a:cubicBezTo>
                  <a:pt x="20469" y="4990484"/>
                  <a:pt x="0" y="4977407"/>
                  <a:pt x="0" y="4961274"/>
                </a:cubicBezTo>
                <a:lnTo>
                  <a:pt x="0" y="29210"/>
                </a:lnTo>
                <a:cubicBezTo>
                  <a:pt x="0" y="13089"/>
                  <a:pt x="20486" y="0"/>
                  <a:pt x="4571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34741" y="1745955"/>
            <a:ext cx="6318250" cy="5143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__global__ void reduction_kernel(float* input, float* output, int n) {</a:t>
            </a:r>
            <a:endParaRPr lang="en-US" sz="1100"/>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Declare Shared Memory</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__shared__ float sdata[256];</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Get thread indices</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int tid = threadIdx.x;</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int i = blockIdx.x * blockDim.x + threadIdx.x;</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Load data from Global Memory to Shared Memory</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sdata[tid] = (i &lt; n) ? input[i] : 0;</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Sync threads to ensure data is loaded</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__syncthreads();</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Perform reduction in Shared Memory</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for(int s = blockDim.x/2; s &gt; 0; s &gt;&gt;= 1)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if(tid &lt; s)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sdata[tid] += sdata[tid + s];</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__syncthreads();</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Write result back to Global Memory</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if(tid == 0)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output[blockIdx.x] = sdata[0];</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7365943" y="1111025"/>
            <a:ext cx="4508500" cy="3238500"/>
          </a:xfrm>
          <a:custGeom>
            <a:avLst/>
            <a:gdLst/>
            <a:ahLst/>
            <a:cxnLst/>
            <a:rect l="l" t="t" r="r" b="b"/>
            <a:pathLst>
              <a:path w="4508500" h="3238500">
                <a:moveTo>
                  <a:pt x="63508" y="0"/>
                </a:moveTo>
                <a:lnTo>
                  <a:pt x="4444992" y="0"/>
                </a:lnTo>
                <a:cubicBezTo>
                  <a:pt x="4480067" y="0"/>
                  <a:pt x="4508500" y="28433"/>
                  <a:pt x="4508500" y="63508"/>
                </a:cubicBezTo>
                <a:lnTo>
                  <a:pt x="4508500" y="3174992"/>
                </a:lnTo>
                <a:cubicBezTo>
                  <a:pt x="4508500" y="3210067"/>
                  <a:pt x="4480067" y="3238500"/>
                  <a:pt x="4444992" y="3238500"/>
                </a:cubicBezTo>
                <a:lnTo>
                  <a:pt x="63508" y="3238500"/>
                </a:lnTo>
                <a:cubicBezTo>
                  <a:pt x="28433" y="3238500"/>
                  <a:pt x="0" y="3210067"/>
                  <a:pt x="0" y="3174992"/>
                </a:cubicBezTo>
                <a:lnTo>
                  <a:pt x="0" y="63508"/>
                </a:lnTo>
                <a:cubicBezTo>
                  <a:pt x="0" y="28457"/>
                  <a:pt x="28457" y="0"/>
                  <a:pt x="63508"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544488" y="1301440"/>
            <a:ext cx="158750" cy="158750"/>
          </a:xfrm>
          <a:custGeom>
            <a:avLst/>
            <a:gdLst/>
            <a:ahLst/>
            <a:cxnLst/>
            <a:rect l="l" t="t" r="r" b="b"/>
            <a:pathLst>
              <a:path w="158750" h="158750">
                <a:moveTo>
                  <a:pt x="79375" y="158750"/>
                </a:moveTo>
                <a:cubicBezTo>
                  <a:pt x="123182" y="158750"/>
                  <a:pt x="158750" y="123182"/>
                  <a:pt x="158750" y="79375"/>
                </a:cubicBezTo>
                <a:cubicBezTo>
                  <a:pt x="158750" y="35568"/>
                  <a:pt x="123182" y="0"/>
                  <a:pt x="79375" y="0"/>
                </a:cubicBezTo>
                <a:cubicBezTo>
                  <a:pt x="35568" y="0"/>
                  <a:pt x="0" y="35568"/>
                  <a:pt x="0" y="79375"/>
                </a:cubicBezTo>
                <a:cubicBezTo>
                  <a:pt x="0" y="123182"/>
                  <a:pt x="35568" y="158750"/>
                  <a:pt x="79375" y="158750"/>
                </a:cubicBezTo>
                <a:close/>
                <a:moveTo>
                  <a:pt x="69452" y="49609"/>
                </a:moveTo>
                <a:cubicBezTo>
                  <a:pt x="69452" y="44132"/>
                  <a:pt x="73899" y="39688"/>
                  <a:pt x="79375" y="39688"/>
                </a:cubicBezTo>
                <a:cubicBezTo>
                  <a:pt x="84851" y="39688"/>
                  <a:pt x="89298" y="44132"/>
                  <a:pt x="89298" y="49609"/>
                </a:cubicBezTo>
                <a:cubicBezTo>
                  <a:pt x="89298" y="55085"/>
                  <a:pt x="84851" y="59531"/>
                  <a:pt x="79375" y="59531"/>
                </a:cubicBezTo>
                <a:cubicBezTo>
                  <a:pt x="73899" y="59531"/>
                  <a:pt x="69452" y="55085"/>
                  <a:pt x="69452" y="49609"/>
                </a:cubicBezTo>
                <a:close/>
                <a:moveTo>
                  <a:pt x="66973" y="69452"/>
                </a:moveTo>
                <a:lnTo>
                  <a:pt x="81855" y="69452"/>
                </a:lnTo>
                <a:cubicBezTo>
                  <a:pt x="85979" y="69452"/>
                  <a:pt x="89298" y="72771"/>
                  <a:pt x="89298" y="76895"/>
                </a:cubicBezTo>
                <a:lnTo>
                  <a:pt x="89298" y="104179"/>
                </a:lnTo>
                <a:lnTo>
                  <a:pt x="91777" y="104179"/>
                </a:lnTo>
                <a:cubicBezTo>
                  <a:pt x="95902" y="104179"/>
                  <a:pt x="99219" y="107497"/>
                  <a:pt x="99219" y="111622"/>
                </a:cubicBezTo>
                <a:cubicBezTo>
                  <a:pt x="99219" y="115745"/>
                  <a:pt x="95902" y="119062"/>
                  <a:pt x="91777" y="119062"/>
                </a:cubicBezTo>
                <a:lnTo>
                  <a:pt x="66973" y="119062"/>
                </a:lnTo>
                <a:cubicBezTo>
                  <a:pt x="62848" y="119062"/>
                  <a:pt x="59531" y="115745"/>
                  <a:pt x="59531" y="111622"/>
                </a:cubicBezTo>
                <a:cubicBezTo>
                  <a:pt x="59531" y="107497"/>
                  <a:pt x="62848" y="104179"/>
                  <a:pt x="66973" y="104179"/>
                </a:cubicBezTo>
                <a:lnTo>
                  <a:pt x="74414" y="104179"/>
                </a:lnTo>
                <a:lnTo>
                  <a:pt x="74414" y="84336"/>
                </a:lnTo>
                <a:lnTo>
                  <a:pt x="66973" y="84336"/>
                </a:lnTo>
                <a:cubicBezTo>
                  <a:pt x="62848" y="84336"/>
                  <a:pt x="59531" y="81018"/>
                  <a:pt x="59531" y="76895"/>
                </a:cubicBezTo>
                <a:cubicBezTo>
                  <a:pt x="59531" y="72771"/>
                  <a:pt x="62848" y="69452"/>
                  <a:pt x="66973" y="6945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23081" y="1269729"/>
            <a:ext cx="4071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 Notes</a:t>
            </a:r>
            <a:endParaRPr lang="en-US" sz="1100"/>
          </a:p>
        </p:txBody>
      </p:sp>
      <p:sp>
        <p:nvSpPr>
          <p:cNvPr id="12" name="Freeform 12"/>
          <p:cNvSpPr/>
          <p:nvPr/>
        </p:nvSpPr>
        <p:spPr>
          <a:xfrm>
            <a:off x="7524644" y="1618971"/>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19852" y="1714174"/>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Declare shared memory</a:t>
            </a:r>
            <a:endParaRPr lang="en-US" sz="1100"/>
          </a:p>
        </p:txBody>
      </p:sp>
      <p:sp>
        <p:nvSpPr>
          <p:cNvPr id="14" name="AutoShape 14"/>
          <p:cNvSpPr/>
          <p:nvPr/>
        </p:nvSpPr>
        <p:spPr>
          <a:xfrm>
            <a:off x="7619852" y="1936370"/>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__shared__ float sdata[256]</a:t>
            </a:r>
            <a:endParaRPr lang="en-US" sz="1100"/>
          </a:p>
        </p:txBody>
      </p:sp>
      <p:sp>
        <p:nvSpPr>
          <p:cNvPr id="15" name="Freeform 15"/>
          <p:cNvSpPr/>
          <p:nvPr/>
        </p:nvSpPr>
        <p:spPr>
          <a:xfrm>
            <a:off x="7524644" y="2285488"/>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19852" y="2380692"/>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Load data</a:t>
            </a:r>
            <a:endParaRPr lang="en-US" sz="1100"/>
          </a:p>
        </p:txBody>
      </p:sp>
      <p:sp>
        <p:nvSpPr>
          <p:cNvPr id="17" name="AutoShape 17"/>
          <p:cNvSpPr/>
          <p:nvPr/>
        </p:nvSpPr>
        <p:spPr>
          <a:xfrm>
            <a:off x="7619852" y="2602888"/>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100"/>
          </a:p>
        </p:txBody>
      </p:sp>
      <p:sp>
        <p:nvSpPr>
          <p:cNvPr id="18" name="Freeform 18"/>
          <p:cNvSpPr/>
          <p:nvPr/>
        </p:nvSpPr>
        <p:spPr>
          <a:xfrm>
            <a:off x="7524644" y="2952006"/>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619852" y="3047209"/>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Thread synchronization</a:t>
            </a:r>
            <a:endParaRPr lang="en-US" sz="1100"/>
          </a:p>
        </p:txBody>
      </p:sp>
      <p:sp>
        <p:nvSpPr>
          <p:cNvPr id="20" name="AutoShape 20"/>
          <p:cNvSpPr/>
          <p:nvPr/>
        </p:nvSpPr>
        <p:spPr>
          <a:xfrm>
            <a:off x="7619852" y="3269405"/>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__syncthreads()</a:t>
            </a:r>
            <a:endParaRPr lang="en-US" sz="1100"/>
          </a:p>
        </p:txBody>
      </p:sp>
      <p:sp>
        <p:nvSpPr>
          <p:cNvPr id="21" name="Freeform 21"/>
          <p:cNvSpPr/>
          <p:nvPr/>
        </p:nvSpPr>
        <p:spPr>
          <a:xfrm>
            <a:off x="7524644" y="3618523"/>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619852" y="3713727"/>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Reduction loop</a:t>
            </a:r>
            <a:endParaRPr lang="en-US" sz="1100"/>
          </a:p>
        </p:txBody>
      </p:sp>
      <p:sp>
        <p:nvSpPr>
          <p:cNvPr id="23" name="AutoShape 23"/>
          <p:cNvSpPr/>
          <p:nvPr/>
        </p:nvSpPr>
        <p:spPr>
          <a:xfrm>
            <a:off x="7619852" y="3935923"/>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Halving reduction strategy</a:t>
            </a:r>
            <a:endParaRPr lang="en-US" sz="1100"/>
          </a:p>
        </p:txBody>
      </p:sp>
      <p:sp>
        <p:nvSpPr>
          <p:cNvPr id="24" name="AutoShape 24"/>
          <p:cNvSpPr/>
          <p:nvPr/>
        </p:nvSpPr>
        <p:spPr>
          <a:xfrm>
            <a:off x="395250" y="6652561"/>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9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Code example: CUDA Reduction Kernel implementation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5142" y="633130"/>
            <a:ext cx="11631656" cy="361512"/>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Optimization Effect Comparison</a:t>
            </a:r>
            <a:endParaRPr lang="en-US" sz="1100"/>
          </a:p>
        </p:txBody>
      </p:sp>
      <p:sp>
        <p:nvSpPr>
          <p:cNvPr id="3" name="Freeform 3"/>
          <p:cNvSpPr/>
          <p:nvPr/>
        </p:nvSpPr>
        <p:spPr>
          <a:xfrm>
            <a:off x="361470" y="1265046"/>
            <a:ext cx="2738455" cy="1446049"/>
          </a:xfrm>
          <a:custGeom>
            <a:avLst/>
            <a:gdLst/>
            <a:ahLst/>
            <a:cxnLst/>
            <a:rect l="l" t="t" r="r" b="b"/>
            <a:pathLst>
              <a:path w="2738455" h="1446049">
                <a:moveTo>
                  <a:pt x="72302" y="0"/>
                </a:moveTo>
                <a:lnTo>
                  <a:pt x="2666153" y="0"/>
                </a:lnTo>
                <a:cubicBezTo>
                  <a:pt x="2706084" y="0"/>
                  <a:pt x="2738455" y="32371"/>
                  <a:pt x="2738455" y="72302"/>
                </a:cubicBezTo>
                <a:lnTo>
                  <a:pt x="2738455" y="1373746"/>
                </a:lnTo>
                <a:cubicBezTo>
                  <a:pt x="2738455" y="1413678"/>
                  <a:pt x="2706084" y="1446049"/>
                  <a:pt x="2666153" y="1446049"/>
                </a:cubicBezTo>
                <a:lnTo>
                  <a:pt x="72302" y="1446049"/>
                </a:lnTo>
                <a:cubicBezTo>
                  <a:pt x="32371" y="1446049"/>
                  <a:pt x="0" y="1413678"/>
                  <a:pt x="0" y="1373746"/>
                </a:cubicBezTo>
                <a:lnTo>
                  <a:pt x="0" y="72302"/>
                </a:lnTo>
                <a:cubicBezTo>
                  <a:pt x="0" y="32371"/>
                  <a:pt x="32371" y="0"/>
                  <a:pt x="7230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64764" y="1481856"/>
            <a:ext cx="180757" cy="180757"/>
          </a:xfrm>
          <a:custGeom>
            <a:avLst/>
            <a:gdLst/>
            <a:ahLst/>
            <a:cxnLst/>
            <a:rect l="l" t="t" r="r" b="b"/>
            <a:pathLst>
              <a:path w="180757" h="180757">
                <a:moveTo>
                  <a:pt x="90378" y="180757"/>
                </a:moveTo>
                <a:cubicBezTo>
                  <a:pt x="140259" y="180757"/>
                  <a:pt x="180757" y="140259"/>
                  <a:pt x="180757" y="90378"/>
                </a:cubicBezTo>
                <a:cubicBezTo>
                  <a:pt x="180757" y="40496"/>
                  <a:pt x="140259" y="0"/>
                  <a:pt x="90378" y="0"/>
                </a:cubicBezTo>
                <a:cubicBezTo>
                  <a:pt x="40496" y="0"/>
                  <a:pt x="0" y="40496"/>
                  <a:pt x="0" y="90378"/>
                </a:cubicBezTo>
                <a:cubicBezTo>
                  <a:pt x="0" y="140259"/>
                  <a:pt x="40496" y="180757"/>
                  <a:pt x="90378" y="180757"/>
                </a:cubicBezTo>
                <a:close/>
                <a:moveTo>
                  <a:pt x="58958" y="58958"/>
                </a:moveTo>
                <a:cubicBezTo>
                  <a:pt x="62276" y="55639"/>
                  <a:pt x="67641" y="55639"/>
                  <a:pt x="70926" y="58958"/>
                </a:cubicBezTo>
                <a:lnTo>
                  <a:pt x="90343" y="78376"/>
                </a:lnTo>
                <a:lnTo>
                  <a:pt x="109760" y="58958"/>
                </a:lnTo>
                <a:cubicBezTo>
                  <a:pt x="113078" y="55639"/>
                  <a:pt x="118445" y="55639"/>
                  <a:pt x="121728" y="58958"/>
                </a:cubicBezTo>
                <a:cubicBezTo>
                  <a:pt x="125011" y="62276"/>
                  <a:pt x="125047" y="67641"/>
                  <a:pt x="121728" y="70926"/>
                </a:cubicBezTo>
                <a:lnTo>
                  <a:pt x="102311" y="90343"/>
                </a:lnTo>
                <a:lnTo>
                  <a:pt x="121728" y="109760"/>
                </a:lnTo>
                <a:cubicBezTo>
                  <a:pt x="125047" y="113078"/>
                  <a:pt x="125047" y="118445"/>
                  <a:pt x="121728" y="121728"/>
                </a:cubicBezTo>
                <a:cubicBezTo>
                  <a:pt x="118408" y="125011"/>
                  <a:pt x="113043" y="125047"/>
                  <a:pt x="109760" y="121728"/>
                </a:cubicBezTo>
                <a:lnTo>
                  <a:pt x="90343" y="102311"/>
                </a:lnTo>
                <a:lnTo>
                  <a:pt x="70926" y="121728"/>
                </a:lnTo>
                <a:cubicBezTo>
                  <a:pt x="67607" y="125047"/>
                  <a:pt x="62241" y="125047"/>
                  <a:pt x="58958" y="121728"/>
                </a:cubicBezTo>
                <a:cubicBezTo>
                  <a:pt x="55674" y="118408"/>
                  <a:pt x="55639" y="113043"/>
                  <a:pt x="58958" y="109760"/>
                </a:cubicBezTo>
                <a:lnTo>
                  <a:pt x="78376" y="90343"/>
                </a:lnTo>
                <a:lnTo>
                  <a:pt x="58958" y="70926"/>
                </a:lnTo>
                <a:cubicBezTo>
                  <a:pt x="55639" y="67607"/>
                  <a:pt x="55639" y="62241"/>
                  <a:pt x="58958" y="5895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768115" y="1445740"/>
            <a:ext cx="2241376"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Naive</a:t>
            </a:r>
            <a:endParaRPr lang="en-US" sz="1100"/>
          </a:p>
        </p:txBody>
      </p:sp>
      <p:sp>
        <p:nvSpPr>
          <p:cNvPr id="6" name="AutoShape 6"/>
          <p:cNvSpPr/>
          <p:nvPr/>
        </p:nvSpPr>
        <p:spPr>
          <a:xfrm>
            <a:off x="433716" y="1807217"/>
            <a:ext cx="2593850" cy="433815"/>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Slow</a:t>
            </a:r>
            <a:endParaRPr lang="en-US" sz="1100"/>
          </a:p>
        </p:txBody>
      </p:sp>
      <p:sp>
        <p:nvSpPr>
          <p:cNvPr id="7" name="AutoShape 7"/>
          <p:cNvSpPr/>
          <p:nvPr/>
        </p:nvSpPr>
        <p:spPr>
          <a:xfrm>
            <a:off x="506019" y="2313343"/>
            <a:ext cx="2449245" cy="2169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Frequent global memory accesses</a:t>
            </a:r>
            <a:endParaRPr lang="en-US" sz="1100"/>
          </a:p>
        </p:txBody>
      </p:sp>
      <p:sp>
        <p:nvSpPr>
          <p:cNvPr id="8" name="Freeform 8"/>
          <p:cNvSpPr/>
          <p:nvPr/>
        </p:nvSpPr>
        <p:spPr>
          <a:xfrm>
            <a:off x="3247540" y="1265046"/>
            <a:ext cx="2738455" cy="1446049"/>
          </a:xfrm>
          <a:custGeom>
            <a:avLst/>
            <a:gdLst/>
            <a:ahLst/>
            <a:cxnLst/>
            <a:rect l="l" t="t" r="r" b="b"/>
            <a:pathLst>
              <a:path w="2738455" h="1446049">
                <a:moveTo>
                  <a:pt x="72302" y="0"/>
                </a:moveTo>
                <a:lnTo>
                  <a:pt x="2666153" y="0"/>
                </a:lnTo>
                <a:cubicBezTo>
                  <a:pt x="2706084" y="0"/>
                  <a:pt x="2738455" y="32371"/>
                  <a:pt x="2738455" y="72302"/>
                </a:cubicBezTo>
                <a:lnTo>
                  <a:pt x="2738455" y="1373746"/>
                </a:lnTo>
                <a:cubicBezTo>
                  <a:pt x="2738455" y="1413678"/>
                  <a:pt x="2706084" y="1446049"/>
                  <a:pt x="2666153" y="1446049"/>
                </a:cubicBezTo>
                <a:lnTo>
                  <a:pt x="72302" y="1446049"/>
                </a:lnTo>
                <a:cubicBezTo>
                  <a:pt x="32371" y="1446049"/>
                  <a:pt x="0" y="1413678"/>
                  <a:pt x="0" y="1373746"/>
                </a:cubicBezTo>
                <a:lnTo>
                  <a:pt x="0" y="72302"/>
                </a:lnTo>
                <a:cubicBezTo>
                  <a:pt x="0" y="32371"/>
                  <a:pt x="32371" y="0"/>
                  <a:pt x="7230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450834" y="1481856"/>
            <a:ext cx="180757" cy="180757"/>
          </a:xfrm>
          <a:custGeom>
            <a:avLst/>
            <a:gdLst/>
            <a:ahLst/>
            <a:cxnLst/>
            <a:rect l="l" t="t" r="r" b="b"/>
            <a:pathLst>
              <a:path w="180757" h="180757">
                <a:moveTo>
                  <a:pt x="90378" y="180757"/>
                </a:moveTo>
                <a:cubicBezTo>
                  <a:pt x="140259" y="180757"/>
                  <a:pt x="180757" y="140259"/>
                  <a:pt x="180757" y="90378"/>
                </a:cubicBezTo>
                <a:cubicBezTo>
                  <a:pt x="180757" y="40496"/>
                  <a:pt x="140259" y="0"/>
                  <a:pt x="90378" y="0"/>
                </a:cubicBezTo>
                <a:cubicBezTo>
                  <a:pt x="40496" y="0"/>
                  <a:pt x="0" y="40496"/>
                  <a:pt x="0" y="90378"/>
                </a:cubicBezTo>
                <a:cubicBezTo>
                  <a:pt x="0" y="140259"/>
                  <a:pt x="40496" y="180757"/>
                  <a:pt x="90378" y="180757"/>
                </a:cubicBezTo>
                <a:close/>
                <a:moveTo>
                  <a:pt x="120175" y="75091"/>
                </a:moveTo>
                <a:lnTo>
                  <a:pt x="91931" y="120280"/>
                </a:lnTo>
                <a:cubicBezTo>
                  <a:pt x="90449" y="122646"/>
                  <a:pt x="87907" y="124129"/>
                  <a:pt x="85118" y="124270"/>
                </a:cubicBezTo>
                <a:cubicBezTo>
                  <a:pt x="82329" y="124410"/>
                  <a:pt x="79646" y="123140"/>
                  <a:pt x="77986" y="120881"/>
                </a:cubicBezTo>
                <a:lnTo>
                  <a:pt x="61040" y="98287"/>
                </a:lnTo>
                <a:cubicBezTo>
                  <a:pt x="58216" y="94544"/>
                  <a:pt x="58993" y="89248"/>
                  <a:pt x="62735" y="86424"/>
                </a:cubicBezTo>
                <a:cubicBezTo>
                  <a:pt x="66477" y="83600"/>
                  <a:pt x="71773" y="84376"/>
                  <a:pt x="74597" y="88119"/>
                </a:cubicBezTo>
                <a:lnTo>
                  <a:pt x="84129" y="100828"/>
                </a:lnTo>
                <a:lnTo>
                  <a:pt x="105806" y="66124"/>
                </a:lnTo>
                <a:cubicBezTo>
                  <a:pt x="108276" y="62170"/>
                  <a:pt x="113502" y="60935"/>
                  <a:pt x="117492" y="63442"/>
                </a:cubicBezTo>
                <a:cubicBezTo>
                  <a:pt x="121481" y="65949"/>
                  <a:pt x="122681" y="71137"/>
                  <a:pt x="120175" y="7512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654185" y="1445740"/>
            <a:ext cx="2241376"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Optimized</a:t>
            </a:r>
            <a:endParaRPr lang="en-US" sz="1100"/>
          </a:p>
        </p:txBody>
      </p:sp>
      <p:sp>
        <p:nvSpPr>
          <p:cNvPr id="11" name="AutoShape 11"/>
          <p:cNvSpPr/>
          <p:nvPr/>
        </p:nvSpPr>
        <p:spPr>
          <a:xfrm>
            <a:off x="3319786" y="1807217"/>
            <a:ext cx="2593850" cy="433815"/>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Fast</a:t>
            </a:r>
            <a:endParaRPr lang="en-US" sz="1100"/>
          </a:p>
        </p:txBody>
      </p:sp>
      <p:sp>
        <p:nvSpPr>
          <p:cNvPr id="12" name="AutoShape 12"/>
          <p:cNvSpPr/>
          <p:nvPr/>
        </p:nvSpPr>
        <p:spPr>
          <a:xfrm>
            <a:off x="3392089" y="2313343"/>
            <a:ext cx="2449245" cy="2169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Using shared memory</a:t>
            </a:r>
            <a:endParaRPr lang="en-US" sz="1100"/>
          </a:p>
        </p:txBody>
      </p:sp>
      <p:sp>
        <p:nvSpPr>
          <p:cNvPr id="13" name="Freeform 13"/>
          <p:cNvSpPr/>
          <p:nvPr/>
        </p:nvSpPr>
        <p:spPr>
          <a:xfrm>
            <a:off x="361470" y="2855514"/>
            <a:ext cx="5630553" cy="3967597"/>
          </a:xfrm>
          <a:custGeom>
            <a:avLst/>
            <a:gdLst/>
            <a:ahLst/>
            <a:cxnLst/>
            <a:rect l="l" t="t" r="r" b="b"/>
            <a:pathLst>
              <a:path w="5630553" h="3967597">
                <a:moveTo>
                  <a:pt x="72290" y="0"/>
                </a:moveTo>
                <a:lnTo>
                  <a:pt x="5558263" y="0"/>
                </a:lnTo>
                <a:cubicBezTo>
                  <a:pt x="5598188" y="0"/>
                  <a:pt x="5630553" y="32365"/>
                  <a:pt x="5630553" y="72290"/>
                </a:cubicBezTo>
                <a:lnTo>
                  <a:pt x="5630553" y="3895307"/>
                </a:lnTo>
                <a:cubicBezTo>
                  <a:pt x="5630553" y="3935232"/>
                  <a:pt x="5598188" y="3967597"/>
                  <a:pt x="5558263" y="3967597"/>
                </a:cubicBezTo>
                <a:lnTo>
                  <a:pt x="72290" y="3967597"/>
                </a:lnTo>
                <a:cubicBezTo>
                  <a:pt x="32365" y="3967597"/>
                  <a:pt x="0" y="3935232"/>
                  <a:pt x="0" y="3895307"/>
                </a:cubicBezTo>
                <a:lnTo>
                  <a:pt x="0" y="72290"/>
                </a:lnTo>
                <a:cubicBezTo>
                  <a:pt x="0" y="32365"/>
                  <a:pt x="32365" y="0"/>
                  <a:pt x="7229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64764" y="3072324"/>
            <a:ext cx="180757" cy="180757"/>
          </a:xfrm>
          <a:custGeom>
            <a:avLst/>
            <a:gdLst/>
            <a:ahLst/>
            <a:cxnLst/>
            <a:rect l="l" t="t" r="r" b="b"/>
            <a:pathLst>
              <a:path w="180757" h="180757">
                <a:moveTo>
                  <a:pt x="0" y="90378"/>
                </a:moveTo>
                <a:cubicBezTo>
                  <a:pt x="0" y="40496"/>
                  <a:pt x="40496" y="0"/>
                  <a:pt x="90378" y="0"/>
                </a:cubicBezTo>
                <a:cubicBezTo>
                  <a:pt x="140259" y="0"/>
                  <a:pt x="180757" y="40496"/>
                  <a:pt x="180757" y="90378"/>
                </a:cubicBezTo>
                <a:cubicBezTo>
                  <a:pt x="180757" y="140259"/>
                  <a:pt x="140259" y="180757"/>
                  <a:pt x="90378" y="180757"/>
                </a:cubicBezTo>
                <a:cubicBezTo>
                  <a:pt x="40496" y="180757"/>
                  <a:pt x="0" y="140259"/>
                  <a:pt x="0" y="90378"/>
                </a:cubicBezTo>
                <a:close/>
                <a:moveTo>
                  <a:pt x="101675" y="33892"/>
                </a:moveTo>
                <a:cubicBezTo>
                  <a:pt x="101675" y="27657"/>
                  <a:pt x="96613" y="22595"/>
                  <a:pt x="90378" y="22595"/>
                </a:cubicBezTo>
                <a:cubicBezTo>
                  <a:pt x="84143" y="22595"/>
                  <a:pt x="79082" y="27657"/>
                  <a:pt x="79082" y="33892"/>
                </a:cubicBezTo>
                <a:cubicBezTo>
                  <a:pt x="79082" y="40127"/>
                  <a:pt x="84143" y="45189"/>
                  <a:pt x="90378" y="45189"/>
                </a:cubicBezTo>
                <a:cubicBezTo>
                  <a:pt x="96613" y="45189"/>
                  <a:pt x="101675" y="40127"/>
                  <a:pt x="101675" y="33892"/>
                </a:cubicBezTo>
                <a:close/>
                <a:moveTo>
                  <a:pt x="90378" y="146864"/>
                </a:moveTo>
                <a:cubicBezTo>
                  <a:pt x="102840" y="146864"/>
                  <a:pt x="112973" y="136732"/>
                  <a:pt x="112973" y="124270"/>
                </a:cubicBezTo>
                <a:cubicBezTo>
                  <a:pt x="112973" y="118551"/>
                  <a:pt x="110854" y="113290"/>
                  <a:pt x="107324" y="109336"/>
                </a:cubicBezTo>
                <a:lnTo>
                  <a:pt x="131860" y="60300"/>
                </a:lnTo>
                <a:cubicBezTo>
                  <a:pt x="133943" y="56098"/>
                  <a:pt x="132249" y="51015"/>
                  <a:pt x="128083" y="48931"/>
                </a:cubicBezTo>
                <a:cubicBezTo>
                  <a:pt x="123916" y="46848"/>
                  <a:pt x="118798" y="48543"/>
                  <a:pt x="116716" y="52709"/>
                </a:cubicBezTo>
                <a:lnTo>
                  <a:pt x="92179" y="101746"/>
                </a:lnTo>
                <a:cubicBezTo>
                  <a:pt x="91578" y="101710"/>
                  <a:pt x="90978" y="101675"/>
                  <a:pt x="90378" y="101675"/>
                </a:cubicBezTo>
                <a:cubicBezTo>
                  <a:pt x="77916" y="101675"/>
                  <a:pt x="67784" y="111808"/>
                  <a:pt x="67784" y="124270"/>
                </a:cubicBezTo>
                <a:cubicBezTo>
                  <a:pt x="67784" y="136732"/>
                  <a:pt x="77916" y="146864"/>
                  <a:pt x="90378" y="146864"/>
                </a:cubicBezTo>
                <a:close/>
                <a:moveTo>
                  <a:pt x="62135" y="50838"/>
                </a:moveTo>
                <a:cubicBezTo>
                  <a:pt x="62135" y="44602"/>
                  <a:pt x="57073" y="39540"/>
                  <a:pt x="50838" y="39540"/>
                </a:cubicBezTo>
                <a:cubicBezTo>
                  <a:pt x="44602" y="39540"/>
                  <a:pt x="39540" y="44602"/>
                  <a:pt x="39540" y="50838"/>
                </a:cubicBezTo>
                <a:cubicBezTo>
                  <a:pt x="39540" y="57073"/>
                  <a:pt x="44602" y="62135"/>
                  <a:pt x="50838" y="62135"/>
                </a:cubicBezTo>
                <a:cubicBezTo>
                  <a:pt x="57073" y="62135"/>
                  <a:pt x="62135" y="57073"/>
                  <a:pt x="62135" y="50838"/>
                </a:cubicBezTo>
                <a:close/>
                <a:moveTo>
                  <a:pt x="33892" y="101675"/>
                </a:moveTo>
                <a:cubicBezTo>
                  <a:pt x="40127" y="101675"/>
                  <a:pt x="45189" y="96613"/>
                  <a:pt x="45189" y="90378"/>
                </a:cubicBezTo>
                <a:cubicBezTo>
                  <a:pt x="45189" y="84143"/>
                  <a:pt x="40127" y="79082"/>
                  <a:pt x="33892" y="79082"/>
                </a:cubicBezTo>
                <a:cubicBezTo>
                  <a:pt x="27657" y="79082"/>
                  <a:pt x="22595" y="84143"/>
                  <a:pt x="22595" y="90378"/>
                </a:cubicBezTo>
                <a:cubicBezTo>
                  <a:pt x="22595" y="96613"/>
                  <a:pt x="27657" y="101675"/>
                  <a:pt x="33892" y="101675"/>
                </a:cubicBezTo>
                <a:close/>
                <a:moveTo>
                  <a:pt x="158162" y="90378"/>
                </a:moveTo>
                <a:cubicBezTo>
                  <a:pt x="158162" y="84143"/>
                  <a:pt x="153098" y="79082"/>
                  <a:pt x="146864" y="79082"/>
                </a:cubicBezTo>
                <a:cubicBezTo>
                  <a:pt x="140628" y="79082"/>
                  <a:pt x="135567" y="84143"/>
                  <a:pt x="135567" y="90378"/>
                </a:cubicBezTo>
                <a:cubicBezTo>
                  <a:pt x="135567" y="96613"/>
                  <a:pt x="140628" y="101675"/>
                  <a:pt x="146864" y="101675"/>
                </a:cubicBezTo>
                <a:cubicBezTo>
                  <a:pt x="153098" y="101675"/>
                  <a:pt x="158162" y="96613"/>
                  <a:pt x="158162" y="90378"/>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68115" y="3036208"/>
            <a:ext cx="5133474"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Performance improvement</a:t>
            </a:r>
            <a:endParaRPr lang="en-US" sz="1100"/>
          </a:p>
        </p:txBody>
      </p:sp>
      <p:sp>
        <p:nvSpPr>
          <p:cNvPr id="16" name="Freeform 16"/>
          <p:cNvSpPr/>
          <p:nvPr/>
        </p:nvSpPr>
        <p:spPr>
          <a:xfrm>
            <a:off x="542170" y="3433863"/>
            <a:ext cx="5269041" cy="1301444"/>
          </a:xfrm>
          <a:custGeom>
            <a:avLst/>
            <a:gdLst/>
            <a:ahLst/>
            <a:cxnLst/>
            <a:rect l="l" t="t" r="r" b="b"/>
            <a:pathLst>
              <a:path w="5269041" h="1301444">
                <a:moveTo>
                  <a:pt x="72307" y="0"/>
                </a:moveTo>
                <a:lnTo>
                  <a:pt x="5196733" y="0"/>
                </a:lnTo>
                <a:cubicBezTo>
                  <a:pt x="5236667" y="0"/>
                  <a:pt x="5269041" y="32374"/>
                  <a:pt x="5269041" y="72307"/>
                </a:cubicBezTo>
                <a:lnTo>
                  <a:pt x="5269041" y="1229136"/>
                </a:lnTo>
                <a:cubicBezTo>
                  <a:pt x="5269041" y="1269072"/>
                  <a:pt x="5236667" y="1301444"/>
                  <a:pt x="5196733" y="1301444"/>
                </a:cubicBezTo>
                <a:lnTo>
                  <a:pt x="72307" y="1301444"/>
                </a:lnTo>
                <a:cubicBezTo>
                  <a:pt x="32400" y="1301444"/>
                  <a:pt x="0" y="1269044"/>
                  <a:pt x="0" y="1229136"/>
                </a:cubicBezTo>
                <a:lnTo>
                  <a:pt x="0" y="72307"/>
                </a:lnTo>
                <a:cubicBezTo>
                  <a:pt x="0" y="32374"/>
                  <a:pt x="32374" y="0"/>
                  <a:pt x="7230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23485" y="3650744"/>
            <a:ext cx="5106360" cy="54226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10-50×</a:t>
            </a:r>
            <a:endParaRPr lang="en-US" sz="1100"/>
          </a:p>
        </p:txBody>
      </p:sp>
      <p:sp>
        <p:nvSpPr>
          <p:cNvPr id="18" name="AutoShape 18"/>
          <p:cNvSpPr/>
          <p:nvPr/>
        </p:nvSpPr>
        <p:spPr>
          <a:xfrm>
            <a:off x="718382" y="4265279"/>
            <a:ext cx="4916566" cy="253059"/>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Performance improvement</a:t>
            </a:r>
            <a:endParaRPr lang="en-US" sz="1100"/>
          </a:p>
        </p:txBody>
      </p:sp>
      <p:sp>
        <p:nvSpPr>
          <p:cNvPr id="19" name="Freeform 19"/>
          <p:cNvSpPr/>
          <p:nvPr/>
        </p:nvSpPr>
        <p:spPr>
          <a:xfrm>
            <a:off x="6205904" y="1265046"/>
            <a:ext cx="5630553" cy="3895294"/>
          </a:xfrm>
          <a:custGeom>
            <a:avLst/>
            <a:gdLst/>
            <a:ahLst/>
            <a:cxnLst/>
            <a:rect l="l" t="t" r="r" b="b"/>
            <a:pathLst>
              <a:path w="5630553" h="3895294">
                <a:moveTo>
                  <a:pt x="72297" y="0"/>
                </a:moveTo>
                <a:lnTo>
                  <a:pt x="5558257" y="0"/>
                </a:lnTo>
                <a:cubicBezTo>
                  <a:pt x="5598185" y="0"/>
                  <a:pt x="5630553" y="32368"/>
                  <a:pt x="5630553" y="72297"/>
                </a:cubicBezTo>
                <a:lnTo>
                  <a:pt x="5630553" y="3822998"/>
                </a:lnTo>
                <a:cubicBezTo>
                  <a:pt x="5630553" y="3862926"/>
                  <a:pt x="5598185" y="3895294"/>
                  <a:pt x="5558257" y="3895294"/>
                </a:cubicBezTo>
                <a:lnTo>
                  <a:pt x="72297" y="3895294"/>
                </a:lnTo>
                <a:cubicBezTo>
                  <a:pt x="32368" y="3895294"/>
                  <a:pt x="0" y="3862926"/>
                  <a:pt x="0" y="3822998"/>
                </a:cubicBezTo>
                <a:lnTo>
                  <a:pt x="0" y="72297"/>
                </a:lnTo>
                <a:cubicBezTo>
                  <a:pt x="0" y="32395"/>
                  <a:pt x="32395" y="0"/>
                  <a:pt x="72297"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0" name="Picture 20"/>
          <p:cNvPicPr>
            <a:picLocks noChangeAspect="1"/>
          </p:cNvPicPr>
          <p:nvPr/>
        </p:nvPicPr>
        <p:blipFill>
          <a:blip r:embed="rId1"/>
          <a:srcRect t="3" b="2"/>
          <a:stretch>
            <a:fillRect/>
          </a:stretch>
        </p:blipFill>
        <p:spPr>
          <a:xfrm>
            <a:off x="6386674" y="1445740"/>
            <a:ext cx="5269041" cy="3533782"/>
          </a:xfrm>
          <a:prstGeom prst="roundRect">
            <a:avLst>
              <a:gd name="adj" fmla="val 1023"/>
            </a:avLst>
          </a:prstGeom>
          <a:ln w="12700">
            <a:noFill/>
            <a:prstDash val="solid"/>
          </a:ln>
        </p:spPr>
      </p:pic>
      <p:sp>
        <p:nvSpPr>
          <p:cNvPr id="21" name="Freeform 21"/>
          <p:cNvSpPr/>
          <p:nvPr/>
        </p:nvSpPr>
        <p:spPr>
          <a:xfrm>
            <a:off x="6205904" y="5303109"/>
            <a:ext cx="5630553" cy="1518351"/>
          </a:xfrm>
          <a:custGeom>
            <a:avLst/>
            <a:gdLst/>
            <a:ahLst/>
            <a:cxnLst/>
            <a:rect l="l" t="t" r="r" b="b"/>
            <a:pathLst>
              <a:path w="5630553" h="1518351">
                <a:moveTo>
                  <a:pt x="72304" y="0"/>
                </a:moveTo>
                <a:lnTo>
                  <a:pt x="5558249" y="0"/>
                </a:lnTo>
                <a:cubicBezTo>
                  <a:pt x="5598182" y="0"/>
                  <a:pt x="5630553" y="32372"/>
                  <a:pt x="5630553" y="72304"/>
                </a:cubicBezTo>
                <a:lnTo>
                  <a:pt x="5630553" y="1446047"/>
                </a:lnTo>
                <a:cubicBezTo>
                  <a:pt x="5630553" y="1485980"/>
                  <a:pt x="5598182" y="1518351"/>
                  <a:pt x="5558249" y="1518351"/>
                </a:cubicBezTo>
                <a:lnTo>
                  <a:pt x="72304" y="1518351"/>
                </a:lnTo>
                <a:cubicBezTo>
                  <a:pt x="32372" y="1518351"/>
                  <a:pt x="0" y="1485980"/>
                  <a:pt x="0" y="1446047"/>
                </a:cubicBezTo>
                <a:lnTo>
                  <a:pt x="0" y="72304"/>
                </a:lnTo>
                <a:cubicBezTo>
                  <a:pt x="0" y="32372"/>
                  <a:pt x="32372" y="0"/>
                  <a:pt x="72304"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6431793" y="5519919"/>
            <a:ext cx="135567" cy="186406"/>
          </a:xfrm>
          <a:custGeom>
            <a:avLst/>
            <a:gdLst/>
            <a:ahLst/>
            <a:cxnLst/>
            <a:rect l="l" t="t" r="r" b="b"/>
            <a:pathLst>
              <a:path w="135567" h="186406">
                <a:moveTo>
                  <a:pt x="103405" y="135567"/>
                </a:moveTo>
                <a:cubicBezTo>
                  <a:pt x="105981" y="127693"/>
                  <a:pt x="111136" y="120562"/>
                  <a:pt x="116962" y="114419"/>
                </a:cubicBezTo>
                <a:cubicBezTo>
                  <a:pt x="128506" y="102274"/>
                  <a:pt x="135567" y="85860"/>
                  <a:pt x="135567" y="67784"/>
                </a:cubicBezTo>
                <a:cubicBezTo>
                  <a:pt x="135567" y="30361"/>
                  <a:pt x="105206" y="0"/>
                  <a:pt x="67784" y="0"/>
                </a:cubicBezTo>
                <a:cubicBezTo>
                  <a:pt x="30361" y="0"/>
                  <a:pt x="0" y="30361"/>
                  <a:pt x="0" y="67784"/>
                </a:cubicBezTo>
                <a:cubicBezTo>
                  <a:pt x="0" y="85860"/>
                  <a:pt x="7061" y="102274"/>
                  <a:pt x="18605" y="114419"/>
                </a:cubicBezTo>
                <a:cubicBezTo>
                  <a:pt x="24430" y="120562"/>
                  <a:pt x="29620" y="127693"/>
                  <a:pt x="32161" y="135567"/>
                </a:cubicBezTo>
                <a:lnTo>
                  <a:pt x="103370" y="135567"/>
                </a:lnTo>
                <a:close/>
                <a:moveTo>
                  <a:pt x="101675" y="152513"/>
                </a:moveTo>
                <a:lnTo>
                  <a:pt x="33892" y="152513"/>
                </a:lnTo>
                <a:lnTo>
                  <a:pt x="33892" y="158162"/>
                </a:lnTo>
                <a:cubicBezTo>
                  <a:pt x="33892" y="173766"/>
                  <a:pt x="46532" y="186406"/>
                  <a:pt x="62135" y="186406"/>
                </a:cubicBezTo>
                <a:lnTo>
                  <a:pt x="73431" y="186406"/>
                </a:lnTo>
                <a:cubicBezTo>
                  <a:pt x="89037" y="186406"/>
                  <a:pt x="101675" y="173766"/>
                  <a:pt x="101675" y="158162"/>
                </a:cubicBezTo>
                <a:lnTo>
                  <a:pt x="101675" y="152513"/>
                </a:lnTo>
                <a:close/>
                <a:moveTo>
                  <a:pt x="64959" y="39540"/>
                </a:moveTo>
                <a:cubicBezTo>
                  <a:pt x="50908" y="39540"/>
                  <a:pt x="39540" y="50908"/>
                  <a:pt x="39540" y="64959"/>
                </a:cubicBezTo>
                <a:cubicBezTo>
                  <a:pt x="39540" y="69654"/>
                  <a:pt x="35763" y="73431"/>
                  <a:pt x="31067" y="73431"/>
                </a:cubicBezTo>
                <a:cubicBezTo>
                  <a:pt x="26372" y="73431"/>
                  <a:pt x="22595" y="69654"/>
                  <a:pt x="22595" y="64959"/>
                </a:cubicBezTo>
                <a:cubicBezTo>
                  <a:pt x="22595" y="41553"/>
                  <a:pt x="41553" y="22595"/>
                  <a:pt x="64959" y="22595"/>
                </a:cubicBezTo>
                <a:cubicBezTo>
                  <a:pt x="69654" y="22595"/>
                  <a:pt x="73431" y="26372"/>
                  <a:pt x="73431" y="31067"/>
                </a:cubicBezTo>
                <a:cubicBezTo>
                  <a:pt x="73431" y="35763"/>
                  <a:pt x="69654" y="39540"/>
                  <a:pt x="64959" y="3954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612549" y="5483812"/>
            <a:ext cx="5133474"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Reasons for Improvement</a:t>
            </a:r>
            <a:endParaRPr lang="en-US" sz="1100"/>
          </a:p>
        </p:txBody>
      </p:sp>
      <p:sp>
        <p:nvSpPr>
          <p:cNvPr id="24" name="Freeform 24"/>
          <p:cNvSpPr/>
          <p:nvPr/>
        </p:nvSpPr>
        <p:spPr>
          <a:xfrm>
            <a:off x="6386604" y="5917574"/>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531191" y="5845280"/>
            <a:ext cx="3330827" cy="1807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Reduced global memory access</a:t>
            </a:r>
            <a:endParaRPr lang="en-US" sz="1100"/>
          </a:p>
        </p:txBody>
      </p:sp>
      <p:sp>
        <p:nvSpPr>
          <p:cNvPr id="26" name="Freeform 26"/>
          <p:cNvSpPr/>
          <p:nvPr/>
        </p:nvSpPr>
        <p:spPr>
          <a:xfrm>
            <a:off x="6386604" y="6206748"/>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531191" y="6134455"/>
            <a:ext cx="2931927" cy="1807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Improved parallel efficiency</a:t>
            </a:r>
            <a:endParaRPr lang="en-US" sz="1100"/>
          </a:p>
        </p:txBody>
      </p:sp>
      <p:sp>
        <p:nvSpPr>
          <p:cNvPr id="28" name="Freeform 28"/>
          <p:cNvSpPr/>
          <p:nvPr/>
        </p:nvSpPr>
        <p:spPr>
          <a:xfrm>
            <a:off x="6386604" y="6495923"/>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6531192" y="6423630"/>
            <a:ext cx="4079530" cy="18075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Fully leverages shared memory's low latency</a:t>
            </a:r>
            <a:endParaRPr lang="en-US" sz="1100"/>
          </a:p>
        </p:txBody>
      </p:sp>
      <p:sp>
        <p:nvSpPr>
          <p:cNvPr id="30" name="AutoShape 30"/>
          <p:cNvSpPr/>
          <p:nvPr/>
        </p:nvSpPr>
        <p:spPr>
          <a:xfrm>
            <a:off x="298205" y="6680312"/>
            <a:ext cx="11532240" cy="180756"/>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Image source: Medium - Rimika Dhara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7331" y="591438"/>
            <a:ext cx="11652454" cy="34809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500" b="1" i="0" u="none" strike="noStrike">
                <a:solidFill>
                  <a:srgbClr val="101828"/>
                </a:solidFill>
                <a:latin typeface="微软雅黑" panose="020B0503020204020204" charset="-122"/>
                <a:ea typeface="微软雅黑" panose="020B0503020204020204" charset="-122"/>
                <a:cs typeface="微软雅黑" panose="020B0503020204020204" charset="-122"/>
                <a:sym typeface="微软雅黑" panose="020B0503020204020204" charset="-122"/>
              </a:rPr>
              <a:t>Resources</a:t>
            </a:r>
            <a:endParaRPr lang="en-US" sz="1100"/>
          </a:p>
        </p:txBody>
      </p:sp>
      <p:sp>
        <p:nvSpPr>
          <p:cNvPr id="3" name="Freeform 3"/>
          <p:cNvSpPr/>
          <p:nvPr/>
        </p:nvSpPr>
        <p:spPr>
          <a:xfrm>
            <a:off x="348054" y="1287694"/>
            <a:ext cx="5604317" cy="3654989"/>
          </a:xfrm>
          <a:custGeom>
            <a:avLst/>
            <a:gdLst/>
            <a:ahLst/>
            <a:cxnLst/>
            <a:rect l="l" t="t" r="r" b="b"/>
            <a:pathLst>
              <a:path w="5604317" h="3654989">
                <a:moveTo>
                  <a:pt x="104423" y="0"/>
                </a:moveTo>
                <a:lnTo>
                  <a:pt x="5499894" y="0"/>
                </a:lnTo>
                <a:cubicBezTo>
                  <a:pt x="5557564" y="0"/>
                  <a:pt x="5604317" y="46753"/>
                  <a:pt x="5604317" y="104423"/>
                </a:cubicBezTo>
                <a:lnTo>
                  <a:pt x="5604317" y="3550566"/>
                </a:lnTo>
                <a:cubicBezTo>
                  <a:pt x="5604317" y="3608238"/>
                  <a:pt x="5557564" y="3654989"/>
                  <a:pt x="5499894" y="3654989"/>
                </a:cubicBezTo>
                <a:lnTo>
                  <a:pt x="104423" y="3654989"/>
                </a:lnTo>
                <a:cubicBezTo>
                  <a:pt x="46753" y="3654989"/>
                  <a:pt x="0" y="3608238"/>
                  <a:pt x="0" y="3550566"/>
                </a:cubicBezTo>
                <a:lnTo>
                  <a:pt x="0" y="104423"/>
                </a:lnTo>
                <a:cubicBezTo>
                  <a:pt x="0" y="46791"/>
                  <a:pt x="46791" y="0"/>
                  <a:pt x="10442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56886" y="1496525"/>
            <a:ext cx="5291032" cy="2784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Advanced Topics</a:t>
            </a:r>
            <a:endParaRPr lang="en-US" sz="1100"/>
          </a:p>
        </p:txBody>
      </p:sp>
      <p:sp>
        <p:nvSpPr>
          <p:cNvPr id="5" name="Freeform 5"/>
          <p:cNvSpPr/>
          <p:nvPr/>
        </p:nvSpPr>
        <p:spPr>
          <a:xfrm>
            <a:off x="574204" y="1914127"/>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74204" y="1914127"/>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739416" y="2140270"/>
            <a:ext cx="130534" cy="174047"/>
          </a:xfrm>
          <a:custGeom>
            <a:avLst/>
            <a:gdLst/>
            <a:ahLst/>
            <a:cxnLst/>
            <a:rect l="l" t="t" r="r" b="b"/>
            <a:pathLst>
              <a:path w="130534" h="174047">
                <a:moveTo>
                  <a:pt x="21756" y="0"/>
                </a:moveTo>
                <a:cubicBezTo>
                  <a:pt x="9756" y="0"/>
                  <a:pt x="0" y="9756"/>
                  <a:pt x="0" y="21756"/>
                </a:cubicBezTo>
                <a:lnTo>
                  <a:pt x="0" y="152291"/>
                </a:lnTo>
                <a:cubicBezTo>
                  <a:pt x="0" y="164291"/>
                  <a:pt x="9756" y="174047"/>
                  <a:pt x="21756" y="174047"/>
                </a:cubicBezTo>
                <a:lnTo>
                  <a:pt x="108779" y="174047"/>
                </a:lnTo>
                <a:cubicBezTo>
                  <a:pt x="120780" y="174047"/>
                  <a:pt x="130534" y="164291"/>
                  <a:pt x="130534" y="152291"/>
                </a:cubicBezTo>
                <a:lnTo>
                  <a:pt x="130534" y="21756"/>
                </a:lnTo>
                <a:cubicBezTo>
                  <a:pt x="130534" y="9756"/>
                  <a:pt x="120780" y="0"/>
                  <a:pt x="108779" y="0"/>
                </a:cubicBezTo>
                <a:lnTo>
                  <a:pt x="21756" y="0"/>
                </a:lnTo>
                <a:close/>
                <a:moveTo>
                  <a:pt x="32634" y="21756"/>
                </a:moveTo>
                <a:lnTo>
                  <a:pt x="97900" y="21756"/>
                </a:lnTo>
                <a:cubicBezTo>
                  <a:pt x="103918" y="21756"/>
                  <a:pt x="108779" y="26617"/>
                  <a:pt x="108779" y="32634"/>
                </a:cubicBezTo>
                <a:lnTo>
                  <a:pt x="108779" y="43511"/>
                </a:lnTo>
                <a:cubicBezTo>
                  <a:pt x="108779" y="49529"/>
                  <a:pt x="103918" y="54390"/>
                  <a:pt x="97900" y="54390"/>
                </a:cubicBezTo>
                <a:lnTo>
                  <a:pt x="32634" y="54390"/>
                </a:lnTo>
                <a:cubicBezTo>
                  <a:pt x="26617" y="54390"/>
                  <a:pt x="21756" y="49529"/>
                  <a:pt x="21756" y="43511"/>
                </a:cubicBezTo>
                <a:lnTo>
                  <a:pt x="21756" y="32634"/>
                </a:lnTo>
                <a:cubicBezTo>
                  <a:pt x="21756" y="26617"/>
                  <a:pt x="26617" y="21756"/>
                  <a:pt x="32634" y="21756"/>
                </a:cubicBezTo>
                <a:close/>
                <a:moveTo>
                  <a:pt x="38073" y="78864"/>
                </a:moveTo>
                <a:cubicBezTo>
                  <a:pt x="38073" y="83368"/>
                  <a:pt x="34417" y="87024"/>
                  <a:pt x="29914" y="87024"/>
                </a:cubicBezTo>
                <a:cubicBezTo>
                  <a:pt x="25411" y="87024"/>
                  <a:pt x="21756" y="83368"/>
                  <a:pt x="21756" y="78864"/>
                </a:cubicBezTo>
                <a:cubicBezTo>
                  <a:pt x="21756" y="74362"/>
                  <a:pt x="25411" y="70707"/>
                  <a:pt x="29914" y="70707"/>
                </a:cubicBezTo>
                <a:cubicBezTo>
                  <a:pt x="34417" y="70707"/>
                  <a:pt x="38073" y="74362"/>
                  <a:pt x="38073" y="78864"/>
                </a:cubicBezTo>
                <a:close/>
                <a:moveTo>
                  <a:pt x="65268" y="87024"/>
                </a:moveTo>
                <a:cubicBezTo>
                  <a:pt x="60764" y="87024"/>
                  <a:pt x="57109" y="83368"/>
                  <a:pt x="57109" y="78864"/>
                </a:cubicBezTo>
                <a:cubicBezTo>
                  <a:pt x="57109" y="74362"/>
                  <a:pt x="60764" y="70707"/>
                  <a:pt x="65268" y="70707"/>
                </a:cubicBezTo>
                <a:cubicBezTo>
                  <a:pt x="69770" y="70707"/>
                  <a:pt x="73426" y="74362"/>
                  <a:pt x="73426" y="78864"/>
                </a:cubicBezTo>
                <a:cubicBezTo>
                  <a:pt x="73426" y="83368"/>
                  <a:pt x="69770" y="87024"/>
                  <a:pt x="65268" y="87024"/>
                </a:cubicBezTo>
                <a:close/>
                <a:moveTo>
                  <a:pt x="108779" y="78864"/>
                </a:moveTo>
                <a:cubicBezTo>
                  <a:pt x="108779" y="83368"/>
                  <a:pt x="105124" y="87024"/>
                  <a:pt x="100621" y="87024"/>
                </a:cubicBezTo>
                <a:cubicBezTo>
                  <a:pt x="96117" y="87024"/>
                  <a:pt x="92464" y="83368"/>
                  <a:pt x="92464" y="78864"/>
                </a:cubicBezTo>
                <a:cubicBezTo>
                  <a:pt x="92464" y="74362"/>
                  <a:pt x="96117" y="70707"/>
                  <a:pt x="100621" y="70707"/>
                </a:cubicBezTo>
                <a:cubicBezTo>
                  <a:pt x="105124" y="70707"/>
                  <a:pt x="108779" y="74362"/>
                  <a:pt x="108779" y="78864"/>
                </a:cubicBezTo>
                <a:close/>
                <a:moveTo>
                  <a:pt x="29914" y="119657"/>
                </a:moveTo>
                <a:cubicBezTo>
                  <a:pt x="25411" y="119657"/>
                  <a:pt x="21756" y="116002"/>
                  <a:pt x="21756" y="111498"/>
                </a:cubicBezTo>
                <a:cubicBezTo>
                  <a:pt x="21756" y="106996"/>
                  <a:pt x="25411" y="103340"/>
                  <a:pt x="29914" y="103340"/>
                </a:cubicBezTo>
                <a:cubicBezTo>
                  <a:pt x="34417" y="103340"/>
                  <a:pt x="38073" y="106996"/>
                  <a:pt x="38073" y="111498"/>
                </a:cubicBezTo>
                <a:cubicBezTo>
                  <a:pt x="38073" y="116002"/>
                  <a:pt x="34417" y="119657"/>
                  <a:pt x="29914" y="119657"/>
                </a:cubicBezTo>
                <a:close/>
                <a:moveTo>
                  <a:pt x="73426" y="111498"/>
                </a:moveTo>
                <a:cubicBezTo>
                  <a:pt x="73426" y="116002"/>
                  <a:pt x="69770" y="119657"/>
                  <a:pt x="65268" y="119657"/>
                </a:cubicBezTo>
                <a:cubicBezTo>
                  <a:pt x="60764" y="119657"/>
                  <a:pt x="57109" y="116002"/>
                  <a:pt x="57109" y="111498"/>
                </a:cubicBezTo>
                <a:cubicBezTo>
                  <a:pt x="57109" y="106996"/>
                  <a:pt x="60764" y="103340"/>
                  <a:pt x="65268" y="103340"/>
                </a:cubicBezTo>
                <a:cubicBezTo>
                  <a:pt x="69770" y="103340"/>
                  <a:pt x="73426" y="106996"/>
                  <a:pt x="73426" y="111498"/>
                </a:cubicBezTo>
                <a:close/>
                <a:moveTo>
                  <a:pt x="100621" y="119657"/>
                </a:moveTo>
                <a:cubicBezTo>
                  <a:pt x="96117" y="119657"/>
                  <a:pt x="92464" y="116002"/>
                  <a:pt x="92464" y="111498"/>
                </a:cubicBezTo>
                <a:cubicBezTo>
                  <a:pt x="92464" y="106996"/>
                  <a:pt x="96117" y="103340"/>
                  <a:pt x="100621" y="103340"/>
                </a:cubicBezTo>
                <a:cubicBezTo>
                  <a:pt x="105124" y="103340"/>
                  <a:pt x="108779" y="106996"/>
                  <a:pt x="108779" y="111498"/>
                </a:cubicBezTo>
                <a:cubicBezTo>
                  <a:pt x="108779" y="116002"/>
                  <a:pt x="105124" y="119657"/>
                  <a:pt x="100621" y="119657"/>
                </a:cubicBezTo>
                <a:close/>
                <a:moveTo>
                  <a:pt x="21756" y="144134"/>
                </a:moveTo>
                <a:cubicBezTo>
                  <a:pt x="21756" y="139612"/>
                  <a:pt x="25392" y="135974"/>
                  <a:pt x="29914" y="135974"/>
                </a:cubicBezTo>
                <a:lnTo>
                  <a:pt x="67987" y="135974"/>
                </a:lnTo>
                <a:cubicBezTo>
                  <a:pt x="72508" y="135974"/>
                  <a:pt x="76145" y="139612"/>
                  <a:pt x="76145" y="144134"/>
                </a:cubicBezTo>
                <a:cubicBezTo>
                  <a:pt x="76145" y="148654"/>
                  <a:pt x="72508" y="152291"/>
                  <a:pt x="67987" y="152291"/>
                </a:cubicBezTo>
                <a:lnTo>
                  <a:pt x="29914" y="152291"/>
                </a:lnTo>
                <a:cubicBezTo>
                  <a:pt x="25392" y="152291"/>
                  <a:pt x="21756" y="148654"/>
                  <a:pt x="21756" y="144134"/>
                </a:cubicBezTo>
                <a:close/>
                <a:moveTo>
                  <a:pt x="100621" y="135974"/>
                </a:moveTo>
                <a:cubicBezTo>
                  <a:pt x="105142" y="135974"/>
                  <a:pt x="108779" y="139612"/>
                  <a:pt x="108779" y="144134"/>
                </a:cubicBezTo>
                <a:cubicBezTo>
                  <a:pt x="108779" y="148654"/>
                  <a:pt x="105142" y="152291"/>
                  <a:pt x="100621" y="152291"/>
                </a:cubicBezTo>
                <a:cubicBezTo>
                  <a:pt x="96100" y="152291"/>
                  <a:pt x="92464" y="148654"/>
                  <a:pt x="92464" y="144134"/>
                </a:cubicBezTo>
                <a:cubicBezTo>
                  <a:pt x="92464" y="139612"/>
                  <a:pt x="96100" y="135974"/>
                  <a:pt x="100621" y="13597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17845" y="2018505"/>
            <a:ext cx="3120620" cy="20860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Matrix Multiplication (MatMul)</a:t>
            </a:r>
            <a:endParaRPr lang="en-US" sz="1100"/>
          </a:p>
        </p:txBody>
      </p:sp>
      <p:sp>
        <p:nvSpPr>
          <p:cNvPr id="9" name="AutoShape 9"/>
          <p:cNvSpPr/>
          <p:nvPr/>
        </p:nvSpPr>
        <p:spPr>
          <a:xfrm>
            <a:off x="1017845" y="2262179"/>
            <a:ext cx="3359959" cy="20860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Learn shared memory and tiled computation</a:t>
            </a:r>
            <a:endParaRPr lang="en-US" sz="1100"/>
          </a:p>
        </p:txBody>
      </p:sp>
      <p:sp>
        <p:nvSpPr>
          <p:cNvPr id="10" name="Freeform 10"/>
          <p:cNvSpPr/>
          <p:nvPr/>
        </p:nvSpPr>
        <p:spPr>
          <a:xfrm>
            <a:off x="574204" y="2644938"/>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74204" y="2644938"/>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17660" y="2892845"/>
            <a:ext cx="174047" cy="130534"/>
          </a:xfrm>
          <a:custGeom>
            <a:avLst/>
            <a:gdLst/>
            <a:ahLst/>
            <a:cxnLst/>
            <a:rect l="l" t="t" r="r" b="b"/>
            <a:pathLst>
              <a:path w="174047" h="130534">
                <a:moveTo>
                  <a:pt x="21756" y="10878"/>
                </a:moveTo>
                <a:cubicBezTo>
                  <a:pt x="21756" y="4861"/>
                  <a:pt x="26617" y="0"/>
                  <a:pt x="32634" y="0"/>
                </a:cubicBezTo>
                <a:lnTo>
                  <a:pt x="87024" y="0"/>
                </a:lnTo>
                <a:cubicBezTo>
                  <a:pt x="93040" y="0"/>
                  <a:pt x="97900" y="4861"/>
                  <a:pt x="97900" y="10878"/>
                </a:cubicBezTo>
                <a:lnTo>
                  <a:pt x="97900" y="108778"/>
                </a:lnTo>
                <a:lnTo>
                  <a:pt x="130534" y="108778"/>
                </a:lnTo>
                <a:lnTo>
                  <a:pt x="130534" y="65268"/>
                </a:lnTo>
                <a:cubicBezTo>
                  <a:pt x="130534" y="59251"/>
                  <a:pt x="135396" y="54389"/>
                  <a:pt x="141413" y="54389"/>
                </a:cubicBezTo>
                <a:lnTo>
                  <a:pt x="163170" y="54389"/>
                </a:lnTo>
                <a:cubicBezTo>
                  <a:pt x="169186" y="54389"/>
                  <a:pt x="174047" y="59251"/>
                  <a:pt x="174047" y="65268"/>
                </a:cubicBezTo>
                <a:cubicBezTo>
                  <a:pt x="174047" y="71284"/>
                  <a:pt x="169186" y="76144"/>
                  <a:pt x="163170" y="76144"/>
                </a:cubicBezTo>
                <a:lnTo>
                  <a:pt x="152291" y="76144"/>
                </a:lnTo>
                <a:lnTo>
                  <a:pt x="152291" y="119657"/>
                </a:lnTo>
                <a:cubicBezTo>
                  <a:pt x="152291" y="125674"/>
                  <a:pt x="147430" y="130535"/>
                  <a:pt x="141413" y="130535"/>
                </a:cubicBezTo>
                <a:lnTo>
                  <a:pt x="87024" y="130535"/>
                </a:lnTo>
                <a:cubicBezTo>
                  <a:pt x="81007" y="130535"/>
                  <a:pt x="76145" y="125674"/>
                  <a:pt x="76145" y="119657"/>
                </a:cubicBezTo>
                <a:lnTo>
                  <a:pt x="76145" y="21755"/>
                </a:lnTo>
                <a:lnTo>
                  <a:pt x="43511" y="21755"/>
                </a:lnTo>
                <a:lnTo>
                  <a:pt x="43511" y="65268"/>
                </a:lnTo>
                <a:cubicBezTo>
                  <a:pt x="43511" y="71284"/>
                  <a:pt x="38651" y="76144"/>
                  <a:pt x="32634" y="76144"/>
                </a:cubicBezTo>
                <a:lnTo>
                  <a:pt x="10878" y="76144"/>
                </a:lnTo>
                <a:cubicBezTo>
                  <a:pt x="4862" y="76144"/>
                  <a:pt x="0" y="71284"/>
                  <a:pt x="0" y="65268"/>
                </a:cubicBezTo>
                <a:cubicBezTo>
                  <a:pt x="0" y="59251"/>
                  <a:pt x="4862" y="54389"/>
                  <a:pt x="10878" y="54389"/>
                </a:cubicBezTo>
                <a:lnTo>
                  <a:pt x="21756" y="54389"/>
                </a:lnTo>
                <a:lnTo>
                  <a:pt x="21756" y="1087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17845" y="2749315"/>
            <a:ext cx="1540317"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sz="1100"/>
          </a:p>
        </p:txBody>
      </p:sp>
      <p:sp>
        <p:nvSpPr>
          <p:cNvPr id="14" name="AutoShape 14"/>
          <p:cNvSpPr/>
          <p:nvPr/>
        </p:nvSpPr>
        <p:spPr>
          <a:xfrm>
            <a:off x="1017844" y="2992990"/>
            <a:ext cx="3768947"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Understand reduction operations and numerical stability</a:t>
            </a:r>
            <a:endParaRPr lang="en-US" sz="1100"/>
          </a:p>
        </p:txBody>
      </p:sp>
      <p:sp>
        <p:nvSpPr>
          <p:cNvPr id="15" name="Freeform 15"/>
          <p:cNvSpPr/>
          <p:nvPr/>
        </p:nvSpPr>
        <p:spPr>
          <a:xfrm>
            <a:off x="574204" y="3375749"/>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74204" y="3375749"/>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717660" y="3601322"/>
            <a:ext cx="174047" cy="175203"/>
          </a:xfrm>
          <a:custGeom>
            <a:avLst/>
            <a:gdLst/>
            <a:ahLst/>
            <a:cxnLst/>
            <a:rect l="l" t="t" r="r" b="b"/>
            <a:pathLst>
              <a:path w="174047" h="175203">
                <a:moveTo>
                  <a:pt x="79035" y="2346"/>
                </a:moveTo>
                <a:cubicBezTo>
                  <a:pt x="84099" y="0"/>
                  <a:pt x="89946" y="0"/>
                  <a:pt x="95013" y="2346"/>
                </a:cubicBezTo>
                <a:lnTo>
                  <a:pt x="169321" y="36679"/>
                </a:lnTo>
                <a:cubicBezTo>
                  <a:pt x="172211" y="38005"/>
                  <a:pt x="174047" y="40894"/>
                  <a:pt x="174047" y="44089"/>
                </a:cubicBezTo>
                <a:cubicBezTo>
                  <a:pt x="174047" y="47285"/>
                  <a:pt x="172211" y="50175"/>
                  <a:pt x="169321" y="51500"/>
                </a:cubicBezTo>
                <a:lnTo>
                  <a:pt x="95013" y="85834"/>
                </a:lnTo>
                <a:cubicBezTo>
                  <a:pt x="89946" y="88179"/>
                  <a:pt x="84099" y="88179"/>
                  <a:pt x="79035" y="85834"/>
                </a:cubicBezTo>
                <a:lnTo>
                  <a:pt x="4724" y="51500"/>
                </a:lnTo>
                <a:cubicBezTo>
                  <a:pt x="1836" y="50141"/>
                  <a:pt x="0" y="47250"/>
                  <a:pt x="0" y="44089"/>
                </a:cubicBezTo>
                <a:cubicBezTo>
                  <a:pt x="0" y="40928"/>
                  <a:pt x="1836" y="38005"/>
                  <a:pt x="4724" y="36679"/>
                </a:cubicBezTo>
                <a:lnTo>
                  <a:pt x="79035" y="2346"/>
                </a:lnTo>
                <a:close/>
                <a:moveTo>
                  <a:pt x="16351" y="74820"/>
                </a:moveTo>
                <a:lnTo>
                  <a:pt x="72202" y="100621"/>
                </a:lnTo>
                <a:cubicBezTo>
                  <a:pt x="81619" y="104972"/>
                  <a:pt x="92464" y="104972"/>
                  <a:pt x="101879" y="100621"/>
                </a:cubicBezTo>
                <a:lnTo>
                  <a:pt x="157730" y="74820"/>
                </a:lnTo>
                <a:lnTo>
                  <a:pt x="169321" y="80190"/>
                </a:lnTo>
                <a:cubicBezTo>
                  <a:pt x="172211" y="81516"/>
                  <a:pt x="174047" y="84406"/>
                  <a:pt x="174047" y="87602"/>
                </a:cubicBezTo>
                <a:cubicBezTo>
                  <a:pt x="174047" y="90798"/>
                  <a:pt x="172211" y="93686"/>
                  <a:pt x="169321" y="95011"/>
                </a:cubicBezTo>
                <a:lnTo>
                  <a:pt x="95013" y="129346"/>
                </a:lnTo>
                <a:cubicBezTo>
                  <a:pt x="89946" y="131692"/>
                  <a:pt x="84099" y="131692"/>
                  <a:pt x="79035" y="129346"/>
                </a:cubicBezTo>
                <a:lnTo>
                  <a:pt x="4724" y="95011"/>
                </a:lnTo>
                <a:cubicBezTo>
                  <a:pt x="1836" y="93652"/>
                  <a:pt x="0" y="90763"/>
                  <a:pt x="0" y="87602"/>
                </a:cubicBezTo>
                <a:cubicBezTo>
                  <a:pt x="0" y="84440"/>
                  <a:pt x="1836" y="81516"/>
                  <a:pt x="4724" y="80190"/>
                </a:cubicBezTo>
                <a:lnTo>
                  <a:pt x="16317" y="74820"/>
                </a:lnTo>
                <a:close/>
                <a:moveTo>
                  <a:pt x="4724" y="123703"/>
                </a:moveTo>
                <a:lnTo>
                  <a:pt x="16317" y="118332"/>
                </a:lnTo>
                <a:lnTo>
                  <a:pt x="72168" y="144132"/>
                </a:lnTo>
                <a:cubicBezTo>
                  <a:pt x="81585" y="148483"/>
                  <a:pt x="92429" y="148483"/>
                  <a:pt x="101845" y="144132"/>
                </a:cubicBezTo>
                <a:lnTo>
                  <a:pt x="157696" y="118332"/>
                </a:lnTo>
                <a:lnTo>
                  <a:pt x="169288" y="123703"/>
                </a:lnTo>
                <a:cubicBezTo>
                  <a:pt x="172176" y="125028"/>
                  <a:pt x="174013" y="127918"/>
                  <a:pt x="174013" y="131112"/>
                </a:cubicBezTo>
                <a:cubicBezTo>
                  <a:pt x="174013" y="134309"/>
                  <a:pt x="172176" y="137198"/>
                  <a:pt x="169288" y="138524"/>
                </a:cubicBezTo>
                <a:lnTo>
                  <a:pt x="94978" y="172857"/>
                </a:lnTo>
                <a:cubicBezTo>
                  <a:pt x="89913" y="175203"/>
                  <a:pt x="84066" y="175203"/>
                  <a:pt x="79002" y="172857"/>
                </a:cubicBezTo>
                <a:lnTo>
                  <a:pt x="4724" y="138524"/>
                </a:lnTo>
                <a:cubicBezTo>
                  <a:pt x="1836" y="137164"/>
                  <a:pt x="0" y="134275"/>
                  <a:pt x="0" y="131112"/>
                </a:cubicBezTo>
                <a:cubicBezTo>
                  <a:pt x="0" y="127951"/>
                  <a:pt x="1836" y="125028"/>
                  <a:pt x="4724" y="12370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017845" y="3480126"/>
            <a:ext cx="1540317"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LayerNorm</a:t>
            </a:r>
            <a:endParaRPr lang="en-US" sz="1100"/>
          </a:p>
        </p:txBody>
      </p:sp>
      <p:sp>
        <p:nvSpPr>
          <p:cNvPr id="19" name="AutoShape 19"/>
          <p:cNvSpPr/>
          <p:nvPr/>
        </p:nvSpPr>
        <p:spPr>
          <a:xfrm>
            <a:off x="1017845" y="3723801"/>
            <a:ext cx="3768946" cy="20795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Learn statistics computation and broadcast operations</a:t>
            </a:r>
            <a:endParaRPr lang="en-US" sz="1100"/>
          </a:p>
        </p:txBody>
      </p:sp>
      <p:sp>
        <p:nvSpPr>
          <p:cNvPr id="20" name="Freeform 20"/>
          <p:cNvSpPr/>
          <p:nvPr/>
        </p:nvSpPr>
        <p:spPr>
          <a:xfrm>
            <a:off x="574204" y="4106560"/>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74204" y="4106560"/>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727620" y="4326422"/>
            <a:ext cx="154127" cy="186625"/>
          </a:xfrm>
          <a:custGeom>
            <a:avLst/>
            <a:gdLst/>
            <a:ahLst/>
            <a:cxnLst/>
            <a:rect l="l" t="t" r="r" b="b"/>
            <a:pathLst>
              <a:path w="154127" h="186625">
                <a:moveTo>
                  <a:pt x="116088" y="2924"/>
                </a:moveTo>
                <a:cubicBezTo>
                  <a:pt x="120133" y="5847"/>
                  <a:pt x="121629" y="11151"/>
                  <a:pt x="119794" y="15773"/>
                </a:cubicBezTo>
                <a:lnTo>
                  <a:pt x="93143" y="82434"/>
                </a:lnTo>
                <a:lnTo>
                  <a:pt x="142331" y="82434"/>
                </a:lnTo>
                <a:cubicBezTo>
                  <a:pt x="146920" y="82434"/>
                  <a:pt x="151000" y="85291"/>
                  <a:pt x="152564" y="89607"/>
                </a:cubicBezTo>
                <a:cubicBezTo>
                  <a:pt x="154127" y="93924"/>
                  <a:pt x="152801" y="98753"/>
                  <a:pt x="149300" y="101675"/>
                </a:cubicBezTo>
                <a:lnTo>
                  <a:pt x="51398" y="183260"/>
                </a:lnTo>
                <a:cubicBezTo>
                  <a:pt x="47557" y="186455"/>
                  <a:pt x="42084" y="186625"/>
                  <a:pt x="38039" y="183700"/>
                </a:cubicBezTo>
                <a:cubicBezTo>
                  <a:pt x="33994" y="180778"/>
                  <a:pt x="32498" y="175475"/>
                  <a:pt x="34334" y="170852"/>
                </a:cubicBezTo>
                <a:lnTo>
                  <a:pt x="60985" y="104189"/>
                </a:lnTo>
                <a:lnTo>
                  <a:pt x="11796" y="104189"/>
                </a:lnTo>
                <a:cubicBezTo>
                  <a:pt x="7207" y="104189"/>
                  <a:pt x="3128" y="101335"/>
                  <a:pt x="1564" y="97018"/>
                </a:cubicBezTo>
                <a:cubicBezTo>
                  <a:pt x="0" y="92701"/>
                  <a:pt x="1326" y="87874"/>
                  <a:pt x="4827" y="84950"/>
                </a:cubicBezTo>
                <a:lnTo>
                  <a:pt x="102729" y="3365"/>
                </a:lnTo>
                <a:cubicBezTo>
                  <a:pt x="106571" y="170"/>
                  <a:pt x="112043" y="0"/>
                  <a:pt x="116088" y="292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1017845" y="4210937"/>
            <a:ext cx="1549019"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Flash Attention</a:t>
            </a:r>
            <a:endParaRPr lang="en-US" sz="1100"/>
          </a:p>
        </p:txBody>
      </p:sp>
      <p:sp>
        <p:nvSpPr>
          <p:cNvPr id="24" name="AutoShape 24"/>
          <p:cNvSpPr/>
          <p:nvPr/>
        </p:nvSpPr>
        <p:spPr>
          <a:xfrm>
            <a:off x="1017845" y="4454612"/>
            <a:ext cx="3633935" cy="27851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Advanced memory optimization and kernel fusion</a:t>
            </a:r>
            <a:endParaRPr lang="en-US" sz="1100"/>
          </a:p>
        </p:txBody>
      </p:sp>
      <p:sp>
        <p:nvSpPr>
          <p:cNvPr id="25" name="Freeform 25"/>
          <p:cNvSpPr/>
          <p:nvPr/>
        </p:nvSpPr>
        <p:spPr>
          <a:xfrm>
            <a:off x="6234726" y="1287694"/>
            <a:ext cx="5604317" cy="3654989"/>
          </a:xfrm>
          <a:custGeom>
            <a:avLst/>
            <a:gdLst/>
            <a:ahLst/>
            <a:cxnLst/>
            <a:rect l="l" t="t" r="r" b="b"/>
            <a:pathLst>
              <a:path w="5604317" h="3654989">
                <a:moveTo>
                  <a:pt x="104423" y="0"/>
                </a:moveTo>
                <a:lnTo>
                  <a:pt x="5499894" y="0"/>
                </a:lnTo>
                <a:cubicBezTo>
                  <a:pt x="5557564" y="0"/>
                  <a:pt x="5604317" y="46753"/>
                  <a:pt x="5604317" y="104423"/>
                </a:cubicBezTo>
                <a:lnTo>
                  <a:pt x="5604317" y="3550566"/>
                </a:lnTo>
                <a:cubicBezTo>
                  <a:pt x="5604317" y="3608238"/>
                  <a:pt x="5557564" y="3654989"/>
                  <a:pt x="5499894" y="3654989"/>
                </a:cubicBezTo>
                <a:lnTo>
                  <a:pt x="104423" y="3654989"/>
                </a:lnTo>
                <a:cubicBezTo>
                  <a:pt x="46753" y="3654989"/>
                  <a:pt x="0" y="3608238"/>
                  <a:pt x="0" y="3550566"/>
                </a:cubicBezTo>
                <a:lnTo>
                  <a:pt x="0" y="104423"/>
                </a:lnTo>
                <a:cubicBezTo>
                  <a:pt x="0" y="46791"/>
                  <a:pt x="46791" y="0"/>
                  <a:pt x="10442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443558" y="1565863"/>
            <a:ext cx="5291032" cy="2784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Recommended Resources</a:t>
            </a:r>
            <a:endParaRPr lang="en-US" sz="1100"/>
          </a:p>
        </p:txBody>
      </p:sp>
      <p:sp>
        <p:nvSpPr>
          <p:cNvPr id="27" name="Freeform 27"/>
          <p:cNvSpPr/>
          <p:nvPr/>
        </p:nvSpPr>
        <p:spPr>
          <a:xfrm>
            <a:off x="6443558" y="1983466"/>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6615414" y="2157453"/>
            <a:ext cx="152291" cy="174047"/>
          </a:xfrm>
          <a:custGeom>
            <a:avLst/>
            <a:gdLst/>
            <a:ahLst/>
            <a:cxnLst/>
            <a:rect l="l" t="t" r="r" b="b"/>
            <a:pathLst>
              <a:path w="152291" h="174047">
                <a:moveTo>
                  <a:pt x="130534" y="174047"/>
                </a:moveTo>
                <a:lnTo>
                  <a:pt x="32634" y="174047"/>
                </a:lnTo>
                <a:cubicBezTo>
                  <a:pt x="14616" y="174047"/>
                  <a:pt x="0" y="159429"/>
                  <a:pt x="0" y="141413"/>
                </a:cubicBezTo>
                <a:lnTo>
                  <a:pt x="0" y="32634"/>
                </a:lnTo>
                <a:cubicBezTo>
                  <a:pt x="0" y="14616"/>
                  <a:pt x="14616" y="0"/>
                  <a:pt x="32634" y="0"/>
                </a:cubicBezTo>
                <a:lnTo>
                  <a:pt x="135974" y="0"/>
                </a:lnTo>
                <a:cubicBezTo>
                  <a:pt x="144983" y="0"/>
                  <a:pt x="152291" y="7309"/>
                  <a:pt x="152291" y="16317"/>
                </a:cubicBezTo>
                <a:lnTo>
                  <a:pt x="152291" y="114217"/>
                </a:lnTo>
                <a:cubicBezTo>
                  <a:pt x="152291" y="121323"/>
                  <a:pt x="147737" y="127373"/>
                  <a:pt x="141413" y="129617"/>
                </a:cubicBezTo>
                <a:lnTo>
                  <a:pt x="141413" y="152291"/>
                </a:lnTo>
                <a:cubicBezTo>
                  <a:pt x="147430" y="152291"/>
                  <a:pt x="152291" y="157152"/>
                  <a:pt x="152291" y="163170"/>
                </a:cubicBezTo>
                <a:cubicBezTo>
                  <a:pt x="152291" y="169186"/>
                  <a:pt x="147430" y="174047"/>
                  <a:pt x="141413" y="174047"/>
                </a:cubicBezTo>
                <a:lnTo>
                  <a:pt x="130534" y="174047"/>
                </a:lnTo>
                <a:close/>
                <a:moveTo>
                  <a:pt x="32634" y="130534"/>
                </a:moveTo>
                <a:cubicBezTo>
                  <a:pt x="26617" y="130534"/>
                  <a:pt x="21756" y="135396"/>
                  <a:pt x="21756" y="141413"/>
                </a:cubicBezTo>
                <a:cubicBezTo>
                  <a:pt x="21756" y="147430"/>
                  <a:pt x="26617" y="152291"/>
                  <a:pt x="32634" y="152291"/>
                </a:cubicBezTo>
                <a:lnTo>
                  <a:pt x="119657" y="152291"/>
                </a:lnTo>
                <a:lnTo>
                  <a:pt x="119657" y="130534"/>
                </a:lnTo>
                <a:lnTo>
                  <a:pt x="32634" y="130534"/>
                </a:lnTo>
                <a:close/>
                <a:moveTo>
                  <a:pt x="43511" y="51670"/>
                </a:moveTo>
                <a:cubicBezTo>
                  <a:pt x="43511" y="56191"/>
                  <a:pt x="47149" y="59828"/>
                  <a:pt x="51670" y="59828"/>
                </a:cubicBezTo>
                <a:lnTo>
                  <a:pt x="111498" y="59828"/>
                </a:lnTo>
                <a:cubicBezTo>
                  <a:pt x="116020" y="59828"/>
                  <a:pt x="119657" y="56191"/>
                  <a:pt x="119657" y="51670"/>
                </a:cubicBezTo>
                <a:cubicBezTo>
                  <a:pt x="119657" y="47149"/>
                  <a:pt x="116020" y="43511"/>
                  <a:pt x="111498" y="43511"/>
                </a:cubicBezTo>
                <a:lnTo>
                  <a:pt x="51670" y="43511"/>
                </a:lnTo>
                <a:cubicBezTo>
                  <a:pt x="47149" y="43511"/>
                  <a:pt x="43511" y="47149"/>
                  <a:pt x="43511" y="51670"/>
                </a:cubicBezTo>
                <a:close/>
                <a:moveTo>
                  <a:pt x="51670" y="76145"/>
                </a:moveTo>
                <a:cubicBezTo>
                  <a:pt x="47149" y="76145"/>
                  <a:pt x="43511" y="79783"/>
                  <a:pt x="43511" y="84304"/>
                </a:cubicBezTo>
                <a:cubicBezTo>
                  <a:pt x="43511" y="88825"/>
                  <a:pt x="47149" y="92464"/>
                  <a:pt x="51670" y="92464"/>
                </a:cubicBezTo>
                <a:lnTo>
                  <a:pt x="111498" y="92464"/>
                </a:lnTo>
                <a:cubicBezTo>
                  <a:pt x="116020" y="92464"/>
                  <a:pt x="119657" y="88825"/>
                  <a:pt x="119657" y="84304"/>
                </a:cubicBezTo>
                <a:cubicBezTo>
                  <a:pt x="119657" y="79783"/>
                  <a:pt x="116020" y="76145"/>
                  <a:pt x="111498" y="76145"/>
                </a:cubicBezTo>
                <a:lnTo>
                  <a:pt x="51670" y="7614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6904721" y="2122686"/>
            <a:ext cx="1576492"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Official Docs</a:t>
            </a:r>
            <a:endParaRPr lang="en-US" sz="1100"/>
          </a:p>
        </p:txBody>
      </p:sp>
      <p:sp>
        <p:nvSpPr>
          <p:cNvPr id="30" name="AutoShape 30"/>
          <p:cNvSpPr/>
          <p:nvPr/>
        </p:nvSpPr>
        <p:spPr>
          <a:xfrm>
            <a:off x="6582780" y="2435971"/>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https://triton-lang.org/main/index.html</a:t>
            </a:r>
            <a:endParaRPr lang="en-US" sz="1100"/>
          </a:p>
        </p:txBody>
      </p:sp>
      <p:sp>
        <p:nvSpPr>
          <p:cNvPr id="31" name="Freeform 31"/>
          <p:cNvSpPr/>
          <p:nvPr/>
        </p:nvSpPr>
        <p:spPr>
          <a:xfrm>
            <a:off x="6443558" y="2923244"/>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593658" y="3108109"/>
            <a:ext cx="195804" cy="152292"/>
          </a:xfrm>
          <a:custGeom>
            <a:avLst/>
            <a:gdLst/>
            <a:ahLst/>
            <a:cxnLst/>
            <a:rect l="l" t="t" r="r" b="b"/>
            <a:pathLst>
              <a:path w="195804" h="152292">
                <a:moveTo>
                  <a:pt x="16317" y="55681"/>
                </a:moveTo>
                <a:lnTo>
                  <a:pt x="87431" y="84950"/>
                </a:lnTo>
                <a:cubicBezTo>
                  <a:pt x="90763" y="86310"/>
                  <a:pt x="94298" y="87022"/>
                  <a:pt x="97900" y="87022"/>
                </a:cubicBezTo>
                <a:cubicBezTo>
                  <a:pt x="101505" y="87022"/>
                  <a:pt x="105040" y="86310"/>
                  <a:pt x="108372" y="84950"/>
                </a:cubicBezTo>
                <a:lnTo>
                  <a:pt x="190772" y="51024"/>
                </a:lnTo>
                <a:cubicBezTo>
                  <a:pt x="193831" y="49767"/>
                  <a:pt x="195804" y="46809"/>
                  <a:pt x="195804" y="43512"/>
                </a:cubicBezTo>
                <a:cubicBezTo>
                  <a:pt x="195804" y="40214"/>
                  <a:pt x="193831" y="37258"/>
                  <a:pt x="190772" y="35999"/>
                </a:cubicBezTo>
                <a:lnTo>
                  <a:pt x="108372" y="2073"/>
                </a:lnTo>
                <a:cubicBezTo>
                  <a:pt x="105040" y="715"/>
                  <a:pt x="101505" y="0"/>
                  <a:pt x="97900" y="0"/>
                </a:cubicBezTo>
                <a:cubicBezTo>
                  <a:pt x="94298" y="0"/>
                  <a:pt x="90763" y="715"/>
                  <a:pt x="87431" y="2073"/>
                </a:cubicBezTo>
                <a:lnTo>
                  <a:pt x="5030" y="35999"/>
                </a:lnTo>
                <a:cubicBezTo>
                  <a:pt x="1972" y="37258"/>
                  <a:pt x="0" y="40214"/>
                  <a:pt x="0" y="43512"/>
                </a:cubicBezTo>
                <a:lnTo>
                  <a:pt x="0" y="144133"/>
                </a:lnTo>
                <a:cubicBezTo>
                  <a:pt x="0" y="148654"/>
                  <a:pt x="3637" y="152292"/>
                  <a:pt x="8158" y="152292"/>
                </a:cubicBezTo>
                <a:cubicBezTo>
                  <a:pt x="12680" y="152292"/>
                  <a:pt x="16317" y="148654"/>
                  <a:pt x="16317" y="144133"/>
                </a:cubicBezTo>
                <a:lnTo>
                  <a:pt x="16317" y="55681"/>
                </a:lnTo>
                <a:close/>
                <a:moveTo>
                  <a:pt x="32634" y="80055"/>
                </a:moveTo>
                <a:lnTo>
                  <a:pt x="32634" y="119656"/>
                </a:lnTo>
                <a:cubicBezTo>
                  <a:pt x="32634" y="137674"/>
                  <a:pt x="61868" y="152292"/>
                  <a:pt x="97900" y="152292"/>
                </a:cubicBezTo>
                <a:cubicBezTo>
                  <a:pt x="133935" y="152292"/>
                  <a:pt x="163170" y="137674"/>
                  <a:pt x="163170" y="119656"/>
                </a:cubicBezTo>
                <a:lnTo>
                  <a:pt x="163170" y="80021"/>
                </a:lnTo>
                <a:lnTo>
                  <a:pt x="114592" y="100043"/>
                </a:lnTo>
                <a:cubicBezTo>
                  <a:pt x="109289" y="102219"/>
                  <a:pt x="103646" y="103339"/>
                  <a:pt x="97900" y="103339"/>
                </a:cubicBezTo>
                <a:cubicBezTo>
                  <a:pt x="92158" y="103339"/>
                  <a:pt x="86514" y="102219"/>
                  <a:pt x="81211" y="100043"/>
                </a:cubicBezTo>
                <a:lnTo>
                  <a:pt x="32634" y="8002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904721" y="3062464"/>
            <a:ext cx="1846517" cy="20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Official Tutorials</a:t>
            </a:r>
            <a:endParaRPr lang="en-US" sz="1100"/>
          </a:p>
        </p:txBody>
      </p:sp>
      <p:sp>
        <p:nvSpPr>
          <p:cNvPr id="34" name="AutoShape 34"/>
          <p:cNvSpPr/>
          <p:nvPr/>
        </p:nvSpPr>
        <p:spPr>
          <a:xfrm>
            <a:off x="6582780" y="3375749"/>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https://triton-lang.org/main/getting-started/tutorials/</a:t>
            </a:r>
            <a:endParaRPr lang="en-US" sz="1100"/>
          </a:p>
        </p:txBody>
      </p:sp>
      <p:sp>
        <p:nvSpPr>
          <p:cNvPr id="35" name="Freeform 35"/>
          <p:cNvSpPr/>
          <p:nvPr/>
        </p:nvSpPr>
        <p:spPr>
          <a:xfrm>
            <a:off x="6443558" y="3863021"/>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607255" y="4039737"/>
            <a:ext cx="168609" cy="165039"/>
          </a:xfrm>
          <a:custGeom>
            <a:avLst/>
            <a:gdLst/>
            <a:ahLst/>
            <a:cxnLst/>
            <a:rect l="l" t="t" r="r" b="b"/>
            <a:pathLst>
              <a:path w="168609" h="165039">
                <a:moveTo>
                  <a:pt x="56396" y="132371"/>
                </a:moveTo>
                <a:cubicBezTo>
                  <a:pt x="56396" y="133052"/>
                  <a:pt x="55613" y="133595"/>
                  <a:pt x="54628" y="133595"/>
                </a:cubicBezTo>
                <a:cubicBezTo>
                  <a:pt x="53506" y="133697"/>
                  <a:pt x="52725" y="133153"/>
                  <a:pt x="52725" y="132371"/>
                </a:cubicBezTo>
                <a:cubicBezTo>
                  <a:pt x="52725" y="131691"/>
                  <a:pt x="53506" y="131148"/>
                  <a:pt x="54492" y="131148"/>
                </a:cubicBezTo>
                <a:cubicBezTo>
                  <a:pt x="55512" y="131046"/>
                  <a:pt x="56396" y="131590"/>
                  <a:pt x="56396" y="132371"/>
                </a:cubicBezTo>
                <a:close/>
                <a:moveTo>
                  <a:pt x="45824" y="130842"/>
                </a:moveTo>
                <a:cubicBezTo>
                  <a:pt x="45585" y="131523"/>
                  <a:pt x="46266" y="132304"/>
                  <a:pt x="47286" y="132507"/>
                </a:cubicBezTo>
                <a:cubicBezTo>
                  <a:pt x="48169" y="132847"/>
                  <a:pt x="49188" y="132507"/>
                  <a:pt x="49393" y="131829"/>
                </a:cubicBezTo>
                <a:cubicBezTo>
                  <a:pt x="49597" y="131148"/>
                  <a:pt x="48951" y="130366"/>
                  <a:pt x="47931" y="130059"/>
                </a:cubicBezTo>
                <a:cubicBezTo>
                  <a:pt x="47048" y="129822"/>
                  <a:pt x="46062" y="130162"/>
                  <a:pt x="45824" y="130842"/>
                </a:cubicBezTo>
                <a:close/>
                <a:moveTo>
                  <a:pt x="60850" y="130264"/>
                </a:moveTo>
                <a:cubicBezTo>
                  <a:pt x="59863" y="130501"/>
                  <a:pt x="59183" y="131148"/>
                  <a:pt x="59285" y="131930"/>
                </a:cubicBezTo>
                <a:cubicBezTo>
                  <a:pt x="59387" y="132608"/>
                  <a:pt x="60270" y="133052"/>
                  <a:pt x="61292" y="132813"/>
                </a:cubicBezTo>
                <a:cubicBezTo>
                  <a:pt x="62277" y="132575"/>
                  <a:pt x="62957" y="131930"/>
                  <a:pt x="62855" y="131249"/>
                </a:cubicBezTo>
                <a:cubicBezTo>
                  <a:pt x="62753" y="130604"/>
                  <a:pt x="61835" y="130162"/>
                  <a:pt x="60850" y="130264"/>
                </a:cubicBezTo>
                <a:close/>
                <a:moveTo>
                  <a:pt x="83217" y="0"/>
                </a:moveTo>
                <a:cubicBezTo>
                  <a:pt x="36068" y="0"/>
                  <a:pt x="0" y="35796"/>
                  <a:pt x="0" y="82945"/>
                </a:cubicBezTo>
                <a:cubicBezTo>
                  <a:pt x="0" y="120644"/>
                  <a:pt x="23727" y="152904"/>
                  <a:pt x="57620" y="164257"/>
                </a:cubicBezTo>
                <a:cubicBezTo>
                  <a:pt x="61971" y="165039"/>
                  <a:pt x="63500" y="162354"/>
                  <a:pt x="63500" y="160145"/>
                </a:cubicBezTo>
                <a:cubicBezTo>
                  <a:pt x="63500" y="158038"/>
                  <a:pt x="63398" y="146411"/>
                  <a:pt x="63398" y="139272"/>
                </a:cubicBezTo>
                <a:cubicBezTo>
                  <a:pt x="63398" y="139272"/>
                  <a:pt x="39602" y="144371"/>
                  <a:pt x="34606" y="129143"/>
                </a:cubicBezTo>
                <a:cubicBezTo>
                  <a:pt x="34606" y="129143"/>
                  <a:pt x="30732" y="119251"/>
                  <a:pt x="25156" y="116700"/>
                </a:cubicBezTo>
                <a:cubicBezTo>
                  <a:pt x="25156" y="116700"/>
                  <a:pt x="17371" y="111363"/>
                  <a:pt x="25700" y="111465"/>
                </a:cubicBezTo>
                <a:cubicBezTo>
                  <a:pt x="25700" y="111465"/>
                  <a:pt x="34164" y="112145"/>
                  <a:pt x="38821" y="120236"/>
                </a:cubicBezTo>
                <a:cubicBezTo>
                  <a:pt x="46266" y="133356"/>
                  <a:pt x="58741" y="129585"/>
                  <a:pt x="63602" y="127340"/>
                </a:cubicBezTo>
                <a:cubicBezTo>
                  <a:pt x="64384" y="121901"/>
                  <a:pt x="66594" y="118128"/>
                  <a:pt x="69041" y="115885"/>
                </a:cubicBezTo>
                <a:cubicBezTo>
                  <a:pt x="50039" y="113777"/>
                  <a:pt x="30867" y="111023"/>
                  <a:pt x="30867" y="78322"/>
                </a:cubicBezTo>
                <a:cubicBezTo>
                  <a:pt x="30867" y="68973"/>
                  <a:pt x="33451" y="64282"/>
                  <a:pt x="38889" y="58299"/>
                </a:cubicBezTo>
                <a:cubicBezTo>
                  <a:pt x="38005" y="56090"/>
                  <a:pt x="35116" y="46980"/>
                  <a:pt x="39773" y="35218"/>
                </a:cubicBezTo>
                <a:cubicBezTo>
                  <a:pt x="46878" y="33007"/>
                  <a:pt x="63230" y="44395"/>
                  <a:pt x="63230" y="44395"/>
                </a:cubicBezTo>
                <a:cubicBezTo>
                  <a:pt x="70027" y="42492"/>
                  <a:pt x="77335" y="41507"/>
                  <a:pt x="84577" y="41507"/>
                </a:cubicBezTo>
                <a:cubicBezTo>
                  <a:pt x="91817" y="41507"/>
                  <a:pt x="99126" y="42492"/>
                  <a:pt x="105924" y="44395"/>
                </a:cubicBezTo>
                <a:cubicBezTo>
                  <a:pt x="105924" y="44395"/>
                  <a:pt x="122274" y="32974"/>
                  <a:pt x="129380" y="35218"/>
                </a:cubicBezTo>
                <a:cubicBezTo>
                  <a:pt x="134037" y="47014"/>
                  <a:pt x="131148" y="56090"/>
                  <a:pt x="130264" y="58299"/>
                </a:cubicBezTo>
                <a:cubicBezTo>
                  <a:pt x="135703" y="64315"/>
                  <a:pt x="139035" y="69007"/>
                  <a:pt x="139035" y="78322"/>
                </a:cubicBezTo>
                <a:cubicBezTo>
                  <a:pt x="139035" y="111125"/>
                  <a:pt x="119012" y="113743"/>
                  <a:pt x="100010" y="115885"/>
                </a:cubicBezTo>
                <a:cubicBezTo>
                  <a:pt x="103137" y="118570"/>
                  <a:pt x="105789" y="123669"/>
                  <a:pt x="105789" y="131658"/>
                </a:cubicBezTo>
                <a:cubicBezTo>
                  <a:pt x="105789" y="143113"/>
                  <a:pt x="105687" y="157290"/>
                  <a:pt x="105687" y="160076"/>
                </a:cubicBezTo>
                <a:cubicBezTo>
                  <a:pt x="105687" y="162286"/>
                  <a:pt x="107250" y="164971"/>
                  <a:pt x="111567" y="164189"/>
                </a:cubicBezTo>
                <a:cubicBezTo>
                  <a:pt x="145561" y="152904"/>
                  <a:pt x="168609" y="120644"/>
                  <a:pt x="168609" y="82945"/>
                </a:cubicBezTo>
                <a:cubicBezTo>
                  <a:pt x="168609" y="35796"/>
                  <a:pt x="130366" y="0"/>
                  <a:pt x="83217" y="0"/>
                </a:cubicBezTo>
                <a:close/>
                <a:moveTo>
                  <a:pt x="33042" y="117244"/>
                </a:moveTo>
                <a:cubicBezTo>
                  <a:pt x="32600" y="117584"/>
                  <a:pt x="32703" y="118367"/>
                  <a:pt x="33280" y="119012"/>
                </a:cubicBezTo>
                <a:cubicBezTo>
                  <a:pt x="33824" y="119557"/>
                  <a:pt x="34606" y="119794"/>
                  <a:pt x="35048" y="119352"/>
                </a:cubicBezTo>
                <a:cubicBezTo>
                  <a:pt x="35490" y="119012"/>
                  <a:pt x="35389" y="118229"/>
                  <a:pt x="34809" y="117584"/>
                </a:cubicBezTo>
                <a:cubicBezTo>
                  <a:pt x="34266" y="117039"/>
                  <a:pt x="33484" y="116802"/>
                  <a:pt x="33042" y="117244"/>
                </a:cubicBezTo>
                <a:close/>
                <a:moveTo>
                  <a:pt x="29371" y="114491"/>
                </a:moveTo>
                <a:cubicBezTo>
                  <a:pt x="29133" y="114933"/>
                  <a:pt x="29473" y="115477"/>
                  <a:pt x="30152" y="115816"/>
                </a:cubicBezTo>
                <a:cubicBezTo>
                  <a:pt x="30697" y="116157"/>
                  <a:pt x="31377" y="116055"/>
                  <a:pt x="31615" y="115579"/>
                </a:cubicBezTo>
                <a:cubicBezTo>
                  <a:pt x="31852" y="115137"/>
                  <a:pt x="31513" y="114593"/>
                  <a:pt x="30833" y="114253"/>
                </a:cubicBezTo>
                <a:cubicBezTo>
                  <a:pt x="30152" y="114049"/>
                  <a:pt x="29609" y="114151"/>
                  <a:pt x="29371" y="114491"/>
                </a:cubicBezTo>
                <a:close/>
                <a:moveTo>
                  <a:pt x="40385" y="126592"/>
                </a:moveTo>
                <a:cubicBezTo>
                  <a:pt x="39841" y="127034"/>
                  <a:pt x="40044" y="128054"/>
                  <a:pt x="40827" y="128701"/>
                </a:cubicBezTo>
                <a:cubicBezTo>
                  <a:pt x="41609" y="129482"/>
                  <a:pt x="42595" y="129585"/>
                  <a:pt x="43037" y="129040"/>
                </a:cubicBezTo>
                <a:cubicBezTo>
                  <a:pt x="43479" y="128598"/>
                  <a:pt x="43274" y="127578"/>
                  <a:pt x="42595" y="126931"/>
                </a:cubicBezTo>
                <a:cubicBezTo>
                  <a:pt x="41847" y="126150"/>
                  <a:pt x="40827" y="126049"/>
                  <a:pt x="40385" y="126592"/>
                </a:cubicBezTo>
                <a:close/>
                <a:moveTo>
                  <a:pt x="36510" y="121596"/>
                </a:moveTo>
                <a:cubicBezTo>
                  <a:pt x="35966" y="121935"/>
                  <a:pt x="35966" y="122819"/>
                  <a:pt x="36510" y="123602"/>
                </a:cubicBezTo>
                <a:cubicBezTo>
                  <a:pt x="37054" y="124383"/>
                  <a:pt x="37971" y="124723"/>
                  <a:pt x="38412" y="124383"/>
                </a:cubicBezTo>
                <a:cubicBezTo>
                  <a:pt x="38957" y="123941"/>
                  <a:pt x="38957" y="123057"/>
                  <a:pt x="38412" y="122274"/>
                </a:cubicBezTo>
                <a:cubicBezTo>
                  <a:pt x="37938" y="121495"/>
                  <a:pt x="37054" y="121154"/>
                  <a:pt x="36510" y="12159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904720" y="4002242"/>
            <a:ext cx="1674683" cy="2088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GitHub Repository</a:t>
            </a:r>
            <a:endParaRPr lang="en-US" sz="1100"/>
          </a:p>
        </p:txBody>
      </p:sp>
      <p:sp>
        <p:nvSpPr>
          <p:cNvPr id="38" name="AutoShape 38"/>
          <p:cNvSpPr/>
          <p:nvPr/>
        </p:nvSpPr>
        <p:spPr>
          <a:xfrm>
            <a:off x="6582780" y="4315527"/>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https://github.com/triton-lang/triton</a:t>
            </a:r>
            <a:endParaRPr lang="en-US" sz="1100"/>
          </a:p>
        </p:txBody>
      </p:sp>
      <p:sp>
        <p:nvSpPr>
          <p:cNvPr id="39" name="Freeform 39"/>
          <p:cNvSpPr/>
          <p:nvPr/>
        </p:nvSpPr>
        <p:spPr>
          <a:xfrm>
            <a:off x="348054" y="5150647"/>
            <a:ext cx="11495811" cy="1427187"/>
          </a:xfrm>
          <a:custGeom>
            <a:avLst/>
            <a:gdLst/>
            <a:ahLst/>
            <a:cxnLst/>
            <a:rect l="l" t="t" r="r" b="b"/>
            <a:pathLst>
              <a:path w="11495811" h="1427187">
                <a:moveTo>
                  <a:pt x="104427" y="0"/>
                </a:moveTo>
                <a:lnTo>
                  <a:pt x="11391384" y="0"/>
                </a:lnTo>
                <a:cubicBezTo>
                  <a:pt x="11449058" y="0"/>
                  <a:pt x="11495811" y="46754"/>
                  <a:pt x="11495811" y="104427"/>
                </a:cubicBezTo>
                <a:lnTo>
                  <a:pt x="11495811" y="1322760"/>
                </a:lnTo>
                <a:cubicBezTo>
                  <a:pt x="11495811" y="1380433"/>
                  <a:pt x="11449058" y="1427187"/>
                  <a:pt x="11391384" y="1427187"/>
                </a:cubicBezTo>
                <a:lnTo>
                  <a:pt x="104427" y="1427187"/>
                </a:lnTo>
                <a:cubicBezTo>
                  <a:pt x="46754" y="1427187"/>
                  <a:pt x="0" y="1380433"/>
                  <a:pt x="0" y="1322760"/>
                </a:cubicBezTo>
                <a:lnTo>
                  <a:pt x="0" y="104427"/>
                </a:lnTo>
                <a:cubicBezTo>
                  <a:pt x="0" y="46792"/>
                  <a:pt x="46792" y="0"/>
                  <a:pt x="10442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5929281" y="5374530"/>
            <a:ext cx="307839" cy="307839"/>
          </a:xfrm>
          <a:custGeom>
            <a:avLst/>
            <a:gdLst/>
            <a:ahLst/>
            <a:cxnLst/>
            <a:rect l="l" t="t" r="r" b="b"/>
            <a:pathLst>
              <a:path w="307839" h="307839">
                <a:moveTo>
                  <a:pt x="87929" y="180752"/>
                </a:moveTo>
                <a:lnTo>
                  <a:pt x="24599" y="180752"/>
                </a:lnTo>
                <a:cubicBezTo>
                  <a:pt x="9363" y="180752"/>
                  <a:pt x="0" y="164169"/>
                  <a:pt x="7834" y="151075"/>
                </a:cubicBezTo>
                <a:lnTo>
                  <a:pt x="40202" y="97106"/>
                </a:lnTo>
                <a:cubicBezTo>
                  <a:pt x="45526" y="88235"/>
                  <a:pt x="55071" y="82848"/>
                  <a:pt x="65412" y="82848"/>
                </a:cubicBezTo>
                <a:lnTo>
                  <a:pt x="123541" y="82848"/>
                </a:lnTo>
                <a:cubicBezTo>
                  <a:pt x="170106" y="3978"/>
                  <a:pt x="239554" y="0"/>
                  <a:pt x="285996" y="6792"/>
                </a:cubicBezTo>
                <a:cubicBezTo>
                  <a:pt x="293828" y="7955"/>
                  <a:pt x="299947" y="14074"/>
                  <a:pt x="301049" y="21845"/>
                </a:cubicBezTo>
                <a:cubicBezTo>
                  <a:pt x="307840" y="68287"/>
                  <a:pt x="303863" y="137737"/>
                  <a:pt x="224991" y="184300"/>
                </a:cubicBezTo>
                <a:lnTo>
                  <a:pt x="224991" y="242429"/>
                </a:lnTo>
                <a:cubicBezTo>
                  <a:pt x="224991" y="252769"/>
                  <a:pt x="219608" y="262315"/>
                  <a:pt x="210734" y="267639"/>
                </a:cubicBezTo>
                <a:lnTo>
                  <a:pt x="156765" y="300007"/>
                </a:lnTo>
                <a:cubicBezTo>
                  <a:pt x="143733" y="307839"/>
                  <a:pt x="127091" y="298416"/>
                  <a:pt x="127091" y="283242"/>
                </a:cubicBezTo>
                <a:lnTo>
                  <a:pt x="127091" y="219912"/>
                </a:lnTo>
                <a:cubicBezTo>
                  <a:pt x="127091" y="198312"/>
                  <a:pt x="109529" y="180752"/>
                  <a:pt x="87929" y="180752"/>
                </a:cubicBezTo>
                <a:lnTo>
                  <a:pt x="87868" y="180752"/>
                </a:lnTo>
                <a:close/>
                <a:moveTo>
                  <a:pt x="254362" y="82848"/>
                </a:moveTo>
                <a:cubicBezTo>
                  <a:pt x="254362" y="66639"/>
                  <a:pt x="241201" y="53478"/>
                  <a:pt x="224991" y="53478"/>
                </a:cubicBezTo>
                <a:cubicBezTo>
                  <a:pt x="208781" y="53478"/>
                  <a:pt x="195621" y="66639"/>
                  <a:pt x="195621" y="82848"/>
                </a:cubicBezTo>
                <a:cubicBezTo>
                  <a:pt x="195621" y="99059"/>
                  <a:pt x="208781" y="112220"/>
                  <a:pt x="224991" y="112220"/>
                </a:cubicBezTo>
                <a:cubicBezTo>
                  <a:pt x="241201" y="112220"/>
                  <a:pt x="254362" y="99059"/>
                  <a:pt x="254362" y="828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504672" y="5777149"/>
            <a:ext cx="11182527" cy="278475"/>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Start Your Triton Journey!</a:t>
            </a:r>
            <a:endParaRPr lang="en-US" sz="1100"/>
          </a:p>
        </p:txBody>
      </p:sp>
      <p:sp>
        <p:nvSpPr>
          <p:cNvPr id="42" name="AutoShape 42"/>
          <p:cNvSpPr/>
          <p:nvPr/>
        </p:nvSpPr>
        <p:spPr>
          <a:xfrm>
            <a:off x="517725" y="6125132"/>
            <a:ext cx="11156420" cy="24366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Starting from Vector Add, explore the limitless possibilities of GPU programming</a:t>
            </a:r>
            <a:endParaRPr lang="en-US" sz="1100"/>
          </a:p>
        </p:txBody>
      </p:sp>
      <p:sp>
        <p:nvSpPr>
          <p:cNvPr id="43" name="AutoShape 43"/>
          <p:cNvSpPr/>
          <p:nvPr/>
        </p:nvSpPr>
        <p:spPr>
          <a:xfrm>
            <a:off x="348054" y="6716859"/>
            <a:ext cx="11548026" cy="13923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Image source: Triton Official Docs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9</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Module I Midterm Project</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Softmax Kernel  Implementation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Softmax  is one of the most fundamental operators in deep learning, ubiquitous in  Transformer  attention mechanisms and classification tasks. An efficient  Softmax  implementation requires the combined use of  Tiling (Tiling), Online Normalization (Online Normalization), and  Reduction  optimization techniques, making it an ideal project for assessing Module I comprehensive skills.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Project Objectives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Using  Triton  to implement a numerically stable  Safe Softmax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 arbitrary-shaped  2D  input tensors, computing along the last dimension (dim=-1)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Compare with  PyTorch  native  F.softmax  output, maximum absolute error  &lt; 1e-5</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float32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(throughput) reaching  PyTorch  of the built-in implementation 70%  or above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(Advanced) Register the operator in the  FlagGems  framework and pass its test suite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Implementation Specifications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Numerical Stability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Must implement  Safe Softmax, i.e., subtract the row-wise maximum before computing exponentials to prevent overflow</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Kernel  Structure Requirements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Program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Block) processes one row of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Use  tl.load  for block-wise loading, handle boundary cases where row length is not divisible by  BLOCK_SIZE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Complete a three-step  Reduction: compute maximum →  compute exponential sum →  normalize and write back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Interface Specification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2586355" y="2066925"/>
          <a:ext cx="7934960" cy="396240"/>
        </p:xfrm>
        <a:graphic>
          <a:graphicData uri="http://schemas.openxmlformats.org/drawingml/2006/table">
            <a:tbl>
              <a:tblPr>
                <a:effectLst/>
              </a:tblPr>
              <a:tblGrid>
                <a:gridCol w="7934960"/>
              </a:tblGrid>
              <a:tr h="39624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softmax(x_i) = exp(x_i - max(x)) / sum(exp(x_j - max(x)))</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2681605" y="4830445"/>
          <a:ext cx="7935595" cy="909320"/>
        </p:xfrm>
        <a:graphic>
          <a:graphicData uri="http://schemas.openxmlformats.org/drawingml/2006/table">
            <a:tbl>
              <a:tblPr>
                <a:effectLst/>
              </a:tblPr>
              <a:tblGrid>
                <a:gridCol w="7935595"/>
              </a:tblGrid>
              <a:tr h="45466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flaggems_softmax(x: torch.Tensor) -&gt; torch.Tensor:</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466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 x: [M, N], Returns a tensor of the same shape , with values being the softmax  result</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Testing and Validation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Correctness Test Cases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Basic: shape  [128, 256]</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dtype=float32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Boundary: N=1, N=65537 (non-power-of- 2 ), M=1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Precision: compare with  torch.nn.functional.softmax(x, dim=-1) , atol=1e-5</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Benchmark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Test shape: [1024, 4096] (simulating  Transformer Attention  scenario)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Tools: triton.testing.Benchmark  or  torch.utils.benchmark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Reported metrics: GB/s (memory bandwidth utilization) and  ms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Submission Checklist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softmax_kernel.py: contains  Kernel  implementation and test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eport.pdf: no more than  4  pages, including implementation approach, correctness verification screenshots, and performance comparison charts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FlagGems  repository  PR  link or  diff  file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2004695" y="3737610"/>
          <a:ext cx="8947150" cy="2289175"/>
        </p:xfrm>
        <a:graphic>
          <a:graphicData uri="http://schemas.openxmlformats.org/drawingml/2006/table">
            <a:tbl>
              <a:tblPr>
                <a:effectLst/>
              </a:tblPr>
              <a:tblGrid>
                <a:gridCol w="2867660"/>
                <a:gridCol w="1720850"/>
                <a:gridCol w="4358640"/>
              </a:tblGrid>
              <a:tr h="400685">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Grading Criteria</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77190">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Code Correctness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All test cases passed, including boundary  case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Numerical Stability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Safe Softmax  implemented correctly, no NaN/Inf</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Performance (Throughput)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≥70%  of reference implementation for full score, linear interpolation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Lab Report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Analysis Block Size  selection, Occupancy  impact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Advanced: FlagGems  Integration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PR  merged or test suite passed</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34924"/>
            <a:ext cx="12192000" cy="6858000"/>
          </a:xfrm>
          <a:prstGeom prst="rect">
            <a:avLst/>
          </a:prstGeom>
        </p:spPr>
      </p:pic>
      <p:sp>
        <p:nvSpPr>
          <p:cNvPr id="3" name="AutoShape 3"/>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logo-africa"/>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tags/tag1.xml><?xml version="1.0" encoding="utf-8"?>
<p:tagLst xmlns:p="http://schemas.openxmlformats.org/presentationml/2006/main">
  <p:tag name="TABLE_ENDDRAG_ORIGIN_RECT" val="537*260"/>
  <p:tag name="TABLE_ENDDRAG_RECT" val="33*168*537*260"/>
</p:tagLst>
</file>

<file path=ppt/tags/tag2.xml><?xml version="1.0" encoding="utf-8"?>
<p:tagLst xmlns:p="http://schemas.openxmlformats.org/presentationml/2006/main">
  <p:tag name="resource_record_key" val="{&quot;29&quot;:[50000086,50052716,500000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77133</Words>
  <Application>WPS 演示</Application>
  <PresentationFormat/>
  <Paragraphs>4589</Paragraphs>
  <Slides>187</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187</vt:i4>
      </vt:variant>
    </vt:vector>
  </HeadingPairs>
  <TitlesOfParts>
    <vt:vector size="213"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等线</vt:lpstr>
      <vt:lpstr>Arial Unicode MS</vt:lpstr>
      <vt:lpstr>BatangChe</vt:lpstr>
      <vt:lpstr>Ebrima</vt:lpstr>
      <vt:lpstr>Arial Bold</vt:lpstr>
      <vt:lpstr>Courier New</vt:lpstr>
      <vt:lpstr>Courier</vt:lpstr>
      <vt:lpstr>Courier New</vt:lpstr>
      <vt:lpstr>Book Antiqua</vt:lpstr>
      <vt:lpstr>Droid Sans Mono</vt:lpstr>
      <vt:lpstr>Arial Bold</vt:lpstr>
      <vt:lpstr>MiSans</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49</cp:revision>
  <dcterms:created xsi:type="dcterms:W3CDTF">2026-04-14T06:08:00Z</dcterms:created>
  <dcterms:modified xsi:type="dcterms:W3CDTF">2026-04-24T01:49:10Z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9A866395107AA02062CEDD69306860DC_42</vt:lpwstr>
  </property>
  <property fmtid="{D5CDD505-2E9C-101B-9397-08002B2CF9AE}" pid="3" name="KSOProductBuildVer">
    <vt:lpwstr>2052-12.1.0.19302</vt:lpwstr>
  </property>
</Properties>
</file>