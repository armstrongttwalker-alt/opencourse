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72" r:id="rId4"/>
  </p:sldMasterIdLst>
  <p:notesMasterIdLst>
    <p:notesMasterId r:id="rId28"/>
  </p:notesMasterIdLst>
  <p:sldIdLst>
    <p:sldId id="279"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9"/>
    <p:sldId id="359" r:id="rId30"/>
    <p:sldId id="360" r:id="rId31"/>
    <p:sldId id="361" r:id="rId32"/>
    <p:sldId id="362" r:id="rId33"/>
    <p:sldId id="363" r:id="rId34"/>
    <p:sldId id="364" r:id="rId35"/>
    <p:sldId id="365" r:id="rId36"/>
    <p:sldId id="366" r:id="rId37"/>
    <p:sldId id="367" r:id="rId38"/>
    <p:sldId id="368" r:id="rId39"/>
    <p:sldId id="369" r:id="rId40"/>
    <p:sldId id="370" r:id="rId41"/>
    <p:sldId id="371" r:id="rId42"/>
    <p:sldId id="372" r:id="rId43"/>
    <p:sldId id="373" r:id="rId44"/>
    <p:sldId id="374" r:id="rId45"/>
    <p:sldId id="375" r:id="rId46"/>
    <p:sldId id="376" r:id="rId47"/>
    <p:sldId id="377" r:id="rId48"/>
    <p:sldId id="378" r:id="rId49"/>
    <p:sldId id="379" r:id="rId50"/>
    <p:sldId id="380" r:id="rId51"/>
    <p:sldId id="381" r:id="rId52"/>
    <p:sldId id="382" r:id="rId53"/>
    <p:sldId id="383" r:id="rId54"/>
    <p:sldId id="384" r:id="rId55"/>
    <p:sldId id="385" r:id="rId56"/>
    <p:sldId id="386" r:id="rId57"/>
    <p:sldId id="387" r:id="rId58"/>
    <p:sldId id="388" r:id="rId59"/>
    <p:sldId id="389" r:id="rId60"/>
    <p:sldId id="390" r:id="rId61"/>
    <p:sldId id="391" r:id="rId62"/>
    <p:sldId id="392" r:id="rId63"/>
    <p:sldId id="393" r:id="rId64"/>
    <p:sldId id="394" r:id="rId65"/>
    <p:sldId id="496" r:id="rId66"/>
    <p:sldId id="497" r:id="rId67"/>
    <p:sldId id="498" r:id="rId68"/>
    <p:sldId id="499" r:id="rId69"/>
    <p:sldId id="500" r:id="rId70"/>
    <p:sldId id="501" r:id="rId71"/>
    <p:sldId id="502" r:id="rId72"/>
    <p:sldId id="503" r:id="rId73"/>
    <p:sldId id="504" r:id="rId74"/>
    <p:sldId id="505" r:id="rId75"/>
    <p:sldId id="506" r:id="rId76"/>
    <p:sldId id="507" r:id="rId77"/>
    <p:sldId id="508" r:id="rId78"/>
    <p:sldId id="509" r:id="rId79"/>
    <p:sldId id="510" r:id="rId80"/>
    <p:sldId id="511" r:id="rId81"/>
    <p:sldId id="512" r:id="rId82"/>
    <p:sldId id="513" r:id="rId83"/>
    <p:sldId id="514" r:id="rId84"/>
    <p:sldId id="515" r:id="rId85"/>
    <p:sldId id="516" r:id="rId86"/>
    <p:sldId id="517" r:id="rId87"/>
    <p:sldId id="518" r:id="rId88"/>
    <p:sldId id="519" r:id="rId89"/>
    <p:sldId id="520" r:id="rId90"/>
    <p:sldId id="521" r:id="rId91"/>
    <p:sldId id="522" r:id="rId92"/>
    <p:sldId id="523" r:id="rId93"/>
    <p:sldId id="524" r:id="rId94"/>
    <p:sldId id="525" r:id="rId95"/>
    <p:sldId id="526" r:id="rId96"/>
    <p:sldId id="527" r:id="rId97"/>
    <p:sldId id="528" r:id="rId98"/>
    <p:sldId id="529" r:id="rId99"/>
    <p:sldId id="530" r:id="rId100"/>
    <p:sldId id="531" r:id="rId101"/>
    <p:sldId id="532" r:id="rId102"/>
    <p:sldId id="533" r:id="rId103"/>
    <p:sldId id="534" r:id="rId104"/>
    <p:sldId id="535" r:id="rId105"/>
    <p:sldId id="536" r:id="rId106"/>
    <p:sldId id="537" r:id="rId107"/>
    <p:sldId id="538" r:id="rId108"/>
    <p:sldId id="539" r:id="rId109"/>
    <p:sldId id="540" r:id="rId110"/>
    <p:sldId id="541" r:id="rId111"/>
    <p:sldId id="542" r:id="rId112"/>
    <p:sldId id="543" r:id="rId113"/>
    <p:sldId id="544" r:id="rId114"/>
    <p:sldId id="545" r:id="rId115"/>
    <p:sldId id="546" r:id="rId116"/>
    <p:sldId id="547" r:id="rId117"/>
    <p:sldId id="548" r:id="rId118"/>
    <p:sldId id="549" r:id="rId119"/>
    <p:sldId id="550" r:id="rId120"/>
    <p:sldId id="551" r:id="rId121"/>
    <p:sldId id="552" r:id="rId122"/>
    <p:sldId id="553" r:id="rId123"/>
    <p:sldId id="554" r:id="rId124"/>
    <p:sldId id="555" r:id="rId125"/>
    <p:sldId id="556" r:id="rId126"/>
    <p:sldId id="557" r:id="rId127"/>
    <p:sldId id="558" r:id="rId128"/>
    <p:sldId id="559" r:id="rId129"/>
    <p:sldId id="560" r:id="rId130"/>
    <p:sldId id="561" r:id="rId131"/>
    <p:sldId id="562" r:id="rId132"/>
    <p:sldId id="563" r:id="rId133"/>
    <p:sldId id="564" r:id="rId134"/>
    <p:sldId id="565" r:id="rId135"/>
    <p:sldId id="566" r:id="rId136"/>
    <p:sldId id="567" r:id="rId137"/>
    <p:sldId id="568" r:id="rId138"/>
    <p:sldId id="569" r:id="rId139"/>
    <p:sldId id="570" r:id="rId140"/>
    <p:sldId id="571" r:id="rId141"/>
    <p:sldId id="572" r:id="rId142"/>
    <p:sldId id="573" r:id="rId143"/>
    <p:sldId id="574" r:id="rId144"/>
    <p:sldId id="575" r:id="rId145"/>
    <p:sldId id="576" r:id="rId146"/>
    <p:sldId id="577" r:id="rId147"/>
    <p:sldId id="578" r:id="rId148"/>
    <p:sldId id="579" r:id="rId149"/>
    <p:sldId id="580" r:id="rId150"/>
    <p:sldId id="581" r:id="rId151"/>
    <p:sldId id="582" r:id="rId152"/>
    <p:sldId id="583" r:id="rId153"/>
    <p:sldId id="584" r:id="rId154"/>
    <p:sldId id="585" r:id="rId155"/>
    <p:sldId id="586" r:id="rId156"/>
    <p:sldId id="587" r:id="rId157"/>
    <p:sldId id="588" r:id="rId158"/>
    <p:sldId id="589" r:id="rId159"/>
    <p:sldId id="590" r:id="rId160"/>
    <p:sldId id="591" r:id="rId161"/>
    <p:sldId id="592" r:id="rId162"/>
    <p:sldId id="593" r:id="rId163"/>
    <p:sldId id="333" r:id="rId164"/>
    <p:sldId id="334" r:id="rId165"/>
    <p:sldId id="335" r:id="rId16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notesMaster" Target="notesMasters/notesMaster1.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0" Type="http://schemas.openxmlformats.org/officeDocument/2006/relationships/commentAuthors" Target="commentAuthors.xml"/><Relationship Id="rId17" Type="http://schemas.openxmlformats.org/officeDocument/2006/relationships/slide" Target="slides/slide13.xml"/><Relationship Id="rId169" Type="http://schemas.openxmlformats.org/officeDocument/2006/relationships/tableStyles" Target="tableStyles.xml"/><Relationship Id="rId168" Type="http://schemas.openxmlformats.org/officeDocument/2006/relationships/viewProps" Target="viewProps.xml"/><Relationship Id="rId167" Type="http://schemas.openxmlformats.org/officeDocument/2006/relationships/presProps" Target="presProps.xml"/><Relationship Id="rId166" Type="http://schemas.openxmlformats.org/officeDocument/2006/relationships/slide" Target="slides/slide161.xml"/><Relationship Id="rId165" Type="http://schemas.openxmlformats.org/officeDocument/2006/relationships/slide" Target="slides/slide160.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1" Type="http://schemas.openxmlformats.org/officeDocument/2006/relationships/slide" Target="slides/slide156.xml"/><Relationship Id="rId160" Type="http://schemas.openxmlformats.org/officeDocument/2006/relationships/slide" Target="slides/slide155.xml"/><Relationship Id="rId16" Type="http://schemas.openxmlformats.org/officeDocument/2006/relationships/slide" Target="slides/slide12.xml"/><Relationship Id="rId159" Type="http://schemas.openxmlformats.org/officeDocument/2006/relationships/slide" Target="slides/slide154.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54" Type="http://schemas.openxmlformats.org/officeDocument/2006/relationships/slide" Target="slides/slide149.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0" Type="http://schemas.openxmlformats.org/officeDocument/2006/relationships/slide" Target="slides/slide145.xml"/><Relationship Id="rId15" Type="http://schemas.openxmlformats.org/officeDocument/2006/relationships/slide" Target="slides/slide11.xml"/><Relationship Id="rId149" Type="http://schemas.openxmlformats.org/officeDocument/2006/relationships/slide" Target="slides/slide144.xml"/><Relationship Id="rId148" Type="http://schemas.openxmlformats.org/officeDocument/2006/relationships/slide" Target="slides/slide143.xml"/><Relationship Id="rId147" Type="http://schemas.openxmlformats.org/officeDocument/2006/relationships/slide" Target="slides/slide142.xml"/><Relationship Id="rId146" Type="http://schemas.openxmlformats.org/officeDocument/2006/relationships/slide" Target="slides/slide141.xml"/><Relationship Id="rId145" Type="http://schemas.openxmlformats.org/officeDocument/2006/relationships/slide" Target="slides/slide140.xml"/><Relationship Id="rId144" Type="http://schemas.openxmlformats.org/officeDocument/2006/relationships/slide" Target="slides/slide139.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slide" Target="slides/slide10.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9.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8.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线程同步开销比较大；单进程多线程；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all-reduce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是汇聚到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卡上算，不均衡；不支持多机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线程同步开销比较大；单进程多线程；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all-reduce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是汇聚到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卡上算，不均衡；不支持多机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略过过程，直接到结论，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Zero1</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的通信量和普通</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一样，每张卡都是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倍的参数量；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DP</a:t>
            </a:r>
            <a:r>
              <a:rPr lang="en-US" sz="1200" b="0" i="0" u="none" strike="noStrike">
                <a:solidFill>
                  <a:srgbClr val="000000"/>
                </a:solidFill>
              </a:rPr>
              <a:t>：用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ReduceScatter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Allgather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两步完成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all-reduce</a:t>
            </a:r>
            <a:r>
              <a:rPr lang="en-US" sz="1200" b="0" i="0" u="none" strike="noStrike">
                <a:solidFill>
                  <a:srgbClr val="000000"/>
                </a:solidFill>
              </a:rPr>
              <a:t>，正好是二倍的参数量。</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191B1F"/>
                </a:solidFill>
                <a:latin typeface="-apple-system"/>
                <a:ea typeface="-apple-system"/>
                <a:cs typeface="-apple-system"/>
                <a:sym typeface="-apple-system"/>
              </a:rPr>
              <a:t>Zero1: </a:t>
            </a:r>
            <a:r>
              <a:rPr lang="en-US" sz="1200" b="0" i="0" u="none" strike="noStrike">
                <a:solidFill>
                  <a:srgbClr val="191B1F"/>
                </a:solidFill>
              </a:rPr>
              <a:t>先用</a:t>
            </a:r>
            <a:r>
              <a:rPr lang="en-US" sz="1200" b="0" i="0" u="none" strike="noStrike">
                <a:solidFill>
                  <a:srgbClr val="191B1F"/>
                </a:solidFill>
                <a:latin typeface="-apple-system"/>
                <a:ea typeface="-apple-system"/>
                <a:cs typeface="-apple-system"/>
                <a:sym typeface="-apple-system"/>
              </a:rPr>
              <a:t> ReduceScatter </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把梯度</a:t>
            </a:r>
            <a:r>
              <a:rPr lang="en-US" sz="1200" b="0" i="0" u="none" strike="noStrike">
                <a:solidFill>
                  <a:srgbClr val="191B1F"/>
                </a:solidFill>
                <a:latin typeface="-apple-system"/>
                <a:ea typeface="-apple-system"/>
                <a:cs typeface="-apple-system"/>
                <a:sym typeface="-apple-system"/>
              </a:rPr>
              <a:t> Reduce </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到不同显卡上，每个显卡有一份平均后的</a:t>
            </a:r>
            <a:r>
              <a:rPr lang="en-US" sz="1200" b="0" i="0" u="none" strike="noStrike">
                <a:solidFill>
                  <a:srgbClr val="191B1F"/>
                </a:solidFill>
                <a:latin typeface="-apple-system"/>
                <a:ea typeface="-apple-system"/>
                <a:cs typeface="-apple-system"/>
                <a:sym typeface="-apple-system"/>
              </a:rPr>
              <a:t> Gradient </a:t>
            </a:r>
            <a:r>
              <a:rPr lang="en-US" sz="1200" b="0" i="0" u="none" strike="noStrike">
                <a:solidFill>
                  <a:srgbClr val="191B1F"/>
                </a:solidFill>
              </a:rPr>
              <a:t>（</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这里的一份代表的是每个</a:t>
            </a:r>
            <a:r>
              <a:rPr lang="en-US" sz="1200" b="0" i="0" u="none" strike="noStrike">
                <a:solidFill>
                  <a:srgbClr val="191B1F"/>
                </a:solidFill>
                <a:latin typeface="-apple-system"/>
                <a:ea typeface="-apple-system"/>
                <a:cs typeface="-apple-system"/>
                <a:sym typeface="-apple-system"/>
              </a:rPr>
              <a:t> Device </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有一小份平均后的</a:t>
            </a:r>
            <a:r>
              <a:rPr lang="en-US" sz="1200" b="0" i="0" u="none" strike="noStrike">
                <a:solidFill>
                  <a:srgbClr val="191B1F"/>
                </a:solidFill>
                <a:latin typeface="-apple-system"/>
                <a:ea typeface="-apple-system"/>
                <a:cs typeface="-apple-system"/>
                <a:sym typeface="-apple-system"/>
              </a:rPr>
              <a:t> Gradient</a:t>
            </a:r>
            <a:r>
              <a:rPr lang="en-US" sz="1200" b="0" i="0" u="none" strike="noStrike">
                <a:solidFill>
                  <a:srgbClr val="191B1F"/>
                </a:solidFill>
              </a:rPr>
              <a:t>），</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利用这个</a:t>
            </a:r>
            <a:r>
              <a:rPr lang="en-US" sz="1200" b="0" i="0" u="none" strike="noStrike">
                <a:solidFill>
                  <a:srgbClr val="191B1F"/>
                </a:solidFill>
                <a:latin typeface="-apple-system"/>
                <a:ea typeface="-apple-system"/>
                <a:cs typeface="-apple-system"/>
                <a:sym typeface="-apple-system"/>
              </a:rPr>
              <a:t> Gradient </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更新</a:t>
            </a:r>
            <a:r>
              <a:rPr lang="en-US" sz="1200" b="0" i="0" u="none" strike="noStrike">
                <a:solidFill>
                  <a:srgbClr val="191B1F"/>
                </a:solidFill>
                <a:latin typeface="-apple-system"/>
                <a:ea typeface="-apple-system"/>
                <a:cs typeface="-apple-system"/>
                <a:sym typeface="-apple-system"/>
              </a:rPr>
              <a:t> Optimizer </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和参数，再把更新后的模型参数通过</a:t>
            </a:r>
            <a:r>
              <a:rPr lang="en-US" sz="1200" b="0" i="0" u="none" strike="noStrike">
                <a:solidFill>
                  <a:srgbClr val="191B1F"/>
                </a:solidFill>
                <a:latin typeface="-apple-system"/>
                <a:ea typeface="-apple-system"/>
                <a:cs typeface="-apple-system"/>
                <a:sym typeface="-apple-system"/>
              </a:rPr>
              <a:t> AllGather </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分发到所有显卡上，整体来看跟原来的</a:t>
            </a:r>
            <a:r>
              <a:rPr lang="en-US" sz="1200" b="0" i="0" u="none" strike="noStrike">
                <a:solidFill>
                  <a:srgbClr val="191B1F"/>
                </a:solidFill>
                <a:latin typeface="-apple-system"/>
                <a:ea typeface="-apple-system"/>
                <a:cs typeface="-apple-system"/>
                <a:sym typeface="-apple-system"/>
              </a:rPr>
              <a:t>DP</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保持一致。</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191B1F"/>
                </a:solidFill>
                <a:latin typeface="-apple-system"/>
                <a:ea typeface="-apple-system"/>
                <a:cs typeface="-apple-system"/>
                <a:sym typeface="-apple-system"/>
              </a:rPr>
              <a:t>Zero2: Zero1</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相当于白存了很多</a:t>
            </a:r>
            <a:r>
              <a:rPr lang="en-US" sz="1200" b="0" i="0" u="none" strike="noStrike">
                <a:solidFill>
                  <a:srgbClr val="191B1F"/>
                </a:solidFill>
                <a:latin typeface="-apple-system"/>
                <a:ea typeface="-apple-system"/>
                <a:cs typeface="-apple-system"/>
                <a:sym typeface="-apple-system"/>
              </a:rPr>
              <a:t>gradient</a:t>
            </a:r>
            <a:r>
              <a:rPr lang="en-US" sz="1200" b="0" i="0" u="none" strike="noStrike">
                <a:solidFill>
                  <a:srgbClr val="191B1F"/>
                </a:solidFill>
              </a:rPr>
              <a:t>？所以每次发过去</a:t>
            </a:r>
            <a:r>
              <a:rPr lang="en-US" sz="1200" b="0" i="0" u="none" strike="noStrike">
                <a:solidFill>
                  <a:srgbClr val="191B1F"/>
                </a:solidFill>
                <a:latin typeface="-apple-system"/>
                <a:ea typeface="-apple-system"/>
                <a:cs typeface="-apple-system"/>
                <a:sym typeface="-apple-system"/>
              </a:rPr>
              <a:t>gradient</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就可以；也是</a:t>
            </a:r>
            <a:r>
              <a:rPr lang="en-US" sz="1200" b="0" i="0" u="none" strike="noStrike">
                <a:solidFill>
                  <a:srgbClr val="191B1F"/>
                </a:solidFill>
                <a:latin typeface="-apple-system"/>
                <a:ea typeface="-apple-system"/>
                <a:cs typeface="-apple-system"/>
                <a:sym typeface="-apple-system"/>
              </a:rPr>
              <a:t>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倍参数量；</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191B1F"/>
                </a:solidFill>
                <a:latin typeface="-apple-system"/>
                <a:ea typeface="-apple-system"/>
                <a:cs typeface="-apple-system"/>
                <a:sym typeface="-apple-system"/>
              </a:rPr>
              <a:t>Zero3: </a:t>
            </a:r>
            <a:r>
              <a:rPr lang="en-US" sz="1200" b="0" i="0" u="none" strike="noStrike">
                <a:solidFill>
                  <a:srgbClr val="191B1F"/>
                </a:solidFill>
              </a:rPr>
              <a:t>在</a:t>
            </a:r>
            <a:r>
              <a:rPr lang="en-US" sz="1200" b="0" i="0" u="none" strike="noStrike">
                <a:solidFill>
                  <a:srgbClr val="191B1F"/>
                </a:solidFill>
                <a:latin typeface="-apple-system"/>
                <a:ea typeface="-apple-system"/>
                <a:cs typeface="-apple-system"/>
                <a:sym typeface="-apple-system"/>
              </a:rPr>
              <a:t>Zero2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的基础上再切参数；增加了一次参数</a:t>
            </a:r>
            <a:r>
              <a:rPr lang="en-US" sz="1200" b="0" i="0" u="none" strike="noStrike">
                <a:solidFill>
                  <a:srgbClr val="191B1F"/>
                </a:solidFill>
                <a:latin typeface="-apple-system"/>
                <a:ea typeface="-apple-system"/>
                <a:cs typeface="-apple-system"/>
                <a:sym typeface="-apple-system"/>
              </a:rPr>
              <a:t>all-gather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的参数量</a:t>
            </a:r>
            <a:r>
              <a:rPr lang="en-US" sz="1200" b="0" i="0" u="none" strike="noStrike">
                <a:solidFill>
                  <a:srgbClr val="191B1F"/>
                </a:solidFill>
                <a:latin typeface="-apple-system"/>
                <a:ea typeface="-apple-system"/>
                <a:cs typeface="-apple-system"/>
                <a:sym typeface="-apple-system"/>
              </a:rPr>
              <a:t>;</a:t>
            </a:r>
            <a:endParaRPr lang="en-US" sz="1200" b="0" i="0" u="none" strike="noStrike">
              <a:solidFill>
                <a:srgbClr val="191B1F"/>
              </a:solidFill>
              <a:latin typeface="-apple-system"/>
              <a:ea typeface="-apple-system"/>
              <a:cs typeface="-apple-system"/>
              <a:sym typeface="-apple-system"/>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还是以数据并行度</a:t>
            </a:r>
            <a:r>
              <a:rPr lang="en-US" sz="1200" b="0" i="0" u="none" strike="noStrike">
                <a:solidFill>
                  <a:srgbClr val="191B1F"/>
                </a:solidFill>
                <a:latin typeface="-apple-system"/>
                <a:ea typeface="-apple-system"/>
                <a:cs typeface="-apple-system"/>
                <a:sym typeface="-apple-system"/>
              </a:rPr>
              <a:t>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为例，假设</a:t>
            </a:r>
            <a:r>
              <a:rPr lang="en-US" sz="1200" b="0" i="0" u="none" strike="noStrike">
                <a:solidFill>
                  <a:srgbClr val="191B1F"/>
                </a:solidFill>
                <a:latin typeface="-apple-system"/>
                <a:ea typeface="-apple-system"/>
                <a:cs typeface="-apple-system"/>
                <a:sym typeface="-apple-system"/>
              </a:rPr>
              <a:t>batchsize</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为</a:t>
            </a:r>
            <a:r>
              <a:rPr lang="en-US" sz="1200" b="0" i="0" u="none" strike="noStrike">
                <a:solidFill>
                  <a:srgbClr val="191B1F"/>
                </a:solidFill>
                <a:latin typeface="-apple-system"/>
                <a:ea typeface="-apple-system"/>
                <a:cs typeface="-apple-system"/>
                <a:sym typeface="-apple-system"/>
              </a:rPr>
              <a:t>1024</a:t>
            </a:r>
            <a:r>
              <a:rPr lang="en-US" sz="1200" b="0" i="0" u="none" strike="noStrike">
                <a:solidFill>
                  <a:srgbClr val="191B1F"/>
                </a:solidFill>
              </a:rPr>
              <a:t>，</a:t>
            </a:r>
            <a:r>
              <a:rPr lang="en-US" sz="1200" b="0" i="0" u="none" strike="noStrike">
                <a:solidFill>
                  <a:srgbClr val="191B1F"/>
                </a:solidFill>
                <a:latin typeface="-apple-system"/>
                <a:ea typeface="-apple-system"/>
                <a:cs typeface="-apple-system"/>
                <a:sym typeface="-apple-system"/>
              </a:rPr>
              <a:t>FSDP</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步骤如下：</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数据并行将数据拆分为</a:t>
            </a:r>
            <a:r>
              <a:rPr lang="en-US" sz="1200" b="0" i="0" u="none" strike="noStrike">
                <a:solidFill>
                  <a:srgbClr val="191B1F"/>
                </a:solidFill>
                <a:latin typeface="-apple-system"/>
                <a:ea typeface="-apple-system"/>
                <a:cs typeface="-apple-system"/>
                <a:sym typeface="-apple-system"/>
              </a:rPr>
              <a:t>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个</a:t>
            </a:r>
            <a:r>
              <a:rPr lang="en-US" sz="1200" b="0" i="0" u="none" strike="noStrike">
                <a:solidFill>
                  <a:srgbClr val="191B1F"/>
                </a:solidFill>
                <a:latin typeface="-apple-system"/>
                <a:ea typeface="-apple-system"/>
                <a:cs typeface="-apple-system"/>
                <a:sym typeface="-apple-system"/>
              </a:rPr>
              <a:t>512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小</a:t>
            </a:r>
            <a:r>
              <a:rPr lang="en-US" sz="1200" b="0" i="0" u="none" strike="noStrike">
                <a:solidFill>
                  <a:srgbClr val="191B1F"/>
                </a:solidFill>
                <a:latin typeface="-apple-system"/>
                <a:ea typeface="-apple-system"/>
                <a:cs typeface="-apple-system"/>
                <a:sym typeface="-apple-system"/>
              </a:rPr>
              <a:t>batch</a:t>
            </a:r>
            <a:r>
              <a:rPr lang="en-US" sz="1200" b="0" i="0" u="none" strike="noStrike">
                <a:solidFill>
                  <a:srgbClr val="191B1F"/>
                </a:solidFill>
              </a:rPr>
              <a:t>，</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并送到两张卡的训练进程上</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两个进程各自维护模型的一部分参数，利用自己的</a:t>
            </a:r>
            <a:r>
              <a:rPr lang="en-US" sz="1200" b="0" i="0" u="none" strike="noStrike">
                <a:solidFill>
                  <a:srgbClr val="191B1F"/>
                </a:solidFill>
                <a:latin typeface="-apple-system"/>
                <a:ea typeface="-apple-system"/>
                <a:cs typeface="-apple-system"/>
                <a:sym typeface="-apple-system"/>
              </a:rPr>
              <a:t>512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数据进行前向和反向</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模型前向时需要执行</a:t>
            </a:r>
            <a:r>
              <a:rPr lang="en-US" sz="1200" b="0" i="0" u="none" strike="noStrike">
                <a:solidFill>
                  <a:srgbClr val="191B1F"/>
                </a:solidFill>
                <a:latin typeface="-apple-system"/>
                <a:ea typeface="-apple-system"/>
                <a:cs typeface="-apple-system"/>
                <a:sym typeface="-apple-system"/>
              </a:rPr>
              <a:t>all_gather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操作，以使每个进程拿到所有权重</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模型反向时也需要执行</a:t>
            </a:r>
            <a:r>
              <a:rPr lang="en-US" sz="1200" b="0" i="0" u="none" strike="noStrike">
                <a:solidFill>
                  <a:srgbClr val="191B1F"/>
                </a:solidFill>
                <a:latin typeface="-apple-system"/>
                <a:ea typeface="-apple-system"/>
                <a:cs typeface="-apple-system"/>
                <a:sym typeface="-apple-system"/>
              </a:rPr>
              <a:t>all_gather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拿到权重，以及</a:t>
            </a:r>
            <a:r>
              <a:rPr lang="en-US" sz="1200" b="0" i="0" u="none" strike="noStrike">
                <a:solidFill>
                  <a:srgbClr val="191B1F"/>
                </a:solidFill>
                <a:latin typeface="-apple-system"/>
                <a:ea typeface="-apple-system"/>
                <a:cs typeface="-apple-system"/>
                <a:sym typeface="-apple-system"/>
              </a:rPr>
              <a:t>reduce_scatter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同步进程间的梯度</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当内存不足时，</a:t>
            </a:r>
            <a:r>
              <a:rPr lang="en-US" sz="1200" b="0" i="0" u="none" strike="noStrike">
                <a:solidFill>
                  <a:srgbClr val="191B1F"/>
                </a:solidFill>
                <a:latin typeface="-apple-system"/>
                <a:ea typeface="-apple-system"/>
                <a:cs typeface="-apple-system"/>
                <a:sym typeface="-apple-system"/>
              </a:rPr>
              <a:t>FSDP</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还支持将梯度卸载到</a:t>
            </a:r>
            <a:r>
              <a:rPr lang="en-US" sz="1200" b="0" i="0" u="none" strike="noStrike">
                <a:solidFill>
                  <a:srgbClr val="191B1F"/>
                </a:solidFill>
                <a:latin typeface="-apple-system"/>
                <a:ea typeface="-apple-system"/>
                <a:cs typeface="-apple-system"/>
                <a:sym typeface="-apple-system"/>
              </a:rPr>
              <a:t>CPU</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上</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最后使用同步后的梯度更新各自进程上的模型参数</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还是以数据并行度</a:t>
            </a:r>
            <a:r>
              <a:rPr lang="en-US" sz="1200" b="0" i="0" u="none" strike="noStrike">
                <a:solidFill>
                  <a:srgbClr val="191B1F"/>
                </a:solidFill>
                <a:latin typeface="-apple-system"/>
                <a:ea typeface="-apple-system"/>
                <a:cs typeface="-apple-system"/>
                <a:sym typeface="-apple-system"/>
              </a:rPr>
              <a:t>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为例，假设</a:t>
            </a:r>
            <a:r>
              <a:rPr lang="en-US" sz="1200" b="0" i="0" u="none" strike="noStrike">
                <a:solidFill>
                  <a:srgbClr val="191B1F"/>
                </a:solidFill>
                <a:latin typeface="-apple-system"/>
                <a:ea typeface="-apple-system"/>
                <a:cs typeface="-apple-system"/>
                <a:sym typeface="-apple-system"/>
              </a:rPr>
              <a:t>batchsize</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为</a:t>
            </a:r>
            <a:r>
              <a:rPr lang="en-US" sz="1200" b="0" i="0" u="none" strike="noStrike">
                <a:solidFill>
                  <a:srgbClr val="191B1F"/>
                </a:solidFill>
                <a:latin typeface="-apple-system"/>
                <a:ea typeface="-apple-system"/>
                <a:cs typeface="-apple-system"/>
                <a:sym typeface="-apple-system"/>
              </a:rPr>
              <a:t>1024</a:t>
            </a:r>
            <a:r>
              <a:rPr lang="en-US" sz="1200" b="0" i="0" u="none" strike="noStrike">
                <a:solidFill>
                  <a:srgbClr val="191B1F"/>
                </a:solidFill>
              </a:rPr>
              <a:t>，</a:t>
            </a:r>
            <a:r>
              <a:rPr lang="en-US" sz="1200" b="0" i="0" u="none" strike="noStrike">
                <a:solidFill>
                  <a:srgbClr val="191B1F"/>
                </a:solidFill>
                <a:latin typeface="-apple-system"/>
                <a:ea typeface="-apple-system"/>
                <a:cs typeface="-apple-system"/>
                <a:sym typeface="-apple-system"/>
              </a:rPr>
              <a:t>FSDP</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步骤如下：</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数据并行将数据拆分为</a:t>
            </a:r>
            <a:r>
              <a:rPr lang="en-US" sz="1200" b="0" i="0" u="none" strike="noStrike">
                <a:solidFill>
                  <a:srgbClr val="191B1F"/>
                </a:solidFill>
                <a:latin typeface="-apple-system"/>
                <a:ea typeface="-apple-system"/>
                <a:cs typeface="-apple-system"/>
                <a:sym typeface="-apple-system"/>
              </a:rPr>
              <a:t>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个</a:t>
            </a:r>
            <a:r>
              <a:rPr lang="en-US" sz="1200" b="0" i="0" u="none" strike="noStrike">
                <a:solidFill>
                  <a:srgbClr val="191B1F"/>
                </a:solidFill>
                <a:latin typeface="-apple-system"/>
                <a:ea typeface="-apple-system"/>
                <a:cs typeface="-apple-system"/>
                <a:sym typeface="-apple-system"/>
              </a:rPr>
              <a:t>512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小</a:t>
            </a:r>
            <a:r>
              <a:rPr lang="en-US" sz="1200" b="0" i="0" u="none" strike="noStrike">
                <a:solidFill>
                  <a:srgbClr val="191B1F"/>
                </a:solidFill>
                <a:latin typeface="-apple-system"/>
                <a:ea typeface="-apple-system"/>
                <a:cs typeface="-apple-system"/>
                <a:sym typeface="-apple-system"/>
              </a:rPr>
              <a:t>batch</a:t>
            </a:r>
            <a:r>
              <a:rPr lang="en-US" sz="1200" b="0" i="0" u="none" strike="noStrike">
                <a:solidFill>
                  <a:srgbClr val="191B1F"/>
                </a:solidFill>
              </a:rPr>
              <a:t>，</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并送到两张卡的训练进程上</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两个进程各自维护模型的一部分参数，利用自己的</a:t>
            </a:r>
            <a:r>
              <a:rPr lang="en-US" sz="1200" b="0" i="0" u="none" strike="noStrike">
                <a:solidFill>
                  <a:srgbClr val="191B1F"/>
                </a:solidFill>
                <a:latin typeface="-apple-system"/>
                <a:ea typeface="-apple-system"/>
                <a:cs typeface="-apple-system"/>
                <a:sym typeface="-apple-system"/>
              </a:rPr>
              <a:t>512</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数据进行前向和反向</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模型前向时需要执行</a:t>
            </a:r>
            <a:r>
              <a:rPr lang="en-US" sz="1200" b="0" i="0" u="none" strike="noStrike">
                <a:solidFill>
                  <a:srgbClr val="191B1F"/>
                </a:solidFill>
                <a:latin typeface="-apple-system"/>
                <a:ea typeface="-apple-system"/>
                <a:cs typeface="-apple-system"/>
                <a:sym typeface="-apple-system"/>
              </a:rPr>
              <a:t>all_gather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操作，以使每个进程拿到所有权重</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模型反向时也需要执行</a:t>
            </a:r>
            <a:r>
              <a:rPr lang="en-US" sz="1200" b="0" i="0" u="none" strike="noStrike">
                <a:solidFill>
                  <a:srgbClr val="191B1F"/>
                </a:solidFill>
                <a:latin typeface="-apple-system"/>
                <a:ea typeface="-apple-system"/>
                <a:cs typeface="-apple-system"/>
                <a:sym typeface="-apple-system"/>
              </a:rPr>
              <a:t>all_gather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拿到权重，以及</a:t>
            </a:r>
            <a:r>
              <a:rPr lang="en-US" sz="1200" b="0" i="0" u="none" strike="noStrike">
                <a:solidFill>
                  <a:srgbClr val="191B1F"/>
                </a:solidFill>
                <a:latin typeface="-apple-system"/>
                <a:ea typeface="-apple-system"/>
                <a:cs typeface="-apple-system"/>
                <a:sym typeface="-apple-system"/>
              </a:rPr>
              <a:t>reduce_scatter</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同步进程间的梯度</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当内存不足时，</a:t>
            </a:r>
            <a:r>
              <a:rPr lang="en-US" sz="1200" b="0" i="0" u="none" strike="noStrike">
                <a:solidFill>
                  <a:srgbClr val="191B1F"/>
                </a:solidFill>
                <a:latin typeface="-apple-system"/>
                <a:ea typeface="-apple-system"/>
                <a:cs typeface="-apple-system"/>
                <a:sym typeface="-apple-system"/>
              </a:rPr>
              <a:t>FSDP</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还支持将梯度卸载到</a:t>
            </a:r>
            <a:r>
              <a:rPr lang="en-US" sz="1200" b="0" i="0" u="none" strike="noStrike">
                <a:solidFill>
                  <a:srgbClr val="191B1F"/>
                </a:solidFill>
                <a:latin typeface="-apple-system"/>
                <a:ea typeface="-apple-system"/>
                <a:cs typeface="-apple-system"/>
                <a:sym typeface="-apple-system"/>
              </a:rPr>
              <a:t>CPU</a:t>
            </a: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上</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191B1F"/>
              </a:buClr>
              <a:buChar char="•"/>
            </a:pPr>
            <a:r>
              <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rPr>
              <a:t>最后使用同步后的梯度更新各自进程上的模型参数</a:t>
            </a:r>
            <a:endParaRPr lang="en-US" sz="1200" b="0" i="0" u="none" strike="noStrike">
              <a:solidFill>
                <a:srgbClr val="191B1F"/>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latin typeface="-apple-system"/>
              </a:defRPr>
            </a:lvl1pPr>
          </a:lstStyle>
          <a:p>
            <a:pPr indent="0" algn="l">
              <a:lnSpc>
                <a:spcPct val="100000"/>
              </a:lnSpc>
            </a:pPr>
            <a:r>
              <a:rPr lang="en-US" sz="1200" b="0" i="0" u="none" strike="noStrike">
                <a:solidFill>
                  <a:srgbClr val="191B1F"/>
                </a:solidFill>
                <a:latin typeface="-apple-system"/>
                <a:ea typeface="-apple-system"/>
                <a:cs typeface="-apple-system"/>
                <a:sym typeface="-apple-system"/>
              </a:rPr>
              <a:t>https://zhuanlan.zhihu.com/p/1976385706453652306</a:t>
            </a:r>
            <a:endParaRPr lang="en-US" sz="1200" b="0" i="0" u="none" strike="noStrike">
              <a:solidFill>
                <a:srgbClr val="191B1F"/>
              </a:solidFill>
              <a:latin typeface="-apple-system"/>
              <a:ea typeface="-apple-system"/>
              <a:cs typeface="-apple-system"/>
              <a:sym typeface="-apple-system"/>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191B1F">
                    <a:alpha val="100000"/>
                  </a:srgbClr>
                </a:solidFill>
                <a:latin typeface="-apple-system"/>
              </a:defRPr>
            </a:lvl1pPr>
          </a:lstStyle>
          <a:p>
            <a:pPr indent="0" algn="l">
              <a:lnSpc>
                <a:spcPct val="100000"/>
              </a:lnSpc>
            </a:pPr>
            <a:r>
              <a:rPr lang="en-US" sz="1200" b="0" i="0" u="none" strike="noStrike">
                <a:solidFill>
                  <a:srgbClr val="191B1F"/>
                </a:solidFill>
                <a:latin typeface="-apple-system"/>
                <a:ea typeface="-apple-system"/>
                <a:cs typeface="-apple-system"/>
                <a:sym typeface="-apple-system"/>
              </a:rPr>
              <a:t>https://zhuanlan.zhihu.com/p/1976385706453652306</a:t>
            </a:r>
            <a:endParaRPr lang="en-US" sz="1200" b="0" i="0" u="none" strike="noStrike">
              <a:solidFill>
                <a:srgbClr val="191B1F"/>
              </a:solidFill>
              <a:latin typeface="-apple-system"/>
              <a:ea typeface="-apple-system"/>
              <a:cs typeface="-apple-system"/>
              <a:sym typeface="-apple-system"/>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Fault tolerance and Checkpointing: fault handling in Distributed Training, with asynchronous saving of model weights.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Efficient Training of Large Language Models on Distributed Infrastructures: A Survey</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https://arxiv.org/pdf/2407.20018   Chapter 8</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Checkpoint and Fault tolerance mechanisms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https://apxml.com/zh/courses/mlops-for-large-models-llmops/chapter-3-llm-training-finetuning-ops/checkpointing-fault-tolerance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https://apxml.com/zh/courses/how-to-build-a-large-language-model/chapter-19-checkpointing-fault-tolerance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Megatron-LM</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https://github.com/NVIDIA/Megatron-LM</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https://developer.nvidia.com/megatron-core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Robust LLM Training Infrastructure at ByteDance [SOSP’25]</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https://dl.acm.org/doi/10.1145/3731569.3764838</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data src: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https://nebius.com/blog/posts/how-we-build-reliable-clusters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https://arxiv.org/abs/2512.13488</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https://www.datacenterdynamics.com/en/news/meta-report-details-hundreds-of-gpu-and-hbm3-related-interruptions-to-llama-3-training-run/</a:t>
            </a: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https://apxml.com/zh/courses/mlops-for-large-models-llmops/chapter-3-llm-training-finetuning-ops/checkpointing-fault-tolerance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https://www.vastdata.com/blog/a-checkpoint-on-checkpoints-in-llms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1: real-time self-checks and rapid response (Proactive Real-time Checks)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①</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Detection &amp; Eviction (Detection &amp; Eviction)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monitor performs real-time checks on hardware ( GPU, network cards, kernel events). Once a confirmed hardware failure is detected (e.g.,  GPU damage), the system immediately shuts down and evicts the faulty machine.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②</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Code rollback (Code Rollback)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 clear user-space error is detected during runtime (e.g.,  Python   TypeError or IndexError ), the system automatically triggers Code rollback and undoes the most recent updates.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Suspend for diagnostics (Suspend for Diagnostics)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abnormal metrics occur (e.g., Loss becomes NaN ) or training crashes for unknown reasons, the system suspends training and enters in-depth “ Downtime diagnostics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2: Tiered downtime diagnostics (Hierarchical Downtime Diagnostics)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④</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Locate and evict (Locate &amp; Evict)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Diagnostic tool pinpoints the root cause by running targeted tests such as NCCL. After confirming the Faulty point, remove it and lock the IP, then bring the Warm standby machine online to take over.</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⑤</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Reattempt (Reattempt)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all tests pass and the system determines the fault is transient jitter (e.g., a temporary network fluctuation), training is restarted in place.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Restart failure reporting (Retry Failure)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the issue persists after the in-place restart, the system will suspect the most recent Code changes.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Still fails after eviction (Eviction Failure)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Even after the machine is evicted, if errors still occur after the restart, this further confirms the issue is with the user code logic or environment configuration, rather than a purely hardware fault.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3: Complex fault isolation (Advanced Localization)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Two-phase replay (Dual-Phase Replay)</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 address the most hard-to-detect faults (such as Silent data corruption SDC ), the system performs replay tests by splitting machines into horizontal and vertical groups while keeping variables controlled.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Precise exclusion (Intersection Eviction)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By comparing the overlap in error reports between the horizontal and vertical tests, it precisely identifies a single SDC faulty machine and excludes it, ensuring the training environment is fully restored to a healthy state.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1: real-time self-checks and rapid response (Proactive Real-time Checks)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①</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Detection &amp; Eviction (Detection &amp; Eviction)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monitor performs real-time checks on hardware ( GPU, network cards, kernel events). Once a confirmed hardware failure is detected (e.g.,  GPU damage), the system immediately shuts down and evicts the faulty machine.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②</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Code rollback (Code Rollback)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 clear user-space error is detected during runtime (e.g.,  Python   TypeError or IndexError ), the system automatically triggers Code rollback and undoes the most recent updates.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Suspend for diagnostics (Suspend for Diagnostics)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abnormal metrics occur (e.g., Loss becomes NaN ) or training crashes for unknown reasons, the system suspends training and enters in-depth “ Downtime diagnostics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2: Tiered downtime diagnostics (Hierarchical Downtime Diagnostics)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④</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Locate and evict (Locate &amp; Evict)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Diagnostic tool pinpoints the root cause by running targeted tests such as NCCL. After confirming the Faulty point, remove it and lock the IP, then bring the Warm standby machine online to take over.</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⑤</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Reattempt (Reattempt)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all tests pass and the system determines the fault is transient jitter (e.g., a temporary network fluctuation), training is restarted in place.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Restart failure reporting (Retry Failure)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the issue persists after the in-place restart, the system will suspect the most recent Code changes.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Still fails after eviction (Eviction Failure)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Even after the machine is evicted, if errors still occur after the restart, this further confirms the issue is with the user code logic or environment configuration, rather than a purely hardware fault.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3: Complex fault isolation (Advanced Localization)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Two-phase replay (Dual-Phase Replay)</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 address the most hard-to-detect faults (such as Silent data corruption SDC ), the system performs replay tests by splitting machines into horizontal and vertical groups while keeping variables controlled.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Precise exclusion (Intersection Eviction)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By comparing the overlap in error reports between the horizontal and vertical tests, it precisely identifies a single SDC faulty machine and excludes it, ensuring the training environment is fully restored to a healthy state.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Memory Optimization Techniques: Gradient Checkpointing (Activation Recomputation), Offloading (CPU Offload).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Gradient Checkpointing</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Basic: https://github.com/rasbt/deeplearning-models/blob/master/pytorch_ipynb/mechanics/gradient-checkpointing-nin.ipynb</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https://www.newline.co/@zaoyang/fine-tuning-llms-with-gradient-checkpointing-and-partitioning--42a48e66</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Offloading</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ZERO-Offload: https://www.usenix.org/conference/atc21/presentation/ren-jie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ZeRO-Infinity: https://arxiv.org/abs/2104.07857</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Others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Parameter Compression, Distributed Sharding, and Memory Management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https://github.com/rasbt/deeplearning-models/blob/master/pytorch_ipynb/mechanics/gradient-checkpointing-nin.ipynb</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https://github.com/rasbt/deeplearning-models/blob/master/pytorch_ipynb/mechanics/gradient-checkpointing-nin.ipynb</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https://residentmario.github.io/pytorch-training-performance-guide/gradient-checkpoints.html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https://www.newline.co/@zaoyang/fine-tuning-llms-with-gradient-checkpointing-and-partitioning--42a48e66</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Generated by Kimi 2.5</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https://raw.githubusercontent.com/microsoft/DeepSpeed/master/docs/assets/files/SC21-ZeRO-Infinity.pdf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endParaRPr lang="zh-CN" altLang="en-US"/>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endParaRPr lang="zh-CN" altLang="en-US"/>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2"/>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10"/>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图片 5" descr="logo-africa"/>
          <p:cNvPicPr>
            <a:picLocks noChangeAspect="1"/>
          </p:cNvPicPr>
          <p:nvPr userDrawn="1"/>
        </p:nvPicPr>
        <p:blipFill>
          <a:blip r:embed="rId15"/>
          <a:stretch>
            <a:fillRect/>
          </a:stretch>
        </p:blipFill>
        <p:spPr>
          <a:xfrm>
            <a:off x="8076565" y="222885"/>
            <a:ext cx="897890" cy="3740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endParaRPr lang="zh-CN" altLang="en-US" dirty="0"/>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userDrawn="1"/>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fld>
            <a:endParaRPr lang="zh-CN" altLang="en-US" dirty="0"/>
          </a:p>
        </p:txBody>
      </p:sp>
      <p:grpSp>
        <p:nvGrpSpPr>
          <p:cNvPr id="2" name="组合 1"/>
          <p:cNvGrpSpPr/>
          <p:nvPr userDrawn="1"/>
        </p:nvGrpSpPr>
        <p:grpSpPr>
          <a:xfrm>
            <a:off x="9221415" y="158476"/>
            <a:ext cx="2580450" cy="547850"/>
            <a:chOff x="9247450" y="217531"/>
            <a:chExt cx="2580450" cy="547850"/>
          </a:xfrm>
        </p:grpSpPr>
        <p:pic>
          <p:nvPicPr>
            <p:cNvPr id="3" name="图片 2"/>
            <p:cNvPicPr>
              <a:picLocks noChangeAspect="1"/>
            </p:cNvPicPr>
            <p:nvPr/>
          </p:nvPicPr>
          <p:blipFill>
            <a:blip r:embed="rId13"/>
            <a:stretch>
              <a:fillRect/>
            </a:stretch>
          </p:blipFill>
          <p:spPr>
            <a:xfrm>
              <a:off x="9247450" y="319584"/>
              <a:ext cx="1096400" cy="336123"/>
            </a:xfrm>
            <a:prstGeom prst="rect">
              <a:avLst/>
            </a:prstGeom>
          </p:spPr>
        </p:pic>
        <p:pic>
          <p:nvPicPr>
            <p:cNvPr id="4" name="图片 3"/>
            <p:cNvPicPr>
              <a:picLocks noChangeAspect="1"/>
            </p:cNvPicPr>
            <p:nvPr/>
          </p:nvPicPr>
          <p:blipFill>
            <a:blip r:embed="rId14"/>
            <a:srcRect l="13229" t="29812" r="10431" b="29796"/>
            <a:stretch>
              <a:fillRect/>
            </a:stretch>
          </p:blipFill>
          <p:spPr>
            <a:xfrm>
              <a:off x="10553199" y="217531"/>
              <a:ext cx="1274701" cy="547850"/>
            </a:xfrm>
            <a:prstGeom prst="rect">
              <a:avLst/>
            </a:prstGeom>
          </p:spPr>
        </p:pic>
      </p:grpSp>
      <p:pic>
        <p:nvPicPr>
          <p:cNvPr id="10" name="图片 9" descr="/Users/jieran/Library/Containers/com.kingsoft.wpsoffice.mac/Data/tmp/picturecompress_20260414164557/output_1.pngoutput_1"/>
          <p:cNvPicPr>
            <a:picLocks noChangeAspect="1"/>
          </p:cNvPicPr>
          <p:nvPr userDrawn="1"/>
        </p:nvPicPr>
        <p:blipFill>
          <a:blip r:embed="rId15"/>
          <a:stretch>
            <a:fillRect/>
          </a:stretch>
        </p:blipFill>
        <p:spPr>
          <a:xfrm>
            <a:off x="7994650" y="196215"/>
            <a:ext cx="1017905" cy="42418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3.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31.png"/><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3.xml"/><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3.xml"/><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3.xml"/><Relationship Id="rId2" Type="http://schemas.openxmlformats.org/officeDocument/2006/relationships/image" Target="../media/image39.png"/><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3.xml"/><Relationship Id="rId2" Type="http://schemas.openxmlformats.org/officeDocument/2006/relationships/image" Target="../media/image43.png"/><Relationship Id="rId1"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6.png"/><Relationship Id="rId1" Type="http://schemas.openxmlformats.org/officeDocument/2006/relationships/image" Target="../media/image45.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1.png"/><Relationship Id="rId1"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3.xml"/><Relationship Id="rId2" Type="http://schemas.openxmlformats.org/officeDocument/2006/relationships/image" Target="../media/image55.png"/><Relationship Id="rId1" Type="http://schemas.openxmlformats.org/officeDocument/2006/relationships/image" Target="../media/image5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6.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9.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0.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3.png"/><Relationship Id="rId1" Type="http://schemas.openxmlformats.org/officeDocument/2006/relationships/image" Target="../media/image6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5.png"/><Relationship Id="rId2" Type="http://schemas.openxmlformats.org/officeDocument/2006/relationships/hyperlink" Target="https://dnacap.fund/insights/exploring-the-landscape-of-large-language-models" TargetMode="External"/><Relationship Id="rId1" Type="http://schemas.openxmlformats.org/officeDocument/2006/relationships/hyperlink" Target="https://arxiv.org/abs/2001.08361" TargetMode="External"/></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69.png"/><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image" Target="../media/image66.jpeg"/></Relationships>
</file>

<file path=ppt/slides/_rels/slide6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hyperlink" Target="https://aclanthology.org/2023.acl-long.134.pdf" TargetMode="External"/><Relationship Id="rId2" Type="http://schemas.openxmlformats.org/officeDocument/2006/relationships/hyperlink" Target="https://docs.nvidia.com/nemo/megatron-bridge/0.2.0/parallelisms.html" TargetMode="External"/><Relationship Id="rId1" Type="http://schemas.openxmlformats.org/officeDocument/2006/relationships/hyperlink" Target="https://robotchinwag.com/posts/demystifying-tensor-parallelism/" TargetMode="Externa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hyperlink" Target="https://arxiv.org/html/2507.04786v1" TargetMode="Externa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hyperlink" Target="https://www.hiascend.com/developer/techArticles/20240809-1" TargetMode="External"/><Relationship Id="rId1" Type="http://schemas.openxmlformats.org/officeDocument/2006/relationships/hyperlink" Target="https://developer.nvidia.com/blog/scaling-ai-inference-performance-and-flexibility-with-nvidia-nvlink-and-nvlink-fusion/" TargetMode="Externa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7.png"/><Relationship Id="rId1" Type="http://schemas.openxmlformats.org/officeDocument/2006/relationships/hyperlink" Target="https://docs.nvidia.com/deeplearning/nccl/user-guide/docs/usage/collectives.html" TargetMode="Externa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8.png"/><Relationship Id="rId1" Type="http://schemas.openxmlformats.org/officeDocument/2006/relationships/hyperlink" Target="https://docs.nvidia.com/deeplearning/nccl/user-guide/docs/usage/collectives.html" TargetMode="Externa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9.png"/><Relationship Id="rId1" Type="http://schemas.openxmlformats.org/officeDocument/2006/relationships/hyperlink" Target="https://docs.nvidia.com/deeplearning/nccl/user-guide/docs/usage/collectives.html" TargetMode="Externa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0.png"/><Relationship Id="rId1" Type="http://schemas.openxmlformats.org/officeDocument/2006/relationships/hyperlink" Target="https://docs.nvidia.com/deeplearning/nccl/user-guide/docs/usage/collectives.html" TargetMode="Externa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1.png"/><Relationship Id="rId1" Type="http://schemas.openxmlformats.org/officeDocument/2006/relationships/hyperlink" Target="https://docs.nvidia.com/deeplearning/nccl/user-guide/docs/usage/collectives.html" TargetMode="Externa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2.png"/><Relationship Id="rId1" Type="http://schemas.openxmlformats.org/officeDocument/2006/relationships/hyperlink" Target="https://docs.nvidia.com/deeplearning/nccl/user-guide/docs/usage/collectives.html" TargetMode="Externa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3.png"/><Relationship Id="rId1" Type="http://schemas.openxmlformats.org/officeDocument/2006/relationships/hyperlink" Target="https://docs.nvidia.com/deeplearning/nccl/user-guide/docs/usage/collectives.html" TargetMode="Externa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4.png"/><Relationship Id="rId1" Type="http://schemas.openxmlformats.org/officeDocument/2006/relationships/hyperlink" Target="https://docs.nvidia.com/deeplearning/nccl/user-guide/docs/usage/collectives.html" TargetMode="External"/></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3.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hyperlink" Target="https://www.uber.com/en-JP/blog/horovod/" TargetMode="Externa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image" Target="../media/image88.png"/><Relationship Id="rId1" Type="http://schemas.openxmlformats.org/officeDocument/2006/relationships/image" Target="../media/image10.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89.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3.xml"/><Relationship Id="rId2" Type="http://schemas.openxmlformats.org/officeDocument/2006/relationships/image" Target="../media/image90.png"/><Relationship Id="rId1" Type="http://schemas.openxmlformats.org/officeDocument/2006/relationships/hyperlink" Target="https://docs.pytorch.org/docs/stable/notes/ddp.html" TargetMode="External"/></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3.xml"/><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hyperlink" Target="https://arxiv.org/abs/2304.11277" TargetMode="External"/><Relationship Id="rId1" Type="http://schemas.openxmlformats.org/officeDocument/2006/relationships/hyperlink" Target="https://docs.pytorch.org/tutorials/intermediate/FSDP_tutorial.html" TargetMode="External"/></Relationships>
</file>

<file path=ppt/slides/_rels/slide80.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3.xml"/><Relationship Id="rId6" Type="http://schemas.openxmlformats.org/officeDocument/2006/relationships/image" Target="../media/image95.jpeg"/><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hyperlink" Target="https://arxiv.org/abs/2304.11277" TargetMode="External"/><Relationship Id="rId1" Type="http://schemas.openxmlformats.org/officeDocument/2006/relationships/hyperlink" Target="https://docs.pytorch.org/tutorials/intermediate/FSDP_tutorial.html"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3.xml"/><Relationship Id="rId6" Type="http://schemas.openxmlformats.org/officeDocument/2006/relationships/image" Target="../media/image95.jpeg"/><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png"/><Relationship Id="rId2" Type="http://schemas.openxmlformats.org/officeDocument/2006/relationships/hyperlink" Target="https://arxiv.org/abs/2304.11277" TargetMode="External"/><Relationship Id="rId1" Type="http://schemas.openxmlformats.org/officeDocument/2006/relationships/hyperlink" Target="https://docs.pytorch.org/tutorials/intermediate/FSDP_tutorial.html" TargetMode="External"/></Relationships>
</file>

<file path=ppt/slides/_rels/slide8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3.xml"/><Relationship Id="rId5" Type="http://schemas.openxmlformats.org/officeDocument/2006/relationships/image" Target="../media/image97.png"/><Relationship Id="rId4" Type="http://schemas.openxmlformats.org/officeDocument/2006/relationships/image" Target="../media/image96.png"/><Relationship Id="rId3" Type="http://schemas.openxmlformats.org/officeDocument/2006/relationships/image" Target="../media/image95.jpeg"/><Relationship Id="rId2" Type="http://schemas.openxmlformats.org/officeDocument/2006/relationships/image" Target="../media/image94.png"/><Relationship Id="rId1" Type="http://schemas.openxmlformats.org/officeDocument/2006/relationships/hyperlink" Target="https://ieeexplore.ieee.org/document/6337589/" TargetMode="Externa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image" Target="../media/image98.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99.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image" Target="../media/image99.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99.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3.xml"/><Relationship Id="rId2" Type="http://schemas.openxmlformats.org/officeDocument/2006/relationships/image" Target="../media/image101.png"/><Relationship Id="rId1" Type="http://schemas.openxmlformats.org/officeDocument/2006/relationships/image" Target="../media/image100.png"/></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3.xml"/><Relationship Id="rId2" Type="http://schemas.openxmlformats.org/officeDocument/2006/relationships/image" Target="../media/image102.png"/><Relationship Id="rId1" Type="http://schemas.openxmlformats.org/officeDocument/2006/relationships/image" Target="../media/image100.pn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3.xml"/><Relationship Id="rId2" Type="http://schemas.openxmlformats.org/officeDocument/2006/relationships/image" Target="../media/image103.png"/><Relationship Id="rId1" Type="http://schemas.openxmlformats.org/officeDocument/2006/relationships/image" Target="../media/image100.pn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3.xml"/><Relationship Id="rId2" Type="http://schemas.openxmlformats.org/officeDocument/2006/relationships/image" Target="../media/image100.png"/><Relationship Id="rId1" Type="http://schemas.openxmlformats.org/officeDocument/2006/relationships/image" Target="../media/image104.pn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3.xml"/><Relationship Id="rId2" Type="http://schemas.openxmlformats.org/officeDocument/2006/relationships/image" Target="../media/image100.png"/><Relationship Id="rId1" Type="http://schemas.openxmlformats.org/officeDocument/2006/relationships/image" Target="../media/image105.pn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3.xml"/><Relationship Id="rId2" Type="http://schemas.openxmlformats.org/officeDocument/2006/relationships/image" Target="../media/image100.png"/><Relationship Id="rId1" Type="http://schemas.openxmlformats.org/officeDocument/2006/relationships/image" Target="../media/image106.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3.xml"/><Relationship Id="rId2" Type="http://schemas.openxmlformats.org/officeDocument/2006/relationships/image" Target="../media/image100.png"/><Relationship Id="rId1" Type="http://schemas.openxmlformats.org/officeDocument/2006/relationships/image" Target="../media/image107.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100.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100.pn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108.png"/><Relationship Id="rId1" Type="http://schemas.openxmlformats.org/officeDocument/2006/relationships/hyperlink" Target="https://www.semanticscholar.org/paper/Optimization-of-Collective-Reduction-Operations-Rabenseifner/e2584fdc3f9e696423d96522038f3fa35137ab92" TargetMode="Externa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3.xml"/><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image" Target="../media/image109.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image" Target="../media/image11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4.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5.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6.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7.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8.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9.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12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2.png"/></Relationships>
</file>

<file path=ppt/slides/_rels/slide125.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3.xml"/><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image" Target="../media/image123.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6.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8.png"/><Relationship Id="rId1" Type="http://schemas.openxmlformats.org/officeDocument/2006/relationships/image" Target="../media/image127.png"/></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9.pn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132.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13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3.xml"/><Relationship Id="rId2" Type="http://schemas.openxmlformats.org/officeDocument/2006/relationships/image" Target="../media/image135.png"/><Relationship Id="rId1" Type="http://schemas.openxmlformats.org/officeDocument/2006/relationships/image" Target="../media/image134.png"/></Relationships>
</file>

<file path=ppt/slides/_rels/slide141.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3.xml"/><Relationship Id="rId2" Type="http://schemas.openxmlformats.org/officeDocument/2006/relationships/image" Target="../media/image137.png"/><Relationship Id="rId1" Type="http://schemas.openxmlformats.org/officeDocument/2006/relationships/image" Target="../media/image136.png"/></Relationships>
</file>

<file path=ppt/slides/_rels/slide14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9.png"/><Relationship Id="rId1" Type="http://schemas.openxmlformats.org/officeDocument/2006/relationships/image" Target="../media/image138.png"/></Relationships>
</file>

<file path=ppt/slides/_rels/slide143.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3.xml"/><Relationship Id="rId2" Type="http://schemas.openxmlformats.org/officeDocument/2006/relationships/image" Target="../media/image141.png"/><Relationship Id="rId1" Type="http://schemas.openxmlformats.org/officeDocument/2006/relationships/image" Target="../media/image140.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image" Target="../media/image142.png"/></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3.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4.pn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5.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6.png"/></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147.png"/></Relationships>
</file>

<file path=ppt/slides/_rels/slide15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image" Target="../media/image148.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1.png"/></Relationships>
</file>

<file path=ppt/slides/_rels/slide160.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 Id="rId3" Type="http://schemas.openxmlformats.org/officeDocument/2006/relationships/image" Target="../media/image154.png"/><Relationship Id="rId2" Type="http://schemas.openxmlformats.org/officeDocument/2006/relationships/image" Target="../media/image153.png"/><Relationship Id="rId13" Type="http://schemas.openxmlformats.org/officeDocument/2006/relationships/slideLayout" Target="../slideLayouts/slideLayout17.xml"/><Relationship Id="rId12" Type="http://schemas.openxmlformats.org/officeDocument/2006/relationships/image" Target="../media/image159.png"/><Relationship Id="rId11" Type="http://schemas.openxmlformats.org/officeDocument/2006/relationships/image" Target="../media/image158.jpeg"/><Relationship Id="rId10" Type="http://schemas.openxmlformats.org/officeDocument/2006/relationships/hyperlink" Target="https://flagos.io/Home" TargetMode="External"/><Relationship Id="rId1" Type="http://schemas.openxmlformats.org/officeDocument/2006/relationships/image" Target="../media/image152.png"/></Relationships>
</file>

<file path=ppt/slides/_rels/slide161.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6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4557/output_1.pngoutput_1"/>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28: Data Parallelism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Introduction to DP/DDP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ZeRO-1/2/3, FSDP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Memory/Communication Comparison</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Introduction to Distributed LLM Training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670550" cy="4853305"/>
          </a:xfrm>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Transition from foundational LLM inference to the computational realities of training.</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Inference memory is dominated by model weights and transient KV cache.</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Training introduces a massive memory footprint due to the need to preserve the entire computational graph and maintain high-precision optimizer states.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 single hardware accelerator is insufficient; computation and memory must scale horizontally.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Introduction to the three core paradigms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Data Parallelism, Tensor Parallelism, and Pipeline Parallelism.</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558844" y="4861782"/>
            <a:ext cx="5396089" cy="624839"/>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Split memory/compute across GPUs and machines</a:t>
            </a:r>
            <a:endParaRPr lang="en-US" sz="1100"/>
          </a:p>
        </p:txBody>
      </p:sp>
      <p:pic>
        <p:nvPicPr>
          <p:cNvPr id="7" name="Picture 7"/>
          <p:cNvPicPr>
            <a:picLocks noChangeAspect="1"/>
          </p:cNvPicPr>
          <p:nvPr/>
        </p:nvPicPr>
        <p:blipFill>
          <a:blip r:embed="rId1"/>
          <a:srcRect/>
          <a:stretch>
            <a:fillRect/>
          </a:stretch>
        </p:blipFill>
        <p:spPr>
          <a:xfrm>
            <a:off x="6477333" y="1873956"/>
            <a:ext cx="5714667" cy="298782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Introduction to Data Parallelism (DP)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Data Parallelism (DP) is the foundational distributed training strategy.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Operates under the Single-Program Multiple-Data (SPMD) paradigm.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training dataset is partitioned into non-overlapping mini-batches.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Every GPU receives a complete, identical replica of the model weight and optimizer states.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accelerator computes forward and backward passes independently on its respective data shard.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DistributedDataParallel (DDP) is the standard module for DP in PyTorch.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16511" b="4796"/>
          <a:stretch>
            <a:fillRect/>
          </a:stretch>
        </p:blipFill>
        <p:spPr>
          <a:xfrm>
            <a:off x="2480310" y="4222115"/>
            <a:ext cx="6415405" cy="25304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Introduction to Data Parallelism (DP)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467360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Because each GPU computes gradients based on a different data shard, replicas would diverge without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gradients computed by each GPU must be aggregated and averaged after every step.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All-Reduce efficiently sums the gradients across all nodes and broadcasts the result back, ensuring all replicas update identically.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17353" y="1715910"/>
            <a:ext cx="6974647" cy="412569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Gradient Bucketing in DDP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https://docs.pytorch.org/docs/stable/notes/ddp.html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048250" cy="485330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Launching independent All-Reduce operations for every individual parameter tensor results in network congestion.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DDP mitigates this via gradient bucketing.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Parameter gradients are organized into configurable memory buckets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All-Reduce is only triggered when a bucket is completely filled during the backward pass.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This dramatically reduces the total number of network calls and optimizes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735157" y="2096382"/>
            <a:ext cx="6203282" cy="292717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Compute-Communication Overlap in DDP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Communications (red blocks) are not on the backward compute critical path (blue blocks). Thus good compute communication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overlap capability</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 grad_calc(layer i, gpu k) depends only on grad_calc(layer i -1, gpu 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 All-reduce(layer i, gpu k) depends on grad_calc(layer i, all gpus)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86037" y="3146242"/>
            <a:ext cx="9105553" cy="328012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Crisis in LLM Training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07263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consumption comes from two folds: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Storing the models weights in memory (usually in FP16)</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Storing the optimizer states (momentum and variance) in memory (usually inFP32, for accuracy purpose)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 a 7B model, storing the model’s weights in FP16 requires 14GB memory. The backward pass generates gradients requiring an additional 14GB.</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Storing the optimizer states in FP32 requires 56G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total 70G memory used! Note that H100 GPU only has 80G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r="47076"/>
          <a:stretch>
            <a:fillRect/>
          </a:stretch>
        </p:blipFill>
        <p:spPr>
          <a:xfrm>
            <a:off x="7851838" y="1209280"/>
            <a:ext cx="3816287" cy="4732020"/>
          </a:xfrm>
          <a:prstGeom prst="rect">
            <a:avLst/>
          </a:prstGeom>
          <a:ln w="12700">
            <a:noFill/>
            <a:prstDash val="solid"/>
          </a:ln>
        </p:spPr>
      </p:pic>
      <p:sp>
        <p:nvSpPr>
          <p:cNvPr id="7" name="AutoShape 7"/>
          <p:cNvSpPr/>
          <p:nvPr/>
        </p:nvSpPr>
        <p:spPr>
          <a:xfrm>
            <a:off x="7583745" y="5987019"/>
            <a:ext cx="4352474"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Memory composition during LLM training</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Crisis in LLM Training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Standard DDP suffers from severe memory redundancy.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Training across 8 GPUs forces the cluster to maintain 8 complete copies of model weights, gradients, and massive FP32 optimizer states.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Redundant replication consumes High Bandwidth Memory without providing additional computational capacity.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Strictly limits the maximum trainable model size to the capacity of a single GPU, creating an insurmountable barrier for LLMs.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 Solving the Memory Overhead Issue of DP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idea of ZeRO (Zero Redundancy Optimizer)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Split up the expensive parts (state) and use the reduce-scatter equivalence.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62754" y="2360120"/>
            <a:ext cx="9482668" cy="408595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Stage 1: Optimizer State Sharding (P</a:t>
            </a:r>
            <a:r>
              <a:rPr lang="en-US" sz="3600" b="0" i="0" u="none" strike="noStrike" baseline="-25000">
                <a:solidFill>
                  <a:srgbClr val="262626"/>
                </a:solidFill>
                <a:latin typeface="Calibri" panose="020F0502020204030204"/>
                <a:ea typeface="Calibri" panose="020F0502020204030204"/>
                <a:cs typeface="Calibri" panose="020F0502020204030204"/>
                <a:sym typeface="Calibri" panose="020F0502020204030204"/>
              </a:rPr>
              <a:t>os</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Split up the optimizer state (first + second moments) across GPUs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worker has the full parameters, and computes gradient on its subset of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worker is responsible for updating a shard of the full parameters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07968" y="3280745"/>
            <a:ext cx="9976064" cy="21153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Stage 1: Optimizer State Sharding (P</a:t>
            </a:r>
            <a:r>
              <a:rPr lang="en-US" sz="3600" b="0" i="0" u="none" strike="noStrike" baseline="-25000">
                <a:solidFill>
                  <a:srgbClr val="262626"/>
                </a:solidFill>
                <a:latin typeface="Calibri" panose="020F0502020204030204"/>
                <a:ea typeface="Calibri" panose="020F0502020204030204"/>
                <a:cs typeface="Calibri" panose="020F0502020204030204"/>
                <a:sym typeface="Calibri" panose="020F0502020204030204"/>
              </a:rPr>
              <a:t>os</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79577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Each worker computes a full gradient on their subset of the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ReduceScatter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the gradients: each worker gets the full gradient corresponding to their parameter shard (#params communication cost).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Each worker updates their param using their gradient + state.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 an </a:t>
            </a:r>
            <a:r>
              <a:rPr lang="en-US" sz="24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AllGather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to synchronize params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#params communication cost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73245" y="2205569"/>
            <a:ext cx="4601282" cy="14932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26487" y="4368800"/>
            <a:ext cx="4865513" cy="167075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Compare Naïve DP with ZeRO-1</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 stage 1 is free (in the bandwidth limited regime) memory wins.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741986" y="2200911"/>
          <a:ext cx="10802007" cy="3242945"/>
        </p:xfrm>
        <a:graphic>
          <a:graphicData uri="http://schemas.openxmlformats.org/drawingml/2006/table">
            <a:tbl>
              <a:tblPr>
                <a:effectLst/>
              </a:tblPr>
              <a:tblGrid>
                <a:gridCol w="3600669"/>
                <a:gridCol w="3600669"/>
                <a:gridCol w="3600669"/>
              </a:tblGrid>
              <a:tr h="538504">
                <a:tc>
                  <a:txBody>
                    <a:bodyPr rtlCol="0"/>
                    <a:lstStyle/>
                    <a:p>
                      <a:pPr indent="0" algn="l">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2000" b="1" i="0" u="none" strike="noStrike">
                        <a:solidFill>
                          <a:srgbClr val="FFFFFF"/>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Naïve DDP</a:t>
                      </a:r>
                      <a:endParaRPr lang="en-US" sz="2000" b="0" i="0" u="none" strike="noStrike">
                        <a:solidFill>
                          <a:srgbClr val="FFFFFF"/>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ZeRO-1</a:t>
                      </a:r>
                      <a:endParaRPr lang="en-US" sz="2000" b="0" i="0" u="none" strike="noStrike">
                        <a:solidFill>
                          <a:srgbClr val="FFFFFF"/>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1196340">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Communication Primitive</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One all-reduce (full gradients)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One reduce-scatter (collect gradient slices) + one all-gather (sync the params)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38504">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Communication Cost</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2x #params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2x #params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969307">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Memory</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(4 + K) x #params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(4 + K / nGPUs) x #params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7" name="AutoShape 7"/>
          <p:cNvSpPr/>
          <p:nvPr/>
        </p:nvSpPr>
        <p:spPr>
          <a:xfrm>
            <a:off x="2614344" y="5897325"/>
            <a:ext cx="9187130"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K is the bytes used by optimizer states for each param (typically 12 for FP32 momentum)</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Stage-2: Optimizer State + Gradient Sharding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High-level idea: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Also keep the gradients (pink slices) sharded across the machines.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Use the same (rough) tricks as stage 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Complexity: we can never instantiate a full gradient vector, but each worker must compute a full gradient (since we’re data parallel)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97515" y="3518694"/>
            <a:ext cx="9098811" cy="274796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Stage-2: Optimizer State + Gradient Sharding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1. Everyone incrementally goes backward on the computation graph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Step 1a. After computing a layer’s gradients, immediately reduce to send this to the right worker.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Step 1b. Once gradients are not needed in the backward graph, immediately free it.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2. Each machine updates their param using their gradient + state.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3. All Gather the parameters.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158772" y="2184401"/>
            <a:ext cx="5126714" cy="159737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735157" y="4812987"/>
            <a:ext cx="5126714" cy="172592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Stage-3 (aka FSDP) Shard </a:t>
            </a:r>
            <a:r>
              <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rPr>
              <a:t>Everything</a:t>
            </a:r>
            <a:endPar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High-level ideas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Shard everything, including parameters!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Use the same “incremental communication / computation” ideas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Send and request parameters on demand while stepping through the compute graph.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3147761"/>
            <a:ext cx="10858884" cy="180806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 Stage-3 (aka FSDP) Shard </a:t>
            </a:r>
            <a:r>
              <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rPr>
              <a:t>Everything</a:t>
            </a:r>
            <a:endPar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https://pytorch.org/tutorials/intermediate/FSDP_tutorial.html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cost – 2 all gather (#param), 1 reduce-scatter (#param).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36182" y="1788388"/>
            <a:ext cx="9892729" cy="447826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FSDP / ZeRO-3: Actual Picture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https://arxiv.org/pdf/2304.11277.pdf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Incremental computation / communication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Parameters / gradients are requested / sent and then immediately freed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Overlapping communication and computation</a:t>
            </a:r>
            <a:endParaRPr lang="en-US" sz="240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all-gathers happen all at once while forward happens, masking the comm cost.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71411" y="3283384"/>
            <a:ext cx="8800850" cy="289357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Communication Overhead Recap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DDP (All reduce): 2x #params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 Stage-1 / 2 (Reduce-Scatter + All-gather): 2x #params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saved for free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 Stage-3 / FSDP (All-gather + Reduce-scatter + All-gather): 3x #params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More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Revisiting GPU Memory Calculation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nvSpPr>
        <p:spPr>
          <a:xfrm>
            <a:off x="1960880" y="1624965"/>
            <a:ext cx="8270240" cy="267652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solidFill>
                  <a:srgbClr val="000000"/>
                </a:solidFill>
                <a:latin typeface="Arial" panose="020B0604020202020204"/>
                <a:ea typeface="Arial" panose="020B0604020202020204"/>
                <a:cs typeface="Arial" panose="020B0604020202020204"/>
                <a:sym typeface="Arial" panose="020B0604020202020204"/>
              </a:rPr>
              <a:t>GPU memory consumption :=</a:t>
            </a:r>
            <a:endParaRPr lang="en-US" sz="1100"/>
          </a:p>
          <a:p>
            <a:pPr indent="0" algn="l">
              <a:lnSpc>
                <a:spcPct val="100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	Model parameters (in FP16) +</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	Gradients (FP16) +</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	Master weights (FP32) +</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	Adam momentum (FP32) +</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	Adam variance (FP32) +</a:t>
            </a:r>
            <a:endParaRPr lang="en-US" sz="24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2400" b="0" i="0" u="none" strike="noStrike">
                <a:solidFill>
                  <a:srgbClr val="000000"/>
                </a:solidFill>
                <a:highlight>
                  <a:srgbClr val="FFFF00">
                    <a:alpha val="100000"/>
                  </a:srgbClr>
                </a:highlight>
                <a:latin typeface="Arial" panose="020B0604020202020204"/>
                <a:ea typeface="Arial" panose="020B0604020202020204"/>
                <a:cs typeface="Arial" panose="020B0604020202020204"/>
                <a:sym typeface="Arial" panose="020B0604020202020204"/>
              </a:rPr>
              <a:t>	Model Activations (This scales with the batch size)!</a:t>
            </a:r>
            <a:endParaRPr lang="en-US" sz="2400" b="0" i="0" u="none" strike="noStrike">
              <a:solidFill>
                <a:srgbClr val="000000"/>
              </a:solidFill>
              <a:highlight>
                <a:srgbClr val="FFFF00">
                  <a:alpha val="100000"/>
                </a:srgbClr>
              </a:highlight>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2027470" y="4584470"/>
            <a:ext cx="8270406" cy="4001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1" u="none" strike="noStrike">
                <a:solidFill>
                  <a:srgbClr val="000000"/>
                </a:solidFill>
                <a:latin typeface="Arial" panose="020B0604020202020204"/>
                <a:ea typeface="Arial" panose="020B0604020202020204"/>
                <a:cs typeface="Arial" panose="020B0604020202020204"/>
                <a:sym typeface="Arial" panose="020B0604020202020204"/>
              </a:rPr>
              <a:t>We will go through activation consumption more in the coming chapters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Conclusion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Summary: Training massive LLMs requires breaking the single-GPU memory barrier via state sharding.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 and FSDP elegantly solve capacity issues by partitioning states without sacrificing data-parallel simplicity.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Next Bottleneck: As models reach hundreds of billions of parameters, even the pipelined layer-by-layer communication of FSDP bottlenecks the training cluster.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Solution: We must slice the actual matrix mathematics themselves -&gt; Tensor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29: Model Parallelism I (Tensor Parallelism)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Limitation of DP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Tensor Parallel</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Sequence Parallel</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Issues remain with data parallel – compute scaling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With data parallel, #machines &lt; batch size (and near this, comm overhead is high)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And there’s diminishing returns to batch sizes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917825" y="2774315"/>
            <a:ext cx="6489700" cy="384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Issues remain with data parallel – models don’t fit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ZeRO-1 and ZeRO-2 don’t let you scale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ZeRO-3 is nice in principle, but can be slow and does not reduce </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activation memory</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883400" y="3276600"/>
            <a:ext cx="4902200" cy="122110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Activations ∝ </a:t>
            </a:r>
            <a:endParaRPr lang="en-US" sz="1100"/>
          </a:p>
          <a:p>
            <a:pPr indent="0" algn="l">
              <a:lnSpc>
                <a:spcPct val="100000"/>
              </a:lnSpc>
            </a:pPr>
            <a:r>
              <a:rPr lang="en-US" sz="2400" b="0" i="0" u="sng" strike="noStrike">
                <a:solidFill>
                  <a:srgbClr val="8B0012"/>
                </a:solidFill>
                <a:latin typeface="Calibri" panose="020F0502020204030204"/>
                <a:ea typeface="Calibri" panose="020F0502020204030204"/>
                <a:cs typeface="Calibri" panose="020F0502020204030204"/>
                <a:sym typeface="Calibri" panose="020F0502020204030204"/>
              </a:rPr>
              <a:t>seq_len</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hidden_size </a:t>
            </a:r>
            <a:r>
              <a:rPr lang="en-US" sz="24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num_layers </a:t>
            </a:r>
            <a:r>
              <a:rPr lang="en-US" sz="24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 </a:t>
            </a:r>
            <a:r>
              <a:rPr lang="en-US" sz="2400" b="0" i="0" u="sng" strike="noStrike">
                <a:solidFill>
                  <a:srgbClr val="8B0012"/>
                </a:solidFill>
                <a:latin typeface="Calibri" panose="020F0502020204030204"/>
                <a:ea typeface="Calibri" panose="020F0502020204030204"/>
                <a:cs typeface="Calibri" panose="020F0502020204030204"/>
                <a:sym typeface="Calibri" panose="020F0502020204030204"/>
              </a:rPr>
              <a:t>global_batch_size</a:t>
            </a:r>
            <a:endParaRPr lang="en-US" sz="2400" b="0" i="0" u="sng" strike="noStrike">
              <a:solidFill>
                <a:srgbClr val="8B0012"/>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335915" y="2741930"/>
            <a:ext cx="6633845" cy="3462020"/>
          </a:xfrm>
          <a:prstGeom prst="rect">
            <a:avLst/>
          </a:prstGeom>
          <a:ln w="12700">
            <a:noFill/>
            <a:prstDash val="solid"/>
          </a:ln>
        </p:spPr>
      </p:pic>
      <p:sp>
        <p:nvSpPr>
          <p:cNvPr id="8" name="AutoShape 8"/>
          <p:cNvSpPr/>
          <p:nvPr/>
        </p:nvSpPr>
        <p:spPr>
          <a:xfrm>
            <a:off x="6883400" y="4712653"/>
            <a:ext cx="508000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Out-of-memory (OOM) explosion !</a:t>
            </a:r>
            <a:endParaRPr lang="en-US" sz="1100"/>
          </a:p>
        </p:txBody>
      </p:sp>
      <p:sp>
        <p:nvSpPr>
          <p:cNvPr id="9" name="AutoShape 9"/>
          <p:cNvSpPr/>
          <p:nvPr/>
        </p:nvSpPr>
        <p:spPr>
          <a:xfrm>
            <a:off x="848360" y="6234430"/>
            <a:ext cx="7417435" cy="36512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Better ways to split up the model is needed…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Model parallel along the different axes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680720" y="1229360"/>
            <a:ext cx="3517265" cy="46405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192905" y="1245870"/>
            <a:ext cx="3800475" cy="4640580"/>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8004175" y="1123315"/>
            <a:ext cx="3420745" cy="4640580"/>
          </a:xfrm>
          <a:prstGeom prst="rect">
            <a:avLst/>
          </a:prstGeom>
          <a:ln w="12700">
            <a:noFill/>
            <a:prstDash val="solid"/>
          </a:ln>
        </p:spPr>
      </p:pic>
      <p:sp>
        <p:nvSpPr>
          <p:cNvPr id="9" name="AutoShape 9"/>
          <p:cNvSpPr/>
          <p:nvPr/>
        </p:nvSpPr>
        <p:spPr>
          <a:xfrm>
            <a:off x="1354455" y="5903595"/>
            <a:ext cx="217043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Data Parallel</a:t>
            </a:r>
            <a:endParaRPr lang="en-US" sz="1100"/>
          </a:p>
        </p:txBody>
      </p:sp>
      <p:sp>
        <p:nvSpPr>
          <p:cNvPr id="10" name="AutoShape 10"/>
          <p:cNvSpPr/>
          <p:nvPr/>
        </p:nvSpPr>
        <p:spPr>
          <a:xfrm>
            <a:off x="4916170" y="5903595"/>
            <a:ext cx="265811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Pipeline Parallel</a:t>
            </a:r>
            <a:endParaRPr lang="en-US" sz="1100"/>
          </a:p>
        </p:txBody>
      </p:sp>
      <p:sp>
        <p:nvSpPr>
          <p:cNvPr id="11" name="AutoShape 11"/>
          <p:cNvSpPr/>
          <p:nvPr/>
        </p:nvSpPr>
        <p:spPr>
          <a:xfrm>
            <a:off x="8543290" y="5903595"/>
            <a:ext cx="265811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Tensor Parallel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Basic Concept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vast majority of LLM parameters reside in </a:t>
            </a:r>
            <a:r>
              <a:rPr lang="en-US" sz="2400" b="0" i="0" u="none" strike="noStrike">
                <a:solidFill>
                  <a:srgbClr val="C00000"/>
                </a:solidFill>
                <a:latin typeface="Calibri" panose="020F0502020204030204"/>
                <a:ea typeface="Calibri" panose="020F0502020204030204"/>
                <a:cs typeface="Calibri" panose="020F0502020204030204"/>
                <a:sym typeface="Calibri" panose="020F0502020204030204"/>
              </a:rPr>
              <a:t>Linear Projections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Q, K, V, and Output projections.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MLP: Up and Down projections.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These projections are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General Matrix Multiplications (GEMM) (Y=XW)</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207260" y="3147695"/>
            <a:ext cx="8219440" cy="32086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Basic Concept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Two ways to partitioning the GEMM to different GPUs</a:t>
            </a:r>
            <a:r>
              <a:rPr lang="en-US" sz="2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213485" y="1905635"/>
            <a:ext cx="10332085" cy="41376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Deconstructing the MLP Block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Calibri" panose="020F0502020204030204"/>
              </a:defRPr>
            </a:lvl1pPr>
          </a:lstStyle>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 MLP block consists of a linear expansion, a non-linear activation (GeLU), a linear projection back to hidden dimension and a dropout.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Mathematically,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5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4160"/>
          <a:stretch>
            <a:fillRect/>
          </a:stretch>
        </p:blipFill>
        <p:spPr>
          <a:xfrm>
            <a:off x="4580890" y="3267710"/>
            <a:ext cx="2390140" cy="56578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304665" y="3913505"/>
            <a:ext cx="2847340" cy="5308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Deconstructing the MLP Block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Row-wise split of A: requires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Column-wise split of matrix A: the output can be fed into GeLU independently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4160"/>
          <a:stretch>
            <a:fillRect/>
          </a:stretch>
        </p:blipFill>
        <p:spPr>
          <a:xfrm>
            <a:off x="1524000" y="3461385"/>
            <a:ext cx="2390140" cy="56578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08270" y="2570480"/>
            <a:ext cx="5074920" cy="388302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1033145" y="5575935"/>
            <a:ext cx="3131820" cy="4972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Deconstructing the MLP Block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Column-wise split of matrix A -&gt; Column-wise split of 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Column-wise split of Y + Row-wise split of B: block-wise matrix multiplication requires no synchronization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04520" y="3448050"/>
            <a:ext cx="3811270" cy="6051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1680" y="4235450"/>
            <a:ext cx="2658745" cy="49593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5125720" y="3227070"/>
            <a:ext cx="6229350" cy="21145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Deconstructing the MLP Block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Assign columns (A1, A2) and rows (B1, B2) to separate GPUs.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the forward pass, f is the identity, and g is an all-reduce.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the backward pass, f is an all-reduce, g is the identity.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052955" y="2575560"/>
            <a:ext cx="8220075" cy="37763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908300" y="6285230"/>
            <a:ext cx="3131820" cy="49720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790055" y="6177280"/>
            <a:ext cx="2847975" cy="699135"/>
          </a:xfrm>
          <a:prstGeom prst="rect">
            <a:avLst/>
          </a:prstGeom>
          <a:ln w="12700">
            <a:noFill/>
            <a:prstDash val="solid"/>
          </a:ln>
        </p:spPr>
      </p:pic>
      <p:sp>
        <p:nvSpPr>
          <p:cNvPr id="9" name="AutoShape 9"/>
          <p:cNvSpPr/>
          <p:nvPr/>
        </p:nvSpPr>
        <p:spPr>
          <a:xfrm>
            <a:off x="322580" y="2704465"/>
            <a:ext cx="3557905"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ln w="12700">
                  <a:solidFill>
                    <a:srgbClr val="000000">
                      <a:alpha val="100000"/>
                    </a:srgbClr>
                  </a:solidFill>
                </a:ln>
                <a:solidFill>
                  <a:srgbClr val="000000"/>
                </a:solidFill>
                <a:latin typeface="Calibri" panose="020F0502020204030204"/>
                <a:ea typeface="Calibri" panose="020F0502020204030204"/>
                <a:cs typeface="Calibri" panose="020F0502020204030204"/>
                <a:sym typeface="Calibri" panose="020F0502020204030204"/>
              </a:rPr>
              <a:t>MLP w.o. TP   ===&gt; </a:t>
            </a:r>
            <a:endParaRPr lang="en-US" sz="1100"/>
          </a:p>
        </p:txBody>
      </p:sp>
      <p:sp>
        <p:nvSpPr>
          <p:cNvPr id="10" name="AutoShape 10"/>
          <p:cNvSpPr/>
          <p:nvPr/>
        </p:nvSpPr>
        <p:spPr>
          <a:xfrm>
            <a:off x="393065" y="6297930"/>
            <a:ext cx="295910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1" i="0" u="none" strike="noStrike">
                <a:ln w="12700">
                  <a:solidFill>
                    <a:srgbClr val="000000">
                      <a:alpha val="100000"/>
                    </a:srgbClr>
                  </a:solidFill>
                </a:ln>
                <a:solidFill>
                  <a:srgbClr val="000000"/>
                </a:solidFill>
                <a:latin typeface="Calibri" panose="020F0502020204030204"/>
                <a:ea typeface="Calibri" panose="020F0502020204030204"/>
                <a:cs typeface="Calibri" panose="020F0502020204030204"/>
                <a:sym typeface="Calibri" panose="020F0502020204030204"/>
              </a:rPr>
              <a:t>MLP w. TP  ===&gt;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Tensor Parallelism for MLP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Interleaving split to minimize communication: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670685" y="1953895"/>
            <a:ext cx="9464675" cy="4589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Tensor Parallelism for Attention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Interleaving split to minimize communication: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89560" y="2413000"/>
            <a:ext cx="7252970" cy="34848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712710" y="3024505"/>
            <a:ext cx="4479290" cy="23634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When to use TP?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Calibri" panose="020F0502020204030204"/>
              </a:defRPr>
            </a:lvl1pPr>
          </a:lstStyle>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On GPUs, tensor parallel within a node (up to 8 GPUs) due to high speed interconnects.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929890" y="2085975"/>
            <a:ext cx="6583680" cy="40430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 of TP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TP only splits GEMM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LayerNorm and DropOut are still replicated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C00000"/>
              </a:buClr>
              <a:buChar char="•"/>
            </a:pPr>
            <a:r>
              <a:rPr lang="en-US" sz="2000" b="0" i="0" u="none" strike="noStrike">
                <a:solidFill>
                  <a:srgbClr val="C00000"/>
                </a:solidFill>
                <a:latin typeface="Calibri" panose="020F0502020204030204"/>
                <a:ea typeface="Calibri" panose="020F0502020204030204"/>
                <a:cs typeface="Calibri" panose="020F0502020204030204"/>
                <a:sym typeface="Calibri" panose="020F0502020204030204"/>
              </a:rPr>
              <a:t>Full activation memory overhead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[batch_size*seq_len, hidden_dim] on each TP partition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984375" y="2914015"/>
            <a:ext cx="8222615" cy="370459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Tensor parallel – Sequence Parallel [MLSys’23]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a:blipFill rotWithShape="1">
            <a:blip r:embed="rId1"/>
            <a:stretch>
              <a:fillRect l="-6" b="7"/>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033145" y="3510915"/>
            <a:ext cx="10405110" cy="30930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30: Model Parallelism II (Pipeline Parallelism)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Introduction to PP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PP Optimizations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F-then-B</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1F1B</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Advanced PP</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42900" lvl="1" indent="0" algn="l">
              <a:lnSpc>
                <a:spcPct val="100000"/>
              </a:lnSpc>
              <a:spcBef>
                <a:spcPts val="750"/>
              </a:spcBef>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Introduction to Inter-Node Scaling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TP is computationally efficient but mathematically requires synchronous All-Reduce operations, rendering it unsuitable for inter-node scaling.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Ethernet/Infiniband latency would catastrophically bottleneck GPU utilization.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 scale deep LLMs across multiple nodes, the system must slice the model longitudinally.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Pipeline Parallelism (PP) assigns sequential blocks of layers to different physical nodes.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b="17541"/>
          <a:stretch>
            <a:fillRect/>
          </a:stretch>
        </p:blipFill>
        <p:spPr>
          <a:xfrm>
            <a:off x="2574117" y="3622410"/>
            <a:ext cx="6818239" cy="314422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Parallelism (PP)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Layer-wise parallel cuts up layers, assigns some subset to GPUs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K</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stages)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Activations and partial gradients are passed back and forth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2514688"/>
            <a:ext cx="3701344" cy="2347021"/>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123853" y="2514688"/>
            <a:ext cx="5996517" cy="2523787"/>
          </a:xfrm>
          <a:prstGeom prst="rect">
            <a:avLst/>
          </a:prstGeom>
          <a:ln w="12700">
            <a:noFill/>
            <a:prstDash val="solid"/>
          </a:ln>
        </p:spPr>
      </p:pic>
      <p:sp>
        <p:nvSpPr>
          <p:cNvPr id="8" name="AutoShape 8"/>
          <p:cNvSpPr/>
          <p:nvPr/>
        </p:nvSpPr>
        <p:spPr>
          <a:xfrm>
            <a:off x="1836733" y="5334670"/>
            <a:ext cx="9111774" cy="35814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Each GPU is idling most of the time, waiting for the backward pass to propagate back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Parallelism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pattern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352550" y="1975909"/>
            <a:ext cx="9281583" cy="403909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Parallel: Forward-then-Backward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timeline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97050" y="1845469"/>
            <a:ext cx="8597900" cy="2184400"/>
          </a:xfrm>
          <a:prstGeom prst="rect">
            <a:avLst/>
          </a:prstGeom>
          <a:ln w="12700">
            <a:noFill/>
            <a:prstDash val="solid"/>
          </a:ln>
        </p:spPr>
      </p:pic>
      <p:sp>
        <p:nvSpPr>
          <p:cNvPr id="7" name="AutoShape 7"/>
          <p:cNvSpPr/>
          <p:nvPr/>
        </p:nvSpPr>
        <p:spPr>
          <a:xfrm>
            <a:off x="4040929" y="4402667"/>
            <a:ext cx="3794630" cy="830997"/>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How to make GPUs busy?</a:t>
            </a:r>
            <a:endParaRPr lang="en-US" sz="1100"/>
          </a:p>
          <a:p>
            <a:pPr indent="0" algn="ctr">
              <a:lnSpc>
                <a:spcPct val="100000"/>
              </a:lnSpc>
            </a:pPr>
            <a:r>
              <a:rPr lang="en-US" sz="2400" b="1" i="0" u="none" strike="noStrike">
                <a:solidFill>
                  <a:srgbClr val="000000"/>
                </a:solidFill>
                <a:latin typeface="Arial" panose="020B0604020202020204"/>
                <a:ea typeface="Arial" panose="020B0604020202020204"/>
                <a:cs typeface="Arial" panose="020B0604020202020204"/>
                <a:sym typeface="Arial" panose="020B0604020202020204"/>
              </a:rPr>
              <a:t>Batch split!</a:t>
            </a:r>
            <a:endParaRPr lang="en-US" sz="24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Parallel: Forward-then-Backward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34296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GPipe (Google, 2019)</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Divide the global mini-batch into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smaller "micro-batches"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maximize TFLOPS, increase Global Batch Size to fit more micro-batches into the pipe.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962401" y="1323975"/>
            <a:ext cx="8004236" cy="386337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Parallel: Forward-then-Backward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a:blipFill rotWithShape="1">
            <a:blip r:embed="rId1"/>
            <a:stretch>
              <a:fillRect l="-1012" t="-2089"/>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2664634" y="3746882"/>
            <a:ext cx="5835764" cy="262150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Why pipeline parallel?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 Pipelines save memory (compared to DDP)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 Pipelines can have good communication properties (compared to FDSP and TP)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depends only on activations and is point to point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Generally, we will use pipelines on slower network links (i.e. inter-node) as a way to get better memory-wise scaling.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Schedule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PipeDream proposes a “1F1B” schedule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Once the warm-up phase concludes, GPUs alternate: compute one forward pass, immediately compute one backward pass.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Prioritizes backward passes to change the lifecycle of cached data.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1920040" y="3280630"/>
            <a:ext cx="8115781" cy="3091726"/>
          </a:xfrm>
          <a:prstGeom prst="rect">
            <a:avLst/>
          </a:prstGeom>
          <a:ln w="12700">
            <a:noFill/>
            <a:prstDash val="solid"/>
          </a:ln>
        </p:spPr>
      </p:pic>
      <p:sp>
        <p:nvSpPr>
          <p:cNvPr id="6" name="AutoShape 6"/>
          <p:cNvSpPr/>
          <p:nvPr/>
        </p:nvSpPr>
        <p:spPr>
          <a:xfrm>
            <a:off x="369474" y="3680671"/>
            <a:ext cx="1409360" cy="707886"/>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2000" b="1" i="0" u="none" strike="noStrike">
                <a:solidFill>
                  <a:srgbClr val="000000"/>
                </a:solidFill>
                <a:latin typeface="Arial" panose="020B0604020202020204"/>
                <a:ea typeface="Arial" panose="020B0604020202020204"/>
                <a:cs typeface="Arial" panose="020B0604020202020204"/>
                <a:sym typeface="Arial" panose="020B0604020202020204"/>
              </a:rPr>
              <a:t>GPipe</a:t>
            </a:r>
            <a:endParaRPr lang="en-US" sz="1100"/>
          </a:p>
          <a:p>
            <a:pPr indent="0" algn="ctr">
              <a:lnSpc>
                <a:spcPct val="100000"/>
              </a:lnSpc>
            </a:pPr>
            <a:r>
              <a:rPr lang="en-US" sz="2000" b="1" i="0" u="none" strike="noStrike">
                <a:solidFill>
                  <a:srgbClr val="000000"/>
                </a:solidFill>
                <a:latin typeface="Arial" panose="020B0604020202020204"/>
                <a:ea typeface="Arial" panose="020B0604020202020204"/>
                <a:cs typeface="Arial" panose="020B0604020202020204"/>
                <a:sym typeface="Arial" panose="020B0604020202020204"/>
              </a:rPr>
              <a:t>(F-then-B)</a:t>
            </a:r>
            <a:endParaRPr lang="en-US" sz="20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311766" y="5251883"/>
            <a:ext cx="1524776" cy="707886"/>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2000" b="1" i="0" u="none" strike="noStrike">
                <a:solidFill>
                  <a:srgbClr val="000000"/>
                </a:solidFill>
                <a:latin typeface="Arial" panose="020B0604020202020204"/>
                <a:ea typeface="Arial" panose="020B0604020202020204"/>
                <a:cs typeface="Arial" panose="020B0604020202020204"/>
                <a:sym typeface="Arial" panose="020B0604020202020204"/>
              </a:rPr>
              <a:t>PipeDream</a:t>
            </a:r>
            <a:endParaRPr lang="en-US" sz="1100"/>
          </a:p>
          <a:p>
            <a:pPr indent="0" algn="ctr">
              <a:lnSpc>
                <a:spcPct val="100000"/>
              </a:lnSpc>
            </a:pPr>
            <a:r>
              <a:rPr lang="en-US" sz="2000" b="1" i="0" u="none" strike="noStrike">
                <a:solidFill>
                  <a:srgbClr val="000000"/>
                </a:solidFill>
                <a:latin typeface="Arial" panose="020B0604020202020204"/>
                <a:ea typeface="Arial" panose="020B0604020202020204"/>
                <a:cs typeface="Arial" panose="020B0604020202020204"/>
                <a:sym typeface="Arial" panose="020B0604020202020204"/>
              </a:rPr>
              <a:t>(1F1B)</a:t>
            </a:r>
            <a:endParaRPr lang="en-US" sz="20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10034786" y="2735266"/>
            <a:ext cx="1907895" cy="707886"/>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FF0000"/>
                </a:solidFill>
                <a:latin typeface="Arial" panose="020B0604020202020204"/>
                <a:ea typeface="Arial" panose="020B0604020202020204"/>
                <a:cs typeface="Arial" panose="020B0604020202020204"/>
                <a:sym typeface="Arial" panose="020B0604020202020204"/>
              </a:rPr>
              <a:t>Peak on-the-fly</a:t>
            </a:r>
            <a:endParaRPr lang="en-US" sz="1100"/>
          </a:p>
          <a:p>
            <a:pPr indent="0" algn="l">
              <a:lnSpc>
                <a:spcPct val="100000"/>
              </a:lnSpc>
            </a:pPr>
            <a:r>
              <a:rPr lang="en-US" sz="2000" b="0" i="0" u="none" strike="noStrike">
                <a:solidFill>
                  <a:srgbClr val="FF0000"/>
                </a:solidFill>
                <a:latin typeface="Arial" panose="020B0604020202020204"/>
                <a:ea typeface="Arial" panose="020B0604020202020204"/>
                <a:cs typeface="Arial" panose="020B0604020202020204"/>
                <a:sym typeface="Arial" panose="020B0604020202020204"/>
              </a:rPr>
              <a:t>Micro-batches</a:t>
            </a:r>
            <a:endParaRPr lang="en-US" sz="2000" b="0" i="0" u="none" strike="noStrike">
              <a:solidFill>
                <a:srgbClr val="FF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10596693" y="3623809"/>
            <a:ext cx="885179" cy="46166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O(M)</a:t>
            </a:r>
            <a:endParaRPr lang="en-US" sz="1100"/>
          </a:p>
        </p:txBody>
      </p:sp>
      <p:sp>
        <p:nvSpPr>
          <p:cNvPr id="10" name="AutoShape 10"/>
          <p:cNvSpPr/>
          <p:nvPr/>
        </p:nvSpPr>
        <p:spPr>
          <a:xfrm>
            <a:off x="10639621" y="5413976"/>
            <a:ext cx="833883" cy="46166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O(K)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Schedule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GPipe memory crisis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GPipe is strictly synchronous: all M forward passes must complete before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any</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backward pass begins.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Backward passes absolutely require intermediate activations.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Every pipeline stage must cache activations for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all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M micro-batches simultaneously.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As M scales to shrink the bubble, activation memory scales linearly O(M), rapidly triggering OOM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596444" y="3680985"/>
            <a:ext cx="7713839" cy="304049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Schedule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1F1B memory footprint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1F1B executes backward passes as early as mathematically possible.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Heavily cached activations are consumed for gradients and instantly discarded.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Max in-flight activations any GPU must store is strictly bounded by pipeline depth K, rather than 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Decouples peak activation memory from micro-batch count, allowing infinite M scaling (memory permitting).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596444" y="3680985"/>
            <a:ext cx="7713839" cy="304049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Pipeline Schedule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a:blipFill rotWithShape="1">
            <a:blip r:embed="rId1"/>
            <a:stretch>
              <a:fillRect l="-1012" t="-2089"/>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334910" y="3946225"/>
            <a:ext cx="8821617" cy="26464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Limitations of 1F1B and Larger Batch Sizes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achieve negligible bubble rates (&lt;5%), M must be exceedingly high.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Global batch size is mathematically constrained by optimizer convergence limits.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global batch size is fixed, scaling M shrinks individual micro-batch sizes toward 1.</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Small micro-batches underutilize modern GPU Tensor Cores, destroying arithmetic intensity.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novel schedule is required to reduce bubbles </a:t>
            </a:r>
            <a:r>
              <a:rPr lang="en-US" sz="2400" b="0" i="1" u="none" strike="noStrike">
                <a:solidFill>
                  <a:srgbClr val="404040"/>
                </a:solidFill>
                <a:latin typeface="Calibri" panose="020F0502020204030204"/>
                <a:ea typeface="Calibri" panose="020F0502020204030204"/>
                <a:cs typeface="Calibri" panose="020F0502020204030204"/>
                <a:sym typeface="Calibri" panose="020F0502020204030204"/>
              </a:rPr>
              <a:t>without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increasing 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Interleaved 1F1B (Megatron-LM)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1837267" y="1481277"/>
            <a:ext cx="8293734" cy="2709725"/>
          </a:xfrm>
          <a:prstGeom prst="rect">
            <a:avLst/>
          </a:prstGeom>
          <a:ln w="12700">
            <a:noFill/>
            <a:prstDash val="solid"/>
          </a:ln>
        </p:spPr>
      </p:pic>
      <p:sp>
        <p:nvSpPr>
          <p:cNvPr id="7" name="AutoShape 7"/>
          <p:cNvSpPr/>
          <p:nvPr/>
        </p:nvSpPr>
        <p:spPr>
          <a:xfrm>
            <a:off x="1424632" y="4699730"/>
            <a:ext cx="4052712" cy="707886"/>
          </a:xfrm>
          <a:prstGeom prst="rect">
            <a:avLst/>
          </a:prstGeom>
          <a:noFill/>
          <a:ln w="12700">
            <a:noFill/>
            <a:prstDash val="solid"/>
          </a:ln>
        </p:spPr>
        <p:txBody>
          <a:bodyPr wrap="square" lIns="91440" tIns="45720" rIns="91440" bIns="45720" rtlCol="0" anchor="t">
            <a:spAutoFit/>
          </a:bodyPr>
          <a:lstStyle/>
          <a:p>
            <a:pPr marL="254000" indent="-254000" algn="l">
              <a:lnSpc>
                <a:spcPct val="100000"/>
              </a:lnSpc>
              <a:buClr>
                <a:srgbClr val="000000"/>
              </a:buClr>
              <a:buChar char="•"/>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One micro-batch will go through both GPU but only once</a:t>
            </a:r>
            <a:endParaRPr lang="en-US" sz="1100"/>
          </a:p>
        </p:txBody>
      </p:sp>
      <p:sp>
        <p:nvSpPr>
          <p:cNvPr id="8" name="AutoShape 8"/>
          <p:cNvSpPr/>
          <p:nvPr/>
        </p:nvSpPr>
        <p:spPr>
          <a:xfrm>
            <a:off x="6378102" y="4391954"/>
            <a:ext cx="4350809" cy="1323439"/>
          </a:xfrm>
          <a:prstGeom prst="rect">
            <a:avLst/>
          </a:prstGeom>
          <a:noFill/>
          <a:ln w="12700">
            <a:noFill/>
            <a:prstDash val="solid"/>
          </a:ln>
        </p:spPr>
        <p:txBody>
          <a:bodyPr wrap="square" lIns="91440" tIns="45720" rIns="91440" bIns="45720" rtlCol="0" anchor="t">
            <a:spAutoFit/>
          </a:bodyPr>
          <a:lstStyle/>
          <a:p>
            <a:pPr marL="254000" indent="-254000" algn="l">
              <a:lnSpc>
                <a:spcPct val="100000"/>
              </a:lnSpc>
              <a:buClr>
                <a:srgbClr val="000000"/>
              </a:buClr>
              <a:buChar char="•"/>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One micro batch will go through both GPU but now twice.</a:t>
            </a:r>
            <a:endParaRPr lang="en-US" sz="1100"/>
          </a:p>
          <a:p>
            <a:pPr marL="254000" indent="-254000" algn="l">
              <a:lnSpc>
                <a:spcPct val="100000"/>
              </a:lnSpc>
              <a:buClr>
                <a:srgbClr val="000000"/>
              </a:buClr>
              <a:buChar cha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GPU are now busy working, just like we have two batches</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Interleaved 1F1B (Megatron-LM)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Divides the model into a larger number of "virtual stages" (V stages per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1 is assigned Virtual Stage 1 (e.g., layers 1-2) and Virtual Stage 5 (e.g., layers 9-10) simultaneously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48485" y="2491105"/>
            <a:ext cx="8705850" cy="40792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Interleaved 1F1B (Megatron-LM)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a:blipFill rotWithShape="1">
            <a:blip r:embed="rId1"/>
            <a:stretch>
              <a:fillRect l="-1012" t="-1828"/>
            </a:stretch>
          </a:blipFill>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Interleaved 1F1B (Megatron-LM)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Megatron-core recommends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Interleaved 1F1B</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by default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#layers in virtual pipeline state typically set to 2-4.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746726" y="2268204"/>
            <a:ext cx="5697361" cy="44532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PP: Zero-bubble Pipeline (ICLR’24)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Key insight: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Separate blocking and non-blocking computation to enable more flexible pipeline schedule.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528233" y="2381250"/>
            <a:ext cx="8712622" cy="379571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PP: Zero-bubble Pipeline (ICLR’24)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Small scale: Integer Linear Programming, for both memory and end-to-end makespan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Large scale: heuristics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Less #PP communications than interleaved 1F1B, but similar/less bubbles.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3429000"/>
            <a:ext cx="10571480" cy="328788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PP: DeepSeek-V3 DualPipe (2025)</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DeepSeek V3: https://arxiv.org/pdf/2412.19437v1, 2025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Sharding strategy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018845" y="1407653"/>
            <a:ext cx="5025784" cy="2389191"/>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87958" y="3880521"/>
            <a:ext cx="11816084" cy="228138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PP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https://selamjie.medium.com/the-frontier-of-pipeline-parallelism-an-overview-d4264cc9f877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nvPicPr>
        <p:blipFill>
          <a:blip r:embed="rId1"/>
          <a:srcRect/>
          <a:stretch>
            <a:fillRect/>
          </a:stretch>
        </p:blipFill>
        <p:spPr>
          <a:xfrm>
            <a:off x="2652395" y="1132840"/>
            <a:ext cx="6536055" cy="50431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31: Communication Primitives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Scaling Law of LLMs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arxiv.org/abs/2001.08361"/>
              </a:rPr>
              <a:t>https://arxiv.org/abs/2001.08361</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dnacap.fund/insights/exploring-the-landscape-of-large-language-models"/>
              </a:rPr>
              <a:t>https://dnacap.fund/insights/exploring-the-landscape-of-large-language-models</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Model performance improves predictably as a power-law function of compute, data size, and parameter count.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004871" y="3839061"/>
            <a:ext cx="1018227"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NVL576</a:t>
            </a:r>
            <a:endParaRPr lang="en-US" sz="1100"/>
          </a:p>
        </p:txBody>
      </p:sp>
      <p:pic>
        <p:nvPicPr>
          <p:cNvPr id="7" name="Picture 7"/>
          <p:cNvPicPr>
            <a:picLocks noChangeAspect="1"/>
          </p:cNvPicPr>
          <p:nvPr/>
        </p:nvPicPr>
        <p:blipFill>
          <a:blip r:embed="rId3"/>
          <a:srcRect/>
          <a:stretch>
            <a:fillRect/>
          </a:stretch>
        </p:blipFill>
        <p:spPr>
          <a:xfrm>
            <a:off x="1759984" y="2279475"/>
            <a:ext cx="7950345" cy="398718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 computing systems are also scaling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Scale-up supernodes are on the rise…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736536" y="6051200"/>
            <a:ext cx="889987"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NVL72</a:t>
            </a:r>
            <a:endParaRPr lang="en-US" sz="1100"/>
          </a:p>
        </p:txBody>
      </p:sp>
      <p:pic>
        <p:nvPicPr>
          <p:cNvPr id="7" name="Picture 7"/>
          <p:cNvPicPr>
            <a:picLocks noChangeAspect="1"/>
          </p:cNvPicPr>
          <p:nvPr/>
        </p:nvPicPr>
        <p:blipFill>
          <a:blip r:embed="rId1"/>
          <a:srcRect/>
          <a:stretch>
            <a:fillRect/>
          </a:stretch>
        </p:blipFill>
        <p:spPr>
          <a:xfrm>
            <a:off x="4130342" y="1972453"/>
            <a:ext cx="2767286" cy="1867918"/>
          </a:xfrm>
          <a:prstGeom prst="rect">
            <a:avLst/>
          </a:prstGeom>
          <a:ln w="12700">
            <a:noFill/>
            <a:prstDash val="solid"/>
          </a:ln>
        </p:spPr>
      </p:pic>
      <p:sp>
        <p:nvSpPr>
          <p:cNvPr id="8" name="AutoShape 8"/>
          <p:cNvSpPr/>
          <p:nvPr/>
        </p:nvSpPr>
        <p:spPr>
          <a:xfrm>
            <a:off x="5004871" y="3839061"/>
            <a:ext cx="1018227"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NVL576</a:t>
            </a:r>
            <a:endParaRPr lang="en-US" sz="1100"/>
          </a:p>
        </p:txBody>
      </p:sp>
      <p:pic>
        <p:nvPicPr>
          <p:cNvPr id="9" name="Picture 9"/>
          <p:cNvPicPr>
            <a:picLocks noChangeAspect="1"/>
          </p:cNvPicPr>
          <p:nvPr/>
        </p:nvPicPr>
        <p:blipFill>
          <a:blip r:embed="rId2"/>
          <a:srcRect l="21741" r="25207"/>
          <a:stretch>
            <a:fillRect/>
          </a:stretch>
        </p:blipFill>
        <p:spPr>
          <a:xfrm>
            <a:off x="7327622" y="1970934"/>
            <a:ext cx="3817186" cy="4047388"/>
          </a:xfrm>
          <a:prstGeom prst="rect">
            <a:avLst/>
          </a:prstGeom>
          <a:ln w="12700">
            <a:noFill/>
            <a:prstDash val="solid"/>
          </a:ln>
        </p:spPr>
      </p:pic>
      <p:sp>
        <p:nvSpPr>
          <p:cNvPr id="10" name="AutoShape 10"/>
          <p:cNvSpPr/>
          <p:nvPr/>
        </p:nvSpPr>
        <p:spPr>
          <a:xfrm>
            <a:off x="8584644" y="6055877"/>
            <a:ext cx="1402948"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AMD Helios</a:t>
            </a:r>
            <a:endParaRPr lang="en-US" sz="1100"/>
          </a:p>
        </p:txBody>
      </p:sp>
      <p:pic>
        <p:nvPicPr>
          <p:cNvPr id="11" name="Picture 11"/>
          <p:cNvPicPr>
            <a:picLocks noChangeAspect="1"/>
          </p:cNvPicPr>
          <p:nvPr/>
        </p:nvPicPr>
        <p:blipFill>
          <a:blip r:embed="rId3"/>
          <a:srcRect/>
          <a:stretch>
            <a:fillRect/>
          </a:stretch>
        </p:blipFill>
        <p:spPr>
          <a:xfrm>
            <a:off x="4130341" y="4461724"/>
            <a:ext cx="2767286" cy="1556598"/>
          </a:xfrm>
          <a:prstGeom prst="rect">
            <a:avLst/>
          </a:prstGeom>
          <a:ln w="12700">
            <a:noFill/>
            <a:prstDash val="solid"/>
          </a:ln>
        </p:spPr>
      </p:pic>
      <p:sp>
        <p:nvSpPr>
          <p:cNvPr id="12" name="AutoShape 12"/>
          <p:cNvSpPr/>
          <p:nvPr/>
        </p:nvSpPr>
        <p:spPr>
          <a:xfrm>
            <a:off x="4196957" y="6048466"/>
            <a:ext cx="2634054"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Huawei CloudMatrix384</a:t>
            </a:r>
            <a:endParaRPr lang="en-US" sz="1100"/>
          </a:p>
        </p:txBody>
      </p:sp>
      <p:pic>
        <p:nvPicPr>
          <p:cNvPr id="13" name="Picture 13"/>
          <p:cNvPicPr>
            <a:picLocks noChangeAspect="1"/>
          </p:cNvPicPr>
          <p:nvPr/>
        </p:nvPicPr>
        <p:blipFill>
          <a:blip r:embed="rId4"/>
          <a:srcRect l="15055" r="12828"/>
          <a:stretch>
            <a:fillRect/>
          </a:stretch>
        </p:blipFill>
        <p:spPr>
          <a:xfrm>
            <a:off x="737193" y="1970934"/>
            <a:ext cx="2949262" cy="404738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Mapping LLMs on multiple GPUs/NPUs…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robotchinwag.com/posts/demystifying-tensor-parallelism/"/>
              </a:rPr>
              <a:t>https://robotchinwag.com/posts/demystifying-tensor-parallelism/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docs.nvidia.com/nemo/megatron-bridge/0.2.0/parallelisms.html"/>
              </a:rPr>
              <a:t>https://docs.nvidia.com/nemo/megatron-bridge/0.2.0/parallelisms.html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3" tooltip="https://aclanthology.org/2023.acl-long.134.pdf"/>
              </a:rPr>
              <a:t>https://aclanthology.org/2023.acl-long.134.pdf</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Multi-dimension Parallelisms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4"/>
          <a:srcRect/>
          <a:stretch>
            <a:fillRect/>
          </a:stretch>
        </p:blipFill>
        <p:spPr>
          <a:xfrm>
            <a:off x="8236386" y="1681401"/>
            <a:ext cx="3431740" cy="1567161"/>
          </a:xfrm>
          <a:prstGeom prst="rect">
            <a:avLst/>
          </a:prstGeom>
          <a:ln w="12700">
            <a:noFill/>
            <a:prstDash val="solid"/>
          </a:ln>
        </p:spPr>
      </p:pic>
      <p:sp>
        <p:nvSpPr>
          <p:cNvPr id="7" name="AutoShape 7"/>
          <p:cNvSpPr/>
          <p:nvPr/>
        </p:nvSpPr>
        <p:spPr>
          <a:xfrm>
            <a:off x="8886390" y="3236656"/>
            <a:ext cx="2672878"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Expert Parallelism</a:t>
            </a:r>
            <a:endParaRPr lang="en-US" sz="1100"/>
          </a:p>
        </p:txBody>
      </p:sp>
      <p:pic>
        <p:nvPicPr>
          <p:cNvPr id="8" name="Picture 8"/>
          <p:cNvPicPr>
            <a:picLocks noChangeAspect="1"/>
          </p:cNvPicPr>
          <p:nvPr/>
        </p:nvPicPr>
        <p:blipFill>
          <a:blip r:embed="rId5"/>
          <a:srcRect/>
          <a:stretch>
            <a:fillRect/>
          </a:stretch>
        </p:blipFill>
        <p:spPr>
          <a:xfrm>
            <a:off x="24895" y="2330683"/>
            <a:ext cx="8005713" cy="3165844"/>
          </a:xfrm>
          <a:prstGeom prst="rect">
            <a:avLst/>
          </a:prstGeom>
          <a:ln w="12700">
            <a:noFill/>
            <a:prstDash val="solid"/>
          </a:ln>
        </p:spPr>
      </p:pic>
      <p:pic>
        <p:nvPicPr>
          <p:cNvPr id="9" name="Picture 9"/>
          <p:cNvPicPr>
            <a:picLocks noChangeAspect="1"/>
          </p:cNvPicPr>
          <p:nvPr/>
        </p:nvPicPr>
        <p:blipFill>
          <a:blip r:embed="rId6"/>
          <a:srcRect/>
          <a:stretch>
            <a:fillRect/>
          </a:stretch>
        </p:blipFill>
        <p:spPr>
          <a:xfrm>
            <a:off x="8236386" y="3797409"/>
            <a:ext cx="3267530" cy="1930613"/>
          </a:xfrm>
          <a:prstGeom prst="rect">
            <a:avLst/>
          </a:prstGeom>
          <a:ln w="12700">
            <a:noFill/>
            <a:prstDash val="solid"/>
          </a:ln>
        </p:spPr>
      </p:pic>
      <p:sp>
        <p:nvSpPr>
          <p:cNvPr id="10" name="AutoShape 10"/>
          <p:cNvSpPr/>
          <p:nvPr/>
        </p:nvSpPr>
        <p:spPr>
          <a:xfrm>
            <a:off x="8886390" y="5712659"/>
            <a:ext cx="2672878"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Sequence Parallelism</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Communication datapath in the AI systems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arxiv.org/html/2507.04786v1"/>
              </a:rPr>
              <a:t>https://arxiv.org/html/2507.04786v1</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Scale-up: NVLINK, HCCS, Unified Bus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Scale-out: InifiniBand (IB), RoCE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523873" y="2763997"/>
            <a:ext cx="5418740" cy="323954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329505" y="1323975"/>
            <a:ext cx="5276429" cy="4679567"/>
          </a:xfrm>
          <a:prstGeom prst="rect">
            <a:avLst/>
          </a:prstGeom>
          <a:ln w="12700">
            <a:noFill/>
            <a:prstDash val="solid"/>
          </a:ln>
        </p:spPr>
      </p:pic>
      <p:sp>
        <p:nvSpPr>
          <p:cNvPr id="8" name="AutoShape 8"/>
          <p:cNvSpPr/>
          <p:nvPr/>
        </p:nvSpPr>
        <p:spPr>
          <a:xfrm>
            <a:off x="357041" y="6017030"/>
            <a:ext cx="5805632"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Intra-node GPU communications via NVLINK or PCIe</a:t>
            </a:r>
            <a:endParaRPr lang="en-US" sz="1100"/>
          </a:p>
        </p:txBody>
      </p:sp>
      <p:sp>
        <p:nvSpPr>
          <p:cNvPr id="9" name="AutoShape 9"/>
          <p:cNvSpPr/>
          <p:nvPr/>
        </p:nvSpPr>
        <p:spPr>
          <a:xfrm>
            <a:off x="6552499" y="5996627"/>
            <a:ext cx="5805632"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Inter-node communications via RDMA NIC (IB)</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Collective v.s. Point-to-point communications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eveloper.nvidia.com/blog/scaling-ai-inference-performance-and-flexibility-with-nvidia-nvlink-and-nvlink-fusion/"/>
              </a:rPr>
              <a:t>https://developer.nvidia.com/blog/scaling-ai-inference-performance-and-flexibility-with-nvidia-nvlink-and-nvlink-fusion/</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www.hiascend.com/developer/techArticles/20240809-1"/>
              </a:rPr>
              <a:t>https://www.hiascend.com/developer/techArticles/20240809-1</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Collective operations involve communication among a group of processes rather than just between pairs of processes. e.g., AllReduce, AllGather, Broadcast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Point-to-point: Send/Recv (Two-side), Put/Get (One-side)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7562850" y="2739080"/>
            <a:ext cx="3464379" cy="3334696"/>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1164771" y="3227888"/>
            <a:ext cx="4541317" cy="230613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Broadcast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copy an N-element buffer from the root rank (2) to all the ranks (0-3).</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848758" y="2678339"/>
            <a:ext cx="8255000" cy="254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performs reduction on data (for example, sum, min, max) across devices and stores the result in the receive buffer of a specified root rank.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968500" y="2779486"/>
            <a:ext cx="8255000" cy="254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Gather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gathers N values from k ranks into an output buffer on the root rank of size k*N.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685472" y="2660650"/>
            <a:ext cx="8255000" cy="26035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Scatter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distributes a total of N*k values from the root rank to k ranks, each rank receiving N values.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968500" y="2714171"/>
            <a:ext cx="8255000" cy="254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AllReduce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performs reductions on data (for example, sum, min, max) across devices and stores the result in the receive buffer of every rank.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968500" y="2768600"/>
            <a:ext cx="8255000" cy="254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AllGather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gathers N values from k ranks into an output buffer of size k*N, and distributes that result to all ranks.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output is ordered by the rank index.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This operation is therefore impacted by a different rank to device mapping.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968500" y="3429000"/>
            <a:ext cx="8255000" cy="26035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ReduceScatter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performs the same operation as Reduce, except that the result is scattered in equal-sized blocks between ranks, each rank getting a chunk of data based on its rank index.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This operation is therefore impacted by a different rank to device mapping.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968500" y="3291115"/>
            <a:ext cx="8255000" cy="254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AlltoAll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nvidia.com/deeplearning/nccl/user-guide/docs/usage/collectives.html"/>
              </a:rPr>
              <a:t>https://docs.nvidia.com/deeplearning/nccl/user-guide/docs/usage/collectives.html</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Operations: each rank provides an input buffer of size N values, where the j-th chunk of N/k values is sent to destination rank j. Each rank receives an output buffer of size N values, where the i-th chunk of N/k values comes from source rank i.</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1968500" y="3429000"/>
            <a:ext cx="8255000" cy="26035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FSDP (PyTorch)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www.uber.com/en-JP/blog/horovod/"/>
              </a:rPr>
              <a:t>https://www.uber.com/en-JP/blog/horovod/</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DP, DDP, FSDP: Data Parallelism, Distributed DP, Fully Sharded DP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What is DP: multiple model copies on different devices.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2"/>
          <a:srcRect/>
          <a:stretch>
            <a:fillRect/>
          </a:stretch>
        </p:blipFill>
        <p:spPr>
          <a:xfrm>
            <a:off x="1084162" y="3550510"/>
            <a:ext cx="3017980" cy="2471245"/>
          </a:xfrm>
          <a:prstGeom prst="rect">
            <a:avLst/>
          </a:prstGeom>
          <a:ln w="12700">
            <a:noFill/>
            <a:prstDash val="solid"/>
          </a:ln>
        </p:spPr>
      </p:pic>
      <p:sp>
        <p:nvSpPr>
          <p:cNvPr id="8" name="AutoShape 8"/>
          <p:cNvSpPr/>
          <p:nvPr/>
        </p:nvSpPr>
        <p:spPr>
          <a:xfrm>
            <a:off x="1403564" y="6021755"/>
            <a:ext cx="2196370" cy="40011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Inference is simple.</a:t>
            </a:r>
            <a:endParaRPr lang="en-US" sz="1100"/>
          </a:p>
        </p:txBody>
      </p:sp>
      <p:pic>
        <p:nvPicPr>
          <p:cNvPr id="9" name="Picture 9"/>
          <p:cNvPicPr>
            <a:picLocks noChangeAspect="1"/>
          </p:cNvPicPr>
          <p:nvPr/>
        </p:nvPicPr>
        <p:blipFill>
          <a:blip r:embed="rId3"/>
          <a:srcRect/>
          <a:stretch>
            <a:fillRect/>
          </a:stretch>
        </p:blipFill>
        <p:spPr>
          <a:xfrm>
            <a:off x="5299891" y="2401669"/>
            <a:ext cx="6218740" cy="4020196"/>
          </a:xfrm>
          <a:prstGeom prst="rect">
            <a:avLst/>
          </a:prstGeom>
          <a:ln w="12700">
            <a:noFill/>
            <a:prstDash val="solid"/>
          </a:ln>
        </p:spPr>
      </p:pic>
      <p:pic>
        <p:nvPicPr>
          <p:cNvPr id="10" name="Picture 10"/>
          <p:cNvPicPr>
            <a:picLocks noChangeAspect="1"/>
          </p:cNvPicPr>
          <p:nvPr/>
        </p:nvPicPr>
        <p:blipFill>
          <a:blip r:embed="rId4"/>
          <a:srcRect/>
          <a:stretch>
            <a:fillRect/>
          </a:stretch>
        </p:blipFill>
        <p:spPr>
          <a:xfrm>
            <a:off x="713290" y="2629719"/>
            <a:ext cx="4648200" cy="889000"/>
          </a:xfrm>
          <a:prstGeom prst="rect">
            <a:avLst/>
          </a:prstGeom>
          <a:ln w="12700">
            <a:noFill/>
            <a:prstDash val="solid"/>
          </a:ln>
        </p:spPr>
      </p:pic>
      <p:sp>
        <p:nvSpPr>
          <p:cNvPr id="11" name="AutoShape 11"/>
          <p:cNvSpPr/>
          <p:nvPr/>
        </p:nvSpPr>
        <p:spPr>
          <a:xfrm>
            <a:off x="8970380" y="2338086"/>
            <a:ext cx="682906" cy="4083779"/>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8266816" y="6421865"/>
            <a:ext cx="2101794"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All-reduce operators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FSDP (PyTorch)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https://docs.pytorch.org/docs/stable/notes/ddp.html</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DP, DDP, FSDP: Data Parallelism, Distributed DP, Fully Sharded DP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DDP is recommended: optimized all-reduce (ring-based) + distributed support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DP: reduce op is executed on node 0 (imbalance); DDP: ring-based all-reduce.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DDP: robust multi-process support.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5994400" y="3120880"/>
            <a:ext cx="6017865" cy="283968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419100" y="3980657"/>
            <a:ext cx="5575300" cy="1524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FSDP (PyTorch)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https://docs.pytorch.org/docs/stable/notes/ddp.html</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9" hasCustomPrompt="1"/>
          </p:nvPr>
        </p:nvSpPr>
        <p:spPr>
          <a:xfrm>
            <a:off x="523875" y="1323975"/>
            <a:ext cx="559117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DP, DDP, FSDP: Data Parallelism, Distributed DP, Fully Sharded DP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Before FSDP, we profile the memory utilization during the LLM training.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Model params account for only a portion of the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total memory consumption during training.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 need to consider </a:t>
            </a: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the optimizer states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sng" strike="noStrike">
                <a:solidFill>
                  <a:srgbClr val="404040"/>
                </a:solidFill>
                <a:latin typeface="Calibri" panose="020F0502020204030204"/>
                <a:ea typeface="Calibri" panose="020F0502020204030204"/>
                <a:cs typeface="Calibri" panose="020F0502020204030204"/>
                <a:sym typeface="Calibri" panose="020F0502020204030204"/>
              </a:rPr>
              <a:t>gradients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Idea: removing redundant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 (Zero Redundancy Optimizer).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6512325" y="2323879"/>
            <a:ext cx="5679675" cy="37404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FSDP (PyTorch)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docs.pytorch.org/docs/stable/notes/ddp.html"/>
              </a:rPr>
              <a:t>https://docs.pytorch.org/docs/stable/notes/ddp.html</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[2] https://www.youtube.com/watch?v=czgA-MbAdvA&amp;t=2550s</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DP, DDP, FSDP: Data Parallelism, Distributed DP, Fully Sharded DP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ZeRO with different opt levels: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ZeRO-1: Shards the optimizer states (Optimizer States Sharding).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ZeRO-2: Shards both optimizer states and gradients (Optimizer States &amp; Gradients Sharding).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ZeRO-3: Shards the optimizer states, gradients, and model parameters (Optimizer States &amp; Gradients &amp; Parameters Sharding).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2"/>
          <a:srcRect/>
          <a:stretch>
            <a:fillRect/>
          </a:stretch>
        </p:blipFill>
        <p:spPr>
          <a:xfrm>
            <a:off x="5669165" y="3581400"/>
            <a:ext cx="6382947" cy="2844971"/>
          </a:xfrm>
          <a:prstGeom prst="rect">
            <a:avLst/>
          </a:prstGeom>
          <a:ln w="12700">
            <a:noFill/>
            <a:prstDash val="solid"/>
          </a:ln>
        </p:spPr>
      </p:pic>
      <p:sp>
        <p:nvSpPr>
          <p:cNvPr id="8" name="AutoShape 8"/>
          <p:cNvSpPr/>
          <p:nvPr/>
        </p:nvSpPr>
        <p:spPr>
          <a:xfrm>
            <a:off x="184785" y="4650105"/>
            <a:ext cx="5483860" cy="101473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2000" b="0" i="0" u="sng" strike="noStrike">
                <a:solidFill>
                  <a:srgbClr val="000000"/>
                </a:solidFill>
                <a:latin typeface="Calibri" panose="020F0502020204030204"/>
                <a:ea typeface="Calibri" panose="020F0502020204030204"/>
                <a:cs typeface="Calibri" panose="020F0502020204030204"/>
                <a:sym typeface="Calibri" panose="020F0502020204030204"/>
              </a:rPr>
              <a:t>ZeRO3 will introduce the extra communications because of the partitions of model parameters.</a:t>
            </a:r>
            <a:endParaRPr lang="en-US" sz="1100"/>
          </a:p>
        </p:txBody>
      </p:sp>
      <p:sp>
        <p:nvSpPr>
          <p:cNvPr id="9" name="AutoShape 9"/>
          <p:cNvSpPr/>
          <p:nvPr/>
        </p:nvSpPr>
        <p:spPr>
          <a:xfrm>
            <a:off x="6086356" y="6344809"/>
            <a:ext cx="6105644"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K denotes the memory multiplier of the optimizer states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FSDP (PyTorch)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Calibri" panose="020F0502020204030204"/>
              </a:defRPr>
            </a:lvl1pPr>
          </a:lstStyle>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[1]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1" tooltip="https://docs.pytorch.org/tutorials/intermediate/FSDP_tutorial.html"/>
              </a:rPr>
              <a:t>https://docs.pytorch.org/tutorials/intermediate/FSDP_tutorial.html</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[2] </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hlinkClick r:id="rId2" tooltip="https://arxiv.org/abs/2304.11277"/>
              </a:rPr>
              <a:t>https://arxiv.org/abs/2304.11277</a:t>
            </a:r>
            <a:r>
              <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A5A5A5"/>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DP, DDP, FSDP: Data Parallelism, Distributed DP, Fully Sharded DP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FSDP: sharding model parameters/gradient/optimizer states for GPU memory reduction (ZeRO3).</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3"/>
          <a:srcRect/>
          <a:stretch>
            <a:fillRect/>
          </a:stretch>
        </p:blipFill>
        <p:spPr>
          <a:xfrm>
            <a:off x="209550" y="2788751"/>
            <a:ext cx="7898291" cy="3567600"/>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8389937" y="3541852"/>
            <a:ext cx="3802063" cy="2087669"/>
          </a:xfrm>
          <a:prstGeom prst="rect">
            <a:avLst/>
          </a:prstGeom>
          <a:ln w="12700">
            <a:noFill/>
            <a:prstDash val="solid"/>
          </a:ln>
        </p:spPr>
      </p:pic>
      <p:sp>
        <p:nvSpPr>
          <p:cNvPr id="9" name="AutoShape 9"/>
          <p:cNvSpPr/>
          <p:nvPr/>
        </p:nvSpPr>
        <p:spPr>
          <a:xfrm>
            <a:off x="8939988" y="5669770"/>
            <a:ext cx="2701958" cy="646331"/>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All-reduce =</a:t>
            </a:r>
            <a:endParaRPr lang="en-US" sz="1100"/>
          </a:p>
          <a:p>
            <a:pPr indent="0" algn="ctr">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Reduce-scatter + all-gather</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 name="AutoShape 10"/>
          <p:cNvSpPr/>
          <p:nvPr/>
        </p:nvSpPr>
        <p:spPr>
          <a:xfrm>
            <a:off x="822428" y="3970116"/>
            <a:ext cx="751730" cy="902826"/>
          </a:xfrm>
          <a:prstGeom prst="rect">
            <a:avLst/>
          </a:prstGeom>
          <a:noFill/>
          <a:ln w="12700" cap="flat">
            <a:solidFill>
              <a:srgbClr val="FF0000">
                <a:alpha val="100000"/>
              </a:srgbClr>
            </a:solidFill>
            <a:prstDash val="dash"/>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Implementations of collective communication op.s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pytorch.org/tutorials/intermediate/FSDP_tutorial.html"/>
              </a:rPr>
              <a:t>https://docs.pytorch.org/tutorials/intermediate/FSDP_tutorial.html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arxiv.org/abs/2304.11277"/>
              </a:rPr>
              <a:t>https://arxiv.org/abs/2304.11277</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3"/>
          <a:srcRect/>
          <a:stretch>
            <a:fillRect/>
          </a:stretch>
        </p:blipFill>
        <p:spPr>
          <a:xfrm>
            <a:off x="940734" y="1343025"/>
            <a:ext cx="3116417" cy="1711189"/>
          </a:xfrm>
          <a:prstGeom prst="rect">
            <a:avLst/>
          </a:prstGeom>
          <a:ln w="12700">
            <a:noFill/>
            <a:prstDash val="solid"/>
          </a:ln>
        </p:spPr>
      </p:pic>
      <p:sp>
        <p:nvSpPr>
          <p:cNvPr id="7" name="AutoShape 7"/>
          <p:cNvSpPr/>
          <p:nvPr/>
        </p:nvSpPr>
        <p:spPr>
          <a:xfrm>
            <a:off x="419100" y="3186033"/>
            <a:ext cx="4159684"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All-reduce = Reduce-scatter + all-gather</a:t>
            </a:r>
            <a:endParaRPr lang="en-US" sz="1100"/>
          </a:p>
        </p:txBody>
      </p:sp>
      <p:pic>
        <p:nvPicPr>
          <p:cNvPr id="8" name="Picture 8"/>
          <p:cNvPicPr>
            <a:picLocks noChangeAspect="1"/>
          </p:cNvPicPr>
          <p:nvPr/>
        </p:nvPicPr>
        <p:blipFill>
          <a:blip r:embed="rId4"/>
          <a:srcRect/>
          <a:stretch>
            <a:fillRect/>
          </a:stretch>
        </p:blipFill>
        <p:spPr>
          <a:xfrm>
            <a:off x="628868" y="3554049"/>
            <a:ext cx="3740149" cy="2209716"/>
          </a:xfrm>
          <a:prstGeom prst="rect">
            <a:avLst/>
          </a:prstGeom>
          <a:ln w="12700">
            <a:noFill/>
            <a:prstDash val="solid"/>
          </a:ln>
        </p:spPr>
      </p:pic>
      <p:sp>
        <p:nvSpPr>
          <p:cNvPr id="9" name="AutoShape 9"/>
          <p:cNvSpPr/>
          <p:nvPr/>
        </p:nvSpPr>
        <p:spPr>
          <a:xfrm>
            <a:off x="1696383" y="5758487"/>
            <a:ext cx="1605119"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Ring All-reduce</a:t>
            </a:r>
            <a:endParaRPr lang="en-US" sz="1100"/>
          </a:p>
        </p:txBody>
      </p:sp>
      <p:grpSp>
        <p:nvGrpSpPr>
          <p:cNvPr id="10" name="Group 10"/>
          <p:cNvGrpSpPr/>
          <p:nvPr/>
        </p:nvGrpSpPr>
        <p:grpSpPr>
          <a:xfrm>
            <a:off x="7463045" y="1343025"/>
            <a:ext cx="3740149" cy="1960850"/>
            <a:chOff x="7463045" y="1343025"/>
            <a:chExt cx="3740149" cy="1960850"/>
          </a:xfrm>
        </p:grpSpPr>
        <p:pic>
          <p:nvPicPr>
            <p:cNvPr id="11" name="Picture 11"/>
            <p:cNvPicPr>
              <a:picLocks noChangeAspect="1"/>
            </p:cNvPicPr>
            <p:nvPr/>
          </p:nvPicPr>
          <p:blipFill>
            <a:blip r:embed="rId5"/>
            <a:srcRect/>
            <a:stretch>
              <a:fillRect/>
            </a:stretch>
          </p:blipFill>
          <p:spPr>
            <a:xfrm>
              <a:off x="7463045" y="1343025"/>
              <a:ext cx="3740149" cy="1960850"/>
            </a:xfrm>
            <a:prstGeom prst="rect">
              <a:avLst/>
            </a:prstGeom>
            <a:ln w="12700">
              <a:noFill/>
              <a:prstDash val="solid"/>
            </a:ln>
          </p:spPr>
        </p:pic>
        <p:sp>
          <p:nvSpPr>
            <p:cNvPr id="12" name="AutoShape 12"/>
            <p:cNvSpPr/>
            <p:nvPr/>
          </p:nvSpPr>
          <p:spPr>
            <a:xfrm>
              <a:off x="10516721" y="1374429"/>
              <a:ext cx="644848" cy="109629"/>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sp>
        <p:nvSpPr>
          <p:cNvPr id="13" name="AutoShape 13"/>
          <p:cNvSpPr/>
          <p:nvPr/>
        </p:nvSpPr>
        <p:spPr>
          <a:xfrm>
            <a:off x="7960788" y="3322541"/>
            <a:ext cx="2744662"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 CLOS Topology</a:t>
            </a:r>
            <a:endParaRPr lang="en-US" sz="1100"/>
          </a:p>
        </p:txBody>
      </p:sp>
      <p:pic>
        <p:nvPicPr>
          <p:cNvPr id="14" name="Picture 14"/>
          <p:cNvPicPr>
            <a:picLocks noChangeAspect="1"/>
          </p:cNvPicPr>
          <p:nvPr/>
        </p:nvPicPr>
        <p:blipFill>
          <a:blip r:embed="rId6"/>
          <a:srcRect/>
          <a:stretch>
            <a:fillRect/>
          </a:stretch>
        </p:blipFill>
        <p:spPr>
          <a:xfrm>
            <a:off x="7368928" y="3710539"/>
            <a:ext cx="3928383" cy="2209716"/>
          </a:xfrm>
          <a:prstGeom prst="rect">
            <a:avLst/>
          </a:prstGeom>
          <a:ln w="12700">
            <a:noFill/>
            <a:prstDash val="solid"/>
          </a:ln>
        </p:spPr>
      </p:pic>
      <p:sp>
        <p:nvSpPr>
          <p:cNvPr id="15" name="AutoShape 15"/>
          <p:cNvSpPr/>
          <p:nvPr/>
        </p:nvSpPr>
        <p:spPr>
          <a:xfrm>
            <a:off x="7680263" y="5759286"/>
            <a:ext cx="3305713"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HUAWEI NPU Full-mesh Topology</a:t>
            </a:r>
            <a:endParaRPr lang="en-US" sz="1100"/>
          </a:p>
        </p:txBody>
      </p:sp>
      <p:sp>
        <p:nvSpPr>
          <p:cNvPr id="16" name="AutoShape 16"/>
          <p:cNvSpPr/>
          <p:nvPr/>
        </p:nvSpPr>
        <p:spPr>
          <a:xfrm>
            <a:off x="4554466" y="2736607"/>
            <a:ext cx="2744663" cy="1827193"/>
          </a:xfrm>
          <a:prstGeom prst="rect">
            <a:avLst/>
          </a:prstGeom>
          <a:solidFill>
            <a:srgbClr val="DAE3F3">
              <a:alpha val="100000"/>
            </a:srgbClr>
          </a:solidFill>
          <a:ln w="12700">
            <a:noFill/>
            <a:prstDash val="solid"/>
          </a:ln>
        </p:spPr>
        <p:txBody>
          <a:bodyPr wrap="square" lIns="91440" tIns="45720" rIns="91440" bIns="45720" rtlCol="0" anchor="t">
            <a:spAutoFit/>
          </a:bodyPr>
          <a:lstStyle/>
          <a:p>
            <a:pPr indent="0" algn="ctr">
              <a:lnSpc>
                <a:spcPct val="100000"/>
              </a:lnSpc>
              <a:defRPr/>
            </a:pPr>
            <a:endParaRPr lang="en-US" sz="1100"/>
          </a:p>
          <a:p>
            <a:pPr indent="0" algn="ctr">
              <a:lnSpc>
                <a:spcPct val="100000"/>
              </a:lnSpc>
            </a:pPr>
          </a:p>
          <a:p>
            <a:pPr indent="0" algn="ctr">
              <a:lnSpc>
                <a:spcPct val="100000"/>
              </a:lnSpc>
            </a:p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2921874" y="3075677"/>
            <a:ext cx="6109138" cy="92333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The implementations </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highly depends on </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the hardware topology  </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32: Communication Topology Optimization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Implementations of collective communication op.s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docs.pytorch.org/tutorials/intermediate/FSDP_tutorial.html"/>
              </a:rPr>
              <a:t>https://docs.pytorch.org/tutorials/intermediate/FSDP_tutorial.html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arxiv.org/abs/2304.11277"/>
              </a:rPr>
              <a:t>https://arxiv.org/abs/2304.11277</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3"/>
          <a:srcRect/>
          <a:stretch>
            <a:fillRect/>
          </a:stretch>
        </p:blipFill>
        <p:spPr>
          <a:xfrm>
            <a:off x="940734" y="1343025"/>
            <a:ext cx="3116417" cy="1711189"/>
          </a:xfrm>
          <a:prstGeom prst="rect">
            <a:avLst/>
          </a:prstGeom>
          <a:ln w="12700">
            <a:noFill/>
            <a:prstDash val="solid"/>
          </a:ln>
        </p:spPr>
      </p:pic>
      <p:sp>
        <p:nvSpPr>
          <p:cNvPr id="7" name="AutoShape 7"/>
          <p:cNvSpPr/>
          <p:nvPr/>
        </p:nvSpPr>
        <p:spPr>
          <a:xfrm>
            <a:off x="419100" y="3186033"/>
            <a:ext cx="4159684" cy="369332"/>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All-reduce = Reduce-scatter + all-gather</a:t>
            </a:r>
            <a:endParaRPr lang="en-US" sz="1100"/>
          </a:p>
        </p:txBody>
      </p:sp>
      <p:pic>
        <p:nvPicPr>
          <p:cNvPr id="8" name="Picture 8"/>
          <p:cNvPicPr>
            <a:picLocks noChangeAspect="1"/>
          </p:cNvPicPr>
          <p:nvPr/>
        </p:nvPicPr>
        <p:blipFill>
          <a:blip r:embed="rId4"/>
          <a:srcRect/>
          <a:stretch>
            <a:fillRect/>
          </a:stretch>
        </p:blipFill>
        <p:spPr>
          <a:xfrm>
            <a:off x="628868" y="3554049"/>
            <a:ext cx="3740149" cy="2209716"/>
          </a:xfrm>
          <a:prstGeom prst="rect">
            <a:avLst/>
          </a:prstGeom>
          <a:ln w="12700">
            <a:noFill/>
            <a:prstDash val="solid"/>
          </a:ln>
        </p:spPr>
      </p:pic>
      <p:sp>
        <p:nvSpPr>
          <p:cNvPr id="9" name="AutoShape 9"/>
          <p:cNvSpPr/>
          <p:nvPr/>
        </p:nvSpPr>
        <p:spPr>
          <a:xfrm>
            <a:off x="1696383" y="5758487"/>
            <a:ext cx="1605119"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Ring All-reduce</a:t>
            </a:r>
            <a:endParaRPr lang="en-US" sz="1100"/>
          </a:p>
        </p:txBody>
      </p:sp>
      <p:grpSp>
        <p:nvGrpSpPr>
          <p:cNvPr id="10" name="Group 10"/>
          <p:cNvGrpSpPr/>
          <p:nvPr/>
        </p:nvGrpSpPr>
        <p:grpSpPr>
          <a:xfrm>
            <a:off x="7463045" y="1343025"/>
            <a:ext cx="3740149" cy="1960850"/>
            <a:chOff x="7463045" y="1343025"/>
            <a:chExt cx="3740149" cy="1960850"/>
          </a:xfrm>
        </p:grpSpPr>
        <p:pic>
          <p:nvPicPr>
            <p:cNvPr id="11" name="Picture 11"/>
            <p:cNvPicPr>
              <a:picLocks noChangeAspect="1"/>
            </p:cNvPicPr>
            <p:nvPr/>
          </p:nvPicPr>
          <p:blipFill>
            <a:blip r:embed="rId5"/>
            <a:srcRect/>
            <a:stretch>
              <a:fillRect/>
            </a:stretch>
          </p:blipFill>
          <p:spPr>
            <a:xfrm>
              <a:off x="7463045" y="1343025"/>
              <a:ext cx="3740149" cy="1960850"/>
            </a:xfrm>
            <a:prstGeom prst="rect">
              <a:avLst/>
            </a:prstGeom>
            <a:ln w="12700">
              <a:noFill/>
              <a:prstDash val="solid"/>
            </a:ln>
          </p:spPr>
        </p:pic>
        <p:sp>
          <p:nvSpPr>
            <p:cNvPr id="12" name="AutoShape 12"/>
            <p:cNvSpPr/>
            <p:nvPr/>
          </p:nvSpPr>
          <p:spPr>
            <a:xfrm>
              <a:off x="10516721" y="1374429"/>
              <a:ext cx="644848" cy="109629"/>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sp>
        <p:nvSpPr>
          <p:cNvPr id="13" name="AutoShape 13"/>
          <p:cNvSpPr/>
          <p:nvPr/>
        </p:nvSpPr>
        <p:spPr>
          <a:xfrm>
            <a:off x="7960788" y="3322541"/>
            <a:ext cx="2744662"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 CLOS Topology</a:t>
            </a:r>
            <a:endParaRPr lang="en-US" sz="1100"/>
          </a:p>
        </p:txBody>
      </p:sp>
      <p:pic>
        <p:nvPicPr>
          <p:cNvPr id="14" name="Picture 14"/>
          <p:cNvPicPr>
            <a:picLocks noChangeAspect="1"/>
          </p:cNvPicPr>
          <p:nvPr/>
        </p:nvPicPr>
        <p:blipFill>
          <a:blip r:embed="rId6"/>
          <a:srcRect/>
          <a:stretch>
            <a:fillRect/>
          </a:stretch>
        </p:blipFill>
        <p:spPr>
          <a:xfrm>
            <a:off x="7368928" y="3710539"/>
            <a:ext cx="3928383" cy="2209716"/>
          </a:xfrm>
          <a:prstGeom prst="rect">
            <a:avLst/>
          </a:prstGeom>
          <a:ln w="12700">
            <a:noFill/>
            <a:prstDash val="solid"/>
          </a:ln>
        </p:spPr>
      </p:pic>
      <p:sp>
        <p:nvSpPr>
          <p:cNvPr id="15" name="AutoShape 15"/>
          <p:cNvSpPr/>
          <p:nvPr/>
        </p:nvSpPr>
        <p:spPr>
          <a:xfrm>
            <a:off x="7680263" y="5759286"/>
            <a:ext cx="3305713"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HUAWEI NPU Full-mesh Topology</a:t>
            </a:r>
            <a:endParaRPr lang="en-US" sz="1100"/>
          </a:p>
        </p:txBody>
      </p:sp>
      <p:sp>
        <p:nvSpPr>
          <p:cNvPr id="16" name="AutoShape 16"/>
          <p:cNvSpPr/>
          <p:nvPr/>
        </p:nvSpPr>
        <p:spPr>
          <a:xfrm>
            <a:off x="4554466" y="2736607"/>
            <a:ext cx="2744663" cy="1827193"/>
          </a:xfrm>
          <a:prstGeom prst="rect">
            <a:avLst/>
          </a:prstGeom>
          <a:solidFill>
            <a:srgbClr val="DAE3F3">
              <a:alpha val="100000"/>
            </a:srgbClr>
          </a:solidFill>
          <a:ln w="12700">
            <a:noFill/>
            <a:prstDash val="solid"/>
          </a:ln>
        </p:spPr>
        <p:txBody>
          <a:bodyPr wrap="square" lIns="91440" tIns="45720" rIns="91440" bIns="45720" rtlCol="0" anchor="t">
            <a:spAutoFit/>
          </a:bodyPr>
          <a:lstStyle/>
          <a:p>
            <a:pPr indent="0" algn="ctr">
              <a:lnSpc>
                <a:spcPct val="100000"/>
              </a:lnSpc>
              <a:defRPr/>
            </a:pPr>
            <a:endParaRPr lang="en-US" sz="1100"/>
          </a:p>
          <a:p>
            <a:pPr indent="0" algn="ctr">
              <a:lnSpc>
                <a:spcPct val="100000"/>
              </a:lnSpc>
            </a:pPr>
          </a:p>
          <a:p>
            <a:pPr indent="0" algn="ctr">
              <a:lnSpc>
                <a:spcPct val="100000"/>
              </a:lnSpc>
            </a:p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2921874" y="3075677"/>
            <a:ext cx="6109138" cy="92333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The implementations </a:t>
            </a:r>
            <a:endParaRPr lang="en-US" sz="1100"/>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highly depends on </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the hardware topology  </a:t>
            </a:r>
            <a:endParaRPr lang="en-US" sz="18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Topologies in the modern AI systems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ieeexplore.ieee.org/document/6337589/"/>
              </a:rPr>
              <a:t>https://ieeexplore.ieee.org/document/6337589/</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ieeexplore.ieee.org/document/6337589/"/>
            </a:endParaRPr>
          </a:p>
        </p:txBody>
      </p:sp>
      <p:grpSp>
        <p:nvGrpSpPr>
          <p:cNvPr id="5" name="Group 5"/>
          <p:cNvGrpSpPr/>
          <p:nvPr/>
        </p:nvGrpSpPr>
        <p:grpSpPr>
          <a:xfrm>
            <a:off x="1253472" y="1275212"/>
            <a:ext cx="9166321" cy="4938480"/>
            <a:chOff x="1253472" y="1275212"/>
            <a:chExt cx="9166321" cy="4938480"/>
          </a:xfrm>
        </p:grpSpPr>
        <p:grpSp>
          <p:nvGrpSpPr>
            <p:cNvPr id="6" name="Group 6"/>
            <p:cNvGrpSpPr/>
            <p:nvPr/>
          </p:nvGrpSpPr>
          <p:grpSpPr>
            <a:xfrm>
              <a:off x="1347589" y="1327491"/>
              <a:ext cx="3740149" cy="1960850"/>
              <a:chOff x="1347589" y="1327491"/>
              <a:chExt cx="3740149" cy="1960850"/>
            </a:xfrm>
          </p:grpSpPr>
          <p:pic>
            <p:nvPicPr>
              <p:cNvPr id="7" name="Picture 7"/>
              <p:cNvPicPr>
                <a:picLocks noChangeAspect="1"/>
              </p:cNvPicPr>
              <p:nvPr/>
            </p:nvPicPr>
            <p:blipFill>
              <a:blip r:embed="rId2"/>
              <a:srcRect/>
              <a:stretch>
                <a:fillRect/>
              </a:stretch>
            </p:blipFill>
            <p:spPr>
              <a:xfrm>
                <a:off x="1347589" y="1327491"/>
                <a:ext cx="3740149" cy="1960850"/>
              </a:xfrm>
              <a:prstGeom prst="rect">
                <a:avLst/>
              </a:prstGeom>
              <a:ln w="12700">
                <a:noFill/>
                <a:prstDash val="solid"/>
              </a:ln>
            </p:spPr>
          </p:pic>
          <p:sp>
            <p:nvSpPr>
              <p:cNvPr id="8" name="AutoShape 8"/>
              <p:cNvSpPr/>
              <p:nvPr/>
            </p:nvSpPr>
            <p:spPr>
              <a:xfrm>
                <a:off x="4401265" y="1358895"/>
                <a:ext cx="644848" cy="109629"/>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sp>
          <p:nvSpPr>
            <p:cNvPr id="9" name="AutoShape 9"/>
            <p:cNvSpPr/>
            <p:nvPr/>
          </p:nvSpPr>
          <p:spPr>
            <a:xfrm>
              <a:off x="7033492" y="3237695"/>
              <a:ext cx="2878352"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GOOGLE TPU Torus Topology</a:t>
              </a:r>
              <a:endParaRPr lang="en-US" sz="1100"/>
            </a:p>
          </p:txBody>
        </p:sp>
        <p:pic>
          <p:nvPicPr>
            <p:cNvPr id="10" name="Picture 10"/>
            <p:cNvPicPr>
              <a:picLocks noChangeAspect="1"/>
            </p:cNvPicPr>
            <p:nvPr/>
          </p:nvPicPr>
          <p:blipFill>
            <a:blip r:embed="rId3"/>
            <a:srcRect/>
            <a:stretch>
              <a:fillRect/>
            </a:stretch>
          </p:blipFill>
          <p:spPr>
            <a:xfrm>
              <a:off x="1253472" y="3695005"/>
              <a:ext cx="3928383" cy="2209716"/>
            </a:xfrm>
            <a:prstGeom prst="rect">
              <a:avLst/>
            </a:prstGeom>
            <a:ln w="12700">
              <a:noFill/>
              <a:prstDash val="solid"/>
            </a:ln>
          </p:spPr>
        </p:pic>
        <p:sp>
          <p:nvSpPr>
            <p:cNvPr id="11" name="AutoShape 11"/>
            <p:cNvSpPr/>
            <p:nvPr/>
          </p:nvSpPr>
          <p:spPr>
            <a:xfrm>
              <a:off x="1564807" y="5743752"/>
              <a:ext cx="3305713"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HUAWEI NPU Full-mesh Topology</a:t>
              </a:r>
              <a:endParaRPr lang="en-US" sz="1100"/>
            </a:p>
          </p:txBody>
        </p:sp>
        <p:pic>
          <p:nvPicPr>
            <p:cNvPr id="12" name="Picture 12"/>
            <p:cNvPicPr>
              <a:picLocks noChangeAspect="1"/>
            </p:cNvPicPr>
            <p:nvPr/>
          </p:nvPicPr>
          <p:blipFill>
            <a:blip r:embed="rId4"/>
            <a:srcRect/>
            <a:stretch>
              <a:fillRect/>
            </a:stretch>
          </p:blipFill>
          <p:spPr>
            <a:xfrm>
              <a:off x="6525543" y="1275212"/>
              <a:ext cx="3894250" cy="2013129"/>
            </a:xfrm>
            <a:prstGeom prst="rect">
              <a:avLst/>
            </a:prstGeom>
            <a:ln w="12700">
              <a:noFill/>
              <a:prstDash val="solid"/>
            </a:ln>
          </p:spPr>
        </p:pic>
        <p:sp>
          <p:nvSpPr>
            <p:cNvPr id="13" name="AutoShape 13"/>
            <p:cNvSpPr/>
            <p:nvPr/>
          </p:nvSpPr>
          <p:spPr>
            <a:xfrm>
              <a:off x="1887651" y="3288341"/>
              <a:ext cx="2660024"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NVIDIA GPU Clos Topology</a:t>
              </a:r>
              <a:endParaRPr lang="en-US" sz="1100"/>
            </a:p>
          </p:txBody>
        </p:sp>
        <p:pic>
          <p:nvPicPr>
            <p:cNvPr id="14" name="Picture 14"/>
            <p:cNvPicPr>
              <a:picLocks noChangeAspect="1"/>
            </p:cNvPicPr>
            <p:nvPr/>
          </p:nvPicPr>
          <p:blipFill>
            <a:blip r:embed="rId5"/>
            <a:srcRect/>
            <a:stretch>
              <a:fillRect/>
            </a:stretch>
          </p:blipFill>
          <p:spPr>
            <a:xfrm>
              <a:off x="7258601" y="3607027"/>
              <a:ext cx="2978023" cy="2250947"/>
            </a:xfrm>
            <a:prstGeom prst="rect">
              <a:avLst/>
            </a:prstGeom>
            <a:ln w="12700">
              <a:noFill/>
              <a:prstDash val="solid"/>
            </a:ln>
          </p:spPr>
        </p:pic>
        <p:sp>
          <p:nvSpPr>
            <p:cNvPr id="15" name="AutoShape 15"/>
            <p:cNvSpPr/>
            <p:nvPr/>
          </p:nvSpPr>
          <p:spPr>
            <a:xfrm>
              <a:off x="7478327" y="5844360"/>
              <a:ext cx="1988686" cy="369332"/>
            </a:xfrm>
            <a:prstGeom prst="rect">
              <a:avLst/>
            </a:prstGeom>
            <a:no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Dragonfly Topology</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93877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Start from a naive implementation with root rank = 0.</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 transfer volume: 2 * (N-1) * 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There are three disadvantages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bandwidth and computation of Rank 0 become bottleneck.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There are many idle resources during the allreduce (Rank 1 – N-1).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Poor scalability and lacks the consideration of topology.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can we improve it?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Scatter the data transfer and computation workload to all of the ranks.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Solutions: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Tree-based, ring-based, halving-doubling,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535217" y="1402079"/>
            <a:ext cx="3581217" cy="387134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Tree-based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Build a hierarchical relation with the root of tree (Rank 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Bottom-up Reduce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Top-down Broadcast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415906" y="1261379"/>
            <a:ext cx="3394047" cy="5094972"/>
          </a:xfrm>
          <a:prstGeom prst="rect">
            <a:avLst/>
          </a:prstGeom>
          <a:ln w="12700">
            <a:noFill/>
            <a:prstDash val="solid"/>
          </a:ln>
        </p:spPr>
      </p:pic>
      <p:sp>
        <p:nvSpPr>
          <p:cNvPr id="7" name="AutoShape 7"/>
          <p:cNvSpPr/>
          <p:nvPr/>
        </p:nvSpPr>
        <p:spPr>
          <a:xfrm>
            <a:off x="1107164"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0</a:t>
            </a:r>
            <a:endParaRPr lang="en-US" sz="1100"/>
          </a:p>
        </p:txBody>
      </p:sp>
      <p:sp>
        <p:nvSpPr>
          <p:cNvPr id="8" name="AutoShape 8"/>
          <p:cNvSpPr/>
          <p:nvPr/>
        </p:nvSpPr>
        <p:spPr>
          <a:xfrm>
            <a:off x="19696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9" name="AutoShape 9"/>
          <p:cNvSpPr/>
          <p:nvPr/>
        </p:nvSpPr>
        <p:spPr>
          <a:xfrm>
            <a:off x="28369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0" name="AutoShape 10"/>
          <p:cNvSpPr/>
          <p:nvPr/>
        </p:nvSpPr>
        <p:spPr>
          <a:xfrm>
            <a:off x="3694652"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1" name="AutoShape 11"/>
          <p:cNvSpPr/>
          <p:nvPr/>
        </p:nvSpPr>
        <p:spPr>
          <a:xfrm>
            <a:off x="4552344"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12" name="AutoShape 12"/>
          <p:cNvSpPr/>
          <p:nvPr/>
        </p:nvSpPr>
        <p:spPr>
          <a:xfrm>
            <a:off x="5410036"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13" name="AutoShape 13"/>
          <p:cNvSpPr/>
          <p:nvPr/>
        </p:nvSpPr>
        <p:spPr>
          <a:xfrm>
            <a:off x="6267728"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14" name="AutoShape 14"/>
          <p:cNvSpPr/>
          <p:nvPr/>
        </p:nvSpPr>
        <p:spPr>
          <a:xfrm>
            <a:off x="712542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cxnSp>
        <p:nvCxnSpPr>
          <p:cNvPr id="15" name="Connector 15"/>
          <p:cNvCxnSpPr/>
          <p:nvPr/>
        </p:nvCxnSpPr>
        <p:spPr>
          <a:xfrm rot="5400000">
            <a:off x="1969660" y="3251752"/>
            <a:ext cx="12700" cy="862496"/>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16" name="Connector 16"/>
          <p:cNvCxnSpPr/>
          <p:nvPr/>
        </p:nvCxnSpPr>
        <p:spPr>
          <a:xfrm rot="5400000">
            <a:off x="3697054" y="3254154"/>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17" name="Connector 17"/>
          <p:cNvCxnSpPr/>
          <p:nvPr/>
        </p:nvCxnSpPr>
        <p:spPr>
          <a:xfrm rot="5400000">
            <a:off x="5412438" y="3254154"/>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18" name="Connector 18"/>
          <p:cNvCxnSpPr/>
          <p:nvPr/>
        </p:nvCxnSpPr>
        <p:spPr>
          <a:xfrm rot="5400000">
            <a:off x="7127822" y="3254154"/>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19" name="AutoShape 19"/>
          <p:cNvSpPr/>
          <p:nvPr/>
        </p:nvSpPr>
        <p:spPr>
          <a:xfrm>
            <a:off x="1107164"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20" name="AutoShape 20"/>
          <p:cNvSpPr/>
          <p:nvPr/>
        </p:nvSpPr>
        <p:spPr>
          <a:xfrm>
            <a:off x="1969660"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21" name="AutoShape 21"/>
          <p:cNvSpPr/>
          <p:nvPr/>
        </p:nvSpPr>
        <p:spPr>
          <a:xfrm>
            <a:off x="2836960"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2+3</a:t>
            </a:r>
            <a:endParaRPr lang="en-US" sz="1100"/>
          </a:p>
        </p:txBody>
      </p:sp>
      <p:sp>
        <p:nvSpPr>
          <p:cNvPr id="22" name="AutoShape 22"/>
          <p:cNvSpPr/>
          <p:nvPr/>
        </p:nvSpPr>
        <p:spPr>
          <a:xfrm>
            <a:off x="3694652"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23" name="AutoShape 23"/>
          <p:cNvSpPr/>
          <p:nvPr/>
        </p:nvSpPr>
        <p:spPr>
          <a:xfrm>
            <a:off x="4552344"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4+5</a:t>
            </a:r>
            <a:endParaRPr lang="en-US" sz="1100"/>
          </a:p>
        </p:txBody>
      </p:sp>
      <p:sp>
        <p:nvSpPr>
          <p:cNvPr id="24" name="AutoShape 24"/>
          <p:cNvSpPr/>
          <p:nvPr/>
        </p:nvSpPr>
        <p:spPr>
          <a:xfrm>
            <a:off x="5410036"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25" name="AutoShape 25"/>
          <p:cNvSpPr/>
          <p:nvPr/>
        </p:nvSpPr>
        <p:spPr>
          <a:xfrm>
            <a:off x="6267728"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6+7</a:t>
            </a:r>
            <a:endParaRPr lang="en-US" sz="1100"/>
          </a:p>
        </p:txBody>
      </p:sp>
      <p:sp>
        <p:nvSpPr>
          <p:cNvPr id="26" name="AutoShape 26"/>
          <p:cNvSpPr/>
          <p:nvPr/>
        </p:nvSpPr>
        <p:spPr>
          <a:xfrm>
            <a:off x="7125420" y="415036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cxnSp>
        <p:nvCxnSpPr>
          <p:cNvPr id="27" name="Connector 27"/>
          <p:cNvCxnSpPr/>
          <p:nvPr/>
        </p:nvCxnSpPr>
        <p:spPr>
          <a:xfrm rot="5400000">
            <a:off x="2403310" y="3539462"/>
            <a:ext cx="12700" cy="1729796"/>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28" name="Connector 28"/>
          <p:cNvCxnSpPr/>
          <p:nvPr/>
        </p:nvCxnSpPr>
        <p:spPr>
          <a:xfrm rot="5400000">
            <a:off x="5841284" y="3546668"/>
            <a:ext cx="12700" cy="1715384"/>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29" name="AutoShape 29"/>
          <p:cNvSpPr/>
          <p:nvPr/>
        </p:nvSpPr>
        <p:spPr>
          <a:xfrm>
            <a:off x="1082959" y="3030974"/>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Rank 0            </a:t>
            </a:r>
            <a:endParaRPr lang="en-US" sz="1100"/>
          </a:p>
        </p:txBody>
      </p:sp>
      <p:sp>
        <p:nvSpPr>
          <p:cNvPr id="30" name="AutoShape 30"/>
          <p:cNvSpPr/>
          <p:nvPr/>
        </p:nvSpPr>
        <p:spPr>
          <a:xfrm>
            <a:off x="7036427" y="3025156"/>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Rank 7            </a:t>
            </a:r>
            <a:endParaRPr lang="en-US" sz="1100"/>
          </a:p>
        </p:txBody>
      </p:sp>
      <p:sp>
        <p:nvSpPr>
          <p:cNvPr id="31" name="AutoShape 31"/>
          <p:cNvSpPr/>
          <p:nvPr/>
        </p:nvSpPr>
        <p:spPr>
          <a:xfrm>
            <a:off x="-28704" y="4586495"/>
            <a:ext cx="1040481" cy="646331"/>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S1 Reduce</a:t>
            </a:r>
            <a:endParaRPr lang="en-US" sz="1100"/>
          </a:p>
        </p:txBody>
      </p:sp>
      <p:sp>
        <p:nvSpPr>
          <p:cNvPr id="32" name="AutoShape 32"/>
          <p:cNvSpPr/>
          <p:nvPr/>
        </p:nvSpPr>
        <p:spPr>
          <a:xfrm>
            <a:off x="1102360"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0+1+2+3</a:t>
            </a:r>
            <a:endParaRPr lang="en-US" sz="1100"/>
          </a:p>
        </p:txBody>
      </p:sp>
      <p:sp>
        <p:nvSpPr>
          <p:cNvPr id="33" name="AutoShape 33"/>
          <p:cNvSpPr/>
          <p:nvPr/>
        </p:nvSpPr>
        <p:spPr>
          <a:xfrm>
            <a:off x="1964856"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34" name="AutoShape 34"/>
          <p:cNvSpPr/>
          <p:nvPr/>
        </p:nvSpPr>
        <p:spPr>
          <a:xfrm>
            <a:off x="2832156"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2+3</a:t>
            </a:r>
            <a:endParaRPr lang="en-US" sz="1100"/>
          </a:p>
        </p:txBody>
      </p:sp>
      <p:sp>
        <p:nvSpPr>
          <p:cNvPr id="35" name="AutoShape 35"/>
          <p:cNvSpPr/>
          <p:nvPr/>
        </p:nvSpPr>
        <p:spPr>
          <a:xfrm>
            <a:off x="3689848"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36" name="AutoShape 36"/>
          <p:cNvSpPr/>
          <p:nvPr/>
        </p:nvSpPr>
        <p:spPr>
          <a:xfrm>
            <a:off x="4547540"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4+5+6+7</a:t>
            </a:r>
            <a:endParaRPr lang="en-US" sz="1100"/>
          </a:p>
        </p:txBody>
      </p:sp>
      <p:sp>
        <p:nvSpPr>
          <p:cNvPr id="37" name="AutoShape 37"/>
          <p:cNvSpPr/>
          <p:nvPr/>
        </p:nvSpPr>
        <p:spPr>
          <a:xfrm>
            <a:off x="5405232"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38" name="AutoShape 38"/>
          <p:cNvSpPr/>
          <p:nvPr/>
        </p:nvSpPr>
        <p:spPr>
          <a:xfrm>
            <a:off x="6262924"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6+7</a:t>
            </a:r>
            <a:endParaRPr lang="en-US" sz="1100"/>
          </a:p>
        </p:txBody>
      </p:sp>
      <p:sp>
        <p:nvSpPr>
          <p:cNvPr id="39" name="AutoShape 39"/>
          <p:cNvSpPr/>
          <p:nvPr/>
        </p:nvSpPr>
        <p:spPr>
          <a:xfrm>
            <a:off x="7120616" y="490966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cxnSp>
        <p:nvCxnSpPr>
          <p:cNvPr id="40" name="Connector 40"/>
          <p:cNvCxnSpPr/>
          <p:nvPr/>
        </p:nvCxnSpPr>
        <p:spPr>
          <a:xfrm rot="5400000">
            <a:off x="3256198" y="3441071"/>
            <a:ext cx="12700" cy="344518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41" name="AutoShape 41"/>
          <p:cNvSpPr/>
          <p:nvPr/>
        </p:nvSpPr>
        <p:spPr>
          <a:xfrm>
            <a:off x="11023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2" name="AutoShape 42"/>
          <p:cNvSpPr/>
          <p:nvPr/>
        </p:nvSpPr>
        <p:spPr>
          <a:xfrm>
            <a:off x="1964856"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43" name="AutoShape 43"/>
          <p:cNvSpPr/>
          <p:nvPr/>
        </p:nvSpPr>
        <p:spPr>
          <a:xfrm>
            <a:off x="2832156"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2+3</a:t>
            </a:r>
            <a:endParaRPr lang="en-US" sz="1100"/>
          </a:p>
        </p:txBody>
      </p:sp>
      <p:sp>
        <p:nvSpPr>
          <p:cNvPr id="44" name="AutoShape 44"/>
          <p:cNvSpPr/>
          <p:nvPr/>
        </p:nvSpPr>
        <p:spPr>
          <a:xfrm>
            <a:off x="3689848"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45" name="AutoShape 45"/>
          <p:cNvSpPr/>
          <p:nvPr/>
        </p:nvSpPr>
        <p:spPr>
          <a:xfrm>
            <a:off x="4547540"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4+5+6+7</a:t>
            </a:r>
            <a:endParaRPr lang="en-US" sz="1100"/>
          </a:p>
        </p:txBody>
      </p:sp>
      <p:sp>
        <p:nvSpPr>
          <p:cNvPr id="46" name="AutoShape 46"/>
          <p:cNvSpPr/>
          <p:nvPr/>
        </p:nvSpPr>
        <p:spPr>
          <a:xfrm>
            <a:off x="5405232"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47" name="AutoShape 47"/>
          <p:cNvSpPr/>
          <p:nvPr/>
        </p:nvSpPr>
        <p:spPr>
          <a:xfrm>
            <a:off x="6262924"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6+7</a:t>
            </a:r>
            <a:endParaRPr lang="en-US" sz="1100"/>
          </a:p>
        </p:txBody>
      </p:sp>
      <p:sp>
        <p:nvSpPr>
          <p:cNvPr id="48" name="AutoShape 48"/>
          <p:cNvSpPr/>
          <p:nvPr/>
        </p:nvSpPr>
        <p:spPr>
          <a:xfrm>
            <a:off x="7120616" y="5661025"/>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Tree-based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Build a hierarchical relation with the root of tree (Rank 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Bottom-up Reduce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Top-down Broadcast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415906" y="1261379"/>
            <a:ext cx="3394047" cy="5094972"/>
          </a:xfrm>
          <a:prstGeom prst="rect">
            <a:avLst/>
          </a:prstGeom>
          <a:ln w="12700">
            <a:noFill/>
            <a:prstDash val="solid"/>
          </a:ln>
        </p:spPr>
      </p:pic>
      <p:sp>
        <p:nvSpPr>
          <p:cNvPr id="7" name="AutoShape 7"/>
          <p:cNvSpPr/>
          <p:nvPr/>
        </p:nvSpPr>
        <p:spPr>
          <a:xfrm>
            <a:off x="19696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8" name="AutoShape 8"/>
          <p:cNvSpPr/>
          <p:nvPr/>
        </p:nvSpPr>
        <p:spPr>
          <a:xfrm>
            <a:off x="283696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9" name="AutoShape 9"/>
          <p:cNvSpPr/>
          <p:nvPr/>
        </p:nvSpPr>
        <p:spPr>
          <a:xfrm>
            <a:off x="3694652"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0" name="AutoShape 10"/>
          <p:cNvSpPr/>
          <p:nvPr/>
        </p:nvSpPr>
        <p:spPr>
          <a:xfrm>
            <a:off x="4552344"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11" name="AutoShape 11"/>
          <p:cNvSpPr/>
          <p:nvPr/>
        </p:nvSpPr>
        <p:spPr>
          <a:xfrm>
            <a:off x="5410036"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12" name="AutoShape 12"/>
          <p:cNvSpPr/>
          <p:nvPr/>
        </p:nvSpPr>
        <p:spPr>
          <a:xfrm>
            <a:off x="6267728"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13" name="AutoShape 13"/>
          <p:cNvSpPr/>
          <p:nvPr/>
        </p:nvSpPr>
        <p:spPr>
          <a:xfrm>
            <a:off x="7125420" y="3429000"/>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sp>
        <p:nvSpPr>
          <p:cNvPr id="14" name="AutoShape 14"/>
          <p:cNvSpPr/>
          <p:nvPr/>
        </p:nvSpPr>
        <p:spPr>
          <a:xfrm>
            <a:off x="1082959" y="3030974"/>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Rank 0            </a:t>
            </a:r>
            <a:endParaRPr lang="en-US" sz="1100"/>
          </a:p>
        </p:txBody>
      </p:sp>
      <p:sp>
        <p:nvSpPr>
          <p:cNvPr id="15" name="AutoShape 15"/>
          <p:cNvSpPr/>
          <p:nvPr/>
        </p:nvSpPr>
        <p:spPr>
          <a:xfrm>
            <a:off x="7036427" y="3025156"/>
            <a:ext cx="1040481" cy="369332"/>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Rank 7            </a:t>
            </a:r>
            <a:endParaRPr lang="en-US" sz="1100"/>
          </a:p>
        </p:txBody>
      </p:sp>
      <p:sp>
        <p:nvSpPr>
          <p:cNvPr id="16" name="AutoShape 16"/>
          <p:cNvSpPr/>
          <p:nvPr/>
        </p:nvSpPr>
        <p:spPr>
          <a:xfrm>
            <a:off x="-82861" y="4603248"/>
            <a:ext cx="1240089" cy="646331"/>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S2 Broadcast</a:t>
            </a:r>
            <a:endParaRPr lang="en-US" sz="1100"/>
          </a:p>
        </p:txBody>
      </p:sp>
      <p:cxnSp>
        <p:nvCxnSpPr>
          <p:cNvPr id="17" name="Connector 17"/>
          <p:cNvCxnSpPr/>
          <p:nvPr/>
        </p:nvCxnSpPr>
        <p:spPr>
          <a:xfrm rot="5400000" flipV="1">
            <a:off x="3258600" y="1958008"/>
            <a:ext cx="12700" cy="3449984"/>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18" name="AutoShape 18"/>
          <p:cNvSpPr/>
          <p:nvPr/>
        </p:nvSpPr>
        <p:spPr>
          <a:xfrm>
            <a:off x="11023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19" name="AutoShape 19"/>
          <p:cNvSpPr/>
          <p:nvPr/>
        </p:nvSpPr>
        <p:spPr>
          <a:xfrm>
            <a:off x="1102360" y="3429000"/>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20" name="AutoShape 20"/>
          <p:cNvSpPr/>
          <p:nvPr/>
        </p:nvSpPr>
        <p:spPr>
          <a:xfrm>
            <a:off x="1964856"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21" name="AutoShape 21"/>
          <p:cNvSpPr/>
          <p:nvPr/>
        </p:nvSpPr>
        <p:spPr>
          <a:xfrm>
            <a:off x="2832156"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22" name="AutoShape 22"/>
          <p:cNvSpPr/>
          <p:nvPr/>
        </p:nvSpPr>
        <p:spPr>
          <a:xfrm>
            <a:off x="3689848"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23" name="AutoShape 23"/>
          <p:cNvSpPr/>
          <p:nvPr/>
        </p:nvSpPr>
        <p:spPr>
          <a:xfrm>
            <a:off x="5405232"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24" name="AutoShape 24"/>
          <p:cNvSpPr/>
          <p:nvPr/>
        </p:nvSpPr>
        <p:spPr>
          <a:xfrm>
            <a:off x="6262924"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6</a:t>
            </a:r>
            <a:endParaRPr lang="en-US" sz="1100"/>
          </a:p>
        </p:txBody>
      </p:sp>
      <p:sp>
        <p:nvSpPr>
          <p:cNvPr id="25" name="AutoShape 25"/>
          <p:cNvSpPr/>
          <p:nvPr/>
        </p:nvSpPr>
        <p:spPr>
          <a:xfrm>
            <a:off x="7120616" y="4157827"/>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cxnSp>
        <p:nvCxnSpPr>
          <p:cNvPr id="26" name="Connector 26"/>
          <p:cNvCxnSpPr/>
          <p:nvPr/>
        </p:nvCxnSpPr>
        <p:spPr>
          <a:xfrm rot="5400000" flipV="1">
            <a:off x="2396104" y="3544527"/>
            <a:ext cx="12700" cy="173460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27" name="AutoShape 27"/>
          <p:cNvSpPr/>
          <p:nvPr/>
        </p:nvSpPr>
        <p:spPr>
          <a:xfrm>
            <a:off x="1097556" y="4157827"/>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28" name="AutoShape 28"/>
          <p:cNvSpPr/>
          <p:nvPr/>
        </p:nvSpPr>
        <p:spPr>
          <a:xfrm>
            <a:off x="4556292" y="4157827"/>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cxnSp>
        <p:nvCxnSpPr>
          <p:cNvPr id="29" name="Connector 29"/>
          <p:cNvCxnSpPr/>
          <p:nvPr/>
        </p:nvCxnSpPr>
        <p:spPr>
          <a:xfrm rot="5400000" flipV="1">
            <a:off x="5840856" y="3558511"/>
            <a:ext cx="12700" cy="170663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30" name="AutoShape 30"/>
          <p:cNvSpPr/>
          <p:nvPr/>
        </p:nvSpPr>
        <p:spPr>
          <a:xfrm>
            <a:off x="1971206"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31" name="AutoShape 31"/>
          <p:cNvSpPr/>
          <p:nvPr/>
        </p:nvSpPr>
        <p:spPr>
          <a:xfrm>
            <a:off x="2838506"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32" name="AutoShape 32"/>
          <p:cNvSpPr/>
          <p:nvPr/>
        </p:nvSpPr>
        <p:spPr>
          <a:xfrm>
            <a:off x="3696198"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33" name="AutoShape 33"/>
          <p:cNvSpPr/>
          <p:nvPr/>
        </p:nvSpPr>
        <p:spPr>
          <a:xfrm>
            <a:off x="5411582"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5</a:t>
            </a:r>
            <a:endParaRPr lang="en-US" sz="1100"/>
          </a:p>
        </p:txBody>
      </p:sp>
      <p:sp>
        <p:nvSpPr>
          <p:cNvPr id="34" name="AutoShape 34"/>
          <p:cNvSpPr/>
          <p:nvPr/>
        </p:nvSpPr>
        <p:spPr>
          <a:xfrm>
            <a:off x="6269274"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35" name="AutoShape 35"/>
          <p:cNvSpPr/>
          <p:nvPr/>
        </p:nvSpPr>
        <p:spPr>
          <a:xfrm>
            <a:off x="7126966" y="4904831"/>
            <a:ext cx="862496" cy="254000"/>
          </a:xfrm>
          <a:prstGeom prst="rect">
            <a:avLst/>
          </a:prstGeom>
          <a:solidFill>
            <a:srgbClr val="D0CECE">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7</a:t>
            </a:r>
            <a:endParaRPr lang="en-US" sz="1100"/>
          </a:p>
        </p:txBody>
      </p:sp>
      <p:cxnSp>
        <p:nvCxnSpPr>
          <p:cNvPr id="36" name="Connector 36"/>
          <p:cNvCxnSpPr/>
          <p:nvPr/>
        </p:nvCxnSpPr>
        <p:spPr>
          <a:xfrm rot="5400000" flipV="1">
            <a:off x="1968804" y="4725181"/>
            <a:ext cx="12700" cy="86730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37" name="AutoShape 37"/>
          <p:cNvSpPr/>
          <p:nvPr/>
        </p:nvSpPr>
        <p:spPr>
          <a:xfrm>
            <a:off x="1103906"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38" name="AutoShape 38"/>
          <p:cNvSpPr/>
          <p:nvPr/>
        </p:nvSpPr>
        <p:spPr>
          <a:xfrm>
            <a:off x="4562642" y="4904831"/>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cxnSp>
        <p:nvCxnSpPr>
          <p:cNvPr id="39" name="Connector 39"/>
          <p:cNvCxnSpPr/>
          <p:nvPr/>
        </p:nvCxnSpPr>
        <p:spPr>
          <a:xfrm rot="5400000" flipV="1">
            <a:off x="5418360" y="4734361"/>
            <a:ext cx="12700" cy="848940"/>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40" name="Connector 40"/>
          <p:cNvCxnSpPr/>
          <p:nvPr/>
        </p:nvCxnSpPr>
        <p:spPr>
          <a:xfrm rot="5400000" flipV="1">
            <a:off x="3698600" y="4729985"/>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cxnSp>
        <p:nvCxnSpPr>
          <p:cNvPr id="41" name="Connector 41"/>
          <p:cNvCxnSpPr/>
          <p:nvPr/>
        </p:nvCxnSpPr>
        <p:spPr>
          <a:xfrm rot="5400000" flipV="1">
            <a:off x="7129368" y="4729985"/>
            <a:ext cx="12700" cy="857692"/>
          </a:xfrm>
          <a:prstGeom prst="curvedConnector3">
            <a:avLst>
              <a:gd name="adj1" fmla="val 1800000"/>
            </a:avLst>
          </a:prstGeom>
          <a:noFill/>
          <a:ln w="12700" cap="flat">
            <a:solidFill>
              <a:srgbClr val="4472C4">
                <a:alpha val="100000"/>
              </a:srgbClr>
            </a:solidFill>
            <a:prstDash val="solid"/>
            <a:headEnd type="none" w="med" len="med"/>
            <a:tailEnd type="triangle" w="med" len="med"/>
          </a:ln>
        </p:spPr>
      </p:cxnSp>
      <p:sp>
        <p:nvSpPr>
          <p:cNvPr id="42" name="AutoShape 42"/>
          <p:cNvSpPr/>
          <p:nvPr/>
        </p:nvSpPr>
        <p:spPr>
          <a:xfrm>
            <a:off x="19634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3" name="AutoShape 43"/>
          <p:cNvSpPr/>
          <p:nvPr/>
        </p:nvSpPr>
        <p:spPr>
          <a:xfrm>
            <a:off x="28245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4" name="AutoShape 44"/>
          <p:cNvSpPr/>
          <p:nvPr/>
        </p:nvSpPr>
        <p:spPr>
          <a:xfrm>
            <a:off x="36856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5" name="AutoShape 45"/>
          <p:cNvSpPr/>
          <p:nvPr/>
        </p:nvSpPr>
        <p:spPr>
          <a:xfrm>
            <a:off x="45467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6" name="AutoShape 46"/>
          <p:cNvSpPr/>
          <p:nvPr/>
        </p:nvSpPr>
        <p:spPr>
          <a:xfrm>
            <a:off x="54078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7" name="AutoShape 47"/>
          <p:cNvSpPr/>
          <p:nvPr/>
        </p:nvSpPr>
        <p:spPr>
          <a:xfrm>
            <a:off x="6268960"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
        <p:nvSpPr>
          <p:cNvPr id="48" name="AutoShape 48"/>
          <p:cNvSpPr/>
          <p:nvPr/>
        </p:nvSpPr>
        <p:spPr>
          <a:xfrm>
            <a:off x="7130058" y="5661025"/>
            <a:ext cx="862496" cy="254000"/>
          </a:xfrm>
          <a:prstGeom prst="rect">
            <a:avLst/>
          </a:prstGeom>
          <a:solidFill>
            <a:srgbClr val="44546A">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SUM(0,7)</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Tree-based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Build a hierarchical relation with the root of tree (Rank 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Bottom-up Reduce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Top-down Broadcast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Parallel data transfer and reduce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Logarithmic complexity (the naive version has linear complexity).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excels with small data sizes because of the low latency.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Disadvantages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still has idle computing and bandwidth resources.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Further Opt: Double Binary Tree (NCCL)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415906" y="1261379"/>
            <a:ext cx="3394047" cy="50949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712075" y="1292225"/>
            <a:ext cx="4089400" cy="51181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452129" y="3020290"/>
            <a:ext cx="3763055" cy="296487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1405" y="2861359"/>
            <a:ext cx="5908778" cy="3543847"/>
          </a:xfrm>
          <a:prstGeom prst="rect">
            <a:avLst/>
          </a:prstGeom>
          <a:ln w="12700">
            <a:noFill/>
            <a:prstDash val="solid"/>
          </a:ln>
        </p:spPr>
      </p:pic>
      <p:sp>
        <p:nvSpPr>
          <p:cNvPr id="8" name="AutoShape 8"/>
          <p:cNvSpPr/>
          <p:nvPr/>
        </p:nvSpPr>
        <p:spPr>
          <a:xfrm>
            <a:off x="110837" y="2649552"/>
            <a:ext cx="3236784"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1" u="none" strike="noStrike">
                <a:solidFill>
                  <a:srgbClr val="000000"/>
                </a:solidFill>
                <a:latin typeface="Arial" panose="020B0604020202020204"/>
                <a:ea typeface="Arial" panose="020B0604020202020204"/>
                <a:cs typeface="Arial" panose="020B0604020202020204"/>
                <a:sym typeface="Arial" panose="020B0604020202020204"/>
              </a:rPr>
              <a:t>Split the data with N partitions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1404" y="2548808"/>
            <a:ext cx="5919650" cy="41286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1403" y="2552707"/>
            <a:ext cx="5919649" cy="4262147"/>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1403" y="2548375"/>
            <a:ext cx="5919649" cy="4157516"/>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1403" y="2571659"/>
            <a:ext cx="5958976" cy="4160785"/>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602265" y="2538665"/>
            <a:ext cx="6098114" cy="4286341"/>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91642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Quantitative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 Transfer Volume: 2 * (N-1) * K / 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Overall Time: 2 * (N-1) * alpha + 2 * (N-1) * K / N / beta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Tree-based AllReduce Time : 2 * log(N) * (alpha + K / beta)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alpha: latency; beta: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 Optimal bandwidth utilization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8097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Ring-based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Iterative Reduce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Iterative Gather with N-1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Quantitative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Data Transfer Volume: 2 * (N-1) * K / 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Overall Time: 2 * (N-1) * alpha + 2 * (N-1) * K / N / beta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Tree-based AllReduce Time : 2 * log(N) * (alpha + K / beta)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alpha: latency; beta: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 Optimal bandwidth utilization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550532" y="1090396"/>
            <a:ext cx="4250942" cy="5320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www.semanticscholar.org/paper/Optimization-of-Collective-Reduction-Operations-Rabenseifner/e2584fdc3f9e696423d96522038f3fa35137ab92"/>
              </a:rPr>
              <a:t>https://www.semanticscholar.org/paper/Optimization-of-Collective-Reduction-Operations-Rabenseifner/e2584fdc3f9e696423d96522038f3fa35137ab92</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Halving-doubling AllReduce Algorithm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1: Recursive halving reduce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Stage 2: Recursive doubling gather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2157845" y="2760460"/>
            <a:ext cx="7876309" cy="360792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 AllReduce as an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Comparisons among ring-based, tree-based, and halving-doubling Allreduce algorithms.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Modern CCLs can select an efficient strategy according to the topology and the communication domain.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887649" y="3110288"/>
          <a:ext cx="10767580" cy="1786428"/>
        </p:xfrm>
        <a:graphic>
          <a:graphicData uri="http://schemas.openxmlformats.org/drawingml/2006/table">
            <a:tbl>
              <a:tblPr>
                <a:effectLst/>
              </a:tblPr>
              <a:tblGrid>
                <a:gridCol w="2153516"/>
                <a:gridCol w="2153516"/>
                <a:gridCol w="2153516"/>
                <a:gridCol w="2153516"/>
                <a:gridCol w="2153516"/>
              </a:tblGrid>
              <a:tr h="446607">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Algorithm</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Steps (Complexity)</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Latency</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Bandwidth Efficiency</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Ideal Data Size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FC000">
                        <a:alpha val="100000"/>
                      </a:srgbClr>
                    </a:solidFill>
                  </a:tcPr>
                </a:tc>
              </a:tr>
              <a:tr h="446607">
                <a:tc>
                  <a:txBody>
                    <a:bodyPr rtlCol="0"/>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Ring-based</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High</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Optimal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Large Data (&gt; 64MB)</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r>
              <a:tr h="446607">
                <a:tc>
                  <a:txBody>
                    <a:bodyPr rtlCol="0"/>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Tree-based</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O(log 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Lowest</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Moderate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Small-Medium (&lt; 16MB)</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r>
              <a:tr h="446607">
                <a:tc>
                  <a:txBody>
                    <a:bodyPr rtlCol="0"/>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Halving-Doubling</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O(log 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Low</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Moderate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c>
                  <a:txBody>
                    <a:bodyPr rtlCol="0"/>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Very Small (&lt; 1MB)</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0" cap="flat" cmpd="sng" algn="ctr">
                      <a:prstDash val="solid"/>
                      <a:round/>
                      <a:headEnd type="none" w="med" len="med"/>
                      <a:tailEnd type="none" w="med" len="med"/>
                    </a:lnB>
                    <a:solidFill>
                      <a:srgbClr val="F0F0F0">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Besides, the protocol designs are also important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https://arxiv.org/pdf/2507.04786v1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Take NCCL as an 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582624" y="1797890"/>
            <a:ext cx="3907249" cy="259084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57937" y="1780207"/>
            <a:ext cx="3907249" cy="2256069"/>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2127105" y="4282458"/>
            <a:ext cx="7937790" cy="250313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Besides, the protocol designs are also important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https://arxiv.org/pdf/2507.04786v1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Take NCCL as an 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79951" y="1800977"/>
            <a:ext cx="10023578" cy="45553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33: Model Parallelism III</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(Hybrid Parallelism)</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Hybrid Parallelism</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3D Parallelism</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5D Parallelism</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Automatic Model Parallelism</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FlexFLow</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Alpa</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Etc.</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algn="ct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Mathematical Orthogonality of Hybrid Parallelism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https://www.microsoft.com/en-us/research/blog/deepspeed-extreme-scale-model-training-for-everyone/</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225540" cy="4853305"/>
          </a:xfrm>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Orthogonal Axes: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DP (batch), TP (intra-layer/hidden dims), PP (inter-layer/depth).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Scaling Wall: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Isolated paradigms fail. DP hits memory limits; TP hits network bottlenecks; PP requires massive micro-batches, exploding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Resource Scaling:</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Multiplicative combination: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Synergy:</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TP reduces layer memory -&gt; fits larger micro-batches -&gt; lowers PP bubble ratio.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51135" y="2053836"/>
            <a:ext cx="5329743" cy="307823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3D Parallelism System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Hardware Symbiosis: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Nests DP, PP, and TP to match data center topologies.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Inner Loop (TP):</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Confined to a single node via NVLink for heavy MatMul communication.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Intermediate Loop (PP):</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Scales across nodes via RDMA for low-bandwidth stage boundaries.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Outer Loop (DP):</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Wraps TP+PP logically, scaling globally for massive batch throughput.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639763" y="3553431"/>
          <a:ext cx="10912474" cy="2713226"/>
        </p:xfrm>
        <a:graphic>
          <a:graphicData uri="http://schemas.openxmlformats.org/drawingml/2006/table">
            <a:tbl>
              <a:tblPr>
                <a:effectLst/>
              </a:tblPr>
              <a:tblGrid>
                <a:gridCol w="2081780"/>
                <a:gridCol w="3374457"/>
                <a:gridCol w="2816374"/>
                <a:gridCol w="2639863"/>
              </a:tblGrid>
              <a:tr h="823385">
                <a:tc>
                  <a:txBody>
                    <a:bodyPr rtlCol="0"/>
                    <a:lstStyle/>
                    <a:p>
                      <a:pPr indent="0" algn="ctr">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Parallelism Dimension</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ctr">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Execution Granularity</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ctr">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Communication Primitive</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ctr">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Physical Mapping</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629947">
                <a:tc>
                  <a:txBody>
                    <a:bodyPr rtlCol="0"/>
                    <a:lstStyle/>
                    <a:p>
                      <a:pPr indent="0" algn="ctr">
                        <a:lnSpc>
                          <a:spcPts val="1500"/>
                        </a:lnSpc>
                        <a:defRP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Tensor (TP)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Intra-layer Operations</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Dense All-Reduce</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Intra-Node (NVLink)</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629947">
                <a:tc>
                  <a:txBody>
                    <a:bodyPr rtlCol="0"/>
                    <a:lstStyle/>
                    <a:p>
                      <a:pPr indent="0" algn="ctr">
                        <a:lnSpc>
                          <a:spcPts val="1500"/>
                        </a:lnSpc>
                        <a:defRP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Pipeline (PP)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Inter-layer Stages</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Peer-to-Peer Send/Recv</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Inter-Node (InfiniBand)</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629947">
                <a:tc>
                  <a:txBody>
                    <a:bodyPr rtlCol="0"/>
                    <a:lstStyle/>
                    <a:p>
                      <a:pPr indent="0" algn="ctr">
                        <a:lnSpc>
                          <a:spcPts val="1500"/>
                        </a:lnSpc>
                        <a:defRP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Data (DP)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Global Batch Replicas</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Sparse All-Reduce</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ctr">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Global Cluster</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Megatron-Turing NLG 530B</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https://developer.nvidia.com/blog/using-deepspeed-and-megatron-to-train-megatron-turing-nlg-530b-the-worlds-largest-and-most-powerful-generative-language-model/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098540" cy="4853305"/>
          </a:xfrm>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Model: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530B parameters, 105 layers, requiring &gt;10 TB aggregate HBM.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Hardware: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NVIDIA Selene Supercomputer (4480 A100 GPUs via NVSwitch/InfiniBand).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3D Configuration:</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8-way TP</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(intra-node) x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35-way PP</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(inter-node) = 280 GPUs per model replica.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16-way DP</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globally (280 x 16 = 4480 GPUs).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Result: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Global batch size of 1920, sustaining a historic 113 teraFLOP/s per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21723" r="20112"/>
          <a:stretch>
            <a:fillRect/>
          </a:stretch>
        </p:blipFill>
        <p:spPr>
          <a:xfrm>
            <a:off x="6679095" y="1311942"/>
            <a:ext cx="4797288" cy="46384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Communication Cost and Power Formulation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mc:AlternateContent xmlns:mc="http://schemas.openxmlformats.org/markup-compatibility/2006">
        <mc:Choice xmlns:a14="http://schemas.microsoft.com/office/drawing/2010/main" Requires="a14">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Effective Computing Power (</a:t>
                </a:r>
                <a14:m>
                  <m:oMath xmlns:m="http://schemas.openxmlformats.org/officeDocument/2006/math">
                    <m:sSub>
                      <m:sSubPr>
                        <m:ctrlPr>
                          <a:rPr lang="en-US" i="1">
                            <a:latin typeface="Cambria Math" panose="02040503050406030204" pitchFamily="18" charset="0"/>
                          </a:rPr>
                        </m:ctrlPr>
                      </m:sSubPr>
                      <m:e>
                        <m:r>
                          <m:rPr>
                            <m:sty m:val="p"/>
                          </m:rPr>
                          <a:rPr lang="en-US" b="0" i="1" smtClean="0">
                            <a:latin typeface="Cambria Math" panose="02040503050406030204" pitchFamily="18" charset="0"/>
                          </a:rPr>
                          <m:t>G</m:t>
                        </m:r>
                      </m:e>
                      <m:sub>
                        <m:r>
                          <a:rPr lang="en-US" i="1">
                            <a:latin typeface="Cambria Math" panose="02040503050406030204" pitchFamily="18" charset="0"/>
                          </a:rPr>
                          <m:t>𝑖</m:t>
                        </m:r>
                      </m:sub>
                    </m:sSub>
                  </m:oMath>
                </a14:m>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𝑗</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𝑖</m:t>
                            </m:r>
                          </m:sub>
                        </m:sSub>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𝑗</m:t>
                            </m:r>
                          </m:sub>
                        </m:sSub>
                      </m:e>
                    </m:d>
                  </m:oMath>
                </a14:m>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i="1" dirty="0">
                    <a:sym typeface="+mn-ea"/>
                  </a:rPr>
                  <a:t>(Where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𝑖</m:t>
                        </m:r>
                      </m:sub>
                    </m:sSub>
                  </m:oMath>
                </a14:m>
                <a:r>
                  <a:rPr lang="en-US" sz="2000" i="1" dirty="0">
                    <a:sym typeface="+mn-ea"/>
                  </a:rPr>
                  <a:t> = GPU power,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oMath>
                </a14:m>
                <a:r>
                  <a:rPr lang="en-US" sz="2000" i="1" dirty="0">
                    <a:sym typeface="+mn-ea"/>
                  </a:rPr>
                  <a:t> = binary assignment,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𝜌</m:t>
                        </m:r>
                      </m:e>
                      <m:sub>
                        <m:r>
                          <a:rPr lang="en-US" sz="2000" b="0" i="1" smtClean="0">
                            <a:latin typeface="Cambria Math" panose="02040503050406030204" pitchFamily="18" charset="0"/>
                          </a:rPr>
                          <m:t>𝑖</m:t>
                        </m:r>
                      </m:sub>
                    </m:sSub>
                  </m:oMath>
                </a14:m>
                <a:r>
                  <a:rPr lang="en-US" sz="2000" i="1" dirty="0">
                    <a:sym typeface="+mn-ea"/>
                  </a:rPr>
                  <a:t> = PP bubble ratio).</a:t>
                </a:r>
                <a:endParaRPr lang="en-US" sz="2000" dirty="0"/>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Objective: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Maximize  to prevent global synchronization stragglers.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Constraints: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Bound by GPU memory limits  and TP communication costs.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Execution: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Integer-Linear Programming (ILP) solvers calculate optimal DP/TP/PP ratios pre-training.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mc:Choice>
        <mc:Fallback>
          <p:sp>
            <p:nvSpPr>
              <p:cNvPr id="5" name="AutoShape 5"/>
              <p:cNvSpPr>
                <a:spLocks noRot="1" noChangeAspect="1" noMove="1" noResize="1" noEditPoints="1" noAdjustHandles="1" noChangeArrowheads="1" noChangeShapeType="1" noTextEdit="1"/>
              </p:cNvSpPr>
              <p:nvPr>
                <p:ph type="body" sz="quarter" idx="9" hasCustomPrompt="1"/>
              </p:nvPr>
            </p:nvSpPr>
            <p:spPr>
              <a:prstGeom prst="rect">
                <a:avLst/>
              </a:prstGeom>
              <a:blipFill rotWithShape="1">
                <a:blip r:embed="rId1"/>
                <a:stretch>
                  <a:fillRect l="-6" b="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Expanding to 4D and 5D Parallelism: CP and EP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934200" cy="4853305"/>
          </a:xfrm>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Catalyst: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Massive sequence lengths and Mixture of Experts (MoE) break 3D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Context Parallelism (CP):</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Partitions tokens across GPUs, exchanging KV states via ring protocols to prevent sequence-induced OOM.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Expert Parallelism (EP):</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Uses All-to-All routing to dynamically dispatch tokens to discrete MoE experts.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5D Formula:</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TotalGPUs = TP x CP x EP x PP x DP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Outcome: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Fractures every bottleneck (dense weights, batch throughput, infinite context, sparse compute).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633252" y="1441174"/>
            <a:ext cx="4356652" cy="435665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Overcoming ZeRO and Pipeline Integration Bottlenecks</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Conflict: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ZeRO-3's dynamic All-Gather parameter fetching clashes with PP's high-frequency micro-batch switching.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Problem:</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Causes a network storm of repeated parameter communications.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ZeroPP Solution: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Introduces a blockwise task-interleaved PP schedule.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Mechanism:</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Batches micro-computations per layer before dropping weights, slashing network calls while preserving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Paradigm Shift to Automatic Model Parallelism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Manual Brittleness: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Hardcoding primitives (All-Reduce) fails when transitioning to new architectures or asymmetric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Automatic Model Parallelism (AMP):</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Abstracts distribution logic into a compiler optimization problem.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Mechanism:</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Represents the neural network as a computation DAG and the hardware as a topology graph to automatically search for optimal sharding.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Impact: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AI researchers write single-device code; compilers synthesize n-dimensional execution plans.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Defining the Search Space: The SOAP Framework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https://arxiv.org/pdf/1807.05358</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570345" cy="4853305"/>
          </a:xfrm>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FlexFlow's SOAP Dimensions:</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Sample: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DP (batch partitioning).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Operation:</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PP (graph node distribution).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Attribute: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CP (sequence/image feature partitioning).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Parameter:</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TP (weight matrix slicing).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Search Engine: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Uses Markov Chain Monte Carlo (MCMC) to explore the vast configuration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Oracle Simulator:</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Predicts strategy performance in milliseconds instead of hours, discovering non-intuitive plans up to 3.3x faster than manual tuning.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63020" y="1500257"/>
            <a:ext cx="4538454" cy="421657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Hierarchical Space Search in Alpa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https://arxiv.org/pdf/2201.12023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114415" cy="4853305"/>
          </a:xfrm>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Scaling Issue: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Flat MCMC searches fail at 100B+ parameters due to exponential complexity.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Alpa's Hierarchy:</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Restructures the search to mirror physical data center bandwidths: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Level 1 (Intra-op):</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ILP solves TP/DP assignments within high-bandwidth "device meshes" (intra-node).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Level 2 (Inter-op):</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Dynamic Programming solves PP staging across distant meshes (inter-node).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Result: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Outperforms specialized manual systems (e.g., DeepSpeed) by up to 9.7x on complex MoE models.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674526" y="1993125"/>
            <a:ext cx="5355020" cy="350265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Compiler-Based SPMD Parallelization (GSPMD)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https://arxiv.org/abs/2105.04663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427345" cy="4853305"/>
          </a:xfrm>
          <a:prstGeom prst="rect">
            <a:avLst/>
          </a:prstGeom>
        </p:spPr>
        <p:txBody>
          <a:bodyPr wrap="square" lIns="91440" tIns="45720" rIns="91440" bIns="45720" anchor="t">
            <a:normAutofit lnSpcReduction="20000"/>
          </a:bodyPr>
          <a:lstStyle>
            <a:lvl1pPr algn="l">
              <a:lnSpc>
                <a:spcPct val="83000"/>
              </a:lnSpc>
              <a:defRPr sz="2200" b="1" i="0" u="none" strike="noStrike" spc="0">
                <a:solidFill>
                  <a:srgbClr val="404040">
                    <a:alpha val="100000"/>
                  </a:srgbClr>
                </a:solidFill>
                <a:latin typeface="Calibri" panose="020F0502020204030204"/>
              </a:defRPr>
            </a:lvl1pPr>
          </a:lstStyle>
          <a:p>
            <a:pPr marL="279400" indent="-279400" algn="l">
              <a:lnSpc>
                <a:spcPct val="103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SPMD Paradigm:</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Essential for scaling; compiling unique programs per GPU is computationally catastrophic.</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3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API Abstraction:</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Developers write single-device JAX/TF code with sparse NamedSharding hints.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3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XLA Completion Pass:</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GSPMD propagates user annotations forward and backward through the graph.</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3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Automated Deduction:</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Algorithmically deduces optimal sharding for all unannotated intermediate tensors, achieving up to 62% utilization on 2048 TPU cores.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096000" y="1453832"/>
            <a:ext cx="5947410" cy="35543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Joint Optimization of Algebra and Parallelism (Unity)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https://www.usenix.org/system/files/osdi22-unger.pdf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139180" cy="4853305"/>
          </a:xfrm>
          <a:prstGeom prst="rect">
            <a:avLst/>
          </a:prstGeom>
        </p:spPr>
        <p:txBody>
          <a:bodyPr wrap="square" lIns="91440" tIns="45720" rIns="91440" bIns="45720" anchor="t">
            <a:normAutofit/>
          </a:bodyPr>
          <a:lstStyle>
            <a:lvl1pPr algn="l">
              <a:lnSpc>
                <a:spcPct val="100000"/>
              </a:lnSpc>
              <a:defRPr sz="2200" b="1"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Sequential Flaw:</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Standard compilers fuse operators </a:t>
            </a:r>
            <a:r>
              <a:rPr lang="en-US" sz="2200" b="0" i="1" u="none" strike="noStrike">
                <a:solidFill>
                  <a:srgbClr val="404040"/>
                </a:solidFill>
                <a:latin typeface="Calibri" panose="020F0502020204030204"/>
                <a:ea typeface="Calibri" panose="020F0502020204030204"/>
                <a:cs typeface="Calibri" panose="020F0502020204030204"/>
                <a:sym typeface="Calibri" panose="020F0502020204030204"/>
              </a:rPr>
              <a:t>before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parallelizing, which can lock out efficient network strategies.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Unity's Innovation:</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Jointly optimizes algebraic fusions and parallelization simultaneously via mathematical graph substitutions.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Counter-Intuitive Strategies:</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Unity may selectively </a:t>
            </a:r>
            <a:r>
              <a:rPr lang="en-US" sz="2200" b="0" i="1" u="none" strike="noStrike">
                <a:solidFill>
                  <a:srgbClr val="404040"/>
                </a:solidFill>
                <a:latin typeface="Calibri" panose="020F0502020204030204"/>
                <a:ea typeface="Calibri" panose="020F0502020204030204"/>
                <a:cs typeface="Calibri" panose="020F0502020204030204"/>
                <a:sym typeface="Calibri" panose="020F0502020204030204"/>
              </a:rPr>
              <a:t>unfuse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operations to enable faster communication patterns.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Performance:</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Yields up to 3.6x throughput speedups over traditional sequential distributed frameworks.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84671" y="2017252"/>
            <a:ext cx="5105400" cy="34544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System-Level Hybrid Strategy Search (Galvatron)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Production Focus: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Tailored for massive Transformers, explicitly integrating Activation Checkpointing and ZeRO offloading.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Two-Step Workflow:</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Decision Tree: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Prunes mathematically impossible strategies based on strict hardware memory budgets.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Dynamic Programming: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Assigns optimal parallelism layer-by-layer.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Accurate Cost Modeling:</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Uniquely accounts for GPU performance drops caused by compute/communication overlap.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415839" y="4505325"/>
          <a:ext cx="9313072" cy="1483360"/>
        </p:xfrm>
        <a:graphic>
          <a:graphicData uri="http://schemas.openxmlformats.org/drawingml/2006/table">
            <a:tbl>
              <a:tblPr>
                <a:effectLst/>
              </a:tblPr>
              <a:tblGrid>
                <a:gridCol w="2328268"/>
                <a:gridCol w="2328268"/>
                <a:gridCol w="2328268"/>
                <a:gridCol w="2328268"/>
              </a:tblGrid>
              <a:tr h="370840">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Feature</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FlexFlow</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Alpa</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1500"/>
                        </a:lnSpc>
                        <a:defRPr/>
                      </a:pPr>
                      <a:r>
                        <a:rPr lang="en-US" sz="2000" b="0" i="0" u="none" strike="noStrike">
                          <a:solidFill>
                            <a:srgbClr val="FFFFFF"/>
                          </a:solidFill>
                          <a:latin typeface="Calibri" panose="020F0502020204030204"/>
                          <a:ea typeface="Calibri" panose="020F0502020204030204"/>
                          <a:cs typeface="Calibri" panose="020F0502020204030204"/>
                          <a:sym typeface="Calibri" panose="020F0502020204030204"/>
                        </a:rPr>
                        <a:t>Galvatron</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70840">
                <a:tc>
                  <a:txBody>
                    <a:bodyPr rtlCol="0"/>
                    <a:lstStyle/>
                    <a:p>
                      <a:pPr indent="0" algn="l">
                        <a:lnSpc>
                          <a:spcPts val="1500"/>
                        </a:lnSpc>
                        <a:defRP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Search Space</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MCMC (SOAP)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ILP + Dynamic Programming</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Decision Tree + DP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ts val="1500"/>
                        </a:lnSpc>
                        <a:defRP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Granularity</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Operator Level</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Intra-op vs Inter-op</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Layer-wise assignments</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rtlCol="0"/>
                    <a:lstStyle/>
                    <a:p>
                      <a:pPr indent="0" algn="l">
                        <a:lnSpc>
                          <a:spcPts val="1500"/>
                        </a:lnSpc>
                        <a:defRP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Optimization</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Multi-dim Tensor Slicing</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Bandwidth Hierarchy</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15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Checkpointing Integration</a:t>
                      </a:r>
                      <a:endParaRPr lang="en-US" sz="1100"/>
                    </a:p>
                  </a:txBody>
                  <a:tcPr marL="114300" marR="114300" marT="76200" marB="762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Future of Distributed Training Frameworks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The Trajectory:</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Moving from imperative manual engineering to declarative, fully automated compilation.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Advanced Scheduling:</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Evolving beyond LLM-centric limits (e.g., FlexPipe for programmable PP, Pfeife for non-sequential models).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Heterogeneous Training:</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Orchestrators will dynamically adapt to clusters with asymmetric memory/bandwidth profiles.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Ultimate Goal:</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Virtualizing hardware to democratize trillion-parameter AI, making extreme-scale training an out-of-the-box process.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34: Fault Tolerance and Checkpointing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Background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Fault in Large-Scale Training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Fault Types and Impact Analysis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Checkpoint-Based Fault Tolerance System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Anomaly Detection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Checkpoints in Distributed Training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Synchronous/ Asynchronous Checkpoints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Strategies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Storage Optimization Techniques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Industrial Case Studies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Robust LLM Training Infrastructure at ByteDance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a:t>
            </a:r>
            <a:r>
              <a:rPr lang="en-US" sz="3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Fault Conditions in Large-Scale Training</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1" i="0" u="none" strike="noStrike" spc="0">
                <a:solidFill>
                  <a:srgbClr val="000000">
                    <a:alpha val="100000"/>
                  </a:srgbClr>
                </a:solidFill>
                <a:latin typeface="Calibri" panose="020F0502020204030204"/>
              </a:defRPr>
            </a:lvl1pPr>
          </a:lstStyle>
          <a:p>
            <a:pPr marL="254000" indent="-254000" algn="l">
              <a:lnSpc>
                <a:spcPct val="100000"/>
              </a:lnSpc>
              <a:spcBef>
                <a:spcPts val="1500"/>
              </a:spcBef>
              <a:buClr>
                <a:srgbClr val="000000"/>
              </a:buClr>
              <a:buChar cha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Failure Rates Exhibit Exponential Growth with Cluster Size</a:t>
            </a:r>
            <a:endPar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000000"/>
              </a:buClr>
              <a:buChar cha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Mean Time Between Failures (MTBF) </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is a critical metric for evaluating cluster reliability</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000000"/>
              </a:buClr>
              <a:buChar char="•"/>
            </a:pPr>
            <a:r>
              <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rPr>
              <a:t>As the number of GPUs (N) increases, the probability of completing training without interruption decreases exponentially.</a:t>
            </a:r>
            <a:endPar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000000"/>
              </a:buClr>
              <a:buChar char="•"/>
            </a:pPr>
            <a:r>
              <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rPr>
              <a:t>If the probability of a single GPU failure within a specified interval is p, then the probability of the entire cluster remaining stable is </a:t>
            </a: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(1-p)^N</a:t>
            </a:r>
            <a:r>
              <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rPr>
              <a:t>.</a:t>
            </a:r>
            <a:endPar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Qianka Cluster ( p=0.001 ) =&gt; Success Rate ~36%</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Wanka Cluster ( p=0.001 ) =&gt; Success Rate ~0.0045%</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Cluster MTBF Data Comparison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43200" lvl="8" indent="0" algn="l">
              <a:lnSpc>
                <a:spcPct val="100000"/>
              </a:lnSpc>
              <a:spcBef>
                <a:spcPts val="750"/>
              </a:spcBef>
            </a:pPr>
            <a:r>
              <a:rPr lang="en-US" sz="2000" b="0" i="0" u="none" strike="noStrike">
                <a:solidFill>
                  <a:srgbClr val="404040"/>
                </a:solidFill>
                <a:latin typeface="Arial" panose="020B0604020202020204"/>
                <a:ea typeface="Arial" panose="020B0604020202020204"/>
                <a:cs typeface="Arial" panose="020B0604020202020204"/>
                <a:sym typeface="Arial" panose="020B0604020202020204"/>
              </a:rPr>
              <a:t> </a:t>
            </a:r>
            <a:endParaRPr lang="en-US" sz="2000" b="0" i="0" u="none" strike="noStrike">
              <a:solidFill>
                <a:srgbClr val="40404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7607860" y="4262903"/>
            <a:ext cx="4280950" cy="25667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Cluster Size vs Probability of Failure-Free Operation Within a Specified Timeframe</a:t>
            </a:r>
            <a:endParaRPr lang="en-US" sz="1100"/>
          </a:p>
        </p:txBody>
      </p:sp>
      <p:pic>
        <p:nvPicPr>
          <p:cNvPr id="7" name="Picture 7"/>
          <p:cNvPicPr>
            <a:picLocks noChangeAspect="1"/>
          </p:cNvPicPr>
          <p:nvPr/>
        </p:nvPicPr>
        <p:blipFill>
          <a:blip r:embed="rId1"/>
          <a:srcRect t="10109" b="13"/>
          <a:stretch>
            <a:fillRect/>
          </a:stretch>
        </p:blipFill>
        <p:spPr>
          <a:xfrm>
            <a:off x="7686040" y="4607560"/>
            <a:ext cx="4055745" cy="1835785"/>
          </a:xfrm>
          <a:prstGeom prst="roundRect">
            <a:avLst>
              <a:gd name="adj" fmla="val 45215"/>
            </a:avLst>
          </a:prstGeom>
          <a:ln w="12700">
            <a:noFill/>
            <a:prstDash val="solid"/>
          </a:ln>
        </p:spPr>
      </p:pic>
      <p:graphicFrame>
        <p:nvGraphicFramePr>
          <p:cNvPr id="8" name="Table 8"/>
          <p:cNvGraphicFramePr>
            <a:graphicFrameLocks noGrp="1"/>
          </p:cNvGraphicFramePr>
          <p:nvPr/>
        </p:nvGraphicFramePr>
        <p:xfrm>
          <a:off x="770890" y="4519295"/>
          <a:ext cx="6743065" cy="1924050"/>
        </p:xfrm>
        <a:graphic>
          <a:graphicData uri="http://schemas.openxmlformats.org/drawingml/2006/table">
            <a:tbl>
              <a:tblPr>
                <a:effectLst/>
              </a:tblPr>
              <a:tblGrid>
                <a:gridCol w="1980565"/>
                <a:gridCol w="1793240"/>
                <a:gridCol w="2969260"/>
              </a:tblGrid>
              <a:tr h="384810">
                <a:tc>
                  <a:txBody>
                    <a:bodyPr rtlCol="0"/>
                    <a:lstStyle/>
                    <a:p>
                      <a:pPr indent="0" algn="l">
                        <a:lnSpc>
                          <a:spcPts val="825"/>
                        </a:lnSpc>
                        <a:defRPr/>
                      </a:pPr>
                      <a:endParaRPr lang="en-US" sz="1100"/>
                    </a:p>
                    <a:p>
                      <a:pPr indent="0" algn="l">
                        <a:lnSpc>
                          <a:spcPts val="825"/>
                        </a:lnSpc>
                      </a:pPr>
                      <a:r>
                        <a:rPr lang="en-US" sz="1100" b="0" i="0" u="none" strike="noStrike">
                          <a:solidFill>
                            <a:srgbClr val="FFFFFF"/>
                          </a:solidFill>
                          <a:latin typeface="Calibri" panose="020F0502020204030204"/>
                          <a:ea typeface="Calibri" panose="020F0502020204030204"/>
                          <a:cs typeface="Calibri" panose="020F0502020204030204"/>
                          <a:sym typeface="Calibri" panose="020F0502020204030204"/>
                        </a:rPr>
                        <a:t>Cluster Size</a:t>
                      </a:r>
                      <a:endParaRPr lang="en-US" sz="11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MTBF</a:t>
                      </a:r>
                      <a:endPar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Data Source</a:t>
                      </a:r>
                      <a:endPar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4810">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1,024 GPUs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7.9–25.8 hours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Google Borg Cluster Analysis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4810">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1,440+ GPUs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2.67 hours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Microsoft GPU Cluster Report</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4810">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16,384 GPUs (Llama 3)</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1.8–3 hours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Llama 3 Training Empirical Statistics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4810">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131,072 GPUs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14 minutes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Google Large-Scale Cluster Study</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a:t>
            </a: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 Fault Conditions in Large-Scale Training</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Duan J, Zhang S, Wang Z, et al. Efficient training of large language models on distributed infrastructures: a survey[J]. arXiv preprint arXiv:2407.20018,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Failure Cause Analysis</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System complexity: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Training system comprises an extensive component, whereby weaknesses in any segment are magnified.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Extended time span: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Model training often extends over several months, thereby increasing the window for fault occurrence.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Failure propagation in training:</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Under synchronous training paradigms, a failure in a single node results in the termination of the entire training job, rendering the system highly susceptible to localized faults.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Real-world examples</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Meta OPT-175B (992 A100 GPUs): Over 40 failures occurred within a two-week period.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Acme (1000+ A100 GPUs): On average, one fault occurs every 1–2 days during training.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ByteDance MegaScale (12,288 GPUs): Experienced over 100 faults within several weeks.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Economic cost impact</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Time loss: Each Fault recovery takes 10-30 minutes; frequent interruptions severely slow progress.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Compute resource waste: The Wanka Cluster costs tens of thousands of dollars per hour, and failures leave resources idle.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Retraining overhead: Resuming from the previous Checkpoint requires recomputing unsaved iterations.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Analysis of Fault Types and Impacts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https://www.datacenterdynamics.com/en/news/meta-report-details-hundreds-of-gpu-and-hbm3-related-interruptions-to-llama-3-training-run/</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Meta Llama 3 405B Training Report</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54 days, 16,384 H100 GPU, 419 unexpected interruptions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(average of one failure every 3 hours)</a:t>
            </a:r>
            <a:b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b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Hardware level (58.7%)</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 Hardware/NVLink (30.1%): 148 failures, physical challenges arising from hyperscale interconnects.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HBM3 VRAM (17.2%): 72 failures, mainly because the thermal stress from high power draw leads to semiconductor fatigue.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SRAM and processors (8.6%): 36 failures, with fragile low-level circuitry failing under heavy workloads.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CPU Failures: only 2 failures (a stark contrast, showing GPU clusters are far less stable than traditional CPU clusters)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Connection layer: network and infrastructure (8.4%)</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Key points: switch and cable failures (35 occurrences), involving RoCE/IB network protocols and NCCL communication.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System and environment layer (33%)</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Uncontrollable variables: software Bug, configuration errors, and 1-2% throughput fluctuations due to ambient temperature (triggering GPU thermal protection or frequency throttling).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Checkpoint-based Fault Tolerance System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1. Automated fault detection</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Function: real-time monitoring, capturing node crashes, process exits, or network interruptions at second-level granularity.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2. Automated task recovery</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Action: After a failure is detected, the system automatically restarts the failed process or schedules a new node to replace the faulty node.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Seamless relaunch: Configure startup script so that after a restart, they automatically detect and load the latest valid checkpoint.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3. Deep integration with distributed frameworks</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DeepSpeed: Built-in node-failure handling supports reintegrating new nodes into the communication group and automatically reconstructing sharded data.</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PyTorch FSDP: Provides a dedicated distributed Checkpoint API, simplifying the logic for saving and loading large-scale sharded weights.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4. Flexible handling of partial failures</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Elastic scaling: If some nodes fail, the system can continue training using the remaining nodes, or pause smoothly while waiting for resources to be restored.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Dynamic reconfiguration: Ensures the training topology remains communication-efficient after node changes.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Anomaly Detection Methods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1900" b="1" i="0" u="none" strike="noStrike" spc="0">
                <a:solidFill>
                  <a:srgbClr val="404040">
                    <a:alpha val="100000"/>
                  </a:srgbClr>
                </a:solidFill>
                <a:latin typeface="Calibri" panose="020F0502020204030204"/>
              </a:defRPr>
            </a:lvl1pPr>
          </a:lstStyle>
          <a:p>
            <a:pPr marL="241300" indent="-241300" algn="l">
              <a:lnSpc>
                <a:spcPct val="83000"/>
              </a:lnSpc>
              <a:spcBef>
                <a:spcPts val="1500"/>
              </a:spcBef>
              <a:buClr>
                <a:srgbClr val="404040"/>
              </a:buClr>
              <a:buChar char="•"/>
            </a:pPr>
            <a:r>
              <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rPr>
              <a:t>Statistical Monitoring: Real-time fault handling</a:t>
            </a:r>
            <a:endPar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Continuous observation based on system-level metrics enables fault detection within seconds.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Monitoring architecture: “Single-GPU independent process + central-node heartbeat”</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Hardware dimension (NVIDIA DCGM):</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Compute performance: Monitor SM utilization and pipeline saturation.</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health: Prioritize monitoring Row-remapping metrics to anticipate HBM3 memory-cell degradation.</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Interconnect: Track PCIe and NVLink traffic throughput in real time.</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dimension (network performance):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Traffic analysis: Monitor RDMA traffic, NCCL/TCP timeouts, and task hangs.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Deep diagnostics: Combine Meta NCCLX and PyTorch Flight Recorder to enable retrospective tracing of kernel activity and communication metadata.</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41300" indent="-241300" algn="l">
              <a:lnSpc>
                <a:spcPct val="83000"/>
              </a:lnSpc>
              <a:spcBef>
                <a:spcPts val="1500"/>
              </a:spcBef>
              <a:buClr>
                <a:srgbClr val="404040"/>
              </a:buClr>
              <a:buChar char="•"/>
            </a:pPr>
            <a:r>
              <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rPr>
              <a:t>Proactive Validation: Preventive checks</a:t>
            </a:r>
            <a:endPar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Filter out anomalous nodes via automated testing before failures occur.</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Preflight: Run end-to-end connectivity and hardware health checks before the task starts.</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Layered validation (Vela): Run periodic lightweight tests at runtime; run deep, intrusive stress tests when idle.</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Standardized tools: Use benchmark suites such as SuperBench to evaluate each hardware component independently.</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 Training Checkpoint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2000" b="1" i="0" u="none" strike="noStrike" spc="0">
                <a:solidFill>
                  <a:srgbClr val="404040">
                    <a:alpha val="100000"/>
                  </a:srgbClr>
                </a:solidFill>
                <a:latin typeface="Calibri" panose="020F0502020204030204"/>
              </a:defRPr>
            </a:lvl1pPr>
          </a:lstStyle>
          <a:p>
            <a:pPr marL="254000" indent="-254000" algn="l">
              <a:lnSpc>
                <a:spcPct val="83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Periodically saving the state of a training job</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components: model parameters, weights, optimizer state, current training epoch or step...</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8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Importance of Checkpoints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1. Training Resilience and Fault tolerance </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Handle hardware failures, preemptible instance termination, or system crashes.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Automatically restart from the latest progress to minimize wasted compute time and computing costs.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2. Efficient Experiment Branching </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Use Checkpoints as “save points” to start new tasks from an intermediate state.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Try different hyperparameters, fine-tuning strategies, or learning-rate schedules without training from scratch.</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3. Model Evaluation and Version Selection </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Evaluate multiple intermediate checkpoints on the validation set during training.</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Monitor performance fluctuations, accurately select the best model version, or trigger early stopping.</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4. Fault Diagnosis and Debugging</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Roll back to the state right before issues such as training divergence or Loss turning into NaN occur.</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Closely inspect model parameters and optimizer state to pinpoint the root cause of training failure.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Components of an LLM training Checkpoint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1800" b="1" i="0" u="none" strike="noStrike" spc="0">
                <a:solidFill>
                  <a:srgbClr val="404040">
                    <a:alpha val="100000"/>
                  </a:srgbClr>
                </a:solidFill>
                <a:latin typeface="Calibri" panose="020F0502020204030204"/>
              </a:defRPr>
            </a:lvl1pPr>
          </a:lstStyle>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1. Model weights</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Core parameters: The weight matrices in each Transformer layer ( Attention Q/K/V/O, FFN, LayerNorm, Embedding, etc.)</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 storage: In data parallel (DP) each rank stores the same full replica; In tensor parallel (TP)/ pipeline parallel (PP) only the corresponding shard is stored</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2. Optimizer state</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The largest component, typically 2-4 </a:t>
            </a:r>
            <a:r>
              <a:rPr lang="en-US" sz="15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500" b="1" i="0" u="none" strike="noStrike">
                <a:solidFill>
                  <a:srgbClr val="404040"/>
                </a:solidFill>
                <a:latin typeface="Calibri" panose="020F0502020204030204"/>
                <a:ea typeface="Calibri" panose="020F0502020204030204"/>
                <a:cs typeface="Calibri" panose="020F0502020204030204"/>
                <a:sym typeface="Calibri" panose="020F0502020204030204"/>
              </a:rPr>
              <a:t> the model size:</a:t>
            </a:r>
            <a:endParaRPr lang="en-US" sz="15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Adam/AdamW: first momentum + second variance</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Learning rate scheduler state: current step, warmup progress, decay state</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3. Training state</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Global step: the number of training iterations completed</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Data loader state: current epoch, data sampler random seed, current read position</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Random number generator state: Python/NumPy/PyTorch/CUDA RNG states (to ensure reproducibility)</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4. Distributed Training-specific information and other metadata</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Parallel group configuration (TP/PP/DP rank mapping and process group information), ZeRO optimizer state (DeepSpeed), FSDP state</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Model architecture configuration and training hyperparameters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844155" y="2404110"/>
            <a:ext cx="3957320" cy="26809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Code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941070" y="1697990"/>
            <a:ext cx="4770120" cy="4407535"/>
          </a:xfrm>
          <a:prstGeom prst="rect">
            <a:avLst/>
          </a:prstGeom>
        </p:spPr>
      </p:pic>
      <p:pic>
        <p:nvPicPr>
          <p:cNvPr id="6" name="Picture 6"/>
          <p:cNvPicPr>
            <a:picLocks noChangeAspect="1"/>
          </p:cNvPicPr>
          <p:nvPr/>
        </p:nvPicPr>
        <p:blipFill>
          <a:blip r:embed="rId2"/>
          <a:srcRect t="4274"/>
          <a:stretch>
            <a:fillRect/>
          </a:stretch>
        </p:blipFill>
        <p:spPr>
          <a:xfrm>
            <a:off x="6525895" y="1064895"/>
            <a:ext cx="4593590" cy="3071495"/>
          </a:xfrm>
          <a:prstGeom prst="rect">
            <a:avLst/>
          </a:prstGeom>
          <a:ln w="12700">
            <a:noFill/>
            <a:prstDash val="solid"/>
          </a:ln>
        </p:spPr>
      </p:pic>
      <p:pic>
        <p:nvPicPr>
          <p:cNvPr id="7" name="Picture 7"/>
          <p:cNvPicPr>
            <a:picLocks noChangeAspect="1"/>
          </p:cNvPicPr>
          <p:nvPr/>
        </p:nvPicPr>
        <p:blipFill>
          <a:blip r:embed="rId3"/>
          <a:srcRect t="21829" r="10883" b="25491"/>
          <a:stretch>
            <a:fillRect/>
          </a:stretch>
        </p:blipFill>
        <p:spPr>
          <a:xfrm>
            <a:off x="6525895" y="4404995"/>
            <a:ext cx="4593590" cy="2105025"/>
          </a:xfrm>
          <a:prstGeom prst="rect">
            <a:avLst/>
          </a:prstGeom>
          <a:ln w="12700">
            <a:noFill/>
            <a:prstDash val="solid"/>
          </a:ln>
        </p:spPr>
      </p:pic>
      <p:sp>
        <p:nvSpPr>
          <p:cNvPr id="8" name="AutoShape 8"/>
          <p:cNvSpPr/>
          <p:nvPr/>
        </p:nvSpPr>
        <p:spPr>
          <a:xfrm>
            <a:off x="523875" y="1323975"/>
            <a:ext cx="5572125" cy="5397500"/>
          </a:xfrm>
          <a:prstGeom prst="rect">
            <a:avLst/>
          </a:prstGeom>
          <a:noFill/>
          <a:ln w="12700">
            <a:noFill/>
            <a:prstDash val="solid"/>
          </a:ln>
        </p:spPr>
        <p:txBody>
          <a:bodyPr vert="horz" wrap="square" lIns="91440" tIns="45720" rIns="91440" bIns="45720" rtlCol="0" anchor="t">
            <a:normAutofit/>
          </a:bodyPr>
          <a:lstStyle/>
          <a:p>
            <a:pPr marL="228600" indent="-2286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PyTorch Checkpoint Example</a:t>
            </a:r>
            <a:endParaRPr lang="en-US" sz="1100"/>
          </a:p>
        </p:txBody>
      </p:sp>
      <p:sp>
        <p:nvSpPr>
          <p:cNvPr id="9" name="AutoShape 9"/>
          <p:cNvSpPr/>
          <p:nvPr/>
        </p:nvSpPr>
        <p:spPr>
          <a:xfrm>
            <a:off x="1920240" y="622109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Save Checkpoint</a:t>
            </a:r>
            <a:endParaRPr lang="en-US" sz="1100"/>
          </a:p>
        </p:txBody>
      </p:sp>
      <p:sp>
        <p:nvSpPr>
          <p:cNvPr id="10" name="AutoShape 10"/>
          <p:cNvSpPr/>
          <p:nvPr/>
        </p:nvSpPr>
        <p:spPr>
          <a:xfrm>
            <a:off x="7433310" y="414210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Load Checkpoint</a:t>
            </a:r>
            <a:endParaRPr lang="en-US" sz="1100"/>
          </a:p>
        </p:txBody>
      </p:sp>
      <p:sp>
        <p:nvSpPr>
          <p:cNvPr id="11" name="AutoShape 11"/>
          <p:cNvSpPr/>
          <p:nvPr/>
        </p:nvSpPr>
        <p:spPr>
          <a:xfrm>
            <a:off x="7433310" y="6510020"/>
            <a:ext cx="3060700" cy="2914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Examples in the Training Loop</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Management in LLM Distributed Training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Parallel Saving</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Save checkpoints in sharded format, enabling parallel saving and loading.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Tensor parallelism (TP):</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In TP, model layers are split across different devices. Each rank retains only a shard of the weights for certain layers. Saving a checkpoint requires each rank to save its specific weight shard.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Pipeline parallelism (PP):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 PP, different model layers reside on different rank. Each rank stores the state for the layers it manages.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Metadata Mapping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system generates an index file.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Records “which portion of the parameters is stored in the snapshot on which GPU”.</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Flexibility during loading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Even if the GPU number changes when resuming training (e.g., from 64 to 128), the framework recomputes offsets based on the index file, enabling non-uniform loading.</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802245" y="1016635"/>
            <a:ext cx="3876040" cy="4665980"/>
          </a:xfrm>
          <a:prstGeom prst="rect">
            <a:avLst/>
          </a:prstGeom>
          <a:ln w="12700">
            <a:noFill/>
            <a:prstDash val="solid"/>
          </a:ln>
        </p:spPr>
      </p:pic>
      <p:sp>
        <p:nvSpPr>
          <p:cNvPr id="7" name="AutoShape 7"/>
          <p:cNvSpPr/>
          <p:nvPr/>
        </p:nvSpPr>
        <p:spPr>
          <a:xfrm>
            <a:off x="7238365" y="5748020"/>
            <a:ext cx="4791710" cy="82994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00" b="1" i="0" u="none" strike="noStrike">
                <a:solidFill>
                  <a:srgbClr val="000000"/>
                </a:solidFill>
                <a:latin typeface="Arial" panose="020B0604020202020204"/>
                <a:ea typeface="Arial" panose="020B0604020202020204"/>
                <a:cs typeface="Arial" panose="020B0604020202020204"/>
                <a:sym typeface="Arial" panose="020B0604020202020204"/>
              </a:rPr>
              <a:t>Diagram of sharded Checkpoint saving. </a:t>
            </a: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Each Rank saves its portion of the model and optimizer state to a dedicated file in the Checkpoint directory on shared storage. Metadata coordinates these shards.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Code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DeepSpeed Checkpoint 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9625" y="1838960"/>
            <a:ext cx="5004435" cy="407162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57315" y="1844040"/>
            <a:ext cx="5049520" cy="4066540"/>
          </a:xfrm>
          <a:prstGeom prst="rect">
            <a:avLst/>
          </a:prstGeom>
          <a:ln w="12700">
            <a:noFill/>
            <a:prstDash val="solid"/>
          </a:ln>
        </p:spPr>
      </p:pic>
      <p:sp>
        <p:nvSpPr>
          <p:cNvPr id="8" name="AutoShape 8"/>
          <p:cNvSpPr/>
          <p:nvPr/>
        </p:nvSpPr>
        <p:spPr>
          <a:xfrm>
            <a:off x="471170" y="6028055"/>
            <a:ext cx="5553710"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00" b="1" i="0" u="none" strike="noStrike">
                <a:solidFill>
                  <a:srgbClr val="000000"/>
                </a:solidFill>
                <a:latin typeface="Arial" panose="020B0604020202020204"/>
                <a:ea typeface="Arial" panose="020B0604020202020204"/>
                <a:cs typeface="Arial" panose="020B0604020202020204"/>
                <a:sym typeface="Arial" panose="020B0604020202020204"/>
              </a:rPr>
              <a:t>Sharded checkpoint saving:</a:t>
            </a: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 DeepSpeed and Megatron-LM and other libraries provide high-level API that simplify the complexity of managing sharded checkpoints and handling synchronization.</a:t>
            </a:r>
            <a:endParaRPr lang="en-US" sz="1100"/>
          </a:p>
        </p:txBody>
      </p:sp>
      <p:sp>
        <p:nvSpPr>
          <p:cNvPr id="9" name="AutoShape 9"/>
          <p:cNvSpPr/>
          <p:nvPr/>
        </p:nvSpPr>
        <p:spPr>
          <a:xfrm>
            <a:off x="6151880" y="6028055"/>
            <a:ext cx="5553710" cy="5988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00" b="1" i="0" u="none" strike="noStrike">
                <a:solidFill>
                  <a:srgbClr val="000000"/>
                </a:solidFill>
                <a:latin typeface="Arial" panose="020B0604020202020204"/>
                <a:ea typeface="Arial" panose="020B0604020202020204"/>
                <a:cs typeface="Arial" panose="020B0604020202020204"/>
                <a:sym typeface="Arial" panose="020B0604020202020204"/>
              </a:rPr>
              <a:t>Sharded checkpoint loading:</a:t>
            </a: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 In DeepSpeed and similar libraries, the loading functions read the appropriate shard for each Rank and reconstruct the distributed state.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 Training Checkpoint Storage Example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572125" cy="4853305"/>
          </a:xfrm>
          <a:prstGeom prst="rect">
            <a:avLst/>
          </a:prstGeom>
        </p:spPr>
        <p:txBody>
          <a:bodyPr wrap="square" lIns="91440" tIns="45720" rIns="91440" bIns="45720" anchor="t">
            <a:normAutofit lnSpcReduction="10000"/>
          </a:bodyPr>
          <a:lstStyle>
            <a:lvl1pPr algn="l">
              <a:lnSpc>
                <a:spcPct val="92000"/>
              </a:lnSpc>
              <a:defRPr sz="1800" b="1"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requires enormous storage capacity</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GPT-3: 175B =&gt; 2.4 TB Checkpoint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LLaMA: 544B =&gt; 6~7 TB Checkpoint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GPT-4: &gt; 1 Trillion =&gt; 13.8 TB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requires enormous storage bandwidth</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Write bandwidth</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save time should be kept within 5% of the total time.</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Requirement: If a 2.4 TB  Checkpoint must be written within 60 seconds, at least 40 GB/s of sustained write bandwidth is required.</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Large-scale cluster challenges: As the number of GPUs increases, having each GPU write independently in parallel creates massive I/O concurrency pressure on parallel file systems (such as Lustre, GPFS, JuiceFS).</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Read bandwidth</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Although reads are infrequent (only during training recovery or task startup), high read bandwidth can significantly reduce fault recovery time, preventing thousands of GPU from sitting idle while waiting for data to load.</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6217285" y="3041650"/>
          <a:ext cx="5630544" cy="3033395"/>
        </p:xfrm>
        <a:graphic>
          <a:graphicData uri="http://schemas.openxmlformats.org/drawingml/2006/table">
            <a:tbl>
              <a:tblPr>
                <a:effectLst/>
              </a:tblPr>
              <a:tblGrid>
                <a:gridCol w="2324099"/>
                <a:gridCol w="1587500"/>
                <a:gridCol w="1718945"/>
              </a:tblGrid>
              <a:tr h="366395">
                <a:tc>
                  <a:txBody>
                    <a:bodyPr rtlCol="0"/>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Components</a:t>
                      </a:r>
                      <a:endPar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Compute</a:t>
                      </a:r>
                      <a:endPar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Size</a:t>
                      </a:r>
                      <a:endPar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1000">
                <a:tc>
                  <a:txBody>
                    <a:bodyPr rtlCol="0"/>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Model parameters (BF16)</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2B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350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Optimizer master parameters (FP32)</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000">
                <a:tc>
                  <a:txBody>
                    <a:bodyPr rtlCol="0"/>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First moment m_t (FP32)</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Second moment v_t (FP32)</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000">
                <a:tc>
                  <a:txBody>
                    <a:bodyPr rtlCol="0"/>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Other states (steps, RNG, etc.)</a:t>
                      </a: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pPr indent="0" algn="l">
                        <a:lnSpc>
                          <a:spcPts val="825"/>
                        </a:lnSpc>
                        <a:defRPr/>
                      </a:pPr>
                      <a:endParaRPr lang="en-US" sz="1100"/>
                    </a:p>
                    <a:p>
                      <a:pPr indent="0" algn="l">
                        <a:lnSpc>
                          <a:spcPts val="825"/>
                        </a:lnSpc>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Total</a:t>
                      </a:r>
                      <a:endPar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2.4TB</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000">
                <a:tc>
                  <a:txBody>
                    <a:bodyPr rtlCol="0"/>
                    <a:lstStyle/>
                    <a:p>
                      <a:pPr indent="0" algn="l">
                        <a:lnSpc>
                          <a:spcPts val="825"/>
                        </a:lnSpc>
                        <a:defRPr/>
                      </a:pPr>
                      <a:endParaRPr lang="en-US" sz="1100"/>
                    </a:p>
                    <a:p>
                      <a:pPr indent="0" algn="l">
                        <a:lnSpc>
                          <a:spcPts val="825"/>
                        </a:lnSpc>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Per-rank total after sharding</a:t>
                      </a:r>
                      <a:endPar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2.4 TB / 8</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~300GB</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7" name="AutoShape 7"/>
          <p:cNvSpPr/>
          <p:nvPr/>
        </p:nvSpPr>
        <p:spPr>
          <a:xfrm>
            <a:off x="6333490" y="1323975"/>
            <a:ext cx="5572125" cy="1717675"/>
          </a:xfrm>
          <a:prstGeom prst="rect">
            <a:avLst/>
          </a:prstGeom>
          <a:noFill/>
          <a:ln w="12700">
            <a:noFill/>
            <a:prstDash val="solid"/>
          </a:ln>
        </p:spPr>
        <p:txBody>
          <a:bodyPr vert="horz" wrap="square" lIns="91440" tIns="45720" rIns="91440" bIns="45720" rtlCol="0" anchor="t">
            <a:normAutofit/>
          </a:bodyPr>
          <a:lstStyle/>
          <a:p>
            <a:pPr marL="228600" indent="-2286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Using the GPT-3 175B model as an example</a:t>
            </a:r>
            <a:endParaRPr lang="en-US" sz="1100"/>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Optimizer: AdamW;</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Training precision: BF16;</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 ZeRO-3 (8 GPUs)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Synchronized checkpoint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Principle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When a Checkpoint is triggered, the training process explicitly pauses all computation and gathers the required state components.</a:t>
            </a:r>
            <a:endPar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In a distributed training environment, a synchronized checkpoint requires coordination across all participating worker nodes; a barrier synchronization is used before saving.</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Simplicity:</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Easy to implement and understand. Save a clear point in time during training to ensure consistency across all worker nodes.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Consistency guarantee: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checkpoint reflects the exact state of the training job at the moment it is triggered. If restored, training resumes exactly from that point.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Disadvantages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Performance overhead:</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Training stops during saving. Writing large Checkpoints to storage can take a long time, leaving substantial compute resources idle.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Blocking:</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entire training process is blocked, reducing overall training throughput.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72490" y="5040630"/>
            <a:ext cx="10579735" cy="15684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Asynchronous Checkpoint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900" b="1"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rPr>
              <a:t>To reduce the performance overhead of synchronous saving, separate the compute-intensive I/O work of writing checkpoints from the main training loop.</a:t>
            </a:r>
            <a:endPar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When a checkpoint is triggered, the main process initiates the save operation but does not wait for it to finish.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1&gt; Copy state: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quickly copy the required state in memory. This copy should be faster than disk I/O.</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2&gt; Offload I/O:</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hand the copied state off to an independent thread/ process/ dedicated IO node, which performs the actual serialization and writes to persistent storage in the background.</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3&gt; Continue training:</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main training loop resumes computation almost immediately after replication or handoff begins, overlapping Checkpoint I/O with computation.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67130" y="3737610"/>
            <a:ext cx="9991725" cy="29838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Synchronized Checkpoint vs Asynchronous Checkpoint</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best approach depends on the specific training setup and priorities.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Simplicity vs. performance: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The synchronized approach is simpler but incurs higher overhead. The asynchronous approach is more complex but significantly reduces idle time.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Storage speed:</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If Checkpoint storage is extremely fast (e.g., a high-performance parallel file system), the overhead of synchronized saving may be acceptable. If storage I/O is the bottleneck, asynchronous saving is more appealing.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Failure sensitivity: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If it is critical to recover to the absolute latest state when a failure occurs, the consistency guaranteed by a Synchronized checkpoint may be preferable. If it’s acceptable to lose a small amount of iteration progress in exchange for higher throughput, the asynchronous approach is a solid choice.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Framework support: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Modern Distributed Training frameworks (such as DeepSpeed or PyTorch FSDP) typically provide built-in, optimized Checkpoint support—sometimes including asynchronous options or highly optimized synchronized methods—to minimize blocking time.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100000"/>
              </a:lnSpc>
              <a:spcBef>
                <a:spcPts val="750"/>
              </a:spcBef>
            </a:pP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Practical implementation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For ultra-large models where Checkpointing takes a long time (several minutes or more), asynchronous Checkpoint is often preferred to maximize utilization of expensive GPU resources; careful implementation and testing are essential to ensure the reliability of the asynchronous saving process.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Strategy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8784590" cy="4853305"/>
          </a:xfrm>
          <a:prstGeom prst="rect">
            <a:avLst/>
          </a:prstGeom>
        </p:spPr>
        <p:txBody>
          <a:bodyPr wrap="square" lIns="91440" tIns="45720" rIns="91440" bIns="45720" anchor="t">
            <a:normAutofit lnSpcReduction="10000"/>
          </a:bodyPr>
          <a:lstStyle>
            <a:lvl1pPr algn="l">
              <a:lnSpc>
                <a:spcPct val="92000"/>
              </a:lnSpc>
              <a:defRPr sz="1600" b="1" i="0" u="none" strike="noStrike" spc="0">
                <a:solidFill>
                  <a:srgbClr val="404040">
                    <a:alpha val="100000"/>
                  </a:srgbClr>
                </a:solidFill>
                <a:latin typeface="Calibri" panose="020F0502020204030204"/>
              </a:defRPr>
            </a:lvl1pPr>
          </a:lstStyle>
          <a:p>
            <a:pPr marL="203200" indent="-203200" algn="l">
              <a:lnSpc>
                <a:spcPct val="92000"/>
              </a:lnSpc>
              <a:spcBef>
                <a:spcPts val="150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Trade-off: minimize work lost during failures vs minimize the overhead of saving checkpoints</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 frequency (e.g., every few hundred steps):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Pros: Reduces the loss of training progress when interruptions occur. You can resume from a point closer to the failure.</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Drawback: The cumulative overhead of frequent saves increases total training time. It can quickly generate a large number of Checkpoint files.</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Low frequency (e.g., every few thousand steps or every few hours):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Pros: Minimizes the impact of Checkpoint overhead on overall training throughput. Slows the rate of storage usage.</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Drawback: If a failure occurs between checkpoints, a large amount of progress will be lost. Restarting may require recomputing hours of work.</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92000"/>
              </a:lnSpc>
              <a:spcBef>
                <a:spcPts val="150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Trigger strategy</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Iteration-based: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Save once every N training steps;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Time-based: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Save once every H hours.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92000"/>
              </a:lnSpc>
              <a:spcBef>
                <a:spcPts val="150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retention strategy</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Keep only the latest: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simplest strategy. After saving a new checkpoint, delete the previous one.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Keep the last K:</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Keep the most recent K checkpoints. When saving checkpoint N, delete checkpoint N-K.</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Keep the best M based on validation: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Regularly monitor validation metrics (e.g., perplexity) and keep the best M.</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337675" y="1436370"/>
            <a:ext cx="2627630" cy="50203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Storage Optimization Techniques: Checkpoint Compression</a:t>
            </a:r>
            <a:endPar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Numeric quantization and bit-plane compression </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Low-bit quantization: Compress the training state from BF16/FP32 to INT8, FP8 or even NF4 (NormalFloat).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Exponent sharing: Share an exponent across tensor blocks and store only mantissas, reducing memory usage.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Mixed-precision snapshots: Keep model weights at high precision, applying lossy compression to optimizer states.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Differential and delta encoding </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Residual storage: Record only the delta between the current step and the previous step.</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Low-rank decomposition (LoRA-style): Model weight changes as a product of low-rank matrices, and save only these small matrices.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Sparsity and masking techniques</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Top-K filtering: Identify the parameters with the smallest updates and set them to zero, storing only gradient updates above the threshold.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Structured pruning: When saving, remove entire rows or columns of neurons that contribute little to the output.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Storage Optimization Techniques: Tiered Storage</a:t>
            </a:r>
            <a:endPar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800" b="1"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Logical architecture of tiered storage</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Different storage media differ by orders of magnitude in bandwidth and latency, evolving Checkpoint from “writing to disk in a single step” to “multi-level buffering”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DeepSpeed</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Focuses on leveraging the multi-tier storage media within a single node to overcome memory capacity bottlenecks.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 + NVMe Offload: GPU memory → host memory (CPU DRAM) → local high-speed SSD (NVMe) → remote PFS</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Megatron-LM</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Focuses on mitigating the network and disk strain caused by concurrent writes from thousands of nodes in large-scale clusters.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Distributed Checkpoint: node-local Buffer → parallel file system (Lustre/GPFS) → remote cold backup</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913765" y="2193290"/>
          <a:ext cx="10483850" cy="0"/>
        </p:xfrm>
        <a:graphic>
          <a:graphicData uri="http://schemas.openxmlformats.org/drawingml/2006/table">
            <a:tbl>
              <a:tblPr>
                <a:effectLst/>
              </a:tblPr>
              <a:tblGrid>
                <a:gridCol w="1496695"/>
                <a:gridCol w="2696845"/>
                <a:gridCol w="1605915"/>
                <a:gridCol w="1416050"/>
                <a:gridCol w="3268345"/>
              </a:tblGrid>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Storage hierarchy</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Storage medium</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Speed (Bandwidth)</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Capacity</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Role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L1: Memory tier</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HBM / Host RAM</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Blazing fast</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Constrained</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Fault recovery:</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For rapid, seconds-level hot reboot</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L2: Local tier</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Node-local NVMe SSD</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Fast</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Moderate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Staging buffer:</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 buffer layer for asynchronously writing to remote storage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L3: Persistent tier</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PFS (Lustre/HDFS) / Object storage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Slow</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Unlimited</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Final archiving:</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For long-term backups and model publishing</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Industry case: Robust LLM Training Infrastructure at ByteDance</a:t>
            </a:r>
            <a:endPar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Wan B, Liu G, Song Z, et al. Robust llm training infrastructure at bytedance[C]//Proceedings of the ACM SIGOPS 31st Symposium on Operating Systems Principles. 2025: 186-203.</a:t>
            </a:r>
            <a:endPar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Control Plane</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Robust Controller: The core scheduler for fault mitigation. Runs automated mitigation algorithms based on multidimensional telemetry data, such as node eviction, warm-backup scheduling, and hot-update restarts.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Runtime Analyzer: A deep analysis engine for non-deterministic exceptions (e.g., Job Hang). By aggregating global stack information, it enables “precise isolation” and “aggressive removal” of faulty nodes.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680325" y="3352165"/>
            <a:ext cx="4319905" cy="2389505"/>
          </a:xfrm>
          <a:prstGeom prst="rect">
            <a:avLst/>
          </a:prstGeom>
          <a:ln w="12700">
            <a:noFill/>
            <a:prstDash val="solid"/>
          </a:ln>
        </p:spPr>
      </p:pic>
      <p:sp>
        <p:nvSpPr>
          <p:cNvPr id="7" name="AutoShape 7"/>
          <p:cNvSpPr/>
          <p:nvPr/>
        </p:nvSpPr>
        <p:spPr>
          <a:xfrm>
            <a:off x="523875" y="2903855"/>
            <a:ext cx="7167245" cy="3587750"/>
          </a:xfrm>
          <a:prstGeom prst="rect">
            <a:avLst/>
          </a:prstGeom>
          <a:noFill/>
          <a:ln w="12700">
            <a:noFill/>
            <a:prstDash val="solid"/>
          </a:ln>
        </p:spPr>
        <p:txBody>
          <a:bodyPr vert="horz" wrap="square" lIns="91440" tIns="45720" rIns="91440" bIns="45720" rtlCol="0" anchor="t">
            <a:normAutofit/>
          </a:bodyPr>
          <a:lstStyle/>
          <a:p>
            <a:pPr marL="228600" indent="-228600" algn="l">
              <a:lnSpc>
                <a:spcPct val="100000"/>
              </a:lnSpc>
              <a:spcBef>
                <a:spcPts val="1500"/>
              </a:spcBef>
              <a:buClr>
                <a:srgbClr val="404040"/>
              </a:buClr>
              <a:buChar char="•"/>
              <a:defRP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Data Plane</a:t>
            </a:r>
            <a:endParaRPr lang="en-US" sz="1100"/>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Robust Agent: Runs as a daemon in each compute container.</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Monitor: Fine-grained, real-time self-checks with sub-second fault alerting.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Diagnoser: An in-situ diagnostic toolchain integrating multi-level Benchmark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CKPT Manager: A high-performance, asynchronous Checkpoint manager for cross-parallel-group backups.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Warm Standby Pods: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 pool of standby nodes pre-launched and health-checked in the cluster. By eliminating the “cold start” time spent on resource scheduling and environment initialization, and working with a hot-update mechanism, it enables seamless, minute-level replacement of faulty nodes.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Industry case: Robust LLM Training Infrastructure at ByteDance</a:t>
            </a:r>
            <a:endPar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Wan B, Liu G, Song Z, et al. Robust llm training infrastructure at bytedance[C]//Proceedings of the ACM SIGOPS 31st Symposium on Operating Systems Principles. 2025: 186-203.</a:t>
            </a:r>
            <a:endPar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Multilevel Checkpoint (Tiered Storage)</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In-memory/ local-disk backup: Store Checkpoint first in the memory or local SSD of a nearby machine to enable writes in seconds.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Remote backup: Asynchronously transfer data to persistent storage.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Warm backup and hot-update (Warm Standby &amp; Hot-update)</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If only one machine fails, don’t restart the entire 10,000-GPU job. The ByteRobust system reserves a small number of “standby machines” and replaces only the failed one, enabling “hot-pluggable” style rapid recovery.</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Results: Fault recovery speed improved by more than 10 times, and the effective training time ratio (ETTR) reached 97%.</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78255" y="4175760"/>
            <a:ext cx="9768840" cy="23787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35: GPU Memory Optimization Techniques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Background</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Training ultra-large language models incurs enormous GPU memory overhead</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Optimization:</a:t>
            </a: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 Gradient Checkpointing (Activation Recomputation)</a:t>
            </a:r>
            <a:endPar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Discard most intermediate activations from the forward pass, and when needed during the backward pass, temporarily recompute them from the nearest checkpoint.</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Optimization Method:</a:t>
            </a:r>
            <a:r>
              <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rPr>
              <a:t> Offloading (Data Offloading)</a:t>
            </a:r>
            <a:endParaRPr lang="en-US" sz="22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Leverage Host Memory as an extension of GPU Memory, taking advantage of its lower access frequency but enormous capacity.</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ZeRO-Offload:</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Offload optimizer states and gradients to CPU. Utilizing CPU for weight update, as this operation places relatively low demands on compute but accounts for an exceptionally large share of GPU Memory consumption.</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58800" lvl="1" indent="-215900" algn="l">
              <a:lnSpc>
                <a:spcPct val="100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further supports offloading model parameters to NVMe SSD. Through asynchronous prefetching and bandwidth optimization, it enables training of trillion-scale models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LLM Training GPU Memory Overhead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http://deepseekpro.org/guide/the-carbon-footprint-of-gpt-4/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152640" cy="4853305"/>
          </a:xfrm>
          <a:prstGeom prst="rect">
            <a:avLst/>
          </a:prstGeom>
        </p:spPr>
        <p:txBody>
          <a:bodyPr wrap="square" lIns="91440" tIns="45720" rIns="91440" bIns="45720" anchor="t">
            <a:norm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Exponential Growth in Model Scale</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From GPT-3 (1750 billion parameters) to GPT-4 (trillion-scale parameters)</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For a 100B model with 200GB of parameters, full training requires approximately 1.6TB ~ 2TB of GPU Memory</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Real-World Challenges Caused by Insufficient GPU Memory</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Training infeasible: a single GPU cannot load the model, making distributed training mandatory</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Soaring costs: multi-GPU parallelism introduces communication overhead, making linear speedup difficult to achieve</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0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Sequence length constraints: long-context (&gt;8K tokens) GPU Memory overhead grows quadratically</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741680" y="2465070"/>
          <a:ext cx="6752590" cy="1911985"/>
        </p:xfrm>
        <a:graphic>
          <a:graphicData uri="http://schemas.openxmlformats.org/drawingml/2006/table">
            <a:tbl>
              <a:tblPr>
                <a:effectLst/>
              </a:tblPr>
              <a:tblGrid>
                <a:gridCol w="1424940"/>
                <a:gridCol w="1054735"/>
                <a:gridCol w="4272915"/>
              </a:tblGrid>
              <a:tr h="387985">
                <a:tc>
                  <a:txBody>
                    <a:bodyPr rtlCol="0"/>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Component</a:t>
                      </a:r>
                      <a:endPar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Estimated Proportion</a:t>
                      </a:r>
                      <a:endPar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Description</a:t>
                      </a:r>
                      <a:endPar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1000">
                <a:tc>
                  <a:txBody>
                    <a:bodyPr rtlCol="0"/>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Model Parameters</a:t>
                      </a:r>
                      <a:endPar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~20-30%</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Weight matrices (FP16/BF16 precision)</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Optimizer States</a:t>
                      </a:r>
                      <a:endPar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~40-60%</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Adam requires storing momentum + second moments (FP32)</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000">
                <a:tc>
                  <a:txBody>
                    <a:bodyPr rtlCol="0"/>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Gradients</a:t>
                      </a:r>
                      <a:endPar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~20-30%</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Backward Pass Gradient Cache</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pPr indent="0" algn="l">
                        <a:lnSpc>
                          <a:spcPts val="825"/>
                        </a:lnSpc>
                        <a:defRPr/>
                      </a:pPr>
                      <a:endParaRPr lang="en-US" sz="1100"/>
                    </a:p>
                    <a:p>
                      <a:pPr indent="0" algn="l">
                        <a:lnSpc>
                          <a:spcPts val="825"/>
                        </a:lnSpc>
                      </a:pPr>
                      <a:r>
                        <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rPr>
                        <a:t>Activations</a:t>
                      </a:r>
                      <a:endParaRPr lang="en-US" sz="1200" b="1"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Variable</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Dominant for long sequences (proportional to square of seq length)</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47942" marR="47942" marT="47942" marB="47942"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graphicFrame>
        <p:nvGraphicFramePr>
          <p:cNvPr id="7" name="Table 7"/>
          <p:cNvGraphicFramePr>
            <a:graphicFrameLocks noGrp="1"/>
          </p:cNvGraphicFramePr>
          <p:nvPr/>
        </p:nvGraphicFramePr>
        <p:xfrm>
          <a:off x="7700645" y="1174115"/>
          <a:ext cx="4146550" cy="386715"/>
        </p:xfrm>
        <a:graphic>
          <a:graphicData uri="http://schemas.openxmlformats.org/drawingml/2006/table">
            <a:tbl>
              <a:tblPr>
                <a:effectLst/>
              </a:tblPr>
              <a:tblGrid>
                <a:gridCol w="2157095"/>
                <a:gridCol w="1989455"/>
              </a:tblGrid>
              <a:tr h="386715">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GPT-3 (175B)</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Scale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~10,000 A100s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Training Duration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~34 days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Power Consumption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~1.287 million kWh</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Carbon Emissions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~502 tons CO2e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Overhead</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~350 GB (parameters)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Training GPU Memory</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~2.8 TB</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Estimated Total Cost</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~$10M - $20M</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graphicFrame>
        <p:nvGraphicFramePr>
          <p:cNvPr id="8" name="Table 8"/>
          <p:cNvGraphicFramePr>
            <a:graphicFrameLocks noGrp="1"/>
          </p:cNvGraphicFramePr>
          <p:nvPr/>
        </p:nvGraphicFramePr>
        <p:xfrm>
          <a:off x="7713345" y="3957320"/>
          <a:ext cx="4195445" cy="386715"/>
        </p:xfrm>
        <a:graphic>
          <a:graphicData uri="http://schemas.openxmlformats.org/drawingml/2006/table">
            <a:tbl>
              <a:tblPr>
                <a:effectLst/>
              </a:tblPr>
              <a:tblGrid>
                <a:gridCol w="2144395"/>
                <a:gridCol w="2051050"/>
              </a:tblGrid>
              <a:tr h="386715">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GPT-4 (1.8T rumored scale)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Scale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~25,000 A100s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Training Duration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90 - 100 Days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Power Consumption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~51.77M - 62.31M kWh</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Carbon Emissions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~1,035 - 14,994 Tons CO2e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Overhead</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~3,600 GB (Parameters)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Total Training GPU Memory</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~20 TB+</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Estimated Total Cost</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$100M - $500M USD</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sp>
        <p:nvSpPr>
          <p:cNvPr id="9" name="AutoShape 9"/>
          <p:cNvSpPr/>
          <p:nvPr/>
        </p:nvSpPr>
        <p:spPr>
          <a:xfrm>
            <a:off x="8256270" y="3677920"/>
            <a:ext cx="279019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GPT-3 Training Cost Estimate</a:t>
            </a:r>
            <a:endParaRPr lang="en-US" sz="1100"/>
          </a:p>
        </p:txBody>
      </p:sp>
      <p:sp>
        <p:nvSpPr>
          <p:cNvPr id="10" name="AutoShape 10"/>
          <p:cNvSpPr/>
          <p:nvPr/>
        </p:nvSpPr>
        <p:spPr>
          <a:xfrm>
            <a:off x="8311515" y="6458585"/>
            <a:ext cx="279019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GPT-4 Training Cost Estimate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Memory Mechanisms of the Backward Pass</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Standard Backward Pass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(Vanilla)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Memory requirements grow linearly with the number of network layers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Root Cause Analysis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Node Retention: All intermediate activations generated during the forward pass must be retained in memory.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Dependency: When computing the gradients for layer i , the input and output of layer i are typically required.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Release condition:  The corresponding memory is only released after all child nodes (dependencies) have been fully processed.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0815" y="4032250"/>
            <a:ext cx="6080760" cy="1641475"/>
          </a:xfrm>
          <a:prstGeom prst="rect">
            <a:avLst/>
          </a:prstGeom>
          <a:ln w="12700">
            <a:noFill/>
            <a:prstDash val="solid"/>
          </a:ln>
        </p:spPr>
      </p:pic>
      <p:pic>
        <p:nvPicPr>
          <p:cNvPr id="7" name="Picture 7"/>
          <p:cNvPicPr>
            <a:picLocks noChangeAspect="1"/>
          </p:cNvPicPr>
          <p:nvPr/>
        </p:nvPicPr>
        <p:blipFill>
          <a:blip r:embed="rId2"/>
          <a:srcRect t="22264"/>
          <a:stretch>
            <a:fillRect/>
          </a:stretch>
        </p:blipFill>
        <p:spPr>
          <a:xfrm>
            <a:off x="6376035" y="4210050"/>
            <a:ext cx="5694045" cy="1463675"/>
          </a:xfrm>
          <a:prstGeom prst="rect">
            <a:avLst/>
          </a:prstGeom>
          <a:ln w="12700">
            <a:noFill/>
            <a:prstDash val="solid"/>
          </a:ln>
        </p:spPr>
      </p:pic>
      <p:sp>
        <p:nvSpPr>
          <p:cNvPr id="8" name="AutoShape 8"/>
          <p:cNvSpPr/>
          <p:nvPr/>
        </p:nvSpPr>
        <p:spPr>
          <a:xfrm>
            <a:off x="55245" y="5817235"/>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Forward Pass: </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All intermediate activations must be retained in memory</a:t>
            </a:r>
            <a:endParaRPr lang="en-US" sz="1100"/>
          </a:p>
        </p:txBody>
      </p:sp>
      <p:sp>
        <p:nvSpPr>
          <p:cNvPr id="9" name="AutoShape 9"/>
          <p:cNvSpPr/>
          <p:nvPr/>
        </p:nvSpPr>
        <p:spPr>
          <a:xfrm>
            <a:off x="5831840" y="5817235"/>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Backward Pass: </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Once child nodes have been processed, the corresponding memory is released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Memory Mechanisms of the Backward Pass</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Low-Memory Backward Pass</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Discard intermediate values and recompute them on demand.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Basic Workflow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 longer store all activations from the forward pass in memory.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When the backward pass requires data from a certain layer, rerun the forward computation from the nearest checkpoint.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complexity increases from  O(n)  to  O(n^2)</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85090" y="5806440"/>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Forward Pass: </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Does not store the Activations of the Forward Pass in memory</a:t>
            </a:r>
            <a:endParaRPr lang="en-US" sz="1100"/>
          </a:p>
        </p:txBody>
      </p:sp>
      <p:sp>
        <p:nvSpPr>
          <p:cNvPr id="7" name="AutoShape 7"/>
          <p:cNvSpPr/>
          <p:nvPr/>
        </p:nvSpPr>
        <p:spPr>
          <a:xfrm>
            <a:off x="6153785" y="5827395"/>
            <a:ext cx="5553710" cy="52197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Backward Pass:</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Re-runs the forward computation from the nearest "Checkpoint"</a:t>
            </a:r>
            <a:endParaRPr lang="en-US" sz="1100"/>
          </a:p>
        </p:txBody>
      </p:sp>
      <p:pic>
        <p:nvPicPr>
          <p:cNvPr id="8" name="Picture 8"/>
          <p:cNvPicPr>
            <a:picLocks noChangeAspect="1"/>
          </p:cNvPicPr>
          <p:nvPr/>
        </p:nvPicPr>
        <p:blipFill>
          <a:blip r:embed="rId1"/>
          <a:srcRect/>
          <a:stretch>
            <a:fillRect/>
          </a:stretch>
        </p:blipFill>
        <p:spPr>
          <a:xfrm>
            <a:off x="85090" y="3839210"/>
            <a:ext cx="6132830" cy="1598930"/>
          </a:xfrm>
          <a:prstGeom prst="rect">
            <a:avLst/>
          </a:prstGeom>
          <a:ln w="12700">
            <a:noFill/>
            <a:prstDash val="solid"/>
          </a:ln>
        </p:spPr>
      </p:pic>
      <p:pic>
        <p:nvPicPr>
          <p:cNvPr id="9" name="Picture 9"/>
          <p:cNvPicPr>
            <a:picLocks noChangeAspect="1"/>
          </p:cNvPicPr>
          <p:nvPr/>
        </p:nvPicPr>
        <p:blipFill>
          <a:blip r:embed="rId2"/>
          <a:srcRect/>
          <a:stretch>
            <a:fillRect/>
          </a:stretch>
        </p:blipFill>
        <p:spPr>
          <a:xfrm>
            <a:off x="6217920" y="3860165"/>
            <a:ext cx="5688965" cy="16713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Gradient Checkpointing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Between "Standard Backward Pass" and "Low-Memory Backward Pass"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By storing a subset of critical layers, the computational overhead is kept within a reasonable range while significantly reducing memory usage.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Non-checkpoint nodes are locally recomputed starting from the nearest Checkpoint when required during the backward pass.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Optimal Choice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To balance memory and computation, </a:t>
            </a: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the mathematically optimal solution is to place a checkpoint every  nodes.</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Memory Complexity: O( )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Complexity: O(n) , approximately 1.5x the standard backward pass computation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Spending 50% more time to gain the significant benefit of reducing GPU memory usage from n down to</a:t>
            </a:r>
            <a:endPar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97815" y="4655185"/>
            <a:ext cx="6009640" cy="15684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07455" y="4755515"/>
            <a:ext cx="5761990" cy="1715135"/>
          </a:xfrm>
          <a:prstGeom prst="rect">
            <a:avLst/>
          </a:prstGeom>
          <a:ln w="12700">
            <a:noFill/>
            <a:prstDash val="solid"/>
          </a:ln>
        </p:spPr>
      </p:pic>
      <p:sp>
        <p:nvSpPr>
          <p:cNvPr id="8" name="AutoShape 8"/>
          <p:cNvSpPr/>
          <p:nvPr/>
        </p:nvSpPr>
        <p:spPr>
          <a:xfrm>
            <a:off x="-43180" y="6407785"/>
            <a:ext cx="5553710" cy="3067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Forward Pass:</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store partial key layers</a:t>
            </a:r>
            <a:endParaRPr lang="en-US" sz="1100"/>
          </a:p>
        </p:txBody>
      </p:sp>
      <p:sp>
        <p:nvSpPr>
          <p:cNvPr id="9" name="AutoShape 9"/>
          <p:cNvSpPr/>
          <p:nvPr/>
        </p:nvSpPr>
        <p:spPr>
          <a:xfrm>
            <a:off x="5292090" y="6403340"/>
            <a:ext cx="6771640" cy="3067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Backward Pass:</a:t>
            </a: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perform local recomputation starting from the nearest checkpoint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Gradient Checkpoint Code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nvPicPr>
        <p:blipFill>
          <a:blip r:embed="rId1"/>
          <a:srcRect/>
          <a:stretch>
            <a:fillRect/>
          </a:stretch>
        </p:blipFill>
        <p:spPr>
          <a:xfrm>
            <a:off x="6664325" y="4195445"/>
            <a:ext cx="5062220" cy="2216785"/>
          </a:xfrm>
          <a:prstGeom prst="rect">
            <a:avLst/>
          </a:prstGeom>
          <a:ln w="12700">
            <a:noFill/>
            <a:prstDash val="solid"/>
          </a:ln>
        </p:spPr>
      </p:pic>
      <p:sp>
        <p:nvSpPr>
          <p:cNvPr id="6" name="AutoShape 6"/>
          <p:cNvSpPr/>
          <p:nvPr/>
        </p:nvSpPr>
        <p:spPr>
          <a:xfrm>
            <a:off x="523875" y="1390650"/>
            <a:ext cx="592391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Native PyTorch custom implementation</a:t>
            </a:r>
            <a:endParaRPr lang="en-US" sz="1100"/>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module: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torch.utils.checkpoint</a:t>
            </a:r>
            <a:endPar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general models:  use the checkpoint  function, which can wrap any nn.Module.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sequential models:  use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checkpoint_sequential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designed specifically for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nn.Sequential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with built-in support for automatic segmentation.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Hugging Face Simple Model Integration</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Enable the </a:t>
            </a:r>
            <a:r>
              <a:rPr lang="en-US" sz="2000" b="0" i="1" u="none" strike="noStrike">
                <a:solidFill>
                  <a:srgbClr val="AFABAB"/>
                </a:solidFill>
                <a:latin typeface="Calibri" panose="020F0502020204030204"/>
                <a:ea typeface="Calibri" panose="020F0502020204030204"/>
                <a:cs typeface="Calibri" panose="020F0502020204030204"/>
                <a:sym typeface="Calibri" panose="020F0502020204030204"/>
              </a:rPr>
              <a:t>gradient_checkpointing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flag in training parameters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7276465" y="424815"/>
            <a:ext cx="3661410" cy="3517265"/>
          </a:xfrm>
          <a:prstGeom prst="rect">
            <a:avLst/>
          </a:prstGeom>
          <a:ln w="12700">
            <a:noFill/>
            <a:prstDash val="solid"/>
          </a:ln>
        </p:spPr>
      </p:pic>
      <p:sp>
        <p:nvSpPr>
          <p:cNvPr id="8" name="AutoShape 8"/>
          <p:cNvSpPr/>
          <p:nvPr/>
        </p:nvSpPr>
        <p:spPr>
          <a:xfrm>
            <a:off x="6330315" y="3921125"/>
            <a:ext cx="555371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Native Pytorch Implementation Checkpoint</a:t>
            </a:r>
            <a:endParaRPr lang="en-US" sz="1100"/>
          </a:p>
        </p:txBody>
      </p:sp>
      <p:sp>
        <p:nvSpPr>
          <p:cNvPr id="9" name="AutoShape 9"/>
          <p:cNvSpPr/>
          <p:nvPr/>
        </p:nvSpPr>
        <p:spPr>
          <a:xfrm>
            <a:off x="6247765" y="6438900"/>
            <a:ext cx="555371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HF Simple Model Integration Checkpoint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Offloading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000" b="0" i="0" u="none" strike="noStrike" spc="0">
                <a:solidFill>
                  <a:srgbClr val="A5A5A5">
                    <a:alpha val="100000"/>
                  </a:srgbClr>
                </a:solidFill>
                <a:latin typeface="Garamond" panose="02020404030301010803"/>
              </a:defRPr>
            </a:lvl1pPr>
          </a:lstStyle>
          <a:p>
            <a:pPr indent="0" algn="l">
              <a:lnSpc>
                <a:spcPct val="100000"/>
              </a:lnSpc>
            </a:pPr>
            <a:r>
              <a:rPr lang="en-US" sz="1000" b="0" i="0" u="none" strike="noStrike">
                <a:solidFill>
                  <a:srgbClr val="A5A5A5"/>
                </a:solidFill>
                <a:latin typeface="Garamond" panose="02020404030301010803"/>
                <a:ea typeface="Garamond" panose="02020404030301010803"/>
                <a:cs typeface="Garamond" panose="02020404030301010803"/>
                <a:sym typeface="Garamond" panose="02020404030301010803"/>
              </a:rPr>
              <a:t>[1] Ren J, Rajbhandari S, Aminabadi R Y, et al. {Zero-offload}: Democratizing {billion-scale} model training[C]//2021 USENIX Annual Technical Conference (USENIX ATC 21). 2021: 551-564.</a:t>
            </a:r>
            <a:endParaRPr lang="en-US" sz="10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000" b="0" i="0" u="none" strike="noStrike">
                <a:solidFill>
                  <a:srgbClr val="A5A5A5"/>
                </a:solidFill>
                <a:latin typeface="Garamond" panose="02020404030301010803"/>
                <a:ea typeface="Garamond" panose="02020404030301010803"/>
                <a:cs typeface="Garamond" panose="02020404030301010803"/>
                <a:sym typeface="Garamond" panose="02020404030301010803"/>
              </a:rPr>
              <a:t>[2] Rajbhandari S, Ruwase O, Rasley J, et al. Zero-infinity: Breaking the gpu memory wall for extreme scale deep learning[C]//Proceedings of the international conference for high performance computing, networking, storage and analysis. 2021: 1-14.</a:t>
            </a:r>
            <a:endParaRPr lang="en-US" sz="10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Principle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By temporarily migrating model parameters, optimizer states, or activations from GPU GPU memory to CPU memory or NVMe storage, the GPU Memory capacity constraint is overcome, enabling training of larger models.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Motivation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Offload inactive parameters to CPU/Disk</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 and storage are tiered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Dynamic swap-in and swap-out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Techniques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ZeRO-Offload (DeepSpeed):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Offload optimizer states and gradients to CPU memory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Scaling to NVMe SSD, Supporting TB-Scale model training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FSDP + CPU Offload (PyTorch):</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Based on Fully Sharded Data Parallel, supports partial offloading after parameter sharding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4761230" y="2569210"/>
          <a:ext cx="7272020" cy="1524000"/>
        </p:xfrm>
        <a:graphic>
          <a:graphicData uri="http://schemas.openxmlformats.org/drawingml/2006/table">
            <a:tbl>
              <a:tblPr>
                <a:effectLst/>
              </a:tblPr>
              <a:tblGrid>
                <a:gridCol w="1612265"/>
                <a:gridCol w="2306320"/>
                <a:gridCol w="3353435"/>
              </a:tblGrid>
              <a:tr h="381000">
                <a:tc>
                  <a:txBody>
                    <a:bodyPr rtlCol="0"/>
                    <a:lstStyle/>
                    <a:p>
                      <a:pPr indent="0" algn="l">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Dimension</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Impact</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400" b="0" i="0" u="none" strike="noStrike">
                          <a:solidFill>
                            <a:srgbClr val="FFFFFF"/>
                          </a:solidFill>
                          <a:latin typeface="Arial" panose="020B0604020202020204"/>
                          <a:ea typeface="Arial" panose="020B0604020202020204"/>
                          <a:cs typeface="Arial" panose="020B0604020202020204"/>
                          <a:sym typeface="Arial" panose="020B0604020202020204"/>
                        </a:rPr>
                        <a:t>Optimization Strategies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1000">
                <a:tc>
                  <a:txBody>
                    <a:bodyPr rtlCol="0"/>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Communication Overhead</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CPU↔GPU bandwidth is far lower than GPU Memory bandwidth</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Prefetching, computation-communication overlap</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1000">
                <a:tc>
                  <a:txBody>
                    <a:bodyPr rtlCol="0"/>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Computation Latency</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CPU computation is slower than GPU</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Offload only the optimizer states (e.g., adam computation), keeping forward/ backward passes on the GPU</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1000">
                <a:tc>
                  <a:txBody>
                    <a:bodyPr rtlCol="0"/>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Scalability</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NVMe bandwidth limitation</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Multi-channel SSD parallelism, asynchronous I/O</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Large Model Training Offloading Technology Comparison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t="10951"/>
          <a:stretch>
            <a:fillRect/>
          </a:stretch>
        </p:blipFill>
        <p:spPr>
          <a:xfrm>
            <a:off x="523875" y="1327785"/>
            <a:ext cx="10276205" cy="5530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DeepSpeed ZeRO-Offloading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Strategy 1: Limit CPU Computation</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CPU computation is far slower than GPU; only offload low-complexity tasks.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 retains: forward and backward pass (complexity O(MB), where B is Batch Size).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CPU handles: parameter updates (complexity O(M)), such as norm computation, weight update, etc.</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Strategy 2: Minimize Communication Volume</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minimum communication volume for any model state offloading scheme is 4M</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p32, m32, v32 are merged with the "weight update" computation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p16 and FWD-BWD super-node remain together on the GPU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14185" y="3596640"/>
            <a:ext cx="5057775" cy="3004185"/>
          </a:xfrm>
          <a:prstGeom prst="rect">
            <a:avLst/>
          </a:prstGeom>
          <a:ln w="12700">
            <a:noFill/>
            <a:prstDash val="solid"/>
          </a:ln>
        </p:spPr>
      </p:pic>
      <p:graphicFrame>
        <p:nvGraphicFramePr>
          <p:cNvPr id="7" name="Table 7"/>
          <p:cNvGraphicFramePr>
            <a:graphicFrameLocks noGrp="1"/>
          </p:cNvGraphicFramePr>
          <p:nvPr/>
        </p:nvGraphicFramePr>
        <p:xfrm>
          <a:off x="476250" y="4220210"/>
          <a:ext cx="5728970" cy="368935"/>
        </p:xfrm>
        <a:graphic>
          <a:graphicData uri="http://schemas.openxmlformats.org/drawingml/2006/table">
            <a:tbl>
              <a:tblPr>
                <a:effectLst/>
              </a:tblPr>
              <a:tblGrid>
                <a:gridCol w="1590040"/>
                <a:gridCol w="1066165"/>
                <a:gridCol w="3072765"/>
              </a:tblGrid>
              <a:tr h="368935">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Node Type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Device</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Reason</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FWD-BWD </a:t>
                      </a:r>
                      <a:endParaRPr lang="en-US" sz="1100"/>
                    </a:p>
                    <a:p>
                      <a:pPr indent="0" algn="l">
                        <a:lnSpc>
                          <a:spcPct val="100000"/>
                        </a:lnSpc>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Super Node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Extremely high computational demand O(MB)</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p16</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Reduce communication overhead with compute nodes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Update Super Node</a:t>
                      </a:r>
                      <a:endParaRPr lang="en-US" sz="1100"/>
                    </a:p>
                    <a:p>
                      <a:pPr indent="0" algn="l">
                        <a:lnSpc>
                          <a:spcPct val="100000"/>
                        </a:lnSpc>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(p32, m32, v32)</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Highest memory footprint,</a:t>
                      </a:r>
                      <a:endParaRPr lang="en-US" sz="1100"/>
                    </a:p>
                    <a:p>
                      <a:pPr indent="0" algn="l">
                        <a:lnSpc>
                          <a:spcPct val="100000"/>
                        </a:lnSpc>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with low computational complexity (O(M)</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g16</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Reduce communication overhead with compute nodes</a:t>
                      </a:r>
                      <a:endParaRPr lang="en-US" sz="1100"/>
                    </a:p>
                  </a:txBody>
                  <a:tcPr marL="57467" marR="57467" marT="38417" marB="38417" anchor="t">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ZeRO-Offloading Single-GPU Scheduling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Computation and Communication Overlap</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Forward Pass</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FP16 parameters are already on GPU ; no communication with CPU is required.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Backward Pass</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On-the-fly transfer: Gradients are immediately sent to CPU in small groups as soon as they are computed.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Pipeline parallelism: leverages asynchronous transfer to overlap gradient back-propagation with the remaining backward computation, hiding communication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Update Phase</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Directly update FP32 states (parameters, momentum, and variance) on the CPU.</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After the update, only convert the FP32 parameters back to the GPU and update them to FP16.</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72885" y="1132840"/>
            <a:ext cx="5323840" cy="18065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ZeRO-Offloading Multi-GPU Scaling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1"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Combining ZeRO-2 "state partitioning" with Offload "path redirection ".</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indent="0" algn="l">
              <a:lnSpc>
                <a:spcPct val="92000"/>
              </a:lnSpc>
              <a:spcBef>
                <a:spcPts val="1500"/>
              </a:spcBef>
            </a:pPr>
          </a:p>
          <a:p>
            <a:pPr indent="0" algn="l">
              <a:lnSpc>
                <a:spcPct val="92000"/>
              </a:lnSpc>
              <a:spcBef>
                <a:spcPts val="1500"/>
              </a:spcBef>
            </a:p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Data Layout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Each GPU is only responsible for maintaining a partition of the parameters, gradients, and optimizer states.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partition corresponding to each GPU is offloaded to its connected CPU memory.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Parallelism Advantage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Constant Communication: The total communication volume does not grow as the number of GPU units increases.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Compute Acceleration: Optimizer updates on the CPU side are processed in parallel across multiple CPU cores.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more GPUs are used, the less CPU computation each card shoulders, delivering exceptional scalability.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6083" b="21595"/>
          <a:stretch>
            <a:fillRect/>
          </a:stretch>
        </p:blipFill>
        <p:spPr>
          <a:xfrm>
            <a:off x="3004820" y="1807845"/>
            <a:ext cx="4702175" cy="1739265"/>
          </a:xfrm>
          <a:prstGeom prst="rect">
            <a:avLst/>
          </a:prstGeom>
          <a:ln w="12700">
            <a:noFill/>
            <a:prstDash val="solid"/>
          </a:ln>
        </p:spPr>
      </p:pic>
      <p:sp>
        <p:nvSpPr>
          <p:cNvPr id="7" name="AutoShape 7"/>
          <p:cNvSpPr/>
          <p:nvPr/>
        </p:nvSpPr>
        <p:spPr>
          <a:xfrm>
            <a:off x="6817360" y="2466975"/>
            <a:ext cx="5553710" cy="2914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ZeRO-Offload data placement with multiple GPUs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Features and Capabilities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Features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Unlimited Scale: Supports training models with hundreds of trillions of parameters on limited GPU resources</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training a model with over 1 trillion parameters on a single GPU node.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Extreme Heterogeneous Utilization: Treats HBM, DRAM, and NVMe as a unified memory hierarchy.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Compute Communication Overlap: The Infinity Offload Engine mitigates the low-bandwidth impact of NVMe/PCIe.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Ease of Use: No model refactoring required; developers can train large models just as writing PyTorch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Features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ZeRO-3 All-Round Optimization: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Eliminate redundancy entirely by distributing parameters, gradients, and optimizer states across all heterogeneous storage media.</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NVMe Memory Expansion:</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Leverage NVMe storage for optimizer states and weights, breaking through the capacity constraints of DRAM.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Efficient Prefetching Mechanism: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Prefetch the required parameters from slow storage (NVMe/CPU) before computing the next layer.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 Parallelism and Operator Splitting</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Supports automatic splitting of extremely large operators, ensuring that a single GPU can fit even the most massive network layers.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Overall Workflow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944870" cy="4853305"/>
          </a:xfrm>
          <a:prstGeom prst="rect">
            <a:avLst/>
          </a:prstGeom>
        </p:spPr>
        <p:txBody>
          <a:bodyPr wrap="square" lIns="91440" tIns="45720" rIns="91440" bIns="45720" anchor="t">
            <a:normAutofit lnSpcReduction="20000"/>
          </a:bodyPr>
          <a:lstStyle>
            <a:lvl1pPr algn="l">
              <a:lnSpc>
                <a:spcPct val="83000"/>
              </a:lnSpc>
              <a:defRPr sz="1800" b="1" i="0" u="none" strike="noStrike" spc="0">
                <a:solidFill>
                  <a:srgbClr val="404040">
                    <a:alpha val="100000"/>
                  </a:srgbClr>
                </a:solidFill>
                <a:latin typeface="Calibri" panose="020F0502020204030204"/>
              </a:defRPr>
            </a:lvl1pPr>
          </a:lstStyle>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1: Parameter Fetching</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GPU holds only a small shard of the parameters for that layer.</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sharded parameters are moved from slow storage into the GPU memory of the corresponding device.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2: All-Gather</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complete parameters of the Layer are temporarily assembled in the GPU memory of every device.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3: Gradient Computation and Aggregation</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backward pass is performed using the complete parameters to generate gradients.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Each GPU ultimately retains only the shard of gradients it is responsible for.</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Step 4: Gradient Write-Back</a:t>
            </a:r>
            <a:endPar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83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aggregated gradient shards are written back from GPU memory to slow storage.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637655" y="1214120"/>
            <a:ext cx="5357495" cy="52851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ZeRO-Infinity Efficiency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700" b="1" i="0" u="none" strike="noStrike" spc="0">
                <a:solidFill>
                  <a:srgbClr val="404040">
                    <a:alpha val="100000"/>
                  </a:srgbClr>
                </a:solidFill>
                <a:latin typeface="Calibri" panose="020F0502020204030204"/>
              </a:defRPr>
            </a:lvl1pPr>
          </a:lstStyle>
          <a:p>
            <a:pPr marL="215900" indent="-215900" algn="l">
              <a:lnSpc>
                <a:spcPct val="92000"/>
              </a:lnSpc>
              <a:spcBef>
                <a:spcPts val="150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1. Bandwidth-Centric Parallel Partitioning</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Abandon ZeRO-Offload single-owner/broadcast model, and store each parameter as shards </a:t>
            </a:r>
            <a:b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b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 across all DP rank nodes.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Parallel PCIe throughput: Engaging all PCIe lanes across all nodes simultaneously for parallel reads,</a:t>
            </a:r>
            <a:b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b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with effective bandwidth scaling linearly with the DP degree.</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92000"/>
              </a:lnSpc>
              <a:spcBef>
                <a:spcPts val="150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2. Full End-to-End Pipeline Overlap Design</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Three-Level Prefetch Engine: NVMe → CPU, CPU → GPU, and GPU ↔ GPU.</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Example: While executing operator i, concurrently prefetch the GPU communication for i+1, the GPU Memory copy for i+2, and the disk read for i+3.</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Dynamic Flow Awareness: Builds operator mapping tables in real time, supporting complex or dynamically changing computation graphs to mask data movement overhead.</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92000"/>
              </a:lnSpc>
              <a:spcBef>
                <a:spcPts val="150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3. Infinity Offload Engine and Optimizations</a:t>
            </a:r>
            <a:endPar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DeepNVMe Library: A high-performance C++ asynchronous I/O library that achieves maximum NVMe read/write performance through request parallelization, intelligent scheduling, and zero-copy technology.</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Pinned Memory Management: </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Minimal memory footprint: Only tens of GB of pinned buffers are required to manage tens of TB of model states, completely eliminating memory fragmentation.</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In-place Computation: Supports optimizer updates directly within buffers, eliminating unnecessary memory copies and improving end-to-end throughput.</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403080" y="711200"/>
            <a:ext cx="2239645" cy="27178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DeepSpeed ZeRO-Offloading &amp; Infinity Code Examples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4" name="Picture 4"/>
          <p:cNvPicPr>
            <a:picLocks noChangeAspect="1"/>
          </p:cNvPicPr>
          <p:nvPr/>
        </p:nvPicPr>
        <p:blipFill>
          <a:blip r:embed="rId1"/>
          <a:srcRect/>
          <a:stretch>
            <a:fillRect/>
          </a:stretch>
        </p:blipFill>
        <p:spPr>
          <a:xfrm>
            <a:off x="823595" y="1751330"/>
            <a:ext cx="2653665" cy="4114800"/>
          </a:xfrm>
          <a:prstGeom prst="rect">
            <a:avLst/>
          </a:prstGeom>
          <a:ln w="12700">
            <a:noFill/>
            <a:prstDash val="solid"/>
          </a:ln>
        </p:spPr>
      </p:pic>
      <p:pic>
        <p:nvPicPr>
          <p:cNvPr id="5" name="Picture 5"/>
          <p:cNvPicPr>
            <a:picLocks noChangeAspect="1"/>
          </p:cNvPicPr>
          <p:nvPr/>
        </p:nvPicPr>
        <p:blipFill>
          <a:blip r:embed="rId2"/>
          <a:srcRect/>
          <a:stretch>
            <a:fillRect/>
          </a:stretch>
        </p:blipFill>
        <p:spPr>
          <a:xfrm>
            <a:off x="3910330" y="2318385"/>
            <a:ext cx="3242945" cy="2981325"/>
          </a:xfrm>
          <a:prstGeom prst="rect">
            <a:avLst/>
          </a:prstGeom>
          <a:ln w="12700">
            <a:noFill/>
            <a:prstDash val="solid"/>
          </a:ln>
        </p:spPr>
      </p:pic>
      <p:pic>
        <p:nvPicPr>
          <p:cNvPr id="6" name="Picture 6"/>
          <p:cNvPicPr>
            <a:picLocks noChangeAspect="1"/>
          </p:cNvPicPr>
          <p:nvPr/>
        </p:nvPicPr>
        <p:blipFill>
          <a:blip r:embed="rId3"/>
          <a:srcRect/>
          <a:stretch>
            <a:fillRect/>
          </a:stretch>
        </p:blipFill>
        <p:spPr>
          <a:xfrm>
            <a:off x="7586345" y="1219200"/>
            <a:ext cx="3828415" cy="4813935"/>
          </a:xfrm>
          <a:prstGeom prst="rect">
            <a:avLst/>
          </a:prstGeom>
          <a:ln w="12700">
            <a:noFill/>
            <a:prstDash val="solid"/>
          </a:ln>
        </p:spPr>
      </p:pic>
      <p:sp>
        <p:nvSpPr>
          <p:cNvPr id="7" name="AutoShape 7"/>
          <p:cNvSpPr/>
          <p:nvPr/>
        </p:nvSpPr>
        <p:spPr>
          <a:xfrm>
            <a:off x="889635" y="5996940"/>
            <a:ext cx="252158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DeepSpeed Configuration</a:t>
            </a:r>
            <a:endParaRPr lang="en-US" sz="1100"/>
          </a:p>
          <a:p>
            <a:pPr indent="0" algn="ctr">
              <a:lnSpc>
                <a:spcPct val="100000"/>
              </a:lnSpc>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ZeRO-Offload (Stage 2)</a:t>
            </a:r>
            <a:endParaRPr lang="en-US" sz="16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3910330" y="5996940"/>
            <a:ext cx="322008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DeepSpeed Configuration</a:t>
            </a:r>
            <a:endParaRPr lang="en-US" sz="1100"/>
          </a:p>
          <a:p>
            <a:pPr indent="0" algn="ctr">
              <a:lnSpc>
                <a:spcPct val="100000"/>
              </a:lnSpc>
            </a:pPr>
            <a:r>
              <a:rPr lang="en-US" sz="1600" b="1" i="0" u="none" strike="noStrike">
                <a:solidFill>
                  <a:srgbClr val="000000"/>
                </a:solidFill>
                <a:latin typeface="Arial" panose="020B0604020202020204"/>
                <a:ea typeface="Arial" panose="020B0604020202020204"/>
                <a:cs typeface="Arial" panose="020B0604020202020204"/>
                <a:sym typeface="Arial" panose="020B0604020202020204"/>
              </a:rPr>
              <a:t>ZeRO-Infinity (Stage 3 + NVMe)</a:t>
            </a:r>
            <a:endParaRPr lang="en-US" sz="1600" b="1"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7780655" y="6155690"/>
            <a:ext cx="322008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Training Code Examples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36</a:t>
            </a:r>
            <a:r>
              <a:rPr lang="en-US" sz="4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Module IV Final Project</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(7B Model Multi-Node Distributed Training)</a:t>
            </a:r>
            <a:endPar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Project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Project Background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Large-scale language model training is a comprehensive test of distributed systems engineering. This project requires students to work in  3 -person teams, using  FlagScale  and  FlagCX  to deploy a training task on a multi-node  GPU  GPU cluster with a  7B -parameter  LLM (e.g.,  LLaMA-2-7B  or equivalent architecture), and conduct in-depth analysis of parallelism strategies' impact on throughput, GPU memory usage, and communication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Project Objectives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Successfully launch distributed training on  2  or more nodes (each with  ≥ 8 GPU GPUs)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Configure and compare at least two parallelism strategy combinations (e.g.,  DP=8 vs TP=4+PP=2</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Use  FlagCX  to replace the default communication backend, record communication performance changes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Measure and report: training throughput (tokens/s/GPU), linear speedup ratio, peak GPU memory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(Advanced) Simulate node failure and verify  Checkpoint  recovery functionality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Required Task Breakdown - 1</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Task 1: Environment Deployment and Cluster Configuration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Configure multi-node  SSH  mutual trust and  NFS  shared storage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Install  FlagScale  and verify single-node single-GPU training runs correctly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Configure  FlagCX  communication backend, verify  AllReduce  basic functionality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Task 2: Parallelism Strategy Configuration and Experiments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Group 1: Pure Data Parallelism (DP=16, total  GPU=16</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Group 2: Tensor Parallelism +  Pipeline Parallelism (TP=4, PP=2, DP=2</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Group 3: Hybrid Parallelism Auto-Configuration (using  FlagScale  automatic partitioning)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Required Task Breakdown - 2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Task 3: GPU Memory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Enable  Gradient Checkpointing  and record GPU memory savings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(Optional) Enable  CPU Offload, evaluate impact on throughput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Task 4: Performance Data Collection and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Training throughput (tokens/s/GPU</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3  strategies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Linear speedup ratio =  Actual speedup /  Theoretical speedup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Peak  GPU  memory (nvidia-smi dmon  sampling)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Communication overhead ratio (FlagCX  log analysis)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Submission Requirements and 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Submission Checklist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config/  directory: FlagScale  configuration files (3  parallelism strategies)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scripts/  directory: launch scripts, monitoring scripts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results/  directory: performance data  CSV, GPU memory logs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report.pdf: no more than  10  pages, including architecture diagrams, performance comparison charts, and analytical conclusions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(Advanced) fault_recovery_demo.mp4: fault recovery screen recording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Grading Criteria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1079500" y="4364355"/>
          <a:ext cx="8769985" cy="2247900"/>
        </p:xfrm>
        <a:graphic>
          <a:graphicData uri="http://schemas.openxmlformats.org/drawingml/2006/table">
            <a:tbl>
              <a:tblPr>
                <a:effectLst/>
              </a:tblPr>
              <a:tblGrid>
                <a:gridCol w="2811145"/>
                <a:gridCol w="1686560"/>
                <a:gridCol w="4272280"/>
              </a:tblGrid>
              <a:tr h="393065">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Assessment Dimension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Score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200" b="1" i="0" u="none" strike="noStrike">
                          <a:solidFill>
                            <a:srgbClr val="FFFFFF"/>
                          </a:solidFill>
                          <a:latin typeface="Arial" panose="020B0604020202020204"/>
                          <a:ea typeface="Arial" panose="020B0604020202020204"/>
                          <a:cs typeface="Arial" panose="020B0604020202020204"/>
                          <a:sym typeface="Arial" panose="020B0604020202020204"/>
                        </a:rPr>
                        <a:t> Grading Criteria</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7084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Training Task Successful Execution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25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Stable multi-node execution for  100  steps or more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1475">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Parallelism Strategy Comparative Analysis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30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Complete data for all three strategies with in-depth analysis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084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FlagCX  Integration and Analysis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20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Communication overhead quantified, compared with  NCCL </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084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GPU Memory Optimization Experiment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15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GC  effect quantified, correct methodology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0840">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Report Quality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10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Clear charts, evidence-based conclusions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4557/output_1.pngoutput_1"/>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66908</Words>
  <Application>WPS 演示</Application>
  <PresentationFormat/>
  <Paragraphs>2143</Paragraphs>
  <Slides>161</Slides>
  <Notes>0</Notes>
  <HiddenSlides>0</HiddenSlides>
  <MMClips>0</MMClips>
  <ScaleCrop>false</ScaleCrop>
  <HeadingPairs>
    <vt:vector size="6" baseType="variant">
      <vt:variant>
        <vt:lpstr>已用的字体</vt:lpstr>
      </vt:variant>
      <vt:variant>
        <vt:i4>31</vt:i4>
      </vt:variant>
      <vt:variant>
        <vt:lpstr>主题</vt:lpstr>
      </vt:variant>
      <vt:variant>
        <vt:i4>3</vt:i4>
      </vt:variant>
      <vt:variant>
        <vt:lpstr>幻灯片标题</vt:lpstr>
      </vt:variant>
      <vt:variant>
        <vt:i4>161</vt:i4>
      </vt:variant>
    </vt:vector>
  </HeadingPairs>
  <TitlesOfParts>
    <vt:vector size="195"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Garamond</vt:lpstr>
      <vt:lpstr>Calibri</vt:lpstr>
      <vt:lpstr>文泉驿微米黑</vt:lpstr>
      <vt:lpstr>黑体</vt:lpstr>
      <vt:lpstr>Wingdings 3</vt:lpstr>
      <vt:lpstr>Ebrima</vt:lpstr>
      <vt:lpstr>Calibri Light</vt:lpstr>
      <vt:lpstr>Montserrat SemiBold</vt:lpstr>
      <vt:lpstr>Pretendard</vt:lpstr>
      <vt:lpstr>Malgun Gothic</vt:lpstr>
      <vt:lpstr>Ebrima</vt:lpstr>
      <vt:lpstr>Arial Unicode MS</vt:lpstr>
      <vt:lpstr>BatangChe</vt:lpstr>
      <vt:lpstr>Courier New</vt:lpstr>
      <vt:lpstr>-apple-system</vt:lpstr>
      <vt:lpstr>Google Sans Text</vt:lpstr>
      <vt:lpstr>Cambria Math</vt:lpstr>
      <vt:lpstr>Noto Sans SC</vt:lpstr>
      <vt:lpstr>等线</vt:lpstr>
      <vt:lpstr>Office 主题​​</vt:lpstr>
      <vt:lpstr>母版</vt:lpstr>
      <vt:lpstr>1_母版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39</cp:revision>
  <dcterms:created xsi:type="dcterms:W3CDTF">2026-04-21T01:52:00Z</dcterms:created>
  <dcterms:modified xsi:type="dcterms:W3CDTF">2026-05-06T07:49:14Z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EE3857BD207AEED703D2E6693413B488_42</vt:lpwstr>
  </property>
  <property fmtid="{D5CDD505-2E9C-101B-9397-08002B2CF9AE}" pid="3" name="KSOProductBuildVer">
    <vt:lpwstr>2052-12.1.0.21915</vt:lpwstr>
  </property>
</Properties>
</file>