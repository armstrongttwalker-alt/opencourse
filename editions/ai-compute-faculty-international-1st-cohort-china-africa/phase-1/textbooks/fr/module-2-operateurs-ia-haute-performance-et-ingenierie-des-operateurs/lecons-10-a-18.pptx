
<file path=[Content_Types].xml><?xml version="1.0" encoding="utf-8"?>
<Types xmlns="http://schemas.openxmlformats.org/package/2006/content-types">
  <Default Extension="png" ContentType="image/png"/>
  <Default Extension="gif" ContentType="image/gi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handoutMasterIdLst>
    <p:handoutMasterId r:id="rId171"/>
  </p:handoutMasterIdLst>
  <p:sldIdLst>
    <p:sldId id="256" r:id="rId4"/>
    <p:sldId id="257" r:id="rId6"/>
    <p:sldId id="586"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8" r:id="rId50"/>
    <p:sldId id="309" r:id="rId51"/>
    <p:sldId id="310" r:id="rId52"/>
    <p:sldId id="311" r:id="rId53"/>
    <p:sldId id="312" r:id="rId54"/>
    <p:sldId id="313" r:id="rId55"/>
    <p:sldId id="314" r:id="rId56"/>
    <p:sldId id="315" r:id="rId57"/>
    <p:sldId id="316" r:id="rId58"/>
    <p:sldId id="317" r:id="rId59"/>
    <p:sldId id="318" r:id="rId60"/>
    <p:sldId id="319" r:id="rId61"/>
    <p:sldId id="320" r:id="rId62"/>
    <p:sldId id="325" r:id="rId63"/>
    <p:sldId id="326" r:id="rId64"/>
    <p:sldId id="327" r:id="rId65"/>
    <p:sldId id="328" r:id="rId66"/>
    <p:sldId id="329" r:id="rId67"/>
    <p:sldId id="330" r:id="rId68"/>
    <p:sldId id="331" r:id="rId69"/>
    <p:sldId id="332" r:id="rId70"/>
    <p:sldId id="333" r:id="rId71"/>
    <p:sldId id="334" r:id="rId72"/>
    <p:sldId id="335" r:id="rId73"/>
    <p:sldId id="336" r:id="rId74"/>
    <p:sldId id="337" r:id="rId75"/>
    <p:sldId id="338" r:id="rId76"/>
    <p:sldId id="339" r:id="rId77"/>
    <p:sldId id="340" r:id="rId78"/>
    <p:sldId id="345" r:id="rId79"/>
    <p:sldId id="346" r:id="rId80"/>
    <p:sldId id="347" r:id="rId81"/>
    <p:sldId id="348" r:id="rId82"/>
    <p:sldId id="349" r:id="rId83"/>
    <p:sldId id="350" r:id="rId84"/>
    <p:sldId id="351" r:id="rId85"/>
    <p:sldId id="352" r:id="rId86"/>
    <p:sldId id="353" r:id="rId87"/>
    <p:sldId id="354" r:id="rId88"/>
    <p:sldId id="355" r:id="rId89"/>
    <p:sldId id="356" r:id="rId90"/>
    <p:sldId id="357" r:id="rId91"/>
    <p:sldId id="358" r:id="rId92"/>
    <p:sldId id="359" r:id="rId93"/>
    <p:sldId id="360" r:id="rId94"/>
    <p:sldId id="361" r:id="rId95"/>
    <p:sldId id="362" r:id="rId96"/>
    <p:sldId id="363" r:id="rId97"/>
    <p:sldId id="364" r:id="rId98"/>
    <p:sldId id="365" r:id="rId99"/>
    <p:sldId id="370" r:id="rId100"/>
    <p:sldId id="371" r:id="rId101"/>
    <p:sldId id="372" r:id="rId102"/>
    <p:sldId id="373" r:id="rId103"/>
    <p:sldId id="374" r:id="rId104"/>
    <p:sldId id="375" r:id="rId105"/>
    <p:sldId id="376" r:id="rId106"/>
    <p:sldId id="377" r:id="rId107"/>
    <p:sldId id="378" r:id="rId108"/>
    <p:sldId id="379" r:id="rId109"/>
    <p:sldId id="380" r:id="rId110"/>
    <p:sldId id="381" r:id="rId111"/>
    <p:sldId id="382" r:id="rId112"/>
    <p:sldId id="383" r:id="rId113"/>
    <p:sldId id="384" r:id="rId114"/>
    <p:sldId id="385" r:id="rId115"/>
    <p:sldId id="386" r:id="rId116"/>
    <p:sldId id="387" r:id="rId117"/>
    <p:sldId id="388" r:id="rId118"/>
    <p:sldId id="389" r:id="rId119"/>
    <p:sldId id="390" r:id="rId120"/>
    <p:sldId id="391" r:id="rId121"/>
    <p:sldId id="392" r:id="rId122"/>
    <p:sldId id="393" r:id="rId123"/>
    <p:sldId id="398" r:id="rId124"/>
    <p:sldId id="399" r:id="rId125"/>
    <p:sldId id="400" r:id="rId126"/>
    <p:sldId id="401" r:id="rId127"/>
    <p:sldId id="402" r:id="rId128"/>
    <p:sldId id="403" r:id="rId129"/>
    <p:sldId id="404" r:id="rId130"/>
    <p:sldId id="405" r:id="rId131"/>
    <p:sldId id="406" r:id="rId132"/>
    <p:sldId id="407" r:id="rId133"/>
    <p:sldId id="408" r:id="rId134"/>
    <p:sldId id="409" r:id="rId135"/>
    <p:sldId id="410" r:id="rId136"/>
    <p:sldId id="411" r:id="rId137"/>
    <p:sldId id="412" r:id="rId138"/>
    <p:sldId id="413" r:id="rId139"/>
    <p:sldId id="414" r:id="rId140"/>
    <p:sldId id="415" r:id="rId141"/>
    <p:sldId id="416" r:id="rId142"/>
    <p:sldId id="417" r:id="rId143"/>
    <p:sldId id="422" r:id="rId144"/>
    <p:sldId id="423" r:id="rId145"/>
    <p:sldId id="424" r:id="rId146"/>
    <p:sldId id="425" r:id="rId147"/>
    <p:sldId id="426" r:id="rId148"/>
    <p:sldId id="427" r:id="rId149"/>
    <p:sldId id="428" r:id="rId150"/>
    <p:sldId id="429" r:id="rId151"/>
    <p:sldId id="430" r:id="rId152"/>
    <p:sldId id="431" r:id="rId153"/>
    <p:sldId id="432" r:id="rId154"/>
    <p:sldId id="433" r:id="rId155"/>
    <p:sldId id="434" r:id="rId156"/>
    <p:sldId id="435" r:id="rId157"/>
    <p:sldId id="436" r:id="rId158"/>
    <p:sldId id="437" r:id="rId159"/>
    <p:sldId id="438" r:id="rId160"/>
    <p:sldId id="439" r:id="rId161"/>
    <p:sldId id="440" r:id="rId162"/>
    <p:sldId id="445" r:id="rId163"/>
    <p:sldId id="446" r:id="rId164"/>
    <p:sldId id="447" r:id="rId165"/>
    <p:sldId id="448" r:id="rId166"/>
    <p:sldId id="449" r:id="rId167"/>
    <p:sldId id="583" r:id="rId168"/>
    <p:sldId id="584" r:id="rId169"/>
    <p:sldId id="585" r:id="rId17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04"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8" d="100"/>
          <a:sy n="88" d="100"/>
        </p:scale>
        <p:origin x="72" y="120"/>
      </p:cViewPr>
      <p:guideLst>
        <p:guide orient="horz" pos="1604"/>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4" Type="http://schemas.openxmlformats.org/officeDocument/2006/relationships/tableStyles" Target="tableStyles.xml"/><Relationship Id="rId173" Type="http://schemas.openxmlformats.org/officeDocument/2006/relationships/viewProps" Target="viewProps.xml"/><Relationship Id="rId172" Type="http://schemas.openxmlformats.org/officeDocument/2006/relationships/presProps" Target="presProps.xml"/><Relationship Id="rId171" Type="http://schemas.openxmlformats.org/officeDocument/2006/relationships/handoutMaster" Target="handoutMasters/handoutMaster1.xml"/><Relationship Id="rId170" Type="http://schemas.openxmlformats.org/officeDocument/2006/relationships/slide" Target="slides/slide166.xml"/><Relationship Id="rId17" Type="http://schemas.openxmlformats.org/officeDocument/2006/relationships/slide" Target="slides/slide13.xml"/><Relationship Id="rId169" Type="http://schemas.openxmlformats.org/officeDocument/2006/relationships/slide" Target="slides/slide165.xml"/><Relationship Id="rId168" Type="http://schemas.openxmlformats.org/officeDocument/2006/relationships/slide" Target="slides/slide164.xml"/><Relationship Id="rId167" Type="http://schemas.openxmlformats.org/officeDocument/2006/relationships/slide" Target="slides/slide163.xml"/><Relationship Id="rId166" Type="http://schemas.openxmlformats.org/officeDocument/2006/relationships/slide" Target="slides/slide162.xml"/><Relationship Id="rId165" Type="http://schemas.openxmlformats.org/officeDocument/2006/relationships/slide" Target="slides/slide161.xml"/><Relationship Id="rId164" Type="http://schemas.openxmlformats.org/officeDocument/2006/relationships/slide" Target="slides/slide160.xml"/><Relationship Id="rId163" Type="http://schemas.openxmlformats.org/officeDocument/2006/relationships/slide" Target="slides/slide159.xml"/><Relationship Id="rId162" Type="http://schemas.openxmlformats.org/officeDocument/2006/relationships/slide" Target="slides/slide158.xml"/><Relationship Id="rId161" Type="http://schemas.openxmlformats.org/officeDocument/2006/relationships/slide" Target="slides/slide157.xml"/><Relationship Id="rId160" Type="http://schemas.openxmlformats.org/officeDocument/2006/relationships/slide" Target="slides/slide156.xml"/><Relationship Id="rId16" Type="http://schemas.openxmlformats.org/officeDocument/2006/relationships/slide" Target="slides/slide12.xml"/><Relationship Id="rId159" Type="http://schemas.openxmlformats.org/officeDocument/2006/relationships/slide" Target="slides/slide155.xml"/><Relationship Id="rId158" Type="http://schemas.openxmlformats.org/officeDocument/2006/relationships/slide" Target="slides/slide154.xml"/><Relationship Id="rId157" Type="http://schemas.openxmlformats.org/officeDocument/2006/relationships/slide" Target="slides/slide153.xml"/><Relationship Id="rId156" Type="http://schemas.openxmlformats.org/officeDocument/2006/relationships/slide" Target="slides/slide152.xml"/><Relationship Id="rId155" Type="http://schemas.openxmlformats.org/officeDocument/2006/relationships/slide" Target="slides/slide151.xml"/><Relationship Id="rId154" Type="http://schemas.openxmlformats.org/officeDocument/2006/relationships/slide" Target="slides/slide150.xml"/><Relationship Id="rId153" Type="http://schemas.openxmlformats.org/officeDocument/2006/relationships/slide" Target="slides/slide149.xml"/><Relationship Id="rId152" Type="http://schemas.openxmlformats.org/officeDocument/2006/relationships/slide" Target="slides/slide148.xml"/><Relationship Id="rId151" Type="http://schemas.openxmlformats.org/officeDocument/2006/relationships/slide" Target="slides/slide147.xml"/><Relationship Id="rId150" Type="http://schemas.openxmlformats.org/officeDocument/2006/relationships/slide" Target="slides/slide146.xml"/><Relationship Id="rId15" Type="http://schemas.openxmlformats.org/officeDocument/2006/relationships/slide" Target="slides/slide11.xml"/><Relationship Id="rId149" Type="http://schemas.openxmlformats.org/officeDocument/2006/relationships/slide" Target="slides/slide145.xml"/><Relationship Id="rId148" Type="http://schemas.openxmlformats.org/officeDocument/2006/relationships/slide" Target="slides/slide144.xml"/><Relationship Id="rId147" Type="http://schemas.openxmlformats.org/officeDocument/2006/relationships/slide" Target="slides/slide143.xml"/><Relationship Id="rId146" Type="http://schemas.openxmlformats.org/officeDocument/2006/relationships/slide" Target="slides/slide142.xml"/><Relationship Id="rId145" Type="http://schemas.openxmlformats.org/officeDocument/2006/relationships/slide" Target="slides/slide14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0.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1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1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1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1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1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1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1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1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1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1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1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1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1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1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1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1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1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_rels/notesSlide1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1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1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1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1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_rels/notesSlide1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8.xml"/></Relationships>
</file>

<file path=ppt/notesSlides/_rels/notesSlide1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9.xml"/></Relationships>
</file>

<file path=ppt/notesSlides/_rels/notesSlide1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0.xml"/></Relationships>
</file>

<file path=ppt/notesSlides/_rels/notesSlide1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1.xml"/></Relationships>
</file>

<file path=ppt/notesSlides/_rels/notesSlide1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2.xml"/></Relationships>
</file>

<file path=ppt/notesSlides/_rels/notesSlide1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3.xml"/></Relationships>
</file>

<file path=ppt/notesSlides/_rels/notesSlide1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4.xml"/></Relationships>
</file>

<file path=ppt/notesSlides/_rels/notesSlide1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5.xml"/></Relationships>
</file>

<file path=ppt/notesSlides/_rels/notesSlide1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6.xml"/></Relationships>
</file>

<file path=ppt/notesSlides/_rels/notesSlide1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7.xml"/></Relationships>
</file>

<file path=ppt/notesSlides/_rels/notesSlide1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8.xml"/></Relationships>
</file>

<file path=ppt/notesSlides/_rels/notesSlide1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9.xml"/></Relationships>
</file>

<file path=ppt/notesSlides/_rels/notesSlide1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0.xml"/></Relationships>
</file>

<file path=ppt/notesSlides/_rels/notesSlide1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1.xml"/></Relationships>
</file>

<file path=ppt/notesSlides/_rels/notesSlide1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2.xml"/></Relationships>
</file>

<file path=ppt/notesSlides/_rels/notesSlide1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3.xml"/></Relationships>
</file>

<file path=ppt/notesSlides/_rels/notesSlide1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Bonjour à tous, nous entrons aujourd'hui dans la dixième leçon, dont le thème est les principes du mécanisme d'attention et les besoins en opérateurs. Cette leçon occupe une position clé dans le cours. Vous avez déjà abordé le calcul hétérogène, CUDA et les opérateurs de base, et le mécanisme d'attention est l'opérateur central et le goulot d'étranglement des performances de Transformer et des grands modèles de langage. Que ce soit pour l'entraînement ou l'inférence, la couche d'attention occupe la majeure partie des calculs et de la mémoire vidéo ; comprendre ses principes et ses formes d'opérateurs est essentiel pour optimiser Flash Attention, la fusion d'opérateurs et le cache KV. Ce cours commencera par retracer l'évolution de RNN vers Transformer, pour expliquer pourquoi l'attention est devenue prédominante ; nous détaillerons ensuite l'auto-attention, Q/K/V, l'attention multi-têtes, l'encodage positionnel et les connexions résiduelles ; enfin, nous aborderons la complexité computationnelle, le mur mémoire, ainsi que le flux de données et les accès HBM de l'attention standard, pour préciser les besoins en opérateurs pour le matériel et la pile logicielle. L'ensemble de cette leçon est aligné sur l'objectif du cours : de l'architecture système à la pile logicielle, comprendre les caractéristiques de calcul et les pistes d'optimisation des opérateurs IA. Commençons par l'évolution de la modélisation de séquences.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Cette page présente une chronologie claire. Dans les années 1980, la modélisation de séquences reposait sur RNN, adoptant un traitement séquentiel et distribué en parallèle, étape par étape le long des pas de temps, avec des calculs dépendant séquentiellement, rendant difficile une parallélisation complète. En 1997, LSTM a été proposé, atténuant les dépendances à long terme grâce à des mécanismes de porte, devenant la méthode principale de modélisation de séquences pendant longtemps, mais restant fondamentalement récursive, avec un degré de parallélisme limité par les pas de temps. En 2014, GRU et les travaux sur "l'apprentissage conjoint de l'alignement et de la traduction" en traduction automatique neuronale ont fait leur apparition, l'attention commençant à être introduite dans le cadre encodeur-décodeur, effectuant une agrégation pondérée des différentes étapes de l'encodeur lors du décodage, préparant le terrain pour la forme "query-key-value" ultérieure. En 2017, l'article de Vaswani et al., "Attention is All You Need", a proposé Transformer, entièrement basé sur l'attention, éliminant récurrence et convolution, permettant à toute position dans une séquence d'interagir directement, transformant les calculs en multiplications matricielles massivement parallèles, devenant la base des grands modèles de langage actuels et de la plupart des modèles NLP et multimodaux. Du point de vue des systèmes et des opérateurs, cette trajectoire évolutive détermine la forme des opérateurs d'auto-attention que nous devons aborder : grandes multiplications matricielles, Softmax, ainsi que la complexité O(n²) et le mur mémoire qui en découlent.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t>Cette page présente un aperçu général du Transformer. À gauche se trouve l'encodeur : constitué de plusieurs couches empilées, chaque couche contient une auto-attention multi-têtes et un réseau à position Feed-Forward, avec des connexions résiduelles et une normalisation de couche entre les deux ; l'entrée subit d'abord un plongement et un encodage positionnel, puis passe successivement par l'attention et le FFN. À droite se trouve le décodeur : en plus de l'auto-attention, il comprend une auto-attention masquée, une attention encodeur-décodeur et un réseau à Feed-Forward ; le masque garantit qu'en auto-régression seule la partie déjà générée est visible, et l'attention encodeur-décodeur injecte les informations de la source dans le décodeur. Le schéma montre les relations entre les entrées-sorties, les blocs d'attention et le FFN. Du point de vue matériel et logiciel, l'encodeur est principalement constitué d'auto-attention, de multiplications matricielles et d'activations ; lors de l'entraînement, la séquence entière peut être traitée en une seule passe avant, avec un haut degré de parallélisme. Le décodeur ajoute un masque et une attention croisée ; lors de l'inférence, le cache KV à lire et écrire à chaque étape croît linéairement ou quadratiquement avec le nombre de couches, le nombre de têtes et la longueur de la séquence. Ces aspects seront détaillés dans les parties « besoins en opérateurs » et « mur mémoire ». Les références sont l'article original et le blog illustré de Jay Alammar ; vous pouvez suivre le flux de données sur le schéma après le cours.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Cette page introduit un concept plus général. En psychologie et en neuroscience, l'attention est souvent liée à l'éveil, la vigilance et le degré d'engagement envers l'environnement. De manière générale, l'attention peut être comprise comme un niveau global de vigilance ou une capacité d'engagement envers l'environnement. Le schéma cite « L'attention en psychologie, neuroscience et apprentissage automatique » ainsi que « Modélisation computationnelle de l'attention visuelle » : les neurones visuels précoces s'accordent aux attributs simples comme la luminosité, la couleur, l'orientation, le mouvement, etc. À mesure que l'on monte dans la hiérarchie, l'accord devient de plus en plus spécialisé, jusqu'à devenir sensible à des objets ou scènes spécifiques. En apprentissage automatique, nous abstrayons cette « attention sélective » en un mécanisme d'allocation pondérée apprenable : pour un ensemble d'entrées, nous apprenons sur quelles parties « faire attention », pour obtenir une représentation pondérée. La page suivante présentera la forme spécifique de l'attention dans les modèles NLP.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Ici, nous entrons dans les mécanismes d'attention des réseaux de neurones. Bahdanau et al. (2014) ont proposé « l'apprentissage conjoint de l'alignement et de la traduction » pour la traduction automatique neuronale, introduisant l'attention dans l'encodeur-décodeur : lors du décodage, les représentations de chaque pas de temps de l'encodeur sont agrégées de manière pondérée, apprenant explicitement l'alignement entre la source et la cible. C'est l'essor de l'attention en NLP. Luong et al. (2015) ont ensuite proposé l'attention globale et d'autres formes, simplifiant et améliorant la méthode de Bahdanau, augmentant l'efficacité de l'entraînement et de l'inférence. Les deux côtés du schéma correspondent à deux structures classiques, montrant comment les états cachés de l'encodeur et l'état du décodeur se combinent par des poids d'attention. Ces travaux ont posé les bases de la conception « query-key-value » et de l'attention encodeur-décodeur dans Transformer.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En 2017, Transformer a propose l article Attention is All You Need, eliminant completement les RNN et CNN, s appuyant uniquement sur l attention. Cette page met en avant trois points : premierement, l auto-attention, ou chaque position de la sequence effectue une attention sur toutes les positions ; deuxiemement, l attention multi-tetes, qui decompose la representation en plusieurs sous-espaces et plusieurs groupes Q/K/V, renforcant la capacite du modele a se concentrer sur differentes relations ; troisiemement, les variantes developpees par la suite comme l attention eparse, utilisees pour reduire la complexite des longues sequences. La figure montre les schemas de l auto-attention, de l attention multi-tetes et de l attention eparse. Du point de vue de l architecture systeme, le coeur de l auto-attention est constitue de multiplications matricielles a grande echelle et de Softmax, qui sont egalement les combinaisons d operateurs a optimiser en priorite sur GPU et NPU.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t>Cette page utilise un exemple d attention pour concretiser les concepts precedents. La figure illustre par un exemple : etant donne une sequence d entree, l attention genere un ensemble de poids pour chaque position, indiquant le degre de pertinence entre cette position et les autres positions, puis effectue une somme ponderee des valeurs selon ces poids pour obtenir une nouvelle representation. Le bas de page fournit un lien de reference expliquant en profondeur l attention par produit scalaire mis a l echelle. Lors du cours, on peut pointer la distribution des poids dans la figure : par exemple, un mot lors de l encodage attribuera un poids plus eleve aux mots semantiquement lies, c est ainsi que se concretise l attention du point de vue computationnel. Une fois cela compris, les roles de Q, K, V et la formule d Attention correspondront plus facilement aux etapes de calcul specifiques.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Cette page detaille la structure modulaire du Transformer. L encodeur comprend : un mecanisme d auto-attention multi-tetes, ainsi qu un reseau feedforward simple position par position, c est-a-dire que pour chaque position on effectue independamment deux transformations lineaires avec une activation. Le decodeur comprend : une auto-attention masquee, garantissant que l auto-regression ne voit que les mots deja generes ; une attention encodeur-decodeur, ou l etat du decodeur interroge la sortie de l encodeur ; ainsi qu un reseau feedforward. Les figures de gauche et de droite correspondent respectivement aux structures de l encodeur et du decodeur. En termes d implementation, l encodeur peut etre hautement parallelise ; le decodeur peut egalement etre parallelise lors de l entrainement, mais lors de l inference il genere generalement pas a pas, chaque etape necessitant un cache KV, ce qui a un impact direct sur la bande passante memoire et la conception des operateurs.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Cette page examine le processus d'encodage sous l'angle des tenseurs et du flux de données. À gauche se trouvent la forme et le flux du tenseur d'entrée après l'incorporation et l'encodage positionnel ; au centre et à droite sont soulignés deux types de dépendances : dans la couche d'auto-attention, il existe un chemin de dépendance entre chaque paire de positions, ce qui nécessite le calcul de l'attention pour toutes les paires de positions ; dans la couche à rétroaction (feed-forward), chaque position est indépendante, sans dépendance selon la dimension séquentielle. Par conséquent, le point chaud de calcul se situe dans l'auto-attention : multiplication matricielle QK^T, Softmax, puis multiplication par V, répété sur plusieurs couches. Comprendre la différence entre le « chemin de dépendance d'auto-attention » et le « chemin indépendant à rétroaction » aide à analyser pourquoi l'attention est en O(n²) alors que le FFN est en O(n), et pourquoi l'optimisation se concentre sur l'opérateur d'attention.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Cette page utilise un exemple de phrase en anglais pour illustrer le comportement de haut niveau de l'auto-attention : « The animal didn't cross the street because it was too tired. » Le schéma montrera comment, lors de la compréhension de ce que « it » désigne, le modèle associe « it » à « animal » grâce à l'auto-attention. Autrement dit, l'auto-attention permet à chaque position d'agréger des informations globales en fonction de la sémantique, contrairement aux RNN qui ne peuvent dépendre que du local et de l'historique. Cela aide à comprendre la sémantique de Q/K/V abordée ensuite : la requête correspond à « ce que je cherche », la clé et la valeur fournissent « qui a quelle information, et quel est le contenu spécifique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L'auto-attention peut être vue comme une recherche d'informations. Chaque jeton est mappé en trois vecteurs : la requête Q représente « ce que je cherche » ; la clé K représente « l'information que je contiens » ; la valeur V représente « le contenu réel que je fournis ». Le mécanisme se déroule en trois étapes : d'abord, calcul de la similarité entre la requête du jeton actuel et les clés de tous les jetons pour obtenir une matrice de scores ; puis application du Softmax aux scores pour obtenir les poids d'attention, de sorte que chaque ligne somme à 1 ; enfin, somme pondérée des valeurs avec ces poids pour obtenir la sortie de cette position. Le schéma montrera le flux depuis l'entrée vers Q, K, V puis vers les scores et les poids. Dans l'implémentation, Q, K, V sont généralement obtenus à partir de la même entrée via trois couches linéaires, soit X multiplié par W_Q, W_K, W_V ; les dimensions et le nombre de têtes déterminent directement la taille des multiplications matricielles ultérieures : par exemple, n jetons et d dimensions donnent Q, K, V de taille n x d, QK^T de taille n x n, puis multiplication par V pour obtenir n x d. Comprendre le rôle de ces trois éléments est essentiel pour analyser la complexité et concevoir les stratégies de découpage et de recalcul dans Flash Attention.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Cette page detaille les aspects de « creation » et de « notation ». Phase de creation : la query est la « question » du jeton actuel, utilisee pour interroger tous les autres jetons sur leur pertinence ; la key est l'information d'identification de ce jeton, utilisee pour repondre a cette question ; la value est le contenu de ce jeton, qui sera transmis a la sortie selon les poids. Phase de notation et de poids : Q et K effectuent un produit scalaire ou une multiplication matricielle pour obtenir la matrice de scores, puis normalises par Softmax. Les parties gauche et droite de la figure correspondent respectivement aux schemas de « creation de Q/K/V » et de « notation et poids ». Il faut comprendre les roles de ces trois elements pour pouvoir analyser ensuite pourquoi il existe une matrice de scores n x n, et pourquoi un stockage et un calcul en O(n^2) sont necessaires.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t>Cette page correspond au pipeline de calcul de l'attention standard. La premiere etape consiste a calculer les matrices query, key et value : l'entree X est multipliee par W_Q, W_K et W_V pour obtenir Q, K, V, soit trois multiplications matricielles, lisant X et les trois poids, ecrivant Q/K/V. La deuxieme etape est la notation et les poids : on calcule d'abord S egal a Q multiplie par la transposee de K divise par la racine carree de d, obtenant ainsi un S de n x n ; on applique ensuite Softmax sur chaque ligne de S pour obtenir P, lisant S, ecrivant P. La troisieme etape produit O egal a P multiplie par V, lisant P, lisant V, ecrivant O. L'ensemble du pipeline consiste en deux grandes multiplications matricielles plus une operation Softmax ligne par ligne. En termes d'implementation materielle, QK^T et PV sont des multiplications matricielles, accelerables par Tensor Core ou instructions MMA, avec une densite de calcul elevee ; Softmax implique des maximums intra-ligne, exponentielles et normalisation, avec des modeles d'acces memoire differents, souvent fusionnes avec les multiplications matricielles environnantes pour reduire les allers-retours en memoire globale. La figure indique la correspondance entre « calcul de Q/K/V » et « notation et poids », il faut pouvoir reconstituer mentalement le flux de donnees complet et les formes des tenseurs.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L'attention multi-tetes etend la capacite du modele a se concentrer sur differentes positions et relations, equivalent a donner a la couche d'attention plusieurs « sous-espaces de representation ». Concretement, on divise Q, K, V en h tetes sur la dimension des caracteristiques, chaque tete effectue independamment une attention par produit scalaire mise a l'echelle, obtenant h matrices de sortie, puis on les concatene sur la dimension des caracteristiques et on les comprime en une seule matrice via une couche lineaire. La figure montrera le flux « plusieurs groupes de Q/K/V - plusieurs attentions - concatenation - lineaire ». D'un point de vue d'operateur, les tetes multiples peuvent etre calculees en parallele, le volume de calcul total reste en O(n^2 d), mais avec un parallelisme plus eleve ; lors de l'implementation, on organise souvent ensemble les dimensions batch, tete et sequence pour exploiter pleinement le parallelisme et la bande passante memoire du GPU.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Cette page présente une vue d'ensemble de l'attention multi-tête et un exemple de phrase : « The animal didn't cross the street because it was too tired. » Différentes têtes peuvent apprendre différents modes d'attention, par exemple certaines têtes se concentrent sur la syntaxe locale, tandis que d'autres se concentrent sur les références à longue distance. La figure montrera une carte thermique des poids d'attention de plusieurs têtes. Au niveau de l'implémentation système, l'attention multi-tête est généralement réalisée par une grande multiplication matricielle pour les projections Q, K, V de toutes les têtes, puis divisée par reshape en têtes individuelles pour l'attention, avant d'être fusionnée. Cela nécessite de considérer l'impact de la dimension des têtes et du nombre de têtes sur la forme et le partitionnement des matrices lors de la conception des opérateurs, afin d'être compatible avec des optimisations comme Flash Attention.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Transformer n'ayant pas de récurrence ni de convolution, il ne contient pas explicitement d'information positionnelle et nécessite l'injection d'un encodage positionnel. Cette page présente le vecteur d'encodage positionnel : ses valeurs suivent un motif spécifique, généralement une combinaison de fonctions sinus et cosinus sur les dimensions et positions, de sorte que différentes positions aient des vecteurs différents et que les relations de position relative puissent être exprimées par des produits scalaires ou d'autres formes. La figure montrera un exemple simplifié de dimension 4, illustrant les courbes d'encodage correspondant à différentes positions. L'encodage positionnel est généralement additionné à l'embedding des mots dans l'implémentation, sans multiplication matricielle supplémentaire, mais a un impact sur l'extrapolation et la stabilité des longues séquences, c'est aussi ce que les solutions alternatives comme RoPE et ALiBi cherchent à résoudre.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Cette page montre l'encodage positionnel réel dans l'implémentation Tensor2Tensor : une matrice de vingt mots avec une dimension d'embedding de cinq cent douze, chaque ligne est une position, chaque colonne est une dimension. La figure affichera une carte thermique bidimensionnelle ou des courbes, pour comprendre intuitivement les variations sinusoïdales et cosinusoïdales selon la position et la dimension. Le pied de page donne un lien vers le notebook de visualisation. D'un point de vue opérateur et système, l'encodage positionnel est généralement précalculé ou obtenu par consultation de table, additionné à l'embedding avant d'entrer dans la première couche ; en entraînement mixte précision et distribué, il faut garantir la cohérence de précision et de partitionnement entre l'encodage positionnel et l'embedding pour éviter les problèmes numériques et de communication.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Cette page met l'accent sur les connexions résiduelles et la normalisation de couche. Chaque sous-couche adopte une forme résiduelle « sortie de sous-couche + entrée », suivie d'une normalisation de couche. Par exemple, « Add &amp; Norm » apparaît une fois après l'attention et une fois après le réseau de/feed-forward. La figure montre un exemple de Transformer constitué de deux couches d'encodeur et de deux couches de décodeur, où l'on peut clairement voir la position des connexions résiduelles et de la normalisation. Les connexions résiduelles facilitent le flux de gradient et l'entraînement des couches profondes ; la normalisation de couche stabilise l'échelle d'activation. Lors de la fusion d'opérateurs et de l'implémentation de noyaux, on regroupe souvent « attention + résidu + normalisation de couche » ou « FFN + résidu + normalisation de couche » en un seul bloc pour réduire les accès multiples à la mémoire globale.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Le décodeur commence par un jeton de départ, généralement un symbole BOS spécial. À chaque étape, le décodeur effectue une auto-attention masquée et une attention encodeur-décodeur basée sur la séquence déjà générée, puis passe par le réseau de/feed-forward et la couche linéaire pour obtenir la distribution du prochain jeton, en échantillonnant ou en prenant l'argmax pour obtenir le nouveau jeton ; le processus se répète jusqu'à rencontrer un symbole de fin. La figure illustre le flux « début du décodage » et « répéter jusqu'à rencontrer un symbole spécial ». D'un point de vue système, à chaque étape de l'inférence, il faut lire et mettre à jour le cache KV. Le rapport entre accès mémoire et calcul est différent de l'entraînement, ce qui nécessite une optimisation des opérateurs et de la disposition mémoire pour la phase de décodage, comme PagedAttention ou la compression du cache KV.</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t>La sortie de la dernière couche du décodeur est un vecteur de dimension égale à la taille du vocabulaire, qui passe par une couche linéaire pour être projeté vers la dimension du vocabulaire, puis passe par Softmax pour obtenir la distribution de probabilités du mot suivant. La figure illustre le flux depuis la sortie du décodeur vers la couche linéaire puis vers Softmax. Cette partie a un volume de calcul relativement faible par rapport à l'attention, mais Softmax offre encore des possibilités d'optimisation en stabilité numérique et en fusion ; dans l'inférence distribuée et multi-GPU, le calcul et la communication des logits pour les grands vocabulaires doivent également être pris en compte. Comprendre cette couche aide à relier l'ensemble du flux de données depuis l'entrée jusqu'à la prédiction finale.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Les grands modeles de langue modernes adoptent majoritairement une architecture decodeur uniquement, concue pour la generation autoregressive : predire le jeton suivant en fonction de tout le contenu deja genere. Les avantages incluent : un objectif d'entrainement unique, a savoir la prediction du jeton suivant ; pas besoin de corpus paralleles, l'echelle des donnees peut etre etendue a des billions de jetons ; correspondance naturelle avec les taches génératives ; validation industrielle en termes de Flexibilité et de capacites emergentes. La figure comparera les deux architectures decodeur uniquement et encodeur-decodeur. D'un point de vue materiel et logiciel, les modeles decodeur uniquement concentrent la pression de calcul et de memoire sur l'empilement repetitif de l'auto-attention et des FFN, donc l'analyse de complexite et du mur memoire qui suit s'applique directement aux modeles de type GPT.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t>Dans l'auto-attention Transformer, nous calculons les scores d'attention entre toutes les paires de jetons. La requete Q est une matrice n×d, la cle K est aussi n×d, leur produit donne la matrice de scores n×n QK^T ; puis on multiplie par la valeur V (n×d) pour obtenir une sortie n×d. Les operations en virgule flottante des deux multiplications matricielles sont respectivement n×d×n et n×n×d, soit environ 2n²d, c'est-a-dire O(n² d). Quand la longueur de sequence n augmente, le terme quadratique domine : par exemple, si n passe de 1k a 8k, n² augmente d'environ 64 fois, c'est la raison pour laquelle l'auto-attention est couteuse sur les contextes longs. La figure illustrera cela avec les formes des matrices. Comprendre l'origine de O(n² d) est un prerequis pour l'analyse Roofline ulterieure des goulots d'etranglement de calcul et de bande passante, ainsi que pour comprendre comment Flash Attention reduit les acces memoire tout en maintenant le meme volume de calcul grace au decoupage et au recalcul.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t>Cette page detaille la complexite. Premiere etape, calculer les scores d'attention : QK^T donne une matrice (n,n), le volume de calcul est O(n·d·n) soit O(n² d) ; deuxieme etape, la matrice de scores (n,n) multipliee par V (n,d), le volume de calcul est egalement O(n² d). Par consequent, la complexite de propagation avant d'une attention mono-tete est d'environ O(n² d). S'il y a h tetes, chaque tete de dimension d/h, on doit repeter h fois, la complexite totale reste O(n² d). Autrement dit, le nombre de tetes ne change pas la complexite asymptotique, seulement le degre de parallelisme et le mode d'implementation. C'est important pour comprendre la conception des operateurs d'attention multi-tetes et les strategies de decoupage.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La flexibilité de l'auto-attention a un coût élevé : la complexité de calcul et de mémoire vidéo croît de manière quadratique avec la longueur de la séquence. Le Transformer rencontre deux goulots d'étranglement majeurs lors du déploiement réel. Premièrement, l'explosion du cache KV : lors du décodage auto-régressif, chaque couche et chaque tête doivent mettre en cache les K et V de toutes les étapes précédentes, la mémoire vidéo augmentant de manière linéaire voire quadratique selon le nombre de couches, de têtes, la longueur de séquence et la précision. Pour les contextes longs, le cache KV seul peut saturer la mémoire vidéo. Deuxièmement, le goulot d'étranglement de bande passante : lors de l'entraînement et de l'inférence, la lecture et l'écriture de grandes matrices font de la bande passante HBM une limitation, empêchant l'utilisation pleine de la puissance de calcul du GPU, se situant dans la zone limitée par la bande passante du Roofline. L'industrie dit « Attention is all you need—until you need memory », désignant le mur mémoire de l'attention dans les contextes longs. La figure montre la comparaison du calcul et de la mémoire avec la croissance de n, introduisant l'analyse quantitative du flux de données d'attention standard et de l'accès HBM dans la section suivante, ainsi que la question clé de « savoir si la matérialisation de la matrice n×n est nécessaire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Cette page détaille le flux de données de l'attention standard. Étape 1 : calcul des scores d'attention S égal à QK^T divisé par la racine carrée de d, obtenant une S de dimension (n,n), nécessitant la lecture de Q et K, et l'écriture de S. Étape 2 : application de Softmax sur S pour obtenir P, soit P égal à softmax(S), nécessitant la lecture de S et l'écriture de P. La figure présente le diagramme de flux de données correspondant, avec des annotations pour des tailles de tenseur comme N égal à 4096, d égal à 128, en FP16. Du point de vue des opérations et de la mémoire, S et P sont tous deux des matrices n×n ; quand n est grand, le stockage de ces deux matrices occupe beaucoup de HBM, et chaque étape nécessite des transferts entre le HBM et la mémoire sur puce, faisant de la bande passante un goulot d'étranglement.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Étape 3 : calcul de la sortie O égale à P multiplié par V, lecture de P et V, écriture de O. En additionnant les lectures et écritures des étapes 1 à 3, on obtient le volume total d'accès HBM, permettant de quantifier l'importance des accès mémoire dans l'implémentation standard. La figure présente le flux de données complet et le volume total d'accès HBM avec une formule ou un exemple numérique, toujours avec N égal à 4096, d égal à 128, en FP16. Cela correspond directement à la motivation des travaux ultérieurs comme Flash Attention : en utilisant le découpage en blocs et le recalcul, on évite la matérialisation complète de la matrice n×n, réduisant ainsi les accès mémoire et l'occupation mémoire, et améliorant l'utilisation effective de la puissance de calcul.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Cette page résume le problème du mur mémoire de l'attention standard. Le problème est que la complexité de l'attention standard est O(n²). Le point critique est que la consommation de mémoire vidéo croît de manière quadratique avec la longueur de séquence n, provoquant facilement des dépassements de mémoire OOM dans les scénarios de contexte long. La question clé est : avons-nous vraiment besoin de matérialiser et stocker cette énorme matrice d'attention N×N ? La réponse est qu'il est possible de ne pas la matérialiser : Flash Attention, grâce au calcul par blocs et au Softmax en ligne, réduit l'accès HBM de l'ordre O(n²) tout en maintenant le calcul O(n² d), ce qui est précisément le point de départ de l'optimisation des opérateurs et de la conception système à l'étape suivante. Jusqu'ici, nous avons parcouru les principes de l'attention et les besoins en opérateurs ; les cours suivants aborderont les optimisations et implémentations spécifiques sur cette base.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Bonjour à tous. Aujourd'hui, nous entamons la onzième leçon, dont le thème est la première partie de l'implémentation de Flash Attention, à savoir les stratégies d'optimisation IO-aware. Dans la leçon précédente, nous avons établi la complexité O(n²) de l'attention standard et le mur mémoire : il faut calculer la matrice de scores n×n, tout en déplaçant constamment les données entre la HBM et la mémoire sur puce. Cette leçon commence par la hiérarchie mémoire du GPU, expliquant pourquoi il faut réduire les déplacements de données ; puis présente le calcul par tuiles, le découpage en blocs, la recalcul et la fusion de noyaux ; enfin, nous résolvons le problème de la dépendance globale de Softmax après le découpage, introduisant Safe Softmax et Online Softmax, posant les bases pour les détails algorithmiques de la prochaine leçon.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L'idée centrale de Flash Attention peut se résumer en deux points. Le premier est le découpage en blocs : découper les vastes matrices Q, K, V en blocs plus petits, qui peuvent être entièrement placés dans le SRAM, éliminant ainsi le besoin de stocker cette immense matrice d'attention intermédiaire n×n dans la HBM. Le deuxième est le recalcul : ne pas stocker les matrices S et P lors de la propagation avant, les recalculer à la demande lors de la propagation arrière, troquant du calcul contre de la mémoire vidéo. Le schéma montrera Q, K, V découpés en blocs, avec les multiplications-additions et normalisations locales effectuées dans le SRAM. Le calcul par tuiles consiste à remplacer « calculer toute la matrice d'un coup » par « charger par blocs, calculer sur puce, réécrire uniquement les résultats nécessaires », réduisant ainsi les accès mémoire de l'ordre de O(n²).</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Avant de comprendre Flash Attention, il faut d'abord clarifier la hierarchie mémoire du GPU. Il y a souvent un ecart de vitesse d'environ dix fois entre HBM et SRAM. Prenons A100 comme exemple : la mémoire video du GPU, c'est-a-dire HBM2e, a une capacité de 40 ou 80 Go, avec une bande passante d'environ 1,5 a 2 To/s ; le cache L2 fait environ 40 Mo, avec une bande passante d'environ 5 To/s ; le cache L1 et la mémoire partagee totalisent environ 192 Ko par SM, avec une bande passante pouvant atteindre environ 19 To/s. Plus on se rapproche des unites de calcul, plus la capacité est petite et la bande passante est elevee. L'attention standard calcule les grandes matrices dans HBM, passant beaucoup de temps a lire et ecrire HBM ; l'objectif de Flash Attention est de garder les données chaudes autant que possible dans SRAM ou L2, pour réduire le nombre d'acces et la quantite de données vers HBM. Le schema montrera une illustration de base de la hierarchie mémoire de A100.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Cette page resume les problèmes fondamentaux de l'attention en deux categories. Premierement, trop de lectures et écritures HBM, ce qui est intensif en mémoire. Le Mécanisme est que les données font des aller-retours repetes entre HBM et SRAM ; l'implementation standard ecrit le resultat QK dans HBM, puis le relit pour faire le Softmax, ce qui fait que le temps passe sur le transfert de données depasse souvent le calcul réel, formant un mur mémoire. Deuxiemement, l'occupation mémoire quadratique, ce qui est intensif en capacité mémoire. Les matrices intermédiaires S et P ont une taille O(n²), et la mémoire video necessaire pour stocker la carte d'attention complete croît de manière quadratique avec la longueur de sequence ; doubler la longueur n multiplie la mémoire video par quatre environ, provoquant facilement des OOM pour les contextes longs. Le schema illustrera ces deux points avec des diagrammes et des courbes, preparant le terrain pour le Découpage et la non-materialisation de S et 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philosophie de conception de Flash Attention est : optimiser le transfert de données, pas seulement le calcul. Moins de transfert de données apporte une vitesse globale plus rapide. Les deux piliers techniques sont le Découpage et le recalcul. Le Découpage consiste a diviser les grandes taches en petits blocs pouvant tenir dans SRAM, en completant autant de calcul que possible dans le bloc avant de reecrire ; le recalcul signifie que lors de la retropropagation, au lieu de dependre des activations intermédiaires stockees lors de la propagation avant, on les recalcule selon les besoins, utilisant la puissance de calcul pour gagner en bande passante et capacité. Le schema montrera la correspondance entre moins de transfert de données et le Découpage et recalcul. D'un point de vue architectural, cela correspond a deplacer l'attention de la zone limitee par la bande passante vers la zone limitee par la puissance de calcul dans le modele Roofline.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t>Pourquoi utiliser le pavage ? Le SRAM du GPU, comme le L1 et la mémoire partagee sur A100, est extremement rapide, mais sa capacité n'est que de quelques centaines de Ko. Les matrices traditionnelles n x n, lorsque n egale 4096, depassent largement la capacité du SRAM et doivent etre coupees en blocs pouvant tenir dans le cache. Le principe de fonctionnement est le suivant : diviser les matrices d'entree Q, K et V en blocs, utiliser des boucles imbriquees pour charger les blocs un par un depuis le HBM vers le SRAM, effectuer des produits scalaires locaux et accumuler le Softmax dans le SRAM, evitant ainsi de recrire les resultats intermédiaires n x n dans le HBM. Ainsi, les produits scalaires partiels et le Softmax sont entierement effectues dans le SRAM, reduisant significativement les lectures et écritures dans le HBM. Le schema montrera une illustration du pavage et la repartition des blocs sur Q, K et V.</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Cette page presente le processus de chargement des blocs via une demonstration dynamique. Le schema montre comment les blocs de Q, K et V sont charges successivement depuis le HBM vers la puce, comment les calculs sont effectues au sein des blocs, et comment la sortie finale O est recrite par bloc. Lors de l'enseignement, on peut utiliser l'animation pour souligner qu'a chaque tour, seuls les blocs necessaires sont charges, les resultats partiels sont mis a jour immediatement apres le calcul, sans conserver les matrices S ou P completes, thereby controlant l'utilisation mémoire et les acces mémoire aux niveaux O(n) ou O(n d). C'est l'illustration intuitive de la capacité de Flash Attention a franchir le mur mémoire.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Cette page compare les modeles d'acces mémoire de l'Attention standard et de Flash Attention. L'implementation standard effectue de nombreux transferts de grandes matrices entre le HBM et le SRAM, lisant et ecrivant S, P ainsi que de nombreux resultats intermédiaires. Flash Attention, grace au pavage et a la fusion, permet a la plupart des acces de se produire sur la puce, effectuant uniquement des lectures par blocs de Q, K et V, et des écritures par blocs de la sortie O. Le schema presentera cote a cote les chemins d'acces mémoire ou les flux de données des deux methodes. Comprendre cette comparaison aide a clarifier l'objectif de "réduire les allers-retours vers la mémoire globale" lors de l'implementation ou de l'optimisation.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 attention standard est souvent decomposee en plusieurs noyaux independants : par exemple une multiplication matricielle, un Softmax, puis une autre multiplication matricielle. Chaque lancement efface la SRAM et reecrit les resultats dans le HBM, entrainant un gaspillage important d E/S. Flash Attention fusionne toute la logique dans un seul noyau hautement optimise, avec une execution centree sur la SRAM : chargement par blocs, produit scalaire, Softmax en ligne et somme ponderee sont effectues dans une seule boucle, sans que les resultats intermédiaires ne soient stockes dans le HBM. Le diagramme comparera plusieurs noyaux + lectures/écritures multiples du HBM avec un seul noyau + boucle sur puce. La fusion de noyaux est une technique courante d optimisation d operateurs dans ce cours, et elle trouve ici son application centrale dans l attention.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stratégie d'ordonnancement est le découpage par blocs. Q est découpé par lignes, K et V par colonnes, ainsi un bloc de Q multiplié par un bloc de K donne un bloc de scores locaux, multiplié par un bloc de V donne une contribution partielle à la sortie. Exécution en double boucle : la boucle externe charge un bloc de K et V depuis la HBM vers la SRAM ; la boucle interne charge un bloc de Q, effectue dans la SRAM le produit scalaire, le softmax et la somme pondérée, et met à jour la sortie. Le résultat est que le calcul et l'utilisation de la matrice d'attention intermédiaire se font entièrement dans la SRAM, sans accès HBM pour S et P. La figure montrera le schéma de la double boucle et de la forme des blocs. Le choix de la taille des blocs doit équilibrer la capacité SRAM et la pression sur les registres, généralement déterminé par les paramètres matériels et l'expérimentation.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Cette page explique en detail comment le Découpage en blocs permet d effectuer la propagation avant sans stocker de matrice n x n. La boucle externe parcourt les blocs de colonnes de K et V, chargeant un bloc de K et V dans la SRAM ; la boucle interne parcourt les blocs de lignes de Q, chargeant un bloc de Q, calculant les scores d attention locaux dans la SRAM et effectuant immediatement la somme ponderee sur V, mettant a jour la partie de sortie correspondant au bloc Q actuel. A l ecriture, seule la matrice de sortie finale O est reecrite dans le HBM, O etant de taille n x d, contournant totalement le stockage intermediaire en O(n2). Le diagramme accompagnera l illustration du Tiling de Flash Attention V1. Ainsi, l empreinte mémoire de la propagation avant passe de O(n2) a O(n x d), et les acces au HBM sont considerablement reduits.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Cette page presente une comparaison de performance entre deux implementations quasi-optimales de Flash Attention. Le graphique montre sur A100 80GB, en FP16 et BF16, l acceleration pour differentes longueurs de sequences, l amelioration du debit, ainsi que la comparaison de l utilisation de la mémoire video.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Une difficulte algorithmique du calcul par blocs : pourquoi ne peut-on pas appliquer directement Softmax a chaque bloc de données ? En raison de la dependance globale de Softmax : un Softmax numeriquement stable necessite la valeur maximale de la ligne m pour la translation, ainsi que la somme de la ligne L pour la normalisation.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Safe Softmax previent le depassement du calcul exponentiel en soustrayant la valeur maximale. Lorsquun certain xi est tres grand, calculer directement e a la puissance xi peut provoquer un depassement de nombre a virgule flottante.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Online Softmax nous permet de traiter une ligne de données de manière fluide : a chaque nouveau bloc, nous fusionnons les maximums et sommes locaux du bloc actuel avec les maximums et sommes globaux deja maintenues, mettons a jour les variables globales m et L, et corrigeons la somme ponderee accumulee, de sorte que le resultat final soit equivalent a un Softmax applique a l'ensemble de la ligne. La figure presente la formule de recurrence ou un exemple, par exemple S est le vecteur de scores et V le vecteur de valeurs, montrant le processus de mise a jour de m, L et de la sortie par bloc. Le pied de page cite l'article sur l'Online normalizer de Milakov et Gimelshein. Une fois Online Softmax maitrise, il est possible de mettre a jour progressivement la sortie d'attention dans une boucle de blocs sans materialiser l'ensemble des scores de la ligne, ce qui est la cle pour que Flash Attention fonctionne correctement et efficacement en avant et en arriere.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Cette page presente une breve analyse de l'algorithme Flash Attention, y compris la complexité des passes avant et arriere, le nombre d'acces HBM et l'utilisation de la mémoire video. La figure presente un tableau comparatif ou des formules avec l'implementation standard. La conclusion est la suivante : le cout de calcul reste en O(n² d), mais les acces HBM passent d'un ordre de grandeur O(n²) a O(n d), et la mémoire passe de O(n²) a O(n d), permettant ainsi d'obtenir une acceleration et une faisabilite dans les scenarios de sequences longues limites par la bande passante. La prochaine seance approfondira les details de l'optimisation de l'algorithme Flash Attention et les points cles de l'implementation.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Bonjour à tous, aujourd'hui nous entamons la douzième leçon, dont le thème est la deuxième partie de l'implémentation de Flash Attention, à savoir l'optimisation au niveau algorithmique. Lors de la leçon précédente, nous avons terminé le partitionnement IO-aware, le recalcul, la fusion de noyaux et l'Online Softmax; cette leçon discute, sur cette base, comment éviter davantage l'instanciation en mémoire vidéo, comment gérer correctement les masques causaux et les longues séquences, l'évolution algorithmique de Flash Attention 2 et 3, ainsi que le flux de données, la coopération matérielle et les perspectives futures. Cette leçon suit une approche complète de l'algorithme aux logiciels système.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Cette page souligne l'un des objectifs clés de Flash Attention: éviter d'instancier la matrice d'attention n×n complète en mémoire vidéo. L'implémentation standard doit écrire S et P dans HBM, entraînant un stockage et un accès mémoire O(n²); grâce au partitionnement et à l'Online Softmax, nous maintenons uniquement dans SRAM les valeurs maximales mises à jour par bloc, les facteurs de normalisation et les sorties partielles, pour finalement n'écrire que O de taille n×d dans HBM. Ainsi, l'occupation mémoire vidéo passe d'une croissance quadratique à une croissance linéaire en n, permettant un fonctionnement stable dans les scénarios à contexte long et à batch multiple. Le schéma accompagne cette explication avec un flux de données illustrant l'équivalence de « ne pas instancier S et P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r>
              <a:t>L auto-attention du décodeur et les modèles de langage causaux nécessitent un masque : la position actuelle ne peut voir que les positions précédentes, pas le futur. Dans l implémentation par blocs, le masque doit être correctement appliqué aux scores locaux à lintérieur de chaque bloc, évitant que les positions non autorisées ne participent au Softmax et à la somme pondérée. L approche concrète consiste généralement à calculer QK^T à lintérieur du bloc, puis à mettre les positions illégales à moins l infini avant d appliquer le Softmax, ou à tronquer la plage des clés-valeurs selon les limites des blocs dans la boucle externe. Cette page explique comment le masque se combine avec l Online Softmax dans la boucle de blocs de Flash Attention, garantissant la cohérence mathématique avec l attention causale standard.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r>
              <a:t>L'impact de Flash Attention sur les modèles à longue portée et à contexte long est très direct. Après la réduction de la mémoire vidéo de O(n²) à O(n d), la longueur de séquence prise en charge sur une seule carte est multipliée ; après la réduction des accès HBM, la bande passante n'est plus le goulot d'étranglement principal, et le débit d'entraînement et d'inférence s'améliore. Le graphique montrera le rapport d'accélération pour les modèles à longue séquence ou les applications à contexte long, ainsi qu'une comparaison des longueurs de séquences exécutables. Comprendre cela aide à considérer Flash Attention comme le backend d'attention par défaut lors des discussions ultérieures du cours sur le Roofline, le distribué et le déploiement d'inférence.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r>
              <a:t>Cette page présente les améliorations algorithmiques de Flash Attention 2. Comparé à V1, FA2 a optimisé l'ordre de boucle, la stratégie de parallélisation et la stabilité numérique : par exemple, l'ajustement de l'ordre de parcours des blocs Q, K, V pour mieux exploiter le parallélisme GPU et la mémoire partagée, ainsi qu'un traitement plus fin de l'Online Softmax et des facteurs d'échelle. Le graphique montrera une comparaison entre FA2 et la version précédente au niveau algorithmique ou en pseudo-code. Du point de vue système, FA2 réduit encore le temps d'exécution réel tout en maintenant les accès mémoire O(n d), devenant l'implémentation par défaut dans la plupart des frameworks actuels.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Cette page poursuit les détails de Flash Attention 2, couvrant potentiellement le choix de la taille des blocs, l'interaction avec Tensor Core, ainsi que les courbes de performance sous différentes têtes et longueurs de séquence. Lors de l'enseignement, on peut souligner en lien avec la page précédente : l'objectif de l'optimisation algorithmique est d'améliorer au maximum l'utilisation effective de la puissance de calcul et l'occupancy sous les mêmes contraintes IO, réduisant ainsi l'inactivité au niveau warp et bloc.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Cette page présente les avancées de Flash Attention 3. FA3 cible généralement une nouvelle génération de matériel ou des optimisations algorithmiques et d'implémentation plus poussées, pouvant impliquer une intégration profonde avec des architectures GPU spécifiques ou une collaboration avec des bibliothèques de bas niveau des fabricants. La figure présente les points clés de la conception de FA3 ou des comparaisons de performances. Lors de l'enseignement, soulignez que l'optimisation de l'opérateur d'attention est un processus évolutif continu, et que maîtriser la sensibilisation IO et la correction algorithmique est la base pour suivre les nouvelles versions.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Cette page poursuit le contenu de Flash Attention 3, pouvant inclure l'attention dans des contextes multi-GPU ou distribués, les relations avec l'attention creuse ou linéaire, etc. Lors de la transition, on peut résumer brièvement la ligne directrice de la série FA « pavage + pas de stockage S/P + Softmax en ligne + noyaux fusionnés », et indiquer que l'industrie et la communauté open source continueront à itérer dans cette direction.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r>
              <a:t>Cette page étend la perspective d'implémentation de Flash Attention aux FPGA. Le stockage sur puce et les caractéristiques de bande passante des FPGA diffèrent de ceux des GPU, nécessitant une refonte des stratégies de partitionnement et des flux de données. De plus, les FPGA permettent de personnaliser les chemins de données, facilitant la collaboration avec d'autres modules d'accélération personnalisés. La figure présente une illustration architecturale basée sur FPGA pour FA ou des accélérateurs d'attention similaires. À souligner : les mêmes principes de « réduction du déplacement de données, partitionnement et normalisation en ligne » peuvent s'appliquer à différentes formes de matériel, illustrant la co-conception logiciel-matériel.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r>
              <a:t>Cette page se concentre sur la conception du flux de données de Flash Attention. De l'ordre de chargement par blocs de Q, K et V, aux relations de dépendance entre les calculs intra-blocs et la récursion inter-blocs, en passant par la stratégie d'écriture de O, un diagramme complet du flux de données est formé. Comprendre le flux de données aide à localiser les goulots de performance et les problèmes de correction lors de l'implémentation ou du débogage. La figure présente un flux de données simplifié ou un diagramme correspondant à HBM/SRAM.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r>
              <a:t>Cette page aborde l'attention sous l'angle de l'observabilité : comment observer la distribution, l'entropie ou le degré de parcimonie de l'attention pendant l'entraînement ou l'inférence, afin d'analyser le comportement du modèle ou de guider les optimisations futures. Certains travaux utilisent les statistiques intermédiaires de Flash Attention ou des calculs légers supplémentaires pour réaliser la visualisation et la surveillance de l'attention. À mentionner brièvement : la relation avec la correction de l'opérateur, l'optimisation des performances et l'interprétabilité du modèle.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latin typeface="Calibri" panose="020F0502020204030204"/>
              </a:defRPr>
            </a:lvl1pPr>
          </a:lstStyle>
          <a:p>
            <a:pPr indent="0" algn="l">
              <a:lnSpc>
                <a:spcPct val="100000"/>
              </a:lnSpc>
            </a:pPr>
            <a:r>
              <a:t>Cette page présente les perspectives de la conception conjointe matériel-algorithme. La forme des opérateurs d'attention a déjà profondément influencé la conception des GPU et des accélérateurs dédiés, par exemple avec des caches sur puce plus grands, une hiérarchie mémoire mieux adaptée aux accès par blocs, et des instructions orientées vers la fusion Softmax et la multiplication matricielle. À l'avenir, il y aura davantage de matériel « conçu pour l'attention » et de variantes d'attention « taillées pour le matériel ». Le contenu visuel sera accompagné de schémas ou de descriptions de tendances. Pendant le cours, cela fait écho aux objectifs du cours : comprendre que la collaboration logiciel-matériel est une compétence centrale des systèmes de calcul intelligent.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t>Cette page résume le changement de paradigme de Flash Attention pour l'infrastructure LLM. Les contextes longs, l'inférence et l'entraînement à haut débit dépendent tous d'une mise en œuvre efficace de l'attention ; Flash Attention et ses évolutions sont devenus des composants standard de la pile LLM, définissant avec le cache KV, le batching et le distribué la nouvelle génération d'infrastructure d'inférence et d'entraînement. Lors de la transition, on peut revenir sur les principes de l'attention du cours 10 jusqu'à ce cours, le mur mémoire, la conscience IO et l'axe principal d'optimisation algorithmique, en encourageant les apprenants à utiliser ou analyser Flash Attention dans leurs expériences et projets.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Aujourd'hui, nous nous concentrons sur le thème du Cours 13 : l'optimisation de l'opérateur de convolution. Les opérateurs de convolution sont cruciaux en apprentissage profond, largement utilisés en reconnaissance d'images, traitement du langage naturel, et bien d'autres scénarios. Cependant, son implémentation naïve pose souvent des problèmes d'efficacité, affectant la vitesse de calcul et l'utilisation des ressources. L'optimisation de l'opérateur de convolution est donc très importante pour améliorer les performances algorithmiques.</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Commençons par les concepts fondamentaux de la convolution 2D. Son principe d'implémentation comprend les entrées, sorties et opérations principales. Les entrées sont les cartes de caractéristiques d'entrée, la matrice de poids, le biais étant optionnel. Après une série de traitements, on obtient la carte de caractéristiques de sortie. L'opération principale est la multiplication-accumulation, ou Multiply-Accumulation (MAC).</a:t>
            </a:r>
            <a:b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b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La convolution 2D a plusieurs variantes dans les applications pratiques. La convolution transposée, aussi appelée déconvolution, permet des opérations de suréchantillonnage. La convolution dilatée agrandit le champ réceptif sans augmenter les paramètres. La convolution groupée divise les canaux d'entrée et de sortie en groupes, réduisant ainsi la quantité de calculs.</a:t>
            </a:r>
            <a:b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br>
            <a:b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b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La première partie de cette présentation a introduit les concepts fondamentaux et les variantes de la convolution 2D. Concentrons-nous maintenant sur les réseaux de neurones convolutifs (CNN). Voici quatre réseaux classiques : LeNet-5, AlexNet, VGG et ResNet.</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L'implémentation naïve à 7 boucles de l'opérateur de convolution classique, bien que correcte mathématiquement, présente de nombreux problèmes structurels. Le manque de localité spatiale rend le stockage et l'accès aux données inefficaces. Les erreurs de prédiction de branchement et l'absence de vectorisation sont également des problèmes majeurs.</a:t>
            </a:r>
            <a:b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br>
            <a:b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b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Dans l'étude de l'optimisation des opérateurs de convolution, le modèle Roofline est un outil d'analyse important. Il se concentre sur la relation entre la puissance de calcul et la bande passante mémoire. L'implémentation naïve à 7 boucles pose des problèmes évidents.</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La transformation Img2Col est une technologie clé qui permet de convertir les informations de position géométrique en informations algébriques. Concrètement, elle transforme la convolution 2D en multiplication matricielle générale, permettant ainsi d'utiliser efficacement les bibliothèques de multiplication matricielle haute performance fournies par les fabricants de matériel.</a:t>
            </a:r>
            <a:b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b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Dans les opérations de convolution, la transformation Img2Col occupe une place importante. Comparons l'implémentation de convolution classique avec l'implémentation Img2Col. Le point clé réside dans la construction des caractéristiques d'entrée et de la matrice Kernel.</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Un avantage majeur de la transformation Img2Col est qu'elle permet d'utiliser efficacement les bibliothèques algébriques des fabricants de matériel pour la multiplication matricielle haute performance, comme Intel MKL, NVIDIA cuBLAS, Ascend catlass, etc.</a:t>
            </a:r>
            <a:b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b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Bien que la transformation Img2Col permette de convertir la convolution 2D en multiplication matricielle générale, elle entraîne aussi un effet secondaire : l'augmentation de l'empreinte mémoire. Cela signifie que le système a besoin de plus de mémoire pour stocker les données.</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La convolution Winograd a des concepts de base uniques. En dimension 1, l'utilisation d'un filtre FIR à r-taps pour calculer m sorties est notée F(m, r). Pour la convolution 2D, utiliser un filtre r×s pour calculer m×n sorties est noté F(m×n, r×s).</a:t>
            </a:r>
            <a:b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b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La convolution Winograd excelle dans l'optimisation des opérations de convolution. Pour F(2,3), l'algorithme traditionnel nécessite 2×3=6 multiplications, tandis que la convolution Winograd n'en requiert que 4, plus 11 additions et 2 décalages arithmétiques à droite.</a:t>
            </a:r>
            <a:b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br>
            <a:b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b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L'algorithme de convolution rapide Winograd a un avantage significatif : il peut s'écrire sous forme matricielle. Cette représentation matricielle rend l'algorithme plus efficace et structuré pour le calcul et l'analyse.</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On sait que F(2×2, 3×3) de Winograd est efficace, mais qu'en est-il de F(4×4, 3×3) ? Théoriquement, il peut réduire les multiplications par 6. Cependant, les matrices de transformation sont beaucoup plus complexes, et cette complexité annulera les bénéfices de la réduction des multiplications.</a:t>
            </a:r>
            <a:b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b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Nous avons introduit les concepts de base de la convolution Winograd. Regardons maintenant la comparaison de performances. La convolution Winograd a des avantages significatifs, mais aussi des limitations à considérer.</a:t>
            </a:r>
            <a:b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b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Cette présentation a principalement exploré trois méthodes de convolution : la convolution directe, img2col + GEMM et Winograd. La transformation Img2Col convertit les informations de position géométrique en informations algébriques. La convolution Winograd réduit le nombre de multiplications.</a:t>
            </a:r>
            <a:b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b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Aujourd'hui, nous entamons le contenu de la quatorzième leçon, dont le thème est la normalisation et les fonctions d'activation. Ces deux types d'opérateurs sont des composants fondamentaux essentiels dans les modèles d'apprentissage profond modernes, en particulier dans l'architecture Transformer. Bien que leur logique de calcul semble simple, dans l'implémentation pratique, si l'on ne tient pas compte des caractéristiques matérielles pour l'optimisation, ils peuvent facilement devenir des goulots d'étranglement pour les performances d'entraînement et d'inférence des modèles. Dans ce cours, nous aborderons ces opérateurs sous l'angle du matériel GPU, analyserons leurs caractéristiques de calcul et étudierons systématiquement les idées et méthodes essentielles pour leur implémentation efficace.</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Avant d'aborder le contenu principal, clarifions d'abord le cadre essentiel de ce cours, divisé en deux grandes parties : la première est l'analyse fondamentale de l'optimisation des opérateurs, où nous examinerons d'abord les indicateurs de performance essentiels du GPU, puis présenterons le modèle de performance Roofline, pour établir un cadre d'analyse des performances des opérateurs ; la seconde partie est l'analyse des opérations Element-wise et Reduction, qui sont les deux modèles de calcul essentiels derrière la normalisation et les fonctions d'activation. Nous analyserons en profondeur leur structure parallèle, leurs relations de dépendance des données, ainsi que les stratégies d'implémentation adaptées au GPU.</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Pour bien optimiser les opérateurs, il faut d'abord établir une compréhension claire des paramètres de performance essentiels du matériel GPU. Les performances du GPU sont principalement déterminées par deux indicateurs clés : le premier est la capacité de calcul, également caractérisée par les FLOPS, qui désigne le nombre d'opérations en virgule flottante que le GPU peut exécuter par seconde. Grâce à la conception massive de cœurs de calcul parallèles du GPU et à l'amélioration continue des fréquences d'horloge, la capacité de calcul du GPU a connu une croissance rapide ces dernières années, les nouvelles architectures montrant des gains particulièrement significatifs. Le second est la bande passante mémoire, c'est-à-dire la capacité totale de données que le GPU peut lire ou écrire depuis la mémoire globale par seconde. Il existe ici une contradiction essentielle : la vitesse de croissance de la bande passante mémoire est bien inférieure à celle de la capacité de calcul, ce qui entraîne le problème classique du "mur mémoire" — les cœurs de calcul du GPU ont un potentiel de calcul extrêmement élevé, mais restent souvent inactifs en attendant les transferts de données depuis la mémoire, empêchant l'exploitation pleine de la puissance de calcul.</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Pour analyser quantitativement les goulots d'étranglement de performance des opérateurs, l'industrie a proposé le modèle Roofline, un outil classique de prédiction de performance qui reflète de manière intuitive la limite supérieure de performance d'un opérateur spécifique sur un matériel donné. Le paramètre essentiel de ce modèle est l'intensité arithmétique, calculée comme le rapport entre le nombre d'opérations en virgule flottante et le nombre d'octets de données transférées. En termes simples, c'est le nombre d'opérations en virgule flottante correspondant à chaque octet de données transféré pour accomplir une tâche de calcul. En regardant le diagramme du modèle, l'axe horizontal représente l'intensité arithmétique, l'axe vertical représente le débit de calcul, et l'ensemble du modèle est divisé en deux zones essentielles : la première est la zone limitée par la bande passante, où l'intensité arithmétique des opérateurs est faible, les performances sont entièrement limitées par la bande passante mémoire, et l'optimisation essentielle de ces opérateurs est de réduire les transferts de données et d'améliorer l'efficacité de transmission ; la seconde est la zone limitée par le calcul, où l'intensité arithmétique des opérateurs est élevée, le goulot d'étranglement des performances se situe au niveau de la capacité de calcul du GPU, et l'optimisation se concentre sur l'amélioration de l'utilisation de la puissance de calcul. La "ligne de toit" du modèle est constituée de deux segments de ligne brisée, le segment incliné représente la limite supérieure de performance de la bande passante mémoire, le segment horizontal représente la limite supérieure de performance de la capacité de calcul du GPU.</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Basé sur le cadre d'analyse du modèle Roofline, nous pouvons diviser les opérateurs IA de l'apprentissage profond en deux grandes catégories : la première est les opérateurs à calcul intensif, dont le volume de calcul est bien supérieur au volume de lecture/écriture de données, avec une intensité arithmétique élevée. Les exemples typiques sont les grandes multiplications matricielles et les convolutions avec beaucoup de canaux. Pour ces opérateurs à calcul intensif, les performances sont principalement déterminées par la capacité de calcul du GPU, et l'optimisation essentielle est de maintenir les cœurs de calcul à une charge élevée, comme l'utilisation pleine de l'avantage de calcul des Tensor Core. La seconde est les opérateurs à accès mémoire intensif, dont le volume de lecture/écriture de données est bien supérieur au volume de calcul, avec une intensité arithmétique très faible. ReLU, Add, BatchNorm, Dropout et autres opérations par élément sont des exemples typiques. Pour ces opérateurs, les performances sont entièrement limitées par la bande passante mémoire.</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Passons maintenant à la partie essentielle de ce cours, l'analyse des opérations Element-wise et Reduction. Ces deux opérations sont des abstractions clés pour comprendre l'implémentation GPU de la normalisation et des fonctions d'activation. Nous analyserons d'abord séparément leur logique de calcul, puis nous combinerons avec des opérateurs réels pour analyser leurs applications fusionnées.</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Commençons par l'opération par élément, dont la logique essentielle est très claire : appliquer indépendamment la même fonction de transformation à chaque élément de l'ensemble de données, sans aucune dépendance de données entre les éléments. Ce modèle de calcul présente deux avantages majeurs d'adaptation au matériel : le premier est le parallélisme naturel, puisque le calcul de chaque élément est indépendant sans aucune dépendance, nous pouvons diviser l'ensemble de la séquence de données en plusieurs sous-séquences, les distribuer à des milliers de threads GPU pour une exécution parallèle, puis assembler les résultats de calcul de chaque sous-séquence ; le second est une adaptation élevée au modèle d'exécution du GPU, ce modèle "même instruction appliquée à plusieurs données indépendantes" correspond parfaitement au modèle d'exécution SIMD du GPU, permettant au matériel d'atteindre l'efficacité parallèle la plus élevée.</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En contraste avec l'opération par élément, l'opération de réduction a pour logique essentielle de fusionner progressivement plusieurs éléments d'une séquence de données par une opération binaire, pour finalement obtenir un résultat de dimension inférieure, voire un scalaire. La différence essentielle entre l'opération de réduction et l'opération par élément réside dans l'existence d'une forte dépendance de données : chaque résultat de calcul dépend du résultat cumulé de l'étape précédente, les données sont "pliées" séquentiellement dans l'accumulateur. Prenons l'exemple d'une simple opération de somme, en additionnant la séquence [3,8,4,6,3,9,2,8] à partir de la valeur initiale 10, chaque calcul est basé sur le résultat de l'étape précédente, pour finalement obtenir la valeur cumulée 53. Cette caractéristique de forte dépendance de données empêche l'opération de réduction d'être parallélisée directement comme l'opération par élément, nécessitant la conception de stratégies de parallélisation spécifiques.</a:t>
            </a:r>
            <a:b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b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Comparons ici systématiquement les différences essentielles entre les deux opérations : du point de vue du mode de calcul, l'opération par élément est une application N vers N de même longueur entrée-sortie, tandis que l'opération de réduction est une agrégation N vers 1 ; du point de vue de la communication entre threads, les threads de l'opération par élément sont totalement indépendants sans aucune communication, tandis que l'opération de réduction doit compléter l'échange de données entre threads via des instructions Shuffle ou la mémoire partagée ; du point de vue de l'implémentation des fonctions du framework Triton, l'opération par élément utilise directement des opérateurs standards comme +, -, *, tandis que l'opération de réduction nécessite d'appeler des fonctions dédiées comme tl.sum, tl.max, tl.reduce ; du point de vue des algorithmes d'application typiques, ReLU, l'addition vectorielle, Dropout sont implémentés via l'opération par élément, tandis que LayerNorm, Softmax, le produit scalaire ont l'opération de réduction comme noyau.</a:t>
            </a:r>
            <a:b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b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Avant d'expliquer l'implémentation parallèle de l'opération de réduction, rappelons la structure de hiérarchie mémoire du GPU. Les threads du GPU sont organisés selon la hiérarchie "thread - thread block - grid", chaque thread block est programmé sur un SM (streaming multiprocessor) pour exécution ; les mémoires de différents niveaux ont des portées d'accès bien définies : les registres sont privés à un thread individuel, la mémoire partagée n'est visible que par les threads d'un même thread block, le cache L2 est partagé par tous les threads du GPU, et la mémoire globale est également visible globalement, mais avec la plus grande capacité et la vitesse la plus lente.</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Basé sur les caractéristiques parallèles du GPU, l'implémentation de l'opération de réduction fait face à un problème essentiel : la concurrence de données. Utilisons un scénario simple pour comprendre ce problème : supposons qu'une variable de valeur 3 existe en mémoire globale, deux threads veulent simultanément exécuter une opération d'addition de 1. Le cas correct idéal est que le thread 1 lit 3 d'abord, ajoute 1 puis écrit 4, le thread 2 lit ensuite 4, ajoute 1 puis écrit 5, le résultat final est 5 ; mais dans l'exécution parallèle réelle, un cas d'erreur peut survenir : les deux threads lisent simultanément 3 de la mémoire globale, chacun complète l'opération d'addition de 1, puis écrit tous deux 4 en mémoire globale, le résultat final est 4, une opération de mise à jour est perdue. C'est le classique problème de concurrence de données "lecture-modification-écriture".</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La solution la plus directe au problème de concurrence de données est d'utiliser des opérations atomiques, dont la logique essentielle est de garantir que le flux complet de l'opération "lecture-modification-écriture" est indivisible. Avant que le thread actuel ne termine cette opération, aucun autre thread ne peut accéder à cette adresse mémoire. Dans les frameworks de programmation GPU comme CUDA et Triton, une série d'instructions d'opérations atomiques est fournie, comme atomicAdd, atomicSub, atomicExch, atomicMin, atomicMax, etc., capables de satisfaire différents besoins de calcul de réduction.</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Cependant, les opérations atomiques ne garantissent que l'exactitude, pas la performance, principalement pour deux raisons : la première est la sérialisation de l'exécution, quand un grand nombre de threads exécutent simultanément des opérations atomiques sur la même adresse mémoire, le matériel force les opérations parallèles à devenir série, la capacité de parallélisme massif du GPU ne peut pas s'exprimer, dégénérant en performance série mono-cœur, c'est la raison essentielle des mauvaises performances des opérations atomiques ; la seconde est une surcharge d'instructions importante, les opérations atomiques doivent verrouiller l'adresse mémoire cible au niveau inférieur du matériel, garantissant que "lecture-modification-écriture" n'est pas interrompu, ce processus de verrouillage et déverrouillage entraîne une surcharge matérielle supplémentaire significative.</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Puisque les opérations atomiques ne conviennent pas à la réduction à grande échelle, quelle est l'idée efficace de parallélisation ? La réponse est d'exploiter la loi d'associativité de l'opération. Si l'opération binaire utilisée pour la réduction satisfait la loi d'associativité, comme l'addition a+(b+c)=(a+b)+c, nous pouvons briser la limite du calcul séquentiel, construire une structure arborescente parallèle pour implémenter la réduction : première étape, diviser la séquence de données d'entrée en plusieurs blocs, laisser chaque groupe de threads calculer indépendamment les résultats de réduction locaux de chaque bloc ; deuxième étape, fusionner les résultats locaux progressivement vers le haut via une fonction de combinaison, pour finalement obtenir le résultat de réduction global. Du point de vue de la complexité temporelle, la réduction série traditionnelle a une complexité O(N), tandis que la réduction parallèle arborescente peut réduire la complexité à O(logN).</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Arial" panose="020B0604020202020204"/>
              </a:defRPr>
            </a:lvl1pPr>
          </a:lstStyle>
          <a:p>
            <a:pPr indent="0" algn="l">
              <a:lnSpc>
                <a:spcPct val="100000"/>
              </a:lnSpc>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Après avoir clarifié l'idée de parallélisation de l'opération de réduction, nous devons déterminer son objectif d'optimisation essentiel. L'objectif d'optimisation de l'opération de réduction est d'approcher autant que possible les performances de pointe du GPU, mais nous devons d'abord clarifier son goulot d'étranglement de performance : l'opération de réduction est une opération typique à accès mémoire intensif, avec une intensité arithmétique extrêmement faible — chaque élément chargé depuis la mémoire ne subit généralement qu'une seule opération, l'intensité arithmétique est d'environ 1 FLOP par élément, ce type d'opérateur est nécessairement dans la zone limitée par la bande passante du modèle Roofline. Basé sur cette analyse de goulot d'étranglement, nous pouvons tirer une conclusion claire : le cœur de l'optimisation de l'opération de réduction n'est pas d'améliorer l'utilisation de la capacité de calcul, mais de maximiser l'utilisation de la bande passante mémoire.</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Ensuite, nous combinons le code réel du framework Triton pour concrétiser la théorie des opérations par élément et de réduction. Commençons par l'opération par élément la plus typique — l'addition vectorielle. L'addition vectorielle est le modèle d'implémentation parallèle le plus simple sur GPU, avec la caractéristique essentielle que chaque thread traite un ou plusieurs points de données indépendants, sans aucune communication entre threads, c'est l'avantage essentiel de l'opération par élément.</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Regardons maintenant l'implémentation Triton de l'opération de réduction, en prenant l'exemple de la somme vectorielle. L'implémentation de l'opération de réduction est plus complexe que l'opération par élément, principalement parce qu'elle nécessite de gérer l'échange de données entre threads, mais l'avantage de conception du framework Triton est d'avoir hautement encapsulé la logique de réduction arborescente de bas niveau — incluant les instructions Warp Shuffle et l'échange de données via mémoire partagée — les développeurs n'ont pas besoin de se soucier des détails de bas niveau, ils peuvent directement appeler la fonction tl.sum pour implémenter la réduction.</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L'exemple de somme vectorielle précédent supposait une quantité de données faible, un seul thread block pouvait traiter. Mais en ingénierie réelle, la quantité de données traitée par l'opération de réduction dépasse souvent la capacité d'un seul thread block, ce qui pose un problème : comment plusieurs thread blocks s'exécutant sur différents SM peuvent-ils partager leurs résultats intermédiaires et implémenter une réduction globale ? Regardons d'abord la solution idéale : si CUDA supportait une barrière globale côté device, alors tous les thread blocks pourraient se synchroniser via une barrière globale après avoir terminé la première ronde de réduction locale, puis continuer une réduction récursive basée sur les résultats locaux, jusqu'à obtenir le résultat global unique. Mais la réalité est que CUDA ne supporte pas la synchronisation globale côté device, principalement pour deux raisons : premièrement, un coût matériel extrêmement élevé, les GPU modernes ont généralement plus de 80 SM, chaque SM pouvant héberger plusieurs thread blocks, implémenter une synchronisation globale nécessiterait un énorme circuit logique matériel, irréalisable en ingénierie ; deuxièmement, un risque sérieux d'interblocage.</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Puisqu'on ne peut pas implémenter de synchronisation globale dans un seul Kernel, changeons d'approche : utiliser le lancement et la fin du Kernel comme point de synchronisation globale naturel. Parce que lorsqu'un Kernel termine son exécution, le CPU lance le Kernel suivant sur l'hôte, le GPU garantit que tous les thread blocks du Kernel précédent ont terminé leur exécution, cette caractéristique fournit une solution réalisable pour la synchronisation globale. C'est la décomposition du Kernel, également le paradigme d'implémentation standard pour les opérations de réduction à grande échelle. Basé sur la décomposition du Kernel, nous adoptons une stratégie de réduction multi-niveaux pour implémenter la réduction globale : premier niveau, lancer un grand nombre de thread blocks, chaque thread block exécute indépendamment une réduction locale sur une partie des données, écrit tous les résultats locaux en mémoire globale, puis ce Kernel termine, complétant la synchronisation globale naturelle ; deuxième niveau, lancer un petit nombre de thread blocks, lire les résultats locaux générés au premier niveau, exécuter une réduction secondaire, pour finalement obtenir le résultat de réduction global.</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Après avoir expliqué les deux opérations de base, revenons au thème essentiel de ce cours, qui concerne deux opérateurs impliqués dans la pratique de code. D'abord, la fonction d'activation, dont la définition est : introduire une capacité de transformation non-linéaire dans les réseaux de neurones, permettant au modèle d'ajuster n'importe quel mappage de fonction complexe. Sans fonction d'activation, la superposition de transformations linéaires dans un réseau de neurones multicouche reste une transformation linéaire, limitant considérablement la capacité d'expression du modèle. Les fonctions d'activation courantes dans l'apprentissage profond incluent ReLU, GELU, Swish/SiLU, etc., dont les caractéristiques de gradient diffèrent clairement. Prenons l'exemple de GELU pour une analyse approfondie, sa formule de calcul inclut la fonction d'erreur, une fonction transcendante, l'intensité de calcul est significativement plus élevée que les fonctions d'activation simples comme ReLU.</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Enfin, l'opérateur de normalisation LayerNorm (normalisation par couche), c'est un composant essentiel des réseaux de neurones modernes comme Transformer, et un contenu clé dans l'enseignement et la pratique. L'idée centrale de LayerNorm est de normaliser toutes les dimensions caractéristiques d'un seul échantillon, ce qui diffère essentiellement de BatchNorm qui normalise la même dimension caractéristique à travers les échantillons, donnant à LayerNorm des performances plus stables dans les scénarios d'entraînement à petit batch. Sa formule de calcul est y=(x-E[x])/(Var[x]+e)・gamma+beta, où E[x] est la moyenne des caractéristiques de l'échantillon, Var[x] est la variance, epsilon est une petite constante pour assurer la stabilité numérique, gamma et beta sont les paramètres apprenables de mise à l'échelle et de décalage. Il y a un point de dépendance de calcul essentiel, c'est aussi la clé de l'implémentation de LayerNorm : calculer la moyenne et la variance nécessite de parcourir toutes les données caractéristiques d'un seul échantillon, ce processus est essentiellement une opération de réduction.</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 cours se concentre sur la fusion d'opérateurs, une technologie clé. Dans le domaine de l'apprentissage profond, la fusion d'opérateurs joue un rôle de plus en plus important. Elle permet d'optimiser le graphe de calcul en fusionnant plusieurs opérateurs indépendants en un seul opérateur exécutable. Cette technologie apporte des avantages significatifs tels que la réduction de l'occupation de la bande passante mémoire et la diminution des coûts de lancement de Kernel, tout en améliorant l'utilisation du cache et la densité de calcul. Cependant, la fusion d'opérateurs peut également entraîner des problèmes tels que la pression sur les registres et la pression sur le cache d'instructions. Par conséquent, étudier en profondeur la fusion d'opérateurs revêt une importance majeure pour faire progresser l'apprentissage profond.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 cours d'aujourd'hui se divise en deux parties. La première partie couvre les concepts fondamentaux et les principes de la fusion d'opérateurs, notamment le cycle de vie complet des opérateurs dans le système, la définition et les bénéfices de la fusion d'opérateurs, ainsi que les effets secondaires potentiels et les cas contre-productifs. La deuxième partie prend Fused Softmax comme exemple concret, en mettant en pratique les idées de fusion d'opérateurs à travers une implémentation complète en Triton, avec une analyse approfondie de plusieurs techniques d'optimisation.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Avant de discuter de la fusion d'opérateurs, établissons d'abord une compréhension globale : un opérateur, du code Python écrit par l'utilisateur jusqu'à son exécution finale sur le matériel GPU, passe par quelles couches de traitement ? Commençons par la couche framework. La première étape est la normalisation du graphe. Le framework d'apprentissage profond, après avoir reçu le modèle défini par l'utilisateur, décompose les opérateurs composés de haut niveau - comme un TransformerBlock entier - en primitives de base fines, telles que MatMul, Softmax, LayerNorm, et établit une représentation intermédiaire standard, c'est-à-dire l'IR. Les formats IR courants incluent MLIR et XLA HLO. La deuxième étape, le framework calcule le cycle de vie de chaque tenseur par analyse de flux de données, c'est-à-dire la fenêtre temporelle entre la création d'un tenseur et sa dernière utilisation, pour décider de la stratégie de parallélisme et du plan de réutilisation mémoire. La troisième étape, abaisser (Lowering) le graphe de calcul optimisé en code dépendant du périphérique, et insérer des primitives de synchronisation aux positions nécessaires pour garantir l'ordre correct des calculs.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Continuons avec la couche runtime et la couche matérielle. Au niveau de la couche runtime, le framework prépare les paramètres de contexte nécessaires à l'exécution de chaque opérateur, incluant les pointeurs de mémoire de périphérique, la taille de mémoire partagée, le Stream ID, etc., puis lance le Kernel Launch pour soumettre la requête d'exécution au pilote GPU. Arrivé à la couche matérielle, le flux d'exécution du GPU peut être décrit par un flux de données simple : lecture des données d'entrée depuis la Global Memory, envoi aux unités de calcul pour traitement, puis réécriture des résultats dans la Global Memory. Ce processus semble simple, mais comme on peut le voir dans le diagramme chronologique de Nsight, il existe en réalité de nombreuses exécutions alternées de Kernels fins et d'opérations Memcpy pendant l'exécution, avec des interactions fréquentes entre CPU et GPU. Ces coûts constituent l'un des problèmes principaux que la fusion d'opérateurs cherche à résoudre.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Avant de parler de fusion d'opérateurs, introduisons d'abord une méthode d'optimisation système connexe - CUDA Graph. L'idée de CUDA Graph est d'enregistrer une série d'opérations GPU, incluant l'exécution de Kernel et Memcpy, sous forme d'un graphe topologique statique, utilisé en deux phases. Phase Capture : enregistrer l'ordre d'exécution, les paramètres, les adresses mémoire et les chemins de planification de tous les Kernels, pour construire le graphe d'exécution complet. Phase Replay : le CPU n'a qu'à émettre une instruction extrêmement légère pour déclencher l'exécution automatique et complète de tout le graphe sur le GPU, sans avoir besoin que le CPU soumette chaque Kernel individuellement. La comparaison des deux scénarios dans le diagramme est très claire. Pour les très petits GPU Kernels, avec le mode traditionnel Stream Launch, le CPU doit lancer successivement A, B, C, D, E, chaque Launch ayant un délai non négligeable, et les coûts de communication CPU-GPU peuvent même dépasser le temps d'exécution du Kernel lui-même. Avec CUDA Graph, ces coûts sont considérablement réduits. Pour les Kernels de taille normale, Graph Launch permet également d'éliminer presque complètement le temps d'attente inactif du CPU, rendant l'exécution GPU plus compacte et continue.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CUDA Graph résout le problème du coût de Kernel Launch, tandis que la fusion d'opérateurs résout un problème plus fondamental : le coût de transfert de données entre opérateurs. Prenons un exemple concret. Il y a une séquence de calcul composée de trois opérateurs en série : Conv, Scale/Bias et Max Pool. En mode d'exécution par défaut, une fois le calcul Conv terminé, le tenseur résultat doit être réécrit dans la mémoire vidéo globale ; après le démarrage de l'opérateur Scale/Bias, il faut relire ce résultat intermédiaire depuis la mémoire vidéo globale pour effectuer le calcul ; ensuite Max Pool procède de même. Chaque paire d'opérateurs doit traverser un aller-retour « écriture mémoire vidéo + lecture mémoire vidéo ». Si l'on adopte la fusion d'opérateurs, les opérations Element-wise peuvent naturellement s'enchaîner avec les opérateurs précédents et suivants : les données de sortie de Conv sont encore dans les registres ou la mémoire partagée, elles peuvent être directement utilisées par le calcul Scale/Bias, sans avoir besoin d'être stockées dans la mémoire vidéo globale. L'ensemble de la séquence de calcul devient un seul Kernel fusionné, vu de l'extérieur il n'y a qu'une seule lecture de données et une seule écriture de données, la consommation de bande passante mémoire et le nombre de lancements de Kernel sont considérablement réduits.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endParaRPr lang="cs-CZ"/>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Définissons maintenant formellement la fusion d'opérateurs. La fusion d'opérateurs désigne la technique qui consiste à fusionner plusieurs opérateurs indépendants d'un graphe de calcul en un seul opérateur à exécuter. En apprentissage profond, la fusion d'opérateurs présente trois modes typiques : La fusion verticale est la forme la plus courante, fusionnant une chaîne d'opérateurs ayant des dépendances séquentielles, l'exemple typique est Conv + Bias + ReLU, le flux de données de ces trois opérateurs est linéaire et peut être entièrement effectué dans un seul Kernel. La fusion horizontale fusionne en parallèle plusieurs opérateurs ayant la même entrée mais des paramètres différents, le cas typique étant plusieurs opérations GEMM appliquées à la même entrée, exécutées par lot pour améliorer l'utilisation du matériel. La fusion Reduction est spécifiquement conçue pour les séquences d'opérateurs contenant des opérations de réduction, comme le calcul de moyenne, le calcul de variance et la mise à l'échelle finale dans LayerNorm, ces trois étapes peuvent être effectuées consécutivement sans que les données ne quittent le cache sur puce.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endParaRPr lang="cs-CZ"/>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Les avantages de la fusion d'opérateurs peuvent être compris selon quatre dimensions. Réduction de l'occupation de la bande passante mémoire : c'est le bénéfice central. Après fusion, les résultats intermédiaires entre opérateurs n'ont pas besoin d'être réécrits dans la mémoire vidéo globale puis relus, les données peuvent circuler directement dans les registres ou la mémoire partagée, éliminant ainsi complètement ces lectures et écritures mémoire redondantes. Réduction du coût de Kernel Launch : plusieurs Kernel sont fusionnés en un seul, le nombre de « handshakes » entre CPU et GPU diminue, pour les séquences d'opérateurs avec un volume de calcul faible, la part du coût de Launch est souvent non négligeable. Amélioration du taux d'utilisation du cache : les données sont réutilisées consécutivement dans le SRAM sur puce, sans avoir besoin d'être expulsées du cache à chaque limite d'opérateur puis rechargées, le taux d'utilisation effective du cache augmente significativement. Augmentation de la densité de calcul : le Kernel fusionné possède un flux d'instructions plus long, plus d'opérations de calcul peuvent effectivement masquer la latence d'accès mémoire, maintenant les unités de calcul à un taux d'utilisation plus élevé.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endParaRPr lang="cs-CZ"/>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La fusion d'opérateurs n'est pas sans coût, elle introduit également de nouveaux problèmes, il faut les peser sérieusement. La contradiction centrale est la pression sur les registres. La quantité totale de registres par SM sur GPU est fixe, prenons l'exemple de l'A100 avec environ 256KB par SM. Quand plusieurs opérateurs sont fusionnés dans un Kernel, un seul thread doit simultanément conserver plus d'états intermédiaires, la quantité de registres occupée par chaque thread augmente, entrainant ainsi une augmentation de la quantité totale de registres occupée par chaque bloc de threads, le nombre de blocs de threads pouvant s'exécuter simultanément sur un SM diminue, se manifestant finalement par une baisse du taux d'occupation SM, c'est-à-dire une diminution du nombre de Warp actifs, la capacité de masquage de latence du GPU s'affaiblit. La pression sur le cache d'instructions est aussi un problème réel. Le code du Kernel fusionné est plus volumineux, il peut dépasser la capacité du cache d'instructions matériel, provoquant des invalidations fréquentes du cache d'instructions, introduisant un délai supplémentaire de chargement d'instructions. Par conséquent, la conception de la fusion d'opérateurs doit trouver un équilibre entre l'économie de bande passante d'accès mémoire et le maintien d'un parallélisme de calcul suffisant, plutôt que d'empiler aveuglément tous les opérateurs dans un seul Kernel.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endParaRPr lang="cs-CZ"/>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Voyons maintenant deux exemples réels de cas inverses, pour approfondir la compréhension des effets secondaires de la fusion. Le premier exemple vient du compilateur XLA. Description du scénario : la disposition mémoire forcée du tenseur d'entrée est {3, 2, 1, 0}, tandis que l'opérateur Custom-call suivant exige une disposition {1, 0, 2, 3}. Les deux dispositions étant incohérentes, lors de l'exécution de l'opération Add, XLA constate que les arrangements mémoire des deux entrées ne correspondent pas, pour aligner les données, il faut insérer une opération Copy supplémentaire pour effectuer la conversion de disposition. XLA, pour réduire le coût de lancement de Kernel, a fusionné de force Add et Copy en un seul Kernel. Cependant, cette décision s'est avérée contre-productive : en raison de l'incohérence des dispositions I/O, le Kernel fusionné ne peut pas effectuer d'accès fusionnés continus lors de l'accès mémoire, le modèle d'accès devient des sauts aléatoires, la performance a régressé de 9 fois par rapport à une disposition normale, passant de 2.43ms à 21.63ms. Ce cas illustre que le modèle d'accès mémoire est le facteur déterminant de la performance des opérateurs à forte intensité d'accès mémoire, une fusion aveugle sans tenir compte de la cohérence de la disposition mémoire peut au contraire provoquer une dégradation sévère des performances.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endParaRPr lang="cs-CZ"/>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Le deuxième cas inverse provient d'un vrai issue de la communauté PyTorch. PyTorch supporte un optimiseur Fused AdamW automatique, qui devrait théoriquement être plus rapide que la version simple, mais les tests sur GPU A40 ont montré une chute de performances significative. Après analyse, les raisons possibles sont au nombre de deux : Premièrement, en mode Fuse, la quantité de registres utilisée par un seul Kernel est environ le double du mode normal, entraînant directement une baisse drastique du taux d'occupation SM, ce qui est exactement la manifestation pratique du problème de pression sur les registres discuté à la page précédente. Deuxièmement, la granularité de déclenchement de Fused AdamW est par tenseur, c'est-à-dire en mode Per-tensor, chaque tenseur de paramètre déclenche indépendamment un Kernel Launch, le nombre de lancements de Kernel restant donc élevé, s'ajoutant à cela un coût de Launch conséquent. Sur le graphique de comparaison de la ligne temporelle du Profiler, on peut voir directement que le temps total de la version Fused est significativement supérieur à la version non fusionnée. Ce cas nous rappelle : la stratégie de fusion doit être conçue en combinant les contraintes réelles des ressources matérielles et la granularité d'ordonnancement, les détails de l'implémentation technique déterminent directement l'effet final.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endParaRPr lang="cs-CZ"/>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Très bien, dans la première partie, nous avons systématiquement présenté les concepts, les avantages, les coûts et les cas d'échec typiques de la fusion d'opérateurs. Nous passons maintenant à la deuxième partie du cours, en prenant Fused Softmax comme exemple pour concrétiser la théorie dans une implémentation Triton complète et réellement exécutable, afin de voir comment réaliser correctement la fusion d'opérateurs en pratique.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Examinons l'implémentation naïve du Softmax et ses problèmes de performance. La formule standard numériquement stable du Softmax est : softmax(xᵢ) = exp(xᵢ − max(x)) / Σⱼ exp(xⱼ − max(x)). Soustraire la valeur maximale permet d'éviter le dépassement numérique de l'opération exp. La sortie du Softmax est invariante par rapport à cette translation. Regardons l'implémentation naïve en PyTorch : le processus d'exécution se divise en quatre étapes. D'abord, calculer le maximum de chaque ligne (lecture de MN éléments, écriture de M) ; puis faire la soustraction pour obtenir la matrice translatée (lecture de MN+M éléments, écriture de MN) ; ensuite appliquer l'exp élément par élément (lecture de MN, écriture de MN) ; puis sommer chaque ligne (lecture de MN, écriture de M) ; enfin faire la division pour normaliser (lecture de MN+M, écriture de MN). En additionnant toutes les lectures et écritures : lecture totale de 5MN+2M éléments, écriture de 3MN+2M éléments. Chaque étape doit écrire les résultats intermédiaires en mémoire globale, pour être relus par l'étape suivante, ce qui entraîne un gaspillage extrêmement important de la bande passante. C'est le goulot d'étranglement fondamental de l'implémentation naïve.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Une fois le problème identifié, la solution de fusion d'opérateurs devient naturelle. La stratégie centrale est le SRAM Residency : garder les données sur puce autant que possible jusqu'à ce que tous les calculs soient terminés, avant de les réécrire. Concrètement, cela se fait en trois étapes. Étape Load : tous les threads coopèrent en parallèle pour lire une ligne entière de données depuis la Global Memory et la stocker dans la mémoire partagée. Cette étape est un accès obligatoire à la Global Memory, inévitable. Étape Sync &amp; Reduce : dans la mémoire partagée sur puce, effectuer plusieurs itérations sur cette ligne de données - d'abord trouver le maximum, puis faire la soustraction, puis l'exp, puis la somme. Tout ce processus s'effectue à grande vitesse sur puce, sans consommer aucune bande passante mémoire. En CUDA, chaque étape nécessite un appel explicite à __syncthreads() pour synchroniser, alors qu'en Triton cette synchronisation est implémentée automatiquement. Étape Write : seuls les résultats normalisés finalement calculés sont réécrits dans la Global Memory. Pour chaque ligne de données, il n'y a qu'une seule lecture et une seule écriture du début à la fin, réduisant la consommation de bande passante mémoire à sa limite théorique.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Regardons maintenant l'implémentation concrète en code Triton, en nous concentrant d'abord sur le flux de chargement et de réécriture des données. L'ensemble du Kernel utilise une approche Grid-Stride Loop, où chaque Program traite une ou plusieurs lignes de données. Pour chaque ligne : d'abord le calcul des pointeurs mémoire. Selon row_idx et input_row_stride, on calcule le pointeur de départ de la ligne actuelle row_start_ptr, puis on utilise tl.arange(0, BLOCK_SIZE) pour générer les décalages de colonnes, obtenant input_ptrs, le vecteur d'adresses de tous les éléments de cette ligne. Ensuite le chargement. On appelle tl.load(input_ptrs, mask=mask, other=-float('inf')) pour charger la ligne entière de données. Notez l'utilisation du mask pour gérer les cas limites où le nombre de colonnes n'est pas un multiple entier de BLOCK_SIZE, les positions hors limites étant remplies avec l'infini négatif, garantissant que les opérations max ultérieures ne sont pas perturbées. Une fois les données chargées, on effectue immédiatement sur puce tous les calculs : max, sub, exp, sum, etc. Nous détaillerons cette partie à la page suivante. Enfin la réécriture. De même, on calcule d'abord les pointeurs de sortie, puis on appelle tl.store pour réécrire les résultats finaux dans la Global Memory, avec une seule opération d'écriture pour toute la ligne.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Cette page se concentre sur l'implémentation concrète de la fusion d'opérateurs dans le Kernel. La partie de calcul principale mise en évidence dans le code accomplit en seulement quatre lignes ce qui nécessitait auparavant plusieurs Kernels indépendants : tl.max, tl.exp, tl.sum et enfin la division, correspondant exactement aux quatre opérations Max, Sub, Exp, Sum d'origine, toutes fusionnées dans un seul Kernel. Les données circulent continuellement dans les registres et la mémoire partagée, sans aucune écriture intermédiaire en mémoire globale. Le schéma à droite montre la structure d'arbre de réduction à l'intérieur de tl.sum - Triton implémente automatiquement cette opération de somme comme un arbre de réduction parallèle, sans que le développeur n'ait à écrire manuellement la logique de Warp Shuffle. C'est précisément pourquoi Triton est plus efficace que le CUDA écrit à la main pour le développement d'opérateurs à forte intensité d'accès mémoire.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 Kernel seul ne suffit pas, le code de lancement côté Host comporte également de nombreux points d'optimisation soigneusement conçus. Nous aborderons cela en trois pages, celle-ci traitant d'abord de la spécialisation statique du noyau. Première étape, BLOCK_SIZE = triton.next_power_of_2(n_cols), aligne le nombre de colonnes de l'entrée vers la puissance de 2 la plus proche. Cela présente deux avantages : d'une part, s'assurer que les index générés par tl.arange peuvent couvrir la ligne de données complète, en utilisant le mask pour gérer la fin ; d'autre part, BLOCK_SIZE devient une constante connue à la compilation. Ce point est crucial. Lorsque BLOCK_SIZE est une constante de compilation, le compilateur JIT de Triton peut effectuer un déroulement complet des boucles sur ce paramètre, transformant toutes les itérations de boucle en séquences d'instructions directes lors de la phase de compilation, éliminant entièrement les coûts de contrôle de boucle et la pression de prédiction de branche à l'exécution. C'est une technique classique d'optimisation de compilation qui échange la spécialisation contre la performance.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deuxieme etape se concentre sur le calcul precis de l'occupancy. Le code commence par precompiler le Kernel via softmax_kernel.warmup(...) pour detecter le nombre de registres n_regs et la taille de memoire partagee size_smem effectivement consommes sous la configuration actuelle de BLOCK_SIZE et num_warps. Ensuite, on calcule combien de Blocks peuvent s'executer en parallele sur chaque SM, c'est-a-dire l'Occupancy : ce calcul prend en compte simultanement les contraintes de registres et de memoire partagee, en prenant la plus petite des deux valeurs pour obtenir la limite superieure reelle du nombre de Blocks concurrents. Pourquoi effectuer cette etape au lieu d'utiliser directement une valeur empirique ? Parce que differentes configurations de BLOCK_SIZE et num_warps entrainent des consommations de registres et de memoire partagee significativement differentes. Seule une detection reelle permet d'obtenir une Occupancy precise, puis, a la troisieme etape, de prendre la decision optimale concernant la taille de Grid, maximisant ainsi le nombre de Warps actifs par SM.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troisieme etape est le lancement de grille persistant, egalement appele mode Grid-Stride Loop. L'approche traditionnelle consiste a lancer un nombre de Blocks correspondant au nombre de lignes : autant de lignes, autant de Blocks lances. Mais cela souleve deux problemes : le nombre de lignes peut depasser largement la capacite de parallelisme effective du GPU, entrainant des couts de planification avec des Blocks en file d'attente ; lorsque le nombre de lignes est faible, le GPU reste largement inactif. La strategie adoptee ici consiste a decoupler completement la taille de la grille du volume de donnees, en lancant un nombre total de Blocks fixe au nombre que le GPU peut executer en parallele a pleine charge, nourrissant ainsi tous les SM sans creer de file d'attente. Lorsque le nombre de lignes de donnees depasse le nombre de Blocks, chaque Block traite en serie plusieurs lignes de donnees via une boucle a pas, jusqu'a ce que toutes les lignes soient traitees. C'est le principe central du Grid-Stride Loop : maintenir le GPU toujours a pleine charge tout en evitant les couts de lancement de Kernel excessifs.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Outre les conceptions explicites mentionnees ci-dessus, Triton nous aide automatiquement a gerer certains points d'optimisation ou il est facile de trancher en CUDA, le premier etant l'adressage continu. Lors du processus de reduction en arbre de la memoire partagee, si l'on adopte une strategie d'adressage entrelace - c'est-a-dire un pas qui double a chaque couche de reduction, avec un espacement croissant entre les threads actifs - cela provoque de graves Bank Conflicts de memoire partagee. La cause des Bank Conflicts est la suivante : la memoire partagee est divisee au niveau materiel en plusieurs Banks de largeur egale ; si plusieurs threads au sein d'un meme Warp accedent simultanement a des adresses differentes d'un meme Bank au cours d'un meme cycle d'horloge, les requetes d'acces sont serializees, entrainant une chute drastique de la bande passante reelle de la memoire partagee. Comme le montre le diagramme, avec l'adressage entrelace, a mesure que le pas augmente, de plus en plus de threads se retrouvent sur le meme Bank, et les conflits deviennent de plus en plus graves.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solution au Bank Conflict consiste a adopter une strategie d'adressage continu : s'assurer qu'a chaque tour de reduction, les threads actifs accedent a des emplacements de memoire partagee dont les adresses sont continues, les differents threads etant repartis uniformement sur differents Banks, realisant ainsi un acces parallele sans conflit et maximisant ainsi la bande passante de la memoire partagee. Comme le montre le diagramme, avec l'adressage continu, les threads actifs a chaque etape sont tasses a partir de l'ID le plus bas, et chaque thread accede a un Bank different, sans conflit. Ce qui merite encore plus d'attention, c'est le modele de programmation de Triton : dans Triton, en appelant explicitement tl.arange(0, BLOCK_SIZE) pour generer les decalages de colonnes, puis en ajoutant au pointeur de debut de ligne pour obtenir input_ptrs, cette approche genere force des index continus, evitant des le niveau du langage la possibilite d'un adressage entrelace. Comparativement a CUDA qui exige du developpeur de choisir manuellement le bon mode d'index de reduction, l'abstraction de Triton fait de l'implementation correcte la valeur par defaut, reduisant drastiquement la probabilite d'erreur.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deuxieme optimisation cachee est la cascade d'algorithmes, une technique classique issue de la theorie des algorithmes paralleles. L'idee de base est la suivante : faire supporter a chaque thread physique une charge de travail plus importante, au lieu de faire correspondre strictement le nombre de threads au volume de donnees. Dans Triton, lorsque BLOCK_SIZE est tres superieur au nombre de threads physiques, le compilateur execute automatiquement une petite boucle interne a chaque thread physique, traitant en serie BLOCK_SIZE / thread_num elements, puis participe a la reduction parallele globale. Cela revient a cascader les etapes de reduction serie et de reduction parallele. Sur le plan theorique, en analysant avec le theoreme de Brent : Schema naif : allouer O(N) threads, profondeur de reduction parallele O(log N), travail total O(N log N), ce qui constitue un gaspillage. Schema optimise du theoreme de Brent : utiliser O(N/log N) threads, chaque thread traite d'abord en serie O(log N) elements pour effectuer une reduction locale, puis les O(N/log N) threads collaborent pour O(log N) etapes de reduction parallele. Le travail total = O(N/log N) x O(log N) = O(N), atteignant l'optimalite du travail, ce qu'on appelle cout efficace. Cette optimisation apporte egalement un autre avantage : l'augmentation de la charge de travail de chaque thread ameliore l'effet de masquage des operations arithmetiques sur la latence memoire, et la capacite de masquage de latence du GPU est mieux exploitee.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Enfin, examinons les resultats quantitatifs de la comparaison des performances, qui valident de maniere globale tous les travaux d'optimisation presentes precedemment. Le graphique compare trois courbes : l'implementation Softmax naive (ligne rouge), l'implementation Torch native PyTorch (ligne verte) et l'implementation Triton fusionnee presentee dans ce cours (ligne bleue). L'axe vertical represente le debit de bande passante memoire video, en GB/s, et l'axe horizontal la longueur de sequence N. Des donnees, on peut clairement degager plusieurs regles : L'implementation naive se maintient toujours autour de 300-350 GB/s, bien en dessous des deux autres, ce qui reflete le gaspillage de bande passante cause par les multiples allers-retours vers la memoire globale. L'implementation Triton atteint ou depasse 1200 GB/s dans la plupart des longueurs de sequence, avec un pic proche de 1400 GB/s, a egalite avec Torch voire legerement superieure sur certaines specifications, validant pleinement l'efficacite des moyens d'optimisation tels que la fusion d'operateurs combinee a l'adressage continu et a la cascade d'algorithmes. L'implementation Torch presente des fluctuations de performance marquees a certaines longueurs de sequence specifiques, comme la chute brutale autour de N=1500, ce qui est probablement du a une selection de branche BLOCK_SIZE inappropriee dans PyTorch ou a un changement de Kernel, refletant une robustesse moindre des implementations de bibliotheques generiques dans les cas extremes par rapport aux Kernel specialement optimises. Globalement, l'implementation Triton Softmax, apres fusion d'operateurs et optimisation soignee, presente une amelioration du debit de bande passante proche de 4 fois superieure a l'implementation naive, demontrant pleinement la valeur pratique des methodes d'optimisation presentees dans ce cours.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Bonjour à tous, bienvenue dans le cours « Fondements logiciels et matériels des systèmes de calcul intelligent ». Aujourd'hui, notre thème principal est « Débogage d'opérateurs complexes et Profiling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 cours sera organisé autour de quatre parties principales : d'abord une vue d'ensemble, puis nous explorerons en profondeur les deux atouts majeurs de la chaîne d'outils NVIDIA Nsight — Nsight Systems et Nsight Compute, et enfin nous démontrerons le processus complet d'optimisation à travers une étude de cas concrète. NVIDIA Nsight est un ensemble puissant d'outils de développement couvrant les plateformes de bureau et mobiles, conçu pour aider à construire, déboguer et profiler efficacement des programmes, afin de développer des logiciels exploitant pleinement le potentiel des derniers matériels de calcul accéléré.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Chers étudiants, regardons d'abord la vue d'ensemble des outils de développement NVIDIA Nsight. Comme le montre ce diagramme matriciel à l'écran, NVIDIA Nsight n'est pas un logiciel unique, mais un ensemble puissant de bibliothèques, SDK et outils couvrant entièrement les plateformes de bureau et mobiles. Que nous fassions du calcul CUDA pur, du rendu graphique Graphics ou du développement lié à OptiX, Nsight fournit les débogueurs, analyseurs de performances et support API correspondants. Dans le contexte des systèmes de calcul intelligent, avec la complexité croissante de l'architecture matérielle, maîtriser cet ensemble d'outils est essentiel pour développer des logiciels exploitant vraiment le potentiel des derniers matériels accélérés hétérogènes.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En nous concentrant sur notre sujet principal — l'analyse de performance CUDA — la chaîne d'outils comprend principalement deux atouts : Nsight Systems et Nsight Compute. Comme le montre le tableau, le positionnement de ces deux outils a une distinction hiérarchique stricte. Nsight Systems se concentre sur le « niveau système », fournissant une analyse chronologique globale entre CPU et GPU. Lorsque nous rencontrons une faible utilisation globale du GPU, un déséquilibre de charge multi-GPU, ou que nous soupçonnons des problèmes de blocage de synchronisation CPU-GPU, c'est le choix prioritaire. En revanche, Nsight Compute descend au « niveau opérateur » comme un microscope, spécialement conçu pour analyser le comportement microarchitectural d'un seul opérateur CUDA, fournissant des métriques au niveau instruction, et est l'outil de choix pour l'optimisation des accès mémoire, l'ajustement des registres et la rupture des goulots d'étranglement de calcul du kernel.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Sur la base du positionnement des deux outils précédents, examinons une boucle d'optimisation standard pour les applications CUDA. La première étape de l'optimisation commence toujours par une vue d'ensemble : exécuter Nsight Systems pour un réglage en vue système, identifier dans la chronologie les opérateurs lents et les lacunes de synchronisation CPU-GPU irraisonnables. Après avoir verrouillé l'opérateur cible, nous entrons dans la deuxième étape d'exploration approfondie : l'isoler et utiliser Nsight Compute pour déboguer et optimiser un opérateur CUDA spécifique, analyser les causes spécifiques des arrêts d'instructions et modifier le code de manière ciblée. Une fois l'optimisation terminée, nous devons évaluer si l'objectif est atteint. Si non, il faut revenir à la vue système pour réévaluer. Cette boucle de rétroaction est la méthodologie scientifique que nous devons suivre strictement lors de l'accélération d'opérateurs complexes.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Examinons maintenant en detail NVIDIA Nsight Systems. C'est un outil d'analyse de performance systeme. Son objectif principal est d'aider les developpeurs a visualiser le flux d'execution global des algorithmes de l'application, permettant ainsi d'identifier les plus grandes opportunites d'optimisation des performances a un niveau macroscopique. Grace a sa vue systeme, nous pouvons effectuer des reglages pour assurer que notre logiciel puisse etendre efficacement entre n'importe quel nombre ou echelle de noeuds CPU et GPU.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Specifiquement, Nsight Systems offre des fonctionnalites de suivi systeme extremement riches, permettant de visualiser le comportement de l'application a l'echelle du systeme a travers CPU et GPU. Cote CPU, il peut surveiller l'utilisation des cœurs, l'activite des processus et threads, capturer les traces de threads, ainsi que le suivi des evenements cles du systeme d'exploitation. Cote GPU, il permet un suivi granulaire de la charge de travail, des changements de contexte, et meme du niveau SOC incluant la bande passante memoire et l'etat de l'hyperviseur. Plus important encore, il permet d'examiner les interactions et les ecarts entre CPU et GPU, et de realiser une correlation bidirectionnelle entre les API de calcul et d'IA (telles que CUDA API, cuDNN, cuBLAS) et la charge de travail GPU sous-jacente. De plus, il prend en charge le suivi des API de rendu graphique et permet d'identifier l'inactivite ou l'utilisation clairsemee du GPU via des API d'annotation utilisateur.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t>Chers etudiants, regardez l'ecran, cette page nous montre la vue de la chronologie systeme reelle capturee par NVIDIA Nsight Systems. Dans cette interface graphique extremement detaillee, nous pouvons aligner intuitivement la logique du code de niveau superieur avec l'etat d'execution du materiel et du logiciel sous-jacents. En observant de haut en bas, toute la chronologie est divisee en pistes de suivi multidimensionnelles. D'abord du cote CPU, nous pouvons observer clairement la distribution d'activite des processus et threads, surveiller les changements d'etat specifiques des threads, et meme capturer les migrations de threads ou de cœurs au niveau du systeme d'exploitation. En descendant vers la couche d'interface, l'axe temporel enregistre avec precision le suivi des API CUDA et OpenGL, et peut afficher le temps d'execution des appels aux bibliotheques de calcul fondamentales dont dependent les frameworks d'apprentissage profund, marquees dans le diagramme par le suivi cuDNN et cuBLAS. Le regard continue vers le cote GPU, ou s'affiche denssement l'activite reelle des operateurs et des transferts de memoire. Plus puissant encore, la piste de suivi multi-GPU au fond peut presenter completement la situation de planification des taches lors de la coordination multi-cartes. Grace a cette vue chronologique globale, nous pouvons identifier de maniere tres intuitive les bulles d'inactivite GPU causees par l'envoi trop lent des commandes depuis l'hote ou par les blocages de communication multi-cartes, indiquant ainsi la direction pour la prochaine analyse de performance microscopique.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t>Pour localiser rapidement la logique metier qui nous interesse dans la chronologie systeme complexe, NVIDIA fournit NVTX, cette API de profilage. En implantant NVTX dans le code, nous pouvons utiliser des marqueurs d'evenements personnalises pour annoter l'axe temporel de performance. Par exemple, en marquant les frontieres de la retropropagation (backward) dans le code avec push_range et pop_range, nous pouvons ainsi aligner directement l'activite materielle complexe sous-jacente avec la logique du code de niveau superieur dans l'interface de visualisation, ameliorant considerablement l'efficacite de l'analyse.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Une fois que nous avons identifie les operateurs goulots d'etranglement specifiques via Nsight Systems, nous avons besoin de NVIDIA Nsight Compute. C'est un profileur interactif specialement concu pour CUDA et NVIDIA OptiX. Il interagit avec le runtime CUDA et la couche pilote en injectant un mecanisme entre le processus hote et le processus application, realisant ainsi l'echantillonnage du materiel sous-jacent. Nsight Compute offre non seulement une interface graphique utilisateur intuitive, mais aussi des outils en ligne de commande puissants, capables de produire des indicateurs de performance extrêmement detailles et prenant en charge nativement le debogage au niveau API.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Les fonctionnalites principales de Nsight Compute couvrent le debogage interactif de CUDA API et l'analyse de performance des operateurs. Il peut generer des rapports d'analyse graphiques et prend en charge la comparaison de plusieurs rapports de performance d'operateurs. En meme temps, il permet de personnaliser les formats de rapport et les regles d'analyse, et prend en charge divers flux de travail comme la ligne de commande, l'execution autonome et l'integration IDE. Au niveau de la micro-architecture, comprendre son mecanisme de planification est crucial. Prenons l'exemple de l'architecture Volta, chaque SM (Streaming Multiprocessor) contient 4 ordonnanceurs Warp, gerant un pool de ressources de 16 emplacements Warp; tandis que dans l'architecture Turing, il y a 8 emplacements Warp. Chaque ordonnanceur peut lancer 1 Warp par cycle, comprendre ce modele materiel est une condition prealable pour interpreter les indicateurs de performance.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t>Pour mieux comprendre les differents indicateurs microscopiques fournis par les outils de profilage de performance, nous devons approfondir la microarchitecture materielle sous-jacente. Sur cette page, nous prenons l'architecture Volta comme exemple pour analyser en detail le mecanisme de planification des Warp au sein du multiprocesseur de flux (SM). Regardez le schema structurel sur le grand ecran : dans l'architecture Volta, chaque SM est divise en 4 blocs de traitement, ce qui signifie que chaque SM contient 4 planificateurs de Warp. Chaque planificateur gere de maniere independante un pool de ressources Warp dedie. En termes de configuration de capacite, chaque planificateur de l'architecture Volta possede 16 emplacements Warp ; a titre de comparaison, dans l'architecture Turing ulterieure, chaque planificateur gere 8 emplacements Warp. En termes de debit d'emission d'instructions, chaque planificateur peut emettre 1 Warp par cycle d'horloge vers les unites d'execution sous-jacentes. Lors de l'optimisation des operateurs, comprendre un tel modele mental simplifie de la microarchitecture est extremement important, car il constitue la base fondamentale pour le profilage de performance des operateurs et l'interpretation des differents indicateurs SM. Les indicateurs cles que nous analyserons ulterieurement, tels que le nombre de Warp actifs, les arrets d'instructions et le taux d'occupation des ressources, sont tous entierement bases sur ces lois de planification materielle.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Lors de l'utilisation de Nsight Compute pour l'analyse microscopique, nous devons nous concentrer sur trois indicateurs cles au niveau des Warp. Premierement, les statistiques du planificateur : Nsight Compute suit le nombre de Warp actifs et prets a chaque cycle pour evaluer l'efficacite de l'emission d'instructions et la capacite a masquer la latence. Deuxiemement, les statistiques d'etat des Warp : l'outil analyse les cycles d'arret des Warp, nous aidant a identifier precisement les goulots d'etranglement materiels specifiques causant les delais d'execution des instructions. Enfin, le taux d'occupation : en comparant les Warp actifs reels avec le nombre maximum theorique de Warp actifs, on evalue le taux global d'utilisation des ressources du GPU et l'equilibrage de la charge de travail.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Chers etudiants, nous allons maintenant presenter un cas complet d'optimisation de performance a travers un operateur compose de "calcul de moyenne vectorielle et multiplication matricielle". Vous pouvez voir le parcours d'optimisation a gauche : nous passerons par quatre etapes cles, de la version OpenMP initiale basee sur CPU, a une premiere version GPU portee de maniere grossiere, puis a une refonte approfondie de la conception de l'operateur, et enfin a une optimisation fine des acces memoire. Tournez votre attention vers le code a droite : c'est notre premiere version de l'operateur GPU, gpu_version1. Du point de vue de la logique du code, c'est une implementation de base tres directe. L'operateur calcule d'abord l'index global du thread actuel via blockIdx et threadIdx. Ensuite, une boucle externe avec un pas de N est lancee, ce qui signifie que chaque thread parcourt et traite sequentiellement l'ensemble des N jeux de donnees.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Dans la version GPU initiale de ce cas, l'outil a emis un avertissement de configuration de lancement, indiquant que la taille de la grille etait trop petite pour utiliser pleinement les ressources materielles. Notre solution a consiste a repartir les taches de calcul sur N blocs de threads au lieu de les placer dans un seul bloc. Cette operation de maximisation de la taille de la grille a reduit le temps d'execution de 2,92 secondes a 0,0789 secondes.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Apres avoir resolu le probleme fondamental de parallelisme, l'outil a montre que la file d'attente des unites de chargement/stockage etait saturee, et que le ratio entre les transactions reelles et les transactions ideales du cache L2 atteignait 8:1, indiquant des acces memoire non contigus et non coalesces. Pour resoudre ce probleme, nous avons implemente un code de boucle travers Warp et travers Block pour garantir que les lectures memoire soient contigues. Cette optimisation des acces coalesces a reduit le temps d'execution a 0,0216 secondes.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Apres les deux premieres optimisations, l'outil a identifie des arrets de Warp causes par des operations de reduction de tableau conventionnelles et a montre que l'utilisation de la memoire partagee etait excessive. Pour alleger la pression, nous avons utilise des instructions Warp shuffle bi-phases (__shfl_down_sync) pour remplacer les operations de reduction qui dependaient de la memoire partagee. Cette refonte a reduit le temps d'execution a 0,0126 secondes.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A ce stade, l'outil identifie "Stall Long Scoreboard" comme principal goulot d'etranglement, representant 46.1%, ce qui indique une attente de dependance de donnees dans le cache L1. Pour eliminer completement la latence, nous divisons le code en deux operateurs : un operateur personnalise pour le calcul de moyenne vectorielle, et un autre appelant directement la bibliotheque cuBLAS SGEMM hautement optimisee pour la multiplication matricielle. Cette modification architecturale permet d'atteindre un temps d'execution final de 0,0055 seconde, soit une acceleration de pres de 100 fois par rapport a la version CPU OpenMP.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Face a un operateur optimise a l'extreme, l'evaluation montre que le debit reel a atteint environ 823 GB/s, et le chargement des donnees de la memoire globale est deja proche de l'optimal. Cela signifie que nous avons atteint la limite physique de la bande passante materielle. Si une amelioration supplementaire est necessaire, il faut rekoncevoir la logique algorithmique de niveau superieur.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Chers etudiants, nous approchons de la fin du contenu du cours d'aujourd'hui. Dans l'architecture des systemes de calcul intelligent, il est loin d'etre suffisant de simplement ecrire correctement la logique de l'operateur et d'obtenir des resultats corrects. Aujourd'hui, nous avons appris une methodologie d'analyse de performance rigoureuse et scientifique : partir d'une perspective systemique globale avec Nsight Systems pour localiser les goulots d'etranglement macroscopiques, puis plonger dans Nsight Compute pour une analyse approfondie au niveau des instructions micro-architecturales. Cette page presentee sur le grand ecran liste les references pertinentes, y compris les guides de demarrage officiels et les manuels d'analyse de performance detailles de Nsight Systems et Nsight Compute. Je vous invite a etudier attentivement ces documents officiels lors de vos pratiques de developpement d'operateurs bas niveau.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Bonjour à tous, aujourd'hui nous commençons le cours 17, dont le thème est la conception de l'architecture de la bibliothèque d'opérateurs.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 plan de ce cours comprend principalement quatre parties : nous explorerons d'abord les principes de conception de la bibliothèque d'opérateurs, puis nous discuterons en profondeur du mécanisme de l'ordonnanceur, ensuite nous présenterons les langages spécifiques au domaine pour le développement d'opérateurs, et enfin nous consoliderons les connaissances acquises à travers une étude de cas concrète.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Avant cela, précisons ce qu'est un opérateur. Au sens large, toute opération spécifique appliquée à une fonction donnée peut être définie comme un opérateur. Dans notre contexte, les algorithmes d'apprentissage profond sont précisément construits à partir de ces unités de calcul indépendantes appelées opérateurs. L'addition, la multiplication matricielle et la normalisation de couche que vous connaissez bien sont des exemples typiques d'opérateurs.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Alors, qu'est-ce qu'une bibliothèque d'opérateurs ? En termes simples, c'est un ensemble d'opérateurs hautement optimisés et réutilisables pour les réseaux de neurones. La bibliothèque d'opérateurs joue trois rôles principaux dans la pile logicielle du système. D'abord, elle sert de pont de connexion, reliant les frameworks AI supérieurs à l'architecture matérielle sous-jacente. Ensuite, elle agit comme un moteur de performance, maximisant l'utilisation du matériel bas niveau grâce à un réglage de noyau au niveau expert. Enfin, elle fournit une abstraction matérielle, permettant aux développeurs d'algorithmes de se concentrer sur la conception des modèles sans avoir à gérer les complexities de la programmation bas niveau.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t>Lors de la conception d'une bibliothèque d'opérateurs, nous privilégions d'abord le principe de facilité d'utilisation. Cela exige que la bibliothèque d'opérateurs puisse s'intégrer de manière transparente avec les frameworks supérieurs, en enregistrant directement la bibliothèque d'opérateurs dans le mécanisme d'ordonnancement interne du framework, permettant aux modèles existants d'obtenir des gains d'accélération sans aucune modification du code. En même temps, la bibliothèque d'opérateurs doit avoir la capacité de découverte automatique du matériel, pouvant détecter automatiquement l'environnement d'exécution et charger le backend optimal sans que l'utilisateur n'ait à configurer manuellement. De plus, une interface multi-backend unifiée est essentielle, permettant aux mêmes API de haut niveau de rester cohérentes à travers différentes architectures matérielles grâce à une couche d'abstraction standardisée. Nous devons également fournir une architecture à abstraction multi-niveaux : niveau haut pour le prototypage rapide, niveau moyen pour le réglage du parallélisme et du partitionnement, et niveau bas ouvert aux experts système pour un réglage extrême des détails matériels comme les registres et les warps.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t>Outre la facilité d'utilisation, la performance est naturellement un autre principe de conception fondamental. Pour atteindre des performances extrêmes, nous adoptons un mécanisme de cache persistant et de pré-réglage, stockant les configurations de calcul optimisées et préchauffant les noyaux pour éliminer le délai d'initialisation, assurant que la première exécution de l'opérateur atteigne la performance optimale. En parallèle, un mappage de configuration sensible au matériel est nécessaire, utilisant le système de configuration pour abstraire les contraintes physiques spécifiques au matériel dans le processus de génération de code, comme la hiérarchie mémoire et les limites des unités de calcul. Pour différentes entrées, nous adoptons une technique de partitionnement adaptatif, décomposant les opérateurs en blocs de calcul optimaux selon les dimensions d'entrée, minimisant ainsi le surcoût de remplissage pour différentes longueurs de séquence et maximisant l'utilisation de la bande passante mémoire.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Dans l'implémentation réelle, nous devons inévitablement faire face à divers compromis et arbitrages. Par exemple, la contradiction entre les formes dynamiques et l'alignement matériel - les entrées de taille arbitraire limitent généralement la performance optimale basée sur l'alignement matériel, et la solution à ce problème est la technique de partitionnement adaptatif mentionnée précédemment. Ensuite, la disposition intuitive des données entre généralement en conflit avec les modèles d'accès mémoire optimisés pour le matériel, ce qui nécessite une transformation de disposition au niveau inférieur. Enfin, la contradiction entre l'API boîte noire et le réglage fin - les interfaces simplifiées rendent difficile un réglage fin, nous introduisons donc un mappage heuristique pour concilier les deux.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Pour coordonner et gérer les backends matériels complexes et les implémentations d'opérateurs, le système introduit un planificateur. Le planificateur est un composant clé qui distribue les opérations vers l'implémentation ou le backend le plus approprié en fonction des conditions d'exécution telles que le type d'appareil, les attributs de données ou les politiques de configuration.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Ensuite, décomposons en détail le processus de planification simplifié. La première étape est la collecte des métadonnées, où le système doit extraire des informations métadonnées comme le type d'appareil, le type de données et la disposition des données à partir des tenseurs d'entrée. La deuxième étape est le calcul de clé, combinant les multiples attributs collectés pour générer une clé de planification unique. La troisième étape est la recherche dans la table, recherchant le pointeur de fonction noyau correspondant à cette clé spécifique dans la table de planification globale. La dernière étape est l'exécution, appelant l'implémentation backend spécifique pour effectuer le calcul physique réel.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Au-delà du flux de base, les frameworks principaux implémentent également des mécanismes de planification avancés. Par exemple, la planification multi-niveau séquentielle, lors d'un appel d'opérateur unique, peut déclencher une chaîne de gestionnaires en masquant les clés de planification déjà traitées et en rappelant le planificateur pour trouver l'implémentation suivante. Un autre mécanisme est la sélection heuristique, qui analyse dynamiquement les métriques de charge de travail et les attributs matériels, choisissant de manière adaptative le chemin algorithmique optimal et les paramètres d'exécution pour la tâche en cours. Il existe également la technique d'instanciation dynamique de noyaux, qui peut générer et mettre en cache instantanément des noyaux spécialisés pour traiter diverses dimensions de tâches dynamiques ou modèles de diffusion, évitant ainsi beaucoup de travail d'écriture manuelle de code redondant.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Pour réduire davantage la barrière à l'entrée du développement d'opérateurs et améliorer les capacités multiplateformes, l'industrie a largement adopté des langages spécifiques au domaine pour implémenter des bibliothèques d'opérateurs. L'idée centrale de l'utilisation de langages spécifiques au domaine est : laisser le développeur décrire « quoi faire », tandis que le compilateur décide « comment le faire ». Ce paradigme de programmation réalise une séparation complète entre la logique de l'opérateur et l'implémentation physique. Son objectif principal est de rendre le développement d'opérateurs plus simple et plus efficace tout en assurant la portabilité multiplateforme. Les langages spécifiques au domaine les plus représentatifs actuellement incluent Triton, TileLang et Gluon.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Parmi les nombreux langages spécifiques au domaine, Triton se distingue par sa facilité d'utilisation et ses performances exceptionnelles. Triton est un langage de programmation au niveau Tile, basé sur Python. Il repose fortement sur des mécanismes d'optimisation pilotés par le compilateur et offre aux développeurs une couche d'abstraction indépendante du matériel. Comme vous pouvez le voir dans l'exemple de code à droite, les développeurs peuvent définir des fonctions clés comme add_kernel pour développer des opérations d'addition vectorielle. Dans le code, nous calculons les décalages d'accès mémoire en fonction de la taille des blocs et de l'ID du programme, tout en utilisant des mécanismes de masquage pour empêcher les accès mémoire hors limites. Grâce à cette approche, les développeurs n'ont pas besoin de gérer directement la synchronisation complexe des threads ou la mémoire partagée, ce qui améliore considérablement l'efficacité du développement des opérateurs.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Pour vous donner une compréhension intuitive de l'architecture des bibliothèques d'opérateurs, analysons un cas réel de projet de bibliothèque d'opérateurs open source : FlagGems. L'une des avancées techniques majeures de FlagGems est l'injection transparente dans le dispatcheur ATen. Son objectif fondamental est de remplacer de manière transparente les noyaux CUDA appelés par le framework natif par des noyaux Triton optimisés, et ce processus s'effectue sans aucune modification du code utilisateur. Observons la chaîne d'appel illustrée sur cette diapositive : lorsque le code Python d'un utilisateur appelle un opérateur spécifique, la requête suit d'abord le chemin original vers le dispatcheur ATen sous-jacent. FlagGems intervient précisément à ce point critique, détournant le flux de contrôle vers le wrapper de noyaux Triton de FlagGems. La requête est ensuite transmise au gestionnaire de cache de noyaux LibEntry, et finalement le compilateur Triton génère le noyau qui s'exécute sur le matériel GPU.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Approfondissons au niveau du code pour voir comment cette injection d'opérateurs est concrètement réalisée. FlagGems adopte une stratégie d'exécution avec surcharge de schéma pour intercepter les opérateurs ATen existants. Le mécanisme central repose sur un routage précis basé sur des clés de dispatch spécifiques. Vous pouvez voir les extraits de code sur la diapositive. D'abord, via l'interface torch.library.Library, nous créons une bibliothèque d'implémentation pointant vers l'espace de noms aten. Ensuite, en utilisant un décorateur, l'implémentation softmax de FlagGems est liée à aten::softmax, avec une spécification particulière pour la clé de dispatch CUDA. Cela signifie que dès que le dispatcheur sous-jacent reçoit une demande d'exécution de softmax sur un périphérique CUDA, il achemine automatiquement la tâche vers la fonction de noyau efficace fournie par FlagGems.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Dans les scénarios métiers réels, nous devons contrôler de manière flexible la portée du remplacement des opérateurs. C'est pourquoi FlagGems propose deux modes : le remplacement global et le remplacement contextuel. En interne, FlagGems maintient un registre d'opérateurs dédié. Si l'utilisateur souhaite activer globalement les opérateurs optimisés dans tout l'environnement d'exécution, il lui suffit d'appeler l'interface enable(). Cette fonction parcourt l'ensemble du registre et enregistre tous les opérateurs pris en charge. Cependant, quand nous souhaitons activer l'optimisation uniquement dans des modules ou des couches de réseau spécifiques, nous pouvons utiliser le gestionnaire de contexte use_gems(). Grâce à la syntaxe with de Python, nous pouvons effectuer un contrôle fin au niveau du bloc de code, limitant le remplacement des opérateurs à l'environnement contextuel actuel, sans affecter la logique d'exécution du code externe.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LibEntry est une conception très ingénieuse de FlagGems. Il s'agit essentiellement d'un gestionnaire de cache de noyaux indépendant. La motivation centrale du développement de ce composant était de contourner les coûts de performance supplémentaires induits par le Triton runtime natif. LibEntry fournit un mécanisme de gestion de cache de noyaux totalement indépendant. Comme on peut le voir dans la définition de classe présentée, sur la chaîne d'appel, il effectue un calcul très léger des clés de cache en se basant sur la forme, le type de données et les informations de pas des tenseurs entrants. Lors de la première rencontre avec une nouvelle clé, une compilation du noyau est effectuée. Lors des appels ultérieurs, si le cache est atteint, le noyau peut être lancé directement. Cette conception réduit extrêmement efficacement les coûts système, garantissant que la surcharge Python lors des exécutions ultérieures est quasi nulle, ce qui est crucial pour les tâches d'inférence IA nécessitant des appels haute fréquence.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Face à l'écosystème actuel de puces IA diversifié, les bibliothèques d'opérateurs modernes doivent posséder des capacités de support multi-matériel. Pour réaliser cela, FlagGems met en œuvre une stratégie de dispatch multi-matériel flexible. Son mécanisme de fonctionnement effectue une détection dynamique de l'environnement d'exécution, puis selon le type de matériel détecté, exécute un routage des clés de dispatch spécifique au matériel, réalisant finalement l'objectif d'une base de code Triton unifiée s'exécutant sur différentes puces. Comme le montre le code get_dispatch_key à droite, le système retourne la clé de dispatch correspondante selon que CUDA ou XPU est disponible. Il est à noter que pour de nombreuses puces personnalisées ou accélérateurs IA nationaux, le système retourne uniformément PrivateUse1, la clé de dispatch d'extension spécifique. C'est grâce à cette stratégie que la bibliothèque d'opérateurs brise les barrières matérielles sous-jacentes et réalise un véritable découplage du matériel.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À la fin de ce cours, récapitulons les points clés de la conception de l'architecture de la bibliothèque d'opérateurs. Premièrement, la transparence de l'API : une excellente bibliothèque d'opérateurs doit garantir que l'API du framework d'origine reste entièrement inchangée, tout en pouvant être distribuée de manière transparente vers les noyaux optimisés en arrière-plan, ce qui est crucial pour améliorer l'expérience développeur. Deuxièmement, le découplage matériel : en utilisant le mécanisme de clé de调度 dynamique, nous fournissons un chemin standardisé unifié et extensible pour prendre en charge diverses puces backend. Troisièmement, l'optimisation des coûts d'exécution : en introduisant des composants comme le gestionnaire de cache personnalisé pour contourner le runtime natif, on peut presque éliminer la latence de调度 Python causée par les appels fréquents. Enfin, la technologie de génération de noyaux : les décorateurs dynamiques fournissent un moyen très efficace de générer et régler automatiquement des opérateurs fusionnés complexes.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Les références connexes incluent le dépôt source FlagGems ainsi que la documentation officielle de Triton et cuDNN. Après le cours, explorez davantage en combinant ces matériaux.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 contenu principal de cette dix-huitième conférence porte sur le projet final du Module II. Dans ce projet, nous devons développer un opérateur fusionné basé sur RMSNorm et une connexion résiduelle. Il s agit d une tâche pratique très proche des caractéristiques matérielles sous-jacentes et de l optimisation computationnelle des grands modèles actuels.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Passons en revue l'ensemble du programme des projets du cours. Au cinquième cours, nous avons terminé le laboratoire de configuration de l'environnement et de la chaîne d'outils. Au neuvième cours, vous avez complété le projet individuel de mi-semestre en programmant l'opérateur Softmax. Aujourd'hui, au dix-huitième cours, nous allons vous attribuer le projet individuel final sur la fusion RMSNorm et du résidu, exigeant une performance atteignant 90% de la référence. Par la suite, le vingt-septième cours portera sur la contribution aux optimisations du compilateur. Le trente-sixième cours consistera en un projet d'entraînement distribué multi-machines sur 7 milliards de paramètres en groupe de trois personnes. Enfin, nous procéderons à la soutenance du grand projet, en évaluant principalement la faisabilité du plan et l'authenticité des progrès.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Passons maintenant aux détails de ce projet final. Dans les grands modèles de langage actuels comme la série LLaMA, RMSNorm et la connexion résiduelle sont des composants essentiels. Fusionner ces deux opérations en un seul opérateur permet de réduire significativement les accès à la mémoire à grande bande passante, un cas classique d'optimisation par fusion d'opérateurs. Votre objectif est d'utiliser Triton pour implémenter la fusion add et normalisation. Cet opérateur doit supporter les types de données float32 et bfloat16, et être compatible avec des entrées de dimensions arbitraires. Pour l'exactitude, l'erreur absolue par rapport au résultat séquentiel de PyTorch doit être inférieure à dix puissance moins cinq. Pour la performance, avec une matrice de dimensions 4096 par 4096, le débit doit atteindre au moins quatre-vingt-dix pour cent de l'implémentation de référence FlagGems. Les étudiants avancés peuvent également implémenter l'opérateur de gradient pour la propagation arrière.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Les exigences d'implémentation se divisent en spécifications du code et analyse des performances. L'opérateur forward doit accomplir l'addition et la normalisation en une seule exécution du noyau, garantissant une seule lecture/écriture vers la mémoire à bande passante élevée. Il est recommandé d'utiliser la fonction racine carrée inverse intégrée de Triton pour accélérer les calculs numériques. Il faut également gérer correctement le chargement avec masque lorsque les dimensions ne sont pas alignées. Pour le format bfloat16, l'accumulation interne doit être convertie en simple précision pour garantir la précision des calculs. De plus, vous devez soumettre un rapport d'analyse des performances détaillé. Il doit inclure le graphique Roofline généré par Nsight Compute pour visualiser l'intensité arithmétique et les goulots d'étranglement de la bande passante mémoire. Le rapport doit également comparer l'impact des différentes tailles de blocs de threads sur le débit et quantifier les bénéfices de la fusion par rapport à l'exécution séquentielle.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Les éléments à soumettre pour ce projet doivent inclure quatre fichiers. Premièrement, le code de l'opérateur fusionné avec la logique complète. Deuxièmement, un script de test de performance reproductible. Troisièmement, un rapport d'analyse de performance et de conception architecturale ne dépassant pas six pages. Les critères d'évaluation sont très clairs : la vérification de cors pour la simple et la demi-précision représente trente points. Atteindre 90% de la performance de référence donne le maximum de trente points ; entre 75% et 90%, vingt points. Un rapport d'optimisation avec graphique Roofline et analyse approfondie vaut vingt-cinq points. La qualité du code avec commentaires complets sans codage en dur représente dix points. Les étudiants ayant complété le niveau avancé de rétropropagation avec vérification correcte des gradients obtiennent cinq points bonus supplémentaires.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Introduction a FlagOS, la stack logicielle AI unifiee et open source. FlagOS, une stack logicielle AI unifiee et open source multi-puces, a ete initiee et creee conjointement par plus d'une dizaine d'organisations nationales et internationales, dont des fabricants de puces, des integrates systeme, des unites liees aux algorithmes et logiciels, des organisations a but non lucratif et des institutions de recherche. Elle repond aux problemes centraux lies a l'utilisation de diverses puces AI et constitue un ecosysteme logiciel comprenant la bibliotheque d'operateurs generalistes hautes performances FlagGems, le compilateur unifie FlagTree, le cadre de formation et d'inference paralleles FlagScale, la bibliotheque de communication unifiee FlagCX, la plateforme de migration et de publication automatisee FlagRelease et l'outil d'evaluation multi-puces FlagPerf. FlagOS nous montre une possibilite de briser l'isolement ecosystemique entre les differentes stacks logicielles de puces, reduisant ainsi efficacement les couts de migration pour les developpeurs. Site officiel : https://flagos.io Portail interactif : https://wiki.flagos.io Documentation officielle : https://docs.flagos.io Presentation version 1.6 : https://mp.weixin.qq.com/s/eBgg6_5FJV-RuYk5fBQvOg Sincerement open source, bienvenue pour Star-Watch-Fork. 1. FlagGems : https://github.com/flagos-ai/FlagGems 2. FlagTree : https://github.com/flagos-ai/flagtree 3. FlagScale : https://github.com/flagos-ai/FlagScale 4. FlagCX : https://github.com/flagos-ai/FlagCX 5. FlagPerf : https://github.com/flagos-ai/flagperf 6. KernelGen : https://kernelgen.flagos.io 7. FlagRelease : https://modelscope.cn/organization/FlagRelease https://huggingface.co/FlagRelease/models https://www.wisemodel.cn/models/FlagRelease https://www.gpufree.cn https://www.aihuanxin.cn Sites miroirs : https://gitcode.com/flagos-ai https://gitee.com/flagos-ai Compte WeChat : Zhiyuan FlagOpen Compte video : Zhiyuan FlagOpen</a:t>
            </a: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9221415" y="158476"/>
            <a:ext cx="2580450" cy="547850"/>
            <a:chOff x="9221415" y="158476"/>
            <a:chExt cx="2580450" cy="547850"/>
          </a:xfrm>
        </p:grpSpPr>
        <p:pic>
          <p:nvPicPr>
            <p:cNvPr id="4" name="Picture 4"/>
            <p:cNvPicPr>
              <a:picLocks noChangeAspect="1"/>
            </p:cNvPicPr>
            <p:nvPr/>
          </p:nvPicPr>
          <p:blipFill>
            <a:blip r:embed="rId3"/>
            <a:srcRect/>
            <a:stretch>
              <a:fillRect/>
            </a:stretch>
          </p:blipFill>
          <p:spPr>
            <a:xfrm>
              <a:off x="9221415" y="260529"/>
              <a:ext cx="1096400" cy="336123"/>
            </a:xfrm>
            <a:prstGeom prst="rect">
              <a:avLst/>
            </a:prstGeom>
            <a:ln w="12700">
              <a:noFill/>
              <a:prstDash val="solid"/>
            </a:ln>
          </p:spPr>
        </p:pic>
        <p:pic>
          <p:nvPicPr>
            <p:cNvPr id="5" name="Picture 5"/>
            <p:cNvPicPr>
              <a:picLocks noChangeAspect="1"/>
            </p:cNvPicPr>
            <p:nvPr/>
          </p:nvPicPr>
          <p:blipFill>
            <a:blip r:embed="rId4"/>
            <a:srcRect l="13229" t="29812" r="10430" b="29795"/>
            <a:stretch>
              <a:fillRect/>
            </a:stretch>
          </p:blipFill>
          <p:spPr>
            <a:xfrm>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41404" y="431629"/>
            <a:ext cx="9987507" cy="700925"/>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8"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4" y="1323975"/>
            <a:ext cx="11277601"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xfrm>
            <a:off x="741404" y="431629"/>
            <a:ext cx="9987507" cy="700925"/>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11"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2" hasCustomPrompt="1"/>
          </p:nvPr>
        </p:nvSpPr>
        <p:spPr>
          <a:xfrm>
            <a:off x="523873" y="1323976"/>
            <a:ext cx="5591177"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13"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a:spLocks noGrp="1"/>
          </p:cNvSpPr>
          <p:nvPr>
            <p:ph type="body" sz="quarter" idx="14" hasCustomPrompt="1"/>
          </p:nvPr>
        </p:nvSpPr>
        <p:spPr>
          <a:xfrm>
            <a:off x="6210297" y="1323977"/>
            <a:ext cx="5591177" cy="4856162"/>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id="2" name="AutoShape 2"/>
          <p:cNvSpPr>
            <a:spLocks noGrp="1"/>
          </p:cNvSpPr>
          <p:nvPr>
            <p:ph type="body" sz="quarter" idx="15" hasCustomPrompt="1"/>
          </p:nvPr>
        </p:nvSpPr>
        <p:spPr>
          <a:xfrm>
            <a:off x="666749" y="457201"/>
            <a:ext cx="2771775" cy="5719762"/>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16"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7" hasCustomPrompt="1"/>
          </p:nvPr>
        </p:nvSpPr>
        <p:spPr>
          <a:xfrm>
            <a:off x="3657600" y="457201"/>
            <a:ext cx="8001000" cy="5719763"/>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18"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xfrm>
            <a:off x="5452216" y="0"/>
            <a:ext cx="6110447" cy="6858000"/>
          </a:xfrm>
          <a:prstGeom prst="rect">
            <a:avLst/>
          </a:prstGeom>
          <a:noFill/>
          <a:ln w="12700">
            <a:noFill/>
            <a:prstDash val="solid"/>
          </a:ln>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939800" lvl="2"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231900" lvl="3"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3057633" y="31667"/>
            <a:ext cx="9134367" cy="6838951"/>
            <a:chOff x="3057633" y="31667"/>
            <a:chExt cx="9134367" cy="6838951"/>
          </a:xfrm>
        </p:grpSpPr>
        <p:cxnSp>
          <p:nvCxnSpPr>
            <p:cNvPr id="4" name="Connector 4"/>
            <p:cNvCxnSpPr/>
            <p:nvPr/>
          </p:nvCxnSpPr>
          <p:spPr>
            <a:xfrm>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id="5" name="Group 5"/>
            <p:cNvGrpSpPr/>
            <p:nvPr/>
          </p:nvGrpSpPr>
          <p:grpSpPr>
            <a:xfrm>
              <a:off x="11586746" y="4889417"/>
              <a:ext cx="605254" cy="1981201"/>
              <a:chOff x="11586746" y="4889417"/>
              <a:chExt cx="605254" cy="1981201"/>
            </a:xfrm>
          </p:grpSpPr>
          <p:sp>
            <p:nvSpPr>
              <p:cNvPr id="6" name="Freeform 6"/>
              <p:cNvSpPr/>
              <p:nvPr/>
            </p:nvSpPr>
            <p:spPr>
              <a:xfrm>
                <a:off x="11678257" y="5716505"/>
                <a:ext cx="301824" cy="1154112"/>
              </a:xfrm>
              <a:custGeom>
                <a:avLst/>
                <a:gdLst/>
                <a:ahLst/>
                <a:cxnLst/>
                <a:rect l="l" t="t" r="r" b="b"/>
                <a:pathLst>
                  <a:path w="301824" h="1154112">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11922285" y="5573630"/>
                <a:ext cx="158940" cy="155575"/>
              </a:xfrm>
              <a:custGeom>
                <a:avLst/>
                <a:gdLst/>
                <a:ahLst/>
                <a:cxnLst/>
                <a:rect l="l" t="t" r="r" b="b"/>
                <a:pathLst>
                  <a:path w="158940" h="155575">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11784216" y="4889417"/>
                <a:ext cx="191049" cy="188912"/>
              </a:xfrm>
              <a:custGeom>
                <a:avLst/>
                <a:gdLst/>
                <a:ahLst/>
                <a:cxnLst/>
                <a:rect l="l" t="t" r="r" b="b"/>
                <a:pathLst>
                  <a:path w="191049" h="188912">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11586746" y="5068805"/>
                <a:ext cx="311457" cy="1801812"/>
              </a:xfrm>
              <a:custGeom>
                <a:avLst/>
                <a:gdLst/>
                <a:ahLst/>
                <a:cxnLst/>
                <a:rect l="l" t="t" r="r" b="b"/>
                <a:pathLst>
                  <a:path w="311457" h="1801812">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11999346" y="6438817"/>
                <a:ext cx="192654" cy="188913"/>
              </a:xfrm>
              <a:custGeom>
                <a:avLst/>
                <a:gdLst/>
                <a:ahLst/>
                <a:cxnLst/>
                <a:rect l="l" t="t" r="r" b="b"/>
                <a:pathLst>
                  <a:path w="192654" h="188913">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12090856" y="6618205"/>
                <a:ext cx="24082" cy="252413"/>
              </a:xfrm>
              <a:prstGeom prst="rect">
                <a:avLst/>
              </a:prstGeom>
              <a:solidFill>
                <a:srgbClr val="549E39">
                  <a:alpha val="100000"/>
                </a:srgbClr>
              </a:solidFill>
              <a:ln w="12700">
                <a:noFill/>
                <a:prstDash val="solid"/>
              </a:ln>
            </p:spPr>
            <p:txBody>
              <a:bodyPr wrap="square" lIns="91440" tIns="45720" rIns="91440" bIns="45720" rtlCol="0" anchor="t">
                <a:noAutofit/>
              </a:bodyPr>
              <a:lstStyle/>
              <a:p>
                <a:pPr algn="ctr">
                  <a:defRPr/>
                </a:pPr>
              </a:p>
            </p:txBody>
          </p:sp>
        </p:grpSp>
      </p:grpSp>
      <p:sp>
        <p:nvSpPr>
          <p:cNvPr id="12" name="AutoShape 12"/>
          <p:cNvSpPr>
            <a:spLocks noGrp="1"/>
          </p:cNvSpPr>
          <p:nvPr>
            <p:ph type="body" sz="quarter" idx="20" hasCustomPrompt="1"/>
          </p:nvPr>
        </p:nvSpPr>
        <p:spPr>
          <a:xfrm>
            <a:off x="0" y="0"/>
            <a:ext cx="4659313" cy="6858000"/>
          </a:xfrm>
          <a:prstGeom prst="rect">
            <a:avLst/>
          </a:prstGeom>
          <a:solidFill>
            <a:srgbClr val="8B0012">
              <a:alpha val="100000"/>
            </a:srgbClr>
          </a:solidFill>
          <a:ln w="12700">
            <a:noFill/>
            <a:prstDash val="solid"/>
          </a:ln>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AutoShape 2"/>
          <p:cNvSpPr>
            <a:spLocks noGrp="1"/>
          </p:cNvSpPr>
          <p:nvPr>
            <p:ph type="body" sz="quarter" idx="21" hasCustomPrompt="1"/>
          </p:nvPr>
        </p:nvSpPr>
        <p:spPr>
          <a:xfrm>
            <a:off x="1256418" y="5448300"/>
            <a:ext cx="10396122" cy="447675"/>
          </a:xfrm>
          <a:prstGeom prst="rect">
            <a:avLst/>
          </a:prstGeom>
          <a:noFill/>
          <a:ln w="12700">
            <a:noFill/>
            <a:prstDash val="solid"/>
          </a:ln>
        </p:spPr>
        <p:txBody>
          <a:bodyPr wrap="square" lIns="91440" tIns="45720" rIns="91440" bIns="45720" anchor="t">
            <a:noAutofit/>
          </a:bodyPr>
          <a:lstStyle>
            <a:lvl1pPr algn="ctr">
              <a:lnSpc>
                <a:spcPct val="100000"/>
              </a:lnSpc>
              <a:defRPr sz="2400" b="0" i="0" u="none" strike="noStrike" spc="0">
                <a:solidFill>
                  <a:srgbClr val="1F2329">
                    <a:alpha val="100000"/>
                  </a:srgbClr>
                </a:solidFill>
                <a:latin typeface="Noto Sans SC" panose="020B0200000000000000" charset="-122"/>
              </a:defRPr>
            </a:lvl1pPr>
          </a:lstStyle>
          <a:p>
            <a:pPr indent="0" algn="ctr">
              <a:lnSpc>
                <a:spcPct val="100000"/>
              </a:lnSpc>
            </a:pPr>
            <a:r>
              <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rPr>
              <a:t>日期</a:t>
            </a:r>
            <a:endPar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endParaRPr>
          </a:p>
        </p:txBody>
      </p:sp>
      <p:sp>
        <p:nvSpPr>
          <p:cNvPr id="3" name="AutoShape 3"/>
          <p:cNvSpPr>
            <a:spLocks noGrp="1"/>
          </p:cNvSpPr>
          <p:nvPr>
            <p:ph type="body" sz="quarter" idx="22" hasCustomPrompt="1"/>
          </p:nvPr>
        </p:nvSpPr>
        <p:spPr>
          <a:xfrm>
            <a:off x="1256418" y="6356351"/>
            <a:ext cx="10396122"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23"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24" hasCustomPrompt="1"/>
          </p:nvPr>
        </p:nvSpPr>
        <p:spPr>
          <a:xfrm>
            <a:off x="1260390" y="4846320"/>
            <a:ext cx="10392032" cy="474980"/>
          </a:xfrm>
          <a:prstGeom prst="rect">
            <a:avLst/>
          </a:prstGeom>
          <a:noFill/>
          <a:ln w="12700">
            <a:noFill/>
            <a:prstDash val="solid"/>
          </a:ln>
        </p:spPr>
        <p:txBody>
          <a:bodyPr wrap="square" lIns="91440" tIns="45720" rIns="91440" bIns="45720" anchor="ctr">
            <a:noAutofit/>
          </a:bodyPr>
          <a:lstStyle>
            <a:lvl1pPr algn="ctr">
              <a:lnSpc>
                <a:spcPct val="100000"/>
              </a:lnSpc>
              <a:defRPr sz="24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单击此处编辑母版副标题样式</a:t>
            </a:r>
            <a:endPar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id="2" name="AutoShape 2"/>
          <p:cNvSpPr>
            <a:spLocks noGrp="1"/>
          </p:cNvSpPr>
          <p:nvPr>
            <p:ph type="pic" sz="quarter" idx="25"/>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a:spLocks noGrp="1"/>
          </p:cNvSpPr>
          <p:nvPr>
            <p:ph type="body" sz="quarter" idx="26" hasCustomPrompt="1"/>
          </p:nvPr>
        </p:nvSpPr>
        <p:spPr>
          <a:xfrm>
            <a:off x="727587" y="1622323"/>
            <a:ext cx="10943800" cy="3028335"/>
          </a:xfrm>
          <a:prstGeom prst="rect">
            <a:avLst/>
          </a:prstGeom>
          <a:noFill/>
          <a:ln w="12700">
            <a:noFill/>
            <a:prstDash val="solid"/>
          </a:ln>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Pretendard"/>
              </a:defRPr>
            </a:lvl1pPr>
          </a:lstStyle>
          <a:p>
            <a:pPr indent="0" algn="l">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id="2" name="AutoShape 2"/>
          <p:cNvSpPr>
            <a:spLocks noGrp="1"/>
          </p:cNvSpPr>
          <p:nvPr>
            <p:ph type="pic" sz="quarter" idx="27"/>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a:spLocks noGrp="1"/>
          </p:cNvSpPr>
          <p:nvPr>
            <p:ph type="body" sz="quarter" idx="28" hasCustomPrompt="1"/>
          </p:nvPr>
        </p:nvSpPr>
        <p:spPr>
          <a:xfrm>
            <a:off x="3136489" y="3716594"/>
            <a:ext cx="8534897" cy="2664541"/>
          </a:xfrm>
          <a:prstGeom prst="rect">
            <a:avLst/>
          </a:prstGeom>
          <a:noFill/>
          <a:ln w="12700">
            <a:noFill/>
            <a:prstDash val="solid"/>
          </a:ln>
        </p:spPr>
        <p:txBody>
          <a:bodyPr wrap="square" lIns="91440" tIns="45720" rIns="91440" bIns="45720" anchor="ctr">
            <a:noAutofit/>
          </a:bodyPr>
          <a:lstStyle>
            <a:lvl1pPr algn="r">
              <a:lnSpc>
                <a:spcPct val="92000"/>
              </a:lnSpc>
              <a:defRPr sz="4400" b="0" i="0" u="none" strike="noStrike" spc="0">
                <a:solidFill>
                  <a:srgbClr val="44546A">
                    <a:alpha val="100000"/>
                  </a:srgbClr>
                </a:solidFill>
                <a:latin typeface="Pretendard"/>
              </a:defRPr>
            </a:lvl1pPr>
          </a:lstStyle>
          <a:p>
            <a:pPr indent="0" algn="r">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cSld name="9_제목 슬라이드">
    <p:spTree>
      <p:nvGrpSpPr>
        <p:cNvPr id="1" name=""/>
        <p:cNvGrpSpPr/>
        <p:nvPr/>
      </p:nvGrpSpPr>
      <p:grpSpPr>
        <a:xfrm>
          <a:off x="0" y="0"/>
          <a:ext cx="0" cy="0"/>
          <a:chOff x="0" y="0"/>
          <a:chExt cx="0" cy="0"/>
        </a:xfrm>
      </p:grpSpPr>
      <p:sp>
        <p:nvSpPr>
          <p:cNvPr id="2" name="AutoShape 2"/>
          <p:cNvSpPr>
            <a:spLocks noGrp="1"/>
          </p:cNvSpPr>
          <p:nvPr>
            <p:ph type="pic" sz="quarter" idx="84"/>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a:spLocks noGrp="1"/>
          </p:cNvSpPr>
          <p:nvPr>
            <p:ph type="body" sz="quarter" idx="85" hasCustomPrompt="1"/>
          </p:nvPr>
        </p:nvSpPr>
        <p:spPr>
          <a:xfrm>
            <a:off x="727587" y="1622323"/>
            <a:ext cx="10943800" cy="3028335"/>
          </a:xfrm>
          <a:prstGeom prst="rect">
            <a:avLst/>
          </a:prstGeom>
          <a:noFill/>
          <a:ln w="12700">
            <a:noFill/>
            <a:prstDash val="solid"/>
          </a:ln>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Pretendard"/>
              </a:defRPr>
            </a:lvl1pPr>
          </a:lstStyle>
          <a:p>
            <a:pPr indent="0" algn="l">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0"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AutoShape 2"/>
          <p:cNvSpPr>
            <a:spLocks noGrp="1"/>
          </p:cNvSpPr>
          <p:nvPr>
            <p:ph type="body" sz="quarter" idx="64"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9221415" y="158476"/>
            <a:ext cx="2580450" cy="547850"/>
            <a:chOff x="9221415" y="158476"/>
            <a:chExt cx="2580450" cy="547850"/>
          </a:xfrm>
        </p:grpSpPr>
        <p:pic>
          <p:nvPicPr>
            <p:cNvPr id="4" name="Picture 4"/>
            <p:cNvPicPr>
              <a:picLocks noChangeAspect="1"/>
            </p:cNvPicPr>
            <p:nvPr/>
          </p:nvPicPr>
          <p:blipFill>
            <a:blip r:embed="rId3"/>
            <a:srcRect/>
            <a:stretch>
              <a:fillRect/>
            </a:stretch>
          </p:blipFill>
          <p:spPr>
            <a:xfrm>
              <a:off x="9221415" y="260529"/>
              <a:ext cx="1096400" cy="336123"/>
            </a:xfrm>
            <a:prstGeom prst="rect">
              <a:avLst/>
            </a:prstGeom>
            <a:ln w="12700">
              <a:noFill/>
              <a:prstDash val="solid"/>
            </a:ln>
          </p:spPr>
        </p:pic>
        <p:pic>
          <p:nvPicPr>
            <p:cNvPr id="5" name="Picture 5"/>
            <p:cNvPicPr>
              <a:picLocks noChangeAspect="1"/>
            </p:cNvPicPr>
            <p:nvPr/>
          </p:nvPicPr>
          <p:blipFill>
            <a:blip r:embed="rId4"/>
            <a:srcRect l="13229" t="29811" r="10429" b="29794"/>
            <a:stretch>
              <a:fillRect/>
            </a:stretch>
          </p:blipFill>
          <p:spPr>
            <a:xfrm>
              <a:off x="10527164" y="158476"/>
              <a:ext cx="1274701" cy="547850"/>
            </a:xfrm>
            <a:prstGeom prst="rect">
              <a:avLst/>
            </a:prstGeom>
            <a:ln w="12700">
              <a:noFill/>
              <a:prstDash val="solid"/>
            </a:ln>
          </p:spPr>
        </p:pic>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cSld name="1_上下">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xfrm>
            <a:off x="741404" y="431629"/>
            <a:ext cx="9987507" cy="700925"/>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66"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67"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68" hasCustomPrompt="1"/>
          </p:nvPr>
        </p:nvSpPr>
        <p:spPr>
          <a:xfrm>
            <a:off x="523874" y="1323975"/>
            <a:ext cx="11277601"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cSld name="10_제목 슬라이드">
    <p:spTree>
      <p:nvGrpSpPr>
        <p:cNvPr id="1" name=""/>
        <p:cNvGrpSpPr/>
        <p:nvPr/>
      </p:nvGrpSpPr>
      <p:grpSpPr>
        <a:xfrm>
          <a:off x="0" y="0"/>
          <a:ext cx="0" cy="0"/>
          <a:chOff x="0" y="0"/>
          <a:chExt cx="0" cy="0"/>
        </a:xfrm>
      </p:grpSpPr>
      <p:sp>
        <p:nvSpPr>
          <p:cNvPr id="2" name="AutoShape 2"/>
          <p:cNvSpPr>
            <a:spLocks noGrp="1"/>
          </p:cNvSpPr>
          <p:nvPr>
            <p:ph type="pic" sz="quarter" idx="86"/>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a:spLocks noGrp="1"/>
          </p:cNvSpPr>
          <p:nvPr>
            <p:ph type="body" sz="quarter" idx="87" hasCustomPrompt="1"/>
          </p:nvPr>
        </p:nvSpPr>
        <p:spPr>
          <a:xfrm>
            <a:off x="3136489" y="3716594"/>
            <a:ext cx="8534897" cy="2664541"/>
          </a:xfrm>
          <a:prstGeom prst="rect">
            <a:avLst/>
          </a:prstGeom>
          <a:noFill/>
          <a:ln w="12700">
            <a:noFill/>
            <a:prstDash val="solid"/>
          </a:ln>
        </p:spPr>
        <p:txBody>
          <a:bodyPr wrap="square" lIns="91440" tIns="45720" rIns="91440" bIns="45720" anchor="ctr">
            <a:noAutofit/>
          </a:bodyPr>
          <a:lstStyle>
            <a:lvl1pPr algn="r">
              <a:lnSpc>
                <a:spcPct val="92000"/>
              </a:lnSpc>
              <a:defRPr sz="4400" b="0" i="0" u="none" strike="noStrike" spc="0">
                <a:solidFill>
                  <a:srgbClr val="44546A">
                    <a:alpha val="100000"/>
                  </a:srgbClr>
                </a:solidFill>
                <a:latin typeface="Pretendard"/>
              </a:defRPr>
            </a:lvl1pPr>
          </a:lstStyle>
          <a:p>
            <a:pPr indent="0" algn="r">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0"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cSld name="1_大纲">
    <p:spTree>
      <p:nvGrpSpPr>
        <p:cNvPr id="1" name=""/>
        <p:cNvGrpSpPr/>
        <p:nvPr/>
      </p:nvGrpSpPr>
      <p:grpSpPr>
        <a:xfrm>
          <a:off x="0" y="0"/>
          <a:ext cx="0" cy="0"/>
          <a:chOff x="0" y="0"/>
          <a:chExt cx="0" cy="0"/>
        </a:xfrm>
      </p:grpSpPr>
      <p:sp>
        <p:nvSpPr>
          <p:cNvPr id="2" name="AutoShape 2"/>
          <p:cNvSpPr>
            <a:spLocks noGrp="1"/>
          </p:cNvSpPr>
          <p:nvPr>
            <p:ph type="body" sz="quarter" idx="78" hasCustomPrompt="1"/>
          </p:nvPr>
        </p:nvSpPr>
        <p:spPr>
          <a:xfrm>
            <a:off x="5452216" y="0"/>
            <a:ext cx="6110447" cy="6858000"/>
          </a:xfrm>
          <a:prstGeom prst="rect">
            <a:avLst/>
          </a:prstGeom>
          <a:noFill/>
          <a:ln w="12700">
            <a:noFill/>
            <a:prstDash val="solid"/>
          </a:ln>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939800" lvl="2"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231900" lvl="3"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3057633" y="31667"/>
            <a:ext cx="9134367" cy="6838951"/>
            <a:chOff x="3057633" y="31667"/>
            <a:chExt cx="9134367" cy="6838951"/>
          </a:xfrm>
        </p:grpSpPr>
        <p:cxnSp>
          <p:nvCxnSpPr>
            <p:cNvPr id="4" name="Connector 4"/>
            <p:cNvCxnSpPr/>
            <p:nvPr/>
          </p:nvCxnSpPr>
          <p:spPr>
            <a:xfrm>
              <a:off x="3057633" y="31667"/>
              <a:ext cx="0" cy="0"/>
            </a:xfrm>
            <a:prstGeom prst="line">
              <a:avLst/>
            </a:prstGeom>
            <a:solidFill>
              <a:srgbClr val="549E39">
                <a:alpha val="100000"/>
              </a:srgbClr>
            </a:solidFill>
            <a:ln w="12700" cap="flat">
              <a:solidFill>
                <a:srgbClr val="FFFFFF">
                  <a:alpha val="100000"/>
                </a:srgbClr>
              </a:solidFill>
              <a:prstDash val="solid"/>
              <a:miter lim="80000000"/>
              <a:headEnd type="none" w="med" len="med"/>
              <a:tailEnd type="none" w="med" len="med"/>
            </a:ln>
          </p:spPr>
        </p:cxnSp>
        <p:grpSp>
          <p:nvGrpSpPr>
            <p:cNvPr id="5" name="Group 5"/>
            <p:cNvGrpSpPr/>
            <p:nvPr/>
          </p:nvGrpSpPr>
          <p:grpSpPr>
            <a:xfrm>
              <a:off x="11586746" y="4889417"/>
              <a:ext cx="605254" cy="1981201"/>
              <a:chOff x="11586746" y="4889417"/>
              <a:chExt cx="605254" cy="1981201"/>
            </a:xfrm>
          </p:grpSpPr>
          <p:sp>
            <p:nvSpPr>
              <p:cNvPr id="6" name="Freeform 6"/>
              <p:cNvSpPr/>
              <p:nvPr/>
            </p:nvSpPr>
            <p:spPr>
              <a:xfrm>
                <a:off x="11678257" y="5716505"/>
                <a:ext cx="301824" cy="1154112"/>
              </a:xfrm>
              <a:custGeom>
                <a:avLst/>
                <a:gdLst/>
                <a:ahLst/>
                <a:cxnLst/>
                <a:rect l="l" t="t" r="r" b="b"/>
                <a:pathLst>
                  <a:path w="301824" h="1154112">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wrap="square" lIns="91440" tIns="45720" rIns="91440" bIns="45720" rtlCol="0" anchor="t">
                <a:noAutofit/>
              </a:bodyPr>
              <a:lstStyle/>
              <a:p>
                <a:pPr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Freeform 7"/>
              <p:cNvSpPr/>
              <p:nvPr/>
            </p:nvSpPr>
            <p:spPr>
              <a:xfrm>
                <a:off x="11922285" y="5573630"/>
                <a:ext cx="158940" cy="155575"/>
              </a:xfrm>
              <a:custGeom>
                <a:avLst/>
                <a:gdLst/>
                <a:ahLst/>
                <a:cxnLst/>
                <a:rect l="l" t="t" r="r" b="b"/>
                <a:pathLst>
                  <a:path w="158940" h="155575">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Freeform 8"/>
              <p:cNvSpPr/>
              <p:nvPr/>
            </p:nvSpPr>
            <p:spPr>
              <a:xfrm>
                <a:off x="11784216" y="4889417"/>
                <a:ext cx="191049" cy="188912"/>
              </a:xfrm>
              <a:custGeom>
                <a:avLst/>
                <a:gdLst/>
                <a:ahLst/>
                <a:cxnLst/>
                <a:rect l="l" t="t" r="r" b="b"/>
                <a:pathLst>
                  <a:path w="191049" h="188912">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Freeform 9"/>
              <p:cNvSpPr/>
              <p:nvPr/>
            </p:nvSpPr>
            <p:spPr>
              <a:xfrm>
                <a:off x="11586746" y="5068805"/>
                <a:ext cx="311457" cy="1801812"/>
              </a:xfrm>
              <a:custGeom>
                <a:avLst/>
                <a:gdLst/>
                <a:ahLst/>
                <a:cxnLst/>
                <a:rect l="l" t="t" r="r" b="b"/>
                <a:pathLst>
                  <a:path w="311457" h="1801812">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wrap="square" lIns="91440" tIns="45720" rIns="91440" bIns="45720" rtlCol="0" anchor="t">
                <a:noAutofit/>
              </a:bodyPr>
              <a:lstStyle/>
              <a:p>
                <a:pPr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Freeform 10"/>
              <p:cNvSpPr/>
              <p:nvPr/>
            </p:nvSpPr>
            <p:spPr>
              <a:xfrm>
                <a:off x="11999346" y="6438817"/>
                <a:ext cx="192654" cy="188913"/>
              </a:xfrm>
              <a:custGeom>
                <a:avLst/>
                <a:gdLst/>
                <a:ahLst/>
                <a:cxnLst/>
                <a:rect l="l" t="t" r="r" b="b"/>
                <a:pathLst>
                  <a:path w="192654" h="188913">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12090856" y="6618205"/>
                <a:ext cx="24082" cy="252413"/>
              </a:xfrm>
              <a:prstGeom prst="rect">
                <a:avLst/>
              </a:prstGeom>
              <a:solidFill>
                <a:srgbClr val="549E39">
                  <a:alpha val="100000"/>
                </a:srgbClr>
              </a:solidFill>
              <a:ln w="12700">
                <a:noFill/>
                <a:prstDash val="solid"/>
              </a:ln>
            </p:spPr>
            <p:txBody>
              <a:bodyPr wrap="square" lIns="91440" tIns="45720" rIns="91440" bIns="45720" rtlCol="0" anchor="t">
                <a:noAutofit/>
              </a:bodyPr>
              <a:lstStyle/>
              <a:p>
                <a:pPr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grpSp>
      </p:grpSp>
      <p:sp>
        <p:nvSpPr>
          <p:cNvPr id="12" name="AutoShape 12"/>
          <p:cNvSpPr>
            <a:spLocks noGrp="1"/>
          </p:cNvSpPr>
          <p:nvPr>
            <p:ph type="body" sz="quarter" idx="79" hasCustomPrompt="1"/>
          </p:nvPr>
        </p:nvSpPr>
        <p:spPr>
          <a:xfrm>
            <a:off x="0" y="0"/>
            <a:ext cx="4659313" cy="6858000"/>
          </a:xfrm>
          <a:prstGeom prst="rect">
            <a:avLst/>
          </a:prstGeom>
          <a:solidFill>
            <a:srgbClr val="8B0012">
              <a:alpha val="100000"/>
            </a:srgbClr>
          </a:solidFill>
          <a:ln w="12700">
            <a:noFill/>
            <a:prstDash val="solid"/>
          </a:ln>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2" Type="http://schemas.openxmlformats.org/officeDocument/2006/relationships/theme" Target="../theme/theme2.xml"/><Relationship Id="rId21" Type="http://schemas.openxmlformats.org/officeDocument/2006/relationships/image" Target="../media/image5.png"/><Relationship Id="rId20" Type="http://schemas.openxmlformats.org/officeDocument/2006/relationships/image" Target="../media/image1.png"/><Relationship Id="rId2" Type="http://schemas.openxmlformats.org/officeDocument/2006/relationships/slideLayout" Target="../slideLayouts/slideLayout13.xml"/><Relationship Id="rId19" Type="http://schemas.openxmlformats.org/officeDocument/2006/relationships/image" Target="../media/image4.png"/><Relationship Id="rId18" Type="http://schemas.openxmlformats.org/officeDocument/2006/relationships/image" Target="../media/image3.png"/><Relationship Id="rId17" Type="http://schemas.openxmlformats.org/officeDocument/2006/relationships/image" Target="../media/image2.png"/><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fld>
            <a:endParaRPr lang="zh-CN"/>
          </a:p>
        </p:txBody>
      </p:sp>
      <p:pic>
        <p:nvPicPr>
          <p:cNvPr id="2" name="Picture 1"/>
          <p:cNvPicPr>
            <a:picLocks noChangeAspect="1"/>
          </p:cNvPicPr>
          <p:nvPr/>
        </p:nvPicPr>
        <p:blipFill>
          <a:blip r:embed="rId12"/>
          <a:stretch>
            <a:fillRect/>
          </a:stretch>
        </p:blipFill>
        <p:spPr>
          <a:xfrm>
            <a:off x="9017000" y="5029200"/>
            <a:ext cx="2286000" cy="1371600"/>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Shape 5"/>
        <p:cNvGrpSpPr/>
        <p:nvPr/>
      </p:nvGrpSpPr>
      <p:grpSpPr>
        <a:xfrm>
          <a:off x="0" y="0"/>
          <a:ext cx="0" cy="0"/>
          <a:chOff x="0" y="0"/>
          <a:chExt cx="0" cy="0"/>
        </a:xfrm>
      </p:grpSpPr>
      <p:sp>
        <p:nvSpPr>
          <p:cNvPr id="5" name="Freeform 1"/>
          <p:cNvSpPr/>
          <p:nvPr userDrawn="1"/>
        </p:nvSpPr>
        <p:spPr>
          <a:xfrm flipV="1">
            <a:off x="-4185" y="529393"/>
            <a:ext cx="567982" cy="507999"/>
          </a:xfrm>
          <a:custGeom>
            <a:avLst/>
            <a:gdLst/>
            <a:ahLst/>
            <a:cxnLst/>
            <a:rect l="l" t="t" r="r" b="b"/>
            <a:pathLst>
              <a:path w="567982" h="507999">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grpSp>
        <p:nvGrpSpPr>
          <p:cNvPr id="2" name="Group 2"/>
          <p:cNvGrpSpPr/>
          <p:nvPr userDrawn="1"/>
        </p:nvGrpSpPr>
        <p:grpSpPr>
          <a:xfrm>
            <a:off x="9221415" y="158476"/>
            <a:ext cx="2580450" cy="547850"/>
            <a:chOff x="9221415" y="158476"/>
            <a:chExt cx="2580450" cy="547850"/>
          </a:xfrm>
        </p:grpSpPr>
        <p:pic>
          <p:nvPicPr>
            <p:cNvPr id="3" name="Picture 3"/>
            <p:cNvPicPr>
              <a:picLocks noChangeAspect="1"/>
            </p:cNvPicPr>
            <p:nvPr/>
          </p:nvPicPr>
          <p:blipFill>
            <a:blip r:embed="rId18"/>
            <a:srcRect/>
            <a:stretch>
              <a:fillRect/>
            </a:stretch>
          </p:blipFill>
          <p:spPr>
            <a:xfrm>
              <a:off x="9221415" y="260529"/>
              <a:ext cx="1096400" cy="336123"/>
            </a:xfrm>
            <a:prstGeom prst="rect">
              <a:avLst/>
            </a:prstGeom>
            <a:ln w="12700">
              <a:noFill/>
              <a:prstDash val="solid"/>
            </a:ln>
          </p:spPr>
        </p:pic>
        <p:pic>
          <p:nvPicPr>
            <p:cNvPr id="4" name="Picture 4"/>
            <p:cNvPicPr>
              <a:picLocks noChangeAspect="1"/>
            </p:cNvPicPr>
            <p:nvPr/>
          </p:nvPicPr>
          <p:blipFill>
            <a:blip r:embed="rId19"/>
            <a:srcRect l="13229" t="29812" r="10430" b="29795"/>
            <a:stretch>
              <a:fillRect/>
            </a:stretch>
          </p:blipFill>
          <p:spPr>
            <a:xfrm>
              <a:off x="10527164" y="158476"/>
              <a:ext cx="1274701" cy="547850"/>
            </a:xfrm>
            <a:prstGeom prst="rect">
              <a:avLst/>
            </a:prstGeom>
            <a:ln w="12700">
              <a:noFill/>
              <a:prstDash val="solid"/>
            </a:ln>
          </p:spPr>
        </p:pic>
      </p:grpSp>
      <p:pic>
        <p:nvPicPr>
          <p:cNvPr id="6" name="Picture 6"/>
          <p:cNvPicPr>
            <a:picLocks noChangeAspect="1"/>
          </p:cNvPicPr>
          <p:nvPr userDrawn="1"/>
        </p:nvPicPr>
        <p:blipFill>
          <a:blip r:embed="rId20"/>
          <a:stretch>
            <a:fillRect/>
          </a:stretch>
        </p:blipFill>
        <p:spPr>
          <a:xfrm>
            <a:off x="9017000" y="5029200"/>
            <a:ext cx="2286000" cy="1371600"/>
          </a:xfrm>
          <a:prstGeom prst="rect">
            <a:avLst/>
          </a:prstGeom>
        </p:spPr>
      </p:pic>
      <p:pic>
        <p:nvPicPr>
          <p:cNvPr id="7" name="图片 6" descr="/Users/jieran/Library/Containers/com.kingsoft.wpsoffice.mac/Data/tmp/picturecompress_20260414165320/output_1.pngoutput_1"/>
          <p:cNvPicPr>
            <a:picLocks noChangeAspect="1"/>
          </p:cNvPicPr>
          <p:nvPr userDrawn="1"/>
        </p:nvPicPr>
        <p:blipFill>
          <a:blip r:embed="rId21"/>
          <a:stretch>
            <a:fillRect/>
          </a:stretch>
        </p:blipFill>
        <p:spPr>
          <a:xfrm>
            <a:off x="8084820" y="216535"/>
            <a:ext cx="927735" cy="386715"/>
          </a:xfrm>
          <a:prstGeom prst="rect">
            <a:avLst/>
          </a:prstGeom>
        </p:spPr>
      </p:pic>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21.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6.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3.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3.xml"/><Relationship Id="rId4" Type="http://schemas.openxmlformats.org/officeDocument/2006/relationships/hyperlink" Target="https://authors.library.caltech.edu/40408/1/391.pdf" TargetMode="External"/><Relationship Id="rId3" Type="http://schemas.openxmlformats.org/officeDocument/2006/relationships/hyperlink" Target="https://www.frontiersin.org/articles/10.3389/fncom.2020.00029/full" TargetMode="External"/><Relationship Id="rId2" Type="http://schemas.openxmlformats.org/officeDocument/2006/relationships/image" Target="../media/image13.png"/><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3.xml"/><Relationship Id="rId2" Type="http://schemas.openxmlformats.org/officeDocument/2006/relationships/image" Target="../media/image15.png"/><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3.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9.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27.png"/><Relationship Id="rId7" Type="http://schemas.openxmlformats.org/officeDocument/2006/relationships/image" Target="../media/image26.png"/><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1" Type="http://schemas.openxmlformats.org/officeDocument/2006/relationships/notesSlide" Target="../notesSlides/notesSlide8.xml"/><Relationship Id="rId10" Type="http://schemas.openxmlformats.org/officeDocument/2006/relationships/slideLayout" Target="../slideLayouts/slideLayout14.xml"/><Relationship Id="rId1" Type="http://schemas.openxmlformats.org/officeDocument/2006/relationships/image" Target="../media/image20.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4.xml"/><Relationship Id="rId2" Type="http://schemas.openxmlformats.org/officeDocument/2006/relationships/image" Target="../media/image29.png"/><Relationship Id="rId1" Type="http://schemas.openxmlformats.org/officeDocument/2006/relationships/image" Target="../media/image28.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4.xml"/><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image" Target="../media/image33.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3.xml"/><Relationship Id="rId2" Type="http://schemas.openxmlformats.org/officeDocument/2006/relationships/image" Target="../media/image19.png"/><Relationship Id="rId1" Type="http://schemas.openxmlformats.org/officeDocument/2006/relationships/image" Target="../media/image34.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4.xml"/><Relationship Id="rId2" Type="http://schemas.openxmlformats.org/officeDocument/2006/relationships/image" Target="../media/image36.png"/><Relationship Id="rId1" Type="http://schemas.openxmlformats.org/officeDocument/2006/relationships/image" Target="../media/image35.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4.xml"/><Relationship Id="rId2" Type="http://schemas.openxmlformats.org/officeDocument/2006/relationships/image" Target="../media/image38.png"/><Relationship Id="rId1" Type="http://schemas.openxmlformats.org/officeDocument/2006/relationships/image" Target="../media/image37.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4.xml"/><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4.xml"/><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4.xml"/><Relationship Id="rId2" Type="http://schemas.openxmlformats.org/officeDocument/2006/relationships/image" Target="../media/image46.png"/><Relationship Id="rId1" Type="http://schemas.openxmlformats.org/officeDocument/2006/relationships/image" Target="../media/image45.pn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4.xml"/><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image" Target="../media/image47.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4.xml"/><Relationship Id="rId2" Type="http://schemas.openxmlformats.org/officeDocument/2006/relationships/image" Target="../media/image51.png"/><Relationship Id="rId1" Type="http://schemas.openxmlformats.org/officeDocument/2006/relationships/image" Target="../media/image50.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4.xml"/><Relationship Id="rId2" Type="http://schemas.openxmlformats.org/officeDocument/2006/relationships/image" Target="../media/image53.GIF"/><Relationship Id="rId1" Type="http://schemas.openxmlformats.org/officeDocument/2006/relationships/image" Target="../media/image52.GIF"/></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4.xml"/><Relationship Id="rId1" Type="http://schemas.openxmlformats.org/officeDocument/2006/relationships/image" Target="../media/image54.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4.xml"/><Relationship Id="rId1" Type="http://schemas.openxmlformats.org/officeDocument/2006/relationships/image" Target="../media/image55.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3.xml"/><Relationship Id="rId1" Type="http://schemas.openxmlformats.org/officeDocument/2006/relationships/image" Target="../media/image5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3.xml"/><Relationship Id="rId2" Type="http://schemas.openxmlformats.org/officeDocument/2006/relationships/image" Target="../media/image58.png"/><Relationship Id="rId1" Type="http://schemas.openxmlformats.org/officeDocument/2006/relationships/image" Target="../media/image57.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3.xml"/><Relationship Id="rId2" Type="http://schemas.openxmlformats.org/officeDocument/2006/relationships/image" Target="../media/image60.png"/><Relationship Id="rId1" Type="http://schemas.openxmlformats.org/officeDocument/2006/relationships/image" Target="../media/image59.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4.xml"/><Relationship Id="rId2" Type="http://schemas.openxmlformats.org/officeDocument/2006/relationships/image" Target="../media/image62.png"/><Relationship Id="rId1" Type="http://schemas.openxmlformats.org/officeDocument/2006/relationships/image" Target="../media/image61.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3.xml"/><Relationship Id="rId1" Type="http://schemas.openxmlformats.org/officeDocument/2006/relationships/image" Target="../media/image63.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image" Target="../media/image64.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image" Target="../media/image65.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3.xml"/><Relationship Id="rId2" Type="http://schemas.openxmlformats.org/officeDocument/2006/relationships/image" Target="../media/image67.png"/><Relationship Id="rId1" Type="http://schemas.openxmlformats.org/officeDocument/2006/relationships/image" Target="../media/image66.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3.xml"/><Relationship Id="rId1" Type="http://schemas.openxmlformats.org/officeDocument/2006/relationships/image" Target="../media/image68.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3.xml"/><Relationship Id="rId2" Type="http://schemas.openxmlformats.org/officeDocument/2006/relationships/image" Target="../media/image70.png"/><Relationship Id="rId1" Type="http://schemas.openxmlformats.org/officeDocument/2006/relationships/image" Target="../media/image69.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image" Target="../media/image71.GIF"/></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image" Target="../media/image72.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3.xml"/><Relationship Id="rId2" Type="http://schemas.openxmlformats.org/officeDocument/2006/relationships/image" Target="../media/image74.png"/><Relationship Id="rId1" Type="http://schemas.openxmlformats.org/officeDocument/2006/relationships/image" Target="../media/image73.jpe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3.xml"/><Relationship Id="rId2" Type="http://schemas.openxmlformats.org/officeDocument/2006/relationships/image" Target="../media/image76.png"/><Relationship Id="rId1" Type="http://schemas.openxmlformats.org/officeDocument/2006/relationships/image" Target="../media/image75.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13.xml"/><Relationship Id="rId2" Type="http://schemas.openxmlformats.org/officeDocument/2006/relationships/image" Target="../media/image76.png"/><Relationship Id="rId1" Type="http://schemas.openxmlformats.org/officeDocument/2006/relationships/image" Target="../media/image77.png"/></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13.xml"/><Relationship Id="rId2" Type="http://schemas.openxmlformats.org/officeDocument/2006/relationships/image" Target="../media/image79.jpeg"/><Relationship Id="rId1" Type="http://schemas.openxmlformats.org/officeDocument/2006/relationships/image" Target="../media/image78.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image" Target="../media/image80.pn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13.xml"/><Relationship Id="rId2" Type="http://schemas.openxmlformats.org/officeDocument/2006/relationships/image" Target="../media/image81.png"/><Relationship Id="rId1" Type="http://schemas.openxmlformats.org/officeDocument/2006/relationships/image" Target="../media/image80.png"/></Relationships>
</file>

<file path=ppt/slides/_rels/slide44.xml.rels><?xml version="1.0" encoding="UTF-8" standalone="yes"?>
<Relationships xmlns="http://schemas.openxmlformats.org/package/2006/relationships"><Relationship Id="rId8" Type="http://schemas.openxmlformats.org/officeDocument/2006/relationships/notesSlide" Target="../notesSlides/notesSlide43.xml"/><Relationship Id="rId7" Type="http://schemas.openxmlformats.org/officeDocument/2006/relationships/slideLayout" Target="../slideLayouts/slideLayout14.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image" Target="../media/image82.png"/></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13.xml"/><Relationship Id="rId2" Type="http://schemas.openxmlformats.org/officeDocument/2006/relationships/image" Target="../media/image69.png"/><Relationship Id="rId1" Type="http://schemas.openxmlformats.org/officeDocument/2006/relationships/image" Target="../media/image88.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3.xml"/><Relationship Id="rId1" Type="http://schemas.openxmlformats.org/officeDocument/2006/relationships/image" Target="../media/image89.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13.xml"/><Relationship Id="rId2" Type="http://schemas.openxmlformats.org/officeDocument/2006/relationships/image" Target="../media/image91.png"/><Relationship Id="rId1" Type="http://schemas.openxmlformats.org/officeDocument/2006/relationships/image" Target="../media/image90.png"/></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13.xml"/><Relationship Id="rId2" Type="http://schemas.openxmlformats.org/officeDocument/2006/relationships/image" Target="../media/image92.png"/><Relationship Id="rId1" Type="http://schemas.openxmlformats.org/officeDocument/2006/relationships/image" Target="../media/image76.png"/></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13.xml"/><Relationship Id="rId2" Type="http://schemas.openxmlformats.org/officeDocument/2006/relationships/image" Target="../media/image94.png"/><Relationship Id="rId1" Type="http://schemas.openxmlformats.org/officeDocument/2006/relationships/image" Target="../media/image93.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3.xml"/><Relationship Id="rId1" Type="http://schemas.openxmlformats.org/officeDocument/2006/relationships/image" Target="../media/image95.png"/></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14.xml"/><Relationship Id="rId2" Type="http://schemas.openxmlformats.org/officeDocument/2006/relationships/image" Target="../media/image97.png"/><Relationship Id="rId1" Type="http://schemas.openxmlformats.org/officeDocument/2006/relationships/image" Target="../media/image96.pn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14.xml"/><Relationship Id="rId2" Type="http://schemas.openxmlformats.org/officeDocument/2006/relationships/image" Target="../media/image99.png"/><Relationship Id="rId1" Type="http://schemas.openxmlformats.org/officeDocument/2006/relationships/image" Target="../media/image98.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4.xml"/><Relationship Id="rId1" Type="http://schemas.openxmlformats.org/officeDocument/2006/relationships/image" Target="../media/image100.pn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13.xml"/><Relationship Id="rId2" Type="http://schemas.openxmlformats.org/officeDocument/2006/relationships/image" Target="../media/image102.png"/><Relationship Id="rId1" Type="http://schemas.openxmlformats.org/officeDocument/2006/relationships/image" Target="../media/image101.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4.xml"/></Relationships>
</file>

<file path=ppt/slides/_rels/slide60.xml.rels><?xml version="1.0" encoding="UTF-8" standalone="yes"?>
<Relationships xmlns="http://schemas.openxmlformats.org/package/2006/relationships"><Relationship Id="rId7" Type="http://schemas.openxmlformats.org/officeDocument/2006/relationships/notesSlide" Target="../notesSlides/notesSlide59.xml"/><Relationship Id="rId6" Type="http://schemas.openxmlformats.org/officeDocument/2006/relationships/slideLayout" Target="../slideLayouts/slideLayout25.xml"/><Relationship Id="rId5" Type="http://schemas.openxmlformats.org/officeDocument/2006/relationships/image" Target="../media/image107.png"/><Relationship Id="rId4" Type="http://schemas.openxmlformats.org/officeDocument/2006/relationships/image" Target="../media/image106.png"/><Relationship Id="rId3" Type="http://schemas.openxmlformats.org/officeDocument/2006/relationships/image" Target="../media/image105.GIF"/><Relationship Id="rId2" Type="http://schemas.openxmlformats.org/officeDocument/2006/relationships/image" Target="../media/image104.GIF"/><Relationship Id="rId1" Type="http://schemas.openxmlformats.org/officeDocument/2006/relationships/image" Target="../media/image103.png"/></Relationships>
</file>

<file path=ppt/slides/_rels/slide61.xml.rels><?xml version="1.0" encoding="UTF-8" standalone="yes"?>
<Relationships xmlns="http://schemas.openxmlformats.org/package/2006/relationships"><Relationship Id="rId5" Type="http://schemas.openxmlformats.org/officeDocument/2006/relationships/notesSlide" Target="../notesSlides/notesSlide60.xml"/><Relationship Id="rId4" Type="http://schemas.openxmlformats.org/officeDocument/2006/relationships/slideLayout" Target="../slideLayouts/slideLayout25.xml"/><Relationship Id="rId3" Type="http://schemas.openxmlformats.org/officeDocument/2006/relationships/image" Target="../media/image110.png"/><Relationship Id="rId2" Type="http://schemas.openxmlformats.org/officeDocument/2006/relationships/image" Target="../media/image109.GIF"/><Relationship Id="rId1" Type="http://schemas.openxmlformats.org/officeDocument/2006/relationships/image" Target="../media/image108.GIF"/></Relationships>
</file>

<file path=ppt/slides/_rels/slide62.xml.rels><?xml version="1.0" encoding="UTF-8" standalone="yes"?>
<Relationships xmlns="http://schemas.openxmlformats.org/package/2006/relationships"><Relationship Id="rId6" Type="http://schemas.openxmlformats.org/officeDocument/2006/relationships/notesSlide" Target="../notesSlides/notesSlide61.xml"/><Relationship Id="rId5" Type="http://schemas.openxmlformats.org/officeDocument/2006/relationships/slideLayout" Target="../slideLayouts/slideLayout25.xml"/><Relationship Id="rId4" Type="http://schemas.openxmlformats.org/officeDocument/2006/relationships/image" Target="../media/image114.png"/><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image" Target="../media/image111.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5.xml"/><Relationship Id="rId1" Type="http://schemas.openxmlformats.org/officeDocument/2006/relationships/image" Target="../media/image115.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5.xml"/><Relationship Id="rId1" Type="http://schemas.openxmlformats.org/officeDocument/2006/relationships/image" Target="../media/image116.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5.xml"/><Relationship Id="rId1" Type="http://schemas.openxmlformats.org/officeDocument/2006/relationships/image" Target="../media/image117.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5.xml"/><Relationship Id="rId1" Type="http://schemas.openxmlformats.org/officeDocument/2006/relationships/image" Target="../media/image118.png"/></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66.xml"/><Relationship Id="rId3" Type="http://schemas.openxmlformats.org/officeDocument/2006/relationships/slideLayout" Target="../slideLayouts/slideLayout25.xml"/><Relationship Id="rId2" Type="http://schemas.openxmlformats.org/officeDocument/2006/relationships/image" Target="../media/image119.png"/><Relationship Id="rId1" Type="http://schemas.openxmlformats.org/officeDocument/2006/relationships/image" Target="../media/image116.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5.xml"/><Relationship Id="rId1" Type="http://schemas.openxmlformats.org/officeDocument/2006/relationships/image" Target="../media/image120.png"/></Relationships>
</file>

<file path=ppt/slides/_rels/slide69.xml.rels><?xml version="1.0" encoding="UTF-8" standalone="yes"?>
<Relationships xmlns="http://schemas.openxmlformats.org/package/2006/relationships"><Relationship Id="rId6" Type="http://schemas.openxmlformats.org/officeDocument/2006/relationships/notesSlide" Target="../notesSlides/notesSlide68.xml"/><Relationship Id="rId5" Type="http://schemas.openxmlformats.org/officeDocument/2006/relationships/slideLayout" Target="../slideLayouts/slideLayout25.xml"/><Relationship Id="rId4" Type="http://schemas.openxmlformats.org/officeDocument/2006/relationships/image" Target="../media/image122.png"/><Relationship Id="rId3" Type="http://schemas.openxmlformats.org/officeDocument/2006/relationships/image" Target="../media/image121.png"/><Relationship Id="rId2" Type="http://schemas.openxmlformats.org/officeDocument/2006/relationships/hyperlink" Target="https://arxiv.org/pdf/1509.09308" TargetMode="External"/><Relationship Id="rId1" Type="http://schemas.openxmlformats.org/officeDocument/2006/relationships/hyperlink" Target="https://epubs.siam.org/doi/abs/10.1137/0209021" TargetMode="External"/></Relationships>
</file>

<file path=ppt/slides/_rels/slide70.xml.rels><?xml version="1.0" encoding="UTF-8" standalone="yes"?>
<Relationships xmlns="http://schemas.openxmlformats.org/package/2006/relationships"><Relationship Id="rId6" Type="http://schemas.openxmlformats.org/officeDocument/2006/relationships/notesSlide" Target="../notesSlides/notesSlide69.xml"/><Relationship Id="rId5" Type="http://schemas.openxmlformats.org/officeDocument/2006/relationships/slideLayout" Target="../slideLayouts/slideLayout25.xml"/><Relationship Id="rId4" Type="http://schemas.openxmlformats.org/officeDocument/2006/relationships/image" Target="../media/image124.png"/><Relationship Id="rId3" Type="http://schemas.openxmlformats.org/officeDocument/2006/relationships/image" Target="../media/image123.png"/><Relationship Id="rId2" Type="http://schemas.openxmlformats.org/officeDocument/2006/relationships/hyperlink" Target="https://arxiv.org/pdf/1509.09308" TargetMode="External"/><Relationship Id="rId1" Type="http://schemas.openxmlformats.org/officeDocument/2006/relationships/hyperlink" Target="https://epubs.siam.org/doi/abs/10.1137/0209021" TargetMode="External"/></Relationships>
</file>

<file path=ppt/slides/_rels/slide71.xml.rels><?xml version="1.0" encoding="UTF-8" standalone="yes"?>
<Relationships xmlns="http://schemas.openxmlformats.org/package/2006/relationships"><Relationship Id="rId7" Type="http://schemas.openxmlformats.org/officeDocument/2006/relationships/notesSlide" Target="../notesSlides/notesSlide70.xml"/><Relationship Id="rId6" Type="http://schemas.openxmlformats.org/officeDocument/2006/relationships/slideLayout" Target="../slideLayouts/slideLayout25.xml"/><Relationship Id="rId5" Type="http://schemas.openxmlformats.org/officeDocument/2006/relationships/image" Target="../media/image127.png"/><Relationship Id="rId4" Type="http://schemas.openxmlformats.org/officeDocument/2006/relationships/image" Target="../media/image126.png"/><Relationship Id="rId3" Type="http://schemas.openxmlformats.org/officeDocument/2006/relationships/image" Target="../media/image125.png"/><Relationship Id="rId2" Type="http://schemas.openxmlformats.org/officeDocument/2006/relationships/hyperlink" Target="https://arxiv.org/pdf/1509.09308" TargetMode="External"/><Relationship Id="rId1" Type="http://schemas.openxmlformats.org/officeDocument/2006/relationships/hyperlink" Target="https://epubs.siam.org/doi/abs/10.1137/0209021" TargetMode="External"/></Relationships>
</file>

<file path=ppt/slides/_rels/slide72.xml.rels><?xml version="1.0" encoding="UTF-8" standalone="yes"?>
<Relationships xmlns="http://schemas.openxmlformats.org/package/2006/relationships"><Relationship Id="rId4" Type="http://schemas.openxmlformats.org/officeDocument/2006/relationships/notesSlide" Target="../notesSlides/notesSlide71.xml"/><Relationship Id="rId3" Type="http://schemas.openxmlformats.org/officeDocument/2006/relationships/slideLayout" Target="../slideLayouts/slideLayout25.xml"/><Relationship Id="rId2" Type="http://schemas.openxmlformats.org/officeDocument/2006/relationships/image" Target="../media/image128.png"/><Relationship Id="rId1" Type="http://schemas.openxmlformats.org/officeDocument/2006/relationships/hyperlink" Target="https://arxiv.org/pdf/1509.09308" TargetMode="External"/></Relationships>
</file>

<file path=ppt/slides/_rels/slide73.xml.rels><?xml version="1.0" encoding="UTF-8" standalone="yes"?>
<Relationships xmlns="http://schemas.openxmlformats.org/package/2006/relationships"><Relationship Id="rId5" Type="http://schemas.openxmlformats.org/officeDocument/2006/relationships/notesSlide" Target="../notesSlides/notesSlide72.xml"/><Relationship Id="rId4" Type="http://schemas.openxmlformats.org/officeDocument/2006/relationships/slideLayout" Target="../slideLayouts/slideLayout25.xml"/><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hyperlink" Target="https://arxiv.org/pdf/1509.09308" TargetMode="Externa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25.xml"/><Relationship Id="rId1" Type="http://schemas.openxmlformats.org/officeDocument/2006/relationships/hyperlink" Target="https://arxiv.org/pdf/1509.09308" TargetMode="Externa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4.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5.xml"/></Relationships>
</file>

<file path=ppt/slides/_rels/slide78.xml.rels><?xml version="1.0" encoding="UTF-8" standalone="yes"?>
<Relationships xmlns="http://schemas.openxmlformats.org/package/2006/relationships"><Relationship Id="rId4" Type="http://schemas.openxmlformats.org/officeDocument/2006/relationships/notesSlide" Target="../notesSlides/notesSlide77.xml"/><Relationship Id="rId3" Type="http://schemas.openxmlformats.org/officeDocument/2006/relationships/slideLayout" Target="../slideLayouts/slideLayout25.xml"/><Relationship Id="rId2" Type="http://schemas.openxmlformats.org/officeDocument/2006/relationships/image" Target="../media/image132.png"/><Relationship Id="rId1" Type="http://schemas.openxmlformats.org/officeDocument/2006/relationships/image" Target="../media/image131.png"/></Relationships>
</file>

<file path=ppt/slides/_rels/slide79.xml.rels><?xml version="1.0" encoding="UTF-8" standalone="yes"?>
<Relationships xmlns="http://schemas.openxmlformats.org/package/2006/relationships"><Relationship Id="rId5" Type="http://schemas.openxmlformats.org/officeDocument/2006/relationships/notesSlide" Target="../notesSlides/notesSlide78.xml"/><Relationship Id="rId4" Type="http://schemas.openxmlformats.org/officeDocument/2006/relationships/slideLayout" Target="../slideLayouts/slideLayout25.xml"/><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image" Target="../media/image133.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7.xml"/></Relationships>
</file>

<file path=ppt/slides/_rels/slide81.xml.rels><?xml version="1.0" encoding="UTF-8" standalone="yes"?>
<Relationships xmlns="http://schemas.openxmlformats.org/package/2006/relationships"><Relationship Id="rId4" Type="http://schemas.openxmlformats.org/officeDocument/2006/relationships/notesSlide" Target="../notesSlides/notesSlide80.xml"/><Relationship Id="rId3" Type="http://schemas.openxmlformats.org/officeDocument/2006/relationships/slideLayout" Target="../slideLayouts/slideLayout25.xml"/><Relationship Id="rId2" Type="http://schemas.openxmlformats.org/officeDocument/2006/relationships/image" Target="../media/image137.png"/><Relationship Id="rId1" Type="http://schemas.openxmlformats.org/officeDocument/2006/relationships/image" Target="../media/image136.png"/></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25.xml"/><Relationship Id="rId1" Type="http://schemas.openxmlformats.org/officeDocument/2006/relationships/image" Target="../media/image138.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5.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25.xml"/><Relationship Id="rId1" Type="http://schemas.openxmlformats.org/officeDocument/2006/relationships/image" Target="../media/image139.png"/></Relationships>
</file>

<file path=ppt/slides/_rels/slide85.xml.rels><?xml version="1.0" encoding="UTF-8" standalone="yes"?>
<Relationships xmlns="http://schemas.openxmlformats.org/package/2006/relationships"><Relationship Id="rId4" Type="http://schemas.openxmlformats.org/officeDocument/2006/relationships/notesSlide" Target="../notesSlides/notesSlide84.xml"/><Relationship Id="rId3" Type="http://schemas.openxmlformats.org/officeDocument/2006/relationships/slideLayout" Target="../slideLayouts/slideLayout25.xml"/><Relationship Id="rId2" Type="http://schemas.openxmlformats.org/officeDocument/2006/relationships/image" Target="../media/image141.png"/><Relationship Id="rId1" Type="http://schemas.openxmlformats.org/officeDocument/2006/relationships/image" Target="../media/image140.png"/></Relationships>
</file>

<file path=ppt/slides/_rels/slide86.xml.rels><?xml version="1.0" encoding="UTF-8" standalone="yes"?>
<Relationships xmlns="http://schemas.openxmlformats.org/package/2006/relationships"><Relationship Id="rId4" Type="http://schemas.openxmlformats.org/officeDocument/2006/relationships/notesSlide" Target="../notesSlides/notesSlide85.xml"/><Relationship Id="rId3" Type="http://schemas.openxmlformats.org/officeDocument/2006/relationships/slideLayout" Target="../slideLayouts/slideLayout25.xml"/><Relationship Id="rId2" Type="http://schemas.openxmlformats.org/officeDocument/2006/relationships/image" Target="../media/image143.png"/><Relationship Id="rId1" Type="http://schemas.openxmlformats.org/officeDocument/2006/relationships/image" Target="../media/image142.png"/></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25.xml"/><Relationship Id="rId1" Type="http://schemas.openxmlformats.org/officeDocument/2006/relationships/image" Target="../media/image144.png"/></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25.xml"/><Relationship Id="rId1" Type="http://schemas.openxmlformats.org/officeDocument/2006/relationships/image" Target="../media/image145.pn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5.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25.xml"/><Relationship Id="rId1" Type="http://schemas.openxmlformats.org/officeDocument/2006/relationships/image" Target="../media/image146.png"/></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25.xml"/><Relationship Id="rId1" Type="http://schemas.openxmlformats.org/officeDocument/2006/relationships/image" Target="../media/image147.png"/></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5.xml"/></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25.xml"/><Relationship Id="rId1" Type="http://schemas.openxmlformats.org/officeDocument/2006/relationships/image" Target="../media/image148.png"/></Relationships>
</file>

<file path=ppt/slides/_rels/slide94.xml.rels><?xml version="1.0" encoding="UTF-8" standalone="yes"?>
<Relationships xmlns="http://schemas.openxmlformats.org/package/2006/relationships"><Relationship Id="rId4" Type="http://schemas.openxmlformats.org/officeDocument/2006/relationships/notesSlide" Target="../notesSlides/notesSlide93.xml"/><Relationship Id="rId3" Type="http://schemas.openxmlformats.org/officeDocument/2006/relationships/slideLayout" Target="../slideLayouts/slideLayout25.xml"/><Relationship Id="rId2" Type="http://schemas.openxmlformats.org/officeDocument/2006/relationships/image" Target="../media/image150.png"/><Relationship Id="rId1" Type="http://schemas.openxmlformats.org/officeDocument/2006/relationships/image" Target="../media/image149.png"/></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25.xml"/><Relationship Id="rId1" Type="http://schemas.openxmlformats.org/officeDocument/2006/relationships/image" Target="../media/image151.png"/></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6.xml"/></Relationships>
</file>

<file path=ppt/slides/_rels/slide98.xml.rels><?xml version="1.0" encoding="UTF-8" standalone="yes"?>
<Relationships xmlns="http://schemas.openxmlformats.org/package/2006/relationships"><Relationship Id="rId4" Type="http://schemas.openxmlformats.org/officeDocument/2006/relationships/notesSlide" Target="../notesSlides/notesSlide97.xml"/><Relationship Id="rId3" Type="http://schemas.openxmlformats.org/officeDocument/2006/relationships/slideLayout" Target="../slideLayouts/slideLayout13.xml"/><Relationship Id="rId2" Type="http://schemas.openxmlformats.org/officeDocument/2006/relationships/image" Target="../media/image153.png"/><Relationship Id="rId1" Type="http://schemas.openxmlformats.org/officeDocument/2006/relationships/image" Target="../media/image152.png"/></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13.xml"/><Relationship Id="rId1" Type="http://schemas.openxmlformats.org/officeDocument/2006/relationships/image" Target="../media/image154.png"/></Relationships>
</file>

<file path=ppt/slides/_rels/slide100.xml.rels><?xml version="1.0" encoding="UTF-8" standalone="yes"?>
<Relationships xmlns="http://schemas.openxmlformats.org/package/2006/relationships"><Relationship Id="rId4" Type="http://schemas.openxmlformats.org/officeDocument/2006/relationships/notesSlide" Target="../notesSlides/notesSlide99.xml"/><Relationship Id="rId3" Type="http://schemas.openxmlformats.org/officeDocument/2006/relationships/slideLayout" Target="../slideLayouts/slideLayout13.xml"/><Relationship Id="rId2" Type="http://schemas.openxmlformats.org/officeDocument/2006/relationships/image" Target="../media/image156.png"/><Relationship Id="rId1" Type="http://schemas.openxmlformats.org/officeDocument/2006/relationships/image" Target="../media/image155.png"/></Relationships>
</file>

<file path=ppt/slides/_rels/slide101.xml.rels><?xml version="1.0" encoding="UTF-8" standalone="yes"?>
<Relationships xmlns="http://schemas.openxmlformats.org/package/2006/relationships"><Relationship Id="rId4" Type="http://schemas.openxmlformats.org/officeDocument/2006/relationships/notesSlide" Target="../notesSlides/notesSlide100.xml"/><Relationship Id="rId3" Type="http://schemas.openxmlformats.org/officeDocument/2006/relationships/slideLayout" Target="../slideLayouts/slideLayout13.xml"/><Relationship Id="rId2" Type="http://schemas.openxmlformats.org/officeDocument/2006/relationships/image" Target="../media/image158.png"/><Relationship Id="rId1" Type="http://schemas.openxmlformats.org/officeDocument/2006/relationships/image" Target="../media/image157.png"/></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4" Type="http://schemas.openxmlformats.org/officeDocument/2006/relationships/notesSlide" Target="../notesSlides/notesSlide104.xml"/><Relationship Id="rId3" Type="http://schemas.openxmlformats.org/officeDocument/2006/relationships/slideLayout" Target="../slideLayouts/slideLayout13.xml"/><Relationship Id="rId2" Type="http://schemas.openxmlformats.org/officeDocument/2006/relationships/image" Target="../media/image160.png"/><Relationship Id="rId1" Type="http://schemas.openxmlformats.org/officeDocument/2006/relationships/image" Target="../media/image159.png"/></Relationships>
</file>

<file path=ppt/slides/_rels/slide106.xml.rels><?xml version="1.0" encoding="UTF-8" standalone="yes"?>
<Relationships xmlns="http://schemas.openxmlformats.org/package/2006/relationships"><Relationship Id="rId4" Type="http://schemas.openxmlformats.org/officeDocument/2006/relationships/notesSlide" Target="../notesSlides/notesSlide105.xml"/><Relationship Id="rId3" Type="http://schemas.openxmlformats.org/officeDocument/2006/relationships/slideLayout" Target="../slideLayouts/slideLayout13.xml"/><Relationship Id="rId2" Type="http://schemas.openxmlformats.org/officeDocument/2006/relationships/image" Target="../media/image162.png"/><Relationship Id="rId1" Type="http://schemas.openxmlformats.org/officeDocument/2006/relationships/image" Target="../media/image161.png"/></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6.xml"/></Relationships>
</file>

<file path=ppt/slides/_rels/slide108.xml.rels><?xml version="1.0" encoding="UTF-8" standalone="yes"?>
<Relationships xmlns="http://schemas.openxmlformats.org/package/2006/relationships"><Relationship Id="rId4" Type="http://schemas.openxmlformats.org/officeDocument/2006/relationships/notesSlide" Target="../notesSlides/notesSlide107.xml"/><Relationship Id="rId3" Type="http://schemas.openxmlformats.org/officeDocument/2006/relationships/slideLayout" Target="../slideLayouts/slideLayout13.xml"/><Relationship Id="rId2" Type="http://schemas.openxmlformats.org/officeDocument/2006/relationships/image" Target="../media/image164.png"/><Relationship Id="rId1" Type="http://schemas.openxmlformats.org/officeDocument/2006/relationships/image" Target="../media/image163.png"/></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109.xml"/><Relationship Id="rId2" Type="http://schemas.openxmlformats.org/officeDocument/2006/relationships/slideLayout" Target="../slideLayouts/slideLayout13.xml"/><Relationship Id="rId1" Type="http://schemas.openxmlformats.org/officeDocument/2006/relationships/image" Target="../media/image165.png"/></Relationships>
</file>

<file path=ppt/slides/_rels/slide111.xml.rels><?xml version="1.0" encoding="UTF-8" standalone="yes"?>
<Relationships xmlns="http://schemas.openxmlformats.org/package/2006/relationships"><Relationship Id="rId4" Type="http://schemas.openxmlformats.org/officeDocument/2006/relationships/notesSlide" Target="../notesSlides/notesSlide110.xml"/><Relationship Id="rId3" Type="http://schemas.openxmlformats.org/officeDocument/2006/relationships/slideLayout" Target="../slideLayouts/slideLayout13.xml"/><Relationship Id="rId2" Type="http://schemas.openxmlformats.org/officeDocument/2006/relationships/image" Target="../media/image166.png"/><Relationship Id="rId1" Type="http://schemas.openxmlformats.org/officeDocument/2006/relationships/image" Target="../media/image165.png"/></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111.xml"/><Relationship Id="rId2" Type="http://schemas.openxmlformats.org/officeDocument/2006/relationships/slideLayout" Target="../slideLayouts/slideLayout13.xml"/><Relationship Id="rId1" Type="http://schemas.openxmlformats.org/officeDocument/2006/relationships/image" Target="../media/image167.png"/></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112.xml"/><Relationship Id="rId2" Type="http://schemas.openxmlformats.org/officeDocument/2006/relationships/slideLayout" Target="../slideLayouts/slideLayout13.xml"/><Relationship Id="rId1" Type="http://schemas.openxmlformats.org/officeDocument/2006/relationships/image" Target="../media/image167.png"/></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113.xml"/><Relationship Id="rId2" Type="http://schemas.openxmlformats.org/officeDocument/2006/relationships/slideLayout" Target="../slideLayouts/slideLayout13.xml"/><Relationship Id="rId1" Type="http://schemas.openxmlformats.org/officeDocument/2006/relationships/image" Target="../media/image167.png"/></Relationships>
</file>

<file path=ppt/slides/_rels/slide115.xml.rels><?xml version="1.0" encoding="UTF-8" standalone="yes"?>
<Relationships xmlns="http://schemas.openxmlformats.org/package/2006/relationships"><Relationship Id="rId4" Type="http://schemas.openxmlformats.org/officeDocument/2006/relationships/notesSlide" Target="../notesSlides/notesSlide114.xml"/><Relationship Id="rId3" Type="http://schemas.openxmlformats.org/officeDocument/2006/relationships/slideLayout" Target="../slideLayouts/slideLayout13.xml"/><Relationship Id="rId2" Type="http://schemas.openxmlformats.org/officeDocument/2006/relationships/image" Target="../media/image169.png"/><Relationship Id="rId1" Type="http://schemas.openxmlformats.org/officeDocument/2006/relationships/image" Target="../media/image168.png"/></Relationships>
</file>

<file path=ppt/slides/_rels/slide116.xml.rels><?xml version="1.0" encoding="UTF-8" standalone="yes"?>
<Relationships xmlns="http://schemas.openxmlformats.org/package/2006/relationships"><Relationship Id="rId4" Type="http://schemas.openxmlformats.org/officeDocument/2006/relationships/notesSlide" Target="../notesSlides/notesSlide115.xml"/><Relationship Id="rId3" Type="http://schemas.openxmlformats.org/officeDocument/2006/relationships/slideLayout" Target="../slideLayouts/slideLayout13.xml"/><Relationship Id="rId2" Type="http://schemas.openxmlformats.org/officeDocument/2006/relationships/image" Target="../media/image171.png"/><Relationship Id="rId1" Type="http://schemas.openxmlformats.org/officeDocument/2006/relationships/image" Target="../media/image170.png"/></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4" Type="http://schemas.openxmlformats.org/officeDocument/2006/relationships/notesSlide" Target="../notesSlides/notesSlide117.xml"/><Relationship Id="rId3" Type="http://schemas.openxmlformats.org/officeDocument/2006/relationships/slideLayout" Target="../slideLayouts/slideLayout13.xml"/><Relationship Id="rId2" Type="http://schemas.openxmlformats.org/officeDocument/2006/relationships/image" Target="../media/image173.png"/><Relationship Id="rId1" Type="http://schemas.openxmlformats.org/officeDocument/2006/relationships/image" Target="../media/image172.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6.xml"/></Relationships>
</file>

<file path=ppt/slides/_rels/slide122.xml.rels><?xml version="1.0" encoding="UTF-8" standalone="yes"?>
<Relationships xmlns="http://schemas.openxmlformats.org/package/2006/relationships"><Relationship Id="rId3" Type="http://schemas.openxmlformats.org/officeDocument/2006/relationships/notesSlide" Target="../notesSlides/notesSlide120.xml"/><Relationship Id="rId2" Type="http://schemas.openxmlformats.org/officeDocument/2006/relationships/slideLayout" Target="../slideLayouts/slideLayout13.xml"/><Relationship Id="rId1" Type="http://schemas.openxmlformats.org/officeDocument/2006/relationships/image" Target="../media/image174.png"/></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122.xml"/><Relationship Id="rId2" Type="http://schemas.openxmlformats.org/officeDocument/2006/relationships/slideLayout" Target="../slideLayouts/slideLayout13.xml"/><Relationship Id="rId1" Type="http://schemas.openxmlformats.org/officeDocument/2006/relationships/image" Target="../media/image175.png"/></Relationships>
</file>

<file path=ppt/slides/_rels/slide125.xml.rels><?xml version="1.0" encoding="UTF-8" standalone="yes"?>
<Relationships xmlns="http://schemas.openxmlformats.org/package/2006/relationships"><Relationship Id="rId3" Type="http://schemas.openxmlformats.org/officeDocument/2006/relationships/notesSlide" Target="../notesSlides/notesSlide123.xml"/><Relationship Id="rId2" Type="http://schemas.openxmlformats.org/officeDocument/2006/relationships/slideLayout" Target="../slideLayouts/slideLayout13.xml"/><Relationship Id="rId1" Type="http://schemas.openxmlformats.org/officeDocument/2006/relationships/image" Target="../media/image176.png"/></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3" Type="http://schemas.openxmlformats.org/officeDocument/2006/relationships/notesSlide" Target="../notesSlides/notesSlide125.xml"/><Relationship Id="rId2" Type="http://schemas.openxmlformats.org/officeDocument/2006/relationships/slideLayout" Target="../slideLayouts/slideLayout13.xml"/><Relationship Id="rId1" Type="http://schemas.openxmlformats.org/officeDocument/2006/relationships/image" Target="../media/image177.png"/></Relationships>
</file>

<file path=ppt/slides/_rels/slide128.xml.rels><?xml version="1.0" encoding="UTF-8" standalone="yes"?>
<Relationships xmlns="http://schemas.openxmlformats.org/package/2006/relationships"><Relationship Id="rId4" Type="http://schemas.openxmlformats.org/officeDocument/2006/relationships/notesSlide" Target="../notesSlides/notesSlide126.xml"/><Relationship Id="rId3" Type="http://schemas.openxmlformats.org/officeDocument/2006/relationships/slideLayout" Target="../slideLayouts/slideLayout13.xml"/><Relationship Id="rId2" Type="http://schemas.openxmlformats.org/officeDocument/2006/relationships/image" Target="../media/image179.png"/><Relationship Id="rId1" Type="http://schemas.openxmlformats.org/officeDocument/2006/relationships/image" Target="../media/image178.png"/></Relationships>
</file>

<file path=ppt/slides/_rels/slide129.xml.rels><?xml version="1.0" encoding="UTF-8" standalone="yes"?>
<Relationships xmlns="http://schemas.openxmlformats.org/package/2006/relationships"><Relationship Id="rId3" Type="http://schemas.openxmlformats.org/officeDocument/2006/relationships/notesSlide" Target="../notesSlides/notesSlide127.xml"/><Relationship Id="rId2" Type="http://schemas.openxmlformats.org/officeDocument/2006/relationships/slideLayout" Target="../slideLayouts/slideLayout13.xml"/><Relationship Id="rId1" Type="http://schemas.openxmlformats.org/officeDocument/2006/relationships/image" Target="../media/image180.png"/></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128.xml"/><Relationship Id="rId2" Type="http://schemas.openxmlformats.org/officeDocument/2006/relationships/slideLayout" Target="../slideLayouts/slideLayout13.xml"/><Relationship Id="rId1" Type="http://schemas.openxmlformats.org/officeDocument/2006/relationships/image" Target="../media/image181.png"/></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129.xml"/><Relationship Id="rId2" Type="http://schemas.openxmlformats.org/officeDocument/2006/relationships/slideLayout" Target="../slideLayouts/slideLayout13.xml"/><Relationship Id="rId1" Type="http://schemas.openxmlformats.org/officeDocument/2006/relationships/image" Target="../media/image182.png"/></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131.xml"/><Relationship Id="rId2" Type="http://schemas.openxmlformats.org/officeDocument/2006/relationships/slideLayout" Target="../slideLayouts/slideLayout13.xml"/><Relationship Id="rId1" Type="http://schemas.openxmlformats.org/officeDocument/2006/relationships/image" Target="../media/image183.png"/></Relationships>
</file>

<file path=ppt/slides/_rels/slide134.xml.rels><?xml version="1.0" encoding="UTF-8" standalone="yes"?>
<Relationships xmlns="http://schemas.openxmlformats.org/package/2006/relationships"><Relationship Id="rId3" Type="http://schemas.openxmlformats.org/officeDocument/2006/relationships/notesSlide" Target="../notesSlides/notesSlide132.xml"/><Relationship Id="rId2" Type="http://schemas.openxmlformats.org/officeDocument/2006/relationships/slideLayout" Target="../slideLayouts/slideLayout13.xml"/><Relationship Id="rId1" Type="http://schemas.openxmlformats.org/officeDocument/2006/relationships/image" Target="../media/image184.png"/></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133.xml"/><Relationship Id="rId2" Type="http://schemas.openxmlformats.org/officeDocument/2006/relationships/slideLayout" Target="../slideLayouts/slideLayout13.xml"/><Relationship Id="rId1" Type="http://schemas.openxmlformats.org/officeDocument/2006/relationships/image" Target="../media/image185.png"/></Relationships>
</file>

<file path=ppt/slides/_rels/slide136.xml.rels><?xml version="1.0" encoding="UTF-8" standalone="yes"?>
<Relationships xmlns="http://schemas.openxmlformats.org/package/2006/relationships"><Relationship Id="rId3" Type="http://schemas.openxmlformats.org/officeDocument/2006/relationships/notesSlide" Target="../notesSlides/notesSlide134.xml"/><Relationship Id="rId2" Type="http://schemas.openxmlformats.org/officeDocument/2006/relationships/slideLayout" Target="../slideLayouts/slideLayout13.xml"/><Relationship Id="rId1" Type="http://schemas.openxmlformats.org/officeDocument/2006/relationships/image" Target="../media/image186.png"/></Relationships>
</file>

<file path=ppt/slides/_rels/slide137.xml.rels><?xml version="1.0" encoding="UTF-8" standalone="yes"?>
<Relationships xmlns="http://schemas.openxmlformats.org/package/2006/relationships"><Relationship Id="rId3" Type="http://schemas.openxmlformats.org/officeDocument/2006/relationships/notesSlide" Target="../notesSlides/notesSlide135.xml"/><Relationship Id="rId2" Type="http://schemas.openxmlformats.org/officeDocument/2006/relationships/slideLayout" Target="../slideLayouts/slideLayout13.xml"/><Relationship Id="rId1" Type="http://schemas.openxmlformats.org/officeDocument/2006/relationships/image" Target="../media/image187.png"/></Relationships>
</file>

<file path=ppt/slides/_rels/slide138.xml.rels><?xml version="1.0" encoding="UTF-8" standalone="yes"?>
<Relationships xmlns="http://schemas.openxmlformats.org/package/2006/relationships"><Relationship Id="rId3" Type="http://schemas.openxmlformats.org/officeDocument/2006/relationships/notesSlide" Target="../notesSlides/notesSlide136.xml"/><Relationship Id="rId2" Type="http://schemas.openxmlformats.org/officeDocument/2006/relationships/slideLayout" Target="../slideLayouts/slideLayout13.xml"/><Relationship Id="rId1" Type="http://schemas.openxmlformats.org/officeDocument/2006/relationships/image" Target="../media/image188.png"/></Relationships>
</file>

<file path=ppt/slides/_rels/slide139.xml.rels><?xml version="1.0" encoding="UTF-8" standalone="yes"?>
<Relationships xmlns="http://schemas.openxmlformats.org/package/2006/relationships"><Relationship Id="rId5" Type="http://schemas.openxmlformats.org/officeDocument/2006/relationships/notesSlide" Target="../notesSlides/notesSlide137.xml"/><Relationship Id="rId4" Type="http://schemas.openxmlformats.org/officeDocument/2006/relationships/slideLayout" Target="../slideLayouts/slideLayout13.xml"/><Relationship Id="rId3" Type="http://schemas.openxmlformats.org/officeDocument/2006/relationships/hyperlink" Target="https://docs.nvidia.com/nsight-compute/ProfilingGuide/index.html" TargetMode="External"/><Relationship Id="rId2" Type="http://schemas.openxmlformats.org/officeDocument/2006/relationships/hyperlink" Target="https://docs.nvidia.com/nsight-systems/index.html" TargetMode="External"/><Relationship Id="rId1" Type="http://schemas.openxmlformats.org/officeDocument/2006/relationships/hyperlink" Target="https://developer.nvidia.com/nsight-systems/get-started" TargetMode="Externa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1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16.xml"/></Relationships>
</file>

<file path=ppt/slides/_rels/slide142.xml.rels><?xml version="1.0" encoding="UTF-8" standalone="yes"?>
<Relationships xmlns="http://schemas.openxmlformats.org/package/2006/relationships"><Relationship Id="rId3" Type="http://schemas.openxmlformats.org/officeDocument/2006/relationships/notesSlide" Target="../notesSlides/notesSlide140.xml"/><Relationship Id="rId2" Type="http://schemas.openxmlformats.org/officeDocument/2006/relationships/slideLayout" Target="../slideLayouts/slideLayout13.xml"/><Relationship Id="rId1" Type="http://schemas.openxmlformats.org/officeDocument/2006/relationships/image" Target="../media/image189.png"/></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13.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13.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13.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13.xml"/></Relationships>
</file>

<file path=ppt/slides/_rels/slide147.xml.rels><?xml version="1.0" encoding="UTF-8" standalone="yes"?>
<Relationships xmlns="http://schemas.openxmlformats.org/package/2006/relationships"><Relationship Id="rId3" Type="http://schemas.openxmlformats.org/officeDocument/2006/relationships/notesSlide" Target="../notesSlides/notesSlide145.xml"/><Relationship Id="rId2" Type="http://schemas.openxmlformats.org/officeDocument/2006/relationships/slideLayout" Target="../slideLayouts/slideLayout13.xml"/><Relationship Id="rId1" Type="http://schemas.openxmlformats.org/officeDocument/2006/relationships/image" Target="../media/image190.png"/></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13.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13.xml"/></Relationships>
</file>

<file path=ppt/slides/_rels/slide150.xml.rels><?xml version="1.0" encoding="UTF-8" standalone="yes"?>
<Relationships xmlns="http://schemas.openxmlformats.org/package/2006/relationships"><Relationship Id="rId3" Type="http://schemas.openxmlformats.org/officeDocument/2006/relationships/notesSlide" Target="../notesSlides/notesSlide148.xml"/><Relationship Id="rId2" Type="http://schemas.openxmlformats.org/officeDocument/2006/relationships/slideLayout" Target="../slideLayouts/slideLayout13.xml"/><Relationship Id="rId1" Type="http://schemas.openxmlformats.org/officeDocument/2006/relationships/image" Target="../media/image191.jpeg"/></Relationships>
</file>

<file path=ppt/slides/_rels/slide151.xml.rels><?xml version="1.0" encoding="UTF-8" standalone="yes"?>
<Relationships xmlns="http://schemas.openxmlformats.org/package/2006/relationships"><Relationship Id="rId4" Type="http://schemas.openxmlformats.org/officeDocument/2006/relationships/notesSlide" Target="../notesSlides/notesSlide149.xml"/><Relationship Id="rId3" Type="http://schemas.openxmlformats.org/officeDocument/2006/relationships/slideLayout" Target="../slideLayouts/slideLayout13.xml"/><Relationship Id="rId2" Type="http://schemas.openxmlformats.org/officeDocument/2006/relationships/image" Target="../media/image193.png"/><Relationship Id="rId1" Type="http://schemas.openxmlformats.org/officeDocument/2006/relationships/image" Target="../media/image192.png"/></Relationships>
</file>

<file path=ppt/slides/_rels/slide152.xml.rels><?xml version="1.0" encoding="UTF-8" standalone="yes"?>
<Relationships xmlns="http://schemas.openxmlformats.org/package/2006/relationships"><Relationship Id="rId3" Type="http://schemas.openxmlformats.org/officeDocument/2006/relationships/notesSlide" Target="../notesSlides/notesSlide150.xml"/><Relationship Id="rId2" Type="http://schemas.openxmlformats.org/officeDocument/2006/relationships/slideLayout" Target="../slideLayouts/slideLayout13.xml"/><Relationship Id="rId1" Type="http://schemas.openxmlformats.org/officeDocument/2006/relationships/image" Target="../media/image194.png"/></Relationships>
</file>

<file path=ppt/slides/_rels/slide153.xml.rels><?xml version="1.0" encoding="UTF-8" standalone="yes"?>
<Relationships xmlns="http://schemas.openxmlformats.org/package/2006/relationships"><Relationship Id="rId3" Type="http://schemas.openxmlformats.org/officeDocument/2006/relationships/notesSlide" Target="../notesSlides/notesSlide151.xml"/><Relationship Id="rId2" Type="http://schemas.openxmlformats.org/officeDocument/2006/relationships/slideLayout" Target="../slideLayouts/slideLayout13.xml"/><Relationship Id="rId1" Type="http://schemas.openxmlformats.org/officeDocument/2006/relationships/image" Target="../media/image195.png"/></Relationships>
</file>

<file path=ppt/slides/_rels/slide154.xml.rels><?xml version="1.0" encoding="UTF-8" standalone="yes"?>
<Relationships xmlns="http://schemas.openxmlformats.org/package/2006/relationships"><Relationship Id="rId3" Type="http://schemas.openxmlformats.org/officeDocument/2006/relationships/notesSlide" Target="../notesSlides/notesSlide152.xml"/><Relationship Id="rId2" Type="http://schemas.openxmlformats.org/officeDocument/2006/relationships/slideLayout" Target="../slideLayouts/slideLayout13.xml"/><Relationship Id="rId1" Type="http://schemas.openxmlformats.org/officeDocument/2006/relationships/image" Target="../media/image196.png"/></Relationships>
</file>

<file path=ppt/slides/_rels/slide155.xml.rels><?xml version="1.0" encoding="UTF-8" standalone="yes"?>
<Relationships xmlns="http://schemas.openxmlformats.org/package/2006/relationships"><Relationship Id="rId3" Type="http://schemas.openxmlformats.org/officeDocument/2006/relationships/notesSlide" Target="../notesSlides/notesSlide153.xml"/><Relationship Id="rId2" Type="http://schemas.openxmlformats.org/officeDocument/2006/relationships/slideLayout" Target="../slideLayouts/slideLayout13.xml"/><Relationship Id="rId1" Type="http://schemas.openxmlformats.org/officeDocument/2006/relationships/image" Target="../media/image197.png"/></Relationships>
</file>

<file path=ppt/slides/_rels/slide156.xml.rels><?xml version="1.0" encoding="UTF-8" standalone="yes"?>
<Relationships xmlns="http://schemas.openxmlformats.org/package/2006/relationships"><Relationship Id="rId3" Type="http://schemas.openxmlformats.org/officeDocument/2006/relationships/notesSlide" Target="../notesSlides/notesSlide154.xml"/><Relationship Id="rId2" Type="http://schemas.openxmlformats.org/officeDocument/2006/relationships/slideLayout" Target="../slideLayouts/slideLayout13.xml"/><Relationship Id="rId1" Type="http://schemas.openxmlformats.org/officeDocument/2006/relationships/image" Target="../media/image198.png"/></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13.xml"/></Relationships>
</file>

<file path=ppt/slides/_rels/slide158.xml.rels><?xml version="1.0" encoding="UTF-8" standalone="yes"?>
<Relationships xmlns="http://schemas.openxmlformats.org/package/2006/relationships"><Relationship Id="rId6" Type="http://schemas.openxmlformats.org/officeDocument/2006/relationships/notesSlide" Target="../notesSlides/notesSlide156.xml"/><Relationship Id="rId5" Type="http://schemas.openxmlformats.org/officeDocument/2006/relationships/slideLayout" Target="../slideLayouts/slideLayout13.xml"/><Relationship Id="rId4" Type="http://schemas.openxmlformats.org/officeDocument/2006/relationships/hyperlink" Target="https://blog.ezyang.com/2020/09/lets-talk-about-the-pytorch-dispatcher/" TargetMode="External"/><Relationship Id="rId3" Type="http://schemas.openxmlformats.org/officeDocument/2006/relationships/hyperlink" Target="https://docs.nvidia.com/deeplearning/cudnn/latest/" TargetMode="External"/><Relationship Id="rId2" Type="http://schemas.openxmlformats.org/officeDocument/2006/relationships/hyperlink" Target="https://triton-lang.org/main/index.html" TargetMode="External"/><Relationship Id="rId1" Type="http://schemas.openxmlformats.org/officeDocument/2006/relationships/hyperlink" Target="https://github.com/flagos-ai/FlagGems" TargetMode="Externa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1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13.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13.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13.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13.xml"/></Relationships>
</file>

<file path=ppt/slides/_rels/slide164.xml.rels><?xml version="1.0" encoding="UTF-8" standalone="yes"?>
<Relationships xmlns="http://schemas.openxmlformats.org/package/2006/relationships"><Relationship Id="rId3" Type="http://schemas.openxmlformats.org/officeDocument/2006/relationships/notesSlide" Target="../notesSlides/notesSlide162.xml"/><Relationship Id="rId2" Type="http://schemas.openxmlformats.org/officeDocument/2006/relationships/slideLayout" Target="../slideLayouts/slideLayout13.xml"/><Relationship Id="rId1" Type="http://schemas.openxmlformats.org/officeDocument/2006/relationships/image" Target="../media/image199.png"/></Relationships>
</file>

<file path=ppt/slides/_rels/slide165.xml.rels><?xml version="1.0" encoding="UTF-8" standalone="yes"?>
<Relationships xmlns="http://schemas.openxmlformats.org/package/2006/relationships"><Relationship Id="rId9" Type="http://schemas.openxmlformats.org/officeDocument/2006/relationships/hyperlink" Target="https://www.zhihu.com/people/95-22-20-18/posts" TargetMode="External"/><Relationship Id="rId8" Type="http://schemas.openxmlformats.org/officeDocument/2006/relationships/hyperlink" Target="https://space.bilibili.com/3546791834290849" TargetMode="External"/><Relationship Id="rId7" Type="http://schemas.openxmlformats.org/officeDocument/2006/relationships/hyperlink" Target="https://github.com/flagos-ai" TargetMode="External"/><Relationship Id="rId6" Type="http://schemas.openxmlformats.org/officeDocument/2006/relationships/image" Target="../media/image205.png"/><Relationship Id="rId5" Type="http://schemas.openxmlformats.org/officeDocument/2006/relationships/image" Target="../media/image204.png"/><Relationship Id="rId4" Type="http://schemas.openxmlformats.org/officeDocument/2006/relationships/image" Target="../media/image203.png"/><Relationship Id="rId3" Type="http://schemas.openxmlformats.org/officeDocument/2006/relationships/image" Target="../media/image202.png"/><Relationship Id="rId2" Type="http://schemas.openxmlformats.org/officeDocument/2006/relationships/image" Target="../media/image201.png"/><Relationship Id="rId13" Type="http://schemas.openxmlformats.org/officeDocument/2006/relationships/slideLayout" Target="../slideLayouts/slideLayout17.xml"/><Relationship Id="rId12" Type="http://schemas.openxmlformats.org/officeDocument/2006/relationships/image" Target="../media/image207.png"/><Relationship Id="rId11" Type="http://schemas.openxmlformats.org/officeDocument/2006/relationships/image" Target="../media/image206.jpeg"/><Relationship Id="rId10" Type="http://schemas.openxmlformats.org/officeDocument/2006/relationships/hyperlink" Target="https://flagos.io/Home" TargetMode="External"/><Relationship Id="rId1" Type="http://schemas.openxmlformats.org/officeDocument/2006/relationships/image" Target="../media/image200.png"/></Relationships>
</file>

<file path=ppt/slides/_rels/slide166.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0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ChangeAspect="1"/>
          </p:cNvPicPr>
          <p:nvPr>
            <p:ph type="pic" sz="quarter" idx="25"/>
          </p:nvPr>
        </p:nvPicPr>
        <p:blipFill>
          <a:blip r:embed="rId1"/>
          <a:srcRect t="349" b="349"/>
          <a:stretch>
            <a:fillRect/>
          </a:stretch>
        </p:blipFill>
        <p:spPr>
          <a:xfrm>
            <a:off x="0" y="1"/>
            <a:ext cx="12192000" cy="6858000"/>
          </a:xfrm>
          <a:prstGeom prst="rect">
            <a:avLst/>
          </a:prstGeom>
        </p:spPr>
      </p:pic>
      <p:sp>
        <p:nvSpPr>
          <p:cNvPr id="3" name="AutoShape 3"/>
          <p:cNvSpPr>
            <a:spLocks noGrp="1"/>
          </p:cNvSpPr>
          <p:nvPr>
            <p:ph type="body" sz="quarter" idx="26" hasCustomPrompt="1"/>
          </p:nvPr>
        </p:nvSpPr>
        <p:spPr>
          <a:prstGeom prst="rect">
            <a:avLst/>
          </a:prstGeom>
        </p:spPr>
        <p:txBody>
          <a:bodyPr wrap="square" lIns="91440" tIns="45720" rIns="91440" bIns="45720" anchor="ctr">
            <a:noAutofit/>
          </a:bodyPr>
          <a:lstStyle>
            <a:lvl1pPr algn="l">
              <a:lnSpc>
                <a:spcPct val="92000"/>
              </a:lnSpc>
              <a:defRPr sz="4400" b="1" i="0" u="none" strike="noStrike" spc="0">
                <a:solidFill>
                  <a:srgbClr val="44546A">
                    <a:alpha val="100000"/>
                  </a:srgbClr>
                </a:solidFill>
                <a:latin typeface="微软雅黑" panose="020B0503020204020204" charset="-122"/>
              </a:defRPr>
            </a:lvl1pPr>
          </a:lstStyle>
          <a:p>
            <a:pPr indent="0" algn="l">
              <a:lnSpc>
                <a:spcPct val="92000"/>
              </a:lnSpc>
            </a:pPr>
            <a:r>
              <a:rPr sz="4400">
                <a:latin typeface="微软雅黑" panose="020B0503020204020204" charset="-122"/>
              </a:rPr>
              <a:t>Systèmes de Calcul Intelligent Fondements Logiciels et Matériels</a:t>
            </a:r>
            <a:endParaRPr lang="en-US" b="1" i="0" u="none" strike="noStrike">
              <a:solidFill>
                <a:srgbClr val="44546A"/>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pSp>
        <p:nvGrpSpPr>
          <p:cNvPr id="4" name="Group 4"/>
          <p:cNvGrpSpPr/>
          <p:nvPr/>
        </p:nvGrpSpPr>
        <p:grpSpPr>
          <a:xfrm>
            <a:off x="364100" y="6255612"/>
            <a:ext cx="409904" cy="409904"/>
            <a:chOff x="364100" y="6255612"/>
            <a:chExt cx="409904" cy="409904"/>
          </a:xfrm>
        </p:grpSpPr>
        <p:sp>
          <p:nvSpPr>
            <p:cNvPr id="5" name="AutoShape 5"/>
            <p:cNvSpPr/>
            <p:nvPr/>
          </p:nvSpPr>
          <p:spPr>
            <a:xfrm>
              <a:off x="364100" y="6255612"/>
              <a:ext cx="409904" cy="409904"/>
            </a:xfrm>
            <a:prstGeom prst="ellipse">
              <a:avLst/>
            </a:prstGeom>
            <a:solidFill>
              <a:srgbClr val="ED7D31">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6" name="AutoShape 6"/>
            <p:cNvSpPr/>
            <p:nvPr/>
          </p:nvSpPr>
          <p:spPr>
            <a:xfrm>
              <a:off x="505546" y="6397058"/>
              <a:ext cx="127012" cy="127012"/>
            </a:xfrm>
            <a:prstGeom prst="chevron">
              <a:avLst>
                <a:gd name="adj" fmla="val 50000"/>
              </a:avLst>
            </a:prstGeom>
            <a:solidFill>
              <a:srgbClr val="DAE3F3">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grpSp>
      <p:grpSp>
        <p:nvGrpSpPr>
          <p:cNvPr id="7" name="Group 7"/>
          <p:cNvGrpSpPr/>
          <p:nvPr/>
        </p:nvGrpSpPr>
        <p:grpSpPr>
          <a:xfrm>
            <a:off x="9247450" y="217531"/>
            <a:ext cx="2580450" cy="547850"/>
            <a:chOff x="9247450" y="217531"/>
            <a:chExt cx="2580450" cy="547850"/>
          </a:xfrm>
        </p:grpSpPr>
        <p:pic>
          <p:nvPicPr>
            <p:cNvPr id="8" name="Picture 8"/>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9" name="Picture 9"/>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pic>
        <p:nvPicPr>
          <p:cNvPr id="10" name="图片 9" descr="/Users/jieran/Library/Containers/com.kingsoft.wpsoffice.mac/Data/tmp/picturecompress_20260414165320/output_1.pngoutput_1"/>
          <p:cNvPicPr>
            <a:picLocks noChangeAspect="1"/>
          </p:cNvPicPr>
          <p:nvPr/>
        </p:nvPicPr>
        <p:blipFill>
          <a:blip r:embed="rId4"/>
          <a:stretch>
            <a:fillRect/>
          </a:stretch>
        </p:blipFill>
        <p:spPr>
          <a:xfrm>
            <a:off x="8110855" y="296545"/>
            <a:ext cx="927735" cy="3867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400" b="0" i="0" u="none" strike="noStrike" spc="0">
                <a:solidFill>
                  <a:srgbClr val="262626">
                    <a:alpha val="100000"/>
                  </a:srgbClr>
                </a:solidFill>
                <a:latin typeface="Chinese Quote"/>
              </a:defRPr>
            </a:lvl1pPr>
          </a:lstStyle>
          <a:p>
            <a:pPr indent="0" algn="ctr">
              <a:lnSpc>
                <a:spcPct val="100000"/>
              </a:lnSpc>
              <a:spcBef>
                <a:spcPts val="1500"/>
              </a:spcBef>
            </a:pPr>
            <a:r>
              <a:rPr lang="en-US" sz="5400" b="0" i="0" u="none" strike="noStrike">
                <a:solidFill>
                  <a:srgbClr val="262626"/>
                </a:solidFill>
                <a:latin typeface="Calibri" panose="020F0502020204030204"/>
                <a:ea typeface="Chinese Quote"/>
                <a:cs typeface="Chinese Quote"/>
                <a:sym typeface="Chinese Quote"/>
              </a:rPr>
              <a:t>Leçon 10</a:t>
            </a:r>
            <a:r>
              <a:rPr lang="en-US" sz="54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Mécanisme d'attention</a:t>
            </a:r>
            <a:br>
              <a:rPr lang="en-US" sz="5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54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Principes et besoins en opérateurs</a:t>
            </a:r>
            <a:endParaRPr lang="en-US" sz="54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p:nvPr>
            <p:ph type="body" sz="quarter" idx="6"/>
          </p:nvPr>
        </p:nvSpPr>
        <p:spPr/>
        <p:txBody>
          <a:bodyPr/>
          <a:p>
            <a:endParaRPr lang="zh-CN" altLang="en-US"/>
          </a:p>
        </p:txBody>
      </p:sp>
      <p:sp>
        <p:nvSpPr>
          <p:cNvPr id="3" name="文本占位符 2"/>
          <p:cNvSpPr/>
          <p:nvPr>
            <p:ph type="body" sz="quarter" idx="7"/>
          </p:nvPr>
        </p:nvSpPr>
        <p:spPr/>
        <p:txBody>
          <a:bodyPr/>
          <a:p>
            <a:r>
              <a:rPr lang="en-US" altLang="zh-CN"/>
              <a:t>https://aclanthology.org/2021.emnlp-main.446/</a:t>
            </a:r>
            <a:endParaRPr lang="en-US" altLang="zh-CN"/>
          </a:p>
        </p:txBody>
      </p:sp>
      <p:sp>
        <p:nvSpPr>
          <p:cNvPr id="4" name="文本占位符 3"/>
          <p:cNvSpPr/>
          <p:nvPr>
            <p:ph type="body" sz="quarter" idx="8"/>
          </p:nvPr>
        </p:nvSpPr>
        <p:spPr/>
        <p:txBody>
          <a:bodyPr/>
          <a:p>
            <a:endParaRPr lang="zh-CN" altLang="en-US"/>
          </a:p>
        </p:txBody>
      </p:sp>
      <p:sp>
        <p:nvSpPr>
          <p:cNvPr id="5" name="文本占位符 4"/>
          <p:cNvSpPr/>
          <p:nvPr>
            <p:ph type="body" sz="quarter" idx="9"/>
          </p:nvPr>
        </p:nvSpPr>
        <p:spPr/>
        <p:txBody>
          <a:bodyPr/>
          <a:p>
            <a:endParaRPr lang="zh-CN" altLang="en-US"/>
          </a:p>
        </p:txBody>
      </p:sp>
      <p:pic>
        <p:nvPicPr>
          <p:cNvPr id="6" name="图片 5"/>
          <p:cNvPicPr>
            <a:picLocks noChangeAspect="1"/>
          </p:cNvPicPr>
          <p:nvPr/>
        </p:nvPicPr>
        <p:blipFill>
          <a:blip r:embed="rId1"/>
          <a:stretch>
            <a:fillRect/>
          </a:stretch>
        </p:blipFill>
        <p:spPr>
          <a:xfrm>
            <a:off x="523875" y="1187450"/>
            <a:ext cx="11367135" cy="49898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1020445" y="3408045"/>
            <a:ext cx="7472045" cy="3313430"/>
          </a:xfrm>
          <a:prstGeom prst="rect">
            <a:avLst/>
          </a:prstGeom>
          <a:ln w="12700">
            <a:noFill/>
            <a:prstDash val="solid"/>
          </a:ln>
        </p:spPr>
      </p:pic>
      <p:sp>
        <p:nvSpPr>
          <p:cNvPr id="3" name="AutoShape 3"/>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De</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RNN </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à</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Transformer</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Années</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1980</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 RNN</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Serial Order: a parallel distributed processing approach</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1997 – LSTM</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(réseau de mémoire à court et long termes)</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2014 – GRU</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(traduction automatique neuronale par apprentissage conjoint de l'alignement et de la traduction)</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2017 – Transformer</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Attention is All You Need</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Aper</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ç</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u de l’architecture Transformer</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b="0" i="0" u="none" strike="noStrike">
                <a:solidFill>
                  <a:srgbClr val="A5A5A5"/>
                </a:solidFill>
                <a:latin typeface="Calibri" panose="020F0502020204030204"/>
                <a:ea typeface="Garamond" panose="02020404030301010803"/>
                <a:cs typeface="Garamond" panose="02020404030301010803"/>
                <a:sym typeface="Garamond" panose="02020404030301010803"/>
              </a:rPr>
              <a:t>Vaswani, Ashish, et al. "Attention is all you need." Advances in neural information processing systems 30 (2017). </a:t>
            </a:r>
            <a:endParaRPr lang="en-US" b="0" i="0" u="none" strike="noStrike">
              <a:solidFill>
                <a:srgbClr val="A5A5A5"/>
              </a:solidFill>
              <a:latin typeface="Calibri" panose="020F0502020204030204"/>
              <a:ea typeface="Garamond" panose="02020404030301010803"/>
              <a:cs typeface="Garamond" panose="02020404030301010803"/>
              <a:sym typeface="Garamond" panose="02020404030301010803"/>
            </a:endParaRPr>
          </a:p>
          <a:p>
            <a:pPr indent="0" algn="l">
              <a:lnSpc>
                <a:spcPct val="100000"/>
              </a:lnSpc>
            </a:pPr>
            <a:r>
              <a:rPr lang="en-US" b="0" i="0" u="none" strike="noStrike">
                <a:solidFill>
                  <a:srgbClr val="A5A5A5"/>
                </a:solidFill>
                <a:latin typeface="Calibri" panose="020F0502020204030204"/>
                <a:ea typeface="Garamond" panose="02020404030301010803"/>
                <a:cs typeface="Garamond" panose="02020404030301010803"/>
                <a:sym typeface="Garamond" panose="02020404030301010803"/>
              </a:rPr>
              <a:t>https://jalammar.github.io/illustrated-transformer/</a:t>
            </a:r>
            <a:endParaRPr lang="en-US"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Aperçu général</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98345" y="1858493"/>
            <a:ext cx="4936812" cy="1073917"/>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527319" y="3123832"/>
            <a:ext cx="4375458" cy="2762416"/>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6009629" y="1494430"/>
            <a:ext cx="5930002" cy="4175206"/>
          </a:xfrm>
          <a:prstGeom prst="rect">
            <a:avLst/>
          </a:prstGeom>
          <a:ln w="12700">
            <a:noFill/>
            <a:prstDash val="solid"/>
          </a:ln>
        </p:spPr>
      </p:pic>
      <p:sp>
        <p:nvSpPr>
          <p:cNvPr id="10" name="文本占位符 9"/>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87581" y="2184823"/>
            <a:ext cx="1000000" cy="733333"/>
          </a:xfrm>
          <a:prstGeom prst="rect">
            <a:avLst/>
          </a:prstGeom>
          <a:ln w="12700">
            <a:noFill/>
            <a:prstDash val="solid"/>
          </a:ln>
        </p:spPr>
      </p:pic>
      <p:sp>
        <p:nvSpPr>
          <p:cNvPr id="3" name="AutoShape 3"/>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Qu'est-ce que l'attention</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(1/4)</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L'attention est un concept largement étudié, généralement étudié en lien avec l'éveil, la vigilance et le degré d'engagement envers l'environnement.</a:t>
            </a:r>
            <a:endParaRPr 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192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2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2"/>
          <a:srcRect/>
          <a:stretch>
            <a:fillRect/>
          </a:stretch>
        </p:blipFill>
        <p:spPr>
          <a:xfrm>
            <a:off x="8021657" y="3306385"/>
            <a:ext cx="4020417" cy="2870578"/>
          </a:xfrm>
          <a:prstGeom prst="rect">
            <a:avLst/>
          </a:prstGeom>
          <a:ln w="12700">
            <a:noFill/>
            <a:prstDash val="solid"/>
          </a:ln>
        </p:spPr>
      </p:pic>
      <p:sp>
        <p:nvSpPr>
          <p:cNvPr id="8" name="AutoShape 8"/>
          <p:cNvSpPr/>
          <p:nvPr/>
        </p:nvSpPr>
        <p:spPr>
          <a:xfrm>
            <a:off x="949776" y="2287345"/>
            <a:ext cx="9573492" cy="92333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425" b="0" i="1" u="none" strike="noStrike">
                <a:solidFill>
                  <a:srgbClr val="555555"/>
                </a:solidFill>
                <a:latin typeface="Calibri" panose="020F0502020204030204"/>
                <a:ea typeface="微软雅黑" panose="020B0503020204020204" charset="-122"/>
                <a:cs typeface="微软雅黑" panose="020B0503020204020204" charset="-122"/>
                <a:sym typeface="微软雅黑" panose="020B0503020204020204" charset="-122"/>
              </a:rPr>
              <a:t>Dans sa forme la plus générale, l'attention peut être décrite comme un niveau global de vigilance ou une capacité d'engagement envers l'environnement.</a:t>
            </a:r>
            <a:endParaRPr lang="en-US" sz="1100"/>
          </a:p>
          <a:p>
            <a:pPr indent="0" algn="r">
              <a:lnSpc>
                <a:spcPct val="100000"/>
              </a:lnSpc>
            </a:pPr>
            <a:r>
              <a:rPr lang="en-US" sz="1425" b="0" i="1" u="none" strike="noStrike">
                <a:solidFill>
                  <a:srgbClr val="555555"/>
                </a:solidFill>
                <a:latin typeface="Helvetica Neue" panose="02000503000000020004"/>
                <a:ea typeface="Helvetica Neue" panose="02000503000000020004"/>
                <a:cs typeface="Helvetica Neue" panose="02000503000000020004"/>
                <a:sym typeface="Helvetica Neue" panose="02000503000000020004"/>
              </a:rPr>
              <a:t>– </a:t>
            </a:r>
            <a:r>
              <a:rPr lang="en-US" sz="1425" b="0" i="1" u="none" strike="noStrike">
                <a:solidFill>
                  <a:srgbClr val="428BCA"/>
                </a:solidFill>
                <a:latin typeface="Calibri" panose="020F0502020204030204"/>
                <a:ea typeface="微软雅黑" panose="020B0503020204020204" charset="-122"/>
                <a:cs typeface="微软雅黑" panose="020B0503020204020204" charset="-122"/>
                <a:sym typeface="微软雅黑" panose="020B0503020204020204" charset="-122"/>
                <a:hlinkClick r:id="rId3" tooltip="https://www.frontiersin.org/articles/10.3389/fncom.2020.00029/full"/>
              </a:rPr>
              <a:t>« L'attention en psychologie, neuroscience et apprentissage automatique »</a:t>
            </a:r>
            <a:r>
              <a:rPr lang="en-US" sz="1425" b="0" i="1" u="none" strike="noStrike">
                <a:solidFill>
                  <a:srgbClr val="555555"/>
                </a:solidFill>
                <a:latin typeface="Helvetica Neue" panose="02000503000000020004"/>
                <a:ea typeface="Helvetica Neue" panose="02000503000000020004"/>
                <a:cs typeface="Helvetica Neue" panose="02000503000000020004"/>
                <a:sym typeface="Helvetica Neue" panose="02000503000000020004"/>
              </a:rPr>
              <a:t>, 2020.</a:t>
            </a:r>
            <a:endParaRPr lang="en-US" sz="1425" b="0" i="1" u="none" strike="noStrike">
              <a:solidFill>
                <a:srgbClr val="555555"/>
              </a:solidFill>
              <a:latin typeface="Helvetica Neue" panose="02000503000000020004"/>
              <a:ea typeface="Helvetica Neue" panose="02000503000000020004"/>
              <a:cs typeface="Helvetica Neue" panose="02000503000000020004"/>
              <a:sym typeface="Helvetica Neue" panose="02000503000000020004"/>
            </a:endParaRPr>
          </a:p>
        </p:txBody>
      </p:sp>
      <p:pic>
        <p:nvPicPr>
          <p:cNvPr id="9" name="Picture 9"/>
          <p:cNvPicPr>
            <a:picLocks noChangeAspect="1"/>
          </p:cNvPicPr>
          <p:nvPr/>
        </p:nvPicPr>
        <p:blipFill>
          <a:blip r:embed="rId1"/>
          <a:srcRect/>
          <a:stretch>
            <a:fillRect/>
          </a:stretch>
        </p:blipFill>
        <p:spPr>
          <a:xfrm>
            <a:off x="73726" y="3141663"/>
            <a:ext cx="1000000" cy="733333"/>
          </a:xfrm>
          <a:prstGeom prst="rect">
            <a:avLst/>
          </a:prstGeom>
          <a:ln w="12700">
            <a:noFill/>
            <a:prstDash val="solid"/>
          </a:ln>
        </p:spPr>
      </p:pic>
      <p:sp>
        <p:nvSpPr>
          <p:cNvPr id="10" name="AutoShape 10"/>
          <p:cNvSpPr/>
          <p:nvPr/>
        </p:nvSpPr>
        <p:spPr>
          <a:xfrm>
            <a:off x="942975" y="3314641"/>
            <a:ext cx="6962776" cy="2585323"/>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165" b="0" i="1" u="none" strike="noStrike">
                <a:solidFill>
                  <a:srgbClr val="555555"/>
                </a:solidFill>
                <a:latin typeface="Calibri" panose="020F0502020204030204"/>
                <a:ea typeface="微软雅黑" panose="020B0503020204020204" charset="-122"/>
                <a:cs typeface="微软雅黑" panose="020B0503020204020204" charset="-122"/>
                <a:sym typeface="微软雅黑" panose="020B0503020204020204" charset="-122"/>
              </a:rPr>
              <a:t>Les neurones des stades les plus précoces s'accordent aux attributs visuels simples, tels que le contraste de luminosité, l'antagonisme des couleurs, l'orientation, la direction et la vitesse du mouvement, ou la disparité stéréoscopique à plusieurs échelles spatiales. Au fur et à mesure de la progression des zones visuelles de bas niveau vers les zones de haut niveau, l'accord neuronal devient de plus en plus spécialisé, de sorte que les zones visuelles supérieures contiennent des neurones qui ne répondent qu'aux coins ou aux jonctions, aux indices de forme clair-sombre ou aux vues d'objets réels spécifiques.</a:t>
            </a:r>
            <a:endParaRPr lang="en-US" sz="1100"/>
          </a:p>
          <a:p>
            <a:pPr indent="0" algn="r">
              <a:lnSpc>
                <a:spcPct val="100000"/>
              </a:lnSpc>
            </a:pPr>
            <a:r>
              <a:rPr lang="en-US" sz="1165" b="0" i="1" u="none" strike="noStrike">
                <a:solidFill>
                  <a:srgbClr val="555555"/>
                </a:solidFill>
                <a:latin typeface="Helvetica Neue" panose="02000503000000020004"/>
                <a:ea typeface="Helvetica Neue" panose="02000503000000020004"/>
                <a:cs typeface="Helvetica Neue" panose="02000503000000020004"/>
                <a:sym typeface="Helvetica Neue" panose="02000503000000020004"/>
              </a:rPr>
              <a:t>– </a:t>
            </a:r>
            <a:r>
              <a:rPr lang="en-US" sz="1165" b="0" i="1" u="none" strike="noStrike">
                <a:solidFill>
                  <a:srgbClr val="428BCA"/>
                </a:solidFill>
                <a:latin typeface="Calibri" panose="020F0502020204030204"/>
                <a:ea typeface="微软雅黑" panose="020B0503020204020204" charset="-122"/>
                <a:cs typeface="微软雅黑" panose="020B0503020204020204" charset="-122"/>
                <a:sym typeface="微软雅黑" panose="020B0503020204020204" charset="-122"/>
                <a:hlinkClick r:id="rId4" tooltip="https://authors.library.caltech.edu/40408/1/391.pdf"/>
              </a:rPr>
              <a:t>« Modélisation computationnelle de l'attention visuelle »</a:t>
            </a:r>
            <a:r>
              <a:rPr lang="en-US" sz="1165" b="0" i="1" u="none" strike="noStrike">
                <a:solidFill>
                  <a:srgbClr val="555555"/>
                </a:solidFill>
                <a:latin typeface="Helvetica Neue" panose="02000503000000020004"/>
                <a:ea typeface="Helvetica Neue" panose="02000503000000020004"/>
                <a:cs typeface="Helvetica Neue" panose="02000503000000020004"/>
                <a:sym typeface="Helvetica Neue" panose="02000503000000020004"/>
              </a:rPr>
              <a:t>, 2001.</a:t>
            </a:r>
            <a:endParaRPr lang="en-US" sz="1165" b="0" i="1" u="none" strike="noStrike">
              <a:solidFill>
                <a:srgbClr val="555555"/>
              </a:solidFill>
              <a:latin typeface="Helvetica Neue" panose="02000503000000020004"/>
              <a:ea typeface="Helvetica Neue" panose="02000503000000020004"/>
              <a:cs typeface="Helvetica Neue" panose="02000503000000020004"/>
              <a:sym typeface="Helvetica Neue" panose="02000503000000020004"/>
            </a:endParaRPr>
          </a:p>
        </p:txBody>
      </p:sp>
      <p:sp>
        <p:nvSpPr>
          <p:cNvPr id="12" name="文本占位符 11"/>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Qu'est-ce que l'attention</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(2/4)</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11278235"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canisme d'attention de Bahdanau</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2014</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L'essor de l'attention</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Introduit pour la traduction automatique neuronale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apprentissage conjoint de l'alignement et de la traduction</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m</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canisme d'attention de Luong</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2015</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Amélioration de l'efficacité</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Introduction de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l'attention globale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simplification et amélioration de la méthode de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Bahdanau</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302201" y="3607742"/>
            <a:ext cx="5696817" cy="2760642"/>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231182" y="3581985"/>
            <a:ext cx="5338127" cy="2684672"/>
          </a:xfrm>
          <a:prstGeom prst="rect">
            <a:avLst/>
          </a:prstGeom>
          <a:ln w="12700">
            <a:noFill/>
            <a:prstDash val="solid"/>
          </a:ln>
        </p:spPr>
      </p:pic>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Qu'est-ce que l'attention</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(3/4)</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11344910"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rPr>
              <a:t>Transformer</a:t>
            </a:r>
            <a:r>
              <a:rPr 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rPr>
              <a:t>2017</a:t>
            </a:r>
            <a:r>
              <a:rPr 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rPr>
              <a:t>- Attention Is All You Need</a:t>
            </a:r>
            <a:endPar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Abandonne </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compl</a:t>
            </a:r>
            <a:r>
              <a:rPr lang="en-US" alt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tement</a:t>
            </a: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recurrences (</a:t>
            </a:r>
            <a:r>
              <a:rPr lang="en-US" sz="1750" b="0" i="0" u="none" strike="noStrike">
                <a:solidFill>
                  <a:srgbClr val="404040"/>
                </a:solidFill>
                <a:latin typeface="Calibri" panose="020F0502020204030204"/>
                <a:ea typeface="Calibri" panose="020F0502020204030204"/>
                <a:cs typeface="Calibri" panose="020F0502020204030204"/>
                <a:sym typeface="Calibri" panose="020F0502020204030204"/>
              </a:rPr>
              <a:t>RNN</a:t>
            </a: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les convolutions (</a:t>
            </a:r>
            <a:r>
              <a:rPr lang="en-US" sz="1750" b="0" i="0" u="none" strike="noStrike">
                <a:solidFill>
                  <a:srgbClr val="404040"/>
                </a:solidFill>
                <a:latin typeface="Calibri" panose="020F0502020204030204"/>
                <a:ea typeface="Calibri" panose="020F0502020204030204"/>
                <a:cs typeface="Calibri" panose="020F0502020204030204"/>
                <a:sym typeface="Calibri" panose="020F0502020204030204"/>
              </a:rPr>
              <a:t>CNN</a:t>
            </a: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s'appuie uniquement sur le </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
            </a:r>
            <a:r>
              <a:rPr lang="en-US" alt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canisme </a:t>
            </a: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d'attention</a:t>
            </a:r>
            <a:endPar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Auto-attention</a:t>
            </a:r>
            <a:endParaRPr 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Attention </a:t>
            </a:r>
            <a:r>
              <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multi-t</a:t>
            </a:r>
            <a:r>
              <a:rPr lang="en-US" alt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tes</a:t>
            </a:r>
            <a:endPar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Attention </a:t>
            </a:r>
            <a:r>
              <a:rPr lang="en-US" alt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parse</a:t>
            </a:r>
            <a:endPar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175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75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14375" y="4479426"/>
            <a:ext cx="3220436" cy="2238969"/>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4393139" y="4586472"/>
            <a:ext cx="3850198" cy="2024875"/>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8703183" y="4555606"/>
            <a:ext cx="3098292" cy="2086605"/>
          </a:xfrm>
          <a:prstGeom prst="rect">
            <a:avLst/>
          </a:prstGeom>
          <a:ln w="12700">
            <a:noFill/>
            <a:prstDash val="solid"/>
          </a:ln>
        </p:spPr>
      </p:pic>
      <p:pic>
        <p:nvPicPr>
          <p:cNvPr id="9" name="Picture 9"/>
          <p:cNvPicPr>
            <a:picLocks noChangeAspect="1"/>
          </p:cNvPicPr>
          <p:nvPr/>
        </p:nvPicPr>
        <p:blipFill>
          <a:blip r:embed="rId4"/>
          <a:srcRect/>
          <a:stretch>
            <a:fillRect/>
          </a:stretch>
        </p:blipFill>
        <p:spPr>
          <a:xfrm>
            <a:off x="4017938" y="2495787"/>
            <a:ext cx="7090209" cy="1722921"/>
          </a:xfrm>
          <a:prstGeom prst="rect">
            <a:avLst/>
          </a:prstGeom>
          <a:ln w="12700">
            <a:noFill/>
            <a:prstDash val="solid"/>
          </a:ln>
        </p:spPr>
      </p:pic>
      <p:sp>
        <p:nvSpPr>
          <p:cNvPr id="11" name="文本占位符 10"/>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Qu'est-ce que l'attention</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(4/4)</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Attention</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Exemple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280" b="0" i="0" u="none" strike="noStrike">
                <a:solidFill>
                  <a:srgbClr val="A5A5A5"/>
                </a:solidFill>
                <a:latin typeface="Calibri" panose="020F0502020204030204"/>
                <a:ea typeface="Garamond" panose="02020404030301010803"/>
                <a:cs typeface="Garamond" panose="02020404030301010803"/>
                <a:sym typeface="Garamond" panose="02020404030301010803"/>
              </a:rPr>
              <a:t>https://medium.com/@funcry/in-depth-understanding-of-attention-mechanism-part-ii-scaled-dot-product-attention-and-its-7743804e610e</a:t>
            </a:r>
            <a:endParaRPr lang="en-US" sz="128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6" name="AutoShape 6"/>
          <p:cNvSpPr>
            <a:spLocks noGrp="1"/>
          </p:cNvSpPr>
          <p:nvPr>
            <p:ph type="body" sz="quarter" idx="14"/>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7" name="Picture 7"/>
          <p:cNvPicPr>
            <a:picLocks noChangeAspect="1"/>
          </p:cNvPicPr>
          <p:nvPr/>
        </p:nvPicPr>
        <p:blipFill>
          <a:blip r:embed="rId1"/>
          <a:srcRect/>
          <a:stretch>
            <a:fillRect/>
          </a:stretch>
        </p:blipFill>
        <p:spPr>
          <a:xfrm>
            <a:off x="1144990" y="1924641"/>
            <a:ext cx="3897858" cy="540132"/>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2796295" y="2656195"/>
            <a:ext cx="1046331" cy="659157"/>
          </a:xfrm>
          <a:prstGeom prst="rect">
            <a:avLst/>
          </a:prstGeom>
          <a:ln w="12700">
            <a:noFill/>
            <a:prstDash val="solid"/>
          </a:ln>
        </p:spPr>
      </p:pic>
      <p:pic>
        <p:nvPicPr>
          <p:cNvPr id="9" name="Picture 9"/>
          <p:cNvPicPr>
            <a:picLocks noChangeAspect="1"/>
          </p:cNvPicPr>
          <p:nvPr/>
        </p:nvPicPr>
        <p:blipFill>
          <a:blip r:embed="rId1"/>
          <a:srcRect l="53793" r="22986"/>
          <a:stretch>
            <a:fillRect/>
          </a:stretch>
        </p:blipFill>
        <p:spPr>
          <a:xfrm>
            <a:off x="1464857" y="2656195"/>
            <a:ext cx="924353" cy="551619"/>
          </a:xfrm>
          <a:prstGeom prst="rect">
            <a:avLst/>
          </a:prstGeom>
          <a:ln w="12700">
            <a:noFill/>
            <a:prstDash val="solid"/>
          </a:ln>
        </p:spPr>
      </p:pic>
      <p:grpSp>
        <p:nvGrpSpPr>
          <p:cNvPr id="10" name="Group 10"/>
          <p:cNvGrpSpPr/>
          <p:nvPr/>
        </p:nvGrpSpPr>
        <p:grpSpPr>
          <a:xfrm>
            <a:off x="2463804" y="2782247"/>
            <a:ext cx="237244" cy="276999"/>
            <a:chOff x="2463804" y="2782247"/>
            <a:chExt cx="237244" cy="276999"/>
          </a:xfrm>
        </p:grpSpPr>
        <p:pic>
          <p:nvPicPr>
            <p:cNvPr id="11" name="Picture 11"/>
            <p:cNvPicPr>
              <a:picLocks noChangeAspect="1"/>
            </p:cNvPicPr>
            <p:nvPr/>
          </p:nvPicPr>
          <p:blipFill>
            <a:blip r:embed="rId3"/>
            <a:stretch>
              <a:fillRect/>
            </a:stretch>
          </p:blipFill>
          <p:spPr>
            <a:xfrm>
              <a:off x="2463804" y="2782247"/>
              <a:ext cx="237244" cy="276999"/>
            </a:xfrm>
            <a:prstGeom prst="rect">
              <a:avLst/>
            </a:prstGeom>
            <a:ln w="25400">
              <a:noFill/>
              <a:prstDash val="solid"/>
            </a:ln>
          </p:spPr>
        </p:pic>
        <p:sp>
          <p:nvSpPr>
            <p:cNvPr id="12" name="AutoShape 12"/>
            <p:cNvSpPr/>
            <p:nvPr/>
          </p:nvSpPr>
          <p:spPr>
            <a:xfrm>
              <a:off x="2463804" y="2782247"/>
              <a:ext cx="237244" cy="276999"/>
            </a:xfrm>
            <a:prstGeom prst="rect">
              <a:avLst/>
            </a:prstGeom>
            <a:noFill/>
            <a:ln w="254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1F2329"/>
                  </a:solidFill>
                  <a:latin typeface="Calibri" panose="020F0502020204030204"/>
                  <a:ea typeface="Arial" panose="020B0604020202020204"/>
                  <a:cs typeface="Arial" panose="020B0604020202020204"/>
                  <a:sym typeface="Arial" panose="020B0604020202020204"/>
                </a:rPr>
                <a:t> </a:t>
              </a:r>
              <a:endParaRPr lang="en-US" sz="1100"/>
            </a:p>
          </p:txBody>
        </p:sp>
      </p:grpSp>
      <p:pic>
        <p:nvPicPr>
          <p:cNvPr id="13" name="Picture 13"/>
          <p:cNvPicPr>
            <a:picLocks noChangeAspect="1"/>
          </p:cNvPicPr>
          <p:nvPr/>
        </p:nvPicPr>
        <p:blipFill>
          <a:blip r:embed="rId4"/>
          <a:srcRect/>
          <a:stretch>
            <a:fillRect/>
          </a:stretch>
        </p:blipFill>
        <p:spPr>
          <a:xfrm>
            <a:off x="1436875" y="4698696"/>
            <a:ext cx="3314087" cy="659156"/>
          </a:xfrm>
          <a:prstGeom prst="rect">
            <a:avLst/>
          </a:prstGeom>
          <a:ln w="12700">
            <a:noFill/>
            <a:prstDash val="solid"/>
          </a:ln>
        </p:spPr>
      </p:pic>
      <p:pic>
        <p:nvPicPr>
          <p:cNvPr id="14" name="Picture 14"/>
          <p:cNvPicPr>
            <a:picLocks noChangeAspect="1"/>
          </p:cNvPicPr>
          <p:nvPr/>
        </p:nvPicPr>
        <p:blipFill>
          <a:blip r:embed="rId5"/>
          <a:srcRect/>
          <a:stretch>
            <a:fillRect/>
          </a:stretch>
        </p:blipFill>
        <p:spPr>
          <a:xfrm>
            <a:off x="6022769" y="3750470"/>
            <a:ext cx="1497836" cy="838788"/>
          </a:xfrm>
          <a:prstGeom prst="rect">
            <a:avLst/>
          </a:prstGeom>
          <a:ln w="12700">
            <a:noFill/>
            <a:prstDash val="solid"/>
          </a:ln>
        </p:spPr>
      </p:pic>
      <p:pic>
        <p:nvPicPr>
          <p:cNvPr id="15" name="Picture 15"/>
          <p:cNvPicPr>
            <a:picLocks noChangeAspect="1"/>
          </p:cNvPicPr>
          <p:nvPr/>
        </p:nvPicPr>
        <p:blipFill>
          <a:blip r:embed="rId6"/>
          <a:srcRect/>
          <a:stretch>
            <a:fillRect/>
          </a:stretch>
        </p:blipFill>
        <p:spPr>
          <a:xfrm>
            <a:off x="2153735" y="3776289"/>
            <a:ext cx="2444429" cy="907931"/>
          </a:xfrm>
          <a:prstGeom prst="rect">
            <a:avLst/>
          </a:prstGeom>
          <a:ln w="12700">
            <a:noFill/>
            <a:prstDash val="solid"/>
          </a:ln>
        </p:spPr>
      </p:pic>
      <p:pic>
        <p:nvPicPr>
          <p:cNvPr id="16" name="Picture 16"/>
          <p:cNvPicPr>
            <a:picLocks noChangeAspect="1"/>
          </p:cNvPicPr>
          <p:nvPr/>
        </p:nvPicPr>
        <p:blipFill>
          <a:blip r:embed="rId7"/>
          <a:srcRect/>
          <a:stretch>
            <a:fillRect/>
          </a:stretch>
        </p:blipFill>
        <p:spPr>
          <a:xfrm>
            <a:off x="5423825" y="4725186"/>
            <a:ext cx="5959852" cy="808837"/>
          </a:xfrm>
          <a:prstGeom prst="rect">
            <a:avLst/>
          </a:prstGeom>
          <a:ln w="12700">
            <a:noFill/>
            <a:prstDash val="solid"/>
          </a:ln>
        </p:spPr>
      </p:pic>
      <p:pic>
        <p:nvPicPr>
          <p:cNvPr id="17" name="Picture 17"/>
          <p:cNvPicPr>
            <a:picLocks noChangeAspect="1"/>
          </p:cNvPicPr>
          <p:nvPr/>
        </p:nvPicPr>
        <p:blipFill>
          <a:blip r:embed="rId8"/>
          <a:srcRect/>
          <a:stretch>
            <a:fillRect/>
          </a:stretch>
        </p:blipFill>
        <p:spPr>
          <a:xfrm>
            <a:off x="2261118" y="5471468"/>
            <a:ext cx="2078585" cy="884883"/>
          </a:xfrm>
          <a:prstGeom prst="rect">
            <a:avLst/>
          </a:prstGeom>
          <a:ln w="12700">
            <a:noFill/>
            <a:prstDash val="solid"/>
          </a:ln>
        </p:spPr>
      </p:pic>
      <p:pic>
        <p:nvPicPr>
          <p:cNvPr id="18" name="Picture 18"/>
          <p:cNvPicPr>
            <a:picLocks noChangeAspect="1"/>
          </p:cNvPicPr>
          <p:nvPr/>
        </p:nvPicPr>
        <p:blipFill>
          <a:blip r:embed="rId9"/>
          <a:srcRect/>
          <a:stretch>
            <a:fillRect/>
          </a:stretch>
        </p:blipFill>
        <p:spPr>
          <a:xfrm>
            <a:off x="5793901" y="1113550"/>
            <a:ext cx="6270127" cy="1523641"/>
          </a:xfrm>
          <a:prstGeom prst="rect">
            <a:avLst/>
          </a:prstGeom>
          <a:ln w="12700">
            <a:noFill/>
            <a:prstDash val="solid"/>
          </a:ln>
        </p:spPr>
      </p:pic>
      <p:sp>
        <p:nvSpPr>
          <p:cNvPr id="20" name="文本占位符 19"/>
          <p:cNvSpPr>
            <a:spLocks noGrp="1"/>
          </p:cNvSpPr>
          <p:nvPr>
            <p:ph type="body" sz="quarter" idx="11"/>
          </p:nvPr>
        </p:nvSpPr>
        <p:spPr/>
        <p:txBody>
          <a:bodyPr/>
          <a:lstStyle/>
          <a:p>
            <a:endParaRPr lang="zh-CN" altLang="en-US"/>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Contexte :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Transformer (1/3)</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1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Encodeur</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canisme d'auto-attention</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multi-t</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tes</a:t>
            </a:r>
            <a:endPar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seau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feedforward </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position par position simple</a:t>
            </a:r>
            <a:endPar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Decodeur</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Auto-attention </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masqu</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endPar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Attention encodeur-d</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codeur</a:t>
            </a:r>
            <a:endPar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200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200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seau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feedforward</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7" name="Picture 7"/>
          <p:cNvPicPr>
            <a:picLocks noChangeAspect="1"/>
          </p:cNvPicPr>
          <p:nvPr/>
        </p:nvPicPr>
        <p:blipFill>
          <a:blip r:embed="rId1"/>
          <a:srcRect/>
          <a:stretch>
            <a:fillRect/>
          </a:stretch>
        </p:blipFill>
        <p:spPr>
          <a:xfrm>
            <a:off x="1029128" y="3120022"/>
            <a:ext cx="4464096" cy="2187820"/>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5981704" y="3718825"/>
            <a:ext cx="6001935" cy="1833736"/>
          </a:xfrm>
          <a:prstGeom prst="rect">
            <a:avLst/>
          </a:prstGeom>
          <a:ln w="12700">
            <a:noFill/>
            <a:prstDash val="solid"/>
          </a:ln>
        </p:spPr>
      </p:pic>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Contexte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Transformer (2/3)</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1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Tenseur</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xfrm>
            <a:off x="6210300" y="1132840"/>
            <a:ext cx="5591175" cy="5046980"/>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1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Processus d'encodage</a:t>
            </a:r>
            <a:endParaRPr lang="en-US" sz="21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Chemin de dépendance dans la couche d'auto-attention</a:t>
            </a:r>
            <a:endPar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Chemin indépendant dans la couche </a:t>
            </a: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feedforward</a:t>
            </a:r>
            <a:endPar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7" name="Picture 7"/>
          <p:cNvPicPr>
            <a:picLocks noChangeAspect="1"/>
          </p:cNvPicPr>
          <p:nvPr/>
        </p:nvPicPr>
        <p:blipFill>
          <a:blip r:embed="rId1"/>
          <a:srcRect/>
          <a:stretch>
            <a:fillRect/>
          </a:stretch>
        </p:blipFill>
        <p:spPr>
          <a:xfrm>
            <a:off x="876975" y="1962301"/>
            <a:ext cx="4950619" cy="683505"/>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92349" y="2789538"/>
            <a:ext cx="5289355" cy="3434047"/>
          </a:xfrm>
          <a:prstGeom prst="rect">
            <a:avLst/>
          </a:prstGeom>
          <a:ln w="12700">
            <a:noFill/>
            <a:prstDash val="solid"/>
          </a:ln>
        </p:spPr>
      </p:pic>
      <p:pic>
        <p:nvPicPr>
          <p:cNvPr id="9" name="Picture 9"/>
          <p:cNvPicPr>
            <a:picLocks noChangeAspect="1"/>
          </p:cNvPicPr>
          <p:nvPr/>
        </p:nvPicPr>
        <p:blipFill>
          <a:blip r:embed="rId3"/>
          <a:srcRect/>
          <a:stretch>
            <a:fillRect/>
          </a:stretch>
        </p:blipFill>
        <p:spPr>
          <a:xfrm>
            <a:off x="6288563" y="2845451"/>
            <a:ext cx="5434644" cy="3414222"/>
          </a:xfrm>
          <a:prstGeom prst="rect">
            <a:avLst/>
          </a:prstGeom>
          <a:ln w="12700">
            <a:noFill/>
            <a:prstDash val="solid"/>
          </a:ln>
        </p:spPr>
      </p:pic>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Contexte :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Transformer (3/3)</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Vue d'ensemble de haut niveau du mécanisme d'auto-attention</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animal didn't cross the street because it was too tired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760466" y="2213386"/>
            <a:ext cx="4080775" cy="3792611"/>
          </a:xfrm>
          <a:prstGeom prst="rect">
            <a:avLst/>
          </a:prstGeom>
          <a:ln w="12700">
            <a:noFill/>
            <a:prstDash val="solid"/>
          </a:ln>
        </p:spPr>
      </p:pic>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Matrices Q/K/V </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(1/2)</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4" y="1323975"/>
            <a:ext cx="5638799" cy="4852988"/>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L'auto-attention comme recherche d'informations</a:t>
            </a:r>
            <a:endParaRPr 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Triplet :</a:t>
            </a:r>
            <a:endParaRPr 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 jeton est transformé en trois vecteurs</a:t>
            </a:r>
            <a:endParaRPr lang="en-US" sz="14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Requête (</a:t>
            </a:r>
            <a:r>
              <a:rPr lang="en-US" sz="1495" b="0" i="0" u="none" strike="noStrike">
                <a:solidFill>
                  <a:srgbClr val="404040"/>
                </a:solidFill>
                <a:latin typeface="Calibri" panose="020F0502020204030204"/>
                <a:ea typeface="Calibri" panose="020F0502020204030204"/>
                <a:cs typeface="Calibri" panose="020F0502020204030204"/>
                <a:sym typeface="Calibri" panose="020F0502020204030204"/>
              </a:rPr>
              <a:t>Q</a:t>
            </a:r>
            <a:r>
              <a:rPr lang="en-US" sz="14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149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4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 suis-je en train de chercher ?</a:t>
            </a:r>
            <a:r>
              <a:rPr lang="en-US" sz="149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49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4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Clé (</a:t>
            </a:r>
            <a:r>
              <a:rPr lang="en-US" sz="1495" b="0" i="0" u="none" strike="noStrike">
                <a:solidFill>
                  <a:srgbClr val="404040"/>
                </a:solidFill>
                <a:latin typeface="Calibri" panose="020F0502020204030204"/>
                <a:ea typeface="Calibri" panose="020F0502020204030204"/>
                <a:cs typeface="Calibri" panose="020F0502020204030204"/>
                <a:sym typeface="Calibri" panose="020F0502020204030204"/>
              </a:rPr>
              <a:t>K</a:t>
            </a:r>
            <a:r>
              <a:rPr lang="en-US" sz="14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149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4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Quelle information contiens-je ?</a:t>
            </a:r>
            <a:r>
              <a:rPr lang="en-US" sz="149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49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4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Valeur (</a:t>
            </a:r>
            <a:r>
              <a:rPr lang="en-US" sz="1495" b="0" i="0" u="none" strike="noStrike">
                <a:solidFill>
                  <a:srgbClr val="404040"/>
                </a:solidFill>
                <a:latin typeface="Calibri" panose="020F0502020204030204"/>
                <a:ea typeface="Calibri" panose="020F0502020204030204"/>
                <a:cs typeface="Calibri" panose="020F0502020204030204"/>
                <a:sym typeface="Calibri" panose="020F0502020204030204"/>
              </a:rPr>
              <a:t>V</a:t>
            </a:r>
            <a:r>
              <a:rPr lang="en-US" sz="14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149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4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Quel est le contenu réel que je fournis ?</a:t>
            </a:r>
            <a:r>
              <a:rPr lang="en-US" sz="149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49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Mécanisme :</a:t>
            </a:r>
            <a:endParaRPr 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Similarité : calcul de la compatibilité entre la requête du jeton actuel et les clés de tous les autres jetons.</a:t>
            </a:r>
            <a:endParaRPr lang="en-US" sz="14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Poids : passage des scores par la fonction </a:t>
            </a:r>
            <a:r>
              <a:rPr lang="en-US" sz="1495" b="0" i="0" u="none" strike="noStrike">
                <a:solidFill>
                  <a:srgbClr val="404040"/>
                </a:solidFill>
                <a:latin typeface="Calibri" panose="020F0502020204030204"/>
                <a:ea typeface="Calibri" panose="020F0502020204030204"/>
                <a:cs typeface="Calibri" panose="020F0502020204030204"/>
                <a:sym typeface="Calibri" panose="020F0502020204030204"/>
              </a:rPr>
              <a:t>Softmax</a:t>
            </a:r>
            <a:r>
              <a:rPr lang="en-US" sz="14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pour obtenir les poids d'attention.</a:t>
            </a:r>
            <a:endParaRPr lang="en-US" sz="14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Sortie : la représentation finale est la somme pondérée des valeurs.</a:t>
            </a:r>
            <a:endParaRPr lang="en-US" sz="14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162673" y="1132554"/>
            <a:ext cx="5771277" cy="110057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415482" y="2546513"/>
            <a:ext cx="4838131" cy="1175666"/>
          </a:xfrm>
          <a:prstGeom prst="rect">
            <a:avLst/>
          </a:prstGeom>
          <a:ln w="12700">
            <a:noFill/>
            <a:prstDash val="solid"/>
          </a:ln>
        </p:spPr>
      </p:pic>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Q/K/V </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matrices</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(2/2)</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18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a:t>
            </a:r>
            <a:r>
              <a:rPr lang="en-US" altLang="en-US" sz="18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ation </a:t>
            </a:r>
            <a:r>
              <a:rPr lang="en-US" sz="18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des query, key et value</a:t>
            </a:r>
            <a:endParaRPr lang="en-US" sz="18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Query : L</a:t>
            </a:r>
            <a:r>
              <a:rPr lang="en-US" sz="155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 </a:t>
            </a:r>
            <a:r>
              <a:rPr lang="en-US" sz="1555" b="1" i="0" u="none" strike="noStrike">
                <a:solidFill>
                  <a:srgbClr val="404040"/>
                </a:solidFill>
                <a:latin typeface="Calibri" panose="020F0502020204030204"/>
                <a:ea typeface="Calibri" panose="020F0502020204030204"/>
                <a:cs typeface="Calibri" panose="020F0502020204030204"/>
                <a:sym typeface="Calibri" panose="020F0502020204030204"/>
              </a:rPr>
              <a:t>question</a:t>
            </a:r>
            <a:r>
              <a:rPr lang="en-US" sz="155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55" b="1" i="0" u="none" strike="noStrike">
                <a:solidFill>
                  <a:srgbClr val="404040"/>
                </a:solidFill>
                <a:latin typeface="Calibri" panose="020F0502020204030204"/>
                <a:ea typeface="Calibri" panose="020F0502020204030204"/>
                <a:cs typeface="Calibri" panose="020F0502020204030204"/>
                <a:sym typeface="Calibri" panose="020F0502020204030204"/>
              </a:rPr>
              <a:t> du jeton actuel</a:t>
            </a:r>
            <a:r>
              <a:rPr lang="en-US" sz="1555"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sz="15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interroger tous les autres jetons sur leur pertinence.</a:t>
            </a:r>
            <a:endParaRPr lang="en-US" sz="15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Key : Les informations d'identification de ce jeton</a:t>
            </a:r>
            <a:r>
              <a:rPr lang="en-US" sz="155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1555" b="0" i="0" u="none" strike="noStrike">
                <a:solidFill>
                  <a:srgbClr val="404040"/>
                </a:solidFill>
                <a:latin typeface="Calibri" panose="020F0502020204030204"/>
                <a:ea typeface="Calibri" panose="020F0502020204030204"/>
                <a:cs typeface="Calibri" panose="020F0502020204030204"/>
                <a:sym typeface="Calibri" panose="020F0502020204030204"/>
              </a:rPr>
              <a:t>utilisees pour repondre </a:t>
            </a:r>
            <a:r>
              <a:rPr lang="en-US" altLang="zh-CN" sz="1555">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à</a:t>
            </a:r>
            <a:r>
              <a:rPr lang="en-US" sz="1555" b="0" i="0" u="none" strike="noStrike">
                <a:solidFill>
                  <a:srgbClr val="404040"/>
                </a:solidFill>
                <a:latin typeface="Calibri" panose="020F0502020204030204"/>
                <a:ea typeface="Calibri" panose="020F0502020204030204"/>
                <a:cs typeface="Calibri" panose="020F0502020204030204"/>
                <a:sym typeface="Calibri" panose="020F0502020204030204"/>
              </a:rPr>
              <a:t> cette « </a:t>
            </a:r>
            <a:r>
              <a:rPr lang="en-US" sz="15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question</a:t>
            </a:r>
            <a:r>
              <a:rPr lang="en-US" sz="155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5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Value : Le contenu de ce jeton</a:t>
            </a:r>
            <a:r>
              <a:rPr lang="en-US" sz="155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1555" b="0" i="0" u="none" strike="noStrike">
                <a:solidFill>
                  <a:srgbClr val="404040"/>
                </a:solidFill>
                <a:latin typeface="Calibri" panose="020F0502020204030204"/>
                <a:ea typeface="Calibri" panose="020F0502020204030204"/>
                <a:cs typeface="Calibri" panose="020F0502020204030204"/>
                <a:sym typeface="Calibri" panose="020F0502020204030204"/>
              </a:rPr>
              <a:t>Transmis a la sortie apres ponderation. T</a:t>
            </a:r>
            <a:r>
              <a:rPr lang="en-US" sz="15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ransmis avec ponderation </a:t>
            </a:r>
            <a:r>
              <a:rPr lang="en-US" altLang="zh-CN" sz="15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à</a:t>
            </a:r>
            <a:r>
              <a:rPr lang="en-US" sz="15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 sortie.</a:t>
            </a:r>
            <a:endParaRPr lang="en-US" sz="15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Score et poids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7" name="Picture 7"/>
          <p:cNvPicPr>
            <a:picLocks noChangeAspect="1"/>
          </p:cNvPicPr>
          <p:nvPr/>
        </p:nvPicPr>
        <p:blipFill>
          <a:blip r:embed="rId1"/>
          <a:srcRect/>
          <a:stretch>
            <a:fillRect/>
          </a:stretch>
        </p:blipFill>
        <p:spPr>
          <a:xfrm>
            <a:off x="1030469" y="4018047"/>
            <a:ext cx="4556252" cy="2717076"/>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670099" y="1951583"/>
            <a:ext cx="4671572" cy="4783540"/>
          </a:xfrm>
          <a:prstGeom prst="rect">
            <a:avLst/>
          </a:prstGeom>
          <a:ln w="12700">
            <a:noFill/>
            <a:prstDash val="solid"/>
          </a:ln>
        </p:spPr>
      </p:pic>
      <p:sp>
        <p:nvSpPr>
          <p:cNvPr id="10" name="文本占位符 9"/>
          <p:cNvSpPr>
            <a:spLocks noGrp="1"/>
          </p:cNvSpPr>
          <p:nvPr>
            <p:ph type="body" sz="quarter" idx="11"/>
          </p:nvPr>
        </p:nvSpPr>
        <p:spPr/>
        <p:txBody>
          <a:bodyPr/>
          <a:lstStyle/>
          <a:p>
            <a:endParaRPr lang="zh-CN" altLang="en-US"/>
          </a:p>
        </p:txBody>
      </p:sp>
    </p:spTree>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Pipeline de calcul : </a:t>
            </a:r>
            <a:r>
              <a:rPr lang="en-US" sz="3075" b="0" i="1" u="none" strike="noStrike">
                <a:solidFill>
                  <a:srgbClr val="262626"/>
                </a:solidFill>
                <a:latin typeface="Calibri" panose="020F0502020204030204"/>
                <a:ea typeface="Calibri" panose="020F0502020204030204"/>
                <a:cs typeface="Calibri" panose="020F0502020204030204"/>
                <a:sym typeface="Calibri" panose="020F0502020204030204"/>
              </a:rPr>
              <a:t>Attention(Q, K, V)</a:t>
            </a:r>
            <a:endParaRPr lang="en-US" sz="3075" b="0" i="1"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222222">
                    <a:alpha val="100000"/>
                  </a:srgbClr>
                </a:solidFill>
                <a:latin typeface="微软雅黑" panose="020B0503020204020204" charset="-122"/>
              </a:defRPr>
            </a:lvl1pPr>
          </a:lstStyle>
          <a:p>
            <a:pPr marL="304800" indent="-304800" algn="l">
              <a:lnSpc>
                <a:spcPct val="100000"/>
              </a:lnSpc>
              <a:spcBef>
                <a:spcPts val="1500"/>
              </a:spcBef>
              <a:buClr>
                <a:srgbClr val="222222"/>
              </a:buClr>
              <a:buChar char="•"/>
            </a:pPr>
            <a:r>
              <a:rPr lang="en-US" sz="2160" b="0" i="0" u="none" strike="noStrike">
                <a:solidFill>
                  <a:srgbClr val="222222"/>
                </a:solidFill>
                <a:latin typeface="Calibri" panose="020F0502020204030204"/>
                <a:ea typeface="微软雅黑" panose="020B0503020204020204" charset="-122"/>
                <a:cs typeface="微软雅黑" panose="020B0503020204020204" charset="-122"/>
                <a:sym typeface="微软雅黑" panose="020B0503020204020204" charset="-122"/>
              </a:rPr>
              <a:t>Calcul des matrices query, key et value</a:t>
            </a:r>
            <a:endParaRPr lang="en-US" sz="2160" b="0" i="0" u="none" strike="noStrike">
              <a:solidFill>
                <a:srgbClr val="222222"/>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Score et poids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7" name="Picture 7"/>
          <p:cNvPicPr>
            <a:picLocks noChangeAspect="1"/>
          </p:cNvPicPr>
          <p:nvPr/>
        </p:nvPicPr>
        <p:blipFill>
          <a:blip r:embed="rId1"/>
          <a:srcRect/>
          <a:stretch>
            <a:fillRect/>
          </a:stretch>
        </p:blipFill>
        <p:spPr>
          <a:xfrm>
            <a:off x="1164465" y="1796800"/>
            <a:ext cx="4078406" cy="4711516"/>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663734" y="2975212"/>
            <a:ext cx="4810906" cy="2238089"/>
          </a:xfrm>
          <a:prstGeom prst="rect">
            <a:avLst/>
          </a:prstGeom>
          <a:ln w="12700">
            <a:noFill/>
            <a:prstDash val="solid"/>
          </a:ln>
        </p:spPr>
      </p:pic>
      <p:sp>
        <p:nvSpPr>
          <p:cNvPr id="10" name="文本占位符 9"/>
          <p:cNvSpPr>
            <a:spLocks noGrp="1"/>
          </p:cNvSpPr>
          <p:nvPr>
            <p:ph type="body" sz="quarter" idx="11"/>
          </p:nvPr>
        </p:nvSpPr>
        <p:spPr/>
        <p:txBody>
          <a:bodyPr/>
          <a:lstStyle/>
          <a:p>
            <a:endParaRPr lang="zh-CN" altLang="en-US"/>
          </a:p>
        </p:txBody>
      </p:sp>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955" b="0" i="0" u="none" strike="noStrike">
                <a:solidFill>
                  <a:srgbClr val="262626"/>
                </a:solidFill>
                <a:latin typeface="Calibri" panose="020F0502020204030204"/>
                <a:ea typeface="Calibri" panose="020F0502020204030204"/>
                <a:cs typeface="Calibri" panose="020F0502020204030204"/>
                <a:sym typeface="Calibri" panose="020F0502020204030204"/>
              </a:rPr>
              <a:t>Transformer</a:t>
            </a:r>
            <a:r>
              <a:rPr lang="en-US" sz="295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attention </a:t>
            </a:r>
            <a:r>
              <a:rPr lang="en-US" altLang="zh-CN" sz="295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multi-t</a:t>
            </a:r>
            <a:r>
              <a:rPr lang="en-US" altLang="en-US" sz="295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295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tes</a:t>
            </a:r>
            <a:r>
              <a:rPr lang="en-US" sz="295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(1/2)</a:t>
            </a:r>
            <a:r>
              <a:rPr lang="en-US" sz="2955" b="0" i="0" u="none" strike="noStrike">
                <a:solidFill>
                  <a:srgbClr val="262626"/>
                </a:solidFill>
                <a:latin typeface="Calibri" panose="020F0502020204030204"/>
                <a:ea typeface="Calibri" panose="020F0502020204030204"/>
                <a:cs typeface="Calibri" panose="020F0502020204030204"/>
                <a:sym typeface="Calibri" panose="020F0502020204030204"/>
              </a:rPr>
              <a:t> (1/2)</a:t>
            </a:r>
            <a:endParaRPr lang="en-US" sz="295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1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Attention multi-tetes</a:t>
            </a:r>
            <a:endParaRPr lang="en-US" sz="21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tend </a:t>
            </a:r>
            <a:r>
              <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capacit</a:t>
            </a:r>
            <a:r>
              <a:rPr lang="en-US" alt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 </a:t>
            </a:r>
            <a:r>
              <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 </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a:t>
            </a:r>
            <a:r>
              <a:rPr lang="en-US" alt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à</a:t>
            </a:r>
            <a:r>
              <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se concentrer sur </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diff</a:t>
            </a:r>
            <a:r>
              <a:rPr lang="en-US" alt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rentes </a:t>
            </a:r>
            <a:r>
              <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positions</a:t>
            </a:r>
            <a:endPar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Donne </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à</a:t>
            </a:r>
            <a:r>
              <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 couche d'attention plusieurs </a:t>
            </a:r>
            <a:r>
              <a:rPr lang="en-US" sz="176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sous-espaces de </a:t>
            </a:r>
            <a:r>
              <a:rPr lang="en-US" altLang="zh-CN" sz="1765" b="0" i="0" u="none" strike="noStrike">
                <a:solidFill>
                  <a:srgbClr val="404040"/>
                </a:solidFill>
                <a:latin typeface="Calibri" panose="020F0502020204030204"/>
                <a:ea typeface="Calibri" panose="020F0502020204030204"/>
                <a:cs typeface="Calibri" panose="020F0502020204030204"/>
                <a:sym typeface="Calibri" panose="020F0502020204030204"/>
              </a:rPr>
              <a:t>repr</a:t>
            </a:r>
            <a:r>
              <a:rPr lang="en-US" altLang="en-US" sz="176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65" b="0" i="0" u="none" strike="noStrike">
                <a:solidFill>
                  <a:srgbClr val="404040"/>
                </a:solidFill>
                <a:latin typeface="Calibri" panose="020F0502020204030204"/>
                <a:ea typeface="Calibri" panose="020F0502020204030204"/>
                <a:cs typeface="Calibri" panose="020F0502020204030204"/>
                <a:sym typeface="Calibri" panose="020F0502020204030204"/>
              </a:rPr>
              <a:t>sentation</a:t>
            </a:r>
            <a:r>
              <a:rPr lang="en-US" sz="1765"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76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Compresser ces matrices en une seule matrice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7" name="Picture 7"/>
          <p:cNvPicPr>
            <a:picLocks noChangeAspect="1"/>
          </p:cNvPicPr>
          <p:nvPr/>
        </p:nvPicPr>
        <p:blipFill>
          <a:blip r:embed="rId1"/>
          <a:srcRect/>
          <a:stretch>
            <a:fillRect/>
          </a:stretch>
        </p:blipFill>
        <p:spPr>
          <a:xfrm>
            <a:off x="1033855" y="3253324"/>
            <a:ext cx="4571212" cy="3013334"/>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939887" y="2066935"/>
            <a:ext cx="4031104" cy="1912596"/>
          </a:xfrm>
          <a:prstGeom prst="rect">
            <a:avLst/>
          </a:prstGeom>
          <a:ln w="12700">
            <a:noFill/>
            <a:prstDash val="solid"/>
          </a:ln>
        </p:spPr>
      </p:pic>
      <p:pic>
        <p:nvPicPr>
          <p:cNvPr id="9" name="Picture 9"/>
          <p:cNvPicPr>
            <a:picLocks noChangeAspect="1"/>
          </p:cNvPicPr>
          <p:nvPr/>
        </p:nvPicPr>
        <p:blipFill>
          <a:blip r:embed="rId3"/>
          <a:srcRect/>
          <a:stretch>
            <a:fillRect/>
          </a:stretch>
        </p:blipFill>
        <p:spPr>
          <a:xfrm>
            <a:off x="6620812" y="3965520"/>
            <a:ext cx="4433875" cy="2508197"/>
          </a:xfrm>
          <a:prstGeom prst="rect">
            <a:avLst/>
          </a:prstGeom>
          <a:ln w="12700">
            <a:noFill/>
            <a:prstDash val="solid"/>
          </a:ln>
        </p:spPr>
      </p:pic>
      <p:sp>
        <p:nvSpPr>
          <p:cNvPr id="11" name="文本占位符 10"/>
          <p:cNvSpPr>
            <a:spLocks noGrp="1"/>
          </p:cNvSpPr>
          <p:nvPr>
            <p:ph type="body" sz="quarter" idx="11"/>
          </p:nvPr>
        </p:nvSpPr>
        <p:spPr/>
        <p:txBody>
          <a:bodyPr/>
          <a:lstStyle/>
          <a:p>
            <a:endParaRPr lang="zh-CN" altLang="en-US"/>
          </a:p>
        </p:txBody>
      </p:sp>
    </p:spTree>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Transformer</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attention multi-tête</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(2/2)</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Aperçu de l'attention multi-tête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Exemple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animal didn't cross the street because it was too tired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92060" y="2552132"/>
            <a:ext cx="6070613" cy="3398292"/>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9170350" y="2870107"/>
            <a:ext cx="2807068" cy="2557843"/>
          </a:xfrm>
          <a:prstGeom prst="rect">
            <a:avLst/>
          </a:prstGeom>
          <a:ln w="12700">
            <a:noFill/>
            <a:prstDash val="solid"/>
          </a:ln>
        </p:spPr>
      </p:pic>
      <p:pic>
        <p:nvPicPr>
          <p:cNvPr id="9" name="Picture 9"/>
          <p:cNvPicPr>
            <a:picLocks noChangeAspect="1"/>
          </p:cNvPicPr>
          <p:nvPr/>
        </p:nvPicPr>
        <p:blipFill>
          <a:blip r:embed="rId3"/>
          <a:srcRect/>
          <a:stretch>
            <a:fillRect/>
          </a:stretch>
        </p:blipFill>
        <p:spPr>
          <a:xfrm>
            <a:off x="6157511" y="2895363"/>
            <a:ext cx="3012839" cy="2507329"/>
          </a:xfrm>
          <a:prstGeom prst="rect">
            <a:avLst/>
          </a:prstGeom>
          <a:ln w="12700">
            <a:noFill/>
            <a:prstDash val="solid"/>
          </a:ln>
        </p:spPr>
      </p:pic>
      <p:sp>
        <p:nvSpPr>
          <p:cNvPr id="11" name="文本占位符 10"/>
          <p:cNvSpPr>
            <a:spLocks noGrp="1"/>
          </p:cNvSpPr>
          <p:nvPr>
            <p:ph type="body" sz="quarter" idx="11"/>
          </p:nvPr>
        </p:nvSpPr>
        <p:spPr/>
        <p:txBody>
          <a:bodyPr/>
          <a:lstStyle/>
          <a:p>
            <a:endParaRPr lang="zh-CN" altLang="en-US"/>
          </a:p>
        </p:txBody>
      </p:sp>
    </p:spTree>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Transformer</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encodage positionnel</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(1/2)</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Vecteur d'encodage positionnel</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Ses valeurs suivent un motif spécifique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Exemple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Dimension</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4</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599373" y="2702257"/>
            <a:ext cx="5610924" cy="3077893"/>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328600" y="3056343"/>
            <a:ext cx="5514247" cy="1454241"/>
          </a:xfrm>
          <a:prstGeom prst="rect">
            <a:avLst/>
          </a:prstGeom>
          <a:ln w="12700">
            <a:noFill/>
            <a:prstDash val="solid"/>
          </a:ln>
        </p:spPr>
      </p:pic>
      <p:sp>
        <p:nvSpPr>
          <p:cNvPr id="10" name="文本占位符 9"/>
          <p:cNvSpPr>
            <a:spLocks noGrp="1"/>
          </p:cNvSpPr>
          <p:nvPr>
            <p:ph type="body" sz="quarter" idx="11"/>
          </p:nvPr>
        </p:nvSpPr>
        <p:spPr/>
        <p:txBody>
          <a:bodyPr/>
          <a:lstStyle/>
          <a:p>
            <a:endParaRPr lang="zh-CN" altLang="en-US"/>
          </a:p>
        </p:txBody>
      </p:sp>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Transformer</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encodage positionnel</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(2/2)</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295" b="0" i="0" u="none" strike="noStrike">
                <a:solidFill>
                  <a:srgbClr val="404040"/>
                </a:solidFill>
                <a:latin typeface="Calibri" panose="020F0502020204030204"/>
                <a:ea typeface="Calibri" panose="020F0502020204030204"/>
                <a:cs typeface="Calibri" panose="020F0502020204030204"/>
                <a:sym typeface="Calibri" panose="020F0502020204030204"/>
              </a:rPr>
              <a:t>Tensor2Tensor </a:t>
            </a:r>
            <a:r>
              <a:rPr lang="en-US"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implémentation</a:t>
            </a:r>
            <a:endParaRPr lang="en-US"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915" b="0" i="0" u="none" strike="noStrike">
                <a:solidFill>
                  <a:srgbClr val="404040"/>
                </a:solidFill>
                <a:latin typeface="Calibri" panose="020F0502020204030204"/>
                <a:ea typeface="Calibri" panose="020F0502020204030204"/>
                <a:cs typeface="Calibri" panose="020F0502020204030204"/>
                <a:sym typeface="Calibri" panose="020F0502020204030204"/>
              </a:rPr>
              <a:t>20 </a:t>
            </a:r>
            <a:r>
              <a:rPr lang="en-US" sz="19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mots (lignes), dimension d'embedding</a:t>
            </a:r>
            <a:r>
              <a:rPr lang="en-US" sz="1915" b="0" i="0" u="none" strike="noStrike">
                <a:solidFill>
                  <a:srgbClr val="404040"/>
                </a:solidFill>
                <a:latin typeface="Calibri" panose="020F0502020204030204"/>
                <a:ea typeface="Calibri" panose="020F0502020204030204"/>
                <a:cs typeface="Calibri" panose="020F0502020204030204"/>
                <a:sym typeface="Calibri" panose="020F0502020204030204"/>
              </a:rPr>
              <a:t> 512</a:t>
            </a:r>
            <a:r>
              <a:rPr lang="en-US" sz="19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(colonnes), exemple réel d'encodage positionnel</a:t>
            </a:r>
            <a:endParaRPr lang="en-US" sz="19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13"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295" b="0" i="0" u="none" strike="noStrike">
                <a:solidFill>
                  <a:srgbClr val="A5A5A5"/>
                </a:solidFill>
                <a:latin typeface="Calibri" panose="020F0502020204030204"/>
                <a:ea typeface="Garamond" panose="02020404030301010803"/>
                <a:cs typeface="Garamond" panose="02020404030301010803"/>
                <a:sym typeface="Garamond" panose="02020404030301010803"/>
              </a:rPr>
              <a:t>https://github.com/jalammar/jalammar.github.io/blob/master/notebookes/transformer/transformer_positional_encoding_graph.ipynb</a:t>
            </a:r>
            <a:endParaRPr lang="en-US" sz="1295"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pic>
        <p:nvPicPr>
          <p:cNvPr id="7" name="Picture 7"/>
          <p:cNvPicPr>
            <a:picLocks noChangeAspect="1"/>
          </p:cNvPicPr>
          <p:nvPr/>
        </p:nvPicPr>
        <p:blipFill>
          <a:blip r:embed="rId1"/>
          <a:srcRect/>
          <a:stretch>
            <a:fillRect/>
          </a:stretch>
        </p:blipFill>
        <p:spPr>
          <a:xfrm>
            <a:off x="874579" y="2887046"/>
            <a:ext cx="4431223" cy="3289918"/>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7037828" y="1323977"/>
            <a:ext cx="3761905" cy="819048"/>
          </a:xfrm>
          <a:prstGeom prst="rect">
            <a:avLst/>
          </a:prstGeom>
          <a:ln w="12700">
            <a:noFill/>
            <a:prstDash val="solid"/>
          </a:ln>
        </p:spPr>
      </p:pic>
      <p:pic>
        <p:nvPicPr>
          <p:cNvPr id="9" name="Picture 9"/>
          <p:cNvPicPr>
            <a:picLocks noChangeAspect="1"/>
          </p:cNvPicPr>
          <p:nvPr/>
        </p:nvPicPr>
        <p:blipFill>
          <a:blip r:embed="rId3"/>
          <a:srcRect/>
          <a:stretch>
            <a:fillRect/>
          </a:stretch>
        </p:blipFill>
        <p:spPr>
          <a:xfrm>
            <a:off x="6219822" y="2515862"/>
            <a:ext cx="5809617" cy="3443000"/>
          </a:xfrm>
          <a:prstGeom prst="rect">
            <a:avLst/>
          </a:prstGeom>
          <a:ln w="12700">
            <a:noFill/>
            <a:prstDash val="solid"/>
          </a:ln>
        </p:spPr>
      </p:pic>
      <p:sp>
        <p:nvSpPr>
          <p:cNvPr id="10" name="文本占位符 9"/>
          <p:cNvSpPr>
            <a:spLocks noGrp="1"/>
          </p:cNvSpPr>
          <p:nvPr>
            <p:ph type="body" sz="quarter" idx="11"/>
          </p:nvPr>
        </p:nvSpPr>
        <p:spPr/>
        <p:txBody>
          <a:bodyPr/>
          <a:lstStyle/>
          <a:p>
            <a:endParaRPr lang="zh-CN" altLang="en-US"/>
          </a:p>
        </p:txBody>
      </p:sp>
    </p:spTree>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Transformer</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connexions résiduelles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Connexions résiduelles et normalisation de couche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xfrm>
            <a:off x="6210297" y="1263652"/>
            <a:ext cx="5591177" cy="4856162"/>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300" b="0" i="0" u="none" strike="noStrike">
                <a:solidFill>
                  <a:srgbClr val="404040"/>
                </a:solidFill>
                <a:latin typeface="Calibri" panose="020F0502020204030204"/>
                <a:ea typeface="Calibri" panose="020F0502020204030204"/>
                <a:cs typeface="Calibri" panose="020F0502020204030204"/>
                <a:sym typeface="Calibri" panose="020F0502020204030204"/>
              </a:rPr>
              <a:t>Deux couches empil</a:t>
            </a:r>
            <a:r>
              <a:rPr lang="en-US" alt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300" b="0" i="0" u="none" strike="noStrike">
                <a:solidFill>
                  <a:srgbClr val="404040"/>
                </a:solidFill>
                <a:latin typeface="Calibri" panose="020F0502020204030204"/>
                <a:ea typeface="Calibri" panose="020F0502020204030204"/>
                <a:cs typeface="Calibri" panose="020F0502020204030204"/>
                <a:sym typeface="Calibri" panose="020F0502020204030204"/>
              </a:rPr>
              <a:t>es d'encodeur et de d</a:t>
            </a:r>
            <a:r>
              <a:rPr lang="en-US" alt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300" b="0" i="0" u="none" strike="noStrike">
                <a:solidFill>
                  <a:srgbClr val="404040"/>
                </a:solidFill>
                <a:latin typeface="Calibri" panose="020F0502020204030204"/>
                <a:ea typeface="Calibri" panose="020F0502020204030204"/>
                <a:cs typeface="Calibri" panose="020F0502020204030204"/>
                <a:sym typeface="Calibri" panose="020F0502020204030204"/>
              </a:rPr>
              <a:t>codeur constituent un exemple de Transformer</a:t>
            </a: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7" name="Picture 7"/>
          <p:cNvPicPr>
            <a:picLocks noChangeAspect="1"/>
          </p:cNvPicPr>
          <p:nvPr/>
        </p:nvPicPr>
        <p:blipFill>
          <a:blip r:embed="rId1"/>
          <a:srcRect/>
          <a:stretch>
            <a:fillRect/>
          </a:stretch>
        </p:blipFill>
        <p:spPr>
          <a:xfrm>
            <a:off x="911221" y="2239888"/>
            <a:ext cx="4508957" cy="4003751"/>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5603870" y="2505074"/>
            <a:ext cx="6588130" cy="3738249"/>
          </a:xfrm>
          <a:prstGeom prst="rect">
            <a:avLst/>
          </a:prstGeom>
          <a:ln w="12700">
            <a:noFill/>
            <a:prstDash val="solid"/>
          </a:ln>
        </p:spPr>
      </p:pic>
      <p:sp>
        <p:nvSpPr>
          <p:cNvPr id="10" name="文本占位符 9"/>
          <p:cNvSpPr>
            <a:spLocks noGrp="1"/>
          </p:cNvSpPr>
          <p:nvPr>
            <p:ph type="body" sz="quarter" idx="11"/>
          </p:nvPr>
        </p:nvSpPr>
        <p:spPr/>
        <p:txBody>
          <a:bodyPr/>
          <a:lstStyle/>
          <a:p>
            <a:endParaRPr lang="zh-CN" altLang="en-US"/>
          </a:p>
        </p:txBody>
      </p:sp>
    </p:spTree>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Transformer</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décodeur</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a:spLocks noGrp="1"/>
          </p:cNvSpPr>
          <p:nvPr>
            <p:ph type="body" sz="quarter" idx="12" hasCustomPrompt="1"/>
          </p:nvPr>
        </p:nvSpPr>
        <p:spPr>
          <a:xfrm>
            <a:off x="523873" y="1323976"/>
            <a:ext cx="5572127" cy="4852988"/>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Début du décodage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Jeton de départ : généralement </a:t>
            </a: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[BOS]</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(début de séquence)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Répéter ce processus jusqu'à rencontrer un symbole spécial</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7" name="Picture 7"/>
          <p:cNvPicPr>
            <a:picLocks noChangeAspect="1"/>
          </p:cNvPicPr>
          <p:nvPr/>
        </p:nvPicPr>
        <p:blipFill>
          <a:blip r:embed="rId1"/>
          <a:srcRect/>
          <a:stretch>
            <a:fillRect/>
          </a:stretch>
        </p:blipFill>
        <p:spPr>
          <a:xfrm>
            <a:off x="390526" y="2622857"/>
            <a:ext cx="5591177" cy="3071507"/>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096000" y="2405368"/>
            <a:ext cx="5987078" cy="3288996"/>
          </a:xfrm>
          <a:prstGeom prst="rect">
            <a:avLst/>
          </a:prstGeom>
          <a:ln w="12700">
            <a:noFill/>
            <a:prstDash val="solid"/>
          </a:ln>
        </p:spPr>
      </p:pic>
      <p:sp>
        <p:nvSpPr>
          <p:cNvPr id="10" name="文本占位符 9"/>
          <p:cNvSpPr>
            <a:spLocks noGrp="1"/>
          </p:cNvSpPr>
          <p:nvPr>
            <p:ph type="body" sz="quarter" idx="11"/>
          </p:nvPr>
        </p:nvSpPr>
        <p:spPr/>
        <p:txBody>
          <a:bodyPr/>
          <a:lstStyle/>
          <a:p>
            <a:endParaRPr lang="zh-CN" altLang="en-US"/>
          </a:p>
        </p:txBody>
      </p:sp>
    </p:spTree>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980" b="0" i="0" u="none" strike="noStrike">
                <a:solidFill>
                  <a:srgbClr val="262626"/>
                </a:solidFill>
                <a:latin typeface="Calibri" panose="020F0502020204030204"/>
                <a:ea typeface="Calibri" panose="020F0502020204030204"/>
                <a:cs typeface="Calibri" panose="020F0502020204030204"/>
                <a:sym typeface="Calibri" panose="020F0502020204030204"/>
              </a:rPr>
              <a:t>Transformer</a:t>
            </a:r>
            <a:r>
              <a:rPr lang="en-US" sz="29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couche linéaire finale et </a:t>
            </a:r>
            <a:r>
              <a:rPr lang="en-US" sz="2980" b="0" i="0" u="none" strike="noStrike">
                <a:solidFill>
                  <a:srgbClr val="262626"/>
                </a:solidFill>
                <a:latin typeface="Calibri" panose="020F0502020204030204"/>
                <a:ea typeface="Calibri" panose="020F0502020204030204"/>
                <a:cs typeface="Calibri" panose="020F0502020204030204"/>
                <a:sym typeface="Calibri" panose="020F0502020204030204"/>
              </a:rPr>
              <a:t>Softmax</a:t>
            </a:r>
            <a:endParaRPr lang="en-US" sz="29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a:spLocks noGrp="1"/>
          </p:cNvSpPr>
          <p:nvPr>
            <p:ph type="body" sz="quarter" idx="12"/>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7" name="Picture 7"/>
          <p:cNvPicPr>
            <a:picLocks noChangeAspect="1"/>
          </p:cNvPicPr>
          <p:nvPr/>
        </p:nvPicPr>
        <p:blipFill>
          <a:blip r:embed="rId1"/>
          <a:srcRect/>
          <a:stretch>
            <a:fillRect/>
          </a:stretch>
        </p:blipFill>
        <p:spPr>
          <a:xfrm>
            <a:off x="523872" y="1323977"/>
            <a:ext cx="7771037" cy="4771689"/>
          </a:xfrm>
          <a:prstGeom prst="rect">
            <a:avLst/>
          </a:prstGeom>
          <a:ln w="12700">
            <a:noFill/>
            <a:prstDash val="solid"/>
          </a:ln>
        </p:spPr>
      </p:pic>
      <p:sp>
        <p:nvSpPr>
          <p:cNvPr id="8" name="文本占位符 7"/>
          <p:cNvSpPr>
            <a:spLocks noGrp="1"/>
          </p:cNvSpPr>
          <p:nvPr>
            <p:ph type="body" sz="quarter" idx="11"/>
          </p:nvPr>
        </p:nvSpPr>
        <p:spPr/>
        <p:txBody>
          <a:bodyPr/>
          <a:lstStyle/>
          <a:p>
            <a:endParaRPr lang="zh-CN" altLang="en-US"/>
          </a:p>
        </p:txBody>
      </p:sp>
    </p:spTree>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6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Grands </a:t>
            </a:r>
            <a:r>
              <a:rPr lang="en-US" altLang="zh-CN" sz="26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mod</a:t>
            </a:r>
            <a:r>
              <a:rPr lang="en-US" altLang="en-US" sz="26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6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les </a:t>
            </a:r>
            <a:r>
              <a:rPr lang="en-US" sz="26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de </a:t>
            </a:r>
            <a:r>
              <a:rPr lang="en-US" altLang="zh-CN" sz="2675" b="0" i="0" u="none" strike="noStrike">
                <a:solidFill>
                  <a:srgbClr val="262626"/>
                </a:solidFill>
                <a:latin typeface="Calibri" panose="020F0502020204030204"/>
                <a:ea typeface="Calibri" panose="020F0502020204030204"/>
                <a:cs typeface="Calibri" panose="020F0502020204030204"/>
                <a:sym typeface="Calibri" panose="020F0502020204030204"/>
              </a:rPr>
              <a:t>langue </a:t>
            </a:r>
            <a:r>
              <a:rPr lang="en-US" sz="2675" b="0" i="0" u="none" strike="noStrike">
                <a:solidFill>
                  <a:srgbClr val="262626"/>
                </a:solidFill>
                <a:latin typeface="Calibri" panose="020F0502020204030204"/>
                <a:ea typeface="Calibri" panose="020F0502020204030204"/>
                <a:cs typeface="Calibri" panose="020F0502020204030204"/>
                <a:sym typeface="Calibri" panose="020F0502020204030204"/>
              </a:rPr>
              <a:t>– </a:t>
            </a:r>
            <a:r>
              <a:rPr lang="en-US" sz="26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Architecture </a:t>
            </a:r>
            <a:r>
              <a:rPr lang="en-US" altLang="zh-CN" sz="26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26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6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codeur </a:t>
            </a:r>
            <a:r>
              <a:rPr lang="en-US" sz="26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uniquement</a:t>
            </a:r>
            <a:endParaRPr lang="en-US" sz="26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0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20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codeur </a:t>
            </a:r>
            <a:r>
              <a:rPr lang="en-US" sz="20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uniquement : </a:t>
            </a:r>
            <a:r>
              <a:rPr lang="en-US" altLang="zh-CN" sz="20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a:t>
            </a:r>
            <a:r>
              <a:rPr lang="en-US" altLang="en-US" sz="20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ç</a:t>
            </a:r>
            <a:r>
              <a:rPr lang="en-US" altLang="zh-CN" sz="20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 </a:t>
            </a:r>
            <a:r>
              <a:rPr lang="en-US" sz="20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l'autoregression</a:t>
            </a:r>
            <a:endParaRPr lang="en-US" sz="20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a:t>
            </a:r>
            <a:r>
              <a:rPr lang="en-US" alt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dire </a:t>
            </a:r>
            <a:r>
              <a:rPr 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jeton suivant </a:t>
            </a:r>
            <a:r>
              <a:rPr lang="en-US" altLang="zh-CN"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à</a:t>
            </a:r>
            <a:r>
              <a:rPr 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partir de tout le contenu </a:t>
            </a:r>
            <a:r>
              <a:rPr lang="en-US" altLang="zh-CN"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a:t>
            </a:r>
            <a:r>
              <a:rPr lang="en-US" alt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t>
            </a:r>
            <a:r>
              <a:rPr lang="en-US" alt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dent </a:t>
            </a:r>
            <a:r>
              <a:rPr 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 la </a:t>
            </a:r>
            <a:r>
              <a:rPr lang="en-US" altLang="zh-CN"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efficacit</a:t>
            </a:r>
            <a:r>
              <a:rPr lang="en-US" alt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Simplicit</a:t>
            </a:r>
            <a:r>
              <a:rPr lang="en-US" alt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 </a:t>
            </a:r>
            <a:r>
              <a:rPr 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a:t>
            </a:r>
            <a:r>
              <a:rPr lang="en-US" altLang="zh-CN" sz="169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efficacit</a:t>
            </a:r>
            <a:r>
              <a:rPr lang="en-US" altLang="en-US" sz="169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endParaRPr 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Objectif d'entrainement unique : predire le jeton suivant.</a:t>
            </a:r>
            <a:endParaRPr 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Pas besoin de jeux de donnees paralleles</a:t>
            </a:r>
            <a:r>
              <a:rPr lang="en-US" sz="135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ils sont coûteux et rares.</a:t>
            </a:r>
            <a:endParaRPr 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Evolutif efficacement jusqu'a des billions de jetons.</a:t>
            </a:r>
            <a:endParaRPr 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Correspondance parfaite aux taches génératives</a:t>
            </a:r>
            <a:endParaRPr 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Flexibilité et capacites emergentes</a:t>
            </a:r>
            <a:endParaRPr 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Évolutivité et validation industrielle</a:t>
            </a:r>
            <a:endParaRPr 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13"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https://www.c-sharpcorner.com/article/llms-why-modern-llms-like-gpt-are-decoder-only/</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codeur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uniquement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vs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Encodeur</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altLang="zh-CN">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codeur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7" name="Picture 7"/>
          <p:cNvPicPr>
            <a:picLocks noChangeAspect="1"/>
          </p:cNvPicPr>
          <p:nvPr/>
        </p:nvPicPr>
        <p:blipFill>
          <a:blip r:embed="rId1"/>
          <a:srcRect/>
          <a:stretch>
            <a:fillRect/>
          </a:stretch>
        </p:blipFill>
        <p:spPr>
          <a:xfrm>
            <a:off x="6353886" y="2293936"/>
            <a:ext cx="5596622" cy="2913068"/>
          </a:xfrm>
          <a:prstGeom prst="rect">
            <a:avLst/>
          </a:prstGeom>
          <a:ln w="12700">
            <a:noFill/>
            <a:prstDash val="solid"/>
          </a:ln>
        </p:spPr>
      </p:pic>
      <p:sp>
        <p:nvSpPr>
          <p:cNvPr id="9" name="文本占位符 8"/>
          <p:cNvSpPr>
            <a:spLocks noGrp="1"/>
          </p:cNvSpPr>
          <p:nvPr>
            <p:ph type="body" sz="quarter" idx="11"/>
          </p:nvPr>
        </p:nvSpPr>
        <p:spPr/>
        <p:txBody>
          <a:bodyPr/>
          <a:lstStyle/>
          <a:p>
            <a:endParaRPr lang="zh-CN" altLang="en-US"/>
          </a:p>
        </p:txBody>
      </p:sp>
    </p:spTree>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Complexite de l'attention</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(1/2)</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4" y="1323975"/>
            <a:ext cx="6372661" cy="4852988"/>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1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 l'auto-attention du Transformer</a:t>
            </a:r>
            <a:r>
              <a:rPr lang="en-US" sz="21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nous calculons les scores d'attention entre toutes les paires de jetons :</a:t>
            </a:r>
            <a:endParaRPr lang="en-US" sz="21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a:t>
            </a:r>
            <a:r>
              <a:rPr lang="en-US" altLang="zh-CN" sz="1790" b="0" i="0" u="none" strike="noStrike">
                <a:solidFill>
                  <a:srgbClr val="404040"/>
                </a:solidFill>
                <a:latin typeface="Calibri" panose="020F0502020204030204"/>
                <a:ea typeface="Calibri" panose="020F0502020204030204"/>
                <a:cs typeface="Calibri" panose="020F0502020204030204"/>
                <a:sym typeface="Calibri" panose="020F0502020204030204"/>
              </a:rPr>
              <a:t>requ</a:t>
            </a:r>
            <a:r>
              <a:rPr lang="en-US" altLang="en-US" sz="1790" b="0" i="0" u="none" strike="noStrike">
                <a:solidFill>
                  <a:srgbClr val="404040"/>
                </a:solidFill>
                <a:latin typeface="Calibri" panose="020F0502020204030204"/>
                <a:ea typeface="Calibri" panose="020F0502020204030204"/>
                <a:cs typeface="Calibri" panose="020F0502020204030204"/>
                <a:sym typeface="Calibri" panose="020F0502020204030204"/>
              </a:rPr>
              <a:t>ê</a:t>
            </a:r>
            <a:r>
              <a:rPr lang="en-US" altLang="zh-CN" sz="1790" b="0" i="0" u="none" strike="noStrike">
                <a:solidFill>
                  <a:srgbClr val="404040"/>
                </a:solidFill>
                <a:latin typeface="Calibri" panose="020F0502020204030204"/>
                <a:ea typeface="Calibri" panose="020F0502020204030204"/>
                <a:cs typeface="Calibri" panose="020F0502020204030204"/>
                <a:sym typeface="Calibri" panose="020F0502020204030204"/>
              </a:rPr>
              <a:t>te </a:t>
            </a:r>
            <a:r>
              <a:rPr lang="en-US" sz="1790" b="0" i="0" u="none" strike="noStrike">
                <a:solidFill>
                  <a:srgbClr val="404040"/>
                </a:solidFill>
                <a:latin typeface="Calibri" panose="020F0502020204030204"/>
                <a:ea typeface="Calibri" panose="020F0502020204030204"/>
                <a:cs typeface="Calibri" panose="020F0502020204030204"/>
                <a:sym typeface="Calibri" panose="020F0502020204030204"/>
              </a:rPr>
              <a:t>Q </a:t>
            </a:r>
            <a:r>
              <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est une</a:t>
            </a:r>
            <a:r>
              <a:rPr lang="en-US" sz="1790" b="0" i="0" u="none" strike="noStrike">
                <a:solidFill>
                  <a:srgbClr val="404040"/>
                </a:solidFill>
                <a:latin typeface="Calibri" panose="020F0502020204030204"/>
                <a:ea typeface="Calibri" panose="020F0502020204030204"/>
                <a:cs typeface="Calibri" panose="020F0502020204030204"/>
                <a:sym typeface="Calibri" panose="020F0502020204030204"/>
              </a:rPr>
              <a:t> (n,d) </a:t>
            </a:r>
            <a:r>
              <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matrice (</a:t>
            </a:r>
            <a:r>
              <a:rPr lang="en-US" sz="1790" b="0" i="0" u="none" strike="noStrike">
                <a:solidFill>
                  <a:srgbClr val="404040"/>
                </a:solidFill>
                <a:latin typeface="Calibri" panose="020F0502020204030204"/>
                <a:ea typeface="Calibri" panose="020F0502020204030204"/>
                <a:cs typeface="Calibri" panose="020F0502020204030204"/>
                <a:sym typeface="Calibri" panose="020F0502020204030204"/>
              </a:rPr>
              <a:t>n </a:t>
            </a:r>
            <a:r>
              <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jetons, chacun de dimension</a:t>
            </a:r>
            <a:r>
              <a:rPr lang="en-US" sz="1790" b="0" i="0" u="none" strike="noStrike">
                <a:solidFill>
                  <a:srgbClr val="404040"/>
                </a:solidFill>
                <a:latin typeface="Calibri" panose="020F0502020204030204"/>
                <a:ea typeface="Calibri" panose="020F0502020204030204"/>
                <a:cs typeface="Calibri" panose="020F0502020204030204"/>
                <a:sym typeface="Calibri" panose="020F0502020204030204"/>
              </a:rPr>
              <a:t> d</a:t>
            </a:r>
            <a:r>
              <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a:t>
            </a:r>
            <a:r>
              <a:rPr lang="en-US" altLang="zh-CN" sz="1790" b="0" i="0" u="none" strike="noStrike">
                <a:solidFill>
                  <a:srgbClr val="404040"/>
                </a:solidFill>
                <a:latin typeface="Calibri" panose="020F0502020204030204"/>
                <a:ea typeface="Calibri" panose="020F0502020204030204"/>
                <a:cs typeface="Calibri" panose="020F0502020204030204"/>
                <a:sym typeface="Calibri" panose="020F0502020204030204"/>
              </a:rPr>
              <a:t>cl</a:t>
            </a:r>
            <a:r>
              <a:rPr lang="en-US" altLang="en-US" sz="1790" b="0" i="0" u="none" strike="noStrike">
                <a:solidFill>
                  <a:srgbClr val="404040"/>
                </a:solidFill>
                <a:latin typeface="Calibri" panose="020F0502020204030204"/>
                <a:ea typeface="Calibri" panose="020F0502020204030204"/>
                <a:cs typeface="Calibri" panose="020F0502020204030204"/>
                <a:sym typeface="Calibri" panose="020F0502020204030204"/>
              </a:rPr>
              <a:t>é </a:t>
            </a:r>
            <a:r>
              <a:rPr lang="en-US" sz="1790" b="0" i="0" u="none" strike="noStrike">
                <a:solidFill>
                  <a:srgbClr val="404040"/>
                </a:solidFill>
                <a:latin typeface="Calibri" panose="020F0502020204030204"/>
                <a:ea typeface="Calibri" panose="020F0502020204030204"/>
                <a:cs typeface="Calibri" panose="020F0502020204030204"/>
                <a:sym typeface="Calibri" panose="020F0502020204030204"/>
              </a:rPr>
              <a:t>K </a:t>
            </a:r>
            <a:r>
              <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est une</a:t>
            </a:r>
            <a:r>
              <a:rPr lang="en-US" sz="1790" b="0" i="0" u="none" strike="noStrike">
                <a:solidFill>
                  <a:srgbClr val="404040"/>
                </a:solidFill>
                <a:latin typeface="Calibri" panose="020F0502020204030204"/>
                <a:ea typeface="Calibri" panose="020F0502020204030204"/>
                <a:cs typeface="Calibri" panose="020F0502020204030204"/>
                <a:sym typeface="Calibri" panose="020F0502020204030204"/>
              </a:rPr>
              <a:t> (n,d) </a:t>
            </a:r>
            <a:r>
              <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matrice.</a:t>
            </a:r>
            <a:endPar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Nous construisons une</a:t>
            </a:r>
            <a:r>
              <a:rPr lang="en-US" sz="1790" b="0" i="0" u="none" strike="noStrike">
                <a:solidFill>
                  <a:srgbClr val="404040"/>
                </a:solidFill>
                <a:latin typeface="Calibri" panose="020F0502020204030204"/>
                <a:ea typeface="Calibri" panose="020F0502020204030204"/>
                <a:cs typeface="Calibri" panose="020F0502020204030204"/>
                <a:sym typeface="Calibri" panose="020F0502020204030204"/>
              </a:rPr>
              <a:t> n </a:t>
            </a:r>
            <a:r>
              <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790" b="0" i="0" u="none" strike="noStrike">
                <a:solidFill>
                  <a:srgbClr val="404040"/>
                </a:solidFill>
                <a:latin typeface="Calibri" panose="020F0502020204030204"/>
                <a:ea typeface="Calibri" panose="020F0502020204030204"/>
                <a:cs typeface="Calibri" panose="020F0502020204030204"/>
                <a:sym typeface="Calibri" panose="020F0502020204030204"/>
              </a:rPr>
              <a:t> n </a:t>
            </a:r>
            <a:r>
              <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matrice de scores d'attention</a:t>
            </a:r>
            <a:r>
              <a:rPr lang="en-US" sz="1790" b="0" i="0" u="none" strike="noStrike">
                <a:solidFill>
                  <a:srgbClr val="404040"/>
                </a:solidFill>
                <a:latin typeface="Calibri" panose="020F0502020204030204"/>
                <a:ea typeface="Calibri" panose="020F0502020204030204"/>
                <a:cs typeface="Calibri" panose="020F0502020204030204"/>
                <a:sym typeface="Calibri" panose="020F0502020204030204"/>
              </a:rPr>
              <a:t> QK^T</a:t>
            </a:r>
            <a:r>
              <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Puis nous multiplions par la valeur</a:t>
            </a:r>
            <a:r>
              <a:rPr lang="en-US" sz="1790" b="0" i="0" u="none" strike="noStrike">
                <a:solidFill>
                  <a:srgbClr val="404040"/>
                </a:solidFill>
                <a:latin typeface="Calibri" panose="020F0502020204030204"/>
                <a:ea typeface="Calibri" panose="020F0502020204030204"/>
                <a:cs typeface="Calibri" panose="020F0502020204030204"/>
                <a:sym typeface="Calibri" panose="020F0502020204030204"/>
              </a:rPr>
              <a:t> V</a:t>
            </a:r>
            <a:r>
              <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qui est une</a:t>
            </a:r>
            <a:r>
              <a:rPr lang="en-US" sz="1790" b="0" i="0" u="none" strike="noStrike">
                <a:solidFill>
                  <a:srgbClr val="404040"/>
                </a:solidFill>
                <a:latin typeface="Calibri" panose="020F0502020204030204"/>
                <a:ea typeface="Calibri" panose="020F0502020204030204"/>
                <a:cs typeface="Calibri" panose="020F0502020204030204"/>
                <a:sym typeface="Calibri" panose="020F0502020204030204"/>
              </a:rPr>
              <a:t> (n,d) </a:t>
            </a:r>
            <a:r>
              <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matrice.</a:t>
            </a:r>
            <a:endParaRPr lang="en-US" sz="17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1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Cela </a:t>
            </a:r>
            <a:r>
              <a:rPr lang="en-US" altLang="zh-CN" sz="21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21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cessite </a:t>
            </a:r>
            <a:r>
              <a:rPr lang="en-US" sz="21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environ</a:t>
            </a:r>
            <a:r>
              <a:rPr lang="en-US" sz="2145" b="0" i="0" u="none" strike="noStrike">
                <a:solidFill>
                  <a:srgbClr val="404040"/>
                </a:solidFill>
                <a:latin typeface="Calibri" panose="020F0502020204030204"/>
                <a:ea typeface="Calibri" panose="020F0502020204030204"/>
                <a:cs typeface="Calibri" panose="020F0502020204030204"/>
                <a:sym typeface="Calibri" panose="020F0502020204030204"/>
              </a:rPr>
              <a:t> n²d </a:t>
            </a:r>
            <a:r>
              <a:rPr lang="en-US" altLang="zh-CN" sz="21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a:t>
            </a:r>
            <a:r>
              <a:rPr lang="en-US" altLang="en-US" sz="21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a:t>
            </a:r>
            <a:endParaRPr lang="en-US" altLang="zh-CN" sz="21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en-US" sz="2145" b="0" i="0" u="none" strike="noStrike">
                <a:solidFill>
                  <a:srgbClr val="404040"/>
                </a:solidFill>
                <a:latin typeface="Calibri" panose="020F0502020204030204"/>
                <a:ea typeface="Calibri" panose="020F0502020204030204"/>
                <a:cs typeface="Calibri" panose="020F0502020204030204"/>
                <a:sym typeface="Calibri" panose="020F0502020204030204"/>
              </a:rPr>
              <a:t>À</a:t>
            </a:r>
            <a:r>
              <a:rPr lang="en-US" altLang="zh-CN" sz="2145" b="0" i="0" u="none" strike="noStrike">
                <a:solidFill>
                  <a:srgbClr val="404040"/>
                </a:solidFill>
                <a:latin typeface="Calibri" panose="020F0502020204030204"/>
                <a:ea typeface="Calibri" panose="020F0502020204030204"/>
                <a:cs typeface="Calibri" panose="020F0502020204030204"/>
                <a:sym typeface="Calibri" panose="020F0502020204030204"/>
              </a:rPr>
              <a:t> mesure que n augmente</a:t>
            </a:r>
            <a:r>
              <a:rPr lang="en-US" sz="21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terme quadratique domine.</a:t>
            </a:r>
            <a:endParaRPr lang="en-US" sz="21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14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14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896535" y="2545541"/>
            <a:ext cx="4672012" cy="301576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Complexite de l'attention</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(2/2)</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1"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240" b="1" i="0" u="none" strike="noStrike">
                <a:solidFill>
                  <a:srgbClr val="404040"/>
                </a:solidFill>
                <a:latin typeface="Calibri" panose="020F0502020204030204"/>
                <a:ea typeface="Calibri" panose="020F0502020204030204"/>
                <a:cs typeface="Calibri" panose="020F0502020204030204"/>
                <a:sym typeface="Calibri" panose="020F0502020204030204"/>
              </a:rPr>
              <a:t>1. </a:t>
            </a:r>
            <a:r>
              <a:rPr lang="en-US" sz="224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Calculer les scores d'attention</a:t>
            </a:r>
            <a:endParaRPr lang="en-US" sz="224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65" b="0" i="1" u="none" strike="noStrike">
                <a:solidFill>
                  <a:srgbClr val="404040"/>
                </a:solidFill>
                <a:latin typeface="Calibri" panose="020F0502020204030204"/>
                <a:ea typeface="Calibri" panose="020F0502020204030204"/>
                <a:cs typeface="Calibri" panose="020F0502020204030204"/>
                <a:sym typeface="Calibri" panose="020F0502020204030204"/>
              </a:rPr>
              <a:t>QK^T ⇒ (n,d) </a:t>
            </a:r>
            <a:r>
              <a:rPr lang="en-US" sz="1865" b="0" i="1"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865" b="0" i="1" u="none" strike="noStrike">
                <a:solidFill>
                  <a:srgbClr val="404040"/>
                </a:solidFill>
                <a:latin typeface="Calibri" panose="020F0502020204030204"/>
                <a:ea typeface="Calibri" panose="020F0502020204030204"/>
                <a:cs typeface="Calibri" panose="020F0502020204030204"/>
                <a:sym typeface="Calibri" panose="020F0502020204030204"/>
              </a:rPr>
              <a:t> (d,n) = </a:t>
            </a:r>
            <a:r>
              <a:rPr lang="en-US" sz="1865" b="1" i="1" u="none" strike="noStrike">
                <a:solidFill>
                  <a:srgbClr val="404040"/>
                </a:solidFill>
                <a:latin typeface="Calibri" panose="020F0502020204030204"/>
                <a:ea typeface="Calibri" panose="020F0502020204030204"/>
                <a:cs typeface="Calibri" panose="020F0502020204030204"/>
                <a:sym typeface="Calibri" panose="020F0502020204030204"/>
              </a:rPr>
              <a:t>(n,n)</a:t>
            </a:r>
            <a:endParaRPr lang="en-US" sz="1865" b="1" i="1"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Volume de calcul environ : </a:t>
            </a:r>
            <a:r>
              <a:rPr lang="en-US" sz="1865" b="0" i="1" u="none" strike="noStrike">
                <a:solidFill>
                  <a:srgbClr val="404040"/>
                </a:solidFill>
                <a:latin typeface="Calibri" panose="020F0502020204030204"/>
                <a:ea typeface="Calibri" panose="020F0502020204030204"/>
                <a:cs typeface="Calibri" panose="020F0502020204030204"/>
                <a:sym typeface="Calibri" panose="020F0502020204030204"/>
              </a:rPr>
              <a:t>O(n·d·n)</a:t>
            </a:r>
            <a:r>
              <a:rPr lang="en-US" sz="1865"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sz="1865" b="1" i="0" u="none" strike="noStrike">
                <a:solidFill>
                  <a:srgbClr val="404040"/>
                </a:solidFill>
                <a:latin typeface="Calibri" panose="020F0502020204030204"/>
                <a:ea typeface="Calibri" panose="020F0502020204030204"/>
                <a:cs typeface="Calibri" panose="020F0502020204030204"/>
                <a:sym typeface="Calibri" panose="020F0502020204030204"/>
              </a:rPr>
              <a:t>O(n² d)</a:t>
            </a:r>
            <a:endParaRPr lang="en-US" sz="1865"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Cela produit une </a:t>
            </a:r>
            <a:r>
              <a:rPr lang="en-US" sz="1865" b="1" i="1"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matrice de scores</a:t>
            </a:r>
            <a:r>
              <a:rPr lang="en-US" sz="1865" b="0" i="1" u="none" strike="noStrike">
                <a:solidFill>
                  <a:srgbClr val="404040"/>
                </a:solidFill>
                <a:latin typeface="Calibri" panose="020F0502020204030204"/>
                <a:ea typeface="Calibri" panose="020F0502020204030204"/>
                <a:cs typeface="Calibri" panose="020F0502020204030204"/>
                <a:sym typeface="Calibri" panose="020F0502020204030204"/>
              </a:rPr>
              <a:t>(n,n)</a:t>
            </a:r>
            <a:r>
              <a:rPr lang="en-US" sz="18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(essentiellement toutes les paires de jetons).</a:t>
            </a:r>
            <a:endParaRPr lang="en-US" sz="18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240" b="1" i="0" u="none" strike="noStrike">
                <a:solidFill>
                  <a:srgbClr val="404040"/>
                </a:solidFill>
                <a:latin typeface="Calibri" panose="020F0502020204030204"/>
                <a:ea typeface="Calibri" panose="020F0502020204030204"/>
                <a:cs typeface="Calibri" panose="020F0502020204030204"/>
                <a:sym typeface="Calibri" panose="020F0502020204030204"/>
              </a:rPr>
              <a:t>2. </a:t>
            </a:r>
            <a:r>
              <a:rPr lang="en-US" sz="224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Multiplier par la matrice de valeurs</a:t>
            </a:r>
            <a:r>
              <a:rPr lang="en-US" sz="2240" b="1" i="0" u="none" strike="noStrike">
                <a:solidFill>
                  <a:srgbClr val="404040"/>
                </a:solidFill>
                <a:latin typeface="Calibri" panose="020F0502020204030204"/>
                <a:ea typeface="Calibri" panose="020F0502020204030204"/>
                <a:cs typeface="Calibri" panose="020F0502020204030204"/>
                <a:sym typeface="Calibri" panose="020F0502020204030204"/>
              </a:rPr>
              <a:t> V</a:t>
            </a:r>
            <a:endParaRPr lang="en-US" sz="224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65" b="1" i="1"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Matrice de scores</a:t>
            </a:r>
            <a:r>
              <a:rPr lang="en-US" sz="186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865" b="0" i="1" u="none" strike="noStrike">
                <a:solidFill>
                  <a:srgbClr val="404040"/>
                </a:solidFill>
                <a:latin typeface="Calibri" panose="020F0502020204030204"/>
                <a:ea typeface="Calibri" panose="020F0502020204030204"/>
                <a:cs typeface="Calibri" panose="020F0502020204030204"/>
                <a:sym typeface="Calibri" panose="020F0502020204030204"/>
              </a:rPr>
              <a:t>(n,n) </a:t>
            </a:r>
            <a:r>
              <a:rPr lang="en-US" sz="1865" b="0" i="1"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865" b="0" i="1"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865" b="1" i="1" u="none" strike="noStrike">
                <a:solidFill>
                  <a:srgbClr val="404040"/>
                </a:solidFill>
                <a:latin typeface="Calibri" panose="020F0502020204030204"/>
                <a:ea typeface="Calibri" panose="020F0502020204030204"/>
                <a:cs typeface="Calibri" panose="020F0502020204030204"/>
                <a:sym typeface="Calibri" panose="020F0502020204030204"/>
              </a:rPr>
              <a:t>V</a:t>
            </a:r>
            <a:r>
              <a:rPr lang="en-US" sz="1865" b="0" i="1" u="none" strike="noStrike">
                <a:solidFill>
                  <a:srgbClr val="404040"/>
                </a:solidFill>
                <a:latin typeface="Calibri" panose="020F0502020204030204"/>
                <a:ea typeface="Calibri" panose="020F0502020204030204"/>
                <a:cs typeface="Calibri" panose="020F0502020204030204"/>
                <a:sym typeface="Calibri" panose="020F0502020204030204"/>
              </a:rPr>
              <a:t> (n, d) = </a:t>
            </a:r>
            <a:r>
              <a:rPr lang="en-US" sz="1865" b="1" i="1" u="none" strike="noStrike">
                <a:solidFill>
                  <a:srgbClr val="404040"/>
                </a:solidFill>
                <a:latin typeface="Calibri" panose="020F0502020204030204"/>
                <a:ea typeface="Calibri" panose="020F0502020204030204"/>
                <a:cs typeface="Calibri" panose="020F0502020204030204"/>
                <a:sym typeface="Calibri" panose="020F0502020204030204"/>
              </a:rPr>
              <a:t>(n, d)</a:t>
            </a:r>
            <a:endParaRPr lang="en-US" sz="1865" b="1" i="1"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Volume de calcul egalement :</a:t>
            </a:r>
            <a:r>
              <a:rPr lang="en-US" sz="1865" b="0" i="1" u="none" strike="noStrike">
                <a:solidFill>
                  <a:srgbClr val="404040"/>
                </a:solidFill>
                <a:latin typeface="Calibri" panose="020F0502020204030204"/>
                <a:ea typeface="Calibri" panose="020F0502020204030204"/>
                <a:cs typeface="Calibri" panose="020F0502020204030204"/>
                <a:sym typeface="Calibri" panose="020F0502020204030204"/>
              </a:rPr>
              <a:t>O(n·n·d)</a:t>
            </a:r>
            <a:r>
              <a:rPr lang="en-US" sz="186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865" b="1" i="1" u="none" strike="noStrike">
                <a:solidFill>
                  <a:srgbClr val="404040"/>
                </a:solidFill>
                <a:latin typeface="Calibri" panose="020F0502020204030204"/>
                <a:ea typeface="Calibri" panose="020F0502020204030204"/>
                <a:cs typeface="Calibri" panose="020F0502020204030204"/>
                <a:sym typeface="Calibri" panose="020F0502020204030204"/>
              </a:rPr>
              <a:t>O(n² d)</a:t>
            </a:r>
            <a:endParaRPr lang="en-US" sz="1865" b="1" i="1"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 </a:t>
            </a:r>
            <a:r>
              <a:rPr lang="en-US" altLang="zh-CN" sz="186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cons</a:t>
            </a:r>
            <a:r>
              <a:rPr lang="en-US" altLang="en-US" sz="186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6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quent, </a:t>
            </a:r>
            <a:r>
              <a:rPr lang="en-US" sz="1865"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lors de chaque propagation avant, </a:t>
            </a:r>
            <a:r>
              <a:rPr lang="en-US" sz="18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complexite d'un bloc d'attention mono-tete est d'environ</a:t>
            </a:r>
            <a:r>
              <a:rPr lang="en-US" sz="1865" b="1" i="1" u="none" strike="noStrike">
                <a:solidFill>
                  <a:srgbClr val="404040"/>
                </a:solidFill>
                <a:latin typeface="Calibri" panose="020F0502020204030204"/>
                <a:ea typeface="Calibri" panose="020F0502020204030204"/>
                <a:cs typeface="Calibri" panose="020F0502020204030204"/>
                <a:sym typeface="Calibri" panose="020F0502020204030204"/>
              </a:rPr>
              <a:t>O(n² d)</a:t>
            </a:r>
            <a:r>
              <a:rPr lang="en-US" sz="1865"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86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2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S'il s'agit d'une </a:t>
            </a:r>
            <a:r>
              <a:rPr lang="en-US" sz="224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attention multi-tetes</a:t>
            </a:r>
            <a:r>
              <a:rPr lang="en-US" sz="22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avec </a:t>
            </a:r>
            <a:r>
              <a:rPr lang="en-US" sz="2240" b="1" i="1" u="none" strike="noStrike">
                <a:solidFill>
                  <a:srgbClr val="404040"/>
                </a:solidFill>
                <a:latin typeface="Calibri" panose="020F0502020204030204"/>
                <a:ea typeface="Calibri" panose="020F0502020204030204"/>
                <a:cs typeface="Calibri" panose="020F0502020204030204"/>
                <a:sym typeface="Calibri" panose="020F0502020204030204"/>
              </a:rPr>
              <a:t>h </a:t>
            </a:r>
            <a:r>
              <a:rPr lang="en-US" sz="2240" b="1"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tetes</a:t>
            </a:r>
            <a:r>
              <a:rPr lang="en-US" sz="22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chaque tete utilise la dimension </a:t>
            </a:r>
            <a:r>
              <a:rPr lang="en-US" sz="2240" b="1" i="1" u="none" strike="noStrike">
                <a:solidFill>
                  <a:srgbClr val="404040"/>
                </a:solidFill>
                <a:latin typeface="Calibri" panose="020F0502020204030204"/>
                <a:ea typeface="Calibri" panose="020F0502020204030204"/>
                <a:cs typeface="Calibri" panose="020F0502020204030204"/>
                <a:sym typeface="Calibri" panose="020F0502020204030204"/>
              </a:rPr>
              <a:t>d/h</a:t>
            </a:r>
            <a:r>
              <a:rPr lang="en-US" sz="22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mais doit etre repetee </a:t>
            </a:r>
            <a:r>
              <a:rPr lang="en-US" sz="2240" b="1" i="1" u="none" strike="noStrike">
                <a:solidFill>
                  <a:srgbClr val="404040"/>
                </a:solidFill>
                <a:latin typeface="Calibri" panose="020F0502020204030204"/>
                <a:ea typeface="Calibri" panose="020F0502020204030204"/>
                <a:cs typeface="Calibri" panose="020F0502020204030204"/>
                <a:sym typeface="Calibri" panose="020F0502020204030204"/>
              </a:rPr>
              <a:t>h </a:t>
            </a:r>
            <a:r>
              <a:rPr lang="en-US" sz="22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fois. Au total, la complexite reste </a:t>
            </a:r>
            <a:r>
              <a:rPr lang="en-US" sz="2240" b="0" i="1" u="none" strike="noStrike">
                <a:solidFill>
                  <a:srgbClr val="404040"/>
                </a:solidFill>
                <a:latin typeface="Calibri" panose="020F0502020204030204"/>
                <a:ea typeface="Calibri" panose="020F0502020204030204"/>
                <a:cs typeface="Calibri" panose="020F0502020204030204"/>
                <a:sym typeface="Calibri" panose="020F0502020204030204"/>
              </a:rPr>
              <a:t>O(n² d)</a:t>
            </a:r>
            <a:r>
              <a:rPr lang="en-US" sz="224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224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Le problème du mur mémoire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561465"/>
            <a:ext cx="7204710" cy="461581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3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calcul de l'attention est coûteux</a:t>
            </a:r>
            <a:endParaRPr lang="en-US" sz="23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flexibilité de l'auto-attention s'accompagne d'un coût élevé : sa complexité croît de manière quadratique avec la longueur de la séquence d'entrée.</a:t>
            </a:r>
            <a:endParaRPr 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305" b="0" i="0" u="none" strike="noStrike">
                <a:solidFill>
                  <a:srgbClr val="404040"/>
                </a:solidFill>
                <a:latin typeface="Calibri" panose="020F0502020204030204"/>
                <a:ea typeface="Calibri" panose="020F0502020204030204"/>
                <a:cs typeface="Calibri" panose="020F0502020204030204"/>
                <a:sym typeface="Calibri" panose="020F0502020204030204"/>
              </a:rPr>
              <a:t>Transformer </a:t>
            </a:r>
            <a:r>
              <a:rPr lang="en-US" sz="23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face aux goulots d'étranglement</a:t>
            </a:r>
            <a:endParaRPr lang="en-US" sz="23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Explosion du cache KV</a:t>
            </a:r>
            <a:endPar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Goulot d'étranglement de bande passante</a:t>
            </a:r>
            <a:endParaRPr 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3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L'attention est tout ce dont vous avez besoin</a:t>
            </a:r>
            <a:r>
              <a:rPr lang="en-US" sz="2305"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3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jusqu'à ce que vous ayez besoin de mémoire</a:t>
            </a:r>
            <a:endParaRPr lang="en-US" sz="23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30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30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752921" y="1132554"/>
            <a:ext cx="4048553" cy="220980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752921" y="3471198"/>
            <a:ext cx="4381173" cy="2975776"/>
          </a:xfrm>
          <a:prstGeom prst="rect">
            <a:avLst/>
          </a:prstGeom>
          <a:ln w="12700">
            <a:noFill/>
            <a:prstDash val="solid"/>
          </a:ln>
        </p:spPr>
      </p:pic>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6"/>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Étape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1</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calcul des scores d'attention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 = QK^T / √d</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Étape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2</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application de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Softmax</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 = softmax(S)</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2" name="Picture 2"/>
          <p:cNvPicPr>
            <a:picLocks noChangeAspect="1"/>
          </p:cNvPicPr>
          <p:nvPr/>
        </p:nvPicPr>
        <p:blipFill>
          <a:blip r:embed="rId1"/>
          <a:srcRect/>
          <a:stretch>
            <a:fillRect/>
          </a:stretch>
        </p:blipFill>
        <p:spPr>
          <a:xfrm>
            <a:off x="880110" y="1772920"/>
            <a:ext cx="5289550" cy="2359660"/>
          </a:xfrm>
          <a:prstGeom prst="rect">
            <a:avLst/>
          </a:prstGeom>
          <a:ln w="12700">
            <a:noFill/>
            <a:prstDash val="solid"/>
          </a:ln>
        </p:spPr>
      </p:pic>
      <p:sp>
        <p:nvSpPr>
          <p:cNvPr id="3" name="AutoShape 3"/>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7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Diagramme du flux de données de l'attention standard</a:t>
            </a:r>
            <a:r>
              <a:rPr lang="en-US" sz="2700" b="0" i="0" u="none" strike="noStrike">
                <a:solidFill>
                  <a:srgbClr val="262626"/>
                </a:solidFill>
                <a:latin typeface="Calibri" panose="020F0502020204030204"/>
                <a:ea typeface="Calibri" panose="020F0502020204030204"/>
                <a:cs typeface="Calibri" panose="020F0502020204030204"/>
                <a:sym typeface="Calibri" panose="020F0502020204030204"/>
              </a:rPr>
              <a:t> (1/2)</a:t>
            </a:r>
            <a:endParaRPr lang="en-US" sz="27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7" name="Picture 7"/>
          <p:cNvPicPr>
            <a:picLocks noChangeAspect="1"/>
          </p:cNvPicPr>
          <p:nvPr/>
        </p:nvPicPr>
        <p:blipFill>
          <a:blip r:embed="rId2"/>
          <a:srcRect/>
          <a:stretch>
            <a:fillRect/>
          </a:stretch>
        </p:blipFill>
        <p:spPr>
          <a:xfrm>
            <a:off x="881380" y="4594860"/>
            <a:ext cx="5288280" cy="1664970"/>
          </a:xfrm>
          <a:prstGeom prst="rect">
            <a:avLst/>
          </a:prstGeom>
          <a:ln w="12700">
            <a:noFill/>
            <a:prstDash val="solid"/>
          </a:ln>
        </p:spPr>
      </p:pic>
      <p:sp>
        <p:nvSpPr>
          <p:cNvPr id="8" name="AutoShape 8"/>
          <p:cNvSpPr/>
          <p:nvPr/>
        </p:nvSpPr>
        <p:spPr>
          <a:xfrm>
            <a:off x="7853595" y="2279050"/>
            <a:ext cx="2710999" cy="646331"/>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BFBFBF"/>
                </a:solidFill>
                <a:latin typeface="Calibri" panose="020F0502020204030204"/>
                <a:ea typeface="微软雅黑" panose="020B0503020204020204" charset="-122"/>
                <a:cs typeface="微软雅黑" panose="020B0503020204020204" charset="-122"/>
                <a:sym typeface="微软雅黑" panose="020B0503020204020204" charset="-122"/>
              </a:rPr>
              <a:t>Exemple :</a:t>
            </a:r>
            <a:endParaRPr lang="en-US" sz="1100"/>
          </a:p>
          <a:p>
            <a:pPr indent="0" algn="l">
              <a:lnSpc>
                <a:spcPct val="100000"/>
              </a:lnSpc>
            </a:pPr>
            <a:r>
              <a:rPr lang="en-US" sz="1400" b="0" i="0" u="none" strike="noStrike">
                <a:solidFill>
                  <a:srgbClr val="BFBFBF"/>
                </a:solidFill>
                <a:latin typeface="Calibri" panose="020F0502020204030204"/>
                <a:ea typeface="Arial" panose="020B0604020202020204"/>
                <a:cs typeface="Arial" panose="020B0604020202020204"/>
                <a:sym typeface="Arial" panose="020B0604020202020204"/>
              </a:rPr>
              <a:t>N = 4096</a:t>
            </a:r>
            <a:r>
              <a:rPr lang="en-US" sz="1400" b="0" i="0" u="none" strike="noStrike">
                <a:solidFill>
                  <a:srgbClr val="BFBFBF"/>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b="0" i="0" u="none" strike="noStrike">
                <a:solidFill>
                  <a:srgbClr val="BFBFBF"/>
                </a:solidFill>
                <a:latin typeface="Calibri" panose="020F0502020204030204"/>
                <a:ea typeface="Arial" panose="020B0604020202020204"/>
                <a:cs typeface="Arial" panose="020B0604020202020204"/>
                <a:sym typeface="Arial" panose="020B0604020202020204"/>
              </a:rPr>
              <a:t>d = 128</a:t>
            </a:r>
            <a:r>
              <a:rPr lang="en-US" sz="1400" b="0" i="0" u="none" strike="noStrike">
                <a:solidFill>
                  <a:srgbClr val="BFBFBF"/>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b="0" i="0" u="none" strike="noStrike">
                <a:solidFill>
                  <a:srgbClr val="BFBFBF"/>
                </a:solidFill>
                <a:latin typeface="Calibri" panose="020F0502020204030204"/>
                <a:ea typeface="Arial" panose="020B0604020202020204"/>
                <a:cs typeface="Arial" panose="020B0604020202020204"/>
                <a:sym typeface="Arial" panose="020B0604020202020204"/>
              </a:rPr>
              <a:t>FP16</a:t>
            </a:r>
            <a:endParaRPr lang="en-US" sz="1400" b="0" i="0" u="none" strike="noStrike">
              <a:solidFill>
                <a:srgbClr val="BFBFBF"/>
              </a:solidFill>
              <a:latin typeface="Calibri" panose="020F0502020204030204"/>
              <a:ea typeface="Arial" panose="020B0604020202020204"/>
              <a:cs typeface="Arial" panose="020B0604020202020204"/>
              <a:sym typeface="Arial" panose="020B0604020202020204"/>
            </a:endParaRPr>
          </a:p>
        </p:txBody>
      </p:sp>
      <p:sp>
        <p:nvSpPr>
          <p:cNvPr id="10" name="文本占位符 9"/>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7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Diagramme du flux de données de l'attention standard</a:t>
            </a:r>
            <a:r>
              <a:rPr lang="en-US" sz="2700" b="0" i="0" u="none" strike="noStrike">
                <a:solidFill>
                  <a:srgbClr val="262626"/>
                </a:solidFill>
                <a:latin typeface="Calibri" panose="020F0502020204030204"/>
                <a:ea typeface="Calibri" panose="020F0502020204030204"/>
                <a:cs typeface="Calibri" panose="020F0502020204030204"/>
                <a:sym typeface="Calibri" panose="020F0502020204030204"/>
              </a:rPr>
              <a:t> (2/2)</a:t>
            </a:r>
            <a:endParaRPr lang="en-US" sz="27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2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Étape</a:t>
            </a:r>
            <a:r>
              <a:rPr lang="en-US" sz="2285" b="0" i="0" u="none" strike="noStrike">
                <a:solidFill>
                  <a:srgbClr val="404040"/>
                </a:solidFill>
                <a:latin typeface="Calibri" panose="020F0502020204030204"/>
                <a:ea typeface="Calibri" panose="020F0502020204030204"/>
                <a:cs typeface="Calibri" panose="020F0502020204030204"/>
                <a:sym typeface="Calibri" panose="020F0502020204030204"/>
              </a:rPr>
              <a:t> 3</a:t>
            </a:r>
            <a:r>
              <a:rPr lang="en-US" sz="22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calcul de la sortie (</a:t>
            </a:r>
            <a:r>
              <a:rPr lang="en-US" sz="2285" b="0" i="0" u="none" strike="noStrike">
                <a:solidFill>
                  <a:srgbClr val="404040"/>
                </a:solidFill>
                <a:latin typeface="Calibri" panose="020F0502020204030204"/>
                <a:ea typeface="Calibri" panose="020F0502020204030204"/>
                <a:cs typeface="Calibri" panose="020F0502020204030204"/>
                <a:sym typeface="Calibri" panose="020F0502020204030204"/>
              </a:rPr>
              <a:t>O = PV</a:t>
            </a:r>
            <a:r>
              <a:rPr lang="en-US" sz="22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2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22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22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22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22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2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Accès total </a:t>
            </a:r>
            <a:r>
              <a:rPr lang="en-US" sz="2285" b="0" i="0" u="none" strike="noStrike">
                <a:solidFill>
                  <a:srgbClr val="404040"/>
                </a:solidFill>
                <a:latin typeface="Calibri" panose="020F0502020204030204"/>
                <a:ea typeface="Calibri" panose="020F0502020204030204"/>
                <a:cs typeface="Calibri" panose="020F0502020204030204"/>
                <a:sym typeface="Calibri" panose="020F0502020204030204"/>
              </a:rPr>
              <a:t>HBM </a:t>
            </a:r>
            <a:r>
              <a:rPr lang="en-US" sz="22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2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7" name="Picture 7"/>
          <p:cNvPicPr>
            <a:picLocks noChangeAspect="1"/>
          </p:cNvPicPr>
          <p:nvPr/>
        </p:nvPicPr>
        <p:blipFill>
          <a:blip r:embed="rId1"/>
          <a:srcRect/>
          <a:stretch>
            <a:fillRect/>
          </a:stretch>
        </p:blipFill>
        <p:spPr>
          <a:xfrm>
            <a:off x="996748" y="1740131"/>
            <a:ext cx="5296333" cy="2362979"/>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996891" y="4644457"/>
            <a:ext cx="6429145" cy="1779134"/>
          </a:xfrm>
          <a:prstGeom prst="rect">
            <a:avLst/>
          </a:prstGeom>
          <a:ln w="12700">
            <a:noFill/>
            <a:prstDash val="solid"/>
          </a:ln>
        </p:spPr>
      </p:pic>
      <p:sp>
        <p:nvSpPr>
          <p:cNvPr id="9" name="AutoShape 9"/>
          <p:cNvSpPr/>
          <p:nvPr/>
        </p:nvSpPr>
        <p:spPr>
          <a:xfrm>
            <a:off x="7853595" y="2279050"/>
            <a:ext cx="2710999" cy="646331"/>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BFBFBF"/>
                </a:solidFill>
                <a:latin typeface="Calibri" panose="020F0502020204030204"/>
                <a:ea typeface="微软雅黑" panose="020B0503020204020204" charset="-122"/>
                <a:cs typeface="微软雅黑" panose="020B0503020204020204" charset="-122"/>
                <a:sym typeface="微软雅黑" panose="020B0503020204020204" charset="-122"/>
              </a:rPr>
              <a:t>Exemple :</a:t>
            </a:r>
            <a:endParaRPr lang="en-US" sz="1100"/>
          </a:p>
          <a:p>
            <a:pPr indent="0" algn="l">
              <a:lnSpc>
                <a:spcPct val="100000"/>
              </a:lnSpc>
            </a:pPr>
            <a:r>
              <a:rPr lang="en-US" sz="1400" b="0" i="0" u="none" strike="noStrike">
                <a:solidFill>
                  <a:srgbClr val="BFBFBF"/>
                </a:solidFill>
                <a:latin typeface="Calibri" panose="020F0502020204030204"/>
                <a:ea typeface="Arial" panose="020B0604020202020204"/>
                <a:cs typeface="Arial" panose="020B0604020202020204"/>
                <a:sym typeface="Arial" panose="020B0604020202020204"/>
              </a:rPr>
              <a:t>N = 4096</a:t>
            </a:r>
            <a:r>
              <a:rPr lang="en-US" sz="1400" b="0" i="0" u="none" strike="noStrike">
                <a:solidFill>
                  <a:srgbClr val="BFBFBF"/>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b="0" i="0" u="none" strike="noStrike">
                <a:solidFill>
                  <a:srgbClr val="BFBFBF"/>
                </a:solidFill>
                <a:latin typeface="Calibri" panose="020F0502020204030204"/>
                <a:ea typeface="Arial" panose="020B0604020202020204"/>
                <a:cs typeface="Arial" panose="020B0604020202020204"/>
                <a:sym typeface="Arial" panose="020B0604020202020204"/>
              </a:rPr>
              <a:t>d = 128</a:t>
            </a:r>
            <a:r>
              <a:rPr lang="en-US" sz="1400" b="0" i="0" u="none" strike="noStrike">
                <a:solidFill>
                  <a:srgbClr val="BFBFBF"/>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00" b="0" i="0" u="none" strike="noStrike">
                <a:solidFill>
                  <a:srgbClr val="BFBFBF"/>
                </a:solidFill>
                <a:latin typeface="Calibri" panose="020F0502020204030204"/>
                <a:ea typeface="Arial" panose="020B0604020202020204"/>
                <a:cs typeface="Arial" panose="020B0604020202020204"/>
                <a:sym typeface="Arial" panose="020B0604020202020204"/>
              </a:rPr>
              <a:t>FP16</a:t>
            </a:r>
            <a:endParaRPr lang="en-US" sz="1400" b="0" i="0" u="none" strike="noStrike">
              <a:solidFill>
                <a:srgbClr val="BFBFBF"/>
              </a:solidFill>
              <a:latin typeface="Calibri" panose="020F0502020204030204"/>
              <a:ea typeface="Arial" panose="020B0604020202020204"/>
              <a:cs typeface="Arial" panose="020B0604020202020204"/>
              <a:sym typeface="Arial" panose="020B0604020202020204"/>
            </a:endParaRPr>
          </a:p>
        </p:txBody>
      </p:sp>
      <p:sp>
        <p:nvSpPr>
          <p:cNvPr id="10" name="文本占位符 9"/>
          <p:cNvSpPr>
            <a:spLocks noGrp="1"/>
          </p:cNvSpPr>
          <p:nvPr>
            <p:ph type="body" sz="quarter" idx="11"/>
          </p:nvPr>
        </p:nvSpPr>
        <p:spPr/>
        <p:txBody>
          <a:bodyPr/>
          <a:lstStyle/>
          <a:p>
            <a:endParaRPr lang="zh-CN" altLang="en-US"/>
          </a:p>
        </p:txBody>
      </p:sp>
    </p:spTree>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7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Le "mur mémoire" de l'attention standard</a:t>
            </a:r>
            <a:endParaRPr lang="en-US" sz="278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4" y="1132840"/>
            <a:ext cx="11277601" cy="4852988"/>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Problème : la complexité de l'attention standard est de</a:t>
            </a: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 O(</a:t>
            </a:r>
            <a:r>
              <a:rPr lang="en-US" sz="2200" b="0" i="1" u="none" strike="noStrike">
                <a:solidFill>
                  <a:srgbClr val="404040"/>
                </a:solidFill>
                <a:latin typeface="Calibri" panose="020F0502020204030204"/>
                <a:ea typeface="Calibri" panose="020F0502020204030204"/>
                <a:cs typeface="Calibri" panose="020F0502020204030204"/>
                <a:sym typeface="Calibri" panose="020F0502020204030204"/>
              </a:rPr>
              <a:t>n²</a:t>
            </a: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Point critique : la consommation de mémoire vidéo croît de manière quadratique avec la longueur de séquence</a:t>
            </a: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 n </a:t>
            </a:r>
            <a:r>
              <a:rPr lang="en-US" sz="2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provoquant fréquemment des dépassements de mémoire vidéo (</a:t>
            </a: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OOM</a:t>
            </a:r>
            <a:r>
              <a:rPr lang="en-US" sz="2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lors du traitement de contextes longs.</a:t>
            </a:r>
            <a:endParaRPr lang="en-US" sz="2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Question clé : avons-nous vraiment besoin de matérialiser et stocker cette énorme matrice d'attention</a:t>
            </a: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 N </a:t>
            </a:r>
            <a:r>
              <a:rPr lang="en-US" sz="2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 N </a:t>
            </a:r>
            <a:r>
              <a:rPr lang="en-US" sz="2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2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2884805" y="3605530"/>
            <a:ext cx="5701030" cy="287401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lnSpcReduction="10000"/>
          </a:bodyPr>
          <a:lstStyle>
            <a:lvl1pPr algn="ctr">
              <a:lnSpc>
                <a:spcPct val="100000"/>
              </a:lnSpc>
              <a:defRPr sz="5400" b="0" i="0" u="none" strike="noStrike" spc="0">
                <a:solidFill>
                  <a:srgbClr val="262626">
                    <a:alpha val="100000"/>
                  </a:srgbClr>
                </a:solidFill>
                <a:latin typeface="Chinese Quote"/>
              </a:defRPr>
            </a:lvl1pPr>
          </a:lstStyle>
          <a:p>
            <a:pPr indent="0" algn="ctr">
              <a:lnSpc>
                <a:spcPct val="100000"/>
              </a:lnSpc>
              <a:spcBef>
                <a:spcPts val="1500"/>
              </a:spcBef>
            </a:pPr>
            <a:r>
              <a:rPr lang="en-US">
                <a:solidFill>
                  <a:srgbClr val="262626"/>
                </a:solidFill>
                <a:latin typeface="Calibri" panose="020F0502020204030204"/>
                <a:ea typeface="Chinese Quote"/>
                <a:cs typeface="Chinese Quote"/>
                <a:sym typeface="Calibri" panose="020F0502020204030204"/>
              </a:rPr>
              <a:t>Leçon</a:t>
            </a:r>
            <a:r>
              <a:rPr lang="en-US" sz="5400" b="0" i="0" u="none" strike="noStrike">
                <a:solidFill>
                  <a:srgbClr val="262626"/>
                </a:solidFill>
                <a:latin typeface="Calibri" panose="020F0502020204030204"/>
                <a:ea typeface="Chinese Quote"/>
                <a:cs typeface="Chinese Quote"/>
                <a:sym typeface="Chinese Quote"/>
              </a:rPr>
              <a:t> 11: Flash Attention </a:t>
            </a:r>
            <a:r>
              <a:rPr lang="en-US" sz="54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Implémentation</a:t>
            </a:r>
            <a:r>
              <a:rPr lang="en-US" sz="5400" b="0" i="0" u="none" strike="noStrike">
                <a:solidFill>
                  <a:srgbClr val="262626"/>
                </a:solidFill>
                <a:latin typeface="Calibri" panose="020F0502020204030204"/>
                <a:ea typeface="Chinese Quote"/>
                <a:cs typeface="Chinese Quote"/>
                <a:sym typeface="Chinese Quote"/>
              </a:rPr>
              <a:t> I</a:t>
            </a:r>
            <a:br>
              <a:rPr lang="en-US" sz="5400" b="0" i="0" u="none" strike="noStrike">
                <a:solidFill>
                  <a:srgbClr val="262626"/>
                </a:solidFill>
                <a:latin typeface="Chinese Quote"/>
                <a:ea typeface="Chinese Quote"/>
                <a:cs typeface="Chinese Quote"/>
                <a:sym typeface="Chinese Quote"/>
              </a:rPr>
            </a:br>
            <a:r>
              <a:rPr lang="en-US" sz="54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5400" b="0" i="0" u="none" strike="noStrike">
                <a:solidFill>
                  <a:srgbClr val="262626"/>
                </a:solidFill>
                <a:latin typeface="Calibri" panose="020F0502020204030204"/>
                <a:ea typeface="Chinese Quote"/>
                <a:cs typeface="Chinese Quote"/>
                <a:sym typeface="Chinese Quote"/>
              </a:rPr>
              <a:t>IO</a:t>
            </a:r>
            <a:r>
              <a:rPr lang="en-US" sz="54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-aware)</a:t>
            </a:r>
            <a:endParaRPr lang="en-US" sz="54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Flash Attention : </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Calcul par tuiles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2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Découpage en blocs : </a:t>
            </a:r>
            <a:r>
              <a:rPr lang="en-US" altLang="zh-CN" sz="2265" b="0" i="0" u="none" strike="noStrike">
                <a:solidFill>
                  <a:srgbClr val="404040"/>
                </a:solidFill>
                <a:latin typeface="Calibri" panose="020F0502020204030204"/>
                <a:ea typeface="Calibri" panose="020F0502020204030204"/>
                <a:cs typeface="Calibri" panose="020F0502020204030204"/>
                <a:sym typeface="Calibri" panose="020F0502020204030204"/>
              </a:rPr>
              <a:t>diviser les matrices Q, K, V</a:t>
            </a:r>
            <a:r>
              <a:rPr lang="en-US" sz="22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matrices en blocs plus petits (t</a:t>
            </a:r>
            <a:r>
              <a:rPr lang="en-US" sz="2265" b="0" i="0" u="none" strike="noStrike">
                <a:solidFill>
                  <a:srgbClr val="404040"/>
                </a:solidFill>
                <a:latin typeface="Calibri" panose="020F0502020204030204"/>
                <a:ea typeface="Calibri" panose="020F0502020204030204"/>
                <a:cs typeface="Calibri" panose="020F0502020204030204"/>
                <a:sym typeface="Calibri" panose="020F0502020204030204"/>
              </a:rPr>
              <a:t>iles</a:t>
            </a:r>
            <a:r>
              <a:rPr lang="en-US" sz="22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ces blocs peuvent être entièrement placés dans</a:t>
            </a:r>
            <a:r>
              <a:rPr lang="en-US" sz="2265" b="0" i="0" u="none" strike="noStrike">
                <a:solidFill>
                  <a:srgbClr val="404040"/>
                </a:solidFill>
                <a:latin typeface="Calibri" panose="020F0502020204030204"/>
                <a:ea typeface="Calibri" panose="020F0502020204030204"/>
                <a:cs typeface="Calibri" panose="020F0502020204030204"/>
                <a:sym typeface="Calibri" panose="020F0502020204030204"/>
              </a:rPr>
              <a:t> SRAM</a:t>
            </a:r>
            <a:r>
              <a:rPr lang="en-US" sz="22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éliminant ainsi le besoin de stocker la vaste matrice d'attention intermédiaire.</a:t>
            </a:r>
            <a:endParaRPr lang="en-US" sz="22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2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Recalcul : éviter de stocker</a:t>
            </a:r>
            <a:r>
              <a:rPr lang="en-US" sz="226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2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matrices S et P</a:t>
            </a:r>
            <a:r>
              <a:rPr lang="en-US" sz="22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lors de la propagation avant ; les recalculer lors de la propagation arrière pour économiser la mémoire.</a:t>
            </a:r>
            <a:endParaRPr lang="en-US" sz="22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41404" y="3428856"/>
            <a:ext cx="6363580" cy="3141172"/>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87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Architecture de la mémoire hiérarchique de GPU</a:t>
            </a:r>
            <a:endParaRPr lang="en-US" sz="287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Différence de vitesse :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HBM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SRAM</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 facteur 10</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Exemple :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A100</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GPU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 video</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 HBM2e</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40/80 Go</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1.5-2 To/s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Cache L2 :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40 Mo</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environ</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5 To/s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Cache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L1/</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 partagee :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192 Ko/SM</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19 To/s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73677" y="3092451"/>
            <a:ext cx="5953125" cy="3629025"/>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41404" y="431629"/>
            <a:ext cx="7298853" cy="700925"/>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8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Le problème fondamental de l'attention</a:t>
            </a:r>
            <a:endParaRPr lang="en-US" sz="28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76045"/>
            <a:ext cx="7516382" cy="4725670"/>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7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Trop de</a:t>
            </a:r>
            <a:r>
              <a:rPr lang="en-US" sz="1745" b="0" i="0" u="none" strike="noStrike">
                <a:solidFill>
                  <a:srgbClr val="404040"/>
                </a:solidFill>
                <a:latin typeface="Calibri" panose="020F0502020204030204"/>
                <a:ea typeface="Calibri" panose="020F0502020204030204"/>
                <a:cs typeface="Calibri" panose="020F0502020204030204"/>
                <a:sym typeface="Calibri" panose="020F0502020204030204"/>
              </a:rPr>
              <a:t> HBM </a:t>
            </a:r>
            <a:r>
              <a:rPr lang="en-US" sz="17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lectures et écritures (intensif en mémoire)</a:t>
            </a:r>
            <a:endParaRPr lang="en-US" sz="17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Mécanisme : </a:t>
            </a:r>
            <a:r>
              <a:rPr lang="en-US" altLang="zh-CN"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donn</a:t>
            </a:r>
            <a:r>
              <a:rPr lang="en-US" altLang="en-US"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font des allers-retours r</a:t>
            </a:r>
            <a:r>
              <a:rPr lang="en-US" altLang="en-US"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t>
            </a:r>
            <a:r>
              <a:rPr lang="en-US" altLang="en-US"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a:r>
            <a:r>
              <a:rPr lang="en-US" altLang="en-US"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entre la HBM et la SRAM.</a:t>
            </a:r>
            <a:endParaRPr lang="en-US" altLang="zh-CN"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problème : le Mécanisme d'attention standard ecrit</a:t>
            </a:r>
            <a:r>
              <a:rPr lang="en-US" sz="145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QK </a:t>
            </a:r>
            <a:r>
              <a:rPr lang="en-US"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a:t>
            </a:r>
            <a:r>
              <a:rPr lang="en-US" sz="1455" b="0" i="0" u="none" strike="noStrike">
                <a:solidFill>
                  <a:srgbClr val="404040"/>
                </a:solidFill>
                <a:latin typeface="Calibri" panose="020F0502020204030204"/>
                <a:ea typeface="Calibri" panose="020F0502020204030204"/>
                <a:cs typeface="Calibri" panose="020F0502020204030204"/>
                <a:sym typeface="Calibri" panose="020F0502020204030204"/>
              </a:rPr>
              <a:t> HBM</a:t>
            </a:r>
            <a:r>
              <a:rPr lang="en-US"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puis le relit immediatement pour l'etape</a:t>
            </a:r>
            <a:r>
              <a:rPr lang="en-US" sz="1455" b="0" i="0" u="none" strike="noStrike">
                <a:solidFill>
                  <a:srgbClr val="404040"/>
                </a:solidFill>
                <a:latin typeface="Calibri" panose="020F0502020204030204"/>
                <a:ea typeface="Calibri" panose="020F0502020204030204"/>
                <a:cs typeface="Calibri" panose="020F0502020204030204"/>
                <a:sym typeface="Calibri" panose="020F0502020204030204"/>
              </a:rPr>
              <a:t> Softmax </a:t>
            </a:r>
            <a:r>
              <a:rPr lang="en-US"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Impact : le systeme passe plus de temps sur le transfert de données que sur le calcul réel, rencontrant ainsi</a:t>
            </a:r>
            <a:r>
              <a:rPr lang="en-US" sz="1455" b="0" i="0" u="none" strike="noStrike">
                <a:solidFill>
                  <a:srgbClr val="404040"/>
                </a:solidFill>
                <a:latin typeface="Calibri" panose="020F0502020204030204"/>
                <a:ea typeface="Calibri" panose="020F0502020204030204"/>
                <a:cs typeface="Calibri" panose="020F0502020204030204"/>
                <a:sym typeface="Calibri" panose="020F0502020204030204"/>
              </a:rPr>
              <a:t>un</a:t>
            </a:r>
            <a:r>
              <a:rPr lang="en-US"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mur mémoire.</a:t>
            </a:r>
            <a:endParaRPr lang="en-US"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7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Occupation mémoire quadratique (intensif en capacité mémoire)</a:t>
            </a:r>
            <a:endParaRPr lang="en-US" sz="17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Mécanisme : les matrices intermédiaires</a:t>
            </a:r>
            <a:r>
              <a:rPr lang="en-US" sz="1455" b="0" i="0" u="none" strike="noStrike">
                <a:solidFill>
                  <a:srgbClr val="404040"/>
                </a:solidFill>
                <a:latin typeface="Calibri" panose="020F0502020204030204"/>
                <a:ea typeface="Calibri" panose="020F0502020204030204"/>
                <a:cs typeface="Calibri" panose="020F0502020204030204"/>
                <a:sym typeface="Calibri" panose="020F0502020204030204"/>
              </a:rPr>
              <a:t> S </a:t>
            </a:r>
            <a:r>
              <a:rPr lang="en-US"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t>
            </a:r>
            <a:r>
              <a:rPr lang="en-US" sz="1455" b="0" i="0" u="none" strike="noStrike">
                <a:solidFill>
                  <a:srgbClr val="404040"/>
                </a:solidFill>
                <a:latin typeface="Calibri" panose="020F0502020204030204"/>
                <a:ea typeface="Calibri" panose="020F0502020204030204"/>
                <a:cs typeface="Calibri" panose="020F0502020204030204"/>
                <a:sym typeface="Calibri" panose="020F0502020204030204"/>
              </a:rPr>
              <a:t> P </a:t>
            </a:r>
            <a:r>
              <a:rPr lang="en-US"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ont une complexité de</a:t>
            </a:r>
            <a:r>
              <a:rPr lang="en-US" sz="1455" b="0" i="0" u="none" strike="noStrike">
                <a:solidFill>
                  <a:srgbClr val="404040"/>
                </a:solidFill>
                <a:latin typeface="Calibri" panose="020F0502020204030204"/>
                <a:ea typeface="Calibri" panose="020F0502020204030204"/>
                <a:cs typeface="Calibri" panose="020F0502020204030204"/>
                <a:sym typeface="Calibri" panose="020F0502020204030204"/>
              </a:rPr>
              <a:t> O(n²)</a:t>
            </a:r>
            <a:r>
              <a:rPr lang="en-US"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problème : la mémoire necessaire pour stocker la carte d'attention complete croît de manière exponentielle avec la longueur de la sequence.</a:t>
            </a:r>
            <a:endParaRPr lang="en-US"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Impact : doubler la longueur de sequence</a:t>
            </a:r>
            <a:r>
              <a:rPr lang="en-US" sz="1455" b="0" i="0" u="none" strike="noStrike">
                <a:solidFill>
                  <a:srgbClr val="404040"/>
                </a:solidFill>
                <a:latin typeface="Calibri" panose="020F0502020204030204"/>
                <a:ea typeface="Calibri" panose="020F0502020204030204"/>
                <a:cs typeface="Calibri" panose="020F0502020204030204"/>
                <a:sym typeface="Calibri" panose="020F0502020204030204"/>
              </a:rPr>
              <a:t> N </a:t>
            </a:r>
            <a:r>
              <a:rPr lang="en-US"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entraîne une multiplication par</a:t>
            </a:r>
            <a:r>
              <a:rPr lang="en-US" sz="1455" b="0" i="0" u="none" strike="noStrike">
                <a:solidFill>
                  <a:srgbClr val="404040"/>
                </a:solidFill>
                <a:latin typeface="Calibri" panose="020F0502020204030204"/>
                <a:ea typeface="Calibri" panose="020F0502020204030204"/>
                <a:cs typeface="Calibri" panose="020F0502020204030204"/>
                <a:sym typeface="Calibri" panose="020F0502020204030204"/>
              </a:rPr>
              <a:t> 4 </a:t>
            </a:r>
            <a:r>
              <a:rPr lang="en-US"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 l'utilisation mémoire, provoquant fréquemment des débordements mémoire</a:t>
            </a:r>
            <a:r>
              <a:rPr lang="en-US" sz="1455" b="0" i="0" u="none" strike="noStrike">
                <a:solidFill>
                  <a:srgbClr val="404040"/>
                </a:solidFill>
                <a:latin typeface="Calibri" panose="020F0502020204030204"/>
                <a:ea typeface="Calibri" panose="020F0502020204030204"/>
                <a:cs typeface="Calibri" panose="020F0502020204030204"/>
                <a:sym typeface="Calibri" panose="020F0502020204030204"/>
              </a:rPr>
              <a:t> (OOM) </a:t>
            </a:r>
            <a:r>
              <a:rPr lang="en-US"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lors du traitement de </a:t>
            </a:r>
            <a:r>
              <a:rPr lang="en-US" altLang="zh-CN"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a:r>
            <a:r>
              <a:rPr lang="en-US" altLang="en-US"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â</a:t>
            </a:r>
            <a:r>
              <a:rPr lang="en-US" altLang="zh-CN"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ches à long contexte</a:t>
            </a:r>
            <a:r>
              <a:rPr lang="en-US"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8040257" y="1082339"/>
            <a:ext cx="4151743" cy="2346661"/>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8819574" y="3608388"/>
            <a:ext cx="2593107" cy="2462205"/>
          </a:xfrm>
          <a:prstGeom prst="rect">
            <a:avLst/>
          </a:prstGeom>
          <a:ln w="12700">
            <a:noFill/>
            <a:prstDash val="solid"/>
          </a:ln>
        </p:spPr>
      </p:pic>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1004570" y="3801745"/>
            <a:ext cx="6991350" cy="2737485"/>
          </a:xfrm>
          <a:prstGeom prst="rect">
            <a:avLst/>
          </a:prstGeom>
          <a:ln w="12700">
            <a:noFill/>
            <a:prstDash val="solid"/>
          </a:ln>
        </p:spPr>
      </p:pic>
      <p:sp>
        <p:nvSpPr>
          <p:cNvPr id="3" name="AutoShape 3"/>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585" b="0" i="0" u="none" strike="noStrike">
                <a:solidFill>
                  <a:srgbClr val="262626"/>
                </a:solidFill>
                <a:latin typeface="Calibri" panose="020F0502020204030204"/>
                <a:ea typeface="Calibri" panose="020F0502020204030204"/>
                <a:cs typeface="Calibri" panose="020F0502020204030204"/>
                <a:sym typeface="Calibri" panose="020F0502020204030204"/>
              </a:rPr>
              <a:t>Flash Attention</a:t>
            </a:r>
            <a:r>
              <a:rPr lang="en-US" sz="25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idée centrale</a:t>
            </a:r>
            <a:r>
              <a:rPr lang="en-US" sz="2585" b="0" i="0" u="none" strike="noStrike">
                <a:solidFill>
                  <a:srgbClr val="262626"/>
                </a:solidFill>
                <a:latin typeface="Calibri" panose="020F0502020204030204"/>
                <a:ea typeface="Calibri" panose="020F0502020204030204"/>
                <a:cs typeface="Calibri" panose="020F0502020204030204"/>
                <a:sym typeface="Calibri" panose="020F0502020204030204"/>
              </a:rPr>
              <a:t> : </a:t>
            </a:r>
            <a:r>
              <a:rPr lang="en-US" sz="25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réduire le déplacement de données</a:t>
            </a:r>
            <a:endParaRPr lang="en-US" sz="25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9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Moins de transfert de données, une vitesse plus rapide</a:t>
            </a:r>
            <a:endParaRPr lang="en-US" sz="19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Philosophie de conception : optimiser le transfert de données, pas seulement le calcul</a:t>
            </a:r>
            <a:endParaRPr lang="en-US"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9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Deux piliers techniques :</a:t>
            </a:r>
            <a:endParaRPr lang="en-US" sz="19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coupage en blocs (tiling)</a:t>
            </a:r>
            <a:r>
              <a:rPr lang="en-US"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decomposer les grandes taches en blocs plus petits </a:t>
            </a:r>
            <a:r>
              <a:rPr lang="en-US" altLang="zh-CN"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les adapter à la capacit</a:t>
            </a:r>
            <a:r>
              <a:rPr lang="en-US" altLang="en-US"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la SRAM</a:t>
            </a:r>
            <a:r>
              <a:rPr lang="en-US"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Recalcul : lors de la propagation inverse, au lieu de stocker les activations intermédiaires de la propagation avant, on les recalcule au besoin, economisant ainsi de l'espace mémoire.</a:t>
            </a:r>
            <a:endParaRPr lang="en-US"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coupage en blocs (Tiling)</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8256270" cy="437705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Pourquoi utiliser le </a:t>
            </a:r>
            <a:r>
              <a:rPr lang="en-US" altLang="zh-CN" sz="180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Tiling</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SRAM du GPU (par exemple la m</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L1/partag</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dans l’A100) est extr</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mement rapide, mais sa capacit</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est tr</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limit</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(g</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ralement seulement quelques centaines de Ko).</a:t>
            </a:r>
            <a:endPar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500" b="0" i="0" u="none" strike="noStrike">
                <a:solidFill>
                  <a:srgbClr val="404040"/>
                </a:solidFill>
                <a:latin typeface="Calibri" panose="020F0502020204030204"/>
                <a:ea typeface="Calibri" panose="020F0502020204030204"/>
                <a:cs typeface="Calibri" panose="020F0502020204030204"/>
                <a:sym typeface="Calibri" panose="020F0502020204030204"/>
              </a:rPr>
              <a:t>Une matrice traditionnelle de taille </a:t>
            </a: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N x N </a:t>
            </a:r>
            <a:r>
              <a:rPr 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 exemple, lorsque</a:t>
            </a: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 N=4096 </a:t>
            </a:r>
            <a:r>
              <a:rPr 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passe largement la capacit</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la SRAM ; elle doit donc </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 divis</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en </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blocs </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pouvant tenir dans le cache</a:t>
            </a:r>
            <a:r>
              <a:rPr 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Principe de fonctionnement :</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matrices d'entree</a:t>
            </a: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 Q</a:t>
            </a:r>
            <a:r>
              <a:rPr 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K </a:t>
            </a:r>
            <a:r>
              <a:rPr 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t>
            </a: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 V </a:t>
            </a:r>
            <a:r>
              <a:rPr 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sont </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coup</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a:t>
            </a:r>
            <a:r>
              <a:rPr 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 blocs. En utilisant des boucles imbriquees, ces blocs sont </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charg</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un par un depuis la HBM vers la SRAM pour y effectuer les calculs localement</a:t>
            </a:r>
            <a:r>
              <a:rPr 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Am</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lioration </a:t>
            </a:r>
            <a:r>
              <a:rPr 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des performances : </a:t>
            </a:r>
            <a:r>
              <a:rPr lang="en-US" altLang="zh-CN" sz="1500" b="0" i="0" u="none" strike="noStrike">
                <a:solidFill>
                  <a:srgbClr val="404040"/>
                </a:solidFill>
                <a:latin typeface="Calibri" panose="020F0502020204030204"/>
                <a:ea typeface="Calibri" panose="020F0502020204030204"/>
                <a:cs typeface="Calibri" panose="020F0502020204030204"/>
                <a:sym typeface="Calibri" panose="020F0502020204030204"/>
              </a:rPr>
              <a:t>Les produits scalaires partiels et les accumulations pour le Softmax sont enti</a:t>
            </a:r>
            <a:r>
              <a:rPr lang="en-US" alt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1500" b="0" i="0" u="none" strike="noStrike">
                <a:solidFill>
                  <a:srgbClr val="404040"/>
                </a:solidFill>
                <a:latin typeface="Calibri" panose="020F0502020204030204"/>
                <a:ea typeface="Calibri" panose="020F0502020204030204"/>
                <a:cs typeface="Calibri" panose="020F0502020204030204"/>
                <a:sym typeface="Calibri" panose="020F0502020204030204"/>
              </a:rPr>
              <a:t>rement r</a:t>
            </a:r>
            <a:r>
              <a:rPr lang="en-US" alt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00" b="0" i="0" u="none" strike="noStrike">
                <a:solidFill>
                  <a:srgbClr val="404040"/>
                </a:solidFill>
                <a:latin typeface="Calibri" panose="020F0502020204030204"/>
                <a:ea typeface="Calibri" panose="020F0502020204030204"/>
                <a:cs typeface="Calibri" panose="020F0502020204030204"/>
                <a:sym typeface="Calibri" panose="020F0502020204030204"/>
              </a:rPr>
              <a:t>alis</a:t>
            </a:r>
            <a:r>
              <a:rPr lang="en-US" alt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00" b="0" i="0" u="none" strike="noStrike">
                <a:solidFill>
                  <a:srgbClr val="404040"/>
                </a:solidFill>
                <a:latin typeface="Calibri" panose="020F0502020204030204"/>
                <a:ea typeface="Calibri" panose="020F0502020204030204"/>
                <a:cs typeface="Calibri" panose="020F0502020204030204"/>
                <a:sym typeface="Calibri" panose="020F0502020204030204"/>
              </a:rPr>
              <a:t>s dans la SRAM. Cela </a:t>
            </a:r>
            <a:r>
              <a:rPr lang="en-US" alt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00" b="0" i="0" u="none" strike="noStrike">
                <a:solidFill>
                  <a:srgbClr val="404040"/>
                </a:solidFill>
                <a:latin typeface="Calibri" panose="020F0502020204030204"/>
                <a:ea typeface="Calibri" panose="020F0502020204030204"/>
                <a:cs typeface="Calibri" panose="020F0502020204030204"/>
                <a:sym typeface="Calibri" panose="020F0502020204030204"/>
              </a:rPr>
              <a:t>vite de r</a:t>
            </a:r>
            <a:r>
              <a:rPr lang="en-US" alt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éé</a:t>
            </a:r>
            <a:r>
              <a:rPr lang="en-US" altLang="zh-CN" sz="1500" b="0" i="0" u="none" strike="noStrike">
                <a:solidFill>
                  <a:srgbClr val="404040"/>
                </a:solidFill>
                <a:latin typeface="Calibri" panose="020F0502020204030204"/>
                <a:ea typeface="Calibri" panose="020F0502020204030204"/>
                <a:cs typeface="Calibri" panose="020F0502020204030204"/>
                <a:sym typeface="Calibri" panose="020F0502020204030204"/>
              </a:rPr>
              <a:t>crire les r</a:t>
            </a:r>
            <a:r>
              <a:rPr lang="en-US" alt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00" b="0" i="0" u="none" strike="noStrike">
                <a:solidFill>
                  <a:srgbClr val="404040"/>
                </a:solidFill>
                <a:latin typeface="Calibri" panose="020F0502020204030204"/>
                <a:ea typeface="Calibri" panose="020F0502020204030204"/>
                <a:cs typeface="Calibri" panose="020F0502020204030204"/>
                <a:sym typeface="Calibri" panose="020F0502020204030204"/>
              </a:rPr>
              <a:t>sultats interm</a:t>
            </a:r>
            <a:r>
              <a:rPr lang="en-US" alt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00" b="0" i="0" u="none" strike="noStrike">
                <a:solidFill>
                  <a:srgbClr val="404040"/>
                </a:solidFill>
                <a:latin typeface="Calibri" panose="020F0502020204030204"/>
                <a:ea typeface="Calibri" panose="020F0502020204030204"/>
                <a:cs typeface="Calibri" panose="020F0502020204030204"/>
                <a:sym typeface="Calibri" panose="020F0502020204030204"/>
              </a:rPr>
              <a:t>diaires de taille</a:t>
            </a: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 N x N </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 la HBM plus lente</a:t>
            </a:r>
            <a:r>
              <a:rPr 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8836124" y="1144587"/>
            <a:ext cx="3224258" cy="3113712"/>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8789425" y="4403120"/>
            <a:ext cx="3317656" cy="1629021"/>
          </a:xfrm>
          <a:prstGeom prst="rect">
            <a:avLst/>
          </a:prstGeom>
          <a:ln w="12700">
            <a:noFill/>
            <a:prstDash val="solid"/>
          </a:ln>
        </p:spPr>
      </p:pic>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Demonstration dynamique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Processus de chargement des blocs.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523873" y="1980407"/>
            <a:ext cx="7620000" cy="428625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Comparaison des </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acc</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 </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mémoire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Attention standard</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vs. Flash Attention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879765" y="1842945"/>
            <a:ext cx="8672944" cy="4878531"/>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Fusion de noyaux</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0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m</a:t>
            </a:r>
            <a:r>
              <a:rPr lang="en-US" altLang="en-US" sz="20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canisme d'attention standard lance des noyaux ind</a:t>
            </a:r>
            <a:r>
              <a:rPr lang="en-US" altLang="en-US" sz="20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pendants</a:t>
            </a:r>
            <a:endParaRPr lang="en-US" sz="20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 lancement </a:t>
            </a:r>
            <a:r>
              <a:rPr lang="en-US" altLang="zh-CN" sz="1735" b="0" i="0" u="none" strike="noStrike">
                <a:solidFill>
                  <a:srgbClr val="404040"/>
                </a:solidFill>
                <a:latin typeface="Calibri" panose="020F0502020204030204"/>
                <a:ea typeface="Calibri" panose="020F0502020204030204"/>
                <a:cs typeface="Calibri" panose="020F0502020204030204"/>
                <a:sym typeface="Calibri" panose="020F0502020204030204"/>
              </a:rPr>
              <a:t>vide la SRAM et r</a:t>
            </a:r>
            <a:r>
              <a:rPr lang="en-US" altLang="en-US" sz="1735" b="0" i="0" u="none" strike="noStrike">
                <a:solidFill>
                  <a:srgbClr val="404040"/>
                </a:solidFill>
                <a:latin typeface="Calibri" panose="020F0502020204030204"/>
                <a:ea typeface="Calibri" panose="020F0502020204030204"/>
                <a:cs typeface="Calibri" panose="020F0502020204030204"/>
                <a:sym typeface="Calibri" panose="020F0502020204030204"/>
              </a:rPr>
              <a:t>éé</a:t>
            </a:r>
            <a:r>
              <a:rPr lang="en-US" altLang="zh-CN" sz="1735" b="0" i="0" u="none" strike="noStrike">
                <a:solidFill>
                  <a:srgbClr val="404040"/>
                </a:solidFill>
                <a:latin typeface="Calibri" panose="020F0502020204030204"/>
                <a:ea typeface="Calibri" panose="020F0502020204030204"/>
                <a:cs typeface="Calibri" panose="020F0502020204030204"/>
                <a:sym typeface="Calibri" panose="020F0502020204030204"/>
              </a:rPr>
              <a:t>crit les r</a:t>
            </a:r>
            <a:r>
              <a:rPr lang="en-US" altLang="en-US" sz="173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35" b="0" i="0" u="none" strike="noStrike">
                <a:solidFill>
                  <a:srgbClr val="404040"/>
                </a:solidFill>
                <a:latin typeface="Calibri" panose="020F0502020204030204"/>
                <a:ea typeface="Calibri" panose="020F0502020204030204"/>
                <a:cs typeface="Calibri" panose="020F0502020204030204"/>
                <a:sym typeface="Calibri" panose="020F0502020204030204"/>
              </a:rPr>
              <a:t>sultats dans la HBM, entra</a:t>
            </a:r>
            <a:r>
              <a:rPr lang="en-US" altLang="en-US" sz="1735" b="0" i="0" u="none" strike="noStrike">
                <a:solidFill>
                  <a:srgbClr val="404040"/>
                </a:solidFill>
                <a:latin typeface="Calibri" panose="020F0502020204030204"/>
                <a:ea typeface="Calibri" panose="020F0502020204030204"/>
                <a:cs typeface="Calibri" panose="020F0502020204030204"/>
                <a:sym typeface="Calibri" panose="020F0502020204030204"/>
              </a:rPr>
              <a:t>î</a:t>
            </a:r>
            <a:r>
              <a:rPr lang="en-US" altLang="zh-CN" sz="1735" b="0" i="0" u="none" strike="noStrike">
                <a:solidFill>
                  <a:srgbClr val="404040"/>
                </a:solidFill>
                <a:latin typeface="Calibri" panose="020F0502020204030204"/>
                <a:ea typeface="Calibri" panose="020F0502020204030204"/>
                <a:cs typeface="Calibri" panose="020F0502020204030204"/>
                <a:sym typeface="Calibri" panose="020F0502020204030204"/>
              </a:rPr>
              <a:t>nant un important gaspillage d'E/S</a:t>
            </a:r>
            <a:r>
              <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Flash Attention fusionne toute la logique dans un seul noyau hautement </a:t>
            </a:r>
            <a:r>
              <a:rPr lang="en-US" altLang="zh-CN" sz="20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
            </a:r>
            <a:r>
              <a:rPr lang="en-US" altLang="en-US" sz="20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endParaRPr lang="en-US" altLang="en-US" sz="20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a:t>
            </a:r>
            <a:r>
              <a:rPr lang="en-US" alt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centr</a:t>
            </a:r>
            <a:r>
              <a:rPr lang="en-US" alt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r>
              <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a:t>
            </a:r>
            <a:r>
              <a:rPr lang="en-US" sz="1735" b="0" i="0" u="none" strike="noStrike">
                <a:solidFill>
                  <a:srgbClr val="404040"/>
                </a:solidFill>
                <a:latin typeface="Calibri" panose="020F0502020204030204"/>
                <a:ea typeface="Calibri" panose="020F0502020204030204"/>
                <a:cs typeface="Calibri" panose="020F0502020204030204"/>
                <a:sym typeface="Calibri" panose="020F0502020204030204"/>
              </a:rPr>
              <a:t> la SRAM </a:t>
            </a:r>
            <a:r>
              <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chargement par blocs, produit scalaire et</a:t>
            </a:r>
            <a:r>
              <a:rPr lang="en-US" sz="1735" b="0" i="0" u="none" strike="noStrike">
                <a:solidFill>
                  <a:srgbClr val="404040"/>
                </a:solidFill>
                <a:latin typeface="Calibri" panose="020F0502020204030204"/>
                <a:ea typeface="Calibri" panose="020F0502020204030204"/>
                <a:cs typeface="Calibri" panose="020F0502020204030204"/>
                <a:sym typeface="Calibri" panose="020F0502020204030204"/>
              </a:rPr>
              <a:t> softmax </a:t>
            </a:r>
            <a:r>
              <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 ligne avec somme </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pond</a:t>
            </a:r>
            <a:r>
              <a:rPr lang="en-US" alt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sont effectu</a:t>
            </a:r>
            <a:r>
              <a:rPr lang="en-US" alt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dans une seule boucle</a:t>
            </a:r>
            <a:r>
              <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4959225" y="3524449"/>
            <a:ext cx="5780699" cy="3299328"/>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1202506" y="3429000"/>
            <a:ext cx="3078087" cy="3394777"/>
          </a:xfrm>
          <a:prstGeom prst="rect">
            <a:avLst/>
          </a:prstGeom>
          <a:ln w="12700">
            <a:noFill/>
            <a:prstDash val="solid"/>
          </a:ln>
        </p:spPr>
      </p:pic>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2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Ordonnancement SRAM : d</a:t>
            </a:r>
            <a:r>
              <a:rPr lang="en-US" altLang="en-US" sz="2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coupage en blocs </a:t>
            </a:r>
            <a:endParaRPr lang="en-US" altLang="zh-CN" sz="2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altLang="zh-CN" sz="2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et efficacit</a:t>
            </a:r>
            <a:r>
              <a:rPr lang="en-US" altLang="en-US" sz="2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m</a:t>
            </a:r>
            <a:r>
              <a:rPr lang="en-US" altLang="en-US" sz="2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moire</a:t>
            </a:r>
            <a:endParaRPr lang="en-US" altLang="zh-CN" sz="2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Stratégie d'ordonnancement : découpage par blocs</a:t>
            </a:r>
            <a:endParaRPr lang="en-US" sz="20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Partitionnement : </a:t>
            </a:r>
            <a:r>
              <a:rPr lang="en-US" sz="1725" b="0" i="0" u="none" strike="noStrike">
                <a:solidFill>
                  <a:srgbClr val="404040"/>
                </a:solidFill>
                <a:latin typeface="Calibri" panose="020F0502020204030204"/>
                <a:ea typeface="Calibri" panose="020F0502020204030204"/>
                <a:cs typeface="Calibri" panose="020F0502020204030204"/>
                <a:sym typeface="Calibri" panose="020F0502020204030204"/>
              </a:rPr>
              <a:t>Q est </a:t>
            </a:r>
            <a:r>
              <a:rPr lang="en-US" sz="17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divisée par lignes ; </a:t>
            </a:r>
            <a:r>
              <a:rPr lang="en-US" sz="1725" b="0" i="0" u="none" strike="noStrike">
                <a:solidFill>
                  <a:srgbClr val="404040"/>
                </a:solidFill>
                <a:latin typeface="Calibri" panose="020F0502020204030204"/>
                <a:ea typeface="Calibri" panose="020F0502020204030204"/>
                <a:cs typeface="Calibri" panose="020F0502020204030204"/>
                <a:sym typeface="Calibri" panose="020F0502020204030204"/>
              </a:rPr>
              <a:t>K </a:t>
            </a:r>
            <a:r>
              <a:rPr lang="en-US" sz="17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t>
            </a:r>
            <a:r>
              <a:rPr lang="en-US" sz="1725" b="0" i="0" u="none" strike="noStrike">
                <a:solidFill>
                  <a:srgbClr val="404040"/>
                </a:solidFill>
                <a:latin typeface="Calibri" panose="020F0502020204030204"/>
                <a:ea typeface="Calibri" panose="020F0502020204030204"/>
                <a:cs typeface="Calibri" panose="020F0502020204030204"/>
                <a:sym typeface="Calibri" panose="020F0502020204030204"/>
              </a:rPr>
              <a:t> V sont </a:t>
            </a:r>
            <a:r>
              <a:rPr lang="en-US" sz="17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divisées par colonnes.</a:t>
            </a:r>
            <a:endParaRPr lang="en-US" sz="17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Exécution en double boucle :</a:t>
            </a:r>
            <a:endParaRPr lang="en-US" sz="17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3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Boucle externe : </a:t>
            </a:r>
            <a:r>
              <a:rPr lang="en-US" altLang="zh-CN" sz="1380" b="0" i="0" u="none" strike="noStrike">
                <a:solidFill>
                  <a:srgbClr val="404040"/>
                </a:solidFill>
                <a:latin typeface="Calibri" panose="020F0502020204030204"/>
                <a:ea typeface="Calibri" panose="020F0502020204030204"/>
                <a:cs typeface="Calibri" panose="020F0502020204030204"/>
                <a:sym typeface="Calibri" panose="020F0502020204030204"/>
              </a:rPr>
              <a:t>charger un bloc de donn</a:t>
            </a:r>
            <a:r>
              <a:rPr lang="en-US" altLang="en-US" sz="138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380" b="0" i="0" u="none" strike="noStrike">
                <a:solidFill>
                  <a:srgbClr val="404040"/>
                </a:solidFill>
                <a:latin typeface="Calibri" panose="020F0502020204030204"/>
                <a:ea typeface="Calibri" panose="020F0502020204030204"/>
                <a:cs typeface="Calibri" panose="020F0502020204030204"/>
                <a:sym typeface="Calibri" panose="020F0502020204030204"/>
              </a:rPr>
              <a:t>es de </a:t>
            </a:r>
            <a:r>
              <a:rPr lang="en-US" sz="1380" b="0" i="0" u="none" strike="noStrike">
                <a:solidFill>
                  <a:srgbClr val="404040"/>
                </a:solidFill>
                <a:latin typeface="Calibri" panose="020F0502020204030204"/>
                <a:ea typeface="Calibri" panose="020F0502020204030204"/>
                <a:cs typeface="Calibri" panose="020F0502020204030204"/>
                <a:sym typeface="Calibri" panose="020F0502020204030204"/>
              </a:rPr>
              <a:t>K </a:t>
            </a:r>
            <a:r>
              <a:rPr lang="en-US" sz="13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t>
            </a:r>
            <a:r>
              <a:rPr lang="en-US" sz="1380" b="0" i="0" u="none" strike="noStrike">
                <a:solidFill>
                  <a:srgbClr val="404040"/>
                </a:solidFill>
                <a:latin typeface="Calibri" panose="020F0502020204030204"/>
                <a:ea typeface="Calibri" panose="020F0502020204030204"/>
                <a:cs typeface="Calibri" panose="020F0502020204030204"/>
                <a:sym typeface="Calibri" panose="020F0502020204030204"/>
              </a:rPr>
              <a:t> V </a:t>
            </a:r>
            <a:r>
              <a:rPr lang="en-US" altLang="zh-CN" sz="1380" b="0" i="0" u="none" strike="noStrike">
                <a:solidFill>
                  <a:srgbClr val="404040"/>
                </a:solidFill>
                <a:latin typeface="Calibri" panose="020F0502020204030204"/>
                <a:ea typeface="Calibri" panose="020F0502020204030204"/>
                <a:cs typeface="Calibri" panose="020F0502020204030204"/>
                <a:sym typeface="Calibri" panose="020F0502020204030204"/>
              </a:rPr>
              <a:t>dans la SRAM</a:t>
            </a:r>
            <a:r>
              <a:rPr lang="en-US" sz="13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3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3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Boucle interne : </a:t>
            </a:r>
            <a:r>
              <a:rPr lang="en-US" altLang="zh-CN" sz="1380" b="0" i="0" u="none" strike="noStrike">
                <a:solidFill>
                  <a:srgbClr val="404040"/>
                </a:solidFill>
                <a:latin typeface="Calibri" panose="020F0502020204030204"/>
                <a:ea typeface="Calibri" panose="020F0502020204030204"/>
                <a:cs typeface="Calibri" panose="020F0502020204030204"/>
                <a:sym typeface="Calibri" panose="020F0502020204030204"/>
              </a:rPr>
              <a:t>charger un bloc de </a:t>
            </a:r>
            <a:r>
              <a:rPr lang="en-US" sz="1380" b="0" i="0" u="none" strike="noStrike">
                <a:solidFill>
                  <a:srgbClr val="404040"/>
                </a:solidFill>
                <a:latin typeface="Calibri" panose="020F0502020204030204"/>
                <a:ea typeface="Calibri" panose="020F0502020204030204"/>
                <a:cs typeface="Calibri" panose="020F0502020204030204"/>
                <a:sym typeface="Calibri" panose="020F0502020204030204"/>
              </a:rPr>
              <a:t>Q</a:t>
            </a:r>
            <a:r>
              <a:rPr lang="en-US" altLang="zh-CN" sz="13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effectuer le produit scalaire et mettre à jour la sortie</a:t>
            </a:r>
            <a:r>
              <a:rPr lang="en-US" sz="13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3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Résultat : le calcul et l'utilisation de la matrice d'attention intermédiaire se font entièrement dans</a:t>
            </a:r>
            <a:r>
              <a:rPr lang="en-US" sz="1725" b="0" i="0" u="none" strike="noStrike">
                <a:solidFill>
                  <a:srgbClr val="404040"/>
                </a:solidFill>
                <a:latin typeface="Calibri" panose="020F0502020204030204"/>
                <a:ea typeface="Calibri" panose="020F0502020204030204"/>
                <a:cs typeface="Calibri" panose="020F0502020204030204"/>
                <a:sym typeface="Calibri" panose="020F0502020204030204"/>
              </a:rPr>
              <a:t> la SRAM </a:t>
            </a:r>
            <a:r>
              <a:rPr lang="en-US" sz="17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17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sans acc</a:t>
            </a:r>
            <a:r>
              <a:rPr lang="en-US" altLang="en-US" sz="17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der à la HBM</a:t>
            </a:r>
            <a:r>
              <a:rPr lang="en-US" sz="17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7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077073" y="4087090"/>
            <a:ext cx="2634385" cy="2634385"/>
          </a:xfrm>
          <a:prstGeom prst="rect">
            <a:avLst/>
          </a:prstGeom>
          <a:ln w="12700">
            <a:noFill/>
            <a:prstDash val="solid"/>
          </a:ln>
        </p:spPr>
      </p:pic>
      <p:pic>
        <p:nvPicPr>
          <p:cNvPr id="7" name="Picture 7"/>
          <p:cNvPicPr>
            <a:picLocks noChangeAspect="1"/>
          </p:cNvPicPr>
          <p:nvPr/>
        </p:nvPicPr>
        <p:blipFill>
          <a:blip r:embed="rId2"/>
          <a:srcRect r="45666" b="10817"/>
          <a:stretch>
            <a:fillRect/>
          </a:stretch>
        </p:blipFill>
        <p:spPr>
          <a:xfrm>
            <a:off x="938404" y="3925533"/>
            <a:ext cx="4796753" cy="2795943"/>
          </a:xfrm>
          <a:prstGeom prst="rect">
            <a:avLst/>
          </a:prstGeom>
          <a:ln w="12700">
            <a:noFill/>
            <a:prstDash val="solid"/>
          </a:ln>
        </p:spPr>
      </p:pic>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8442325" y="3482975"/>
            <a:ext cx="3251200" cy="3109595"/>
          </a:xfrm>
          <a:prstGeom prst="rect">
            <a:avLst/>
          </a:prstGeom>
          <a:ln w="12700">
            <a:noFill/>
            <a:prstDash val="solid"/>
          </a:ln>
        </p:spPr>
      </p:pic>
      <p:sp>
        <p:nvSpPr>
          <p:cNvPr id="3" name="AutoShape 3"/>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Impl</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mentation </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de la propagation avant</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9" hasCustomPrompt="1"/>
          </p:nvPr>
        </p:nvSpPr>
        <p:spPr>
          <a:xfrm>
            <a:off x="523875" y="1323975"/>
            <a:ext cx="11450320" cy="485330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Comment la technique de découpage en blocs permet </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d’effectuer le calcul sans stocker la matrice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N x N</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Boucle externe (parcourt les blocs de</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K et</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V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d</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couper les matrices</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K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V </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 blocs de colonnes et les charger dans la SRAM.</a:t>
            </a:r>
            <a:endPar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Boucle interne (parcourt les blocs de</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Q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d</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couper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Q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 blocs de lignes. Effectue le calcul pour chaque bloc de</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Q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 sur puce : calcule les scores </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d’attention</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locaux dans</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la SRAM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effectue immediatement la somme ponderee sur</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V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criture</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ne r</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éé</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crire que la matrice de sortie finale</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O</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(taille</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N x d</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dans</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la HBM</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contournant ainsi compl</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tement le stockage interm</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diaire de taille</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O(n^2)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7" name="Picture 7"/>
          <p:cNvPicPr>
            <a:picLocks noChangeAspect="1"/>
          </p:cNvPicPr>
          <p:nvPr/>
        </p:nvPicPr>
        <p:blipFill>
          <a:blip r:embed="rId2"/>
          <a:srcRect r="45666" b="10817"/>
          <a:stretch>
            <a:fillRect/>
          </a:stretch>
        </p:blipFill>
        <p:spPr>
          <a:xfrm>
            <a:off x="3073286" y="4594972"/>
            <a:ext cx="3758287" cy="2190639"/>
          </a:xfrm>
          <a:prstGeom prst="rect">
            <a:avLst/>
          </a:prstGeom>
          <a:ln w="12700">
            <a:noFill/>
            <a:prstDash val="solid"/>
          </a:ln>
        </p:spPr>
      </p:pic>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7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Benchmarks de performance et d</a:t>
            </a:r>
            <a:r>
              <a:rPr lang="en-US" altLang="en-US" sz="27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7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bit</a:t>
            </a:r>
            <a:endParaRPr lang="en-US" altLang="zh-CN" sz="27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5" name="Picture 5"/>
          <p:cNvPicPr>
            <a:picLocks noGrp="1" noChangeAspect="1"/>
          </p:cNvPicPr>
          <p:nvPr>
            <p:ph type="body" sz="quarter" idx="9"/>
          </p:nvPr>
        </p:nvPicPr>
        <p:blipFill>
          <a:blip r:embed="rId1"/>
          <a:srcRect/>
          <a:stretch>
            <a:fillRect/>
          </a:stretch>
        </p:blipFill>
        <p:spPr>
          <a:xfrm>
            <a:off x="309245" y="1233170"/>
            <a:ext cx="6808470" cy="4723130"/>
          </a:xfrm>
          <a:prstGeom prst="rect">
            <a:avLst/>
          </a:prstGeom>
        </p:spPr>
      </p:pic>
      <p:pic>
        <p:nvPicPr>
          <p:cNvPr id="6" name="Picture 6"/>
          <p:cNvPicPr>
            <a:picLocks noChangeAspect="1"/>
          </p:cNvPicPr>
          <p:nvPr/>
        </p:nvPicPr>
        <p:blipFill>
          <a:blip r:embed="rId2"/>
          <a:srcRect/>
          <a:stretch>
            <a:fillRect/>
          </a:stretch>
        </p:blipFill>
        <p:spPr>
          <a:xfrm>
            <a:off x="7215372" y="2415237"/>
            <a:ext cx="4894713" cy="2357493"/>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9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29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9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fi : d</a:t>
            </a:r>
            <a:r>
              <a:rPr lang="en-US" altLang="en-US" sz="29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9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pendance globale de Softmax </a:t>
            </a:r>
            <a:endParaRPr lang="en-US" altLang="zh-CN" sz="29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50000"/>
              </a:lnSpc>
              <a:defRPr sz="2400" b="0" i="0" u="none" strike="noStrike" spc="0">
                <a:solidFill>
                  <a:srgbClr val="404040">
                    <a:alpha val="100000"/>
                  </a:srgbClr>
                </a:solidFill>
                <a:latin typeface="微软雅黑" panose="020B0503020204020204" charset="-122"/>
              </a:defRPr>
            </a:lvl1pPr>
          </a:lstStyle>
          <a:p>
            <a:pPr marL="304800" indent="-304800" algn="l">
              <a:lnSpc>
                <a:spcPct val="150000"/>
              </a:lnSpc>
              <a:spcBef>
                <a:spcPts val="1500"/>
              </a:spcBef>
              <a:buClr>
                <a:srgbClr val="404040"/>
              </a:buClr>
              <a:buChar char="•"/>
            </a:pPr>
            <a:r>
              <a:rPr lang="en-US" sz="19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Pourquoi ne pouvons-nous pas</a:t>
            </a:r>
            <a:r>
              <a:rPr lang="en-US" altLang="zh-CN" sz="19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calculer directement la fonction Softmax sur un seul bloc de donn</a:t>
            </a:r>
            <a:r>
              <a:rPr lang="en-US" altLang="en-US" sz="19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a:t>
            </a:r>
            <a:endParaRPr lang="en-US" altLang="zh-CN" sz="19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50000"/>
              </a:lnSpc>
              <a:spcBef>
                <a:spcPts val="1500"/>
              </a:spcBef>
              <a:buClr>
                <a:srgbClr val="404040"/>
              </a:buClr>
              <a:buChar char="•"/>
            </a:pPr>
            <a:r>
              <a:rPr lang="en-US" altLang="zh-CN" sz="19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Description du probl</a:t>
            </a:r>
            <a:r>
              <a:rPr lang="en-US" altLang="en-US" sz="19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9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a:t>
            </a:r>
            <a:r>
              <a:rPr lang="en-US" sz="19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9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50000"/>
              </a:lnSpc>
              <a:spcBef>
                <a:spcPts val="750"/>
              </a:spcBef>
              <a:buClr>
                <a:srgbClr val="404040"/>
              </a:buClr>
              <a:buChar char="•"/>
            </a:pPr>
            <a:r>
              <a:rPr lang="en-US"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Definition :</a:t>
            </a:r>
            <a:endParaRPr lang="en-US"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50000"/>
              </a:lnSpc>
              <a:spcBef>
                <a:spcPts val="750"/>
              </a:spcBef>
              <a:buClr>
                <a:srgbClr val="404040"/>
              </a:buClr>
              <a:buChar char="•"/>
            </a:pPr>
            <a:r>
              <a:rPr lang="en-US" altLang="zh-CN"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Dilemme du d</a:t>
            </a:r>
            <a:r>
              <a:rPr lang="en-US" altLang="en-US"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coupage en blocs (tiling dilemma) : la fonction Softmax n</a:t>
            </a:r>
            <a:r>
              <a:rPr lang="en-US" altLang="en-US"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cessite</a:t>
            </a:r>
            <a:r>
              <a:rPr lang="en-US"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maximum global</a:t>
            </a:r>
            <a:r>
              <a:rPr lang="en-US" sz="1595" b="0" i="0" u="none" strike="noStrike">
                <a:solidFill>
                  <a:srgbClr val="404040"/>
                </a:solidFill>
                <a:latin typeface="Calibri" panose="020F0502020204030204"/>
                <a:ea typeface="Calibri" panose="020F0502020204030204"/>
                <a:cs typeface="Calibri" panose="020F0502020204030204"/>
                <a:sym typeface="Calibri" panose="020F0502020204030204"/>
              </a:rPr>
              <a:t> (m) </a:t>
            </a:r>
            <a:r>
              <a:rPr lang="en-US"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garantir la stabilite numerique et  la somme globale</a:t>
            </a:r>
            <a:r>
              <a:rPr lang="en-US" sz="1595" b="0" i="0" u="none" strike="noStrike">
                <a:solidFill>
                  <a:srgbClr val="404040"/>
                </a:solidFill>
                <a:latin typeface="Calibri" panose="020F0502020204030204"/>
                <a:ea typeface="Calibri" panose="020F0502020204030204"/>
                <a:cs typeface="Calibri" panose="020F0502020204030204"/>
                <a:sym typeface="Calibri" panose="020F0502020204030204"/>
              </a:rPr>
              <a:t> (L) </a:t>
            </a:r>
            <a:r>
              <a:rPr lang="en-US"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la normalisation.</a:t>
            </a:r>
            <a:endParaRPr lang="en-US"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50000"/>
              </a:lnSpc>
              <a:spcBef>
                <a:spcPts val="750"/>
              </a:spcBef>
              <a:buClr>
                <a:srgbClr val="404040"/>
              </a:buClr>
              <a:buChar char="•"/>
            </a:pPr>
            <a:r>
              <a:rPr lang="en-US" altLang="zh-CN"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Conflit : Lors du traitement du premier bloc de donn</a:t>
            </a:r>
            <a:r>
              <a:rPr lang="en-US" altLang="en-US"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nous ne connaissons ni le maximum ni la somme des blocs restants. Selon la logique habituelle, nous devrions d’abord parcourir toute la ligne</a:t>
            </a:r>
            <a:endParaRPr lang="en-US" altLang="zh-CN"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50000"/>
              </a:lnSpc>
              <a:spcBef>
                <a:spcPts val="1500"/>
              </a:spcBef>
              <a:buClr>
                <a:srgbClr val="404040"/>
              </a:buClr>
              <a:buChar char="•"/>
            </a:pPr>
            <a:r>
              <a:rPr lang="en-US" altLang="zh-CN" sz="19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Question de transition</a:t>
            </a:r>
            <a:r>
              <a:rPr lang="en-US" sz="19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9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Comment calculer, ou pr</a:t>
            </a:r>
            <a:r>
              <a:rPr lang="en-US" altLang="en-US" sz="19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dire, le bon r</a:t>
            </a:r>
            <a:r>
              <a:rPr lang="en-US" altLang="en-US" sz="19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sultat Softmax en ne voyant qu’une partie des donn</a:t>
            </a:r>
            <a:r>
              <a:rPr lang="en-US" altLang="en-US" sz="19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a:t>
            </a:r>
            <a:r>
              <a:rPr lang="en-US" sz="19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9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2498725" y="2457450"/>
            <a:ext cx="2199005" cy="58801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Safe Softmax </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Rappel</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21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21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cessit</a:t>
            </a:r>
            <a:r>
              <a:rPr lang="en-US" altLang="en-US" sz="21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 Safe Softmax</a:t>
            </a:r>
            <a:endParaRPr lang="en-US" sz="21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viter le d</a:t>
            </a:r>
            <a:r>
              <a:rPr lang="en-US" alt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bordement num</a:t>
            </a:r>
            <a:r>
              <a:rPr lang="en-US" alt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rique en soustrayant la valeur maximale</a:t>
            </a:r>
            <a:endParaRPr lang="en-US" altLang="zh-CN"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Risque de d</a:t>
            </a:r>
            <a:r>
              <a:rPr lang="en-US" alt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bordement </a:t>
            </a: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lorsque </a:t>
            </a: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xi </a:t>
            </a:r>
            <a:r>
              <a:rPr lang="en-US" altLang="zh-CN" sz="1825" b="0" i="0" u="none" strike="noStrike">
                <a:solidFill>
                  <a:srgbClr val="404040"/>
                </a:solidFill>
                <a:latin typeface="Calibri" panose="020F0502020204030204"/>
                <a:ea typeface="Calibri" panose="020F0502020204030204"/>
                <a:cs typeface="Calibri" panose="020F0502020204030204"/>
                <a:sym typeface="Calibri" panose="020F0502020204030204"/>
              </a:rPr>
              <a:t>est tr</a:t>
            </a:r>
            <a:r>
              <a:rPr lang="en-US" alt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1825" b="0" i="0" u="none" strike="noStrike">
                <a:solidFill>
                  <a:srgbClr val="404040"/>
                </a:solidFill>
                <a:latin typeface="Calibri" panose="020F0502020204030204"/>
                <a:ea typeface="Calibri" panose="020F0502020204030204"/>
                <a:cs typeface="Calibri" panose="020F0502020204030204"/>
                <a:sym typeface="Calibri" panose="020F0502020204030204"/>
              </a:rPr>
              <a:t>s grand (par exemple</a:t>
            </a: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 xi = 1000)</a:t>
            </a: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calculer directement</a:t>
            </a: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e^xi </a:t>
            </a:r>
            <a:r>
              <a:rPr lang="en-US" altLang="zh-CN"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peut provoquer un d</a:t>
            </a:r>
            <a:r>
              <a:rPr lang="en-US" alt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bordement num</a:t>
            </a:r>
            <a:r>
              <a:rPr lang="en-US" alt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rique (d</a:t>
            </a:r>
            <a:r>
              <a:rPr lang="en-US" alt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passement de capacit</a:t>
            </a:r>
            <a:r>
              <a:rPr lang="en-US" alt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en virgule flottante)</a:t>
            </a: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Solution : avant de calculer </a:t>
            </a:r>
            <a:r>
              <a:rPr lang="en-US" altLang="zh-CN" sz="1825" b="0" i="0" u="none" strike="noStrike">
                <a:solidFill>
                  <a:srgbClr val="404040"/>
                </a:solidFill>
                <a:latin typeface="Calibri" panose="020F0502020204030204"/>
                <a:ea typeface="Calibri" panose="020F0502020204030204"/>
                <a:cs typeface="Calibri" panose="020F0502020204030204"/>
                <a:sym typeface="Calibri" panose="020F0502020204030204"/>
              </a:rPr>
              <a:t>l’exponentielle de chaque </a:t>
            </a:r>
            <a:r>
              <a:rPr lang="en-US" alt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25" b="0" i="0" u="none" strike="noStrike">
                <a:solidFill>
                  <a:srgbClr val="404040"/>
                </a:solidFill>
                <a:latin typeface="Calibri" panose="020F0502020204030204"/>
                <a:ea typeface="Calibri" panose="020F0502020204030204"/>
                <a:cs typeface="Calibri" panose="020F0502020204030204"/>
                <a:sym typeface="Calibri" panose="020F0502020204030204"/>
              </a:rPr>
              <a:t>l</a:t>
            </a:r>
            <a:r>
              <a:rPr lang="en-US" alt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25" b="0" i="0" u="none" strike="noStrike">
                <a:solidFill>
                  <a:srgbClr val="404040"/>
                </a:solidFill>
                <a:latin typeface="Calibri" panose="020F0502020204030204"/>
                <a:ea typeface="Calibri" panose="020F0502020204030204"/>
                <a:cs typeface="Calibri" panose="020F0502020204030204"/>
                <a:sym typeface="Calibri" panose="020F0502020204030204"/>
              </a:rPr>
              <a:t>ment du vecteur, soustraire d’abord la valeur maximale</a:t>
            </a: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 m = max(xi)</a:t>
            </a: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1176037" y="3882144"/>
            <a:ext cx="2867237" cy="766056"/>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2702542" y="3832877"/>
            <a:ext cx="3032615" cy="985215"/>
          </a:xfrm>
          <a:prstGeom prst="rect">
            <a:avLst/>
          </a:prstGeom>
          <a:ln w="12700">
            <a:noFill/>
            <a:prstDash val="solid"/>
          </a:ln>
        </p:spPr>
      </p:pic>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Algorithme Online Softmax </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Online Softmax</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Exemple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 = [x</a:t>
            </a:r>
            <a:r>
              <a:rPr lang="en-US" sz="2000" b="0" i="0" u="none" strike="noStrike" baseline="-25000">
                <a:solidFill>
                  <a:srgbClr val="404040"/>
                </a:solidFill>
                <a:latin typeface="Calibri" panose="020F0502020204030204"/>
                <a:ea typeface="Calibri" panose="020F0502020204030204"/>
                <a:cs typeface="Calibri" panose="020F0502020204030204"/>
                <a:sym typeface="Calibri" panose="020F0502020204030204"/>
              </a:rPr>
              <a:t>0</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x</a:t>
            </a:r>
            <a:r>
              <a:rPr lang="en-US" sz="2000" b="0" i="0" u="none" strike="noStrike" baseline="-25000">
                <a:solidFill>
                  <a:srgbClr val="404040"/>
                </a:solidFill>
                <a:latin typeface="Calibri" panose="020F0502020204030204"/>
                <a:ea typeface="Calibri" panose="020F0502020204030204"/>
                <a:cs typeface="Calibri" panose="020F0502020204030204"/>
                <a:sym typeface="Calibri" panose="020F0502020204030204"/>
              </a:rPr>
              <a:t>1</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,x</a:t>
            </a:r>
            <a:r>
              <a:rPr lang="en-US" sz="2000" b="0" i="0" u="none" strike="noStrike" baseline="-25000">
                <a:solidFill>
                  <a:srgbClr val="404040"/>
                </a:solidFill>
                <a:latin typeface="Calibri" panose="020F0502020204030204"/>
                <a:ea typeface="Calibri" panose="020F0502020204030204"/>
                <a:cs typeface="Calibri" panose="020F0502020204030204"/>
                <a:sym typeface="Calibri" panose="020F0502020204030204"/>
              </a:rPr>
              <a:t>2</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,x</a:t>
            </a:r>
            <a:r>
              <a:rPr lang="en-US" sz="2000" b="0" i="0" u="none" strike="noStrike" baseline="-25000">
                <a:solidFill>
                  <a:srgbClr val="404040"/>
                </a:solidFill>
                <a:latin typeface="Calibri" panose="020F0502020204030204"/>
                <a:ea typeface="Calibri" panose="020F0502020204030204"/>
                <a:cs typeface="Calibri" panose="020F0502020204030204"/>
                <a:sym typeface="Calibri" panose="020F0502020204030204"/>
              </a:rPr>
              <a:t>3</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V=[v</a:t>
            </a:r>
            <a:r>
              <a:rPr lang="en-US" sz="2000" b="0" i="0" u="none" strike="noStrike" baseline="-25000">
                <a:solidFill>
                  <a:srgbClr val="404040"/>
                </a:solidFill>
                <a:latin typeface="Calibri" panose="020F0502020204030204"/>
                <a:ea typeface="Calibri" panose="020F0502020204030204"/>
                <a:cs typeface="Calibri" panose="020F0502020204030204"/>
                <a:sym typeface="Calibri" panose="020F0502020204030204"/>
              </a:rPr>
              <a:t>0</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v</a:t>
            </a:r>
            <a:r>
              <a:rPr lang="en-US" sz="2000" b="0" i="0" u="none" strike="noStrike" baseline="-25000">
                <a:solidFill>
                  <a:srgbClr val="404040"/>
                </a:solidFill>
                <a:latin typeface="Calibri" panose="020F0502020204030204"/>
                <a:ea typeface="Calibri" panose="020F0502020204030204"/>
                <a:cs typeface="Calibri" panose="020F0502020204030204"/>
                <a:sym typeface="Calibri" panose="020F0502020204030204"/>
              </a:rPr>
              <a:t>1</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v</a:t>
            </a:r>
            <a:r>
              <a:rPr lang="en-US" sz="2000" b="0" i="0" u="none" strike="noStrike" baseline="-25000">
                <a:solidFill>
                  <a:srgbClr val="404040"/>
                </a:solidFill>
                <a:latin typeface="Calibri" panose="020F0502020204030204"/>
                <a:ea typeface="Calibri" panose="020F0502020204030204"/>
                <a:cs typeface="Calibri" panose="020F0502020204030204"/>
                <a:sym typeface="Calibri" panose="020F0502020204030204"/>
              </a:rPr>
              <a:t>2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,v</a:t>
            </a:r>
            <a:r>
              <a:rPr lang="en-US" sz="2000" b="0" i="0" u="none" strike="noStrike" baseline="-25000">
                <a:solidFill>
                  <a:srgbClr val="404040"/>
                </a:solidFill>
                <a:latin typeface="Calibri" panose="020F0502020204030204"/>
                <a:ea typeface="Calibri" panose="020F0502020204030204"/>
                <a:cs typeface="Calibri" panose="020F0502020204030204"/>
                <a:sym typeface="Calibri" panose="020F0502020204030204"/>
              </a:rPr>
              <a:t>3</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hasCustomPrompt="1"/>
          </p:nvPr>
        </p:nvSpPr>
        <p:spPr>
          <a:prstGeom prst="rect">
            <a:avLst/>
          </a:prstGeom>
        </p:spPr>
        <p:txBody>
          <a:bodyPr wrap="square" lIns="91440" tIns="45720" rIns="91440" bIns="45720" anchor="b">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300" b="0" i="0" u="none" strike="noStrike">
                <a:solidFill>
                  <a:srgbClr val="A5A5A5"/>
                </a:solidFill>
                <a:latin typeface="Calibri" panose="020F0502020204030204"/>
                <a:ea typeface="Garamond" panose="02020404030301010803"/>
                <a:cs typeface="Garamond" panose="02020404030301010803"/>
                <a:sym typeface="Garamond" panose="02020404030301010803"/>
              </a:rPr>
              <a:t>Milakov, Maxim, and Natalia Gimelshein. "Online normalizer calculation for softmax." arXiv preprint arXiv:1805.02867 (2018).</a:t>
            </a:r>
            <a:endParaRPr lang="en-US" sz="13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pic>
        <p:nvPicPr>
          <p:cNvPr id="7" name="Picture 7"/>
          <p:cNvPicPr>
            <a:picLocks noChangeAspect="1"/>
          </p:cNvPicPr>
          <p:nvPr/>
        </p:nvPicPr>
        <p:blipFill>
          <a:blip r:embed="rId1"/>
          <a:srcRect/>
          <a:stretch>
            <a:fillRect/>
          </a:stretch>
        </p:blipFill>
        <p:spPr>
          <a:xfrm>
            <a:off x="3365130" y="1203648"/>
            <a:ext cx="1832709" cy="778097"/>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900545" y="1919864"/>
            <a:ext cx="9650503" cy="858896"/>
          </a:xfrm>
          <a:prstGeom prst="rect">
            <a:avLst/>
          </a:prstGeom>
          <a:ln w="12700">
            <a:noFill/>
            <a:prstDash val="solid"/>
          </a:ln>
        </p:spPr>
      </p:pic>
      <p:pic>
        <p:nvPicPr>
          <p:cNvPr id="9" name="Picture 9"/>
          <p:cNvPicPr>
            <a:picLocks noChangeAspect="1"/>
          </p:cNvPicPr>
          <p:nvPr/>
        </p:nvPicPr>
        <p:blipFill>
          <a:blip r:embed="rId3"/>
          <a:srcRect/>
          <a:stretch>
            <a:fillRect/>
          </a:stretch>
        </p:blipFill>
        <p:spPr>
          <a:xfrm>
            <a:off x="1096166" y="2497622"/>
            <a:ext cx="8941452" cy="1484281"/>
          </a:xfrm>
          <a:prstGeom prst="rect">
            <a:avLst/>
          </a:prstGeom>
          <a:ln w="12700">
            <a:noFill/>
            <a:prstDash val="solid"/>
          </a:ln>
        </p:spPr>
      </p:pic>
      <p:pic>
        <p:nvPicPr>
          <p:cNvPr id="10" name="Picture 10"/>
          <p:cNvPicPr>
            <a:picLocks noChangeAspect="1"/>
          </p:cNvPicPr>
          <p:nvPr/>
        </p:nvPicPr>
        <p:blipFill>
          <a:blip r:embed="rId4"/>
          <a:srcRect/>
          <a:stretch>
            <a:fillRect/>
          </a:stretch>
        </p:blipFill>
        <p:spPr>
          <a:xfrm>
            <a:off x="1499801" y="4815500"/>
            <a:ext cx="4660302" cy="809273"/>
          </a:xfrm>
          <a:prstGeom prst="rect">
            <a:avLst/>
          </a:prstGeom>
          <a:ln w="12700">
            <a:noFill/>
            <a:prstDash val="solid"/>
          </a:ln>
        </p:spPr>
      </p:pic>
      <p:pic>
        <p:nvPicPr>
          <p:cNvPr id="11" name="Picture 11"/>
          <p:cNvPicPr>
            <a:picLocks noChangeAspect="1"/>
          </p:cNvPicPr>
          <p:nvPr/>
        </p:nvPicPr>
        <p:blipFill>
          <a:blip r:embed="rId5"/>
          <a:srcRect/>
          <a:stretch>
            <a:fillRect/>
          </a:stretch>
        </p:blipFill>
        <p:spPr>
          <a:xfrm>
            <a:off x="823432" y="5494280"/>
            <a:ext cx="2543653" cy="858896"/>
          </a:xfrm>
          <a:prstGeom prst="rect">
            <a:avLst/>
          </a:prstGeom>
          <a:ln w="12700">
            <a:noFill/>
            <a:prstDash val="solid"/>
          </a:ln>
        </p:spPr>
      </p:pic>
      <p:pic>
        <p:nvPicPr>
          <p:cNvPr id="12" name="Picture 12"/>
          <p:cNvPicPr>
            <a:picLocks noChangeAspect="1"/>
          </p:cNvPicPr>
          <p:nvPr/>
        </p:nvPicPr>
        <p:blipFill>
          <a:blip r:embed="rId6"/>
          <a:srcRect/>
          <a:stretch>
            <a:fillRect/>
          </a:stretch>
        </p:blipFill>
        <p:spPr>
          <a:xfrm>
            <a:off x="4005789" y="5624773"/>
            <a:ext cx="5514647" cy="672519"/>
          </a:xfrm>
          <a:prstGeom prst="rect">
            <a:avLst/>
          </a:prstGeom>
          <a:ln w="12700">
            <a:noFill/>
            <a:prstDash val="solid"/>
          </a:ln>
        </p:spPr>
      </p:pic>
      <p:sp>
        <p:nvSpPr>
          <p:cNvPr id="13" name="文本占位符 12"/>
          <p:cNvSpPr>
            <a:spLocks noGrp="1"/>
          </p:cNvSpPr>
          <p:nvPr>
            <p:ph type="body" sz="quarter" idx="11"/>
          </p:nvPr>
        </p:nvSpPr>
        <p:spPr/>
        <p:txBody>
          <a:bodyPr/>
          <a:lstStyle/>
          <a:p>
            <a:endParaRPr lang="zh-CN" altLang="en-US"/>
          </a:p>
        </p:txBody>
      </p:sp>
    </p:spTree>
  </p:cSld>
  <p:clrMapOvr>
    <a:masterClrMapping/>
  </p:clrMapOvr>
  <p:transition spd="slow">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Analyse de l’algorithme</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1"/>
          <a:srcRect/>
          <a:stretch>
            <a:fillRect/>
          </a:stretch>
        </p:blipFill>
        <p:spPr>
          <a:xfrm>
            <a:off x="523873" y="1323977"/>
            <a:ext cx="7558016" cy="4421439"/>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8261160" y="1737955"/>
            <a:ext cx="3930840" cy="3796068"/>
          </a:xfrm>
          <a:prstGeom prst="rect">
            <a:avLst/>
          </a:prstGeom>
          <a:ln w="12700">
            <a:noFill/>
            <a:prstDash val="solid"/>
          </a:ln>
        </p:spPr>
      </p:pic>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400" b="0" i="0" u="none" strike="noStrike" spc="0">
                <a:solidFill>
                  <a:srgbClr val="262626">
                    <a:alpha val="100000"/>
                  </a:srgbClr>
                </a:solidFill>
                <a:latin typeface="Chinese Quote"/>
              </a:defRPr>
            </a:lvl1pPr>
          </a:lstStyle>
          <a:p>
            <a:pPr indent="0" algn="ctr">
              <a:lnSpc>
                <a:spcPct val="100000"/>
              </a:lnSpc>
              <a:spcBef>
                <a:spcPts val="1500"/>
              </a:spcBef>
            </a:pPr>
            <a:r>
              <a:rPr lang="en-US" sz="4945">
                <a:solidFill>
                  <a:srgbClr val="262626"/>
                </a:solidFill>
                <a:latin typeface="Calibri" panose="020F0502020204030204"/>
                <a:ea typeface="Chinese Quote"/>
                <a:cs typeface="Chinese Quote"/>
                <a:sym typeface="Calibri" panose="020F0502020204030204"/>
              </a:rPr>
              <a:t>Leçon </a:t>
            </a:r>
            <a:r>
              <a:rPr lang="en-US" sz="4945" b="0" i="0" u="none" strike="noStrike">
                <a:solidFill>
                  <a:srgbClr val="262626"/>
                </a:solidFill>
                <a:latin typeface="Calibri" panose="020F0502020204030204"/>
                <a:ea typeface="Chinese Quote"/>
                <a:cs typeface="Chinese Quote"/>
                <a:sym typeface="Chinese Quote"/>
              </a:rPr>
              <a:t>12</a:t>
            </a:r>
            <a:r>
              <a:rPr lang="en-US" sz="49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4945" b="0" i="0" u="none" strike="noStrike">
                <a:solidFill>
                  <a:srgbClr val="262626"/>
                </a:solidFill>
                <a:latin typeface="Calibri" panose="020F0502020204030204"/>
                <a:ea typeface="Chinese Quote"/>
                <a:cs typeface="Chinese Quote"/>
                <a:sym typeface="Chinese Quote"/>
              </a:rPr>
              <a:t>Flash Attention </a:t>
            </a:r>
            <a:r>
              <a:rPr lang="en-US" sz="49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Implémentation</a:t>
            </a:r>
            <a:r>
              <a:rPr lang="en-US" sz="4945" b="0" i="0" u="none" strike="noStrike">
                <a:solidFill>
                  <a:srgbClr val="262626"/>
                </a:solidFill>
                <a:latin typeface="Calibri" panose="020F0502020204030204"/>
                <a:ea typeface="Chinese Quote"/>
                <a:cs typeface="Chinese Quote"/>
                <a:sym typeface="Chinese Quote"/>
              </a:rPr>
              <a:t> II</a:t>
            </a:r>
            <a:br>
              <a:rPr lang="en-US" sz="5400" b="0" i="0" u="none" strike="noStrike">
                <a:solidFill>
                  <a:srgbClr val="262626"/>
                </a:solidFill>
                <a:latin typeface="Chinese Quote"/>
                <a:ea typeface="Chinese Quote"/>
                <a:cs typeface="Chinese Quote"/>
                <a:sym typeface="Chinese Quote"/>
              </a:rPr>
            </a:br>
            <a:r>
              <a:rPr lang="en-US" sz="49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(Optimisation algorithmique)</a:t>
            </a:r>
            <a:endParaRPr lang="en-US" sz="49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p:transition spd="slow">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Éviter l'instanciation en mémoire GPU</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Défauts du mécanisme d'attention standard</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L'implémentation standard doit stocker </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 l’int</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gralit</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 des matrices de scores d’attention</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N x N (S)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des matrices de probabilités</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(P)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la HBM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les séquences </a:t>
            </a:r>
            <a:r>
              <a:rPr lang="en-US" sz="200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longues</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cette matrice occupe</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un espace consid</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rable, provoquant des erreurs de d</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passement de m</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moire(OOM)</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Avancée du mécanisme </a:t>
            </a:r>
            <a:r>
              <a:rPr lang="en-US">
                <a:solidFill>
                  <a:srgbClr val="404040"/>
                </a:solidFill>
                <a:latin typeface="Calibri" panose="020F0502020204030204"/>
                <a:ea typeface="Calibri" panose="020F0502020204030204"/>
                <a:cs typeface="Calibri" panose="020F0502020204030204"/>
                <a:sym typeface="Calibri" panose="020F0502020204030204"/>
              </a:rPr>
              <a:t>Flash Attention</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 immédiat : en utilisant la technique de</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coupage en blocs</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scores d'attention sont calculés dans</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la SRAM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puis immédiatement multipliés par les blocs de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V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accumulés dans la sortie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O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Complexité mémoire : </a:t>
            </a:r>
            <a:r>
              <a:rPr lang="en-US" sz="200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réduite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O(n²)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à</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O(N)</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matrices intermédiaires volumineuses n'existent plus sous forme complète dans la</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HBM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Traitement du masques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Défi : le masque causal est généralement triangulaire inférieur. Comment déterminer, si un bloc spécifique nécessite un masque lors du </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coupage en blocs</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Stratégies d’optimisation</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Blocs entièrement masqués : ces blocs seront entièrement ignorés, économisant ainsi beaucoup de ressources de calcul.</a:t>
            </a:r>
            <a:endPar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Blocs partiellement masqués : traiter uniquement la partie triangulaire inférieure à l’intérieur du bloc en utilisant les valeurs du masque.</a:t>
            </a:r>
            <a:endPar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Blocs non masqués : exécuter une multiplication matricielle standard à pleine vitesse</a:t>
            </a:r>
            <a:r>
              <a:rPr lang="en-US" sz="1670" b="0" i="0" u="none" strike="noStrike">
                <a:solidFill>
                  <a:srgbClr val="404040"/>
                </a:solidFill>
                <a:latin typeface="Calibri" panose="020F0502020204030204"/>
                <a:ea typeface="Calibri" panose="020F0502020204030204"/>
                <a:cs typeface="Calibri" panose="020F0502020204030204"/>
                <a:sym typeface="Calibri" panose="020F0502020204030204"/>
              </a:rPr>
              <a:t> (GEMM)</a:t>
            </a: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Avantage : en identifiant la position relative des blocs dans le masque,</a:t>
            </a:r>
            <a:r>
              <a:rPr lang="en-US" sz="2005" b="0" i="0" u="none" strike="noStrike">
                <a:solidFill>
                  <a:srgbClr val="404040"/>
                </a:solidFill>
                <a:latin typeface="Calibri" panose="020F0502020204030204"/>
                <a:ea typeface="Calibri" panose="020F0502020204030204"/>
                <a:cs typeface="Calibri" panose="020F0502020204030204"/>
                <a:sym typeface="Calibri" panose="020F0502020204030204"/>
              </a:rPr>
              <a:t>FlashAttention </a:t>
            </a:r>
            <a:r>
              <a:rPr lang="en-US"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réduit encore plus les coûts de calcul inutiles.</a:t>
            </a:r>
            <a:endParaRPr lang="en-US"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499860" y="4679315"/>
            <a:ext cx="4619625" cy="1964055"/>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Impact sur les modèles à longue portée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fontScale="90000"/>
          </a:bodyPr>
          <a:lstStyle>
            <a:lvl1pPr algn="l">
              <a:lnSpc>
                <a:spcPct val="150000"/>
              </a:lnSpc>
              <a:defRPr sz="2400" b="0" i="0" u="none" strike="noStrike" spc="0">
                <a:solidFill>
                  <a:srgbClr val="404040">
                    <a:alpha val="100000"/>
                  </a:srgbClr>
                </a:solidFill>
                <a:latin typeface="微软雅黑" panose="020B0503020204020204" charset="-122"/>
              </a:defRPr>
            </a:lvl1pPr>
          </a:lstStyle>
          <a:p>
            <a:pPr marL="304800" indent="-304800" algn="l">
              <a:lnSpc>
                <a:spcPct val="15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Briser le goulot d'étranglement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50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Comme l'utilisation de la mémoire croît de manière linéaire</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O(N)</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modèle n'est plus limité par</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le mur mémoire N².</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50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Cela permet au modèle de passer du contexte traditionnel de</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2K/4K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à</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128K, 1M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ou même des séquences plus longues.</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5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Applications pratiques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5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Permet aux grands modèles de langage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(LLM)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d'effectuer la lecture de livres entiers, l'analyse de documents multiples et la compréhension de vidéos très longues.</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5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Aperçu des performances : sur le même matériel (par exemple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A100/H100</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traitement de séquences de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128K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est accéléré de plusieurs ordres de grandeur.</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Flash Attention 2 (1/2)</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11501120"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Optimisation algorithmique : réduire les coûts des opérations non matricielles</a:t>
            </a:r>
            <a:endParaRPr lang="en-US" sz="20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35" b="0" i="0" u="none" strike="noStrike">
                <a:solidFill>
                  <a:srgbClr val="404040"/>
                </a:solidFill>
                <a:latin typeface="Calibri" panose="020F0502020204030204"/>
                <a:ea typeface="Calibri" panose="020F0502020204030204"/>
                <a:cs typeface="Calibri" panose="020F0502020204030204"/>
                <a:sym typeface="Calibri" panose="020F0502020204030204"/>
              </a:rPr>
              <a:t>Les </a:t>
            </a:r>
            <a:r>
              <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GPU </a:t>
            </a:r>
            <a:r>
              <a:rPr lang="en-US" sz="1735" b="0" i="0" u="none" strike="noStrike">
                <a:solidFill>
                  <a:srgbClr val="404040"/>
                </a:solidFill>
                <a:latin typeface="Calibri" panose="020F0502020204030204"/>
                <a:ea typeface="Calibri" panose="020F0502020204030204"/>
                <a:cs typeface="Calibri" panose="020F0502020204030204"/>
                <a:sym typeface="Calibri" panose="020F0502020204030204"/>
              </a:rPr>
              <a:t>sont hautement optimisés pour la multiplication matricielle</a:t>
            </a:r>
            <a:r>
              <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(Matmul) </a:t>
            </a:r>
            <a:r>
              <a:rPr lang="en-US" sz="1735" b="0" i="0" u="none" strike="noStrike">
                <a:solidFill>
                  <a:srgbClr val="404040"/>
                </a:solidFill>
                <a:latin typeface="Calibri" panose="020F0502020204030204"/>
                <a:ea typeface="Calibri" panose="020F0502020204030204"/>
                <a:cs typeface="Calibri" panose="020F0502020204030204"/>
                <a:sym typeface="Calibri" panose="020F0502020204030204"/>
              </a:rPr>
              <a:t> via les Tensor Cores, mais sont nettement plus lents sur les opérations </a:t>
            </a:r>
            <a:r>
              <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élément par élément</a:t>
            </a:r>
            <a:r>
              <a:rPr lang="en-US" sz="173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telles que Softmax, Exp et Dropout.</a:t>
            </a:r>
            <a:endPar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Multiplication matricielle :</a:t>
            </a:r>
            <a:r>
              <a:rPr lang="en-US" sz="1735" b="0" i="0" u="none" strike="noStrike">
                <a:solidFill>
                  <a:srgbClr val="404040"/>
                </a:solidFill>
                <a:latin typeface="Calibri" panose="020F0502020204030204"/>
                <a:ea typeface="Calibri" panose="020F0502020204030204"/>
                <a:cs typeface="Calibri" panose="020F0502020204030204"/>
                <a:sym typeface="Calibri" panose="020F0502020204030204"/>
              </a:rPr>
              <a:t> 312 TFLOPs/s,</a:t>
            </a:r>
            <a:r>
              <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opérations non matricielles :</a:t>
            </a:r>
            <a:r>
              <a:rPr lang="en-US" sz="1735" b="0" i="0" u="none" strike="noStrike">
                <a:solidFill>
                  <a:srgbClr val="404040"/>
                </a:solidFill>
                <a:latin typeface="Calibri" panose="020F0502020204030204"/>
                <a:ea typeface="Calibri" panose="020F0502020204030204"/>
                <a:cs typeface="Calibri" panose="020F0502020204030204"/>
                <a:sym typeface="Calibri" panose="020F0502020204030204"/>
              </a:rPr>
              <a:t> 19.5 TFLOPs/s (A100)</a:t>
            </a:r>
            <a:endParaRPr lang="en-US" sz="173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735" b="0" i="0" u="none" strike="noStrike">
                <a:solidFill>
                  <a:srgbClr val="404040"/>
                </a:solidFill>
                <a:latin typeface="Calibri" panose="020F0502020204030204"/>
                <a:ea typeface="Calibri" panose="020F0502020204030204"/>
                <a:cs typeface="Calibri" panose="020F0502020204030204"/>
                <a:sym typeface="Calibri" panose="020F0502020204030204"/>
              </a:rPr>
              <a:t>FA2 </a:t>
            </a:r>
            <a:r>
              <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 reconstruit l'algorithme d'attention mathématiquement pour réduire le nombre d'opérations en virgule flottante non matricielles</a:t>
            </a:r>
            <a:r>
              <a:rPr lang="en-US" sz="1735" b="0" i="0" u="none" strike="noStrike">
                <a:solidFill>
                  <a:srgbClr val="404040"/>
                </a:solidFill>
                <a:latin typeface="Calibri" panose="020F0502020204030204"/>
                <a:ea typeface="Calibri" panose="020F0502020204030204"/>
                <a:cs typeface="Calibri" panose="020F0502020204030204"/>
                <a:sym typeface="Calibri" panose="020F0502020204030204"/>
              </a:rPr>
              <a:t> (FLOPs)</a:t>
            </a:r>
            <a:r>
              <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pSp>
        <p:nvGrpSpPr>
          <p:cNvPr id="15" name="组合 14"/>
          <p:cNvGrpSpPr/>
          <p:nvPr/>
        </p:nvGrpSpPr>
        <p:grpSpPr>
          <a:xfrm>
            <a:off x="609600" y="3429000"/>
            <a:ext cx="5626100" cy="3326130"/>
            <a:chOff x="980" y="5562"/>
            <a:chExt cx="8860" cy="5238"/>
          </a:xfrm>
        </p:grpSpPr>
        <p:pic>
          <p:nvPicPr>
            <p:cNvPr id="6" name="Picture 6"/>
            <p:cNvPicPr>
              <a:picLocks noChangeAspect="1"/>
            </p:cNvPicPr>
            <p:nvPr/>
          </p:nvPicPr>
          <p:blipFill>
            <a:blip r:embed="rId1"/>
            <a:srcRect/>
            <a:stretch>
              <a:fillRect/>
            </a:stretch>
          </p:blipFill>
          <p:spPr>
            <a:xfrm>
              <a:off x="980" y="5562"/>
              <a:ext cx="8860" cy="5238"/>
            </a:xfrm>
            <a:prstGeom prst="rect">
              <a:avLst/>
            </a:prstGeom>
            <a:ln w="12700">
              <a:noFill/>
              <a:prstDash val="solid"/>
            </a:ln>
          </p:spPr>
        </p:pic>
        <p:sp>
          <p:nvSpPr>
            <p:cNvPr id="8" name="AutoShape 8"/>
            <p:cNvSpPr/>
            <p:nvPr/>
          </p:nvSpPr>
          <p:spPr>
            <a:xfrm>
              <a:off x="1168" y="7102"/>
              <a:ext cx="7178" cy="862"/>
            </a:xfrm>
            <a:prstGeom prst="rect">
              <a:avLst/>
            </a:prstGeom>
            <a:noFill/>
            <a:ln w="12700" cap="flat">
              <a:solidFill>
                <a:srgbClr val="FF00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9" name="AutoShape 9"/>
            <p:cNvSpPr/>
            <p:nvPr/>
          </p:nvSpPr>
          <p:spPr>
            <a:xfrm>
              <a:off x="1146" y="8415"/>
              <a:ext cx="8258" cy="862"/>
            </a:xfrm>
            <a:prstGeom prst="rect">
              <a:avLst/>
            </a:prstGeom>
            <a:noFill/>
            <a:ln w="12700" cap="flat">
              <a:solidFill>
                <a:srgbClr val="FF00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grpSp>
      <p:grpSp>
        <p:nvGrpSpPr>
          <p:cNvPr id="14" name="组合 13"/>
          <p:cNvGrpSpPr/>
          <p:nvPr/>
        </p:nvGrpSpPr>
        <p:grpSpPr>
          <a:xfrm>
            <a:off x="6550025" y="3140075"/>
            <a:ext cx="4959350" cy="3666490"/>
            <a:chOff x="9995" y="5129"/>
            <a:chExt cx="7810" cy="5774"/>
          </a:xfrm>
        </p:grpSpPr>
        <p:pic>
          <p:nvPicPr>
            <p:cNvPr id="7" name="Picture 7"/>
            <p:cNvPicPr>
              <a:picLocks noChangeAspect="1"/>
            </p:cNvPicPr>
            <p:nvPr/>
          </p:nvPicPr>
          <p:blipFill>
            <a:blip r:embed="rId2"/>
            <a:srcRect/>
            <a:stretch>
              <a:fillRect/>
            </a:stretch>
          </p:blipFill>
          <p:spPr>
            <a:xfrm>
              <a:off x="9995" y="5129"/>
              <a:ext cx="7811" cy="5775"/>
            </a:xfrm>
            <a:prstGeom prst="rect">
              <a:avLst/>
            </a:prstGeom>
            <a:ln w="12700">
              <a:noFill/>
              <a:prstDash val="solid"/>
            </a:ln>
          </p:spPr>
        </p:pic>
        <p:sp>
          <p:nvSpPr>
            <p:cNvPr id="10" name="AutoShape 10"/>
            <p:cNvSpPr/>
            <p:nvPr/>
          </p:nvSpPr>
          <p:spPr>
            <a:xfrm>
              <a:off x="10050" y="7282"/>
              <a:ext cx="3947" cy="714"/>
            </a:xfrm>
            <a:prstGeom prst="rect">
              <a:avLst/>
            </a:prstGeom>
            <a:noFill/>
            <a:ln w="12700" cap="flat">
              <a:solidFill>
                <a:srgbClr val="FF00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10060" y="6903"/>
              <a:ext cx="7455" cy="379"/>
            </a:xfrm>
            <a:prstGeom prst="rect">
              <a:avLst/>
            </a:prstGeom>
            <a:noFill/>
            <a:ln w="12700" cap="flat">
              <a:solidFill>
                <a:srgbClr val="FF00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9995" y="9164"/>
              <a:ext cx="4569" cy="256"/>
            </a:xfrm>
            <a:prstGeom prst="rect">
              <a:avLst/>
            </a:prstGeom>
            <a:noFill/>
            <a:ln w="12700" cap="flat">
              <a:solidFill>
                <a:srgbClr val="FF00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grpSp>
      <p:sp>
        <p:nvSpPr>
          <p:cNvPr id="16" name="文本占位符 15"/>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Flash Attention 2 (2/2)</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11217910" cy="485330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Parallélisme amélioré (au niveau bloc de threads)</a:t>
            </a:r>
            <a:endParaRPr lang="en-US"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Il introduit un parallélisme sur la dimension de la longueur de séquence.</a:t>
            </a:r>
            <a:endParaRPr lang="en-US" sz="15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15" b="0" i="0" u="none" strike="noStrike">
                <a:solidFill>
                  <a:srgbClr val="404040"/>
                </a:solidFill>
                <a:latin typeface="Calibri" panose="020F0502020204030204"/>
                <a:ea typeface="Calibri" panose="020F0502020204030204"/>
                <a:cs typeface="Calibri" panose="020F0502020204030204"/>
                <a:sym typeface="Calibri" panose="020F0502020204030204"/>
              </a:rPr>
              <a:t>FA2 </a:t>
            </a:r>
            <a:r>
              <a:rPr lang="en-US" sz="15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peut désormais diviser la séquence en plusieurs blocs et les distribuer sur plusieurs blocs de threads.</a:t>
            </a:r>
            <a:endParaRPr lang="en-US" sz="15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Optimisation du partitionnement du travail et de la communication entre warps</a:t>
            </a:r>
            <a:endParaRPr lang="en-US"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a:t>
            </a:r>
            <a:r>
              <a:rPr lang="en-US" sz="1515" b="0" i="0" u="none" strike="noStrike">
                <a:solidFill>
                  <a:srgbClr val="404040"/>
                </a:solidFill>
                <a:latin typeface="Calibri" panose="020F0502020204030204"/>
                <a:ea typeface="Calibri" panose="020F0502020204030204"/>
                <a:cs typeface="Calibri" panose="020F0502020204030204"/>
                <a:sym typeface="Calibri" panose="020F0502020204030204"/>
              </a:rPr>
              <a:t> FA2</a:t>
            </a:r>
            <a:r>
              <a:rPr lang="en-US" sz="15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partitionnement du travail a été repensé pour que chaque warp traite différentes tranches de calcul.</a:t>
            </a:r>
            <a:endParaRPr lang="en-US" sz="15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4229869" y="3775141"/>
            <a:ext cx="7465966" cy="265123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452220" y="3934691"/>
            <a:ext cx="3672009" cy="2038640"/>
          </a:xfrm>
          <a:prstGeom prst="rect">
            <a:avLst/>
          </a:prstGeom>
          <a:ln w="12700">
            <a:noFill/>
            <a:prstDash val="solid"/>
          </a:ln>
        </p:spPr>
      </p:pic>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Flash Attention 3 (1/2)</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Exécution profondément asynchrone</a:t>
            </a:r>
            <a:endParaRPr lang="en-US"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Tire</a:t>
            </a:r>
            <a:r>
              <a:rPr lang="en-US" altLang="zh-CN" sz="15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parti de l'acc</a:t>
            </a:r>
            <a:r>
              <a:rPr lang="en-US" altLang="en-US" sz="15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15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 de m</a:t>
            </a:r>
            <a:r>
              <a:rPr lang="en-US" altLang="en-US" sz="15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tensorielle (TMA) du H100.</a:t>
            </a:r>
            <a:endParaRPr lang="en-US" altLang="zh-CN" sz="15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Découplage</a:t>
            </a:r>
            <a:r>
              <a:rPr lang="en-US" sz="1580" b="0" i="0" u="none" strike="noStrike">
                <a:solidFill>
                  <a:srgbClr val="404040"/>
                </a:solidFill>
                <a:latin typeface="Calibri" panose="020F0502020204030204"/>
                <a:ea typeface="Calibri" panose="020F0502020204030204"/>
                <a:cs typeface="Calibri" panose="020F0502020204030204"/>
                <a:sym typeface="Calibri" panose="020F0502020204030204"/>
              </a:rPr>
              <a:t> calcul / I/O </a:t>
            </a:r>
            <a:r>
              <a:rPr lang="en-US" sz="15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comme le montre la figure, </a:t>
            </a:r>
            <a:r>
              <a:rPr lang="en-US" sz="1580" b="0" i="0" u="none" strike="noStrike">
                <a:solidFill>
                  <a:srgbClr val="404040"/>
                </a:solidFill>
                <a:latin typeface="Calibri" panose="020F0502020204030204"/>
                <a:ea typeface="Calibri" panose="020F0502020204030204"/>
                <a:cs typeface="Calibri" panose="020F0502020204030204"/>
                <a:sym typeface="Calibri" panose="020F0502020204030204"/>
              </a:rPr>
              <a:t>WGMMA </a:t>
            </a:r>
            <a:r>
              <a:rPr lang="en-US" sz="15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(multiplication matricielle asynchrone) et</a:t>
            </a:r>
            <a:r>
              <a:rPr lang="en-US" sz="1580" b="0" i="0" u="none" strike="noStrike">
                <a:solidFill>
                  <a:srgbClr val="404040"/>
                </a:solidFill>
                <a:latin typeface="Calibri" panose="020F0502020204030204"/>
                <a:ea typeface="Calibri" panose="020F0502020204030204"/>
                <a:cs typeface="Calibri" panose="020F0502020204030204"/>
                <a:sym typeface="Calibri" panose="020F0502020204030204"/>
              </a:rPr>
              <a:t> Softmax </a:t>
            </a:r>
            <a:r>
              <a:rPr lang="en-US" sz="15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s'exécutent sur des pipelines indépendants.</a:t>
            </a:r>
            <a:endParaRPr lang="en-US" sz="15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Tampon ping-pong : lorsqu'un</a:t>
            </a:r>
            <a:r>
              <a:rPr lang="en-US" sz="1580" b="0" i="0" u="none" strike="noStrike">
                <a:solidFill>
                  <a:srgbClr val="404040"/>
                </a:solidFill>
                <a:latin typeface="Calibri" panose="020F0502020204030204"/>
                <a:ea typeface="Calibri" panose="020F0502020204030204"/>
                <a:cs typeface="Calibri" panose="020F0502020204030204"/>
                <a:sym typeface="Calibri" panose="020F0502020204030204"/>
              </a:rPr>
              <a:t> Warp Group </a:t>
            </a:r>
            <a:r>
              <a:rPr lang="en-US" sz="15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calcule le bloc de données actuel, </a:t>
            </a:r>
            <a:r>
              <a:rPr lang="en-US" sz="1580" b="0" i="0" u="none" strike="noStrike">
                <a:solidFill>
                  <a:srgbClr val="404040"/>
                </a:solidFill>
                <a:latin typeface="Calibri" panose="020F0502020204030204"/>
                <a:ea typeface="Calibri" panose="020F0502020204030204"/>
                <a:cs typeface="Calibri" panose="020F0502020204030204"/>
                <a:sym typeface="Calibri" panose="020F0502020204030204"/>
              </a:rPr>
              <a:t>TMA </a:t>
            </a:r>
            <a:r>
              <a:rPr lang="en-US" sz="15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récupère déjà en arrière-plan le</a:t>
            </a:r>
            <a:r>
              <a:rPr lang="en-US" sz="158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5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bloc de données suivant, masquant efficacement la latence de transfert des données.</a:t>
            </a:r>
            <a:endParaRPr lang="en-US" sz="15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1213302" y="5097801"/>
            <a:ext cx="7375233" cy="162367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1213485" y="3548380"/>
            <a:ext cx="7374890" cy="1549400"/>
          </a:xfrm>
          <a:prstGeom prst="rect">
            <a:avLst/>
          </a:prstGeom>
          <a:ln w="12700">
            <a:noFill/>
            <a:prstDash val="solid"/>
          </a:ln>
        </p:spPr>
      </p:pic>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Flash Attention 3 (2/2)</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9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Accélération native en basse précision</a:t>
            </a:r>
            <a:endParaRPr lang="en-US" sz="19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65" b="0" i="0" u="none" strike="noStrike">
                <a:solidFill>
                  <a:srgbClr val="404040"/>
                </a:solidFill>
                <a:latin typeface="Calibri" panose="020F0502020204030204"/>
                <a:ea typeface="Calibri" panose="020F0502020204030204"/>
                <a:cs typeface="Calibri" panose="020F0502020204030204"/>
                <a:sym typeface="Calibri" panose="020F0502020204030204"/>
              </a:rPr>
              <a:t>FA3 </a:t>
            </a:r>
            <a:r>
              <a:rPr lang="en-US" sz="16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est conçu pour le</a:t>
            </a:r>
            <a:r>
              <a:rPr lang="en-US" sz="1665" b="0" i="0" u="none" strike="noStrike">
                <a:solidFill>
                  <a:srgbClr val="404040"/>
                </a:solidFill>
                <a:latin typeface="Calibri" panose="020F0502020204030204"/>
                <a:ea typeface="Calibri" panose="020F0502020204030204"/>
                <a:cs typeface="Calibri" panose="020F0502020204030204"/>
                <a:sym typeface="Calibri" panose="020F0502020204030204"/>
              </a:rPr>
              <a:t> FP8</a:t>
            </a:r>
            <a:r>
              <a:rPr lang="en-US" sz="16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rapport à</a:t>
            </a:r>
            <a:r>
              <a:rPr lang="en-US" sz="1665" b="0" i="0" u="none" strike="noStrike">
                <a:solidFill>
                  <a:srgbClr val="404040"/>
                </a:solidFill>
                <a:latin typeface="Calibri" panose="020F0502020204030204"/>
                <a:ea typeface="Calibri" panose="020F0502020204030204"/>
                <a:cs typeface="Calibri" panose="020F0502020204030204"/>
                <a:sym typeface="Calibri" panose="020F0502020204030204"/>
              </a:rPr>
              <a:t> FP16</a:t>
            </a:r>
            <a:r>
              <a:rPr lang="en-US" sz="16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débit a doublé.</a:t>
            </a:r>
            <a:endParaRPr lang="en-US" sz="16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16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16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16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16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16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0" indent="0" algn="l">
              <a:lnSpc>
                <a:spcPct val="100000"/>
              </a:lnSpc>
              <a:spcBef>
                <a:spcPts val="1500"/>
              </a:spcBef>
              <a:buClr>
                <a:srgbClr val="404040"/>
              </a:buClr>
              <a:buNone/>
            </a:pPr>
            <a:endParaRPr lang="en-US" sz="19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9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Pavage et équilibrage de charge améliorés</a:t>
            </a:r>
            <a:endParaRPr lang="en-US" sz="19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65" b="0" i="0" u="none" strike="noStrike">
                <a:solidFill>
                  <a:srgbClr val="404040"/>
                </a:solidFill>
                <a:latin typeface="Calibri" panose="020F0502020204030204"/>
                <a:ea typeface="Calibri" panose="020F0502020204030204"/>
                <a:cs typeface="Calibri" panose="020F0502020204030204"/>
                <a:sym typeface="Calibri" panose="020F0502020204030204"/>
              </a:rPr>
              <a:t>FA3 </a:t>
            </a:r>
            <a:r>
              <a:rPr lang="en-US" sz="16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optimise la répartition des tâches entre</a:t>
            </a:r>
            <a:r>
              <a:rPr lang="en-US" sz="1665" b="0" i="0" u="none" strike="noStrike">
                <a:solidFill>
                  <a:srgbClr val="404040"/>
                </a:solidFill>
                <a:latin typeface="Calibri" panose="020F0502020204030204"/>
                <a:ea typeface="Calibri" panose="020F0502020204030204"/>
                <a:cs typeface="Calibri" panose="020F0502020204030204"/>
                <a:sym typeface="Calibri" panose="020F0502020204030204"/>
              </a:rPr>
              <a:t> SM</a:t>
            </a:r>
            <a:r>
              <a:rPr lang="en-US" sz="16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garantissant que même avec des formes de matrice asymétriques, toutes les unités de calcul terminent simultanément leur travail, maximisant ainsi l'utilisation du matériel.</a:t>
            </a:r>
            <a:endParaRPr lang="en-US" sz="16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1108364" y="2344419"/>
            <a:ext cx="6096000" cy="1805397"/>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rPr>
              <a:t>FA sur FPGA </a:t>
            </a:r>
            <a:endPar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Co-conception algorithme-mat</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Quantification basse pr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cision (INT8/INT4)</a:t>
            </a:r>
            <a:endPar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Sparsit</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structur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 </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lagage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Softmax approximatif</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Optimisation matérielle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Optimisation du flux de données</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Unités de traitement personnalisées</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(PE)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135" b="0" i="0" u="none" strike="noStrike">
                <a:solidFill>
                  <a:srgbClr val="A5A5A5"/>
                </a:solidFill>
                <a:latin typeface="Calibri" panose="020F0502020204030204"/>
                <a:ea typeface="Garamond" panose="02020404030301010803"/>
                <a:cs typeface="Garamond" panose="02020404030301010803"/>
                <a:sym typeface="Garamond" panose="02020404030301010803"/>
              </a:rPr>
              <a:t>Zhang, Xinyi, et al. "Algorithm-hardware co-design of attention mechanism on FPGA devices." ACM Transactions on Embedded Computing Systems (TECS) 20.5s (2021): 1-24.</a:t>
            </a:r>
            <a:endParaRPr lang="en-US" sz="1135"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Élagage structuré</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FPG A</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accélérateur</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7" name="Picture 7"/>
          <p:cNvPicPr>
            <a:picLocks noChangeAspect="1"/>
          </p:cNvPicPr>
          <p:nvPr/>
        </p:nvPicPr>
        <p:blipFill>
          <a:blip r:embed="rId1"/>
          <a:srcRect/>
          <a:stretch>
            <a:fillRect/>
          </a:stretch>
        </p:blipFill>
        <p:spPr>
          <a:xfrm>
            <a:off x="6309449" y="1942137"/>
            <a:ext cx="4707418" cy="1548990"/>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353863" y="4109287"/>
            <a:ext cx="5542858" cy="2021997"/>
          </a:xfrm>
          <a:prstGeom prst="rect">
            <a:avLst/>
          </a:prstGeom>
          <a:ln w="12700">
            <a:noFill/>
            <a:prstDash val="solid"/>
          </a:ln>
        </p:spPr>
      </p:pic>
      <p:sp>
        <p:nvSpPr>
          <p:cNvPr id="10" name="文本占位符 9"/>
          <p:cNvSpPr>
            <a:spLocks noGrp="1"/>
          </p:cNvSpPr>
          <p:nvPr>
            <p:ph type="body" sz="quarter" idx="11"/>
          </p:nvPr>
        </p:nvSpPr>
        <p:spPr/>
        <p:txBody>
          <a:bodyPr/>
          <a:lstStyle/>
          <a:p>
            <a:endParaRPr lang="zh-CN" altLang="en-US"/>
          </a:p>
        </p:txBody>
      </p:sp>
    </p:spTree>
  </p:cSld>
  <p:clrMapOvr>
    <a:masterClrMapping/>
  </p:clrMapOvr>
  <p:transition spd="slow">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rPr>
              <a:t>FA orient</a:t>
            </a:r>
            <a:r>
              <a:rPr lang="en-US" alt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rPr>
              <a:t> flux de donn</a:t>
            </a:r>
            <a:r>
              <a:rPr lang="en-US" alt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rPr>
              <a:t>es</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12" hasCustomPrompt="1"/>
          </p:nvPr>
        </p:nvSpPr>
        <p:spPr>
          <a:xfrm>
            <a:off x="523873" y="1323976"/>
            <a:ext cx="4819525" cy="4852988"/>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Implémentation</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naïve de </a:t>
            </a:r>
            <a:r>
              <a:rPr lang="en-US">
                <a:solidFill>
                  <a:srgbClr val="404040"/>
                </a:solidFill>
                <a:latin typeface="Calibri" panose="020F0502020204030204"/>
                <a:ea typeface="Calibri" panose="020F0502020204030204"/>
                <a:cs typeface="Calibri" panose="020F0502020204030204"/>
                <a:sym typeface="Calibri" panose="020F0502020204030204"/>
              </a:rPr>
              <a:t>SDPA</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M</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émoire intermédiaire </a:t>
            </a:r>
            <a:r>
              <a:rPr lang="en-US" sz="180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Linéaire</a:t>
            </a:r>
            <a:r>
              <a:rPr lang="en-US" sz="1800">
                <a:solidFill>
                  <a:srgbClr val="404040"/>
                </a:solidFill>
                <a:latin typeface="Calibri" panose="020F0502020204030204"/>
                <a:ea typeface="Calibri" panose="020F0502020204030204"/>
                <a:cs typeface="Calibri" panose="020F0502020204030204"/>
                <a:sym typeface="Calibri" panose="020F0502020204030204"/>
              </a:rPr>
              <a:t> O(N)</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compose le calcul SDPA en op</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ligne par ligne</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Impl</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mentation optimis</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de SDPA</a:t>
            </a:r>
            <a:endPar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M</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émoire intermédiaire c</a:t>
            </a:r>
            <a:r>
              <a:rPr lang="en-US" sz="180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onstante</a:t>
            </a:r>
            <a:r>
              <a:rPr lang="en-US" sz="1800">
                <a:solidFill>
                  <a:srgbClr val="404040"/>
                </a:solidFill>
                <a:latin typeface="Calibri" panose="020F0502020204030204"/>
                <a:ea typeface="Calibri" panose="020F0502020204030204"/>
                <a:cs typeface="Calibri" panose="020F0502020204030204"/>
                <a:sym typeface="Calibri" panose="020F0502020204030204"/>
              </a:rPr>
              <a:t> O(1)</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Softmax en ligne / incr</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mental</a:t>
            </a:r>
            <a:endPar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125" b="0" i="0" u="none" strike="noStrike">
                <a:solidFill>
                  <a:srgbClr val="A5A5A5"/>
                </a:solidFill>
                <a:latin typeface="Calibri" panose="020F0502020204030204"/>
                <a:ea typeface="Garamond" panose="02020404030301010803"/>
                <a:cs typeface="Garamond" panose="02020404030301010803"/>
                <a:sym typeface="Garamond" panose="02020404030301010803"/>
              </a:rPr>
              <a:t>Sohn, Gina, Nathan Zhang, and Kunle Olukotun. "Implementing and optimizing the scaled dot-product attention on streaming dataflow." arXiv preprint arXiv:2404.16629 (2024).</a:t>
            </a:r>
            <a:endParaRPr lang="en-US" sz="1125"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6" name="AutoShape 6"/>
          <p:cNvSpPr>
            <a:spLocks noGrp="1"/>
          </p:cNvSpPr>
          <p:nvPr>
            <p:ph type="body" sz="quarter" idx="14"/>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7" name="Picture 7"/>
          <p:cNvPicPr>
            <a:picLocks noChangeAspect="1"/>
          </p:cNvPicPr>
          <p:nvPr/>
        </p:nvPicPr>
        <p:blipFill>
          <a:blip r:embed="rId1"/>
          <a:srcRect/>
          <a:stretch>
            <a:fillRect/>
          </a:stretch>
        </p:blipFill>
        <p:spPr>
          <a:xfrm>
            <a:off x="1728830" y="4473054"/>
            <a:ext cx="2629184" cy="2167301"/>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5343398" y="1392526"/>
            <a:ext cx="6304412" cy="3833297"/>
          </a:xfrm>
          <a:prstGeom prst="rect">
            <a:avLst/>
          </a:prstGeom>
          <a:ln w="12700">
            <a:noFill/>
            <a:prstDash val="solid"/>
          </a:ln>
        </p:spPr>
      </p:pic>
      <p:sp>
        <p:nvSpPr>
          <p:cNvPr id="10" name="文本占位符 9"/>
          <p:cNvSpPr>
            <a:spLocks noGrp="1"/>
          </p:cNvSpPr>
          <p:nvPr>
            <p:ph type="body" sz="quarter" idx="11"/>
          </p:nvPr>
        </p:nvSpPr>
        <p:spPr/>
        <p:txBody>
          <a:bodyPr/>
          <a:lstStyle/>
          <a:p>
            <a:endParaRPr lang="zh-CN" altLang="en-US"/>
          </a:p>
        </p:txBody>
      </p:sp>
    </p:spTree>
  </p:cSld>
  <p:clrMapOvr>
    <a:masterClrMapping/>
  </p:clrMapOvr>
  <p:transition spd="slow">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Observation du niveau d’attention</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Mécanisme de </a:t>
            </a:r>
            <a:r>
              <a:rPr lang="en-US" altLang="zh-CN" sz="2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validation sp</a:t>
            </a:r>
            <a:r>
              <a:rPr lang="en-US" altLang="en-US" sz="2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culative </a:t>
            </a:r>
            <a:endParaRPr lang="en-US" altLang="zh-CN" sz="2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9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Paralléliser et chevaucher le calcul coûteux de l'auto-attention avec </a:t>
            </a:r>
            <a:r>
              <a:rPr lang="en-US" altLang="zh-CN" sz="19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couches Feed-Forward et les connexions r</a:t>
            </a:r>
            <a:r>
              <a:rPr lang="en-US" altLang="en-US" sz="19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siduelles ult</a:t>
            </a:r>
            <a:r>
              <a:rPr lang="en-US" altLang="en-US" sz="19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rieures</a:t>
            </a:r>
            <a:endParaRPr lang="en-US" sz="19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9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Prédire la sortie de l'auto-attention de la couche actuelle</a:t>
            </a:r>
            <a:endParaRPr lang="en-US" sz="19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9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Exécuter en parallèle le chemin exact et le chemin spéculatif</a:t>
            </a:r>
            <a:endParaRPr lang="en-US" sz="19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9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Validation comparative à faible coût</a:t>
            </a:r>
            <a:endParaRPr lang="en-US" sz="19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9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Valider ou annuler</a:t>
            </a:r>
            <a:endParaRPr lang="en-US" sz="19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13"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Cai, Jack, et al. "Attention-Level Speculation." (2025).</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pic>
        <p:nvPicPr>
          <p:cNvPr id="7" name="Picture 7"/>
          <p:cNvPicPr>
            <a:picLocks noChangeAspect="1"/>
          </p:cNvPicPr>
          <p:nvPr/>
        </p:nvPicPr>
        <p:blipFill>
          <a:blip r:embed="rId1"/>
          <a:srcRect/>
          <a:stretch>
            <a:fillRect/>
          </a:stretch>
        </p:blipFill>
        <p:spPr>
          <a:xfrm>
            <a:off x="7056825" y="1132554"/>
            <a:ext cx="3994390" cy="5168899"/>
          </a:xfrm>
          <a:prstGeom prst="rect">
            <a:avLst/>
          </a:prstGeom>
          <a:ln w="12700">
            <a:noFill/>
            <a:prstDash val="solid"/>
          </a:ln>
        </p:spPr>
      </p:pic>
      <p:sp>
        <p:nvSpPr>
          <p:cNvPr id="8" name="文本占位符 7"/>
          <p:cNvSpPr>
            <a:spLocks noGrp="1"/>
          </p:cNvSpPr>
          <p:nvPr>
            <p:ph type="body" sz="quarter" idx="11"/>
          </p:nvPr>
        </p:nvSpPr>
        <p:spPr/>
        <p:txBody>
          <a:bodyPr/>
          <a:lstStyle/>
          <a:p>
            <a:endParaRPr lang="zh-CN" altLang="en-US"/>
          </a:p>
        </p:txBody>
      </p:sp>
    </p:spTree>
  </p:cSld>
  <p:clrMapOvr>
    <a:masterClrMapping/>
  </p:clrMapOvr>
  <p:transition spd="slow">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8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Perspectives futures : co-conception mat</a:t>
            </a:r>
            <a:r>
              <a:rPr lang="en-US" altLang="en-US" sz="28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8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riel-algorithme</a:t>
            </a:r>
            <a:endParaRPr lang="en-US" altLang="zh-CN" sz="28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4" y="1323975"/>
            <a:ext cx="8639522" cy="4852988"/>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Évolution du Flash Attention (vers</a:t>
            </a:r>
            <a:r>
              <a:rPr lang="en-US" sz="2125" b="0" i="0" u="none" strike="noStrike">
                <a:solidFill>
                  <a:srgbClr val="404040"/>
                </a:solidFill>
                <a:latin typeface="Calibri" panose="020F0502020204030204"/>
                <a:ea typeface="Calibri" panose="020F0502020204030204"/>
                <a:cs typeface="Calibri" panose="020F0502020204030204"/>
                <a:sym typeface="Calibri" panose="020F0502020204030204"/>
              </a:rPr>
              <a:t> FA3 </a:t>
            </a:r>
            <a:r>
              <a:rPr 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au-delà)</a:t>
            </a:r>
            <a:endParaRPr 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Exécution asynchrone : chevauchement du transfert de données et du calcul (</a:t>
            </a:r>
            <a:r>
              <a:rPr lang="en-US" altLang="zh-CN"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optimisation H100</a:t>
            </a:r>
            <a:r>
              <a:rPr 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Support basse précision : </a:t>
            </a:r>
            <a:r>
              <a:rPr lang="en-US" altLang="zh-CN"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support natif du FP8/INT8, permettant un d</a:t>
            </a:r>
            <a:r>
              <a:rPr lang="en-US" alt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bit d'inf</a:t>
            </a:r>
            <a:r>
              <a:rPr lang="en-US" alt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rence extr</a:t>
            </a:r>
            <a:r>
              <a:rPr lang="en-US" alt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mement </a:t>
            </a:r>
            <a:r>
              <a:rPr lang="en-US" alt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lev</a:t>
            </a:r>
            <a:r>
              <a:rPr lang="en-US" alt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Accélérateurs matériels dédiés (</a:t>
            </a:r>
            <a:r>
              <a:rPr lang="en-US" sz="2125" b="0" i="0" u="none" strike="noStrike">
                <a:solidFill>
                  <a:srgbClr val="404040"/>
                </a:solidFill>
                <a:latin typeface="Calibri" panose="020F0502020204030204"/>
                <a:ea typeface="Calibri" panose="020F0502020204030204"/>
                <a:cs typeface="Calibri" panose="020F0502020204030204"/>
                <a:sym typeface="Calibri" panose="020F0502020204030204"/>
              </a:rPr>
              <a:t>FPGA/ASIC</a:t>
            </a:r>
            <a:r>
              <a:rPr 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70" b="0" i="0" u="none" strike="noStrike">
                <a:solidFill>
                  <a:srgbClr val="404040"/>
                </a:solidFill>
                <a:latin typeface="Calibri" panose="020F0502020204030204"/>
                <a:ea typeface="Calibri" panose="020F0502020204030204"/>
                <a:cs typeface="Calibri" panose="020F0502020204030204"/>
                <a:sym typeface="Calibri" panose="020F0502020204030204"/>
              </a:rPr>
              <a:t>FPGA/ASIC </a:t>
            </a:r>
            <a:r>
              <a:rPr 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intégrés : PE dédié aux flux de données d'attention.</a:t>
            </a:r>
            <a:endParaRPr 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Compression sensible au matériel : fusion de l'élagage structuré et de</a:t>
            </a:r>
            <a:r>
              <a:rPr lang="en-US" sz="1770" b="0" i="0" u="none" strike="noStrike">
                <a:solidFill>
                  <a:srgbClr val="404040"/>
                </a:solidFill>
                <a:latin typeface="Calibri" panose="020F0502020204030204"/>
                <a:ea typeface="Calibri" panose="020F0502020204030204"/>
                <a:cs typeface="Calibri" panose="020F0502020204030204"/>
                <a:sym typeface="Calibri" panose="020F0502020204030204"/>
              </a:rPr>
              <a:t> la </a:t>
            </a:r>
            <a:r>
              <a:rPr 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quantification INT4.</a:t>
            </a:r>
            <a:endParaRPr 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Optimisation du flux de données en continu</a:t>
            </a:r>
            <a:endParaRPr 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a:t>
            </a:r>
            <a:r>
              <a:rPr lang="en-US" sz="1770" b="0" i="0" u="none" strike="noStrike">
                <a:solidFill>
                  <a:srgbClr val="404040"/>
                </a:solidFill>
                <a:latin typeface="Calibri" panose="020F0502020204030204"/>
                <a:ea typeface="Calibri" panose="020F0502020204030204"/>
                <a:cs typeface="Calibri" panose="020F0502020204030204"/>
                <a:sym typeface="Calibri" panose="020F0502020204030204"/>
              </a:rPr>
              <a:t> O(1) </a:t>
            </a:r>
            <a:r>
              <a:rPr 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constante : décomposition par lignes pour séquences infinies.</a:t>
            </a:r>
            <a:endParaRPr 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Softmax</a:t>
            </a:r>
            <a:r>
              <a:rPr lang="en-US" sz="1770" b="0" i="0" u="none" strike="noStrike">
                <a:solidFill>
                  <a:srgbClr val="404040"/>
                </a:solidFill>
                <a:latin typeface="Calibri" panose="020F0502020204030204"/>
                <a:ea typeface="Calibri" panose="020F0502020204030204"/>
                <a:cs typeface="Calibri" panose="020F0502020204030204"/>
                <a:sym typeface="Calibri" panose="020F0502020204030204"/>
              </a:rPr>
              <a:t> incrémental</a:t>
            </a:r>
            <a:r>
              <a:rPr 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pour inférence</a:t>
            </a:r>
            <a:r>
              <a:rPr lang="en-US" sz="1770" b="0" i="0" u="none" strike="noStrike">
                <a:solidFill>
                  <a:srgbClr val="404040"/>
                </a:solidFill>
                <a:latin typeface="Calibri" panose="020F0502020204030204"/>
                <a:ea typeface="Calibri" panose="020F0502020204030204"/>
                <a:cs typeface="Calibri" panose="020F0502020204030204"/>
                <a:sym typeface="Calibri" panose="020F0502020204030204"/>
              </a:rPr>
              <a:t> LLM </a:t>
            </a:r>
            <a:r>
              <a:rPr 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 </a:t>
            </a:r>
            <a:r>
              <a:rPr lang="en-US" altLang="zh-CN"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streaming </a:t>
            </a:r>
            <a:r>
              <a:rPr 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temps réel.</a:t>
            </a:r>
            <a:endParaRPr 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9163396" y="1132554"/>
            <a:ext cx="2479964" cy="2479964"/>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9163946" y="3917176"/>
            <a:ext cx="2562657" cy="2438857"/>
          </a:xfrm>
          <a:prstGeom prst="rect">
            <a:avLst/>
          </a:prstGeom>
          <a:ln w="12700">
            <a:noFill/>
            <a:prstDash val="solid"/>
          </a:ln>
        </p:spPr>
      </p:pic>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5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Perspectives : virage paradigmatique de l’infrastructure LLM </a:t>
            </a:r>
            <a:r>
              <a:rPr lang="en-US" sz="25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5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Spéculation au niveau de la couche d'attention</a:t>
            </a:r>
            <a:endParaRPr lang="en-US" sz="20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Exécution parallèle : chevauchement du mécanisme d'attention</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avec les couches Feed-Forward et r</a:t>
            </a:r>
            <a:r>
              <a:rPr lang="en-US" alt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siduelles.</a:t>
            </a:r>
            <a:endPar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Spéculation et validation  : </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strat</a:t>
            </a:r>
            <a:r>
              <a:rPr lang="en-US" alt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gie de </a:t>
            </a:r>
            <a:r>
              <a:rPr lang="en-US" alt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validation ou annulation </a:t>
            </a:r>
            <a:r>
              <a:rPr lang="en-US" alt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(commit/rollback) r</a:t>
            </a:r>
            <a:r>
              <a:rPr lang="en-US" alt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duisant consid</a:t>
            </a:r>
            <a:r>
              <a:rPr lang="en-US" alt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rablement la latence</a:t>
            </a:r>
            <a:r>
              <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Contexte ultra-long</a:t>
            </a:r>
            <a:endParaRPr lang="en-US" sz="20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Extension linéaire</a:t>
            </a:r>
            <a:r>
              <a:rPr lang="en-US" sz="1735" b="0" i="0" u="none" strike="noStrike">
                <a:solidFill>
                  <a:srgbClr val="404040"/>
                </a:solidFill>
                <a:latin typeface="Calibri" panose="020F0502020204030204"/>
                <a:ea typeface="Calibri" panose="020F0502020204030204"/>
                <a:cs typeface="Calibri" panose="020F0502020204030204"/>
                <a:sym typeface="Calibri" panose="020F0502020204030204"/>
              </a:rPr>
              <a:t> (O(N))</a:t>
            </a:r>
            <a:r>
              <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rupture du goulot d'</a:t>
            </a:r>
            <a:r>
              <a:rPr lang="en-US" alt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tranglement m</a:t>
            </a:r>
            <a:r>
              <a:rPr lang="en-US" alt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O(N</a:t>
            </a:r>
            <a:r>
              <a:rPr lang="en-US" alt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²</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pour des millions de jetons</a:t>
            </a:r>
            <a:r>
              <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Extension multimodale : </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traitement en une seule passe de livres entiers et de vid</a:t>
            </a:r>
            <a:r>
              <a:rPr lang="en-US" alt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os haute d</a:t>
            </a:r>
            <a:r>
              <a:rPr lang="en-US" alt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finition</a:t>
            </a:r>
            <a:r>
              <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Philosophie</a:t>
            </a:r>
            <a:r>
              <a:rPr lang="en-US" sz="208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0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IO-aware</a:t>
            </a:r>
            <a:r>
              <a:rPr lang="en-US" sz="208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0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généralisée</a:t>
            </a:r>
            <a:endParaRPr lang="en-US" sz="20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Au-delà de l'attention : </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application de l'approche IO-aware à tous les op</a:t>
            </a:r>
            <a:r>
              <a:rPr lang="en-US" alt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d'apprentissage profond (convolutions, normalisations).</a:t>
            </a:r>
            <a:endPar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Nouveau standard : </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passage d'une conception </a:t>
            </a:r>
            <a:r>
              <a:rPr lang="en-US" alt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centr</a:t>
            </a:r>
            <a:r>
              <a:rPr lang="en-US" alt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sur le calcul </a:t>
            </a:r>
            <a:r>
              <a:rPr lang="en-US" alt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vers une conception </a:t>
            </a:r>
            <a:r>
              <a:rPr lang="en-US" alt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centr</a:t>
            </a:r>
            <a:r>
              <a:rPr lang="en-US" alt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sur la m</a:t>
            </a:r>
            <a:r>
              <a:rPr lang="en-US" alt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a:t>
            </a:r>
            <a:r>
              <a:rPr lang="en-US" alt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altLang="zh-CN"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4"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altLang="zh-CN">
                <a:latin typeface="Calibri" panose="020F0502020204030204"/>
              </a:rPr>
              <a:t>Le</a:t>
            </a:r>
            <a:r>
              <a:rPr lang="en-US" altLang="en-US">
                <a:latin typeface="Calibri" panose="020F0502020204030204"/>
              </a:rPr>
              <a:t>ç</a:t>
            </a:r>
            <a:r>
              <a:rPr lang="en-US" altLang="zh-CN">
                <a:latin typeface="Calibri" panose="020F0502020204030204"/>
              </a:rPr>
              <a:t>on</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 13 : Optimisation des l'Opérateurs de Convolution</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xfrm>
            <a:off x="741404" y="431629"/>
            <a:ext cx="7493505" cy="700925"/>
          </a:xfrm>
          <a:prstGeom prst="rect">
            <a:avLst/>
          </a:prstGeom>
        </p:spPr>
        <p:txBody>
          <a:bodyPr wrap="square" lIns="91440" tIns="45720" rIns="91440" bIns="45720" anchor="ctr">
            <a:noAutofit/>
          </a:bodyPr>
          <a:lstStyle>
            <a:lvl1pPr algn="l">
              <a:lnSpc>
                <a:spcPct val="100000"/>
              </a:lnSpc>
              <a:defRPr sz="2700" b="0" i="0" u="none" strike="noStrike" spc="0">
                <a:solidFill>
                  <a:srgbClr val="262626">
                    <a:alpha val="100000"/>
                  </a:srgbClr>
                </a:solidFill>
                <a:latin typeface="Calibri" panose="020F0502020204030204"/>
              </a:defRPr>
            </a:lvl1pPr>
          </a:lstStyle>
          <a:p>
            <a:pPr indent="0" algn="l">
              <a:lnSpc>
                <a:spcPct val="100000"/>
              </a:lnSpc>
            </a:pPr>
            <a:r>
              <a:rPr lang="en-US" sz="2700" b="0" i="0" u="none" strike="noStrike">
                <a:solidFill>
                  <a:srgbClr val="262626"/>
                </a:solidFill>
                <a:latin typeface="Calibri" panose="020F0502020204030204"/>
                <a:ea typeface="Calibri" panose="020F0502020204030204"/>
                <a:cs typeface="Calibri" panose="020F0502020204030204"/>
                <a:sym typeface="Calibri" panose="020F0502020204030204"/>
              </a:rPr>
              <a:t>Concepts fondamentaux de la convolution 2D</a:t>
            </a:r>
            <a:endParaRPr lang="en-US" sz="27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algn="l"/>
          </a:p>
        </p:txBody>
      </p:sp>
      <p:sp>
        <p:nvSpPr>
          <p:cNvPr id="5" name="AutoShape 5"/>
          <p:cNvSpPr>
            <a:spLocks noGrp="1"/>
          </p:cNvSpPr>
          <p:nvPr>
            <p:ph type="body" sz="quarter" idx="68" hasCustomPrompt="1"/>
          </p:nvPr>
        </p:nvSpPr>
        <p:spPr>
          <a:xfrm>
            <a:off x="523875" y="1264920"/>
            <a:ext cx="7710805" cy="4912360"/>
          </a:xfrm>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Principe d'implémentation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100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Entrée : </a:t>
            </a:r>
            <a:r>
              <a:rPr lang="en-US" altLang="zh-CN" sz="1700" b="0" i="0" u="none" strike="noStrike">
                <a:solidFill>
                  <a:srgbClr val="404040"/>
                </a:solidFill>
                <a:latin typeface="Calibri" panose="020F0502020204030204"/>
                <a:ea typeface="Calibri" panose="020F0502020204030204"/>
                <a:cs typeface="Calibri" panose="020F0502020204030204"/>
                <a:sym typeface="Calibri" panose="020F0502020204030204"/>
              </a:rPr>
              <a:t>cartes de caract</a:t>
            </a:r>
            <a:r>
              <a:rPr lang="en-US" alt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00" b="0" i="0" u="none" strike="noStrike">
                <a:solidFill>
                  <a:srgbClr val="404040"/>
                </a:solidFill>
                <a:latin typeface="Calibri" panose="020F0502020204030204"/>
                <a:ea typeface="Calibri" panose="020F0502020204030204"/>
                <a:cs typeface="Calibri" panose="020F0502020204030204"/>
                <a:sym typeface="Calibri" panose="020F0502020204030204"/>
              </a:rPr>
              <a:t>ristiques d'entr</a:t>
            </a:r>
            <a:r>
              <a:rPr lang="en-US" alt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00" b="0" i="0" u="none" strike="noStrike">
                <a:solidFill>
                  <a:srgbClr val="404040"/>
                </a:solidFill>
                <a:latin typeface="Calibri" panose="020F0502020204030204"/>
                <a:ea typeface="Calibri" panose="020F0502020204030204"/>
                <a:cs typeface="Calibri" panose="020F0502020204030204"/>
                <a:sym typeface="Calibri" panose="020F0502020204030204"/>
              </a:rPr>
              <a:t>e, matrice de poids, biais (optionnel)</a:t>
            </a:r>
            <a:endParaRPr lang="en-US" altLang="zh-CN"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100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Sortie : carte de caractéristiques de sortie</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100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Opération principale : multiplication-accumulation Multiply-Accumulation (MAC)</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8234909" y="747952"/>
            <a:ext cx="3091999" cy="2381792"/>
          </a:xfrm>
          <a:prstGeom prst="rect">
            <a:avLst/>
          </a:prstGeom>
          <a:ln w="12700">
            <a:noFill/>
            <a:prstDash val="solid"/>
          </a:ln>
        </p:spPr>
      </p:pic>
      <p:grpSp>
        <p:nvGrpSpPr>
          <p:cNvPr id="7" name="Group 7"/>
          <p:cNvGrpSpPr/>
          <p:nvPr/>
        </p:nvGrpSpPr>
        <p:grpSpPr>
          <a:xfrm>
            <a:off x="7509183" y="3129744"/>
            <a:ext cx="4373324" cy="3591732"/>
            <a:chOff x="7509183" y="3129744"/>
            <a:chExt cx="4373324" cy="3591732"/>
          </a:xfrm>
        </p:grpSpPr>
        <p:pic>
          <p:nvPicPr>
            <p:cNvPr id="8" name="Picture 8"/>
            <p:cNvPicPr>
              <a:picLocks noChangeAspect="1"/>
            </p:cNvPicPr>
            <p:nvPr/>
          </p:nvPicPr>
          <p:blipFill>
            <a:blip r:embed="rId2"/>
            <a:srcRect/>
            <a:stretch>
              <a:fillRect/>
            </a:stretch>
          </p:blipFill>
          <p:spPr>
            <a:xfrm>
              <a:off x="7509183" y="3129744"/>
              <a:ext cx="4373324" cy="1761445"/>
            </a:xfrm>
            <a:prstGeom prst="rect">
              <a:avLst/>
            </a:prstGeom>
            <a:ln w="12700">
              <a:noFill/>
              <a:prstDash val="solid"/>
            </a:ln>
          </p:spPr>
        </p:pic>
        <p:pic>
          <p:nvPicPr>
            <p:cNvPr id="9" name="Picture 9"/>
            <p:cNvPicPr>
              <a:picLocks noChangeAspect="1"/>
            </p:cNvPicPr>
            <p:nvPr/>
          </p:nvPicPr>
          <p:blipFill>
            <a:blip r:embed="rId3"/>
            <a:srcRect/>
            <a:stretch>
              <a:fillRect/>
            </a:stretch>
          </p:blipFill>
          <p:spPr>
            <a:xfrm>
              <a:off x="7509184" y="4891189"/>
              <a:ext cx="4373323" cy="1830287"/>
            </a:xfrm>
            <a:prstGeom prst="rect">
              <a:avLst/>
            </a:prstGeom>
            <a:ln w="12700">
              <a:noFill/>
              <a:prstDash val="solid"/>
            </a:ln>
          </p:spPr>
        </p:pic>
      </p:grpSp>
      <p:grpSp>
        <p:nvGrpSpPr>
          <p:cNvPr id="10" name="Group 10"/>
          <p:cNvGrpSpPr/>
          <p:nvPr/>
        </p:nvGrpSpPr>
        <p:grpSpPr>
          <a:xfrm>
            <a:off x="1078865" y="3271520"/>
            <a:ext cx="4911090" cy="2994660"/>
            <a:chOff x="1078865" y="3271520"/>
            <a:chExt cx="4911090" cy="2994660"/>
          </a:xfrm>
        </p:grpSpPr>
        <p:grpSp>
          <p:nvGrpSpPr>
            <p:cNvPr id="11" name="Group 11"/>
            <p:cNvGrpSpPr/>
            <p:nvPr/>
          </p:nvGrpSpPr>
          <p:grpSpPr>
            <a:xfrm>
              <a:off x="1078865" y="3271520"/>
              <a:ext cx="4911090" cy="2994660"/>
              <a:chOff x="1078865" y="3271520"/>
              <a:chExt cx="4911090" cy="2994660"/>
            </a:xfrm>
          </p:grpSpPr>
          <p:pic>
            <p:nvPicPr>
              <p:cNvPr id="12" name="Picture 12"/>
              <p:cNvPicPr>
                <a:picLocks noChangeAspect="1"/>
              </p:cNvPicPr>
              <p:nvPr/>
            </p:nvPicPr>
            <p:blipFill>
              <a:blip r:embed="rId4"/>
              <a:srcRect/>
              <a:stretch>
                <a:fillRect/>
              </a:stretch>
            </p:blipFill>
            <p:spPr>
              <a:xfrm>
                <a:off x="1078865" y="3271520"/>
                <a:ext cx="4911090" cy="2994660"/>
              </a:xfrm>
              <a:prstGeom prst="rect">
                <a:avLst/>
              </a:prstGeom>
              <a:ln w="12700">
                <a:noFill/>
                <a:prstDash val="solid"/>
              </a:ln>
            </p:spPr>
          </p:pic>
          <p:sp>
            <p:nvSpPr>
              <p:cNvPr id="13" name="AutoShape 13"/>
              <p:cNvSpPr/>
              <p:nvPr/>
            </p:nvSpPr>
            <p:spPr>
              <a:xfrm>
                <a:off x="3750617" y="4986368"/>
                <a:ext cx="1959420" cy="1229402"/>
              </a:xfrm>
              <a:prstGeom prst="rect">
                <a:avLst/>
              </a:prstGeom>
              <a:solidFill>
                <a:srgbClr val="232428">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Calibri" panose="020F0502020204030204"/>
                    <a:cs typeface="Calibri" panose="020F0502020204030204"/>
                    <a:sym typeface="Calibri" panose="020F0502020204030204"/>
                  </a:rPr>
                  <a:t> </a:t>
                </a:r>
                <a:endParaRPr lang="en-US" sz="1100"/>
              </a:p>
            </p:txBody>
          </p:sp>
        </p:grpSp>
        <p:pic>
          <p:nvPicPr>
            <p:cNvPr id="14" name="Picture 14"/>
            <p:cNvPicPr>
              <a:picLocks noChangeAspect="1"/>
            </p:cNvPicPr>
            <p:nvPr/>
          </p:nvPicPr>
          <p:blipFill>
            <a:blip r:embed="rId5"/>
            <a:srcRect/>
            <a:stretch>
              <a:fillRect/>
            </a:stretch>
          </p:blipFill>
          <p:spPr>
            <a:xfrm>
              <a:off x="2053945" y="4306293"/>
              <a:ext cx="247649" cy="861664"/>
            </a:xfrm>
            <a:prstGeom prst="rect">
              <a:avLst/>
            </a:prstGeom>
            <a:ln w="12700">
              <a:noFill/>
              <a:prstDash val="solid"/>
            </a:ln>
          </p:spPr>
        </p:pic>
      </p:grpSp>
      <p:sp>
        <p:nvSpPr>
          <p:cNvPr id="15" name="AutoShape 15"/>
          <p:cNvSpPr/>
          <p:nvPr/>
        </p:nvSpPr>
        <p:spPr>
          <a:xfrm>
            <a:off x="3093483" y="5223466"/>
            <a:ext cx="2146742" cy="369332"/>
          </a:xfrm>
          <a:prstGeom prst="rect">
            <a:avLst/>
          </a:prstGeom>
          <a:solidFill>
            <a:srgbClr val="FFFFFF">
              <a:alpha val="100000"/>
            </a:srgbClr>
          </a:solidFill>
          <a:ln w="12700">
            <a:noFill/>
            <a:prstDash val="solid"/>
          </a:ln>
        </p:spPr>
        <p:txBody>
          <a:bodyPr wrap="none" lIns="91440" tIns="45720" rIns="91440" bIns="45720" rtlCol="0" anchor="t">
            <a:spAutoFit/>
          </a:bodyPr>
          <a:lstStyle/>
          <a:p>
            <a:pPr indent="0" algn="ctr">
              <a:lnSpc>
                <a:spcPct val="100000"/>
              </a:lnSpc>
              <a:defRPr/>
            </a:pPr>
            <a:r>
              <a:rPr lang="en-US" sz="1000" b="0" i="0" u="none" strike="noStrike">
                <a:solidFill>
                  <a:srgbClr val="000000"/>
                </a:solidFill>
                <a:latin typeface="Calibri" panose="020F0502020204030204"/>
                <a:ea typeface="Calibri" panose="020F0502020204030204"/>
                <a:cs typeface="Calibri" panose="020F0502020204030204"/>
                <a:sym typeface="Calibri" panose="020F0502020204030204"/>
              </a:rPr>
              <a:t>Implémentation naïve : </a:t>
            </a:r>
            <a:r>
              <a:rPr lang="en-US" sz="1000" b="0" i="0" u="none" strike="noStrike">
                <a:solidFill>
                  <a:srgbClr val="000000"/>
                </a:solidFill>
                <a:latin typeface="Bahnschrift" panose="020B0502040204020203"/>
                <a:ea typeface="Bahnschrift" panose="020B0502040204020203"/>
                <a:cs typeface="Bahnschrift" panose="020B0502040204020203"/>
                <a:sym typeface="Bahnschrift" panose="020B0502040204020203"/>
              </a:rPr>
              <a:t>7</a:t>
            </a:r>
            <a:r>
              <a:rPr lang="en-US" sz="1000" b="0" i="0" u="none" strike="noStrike">
                <a:solidFill>
                  <a:srgbClr val="000000"/>
                </a:solidFill>
                <a:latin typeface="Calibri" panose="020F0502020204030204"/>
                <a:ea typeface="Calibri" panose="020F0502020204030204"/>
                <a:cs typeface="Calibri" panose="020F0502020204030204"/>
                <a:sym typeface="Calibri" panose="020F0502020204030204"/>
              </a:rPr>
              <a:t> boucles imbriquées</a:t>
            </a:r>
            <a:endParaRPr lang="en-US" sz="1100"/>
          </a:p>
        </p:txBody>
      </p:sp>
      <p:sp>
        <p:nvSpPr>
          <p:cNvPr id="17" name="文本占位符 16"/>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3100" b="0" i="0" u="none" strike="noStrike" spc="0">
                <a:solidFill>
                  <a:srgbClr val="262626">
                    <a:alpha val="100000"/>
                  </a:srgbClr>
                </a:solidFill>
                <a:latin typeface="Calibri" panose="020F0502020204030204"/>
              </a:defRPr>
            </a:lvl1pPr>
          </a:lstStyle>
          <a:p>
            <a:pPr indent="0" algn="l">
              <a:lnSpc>
                <a:spcPct val="100000"/>
              </a:lnSpc>
            </a:pPr>
            <a:r>
              <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rPr>
              <a:t>Variantes de la convolution 2D</a:t>
            </a:r>
            <a:endPar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algn="l"/>
          </a:p>
        </p:txBody>
      </p:sp>
      <p:pic>
        <p:nvPicPr>
          <p:cNvPr id="6" name="Picture 6"/>
          <p:cNvPicPr>
            <a:picLocks noChangeAspect="1"/>
          </p:cNvPicPr>
          <p:nvPr/>
        </p:nvPicPr>
        <p:blipFill>
          <a:blip r:embed="rId1"/>
          <a:srcRect/>
          <a:stretch>
            <a:fillRect/>
          </a:stretch>
        </p:blipFill>
        <p:spPr>
          <a:xfrm>
            <a:off x="723227" y="1747507"/>
            <a:ext cx="3276600" cy="367665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4214812" y="1689130"/>
            <a:ext cx="3762375" cy="3629025"/>
          </a:xfrm>
          <a:prstGeom prst="rect">
            <a:avLst/>
          </a:prstGeom>
          <a:ln w="12700">
            <a:noFill/>
            <a:prstDash val="solid"/>
          </a:ln>
        </p:spPr>
      </p:pic>
      <p:sp>
        <p:nvSpPr>
          <p:cNvPr id="8" name="AutoShape 8"/>
          <p:cNvSpPr/>
          <p:nvPr/>
        </p:nvSpPr>
        <p:spPr>
          <a:xfrm>
            <a:off x="1667231" y="5437143"/>
            <a:ext cx="1210588" cy="40011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100" b="0" i="0" u="none" strike="noStrike">
                <a:solidFill>
                  <a:srgbClr val="000000"/>
                </a:solidFill>
                <a:latin typeface="Calibri" panose="020F0502020204030204"/>
                <a:ea typeface="Calibri" panose="020F0502020204030204"/>
                <a:cs typeface="Calibri" panose="020F0502020204030204"/>
                <a:sym typeface="Calibri" panose="020F0502020204030204"/>
              </a:rPr>
              <a:t>Convolution transposée</a:t>
            </a:r>
            <a:endParaRPr lang="en-US" sz="1100"/>
          </a:p>
        </p:txBody>
      </p:sp>
      <p:sp>
        <p:nvSpPr>
          <p:cNvPr id="9" name="AutoShape 9"/>
          <p:cNvSpPr/>
          <p:nvPr/>
        </p:nvSpPr>
        <p:spPr>
          <a:xfrm>
            <a:off x="5371401" y="5367954"/>
            <a:ext cx="1210588" cy="40011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Convolution dilatée</a:t>
            </a:r>
            <a:endParaRPr lang="en-US" sz="1100"/>
          </a:p>
        </p:txBody>
      </p:sp>
      <p:pic>
        <p:nvPicPr>
          <p:cNvPr id="10" name="Picture 10"/>
          <p:cNvPicPr>
            <a:picLocks noChangeAspect="1"/>
          </p:cNvPicPr>
          <p:nvPr/>
        </p:nvPicPr>
        <p:blipFill>
          <a:blip r:embed="rId3"/>
          <a:srcRect/>
          <a:stretch>
            <a:fillRect/>
          </a:stretch>
        </p:blipFill>
        <p:spPr>
          <a:xfrm>
            <a:off x="8192175" y="1392225"/>
            <a:ext cx="3918857" cy="4073549"/>
          </a:xfrm>
          <a:prstGeom prst="rect">
            <a:avLst/>
          </a:prstGeom>
          <a:ln w="12700">
            <a:noFill/>
            <a:prstDash val="solid"/>
          </a:ln>
        </p:spPr>
      </p:pic>
      <p:sp>
        <p:nvSpPr>
          <p:cNvPr id="11" name="AutoShape 11"/>
          <p:cNvSpPr/>
          <p:nvPr/>
        </p:nvSpPr>
        <p:spPr>
          <a:xfrm>
            <a:off x="9518323" y="5367954"/>
            <a:ext cx="1210588" cy="40011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Convolution groupée</a:t>
            </a:r>
            <a:endParaRPr lang="en-US" sz="1100"/>
          </a:p>
        </p:txBody>
      </p:sp>
      <p:sp>
        <p:nvSpPr>
          <p:cNvPr id="12" name="文本占位符 11"/>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3100" b="0" i="0" u="none" strike="noStrike" spc="0">
                <a:solidFill>
                  <a:srgbClr val="262626">
                    <a:alpha val="100000"/>
                  </a:srgbClr>
                </a:solidFill>
                <a:latin typeface="Calibri" panose="020F0502020204030204"/>
              </a:defRPr>
            </a:lvl1pPr>
          </a:lstStyle>
          <a:p>
            <a:pPr indent="0" algn="l">
              <a:lnSpc>
                <a:spcPct val="100000"/>
              </a:lnSpc>
            </a:pPr>
            <a:r>
              <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rPr>
              <a:t>Réseaux de Neurones Convolutifs (CNN)</a:t>
            </a:r>
            <a:endPar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algn="l"/>
          </a:p>
        </p:txBody>
      </p:sp>
      <p:pic>
        <p:nvPicPr>
          <p:cNvPr id="6" name="Picture 6"/>
          <p:cNvPicPr>
            <a:picLocks noChangeAspect="1"/>
          </p:cNvPicPr>
          <p:nvPr/>
        </p:nvPicPr>
        <p:blipFill>
          <a:blip r:embed="rId1"/>
          <a:srcRect/>
          <a:stretch>
            <a:fillRect/>
          </a:stretch>
        </p:blipFill>
        <p:spPr>
          <a:xfrm>
            <a:off x="299852" y="1665424"/>
            <a:ext cx="6345454" cy="1938338"/>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346252" y="4196775"/>
            <a:ext cx="5777457" cy="1644876"/>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7635208" y="1448490"/>
            <a:ext cx="3892143" cy="2281419"/>
          </a:xfrm>
          <a:prstGeom prst="rect">
            <a:avLst/>
          </a:prstGeom>
          <a:ln w="12700">
            <a:noFill/>
            <a:prstDash val="solid"/>
          </a:ln>
        </p:spPr>
      </p:pic>
      <p:pic>
        <p:nvPicPr>
          <p:cNvPr id="9" name="Picture 9"/>
          <p:cNvPicPr>
            <a:picLocks noChangeAspect="1"/>
          </p:cNvPicPr>
          <p:nvPr/>
        </p:nvPicPr>
        <p:blipFill>
          <a:blip r:embed="rId4"/>
          <a:srcRect/>
          <a:stretch>
            <a:fillRect/>
          </a:stretch>
        </p:blipFill>
        <p:spPr>
          <a:xfrm>
            <a:off x="7185637" y="3952097"/>
            <a:ext cx="4435929" cy="1734383"/>
          </a:xfrm>
          <a:prstGeom prst="rect">
            <a:avLst/>
          </a:prstGeom>
          <a:ln w="12700">
            <a:noFill/>
            <a:prstDash val="solid"/>
          </a:ln>
        </p:spPr>
      </p:pic>
      <p:sp>
        <p:nvSpPr>
          <p:cNvPr id="10" name="AutoShape 10"/>
          <p:cNvSpPr/>
          <p:nvPr/>
        </p:nvSpPr>
        <p:spPr>
          <a:xfrm>
            <a:off x="2988119" y="3597901"/>
            <a:ext cx="1101546" cy="39624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500" b="0" i="0" u="none" strike="noStrike">
                <a:solidFill>
                  <a:srgbClr val="000000"/>
                </a:solidFill>
                <a:latin typeface="Calibri" panose="020F0502020204030204"/>
                <a:ea typeface="Calibri" panose="020F0502020204030204"/>
                <a:cs typeface="Calibri" panose="020F0502020204030204"/>
                <a:sym typeface="Calibri" panose="020F0502020204030204"/>
              </a:rPr>
              <a:t>LeNet-5</a:t>
            </a:r>
            <a:endParaRPr lang="en-US" sz="1100"/>
          </a:p>
        </p:txBody>
      </p:sp>
      <p:sp>
        <p:nvSpPr>
          <p:cNvPr id="11" name="AutoShape 11"/>
          <p:cNvSpPr/>
          <p:nvPr/>
        </p:nvSpPr>
        <p:spPr>
          <a:xfrm>
            <a:off x="2988119" y="5640305"/>
            <a:ext cx="1096238" cy="39624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500" b="0" i="0" u="none" strike="noStrike">
                <a:solidFill>
                  <a:srgbClr val="000000"/>
                </a:solidFill>
                <a:latin typeface="Calibri" panose="020F0502020204030204"/>
                <a:ea typeface="Calibri" panose="020F0502020204030204"/>
                <a:cs typeface="Calibri" panose="020F0502020204030204"/>
                <a:sym typeface="Calibri" panose="020F0502020204030204"/>
              </a:rPr>
              <a:t>AlexNet</a:t>
            </a:r>
            <a:endParaRPr lang="en-US" sz="1100"/>
          </a:p>
        </p:txBody>
      </p:sp>
      <p:sp>
        <p:nvSpPr>
          <p:cNvPr id="12" name="AutoShape 12"/>
          <p:cNvSpPr/>
          <p:nvPr/>
        </p:nvSpPr>
        <p:spPr>
          <a:xfrm>
            <a:off x="9078000" y="3596833"/>
            <a:ext cx="695196" cy="396241"/>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500" b="0" i="0" u="none" strike="noStrike">
                <a:solidFill>
                  <a:srgbClr val="000000"/>
                </a:solidFill>
                <a:latin typeface="Calibri" panose="020F0502020204030204"/>
                <a:ea typeface="Calibri" panose="020F0502020204030204"/>
                <a:cs typeface="Calibri" panose="020F0502020204030204"/>
                <a:sym typeface="Calibri" panose="020F0502020204030204"/>
              </a:rPr>
              <a:t>VGG</a:t>
            </a:r>
            <a:endParaRPr lang="en-US" sz="1100"/>
          </a:p>
        </p:txBody>
      </p:sp>
      <p:sp>
        <p:nvSpPr>
          <p:cNvPr id="13" name="AutoShape 13"/>
          <p:cNvSpPr/>
          <p:nvPr/>
        </p:nvSpPr>
        <p:spPr>
          <a:xfrm>
            <a:off x="9078000" y="5478142"/>
            <a:ext cx="1019492" cy="39624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500" b="0" i="0" u="none" strike="noStrike">
                <a:solidFill>
                  <a:srgbClr val="000000"/>
                </a:solidFill>
                <a:latin typeface="Calibri" panose="020F0502020204030204"/>
                <a:ea typeface="Calibri" panose="020F0502020204030204"/>
                <a:cs typeface="Calibri" panose="020F0502020204030204"/>
                <a:sym typeface="Calibri" panose="020F0502020204030204"/>
              </a:rPr>
              <a:t>ResNet</a:t>
            </a:r>
            <a:endParaRPr lang="en-US" sz="1100"/>
          </a:p>
        </p:txBody>
      </p:sp>
      <p:sp>
        <p:nvSpPr>
          <p:cNvPr id="14" name="文本占位符 13"/>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2900" b="0" i="0" u="none" strike="noStrike" spc="0">
                <a:solidFill>
                  <a:srgbClr val="262626">
                    <a:alpha val="100000"/>
                  </a:srgbClr>
                </a:solidFill>
                <a:latin typeface="Calibri" panose="020F0502020204030204"/>
              </a:defRPr>
            </a:lvl1pPr>
          </a:lstStyle>
          <a:p>
            <a:pPr indent="0" algn="l">
              <a:lnSpc>
                <a:spcPct val="100000"/>
              </a:lnSpc>
            </a:pPr>
            <a:r>
              <a:rPr lang="en-US" sz="2900" b="0" i="0" u="none" strike="noStrike">
                <a:solidFill>
                  <a:srgbClr val="262626"/>
                </a:solidFill>
                <a:latin typeface="Calibri" panose="020F0502020204030204"/>
                <a:ea typeface="Calibri" panose="020F0502020204030204"/>
                <a:cs typeface="Calibri" panose="020F0502020204030204"/>
                <a:sym typeface="Calibri" panose="020F0502020204030204"/>
              </a:rPr>
              <a:t>Inefficacité de l'implémentation naïve à 7 boucles</a:t>
            </a:r>
            <a:endParaRPr lang="en-US" sz="29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algn="l"/>
          </a:p>
        </p:txBody>
      </p:sp>
      <p:sp>
        <p:nvSpPr>
          <p:cNvPr id="5" name="AutoShape 5"/>
          <p:cNvSpPr>
            <a:spLocks noGrp="1"/>
          </p:cNvSpPr>
          <p:nvPr>
            <p:ph type="body" sz="quarter" idx="68"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Prenons l'opérateur de convolution classique comme exemple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Mathématiquement correct, mais structurellement désastreux : manque de localité spatiale, erreurs de prédiction de branchement, absence de vectorisation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100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 FLOPs = 2 × OutChannel × InChannel × OutHeight × OutWidth × KernelHeight × KernelWidth </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915760" y="2844879"/>
            <a:ext cx="10205038" cy="3421778"/>
          </a:xfrm>
          <a:prstGeom prst="rect">
            <a:avLst/>
          </a:prstGeom>
          <a:ln w="12700">
            <a:noFill/>
            <a:prstDash val="solid"/>
          </a:ln>
        </p:spPr>
      </p:pic>
      <p:sp>
        <p:nvSpPr>
          <p:cNvPr id="8" name="文本占位符 7"/>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3100" b="0" i="0" u="none" strike="noStrike" spc="0">
                <a:solidFill>
                  <a:srgbClr val="262626">
                    <a:alpha val="100000"/>
                  </a:srgbClr>
                </a:solidFill>
                <a:latin typeface="Calibri" panose="020F0502020204030204"/>
              </a:defRPr>
            </a:lvl1pPr>
          </a:lstStyle>
          <a:p>
            <a:pPr indent="0" algn="l">
              <a:lnSpc>
                <a:spcPct val="100000"/>
              </a:lnSpc>
            </a:pPr>
            <a:r>
              <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rPr>
              <a:t>Outil d'analyse : Modèle Roofline</a:t>
            </a:r>
            <a:endParaRPr lang="en-US" sz="3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66"/>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algn="l"/>
          </a:p>
        </p:txBody>
      </p:sp>
      <p:sp>
        <p:nvSpPr>
          <p:cNvPr id="5" name="AutoShape 5"/>
          <p:cNvSpPr>
            <a:spLocks noGrp="1"/>
          </p:cNvSpPr>
          <p:nvPr>
            <p:ph type="body" sz="quarter" idx="68" hasCustomPrompt="1"/>
          </p:nvPr>
        </p:nvSpPr>
        <p:spPr>
          <a:prstGeom prst="rect">
            <a:avLst/>
          </a:prstGeom>
        </p:spPr>
        <p:txBody>
          <a:bodyPr wrap="square" lIns="91440" tIns="45720" rIns="91440" bIns="45720" anchor="t">
            <a:noAutofit/>
          </a:bodyPr>
          <a:lstStyle>
            <a:lvl1pPr algn="l">
              <a:lnSpc>
                <a:spcPct val="100000"/>
              </a:lnSpc>
              <a:defRPr sz="2300" b="0" i="0" u="none" strike="noStrike" spc="0">
                <a:solidFill>
                  <a:srgbClr val="404040">
                    <a:alpha val="100000"/>
                  </a:srgbClr>
                </a:solidFill>
                <a:latin typeface="Calibri" panose="020F0502020204030204"/>
              </a:defRPr>
            </a:lvl1pPr>
          </a:lstStyle>
          <a:p>
            <a:pPr marL="292100" indent="-292100" algn="l">
              <a:lnSpc>
                <a:spcPct val="100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Puissance de calcul vs bande passante mémoire : l'implémentation naïve fait souvent attendre le CPU pour les données.</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716204" y="2038768"/>
            <a:ext cx="8037906" cy="4227889"/>
          </a:xfrm>
          <a:prstGeom prst="rect">
            <a:avLst/>
          </a:prstGeom>
          <a:ln w="12700">
            <a:noFill/>
            <a:prstDash val="solid"/>
          </a:ln>
        </p:spPr>
      </p:pic>
      <p:sp>
        <p:nvSpPr>
          <p:cNvPr id="8" name="文本占位符 7"/>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3100" b="0" i="0" u="none" strike="noStrike" spc="0">
                <a:solidFill>
                  <a:srgbClr val="262626">
                    <a:alpha val="100000"/>
                  </a:srgbClr>
                </a:solidFill>
                <a:latin typeface="Calibri" panose="020F0502020204030204"/>
              </a:defRPr>
            </a:lvl1pPr>
          </a:lstStyle>
          <a:p>
            <a:pPr indent="0" algn="l">
              <a:lnSpc>
                <a:spcPct val="100000"/>
              </a:lnSpc>
            </a:pPr>
            <a:r>
              <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rPr>
              <a:t>Transformation Img2Col</a:t>
            </a:r>
            <a:endPar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algn="l"/>
          </a:p>
        </p:txBody>
      </p:sp>
      <p:sp>
        <p:nvSpPr>
          <p:cNvPr id="5" name="AutoShape 5"/>
          <p:cNvSpPr>
            <a:spLocks noGrp="1"/>
          </p:cNvSpPr>
          <p:nvPr>
            <p:ph type="body" sz="quarter" idx="68"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Convertir les informations géométrique </a:t>
            </a:r>
            <a:r>
              <a:rPr lang="en-US">
                <a:solidFill>
                  <a:srgbClr val="404040"/>
                </a:solidFill>
                <a:ea typeface="Calibri" panose="020F0502020204030204"/>
                <a:cs typeface="Calibri" panose="020F0502020204030204"/>
                <a:sym typeface="Calibri" panose="020F0502020204030204"/>
              </a:rPr>
              <a:t>de position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en informations algébriques : convolution 2D -&gt; multiplication de matricielle générale(GEMM)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101012" y="2372960"/>
            <a:ext cx="9433249" cy="4165953"/>
          </a:xfrm>
          <a:prstGeom prst="rect">
            <a:avLst/>
          </a:prstGeom>
          <a:ln w="12700">
            <a:noFill/>
            <a:prstDash val="solid"/>
          </a:ln>
        </p:spPr>
      </p:pic>
      <p:sp>
        <p:nvSpPr>
          <p:cNvPr id="8" name="文本占位符 7"/>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3100" b="0" i="0" u="none" strike="noStrike" spc="0">
                <a:solidFill>
                  <a:srgbClr val="262626">
                    <a:alpha val="100000"/>
                  </a:srgbClr>
                </a:solidFill>
                <a:latin typeface="Calibri" panose="020F0502020204030204"/>
              </a:defRPr>
            </a:lvl1pPr>
          </a:lstStyle>
          <a:p>
            <a:pPr indent="0" algn="l">
              <a:lnSpc>
                <a:spcPct val="100000"/>
              </a:lnSpc>
            </a:pPr>
            <a:r>
              <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rPr>
              <a:t>Transformation Img2Col</a:t>
            </a:r>
            <a:endPar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algn="l"/>
          </a:p>
        </p:txBody>
      </p:sp>
      <p:sp>
        <p:nvSpPr>
          <p:cNvPr id="5" name="AutoShape 5"/>
          <p:cNvSpPr>
            <a:spLocks noGrp="1"/>
          </p:cNvSpPr>
          <p:nvPr>
            <p:ph type="body" sz="quarter" idx="68" hasCustomPrompt="1"/>
          </p:nvPr>
        </p:nvSpPr>
        <p:spPr>
          <a:prstGeom prst="rect">
            <a:avLst/>
          </a:prstGeom>
        </p:spPr>
        <p:txBody>
          <a:bodyPr wrap="square" lIns="91440" tIns="45720" rIns="91440" bIns="45720" anchor="t">
            <a:noAutofit/>
          </a:bodyPr>
          <a:lstStyle>
            <a:lvl1pPr algn="l">
              <a:lnSpc>
                <a:spcPct val="100000"/>
              </a:lnSpc>
              <a:defRPr sz="2200" b="0" i="0" u="none" strike="noStrike" spc="0">
                <a:solidFill>
                  <a:srgbClr val="404040">
                    <a:alpha val="100000"/>
                  </a:srgbClr>
                </a:solidFill>
                <a:latin typeface="Calibri" panose="020F0502020204030204"/>
              </a:defRPr>
            </a:lvl1pPr>
          </a:lstStyle>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Comparaison entre l'implémentation </a:t>
            </a:r>
            <a:r>
              <a:rPr lang="en-US">
                <a:solidFill>
                  <a:srgbClr val="404040"/>
                </a:solidFill>
                <a:ea typeface="Calibri" panose="020F0502020204030204"/>
                <a:cs typeface="Calibri" panose="020F0502020204030204"/>
                <a:sym typeface="Calibri" panose="020F0502020204030204"/>
              </a:rPr>
              <a:t>classique </a:t>
            </a: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de convolution et l'implémentation par Img2Col</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Point clé : comment construire les </a:t>
            </a:r>
            <a:r>
              <a:rPr lang="en-US" altLang="zh-CN" sz="2200" b="0" i="0" u="none" strike="noStrike">
                <a:solidFill>
                  <a:srgbClr val="404040"/>
                </a:solidFill>
                <a:latin typeface="Calibri" panose="020F0502020204030204"/>
                <a:ea typeface="Calibri" panose="020F0502020204030204"/>
                <a:cs typeface="Calibri" panose="020F0502020204030204"/>
                <a:sym typeface="Calibri" panose="020F0502020204030204"/>
              </a:rPr>
              <a:t>cartes de </a:t>
            </a: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caractéristiques d'entrée et la matrice Kernel</a:t>
            </a:r>
            <a:endParaRPr lang="en-US" sz="2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2258695" y="2741295"/>
            <a:ext cx="6689725" cy="4057650"/>
          </a:xfrm>
          <a:prstGeom prst="rect">
            <a:avLst/>
          </a:prstGeom>
          <a:ln w="12700">
            <a:noFill/>
            <a:prstDash val="solid"/>
          </a:ln>
        </p:spPr>
      </p:pic>
      <p:sp>
        <p:nvSpPr>
          <p:cNvPr id="8" name="文本占位符 7"/>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3100" b="0" i="0" u="none" strike="noStrike" spc="0">
                <a:solidFill>
                  <a:srgbClr val="262626">
                    <a:alpha val="100000"/>
                  </a:srgbClr>
                </a:solidFill>
                <a:latin typeface="Calibri" panose="020F0502020204030204"/>
              </a:defRPr>
            </a:lvl1pPr>
          </a:lstStyle>
          <a:p>
            <a:pPr indent="0" algn="l">
              <a:lnSpc>
                <a:spcPct val="100000"/>
              </a:lnSpc>
            </a:pPr>
            <a:r>
              <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rPr>
              <a:t>Transformation Img2Col</a:t>
            </a:r>
            <a:endPar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algn="l"/>
          </a:p>
        </p:txBody>
      </p:sp>
      <p:sp>
        <p:nvSpPr>
          <p:cNvPr id="5" name="AutoShape 5"/>
          <p:cNvSpPr>
            <a:spLocks noGrp="1"/>
          </p:cNvSpPr>
          <p:nvPr>
            <p:ph type="body" sz="quarter" idx="68" hasCustomPrompt="1"/>
          </p:nvPr>
        </p:nvSpPr>
        <p:spPr>
          <a:prstGeom prst="rect">
            <a:avLst/>
          </a:prstGeom>
        </p:spPr>
        <p:txBody>
          <a:bodyPr wrap="square" lIns="91440" tIns="45720" rIns="91440" bIns="45720" anchor="t">
            <a:noAutofit/>
          </a:bodyPr>
          <a:lstStyle>
            <a:lvl1pPr algn="l">
              <a:lnSpc>
                <a:spcPct val="100000"/>
              </a:lnSpc>
              <a:defRPr sz="2300" b="0" i="0" u="none" strike="noStrike" spc="0">
                <a:solidFill>
                  <a:srgbClr val="404040">
                    <a:alpha val="100000"/>
                  </a:srgbClr>
                </a:solidFill>
                <a:latin typeface="Calibri" panose="020F0502020204030204"/>
              </a:defRPr>
            </a:lvl1pPr>
          </a:lstStyle>
          <a:p>
            <a:pPr marL="292100" indent="-292100" algn="l">
              <a:lnSpc>
                <a:spcPct val="100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Après conversion, on peut utiliser efficacement les bibliothèques algébriques haute performance des fabricants de matériel</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Intel MKL, NVIDIA cuBLAS, Ascend catlass, etc.</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5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Optimisations courantes de multiplication matricielle : (1) optimisation Micro-Kernel (2) optimisation des accès mémoire et </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du layout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des données; (3) </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cache tiling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 cache, etc.</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6" name="Group 6"/>
          <p:cNvGrpSpPr/>
          <p:nvPr/>
        </p:nvGrpSpPr>
        <p:grpSpPr>
          <a:xfrm>
            <a:off x="1061766" y="3652761"/>
            <a:ext cx="10068467" cy="2368800"/>
            <a:chOff x="1061766" y="3652761"/>
            <a:chExt cx="10068467" cy="2368800"/>
          </a:xfrm>
        </p:grpSpPr>
        <p:pic>
          <p:nvPicPr>
            <p:cNvPr id="7" name="Picture 7"/>
            <p:cNvPicPr>
              <a:picLocks noChangeAspect="1"/>
            </p:cNvPicPr>
            <p:nvPr/>
          </p:nvPicPr>
          <p:blipFill>
            <a:blip r:embed="rId1"/>
            <a:srcRect/>
            <a:stretch>
              <a:fillRect/>
            </a:stretch>
          </p:blipFill>
          <p:spPr>
            <a:xfrm>
              <a:off x="1061766" y="3664431"/>
              <a:ext cx="4481288" cy="2357130"/>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643999" y="3652761"/>
              <a:ext cx="4486234" cy="2368800"/>
            </a:xfrm>
            <a:prstGeom prst="rect">
              <a:avLst/>
            </a:prstGeom>
            <a:ln w="12700">
              <a:noFill/>
              <a:prstDash val="solid"/>
            </a:ln>
          </p:spPr>
        </p:pic>
      </p:grpSp>
      <p:sp>
        <p:nvSpPr>
          <p:cNvPr id="9" name="AutoShape 9"/>
          <p:cNvSpPr/>
          <p:nvPr/>
        </p:nvSpPr>
        <p:spPr>
          <a:xfrm>
            <a:off x="5754374" y="4586790"/>
            <a:ext cx="653143" cy="250371"/>
          </a:xfrm>
          <a:prstGeom prst="rightArrow">
            <a:avLst>
              <a:gd name="adj1" fmla="val 50000"/>
              <a:gd name="adj2" fmla="val 50000"/>
            </a:avLst>
          </a:prstGeom>
          <a:solidFill>
            <a:srgbClr val="4472C4">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11" name="文本占位符 10"/>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3100" b="0" i="0" u="none" strike="noStrike" spc="0">
                <a:solidFill>
                  <a:srgbClr val="262626">
                    <a:alpha val="100000"/>
                  </a:srgbClr>
                </a:solidFill>
                <a:latin typeface="Calibri" panose="020F0502020204030204"/>
              </a:defRPr>
            </a:lvl1pPr>
          </a:lstStyle>
          <a:p>
            <a:pPr indent="0" algn="l">
              <a:lnSpc>
                <a:spcPct val="100000"/>
              </a:lnSpc>
            </a:pPr>
            <a:r>
              <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rPr>
              <a:t>Transformation Img2Col</a:t>
            </a:r>
            <a:endPar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algn="l"/>
          </a:p>
        </p:txBody>
      </p:sp>
      <p:sp>
        <p:nvSpPr>
          <p:cNvPr id="5" name="AutoShape 5"/>
          <p:cNvSpPr>
            <a:spLocks noGrp="1"/>
          </p:cNvSpPr>
          <p:nvPr>
            <p:ph type="body" sz="quarter" idx="68" hasCustomPrompt="1"/>
          </p:nvPr>
        </p:nvSpPr>
        <p:spPr>
          <a:prstGeom prst="rect">
            <a:avLst/>
          </a:prstGeom>
        </p:spPr>
        <p:txBody>
          <a:bodyPr wrap="square" lIns="91440" tIns="45720" rIns="91440" bIns="45720" anchor="t">
            <a:noAutofit/>
          </a:bodyPr>
          <a:lstStyle>
            <a:lvl1pPr algn="l">
              <a:lnSpc>
                <a:spcPct val="100000"/>
              </a:lnSpc>
              <a:defRPr sz="2100" b="0" i="0" u="none" strike="noStrike" spc="0">
                <a:solidFill>
                  <a:srgbClr val="404040">
                    <a:alpha val="100000"/>
                  </a:srgbClr>
                </a:solidFill>
                <a:latin typeface="Calibri" panose="020F0502020204030204"/>
              </a:defRPr>
            </a:lvl1pPr>
          </a:lstStyle>
          <a:p>
            <a:pPr marL="266700" indent="-266700" algn="l">
              <a:lnSpc>
                <a:spcPct val="100000"/>
              </a:lnSpc>
              <a:spcBef>
                <a:spcPts val="1500"/>
              </a:spcBef>
              <a:buClr>
                <a:srgbClr val="404040"/>
              </a:buClr>
              <a:buChar char="•"/>
            </a:pPr>
            <a:r>
              <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rPr>
              <a:t>Effet secondaire de la transformation Img2Col : augmentation de l'empreinte mémoire (memory Footprint).</a:t>
            </a:r>
            <a:endPar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698171" y="2073790"/>
            <a:ext cx="8610600" cy="4103173"/>
          </a:xfrm>
          <a:prstGeom prst="rect">
            <a:avLst/>
          </a:prstGeom>
          <a:ln w="12700">
            <a:noFill/>
            <a:prstDash val="solid"/>
          </a:ln>
        </p:spPr>
      </p:pic>
      <p:sp>
        <p:nvSpPr>
          <p:cNvPr id="8" name="文本占位符 7"/>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3100" b="0" i="0" u="none" strike="noStrike" spc="0">
                <a:solidFill>
                  <a:srgbClr val="262626">
                    <a:alpha val="100000"/>
                  </a:srgbClr>
                </a:solidFill>
                <a:latin typeface="Calibri" panose="020F0502020204030204"/>
              </a:defRPr>
            </a:lvl1pPr>
          </a:lstStyle>
          <a:p>
            <a:pPr indent="0" algn="l">
              <a:lnSpc>
                <a:spcPct val="100000"/>
              </a:lnSpc>
            </a:pPr>
            <a:r>
              <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rPr>
              <a:t>Convolution Winograd</a:t>
            </a:r>
            <a:endPar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Calibri" panose="020F0502020204030204"/>
              </a:defRPr>
            </a:lvl1pPr>
          </a:lstStyle>
          <a:p>
            <a:pPr indent="0" algn="l">
              <a:lnSpc>
                <a:spcPct val="100000"/>
              </a:lnSpc>
            </a:pP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rPr>
              <a:t>[1] </a:t>
            </a: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hlinkClick r:id="rId1" tooltip="https://epubs.siam.org/doi/abs/10.1137/0209021"/>
              </a:rPr>
              <a:t>https://epubs.siam.org/doi/abs/10.1137/0209021</a:t>
            </a:r>
            <a:endPar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rPr>
              <a:t>[2] </a:t>
            </a: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hlinkClick r:id="rId2" tooltip="https://arxiv.org/pdf/1509.09308"/>
              </a:rPr>
              <a:t>https://arxiv.org/pdf/1509.09308</a:t>
            </a: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rPr>
              <a:t> </a:t>
            </a:r>
            <a:endPar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68"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Concept de base : </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utiliser un filtre FIR à r coefficients</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pour calculer m sorties, noté F(m, r), le nombre de multiplications requis est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En convolution 2D, on utiliser un filtre r </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s pour calculer m </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n sorties, noté F(m </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n, r </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s). Le nombre de multiplications requis est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3"/>
          <a:srcRect/>
          <a:stretch>
            <a:fillRect/>
          </a:stretch>
        </p:blipFill>
        <p:spPr>
          <a:xfrm>
            <a:off x="3875232" y="2249462"/>
            <a:ext cx="3412259" cy="490688"/>
          </a:xfrm>
          <a:prstGeom prst="rect">
            <a:avLst/>
          </a:prstGeom>
          <a:ln w="12700">
            <a:noFill/>
            <a:prstDash val="solid"/>
          </a:ln>
        </p:spPr>
      </p:pic>
      <p:pic>
        <p:nvPicPr>
          <p:cNvPr id="7" name="Picture 7"/>
          <p:cNvPicPr>
            <a:picLocks noChangeAspect="1"/>
          </p:cNvPicPr>
          <p:nvPr/>
        </p:nvPicPr>
        <p:blipFill>
          <a:blip r:embed="rId4"/>
          <a:srcRect/>
          <a:stretch>
            <a:fillRect/>
          </a:stretch>
        </p:blipFill>
        <p:spPr>
          <a:xfrm>
            <a:off x="2884863" y="4658835"/>
            <a:ext cx="6268604" cy="1003925"/>
          </a:xfrm>
          <a:prstGeom prst="rect">
            <a:avLst/>
          </a:prstGeom>
          <a:ln w="12700">
            <a:noFill/>
            <a:prstDash val="solid"/>
          </a:ln>
        </p:spPr>
      </p:pic>
      <p:sp>
        <p:nvSpPr>
          <p:cNvPr id="9" name="文本占位符 8"/>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3100" b="0" i="0" u="none" strike="noStrike" spc="0">
                <a:solidFill>
                  <a:srgbClr val="262626">
                    <a:alpha val="100000"/>
                  </a:srgbClr>
                </a:solidFill>
                <a:latin typeface="Calibri" panose="020F0502020204030204"/>
              </a:defRPr>
            </a:lvl1pPr>
          </a:lstStyle>
          <a:p>
            <a:pPr indent="0" algn="l">
              <a:lnSpc>
                <a:spcPct val="100000"/>
              </a:lnSpc>
            </a:pPr>
            <a:r>
              <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rPr>
              <a:t>Convolution Winograd</a:t>
            </a:r>
            <a:endPar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hasCustomPrompt="1"/>
          </p:nvPr>
        </p:nvSpPr>
        <p:spPr>
          <a:xfrm>
            <a:off x="523873" y="6082031"/>
            <a:ext cx="11277601" cy="365125"/>
          </a:xfrm>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Calibri" panose="020F0502020204030204"/>
              </a:defRPr>
            </a:lvl1pPr>
          </a:lstStyle>
          <a:p>
            <a:pPr indent="0" algn="l">
              <a:lnSpc>
                <a:spcPct val="100000"/>
              </a:lnSpc>
            </a:pP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rPr>
              <a:t>[1] </a:t>
            </a: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hlinkClick r:id="rId1" tooltip="https://epubs.siam.org/doi/abs/10.1137/0209021"/>
              </a:rPr>
              <a:t>https://epubs.siam.org/doi/abs/10.1137/0209021</a:t>
            </a:r>
            <a:endPar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rPr>
              <a:t>[2] </a:t>
            </a: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hlinkClick r:id="rId2" tooltip="https://arxiv.org/pdf/1509.09308"/>
              </a:rPr>
              <a:t>https://arxiv.org/pdf/1509.09308</a:t>
            </a: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rPr>
              <a:t> </a:t>
            </a:r>
            <a:endPar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68" hasCustomPrompt="1"/>
          </p:nvPr>
        </p:nvSpPr>
        <p:spPr>
          <a:xfrm>
            <a:off x="523875" y="1323975"/>
            <a:ext cx="9798685" cy="4853305"/>
          </a:xfrm>
          <a:prstGeom prst="rect">
            <a:avLst/>
          </a:prstGeom>
        </p:spPr>
        <p:txBody>
          <a:bodyPr wrap="square" lIns="91440" tIns="45720" rIns="91440" bIns="45720" anchor="t">
            <a:noAutofit/>
          </a:bodyPr>
          <a:lstStyle>
            <a:lvl1pPr algn="l">
              <a:lnSpc>
                <a:spcPct val="100000"/>
              </a:lnSpc>
              <a:defRPr sz="1700" b="0" i="0" u="none" strike="noStrike" spc="0">
                <a:solidFill>
                  <a:srgbClr val="404040">
                    <a:alpha val="100000"/>
                  </a:srgbClr>
                </a:solidFill>
                <a:latin typeface="Calibri" panose="020F0502020204030204"/>
              </a:defRPr>
            </a:lvl1pPr>
          </a:lstStyle>
          <a:p>
            <a:pPr marL="215900" indent="-215900" algn="l">
              <a:lnSpc>
                <a:spcPct val="100000"/>
              </a:lnSpc>
              <a:spcBef>
                <a:spcPts val="150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Prenons la convolution 1D F(2,3) comme exemple : l'algorithme traditionnel nécessite 2</a:t>
            </a:r>
            <a:r>
              <a:rPr lang="en-US" sz="17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3=6 multiplications. La convolution Winograd utilise m1 à m4 pour réécrire le résultat :</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15900" indent="-215900" algn="l">
              <a:lnSpc>
                <a:spcPct val="100000"/>
              </a:lnSpc>
              <a:spcBef>
                <a:spcPts val="150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Il suffit donc de 4 multiplications, 11 additions et 2 décalages arithmétiques à droite. Où g1+g2 est réutilisable.</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3"/>
          <a:srcRect/>
          <a:stretch>
            <a:fillRect/>
          </a:stretch>
        </p:blipFill>
        <p:spPr>
          <a:xfrm>
            <a:off x="2821940" y="2352707"/>
            <a:ext cx="5202382" cy="848616"/>
          </a:xfrm>
          <a:prstGeom prst="rect">
            <a:avLst/>
          </a:prstGeom>
          <a:ln w="12700">
            <a:noFill/>
            <a:prstDash val="solid"/>
          </a:ln>
        </p:spPr>
      </p:pic>
      <p:pic>
        <p:nvPicPr>
          <p:cNvPr id="7" name="Picture 7"/>
          <p:cNvPicPr>
            <a:picLocks noChangeAspect="1"/>
          </p:cNvPicPr>
          <p:nvPr/>
        </p:nvPicPr>
        <p:blipFill>
          <a:blip r:embed="rId4"/>
          <a:srcRect/>
          <a:stretch>
            <a:fillRect/>
          </a:stretch>
        </p:blipFill>
        <p:spPr>
          <a:xfrm>
            <a:off x="2847109" y="4550672"/>
            <a:ext cx="5433291" cy="1279005"/>
          </a:xfrm>
          <a:prstGeom prst="rect">
            <a:avLst/>
          </a:prstGeom>
          <a:ln w="12700">
            <a:noFill/>
            <a:prstDash val="solid"/>
          </a:ln>
        </p:spPr>
      </p:pic>
      <p:sp>
        <p:nvSpPr>
          <p:cNvPr id="9" name="文本占位符 8"/>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3100" b="0" i="0" u="none" strike="noStrike" spc="0">
                <a:solidFill>
                  <a:srgbClr val="262626">
                    <a:alpha val="100000"/>
                  </a:srgbClr>
                </a:solidFill>
                <a:latin typeface="Calibri" panose="020F0502020204030204"/>
              </a:defRPr>
            </a:lvl1pPr>
          </a:lstStyle>
          <a:p>
            <a:pPr indent="0" algn="l">
              <a:lnSpc>
                <a:spcPct val="100000"/>
              </a:lnSpc>
            </a:pPr>
            <a:r>
              <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rPr>
              <a:t>Convolution Winograd</a:t>
            </a:r>
            <a:endPar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Calibri" panose="020F0502020204030204"/>
              </a:defRPr>
            </a:lvl1pPr>
          </a:lstStyle>
          <a:p>
            <a:pPr indent="0" algn="l">
              <a:lnSpc>
                <a:spcPct val="100000"/>
              </a:lnSpc>
            </a:pP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rPr>
              <a:t>[1] </a:t>
            </a: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hlinkClick r:id="rId1" tooltip="https://epubs.siam.org/doi/abs/10.1137/0209021"/>
              </a:rPr>
              <a:t>https://epubs.siam.org/doi/abs/10.1137/0209021</a:t>
            </a:r>
            <a:endPar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rPr>
              <a:t>[2] </a:t>
            </a: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hlinkClick r:id="rId2" tooltip="https://arxiv.org/pdf/1509.09308"/>
              </a:rPr>
              <a:t>https://arxiv.org/pdf/1509.09308</a:t>
            </a: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rPr>
              <a:t> </a:t>
            </a:r>
            <a:endPar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68" hasCustomPrompt="1"/>
          </p:nvPr>
        </p:nvSpPr>
        <p:spPr>
          <a:prstGeom prst="rect">
            <a:avLst/>
          </a:prstGeom>
        </p:spPr>
        <p:txBody>
          <a:bodyPr wrap="square" lIns="91440" tIns="45720" rIns="91440" bIns="45720" anchor="t">
            <a:noAutofit/>
          </a:bodyPr>
          <a:lstStyle>
            <a:lvl1pPr algn="l">
              <a:lnSpc>
                <a:spcPct val="100000"/>
              </a:lnSpc>
              <a:defRPr sz="2300" b="0" i="0" u="none" strike="noStrike" spc="0">
                <a:solidFill>
                  <a:srgbClr val="404040">
                    <a:alpha val="100000"/>
                  </a:srgbClr>
                </a:solidFill>
                <a:latin typeface="Calibri" panose="020F0502020204030204"/>
              </a:defRPr>
            </a:lvl1pPr>
          </a:lstStyle>
          <a:p>
            <a:pPr marL="292100" indent="-292100" algn="l">
              <a:lnSpc>
                <a:spcPct val="100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Ainsi, l'algorithme de convolution rapide Winograd peut s'écrire sous forme matricielle :</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92100" indent="-292100" algn="l">
              <a:lnSpc>
                <a:spcPct val="100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La convolution 2D peut s'exprimer comme :</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3"/>
          <a:srcRect/>
          <a:stretch>
            <a:fillRect/>
          </a:stretch>
        </p:blipFill>
        <p:spPr>
          <a:xfrm>
            <a:off x="4439804" y="1818753"/>
            <a:ext cx="3312391" cy="580969"/>
          </a:xfrm>
          <a:prstGeom prst="rect">
            <a:avLst/>
          </a:prstGeom>
          <a:ln w="12700">
            <a:noFill/>
            <a:prstDash val="solid"/>
          </a:ln>
        </p:spPr>
      </p:pic>
      <p:grpSp>
        <p:nvGrpSpPr>
          <p:cNvPr id="7" name="Group 7"/>
          <p:cNvGrpSpPr/>
          <p:nvPr/>
        </p:nvGrpSpPr>
        <p:grpSpPr>
          <a:xfrm>
            <a:off x="0" y="2399722"/>
            <a:ext cx="12053449" cy="1255718"/>
            <a:chOff x="0" y="2399722"/>
            <a:chExt cx="12053449" cy="1255718"/>
          </a:xfrm>
        </p:grpSpPr>
        <p:pic>
          <p:nvPicPr>
            <p:cNvPr id="8" name="Picture 8"/>
            <p:cNvPicPr>
              <a:picLocks noChangeAspect="1"/>
            </p:cNvPicPr>
            <p:nvPr/>
          </p:nvPicPr>
          <p:blipFill>
            <a:blip r:embed="rId4"/>
            <a:srcRect t="1320" b="68441"/>
            <a:stretch>
              <a:fillRect/>
            </a:stretch>
          </p:blipFill>
          <p:spPr>
            <a:xfrm>
              <a:off x="0" y="2399722"/>
              <a:ext cx="3662089" cy="1216314"/>
            </a:xfrm>
            <a:prstGeom prst="rect">
              <a:avLst/>
            </a:prstGeom>
            <a:ln w="12700">
              <a:noFill/>
              <a:prstDash val="solid"/>
            </a:ln>
          </p:spPr>
        </p:pic>
        <p:pic>
          <p:nvPicPr>
            <p:cNvPr id="9" name="Picture 9"/>
            <p:cNvPicPr>
              <a:picLocks noChangeAspect="1"/>
            </p:cNvPicPr>
            <p:nvPr/>
          </p:nvPicPr>
          <p:blipFill>
            <a:blip r:embed="rId4"/>
            <a:srcRect t="31227" b="38808"/>
            <a:stretch>
              <a:fillRect/>
            </a:stretch>
          </p:blipFill>
          <p:spPr>
            <a:xfrm>
              <a:off x="3349278" y="2450095"/>
              <a:ext cx="3662089" cy="1205345"/>
            </a:xfrm>
            <a:prstGeom prst="rect">
              <a:avLst/>
            </a:prstGeom>
            <a:ln w="12700">
              <a:noFill/>
              <a:prstDash val="solid"/>
            </a:ln>
          </p:spPr>
        </p:pic>
        <p:pic>
          <p:nvPicPr>
            <p:cNvPr id="10" name="Picture 10"/>
            <p:cNvPicPr>
              <a:picLocks noChangeAspect="1"/>
            </p:cNvPicPr>
            <p:nvPr/>
          </p:nvPicPr>
          <p:blipFill>
            <a:blip r:embed="rId4"/>
            <a:srcRect t="61863" b="22929"/>
            <a:stretch>
              <a:fillRect/>
            </a:stretch>
          </p:blipFill>
          <p:spPr>
            <a:xfrm>
              <a:off x="6026724" y="2774728"/>
              <a:ext cx="3662089" cy="611688"/>
            </a:xfrm>
            <a:prstGeom prst="rect">
              <a:avLst/>
            </a:prstGeom>
            <a:ln w="12700">
              <a:noFill/>
              <a:prstDash val="solid"/>
            </a:ln>
          </p:spPr>
        </p:pic>
        <p:pic>
          <p:nvPicPr>
            <p:cNvPr id="11" name="Picture 11"/>
            <p:cNvPicPr>
              <a:picLocks noChangeAspect="1"/>
            </p:cNvPicPr>
            <p:nvPr/>
          </p:nvPicPr>
          <p:blipFill>
            <a:blip r:embed="rId4"/>
            <a:srcRect t="77056" r="23480" b="2279"/>
            <a:stretch>
              <a:fillRect/>
            </a:stretch>
          </p:blipFill>
          <p:spPr>
            <a:xfrm>
              <a:off x="9251309" y="2637131"/>
              <a:ext cx="2802140" cy="831272"/>
            </a:xfrm>
            <a:prstGeom prst="rect">
              <a:avLst/>
            </a:prstGeom>
            <a:ln w="12700">
              <a:noFill/>
              <a:prstDash val="solid"/>
            </a:ln>
          </p:spPr>
        </p:pic>
      </p:grpSp>
      <p:pic>
        <p:nvPicPr>
          <p:cNvPr id="12" name="Picture 12"/>
          <p:cNvPicPr>
            <a:picLocks noChangeAspect="1"/>
          </p:cNvPicPr>
          <p:nvPr/>
        </p:nvPicPr>
        <p:blipFill>
          <a:blip r:embed="rId5"/>
          <a:srcRect/>
          <a:stretch>
            <a:fillRect/>
          </a:stretch>
        </p:blipFill>
        <p:spPr>
          <a:xfrm>
            <a:off x="3782739" y="4972380"/>
            <a:ext cx="4032643" cy="856937"/>
          </a:xfrm>
          <a:prstGeom prst="rect">
            <a:avLst/>
          </a:prstGeom>
          <a:ln w="12700">
            <a:noFill/>
            <a:prstDash val="solid"/>
          </a:ln>
        </p:spPr>
      </p:pic>
      <p:sp>
        <p:nvSpPr>
          <p:cNvPr id="14" name="文本占位符 13"/>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3100" b="0" i="0" u="none" strike="noStrike" spc="0">
                <a:solidFill>
                  <a:srgbClr val="262626">
                    <a:alpha val="100000"/>
                  </a:srgbClr>
                </a:solidFill>
                <a:latin typeface="Calibri" panose="020F0502020204030204"/>
              </a:defRPr>
            </a:lvl1pPr>
          </a:lstStyle>
          <a:p>
            <a:pPr indent="0" algn="l">
              <a:lnSpc>
                <a:spcPct val="100000"/>
              </a:lnSpc>
            </a:pPr>
            <a:r>
              <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rPr>
              <a:t>Convolution Winograd</a:t>
            </a:r>
            <a:endPar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Calibri" panose="020F0502020204030204"/>
              </a:defRPr>
            </a:lvl1pPr>
          </a:lstStyle>
          <a:p>
            <a:pPr indent="0" algn="l">
              <a:lnSpc>
                <a:spcPct val="100000"/>
              </a:lnSpc>
            </a:pP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rPr>
              <a:t>[1] </a:t>
            </a: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hlinkClick r:id="rId1" tooltip="https://arxiv.org/pdf/1509.09308"/>
              </a:rPr>
              <a:t>https://arxiv.org/pdf/1509.09308</a:t>
            </a: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rPr>
              <a:t> </a:t>
            </a:r>
            <a:endPar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68" hasCustomPrompt="1"/>
          </p:nvPr>
        </p:nvSpPr>
        <p:spPr>
          <a:prstGeom prst="rect">
            <a:avLst/>
          </a:prstGeom>
        </p:spPr>
        <p:txBody>
          <a:bodyPr wrap="square" lIns="91440" tIns="45720" rIns="91440" bIns="45720" anchor="t">
            <a:noAutofit/>
          </a:bodyPr>
          <a:lstStyle>
            <a:lvl1pPr algn="l">
              <a:lnSpc>
                <a:spcPct val="100000"/>
              </a:lnSpc>
              <a:defRPr sz="2100" b="0" i="0" u="none" strike="noStrike" spc="0">
                <a:solidFill>
                  <a:srgbClr val="404040">
                    <a:alpha val="100000"/>
                  </a:srgbClr>
                </a:solidFill>
                <a:latin typeface="Calibri" panose="020F0502020204030204"/>
              </a:defRPr>
            </a:lvl1pPr>
          </a:lstStyle>
          <a:p>
            <a:pPr marL="266700" indent="-266700" algn="l">
              <a:lnSpc>
                <a:spcPct val="100000"/>
              </a:lnSpc>
              <a:spcBef>
                <a:spcPts val="1500"/>
              </a:spcBef>
              <a:buClr>
                <a:srgbClr val="404040"/>
              </a:buClr>
              <a:buChar char="•"/>
            </a:pPr>
            <a:r>
              <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rPr>
              <a:t>F(2</a:t>
            </a:r>
            <a:r>
              <a:rPr lang="en-US" sz="21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rPr>
              <a:t>2, 3</a:t>
            </a:r>
            <a:r>
              <a:rPr lang="en-US" sz="21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rPr>
              <a:t>3) est efficace, qu'en est-il de F(4</a:t>
            </a:r>
            <a:r>
              <a:rPr lang="en-US" sz="21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rPr>
              <a:t>4, 3</a:t>
            </a:r>
            <a:r>
              <a:rPr lang="en-US" sz="21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rPr>
              <a:t>3) ?</a:t>
            </a:r>
            <a:endPar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100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Théoriquement, on peut réduire 6.00 fois les multiplications. Mais les matrices de transformation A, G, B sont beaucoup plus complexes.</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100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La complexité de la transformation annulera les bénéfices de la réduction des multiplications.</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100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Parallèlement, l'amplitude des éléments des matrices de transformation augmente avec la taille des tuiles.</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2"/>
          <a:srcRect b="63928"/>
          <a:stretch>
            <a:fillRect/>
          </a:stretch>
        </p:blipFill>
        <p:spPr>
          <a:xfrm>
            <a:off x="390525" y="3489339"/>
            <a:ext cx="4064000" cy="1919432"/>
          </a:xfrm>
          <a:prstGeom prst="rect">
            <a:avLst/>
          </a:prstGeom>
          <a:ln w="12700">
            <a:noFill/>
            <a:prstDash val="solid"/>
          </a:ln>
        </p:spPr>
      </p:pic>
      <p:pic>
        <p:nvPicPr>
          <p:cNvPr id="7" name="Picture 7"/>
          <p:cNvPicPr>
            <a:picLocks noChangeAspect="1"/>
          </p:cNvPicPr>
          <p:nvPr/>
        </p:nvPicPr>
        <p:blipFill>
          <a:blip r:embed="rId2"/>
          <a:srcRect t="36328" b="27601"/>
          <a:stretch>
            <a:fillRect/>
          </a:stretch>
        </p:blipFill>
        <p:spPr>
          <a:xfrm>
            <a:off x="4454525" y="3489339"/>
            <a:ext cx="4064000" cy="1919432"/>
          </a:xfrm>
          <a:prstGeom prst="rect">
            <a:avLst/>
          </a:prstGeom>
          <a:ln w="12700">
            <a:noFill/>
            <a:prstDash val="solid"/>
          </a:ln>
        </p:spPr>
      </p:pic>
      <p:pic>
        <p:nvPicPr>
          <p:cNvPr id="8" name="Picture 8"/>
          <p:cNvPicPr>
            <a:picLocks noChangeAspect="1"/>
          </p:cNvPicPr>
          <p:nvPr/>
        </p:nvPicPr>
        <p:blipFill>
          <a:blip r:embed="rId2"/>
          <a:srcRect t="72085" b="1657"/>
          <a:stretch>
            <a:fillRect/>
          </a:stretch>
        </p:blipFill>
        <p:spPr>
          <a:xfrm>
            <a:off x="7737474" y="3750469"/>
            <a:ext cx="4064000" cy="1397171"/>
          </a:xfrm>
          <a:prstGeom prst="rect">
            <a:avLst/>
          </a:prstGeom>
          <a:ln w="12700">
            <a:noFill/>
            <a:prstDash val="solid"/>
          </a:ln>
        </p:spPr>
      </p:pic>
      <p:sp>
        <p:nvSpPr>
          <p:cNvPr id="10" name="文本占位符 9"/>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3100" b="0" i="0" u="none" strike="noStrike" spc="0">
                <a:solidFill>
                  <a:srgbClr val="262626">
                    <a:alpha val="100000"/>
                  </a:srgbClr>
                </a:solidFill>
                <a:latin typeface="Calibri" panose="020F0502020204030204"/>
              </a:defRPr>
            </a:lvl1pPr>
          </a:lstStyle>
          <a:p>
            <a:pPr indent="0" algn="l">
              <a:lnSpc>
                <a:spcPct val="100000"/>
              </a:lnSpc>
            </a:pPr>
            <a:r>
              <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rPr>
              <a:t>Convolution Winograd</a:t>
            </a:r>
            <a:endPar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Calibri" panose="020F0502020204030204"/>
              </a:defRPr>
            </a:lvl1pPr>
          </a:lstStyle>
          <a:p>
            <a:pPr indent="0" algn="l">
              <a:lnSpc>
                <a:spcPct val="100000"/>
              </a:lnSpc>
            </a:pP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rPr>
              <a:t>[1] </a:t>
            </a: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hlinkClick r:id="rId1" tooltip="https://arxiv.org/pdf/1509.09308"/>
              </a:rPr>
              <a:t>https://arxiv.org/pdf/1509.09308</a:t>
            </a: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rPr>
              <a:t> </a:t>
            </a:r>
            <a:endPar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68"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Comparaison de performances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2"/>
          <a:srcRect/>
          <a:stretch>
            <a:fillRect/>
          </a:stretch>
        </p:blipFill>
        <p:spPr>
          <a:xfrm>
            <a:off x="523873" y="2161310"/>
            <a:ext cx="5295902" cy="3516890"/>
          </a:xfrm>
          <a:prstGeom prst="rect">
            <a:avLst/>
          </a:prstGeom>
          <a:ln w="12700">
            <a:noFill/>
            <a:prstDash val="solid"/>
          </a:ln>
        </p:spPr>
      </p:pic>
      <p:pic>
        <p:nvPicPr>
          <p:cNvPr id="7" name="Picture 7"/>
          <p:cNvPicPr>
            <a:picLocks noChangeAspect="1"/>
          </p:cNvPicPr>
          <p:nvPr/>
        </p:nvPicPr>
        <p:blipFill>
          <a:blip r:embed="rId3"/>
          <a:srcRect/>
          <a:stretch>
            <a:fillRect/>
          </a:stretch>
        </p:blipFill>
        <p:spPr>
          <a:xfrm>
            <a:off x="6096000" y="2275972"/>
            <a:ext cx="5191517" cy="3059833"/>
          </a:xfrm>
          <a:prstGeom prst="rect">
            <a:avLst/>
          </a:prstGeom>
          <a:ln w="12700">
            <a:noFill/>
            <a:prstDash val="solid"/>
          </a:ln>
        </p:spPr>
      </p:pic>
      <p:sp>
        <p:nvSpPr>
          <p:cNvPr id="9" name="文本占位符 8"/>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3100" b="0" i="0" u="none" strike="noStrike" spc="0">
                <a:solidFill>
                  <a:srgbClr val="262626">
                    <a:alpha val="100000"/>
                  </a:srgbClr>
                </a:solidFill>
                <a:latin typeface="Calibri" panose="020F0502020204030204"/>
              </a:defRPr>
            </a:lvl1pPr>
          </a:lstStyle>
          <a:p>
            <a:pPr indent="0" algn="l">
              <a:lnSpc>
                <a:spcPct val="100000"/>
              </a:lnSpc>
            </a:pPr>
            <a:r>
              <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rPr>
              <a:t>Résumé</a:t>
            </a:r>
            <a:endPar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Calibri" panose="020F0502020204030204"/>
              </a:defRPr>
            </a:lvl1pPr>
          </a:lstStyle>
          <a:p>
            <a:pPr indent="0" algn="l">
              <a:lnSpc>
                <a:spcPct val="100000"/>
              </a:lnSpc>
            </a:pP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rPr>
              <a:t>[1] </a:t>
            </a: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hlinkClick r:id="rId1" tooltip="https://arxiv.org/pdf/1509.09308"/>
              </a:rPr>
              <a:t>https://arxiv.org/pdf/1509.09308</a:t>
            </a: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rPr>
              <a:t> </a:t>
            </a:r>
            <a:endPar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68"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Comparaison entre la convolution directe, img2col + GEMM et Winograd.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nvGraphicFramePr>
        <p:xfrm>
          <a:off x="523875" y="2391410"/>
          <a:ext cx="11277600" cy="2062309"/>
        </p:xfrm>
        <a:graphic>
          <a:graphicData uri="http://schemas.openxmlformats.org/drawingml/2006/table">
            <a:tbl>
              <a:tblPr>
                <a:effectLst/>
              </a:tblPr>
              <a:tblGrid>
                <a:gridCol w="2819400"/>
                <a:gridCol w="2819400"/>
                <a:gridCol w="2819400"/>
                <a:gridCol w="2819400"/>
              </a:tblGrid>
              <a:tr h="532209">
                <a:tc>
                  <a:txBody>
                    <a:bodyPr/>
                    <a:lstStyle/>
                    <a:p>
                      <a:pPr indent="0" algn="ctr">
                        <a:lnSpc>
                          <a:spcPct val="100000"/>
                        </a:lnSpc>
                        <a:defRPr/>
                      </a:pPr>
                      <a:r>
                        <a:rPr lang="en-US" sz="1800" b="1" i="0" u="none" strike="noStrike">
                          <a:solidFill>
                            <a:srgbClr val="FFFFFF"/>
                          </a:solidFill>
                          <a:latin typeface="Calibri" panose="020F0502020204030204"/>
                          <a:ea typeface="Calibri" panose="020F0502020204030204"/>
                          <a:cs typeface="Calibri" panose="020F0502020204030204"/>
                          <a:sym typeface="Calibri" panose="020F0502020204030204"/>
                        </a:rPr>
                        <a:t>Caractéristique</a:t>
                      </a:r>
                      <a:endParaRPr lang="en-US" sz="1100"/>
                    </a:p>
                  </a:txBody>
                  <a:tcP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alpha val="100000"/>
                      </a:srgbClr>
                    </a:solidFill>
                  </a:tcPr>
                </a:tc>
                <a:tc>
                  <a:txBody>
                    <a:bodyPr/>
                    <a:lstStyle/>
                    <a:p>
                      <a:pPr indent="0" algn="ctr">
                        <a:lnSpc>
                          <a:spcPct val="100000"/>
                        </a:lnSpc>
                        <a:defRPr/>
                      </a:pPr>
                      <a:r>
                        <a:rPr lang="en-US" sz="1800" b="1" i="0" u="none" strike="noStrike">
                          <a:solidFill>
                            <a:srgbClr val="FFFFFF"/>
                          </a:solidFill>
                          <a:latin typeface="Calibri" panose="020F0502020204030204"/>
                          <a:ea typeface="Calibri" panose="020F0502020204030204"/>
                          <a:cs typeface="Calibri" panose="020F0502020204030204"/>
                          <a:sym typeface="Calibri" panose="020F0502020204030204"/>
                        </a:rPr>
                        <a:t>Convolution Directe</a:t>
                      </a:r>
                      <a:endParaRPr lang="en-US" sz="1100"/>
                    </a:p>
                  </a:txBody>
                  <a:tcP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alpha val="100000"/>
                      </a:srgbClr>
                    </a:solidFill>
                  </a:tcPr>
                </a:tc>
                <a:tc>
                  <a:txBody>
                    <a:bodyPr/>
                    <a:lstStyle/>
                    <a:p>
                      <a:pPr indent="0" algn="ctr">
                        <a:lnSpc>
                          <a:spcPct val="100000"/>
                        </a:lnSpc>
                        <a:defRPr/>
                      </a:pPr>
                      <a:r>
                        <a:rPr lang="en-US" sz="1800" b="1" i="0" u="none" strike="noStrike">
                          <a:solidFill>
                            <a:srgbClr val="FFFFFF"/>
                          </a:solidFill>
                          <a:latin typeface="Calibri" panose="020F0502020204030204"/>
                          <a:ea typeface="Calibri" panose="020F0502020204030204"/>
                          <a:cs typeface="Calibri" panose="020F0502020204030204"/>
                          <a:sym typeface="Calibri" panose="020F0502020204030204"/>
                        </a:rPr>
                        <a:t>Img2col + GEMM</a:t>
                      </a:r>
                      <a:endParaRPr lang="en-US" sz="1100"/>
                    </a:p>
                  </a:txBody>
                  <a:tcP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alpha val="100000"/>
                      </a:srgbClr>
                    </a:solidFill>
                  </a:tcPr>
                </a:tc>
                <a:tc>
                  <a:txBody>
                    <a:bodyPr/>
                    <a:lstStyle/>
                    <a:p>
                      <a:pPr indent="0" algn="ctr">
                        <a:lnSpc>
                          <a:spcPct val="100000"/>
                        </a:lnSpc>
                        <a:defRPr/>
                      </a:pPr>
                      <a:r>
                        <a:rPr lang="en-US" sz="1800" b="1" i="0" u="none" strike="noStrike">
                          <a:solidFill>
                            <a:srgbClr val="FFFFFF"/>
                          </a:solidFill>
                          <a:latin typeface="Calibri" panose="020F0502020204030204"/>
                          <a:ea typeface="Calibri" panose="020F0502020204030204"/>
                          <a:cs typeface="Calibri" panose="020F0502020204030204"/>
                          <a:sym typeface="Calibri" panose="020F0502020204030204"/>
                        </a:rPr>
                        <a:t>Winograd F(2x2, 3x3)</a:t>
                      </a:r>
                      <a:endParaRPr lang="en-US" sz="1100"/>
                    </a:p>
                  </a:txBody>
                  <a:tcP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alpha val="100000"/>
                      </a:srgbClr>
                    </a:solidFill>
                  </a:tcPr>
                </a:tc>
              </a:tr>
              <a:tr h="306020">
                <a:tc>
                  <a:txBody>
                    <a:bodyPr/>
                    <a:lstStyle/>
                    <a:p>
                      <a:pPr indent="0" algn="ctr">
                        <a:lnSpc>
                          <a:spcPct val="100000"/>
                        </a:lnSpc>
                        <a:defRPr/>
                      </a:pPr>
                      <a:r>
                        <a:rPr lang="en-US" sz="1800" b="1" i="0" u="none" strike="noStrike">
                          <a:solidFill>
                            <a:srgbClr val="000000"/>
                          </a:solidFill>
                          <a:latin typeface="Calibri" panose="020F0502020204030204"/>
                          <a:ea typeface="Calibri" panose="020F0502020204030204"/>
                          <a:cs typeface="Calibri" panose="020F0502020204030204"/>
                          <a:sym typeface="Calibri" panose="020F0502020204030204"/>
                        </a:rPr>
                        <a:t>Complexité de calcul</a:t>
                      </a:r>
                      <a:endParaRPr lang="en-US" sz="1100"/>
                    </a:p>
                  </a:txBody>
                  <a:tcP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c>
                  <a:txBody>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Élevée (O(N))</a:t>
                      </a:r>
                      <a:endParaRPr lang="en-US" sz="1100"/>
                    </a:p>
                  </a:txBody>
                  <a:tcP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c>
                  <a:txBody>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Moyenne (optimisation GEMM)</a:t>
                      </a:r>
                      <a:endParaRPr lang="en-US" sz="1100"/>
                    </a:p>
                  </a:txBody>
                  <a:tcP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c>
                  <a:txBody>
                    <a:bodyPr/>
                    <a:lstStyle/>
                    <a:p>
                      <a:pPr indent="0" algn="ctr">
                        <a:lnSpc>
                          <a:spcPct val="100000"/>
                        </a:lnSpc>
                        <a:defRPr/>
                      </a:pPr>
                      <a:r>
                        <a:rPr lang="en-US" sz="1800" b="1" i="0" u="none" strike="noStrike">
                          <a:solidFill>
                            <a:srgbClr val="000000"/>
                          </a:solidFill>
                          <a:latin typeface="Calibri" panose="020F0502020204030204"/>
                          <a:ea typeface="Calibri" panose="020F0502020204030204"/>
                          <a:cs typeface="Calibri" panose="020F0502020204030204"/>
                          <a:sym typeface="Calibri" panose="020F0502020204030204"/>
                        </a:rPr>
                        <a:t>Faible (réduction des multiplications)</a:t>
                      </a:r>
                      <a:endParaRPr lang="en-US" sz="1100"/>
                    </a:p>
                  </a:txBody>
                  <a:tcP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r>
              <a:tr h="306020">
                <a:tc>
                  <a:txBody>
                    <a:bodyPr/>
                    <a:lstStyle/>
                    <a:p>
                      <a:pPr indent="0" algn="ctr">
                        <a:lnSpc>
                          <a:spcPct val="100000"/>
                        </a:lnSpc>
                        <a:defRPr/>
                      </a:pPr>
                      <a:r>
                        <a:rPr lang="en-US" sz="1800" b="1" i="0" u="none" strike="noStrike">
                          <a:solidFill>
                            <a:srgbClr val="000000"/>
                          </a:solidFill>
                          <a:latin typeface="Calibri" panose="020F0502020204030204"/>
                          <a:ea typeface="Calibri" panose="020F0502020204030204"/>
                          <a:cs typeface="Calibri" panose="020F0502020204030204"/>
                          <a:sym typeface="Calibri" panose="020F0502020204030204"/>
                        </a:rPr>
                        <a:t>Coût mémoire</a:t>
                      </a:r>
                      <a:endParaRPr lang="en-US" sz="1100"/>
                    </a:p>
                  </a:txBody>
                  <a:tcP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c>
                  <a:txBody>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Minimal</a:t>
                      </a:r>
                      <a:endParaRPr lang="en-US" sz="1100"/>
                    </a:p>
                  </a:txBody>
                  <a:tcP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c>
                  <a:txBody>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Élevé (données redondantes)</a:t>
                      </a:r>
                      <a:endParaRPr lang="en-US" sz="1100"/>
                    </a:p>
                  </a:txBody>
                  <a:tcP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c>
                  <a:txBody>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Moyen (coût des matrices de transformation)</a:t>
                      </a:r>
                      <a:endParaRPr lang="en-US" sz="1100"/>
                    </a:p>
                  </a:txBody>
                  <a:tcP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r>
              <a:tr h="306020">
                <a:tc>
                  <a:txBody>
                    <a:bodyPr/>
                    <a:lstStyle/>
                    <a:p>
                      <a:pPr indent="0" algn="ctr">
                        <a:lnSpc>
                          <a:spcPct val="100000"/>
                        </a:lnSpc>
                        <a:defRPr/>
                      </a:pPr>
                      <a:r>
                        <a:rPr lang="en-US" sz="1800" b="1" i="0" u="none" strike="noStrike">
                          <a:solidFill>
                            <a:srgbClr val="000000"/>
                          </a:solidFill>
                          <a:latin typeface="Calibri" panose="020F0502020204030204"/>
                          <a:ea typeface="Calibri" panose="020F0502020204030204"/>
                          <a:cs typeface="Calibri" panose="020F0502020204030204"/>
                          <a:sym typeface="Calibri" panose="020F0502020204030204"/>
                        </a:rPr>
                        <a:t>Difficulté d'implémentation</a:t>
                      </a:r>
                      <a:endParaRPr lang="en-US" sz="1100"/>
                    </a:p>
                  </a:txBody>
                  <a:tcP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c>
                  <a:txBody>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Simple</a:t>
                      </a:r>
                      <a:endParaRPr lang="en-US" sz="1100"/>
                    </a:p>
                  </a:txBody>
                  <a:tcP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c>
                  <a:txBody>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Moyenne</a:t>
                      </a:r>
                      <a:endParaRPr lang="en-US" sz="1100"/>
                    </a:p>
                  </a:txBody>
                  <a:tcP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c>
                  <a:txBody>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Complexe</a:t>
                      </a:r>
                      <a:endParaRPr lang="en-US" sz="1100"/>
                    </a:p>
                  </a:txBody>
                  <a:tcP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r>
              <a:tr h="306020">
                <a:tc>
                  <a:txBody>
                    <a:bodyPr/>
                    <a:lstStyle/>
                    <a:p>
                      <a:pPr indent="0" algn="ctr">
                        <a:lnSpc>
                          <a:spcPct val="100000"/>
                        </a:lnSpc>
                        <a:defRPr/>
                      </a:pPr>
                      <a:r>
                        <a:rPr lang="en-US" sz="1800" b="1" i="0" u="none" strike="noStrike">
                          <a:solidFill>
                            <a:srgbClr val="000000"/>
                          </a:solidFill>
                          <a:latin typeface="Calibri" panose="020F0502020204030204"/>
                          <a:ea typeface="Calibri" panose="020F0502020204030204"/>
                          <a:cs typeface="Calibri" panose="020F0502020204030204"/>
                          <a:sym typeface="Calibri" panose="020F0502020204030204"/>
                        </a:rPr>
                        <a:t>Précision numérique</a:t>
                      </a:r>
                      <a:endParaRPr lang="en-US" sz="1100"/>
                    </a:p>
                  </a:txBody>
                  <a:tcP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c>
                  <a:txBody>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Élevée</a:t>
                      </a:r>
                      <a:endParaRPr lang="en-US" sz="1100"/>
                    </a:p>
                  </a:txBody>
                  <a:tcP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c>
                  <a:txBody>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Assez élevée</a:t>
                      </a:r>
                      <a:endParaRPr lang="en-US" sz="1100"/>
                    </a:p>
                  </a:txBody>
                  <a:tcP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c>
                  <a:txBody>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Faible (transformation flottante, accumulation)</a:t>
                      </a:r>
                      <a:endParaRPr lang="en-US" sz="1100"/>
                    </a:p>
                  </a:txBody>
                  <a:tcP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r>
              <a:tr h="306020">
                <a:tc>
                  <a:txBody>
                    <a:bodyPr/>
                    <a:lstStyle/>
                    <a:p>
                      <a:pPr indent="0" algn="ctr">
                        <a:lnSpc>
                          <a:spcPct val="100000"/>
                        </a:lnSpc>
                        <a:defRPr/>
                      </a:pPr>
                      <a:r>
                        <a:rPr lang="en-US" sz="1800" b="1" i="0" u="none" strike="noStrike">
                          <a:solidFill>
                            <a:srgbClr val="000000"/>
                          </a:solidFill>
                          <a:latin typeface="Calibri" panose="020F0502020204030204"/>
                          <a:ea typeface="Calibri" panose="020F0502020204030204"/>
                          <a:cs typeface="Calibri" panose="020F0502020204030204"/>
                          <a:sym typeface="Calibri" panose="020F0502020204030204"/>
                        </a:rPr>
                        <a:t>Limitation principale</a:t>
                      </a:r>
                      <a:endParaRPr lang="en-US" sz="1100"/>
                    </a:p>
                  </a:txBody>
                  <a:tcP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c>
                  <a:txBody>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Faible performance</a:t>
                      </a:r>
                      <a:endParaRPr lang="en-US" sz="1100"/>
                    </a:p>
                  </a:txBody>
                  <a:tcP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c>
                  <a:txBody>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Forte occupation mémoire</a:t>
                      </a:r>
                      <a:endParaRPr lang="en-US" sz="1100"/>
                    </a:p>
                  </a:txBody>
                  <a:tcP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c>
                  <a:txBody>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Conditions d'application strictes</a:t>
                      </a:r>
                      <a:endParaRPr lang="en-US" sz="1100"/>
                    </a:p>
                  </a:txBody>
                  <a:tcP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r>
            </a:tbl>
          </a:graphicData>
        </a:graphic>
      </p:graphicFrame>
      <p:sp>
        <p:nvSpPr>
          <p:cNvPr id="8" name="文本占位符 7"/>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4"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a:solidFill>
                  <a:srgbClr val="262626"/>
                </a:solidFill>
                <a:latin typeface="Calibri" panose="020F0502020204030204"/>
                <a:ea typeface="Calibri" panose="020F0502020204030204"/>
                <a:cs typeface="Calibri" panose="020F0502020204030204"/>
                <a:sym typeface="Calibri" panose="020F0502020204030204"/>
              </a:rPr>
              <a:t>Leçon</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 14 : Normalisation et Fonctions d'Activation</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78"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Calibri" panose="020F0502020204030204"/>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Calibri" panose="020F0502020204030204"/>
                <a:ea typeface="Calibri" panose="020F0502020204030204"/>
                <a:cs typeface="Calibri" panose="020F0502020204030204"/>
                <a:sym typeface="Calibri" panose="020F0502020204030204"/>
              </a:rPr>
              <a:t>Analyse </a:t>
            </a:r>
            <a:r>
              <a:rPr lang="en-US" altLang="zh-CN" sz="2800" b="0" i="0" u="none" strike="noStrike">
                <a:solidFill>
                  <a:srgbClr val="404040"/>
                </a:solidFill>
                <a:latin typeface="Calibri" panose="020F0502020204030204"/>
                <a:ea typeface="Calibri" panose="020F0502020204030204"/>
                <a:cs typeface="Calibri" panose="020F0502020204030204"/>
                <a:sym typeface="Calibri" panose="020F0502020204030204"/>
              </a:rPr>
              <a:t>de base de l’optimisation des op</a:t>
            </a:r>
            <a:r>
              <a:rPr lang="en-US" altLang="en-US" sz="2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800" b="0" i="0" u="none" strike="noStrike">
                <a:solidFill>
                  <a:srgbClr val="404040"/>
                </a:solidFill>
                <a:latin typeface="Calibri" panose="020F0502020204030204"/>
                <a:ea typeface="Calibri" panose="020F0502020204030204"/>
                <a:cs typeface="Calibri" panose="020F0502020204030204"/>
                <a:sym typeface="Calibri" panose="020F0502020204030204"/>
              </a:rPr>
              <a:t>rateurs – op</a:t>
            </a:r>
            <a:r>
              <a:rPr lang="en-US" altLang="en-US" sz="2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800" b="0" i="0" u="none" strike="noStrike">
                <a:solidFill>
                  <a:srgbClr val="404040"/>
                </a:solidFill>
                <a:latin typeface="Calibri" panose="020F0502020204030204"/>
                <a:ea typeface="Calibri" panose="020F0502020204030204"/>
                <a:cs typeface="Calibri" panose="020F0502020204030204"/>
                <a:sym typeface="Calibri" panose="020F0502020204030204"/>
              </a:rPr>
              <a:t>rations</a:t>
            </a:r>
            <a:endParaRPr lang="en-US" altLang="zh-CN" sz="2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55600" indent="-355600" algn="l">
              <a:lnSpc>
                <a:spcPct val="100000"/>
              </a:lnSpc>
              <a:spcBef>
                <a:spcPts val="3000"/>
              </a:spcBef>
              <a:buClr>
                <a:srgbClr val="404040"/>
              </a:buClr>
              <a:buChar char="•"/>
            </a:pPr>
            <a:r>
              <a:rPr lang="en-US" altLang="zh-CN" sz="2800" b="0" i="0" u="none" strike="noStrike">
                <a:solidFill>
                  <a:srgbClr val="404040"/>
                </a:solidFill>
                <a:latin typeface="Calibri" panose="020F0502020204030204"/>
                <a:ea typeface="Calibri" panose="020F0502020204030204"/>
                <a:cs typeface="Calibri" panose="020F0502020204030204"/>
                <a:sym typeface="Calibri" panose="020F0502020204030204"/>
              </a:rPr>
              <a:t>Element‑wise et de r</a:t>
            </a:r>
            <a:r>
              <a:rPr lang="en-US" altLang="en-US" sz="2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800" b="0" i="0" u="none" strike="noStrike">
                <a:solidFill>
                  <a:srgbClr val="404040"/>
                </a:solidFill>
                <a:latin typeface="Calibri" panose="020F0502020204030204"/>
                <a:ea typeface="Calibri" panose="020F0502020204030204"/>
                <a:cs typeface="Calibri" panose="020F0502020204030204"/>
                <a:sym typeface="Calibri" panose="020F0502020204030204"/>
              </a:rPr>
              <a:t>duction</a:t>
            </a:r>
            <a:endParaRPr lang="en-US" altLang="zh-CN" sz="2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9" hasCustomPrompt="1"/>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3100" b="0" i="0" u="none" strike="noStrike" spc="0">
                <a:solidFill>
                  <a:srgbClr val="262626">
                    <a:alpha val="100000"/>
                  </a:srgbClr>
                </a:solidFill>
                <a:latin typeface="Calibri" panose="020F0502020204030204"/>
              </a:defRPr>
            </a:lvl1pPr>
          </a:lstStyle>
          <a:p>
            <a:pPr indent="0" algn="l">
              <a:lnSpc>
                <a:spcPct val="100000"/>
              </a:lnSpc>
            </a:pPr>
            <a:r>
              <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rPr>
              <a:t>GPU Indicateurs clés</a:t>
            </a:r>
            <a:endPar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algn="l"/>
          </a:p>
        </p:txBody>
      </p:sp>
      <p:sp>
        <p:nvSpPr>
          <p:cNvPr id="5" name="AutoShape 5"/>
          <p:cNvSpPr>
            <a:spLocks noGrp="1"/>
          </p:cNvSpPr>
          <p:nvPr>
            <p:ph type="body" sz="quarter" idx="68" hasCustomPrompt="1"/>
          </p:nvPr>
        </p:nvSpPr>
        <p:spPr>
          <a:prstGeom prst="rect">
            <a:avLst/>
          </a:prstGeom>
        </p:spPr>
        <p:txBody>
          <a:bodyPr wrap="square" lIns="91440" tIns="45720" rIns="91440" bIns="45720" anchor="t">
            <a:noAutofit/>
          </a:bodyPr>
          <a:lstStyle>
            <a:lvl1pPr algn="l">
              <a:lnSpc>
                <a:spcPct val="100000"/>
              </a:lnSpc>
              <a:defRPr sz="2200" b="0" i="0" u="none" strike="noStrike" spc="0">
                <a:solidFill>
                  <a:srgbClr val="404040">
                    <a:alpha val="100000"/>
                  </a:srgbClr>
                </a:solidFill>
                <a:latin typeface="Calibri" panose="020F0502020204030204"/>
              </a:defRPr>
            </a:lvl1pPr>
          </a:lstStyle>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Capacité de calcul (Compute Power / FLOPS) :</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Désigne le nombre d'opérations en virgule flottante que le GPU peut exécuter par seconde</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Grâce à davantage de cœurs de calcul et à des fréquences d'horloge plus élevées, la capacité de calcul augmente très rapidement</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Bande passante mémoire (Memory Bandwidth) :</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Désigne la quantité totale de données que le GPU peut lire ou écrire depuis sa mémoire globale par seconde</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La vitesse de croissance de la bande passante mémoire est bien inférieure à celle de la capacité de calcul, entraînant le problème du "mur mémoire"(Memory Wall)  : les cœurs de calcul du GPU restent souvent inactifs en attendant que les données arrivent de la mémoire lente.</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17000"/>
              </a:lnSpc>
              <a:spcBef>
                <a:spcPts val="1500"/>
              </a:spcBef>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文本占位符 6"/>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3100" b="0" i="0" u="none" strike="noStrike" spc="0">
                <a:solidFill>
                  <a:srgbClr val="262626">
                    <a:alpha val="100000"/>
                  </a:srgbClr>
                </a:solidFill>
                <a:latin typeface="Calibri" panose="020F0502020204030204"/>
              </a:defRPr>
            </a:lvl1pPr>
          </a:lstStyle>
          <a:p>
            <a:pPr indent="0" algn="l">
              <a:lnSpc>
                <a:spcPct val="100000"/>
              </a:lnSpc>
            </a:pPr>
            <a:r>
              <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rPr>
              <a:t>Roofline Model</a:t>
            </a:r>
            <a:endPar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algn="l"/>
          </a:p>
        </p:txBody>
      </p:sp>
      <p:sp>
        <p:nvSpPr>
          <p:cNvPr id="5" name="AutoShape 5"/>
          <p:cNvSpPr>
            <a:spLocks noGrp="1"/>
          </p:cNvSpPr>
          <p:nvPr>
            <p:ph type="body" sz="quarter" idx="68" hasCustomPrompt="1"/>
          </p:nvPr>
        </p:nvSpPr>
        <p:spPr>
          <a:prstGeom prst="rect">
            <a:avLst/>
          </a:prstGeom>
        </p:spPr>
        <p:txBody>
          <a:bodyPr wrap="square" lIns="91440" tIns="45720" rIns="91440" bIns="45720" anchor="t">
            <a:noAutofit/>
          </a:bodyPr>
          <a:lstStyle>
            <a:lvl1pPr algn="l">
              <a:lnSpc>
                <a:spcPct val="100000"/>
              </a:lnSpc>
              <a:defRPr sz="1900" b="0" i="0" u="none" strike="noStrike" spc="0">
                <a:solidFill>
                  <a:srgbClr val="404040">
                    <a:alpha val="100000"/>
                  </a:srgbClr>
                </a:solidFill>
                <a:latin typeface="Calibri" panose="020F0502020204030204"/>
              </a:defRPr>
            </a:lvl1pPr>
          </a:lstStyle>
          <a:p>
            <a:pPr marL="241300" indent="-241300" algn="l">
              <a:lnSpc>
                <a:spcPct val="100000"/>
              </a:lnSpc>
              <a:spcBef>
                <a:spcPts val="150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Définition : Le Roofline Model est un modèle de prédiction de performance intuitif, utilisé pour analyser la limite supérieure de performance d'un opérateur spécifique sur un matériel donné</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17000"/>
              </a:lnSpc>
              <a:spcBef>
                <a:spcPts val="1500"/>
              </a:spcBef>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163955" y="2463165"/>
            <a:ext cx="4998720" cy="311340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234430" y="3429000"/>
            <a:ext cx="5384800" cy="1092200"/>
          </a:xfrm>
          <a:prstGeom prst="rect">
            <a:avLst/>
          </a:prstGeom>
          <a:ln w="12700">
            <a:noFill/>
            <a:prstDash val="solid"/>
          </a:ln>
        </p:spPr>
      </p:pic>
      <p:sp>
        <p:nvSpPr>
          <p:cNvPr id="9" name="文本占位符 8"/>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3100" b="0" i="0" u="none" strike="noStrike" spc="0">
                <a:solidFill>
                  <a:srgbClr val="262626">
                    <a:alpha val="100000"/>
                  </a:srgbClr>
                </a:solidFill>
                <a:latin typeface="Calibri" panose="020F0502020204030204"/>
              </a:defRPr>
            </a:lvl1pPr>
          </a:lstStyle>
          <a:p>
            <a:pPr indent="0" algn="l">
              <a:lnSpc>
                <a:spcPct val="100000"/>
              </a:lnSpc>
            </a:pPr>
            <a:r>
              <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rPr>
              <a:t>Types d'opérateurs</a:t>
            </a:r>
            <a:endPar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algn="l"/>
          </a:p>
        </p:txBody>
      </p:sp>
      <p:sp>
        <p:nvSpPr>
          <p:cNvPr id="5" name="AutoShape 5"/>
          <p:cNvSpPr>
            <a:spLocks noGrp="1"/>
          </p:cNvSpPr>
          <p:nvPr>
            <p:ph type="body" sz="quarter" idx="68" hasCustomPrompt="1"/>
          </p:nvPr>
        </p:nvSpPr>
        <p:spPr>
          <a:prstGeom prst="rect">
            <a:avLst/>
          </a:prstGeom>
        </p:spPr>
        <p:txBody>
          <a:bodyPr wrap="square" lIns="91440" tIns="45720" rIns="91440" bIns="45720" anchor="t">
            <a:noAutofit/>
          </a:bodyPr>
          <a:lstStyle>
            <a:lvl1pPr algn="l">
              <a:lnSpc>
                <a:spcPct val="100000"/>
              </a:lnSpc>
              <a:defRPr sz="1600" b="0" i="0" u="none" strike="noStrike" spc="0">
                <a:solidFill>
                  <a:srgbClr val="404040">
                    <a:alpha val="100000"/>
                  </a:srgbClr>
                </a:solidFill>
                <a:latin typeface="Calibri" panose="020F0502020204030204"/>
              </a:defRPr>
            </a:lvl1pPr>
          </a:lstStyle>
          <a:p>
            <a:pPr marL="203200" indent="-203200" algn="l">
              <a:lnSpc>
                <a:spcPct val="100000"/>
              </a:lnSpc>
              <a:spcBef>
                <a:spcPts val="150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Type à calcul intensif (Compute-Bound) : le volume de calcul de l'opérateur est bien supérieur à son volume de lecture/écriture de données. Par exemple, les grandes multiplications matricielles ou les convolutions avec beaucoup de canaux. Pour ce type d'opérateurs, les performances dépendent principalement de la capacité de calcul du GPU</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03200" indent="-203200" algn="l">
              <a:lnSpc>
                <a:spcPct val="100000"/>
              </a:lnSpc>
              <a:spcBef>
                <a:spcPts val="1500"/>
              </a:spcBef>
              <a:buClr>
                <a:srgbClr val="404040"/>
              </a:buClr>
              <a:buChar char="•"/>
            </a:pP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03200" indent="-203200" algn="l">
              <a:lnSpc>
                <a:spcPct val="100000"/>
              </a:lnSpc>
              <a:spcBef>
                <a:spcPts val="150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Type à accès mémoire intensif (Memory-Bound) : le volume de lecture/écriture de données de l'opérateur est bien supérieur à son volume de calcul. Par exemple, ReLU, Add, BatchNorm, Dropout  et autres opérations par élément. Pour ce type d'opérateurs, les performances sont principalement limitées par la bande passante mémoire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17000"/>
              </a:lnSpc>
              <a:spcBef>
                <a:spcPts val="1500"/>
              </a:spcBef>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556385" y="2335530"/>
            <a:ext cx="6249670" cy="142621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1556385" y="4815840"/>
            <a:ext cx="6322695" cy="1338580"/>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8225790" y="2537460"/>
            <a:ext cx="1838960" cy="1022985"/>
          </a:xfrm>
          <a:prstGeom prst="rect">
            <a:avLst/>
          </a:prstGeom>
          <a:ln w="12700">
            <a:noFill/>
            <a:prstDash val="solid"/>
          </a:ln>
        </p:spPr>
      </p:pic>
      <p:pic>
        <p:nvPicPr>
          <p:cNvPr id="9" name="Picture 9"/>
          <p:cNvPicPr>
            <a:picLocks noChangeAspect="1"/>
          </p:cNvPicPr>
          <p:nvPr/>
        </p:nvPicPr>
        <p:blipFill>
          <a:blip r:embed="rId3"/>
          <a:srcRect/>
          <a:stretch>
            <a:fillRect/>
          </a:stretch>
        </p:blipFill>
        <p:spPr>
          <a:xfrm>
            <a:off x="8352790" y="4965065"/>
            <a:ext cx="1838960" cy="1022985"/>
          </a:xfrm>
          <a:prstGeom prst="rect">
            <a:avLst/>
          </a:prstGeom>
          <a:ln w="12700">
            <a:noFill/>
            <a:prstDash val="solid"/>
          </a:ln>
        </p:spPr>
      </p:pic>
      <p:sp>
        <p:nvSpPr>
          <p:cNvPr id="11" name="文本占位符 10"/>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78"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Calibri" panose="020F0502020204030204"/>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Calibri" panose="020F0502020204030204"/>
                <a:ea typeface="Calibri" panose="020F0502020204030204"/>
                <a:cs typeface="Calibri" panose="020F0502020204030204"/>
                <a:sym typeface="Calibri" panose="020F0502020204030204"/>
              </a:rPr>
              <a:t>Analyse fondamentale de l'optimisation des opérateurs</a:t>
            </a:r>
            <a:endParaRPr lang="en-US" sz="2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55600" indent="-355600" algn="l">
              <a:lnSpc>
                <a:spcPct val="100000"/>
              </a:lnSpc>
              <a:spcBef>
                <a:spcPts val="3000"/>
              </a:spcBef>
              <a:buClr>
                <a:srgbClr val="404040"/>
              </a:buClr>
              <a:buChar char="•"/>
            </a:pPr>
            <a:r>
              <a:rPr lang="en-US" altLang="zh-CN" sz="2800" b="0" i="0" u="none" strike="noStrike">
                <a:solidFill>
                  <a:srgbClr val="404040"/>
                </a:solidFill>
                <a:latin typeface="Calibri" panose="020F0502020204030204"/>
                <a:ea typeface="Calibri" panose="020F0502020204030204"/>
                <a:cs typeface="Calibri" panose="020F0502020204030204"/>
                <a:sym typeface="Calibri" panose="020F0502020204030204"/>
              </a:rPr>
              <a:t>Op</a:t>
            </a:r>
            <a:r>
              <a:rPr lang="en-US" altLang="en-US" sz="2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800" b="0" i="0" u="none" strike="noStrike">
                <a:solidFill>
                  <a:srgbClr val="404040"/>
                </a:solidFill>
                <a:latin typeface="Calibri" panose="020F0502020204030204"/>
                <a:ea typeface="Calibri" panose="020F0502020204030204"/>
                <a:cs typeface="Calibri" panose="020F0502020204030204"/>
                <a:sym typeface="Calibri" panose="020F0502020204030204"/>
              </a:rPr>
              <a:t>rations element-wise et  de r</a:t>
            </a:r>
            <a:r>
              <a:rPr lang="en-US" altLang="en-US" sz="2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800" b="0" i="0" u="none" strike="noStrike">
                <a:solidFill>
                  <a:srgbClr val="404040"/>
                </a:solidFill>
                <a:latin typeface="Calibri" panose="020F0502020204030204"/>
                <a:ea typeface="Calibri" panose="020F0502020204030204"/>
                <a:cs typeface="Calibri" panose="020F0502020204030204"/>
                <a:sym typeface="Calibri" panose="020F0502020204030204"/>
              </a:rPr>
              <a:t>duction</a:t>
            </a:r>
            <a:endParaRPr lang="en-US" altLang="zh-CN" sz="2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9" hasCustomPrompt="1"/>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3100" b="0" i="0" u="none" strike="noStrike" spc="0">
                <a:solidFill>
                  <a:srgbClr val="262626">
                    <a:alpha val="100000"/>
                  </a:srgbClr>
                </a:solidFill>
                <a:latin typeface="Calibri" panose="020F0502020204030204"/>
              </a:defRPr>
            </a:lvl1pPr>
          </a:lstStyle>
          <a:p>
            <a:pPr indent="0" algn="l">
              <a:lnSpc>
                <a:spcPct val="100000"/>
              </a:lnSpc>
            </a:pPr>
            <a:r>
              <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rPr>
              <a:t>Opération par élément (Element-wise)</a:t>
            </a:r>
            <a:endPar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algn="l"/>
          </a:p>
        </p:txBody>
      </p:sp>
      <p:pic>
        <p:nvPicPr>
          <p:cNvPr id="6" name="Picture 6"/>
          <p:cNvPicPr>
            <a:picLocks noChangeAspect="1"/>
          </p:cNvPicPr>
          <p:nvPr/>
        </p:nvPicPr>
        <p:blipFill>
          <a:blip r:embed="rId1"/>
          <a:srcRect/>
          <a:stretch>
            <a:fillRect/>
          </a:stretch>
        </p:blipFill>
        <p:spPr>
          <a:xfrm>
            <a:off x="5180965" y="4131310"/>
            <a:ext cx="5391150" cy="1545590"/>
          </a:xfrm>
          <a:prstGeom prst="rect">
            <a:avLst/>
          </a:prstGeom>
          <a:ln w="12700">
            <a:noFill/>
            <a:prstDash val="solid"/>
          </a:ln>
        </p:spPr>
      </p:pic>
      <p:sp>
        <p:nvSpPr>
          <p:cNvPr id="7" name="AutoShape 7"/>
          <p:cNvSpPr/>
          <p:nvPr/>
        </p:nvSpPr>
        <p:spPr>
          <a:xfrm>
            <a:off x="5027930" y="2449830"/>
            <a:ext cx="6447790" cy="1343660"/>
          </a:xfrm>
          <a:prstGeom prst="rect">
            <a:avLst/>
          </a:prstGeom>
          <a:noFill/>
          <a:ln w="12700">
            <a:noFill/>
            <a:prstDash val="solid"/>
          </a:ln>
        </p:spPr>
        <p:txBody>
          <a:bodyPr vert="horz" wrap="square" lIns="91440" tIns="45720" rIns="91440" bIns="45720" rtlCol="0" anchor="t">
            <a:normAutofit/>
          </a:bodyPr>
          <a:lstStyle/>
          <a:p>
            <a:pPr marL="203200" indent="-203200" algn="l">
              <a:lnSpc>
                <a:spcPct val="100000"/>
              </a:lnSpc>
              <a:spcBef>
                <a:spcPts val="1500"/>
              </a:spcBef>
              <a:buClr>
                <a:srgbClr val="404040"/>
              </a:buClr>
              <a:buChar char="•"/>
              <a:defRP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Parallélisme : Puisque chaque branche de calcul  f(x)  n'a pas de relation de dépendance, elle peut être distribuée à des milliers de threads pour une exécution simultanée</a:t>
            </a:r>
            <a:endParaRPr lang="en-US" sz="1100"/>
          </a:p>
          <a:p>
            <a:pPr marL="203200" indent="-203200" algn="l">
              <a:lnSpc>
                <a:spcPct val="100000"/>
              </a:lnSpc>
              <a:spcBef>
                <a:spcPts val="150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GPU-friendly : correspond parfaitement au modèle d'exécution SIMD.</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8" name="AutoShape 8"/>
          <p:cNvSpPr/>
          <p:nvPr/>
        </p:nvSpPr>
        <p:spPr>
          <a:xfrm>
            <a:off x="977900" y="1378585"/>
            <a:ext cx="9987915" cy="502285"/>
          </a:xfrm>
          <a:prstGeom prst="rect">
            <a:avLst/>
          </a:prstGeom>
          <a:noFill/>
          <a:ln w="12700">
            <a:noFill/>
            <a:prstDash val="solid"/>
          </a:ln>
        </p:spPr>
        <p:txBody>
          <a:bodyPr vert="horz" wrap="square" lIns="91440" tIns="45720" rIns="91440" bIns="45720" rtlCol="0" anchor="t">
            <a:noAutofit/>
          </a:bodyPr>
          <a:lstStyle/>
          <a:p>
            <a:pPr marL="177800" indent="-177800" algn="l">
              <a:lnSpc>
                <a:spcPct val="100000"/>
              </a:lnSpc>
              <a:spcBef>
                <a:spcPts val="1500"/>
              </a:spcBef>
              <a:buClr>
                <a:srgbClr val="404040"/>
              </a:buClr>
              <a:buChar char="•"/>
              <a:defRP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Logique essentielle : Appliquer indépendamment la même transformation à chaque élément de la collection, </a:t>
            </a:r>
            <a:r>
              <a:rPr lang="en-US" altLang="zh-CN" sz="1800" b="1" i="0" u="sng" strike="noStrike">
                <a:solidFill>
                  <a:srgbClr val="404040"/>
                </a:solidFill>
                <a:latin typeface="Calibri" panose="020F0502020204030204"/>
                <a:ea typeface="Calibri" panose="020F0502020204030204"/>
                <a:cs typeface="Calibri" panose="020F0502020204030204"/>
                <a:sym typeface="Calibri" panose="020F0502020204030204"/>
              </a:rPr>
              <a:t>sans interf</a:t>
            </a:r>
            <a:r>
              <a:rPr lang="en-US" altLang="en-US" sz="1800" b="1" i="0" u="sng"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00" b="1" i="0" u="sng" strike="noStrike">
                <a:solidFill>
                  <a:srgbClr val="404040"/>
                </a:solidFill>
                <a:latin typeface="Calibri" panose="020F0502020204030204"/>
                <a:ea typeface="Calibri" panose="020F0502020204030204"/>
                <a:cs typeface="Calibri" panose="020F0502020204030204"/>
                <a:sym typeface="Calibri" panose="020F0502020204030204"/>
              </a:rPr>
              <a:t>rence entre les </a:t>
            </a:r>
            <a:r>
              <a:rPr lang="en-US" altLang="en-US" sz="1800" b="1" i="0" u="sng"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00" b="1" i="0" u="sng" strike="noStrike">
                <a:solidFill>
                  <a:srgbClr val="404040"/>
                </a:solidFill>
                <a:latin typeface="Calibri" panose="020F0502020204030204"/>
                <a:ea typeface="Calibri" panose="020F0502020204030204"/>
                <a:cs typeface="Calibri" panose="020F0502020204030204"/>
                <a:sym typeface="Calibri" panose="020F0502020204030204"/>
              </a:rPr>
              <a:t>l</a:t>
            </a:r>
            <a:r>
              <a:rPr lang="en-US" altLang="en-US" sz="1800" b="1" i="0" u="sng"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00" b="1" i="0" u="sng" strike="noStrike">
                <a:solidFill>
                  <a:srgbClr val="404040"/>
                </a:solidFill>
                <a:latin typeface="Calibri" panose="020F0502020204030204"/>
                <a:ea typeface="Calibri" panose="020F0502020204030204"/>
                <a:cs typeface="Calibri" panose="020F0502020204030204"/>
                <a:sym typeface="Calibri" panose="020F0502020204030204"/>
              </a:rPr>
              <a:t>ments.</a:t>
            </a:r>
            <a:endParaRPr lang="en-US" altLang="zh-CN" sz="1800" b="1" i="0" u="sng"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9" name="Picture 9"/>
          <p:cNvPicPr>
            <a:picLocks noChangeAspect="1"/>
          </p:cNvPicPr>
          <p:nvPr/>
        </p:nvPicPr>
        <p:blipFill>
          <a:blip r:embed="rId2"/>
          <a:srcRect/>
          <a:stretch>
            <a:fillRect/>
          </a:stretch>
        </p:blipFill>
        <p:spPr>
          <a:xfrm>
            <a:off x="977900" y="1977390"/>
            <a:ext cx="3905250" cy="3930015"/>
          </a:xfrm>
          <a:prstGeom prst="rect">
            <a:avLst/>
          </a:prstGeom>
          <a:ln w="12700">
            <a:noFill/>
            <a:prstDash val="solid"/>
          </a:ln>
        </p:spPr>
      </p:pic>
      <p:sp>
        <p:nvSpPr>
          <p:cNvPr id="10" name="文本占位符 9"/>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3100" b="0" i="0" u="none" strike="noStrike" spc="0">
                <a:solidFill>
                  <a:srgbClr val="262626">
                    <a:alpha val="100000"/>
                  </a:srgbClr>
                </a:solidFill>
                <a:latin typeface="Calibri" panose="020F0502020204030204"/>
              </a:defRPr>
            </a:lvl1pPr>
          </a:lstStyle>
          <a:p>
            <a:pPr indent="0" algn="l">
              <a:lnSpc>
                <a:spcPct val="100000"/>
              </a:lnSpc>
            </a:pPr>
            <a:r>
              <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rPr>
              <a:t>Réduction (Reduction)</a:t>
            </a:r>
            <a:endPar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algn="l"/>
          </a:p>
        </p:txBody>
      </p:sp>
      <p:pic>
        <p:nvPicPr>
          <p:cNvPr id="6" name="Picture 6"/>
          <p:cNvPicPr>
            <a:picLocks noChangeAspect="1"/>
          </p:cNvPicPr>
          <p:nvPr/>
        </p:nvPicPr>
        <p:blipFill>
          <a:blip r:embed="rId1"/>
          <a:srcRect/>
          <a:stretch>
            <a:fillRect/>
          </a:stretch>
        </p:blipFill>
        <p:spPr>
          <a:xfrm>
            <a:off x="968375" y="2487295"/>
            <a:ext cx="7713345" cy="3590290"/>
          </a:xfrm>
          <a:prstGeom prst="rect">
            <a:avLst/>
          </a:prstGeom>
          <a:ln w="12700">
            <a:noFill/>
            <a:prstDash val="solid"/>
          </a:ln>
        </p:spPr>
      </p:pic>
      <p:sp>
        <p:nvSpPr>
          <p:cNvPr id="7" name="AutoShape 7"/>
          <p:cNvSpPr/>
          <p:nvPr/>
        </p:nvSpPr>
        <p:spPr>
          <a:xfrm>
            <a:off x="859155" y="1299210"/>
            <a:ext cx="10725150" cy="1106805"/>
          </a:xfrm>
          <a:prstGeom prst="rect">
            <a:avLst/>
          </a:prstGeom>
          <a:noFill/>
          <a:ln w="12700">
            <a:noFill/>
            <a:prstDash val="solid"/>
          </a:ln>
        </p:spPr>
        <p:txBody>
          <a:bodyPr vert="horz" wrap="square" lIns="91440" tIns="45720" rIns="91440" bIns="45720" rtlCol="0" anchor="t">
            <a:normAutofit fontScale="62500" lnSpcReduction="20000"/>
          </a:bodyPr>
          <a:lstStyle/>
          <a:p>
            <a:pPr marL="190500" indent="-190500" algn="l">
              <a:lnSpc>
                <a:spcPct val="100000"/>
              </a:lnSpc>
              <a:spcBef>
                <a:spcPts val="1500"/>
              </a:spcBef>
              <a:buClr>
                <a:srgbClr val="404040"/>
              </a:buClr>
              <a:buChar char="•"/>
              <a:defRP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Logique essentielle : Fusionner plusieurs éléments d'une séquence en moins de résultats par une opération binaire (eg. Max) </a:t>
            </a:r>
            <a:endParaRPr lang="en-US" sz="1100"/>
          </a:p>
          <a:p>
            <a:pPr marL="190500" indent="-190500" algn="l">
              <a:lnSpc>
                <a:spcPct val="100000"/>
              </a:lnSpc>
              <a:spcBef>
                <a:spcPts val="150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Flux de données :</a:t>
            </a:r>
            <a:r>
              <a:rPr lang="en-US" sz="1500" b="1"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 Le calcul de chaque élément </a:t>
            </a:r>
            <a:r>
              <a:rPr lang="en-US" sz="1500" b="1" i="0" u="sng" strike="noStrike">
                <a:solidFill>
                  <a:srgbClr val="404040"/>
                </a:solidFill>
                <a:latin typeface="Calibri" panose="020F0502020204030204"/>
                <a:ea typeface="Calibri" panose="020F0502020204030204"/>
                <a:cs typeface="Calibri" panose="020F0502020204030204"/>
                <a:sym typeface="Calibri" panose="020F0502020204030204"/>
              </a:rPr>
              <a:t>dépend du résultat cumulé de l'élément précédent</a:t>
            </a:r>
            <a:endParaRPr lang="en-US" sz="1500" b="1" i="0" u="sng"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1500" b="1" i="0" u="sng"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8" name="文本占位符 7"/>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3100" b="0" i="0" u="none" strike="noStrike" spc="0">
                <a:solidFill>
                  <a:srgbClr val="262626">
                    <a:alpha val="100000"/>
                  </a:srgbClr>
                </a:solidFill>
                <a:latin typeface="Calibri" panose="020F0502020204030204"/>
              </a:defRPr>
            </a:lvl1pPr>
          </a:lstStyle>
          <a:p>
            <a:pPr indent="0" algn="l">
              <a:lnSpc>
                <a:spcPct val="100000"/>
              </a:lnSpc>
            </a:pPr>
            <a:r>
              <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rPr>
              <a:t>Element-wise vs Reduction</a:t>
            </a:r>
            <a:endPar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algn="l"/>
          </a:p>
        </p:txBody>
      </p:sp>
      <p:sp>
        <p:nvSpPr>
          <p:cNvPr id="6" name="AutoShape 6"/>
          <p:cNvSpPr/>
          <p:nvPr/>
        </p:nvSpPr>
        <p:spPr>
          <a:xfrm>
            <a:off x="859155" y="1299210"/>
            <a:ext cx="10725150" cy="1106805"/>
          </a:xfrm>
          <a:prstGeom prst="rect">
            <a:avLst/>
          </a:prstGeom>
          <a:noFill/>
          <a:ln w="12700">
            <a:noFill/>
            <a:prstDash val="solid"/>
          </a:ln>
        </p:spPr>
        <p:txBody>
          <a:bodyPr vert="horz" wrap="square" lIns="91440" tIns="45720" rIns="91440" bIns="45720" rtlCol="0" anchor="t">
            <a:normAutofit/>
          </a:bodyPr>
          <a:lstStyle/>
          <a:p>
            <a:pPr marL="279400" indent="-279400" algn="l">
              <a:lnSpc>
                <a:spcPct val="100000"/>
              </a:lnSpc>
              <a:spcBef>
                <a:spcPts val="1500"/>
              </a:spcBef>
              <a:buClr>
                <a:srgbClr val="404040"/>
              </a:buClr>
              <a:buChar char="•"/>
              <a:defRP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Comparaison des différences essentielles</a:t>
            </a:r>
            <a:endParaRPr lang="en-US" sz="1100"/>
          </a:p>
        </p:txBody>
      </p:sp>
      <p:graphicFrame>
        <p:nvGraphicFramePr>
          <p:cNvPr id="7" name="Table 7"/>
          <p:cNvGraphicFramePr>
            <a:graphicFrameLocks noGrp="1"/>
          </p:cNvGraphicFramePr>
          <p:nvPr/>
        </p:nvGraphicFramePr>
        <p:xfrm>
          <a:off x="882650" y="2061210"/>
          <a:ext cx="10461625" cy="3753485"/>
        </p:xfrm>
        <a:graphic>
          <a:graphicData uri="http://schemas.openxmlformats.org/drawingml/2006/table">
            <a:tbl>
              <a:tblPr>
                <a:effectLst/>
              </a:tblPr>
              <a:tblGrid>
                <a:gridCol w="1883410"/>
                <a:gridCol w="3315970"/>
                <a:gridCol w="5262245"/>
              </a:tblGrid>
              <a:tr h="711200">
                <a:tc>
                  <a:txBody>
                    <a:bodyPr/>
                    <a:lstStyle/>
                    <a:p>
                      <a:pPr indent="0" algn="ctr">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Caractéristique</a:t>
                      </a:r>
                      <a:endParaRPr lang="en-US" sz="1100"/>
                    </a:p>
                  </a:txBody>
                  <a:tcPr marL="12700" marR="12700" marT="127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Element-wise (par élément)</a:t>
                      </a:r>
                      <a:endParaRPr lang="en-US" sz="1100"/>
                    </a:p>
                  </a:txBody>
                  <a:tcPr marL="12700" marR="12700" marT="127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Reduction (réduction/arborescent)</a:t>
                      </a:r>
                      <a:endParaRPr lang="en-US" sz="1100"/>
                    </a:p>
                  </a:txBody>
                  <a:tcPr marL="12700" marR="12700" marT="127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noFill/>
                  </a:tcPr>
                </a:tc>
              </a:tr>
              <a:tr h="712470">
                <a:tc>
                  <a:txBody>
                    <a:bodyPr/>
                    <a:lstStyle/>
                    <a:p>
                      <a:pPr indent="0" algn="ctr">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Mode de calcul</a:t>
                      </a:r>
                      <a:endParaRPr lang="en-US" sz="1100"/>
                    </a:p>
                  </a:txBody>
                  <a:tcPr marL="12700" marR="12700" marT="127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N ----&gt; N</a:t>
                      </a:r>
                      <a:endParaRPr lang="en-US" sz="1100"/>
                    </a:p>
                  </a:txBody>
                  <a:tcPr marL="12700" marR="12700" marT="127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4472C4">
                        <a:alpha val="20000"/>
                      </a:srgbClr>
                    </a:solidFill>
                  </a:tcPr>
                </a:tc>
                <a:tc>
                  <a:txBody>
                    <a:bodyPr/>
                    <a:lstStyle/>
                    <a:p>
                      <a:pPr indent="0" algn="ctr">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N ----&gt; 1</a:t>
                      </a:r>
                      <a:endParaRPr lang="en-US" sz="1100"/>
                    </a:p>
                  </a:txBody>
                  <a:tcPr marL="12700" marR="12700" marT="127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4472C4">
                        <a:alpha val="20000"/>
                      </a:srgbClr>
                    </a:solidFill>
                  </a:tcPr>
                </a:tc>
              </a:tr>
              <a:tr h="906145">
                <a:tc>
                  <a:txBody>
                    <a:bodyPr/>
                    <a:lstStyle/>
                    <a:p>
                      <a:pPr indent="0" algn="ctr">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Communication entre threads</a:t>
                      </a:r>
                      <a:endParaRPr lang="en-US" sz="1100"/>
                    </a:p>
                  </a:txBody>
                  <a:tcPr marL="12700" marR="12700" marT="127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Non nécessaire, threads totalement indépendants</a:t>
                      </a:r>
                      <a:endParaRPr lang="en-US" sz="1100"/>
                    </a:p>
                  </a:txBody>
                  <a:tcPr marL="12700" marR="12700" marT="127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Nécessaire, doit échanger des données via Shuffle ou Shared Memory</a:t>
                      </a:r>
                      <a:endParaRPr lang="en-US" sz="1100"/>
                    </a:p>
                  </a:txBody>
                  <a:tcPr marL="12700" marR="12700" marT="127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noFill/>
                  </a:tcPr>
                </a:tc>
              </a:tr>
              <a:tr h="712470">
                <a:tc>
                  <a:txBody>
                    <a:bodyPr/>
                    <a:lstStyle/>
                    <a:p>
                      <a:pPr indent="0" algn="ctr">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Fonction Triton</a:t>
                      </a:r>
                      <a:endParaRPr lang="en-US" sz="1100"/>
                    </a:p>
                  </a:txBody>
                  <a:tcPr marL="12700" marR="12700" marT="127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Opérateurs standards (+,-,*)</a:t>
                      </a:r>
                      <a:endParaRPr lang="en-US" sz="1100"/>
                    </a:p>
                  </a:txBody>
                  <a:tcPr marL="12700" marR="12700" marT="127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4472C4">
                        <a:alpha val="20000"/>
                      </a:srgbClr>
                    </a:solidFill>
                  </a:tcPr>
                </a:tc>
                <a:tc>
                  <a:txBody>
                    <a:bodyPr/>
                    <a:lstStyle/>
                    <a:p>
                      <a:pPr indent="0" algn="ctr">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tl.sum, tl.max, tl.reduce</a:t>
                      </a:r>
                      <a:endParaRPr lang="en-US" sz="1100"/>
                    </a:p>
                  </a:txBody>
                  <a:tcPr marL="12700" marR="12700" marT="127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4472C4">
                        <a:alpha val="20000"/>
                      </a:srgbClr>
                    </a:solidFill>
                  </a:tcPr>
                </a:tc>
              </a:tr>
              <a:tr h="711200">
                <a:tc>
                  <a:txBody>
                    <a:bodyPr/>
                    <a:lstStyle/>
                    <a:p>
                      <a:pPr indent="0" algn="ctr">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Algorithmes typiques</a:t>
                      </a:r>
                      <a:endParaRPr lang="en-US" sz="1100"/>
                    </a:p>
                  </a:txBody>
                  <a:tcPr marL="12700" marR="12700" marT="127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alpha val="100000"/>
                      </a:srgbClr>
                    </a:solidFill>
                  </a:tcPr>
                </a:tc>
                <a:tc>
                  <a:txBody>
                    <a:bodyPr/>
                    <a:lstStyle/>
                    <a:p>
                      <a:pPr indent="0" algn="ctr">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ReLU, Vector Add, Dropout</a:t>
                      </a:r>
                      <a:endParaRPr lang="en-US" sz="1100"/>
                    </a:p>
                  </a:txBody>
                  <a:tcPr marL="12700" marR="12700" marT="127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noFill/>
                  </a:tcPr>
                </a:tc>
                <a:tc>
                  <a:txBody>
                    <a:bodyPr/>
                    <a:lstStyle/>
                    <a:p>
                      <a:pPr indent="0" algn="ctr">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LayerNorm, Softmax, Dot Product</a:t>
                      </a:r>
                      <a:endParaRPr lang="en-US" sz="1100"/>
                    </a:p>
                  </a:txBody>
                  <a:tcPr marL="12700" marR="12700" marT="127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noFill/>
                  </a:tcPr>
                </a:tc>
              </a:tr>
            </a:tbl>
          </a:graphicData>
        </a:graphic>
      </p:graphicFrame>
      <p:sp>
        <p:nvSpPr>
          <p:cNvPr id="8" name="文本占位符 7"/>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3100" b="0" i="0" u="none" strike="noStrike" spc="0">
                <a:solidFill>
                  <a:srgbClr val="262626">
                    <a:alpha val="100000"/>
                  </a:srgbClr>
                </a:solidFill>
                <a:latin typeface="Calibri" panose="020F0502020204030204"/>
              </a:defRPr>
            </a:lvl1pPr>
          </a:lstStyle>
          <a:p>
            <a:pPr indent="0" algn="l">
              <a:lnSpc>
                <a:spcPct val="100000"/>
              </a:lnSpc>
            </a:pPr>
            <a:r>
              <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rPr>
              <a:t>Rappel : Hiérarchie mémoire </a:t>
            </a:r>
            <a:r>
              <a:rPr lang="en-US">
                <a:solidFill>
                  <a:srgbClr val="262626"/>
                </a:solidFill>
                <a:ea typeface="Calibri" panose="020F0502020204030204"/>
                <a:cs typeface="Calibri" panose="020F0502020204030204"/>
                <a:sym typeface="Calibri" panose="020F0502020204030204"/>
              </a:rPr>
              <a:t>GPU</a:t>
            </a:r>
            <a:endPar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68" hasCustomPrompt="1"/>
          </p:nvPr>
        </p:nvSpPr>
        <p:spPr>
          <a:xfrm>
            <a:off x="523875" y="1323975"/>
            <a:ext cx="10060305" cy="4853305"/>
          </a:xfrm>
          <a:prstGeom prst="rect">
            <a:avLst/>
          </a:prstGeom>
        </p:spPr>
        <p:txBody>
          <a:bodyPr wrap="square" lIns="91440" tIns="45720" rIns="91440" bIns="45720" anchor="t">
            <a:noAutofit/>
          </a:bodyPr>
          <a:lstStyle>
            <a:lvl1pPr algn="l">
              <a:lnSpc>
                <a:spcPct val="100000"/>
              </a:lnSpc>
              <a:defRPr sz="1900" b="0" i="0" u="none" strike="noStrike" spc="0">
                <a:solidFill>
                  <a:srgbClr val="404040">
                    <a:alpha val="100000"/>
                  </a:srgbClr>
                </a:solidFill>
                <a:latin typeface="Calibri" panose="020F0502020204030204"/>
              </a:defRPr>
            </a:lvl1pPr>
          </a:lstStyle>
          <a:p>
            <a:pPr marL="241300" indent="-241300" algn="l">
              <a:lnSpc>
                <a:spcPct val="100000"/>
              </a:lnSpc>
              <a:spcBef>
                <a:spcPts val="1500"/>
              </a:spcBef>
              <a:buClr>
                <a:srgbClr val="404040"/>
              </a:buClr>
              <a:buChar char="•"/>
            </a:pP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Hi</a:t>
            </a:r>
            <a:r>
              <a:rPr lang="en-US" alt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rarchie </a:t>
            </a: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de threads : Les threads sont organisés en Block</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(blocks), et les blocs sont assign</a:t>
            </a:r>
            <a:r>
              <a:rPr lang="en-US" alt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s aux SM (Streaming Multiprocessors) pour ex</a:t>
            </a:r>
            <a:r>
              <a:rPr lang="en-US" alt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cution.</a:t>
            </a:r>
            <a:endPar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41300" indent="-241300" algn="l">
              <a:lnSpc>
                <a:spcPct val="100000"/>
              </a:lnSpc>
              <a:spcBef>
                <a:spcPts val="150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Visibilité mémoire : </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la m</a:t>
            </a:r>
            <a:r>
              <a:rPr lang="en-US" alt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moire globale (Global Memory) est visible par tous les threads, tandis que la m</a:t>
            </a:r>
            <a:r>
              <a:rPr lang="en-US" alt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moire partag</a:t>
            </a:r>
            <a:r>
              <a:rPr lang="en-US" alt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e (Shared Memory) n’est visible que par les threads d’un m</a:t>
            </a:r>
            <a:r>
              <a:rPr lang="en-US" alt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ê</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me bloc.</a:t>
            </a:r>
            <a:endParaRPr lang="en-US"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5" name="Picture 5"/>
          <p:cNvPicPr>
            <a:picLocks noChangeAspect="1"/>
          </p:cNvPicPr>
          <p:nvPr/>
        </p:nvPicPr>
        <p:blipFill>
          <a:blip r:embed="rId1"/>
          <a:srcRect/>
          <a:stretch>
            <a:fillRect/>
          </a:stretch>
        </p:blipFill>
        <p:spPr>
          <a:xfrm>
            <a:off x="2837815" y="2783205"/>
            <a:ext cx="6643370" cy="2756535"/>
          </a:xfrm>
          <a:prstGeom prst="rect">
            <a:avLst/>
          </a:prstGeom>
          <a:ln w="12700">
            <a:noFill/>
            <a:prstDash val="solid"/>
          </a:ln>
        </p:spPr>
      </p:pic>
      <p:graphicFrame>
        <p:nvGraphicFramePr>
          <p:cNvPr id="6" name="Table 6"/>
          <p:cNvGraphicFramePr>
            <a:graphicFrameLocks noGrp="1"/>
          </p:cNvGraphicFramePr>
          <p:nvPr/>
        </p:nvGraphicFramePr>
        <p:xfrm>
          <a:off x="1548130" y="5539740"/>
          <a:ext cx="8732520" cy="897890"/>
        </p:xfrm>
        <a:graphic>
          <a:graphicData uri="http://schemas.openxmlformats.org/drawingml/2006/table">
            <a:tbl>
              <a:tblPr>
                <a:effectLst/>
              </a:tblPr>
              <a:tblGrid>
                <a:gridCol w="2183130"/>
                <a:gridCol w="2183130"/>
                <a:gridCol w="2183130"/>
                <a:gridCol w="2183130"/>
              </a:tblGrid>
              <a:tr h="448945">
                <a:tc>
                  <a:txBody>
                    <a:bodyPr/>
                    <a:lstStyle/>
                    <a:p>
                      <a:pPr indent="0" algn="ctr">
                        <a:lnSpc>
                          <a:spcPct val="100000"/>
                        </a:lnSpc>
                        <a:defRPr/>
                      </a:pPr>
                      <a:r>
                        <a:rPr lang="en-US" sz="1400" b="0" i="0" u="none" strike="noStrike">
                          <a:solidFill>
                            <a:srgbClr val="FFFFFF"/>
                          </a:solidFill>
                          <a:latin typeface="Calibri" panose="020F0502020204030204"/>
                          <a:ea typeface="Calibri" panose="020F0502020204030204"/>
                          <a:cs typeface="Calibri" panose="020F0502020204030204"/>
                          <a:sym typeface="Calibri" panose="020F0502020204030204"/>
                        </a:rPr>
                        <a:t>Register</a:t>
                      </a:r>
                      <a:endParaRPr lang="en-US" sz="1100"/>
                    </a:p>
                  </a:txBody>
                  <a:tcPr>
                    <a:lnL w="12700" cap="flat" cmpd="sng" algn="ctr">
                      <a:solidFill>
                        <a:srgbClr val="A5A5A5"/>
                      </a:solidFill>
                      <a:prstDash val="solid"/>
                      <a:round/>
                      <a:headEnd type="none" w="med" len="med"/>
                      <a:tailEnd type="none" w="med" len="med"/>
                    </a:lnL>
                    <a:lnR w="12700" cap="flat" cmpd="sng" algn="ctr">
                      <a:solidFill>
                        <a:srgbClr val="DAE3F3"/>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DAE3F3"/>
                      </a:solidFill>
                      <a:prstDash val="solid"/>
                      <a:round/>
                      <a:headEnd type="none" w="med" len="med"/>
                      <a:tailEnd type="none" w="med" len="med"/>
                    </a:lnB>
                    <a:solidFill>
                      <a:srgbClr val="B4C7E7">
                        <a:alpha val="100000"/>
                      </a:srgbClr>
                    </a:solidFill>
                  </a:tcPr>
                </a:tc>
                <a:tc>
                  <a:txBody>
                    <a:bodyPr/>
                    <a:lstStyle/>
                    <a:p>
                      <a:pPr indent="0" algn="ctr">
                        <a:lnSpc>
                          <a:spcPct val="100000"/>
                        </a:lnSpc>
                        <a:defRPr/>
                      </a:pPr>
                      <a:r>
                        <a:rPr lang="en-US" sz="1400" b="0" i="0" u="none" strike="noStrike">
                          <a:solidFill>
                            <a:srgbClr val="FFFFFF"/>
                          </a:solidFill>
                          <a:latin typeface="Calibri" panose="020F0502020204030204"/>
                          <a:ea typeface="Calibri" panose="020F0502020204030204"/>
                          <a:cs typeface="Calibri" panose="020F0502020204030204"/>
                          <a:sym typeface="Calibri" panose="020F0502020204030204"/>
                        </a:rPr>
                        <a:t>Shared Memory</a:t>
                      </a:r>
                      <a:endParaRPr lang="en-US" sz="1100"/>
                    </a:p>
                  </a:txBody>
                  <a:tcPr>
                    <a:lnL w="12700" cap="flat" cmpd="sng" algn="ctr">
                      <a:solidFill>
                        <a:srgbClr val="DAE3F3"/>
                      </a:solidFill>
                      <a:prstDash val="solid"/>
                      <a:round/>
                      <a:headEnd type="none" w="med" len="med"/>
                      <a:tailEnd type="none" w="med" len="med"/>
                    </a:lnL>
                    <a:lnR w="12700" cap="flat" cmpd="sng" algn="ctr">
                      <a:solidFill>
                        <a:srgbClr val="DAE3F3"/>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DAE3F3"/>
                      </a:solidFill>
                      <a:prstDash val="solid"/>
                      <a:round/>
                      <a:headEnd type="none" w="med" len="med"/>
                      <a:tailEnd type="none" w="med" len="med"/>
                    </a:lnB>
                    <a:solidFill>
                      <a:srgbClr val="B4C7E7">
                        <a:alpha val="100000"/>
                      </a:srgbClr>
                    </a:solidFill>
                  </a:tcPr>
                </a:tc>
                <a:tc>
                  <a:txBody>
                    <a:bodyPr/>
                    <a:lstStyle/>
                    <a:p>
                      <a:pPr indent="0" algn="ctr">
                        <a:lnSpc>
                          <a:spcPct val="100000"/>
                        </a:lnSpc>
                        <a:defRPr/>
                      </a:pPr>
                      <a:r>
                        <a:rPr lang="en-US" sz="1400" b="0" i="0" u="none" strike="noStrike">
                          <a:solidFill>
                            <a:srgbClr val="FFFFFF"/>
                          </a:solidFill>
                          <a:latin typeface="Calibri" panose="020F0502020204030204"/>
                          <a:ea typeface="Calibri" panose="020F0502020204030204"/>
                          <a:cs typeface="Calibri" panose="020F0502020204030204"/>
                          <a:sym typeface="Calibri" panose="020F0502020204030204"/>
                        </a:rPr>
                        <a:t>L2 Cache</a:t>
                      </a:r>
                      <a:endParaRPr lang="en-US" sz="1100"/>
                    </a:p>
                  </a:txBody>
                  <a:tcPr>
                    <a:lnL w="12700" cap="flat" cmpd="sng" algn="ctr">
                      <a:solidFill>
                        <a:srgbClr val="DAE3F3"/>
                      </a:solidFill>
                      <a:prstDash val="solid"/>
                      <a:round/>
                      <a:headEnd type="none" w="med" len="med"/>
                      <a:tailEnd type="none" w="med" len="med"/>
                    </a:lnL>
                    <a:lnR w="12700" cap="flat" cmpd="sng" algn="ctr">
                      <a:solidFill>
                        <a:srgbClr val="DAE3F3"/>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DAE3F3"/>
                      </a:solidFill>
                      <a:prstDash val="solid"/>
                      <a:round/>
                      <a:headEnd type="none" w="med" len="med"/>
                      <a:tailEnd type="none" w="med" len="med"/>
                    </a:lnB>
                    <a:solidFill>
                      <a:srgbClr val="B4C7E7">
                        <a:alpha val="100000"/>
                      </a:srgbClr>
                    </a:solidFill>
                  </a:tcPr>
                </a:tc>
                <a:tc>
                  <a:txBody>
                    <a:bodyPr/>
                    <a:lstStyle/>
                    <a:p>
                      <a:pPr indent="0" algn="ctr">
                        <a:lnSpc>
                          <a:spcPct val="100000"/>
                        </a:lnSpc>
                        <a:defRPr/>
                      </a:pPr>
                      <a:r>
                        <a:rPr lang="en-US" sz="1400" b="0" i="0" u="none" strike="noStrike">
                          <a:solidFill>
                            <a:srgbClr val="FFFFFF"/>
                          </a:solidFill>
                          <a:latin typeface="Calibri" panose="020F0502020204030204"/>
                          <a:ea typeface="Calibri" panose="020F0502020204030204"/>
                          <a:cs typeface="Calibri" panose="020F0502020204030204"/>
                          <a:sym typeface="Calibri" panose="020F0502020204030204"/>
                        </a:rPr>
                        <a:t>HBM</a:t>
                      </a:r>
                      <a:endParaRPr lang="en-US" sz="1100"/>
                    </a:p>
                  </a:txBody>
                  <a:tcPr>
                    <a:lnL w="12700" cap="flat" cmpd="sng" algn="ctr">
                      <a:solidFill>
                        <a:srgbClr val="DAE3F3"/>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DAE3F3"/>
                      </a:solidFill>
                      <a:prstDash val="solid"/>
                      <a:round/>
                      <a:headEnd type="none" w="med" len="med"/>
                      <a:tailEnd type="none" w="med" len="med"/>
                    </a:lnB>
                    <a:solidFill>
                      <a:srgbClr val="B4C7E7">
                        <a:alpha val="100000"/>
                      </a:srgbClr>
                    </a:solidFill>
                  </a:tcPr>
                </a:tc>
              </a:tr>
              <a:tr h="448945">
                <a:tc>
                  <a:txBody>
                    <a:bodyPr/>
                    <a:lstStyle/>
                    <a:p>
                      <a:pPr indent="0" algn="ctr">
                        <a:lnSpc>
                          <a:spcPct val="100000"/>
                        </a:lnSpc>
                        <a:defRPr/>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64 KB 130TB/s</a:t>
                      </a:r>
                      <a:endParaRPr lang="en-US" sz="1100"/>
                    </a:p>
                  </a:txBody>
                  <a:tcPr>
                    <a:lnL w="12700" cap="flat" cmpd="sng" algn="ctr">
                      <a:solidFill>
                        <a:srgbClr val="A5A5A5"/>
                      </a:solidFill>
                      <a:prstDash val="solid"/>
                      <a:round/>
                      <a:headEnd type="none" w="med" len="med"/>
                      <a:tailEnd type="none" w="med" len="med"/>
                    </a:lnL>
                    <a:lnR w="12700" cap="flat" cmpd="sng" algn="ctr">
                      <a:solidFill>
                        <a:srgbClr val="DAE3F3"/>
                      </a:solidFill>
                      <a:prstDash val="solid"/>
                      <a:round/>
                      <a:headEnd type="none" w="med" len="med"/>
                      <a:tailEnd type="none" w="med" len="med"/>
                    </a:lnR>
                    <a:lnT w="12700" cap="flat" cmpd="sng" algn="ctr">
                      <a:solidFill>
                        <a:srgbClr val="DAE3F3"/>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indent="0" algn="ctr">
                        <a:lnSpc>
                          <a:spcPct val="100000"/>
                        </a:lnSpc>
                        <a:defRPr/>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227 KB 33 TB/s</a:t>
                      </a:r>
                      <a:endParaRPr lang="en-US" sz="1100"/>
                    </a:p>
                  </a:txBody>
                  <a:tcPr>
                    <a:lnL w="12700" cap="flat" cmpd="sng" algn="ctr">
                      <a:solidFill>
                        <a:srgbClr val="DAE3F3"/>
                      </a:solidFill>
                      <a:prstDash val="solid"/>
                      <a:round/>
                      <a:headEnd type="none" w="med" len="med"/>
                      <a:tailEnd type="none" w="med" len="med"/>
                    </a:lnL>
                    <a:lnR w="12700" cap="flat" cmpd="sng" algn="ctr">
                      <a:solidFill>
                        <a:srgbClr val="DAE3F3"/>
                      </a:solidFill>
                      <a:prstDash val="solid"/>
                      <a:round/>
                      <a:headEnd type="none" w="med" len="med"/>
                      <a:tailEnd type="none" w="med" len="med"/>
                    </a:lnR>
                    <a:lnT w="12700" cap="flat" cmpd="sng" algn="ctr">
                      <a:solidFill>
                        <a:srgbClr val="DAE3F3"/>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indent="0" algn="ctr">
                        <a:lnSpc>
                          <a:spcPct val="100000"/>
                        </a:lnSpc>
                        <a:defRPr/>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50MB 12TB/s</a:t>
                      </a:r>
                      <a:endParaRPr lang="en-US" sz="1100"/>
                    </a:p>
                  </a:txBody>
                  <a:tcPr>
                    <a:lnL w="12700" cap="flat" cmpd="sng" algn="ctr">
                      <a:solidFill>
                        <a:srgbClr val="DAE3F3"/>
                      </a:solidFill>
                      <a:prstDash val="solid"/>
                      <a:round/>
                      <a:headEnd type="none" w="med" len="med"/>
                      <a:tailEnd type="none" w="med" len="med"/>
                    </a:lnL>
                    <a:lnR w="12700" cap="flat" cmpd="sng" algn="ctr">
                      <a:solidFill>
                        <a:srgbClr val="DAE3F3"/>
                      </a:solidFill>
                      <a:prstDash val="solid"/>
                      <a:round/>
                      <a:headEnd type="none" w="med" len="med"/>
                      <a:tailEnd type="none" w="med" len="med"/>
                    </a:lnR>
                    <a:lnT w="12700" cap="flat" cmpd="sng" algn="ctr">
                      <a:solidFill>
                        <a:srgbClr val="DAE3F3"/>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indent="0" algn="ctr">
                        <a:lnSpc>
                          <a:spcPct val="100000"/>
                        </a:lnSpc>
                        <a:defRPr/>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80GB 3TB/s</a:t>
                      </a:r>
                      <a:endParaRPr lang="en-US" sz="1100"/>
                    </a:p>
                  </a:txBody>
                  <a:tcPr>
                    <a:lnL w="12700" cap="flat" cmpd="sng" algn="ctr">
                      <a:solidFill>
                        <a:srgbClr val="DAE3F3"/>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DAE3F3"/>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r>
            </a:tbl>
          </a:graphicData>
        </a:graphic>
      </p:graphicFrame>
      <p:sp>
        <p:nvSpPr>
          <p:cNvPr id="8" name="文本占位符 7"/>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3100" b="0" i="0" u="none" strike="noStrike" spc="0">
                <a:solidFill>
                  <a:srgbClr val="262626">
                    <a:alpha val="100000"/>
                  </a:srgbClr>
                </a:solidFill>
                <a:latin typeface="Calibri" panose="020F0502020204030204"/>
              </a:defRPr>
            </a:lvl1pPr>
          </a:lstStyle>
          <a:p>
            <a:pPr indent="0" algn="l">
              <a:lnSpc>
                <a:spcPct val="100000"/>
              </a:lnSpc>
            </a:pPr>
            <a:r>
              <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rPr>
              <a:t>Concurrence de données lors de la réduction</a:t>
            </a:r>
            <a:endPar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algn="l"/>
          </a:p>
        </p:txBody>
      </p:sp>
      <p:sp>
        <p:nvSpPr>
          <p:cNvPr id="5" name="AutoShape 5"/>
          <p:cNvSpPr>
            <a:spLocks noGrp="1"/>
          </p:cNvSpPr>
          <p:nvPr>
            <p:ph type="body" sz="quarter" idx="68"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Considérons une réduction de base : supposons que la valeur stockée en mémoire globale est 3, deux threads veulent y ajouter 1</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Cas 1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Le thread 1 lit la valeur 3, après avoir ajouté 1 écrit 4 en mémoire globale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Le thread 2 lit la valeur 4, puis écrit 5 en mémoire globale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Cas 2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Le thread 1 lit la valeur 3</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Le thread 2 lit la valeur 3</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Les deux threads effectuent des opérations sur 3 et écrivent le résultat 4 en mémoire globale.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404735" y="2038350"/>
            <a:ext cx="723900" cy="64770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526020" y="3976370"/>
            <a:ext cx="602615" cy="782955"/>
          </a:xfrm>
          <a:prstGeom prst="rect">
            <a:avLst/>
          </a:prstGeom>
          <a:ln w="12700">
            <a:noFill/>
            <a:prstDash val="solid"/>
          </a:ln>
        </p:spPr>
      </p:pic>
      <p:sp>
        <p:nvSpPr>
          <p:cNvPr id="9" name="文本占位符 8"/>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262626">
                    <a:alpha val="100000"/>
                  </a:srgbClr>
                </a:solidFill>
                <a:latin typeface="Calibri" panose="020F0502020204030204"/>
              </a:defRPr>
            </a:lvl1pPr>
          </a:lstStyle>
          <a:p>
            <a:pPr indent="0" algn="l">
              <a:lnSpc>
                <a:spcPct val="100000"/>
              </a:lnSpc>
            </a:pPr>
            <a:r>
              <a:rPr lang="en-US" sz="2800" b="0" i="0" u="none" strike="noStrike">
                <a:solidFill>
                  <a:srgbClr val="262626"/>
                </a:solidFill>
                <a:latin typeface="Calibri" panose="020F0502020204030204"/>
                <a:ea typeface="Calibri" panose="020F0502020204030204"/>
                <a:cs typeface="Calibri" panose="020F0502020204030204"/>
                <a:sym typeface="Calibri" panose="020F0502020204030204"/>
              </a:rPr>
              <a:t>Solution : Opérations atomiques (Atomic Operations)</a:t>
            </a:r>
            <a:endParaRPr lang="en-US" sz="28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algn="l"/>
          </a:p>
        </p:txBody>
      </p:sp>
      <p:sp>
        <p:nvSpPr>
          <p:cNvPr id="6" name="AutoShape 6"/>
          <p:cNvSpPr/>
          <p:nvPr/>
        </p:nvSpPr>
        <p:spPr>
          <a:xfrm>
            <a:off x="741680" y="1408430"/>
            <a:ext cx="9624060" cy="508000"/>
          </a:xfrm>
          <a:prstGeom prst="rect">
            <a:avLst/>
          </a:prstGeom>
          <a:noFill/>
          <a:ln w="12700">
            <a:noFill/>
            <a:prstDash val="solid"/>
          </a:ln>
        </p:spPr>
        <p:txBody>
          <a:bodyPr vert="horz" wrap="square" lIns="91440" tIns="45720" rIns="91440" bIns="45720" rtlCol="0" anchor="t">
            <a:noAutofit/>
          </a:bodyPr>
          <a:lstStyle/>
          <a:p>
            <a:pPr marL="127000" indent="-127000" algn="l">
              <a:lnSpc>
                <a:spcPct val="100000"/>
              </a:lnSpc>
              <a:spcBef>
                <a:spcPts val="1500"/>
              </a:spcBef>
              <a:buClr>
                <a:srgbClr val="404040"/>
              </a:buClr>
              <a:buChar char="•"/>
              <a:defRP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Logique essentielle : </a:t>
            </a:r>
            <a:r>
              <a:rPr lang="en-US" altLang="zh-CN" sz="1500" b="0" i="0" u="none" strike="noStrike">
                <a:solidFill>
                  <a:srgbClr val="404040"/>
                </a:solidFill>
                <a:latin typeface="Calibri" panose="020F0502020204030204"/>
                <a:ea typeface="Calibri" panose="020F0502020204030204"/>
                <a:cs typeface="Calibri" panose="020F0502020204030204"/>
                <a:sym typeface="Calibri" panose="020F0502020204030204"/>
              </a:rPr>
              <a:t>garantir que pendant l’ex</a:t>
            </a:r>
            <a:r>
              <a:rPr lang="en-US" alt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00" b="0" i="0" u="none" strike="noStrike">
                <a:solidFill>
                  <a:srgbClr val="404040"/>
                </a:solidFill>
                <a:latin typeface="Calibri" panose="020F0502020204030204"/>
                <a:ea typeface="Calibri" panose="020F0502020204030204"/>
                <a:cs typeface="Calibri" panose="020F0502020204030204"/>
                <a:sym typeface="Calibri" panose="020F0502020204030204"/>
              </a:rPr>
              <a:t>cution de l’op</a:t>
            </a:r>
            <a:r>
              <a:rPr lang="en-US" alt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00" b="0" i="0" u="none" strike="noStrike">
                <a:solidFill>
                  <a:srgbClr val="404040"/>
                </a:solidFill>
                <a:latin typeface="Calibri" panose="020F0502020204030204"/>
                <a:ea typeface="Calibri" panose="020F0502020204030204"/>
                <a:cs typeface="Calibri" panose="020F0502020204030204"/>
                <a:sym typeface="Calibri" panose="020F0502020204030204"/>
              </a:rPr>
              <a:t>ration, cet emplacement m</a:t>
            </a:r>
            <a:r>
              <a:rPr lang="en-US" alt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00" b="0" i="0" u="none" strike="noStrike">
                <a:solidFill>
                  <a:srgbClr val="404040"/>
                </a:solidFill>
                <a:latin typeface="Calibri" panose="020F0502020204030204"/>
                <a:ea typeface="Calibri" panose="020F0502020204030204"/>
                <a:cs typeface="Calibri" panose="020F0502020204030204"/>
                <a:sym typeface="Calibri" panose="020F0502020204030204"/>
              </a:rPr>
              <a:t>moire ne soit pas acc</a:t>
            </a:r>
            <a:r>
              <a:rPr lang="en-US" alt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00" b="0" i="0" u="none" strike="noStrike">
                <a:solidFill>
                  <a:srgbClr val="404040"/>
                </a:solidFill>
                <a:latin typeface="Calibri" panose="020F0502020204030204"/>
                <a:ea typeface="Calibri" panose="020F0502020204030204"/>
                <a:cs typeface="Calibri" panose="020F0502020204030204"/>
                <a:sym typeface="Calibri" panose="020F0502020204030204"/>
              </a:rPr>
              <a:t>d</a:t>
            </a:r>
            <a:r>
              <a:rPr lang="en-US" alt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00" b="0" i="0" u="none" strike="noStrike">
                <a:solidFill>
                  <a:srgbClr val="404040"/>
                </a:solidFill>
                <a:latin typeface="Calibri" panose="020F0502020204030204"/>
                <a:ea typeface="Calibri" panose="020F0502020204030204"/>
                <a:cs typeface="Calibri" panose="020F0502020204030204"/>
                <a:sym typeface="Calibri" panose="020F0502020204030204"/>
              </a:rPr>
              <a:t> par d’autres op</a:t>
            </a:r>
            <a:r>
              <a:rPr lang="en-US" alt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00" b="0" i="0" u="none" strike="noStrike">
                <a:solidFill>
                  <a:srgbClr val="404040"/>
                </a:solidFill>
                <a:latin typeface="Calibri" panose="020F0502020204030204"/>
                <a:ea typeface="Calibri" panose="020F0502020204030204"/>
                <a:cs typeface="Calibri" panose="020F0502020204030204"/>
                <a:sym typeface="Calibri" panose="020F0502020204030204"/>
              </a:rPr>
              <a:t>rations.</a:t>
            </a:r>
            <a:endParaRPr lang="en-US" sz="3200"/>
          </a:p>
          <a:p>
            <a:pPr indent="0" algn="l">
              <a:lnSpc>
                <a:spcPct val="100000"/>
              </a:lnSpc>
              <a:spcBef>
                <a:spcPts val="1500"/>
              </a:spcBef>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898525" y="2519045"/>
            <a:ext cx="5372735" cy="3742690"/>
          </a:xfrm>
          <a:prstGeom prst="rect">
            <a:avLst/>
          </a:prstGeom>
          <a:ln w="12700">
            <a:noFill/>
            <a:prstDash val="solid"/>
          </a:ln>
        </p:spPr>
      </p:pic>
      <p:sp>
        <p:nvSpPr>
          <p:cNvPr id="8" name="AutoShape 8"/>
          <p:cNvSpPr/>
          <p:nvPr/>
        </p:nvSpPr>
        <p:spPr>
          <a:xfrm>
            <a:off x="741680" y="1916430"/>
            <a:ext cx="10335260" cy="508000"/>
          </a:xfrm>
          <a:prstGeom prst="rect">
            <a:avLst/>
          </a:prstGeom>
          <a:noFill/>
          <a:ln w="12700">
            <a:noFill/>
            <a:prstDash val="solid"/>
          </a:ln>
        </p:spPr>
        <p:txBody>
          <a:bodyPr vert="horz" wrap="square" lIns="91440" tIns="45720" rIns="91440" bIns="45720" rtlCol="0" anchor="t">
            <a:noAutofit/>
          </a:bodyPr>
          <a:lstStyle/>
          <a:p>
            <a:pPr marL="190500" indent="-190500" algn="l">
              <a:lnSpc>
                <a:spcPct val="100000"/>
              </a:lnSpc>
              <a:spcBef>
                <a:spcPts val="1500"/>
              </a:spcBef>
              <a:buClr>
                <a:srgbClr val="404040"/>
              </a:buClr>
              <a:buChar char="•"/>
              <a:defRPr/>
            </a:pP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Bien que atomicAdd garantisse l’exactitude du r</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sultat, ses performances sont g</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n</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ralement m</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diocres et il ne convient qu’aux acc</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s peu fr</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quents (sparse).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9" name="Picture 9"/>
          <p:cNvPicPr>
            <a:picLocks noChangeAspect="1"/>
          </p:cNvPicPr>
          <p:nvPr/>
        </p:nvPicPr>
        <p:blipFill>
          <a:blip r:embed="rId2"/>
          <a:srcRect/>
          <a:stretch>
            <a:fillRect/>
          </a:stretch>
        </p:blipFill>
        <p:spPr>
          <a:xfrm>
            <a:off x="7141210" y="3526790"/>
            <a:ext cx="1879600" cy="1943100"/>
          </a:xfrm>
          <a:prstGeom prst="rect">
            <a:avLst/>
          </a:prstGeom>
          <a:ln w="12700">
            <a:noFill/>
            <a:prstDash val="solid"/>
          </a:ln>
        </p:spPr>
      </p:pic>
      <p:sp>
        <p:nvSpPr>
          <p:cNvPr id="10" name="文本占位符 9"/>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2600" b="0" i="0" u="none" strike="noStrike" spc="0">
                <a:solidFill>
                  <a:srgbClr val="262626">
                    <a:alpha val="100000"/>
                  </a:srgbClr>
                </a:solidFill>
                <a:latin typeface="Calibri" panose="020F0502020204030204"/>
              </a:defRPr>
            </a:lvl1pPr>
          </a:lstStyle>
          <a:p>
            <a:pPr indent="0" algn="l">
              <a:lnSpc>
                <a:spcPct val="100000"/>
              </a:lnSpc>
            </a:pPr>
            <a:r>
              <a:rPr lang="en-US" sz="2600" b="0" i="0" u="none" strike="noStrike">
                <a:solidFill>
                  <a:srgbClr val="262626"/>
                </a:solidFill>
                <a:latin typeface="Calibri" panose="020F0502020204030204"/>
                <a:ea typeface="Calibri" panose="020F0502020204030204"/>
                <a:cs typeface="Calibri" panose="020F0502020204030204"/>
                <a:sym typeface="Calibri" panose="020F0502020204030204"/>
              </a:rPr>
              <a:t>Goulot d'étranglement de performance des opérations atomiques</a:t>
            </a:r>
            <a:endParaRPr lang="en-US" sz="2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algn="l"/>
          </a:p>
        </p:txBody>
      </p:sp>
      <p:sp>
        <p:nvSpPr>
          <p:cNvPr id="6" name="AutoShape 6"/>
          <p:cNvSpPr/>
          <p:nvPr/>
        </p:nvSpPr>
        <p:spPr>
          <a:xfrm>
            <a:off x="741680" y="1408430"/>
            <a:ext cx="9624060" cy="508000"/>
          </a:xfrm>
          <a:prstGeom prst="rect">
            <a:avLst/>
          </a:prstGeom>
          <a:noFill/>
          <a:ln w="12700">
            <a:noFill/>
            <a:prstDash val="solid"/>
          </a:ln>
        </p:spPr>
        <p:txBody>
          <a:bodyPr vert="horz" wrap="square" lIns="91440" tIns="45720" rIns="91440" bIns="45720" rtlCol="0" anchor="t">
            <a:noAutofit/>
          </a:bodyPr>
          <a:lstStyle/>
          <a:p>
            <a:pPr marL="215900" indent="-215900" algn="l">
              <a:lnSpc>
                <a:spcPct val="100000"/>
              </a:lnSpc>
              <a:spcBef>
                <a:spcPts val="1500"/>
              </a:spcBef>
              <a:buClr>
                <a:srgbClr val="404040"/>
              </a:buClr>
              <a:buSzTx/>
              <a:buChar char="•"/>
              <a:defRP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Sérialisation de l'exécution  : l</a:t>
            </a:r>
            <a:r>
              <a:rPr lang="en-US" altLang="zh-CN" sz="1700" b="0" i="0" u="none" strike="noStrike">
                <a:solidFill>
                  <a:srgbClr val="404040"/>
                </a:solidFill>
                <a:latin typeface="Calibri" panose="020F0502020204030204"/>
                <a:ea typeface="Calibri" panose="020F0502020204030204"/>
                <a:cs typeface="Calibri" panose="020F0502020204030204"/>
                <a:sym typeface="Calibri" panose="020F0502020204030204"/>
              </a:rPr>
              <a:t>a puissante capacit</a:t>
            </a:r>
            <a:r>
              <a:rPr lang="en-US" alt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00" b="0" i="0" u="none" strike="noStrike">
                <a:solidFill>
                  <a:srgbClr val="404040"/>
                </a:solidFill>
                <a:latin typeface="Calibri" panose="020F0502020204030204"/>
                <a:ea typeface="Calibri" panose="020F0502020204030204"/>
                <a:cs typeface="Calibri" panose="020F0502020204030204"/>
                <a:sym typeface="Calibri" panose="020F0502020204030204"/>
              </a:rPr>
              <a:t> de traitement parall</a:t>
            </a:r>
            <a:r>
              <a:rPr lang="en-US" alt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1700" b="0" i="0" u="none" strike="noStrike">
                <a:solidFill>
                  <a:srgbClr val="404040"/>
                </a:solidFill>
                <a:latin typeface="Calibri" panose="020F0502020204030204"/>
                <a:ea typeface="Calibri" panose="020F0502020204030204"/>
                <a:cs typeface="Calibri" panose="020F0502020204030204"/>
                <a:sym typeface="Calibri" panose="020F0502020204030204"/>
              </a:rPr>
              <a:t>le du GPU d</a:t>
            </a:r>
            <a:r>
              <a:rPr lang="en-US" alt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00" b="0" i="0" u="none" strike="noStrike">
                <a:solidFill>
                  <a:srgbClr val="404040"/>
                </a:solidFill>
                <a:latin typeface="Calibri" panose="020F0502020204030204"/>
                <a:ea typeface="Calibri" panose="020F0502020204030204"/>
                <a:cs typeface="Calibri" panose="020F0502020204030204"/>
                <a:sym typeface="Calibri" panose="020F0502020204030204"/>
              </a:rPr>
              <a:t>g</a:t>
            </a:r>
            <a:r>
              <a:rPr lang="en-US" alt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00" b="0" i="0" u="none" strike="noStrike">
                <a:solidFill>
                  <a:srgbClr val="404040"/>
                </a:solidFill>
                <a:latin typeface="Calibri" panose="020F0502020204030204"/>
                <a:ea typeface="Calibri" panose="020F0502020204030204"/>
                <a:cs typeface="Calibri" panose="020F0502020204030204"/>
                <a:sym typeface="Calibri" panose="020F0502020204030204"/>
              </a:rPr>
              <a:t>n</a:t>
            </a:r>
            <a:r>
              <a:rPr lang="en-US" alt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1700" b="0" i="0" u="none" strike="noStrike">
                <a:solidFill>
                  <a:srgbClr val="404040"/>
                </a:solidFill>
                <a:latin typeface="Calibri" panose="020F0502020204030204"/>
                <a:ea typeface="Calibri" panose="020F0502020204030204"/>
                <a:cs typeface="Calibri" panose="020F0502020204030204"/>
                <a:sym typeface="Calibri" panose="020F0502020204030204"/>
              </a:rPr>
              <a:t>re en performances s</a:t>
            </a:r>
            <a:r>
              <a:rPr lang="en-US" alt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00" b="0" i="0" u="none" strike="noStrike">
                <a:solidFill>
                  <a:srgbClr val="404040"/>
                </a:solidFill>
                <a:latin typeface="Calibri" panose="020F0502020204030204"/>
                <a:ea typeface="Calibri" panose="020F0502020204030204"/>
                <a:cs typeface="Calibri" panose="020F0502020204030204"/>
                <a:sym typeface="Calibri" panose="020F0502020204030204"/>
              </a:rPr>
              <a:t>quentielles d’un seul c</a:t>
            </a:r>
            <a:r>
              <a:rPr lang="en-US" alt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œ</a:t>
            </a:r>
            <a:r>
              <a:rPr lang="en-US" altLang="zh-CN" sz="1700" b="0" i="0" u="none" strike="noStrike">
                <a:solidFill>
                  <a:srgbClr val="404040"/>
                </a:solidFill>
                <a:latin typeface="Calibri" panose="020F0502020204030204"/>
                <a:ea typeface="Calibri" panose="020F0502020204030204"/>
                <a:cs typeface="Calibri" panose="020F0502020204030204"/>
                <a:sym typeface="Calibri" panose="020F0502020204030204"/>
              </a:rPr>
              <a:t>ur.</a:t>
            </a:r>
            <a:endParaRPr lang="en-US" sz="1700">
              <a:solidFill>
                <a:srgbClr val="404040"/>
              </a:solidFill>
              <a:latin typeface="Calibri" panose="020F0502020204030204"/>
              <a:ea typeface="Calibri" panose="020F0502020204030204"/>
              <a:cs typeface="Calibri" panose="020F0502020204030204"/>
            </a:endParaRPr>
          </a:p>
          <a:p>
            <a:pPr indent="0" algn="l">
              <a:lnSpc>
                <a:spcPct val="100000"/>
              </a:lnSpc>
              <a:spcBef>
                <a:spcPts val="1500"/>
              </a:spcBef>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nvSpPr>
        <p:spPr>
          <a:xfrm>
            <a:off x="741680" y="1993900"/>
            <a:ext cx="10335260" cy="916940"/>
          </a:xfrm>
          <a:prstGeom prst="rect">
            <a:avLst/>
          </a:prstGeom>
          <a:noFill/>
          <a:ln w="12700">
            <a:noFill/>
            <a:prstDash val="solid"/>
          </a:ln>
        </p:spPr>
        <p:txBody>
          <a:bodyPr vert="horz" wrap="square" lIns="91440" tIns="45720" rIns="91440" bIns="45720" rtlCol="0" anchor="t">
            <a:noAutofit/>
          </a:bodyPr>
          <a:lstStyle/>
          <a:p>
            <a:pPr marL="215900" indent="-215900" algn="l">
              <a:lnSpc>
                <a:spcPct val="100000"/>
              </a:lnSpc>
              <a:spcBef>
                <a:spcPts val="1500"/>
              </a:spcBef>
              <a:buClr>
                <a:srgbClr val="404040"/>
              </a:buClr>
              <a:buChar char="•"/>
              <a:defRP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Surcharge d'instructions importante : les opérations atomiques doivent verrouiller l'emplacement mémoire </a:t>
            </a:r>
            <a:r>
              <a:rPr lang="en-US" altLang="zh-CN" sz="1700" b="0" i="0" u="none" strike="noStrike">
                <a:solidFill>
                  <a:srgbClr val="404040"/>
                </a:solidFill>
                <a:latin typeface="Calibri" panose="020F0502020204030204"/>
                <a:ea typeface="Calibri" panose="020F0502020204030204"/>
                <a:cs typeface="Calibri" panose="020F0502020204030204"/>
                <a:sym typeface="Calibri" panose="020F0502020204030204"/>
              </a:rPr>
              <a:t>au niveau mat</a:t>
            </a:r>
            <a:r>
              <a:rPr lang="en-US" alt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00" b="0" i="0" u="none" strike="noStrike">
                <a:solidFill>
                  <a:srgbClr val="404040"/>
                </a:solidFill>
                <a:latin typeface="Calibri" panose="020F0502020204030204"/>
                <a:ea typeface="Calibri" panose="020F0502020204030204"/>
                <a:cs typeface="Calibri" panose="020F0502020204030204"/>
                <a:sym typeface="Calibri" panose="020F0502020204030204"/>
              </a:rPr>
              <a:t>riel afin que le processus complet de </a:t>
            </a:r>
            <a:r>
              <a:rPr lang="en-US" alt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altLang="zh-CN" sz="1700" b="0" i="0" u="none" strike="noStrike">
                <a:solidFill>
                  <a:srgbClr val="404040"/>
                </a:solidFill>
                <a:latin typeface="Calibri" panose="020F0502020204030204"/>
                <a:ea typeface="Calibri" panose="020F0502020204030204"/>
                <a:cs typeface="Calibri" panose="020F0502020204030204"/>
                <a:sym typeface="Calibri" panose="020F0502020204030204"/>
              </a:rPr>
              <a:t> lecture-modification-</a:t>
            </a:r>
            <a:r>
              <a:rPr lang="en-US" alt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00" b="0" i="0" u="none" strike="noStrike">
                <a:solidFill>
                  <a:srgbClr val="404040"/>
                </a:solidFill>
                <a:latin typeface="Calibri" panose="020F0502020204030204"/>
                <a:ea typeface="Calibri" panose="020F0502020204030204"/>
                <a:cs typeface="Calibri" panose="020F0502020204030204"/>
                <a:sym typeface="Calibri" panose="020F0502020204030204"/>
              </a:rPr>
              <a:t>criture </a:t>
            </a:r>
            <a:r>
              <a:rPr lang="en-US" alt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altLang="zh-CN" sz="1700" b="0" i="0" u="none" strike="noStrike">
                <a:solidFill>
                  <a:srgbClr val="404040"/>
                </a:solidFill>
                <a:latin typeface="Calibri" panose="020F0502020204030204"/>
                <a:ea typeface="Calibri" panose="020F0502020204030204"/>
                <a:cs typeface="Calibri" panose="020F0502020204030204"/>
                <a:sym typeface="Calibri" panose="020F0502020204030204"/>
              </a:rPr>
              <a:t> ne soit pas interrompu par d'autres workers.</a:t>
            </a:r>
            <a:endParaRPr lang="en-US" sz="1100"/>
          </a:p>
        </p:txBody>
      </p:sp>
      <p:pic>
        <p:nvPicPr>
          <p:cNvPr id="8" name="Picture 8"/>
          <p:cNvPicPr>
            <a:picLocks noChangeAspect="1"/>
          </p:cNvPicPr>
          <p:nvPr/>
        </p:nvPicPr>
        <p:blipFill>
          <a:blip r:embed="rId1"/>
          <a:srcRect/>
          <a:stretch>
            <a:fillRect/>
          </a:stretch>
        </p:blipFill>
        <p:spPr>
          <a:xfrm>
            <a:off x="874395" y="3208020"/>
            <a:ext cx="6993890" cy="2690495"/>
          </a:xfrm>
          <a:prstGeom prst="rect">
            <a:avLst/>
          </a:prstGeom>
          <a:ln w="12700">
            <a:noFill/>
            <a:prstDash val="solid"/>
          </a:ln>
        </p:spPr>
      </p:pic>
      <p:sp>
        <p:nvSpPr>
          <p:cNvPr id="9" name="文本占位符 8"/>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3100" b="0" i="0" u="none" strike="noStrike" spc="0">
                <a:solidFill>
                  <a:srgbClr val="262626">
                    <a:alpha val="100000"/>
                  </a:srgbClr>
                </a:solidFill>
                <a:latin typeface="Calibri" panose="020F0502020204030204"/>
              </a:defRPr>
            </a:lvl1pPr>
          </a:lstStyle>
          <a:p>
            <a:pPr indent="0" algn="l">
              <a:lnSpc>
                <a:spcPct val="100000"/>
              </a:lnSpc>
            </a:pPr>
            <a:r>
              <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rPr>
              <a:t>Principe du parallélisme de réduction</a:t>
            </a:r>
            <a:endPar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algn="l"/>
          </a:p>
        </p:txBody>
      </p:sp>
      <p:sp>
        <p:nvSpPr>
          <p:cNvPr id="6" name="AutoShape 6"/>
          <p:cNvSpPr/>
          <p:nvPr/>
        </p:nvSpPr>
        <p:spPr>
          <a:xfrm>
            <a:off x="741680" y="1381125"/>
            <a:ext cx="10593070" cy="1223645"/>
          </a:xfrm>
          <a:prstGeom prst="rect">
            <a:avLst/>
          </a:prstGeom>
          <a:noFill/>
          <a:ln w="12700">
            <a:noFill/>
            <a:prstDash val="solid"/>
          </a:ln>
        </p:spPr>
        <p:txBody>
          <a:bodyPr vert="horz" wrap="square" lIns="91440" tIns="45720" rIns="91440" bIns="45720" rtlCol="0" anchor="t">
            <a:normAutofit/>
          </a:bodyPr>
          <a:lstStyle/>
          <a:p>
            <a:pPr marL="215900" indent="-215900" algn="l">
              <a:lnSpc>
                <a:spcPct val="100000"/>
              </a:lnSpc>
              <a:spcBef>
                <a:spcPts val="1500"/>
              </a:spcBef>
              <a:buClr>
                <a:srgbClr val="404040"/>
              </a:buClr>
              <a:buChar char="•"/>
              <a:defRP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S</a:t>
            </a:r>
            <a:r>
              <a:rPr lang="en-US" altLang="zh-CN" sz="1700" b="0" i="0" u="none" strike="noStrike">
                <a:solidFill>
                  <a:srgbClr val="404040"/>
                </a:solidFill>
                <a:latin typeface="Calibri" panose="020F0502020204030204"/>
                <a:ea typeface="Calibri" panose="020F0502020204030204"/>
                <a:cs typeface="Calibri" panose="020F0502020204030204"/>
                <a:sym typeface="Calibri" panose="020F0502020204030204"/>
              </a:rPr>
              <a:t>i l'op</a:t>
            </a:r>
            <a:r>
              <a:rPr lang="en-US" alt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00" b="0" i="0" u="none" strike="noStrike">
                <a:solidFill>
                  <a:srgbClr val="404040"/>
                </a:solidFill>
                <a:latin typeface="Calibri" panose="020F0502020204030204"/>
                <a:ea typeface="Calibri" panose="020F0502020204030204"/>
                <a:cs typeface="Calibri" panose="020F0502020204030204"/>
                <a:sym typeface="Calibri" panose="020F0502020204030204"/>
              </a:rPr>
              <a:t>ration est associative (par exemple a+(b+c) = (a+b)+c), on peut la parall</a:t>
            </a:r>
            <a:r>
              <a:rPr lang="en-US" alt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00" b="0" i="0" u="none" strike="noStrike">
                <a:solidFill>
                  <a:srgbClr val="404040"/>
                </a:solidFill>
                <a:latin typeface="Calibri" panose="020F0502020204030204"/>
                <a:ea typeface="Calibri" panose="020F0502020204030204"/>
                <a:cs typeface="Calibri" panose="020F0502020204030204"/>
                <a:sym typeface="Calibri" panose="020F0502020204030204"/>
              </a:rPr>
              <a:t>liser via une structure arborescente.</a:t>
            </a:r>
            <a:endParaRPr lang="en-US" sz="1100"/>
          </a:p>
          <a:p>
            <a:pPr marL="215900" indent="-215900" algn="l">
              <a:lnSpc>
                <a:spcPct val="100000"/>
              </a:lnSpc>
              <a:spcBef>
                <a:spcPts val="150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D'</a:t>
            </a:r>
            <a:r>
              <a:rPr lang="en-US" altLang="zh-CN" sz="1700" b="0" i="0" u="none" strike="noStrike">
                <a:solidFill>
                  <a:srgbClr val="404040"/>
                </a:solidFill>
                <a:latin typeface="Calibri" panose="020F0502020204030204"/>
                <a:ea typeface="Calibri" panose="020F0502020204030204"/>
                <a:cs typeface="Calibri" panose="020F0502020204030204"/>
                <a:sym typeface="Calibri" panose="020F0502020204030204"/>
              </a:rPr>
              <a:t>abord, diff</a:t>
            </a:r>
            <a:r>
              <a:rPr lang="en-US" alt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00" b="0" i="0" u="none" strike="noStrike">
                <a:solidFill>
                  <a:srgbClr val="404040"/>
                </a:solidFill>
                <a:latin typeface="Calibri" panose="020F0502020204030204"/>
                <a:ea typeface="Calibri" panose="020F0502020204030204"/>
                <a:cs typeface="Calibri" panose="020F0502020204030204"/>
                <a:sym typeface="Calibri" panose="020F0502020204030204"/>
              </a:rPr>
              <a:t>rents workers calculent des r</a:t>
            </a:r>
            <a:r>
              <a:rPr lang="en-US" alt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00" b="0" i="0" u="none" strike="noStrike">
                <a:solidFill>
                  <a:srgbClr val="404040"/>
                </a:solidFill>
                <a:latin typeface="Calibri" panose="020F0502020204030204"/>
                <a:ea typeface="Calibri" panose="020F0502020204030204"/>
                <a:cs typeface="Calibri" panose="020F0502020204030204"/>
                <a:sym typeface="Calibri" panose="020F0502020204030204"/>
              </a:rPr>
              <a:t>sultats locaux de r</a:t>
            </a:r>
            <a:r>
              <a:rPr lang="en-US" alt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00" b="0" i="0" u="none" strike="noStrike">
                <a:solidFill>
                  <a:srgbClr val="404040"/>
                </a:solidFill>
                <a:latin typeface="Calibri" panose="020F0502020204030204"/>
                <a:ea typeface="Calibri" panose="020F0502020204030204"/>
                <a:cs typeface="Calibri" panose="020F0502020204030204"/>
                <a:sym typeface="Calibri" panose="020F0502020204030204"/>
              </a:rPr>
              <a:t>duction, puis fusionnent ces r</a:t>
            </a:r>
            <a:r>
              <a:rPr lang="en-US" alt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00" b="0" i="0" u="none" strike="noStrike">
                <a:solidFill>
                  <a:srgbClr val="404040"/>
                </a:solidFill>
                <a:latin typeface="Calibri" panose="020F0502020204030204"/>
                <a:ea typeface="Calibri" panose="020F0502020204030204"/>
                <a:cs typeface="Calibri" panose="020F0502020204030204"/>
                <a:sym typeface="Calibri" panose="020F0502020204030204"/>
              </a:rPr>
              <a:t>sultats via une fonction de combinaison (combiner).</a:t>
            </a:r>
            <a:endParaRPr lang="en-US" sz="17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7" name="Picture 7"/>
          <p:cNvPicPr>
            <a:picLocks noChangeAspect="1"/>
          </p:cNvPicPr>
          <p:nvPr/>
        </p:nvPicPr>
        <p:blipFill>
          <a:blip r:embed="rId1"/>
          <a:srcRect/>
          <a:stretch>
            <a:fillRect/>
          </a:stretch>
        </p:blipFill>
        <p:spPr>
          <a:xfrm>
            <a:off x="855980" y="2765425"/>
            <a:ext cx="8194675" cy="3814445"/>
          </a:xfrm>
          <a:prstGeom prst="rect">
            <a:avLst/>
          </a:prstGeom>
          <a:ln w="12700">
            <a:noFill/>
            <a:prstDash val="solid"/>
          </a:ln>
        </p:spPr>
      </p:pic>
      <p:sp>
        <p:nvSpPr>
          <p:cNvPr id="8" name="AutoShape 8"/>
          <p:cNvSpPr/>
          <p:nvPr/>
        </p:nvSpPr>
        <p:spPr>
          <a:xfrm>
            <a:off x="9530715" y="2861310"/>
            <a:ext cx="1302385" cy="39878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Complexité</a:t>
            </a:r>
            <a:endParaRPr lang="en-US" sz="1100"/>
          </a:p>
        </p:txBody>
      </p:sp>
      <p:sp>
        <p:nvSpPr>
          <p:cNvPr id="9" name="AutoShape 9"/>
          <p:cNvSpPr/>
          <p:nvPr/>
        </p:nvSpPr>
        <p:spPr>
          <a:xfrm>
            <a:off x="9617647" y="3577209"/>
            <a:ext cx="683637" cy="35814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300" b="0" i="1" u="none" strike="noStrike">
                <a:solidFill>
                  <a:srgbClr val="000000"/>
                </a:solidFill>
                <a:latin typeface="DejaVu Math TeX Gyre" panose="02000503000000000000"/>
                <a:ea typeface="DejaVu Math TeX Gyre" panose="02000503000000000000"/>
                <a:cs typeface="DejaVu Math TeX Gyre" panose="02000503000000000000"/>
                <a:sym typeface="DejaVu Math TeX Gyre" panose="02000503000000000000"/>
              </a:rPr>
              <a:t>O(N)</a:t>
            </a:r>
            <a:endParaRPr lang="en-US" sz="1100"/>
          </a:p>
        </p:txBody>
      </p:sp>
      <p:sp>
        <p:nvSpPr>
          <p:cNvPr id="10" name="AutoShape 10"/>
          <p:cNvSpPr/>
          <p:nvPr/>
        </p:nvSpPr>
        <p:spPr>
          <a:xfrm>
            <a:off x="9530652" y="4624324"/>
            <a:ext cx="1015524" cy="35814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300" b="0" i="1" u="none" strike="noStrike">
                <a:solidFill>
                  <a:srgbClr val="000000"/>
                </a:solidFill>
                <a:latin typeface="DejaVu Math TeX Gyre" panose="02000503000000000000"/>
                <a:ea typeface="DejaVu Math TeX Gyre" panose="02000503000000000000"/>
                <a:cs typeface="DejaVu Math TeX Gyre" panose="02000503000000000000"/>
                <a:sym typeface="DejaVu Math TeX Gyre" panose="02000503000000000000"/>
              </a:rPr>
              <a:t>O(logN)</a:t>
            </a:r>
            <a:endParaRPr lang="en-US" sz="1100"/>
          </a:p>
        </p:txBody>
      </p:sp>
      <p:sp>
        <p:nvSpPr>
          <p:cNvPr id="11" name="AutoShape 11"/>
          <p:cNvSpPr/>
          <p:nvPr/>
        </p:nvSpPr>
        <p:spPr>
          <a:xfrm>
            <a:off x="9935210" y="4022090"/>
            <a:ext cx="172085" cy="524510"/>
          </a:xfrm>
          <a:prstGeom prst="downArrow">
            <a:avLst>
              <a:gd name="adj1" fmla="val 50000"/>
              <a:gd name="adj2" fmla="val 50000"/>
            </a:avLst>
          </a:prstGeom>
          <a:solidFill>
            <a:srgbClr val="A5A5A5">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12" name="文本占位符 11"/>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3100" b="0" i="0" u="none" strike="noStrike" spc="0">
                <a:solidFill>
                  <a:srgbClr val="262626">
                    <a:alpha val="100000"/>
                  </a:srgbClr>
                </a:solidFill>
                <a:latin typeface="Calibri" panose="020F0502020204030204"/>
              </a:defRPr>
            </a:lvl1pPr>
          </a:lstStyle>
          <a:p>
            <a:pPr indent="0" algn="l">
              <a:lnSpc>
                <a:spcPct val="100000"/>
              </a:lnSpc>
            </a:pPr>
            <a:r>
              <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rPr>
              <a:t>Objectif d'optimisation de la réduction</a:t>
            </a:r>
            <a:endPar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algn="l"/>
          </a:p>
        </p:txBody>
      </p:sp>
      <p:sp>
        <p:nvSpPr>
          <p:cNvPr id="5" name="AutoShape 5"/>
          <p:cNvSpPr>
            <a:spLocks noGrp="1"/>
          </p:cNvSpPr>
          <p:nvPr>
            <p:ph type="body" sz="quarter" idx="68"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Objectif : </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obtenir les meilleures performances de pointe possibles du GPU.</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Goulot d'étranglement : </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l’acc</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s m</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moire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Intensité arithmétique extrêmement faible, chaque élément chargé ne subit qu'une seule opération (</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par exemple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une addition)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Ratio : 1 FLOP per </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l</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ment</a:t>
            </a:r>
            <a:endPar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Conclusion : L'objectif d'optimisation de la réduction est de maximiser l'utilisation de la bande passante.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文本占位符 6"/>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3100" b="0" i="0" u="none" strike="noStrike" spc="0">
                <a:solidFill>
                  <a:srgbClr val="262626">
                    <a:alpha val="100000"/>
                  </a:srgbClr>
                </a:solidFill>
                <a:latin typeface="Calibri" panose="020F0502020204030204"/>
              </a:defRPr>
            </a:lvl1pPr>
          </a:lstStyle>
          <a:p>
            <a:pPr indent="0" algn="l">
              <a:lnSpc>
                <a:spcPct val="100000"/>
              </a:lnSpc>
            </a:pPr>
            <a:r>
              <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rPr>
              <a:t>Triton Exemple : Addition vectorielle</a:t>
            </a:r>
            <a:endPar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algn="l"/>
          </a:p>
        </p:txBody>
      </p:sp>
      <p:sp>
        <p:nvSpPr>
          <p:cNvPr id="6" name="AutoShape 6"/>
          <p:cNvSpPr/>
          <p:nvPr/>
        </p:nvSpPr>
        <p:spPr>
          <a:xfrm>
            <a:off x="878840" y="1386840"/>
            <a:ext cx="9498965" cy="1102360"/>
          </a:xfrm>
          <a:prstGeom prst="rect">
            <a:avLst/>
          </a:prstGeom>
          <a:noFill/>
          <a:ln w="12700">
            <a:noFill/>
            <a:prstDash val="solid"/>
          </a:ln>
        </p:spPr>
        <p:txBody>
          <a:bodyPr vert="horz" wrap="square" lIns="91440" tIns="45720" rIns="91440" bIns="45720" rtlCol="0" anchor="t">
            <a:normAutofit/>
          </a:bodyPr>
          <a:lstStyle/>
          <a:p>
            <a:pPr marL="279400" indent="-279400" algn="l">
              <a:lnSpc>
                <a:spcPct val="100000"/>
              </a:lnSpc>
              <a:spcBef>
                <a:spcPts val="1500"/>
              </a:spcBef>
              <a:buClr>
                <a:srgbClr val="404040"/>
              </a:buClr>
              <a:buChar char="•"/>
              <a:defRP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C'est le </a:t>
            </a:r>
            <a:r>
              <a:rPr lang="en-US" altLang="zh-CN" sz="2200" b="0" i="0" u="none" strike="noStrike">
                <a:solidFill>
                  <a:srgbClr val="404040"/>
                </a:solidFill>
                <a:latin typeface="Calibri" panose="020F0502020204030204"/>
                <a:ea typeface="Calibri" panose="020F0502020204030204"/>
                <a:cs typeface="Calibri" panose="020F0502020204030204"/>
                <a:sym typeface="Calibri" panose="020F0502020204030204"/>
              </a:rPr>
              <a:t>mod</a:t>
            </a:r>
            <a:r>
              <a:rPr lang="en-US" alt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2200" b="0" i="0" u="none" strike="noStrike">
                <a:solidFill>
                  <a:srgbClr val="404040"/>
                </a:solidFill>
                <a:latin typeface="Calibri" panose="020F0502020204030204"/>
                <a:ea typeface="Calibri" panose="020F0502020204030204"/>
                <a:cs typeface="Calibri" panose="020F0502020204030204"/>
                <a:sym typeface="Calibri" panose="020F0502020204030204"/>
              </a:rPr>
              <a:t>le de parall</a:t>
            </a:r>
            <a:r>
              <a:rPr lang="en-US" alt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200" b="0" i="0" u="none" strike="noStrike">
                <a:solidFill>
                  <a:srgbClr val="404040"/>
                </a:solidFill>
                <a:latin typeface="Calibri" panose="020F0502020204030204"/>
                <a:ea typeface="Calibri" panose="020F0502020204030204"/>
                <a:cs typeface="Calibri" panose="020F0502020204030204"/>
                <a:sym typeface="Calibri" panose="020F0502020204030204"/>
              </a:rPr>
              <a:t>lisme</a:t>
            </a: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 le plus simple : chaque thread traite un ou plusieurs points de données indépendants, sans communication entre eux.</a:t>
            </a:r>
            <a:endParaRPr lang="en-US" sz="1100"/>
          </a:p>
        </p:txBody>
      </p:sp>
      <p:pic>
        <p:nvPicPr>
          <p:cNvPr id="7" name="Picture 7"/>
          <p:cNvPicPr>
            <a:picLocks noChangeAspect="1"/>
          </p:cNvPicPr>
          <p:nvPr/>
        </p:nvPicPr>
        <p:blipFill>
          <a:blip r:embed="rId1"/>
          <a:srcRect/>
          <a:stretch>
            <a:fillRect/>
          </a:stretch>
        </p:blipFill>
        <p:spPr>
          <a:xfrm>
            <a:off x="1764665" y="2549525"/>
            <a:ext cx="7940675" cy="3632200"/>
          </a:xfrm>
          <a:prstGeom prst="rect">
            <a:avLst/>
          </a:prstGeom>
          <a:ln w="12700">
            <a:noFill/>
            <a:prstDash val="solid"/>
          </a:ln>
        </p:spPr>
      </p:pic>
      <p:sp>
        <p:nvSpPr>
          <p:cNvPr id="8" name="文本占位符 7"/>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3100" b="0" i="0" u="none" strike="noStrike" spc="0">
                <a:solidFill>
                  <a:srgbClr val="262626">
                    <a:alpha val="100000"/>
                  </a:srgbClr>
                </a:solidFill>
                <a:latin typeface="Calibri" panose="020F0502020204030204"/>
              </a:defRPr>
            </a:lvl1pPr>
          </a:lstStyle>
          <a:p>
            <a:pPr indent="0" algn="l">
              <a:lnSpc>
                <a:spcPct val="100000"/>
              </a:lnSpc>
            </a:pPr>
            <a:r>
              <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rPr>
              <a:t>Triton Exemple : Somme</a:t>
            </a:r>
            <a:endPar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algn="l"/>
          </a:p>
        </p:txBody>
      </p:sp>
      <p:pic>
        <p:nvPicPr>
          <p:cNvPr id="5" name="Picture 5"/>
          <p:cNvPicPr>
            <a:picLocks noGrp="1" noChangeAspect="1"/>
          </p:cNvPicPr>
          <p:nvPr>
            <p:ph type="body" sz="quarter" idx="68"/>
          </p:nvPr>
        </p:nvPicPr>
        <p:blipFill>
          <a:blip r:embed="rId1"/>
          <a:srcRect/>
          <a:stretch>
            <a:fillRect/>
          </a:stretch>
        </p:blipFill>
        <p:spPr>
          <a:xfrm>
            <a:off x="1914306" y="2316557"/>
            <a:ext cx="8496737" cy="3187864"/>
          </a:xfrm>
          <a:prstGeom prst="rect">
            <a:avLst/>
          </a:prstGeom>
        </p:spPr>
      </p:pic>
      <p:sp>
        <p:nvSpPr>
          <p:cNvPr id="6" name="AutoShape 6"/>
          <p:cNvSpPr/>
          <p:nvPr/>
        </p:nvSpPr>
        <p:spPr>
          <a:xfrm>
            <a:off x="878840" y="1386840"/>
            <a:ext cx="9142730" cy="948055"/>
          </a:xfrm>
          <a:prstGeom prst="rect">
            <a:avLst/>
          </a:prstGeom>
          <a:noFill/>
          <a:ln w="12700">
            <a:noFill/>
            <a:prstDash val="solid"/>
          </a:ln>
        </p:spPr>
        <p:txBody>
          <a:bodyPr vert="horz" wrap="square" lIns="91440" tIns="45720" rIns="91440" bIns="45720" rtlCol="0" anchor="t">
            <a:normAutofit/>
          </a:bodyPr>
          <a:lstStyle/>
          <a:p>
            <a:pPr marL="203200" indent="-203200" algn="l">
              <a:lnSpc>
                <a:spcPct val="100000"/>
              </a:lnSpc>
              <a:spcBef>
                <a:spcPts val="1500"/>
              </a:spcBef>
              <a:buClr>
                <a:srgbClr val="404040"/>
              </a:buClr>
              <a:buChar char="•"/>
              <a:defRPr/>
            </a:pP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La r</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duction est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relativement plus complexe, nécessitant une structure parallèle arborescente, mais Triton abstrait la logique d'échange arborescente de bas niveau et l'encapsule dans la fonction tl.sum, qui peut être appelée directement.</a:t>
            </a:r>
            <a:endParaRPr lang="en-US" sz="1100"/>
          </a:p>
        </p:txBody>
      </p:sp>
      <p:sp>
        <p:nvSpPr>
          <p:cNvPr id="8" name="文本占位符 7"/>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2900" b="0" i="0" u="none" strike="noStrike" spc="0">
                <a:solidFill>
                  <a:srgbClr val="262626">
                    <a:alpha val="100000"/>
                  </a:srgbClr>
                </a:solidFill>
                <a:latin typeface="Calibri" panose="020F0502020204030204"/>
              </a:defRPr>
            </a:lvl1pPr>
          </a:lstStyle>
          <a:p>
            <a:pPr indent="0" algn="l">
              <a:lnSpc>
                <a:spcPct val="100000"/>
              </a:lnSpc>
            </a:pPr>
            <a:r>
              <a:rPr lang="en-US" altLang="zh-CN" sz="2900" b="0" i="0" u="none" strike="noStrike">
                <a:solidFill>
                  <a:srgbClr val="262626"/>
                </a:solidFill>
                <a:latin typeface="Calibri" panose="020F0502020204030204"/>
                <a:ea typeface="Calibri" panose="020F0502020204030204"/>
                <a:cs typeface="Calibri" panose="020F0502020204030204"/>
                <a:sym typeface="Calibri" panose="020F0502020204030204"/>
              </a:rPr>
              <a:t>R</a:t>
            </a:r>
            <a:r>
              <a:rPr lang="en-US" altLang="en-US" sz="2900"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2900" b="0" i="0" u="none" strike="noStrike">
                <a:solidFill>
                  <a:srgbClr val="262626"/>
                </a:solidFill>
                <a:latin typeface="Calibri" panose="020F0502020204030204"/>
                <a:ea typeface="Calibri" panose="020F0502020204030204"/>
                <a:cs typeface="Calibri" panose="020F0502020204030204"/>
                <a:sym typeface="Calibri" panose="020F0502020204030204"/>
              </a:rPr>
              <a:t>duction sur de tr</a:t>
            </a:r>
            <a:r>
              <a:rPr lang="en-US" altLang="en-US" sz="2900" b="0" i="0" u="none" strike="noStrike">
                <a:solidFill>
                  <a:srgbClr val="262626"/>
                </a:solidFill>
                <a:latin typeface="Calibri" panose="020F0502020204030204"/>
                <a:ea typeface="Calibri" panose="020F0502020204030204"/>
                <a:cs typeface="Calibri" panose="020F0502020204030204"/>
                <a:sym typeface="Calibri" panose="020F0502020204030204"/>
              </a:rPr>
              <a:t>è</a:t>
            </a:r>
            <a:r>
              <a:rPr lang="en-US" altLang="zh-CN" sz="2900" b="0" i="0" u="none" strike="noStrike">
                <a:solidFill>
                  <a:srgbClr val="262626"/>
                </a:solidFill>
                <a:latin typeface="Calibri" panose="020F0502020204030204"/>
                <a:ea typeface="Calibri" panose="020F0502020204030204"/>
                <a:cs typeface="Calibri" panose="020F0502020204030204"/>
                <a:sym typeface="Calibri" panose="020F0502020204030204"/>
              </a:rPr>
              <a:t>s grandes quantit</a:t>
            </a:r>
            <a:r>
              <a:rPr lang="en-US" altLang="en-US" sz="2900"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2900" b="0" i="0" u="none" strike="noStrike">
                <a:solidFill>
                  <a:srgbClr val="262626"/>
                </a:solidFill>
                <a:latin typeface="Calibri" panose="020F0502020204030204"/>
                <a:ea typeface="Calibri" panose="020F0502020204030204"/>
                <a:cs typeface="Calibri" panose="020F0502020204030204"/>
                <a:sym typeface="Calibri" panose="020F0502020204030204"/>
              </a:rPr>
              <a:t>s de donn</a:t>
            </a:r>
            <a:r>
              <a:rPr lang="en-US" altLang="en-US" sz="2900"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2900" b="0" i="0" u="none" strike="noStrike">
                <a:solidFill>
                  <a:srgbClr val="262626"/>
                </a:solidFill>
                <a:latin typeface="Calibri" panose="020F0502020204030204"/>
                <a:ea typeface="Calibri" panose="020F0502020204030204"/>
                <a:cs typeface="Calibri" panose="020F0502020204030204"/>
                <a:sym typeface="Calibri" panose="020F0502020204030204"/>
              </a:rPr>
              <a:t>es</a:t>
            </a:r>
            <a:endParaRPr lang="en-US" sz="29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algn="l"/>
          </a:p>
        </p:txBody>
      </p:sp>
      <p:sp>
        <p:nvSpPr>
          <p:cNvPr id="5" name="AutoShape 5"/>
          <p:cNvSpPr>
            <a:spLocks noGrp="1"/>
          </p:cNvSpPr>
          <p:nvPr>
            <p:ph type="body" sz="quarter" idx="68" hasCustomPrompt="1"/>
          </p:nvPr>
        </p:nvSpPr>
        <p:spPr>
          <a:prstGeom prst="rect">
            <a:avLst/>
          </a:prstGeom>
        </p:spPr>
        <p:txBody>
          <a:bodyPr wrap="square" lIns="91440" tIns="45720" rIns="91440" bIns="45720" anchor="t">
            <a:noAutofit/>
          </a:bodyPr>
          <a:lstStyle>
            <a:lvl1pPr algn="l">
              <a:lnSpc>
                <a:spcPct val="100000"/>
              </a:lnSpc>
              <a:defRPr sz="1900" b="0" i="0" u="none" strike="noStrike" spc="0">
                <a:solidFill>
                  <a:srgbClr val="404040">
                    <a:alpha val="100000"/>
                  </a:srgbClr>
                </a:solidFill>
                <a:latin typeface="Calibri" panose="020F0502020204030204"/>
              </a:defRPr>
            </a:lvl1pPr>
          </a:lstStyle>
          <a:p>
            <a:pPr marL="241300" indent="-241300" algn="l">
              <a:lnSpc>
                <a:spcPct val="100000"/>
              </a:lnSpc>
              <a:spcBef>
                <a:spcPts val="150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Problème : </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les diff</a:t>
            </a:r>
            <a:r>
              <a:rPr lang="en-US" alt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rents blocs de threads s'ex</a:t>
            </a:r>
            <a:r>
              <a:rPr lang="en-US" alt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cutent sur diff</a:t>
            </a:r>
            <a:r>
              <a:rPr lang="en-US" alt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rents SM. Comment partagent-ils leurs r</a:t>
            </a:r>
            <a:r>
              <a:rPr lang="en-US" alt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sultats interm</a:t>
            </a:r>
            <a:r>
              <a:rPr lang="en-US" alt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diaires</a:t>
            </a: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41300" indent="-241300" algn="l">
              <a:lnSpc>
                <a:spcPct val="100000"/>
              </a:lnSpc>
              <a:spcBef>
                <a:spcPts val="150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Synchronisation globale idéale</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Si CUDA supportait une barrière globale (Global Barrier)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38200" lvl="2" indent="-152400" algn="l">
              <a:lnSpc>
                <a:spcPct val="100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Tous les blocs se synchronisent automatiquement après avoir terminé la première ronde de réduction</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38200" lvl="2" indent="-152400" algn="l">
              <a:lnSpc>
                <a:spcPct val="100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P</a:t>
            </a:r>
            <a:r>
              <a:rPr lang="en-US" altLang="zh-CN" sz="1200" b="0" i="0" u="none" strike="noStrike">
                <a:solidFill>
                  <a:srgbClr val="404040"/>
                </a:solidFill>
                <a:latin typeface="Calibri" panose="020F0502020204030204"/>
                <a:ea typeface="Calibri" panose="020F0502020204030204"/>
                <a:cs typeface="Calibri" panose="020F0502020204030204"/>
                <a:sym typeface="Calibri" panose="020F0502020204030204"/>
              </a:rPr>
              <a:t>uis ils continueraient la r</a:t>
            </a:r>
            <a:r>
              <a:rPr lang="en-US" alt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200" b="0" i="0" u="none" strike="noStrike">
                <a:solidFill>
                  <a:srgbClr val="404040"/>
                </a:solidFill>
                <a:latin typeface="Calibri" panose="020F0502020204030204"/>
                <a:ea typeface="Calibri" panose="020F0502020204030204"/>
                <a:cs typeface="Calibri" panose="020F0502020204030204"/>
                <a:sym typeface="Calibri" panose="020F0502020204030204"/>
              </a:rPr>
              <a:t>duction r</a:t>
            </a:r>
            <a:r>
              <a:rPr lang="en-US" alt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200" b="0" i="0" u="none" strike="noStrike">
                <a:solidFill>
                  <a:srgbClr val="404040"/>
                </a:solidFill>
                <a:latin typeface="Calibri" panose="020F0502020204030204"/>
                <a:ea typeface="Calibri" panose="020F0502020204030204"/>
                <a:cs typeface="Calibri" panose="020F0502020204030204"/>
                <a:sym typeface="Calibri" panose="020F0502020204030204"/>
              </a:rPr>
              <a:t>cursive jusqu'à l'obtention d'une seule valeur</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41300" indent="-241300" algn="l">
              <a:lnSpc>
                <a:spcPct val="100000"/>
              </a:lnSpc>
              <a:spcBef>
                <a:spcPts val="150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Réalité : CUDA ne supporte pas la synchronisation globale côté </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p</a:t>
            </a:r>
            <a:r>
              <a:rPr lang="en-US" alt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riph</a:t>
            </a:r>
            <a:r>
              <a:rPr lang="en-US" alt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rique. P</a:t>
            </a: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ourquoi ?</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Co</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û</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t mat</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riel extr</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ê</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mement </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lev</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 : plus de 80 SM. Si chacun supporte plusieurs blocs r</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sidents, la synchronisation globale n</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cessiterait une logique mat</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rielle </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norme.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Risque d'interblocage : </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si le nombre de blocs lanc</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s par le programmeur d</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passe la capacit</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 d'ex</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cution simultan</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e du GPU (SM </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 nombre de blocs r</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sidents par SM), certains blocs seront mis en attente. Si les blocs d</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jà en cours d'ex</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cution attendent les blocs en attente, un interblocage se produit.</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文本占位符 6"/>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3100" b="0" i="0" u="none" strike="noStrike" spc="0">
                <a:solidFill>
                  <a:srgbClr val="262626">
                    <a:alpha val="100000"/>
                  </a:srgbClr>
                </a:solidFill>
                <a:latin typeface="Calibri" panose="020F0502020204030204"/>
              </a:defRPr>
            </a:lvl1pPr>
          </a:lstStyle>
          <a:p>
            <a:pPr indent="0" algn="l">
              <a:lnSpc>
                <a:spcPct val="100000"/>
              </a:lnSpc>
            </a:pPr>
            <a:r>
              <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rPr>
              <a:t>Solution : Décomposition du Kernel</a:t>
            </a:r>
            <a:endPar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algn="l"/>
          </a:p>
        </p:txBody>
      </p:sp>
      <p:sp>
        <p:nvSpPr>
          <p:cNvPr id="4" name="AutoShape 4"/>
          <p:cNvSpPr>
            <a:spLocks noGrp="1"/>
          </p:cNvSpPr>
          <p:nvPr>
            <p:ph type="body" sz="quarter" idx="67"/>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a:spLocks noGrp="1"/>
          </p:cNvSpPr>
          <p:nvPr>
            <p:ph type="body" sz="quarter" idx="68" hasCustomPrompt="1"/>
          </p:nvPr>
        </p:nvSpPr>
        <p:spPr>
          <a:prstGeom prst="rect">
            <a:avLst/>
          </a:prstGeom>
        </p:spPr>
        <p:txBody>
          <a:bodyPr wrap="square" lIns="91440" tIns="45720" rIns="91440" bIns="45720" anchor="t">
            <a:noAutofit/>
          </a:bodyPr>
          <a:lstStyle>
            <a:lvl1pPr algn="l">
              <a:lnSpc>
                <a:spcPct val="100000"/>
              </a:lnSpc>
              <a:defRPr sz="1900" b="0" i="0" u="none" strike="noStrike" spc="0">
                <a:solidFill>
                  <a:srgbClr val="404040">
                    <a:alpha val="100000"/>
                  </a:srgbClr>
                </a:solidFill>
                <a:latin typeface="Calibri" panose="020F0502020204030204"/>
              </a:defRPr>
            </a:lvl1pPr>
          </a:lstStyle>
          <a:p>
            <a:pPr marL="241300" indent="-241300" algn="l">
              <a:lnSpc>
                <a:spcPct val="100000"/>
              </a:lnSpc>
              <a:spcBef>
                <a:spcPts val="150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Puisqu'on ne peut pas synchroniser à l'intérieur du Kernel, nous pouvons synchroniser en terminant le Kernel. La fin du Launch est un point de synchronisation globale naturel. </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41300" indent="-241300" algn="l">
              <a:lnSpc>
                <a:spcPct val="100000"/>
              </a:lnSpc>
              <a:spcBef>
                <a:spcPts val="150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Réduction multi-niveaux :</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Level 0 : Lancer un grand nombre de </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blocs</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chaque </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blocs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réduit une partie des données, et le résultat est écrit en mémoire globale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Level 1 : Lancer un petit nombre de </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blocs</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lire les résultats du </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niveau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0 pour une réduction secondaire.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959485" y="3730625"/>
            <a:ext cx="9215120" cy="2459990"/>
          </a:xfrm>
          <a:prstGeom prst="rect">
            <a:avLst/>
          </a:prstGeom>
          <a:ln w="12700">
            <a:noFill/>
            <a:prstDash val="solid"/>
          </a:ln>
        </p:spPr>
      </p:pic>
    </p:spTree>
  </p:cSld>
  <p:clrMapOvr>
    <a:masterClrMapping/>
  </p:clrMapOvr>
  <p:transition spd="slow">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3100" b="0" i="0" u="none" strike="noStrike" spc="0">
                <a:solidFill>
                  <a:srgbClr val="262626">
                    <a:alpha val="100000"/>
                  </a:srgbClr>
                </a:solidFill>
                <a:latin typeface="Calibri" panose="020F0502020204030204"/>
              </a:defRPr>
            </a:lvl1pPr>
          </a:lstStyle>
          <a:p>
            <a:pPr indent="0" algn="l">
              <a:lnSpc>
                <a:spcPct val="100000"/>
              </a:lnSpc>
            </a:pPr>
            <a:r>
              <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rPr>
              <a:t>Fonction d'Activation</a:t>
            </a:r>
            <a:endPar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algn="l"/>
          </a:p>
        </p:txBody>
      </p:sp>
      <p:sp>
        <p:nvSpPr>
          <p:cNvPr id="5" name="AutoShape 5"/>
          <p:cNvSpPr>
            <a:spLocks noGrp="1"/>
          </p:cNvSpPr>
          <p:nvPr>
            <p:ph type="body" sz="quarter" idx="68" hasCustomPrompt="1"/>
          </p:nvPr>
        </p:nvSpPr>
        <p:spPr>
          <a:prstGeom prst="rect">
            <a:avLst/>
          </a:prstGeom>
        </p:spPr>
        <p:txBody>
          <a:bodyPr wrap="square" lIns="91440" tIns="45720" rIns="91440" bIns="45720" anchor="t">
            <a:noAutofit/>
          </a:bodyPr>
          <a:lstStyle>
            <a:lvl1pPr algn="l">
              <a:lnSpc>
                <a:spcPct val="100000"/>
              </a:lnSpc>
              <a:defRPr sz="2200" b="0" i="0" u="none" strike="noStrike" spc="0">
                <a:solidFill>
                  <a:srgbClr val="404040">
                    <a:alpha val="100000"/>
                  </a:srgbClr>
                </a:solidFill>
                <a:latin typeface="Calibri" panose="020F0502020204030204"/>
              </a:defRPr>
            </a:lvl1pPr>
          </a:lstStyle>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Définition : Introduire une capacité non-linéaire dans les réseaux </a:t>
            </a:r>
            <a:r>
              <a:rPr lang="en-US" altLang="zh-CN" sz="2200" b="0" i="0" u="none" strike="noStrike">
                <a:solidFill>
                  <a:srgbClr val="404040"/>
                </a:solidFill>
                <a:latin typeface="Calibri" panose="020F0502020204030204"/>
                <a:ea typeface="Calibri" panose="020F0502020204030204"/>
                <a:cs typeface="Calibri" panose="020F0502020204030204"/>
                <a:sym typeface="Calibri" panose="020F0502020204030204"/>
              </a:rPr>
              <a:t>neuronal</a:t>
            </a: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 permettant au modèle </a:t>
            </a:r>
            <a:r>
              <a:rPr lang="en-US" altLang="zh-CN" sz="2200" b="0" i="0" u="none" strike="noStrike">
                <a:solidFill>
                  <a:srgbClr val="404040"/>
                </a:solidFill>
                <a:latin typeface="Calibri" panose="020F0502020204030204"/>
                <a:ea typeface="Calibri" panose="020F0502020204030204"/>
                <a:cs typeface="Calibri" panose="020F0502020204030204"/>
                <a:sym typeface="Calibri" panose="020F0502020204030204"/>
              </a:rPr>
              <a:t>d’apprendre des correspondances de fonctions complexes.</a:t>
            </a:r>
            <a:endParaRPr lang="en-US" altLang="zh-CN"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945515" y="2223770"/>
            <a:ext cx="4269105" cy="3513455"/>
          </a:xfrm>
          <a:prstGeom prst="rect">
            <a:avLst/>
          </a:prstGeom>
          <a:ln w="12700">
            <a:noFill/>
            <a:prstDash val="solid"/>
          </a:ln>
        </p:spPr>
      </p:pic>
      <p:sp>
        <p:nvSpPr>
          <p:cNvPr id="7" name="AutoShape 7"/>
          <p:cNvSpPr/>
          <p:nvPr/>
        </p:nvSpPr>
        <p:spPr>
          <a:xfrm>
            <a:off x="5527040" y="3025140"/>
            <a:ext cx="5198745" cy="602615"/>
          </a:xfrm>
          <a:prstGeom prst="rect">
            <a:avLst/>
          </a:prstGeom>
          <a:noFill/>
          <a:ln w="12700">
            <a:noFill/>
            <a:prstDash val="solid"/>
          </a:ln>
        </p:spPr>
        <p:txBody>
          <a:bodyPr vert="horz" wrap="square" lIns="91440" tIns="45720" rIns="91440" bIns="45720" rtlCol="0" anchor="t">
            <a:normAutofit/>
          </a:bodyPr>
          <a:lstStyle/>
          <a:p>
            <a:pPr marL="279400" indent="-279400" algn="l">
              <a:lnSpc>
                <a:spcPct val="100000"/>
              </a:lnSpc>
              <a:spcBef>
                <a:spcPts val="1500"/>
              </a:spcBef>
              <a:buClr>
                <a:srgbClr val="404040"/>
              </a:buClr>
              <a:buChar char="•"/>
              <a:defRP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Formule de calcul :</a:t>
            </a:r>
            <a:endParaRPr lang="en-US" sz="1100"/>
          </a:p>
        </p:txBody>
      </p:sp>
      <p:pic>
        <p:nvPicPr>
          <p:cNvPr id="8" name="Picture 8"/>
          <p:cNvPicPr>
            <a:picLocks noChangeAspect="1"/>
          </p:cNvPicPr>
          <p:nvPr/>
        </p:nvPicPr>
        <p:blipFill>
          <a:blip r:embed="rId2"/>
          <a:srcRect/>
          <a:stretch>
            <a:fillRect/>
          </a:stretch>
        </p:blipFill>
        <p:spPr>
          <a:xfrm>
            <a:off x="8207375" y="2948940"/>
            <a:ext cx="3512820" cy="563880"/>
          </a:xfrm>
          <a:prstGeom prst="rect">
            <a:avLst/>
          </a:prstGeom>
          <a:ln w="12700">
            <a:noFill/>
            <a:prstDash val="solid"/>
          </a:ln>
        </p:spPr>
      </p:pic>
      <p:sp>
        <p:nvSpPr>
          <p:cNvPr id="9" name="AutoShape 9"/>
          <p:cNvSpPr/>
          <p:nvPr/>
        </p:nvSpPr>
        <p:spPr>
          <a:xfrm>
            <a:off x="5532755" y="2422525"/>
            <a:ext cx="11277600" cy="602615"/>
          </a:xfrm>
          <a:prstGeom prst="rect">
            <a:avLst/>
          </a:prstGeom>
          <a:noFill/>
          <a:ln w="12700">
            <a:noFill/>
            <a:prstDash val="solid"/>
          </a:ln>
        </p:spPr>
        <p:txBody>
          <a:bodyPr vert="horz" wrap="square" lIns="91440" tIns="45720" rIns="91440" bIns="45720" rtlCol="0" anchor="t">
            <a:normAutofit/>
          </a:bodyPr>
          <a:lstStyle/>
          <a:p>
            <a:pPr marL="279400" indent="-279400" algn="l">
              <a:lnSpc>
                <a:spcPct val="100000"/>
              </a:lnSpc>
              <a:spcBef>
                <a:spcPts val="1500"/>
              </a:spcBef>
              <a:buClr>
                <a:srgbClr val="404040"/>
              </a:buClr>
              <a:buChar char="•"/>
              <a:defRPr/>
            </a:pPr>
            <a:r>
              <a:rPr lang="en-US" altLang="zh-CN" sz="2200" b="0" i="0" u="none" strike="noStrike">
                <a:solidFill>
                  <a:srgbClr val="404040"/>
                </a:solidFill>
                <a:latin typeface="Calibri" panose="020F0502020204030204"/>
                <a:ea typeface="Calibri" panose="020F0502020204030204"/>
                <a:cs typeface="Calibri" panose="020F0502020204030204"/>
                <a:sym typeface="Calibri" panose="020F0502020204030204"/>
              </a:rPr>
              <a:t>Exemple : GELU</a:t>
            </a:r>
            <a:endParaRPr lang="en-US" sz="1100"/>
          </a:p>
        </p:txBody>
      </p:sp>
      <p:sp>
        <p:nvSpPr>
          <p:cNvPr id="10" name="AutoShape 10"/>
          <p:cNvSpPr/>
          <p:nvPr/>
        </p:nvSpPr>
        <p:spPr>
          <a:xfrm>
            <a:off x="5655945" y="3794760"/>
            <a:ext cx="5778500" cy="1522095"/>
          </a:xfrm>
          <a:prstGeom prst="rect">
            <a:avLst/>
          </a:prstGeom>
          <a:noFill/>
          <a:ln w="12700">
            <a:noFill/>
            <a:prstDash val="solid"/>
          </a:ln>
        </p:spPr>
        <p:txBody>
          <a:bodyPr vert="horz" wrap="square" lIns="91440" tIns="45720" rIns="91440" bIns="45720" rtlCol="0" anchor="t">
            <a:normAutofit/>
          </a:bodyPr>
          <a:lstStyle/>
          <a:p>
            <a:pPr marL="203200" indent="-203200" algn="l">
              <a:lnSpc>
                <a:spcPct val="125000"/>
              </a:lnSpc>
              <a:spcBef>
                <a:spcPts val="1500"/>
              </a:spcBef>
              <a:buClr>
                <a:srgbClr val="404040"/>
              </a:buClr>
              <a:buChar char="•"/>
              <a:defRP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Comme elle contient des fonctions transcendantes, l'intensité de calcul est élevée. Exécutée seule, elle est limitée par la bande passante mémoire ; mais après fusion avec GEMM , son calcul complexe</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(erf)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augmente significativement la latence du kernel</a:t>
            </a:r>
            <a:endParaRPr lang="en-US" sz="1100"/>
          </a:p>
        </p:txBody>
      </p:sp>
      <p:sp>
        <p:nvSpPr>
          <p:cNvPr id="12" name="文本占位符 11"/>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prstGeom prst="rect">
            <a:avLst/>
          </a:prstGeom>
        </p:spPr>
        <p:txBody>
          <a:bodyPr wrap="square" lIns="91440" tIns="45720" rIns="91440" bIns="45720" anchor="ctr">
            <a:noAutofit/>
          </a:bodyPr>
          <a:lstStyle>
            <a:lvl1pPr algn="l">
              <a:lnSpc>
                <a:spcPct val="100000"/>
              </a:lnSpc>
              <a:defRPr sz="3100" b="0" i="0" u="none" strike="noStrike" spc="0">
                <a:solidFill>
                  <a:srgbClr val="262626">
                    <a:alpha val="100000"/>
                  </a:srgbClr>
                </a:solidFill>
                <a:latin typeface="Calibri" panose="020F0502020204030204"/>
              </a:defRPr>
            </a:lvl1pPr>
          </a:lstStyle>
          <a:p>
            <a:pPr indent="0" algn="l">
              <a:lnSpc>
                <a:spcPct val="100000"/>
              </a:lnSpc>
            </a:pPr>
            <a:r>
              <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rPr>
              <a:t>LayerNorm</a:t>
            </a:r>
            <a:endParaRPr lang="en-US" sz="3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66"/>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algn="l"/>
          </a:p>
        </p:txBody>
      </p:sp>
      <p:sp>
        <p:nvSpPr>
          <p:cNvPr id="5" name="AutoShape 5"/>
          <p:cNvSpPr>
            <a:spLocks noGrp="1"/>
          </p:cNvSpPr>
          <p:nvPr>
            <p:ph type="body" sz="quarter" idx="68" hasCustomPrompt="1"/>
          </p:nvPr>
        </p:nvSpPr>
        <p:spPr>
          <a:xfrm>
            <a:off x="523875" y="1323975"/>
            <a:ext cx="10527030" cy="4853305"/>
          </a:xfrm>
          <a:prstGeom prst="rect">
            <a:avLst/>
          </a:prstGeom>
        </p:spPr>
        <p:txBody>
          <a:bodyPr wrap="square" lIns="91440" tIns="45720" rIns="91440" bIns="45720" anchor="t">
            <a:noAutofit/>
          </a:bodyPr>
          <a:lstStyle>
            <a:lvl1pPr algn="l">
              <a:lnSpc>
                <a:spcPct val="100000"/>
              </a:lnSpc>
              <a:defRPr sz="1900" b="0" i="0" u="none" strike="noStrike" spc="0">
                <a:solidFill>
                  <a:srgbClr val="404040">
                    <a:alpha val="100000"/>
                  </a:srgbClr>
                </a:solidFill>
                <a:latin typeface="Calibri" panose="020F0502020204030204"/>
              </a:defRPr>
            </a:lvl1pPr>
          </a:lstStyle>
          <a:p>
            <a:pPr marL="241300" indent="-241300" algn="l">
              <a:lnSpc>
                <a:spcPct val="100000"/>
              </a:lnSpc>
              <a:spcBef>
                <a:spcPts val="1500"/>
              </a:spcBef>
              <a:buClr>
                <a:srgbClr val="404040"/>
              </a:buClr>
              <a:buChar char="•"/>
            </a:pP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LayerNorm est un composant essentiel des r</a:t>
            </a:r>
            <a:r>
              <a:rPr lang="en-US" alt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seaux de neurones modernes (par exemple les Transformers). Son id</a:t>
            </a:r>
            <a:r>
              <a:rPr lang="en-US" alt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e centrale est de normaliser toutes les caract</a:t>
            </a:r>
            <a:r>
              <a:rPr lang="en-US" alt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ristiques d’un seul </a:t>
            </a:r>
            <a:r>
              <a:rPr lang="en-US" alt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chantillon.</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41300" indent="-241300" algn="l">
              <a:lnSpc>
                <a:spcPct val="100000"/>
              </a:lnSpc>
              <a:spcBef>
                <a:spcPts val="150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Formule de calcul : Pour l'entrée x, la sortie y est</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41300" indent="-241300" algn="l">
              <a:lnSpc>
                <a:spcPct val="100000"/>
              </a:lnSpc>
              <a:spcBef>
                <a:spcPts val="1500"/>
              </a:spcBef>
              <a:buClr>
                <a:srgbClr val="404040"/>
              </a:buClr>
              <a:buChar char="•"/>
            </a:pP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D</a:t>
            </a:r>
            <a:r>
              <a:rPr lang="en-US" alt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pendance de calcul : Calculer la moyenne et la variance n</a:t>
            </a:r>
            <a:r>
              <a:rPr lang="en-US" alt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cessite de parcourir toute la ligne de donn</a:t>
            </a:r>
            <a:r>
              <a:rPr lang="en-US" alt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es ; c’est essentiellement une op</a:t>
            </a:r>
            <a:r>
              <a:rPr lang="en-US" alt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ration de r</a:t>
            </a:r>
            <a:r>
              <a:rPr lang="en-US" alt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duction.</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3925570" y="2750185"/>
            <a:ext cx="3619500" cy="939800"/>
          </a:xfrm>
          <a:prstGeom prst="rect">
            <a:avLst/>
          </a:prstGeom>
          <a:ln w="12700">
            <a:noFill/>
            <a:prstDash val="solid"/>
          </a:ln>
        </p:spPr>
      </p:pic>
      <p:sp>
        <p:nvSpPr>
          <p:cNvPr id="8" name="文本占位符 7"/>
          <p:cNvSpPr>
            <a:spLocks noGrp="1"/>
          </p:cNvSpPr>
          <p:nvPr>
            <p:ph type="body" sz="quarter" idx="67"/>
          </p:nvPr>
        </p:nvSpPr>
        <p:spPr/>
        <p:txBody>
          <a:bodyPr/>
          <a:lstStyle/>
          <a:p>
            <a:endParaRPr lang="zh-CN" altLang="en-US"/>
          </a:p>
        </p:txBody>
      </p:sp>
    </p:spTree>
  </p:cSld>
  <p:clrMapOvr>
    <a:masterClrMapping/>
  </p:clrMapOvr>
  <p:transition spd="slow">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a:solidFill>
                  <a:srgbClr val="262626"/>
                </a:solidFill>
                <a:latin typeface="Calibri" panose="020F0502020204030204"/>
                <a:ea typeface="Calibri" panose="020F0502020204030204"/>
                <a:cs typeface="Calibri" panose="020F0502020204030204"/>
                <a:sym typeface="Calibri" panose="020F0502020204030204"/>
              </a:rPr>
              <a:t>Leçon</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 15</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Fusion d'opérateurs</a:t>
            </a:r>
            <a:endPar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p:transition spd="slow">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Fusion d'opérateurs</a:t>
            </a:r>
            <a:endPar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55600" indent="-355600" algn="l">
              <a:lnSpc>
                <a:spcPct val="100000"/>
              </a:lnSpc>
              <a:spcBef>
                <a:spcPts val="3000"/>
              </a:spcBef>
              <a:buClr>
                <a:srgbClr val="404040"/>
              </a:buClr>
              <a:buChar char="•"/>
            </a:pPr>
            <a:r>
              <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Exemple :</a:t>
            </a: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Fused Softmax</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p:txBody>
      </p:sp>
      <p:sp>
        <p:nvSpPr>
          <p:cNvPr id="3" name="AutoShape 3"/>
          <p:cNvSpPr>
            <a:spLocks noGrp="1"/>
          </p:cNvSpPr>
          <p:nvPr>
            <p:ph type="body" sz="quarter" idx="20" hasCustomPrompt="1"/>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Plan</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4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Du graphe de calcul à l'exécution matérielle : </a:t>
            </a:r>
            <a:endParaRPr lang="en-US" sz="24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24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cycle de vie des opérateurs</a:t>
            </a:r>
            <a:endParaRPr lang="en-US" sz="24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11035665"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Couche framework :</a:t>
            </a:r>
            <a:r>
              <a:rPr lang="en-US" sz="209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9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7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Normalisation du graphe : décomposer les opérateurs composés de haut niveau (tels que</a:t>
            </a:r>
            <a:r>
              <a:rPr lang="en-US" sz="1740" b="0" i="0" u="none" strike="noStrike">
                <a:solidFill>
                  <a:srgbClr val="404040"/>
                </a:solidFill>
                <a:latin typeface="Calibri" panose="020F0502020204030204"/>
                <a:ea typeface="Calibri" panose="020F0502020204030204"/>
                <a:cs typeface="Calibri" panose="020F0502020204030204"/>
                <a:sym typeface="Calibri" panose="020F0502020204030204"/>
              </a:rPr>
              <a:t> TransformerBlock</a:t>
            </a:r>
            <a:r>
              <a:rPr lang="en-US" sz="17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en primitives fines (</a:t>
            </a:r>
            <a:r>
              <a:rPr lang="en-US" sz="1740" b="0" i="0" u="none" strike="noStrike">
                <a:solidFill>
                  <a:srgbClr val="404040"/>
                </a:solidFill>
                <a:latin typeface="Calibri" panose="020F0502020204030204"/>
                <a:ea typeface="Calibri" panose="020F0502020204030204"/>
                <a:cs typeface="Calibri" panose="020F0502020204030204"/>
                <a:sym typeface="Calibri" panose="020F0502020204030204"/>
              </a:rPr>
              <a:t>MatMul, Softmax, LayerNorm</a:t>
            </a:r>
            <a:r>
              <a:rPr lang="en-US" sz="17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établir une</a:t>
            </a:r>
            <a:r>
              <a:rPr lang="en-US" sz="1740" b="0" i="0" u="none" strike="noStrike">
                <a:solidFill>
                  <a:srgbClr val="404040"/>
                </a:solidFill>
                <a:latin typeface="Calibri" panose="020F0502020204030204"/>
                <a:ea typeface="Calibri" panose="020F0502020204030204"/>
                <a:cs typeface="Calibri" panose="020F0502020204030204"/>
                <a:sym typeface="Calibri" panose="020F0502020204030204"/>
              </a:rPr>
              <a:t> IR</a:t>
            </a:r>
            <a:r>
              <a:rPr lang="en-US" sz="17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standard (telle que</a:t>
            </a:r>
            <a:r>
              <a:rPr lang="en-US" sz="1740" b="0" i="0" u="none" strike="noStrike">
                <a:solidFill>
                  <a:srgbClr val="404040"/>
                </a:solidFill>
                <a:latin typeface="Calibri" panose="020F0502020204030204"/>
                <a:ea typeface="Calibri" panose="020F0502020204030204"/>
                <a:cs typeface="Calibri" panose="020F0502020204030204"/>
                <a:sym typeface="Calibri" panose="020F0502020204030204"/>
              </a:rPr>
              <a:t> MLIR</a:t>
            </a:r>
            <a:r>
              <a:rPr lang="en-US" sz="17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740" b="0" i="0" u="none" strike="noStrike">
                <a:solidFill>
                  <a:srgbClr val="404040"/>
                </a:solidFill>
                <a:latin typeface="Calibri" panose="020F0502020204030204"/>
                <a:ea typeface="Calibri" panose="020F0502020204030204"/>
                <a:cs typeface="Calibri" panose="020F0502020204030204"/>
                <a:sym typeface="Calibri" panose="020F0502020204030204"/>
              </a:rPr>
              <a:t>XLA HLO</a:t>
            </a:r>
            <a:r>
              <a:rPr lang="en-US" sz="17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7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Calculer le cycle de vie des tenseurs par analyse de flux de données, décider de la stratégie de parallélisme.</a:t>
            </a:r>
            <a:endParaRPr lang="en-US" sz="17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7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Descendre le graphe de calcul optimis</a:t>
            </a:r>
            <a:r>
              <a:rPr lang="en-US" altLang="en-US" sz="17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(lowering) en code d</a:t>
            </a:r>
            <a:r>
              <a:rPr lang="en-US" altLang="en-US" sz="17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pendant du p</a:t>
            </a:r>
            <a:r>
              <a:rPr lang="en-US" altLang="en-US" sz="17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riph</a:t>
            </a:r>
            <a:r>
              <a:rPr lang="en-US" altLang="en-US" sz="17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rique, et ins</a:t>
            </a:r>
            <a:r>
              <a:rPr lang="en-US" altLang="en-US" sz="17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rer les primitives de synchronisation n</a:t>
            </a:r>
            <a:r>
              <a:rPr lang="en-US" altLang="en-US" sz="17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cessaires.</a:t>
            </a:r>
            <a:endParaRPr lang="en-US" sz="17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1472565" y="3982085"/>
            <a:ext cx="3423920" cy="237426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176010" y="3893185"/>
            <a:ext cx="4042410" cy="2705735"/>
          </a:xfrm>
          <a:prstGeom prst="rect">
            <a:avLst/>
          </a:prstGeom>
          <a:ln w="12700">
            <a:noFill/>
            <a:prstDash val="solid"/>
          </a:ln>
        </p:spPr>
      </p:pic>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41680" y="477520"/>
            <a:ext cx="9511665" cy="655320"/>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2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Du graphe de calcul à l'exécution matérielle : le cycle de vie des opérateurs</a:t>
            </a:r>
            <a:endParaRPr lang="en-US" sz="22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Couche runtime :</a:t>
            </a:r>
            <a:r>
              <a:rPr lang="en-US" sz="202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Préparer les paramètres pour chaque opérateur (</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pointeurs vers le p</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riph</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rique, taille de m</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partag</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Stream ID, etc.</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Lancer</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Kernel Launch</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Couche matérielle :</a:t>
            </a:r>
            <a:r>
              <a:rPr lang="en-US" sz="202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Le</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GPU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lit les données depuis</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Global Memory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-&gt; </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traitement par unités de calcul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-&gt; </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réécriture</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 des r</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sultats dans la m</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moire globale.</a:t>
            </a:r>
            <a:endPar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602865" y="3789680"/>
            <a:ext cx="6834505" cy="267589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rPr>
              <a:t>Optimisation des lancements de kernel : CUDA Graph </a:t>
            </a:r>
            <a:endPar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11381740"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r>
              <a:rPr lang="en-US" altLang="zh-CN"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nregistrer une s</a:t>
            </a:r>
            <a:r>
              <a:rPr lang="en-US" altLang="en-US"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 d'op</a:t>
            </a:r>
            <a:r>
              <a:rPr lang="en-US" altLang="en-US"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GPU</a:t>
            </a:r>
            <a:r>
              <a:rPr lang="en-US"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235" b="0" i="0" u="none" strike="noStrike">
                <a:solidFill>
                  <a:srgbClr val="404040"/>
                </a:solidFill>
                <a:latin typeface="Calibri" panose="020F0502020204030204"/>
                <a:ea typeface="Calibri" panose="020F0502020204030204"/>
                <a:cs typeface="Calibri" panose="020F0502020204030204"/>
                <a:sym typeface="Calibri" panose="020F0502020204030204"/>
              </a:rPr>
              <a:t>Kernels, Memcpys</a:t>
            </a:r>
            <a:r>
              <a:rPr lang="en-US"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sous forme d'un graphe topologique statique</a:t>
            </a:r>
            <a:endParaRPr lang="en-US"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Capture : m</a:t>
            </a:r>
            <a:r>
              <a:rPr lang="en-US" altLang="en-US" sz="18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moriser l'ordre d'ex</a:t>
            </a:r>
            <a:r>
              <a:rPr lang="en-US" altLang="en-US" sz="18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de tous les kernels, les param</a:t>
            </a:r>
            <a:r>
              <a:rPr lang="en-US" altLang="en-US" sz="18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tres, les adresses m</a:t>
            </a:r>
            <a:r>
              <a:rPr lang="en-US" altLang="en-US" sz="18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et les chemins d'ordonnancement.</a:t>
            </a:r>
            <a:endParaRPr lang="en-US" altLang="zh-CN" sz="18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65" b="0" i="0" u="none" strike="noStrike">
                <a:solidFill>
                  <a:srgbClr val="404040"/>
                </a:solidFill>
                <a:latin typeface="Calibri" panose="020F0502020204030204"/>
                <a:ea typeface="Calibri" panose="020F0502020204030204"/>
                <a:cs typeface="Calibri" panose="020F0502020204030204"/>
                <a:sym typeface="Calibri" panose="020F0502020204030204"/>
              </a:rPr>
              <a:t>Replay</a:t>
            </a:r>
            <a:r>
              <a:rPr lang="en-US" sz="18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la</a:t>
            </a:r>
            <a:r>
              <a:rPr lang="en-US" sz="1865" b="0" i="0" u="none" strike="noStrike">
                <a:solidFill>
                  <a:srgbClr val="404040"/>
                </a:solidFill>
                <a:latin typeface="Calibri" panose="020F0502020204030204"/>
                <a:ea typeface="Calibri" panose="020F0502020204030204"/>
                <a:cs typeface="Calibri" panose="020F0502020204030204"/>
                <a:sym typeface="Calibri" panose="020F0502020204030204"/>
              </a:rPr>
              <a:t> CPU </a:t>
            </a:r>
            <a:r>
              <a:rPr lang="en-US" sz="18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 besoin que d'émettre une instruction extrêmement légère pour déclencher l'exécution automatique de tout le graphe sur le</a:t>
            </a:r>
            <a:r>
              <a:rPr lang="en-US" sz="1865" b="0" i="0" u="none" strike="noStrike">
                <a:solidFill>
                  <a:srgbClr val="404040"/>
                </a:solidFill>
                <a:latin typeface="Calibri" panose="020F0502020204030204"/>
                <a:ea typeface="Calibri" panose="020F0502020204030204"/>
                <a:cs typeface="Calibri" panose="020F0502020204030204"/>
                <a:sym typeface="Calibri" panose="020F0502020204030204"/>
              </a:rPr>
              <a:t> GPU.</a:t>
            </a:r>
            <a:endParaRPr lang="en-US" sz="186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186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23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23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956310" y="4280535"/>
            <a:ext cx="4911725" cy="1689100"/>
          </a:xfrm>
          <a:prstGeom prst="rect">
            <a:avLst/>
          </a:prstGeom>
          <a:ln w="12700">
            <a:noFill/>
            <a:prstDash val="solid"/>
          </a:ln>
        </p:spPr>
      </p:pic>
      <p:pic>
        <p:nvPicPr>
          <p:cNvPr id="7" name="Picture 7"/>
          <p:cNvPicPr>
            <a:picLocks noChangeAspect="1"/>
          </p:cNvPicPr>
          <p:nvPr/>
        </p:nvPicPr>
        <p:blipFill>
          <a:blip r:embed="rId2"/>
          <a:srcRect l="3763" r="3764"/>
          <a:stretch>
            <a:fillRect/>
          </a:stretch>
        </p:blipFill>
        <p:spPr>
          <a:xfrm>
            <a:off x="6106160" y="4095750"/>
            <a:ext cx="5332730" cy="1983105"/>
          </a:xfrm>
          <a:prstGeom prst="rect">
            <a:avLst/>
          </a:prstGeom>
          <a:ln w="12700">
            <a:noFill/>
            <a:prstDash val="solid"/>
          </a:ln>
        </p:spPr>
      </p:pic>
      <p:sp>
        <p:nvSpPr>
          <p:cNvPr id="8" name="AutoShape 8"/>
          <p:cNvSpPr/>
          <p:nvPr/>
        </p:nvSpPr>
        <p:spPr>
          <a:xfrm>
            <a:off x="914400" y="3763010"/>
            <a:ext cx="3140075" cy="33718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altLang="zh-CN" sz="1600"/>
              <a:t>Tr</a:t>
            </a:r>
            <a:r>
              <a:rPr lang="en-US" altLang="en-US" sz="1600"/>
              <a:t>è</a:t>
            </a:r>
            <a:r>
              <a:rPr lang="en-US" altLang="zh-CN" sz="1600"/>
              <a:t>s petit noyau GPU</a:t>
            </a:r>
            <a:endParaRPr lang="en-US" altLang="zh-CN" sz="1600"/>
          </a:p>
        </p:txBody>
      </p:sp>
      <p:sp>
        <p:nvSpPr>
          <p:cNvPr id="9" name="AutoShape 9"/>
          <p:cNvSpPr/>
          <p:nvPr/>
        </p:nvSpPr>
        <p:spPr>
          <a:xfrm>
            <a:off x="6106160" y="3761740"/>
            <a:ext cx="3140075" cy="33718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altLang="zh-CN" sz="1600"/>
              <a:t>Kernel GPU ordinaire</a:t>
            </a:r>
            <a:endParaRPr lang="en-US" altLang="zh-CN" sz="1600"/>
          </a:p>
        </p:txBody>
      </p:sp>
      <p:sp>
        <p:nvSpPr>
          <p:cNvPr id="11" name="文本占位符 10"/>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Transfert de donn</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es entre op</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rateurs</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
            </a:r>
            <a:r>
              <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ode par d</a:t>
            </a:r>
            <a:r>
              <a:rPr lang="en-US" alt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faut : le r</a:t>
            </a:r>
            <a:r>
              <a:rPr lang="en-US" alt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sultat de Conv est </a:t>
            </a:r>
            <a:r>
              <a:rPr lang="en-US" alt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crit dans la m</a:t>
            </a:r>
            <a:r>
              <a:rPr lang="en-US" alt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globale, puis relu par Scale.</a:t>
            </a:r>
            <a:endPar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endPar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Fusion d'operateurs : </a:t>
            </a:r>
            <a:r>
              <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op</a:t>
            </a:r>
            <a:r>
              <a:rPr lang="en-US" alt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element-wise peuvent facilement s'encha</a:t>
            </a:r>
            <a:r>
              <a:rPr lang="en-US" alt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ner avec d'autres op</a:t>
            </a:r>
            <a:r>
              <a:rPr lang="en-US" alt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r</a:t>
            </a:r>
            <a:r>
              <a:rPr lang="en-US" alt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duisant efficacement les acc</a:t>
            </a:r>
            <a:r>
              <a:rPr lang="en-US" alt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à la m</a:t>
            </a:r>
            <a:r>
              <a:rPr lang="en-US" alt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vid</a:t>
            </a:r>
            <a:r>
              <a:rPr lang="en-US" alt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 et les surco</a:t>
            </a:r>
            <a:r>
              <a:rPr lang="en-US" alt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ts de lancement des kernels.</a:t>
            </a:r>
            <a:endPar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1738630" y="4667250"/>
            <a:ext cx="8534400" cy="121920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2186940" y="2046605"/>
            <a:ext cx="8086090" cy="1468120"/>
          </a:xfrm>
          <a:prstGeom prst="rect">
            <a:avLst/>
          </a:prstGeom>
          <a:ln w="12700">
            <a:noFill/>
            <a:prstDash val="solid"/>
          </a:ln>
        </p:spPr>
      </p:pic>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6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a:t>
            </a:r>
            <a:r>
              <a:rPr lang="en-US" altLang="zh-CN" sz="26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ptimisation globale du graphe de calcul : fusion d’op</a:t>
            </a:r>
            <a:r>
              <a:rPr lang="en-US" altLang="en-US" sz="26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6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rateurs</a:t>
            </a:r>
            <a:endParaRPr lang="en-US" altLang="zh-CN" sz="26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Definition :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t</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echnique consistant à fusionner plusieurs op</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ind</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pendants du graphe de calcul (Operator/Kernel) en un seul op</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a:t>
            </a:r>
            <a:endPar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Sc</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narios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typiques en apprentissage profond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Vertical Fusion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fusion verticale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Conv + Bias + ReLU</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Horizontal Fusion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fusion horizontale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fusion de plusieurs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GEMM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ayant l</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 m</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entr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mais des param</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tres diff</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rents.</a:t>
            </a:r>
            <a:endPar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Reduction Fusion</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Mean + Var + Scale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LayerNorm.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Avantages de la fusion </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d’op</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rateurs</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duction de la bande passante m</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 </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limination des lectures/</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critures des 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sultats interm</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diaires dans la m</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globale, les donn</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restent dans les registres ou la m</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partag</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endPar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R</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duction du co</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û</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t de lancement du noyau (kernel launch) : diminution du nombre d’allers-retours entre le CPU et le GPU.</a:t>
            </a:r>
            <a:endPar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Am</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lioration du taux d'utilisation du cache : les donn</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sont utilis</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de mani</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 continue dans la SRAM, ce qui est plus efficace.</a:t>
            </a:r>
            <a:endPar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ugmentation de la densit</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calcul : augmentation du flux d'instructions par t</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â</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 pour mieux masquer la latence m</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a:t>
            </a:r>
            <a:endPar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p:transition spd="slow">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Probl</a:t>
            </a:r>
            <a:r>
              <a:rPr lang="en-US" altLang="en-US" sz="30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30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mes potentiels de la fusion d’op</a:t>
            </a:r>
            <a:r>
              <a:rPr lang="en-US" altLang="en-US" sz="30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rateurs</a:t>
            </a:r>
            <a:endParaRPr lang="en-US" altLang="zh-CN" sz="30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3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Contradiction principale</a:t>
            </a:r>
            <a:r>
              <a:rPr lang="en-US" sz="2315"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sz="23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pression sur les registres</a:t>
            </a:r>
            <a:endParaRPr lang="en-US" sz="23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GPU SM a une quantit</a:t>
            </a:r>
            <a:r>
              <a:rPr lang="en-US" altLang="en-US"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fixe de registres (par exemple A100 a 256 Ko/SM).</a:t>
            </a:r>
            <a:endParaRPr lang="en-US" altLang="zh-CN"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 seul thread doit sauvegarder plus d'</a:t>
            </a:r>
            <a:r>
              <a:rPr lang="en-US" altLang="en-US"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tats interm</a:t>
            </a:r>
            <a:r>
              <a:rPr lang="en-US" altLang="en-US"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diaires </a:t>
            </a:r>
            <a:r>
              <a:rPr lang="en-US" altLang="en-US"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registres par thread augmentent </a:t>
            </a:r>
            <a:r>
              <a:rPr lang="en-US" altLang="en-US"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registres par bloc de threads augmentent </a:t>
            </a:r>
            <a:r>
              <a:rPr lang="en-US" altLang="en-US"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nombre de blocs concurrents diminue </a:t>
            </a:r>
            <a:r>
              <a:rPr lang="en-US" altLang="en-US"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r</a:t>
            </a:r>
            <a:r>
              <a:rPr lang="en-US" altLang="en-US"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duction du nombre de warps actifs (occupancy r</a:t>
            </a:r>
            <a:r>
              <a:rPr lang="en-US" altLang="en-US"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duite)</a:t>
            </a:r>
            <a:endParaRPr lang="en-US" altLang="zh-CN"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3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Pression sur le cache d'instructions :</a:t>
            </a:r>
            <a:endParaRPr lang="en-US" sz="23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kernel fusionn</a:t>
            </a:r>
            <a:r>
              <a:rPr lang="en-US" altLang="en-US"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peut d</a:t>
            </a:r>
            <a:r>
              <a:rPr lang="en-US" altLang="en-US"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passer les limites du cache d'instructions mat</a:t>
            </a:r>
            <a:r>
              <a:rPr lang="en-US" altLang="en-US"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a:t>
            </a:r>
            <a:endParaRPr lang="en-US"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3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a:t>
            </a:r>
            <a:r>
              <a:rPr lang="en-US" altLang="zh-CN" sz="23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 faut trouver le point optimal entre l'</a:t>
            </a:r>
            <a:r>
              <a:rPr lang="en-US" altLang="en-US" sz="23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3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conomie de bande passante m</a:t>
            </a:r>
            <a:r>
              <a:rPr lang="en-US" altLang="en-US" sz="23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3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et le maintien d'un parall</a:t>
            </a:r>
            <a:r>
              <a:rPr lang="en-US" altLang="en-US" sz="23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3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lisme de calcul suffisant.</a:t>
            </a:r>
            <a:endParaRPr lang="en-US" altLang="zh-CN" sz="23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31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31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Un contre-exemple : la fusion agressive de XLA </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https://github.com/openxla/xla/discussions/766</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Description du sc</a:t>
            </a:r>
            <a:r>
              <a:rPr lang="en-US" alt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nario</a:t>
            </a:r>
            <a:endParaRPr lang="en-US" altLang="zh-CN"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zh-CN" sz="1495" b="0" i="0" u="none" strike="noStrike">
                <a:solidFill>
                  <a:srgbClr val="404040"/>
                </a:solidFill>
                <a:latin typeface="Calibri" panose="020F0502020204030204"/>
                <a:ea typeface="Calibri" panose="020F0502020204030204"/>
                <a:cs typeface="Calibri" panose="020F0502020204030204"/>
                <a:sym typeface="Calibri" panose="020F0502020204030204"/>
              </a:rPr>
              <a:t>a disposition forc</a:t>
            </a:r>
            <a:r>
              <a:rPr lang="en-US" altLang="en-US" sz="149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495" b="0" i="0" u="none" strike="noStrike">
                <a:solidFill>
                  <a:srgbClr val="404040"/>
                </a:solidFill>
                <a:latin typeface="Calibri" panose="020F0502020204030204"/>
                <a:ea typeface="Calibri" panose="020F0502020204030204"/>
                <a:cs typeface="Calibri" panose="020F0502020204030204"/>
                <a:sym typeface="Calibri" panose="020F0502020204030204"/>
              </a:rPr>
              <a:t>e de l'entr</a:t>
            </a:r>
            <a:r>
              <a:rPr lang="en-US" altLang="en-US" sz="149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495" b="0" i="0" u="none" strike="noStrike">
                <a:solidFill>
                  <a:srgbClr val="404040"/>
                </a:solidFill>
                <a:latin typeface="Calibri" panose="020F0502020204030204"/>
                <a:ea typeface="Calibri" panose="020F0502020204030204"/>
                <a:cs typeface="Calibri" panose="020F0502020204030204"/>
                <a:sym typeface="Calibri" panose="020F0502020204030204"/>
              </a:rPr>
              <a:t>e est {3, 2, 1, 0}, la disposition forc</a:t>
            </a:r>
            <a:r>
              <a:rPr lang="en-US" altLang="en-US" sz="149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495" b="0" i="0" u="none" strike="noStrike">
                <a:solidFill>
                  <a:srgbClr val="404040"/>
                </a:solidFill>
                <a:latin typeface="Calibri" panose="020F0502020204030204"/>
                <a:ea typeface="Calibri" panose="020F0502020204030204"/>
                <a:cs typeface="Calibri" panose="020F0502020204030204"/>
                <a:sym typeface="Calibri" panose="020F0502020204030204"/>
              </a:rPr>
              <a:t>e de l'op</a:t>
            </a:r>
            <a:r>
              <a:rPr lang="en-US" altLang="en-US" sz="149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495" b="0" i="0" u="none" strike="noStrike">
                <a:solidFill>
                  <a:srgbClr val="404040"/>
                </a:solidFill>
                <a:latin typeface="Calibri" panose="020F0502020204030204"/>
                <a:ea typeface="Calibri" panose="020F0502020204030204"/>
                <a:cs typeface="Calibri" panose="020F0502020204030204"/>
                <a:sym typeface="Calibri" panose="020F0502020204030204"/>
              </a:rPr>
              <a:t>rateur (Custom-call) est {1, 0, 2, 3}</a:t>
            </a:r>
            <a:endParaRPr lang="en-US" altLang="zh-CN" sz="149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4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zh-CN" sz="14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ors du calcul de Add, XLA remarque que les dispositions des deux entr</a:t>
            </a:r>
            <a:r>
              <a:rPr lang="en-US" altLang="en-US" sz="14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sont diff</a:t>
            </a:r>
            <a:r>
              <a:rPr lang="en-US" altLang="en-US" sz="14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rentes, donc pour les aligner, il doit ins</a:t>
            </a:r>
            <a:r>
              <a:rPr lang="en-US" altLang="en-US" sz="14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rer une op</a:t>
            </a:r>
            <a:r>
              <a:rPr lang="en-US" altLang="en-US" sz="14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Copy</a:t>
            </a:r>
            <a:endParaRPr lang="en-US" altLang="zh-CN" sz="14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795" b="0" i="0" u="none" strike="noStrike">
                <a:solidFill>
                  <a:srgbClr val="404040"/>
                </a:solidFill>
                <a:latin typeface="Calibri" panose="020F0502020204030204"/>
                <a:ea typeface="Calibri" panose="020F0502020204030204"/>
                <a:cs typeface="Calibri" panose="020F0502020204030204"/>
                <a:sym typeface="Calibri" panose="020F0502020204030204"/>
              </a:rPr>
              <a:t>P</a:t>
            </a:r>
            <a:r>
              <a:rPr lang="en-US" altLang="zh-CN"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our r</a:t>
            </a:r>
            <a:r>
              <a:rPr lang="en-US" alt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duire le co</a:t>
            </a:r>
            <a:r>
              <a:rPr lang="en-US" alt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 de lancement du kernel, XLA force la fusion de Add et Copy ; mais comme l'incoh</a:t>
            </a:r>
            <a:r>
              <a:rPr lang="en-US" alt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rence de la disposition I/O perturbe les acc</a:t>
            </a:r>
            <a:r>
              <a:rPr lang="en-US" alt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m</a:t>
            </a:r>
            <a:r>
              <a:rPr lang="en-US" alt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coalesc</a:t>
            </a:r>
            <a:r>
              <a:rPr lang="en-US" alt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cela entra</a:t>
            </a:r>
            <a:r>
              <a:rPr lang="en-US" alt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 des acc</a:t>
            </a:r>
            <a:r>
              <a:rPr lang="en-US" alt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al</a:t>
            </a:r>
            <a:r>
              <a:rPr lang="en-US" alt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atoires (sauts) et une d</a:t>
            </a:r>
            <a:r>
              <a:rPr lang="en-US" alt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gradation importante des performances (d'un facteur 9).</a:t>
            </a:r>
            <a:r>
              <a:rPr 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1074420" y="3700145"/>
            <a:ext cx="3021965" cy="258318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4197985" y="4533900"/>
            <a:ext cx="7413625" cy="915035"/>
          </a:xfrm>
          <a:prstGeom prst="rect">
            <a:avLst/>
          </a:prstGeom>
          <a:ln w="12700">
            <a:noFill/>
            <a:prstDash val="solid"/>
          </a:ln>
        </p:spPr>
      </p:pic>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rPr>
              <a:t>Un contre-exemple : Adam fusionn</a:t>
            </a:r>
            <a:r>
              <a:rPr lang="en-US" alt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rPr>
              <a:t> (Fused Adam) </a:t>
            </a:r>
            <a:endPar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https://github.com/pytorch/pytorch/issues/121857</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21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Fused AdamW automatique pris en charge par PyTorch subit une chute brutale des performances sur A40.</a:t>
            </a:r>
            <a:endParaRPr lang="en-US" altLang="zh-CN" sz="21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765" b="0" i="0" u="none" strike="noStrike">
                <a:solidFill>
                  <a:srgbClr val="404040"/>
                </a:solidFill>
                <a:latin typeface="Calibri" panose="020F0502020204030204"/>
                <a:ea typeface="Calibri" panose="020F0502020204030204"/>
                <a:cs typeface="Calibri" panose="020F0502020204030204"/>
                <a:sym typeface="Calibri" panose="020F0502020204030204"/>
              </a:rPr>
              <a:t>En mode fusionn</a:t>
            </a:r>
            <a:r>
              <a:rPr lang="en-US" altLang="en-US" sz="176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65" b="0" i="0" u="none" strike="noStrike">
                <a:solidFill>
                  <a:srgbClr val="404040"/>
                </a:solidFill>
                <a:latin typeface="Calibri" panose="020F0502020204030204"/>
                <a:ea typeface="Calibri" panose="020F0502020204030204"/>
                <a:cs typeface="Calibri" panose="020F0502020204030204"/>
                <a:sym typeface="Calibri" panose="020F0502020204030204"/>
              </a:rPr>
              <a:t> (Fuse)</a:t>
            </a:r>
            <a:endParaRPr lang="en-US" altLang="zh-CN" sz="176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765" b="0" i="0" u="none" strike="noStrike">
                <a:solidFill>
                  <a:srgbClr val="404040"/>
                </a:solidFill>
                <a:latin typeface="Calibri" panose="020F0502020204030204"/>
                <a:ea typeface="Calibri" panose="020F0502020204030204"/>
                <a:cs typeface="Calibri" panose="020F0502020204030204"/>
                <a:sym typeface="Calibri" panose="020F0502020204030204"/>
              </a:rPr>
              <a:t>L</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Fused AdamW est d</a:t>
            </a:r>
            <a:r>
              <a:rPr lang="en-US" alt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clench</a:t>
            </a:r>
            <a:r>
              <a:rPr lang="en-US" alt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tenseur (per-tensor), ce qui entra</a:t>
            </a:r>
            <a:r>
              <a:rPr lang="en-US" alt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 un trop grand nombre de lancements de noyaux (kernels).</a:t>
            </a:r>
            <a:endPar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2007235" y="3089910"/>
            <a:ext cx="7311390" cy="163893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2007235" y="4797425"/>
            <a:ext cx="7310755" cy="1638935"/>
          </a:xfrm>
          <a:prstGeom prst="rect">
            <a:avLst/>
          </a:prstGeom>
          <a:ln w="12700">
            <a:noFill/>
            <a:prstDash val="solid"/>
          </a:ln>
        </p:spPr>
      </p:pic>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Fusion d'opérateurs</a:t>
            </a:r>
            <a:endPar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55600" indent="-355600" algn="l">
              <a:lnSpc>
                <a:spcPct val="100000"/>
              </a:lnSpc>
              <a:spcBef>
                <a:spcPts val="3000"/>
              </a:spcBef>
              <a:buClr>
                <a:srgbClr val="404040"/>
              </a:buClr>
              <a:buChar char="•"/>
            </a:pPr>
            <a:r>
              <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Exemple : </a:t>
            </a: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Fused Softmax</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p:txBody>
      </p:sp>
      <p:sp>
        <p:nvSpPr>
          <p:cNvPr id="3" name="AutoShape 3"/>
          <p:cNvSpPr>
            <a:spLocks noGrp="1"/>
          </p:cNvSpPr>
          <p:nvPr>
            <p:ph type="body" sz="quarter" idx="20" hasCustomPrompt="1"/>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 :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Softmax</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5" name="Picture 5"/>
          <p:cNvPicPr>
            <a:picLocks noGrp="1" noChangeAspect="1"/>
          </p:cNvPicPr>
          <p:nvPr>
            <p:ph type="body" sz="quarter" idx="9"/>
          </p:nvPr>
        </p:nvPicPr>
        <p:blipFill>
          <a:blip r:embed="rId1"/>
          <a:srcRect/>
          <a:stretch>
            <a:fillRect/>
          </a:stretch>
        </p:blipFill>
        <p:spPr>
          <a:xfrm>
            <a:off x="741680" y="1256030"/>
            <a:ext cx="7590155" cy="3648710"/>
          </a:xfrm>
          <a:prstGeom prst="rect">
            <a:avLst/>
          </a:prstGeom>
        </p:spPr>
      </p:pic>
      <p:sp>
        <p:nvSpPr>
          <p:cNvPr id="6" name="AutoShape 6"/>
          <p:cNvSpPr/>
          <p:nvPr/>
        </p:nvSpPr>
        <p:spPr>
          <a:xfrm>
            <a:off x="638810" y="5148580"/>
            <a:ext cx="10572115" cy="963930"/>
          </a:xfrm>
          <a:prstGeom prst="rect">
            <a:avLst/>
          </a:prstGeom>
          <a:noFill/>
          <a:ln w="12700">
            <a:noFill/>
            <a:prstDash val="solid"/>
          </a:ln>
        </p:spPr>
        <p:txBody>
          <a:bodyPr vert="horz" wrap="square" lIns="91440" tIns="45720" rIns="91440" bIns="45720" rtlCol="0" anchor="t">
            <a:normAutofit fontScale="92500"/>
          </a:bodyPr>
          <a:lstStyle/>
          <a:p>
            <a:pPr marL="279400" indent="-279400" algn="l">
              <a:lnSpc>
                <a:spcPct val="117000"/>
              </a:lnSpc>
              <a:spcBef>
                <a:spcPts val="1500"/>
              </a:spcBef>
              <a:buClr>
                <a:srgbClr val="404040"/>
              </a:buClr>
              <a:buChar char="•"/>
              <a:defRPr/>
            </a:pPr>
            <a:r>
              <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Goulot d'étranglement de performance : lecture totale de</a:t>
            </a:r>
            <a:r>
              <a:rPr lang="en-US" sz="1830" b="0" i="0" u="none" strike="noStrike">
                <a:solidFill>
                  <a:srgbClr val="404040"/>
                </a:solidFill>
                <a:latin typeface="Calibri" panose="020F0502020204030204"/>
                <a:ea typeface="Calibri" panose="020F0502020204030204"/>
                <a:cs typeface="Calibri" panose="020F0502020204030204"/>
                <a:sym typeface="Calibri" panose="020F0502020204030204"/>
              </a:rPr>
              <a:t> 5MN+2M </a:t>
            </a:r>
            <a:r>
              <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éléments, écriture de</a:t>
            </a:r>
            <a:r>
              <a:rPr lang="en-US" sz="1830" b="0" i="0" u="none" strike="noStrike">
                <a:solidFill>
                  <a:srgbClr val="404040"/>
                </a:solidFill>
                <a:latin typeface="Calibri" panose="020F0502020204030204"/>
                <a:ea typeface="Calibri" panose="020F0502020204030204"/>
                <a:cs typeface="Calibri" panose="020F0502020204030204"/>
                <a:sym typeface="Calibri" panose="020F0502020204030204"/>
              </a:rPr>
              <a:t> 3MN+2M </a:t>
            </a:r>
            <a:r>
              <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éléments, les lectures et écritures fréquentes en mémoire globale entraînent un gaspillage important de la bande passante</a:t>
            </a:r>
            <a:endParaRPr lang="en-US" sz="1100"/>
          </a:p>
        </p:txBody>
      </p:sp>
      <p:pic>
        <p:nvPicPr>
          <p:cNvPr id="7" name="Picture 7"/>
          <p:cNvPicPr>
            <a:picLocks noChangeAspect="1"/>
          </p:cNvPicPr>
          <p:nvPr/>
        </p:nvPicPr>
        <p:blipFill>
          <a:blip r:embed="rId2"/>
          <a:srcRect/>
          <a:stretch>
            <a:fillRect/>
          </a:stretch>
        </p:blipFill>
        <p:spPr>
          <a:xfrm>
            <a:off x="8503285" y="2642235"/>
            <a:ext cx="3552825" cy="963930"/>
          </a:xfrm>
          <a:prstGeom prst="rect">
            <a:avLst/>
          </a:prstGeom>
          <a:ln w="12700">
            <a:noFill/>
            <a:prstDash val="solid"/>
          </a:ln>
        </p:spPr>
      </p:pic>
      <p:sp>
        <p:nvSpPr>
          <p:cNvPr id="8" name="AutoShape 8"/>
          <p:cNvSpPr/>
          <p:nvPr/>
        </p:nvSpPr>
        <p:spPr>
          <a:xfrm>
            <a:off x="8439785" y="1868805"/>
            <a:ext cx="1218565" cy="773430"/>
          </a:xfrm>
          <a:prstGeom prst="rect">
            <a:avLst/>
          </a:prstGeom>
          <a:noFill/>
          <a:ln w="12700">
            <a:noFill/>
            <a:prstDash val="solid"/>
          </a:ln>
        </p:spPr>
        <p:txBody>
          <a:bodyPr vert="horz" wrap="square" lIns="91440" tIns="45720" rIns="91440" bIns="45720" rtlCol="0" anchor="t">
            <a:normAutofit fontScale="85000" lnSpcReduction="10000"/>
          </a:bodyPr>
          <a:lstStyle/>
          <a:p>
            <a:pPr marL="279400" indent="-279400" algn="l">
              <a:lnSpc>
                <a:spcPct val="117000"/>
              </a:lnSpc>
              <a:spcBef>
                <a:spcPts val="1500"/>
              </a:spcBef>
              <a:buClr>
                <a:srgbClr val="404040"/>
              </a:buClr>
              <a:buChar char="•"/>
              <a:defRPr/>
            </a:pPr>
            <a:r>
              <a:rPr lang="en-US" sz="18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Formule de calcul</a:t>
            </a:r>
            <a:endParaRPr lang="en-US" sz="1100"/>
          </a:p>
        </p:txBody>
      </p:sp>
      <p:sp>
        <p:nvSpPr>
          <p:cNvPr id="9" name="AutoShape 9"/>
          <p:cNvSpPr/>
          <p:nvPr/>
        </p:nvSpPr>
        <p:spPr>
          <a:xfrm>
            <a:off x="9658350" y="2333625"/>
            <a:ext cx="4064000"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
        <p:nvSpPr>
          <p:cNvPr id="11" name="文本占位符 10"/>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 :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Softmax</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Principe de base de la fusion d'opérateurs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Load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t</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ous les threads coop</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rent en parall</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le, lisent les donn</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es depuis la m</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moire globale et les </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crivent dans la m</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moire partag</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e.</a:t>
            </a:r>
            <a:endPar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Sync &amp; Reduce</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d</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ans la m</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partag</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effectuer plusieurs it</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Cette </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tape se fait enti</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rement sur puce à grande vitesse, sans consommer de bande passante m</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a:t>
            </a:r>
            <a:endPar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CUDA</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chaque étape nécessite l'utilisation de</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__syncthreads() </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synchroniser</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Triton</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implémenté automatiquement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Write</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seul le résultat final de la réduction sera réécrit </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dans la m</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moire globale.</a:t>
            </a:r>
            <a:endPar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Softmax_kernel</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20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20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sidence en SRAM : les donn</a:t>
            </a:r>
            <a:r>
              <a:rPr lang="en-US" altLang="en-US" sz="20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de la ligne enti</a:t>
            </a:r>
            <a:r>
              <a:rPr lang="en-US" altLang="en-US" sz="20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0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 sont charg</a:t>
            </a:r>
            <a:r>
              <a:rPr lang="en-US" altLang="en-US" sz="20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et restent sur la puce jusqu’à la fin du calcul.</a:t>
            </a:r>
            <a:endParaRPr lang="en-US" altLang="zh-CN" sz="20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951230" y="2059305"/>
            <a:ext cx="7709535" cy="4117975"/>
          </a:xfrm>
          <a:prstGeom prst="rect">
            <a:avLst/>
          </a:prstGeom>
          <a:ln w="12700">
            <a:noFill/>
            <a:prstDash val="solid"/>
          </a:ln>
        </p:spPr>
      </p:pic>
      <p:sp>
        <p:nvSpPr>
          <p:cNvPr id="7" name="AutoShape 7"/>
          <p:cNvSpPr/>
          <p:nvPr/>
        </p:nvSpPr>
        <p:spPr>
          <a:xfrm>
            <a:off x="1482090" y="4338955"/>
            <a:ext cx="4272915" cy="179705"/>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8" name="AutoShape 8"/>
          <p:cNvSpPr/>
          <p:nvPr/>
        </p:nvSpPr>
        <p:spPr>
          <a:xfrm>
            <a:off x="1482090" y="3199765"/>
            <a:ext cx="5426075" cy="789305"/>
          </a:xfrm>
          <a:prstGeom prst="rect">
            <a:avLst/>
          </a:prstGeom>
          <a:noFill/>
          <a:ln w="12700" cap="flat">
            <a:solidFill>
              <a:srgbClr val="FFFFF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9" name="AutoShape 9"/>
          <p:cNvSpPr/>
          <p:nvPr/>
        </p:nvSpPr>
        <p:spPr>
          <a:xfrm>
            <a:off x="6254750" y="4244340"/>
            <a:ext cx="652780"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045" b="0" i="0" u="none" strike="noStrike">
                <a:solidFill>
                  <a:srgbClr val="FFFF00"/>
                </a:solidFill>
                <a:latin typeface="Calibri" panose="020F0502020204030204"/>
                <a:ea typeface="微软雅黑" panose="020B0503020204020204" charset="-122"/>
                <a:cs typeface="微软雅黑" panose="020B0503020204020204" charset="-122"/>
                <a:sym typeface="微软雅黑" panose="020B0503020204020204" charset="-122"/>
              </a:rPr>
              <a:t>Chargement</a:t>
            </a:r>
            <a:endParaRPr lang="en-US" sz="1100"/>
          </a:p>
        </p:txBody>
      </p:sp>
      <p:sp>
        <p:nvSpPr>
          <p:cNvPr id="10" name="AutoShape 10"/>
          <p:cNvSpPr/>
          <p:nvPr/>
        </p:nvSpPr>
        <p:spPr>
          <a:xfrm>
            <a:off x="7048500" y="3410585"/>
            <a:ext cx="1555115"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020" b="0"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Calcul des pointeurs mémoire</a:t>
            </a:r>
            <a:endParaRPr lang="en-US" sz="1100"/>
          </a:p>
        </p:txBody>
      </p:sp>
      <p:sp>
        <p:nvSpPr>
          <p:cNvPr id="11" name="AutoShape 11"/>
          <p:cNvSpPr/>
          <p:nvPr/>
        </p:nvSpPr>
        <p:spPr>
          <a:xfrm>
            <a:off x="1482090" y="5940425"/>
            <a:ext cx="4272915" cy="179705"/>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6319520" y="5751830"/>
            <a:ext cx="1175385"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000" b="0" i="0" u="none" strike="noStrike">
                <a:solidFill>
                  <a:srgbClr val="FFFF00"/>
                </a:solidFill>
                <a:latin typeface="Calibri" panose="020F0502020204030204"/>
                <a:ea typeface="微软雅黑" panose="020B0503020204020204" charset="-122"/>
                <a:cs typeface="微软雅黑" panose="020B0503020204020204" charset="-122"/>
                <a:sym typeface="微软雅黑" panose="020B0503020204020204" charset="-122"/>
              </a:rPr>
              <a:t>Réécriture des données</a:t>
            </a:r>
            <a:endParaRPr lang="en-US" sz="1100"/>
          </a:p>
        </p:txBody>
      </p:sp>
      <p:sp>
        <p:nvSpPr>
          <p:cNvPr id="14" name="文本占位符 13"/>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Softmax_kernel</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Fusion d'opérateurs : fusionner</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Max, Sub, Exp, Sum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 un seul</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Kernel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951230" y="1878330"/>
            <a:ext cx="8053705" cy="4301490"/>
          </a:xfrm>
          <a:prstGeom prst="rect">
            <a:avLst/>
          </a:prstGeom>
          <a:ln w="12700">
            <a:noFill/>
            <a:prstDash val="solid"/>
          </a:ln>
        </p:spPr>
      </p:pic>
      <p:sp>
        <p:nvSpPr>
          <p:cNvPr id="7" name="AutoShape 7"/>
          <p:cNvSpPr/>
          <p:nvPr/>
        </p:nvSpPr>
        <p:spPr>
          <a:xfrm>
            <a:off x="1482090" y="4459605"/>
            <a:ext cx="6150610" cy="1006475"/>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8" name="AutoShape 8"/>
          <p:cNvSpPr/>
          <p:nvPr/>
        </p:nvSpPr>
        <p:spPr>
          <a:xfrm>
            <a:off x="7749540" y="4627880"/>
            <a:ext cx="1226820"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090" b="0" i="0" u="none" strike="noStrike">
                <a:solidFill>
                  <a:srgbClr val="FFFF00"/>
                </a:solidFill>
                <a:latin typeface="Calibri" panose="020F0502020204030204"/>
                <a:ea typeface="微软雅黑" panose="020B0503020204020204" charset="-122"/>
                <a:cs typeface="微软雅黑" panose="020B0503020204020204" charset="-122"/>
                <a:sym typeface="微软雅黑" panose="020B0503020204020204" charset="-122"/>
              </a:rPr>
              <a:t>Fusion d'opérateurs</a:t>
            </a:r>
            <a:endParaRPr lang="en-US" sz="1100"/>
          </a:p>
        </p:txBody>
      </p:sp>
      <p:pic>
        <p:nvPicPr>
          <p:cNvPr id="9" name="Picture 9"/>
          <p:cNvPicPr>
            <a:picLocks noChangeAspect="1"/>
          </p:cNvPicPr>
          <p:nvPr/>
        </p:nvPicPr>
        <p:blipFill>
          <a:blip r:embed="rId2"/>
          <a:srcRect/>
          <a:stretch>
            <a:fillRect/>
          </a:stretch>
        </p:blipFill>
        <p:spPr>
          <a:xfrm>
            <a:off x="9214485" y="4459605"/>
            <a:ext cx="2444750" cy="1160780"/>
          </a:xfrm>
          <a:prstGeom prst="rect">
            <a:avLst/>
          </a:prstGeom>
          <a:ln w="12700">
            <a:noFill/>
            <a:prstDash val="solid"/>
          </a:ln>
        </p:spPr>
      </p:pic>
      <p:sp>
        <p:nvSpPr>
          <p:cNvPr id="10" name="AutoShape 10"/>
          <p:cNvSpPr/>
          <p:nvPr/>
        </p:nvSpPr>
        <p:spPr>
          <a:xfrm>
            <a:off x="9214485" y="3072130"/>
            <a:ext cx="2287270" cy="1242695"/>
          </a:xfrm>
          <a:prstGeom prst="rect">
            <a:avLst/>
          </a:prstGeom>
          <a:noFill/>
          <a:ln w="12700">
            <a:noFill/>
            <a:prstDash val="solid"/>
          </a:ln>
        </p:spPr>
        <p:txBody>
          <a:bodyPr wrap="square" lIns="91440" tIns="45720" rIns="91440" bIns="45720" rtlCol="0" anchor="t">
            <a:spAutoFit/>
          </a:bodyPr>
          <a:lstStyle/>
          <a:p>
            <a:pPr indent="0" algn="l">
              <a:lnSpc>
                <a:spcPct val="117000"/>
              </a:lnSpc>
              <a:defRP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Impl</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mentation automatique interne d’une structure arborescente parall</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a:t>
            </a:r>
            <a:endParaRPr lang="en-US" sz="1600"/>
          </a:p>
        </p:txBody>
      </p:sp>
      <p:sp>
        <p:nvSpPr>
          <p:cNvPr id="12" name="文本占位符 11"/>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SoftMax Host</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5" name="Picture 5"/>
          <p:cNvPicPr>
            <a:picLocks noGrp="1" noChangeAspect="1"/>
          </p:cNvPicPr>
          <p:nvPr>
            <p:ph type="body" sz="quarter" idx="9"/>
          </p:nvPr>
        </p:nvPicPr>
        <p:blipFill>
          <a:blip r:embed="rId1"/>
          <a:srcRect/>
          <a:stretch>
            <a:fillRect/>
          </a:stretch>
        </p:blipFill>
        <p:spPr>
          <a:xfrm>
            <a:off x="741482" y="1132840"/>
            <a:ext cx="7683896" cy="4852988"/>
          </a:xfrm>
          <a:prstGeom prst="rect">
            <a:avLst/>
          </a:prstGeom>
        </p:spPr>
      </p:pic>
      <p:sp>
        <p:nvSpPr>
          <p:cNvPr id="6" name="AutoShape 6"/>
          <p:cNvSpPr/>
          <p:nvPr/>
        </p:nvSpPr>
        <p:spPr>
          <a:xfrm>
            <a:off x="8564880" y="1133475"/>
            <a:ext cx="3298825" cy="4852670"/>
          </a:xfrm>
          <a:prstGeom prst="rect">
            <a:avLst/>
          </a:prstGeom>
          <a:noFill/>
          <a:ln w="12700">
            <a:noFill/>
            <a:prstDash val="solid"/>
          </a:ln>
        </p:spPr>
        <p:txBody>
          <a:bodyPr vert="horz" wrap="square" lIns="91440" tIns="45720" rIns="91440" bIns="45720" rtlCol="0" anchor="t">
            <a:normAutofit/>
          </a:bodyPr>
          <a:lstStyle/>
          <a:p>
            <a:pPr marL="254000" indent="-254000" algn="l">
              <a:lnSpc>
                <a:spcPct val="133000"/>
              </a:lnSpc>
              <a:spcBef>
                <a:spcPts val="1200"/>
              </a:spcBef>
              <a:buClr>
                <a:srgbClr val="404040"/>
              </a:buClr>
              <a:buChar char="•"/>
              <a:defRP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Spécialisation statique du noyau</a:t>
            </a:r>
            <a:endParaRPr lang="en-US" sz="1600"/>
          </a:p>
          <a:p>
            <a:pPr marL="596900" lvl="1" indent="-254000" algn="l">
              <a:lnSpc>
                <a:spcPct val="133000"/>
              </a:lnSpc>
              <a:spcBef>
                <a:spcPts val="120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Aligner la dimension d'entrée à une puissance de</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2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33000"/>
              </a:lnSpc>
              <a:spcBef>
                <a:spcPts val="120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S'assurer que le paramètre du noyau</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BLOCK_SIZE </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est une constante de compilation, permettant au compilateur d'exécuter un déroulement complet de boucle</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éliminant les coûts de branchement à l'exécution.</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7" name="AutoShape 7"/>
          <p:cNvSpPr/>
          <p:nvPr/>
        </p:nvSpPr>
        <p:spPr>
          <a:xfrm>
            <a:off x="854075" y="1837690"/>
            <a:ext cx="5713730" cy="596900"/>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SoftMax Host</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5" name="Picture 5"/>
          <p:cNvPicPr>
            <a:picLocks noGrp="1" noChangeAspect="1"/>
          </p:cNvPicPr>
          <p:nvPr>
            <p:ph type="body" sz="quarter" idx="9"/>
          </p:nvPr>
        </p:nvPicPr>
        <p:blipFill>
          <a:blip r:embed="rId1"/>
          <a:srcRect/>
          <a:stretch>
            <a:fillRect/>
          </a:stretch>
        </p:blipFill>
        <p:spPr>
          <a:xfrm>
            <a:off x="741482" y="1070610"/>
            <a:ext cx="7683896" cy="4852988"/>
          </a:xfrm>
          <a:prstGeom prst="rect">
            <a:avLst/>
          </a:prstGeom>
        </p:spPr>
      </p:pic>
      <p:sp>
        <p:nvSpPr>
          <p:cNvPr id="6" name="AutoShape 6"/>
          <p:cNvSpPr/>
          <p:nvPr/>
        </p:nvSpPr>
        <p:spPr>
          <a:xfrm>
            <a:off x="8620125" y="1070610"/>
            <a:ext cx="3370580" cy="4853305"/>
          </a:xfrm>
          <a:prstGeom prst="rect">
            <a:avLst/>
          </a:prstGeom>
          <a:noFill/>
          <a:ln w="12700">
            <a:noFill/>
            <a:prstDash val="solid"/>
          </a:ln>
        </p:spPr>
        <p:txBody>
          <a:bodyPr vert="horz" wrap="square" lIns="91440" tIns="45720" rIns="91440" bIns="45720" rtlCol="0" anchor="t">
            <a:normAutofit fontScale="97500" lnSpcReduction="10000"/>
          </a:bodyPr>
          <a:lstStyle/>
          <a:p>
            <a:pPr marL="254000" indent="-254000" algn="l">
              <a:lnSpc>
                <a:spcPct val="150000"/>
              </a:lnSpc>
              <a:spcBef>
                <a:spcPts val="1200"/>
              </a:spcBef>
              <a:buClr>
                <a:srgbClr val="404040"/>
              </a:buClr>
              <a:buChar char="•"/>
              <a:defRP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Occupancy sensible au materiel</a:t>
            </a:r>
            <a:endParaRPr lang="en-US" sz="1100"/>
          </a:p>
          <a:p>
            <a:pPr marL="596900" lvl="1" indent="-254000" algn="l">
              <a:lnSpc>
                <a:spcPct val="150000"/>
              </a:lnSpc>
              <a:spcBef>
                <a:spcPts val="120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D</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tecter par warm‑up la consommation r</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elle des registres et de la SRAM par le noyau</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50000"/>
              </a:lnSpc>
              <a:spcBef>
                <a:spcPts val="120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Maximiser le nombre de warps actifs par SM (Streaming Multiprocessor)</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7" name="AutoShape 7"/>
          <p:cNvSpPr/>
          <p:nvPr/>
        </p:nvSpPr>
        <p:spPr>
          <a:xfrm>
            <a:off x="854075" y="2434590"/>
            <a:ext cx="6724650" cy="1840230"/>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SoftMax Host</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5" name="Picture 5"/>
          <p:cNvPicPr>
            <a:picLocks noGrp="1" noChangeAspect="1"/>
          </p:cNvPicPr>
          <p:nvPr>
            <p:ph type="body" sz="quarter" idx="9"/>
          </p:nvPr>
        </p:nvPicPr>
        <p:blipFill>
          <a:blip r:embed="rId1"/>
          <a:srcRect/>
          <a:stretch>
            <a:fillRect/>
          </a:stretch>
        </p:blipFill>
        <p:spPr>
          <a:xfrm>
            <a:off x="853242" y="1189990"/>
            <a:ext cx="7683896" cy="4852988"/>
          </a:xfrm>
          <a:prstGeom prst="rect">
            <a:avLst/>
          </a:prstGeom>
        </p:spPr>
      </p:pic>
      <p:sp>
        <p:nvSpPr>
          <p:cNvPr id="6" name="AutoShape 6"/>
          <p:cNvSpPr/>
          <p:nvPr/>
        </p:nvSpPr>
        <p:spPr>
          <a:xfrm>
            <a:off x="8649970" y="1189990"/>
            <a:ext cx="3142615" cy="4853305"/>
          </a:xfrm>
          <a:prstGeom prst="rect">
            <a:avLst/>
          </a:prstGeom>
          <a:noFill/>
          <a:ln w="12700">
            <a:noFill/>
            <a:prstDash val="solid"/>
          </a:ln>
        </p:spPr>
        <p:txBody>
          <a:bodyPr vert="horz" wrap="square" lIns="91440" tIns="45720" rIns="91440" bIns="45720" rtlCol="0" anchor="t">
            <a:normAutofit/>
          </a:bodyPr>
          <a:lstStyle/>
          <a:p>
            <a:pPr marL="254000" indent="-254000" algn="l">
              <a:lnSpc>
                <a:spcPct val="150000"/>
              </a:lnSpc>
              <a:spcBef>
                <a:spcPts val="1200"/>
              </a:spcBef>
              <a:buClr>
                <a:srgbClr val="404040"/>
              </a:buClr>
              <a:buChar char="•"/>
              <a:defRP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Lancement de grille persistant</a:t>
            </a:r>
            <a:endParaRPr lang="en-US" sz="1100"/>
          </a:p>
          <a:p>
            <a:pPr marL="596900" lvl="1" indent="-254000" algn="l">
              <a:lnSpc>
                <a:spcPct val="117000"/>
              </a:lnSpc>
              <a:spcBef>
                <a:spcPts val="120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coupler la taille de la grille de la quantit</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donn</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a:t>
            </a:r>
            <a:endPar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17000"/>
              </a:lnSpc>
              <a:spcBef>
                <a:spcPts val="120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 bloc traite s</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quentiellement plusieurs lignes de donn</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via une boucle à pas (Grid‑Stride Loop). </a:t>
            </a:r>
            <a:endPar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7" name="AutoShape 7"/>
          <p:cNvSpPr/>
          <p:nvPr/>
        </p:nvSpPr>
        <p:spPr>
          <a:xfrm>
            <a:off x="854075" y="4369435"/>
            <a:ext cx="6724650" cy="940435"/>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41404" y="431629"/>
            <a:ext cx="7024646" cy="700925"/>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7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Optimisation cach</a:t>
            </a:r>
            <a:r>
              <a:rPr lang="en-US" altLang="en-US" sz="27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7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 1 </a:t>
            </a:r>
            <a:r>
              <a:rPr lang="en-US" sz="27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adressage continu</a:t>
            </a:r>
            <a:endParaRPr lang="en-US" sz="27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4" y="1323975"/>
            <a:ext cx="7242176" cy="4852988"/>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L’adressage entrelac</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entra</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 des conflits de banque en m</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partag</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58495" y="2215515"/>
            <a:ext cx="6737985" cy="3708400"/>
          </a:xfrm>
          <a:prstGeom prst="rect">
            <a:avLst/>
          </a:prstGeom>
          <a:ln w="12700">
            <a:noFill/>
            <a:prstDash val="solid"/>
          </a:ln>
        </p:spPr>
      </p:pic>
      <p:pic>
        <p:nvPicPr>
          <p:cNvPr id="7" name="Picture 7"/>
          <p:cNvPicPr>
            <a:picLocks noChangeAspect="1"/>
          </p:cNvPicPr>
          <p:nvPr/>
        </p:nvPicPr>
        <p:blipFill>
          <a:blip r:embed="rId2"/>
          <a:srcRect t="-12" r="31029"/>
          <a:stretch>
            <a:fillRect/>
          </a:stretch>
        </p:blipFill>
        <p:spPr>
          <a:xfrm>
            <a:off x="7766050" y="866140"/>
            <a:ext cx="2546350" cy="5490210"/>
          </a:xfrm>
          <a:prstGeom prst="rect">
            <a:avLst/>
          </a:prstGeom>
          <a:ln w="12700">
            <a:noFill/>
            <a:prstDash val="solid"/>
          </a:ln>
        </p:spPr>
      </p:pic>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Optimisation cach</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 1 : adressage contigu </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L'adressage continu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des threads adjacents lisent des donn</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adjacentes) permet de maximiser la bande passante m</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a:t>
            </a:r>
            <a:endPar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41680" y="2172970"/>
            <a:ext cx="6321425" cy="354901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219950" y="5067935"/>
            <a:ext cx="4279900" cy="553085"/>
          </a:xfrm>
          <a:prstGeom prst="rect">
            <a:avLst/>
          </a:prstGeom>
          <a:ln w="12700">
            <a:noFill/>
            <a:prstDash val="solid"/>
          </a:ln>
        </p:spPr>
      </p:pic>
      <p:sp>
        <p:nvSpPr>
          <p:cNvPr id="8" name="AutoShape 8"/>
          <p:cNvSpPr/>
          <p:nvPr/>
        </p:nvSpPr>
        <p:spPr>
          <a:xfrm>
            <a:off x="7219950" y="3613150"/>
            <a:ext cx="4397375" cy="1322070"/>
          </a:xfrm>
          <a:prstGeom prst="rect">
            <a:avLst/>
          </a:prstGeom>
          <a:noFill/>
          <a:ln w="12700">
            <a:noFill/>
            <a:prstDash val="solid"/>
          </a:ln>
        </p:spPr>
        <p:txBody>
          <a:bodyPr wrap="square" lIns="91440" tIns="45720" rIns="91440" bIns="45720" rtlCol="0" anchor="t">
            <a:spAutoFit/>
          </a:bodyPr>
          <a:lstStyle/>
          <a:p>
            <a:pPr indent="0" algn="l">
              <a:lnSpc>
                <a:spcPct val="117000"/>
              </a:lnSpc>
              <a:defRPr/>
            </a:pP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Compar</a:t>
            </a:r>
            <a:r>
              <a:rPr lang="en-US" alt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à CUDA, il est difficile d’</a:t>
            </a:r>
            <a:r>
              <a:rPr lang="en-US" alt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crire du code erron</a:t>
            </a:r>
            <a:r>
              <a:rPr lang="en-US" alt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avec Triton. L’utilisation explicite de tl.arange() force la g</a:t>
            </a:r>
            <a:r>
              <a:rPr lang="en-US" alt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d’indices contigus.</a:t>
            </a:r>
            <a:endPar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10" name="文本占位符 9"/>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95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Optimisation cach</a:t>
            </a:r>
            <a:r>
              <a:rPr lang="en-US" altLang="en-US" sz="295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95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 2 : cascade algorithmique</a:t>
            </a:r>
            <a:endParaRPr lang="en-US" altLang="zh-CN" sz="295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210" b="0" i="0" u="none" strike="noStrike">
                <a:solidFill>
                  <a:srgbClr val="404040"/>
                </a:solidFill>
                <a:latin typeface="Calibri" panose="020F0502020204030204"/>
                <a:ea typeface="Calibri" panose="020F0502020204030204"/>
                <a:cs typeface="Calibri" panose="020F0502020204030204"/>
                <a:sym typeface="Calibri" panose="020F0502020204030204"/>
              </a:rPr>
              <a:t>Un thread traite plusieurs donn</a:t>
            </a:r>
            <a:r>
              <a:rPr lang="en-US" altLang="en-US" sz="221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210" b="0" i="0" u="none" strike="noStrike">
                <a:solidFill>
                  <a:srgbClr val="404040"/>
                </a:solidFill>
                <a:latin typeface="Calibri" panose="020F0502020204030204"/>
                <a:ea typeface="Calibri" panose="020F0502020204030204"/>
                <a:cs typeface="Calibri" panose="020F0502020204030204"/>
                <a:sym typeface="Calibri" panose="020F0502020204030204"/>
              </a:rPr>
              <a:t>es, augmentant la charge de travail par thread, masquant la latence, r</a:t>
            </a:r>
            <a:r>
              <a:rPr lang="en-US" altLang="en-US" sz="221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210" b="0" i="0" u="none" strike="noStrike">
                <a:solidFill>
                  <a:srgbClr val="404040"/>
                </a:solidFill>
                <a:latin typeface="Calibri" panose="020F0502020204030204"/>
                <a:ea typeface="Calibri" panose="020F0502020204030204"/>
                <a:cs typeface="Calibri" panose="020F0502020204030204"/>
                <a:sym typeface="Calibri" panose="020F0502020204030204"/>
              </a:rPr>
              <a:t>duisant le co</a:t>
            </a:r>
            <a:r>
              <a:rPr lang="en-US" altLang="en-US" sz="2210" b="0" i="0" u="none" strike="noStrike">
                <a:solidFill>
                  <a:srgbClr val="404040"/>
                </a:solidFill>
                <a:latin typeface="Calibri" panose="020F0502020204030204"/>
                <a:ea typeface="Calibri" panose="020F0502020204030204"/>
                <a:cs typeface="Calibri" panose="020F0502020204030204"/>
                <a:sym typeface="Calibri" panose="020F0502020204030204"/>
              </a:rPr>
              <a:t>û</a:t>
            </a:r>
            <a:r>
              <a:rPr lang="en-US" altLang="zh-CN" sz="2210" b="0" i="0" u="none" strike="noStrike">
                <a:solidFill>
                  <a:srgbClr val="404040"/>
                </a:solidFill>
                <a:latin typeface="Calibri" panose="020F0502020204030204"/>
                <a:ea typeface="Calibri" panose="020F0502020204030204"/>
                <a:cs typeface="Calibri" panose="020F0502020204030204"/>
                <a:sym typeface="Calibri" panose="020F0502020204030204"/>
              </a:rPr>
              <a:t>t de lancement des blocs</a:t>
            </a:r>
            <a:r>
              <a:rPr lang="en-US" sz="221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21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t>
            </a: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 BLOCK_SIZE est tr</a:t>
            </a:r>
            <a:r>
              <a:rPr lang="en-US" alt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sup</a:t>
            </a:r>
            <a:r>
              <a:rPr lang="en-US" alt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rieur au nombre de threads physiques, le compilateur Triton ex</a:t>
            </a:r>
            <a:r>
              <a:rPr lang="en-US" alt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cute automatiquement une boucle interne à chaque thread physique, traitant BLOCK_SIZE / thread_num </a:t>
            </a:r>
            <a:r>
              <a:rPr lang="en-US" alt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ments.</a:t>
            </a:r>
            <a:endPar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2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Analyse </a:t>
            </a:r>
            <a:r>
              <a:rPr lang="en-US" altLang="zh-CN" sz="22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th</a:t>
            </a:r>
            <a:r>
              <a:rPr lang="en-US" altLang="en-US" sz="22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orique</a:t>
            </a:r>
            <a:endParaRPr lang="en-US" altLang="zh-CN" sz="22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Sch</a:t>
            </a:r>
            <a:r>
              <a:rPr lang="en-US" alt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 na</a:t>
            </a:r>
            <a:r>
              <a:rPr lang="en-US" alt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ï</a:t>
            </a: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a:t>
            </a:r>
            <a:r>
              <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allouer</a:t>
            </a:r>
            <a:r>
              <a:rPr lang="en-US" sz="1840" b="0" i="0" u="none" strike="noStrike">
                <a:solidFill>
                  <a:srgbClr val="404040"/>
                </a:solidFill>
                <a:latin typeface="Calibri" panose="020F0502020204030204"/>
                <a:ea typeface="Calibri" panose="020F0502020204030204"/>
                <a:cs typeface="Calibri" panose="020F0502020204030204"/>
                <a:sym typeface="Calibri" panose="020F0502020204030204"/>
              </a:rPr>
              <a:t> O(N) </a:t>
            </a:r>
            <a:r>
              <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threads, </a:t>
            </a: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complexit</a:t>
            </a:r>
            <a:r>
              <a:rPr lang="en-US" alt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 </a:t>
            </a:r>
            <a:r>
              <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temporelle</a:t>
            </a:r>
            <a:r>
              <a:rPr lang="en-US" sz="1840" b="0" i="0" u="none" strike="noStrike">
                <a:solidFill>
                  <a:srgbClr val="404040"/>
                </a:solidFill>
                <a:latin typeface="Calibri" panose="020F0502020204030204"/>
                <a:ea typeface="Calibri" panose="020F0502020204030204"/>
                <a:cs typeface="Calibri" panose="020F0502020204030204"/>
                <a:sym typeface="Calibri" panose="020F0502020204030204"/>
              </a:rPr>
              <a:t> O(log N)</a:t>
            </a:r>
            <a:r>
              <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a:t>
            </a:r>
            <a:r>
              <a:rPr lang="en-US" alt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 </a:t>
            </a:r>
            <a:r>
              <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total</a:t>
            </a:r>
            <a:r>
              <a:rPr lang="en-US" sz="1840" b="0" i="0" u="none" strike="noStrike">
                <a:solidFill>
                  <a:srgbClr val="404040"/>
                </a:solidFill>
                <a:latin typeface="Calibri" panose="020F0502020204030204"/>
                <a:ea typeface="Calibri" panose="020F0502020204030204"/>
                <a:cs typeface="Calibri" panose="020F0502020204030204"/>
                <a:sym typeface="Calibri" panose="020F0502020204030204"/>
              </a:rPr>
              <a:t> O(N log N)</a:t>
            </a:r>
            <a:endParaRPr lang="en-US" sz="184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840" b="0" i="0" u="none" strike="noStrike">
                <a:solidFill>
                  <a:srgbClr val="404040"/>
                </a:solidFill>
                <a:latin typeface="Calibri" panose="020F0502020204030204"/>
                <a:ea typeface="Calibri" panose="020F0502020204030204"/>
                <a:cs typeface="Calibri" panose="020F0502020204030204"/>
                <a:sym typeface="Calibri" panose="020F0502020204030204"/>
              </a:rPr>
              <a:t>Th</a:t>
            </a:r>
            <a:r>
              <a:rPr lang="en-US" altLang="en-US" sz="184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40" b="0" i="0" u="none" strike="noStrike">
                <a:solidFill>
                  <a:srgbClr val="404040"/>
                </a:solidFill>
                <a:latin typeface="Calibri" panose="020F0502020204030204"/>
                <a:ea typeface="Calibri" panose="020F0502020204030204"/>
                <a:cs typeface="Calibri" panose="020F0502020204030204"/>
                <a:sym typeface="Calibri" panose="020F0502020204030204"/>
              </a:rPr>
              <a:t>or</a:t>
            </a:r>
            <a:r>
              <a:rPr lang="en-US" altLang="en-US" sz="1840"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1840" b="0" i="0" u="none" strike="noStrike">
                <a:solidFill>
                  <a:srgbClr val="404040"/>
                </a:solidFill>
                <a:latin typeface="Calibri" panose="020F0502020204030204"/>
                <a:ea typeface="Calibri" panose="020F0502020204030204"/>
                <a:cs typeface="Calibri" panose="020F0502020204030204"/>
                <a:sym typeface="Calibri" panose="020F0502020204030204"/>
              </a:rPr>
              <a:t>me de Brent optimis</a:t>
            </a:r>
            <a:r>
              <a:rPr lang="en-US" altLang="en-US" sz="184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sz="1840" b="0" i="0" u="none" strike="noStrike">
                <a:solidFill>
                  <a:srgbClr val="404040"/>
                </a:solidFill>
                <a:latin typeface="Calibri" panose="020F0502020204030204"/>
                <a:ea typeface="Calibri" panose="020F0502020204030204"/>
                <a:cs typeface="Calibri" panose="020F0502020204030204"/>
                <a:sym typeface="Calibri" panose="020F0502020204030204"/>
              </a:rPr>
              <a:t> : utiliser</a:t>
            </a:r>
            <a:r>
              <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O(N/log N) </a:t>
            </a:r>
            <a:r>
              <a:rPr lang="en-US" sz="1840" b="0" i="0" u="none" strike="noStrike">
                <a:solidFill>
                  <a:srgbClr val="404040"/>
                </a:solidFill>
                <a:latin typeface="Calibri" panose="020F0502020204030204"/>
                <a:ea typeface="Calibri" panose="020F0502020204030204"/>
                <a:cs typeface="Calibri" panose="020F0502020204030204"/>
                <a:sym typeface="Calibri" panose="020F0502020204030204"/>
              </a:rPr>
              <a:t>threads, chaque thread traite d'abord en </a:t>
            </a: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t>
            </a:r>
            <a:r>
              <a:rPr lang="en-US" alt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 </a:t>
            </a:r>
            <a:r>
              <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O(log N) </a:t>
            </a:r>
            <a:r>
              <a:rPr lang="en-US" altLang="en-US" sz="184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40" b="0" i="0" u="none" strike="noStrike">
                <a:solidFill>
                  <a:srgbClr val="404040"/>
                </a:solidFill>
                <a:latin typeface="Calibri" panose="020F0502020204030204"/>
                <a:ea typeface="Calibri" panose="020F0502020204030204"/>
                <a:cs typeface="Calibri" panose="020F0502020204030204"/>
                <a:sym typeface="Calibri" panose="020F0502020204030204"/>
              </a:rPr>
              <a:t>l</a:t>
            </a:r>
            <a:r>
              <a:rPr lang="en-US" altLang="en-US" sz="184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40" b="0" i="0" u="none" strike="noStrike">
                <a:solidFill>
                  <a:srgbClr val="404040"/>
                </a:solidFill>
                <a:latin typeface="Calibri" panose="020F0502020204030204"/>
                <a:ea typeface="Calibri" panose="020F0502020204030204"/>
                <a:cs typeface="Calibri" panose="020F0502020204030204"/>
                <a:sym typeface="Calibri" panose="020F0502020204030204"/>
              </a:rPr>
              <a:t>ments</a:t>
            </a:r>
            <a:r>
              <a:rPr lang="en-US" sz="1840" b="0" i="0" u="none" strike="noStrike">
                <a:solidFill>
                  <a:srgbClr val="404040"/>
                </a:solidFill>
                <a:latin typeface="Calibri" panose="020F0502020204030204"/>
                <a:ea typeface="Calibri" panose="020F0502020204030204"/>
                <a:cs typeface="Calibri" panose="020F0502020204030204"/>
                <a:sym typeface="Calibri" panose="020F0502020204030204"/>
              </a:rPr>
              <a:t>, puis tous les threads collaborent pour</a:t>
            </a:r>
            <a:r>
              <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O(log N) </a:t>
            </a:r>
            <a:r>
              <a:rPr lang="en-US" alt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tapes.</a:t>
            </a:r>
            <a:r>
              <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a:t>
            </a:r>
            <a:r>
              <a:rPr lang="en-US" alt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 </a:t>
            </a:r>
            <a:r>
              <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total</a:t>
            </a:r>
            <a:r>
              <a:rPr lang="en-US" sz="1840" b="0" i="0" u="none" strike="noStrike">
                <a:solidFill>
                  <a:srgbClr val="404040"/>
                </a:solidFill>
                <a:latin typeface="Calibri" panose="020F0502020204030204"/>
                <a:ea typeface="Calibri" panose="020F0502020204030204"/>
                <a:cs typeface="Calibri" panose="020F0502020204030204"/>
                <a:sym typeface="Calibri" panose="020F0502020204030204"/>
              </a:rPr>
              <a:t> = O(N/log N) </a:t>
            </a:r>
            <a:r>
              <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x</a:t>
            </a:r>
            <a:r>
              <a:rPr lang="en-US" sz="1840" b="0" i="0" u="none" strike="noStrike">
                <a:solidFill>
                  <a:srgbClr val="404040"/>
                </a:solidFill>
                <a:latin typeface="Calibri" panose="020F0502020204030204"/>
                <a:ea typeface="Calibri" panose="020F0502020204030204"/>
                <a:cs typeface="Calibri" panose="020F0502020204030204"/>
                <a:sym typeface="Calibri" panose="020F0502020204030204"/>
              </a:rPr>
              <a:t> O(log N) = O(N) =&gt; </a:t>
            </a: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a:t>
            </a:r>
            <a:r>
              <a:rPr lang="en-US" alt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 </a:t>
            </a:r>
            <a:r>
              <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efficace.</a:t>
            </a:r>
            <a:endPar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r>
              <a:rPr lang="en-US" sz="184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4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Comparaison des performances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6" name="Picture 6"/>
          <p:cNvPicPr>
            <a:picLocks noChangeAspect="1"/>
          </p:cNvPicPr>
          <p:nvPr/>
        </p:nvPicPr>
        <p:blipFill>
          <a:blip r:embed="rId1"/>
          <a:srcRect/>
          <a:stretch>
            <a:fillRect/>
          </a:stretch>
        </p:blipFill>
        <p:spPr>
          <a:xfrm>
            <a:off x="612775" y="2479040"/>
            <a:ext cx="4352925" cy="316801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5150485" y="1375410"/>
            <a:ext cx="6461125" cy="4271645"/>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References</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https://docs.flagos.io</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https://developer.download.nvidia.com/assets/cuda/files/reduction.pdf</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https://www.bu.edu/pasi/files/2011/07/Lecture31.pdf</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http://fleetwood.dev/posts/layernorm-as-fast-as-possible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https://gfxcourses.stanford.edu/cs149/fall25</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https://triton-lang.org/main/getting-started/tutorials/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a:solidFill>
                  <a:srgbClr val="262626"/>
                </a:solidFill>
                <a:latin typeface="Calibri" panose="020F0502020204030204"/>
                <a:ea typeface="Calibri" panose="020F0502020204030204"/>
                <a:cs typeface="Calibri" panose="020F0502020204030204"/>
                <a:sym typeface="Calibri" panose="020F0502020204030204"/>
              </a:rPr>
              <a:t>Leçon</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 16</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5100" b="0" i="0" u="none" strike="noStrike">
                <a:solidFill>
                  <a:srgbClr val="262626"/>
                </a:solidFill>
                <a:latin typeface="Calibri" panose="020F0502020204030204"/>
                <a:ea typeface="Calibri" panose="020F0502020204030204"/>
                <a:cs typeface="Calibri" panose="020F0502020204030204"/>
                <a:sym typeface="Calibri" panose="020F0502020204030204"/>
              </a:rPr>
              <a:t>D</a:t>
            </a:r>
            <a:r>
              <a:rPr lang="en-US" alt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5100" b="0" i="0" u="none" strike="noStrike">
                <a:solidFill>
                  <a:srgbClr val="262626"/>
                </a:solidFill>
                <a:latin typeface="Calibri" panose="020F0502020204030204"/>
                <a:ea typeface="Calibri" panose="020F0502020204030204"/>
                <a:cs typeface="Calibri" panose="020F0502020204030204"/>
                <a:sym typeface="Calibri" panose="020F0502020204030204"/>
              </a:rPr>
              <a:t>bogage et profilage d’op</a:t>
            </a:r>
            <a:r>
              <a:rPr lang="en-US" alt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5100" b="0" i="0" u="none" strike="noStrike">
                <a:solidFill>
                  <a:srgbClr val="262626"/>
                </a:solidFill>
                <a:latin typeface="Calibri" panose="020F0502020204030204"/>
                <a:ea typeface="Calibri" panose="020F0502020204030204"/>
                <a:cs typeface="Calibri" panose="020F0502020204030204"/>
                <a:sym typeface="Calibri" panose="020F0502020204030204"/>
              </a:rPr>
              <a:t>rateurs complexes</a:t>
            </a:r>
            <a:endParaRPr lang="en-US" altLang="zh-CN"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Vue d'ensemble</a:t>
            </a:r>
            <a:endPar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Nsight System</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Nsight Compute</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Char char="•"/>
            </a:pPr>
            <a:r>
              <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Étude de cas</a:t>
            </a:r>
            <a:endPar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20" hasCustomPrompt="1"/>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NVIDIA Nsight - </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Outils de développement</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https://developer.nvidia.com/tools-overview</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1780" b="0" i="0" u="none" strike="noStrike">
                <a:solidFill>
                  <a:srgbClr val="404040"/>
                </a:solidFill>
                <a:latin typeface="Calibri" panose="020F0502020204030204"/>
                <a:ea typeface="Calibri" panose="020F0502020204030204"/>
                <a:cs typeface="Calibri" panose="020F0502020204030204"/>
                <a:sym typeface="Calibri" panose="020F0502020204030204"/>
              </a:rPr>
              <a:t>NVIDIA Nsight™ </a:t>
            </a:r>
            <a:r>
              <a:rPr 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est un ensemble puissant de bibliothèques, </a:t>
            </a:r>
            <a:r>
              <a:rPr lang="en-US" sz="1780" b="0" i="0" u="none" strike="noStrike">
                <a:solidFill>
                  <a:srgbClr val="404040"/>
                </a:solidFill>
                <a:latin typeface="Calibri" panose="020F0502020204030204"/>
                <a:ea typeface="Calibri" panose="020F0502020204030204"/>
                <a:cs typeface="Calibri" panose="020F0502020204030204"/>
                <a:sym typeface="Calibri" panose="020F0502020204030204"/>
              </a:rPr>
              <a:t>SDK </a:t>
            </a:r>
            <a:r>
              <a:rPr 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d'outils de développement, couvrant entièrement les plateformes de bureau et mobiles. Il vise à aider les développeurs à construire, déboguer et analyser les performances de manière efficace, afin de développer des logiciels exploitant pleinement le potentiel </a:t>
            </a:r>
            <a:r>
              <a:rPr lang="en-US" altLang="zh-CN"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 dernier mat</a:t>
            </a:r>
            <a:r>
              <a:rPr lang="en-US" alt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a:t>
            </a:r>
            <a:r>
              <a:rPr 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calcul accéléré.</a:t>
            </a:r>
            <a:endParaRPr 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1399235" y="2588713"/>
            <a:ext cx="9393637" cy="3767665"/>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700" b="0" i="0" u="none" strike="noStrike">
                <a:solidFill>
                  <a:srgbClr val="262626"/>
                </a:solidFill>
                <a:latin typeface="Calibri" panose="020F0502020204030204"/>
                <a:ea typeface="Calibri" panose="020F0502020204030204"/>
                <a:cs typeface="Calibri" panose="020F0502020204030204"/>
                <a:sym typeface="Calibri" panose="020F0502020204030204"/>
              </a:rPr>
              <a:t>Nsight </a:t>
            </a:r>
            <a:r>
              <a:rPr lang="en-US" sz="27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Chaîne d'outils (pour</a:t>
            </a:r>
            <a:r>
              <a:rPr lang="en-US" sz="2700" b="0" i="0" u="none" strike="noStrike">
                <a:solidFill>
                  <a:srgbClr val="262626"/>
                </a:solidFill>
                <a:latin typeface="Calibri" panose="020F0502020204030204"/>
                <a:ea typeface="Calibri" panose="020F0502020204030204"/>
                <a:cs typeface="Calibri" panose="020F0502020204030204"/>
                <a:sym typeface="Calibri" panose="020F0502020204030204"/>
              </a:rPr>
              <a:t> CUDA </a:t>
            </a:r>
            <a:r>
              <a:rPr lang="en-US" sz="27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analyse de performance)</a:t>
            </a:r>
            <a:endParaRPr lang="en-US" sz="27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graphicFrame>
        <p:nvGraphicFramePr>
          <p:cNvPr id="6" name="Table 6"/>
          <p:cNvGraphicFramePr>
            <a:graphicFrameLocks noGrp="1"/>
          </p:cNvGraphicFramePr>
          <p:nvPr/>
        </p:nvGraphicFramePr>
        <p:xfrm>
          <a:off x="599806" y="1367031"/>
          <a:ext cx="10852688" cy="3987098"/>
        </p:xfrm>
        <a:graphic>
          <a:graphicData uri="http://schemas.openxmlformats.org/drawingml/2006/table">
            <a:tbl>
              <a:tblPr>
                <a:effectLst/>
              </a:tblPr>
              <a:tblGrid>
                <a:gridCol w="2204173"/>
                <a:gridCol w="2066306"/>
                <a:gridCol w="3503221"/>
                <a:gridCol w="3078988"/>
              </a:tblGrid>
              <a:tr h="468951">
                <a:tc>
                  <a:txBody>
                    <a:bodyPr/>
                    <a:lstStyle/>
                    <a:p>
                      <a:pPr indent="0" algn="l">
                        <a:lnSpc>
                          <a:spcPct val="100000"/>
                        </a:lnSpc>
                        <a:defRPr/>
                      </a:pPr>
                      <a:r>
                        <a:rPr lang="en-US" sz="2000" b="0"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Nom de l'outil</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a:lstStyle/>
                    <a:p>
                      <a:pPr indent="0" algn="l">
                        <a:lnSpc>
                          <a:spcPct val="100000"/>
                        </a:lnSpc>
                        <a:defRPr/>
                      </a:pPr>
                      <a:r>
                        <a:rPr lang="en-US" sz="2000" b="0"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Niveau d'analyse</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a:lstStyle/>
                    <a:p>
                      <a:pPr indent="0" algn="l">
                        <a:lnSpc>
                          <a:spcPct val="100000"/>
                        </a:lnSpc>
                        <a:defRPr/>
                      </a:pPr>
                      <a:r>
                        <a:rPr lang="en-US" sz="2000" b="0"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Caractéristiques principales</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a:lstStyle/>
                    <a:p>
                      <a:pPr indent="0" algn="l">
                        <a:lnSpc>
                          <a:spcPct val="100000"/>
                        </a:lnSpc>
                        <a:defRPr/>
                      </a:pPr>
                      <a:r>
                        <a:rPr lang="en-US" sz="2000" b="0" i="0" u="none" strike="noStrike">
                          <a:solidFill>
                            <a:srgbClr val="FFFFFF"/>
                          </a:solidFill>
                          <a:latin typeface="Calibri" panose="020F0502020204030204"/>
                          <a:ea typeface="Arial" panose="020B0604020202020204"/>
                          <a:cs typeface="Arial" panose="020B0604020202020204"/>
                          <a:sym typeface="Arial" panose="020B0604020202020204"/>
                        </a:rPr>
                        <a:t>Typical Use Cases</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r>
              <a:tr h="1550762">
                <a:tc>
                  <a:txBody>
                    <a:bodyPr/>
                    <a:lstStyle/>
                    <a:p>
                      <a:pPr indent="0" algn="l">
                        <a:lnSpc>
                          <a:spcPct val="100000"/>
                        </a:lnSpc>
                        <a:defRPr/>
                      </a:pPr>
                      <a:r>
                        <a:rPr lang="en-US" sz="2000" b="0" i="0" u="none" strike="noStrike">
                          <a:solidFill>
                            <a:srgbClr val="000000"/>
                          </a:solidFill>
                          <a:latin typeface="Calibri" panose="020F0502020204030204"/>
                          <a:ea typeface="Arial" panose="020B0604020202020204"/>
                          <a:cs typeface="Arial" panose="020B0604020202020204"/>
                          <a:sym typeface="Arial" panose="020B0604020202020204"/>
                        </a:rPr>
                        <a:t>Nsight Systems</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ct val="100000"/>
                        </a:lnSpc>
                        <a:defRPr/>
                      </a:pPr>
                      <a:r>
                        <a:rPr lang="en-US" sz="20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Niveau système</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ct val="100000"/>
                        </a:lnSpc>
                        <a:defRPr/>
                      </a:pPr>
                      <a:r>
                        <a:rPr lang="en-US" sz="20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Analyse chronologique CPU/GPU croisée, suivi API, suivi multi-processus</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ct val="100000"/>
                        </a:lnSpc>
                        <a:defRPr/>
                      </a:pPr>
                      <a:r>
                        <a:rPr lang="en-US" sz="2000" b="0" i="0" u="none" strike="noStrike">
                          <a:solidFill>
                            <a:srgbClr val="000000"/>
                          </a:solidFill>
                          <a:latin typeface="Calibri" panose="020F0502020204030204"/>
                          <a:ea typeface="Arial" panose="020B0604020202020204"/>
                          <a:cs typeface="Arial" panose="020B0604020202020204"/>
                          <a:sym typeface="Arial" panose="020B0604020202020204"/>
                        </a:rPr>
                        <a:t>Faible utilisation GPU, déséquilibre de charge multi-GPU, problèmes de synchronisation CPU-GPU</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1967385">
                <a:tc>
                  <a:txBody>
                    <a:bodyPr/>
                    <a:lstStyle/>
                    <a:p>
                      <a:pPr indent="0" algn="l">
                        <a:lnSpc>
                          <a:spcPct val="100000"/>
                        </a:lnSpc>
                        <a:defRPr/>
                      </a:pPr>
                      <a:r>
                        <a:rPr lang="en-US" sz="2000" b="0" i="0" u="none" strike="noStrike">
                          <a:solidFill>
                            <a:srgbClr val="000000"/>
                          </a:solidFill>
                          <a:latin typeface="Calibri" panose="020F0502020204030204"/>
                          <a:ea typeface="Arial" panose="020B0604020202020204"/>
                          <a:cs typeface="Arial" panose="020B0604020202020204"/>
                          <a:sym typeface="Arial" panose="020B0604020202020204"/>
                        </a:rPr>
                        <a:t>Nsight Compute</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ct val="100000"/>
                        </a:lnSpc>
                        <a:defRPr/>
                      </a:pPr>
                      <a:r>
                        <a:rPr lang="en-US" sz="20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Niveau opérateur</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ct val="100000"/>
                        </a:lnSpc>
                        <a:defRPr/>
                      </a:pPr>
                      <a:r>
                        <a:rPr lang="en-US" sz="2000" b="0" i="0" u="none" strike="noStrike">
                          <a:solidFill>
                            <a:srgbClr val="000000"/>
                          </a:solidFill>
                          <a:latin typeface="Calibri" panose="020F0502020204030204"/>
                          <a:ea typeface="Arial" panose="020B0604020202020204"/>
                          <a:cs typeface="Arial" panose="020B0604020202020204"/>
                          <a:sym typeface="Arial" panose="020B0604020202020204"/>
                        </a:rPr>
                        <a:t>Analyse microarchitecture des opérateurs CUDA, métriques de performance au niveau instruction, suggestions d'optimisation</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ct val="100000"/>
                        </a:lnSpc>
                        <a:defRPr/>
                      </a:pPr>
                      <a:r>
                        <a:rPr lang="en-US" sz="20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Analyse des goulots d'étranglement de performance du kernel, optimisation des accès mémoire, ajustement des registres</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bl>
          </a:graphicData>
        </a:graphic>
      </p:graphicFrame>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29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Processus d’optimisation des applications CUDA</a:t>
            </a:r>
            <a:endParaRPr lang="en-US" altLang="zh-CN" sz="29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1"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Nsight Systems</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optimisation dans une perspective syst</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a:t>
            </a:r>
            <a:endPar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Nsight Compute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d</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ébogage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ptimisation d'opérateurs</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CUDA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spécifiques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348279" y="2980706"/>
            <a:ext cx="11495442" cy="2327688"/>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NVIDIA Nsight Systems</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https://developer.nvidia.com/nsight-systems</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NVIDIA Nsight Systems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est un outil d'analyse de performance</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à l'</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chelle du syst</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con</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ç</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 pour</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visualiser les algorithmes de l'application</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identifier les plus grandes opportunites d'optimisation</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ffectuer un 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glage pour une mise à l'</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chelle efficace entre un nombre et une taille quelconques de CPU et de GPU.</a:t>
            </a:r>
            <a:endPar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9091765" y="3750469"/>
            <a:ext cx="2071040" cy="2056455"/>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NVIDIA Nsight Systems - </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Fonctionnalit</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https://developer.nvidia.com/nsight-systems/get-started</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020" b="0" i="0" u="none" strike="noStrike">
                <a:solidFill>
                  <a:srgbClr val="404040"/>
                </a:solidFill>
                <a:latin typeface="Calibri" panose="020F0502020204030204"/>
                <a:ea typeface="Calibri" panose="020F0502020204030204"/>
                <a:cs typeface="Calibri" panose="020F0502020204030204"/>
                <a:sym typeface="Calibri" panose="020F0502020204030204"/>
              </a:rPr>
              <a:t>Visualisation du comportement des applications à l’</a:t>
            </a:r>
            <a:r>
              <a:rPr lang="en-US" altLang="en-US" sz="202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20" b="0" i="0" u="none" strike="noStrike">
                <a:solidFill>
                  <a:srgbClr val="404040"/>
                </a:solidFill>
                <a:latin typeface="Calibri" panose="020F0502020204030204"/>
                <a:ea typeface="Calibri" panose="020F0502020204030204"/>
                <a:cs typeface="Calibri" panose="020F0502020204030204"/>
                <a:sym typeface="Calibri" panose="020F0502020204030204"/>
              </a:rPr>
              <a:t>chelle du syst</a:t>
            </a:r>
            <a:r>
              <a:rPr lang="en-US" altLang="en-US" sz="2020"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2020" b="0" i="0" u="none" strike="noStrike">
                <a:solidFill>
                  <a:srgbClr val="404040"/>
                </a:solidFill>
                <a:latin typeface="Calibri" panose="020F0502020204030204"/>
                <a:ea typeface="Calibri" panose="020F0502020204030204"/>
                <a:cs typeface="Calibri" panose="020F0502020204030204"/>
                <a:sym typeface="Calibri" panose="020F0502020204030204"/>
              </a:rPr>
              <a:t>me (CPU et GPU)</a:t>
            </a:r>
            <a:endParaRPr lang="en-US" altLang="zh-CN" sz="202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Utilisation des c</a:t>
            </a:r>
            <a:r>
              <a:rPr lang="en-US" alt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urs CPU, activit</a:t>
            </a:r>
            <a:r>
              <a:rPr lang="en-US" alt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processus et threads, trace des appels (backtrace) des threads, m</a:t>
            </a:r>
            <a:r>
              <a:rPr lang="en-US" alt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triques de performance CPU</a:t>
            </a:r>
            <a:r>
              <a:rPr lang="en-US" sz="168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68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a:t>
            </a:r>
            <a:r>
              <a:rPr lang="en-US" alt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ç</a:t>
            </a:r>
            <a:r>
              <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age de la charge de travail GPU, tra</a:t>
            </a:r>
            <a:r>
              <a:rPr lang="en-US" alt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ç</a:t>
            </a:r>
            <a:r>
              <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age des changements de contexte GPU</a:t>
            </a:r>
            <a:endPar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85" b="0" i="0" u="none" strike="noStrike">
                <a:solidFill>
                  <a:srgbClr val="404040"/>
                </a:solidFill>
                <a:latin typeface="Calibri" panose="020F0502020204030204"/>
                <a:ea typeface="Calibri" panose="020F0502020204030204"/>
                <a:cs typeface="Calibri" panose="020F0502020204030204"/>
                <a:sym typeface="Calibri" panose="020F0502020204030204"/>
              </a:rPr>
              <a:t>Tra</a:t>
            </a:r>
            <a:r>
              <a:rPr lang="en-US" altLang="en-US" sz="1685" b="0" i="0" u="none" strike="noStrike">
                <a:solidFill>
                  <a:srgbClr val="404040"/>
                </a:solidFill>
                <a:latin typeface="Calibri" panose="020F0502020204030204"/>
                <a:ea typeface="Calibri" panose="020F0502020204030204"/>
                <a:cs typeface="Calibri" panose="020F0502020204030204"/>
                <a:sym typeface="Calibri" panose="020F0502020204030204"/>
              </a:rPr>
              <a:t>ç</a:t>
            </a:r>
            <a:r>
              <a:rPr lang="en-US" altLang="zh-CN" sz="1685" b="0" i="0" u="none" strike="noStrike">
                <a:solidFill>
                  <a:srgbClr val="404040"/>
                </a:solidFill>
                <a:latin typeface="Calibri" panose="020F0502020204030204"/>
                <a:ea typeface="Calibri" panose="020F0502020204030204"/>
                <a:cs typeface="Calibri" panose="020F0502020204030204"/>
                <a:sym typeface="Calibri" panose="020F0502020204030204"/>
              </a:rPr>
              <a:t>age SoC (hyperviseur, bande passante m</a:t>
            </a:r>
            <a:r>
              <a:rPr lang="en-US" altLang="en-US" sz="168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85" b="0" i="0" u="none" strike="noStrike">
                <a:solidFill>
                  <a:srgbClr val="404040"/>
                </a:solidFill>
                <a:latin typeface="Calibri" panose="020F0502020204030204"/>
                <a:ea typeface="Calibri" panose="020F0502020204030204"/>
                <a:cs typeface="Calibri" panose="020F0502020204030204"/>
                <a:sym typeface="Calibri" panose="020F0502020204030204"/>
              </a:rPr>
              <a:t>moire, acc</a:t>
            </a:r>
            <a:r>
              <a:rPr lang="en-US" altLang="en-US" sz="168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85" b="0" i="0" u="none" strike="noStrike">
                <a:solidFill>
                  <a:srgbClr val="404040"/>
                </a:solidFill>
                <a:latin typeface="Calibri" panose="020F0502020204030204"/>
                <a:ea typeface="Calibri" panose="020F0502020204030204"/>
                <a:cs typeface="Calibri" panose="020F0502020204030204"/>
                <a:sym typeface="Calibri" panose="020F0502020204030204"/>
              </a:rPr>
              <a:t>l</a:t>
            </a:r>
            <a:r>
              <a:rPr lang="en-US" altLang="en-US" sz="168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85" b="0" i="0" u="none" strike="noStrike">
                <a:solidFill>
                  <a:srgbClr val="404040"/>
                </a:solidFill>
                <a:latin typeface="Calibri" panose="020F0502020204030204"/>
                <a:ea typeface="Calibri" panose="020F0502020204030204"/>
                <a:cs typeface="Calibri" panose="020F0502020204030204"/>
                <a:sym typeface="Calibri" panose="020F0502020204030204"/>
              </a:rPr>
              <a:t>rateurs)</a:t>
            </a:r>
            <a:endParaRPr lang="en-US" altLang="zh-CN" sz="168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a:t>
            </a:r>
            <a:r>
              <a:rPr lang="en-US" alt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ç</a:t>
            </a:r>
            <a:r>
              <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age des </a:t>
            </a:r>
            <a:r>
              <a:rPr lang="en-US" alt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t>
            </a:r>
            <a:r>
              <a:rPr lang="en-US" alt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nements du syst</a:t>
            </a:r>
            <a:r>
              <a:rPr lang="en-US" alt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d’exploitation (ftrace, ETW)</a:t>
            </a:r>
            <a:endPar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Investiguer</a:t>
            </a:r>
            <a:r>
              <a:rPr lang="en-US" sz="2020" b="0" i="0" u="none" strike="noStrike">
                <a:solidFill>
                  <a:srgbClr val="404040"/>
                </a:solidFill>
                <a:latin typeface="Calibri" panose="020F0502020204030204"/>
                <a:ea typeface="Calibri" panose="020F0502020204030204"/>
                <a:cs typeface="Calibri" panose="020F0502020204030204"/>
                <a:sym typeface="Calibri" panose="020F0502020204030204"/>
              </a:rPr>
              <a:t> les interactions CPU-GPU </a:t>
            </a:r>
            <a:r>
              <a:rPr lang="en-US" sz="20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a:t>
            </a:r>
            <a:r>
              <a:rPr lang="en-US" altLang="zh-CN" sz="20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temps morts</a:t>
            </a:r>
            <a:r>
              <a:rPr lang="en-US" sz="20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20" b="0" i="0" u="none" strike="noStrike">
                <a:solidFill>
                  <a:srgbClr val="404040"/>
                </a:solidFill>
                <a:latin typeface="Calibri" panose="020F0502020204030204"/>
                <a:ea typeface="Calibri" panose="020F0502020204030204"/>
                <a:cs typeface="Calibri" panose="020F0502020204030204"/>
                <a:sym typeface="Calibri" panose="020F0502020204030204"/>
              </a:rPr>
              <a:t>bubbles</a:t>
            </a:r>
            <a:r>
              <a:rPr lang="en-US" sz="20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202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2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 et API IA : CUDA API, suivi des biblioth</a:t>
            </a:r>
            <a:r>
              <a:rPr lang="en-US" alt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ques CUDA, corr</a:t>
            </a:r>
            <a:r>
              <a:rPr lang="en-US" alt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lation bidirectionnelle entre les appels API et la charge de travail GP</a:t>
            </a:r>
            <a:endPar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Graphiques et rendu : </a:t>
            </a:r>
            <a:r>
              <a:rPr lang="en-US" sz="1685" b="0" i="0" u="none" strike="noStrike">
                <a:solidFill>
                  <a:srgbClr val="404040"/>
                </a:solidFill>
                <a:latin typeface="Calibri" panose="020F0502020204030204"/>
                <a:ea typeface="Calibri" panose="020F0502020204030204"/>
                <a:cs typeface="Calibri" panose="020F0502020204030204"/>
                <a:sym typeface="Calibri" panose="020F0502020204030204"/>
              </a:rPr>
              <a:t>OpenGL API</a:t>
            </a: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85" b="0" i="0" u="none" strike="noStrike">
                <a:solidFill>
                  <a:srgbClr val="404040"/>
                </a:solidFill>
                <a:latin typeface="Calibri" panose="020F0502020204030204"/>
                <a:ea typeface="Calibri" panose="020F0502020204030204"/>
                <a:cs typeface="Calibri" panose="020F0502020204030204"/>
                <a:sym typeface="Calibri" panose="020F0502020204030204"/>
              </a:rPr>
              <a:t>Vulkan API </a:t>
            </a: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etc.</a:t>
            </a:r>
            <a:endPar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Analyse du flux de travail et des ressources : suivi des API d'annotation utilisateur,</a:t>
            </a:r>
            <a:r>
              <a:rPr lang="en-US" sz="168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identification de l'inactivit</a:t>
            </a:r>
            <a:r>
              <a:rPr lang="en-US" alt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de l'utilisation clairsem</a:t>
            </a:r>
            <a:r>
              <a:rPr lang="en-US" alt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du GPU.</a:t>
            </a:r>
            <a:endPar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r>
              <a:rPr lang="en-US" sz="168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68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NVIDIA Nsight Systems</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1"/>
          <a:srcRect/>
          <a:stretch>
            <a:fillRect/>
          </a:stretch>
        </p:blipFill>
        <p:spPr>
          <a:xfrm>
            <a:off x="630442" y="1132763"/>
            <a:ext cx="9987506" cy="5638242"/>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NVIDIA Nsight Systems</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4268502"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NVTX</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une API de profilage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API</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permettant d'utiliser des marqueurs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nements</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personnalis</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annoter l'axe temporel de performance.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4792377" y="1323975"/>
            <a:ext cx="7137375" cy="4435557"/>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53473" y="4181651"/>
            <a:ext cx="3715618" cy="782235"/>
          </a:xfrm>
          <a:prstGeom prst="rect">
            <a:avLst/>
          </a:prstGeom>
          <a:ln w="12700">
            <a:noFill/>
            <a:prstDash val="solid"/>
          </a:ln>
        </p:spPr>
      </p:pic>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NVIDIA Nsight Compute</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https://developer.nvidia.com/nsight-compute</a:t>
            </a:r>
            <a:endPar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a:p>
            <a:pPr indent="0" algn="l">
              <a:lnSpc>
                <a:spcPct val="100000"/>
              </a:lnSpc>
            </a:pP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https://docs.nvidia.com/nsight-compute/ProfilingGuide/index.html</a:t>
            </a:r>
            <a:endPar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270" b="0" i="0" u="none" strike="noStrike">
                <a:solidFill>
                  <a:srgbClr val="404040"/>
                </a:solidFill>
                <a:latin typeface="Calibri" panose="020F0502020204030204"/>
                <a:ea typeface="Calibri" panose="020F0502020204030204"/>
                <a:cs typeface="Calibri" panose="020F0502020204030204"/>
                <a:sym typeface="Calibri" panose="020F0502020204030204"/>
              </a:rPr>
              <a:t>NVIDIA Nsight™ Compute </a:t>
            </a:r>
            <a:r>
              <a:rPr lang="en-US" sz="22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est un profileur interactif pour</a:t>
            </a:r>
            <a:r>
              <a:rPr lang="en-US" sz="2270" b="0" i="0" u="none" strike="noStrike">
                <a:solidFill>
                  <a:srgbClr val="404040"/>
                </a:solidFill>
                <a:latin typeface="Calibri" panose="020F0502020204030204"/>
                <a:ea typeface="Calibri" panose="020F0502020204030204"/>
                <a:cs typeface="Calibri" panose="020F0502020204030204"/>
                <a:sym typeface="Calibri" panose="020F0502020204030204"/>
              </a:rPr>
              <a:t> CUDA® </a:t>
            </a:r>
            <a:r>
              <a:rPr lang="en-US" sz="22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t>
            </a:r>
            <a:r>
              <a:rPr lang="en-US" sz="2270" b="0" i="0" u="none" strike="noStrike">
                <a:solidFill>
                  <a:srgbClr val="404040"/>
                </a:solidFill>
                <a:latin typeface="Calibri" panose="020F0502020204030204"/>
                <a:ea typeface="Calibri" panose="020F0502020204030204"/>
                <a:cs typeface="Calibri" panose="020F0502020204030204"/>
                <a:sym typeface="Calibri" panose="020F0502020204030204"/>
              </a:rPr>
              <a:t> NVIDIA OptiX™ </a:t>
            </a:r>
            <a:r>
              <a:rPr lang="en-US" sz="22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Il fournit une interface </a:t>
            </a:r>
            <a:r>
              <a:rPr lang="en-US" altLang="zh-CN" sz="22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ainsi qu’un outil en ligne de commande, permet d’afficher des m</a:t>
            </a:r>
            <a:r>
              <a:rPr lang="en-US" altLang="en-US" sz="22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triques de performance d</a:t>
            </a:r>
            <a:r>
              <a:rPr lang="en-US" altLang="en-US" sz="22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taill</a:t>
            </a:r>
            <a:r>
              <a:rPr lang="en-US" altLang="en-US" sz="22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et prend en charge le d</a:t>
            </a:r>
            <a:r>
              <a:rPr lang="en-US" altLang="en-US" sz="22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bogage d’API.</a:t>
            </a:r>
            <a:endParaRPr lang="en-US" altLang="zh-CN" sz="22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2094841" y="2854640"/>
            <a:ext cx="8135553" cy="2970625"/>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41404" y="431629"/>
            <a:ext cx="7098306" cy="700925"/>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705" b="0" i="0" u="none" strike="noStrike">
                <a:solidFill>
                  <a:srgbClr val="262626"/>
                </a:solidFill>
                <a:latin typeface="Calibri" panose="020F0502020204030204"/>
                <a:ea typeface="Calibri" panose="020F0502020204030204"/>
                <a:cs typeface="Calibri" panose="020F0502020204030204"/>
                <a:sym typeface="Calibri" panose="020F0502020204030204"/>
              </a:rPr>
              <a:t>NVIDIA Nsight Compute - </a:t>
            </a:r>
            <a:r>
              <a:rPr lang="en-US" sz="270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Fonctionnalites</a:t>
            </a:r>
            <a:endParaRPr lang="en-US" sz="270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255" b="0" i="0" u="none" strike="noStrike">
                <a:solidFill>
                  <a:srgbClr val="A5A5A5"/>
                </a:solidFill>
                <a:latin typeface="Calibri" panose="020F0502020204030204"/>
                <a:ea typeface="Garamond" panose="02020404030301010803"/>
                <a:cs typeface="Garamond" panose="02020404030301010803"/>
                <a:sym typeface="Garamond" panose="02020404030301010803"/>
              </a:rPr>
              <a:t>https://developer.download.nvidia.cn/video/gputechconf/gtc/2019/presentation/s9345-cuda-kernel-profiling-using-nvidia-nsight-compute.pdf</a:t>
            </a:r>
            <a:endParaRPr lang="en-US" sz="1255"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4" y="1323975"/>
            <a:ext cx="7315836" cy="4852988"/>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D</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bogage interactif des API CUDA et analyse des performances des noyaux (kernels)</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Rapports d'analyse graphiques</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Prise en charge de la comparaison de plusieurs rapports de performance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Kernel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Prise en charge des formats de rapport et des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gles d'analyse personnalis</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t>
            </a:r>
            <a:endPar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Prise en charge de la ligne de commande, </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de l'ex</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cution autonome et de l'int</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gration dans un IDE.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839710" y="1068070"/>
            <a:ext cx="3728720" cy="5315585"/>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algn="l"/>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1"/>
          <a:srcRect/>
          <a:stretch>
            <a:fillRect/>
          </a:stretch>
        </p:blipFill>
        <p:spPr>
          <a:xfrm>
            <a:off x="1" y="127524"/>
            <a:ext cx="12191999" cy="6593952"/>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a:t>
            </a:r>
            <a:r>
              <a:rPr lang="en-US" altLang="en-US" sz="30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triques cl</a:t>
            </a:r>
            <a:r>
              <a:rPr lang="en-US" altLang="en-US" sz="30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 de l’analyse au niveau du Warp</a:t>
            </a:r>
            <a:endParaRPr lang="en-US" altLang="zh-CN" sz="30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255" b="0" i="0" u="none" strike="noStrike">
                <a:solidFill>
                  <a:srgbClr val="A5A5A5"/>
                </a:solidFill>
                <a:latin typeface="Calibri" panose="020F0502020204030204"/>
                <a:ea typeface="Garamond" panose="02020404030301010803"/>
                <a:cs typeface="Garamond" panose="02020404030301010803"/>
                <a:sym typeface="Garamond" panose="02020404030301010803"/>
              </a:rPr>
              <a:t>https://developer.download.nvidia.cn/video/gputechconf/gtc/2019/presentation/s9345-cuda-kernel-profiling-using-nvidia-nsight-compute.pdf</a:t>
            </a:r>
            <a:endParaRPr lang="en-US" sz="1255"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Statistiques du planificateur</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Nsight Compute suit le nombre de warps actifs et pr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ts par cycle, pour </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valuer l'efficacit</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l'</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mission d'instructions et la capacit</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à masquer la latence.</a:t>
            </a:r>
            <a:endPar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Statistiques d'</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des warps</a:t>
            </a:r>
            <a:endPar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sight Compute analyse les cycles d'arr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 des warps, pour identifier pr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cis</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 les goulots d'</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tranglement mat</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riels qui causent les d</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lais d'ex</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des instructions.</a:t>
            </a:r>
            <a:endPar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Taux d'occupation</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 comparant le nombre 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el de warps actifs au nombre maximal th</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orique, Nsight Compute </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value l'utilisation globale des ressources du GPU et l'</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quilibrage de la charge de travail.</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en-US" sz="24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tude de cas : moyenne de vecteurs et multiplication matricielle</a:t>
            </a:r>
            <a:endParaRPr lang="en-US" altLang="zh-CN" sz="24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325" b="0" i="0" u="none" strike="noStrike">
                <a:solidFill>
                  <a:srgbClr val="A5A5A5"/>
                </a:solidFill>
                <a:latin typeface="Calibri" panose="020F0502020204030204"/>
                <a:ea typeface="Garamond" panose="02020404030301010803"/>
                <a:cs typeface="Garamond" panose="02020404030301010803"/>
                <a:sym typeface="Garamond" panose="02020404030301010803"/>
              </a:rPr>
              <a:t>https://developer.nvidia.com/blog/analysis-driven-optimization-preparing-for-analysis-with-nvidia-nsight-compute-part-1/</a:t>
            </a:r>
            <a:endParaRPr lang="en-US" sz="1325"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4049395" cy="485330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Processus d'optimisation</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Version OpenMP</a:t>
            </a:r>
            <a:endPar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Portage GPU (version GPU)</a:t>
            </a:r>
            <a:endPar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Refonte de la conception de l'op</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a:t>
            </a:r>
            <a:endPar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Optimisation </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des acc</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m</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a:t>
            </a:r>
            <a:endPar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4810760" y="1261745"/>
            <a:ext cx="7197090" cy="5094605"/>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9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Optimisation</a:t>
            </a:r>
            <a:r>
              <a:rPr lang="en-US" sz="2925" b="0" i="0" u="none" strike="noStrike">
                <a:solidFill>
                  <a:srgbClr val="262626"/>
                </a:solidFill>
                <a:latin typeface="Calibri" panose="020F0502020204030204"/>
                <a:ea typeface="Calibri" panose="020F0502020204030204"/>
                <a:cs typeface="Calibri" panose="020F0502020204030204"/>
                <a:sym typeface="Calibri" panose="020F0502020204030204"/>
              </a:rPr>
              <a:t>1</a:t>
            </a:r>
            <a:r>
              <a:rPr lang="en-US" sz="29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maximiser la taille de la grille</a:t>
            </a:r>
            <a:endParaRPr lang="en-US" sz="29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Probl</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l'outil indique que la taille de la grille est trop petite pour utiliser pleinement les ressources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rielles</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Solution :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partir les t</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â</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ches de calcul sur N blocs de threads, au lieu de les placer dans un seul bloc</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sultat</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temps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d'ex</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passe de 2,92 secondes à 0,0789 secondes.</a:t>
            </a:r>
            <a:endPar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319438" y="3703818"/>
            <a:ext cx="11686526" cy="2595557"/>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8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Optimisation </a:t>
            </a:r>
            <a:r>
              <a:rPr lang="en-US" sz="2825" b="0" i="0" u="none" strike="noStrike">
                <a:solidFill>
                  <a:srgbClr val="262626"/>
                </a:solidFill>
                <a:latin typeface="Calibri" panose="020F0502020204030204"/>
                <a:ea typeface="Calibri" panose="020F0502020204030204"/>
                <a:cs typeface="Calibri" panose="020F0502020204030204"/>
                <a:sym typeface="Calibri" panose="020F0502020204030204"/>
              </a:rPr>
              <a:t>2 : </a:t>
            </a:r>
            <a:r>
              <a:rPr lang="en-US" altLang="zh-CN" sz="28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acc</a:t>
            </a:r>
            <a:r>
              <a:rPr lang="en-US" altLang="en-US" sz="28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8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 m</a:t>
            </a:r>
            <a:r>
              <a:rPr lang="en-US" altLang="en-US" sz="28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8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moire globaux coalesc</a:t>
            </a:r>
            <a:r>
              <a:rPr lang="en-US" altLang="en-US" sz="28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8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a:t>
            </a:r>
            <a:endParaRPr lang="en-US" altLang="zh-CN" sz="28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0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Probl</a:t>
            </a:r>
            <a:r>
              <a:rPr lang="en-US" altLang="en-US" sz="20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0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a:t>
            </a:r>
            <a:r>
              <a:rPr lang="en-US" sz="20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2055" b="0" i="0" u="none" strike="noStrike">
                <a:solidFill>
                  <a:srgbClr val="404040"/>
                </a:solidFill>
                <a:latin typeface="Calibri" panose="020F0502020204030204"/>
                <a:ea typeface="Calibri" panose="020F0502020204030204"/>
                <a:cs typeface="Calibri" panose="020F0502020204030204"/>
                <a:sym typeface="Calibri" panose="020F0502020204030204"/>
              </a:rPr>
              <a:t>l'outil indique que la file d'attente des unit</a:t>
            </a:r>
            <a:r>
              <a:rPr lang="en-US" altLang="en-US" sz="205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55" b="0" i="0" u="none" strike="noStrike">
                <a:solidFill>
                  <a:srgbClr val="404040"/>
                </a:solidFill>
                <a:latin typeface="Calibri" panose="020F0502020204030204"/>
                <a:ea typeface="Calibri" panose="020F0502020204030204"/>
                <a:cs typeface="Calibri" panose="020F0502020204030204"/>
                <a:sym typeface="Calibri" panose="020F0502020204030204"/>
              </a:rPr>
              <a:t>s de chargement/stockage est satur</a:t>
            </a:r>
            <a:r>
              <a:rPr lang="en-US" altLang="en-US" sz="205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55" b="0" i="0" u="none" strike="noStrike">
                <a:solidFill>
                  <a:srgbClr val="404040"/>
                </a:solidFill>
                <a:latin typeface="Calibri" panose="020F0502020204030204"/>
                <a:ea typeface="Calibri" panose="020F0502020204030204"/>
                <a:cs typeface="Calibri" panose="020F0502020204030204"/>
                <a:sym typeface="Calibri" panose="020F0502020204030204"/>
              </a:rPr>
              <a:t>e ; le ratio entre les transactions r</a:t>
            </a:r>
            <a:r>
              <a:rPr lang="en-US" altLang="en-US" sz="205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55" b="0" i="0" u="none" strike="noStrike">
                <a:solidFill>
                  <a:srgbClr val="404040"/>
                </a:solidFill>
                <a:latin typeface="Calibri" panose="020F0502020204030204"/>
                <a:ea typeface="Calibri" panose="020F0502020204030204"/>
                <a:cs typeface="Calibri" panose="020F0502020204030204"/>
                <a:sym typeface="Calibri" panose="020F0502020204030204"/>
              </a:rPr>
              <a:t>elles et id</a:t>
            </a:r>
            <a:r>
              <a:rPr lang="en-US" altLang="en-US" sz="205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55" b="0" i="0" u="none" strike="noStrike">
                <a:solidFill>
                  <a:srgbClr val="404040"/>
                </a:solidFill>
                <a:latin typeface="Calibri" panose="020F0502020204030204"/>
                <a:ea typeface="Calibri" panose="020F0502020204030204"/>
                <a:cs typeface="Calibri" panose="020F0502020204030204"/>
                <a:sym typeface="Calibri" panose="020F0502020204030204"/>
              </a:rPr>
              <a:t>ales du cache L2 atteint 8:1 (indiquant des acc</a:t>
            </a:r>
            <a:r>
              <a:rPr lang="en-US" altLang="en-US" sz="2055"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2055" b="0" i="0" u="none" strike="noStrike">
                <a:solidFill>
                  <a:srgbClr val="404040"/>
                </a:solidFill>
                <a:latin typeface="Calibri" panose="020F0502020204030204"/>
                <a:ea typeface="Calibri" panose="020F0502020204030204"/>
                <a:cs typeface="Calibri" panose="020F0502020204030204"/>
                <a:sym typeface="Calibri" panose="020F0502020204030204"/>
              </a:rPr>
              <a:t>s m</a:t>
            </a:r>
            <a:r>
              <a:rPr lang="en-US" altLang="en-US" sz="205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55" b="0" i="0" u="none" strike="noStrike">
                <a:solidFill>
                  <a:srgbClr val="404040"/>
                </a:solidFill>
                <a:latin typeface="Calibri" panose="020F0502020204030204"/>
                <a:ea typeface="Calibri" panose="020F0502020204030204"/>
                <a:cs typeface="Calibri" panose="020F0502020204030204"/>
                <a:sym typeface="Calibri" panose="020F0502020204030204"/>
              </a:rPr>
              <a:t>moire non contigus et non coalesc</a:t>
            </a:r>
            <a:r>
              <a:rPr lang="en-US" altLang="en-US" sz="205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55" b="0" i="0" u="none" strike="noStrike">
                <a:solidFill>
                  <a:srgbClr val="404040"/>
                </a:solidFill>
                <a:latin typeface="Calibri" panose="020F0502020204030204"/>
                <a:ea typeface="Calibri" panose="020F0502020204030204"/>
                <a:cs typeface="Calibri" panose="020F0502020204030204"/>
                <a:sym typeface="Calibri" panose="020F0502020204030204"/>
              </a:rPr>
              <a:t>s).</a:t>
            </a:r>
            <a:r>
              <a:rPr lang="en-US" sz="205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5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Solution : </a:t>
            </a:r>
            <a:r>
              <a:rPr lang="en-US" altLang="zh-CN" sz="2055" b="0" i="0" u="none" strike="noStrike">
                <a:solidFill>
                  <a:srgbClr val="404040"/>
                </a:solidFill>
                <a:latin typeface="Calibri" panose="020F0502020204030204"/>
                <a:ea typeface="Calibri" panose="020F0502020204030204"/>
                <a:cs typeface="Calibri" panose="020F0502020204030204"/>
                <a:sym typeface="Calibri" panose="020F0502020204030204"/>
              </a:rPr>
              <a:t>impl</a:t>
            </a:r>
            <a:r>
              <a:rPr lang="en-US" altLang="en-US" sz="205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55" b="0" i="0" u="none" strike="noStrike">
                <a:solidFill>
                  <a:srgbClr val="404040"/>
                </a:solidFill>
                <a:latin typeface="Calibri" panose="020F0502020204030204"/>
                <a:ea typeface="Calibri" panose="020F0502020204030204"/>
                <a:cs typeface="Calibri" panose="020F0502020204030204"/>
                <a:sym typeface="Calibri" panose="020F0502020204030204"/>
              </a:rPr>
              <a:t>menter un code de boucle à travers les warps et les blocs pour garantir que les lectures m</a:t>
            </a:r>
            <a:r>
              <a:rPr lang="en-US" altLang="en-US" sz="205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55" b="0" i="0" u="none" strike="noStrike">
                <a:solidFill>
                  <a:srgbClr val="404040"/>
                </a:solidFill>
                <a:latin typeface="Calibri" panose="020F0502020204030204"/>
                <a:ea typeface="Calibri" panose="020F0502020204030204"/>
                <a:cs typeface="Calibri" panose="020F0502020204030204"/>
                <a:sym typeface="Calibri" panose="020F0502020204030204"/>
              </a:rPr>
              <a:t>moire soient contigu</a:t>
            </a:r>
            <a:r>
              <a:rPr lang="en-US" altLang="en-US" sz="2055" b="0" i="0" u="none" strike="noStrike">
                <a:solidFill>
                  <a:srgbClr val="404040"/>
                </a:solidFill>
                <a:latin typeface="Calibri" panose="020F0502020204030204"/>
                <a:ea typeface="Calibri" panose="020F0502020204030204"/>
                <a:cs typeface="Calibri" panose="020F0502020204030204"/>
                <a:sym typeface="Calibri" panose="020F0502020204030204"/>
              </a:rPr>
              <a:t>ë</a:t>
            </a:r>
            <a:r>
              <a:rPr lang="en-US" altLang="zh-CN" sz="2055" b="0" i="0" u="none" strike="noStrike">
                <a:solidFill>
                  <a:srgbClr val="404040"/>
                </a:solidFill>
                <a:latin typeface="Calibri" panose="020F0502020204030204"/>
                <a:ea typeface="Calibri" panose="020F0502020204030204"/>
                <a:cs typeface="Calibri" panose="020F0502020204030204"/>
                <a:sym typeface="Calibri" panose="020F0502020204030204"/>
              </a:rPr>
              <a:t>s.</a:t>
            </a:r>
            <a:r>
              <a:rPr lang="en-US" sz="205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5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0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20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sultat </a:t>
            </a:r>
            <a:r>
              <a:rPr lang="en-US" sz="20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temps </a:t>
            </a:r>
            <a:r>
              <a:rPr lang="en-US" altLang="zh-CN" sz="20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d'ex</a:t>
            </a:r>
            <a:r>
              <a:rPr lang="en-US" altLang="en-US" sz="20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a:t>
            </a:r>
            <a:r>
              <a:rPr lang="en-US" sz="20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est </a:t>
            </a:r>
            <a:r>
              <a:rPr lang="en-US" altLang="zh-CN" sz="20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20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duit </a:t>
            </a:r>
            <a:r>
              <a:rPr lang="en-US" altLang="zh-CN" sz="2055" b="0" i="0" u="none" strike="noStrike">
                <a:solidFill>
                  <a:srgbClr val="404040"/>
                </a:solidFill>
                <a:latin typeface="Calibri" panose="020F0502020204030204"/>
                <a:ea typeface="Calibri" panose="020F0502020204030204"/>
                <a:cs typeface="Calibri" panose="020F0502020204030204"/>
                <a:sym typeface="Calibri" panose="020F0502020204030204"/>
              </a:rPr>
              <a:t>à</a:t>
            </a:r>
            <a:r>
              <a:rPr lang="en-US" sz="2055" b="0" i="0" u="none" strike="noStrike">
                <a:solidFill>
                  <a:srgbClr val="404040"/>
                </a:solidFill>
                <a:latin typeface="Calibri" panose="020F0502020204030204"/>
                <a:ea typeface="Calibri" panose="020F0502020204030204"/>
                <a:cs typeface="Calibri" panose="020F0502020204030204"/>
                <a:sym typeface="Calibri" panose="020F0502020204030204"/>
              </a:rPr>
              <a:t> 0,0216 </a:t>
            </a:r>
            <a:r>
              <a:rPr lang="en-US" sz="20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secondes.</a:t>
            </a:r>
            <a:endParaRPr lang="en-US" sz="20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246782" y="3718898"/>
            <a:ext cx="11697219" cy="2637096"/>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6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Optimisation</a:t>
            </a:r>
            <a:r>
              <a:rPr lang="en-US" sz="2675" b="0" i="0" u="none" strike="noStrike">
                <a:solidFill>
                  <a:srgbClr val="262626"/>
                </a:solidFill>
                <a:latin typeface="Calibri" panose="020F0502020204030204"/>
                <a:ea typeface="Calibri" panose="020F0502020204030204"/>
                <a:cs typeface="Calibri" panose="020F0502020204030204"/>
                <a:sym typeface="Calibri" panose="020F0502020204030204"/>
              </a:rPr>
              <a:t>3 : </a:t>
            </a:r>
            <a:r>
              <a:rPr lang="en-US" altLang="zh-CN" sz="26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26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6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duire la pression sur la m</a:t>
            </a:r>
            <a:r>
              <a:rPr lang="en-US" altLang="en-US" sz="26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6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moire partag</a:t>
            </a:r>
            <a:r>
              <a:rPr lang="en-US" altLang="en-US" sz="26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6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a:t>
            </a:r>
            <a:endParaRPr lang="en-US" altLang="zh-CN" sz="26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Probl</a:t>
            </a:r>
            <a:r>
              <a:rPr lang="en-US" alt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a:t>
            </a:r>
            <a:r>
              <a:rPr 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2125" b="0" i="0" u="none" strike="noStrike">
                <a:solidFill>
                  <a:srgbClr val="404040"/>
                </a:solidFill>
                <a:latin typeface="Calibri" panose="020F0502020204030204"/>
                <a:ea typeface="Calibri" panose="020F0502020204030204"/>
                <a:cs typeface="Calibri" panose="020F0502020204030204"/>
                <a:sym typeface="Calibri" panose="020F0502020204030204"/>
              </a:rPr>
              <a:t>utilisation excessive de la m</a:t>
            </a:r>
            <a:r>
              <a:rPr lang="en-US" altLang="en-US" sz="212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125" b="0" i="0" u="none" strike="noStrike">
                <a:solidFill>
                  <a:srgbClr val="404040"/>
                </a:solidFill>
                <a:latin typeface="Calibri" panose="020F0502020204030204"/>
                <a:ea typeface="Calibri" panose="020F0502020204030204"/>
                <a:cs typeface="Calibri" panose="020F0502020204030204"/>
                <a:sym typeface="Calibri" panose="020F0502020204030204"/>
              </a:rPr>
              <a:t>moire partag</a:t>
            </a:r>
            <a:r>
              <a:rPr lang="en-US" altLang="en-US" sz="212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125" b="0" i="0" u="none" strike="noStrike">
                <a:solidFill>
                  <a:srgbClr val="404040"/>
                </a:solidFill>
                <a:latin typeface="Calibri" panose="020F0502020204030204"/>
                <a:ea typeface="Calibri" panose="020F0502020204030204"/>
                <a:cs typeface="Calibri" panose="020F0502020204030204"/>
                <a:sym typeface="Calibri" panose="020F0502020204030204"/>
              </a:rPr>
              <a:t>e ; l'outil a identifi</a:t>
            </a:r>
            <a:r>
              <a:rPr lang="en-US" altLang="en-US" sz="212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125" b="0" i="0" u="none" strike="noStrike">
                <a:solidFill>
                  <a:srgbClr val="404040"/>
                </a:solidFill>
                <a:latin typeface="Calibri" panose="020F0502020204030204"/>
                <a:ea typeface="Calibri" panose="020F0502020204030204"/>
                <a:cs typeface="Calibri" panose="020F0502020204030204"/>
                <a:sym typeface="Calibri" panose="020F0502020204030204"/>
              </a:rPr>
              <a:t> des arr</a:t>
            </a:r>
            <a:r>
              <a:rPr lang="en-US" altLang="en-US" sz="2125" b="0" i="0" u="none" strike="noStrike">
                <a:solidFill>
                  <a:srgbClr val="404040"/>
                </a:solidFill>
                <a:latin typeface="Calibri" panose="020F0502020204030204"/>
                <a:ea typeface="Calibri" panose="020F0502020204030204"/>
                <a:cs typeface="Calibri" panose="020F0502020204030204"/>
                <a:sym typeface="Calibri" panose="020F0502020204030204"/>
              </a:rPr>
              <a:t>ê</a:t>
            </a:r>
            <a:r>
              <a:rPr lang="en-US" altLang="zh-CN" sz="2125" b="0" i="0" u="none" strike="noStrike">
                <a:solidFill>
                  <a:srgbClr val="404040"/>
                </a:solidFill>
                <a:latin typeface="Calibri" panose="020F0502020204030204"/>
                <a:ea typeface="Calibri" panose="020F0502020204030204"/>
                <a:cs typeface="Calibri" panose="020F0502020204030204"/>
                <a:sym typeface="Calibri" panose="020F0502020204030204"/>
              </a:rPr>
              <a:t>ts de warps caus</a:t>
            </a:r>
            <a:r>
              <a:rPr lang="en-US" altLang="en-US" sz="212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125" b="0" i="0" u="none" strike="noStrike">
                <a:solidFill>
                  <a:srgbClr val="404040"/>
                </a:solidFill>
                <a:latin typeface="Calibri" panose="020F0502020204030204"/>
                <a:ea typeface="Calibri" panose="020F0502020204030204"/>
                <a:cs typeface="Calibri" panose="020F0502020204030204"/>
                <a:sym typeface="Calibri" panose="020F0502020204030204"/>
              </a:rPr>
              <a:t>s par des op</a:t>
            </a:r>
            <a:r>
              <a:rPr lang="en-US" altLang="en-US" sz="212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125" b="0" i="0" u="none" strike="noStrike">
                <a:solidFill>
                  <a:srgbClr val="404040"/>
                </a:solidFill>
                <a:latin typeface="Calibri" panose="020F0502020204030204"/>
                <a:ea typeface="Calibri" panose="020F0502020204030204"/>
                <a:cs typeface="Calibri" panose="020F0502020204030204"/>
                <a:sym typeface="Calibri" panose="020F0502020204030204"/>
              </a:rPr>
              <a:t>rations de r</a:t>
            </a:r>
            <a:r>
              <a:rPr lang="en-US" altLang="en-US" sz="212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125" b="0" i="0" u="none" strike="noStrike">
                <a:solidFill>
                  <a:srgbClr val="404040"/>
                </a:solidFill>
                <a:latin typeface="Calibri" panose="020F0502020204030204"/>
                <a:ea typeface="Calibri" panose="020F0502020204030204"/>
                <a:cs typeface="Calibri" panose="020F0502020204030204"/>
                <a:sym typeface="Calibri" panose="020F0502020204030204"/>
              </a:rPr>
              <a:t>duction classiques sur tableau.</a:t>
            </a:r>
            <a:endParaRPr lang="en-US" altLang="zh-CN" sz="21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Solution : </a:t>
            </a:r>
            <a:r>
              <a:rPr lang="en-US" altLang="zh-CN" sz="2125" b="0" i="0" u="none" strike="noStrike">
                <a:solidFill>
                  <a:srgbClr val="404040"/>
                </a:solidFill>
                <a:latin typeface="Calibri" panose="020F0502020204030204"/>
                <a:ea typeface="Calibri" panose="020F0502020204030204"/>
                <a:cs typeface="Calibri" panose="020F0502020204030204"/>
                <a:sym typeface="Calibri" panose="020F0502020204030204"/>
              </a:rPr>
              <a:t>utiliser des instructions Warp shuffle en deux </a:t>
            </a:r>
            <a:r>
              <a:rPr lang="en-US" altLang="en-US" sz="212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125" b="0" i="0" u="none" strike="noStrike">
                <a:solidFill>
                  <a:srgbClr val="404040"/>
                </a:solidFill>
                <a:latin typeface="Calibri" panose="020F0502020204030204"/>
                <a:ea typeface="Calibri" panose="020F0502020204030204"/>
                <a:cs typeface="Calibri" panose="020F0502020204030204"/>
                <a:sym typeface="Calibri" panose="020F0502020204030204"/>
              </a:rPr>
              <a:t>tapes (__shfl_down_sync) pour remplacer les op</a:t>
            </a:r>
            <a:r>
              <a:rPr lang="en-US" altLang="en-US" sz="212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125" b="0" i="0" u="none" strike="noStrike">
                <a:solidFill>
                  <a:srgbClr val="404040"/>
                </a:solidFill>
                <a:latin typeface="Calibri" panose="020F0502020204030204"/>
                <a:ea typeface="Calibri" panose="020F0502020204030204"/>
                <a:cs typeface="Calibri" panose="020F0502020204030204"/>
                <a:sym typeface="Calibri" panose="020F0502020204030204"/>
              </a:rPr>
              <a:t>rations de r</a:t>
            </a:r>
            <a:r>
              <a:rPr lang="en-US" altLang="en-US" sz="212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125" b="0" i="0" u="none" strike="noStrike">
                <a:solidFill>
                  <a:srgbClr val="404040"/>
                </a:solidFill>
                <a:latin typeface="Calibri" panose="020F0502020204030204"/>
                <a:ea typeface="Calibri" panose="020F0502020204030204"/>
                <a:cs typeface="Calibri" panose="020F0502020204030204"/>
                <a:sym typeface="Calibri" panose="020F0502020204030204"/>
              </a:rPr>
              <a:t>duction qui d</a:t>
            </a:r>
            <a:r>
              <a:rPr lang="en-US" altLang="en-US" sz="212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125" b="0" i="0" u="none" strike="noStrike">
                <a:solidFill>
                  <a:srgbClr val="404040"/>
                </a:solidFill>
                <a:latin typeface="Calibri" panose="020F0502020204030204"/>
                <a:ea typeface="Calibri" panose="020F0502020204030204"/>
                <a:cs typeface="Calibri" panose="020F0502020204030204"/>
                <a:sym typeface="Calibri" panose="020F0502020204030204"/>
              </a:rPr>
              <a:t>pendaient de la m</a:t>
            </a:r>
            <a:r>
              <a:rPr lang="en-US" altLang="en-US" sz="212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125" b="0" i="0" u="none" strike="noStrike">
                <a:solidFill>
                  <a:srgbClr val="404040"/>
                </a:solidFill>
                <a:latin typeface="Calibri" panose="020F0502020204030204"/>
                <a:ea typeface="Calibri" panose="020F0502020204030204"/>
                <a:cs typeface="Calibri" panose="020F0502020204030204"/>
                <a:sym typeface="Calibri" panose="020F0502020204030204"/>
              </a:rPr>
              <a:t>moire partag</a:t>
            </a:r>
            <a:r>
              <a:rPr lang="en-US" altLang="en-US" sz="212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125" b="0" i="0" u="none" strike="noStrike">
                <a:solidFill>
                  <a:srgbClr val="404040"/>
                </a:solidFill>
                <a:latin typeface="Calibri" panose="020F0502020204030204"/>
                <a:ea typeface="Calibri" panose="020F0502020204030204"/>
                <a:cs typeface="Calibri" panose="020F0502020204030204"/>
                <a:sym typeface="Calibri" panose="020F0502020204030204"/>
              </a:rPr>
              <a:t>e.</a:t>
            </a:r>
            <a:r>
              <a:rPr lang="en-US" sz="212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1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sultat </a:t>
            </a:r>
            <a:r>
              <a:rPr 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temps d'ex</a:t>
            </a:r>
            <a:r>
              <a:rPr lang="en-US" alt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est davantage r</a:t>
            </a:r>
            <a:r>
              <a:rPr lang="en-US" alt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duit à 0,0126 secondes.</a:t>
            </a:r>
            <a:endParaRPr lang="en-US" altLang="zh-CN"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2618018" y="3429236"/>
            <a:ext cx="6926805" cy="3169632"/>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6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Optimisation</a:t>
            </a:r>
            <a:r>
              <a:rPr lang="en-US" sz="3060" b="0" i="0" u="none" strike="noStrike">
                <a:solidFill>
                  <a:srgbClr val="262626"/>
                </a:solidFill>
                <a:latin typeface="Calibri" panose="020F0502020204030204"/>
                <a:ea typeface="Calibri" panose="020F0502020204030204"/>
                <a:cs typeface="Calibri" panose="020F0502020204030204"/>
                <a:sym typeface="Calibri" panose="020F0502020204030204"/>
              </a:rPr>
              <a:t> 4: </a:t>
            </a:r>
            <a:r>
              <a:rPr lang="en-US" sz="306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en-US" sz="306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6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duire la latence m</a:t>
            </a:r>
            <a:r>
              <a:rPr lang="en-US" altLang="en-US" sz="306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6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moire</a:t>
            </a:r>
            <a:endParaRPr lang="en-US" altLang="zh-CN" sz="306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Probl</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l'outil identifie "Stall Long Scoreboard (Arr</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ê</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t long du tableau de bord)" comme principal goulot d'</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tranglement (repr</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sentant 46,1 %), ce qui signifie une attente de d</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pendance de donn</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es dans le cache L1.</a:t>
            </a:r>
            <a:endPar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Solution : </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diviser le code en deux kernels : un noyau personnalis</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 pour le calcul de la moyenne vectorielle, l'autre appelant directement la biblioth</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que cuBLAS SGEMM hautement optimis</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e pour la multiplication matricielle.</a:t>
            </a:r>
            <a:endPar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sultat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temps d'ex</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atteint finalement 0,0055 seconde (soit une acc</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de pr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de 100 fois par rapport à la version CPU OpenMP).</a:t>
            </a:r>
            <a:endPar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2167255" y="4007485"/>
            <a:ext cx="8264525" cy="276733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en-US" sz="30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valuation finale de l’optimisation</a:t>
            </a:r>
            <a:endParaRPr lang="en-US" altLang="zh-CN" sz="30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4" y="1323975"/>
            <a:ext cx="4714928" cy="4852988"/>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Atteindre la limite physique de la bande passante </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mat</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rielle</a:t>
            </a:r>
            <a:endPar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Le d</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bit r</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el atteint environ 823 Go/s</a:t>
            </a:r>
            <a:endPar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Le chargement des donn</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es depuis la m</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moire globale est quasi optimal</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Toute am</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lioration suppl</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mentaire n</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cessiterait une refonte de l’algorithme</a:t>
            </a:r>
            <a:endPar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5238802" y="1376324"/>
            <a:ext cx="6953250" cy="480060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References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1" tooltip="https://developer.nvidia.com/nsight-systems/get-started"/>
              </a:rPr>
              <a:t>Get Started With Nsight Systems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1" tooltip="https://developer.nvidia.com/nsight-systems/get-started"/>
              </a:rPr>
              <a:t>Getting Started with Nsight Compute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2" tooltip="https://docs.nvidia.com/nsight-systems/index.html"/>
              </a:rPr>
              <a:t>Nsight Systems Documentation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3" tooltip="https://docs.nvidia.com/nsight-compute/ProfilingGuide/index.html"/>
              </a:rPr>
              <a:t>Nsight Compute profiling guide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3" tooltip="https://docs.nvidia.com/nsight-compute/ProfilingGuide/index.html"/>
            </a:endParaRPr>
          </a:p>
        </p:txBody>
      </p:sp>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a:solidFill>
                  <a:srgbClr val="262626"/>
                </a:solidFill>
                <a:latin typeface="Calibri" panose="020F0502020204030204"/>
                <a:ea typeface="Calibri" panose="020F0502020204030204"/>
                <a:cs typeface="Calibri" panose="020F0502020204030204"/>
                <a:sym typeface="Calibri" panose="020F0502020204030204"/>
              </a:rPr>
              <a:t>Leçon</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 17</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Conception architecturale d’une biblioth</a:t>
            </a:r>
            <a:r>
              <a:rPr lang="en-US" alt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que d’op</a:t>
            </a:r>
            <a:r>
              <a:rPr lang="en-US" alt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rateurs</a:t>
            </a:r>
            <a:endParaRPr lang="en-US" altLang="zh-CN"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p:transition spd="slow">
    <p:fade/>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Principes de conception</a:t>
            </a:r>
            <a:endPar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55600" indent="-355600" algn="l">
              <a:lnSpc>
                <a:spcPct val="100000"/>
              </a:lnSpc>
              <a:spcBef>
                <a:spcPts val="3000"/>
              </a:spcBef>
              <a:buClr>
                <a:srgbClr val="404040"/>
              </a:buClr>
              <a:buChar char="•"/>
            </a:pPr>
            <a:r>
              <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Ordonnanceur</a:t>
            </a:r>
            <a:endPar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55600" indent="-355600" algn="l">
              <a:lnSpc>
                <a:spcPct val="100000"/>
              </a:lnSpc>
              <a:spcBef>
                <a:spcPts val="3000"/>
              </a:spcBef>
              <a:buClr>
                <a:srgbClr val="404040"/>
              </a:buClr>
              <a:buChar char="•"/>
            </a:pPr>
            <a:r>
              <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Langage spécifique au domaine</a:t>
            </a:r>
            <a:endPar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55600" indent="-355600" algn="l">
              <a:lnSpc>
                <a:spcPct val="100000"/>
              </a:lnSpc>
              <a:spcBef>
                <a:spcPts val="3000"/>
              </a:spcBef>
              <a:buClr>
                <a:srgbClr val="404040"/>
              </a:buClr>
              <a:buChar char="•"/>
            </a:pPr>
            <a:r>
              <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Analyse de cas</a:t>
            </a:r>
            <a:endPar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20" hasCustomPrompt="1"/>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Plan</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Opérateur</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10640"/>
            <a:ext cx="7395210" cy="4866640"/>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Au sens large, toute opération spécifique appliquée à une fonction donnée peut être définie comme un opérateur.</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algorithmes d'apprentissage profond sont construits à partir d'unités de calcul indépendantes appelées opérateurs.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Exemples : addition, multiplication matricielle, normalisation de couche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919085" y="633730"/>
            <a:ext cx="4204970" cy="622427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Bibliothèque d'opérateurs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7732395" cy="485330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 ensemble d'opérateurs hautement optimisés et réutilisables pour les réseaux de neurones.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Rôles principaux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Pont de connexion : </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relie les frameworks IA de haut niveau au mat</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riel sous-jacent.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Moteur de performance : maximise l'utilisation du mat</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riel gr</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â</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ce à un r</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glage expert des noyaux (kernels).</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Abstraction matérielle : libère les développeurs d'algorithmes des </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complexit</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 la programmation bas-niveau.</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8488259" y="641247"/>
            <a:ext cx="3380509" cy="5575506"/>
          </a:xfrm>
          <a:prstGeom prst="roundRect">
            <a:avLst>
              <a:gd name="adj" fmla="val 16666"/>
            </a:avLst>
          </a:prstGeom>
          <a:solidFill>
            <a:srgbClr val="9DC3E6">
              <a:alpha val="100000"/>
            </a:srgbClr>
          </a:solidFill>
          <a:ln w="12700" cap="flat">
            <a:solidFill>
              <a:srgbClr val="9DC3E6">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7" name="AutoShape 7"/>
          <p:cNvSpPr/>
          <p:nvPr/>
        </p:nvSpPr>
        <p:spPr>
          <a:xfrm>
            <a:off x="8865920" y="873703"/>
            <a:ext cx="2586222" cy="1042082"/>
          </a:xfrm>
          <a:prstGeom prst="roundRect">
            <a:avLst>
              <a:gd name="adj" fmla="val 16666"/>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470" b="1"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Framework d'apprentissage profond</a:t>
            </a:r>
            <a:endParaRPr lang="en-US" sz="1100"/>
          </a:p>
        </p:txBody>
      </p:sp>
      <p:sp>
        <p:nvSpPr>
          <p:cNvPr id="8" name="AutoShape 8"/>
          <p:cNvSpPr/>
          <p:nvPr/>
        </p:nvSpPr>
        <p:spPr>
          <a:xfrm>
            <a:off x="8865920" y="2229874"/>
            <a:ext cx="2586222" cy="1042082"/>
          </a:xfrm>
          <a:prstGeom prst="roundRect">
            <a:avLst>
              <a:gd name="adj" fmla="val 16666"/>
            </a:avLst>
          </a:prstGeom>
          <a:solidFill>
            <a:srgbClr val="ED7D31">
              <a:alpha val="100000"/>
            </a:srgbClr>
          </a:solidFill>
          <a:ln w="12700" cap="flat">
            <a:solidFill>
              <a:srgbClr val="64310F">
                <a:alpha val="100000"/>
              </a:srgbClr>
            </a:solidFill>
            <a:prstDash val="solid"/>
          </a:ln>
        </p:spPr>
        <p:txBody>
          <a:bodyPr wrap="square" lIns="91440" tIns="45720" rIns="91440" bIns="45720" rtlCol="0" anchor="ctr">
            <a:noAutofit/>
          </a:bodyPr>
          <a:lstStyle/>
          <a:p>
            <a:pPr indent="0" algn="ctr">
              <a:lnSpc>
                <a:spcPct val="100000"/>
              </a:lnSpc>
              <a:defRPr/>
            </a:pPr>
            <a:r>
              <a:rPr lang="en-US" sz="1675" b="1"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Bibliothèque d'opérateurs</a:t>
            </a:r>
            <a:endParaRPr lang="en-US" sz="1100"/>
          </a:p>
        </p:txBody>
      </p:sp>
      <p:sp>
        <p:nvSpPr>
          <p:cNvPr id="9" name="AutoShape 9"/>
          <p:cNvSpPr/>
          <p:nvPr/>
        </p:nvSpPr>
        <p:spPr>
          <a:xfrm>
            <a:off x="8873620" y="3586045"/>
            <a:ext cx="2586222" cy="1042082"/>
          </a:xfrm>
          <a:prstGeom prst="roundRect">
            <a:avLst>
              <a:gd name="adj" fmla="val 16666"/>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2000" b="1" i="0" u="none" strike="noStrike">
                <a:solidFill>
                  <a:srgbClr val="FFFFFF"/>
                </a:solidFill>
                <a:latin typeface="Calibri" panose="020F0502020204030204"/>
                <a:ea typeface="Arial" panose="020B0604020202020204"/>
                <a:cs typeface="Arial" panose="020B0604020202020204"/>
                <a:sym typeface="Arial" panose="020B0604020202020204"/>
              </a:rPr>
              <a:t>Compiler</a:t>
            </a:r>
            <a:endParaRPr lang="en-US" sz="1100"/>
          </a:p>
        </p:txBody>
      </p:sp>
      <p:sp>
        <p:nvSpPr>
          <p:cNvPr id="10" name="AutoShape 10"/>
          <p:cNvSpPr/>
          <p:nvPr/>
        </p:nvSpPr>
        <p:spPr>
          <a:xfrm>
            <a:off x="9930432" y="1915785"/>
            <a:ext cx="472598" cy="314089"/>
          </a:xfrm>
          <a:prstGeom prst="downArrow">
            <a:avLst>
              <a:gd name="adj1" fmla="val 50000"/>
              <a:gd name="adj2" fmla="val 50000"/>
            </a:avLst>
          </a:prstGeom>
          <a:solidFill>
            <a:srgbClr val="BDD7EE">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9922732" y="3271956"/>
            <a:ext cx="472598" cy="314089"/>
          </a:xfrm>
          <a:prstGeom prst="downArrow">
            <a:avLst>
              <a:gd name="adj1" fmla="val 50000"/>
              <a:gd name="adj2" fmla="val 50000"/>
            </a:avLst>
          </a:prstGeom>
          <a:solidFill>
            <a:srgbClr val="BDD7EE">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8885403" y="4942216"/>
            <a:ext cx="2586222" cy="1042082"/>
          </a:xfrm>
          <a:prstGeom prst="roundRect">
            <a:avLst>
              <a:gd name="adj" fmla="val 16666"/>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2000" b="1" i="0" u="none" strike="noStrike">
                <a:solidFill>
                  <a:srgbClr val="FFFFFF"/>
                </a:solidFill>
                <a:latin typeface="Calibri" panose="020F0502020204030204"/>
                <a:ea typeface="Arial" panose="020B0604020202020204"/>
                <a:cs typeface="Arial" panose="020B0604020202020204"/>
                <a:sym typeface="Arial" panose="020B0604020202020204"/>
              </a:rPr>
              <a:t>Hardware</a:t>
            </a:r>
            <a:endParaRPr lang="en-US" sz="1100"/>
          </a:p>
        </p:txBody>
      </p:sp>
      <p:sp>
        <p:nvSpPr>
          <p:cNvPr id="13" name="AutoShape 13"/>
          <p:cNvSpPr/>
          <p:nvPr/>
        </p:nvSpPr>
        <p:spPr>
          <a:xfrm>
            <a:off x="9922732" y="4628127"/>
            <a:ext cx="472598" cy="314089"/>
          </a:xfrm>
          <a:prstGeom prst="downArrow">
            <a:avLst>
              <a:gd name="adj1" fmla="val 50000"/>
              <a:gd name="adj2" fmla="val 50000"/>
            </a:avLst>
          </a:prstGeom>
          <a:solidFill>
            <a:srgbClr val="BDD7EE">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5" name="文本占位符 14"/>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97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Principe de conception : facilité d'utilisation</a:t>
            </a:r>
            <a:endParaRPr lang="en-US" sz="297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https://github.com/flagos-ai/FlagGems</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Intégration transparente </a:t>
            </a:r>
            <a:r>
              <a:rPr lang="en-US" altLang="zh-CN" sz="1900" b="0" i="0" u="none" strike="noStrike">
                <a:solidFill>
                  <a:srgbClr val="404040"/>
                </a:solidFill>
                <a:latin typeface="Calibri" panose="020F0502020204030204"/>
                <a:ea typeface="Calibri" panose="020F0502020204030204"/>
                <a:cs typeface="Calibri" panose="020F0502020204030204"/>
                <a:sym typeface="Calibri" panose="020F0502020204030204"/>
              </a:rPr>
              <a:t>avec les frameworks de haut niveau</a:t>
            </a: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Enregistrer </a:t>
            </a:r>
            <a:r>
              <a:rPr lang="en-US"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directement la bibliothèque d'opérateurs dans le mécanisme d'ordonnancement interne du framework, permettant aux modèles existants d'obtenir une accélération sans modifier le code.</a:t>
            </a:r>
            <a:r>
              <a:rPr lang="en-US" sz="158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58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Découverte automatique du matériel</a:t>
            </a: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a:t>
            </a:r>
            <a:r>
              <a:rPr lang="en-US" altLang="zh-CN" sz="1585" b="0" i="0" u="none" strike="noStrike">
                <a:solidFill>
                  <a:srgbClr val="404040"/>
                </a:solidFill>
                <a:latin typeface="Calibri" panose="020F0502020204030204"/>
                <a:ea typeface="Calibri" panose="020F0502020204030204"/>
                <a:cs typeface="Calibri" panose="020F0502020204030204"/>
                <a:sym typeface="Calibri" panose="020F0502020204030204"/>
              </a:rPr>
              <a:t>mpl</a:t>
            </a:r>
            <a:r>
              <a:rPr lang="en-US" altLang="en-US" sz="158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85" b="0" i="0" u="none" strike="noStrike">
                <a:solidFill>
                  <a:srgbClr val="404040"/>
                </a:solidFill>
                <a:latin typeface="Calibri" panose="020F0502020204030204"/>
                <a:ea typeface="Calibri" panose="020F0502020204030204"/>
                <a:cs typeface="Calibri" panose="020F0502020204030204"/>
                <a:sym typeface="Calibri" panose="020F0502020204030204"/>
              </a:rPr>
              <a:t>menter la d</a:t>
            </a:r>
            <a:r>
              <a:rPr lang="en-US" altLang="en-US" sz="158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85" b="0" i="0" u="none" strike="noStrike">
                <a:solidFill>
                  <a:srgbClr val="404040"/>
                </a:solidFill>
                <a:latin typeface="Calibri" panose="020F0502020204030204"/>
                <a:ea typeface="Calibri" panose="020F0502020204030204"/>
                <a:cs typeface="Calibri" panose="020F0502020204030204"/>
                <a:sym typeface="Calibri" panose="020F0502020204030204"/>
              </a:rPr>
              <a:t>tection dynamique de l'environnement d'ex</a:t>
            </a:r>
            <a:r>
              <a:rPr lang="en-US" altLang="en-US" sz="158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85" b="0" i="0" u="none" strike="noStrike">
                <a:solidFill>
                  <a:srgbClr val="404040"/>
                </a:solidFill>
                <a:latin typeface="Calibri" panose="020F0502020204030204"/>
                <a:ea typeface="Calibri" panose="020F0502020204030204"/>
                <a:cs typeface="Calibri" panose="020F0502020204030204"/>
                <a:sym typeface="Calibri" panose="020F0502020204030204"/>
              </a:rPr>
              <a:t>cution, charger automatiquement le backend optimal, sans configuration manuelle de l'utilisateur.</a:t>
            </a:r>
            <a:r>
              <a:rPr lang="en-US" sz="158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58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Interface multi-backend unifiée</a:t>
            </a: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585" b="0" i="0" u="none" strike="noStrike">
                <a:solidFill>
                  <a:srgbClr val="404040"/>
                </a:solidFill>
                <a:latin typeface="Calibri" panose="020F0502020204030204"/>
                <a:ea typeface="Calibri" panose="020F0502020204030204"/>
                <a:cs typeface="Calibri" panose="020F0502020204030204"/>
                <a:sym typeface="Calibri" panose="020F0502020204030204"/>
              </a:rPr>
              <a:t>D</a:t>
            </a:r>
            <a:r>
              <a:rPr lang="en-US" altLang="en-US" sz="158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85" b="0" i="0" u="none" strike="noStrike">
                <a:solidFill>
                  <a:srgbClr val="404040"/>
                </a:solidFill>
                <a:latin typeface="Calibri" panose="020F0502020204030204"/>
                <a:ea typeface="Calibri" panose="020F0502020204030204"/>
                <a:cs typeface="Calibri" panose="020F0502020204030204"/>
                <a:sym typeface="Calibri" panose="020F0502020204030204"/>
              </a:rPr>
              <a:t>finir une couche d'abstraction standardis</a:t>
            </a:r>
            <a:r>
              <a:rPr lang="en-US" altLang="en-US" sz="158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85" b="0" i="0" u="none" strike="noStrike">
                <a:solidFill>
                  <a:srgbClr val="404040"/>
                </a:solidFill>
                <a:latin typeface="Calibri" panose="020F0502020204030204"/>
                <a:ea typeface="Calibri" panose="020F0502020204030204"/>
                <a:cs typeface="Calibri" panose="020F0502020204030204"/>
                <a:sym typeface="Calibri" panose="020F0502020204030204"/>
              </a:rPr>
              <a:t>e, permettant aux m</a:t>
            </a:r>
            <a:r>
              <a:rPr lang="en-US" altLang="en-US" sz="1585" b="0" i="0" u="none" strike="noStrike">
                <a:solidFill>
                  <a:srgbClr val="404040"/>
                </a:solidFill>
                <a:latin typeface="Calibri" panose="020F0502020204030204"/>
                <a:ea typeface="Calibri" panose="020F0502020204030204"/>
                <a:cs typeface="Calibri" panose="020F0502020204030204"/>
                <a:sym typeface="Calibri" panose="020F0502020204030204"/>
              </a:rPr>
              <a:t>ê</a:t>
            </a:r>
            <a:r>
              <a:rPr lang="en-US" altLang="zh-CN" sz="1585" b="0" i="0" u="none" strike="noStrike">
                <a:solidFill>
                  <a:srgbClr val="404040"/>
                </a:solidFill>
                <a:latin typeface="Calibri" panose="020F0502020204030204"/>
                <a:ea typeface="Calibri" panose="020F0502020204030204"/>
                <a:cs typeface="Calibri" panose="020F0502020204030204"/>
                <a:sym typeface="Calibri" panose="020F0502020204030204"/>
              </a:rPr>
              <a:t>mes API de haut niveau de rester coh</a:t>
            </a:r>
            <a:r>
              <a:rPr lang="en-US" altLang="en-US" sz="158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85" b="0" i="0" u="none" strike="noStrike">
                <a:solidFill>
                  <a:srgbClr val="404040"/>
                </a:solidFill>
                <a:latin typeface="Calibri" panose="020F0502020204030204"/>
                <a:ea typeface="Calibri" panose="020F0502020204030204"/>
                <a:cs typeface="Calibri" panose="020F0502020204030204"/>
                <a:sym typeface="Calibri" panose="020F0502020204030204"/>
              </a:rPr>
              <a:t>rentes sur diff</a:t>
            </a:r>
            <a:r>
              <a:rPr lang="en-US" altLang="en-US" sz="158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85" b="0" i="0" u="none" strike="noStrike">
                <a:solidFill>
                  <a:srgbClr val="404040"/>
                </a:solidFill>
                <a:latin typeface="Calibri" panose="020F0502020204030204"/>
                <a:ea typeface="Calibri" panose="020F0502020204030204"/>
                <a:cs typeface="Calibri" panose="020F0502020204030204"/>
                <a:sym typeface="Calibri" panose="020F0502020204030204"/>
              </a:rPr>
              <a:t>rentes architectures mat</a:t>
            </a:r>
            <a:r>
              <a:rPr lang="en-US" altLang="en-US" sz="158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85" b="0" i="0" u="none" strike="noStrike">
                <a:solidFill>
                  <a:srgbClr val="404040"/>
                </a:solidFill>
                <a:latin typeface="Calibri" panose="020F0502020204030204"/>
                <a:ea typeface="Calibri" panose="020F0502020204030204"/>
                <a:cs typeface="Calibri" panose="020F0502020204030204"/>
                <a:sym typeface="Calibri" panose="020F0502020204030204"/>
              </a:rPr>
              <a:t>rielles.</a:t>
            </a:r>
            <a:r>
              <a:rPr lang="en-US" sz="158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58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Architecture d'abstraction multi-niveau</a:t>
            </a:r>
            <a:r>
              <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x</a:t>
            </a: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a:t>
            </a:r>
            <a:r>
              <a:rPr lang="en-US" altLang="zh-CN"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ournir un syst</a:t>
            </a:r>
            <a:r>
              <a:rPr lang="en-US" altLang="en-US"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d'abstraction en couches pour r</a:t>
            </a:r>
            <a:r>
              <a:rPr lang="en-US" altLang="en-US"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pondre aux diff</a:t>
            </a:r>
            <a:r>
              <a:rPr lang="en-US" altLang="en-US"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rents besoins : niveau haut pour le prototypage rapide, niveau interm</a:t>
            </a:r>
            <a:r>
              <a:rPr lang="en-US" altLang="en-US"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diaire pour le r</a:t>
            </a:r>
            <a:r>
              <a:rPr lang="en-US" altLang="en-US"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glage du parall</a:t>
            </a:r>
            <a:r>
              <a:rPr lang="en-US" altLang="en-US"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lisme et du d</a:t>
            </a:r>
            <a:r>
              <a:rPr lang="en-US" altLang="en-US"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coupage en blocs, niveau bas pour l'optimisation experte des d</a:t>
            </a:r>
            <a:r>
              <a:rPr lang="en-US" altLang="en-US"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tails mat</a:t>
            </a:r>
            <a:r>
              <a:rPr lang="en-US" altLang="en-US"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riels tels que les registres et les warps.</a:t>
            </a:r>
            <a:endParaRPr lang="en-US" altLang="zh-CN"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Principes de conception : Performance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https://github.com/flagos-ai/FlagGems</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Cache persistant et </a:t>
            </a:r>
            <a:r>
              <a:rPr lang="en-US" altLang="zh-CN" sz="2310" b="0" i="0" u="none" strike="noStrike">
                <a:solidFill>
                  <a:srgbClr val="404040"/>
                </a:solidFill>
                <a:latin typeface="Calibri" panose="020F0502020204030204"/>
                <a:ea typeface="Calibri" panose="020F0502020204030204"/>
                <a:cs typeface="Calibri" panose="020F0502020204030204"/>
                <a:sym typeface="Calibri" panose="020F0502020204030204"/>
              </a:rPr>
              <a:t>pr</a:t>
            </a:r>
            <a:r>
              <a:rPr lang="en-US" altLang="en-US" sz="231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310" b="0" i="0" u="none" strike="noStrike">
                <a:solidFill>
                  <a:srgbClr val="404040"/>
                </a:solidFill>
                <a:latin typeface="Calibri" panose="020F0502020204030204"/>
                <a:ea typeface="Calibri" panose="020F0502020204030204"/>
                <a:cs typeface="Calibri" panose="020F0502020204030204"/>
                <a:sym typeface="Calibri" panose="020F0502020204030204"/>
              </a:rPr>
              <a:t>chauffage</a:t>
            </a:r>
            <a:r>
              <a:rPr lang="en-US" sz="231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31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9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Stockage des configurations de calcul optimisées et préchauffage des noyaux pour éliminer le </a:t>
            </a:r>
            <a:r>
              <a:rPr lang="en-US" altLang="zh-CN" sz="19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latence d'initialisation</a:t>
            </a:r>
            <a:r>
              <a:rPr lang="en-US" sz="19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assurant une performance optimale dès la première exécution.</a:t>
            </a:r>
            <a:r>
              <a:rPr lang="en-US" sz="192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Mappage de configuration sensible au matériel</a:t>
            </a:r>
            <a:r>
              <a:rPr lang="en-US" sz="231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31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9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Utilisation du système de configuration pour abstraire les contraintes matérielles spécifiques (comme la hiérarchie mémoire et les limites des unités de calcul) dans le processus de génération de code.</a:t>
            </a:r>
            <a:r>
              <a:rPr lang="en-US" sz="192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coupage adaptati</a:t>
            </a:r>
            <a:r>
              <a:rPr lang="en-US"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a:t>
            </a:r>
            <a:r>
              <a:rPr lang="en-US" sz="231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31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9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19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composition des op</a:t>
            </a:r>
            <a:r>
              <a:rPr lang="en-US" altLang="en-US" sz="19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en blocs de calcul optimaux selon les dimensions d'entr</a:t>
            </a:r>
            <a:r>
              <a:rPr lang="en-US" altLang="en-US" sz="19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minimisant ainsi le surco</a:t>
            </a:r>
            <a:r>
              <a:rPr lang="en-US" altLang="en-US" sz="19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9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 de bourrage et maximisant l'utilisation de la bande passante m</a:t>
            </a:r>
            <a:r>
              <a:rPr lang="en-US" altLang="en-US" sz="19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a:t>
            </a:r>
            <a:endParaRPr lang="en-US" altLang="zh-CN" sz="19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Compromis et arbitrages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Forme dynamique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alignement matériel</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entrées de taille arbitraire limitent généralement la performance optimale basée sur l'alignement matériel.</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Solution : </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d</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coupage adaptatif (tiling adaptatif)</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Disposition intuitive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accès mémoire optimal</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formats de données standard sont généralement en conflit avec les modèles mémoire optimisés pour le matériel.</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Solution : </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transformation de disposition (layout)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API</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boîte noire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réglage fin</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interfaces simplifiées rendent difficile un réglage fin.</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Solution : Mappage heuristique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Ordonnanceur</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https://blog.ezyang.com/2020/09/lets-talk-about-the-pytorch-dispatcher/</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4" y="1323975"/>
            <a:ext cx="5572126" cy="4852988"/>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ordonnanceur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est un composant qui distribue les opérations vers l'implémentation ou le backend approprié en fonction des conditions d'exécution (telles que le type d'appareil, les attributs de données ou les politiques de configuration).</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096000" y="2252364"/>
            <a:ext cx="5958814" cy="4469111"/>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Processus d’ordonnancement simplifi</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https://blog.ezyang.com/2020/09/lets-talk-about-the-pytorch-dispatcher/</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4" y="1323975"/>
            <a:ext cx="9733256" cy="4852988"/>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1.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Collecte des métadonnées : </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extraction des m</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tadonn</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es telles que le type de p</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riph</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rique, le type de donn</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es et la disposition à partir des tenseurs d'entr</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2.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 de clé : combinaison de plusieurs attributs pour générer une clé de planification unique.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3.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Recherche dans la table : recherche du pointeur de fonction noyau correspondant dans la table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d'ordonnancement globale</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4.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Exécution : appel de l'implémentation backend spécifique pour effectuer le calcul.</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10257130" y="1323973"/>
            <a:ext cx="440278" cy="2331752"/>
          </a:xfrm>
          <a:prstGeom prst="downArrow">
            <a:avLst>
              <a:gd name="adj1" fmla="val 50000"/>
              <a:gd name="adj2" fmla="val 50000"/>
            </a:avLst>
          </a:prstGeom>
          <a:solidFill>
            <a:srgbClr val="8FAADC">
              <a:alpha val="100000"/>
            </a:srgbClr>
          </a:solidFill>
          <a:ln w="12700" cap="flat">
            <a:solidFill>
              <a:srgbClr val="2E75B6">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canisme d’ordonnancement avanc</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endPar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https://blog.ezyang.com/2020/09/lets-talk-about-the-pytorch-dispatcher/</a:t>
            </a:r>
            <a:endPar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a:p>
            <a:pPr indent="0" algn="l">
              <a:lnSpc>
                <a:spcPct val="100000"/>
              </a:lnSpc>
            </a:pP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https://github.com/flagos-ai/FlagGems</a:t>
            </a:r>
            <a:endPar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Planification multi-niveau séquentielle : un appel d'opérateur unique peut déclencher une chaîne de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gestionnaires de traitement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 masquant les clés déjà traitées et en rappelant le planificateur pour trouver l'implémentation suivante.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Sélection heuristique : </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analyser les m</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triques de charge de travail (comme la forme) et les attributs mat</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riels (comme le nombre de processeurs de flux), puis choisir de mani</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re adaptative le chemin algorithmique optimal et les param</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tres d'ex</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cution.</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Instanciation dynamique de noyaux : génération et mise en cache instantanée de noyaux spécialisés pour traiter diverses dimensions de tâches ou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sch</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mas de diffusion</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sans nécessiter d'</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criture manuelle de code</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41680" y="431800"/>
            <a:ext cx="8769350" cy="701040"/>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algn="l">
              <a:lnSpc>
                <a:spcPct val="100000"/>
              </a:lnSpc>
              <a:buSzTx/>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Utiliser un DSL pour impl</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menter une biblioth</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que d’op</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rateurs</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https://zhuanlan.zhihu.com/p/1977691609266161545</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pic>
        <p:nvPicPr>
          <p:cNvPr id="5" name="Picture 5"/>
          <p:cNvPicPr>
            <a:picLocks noGrp="1" noChangeAspect="1"/>
          </p:cNvPicPr>
          <p:nvPr>
            <p:ph type="body" sz="quarter" idx="9"/>
          </p:nvPr>
        </p:nvPicPr>
        <p:blipFill>
          <a:blip r:embed="rId1"/>
          <a:srcRect/>
          <a:stretch>
            <a:fillRect/>
          </a:stretch>
        </p:blipFill>
        <p:spPr>
          <a:xfrm>
            <a:off x="5929630" y="1536065"/>
            <a:ext cx="6306820" cy="4773930"/>
          </a:xfrm>
          <a:prstGeom prst="rect">
            <a:avLst/>
          </a:prstGeom>
        </p:spPr>
      </p:pic>
      <p:sp>
        <p:nvSpPr>
          <p:cNvPr id="6" name="AutoShape 6"/>
          <p:cNvSpPr/>
          <p:nvPr/>
        </p:nvSpPr>
        <p:spPr>
          <a:xfrm>
            <a:off x="523875" y="1323974"/>
            <a:ext cx="5361305" cy="5397501"/>
          </a:xfrm>
          <a:prstGeom prst="rect">
            <a:avLst/>
          </a:prstGeom>
          <a:noFill/>
          <a:ln w="12700">
            <a:noFill/>
            <a:prstDash val="solid"/>
          </a:ln>
        </p:spPr>
        <p:txBody>
          <a:bodyPr vert="horz" wrap="square" lIns="91440" tIns="45720" rIns="91440" bIns="45720" rtlCol="0" anchor="t">
            <a:normAutofit/>
          </a:bodyPr>
          <a:lstStyle/>
          <a:p>
            <a:pPr marL="304800" indent="-304800" algn="l">
              <a:lnSpc>
                <a:spcPct val="100000"/>
              </a:lnSpc>
              <a:spcBef>
                <a:spcPts val="1500"/>
              </a:spcBef>
              <a:buClr>
                <a:srgbClr val="404040"/>
              </a:buClr>
              <a:buChar char="•"/>
              <a:defRP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d</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veloppeur d</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crit “quoi faire”, tandis que le compilateur d</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cide “comment le faire”</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100"/>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Séparation complète entre la logique de l'opérateur et l'implémentation physique.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Objectif principal : assurer la portabilité multiplateforme tout en rendant le développement d'opérateurs plus simple et plus efficace.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Triton</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TileLang</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Gluon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425" b="0" i="0" u="none" strike="noStrike">
                <a:solidFill>
                  <a:srgbClr val="262626"/>
                </a:solidFill>
                <a:latin typeface="Calibri" panose="020F0502020204030204"/>
                <a:ea typeface="Calibri" panose="020F0502020204030204"/>
                <a:cs typeface="Calibri" panose="020F0502020204030204"/>
                <a:sym typeface="Calibri" panose="020F0502020204030204"/>
              </a:rPr>
              <a:t>DSL pour biblioth</a:t>
            </a:r>
            <a:r>
              <a:rPr lang="en-US" altLang="en-US" sz="2425" b="0" i="0" u="none" strike="noStrike">
                <a:solidFill>
                  <a:srgbClr val="262626"/>
                </a:solidFill>
                <a:latin typeface="Calibri" panose="020F0502020204030204"/>
                <a:ea typeface="Calibri" panose="020F0502020204030204"/>
                <a:cs typeface="Calibri" panose="020F0502020204030204"/>
                <a:sym typeface="Calibri" panose="020F0502020204030204"/>
              </a:rPr>
              <a:t>è</a:t>
            </a:r>
            <a:r>
              <a:rPr lang="en-US" altLang="zh-CN" sz="2425" b="0" i="0" u="none" strike="noStrike">
                <a:solidFill>
                  <a:srgbClr val="262626"/>
                </a:solidFill>
                <a:latin typeface="Calibri" panose="020F0502020204030204"/>
                <a:ea typeface="Calibri" panose="020F0502020204030204"/>
                <a:cs typeface="Calibri" panose="020F0502020204030204"/>
                <a:sym typeface="Calibri" panose="020F0502020204030204"/>
              </a:rPr>
              <a:t>ques d’op</a:t>
            </a:r>
            <a:r>
              <a:rPr lang="en-US" altLang="en-US" sz="2425"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2425" b="0" i="0" u="none" strike="noStrike">
                <a:solidFill>
                  <a:srgbClr val="262626"/>
                </a:solidFill>
                <a:latin typeface="Calibri" panose="020F0502020204030204"/>
                <a:ea typeface="Calibri" panose="020F0502020204030204"/>
                <a:cs typeface="Calibri" panose="020F0502020204030204"/>
                <a:sym typeface="Calibri" panose="020F0502020204030204"/>
              </a:rPr>
              <a:t>rateurs – Triton</a:t>
            </a:r>
            <a:endParaRPr lang="en-US" altLang="zh-CN" sz="242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https://triton-lang.org/main/getting-started/tutorials/01-vector-add.html</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6" name="AutoShape 6"/>
          <p:cNvSpPr/>
          <p:nvPr/>
        </p:nvSpPr>
        <p:spPr>
          <a:xfrm>
            <a:off x="523875" y="1323975"/>
            <a:ext cx="4585335" cy="5397500"/>
          </a:xfrm>
          <a:prstGeom prst="rect">
            <a:avLst/>
          </a:prstGeom>
          <a:noFill/>
          <a:ln w="12700">
            <a:noFill/>
            <a:prstDash val="solid"/>
          </a:ln>
        </p:spPr>
        <p:txBody>
          <a:bodyPr vert="horz" wrap="square" lIns="91440" tIns="45720" rIns="91440" bIns="45720" rtlCol="0" anchor="t">
            <a:normAutofit/>
          </a:bodyPr>
          <a:lstStyle/>
          <a:p>
            <a:pPr marL="304800" indent="-304800" algn="l">
              <a:lnSpc>
                <a:spcPct val="100000"/>
              </a:lnSpc>
              <a:spcBef>
                <a:spcPts val="1500"/>
              </a:spcBef>
              <a:buClr>
                <a:srgbClr val="404040"/>
              </a:buClr>
              <a:buChar char="•"/>
              <a:defRPr/>
            </a:pPr>
            <a:r>
              <a:rPr lang="en-US" sz="20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Basé sur</a:t>
            </a:r>
            <a:r>
              <a:rPr lang="en-US" sz="2065" b="0" i="0" u="none" strike="noStrike">
                <a:solidFill>
                  <a:srgbClr val="404040"/>
                </a:solidFill>
                <a:latin typeface="Calibri" panose="020F0502020204030204"/>
                <a:ea typeface="Calibri" panose="020F0502020204030204"/>
                <a:cs typeface="Calibri" panose="020F0502020204030204"/>
                <a:sym typeface="Calibri" panose="020F0502020204030204"/>
              </a:rPr>
              <a:t> Python </a:t>
            </a:r>
            <a:r>
              <a:rPr lang="en-US" sz="20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la </a:t>
            </a:r>
            <a:r>
              <a:rPr lang="en-US" sz="2065" b="0" i="0" u="none" strike="noStrike">
                <a:solidFill>
                  <a:srgbClr val="404040"/>
                </a:solidFill>
                <a:latin typeface="Calibri" panose="020F0502020204030204"/>
                <a:ea typeface="Calibri" panose="020F0502020204030204"/>
                <a:cs typeface="Calibri" panose="020F0502020204030204"/>
                <a:sym typeface="Calibri" panose="020F0502020204030204"/>
              </a:rPr>
              <a:t>programmation au niveau </a:t>
            </a:r>
            <a:r>
              <a:rPr lang="en-US" sz="20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Tile</a:t>
            </a:r>
            <a:r>
              <a:rPr lang="en-US" sz="206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100"/>
          </a:p>
          <a:p>
            <a:pPr marL="304800" indent="-304800" algn="l">
              <a:lnSpc>
                <a:spcPct val="100000"/>
              </a:lnSpc>
              <a:spcBef>
                <a:spcPts val="1500"/>
              </a:spcBef>
              <a:buClr>
                <a:srgbClr val="404040"/>
              </a:buClr>
              <a:buChar char="•"/>
            </a:pPr>
            <a:r>
              <a:rPr lang="en-US" sz="20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Optimisation pilotée par le compilateur</a:t>
            </a:r>
            <a:r>
              <a:rPr lang="en-US" sz="206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6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Abstraction indépendante du matériel</a:t>
            </a:r>
            <a:endParaRPr lang="en-US" sz="20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7" name="Picture 7"/>
          <p:cNvPicPr>
            <a:picLocks noChangeAspect="1"/>
          </p:cNvPicPr>
          <p:nvPr/>
        </p:nvPicPr>
        <p:blipFill>
          <a:blip r:embed="rId1"/>
          <a:srcRect/>
          <a:stretch>
            <a:fillRect/>
          </a:stretch>
        </p:blipFill>
        <p:spPr>
          <a:xfrm>
            <a:off x="1233912" y="3381839"/>
            <a:ext cx="2653920" cy="3018677"/>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5328442" y="1520041"/>
            <a:ext cx="6863558" cy="4361219"/>
          </a:xfrm>
          <a:prstGeom prst="rect">
            <a:avLst/>
          </a:prstGeom>
          <a:ln w="12700">
            <a:noFill/>
            <a:prstDash val="solid"/>
          </a:ln>
        </p:spPr>
      </p:pic>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Étude de cas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FlagGems</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6521450" cy="485330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Injection transparente dans l’ordonnanceur ATen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Remplacement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les noyaux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CUDA</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par des noyaux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Triton</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Z</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ro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modification du code utilisateur</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045960" y="621665"/>
            <a:ext cx="5094605" cy="6236335"/>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Injection d'opérateurs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Ex</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cution par substitution de motif</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Interception des</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opérateurs ATen</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existants</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Routage basé sur des clés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d'ordonnancement sp</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cifiques</a:t>
            </a:r>
            <a:endPar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1895518" y="3376158"/>
            <a:ext cx="8534400" cy="270510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Remplacement global et contextuel</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FlagGems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maintient un registre d'opérateurs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enable()</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parcourt le registre et enregistre les opérateurs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use_gems() :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gestionnaire de contexte pour un contrôle fin du remplacement des opérateurs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1895518" y="3369618"/>
            <a:ext cx="8534400" cy="287655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LibEntry</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gestionnaire de cache de noyaux </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(kernels) </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4" y="1323975"/>
            <a:ext cx="4264271" cy="4852988"/>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Contournement du runtime Triton natif</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Gestion ind</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pendante du cache de noyaux</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Calcul l</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ger des cl</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s de cache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surcharge Python est quasi nulle lors des appels ult</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rieurs.</a:t>
            </a:r>
            <a:endPar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4788145" y="1323969"/>
            <a:ext cx="7403855" cy="3933298"/>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Strat</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gie d’ordonnancement multi‑mat</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riel</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Détection dynamique de l'environnement d'exécution</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outage des cl</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s d'ordonnancement sp</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cifiques au mat</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riel</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x</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sur une base de code Triton unifi</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endPar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1828800" y="3427601"/>
            <a:ext cx="8534400" cy="255270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Points clés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270" b="0" i="0" u="none" strike="noStrike">
                <a:solidFill>
                  <a:srgbClr val="404040"/>
                </a:solidFill>
                <a:latin typeface="Calibri" panose="020F0502020204030204"/>
                <a:ea typeface="Calibri" panose="020F0502020204030204"/>
                <a:cs typeface="Calibri" panose="020F0502020204030204"/>
                <a:sym typeface="Calibri" panose="020F0502020204030204"/>
              </a:rPr>
              <a:t>Transparence </a:t>
            </a:r>
            <a:r>
              <a:rPr lang="en-US" sz="22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 l'API</a:t>
            </a:r>
            <a:r>
              <a:rPr lang="en-US" sz="227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27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L'API du framework d'origine</a:t>
            </a:r>
            <a:r>
              <a:rPr lang="en-US" sz="189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reste entièrement inchangée, tout en distribuant de manière transparente</a:t>
            </a:r>
            <a:r>
              <a:rPr lang="en-US" altLang="zh-CN"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calculs vers les noyaux optimis</a:t>
            </a:r>
            <a:r>
              <a:rPr lang="en-US" altLang="en-US"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t>
            </a:r>
            <a:r>
              <a:rPr lang="en-US"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89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9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2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Découplage matériel</a:t>
            </a:r>
            <a:r>
              <a:rPr lang="en-US" sz="227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27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895" b="0" i="0" u="none" strike="noStrike">
                <a:solidFill>
                  <a:srgbClr val="404040"/>
                </a:solidFill>
                <a:latin typeface="Calibri" panose="020F0502020204030204"/>
                <a:ea typeface="Calibri" panose="020F0502020204030204"/>
                <a:cs typeface="Calibri" panose="020F0502020204030204"/>
                <a:sym typeface="Calibri" panose="020F0502020204030204"/>
              </a:rPr>
              <a:t>Les cl</a:t>
            </a:r>
            <a:r>
              <a:rPr lang="en-US" altLang="en-US" sz="189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95" b="0" i="0" u="none" strike="noStrike">
                <a:solidFill>
                  <a:srgbClr val="404040"/>
                </a:solidFill>
                <a:latin typeface="Calibri" panose="020F0502020204030204"/>
                <a:ea typeface="Calibri" panose="020F0502020204030204"/>
                <a:cs typeface="Calibri" panose="020F0502020204030204"/>
                <a:sym typeface="Calibri" panose="020F0502020204030204"/>
              </a:rPr>
              <a:t>s d'ordonnancement dynamiques fournissent un chemin unifi</a:t>
            </a:r>
            <a:r>
              <a:rPr lang="en-US" altLang="en-US" sz="189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95" b="0" i="0" u="none" strike="noStrike">
                <a:solidFill>
                  <a:srgbClr val="404040"/>
                </a:solidFill>
                <a:latin typeface="Calibri" panose="020F0502020204030204"/>
                <a:ea typeface="Calibri" panose="020F0502020204030204"/>
                <a:cs typeface="Calibri" panose="020F0502020204030204"/>
                <a:sym typeface="Calibri" panose="020F0502020204030204"/>
              </a:rPr>
              <a:t> et extensible pour prendre en charge diverses puces backend.</a:t>
            </a:r>
            <a:r>
              <a:rPr lang="en-US" sz="189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9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2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Optimisation des coûts d'exécution</a:t>
            </a:r>
            <a:r>
              <a:rPr lang="en-US" sz="227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27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a:t>
            </a:r>
            <a:r>
              <a:rPr lang="en-US" altLang="zh-CN" sz="1895" b="0" i="0" u="none" strike="noStrike">
                <a:solidFill>
                  <a:srgbClr val="404040"/>
                </a:solidFill>
                <a:latin typeface="Calibri" panose="020F0502020204030204"/>
                <a:ea typeface="Calibri" panose="020F0502020204030204"/>
                <a:cs typeface="Calibri" panose="020F0502020204030204"/>
                <a:sym typeface="Calibri" panose="020F0502020204030204"/>
              </a:rPr>
              <a:t>tilisation d'un gestionnaire de cache personnalis</a:t>
            </a:r>
            <a:r>
              <a:rPr lang="en-US" altLang="en-US" sz="189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95" b="0" i="0" u="none" strike="noStrike">
                <a:solidFill>
                  <a:srgbClr val="404040"/>
                </a:solidFill>
                <a:latin typeface="Calibri" panose="020F0502020204030204"/>
                <a:ea typeface="Calibri" panose="020F0502020204030204"/>
                <a:cs typeface="Calibri" panose="020F0502020204030204"/>
                <a:sym typeface="Calibri" panose="020F0502020204030204"/>
              </a:rPr>
              <a:t> pour contourner le runtime natif, </a:t>
            </a:r>
            <a:r>
              <a:rPr lang="en-US" altLang="en-US" sz="189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95" b="0" i="0" u="none" strike="noStrike">
                <a:solidFill>
                  <a:srgbClr val="404040"/>
                </a:solidFill>
                <a:latin typeface="Calibri" panose="020F0502020204030204"/>
                <a:ea typeface="Calibri" panose="020F0502020204030204"/>
                <a:cs typeface="Calibri" panose="020F0502020204030204"/>
                <a:sym typeface="Calibri" panose="020F0502020204030204"/>
              </a:rPr>
              <a:t>liminant presque la latence d'ordonnancement de Python.</a:t>
            </a:r>
            <a:r>
              <a:rPr lang="en-US" sz="189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9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2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Génération de noyaux</a:t>
            </a:r>
            <a:r>
              <a:rPr lang="en-US" sz="227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27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zh-CN"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d</a:t>
            </a:r>
            <a:r>
              <a:rPr lang="en-US" altLang="en-US"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corateurs dynamiques fournissent un moyen efficace de g</a:t>
            </a:r>
            <a:r>
              <a:rPr lang="en-US" altLang="en-US"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rer et ajuster automatiquement les op</a:t>
            </a:r>
            <a:r>
              <a:rPr lang="en-US" altLang="en-US"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fusionn</a:t>
            </a:r>
            <a:r>
              <a:rPr lang="en-US" altLang="en-US"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t>
            </a:r>
            <a:endParaRPr lang="en-US" altLang="zh-CN"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Références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1" tooltip="https://github.com/flagos-ai/FlagGems"/>
              </a:rPr>
              <a:t>flagos-ai/FlagGems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2" tooltip="https://triton-lang.org/main/index.html"/>
              </a:rPr>
              <a:t>Documentation Triton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3" tooltip="https://docs.nvidia.com/deeplearning/cudnn/latest/"/>
              </a:rPr>
              <a:t>Documentation NVIDIA cuDNN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4" tooltip="https://blog.ezyang.com/2020/09/lets-talk-about-the-pytorch-dispatcher/"/>
              </a:rPr>
              <a:t>Parlons du répartiteur PyTorch : le blog d'ezyang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4" tooltip="https://blog.ezyang.com/2020/09/lets-talk-about-the-pytorch-dispatcher/"/>
            </a:endParaRPr>
          </a:p>
        </p:txBody>
      </p:sp>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fontScale="87500" lnSpcReduction="10000"/>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a:solidFill>
                  <a:srgbClr val="262626"/>
                </a:solidFill>
                <a:latin typeface="Calibri" panose="020F0502020204030204"/>
                <a:ea typeface="Calibri" panose="020F0502020204030204"/>
                <a:cs typeface="Calibri" panose="020F0502020204030204"/>
                <a:sym typeface="Calibri" panose="020F0502020204030204"/>
              </a:rPr>
              <a:t>Leçon</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 18</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a:t>
            </a:r>
            <a:endPar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ctr">
              <a:lnSpc>
                <a:spcPct val="100000"/>
              </a:lnSpc>
              <a:spcBef>
                <a:spcPts val="1500"/>
              </a:spcBef>
            </a:pPr>
            <a:r>
              <a:rPr lang="en-US" altLang="zh-CN"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Projet final du Module II : </a:t>
            </a:r>
            <a:endParaRPr lang="en-US" altLang="zh-CN"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ctr">
              <a:lnSpc>
                <a:spcPct val="100000"/>
              </a:lnSpc>
              <a:spcBef>
                <a:spcPts val="1500"/>
              </a:spcBef>
            </a:pPr>
            <a:r>
              <a:rPr lang="en-US" altLang="zh-CN"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Op</a:t>
            </a:r>
            <a:r>
              <a:rPr lang="en-US" alt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rateur fusionn</a:t>
            </a:r>
            <a:r>
              <a:rPr lang="en-US" alt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RMSNorm + Residual</a:t>
            </a:r>
            <a:endParaRPr lang="en-US" altLang="zh-CN"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p:transition spd="slow">
    <p:fade/>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Aperçu des projets du cours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graphicFrame>
        <p:nvGraphicFramePr>
          <p:cNvPr id="6" name="Table 6"/>
          <p:cNvGraphicFramePr>
            <a:graphicFrameLocks noGrp="1"/>
          </p:cNvGraphicFramePr>
          <p:nvPr/>
        </p:nvGraphicFramePr>
        <p:xfrm>
          <a:off x="882015" y="1041575"/>
          <a:ext cx="10427970" cy="4148455"/>
        </p:xfrm>
        <a:graphic>
          <a:graphicData uri="http://schemas.openxmlformats.org/drawingml/2006/table">
            <a:tbl>
              <a:tblPr>
                <a:effectLst/>
              </a:tblPr>
              <a:tblGrid>
                <a:gridCol w="941705"/>
                <a:gridCol w="4256405"/>
                <a:gridCol w="1414145"/>
                <a:gridCol w="3815715"/>
              </a:tblGrid>
              <a:tr h="583565">
                <a:tc>
                  <a:txBody>
                    <a:bodyPr/>
                    <a:lstStyle/>
                    <a:p>
                      <a:pPr indent="0" algn="ctr">
                        <a:lnSpc>
                          <a:spcPct val="117000"/>
                        </a:lnSpc>
                        <a:defRPr/>
                      </a:pPr>
                      <a:r>
                        <a:rPr lang="en-US" sz="1700" b="0" i="0" u="none" strike="noStrike" spc="13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Cours</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ctr">
                        <a:lnSpc>
                          <a:spcPct val="117000"/>
                        </a:lnSpc>
                        <a:defRPr/>
                      </a:pPr>
                      <a:r>
                        <a:rPr lang="en-US" sz="1700" b="0" i="0" u="none" strike="noStrike" spc="13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Nom du projet</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ctr">
                        <a:lnSpc>
                          <a:spcPct val="117000"/>
                        </a:lnSpc>
                        <a:defRPr/>
                      </a:pPr>
                      <a:r>
                        <a:rPr lang="en-US" sz="1700" b="0" i="0" u="none" strike="noStrike" spc="13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Type</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ctr">
                        <a:lnSpc>
                          <a:spcPct val="117000"/>
                        </a:lnSpc>
                        <a:defRPr/>
                      </a:pPr>
                      <a:r>
                        <a:rPr lang="en-US" sz="1700" b="0" i="0" u="none" strike="noStrike" spc="13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Critères d'évaluation principaux</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r>
              <a:tr h="543560">
                <a:tc>
                  <a:txBody>
                    <a:bodyPr/>
                    <a:lstStyle/>
                    <a:p>
                      <a:pPr indent="0" algn="ctr">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5</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5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Configuration de l'environnement et chaîne d'outils</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ctr">
                        <a:lnSpc>
                          <a:spcPct val="117000"/>
                        </a:lnSpc>
                        <a:defRPr/>
                      </a:pPr>
                      <a:r>
                        <a:rPr lang="en-US" sz="15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Travaux pratiques</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ctr">
                        <a:lnSpc>
                          <a:spcPct val="117000"/>
                        </a:lnSpc>
                        <a:defRPr/>
                      </a:pPr>
                      <a:r>
                        <a:rPr lang="en-US" sz="15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Vérification en quatre étapes + rapport de laboratoire</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543560">
                <a:tc>
                  <a:txBody>
                    <a:bodyPr/>
                    <a:lstStyle/>
                    <a:p>
                      <a:pPr indent="0" algn="ctr">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9</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Softmax Kernel (mi-semestre)</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ctr">
                        <a:lnSpc>
                          <a:spcPct val="117000"/>
                        </a:lnSpc>
                        <a:defRPr/>
                      </a:pPr>
                      <a:r>
                        <a:rPr lang="en-US" sz="15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Projet individuel</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ctr">
                        <a:lnSpc>
                          <a:spcPct val="117000"/>
                        </a:lnSpc>
                        <a:defRPr/>
                      </a:pPr>
                      <a:r>
                        <a:rPr lang="en-US" sz="15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Exactitude 40 points + seuil de performance 70%</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543560">
                <a:tc>
                  <a:txBody>
                    <a:bodyPr/>
                    <a:lstStyle/>
                    <a:p>
                      <a:pPr indent="0" algn="ctr">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18</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Fusion RMSNorm+Residual (fin de semestre)</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ctr">
                        <a:lnSpc>
                          <a:spcPct val="117000"/>
                        </a:lnSpc>
                        <a:defRPr/>
                      </a:pPr>
                      <a:r>
                        <a:rPr lang="en-US" sz="15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Projet individuel</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ctr">
                        <a:lnSpc>
                          <a:spcPct val="117000"/>
                        </a:lnSpc>
                        <a:defRPr/>
                      </a:pPr>
                      <a:r>
                        <a:rPr lang="en-US" sz="15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Performance atteignant 90% de la référence FlagGems</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847090">
                <a:tc>
                  <a:txBody>
                    <a:bodyPr/>
                    <a:lstStyle/>
                    <a:p>
                      <a:pPr indent="0" algn="ctr">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27</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Contribution FlagTree Pass (fin de semestre)</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ctr">
                        <a:lnSpc>
                          <a:spcPct val="117000"/>
                        </a:lnSpc>
                        <a:defRPr/>
                      </a:pPr>
                      <a:r>
                        <a:rPr lang="en-US" sz="15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Projet individuel</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ctr">
                        <a:lnSpc>
                          <a:spcPct val="117000"/>
                        </a:lnSpc>
                        <a:defRPr/>
                      </a:pPr>
                      <a:r>
                        <a:rPr lang="en-US" sz="15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Choix parmi trois directions, vérification FileCheck</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543560">
                <a:tc>
                  <a:txBody>
                    <a:bodyPr/>
                    <a:lstStyle/>
                    <a:p>
                      <a:pPr indent="0" algn="ctr">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36</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Entraînement distribué multi-machines 7B (fin de semestre)</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ctr">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Groupe de 3 personnes</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ctr">
                        <a:lnSpc>
                          <a:spcPct val="117000"/>
                        </a:lnSpc>
                        <a:defRPr/>
                      </a:pPr>
                      <a:r>
                        <a:rPr lang="en-US" sz="15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Comparaison de trois stratégies parallèles + accélération linéaire</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543560">
                <a:tc>
                  <a:txBody>
                    <a:bodyPr/>
                    <a:lstStyle/>
                    <a:p>
                      <a:pPr indent="0" algn="ctr">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46-47</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5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Soutenance du projet final</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ctr">
                        <a:lnSpc>
                          <a:spcPct val="117000"/>
                        </a:lnSpc>
                        <a:defRPr/>
                      </a:pPr>
                      <a:r>
                        <a:rPr lang="en-US" sz="15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Soutenance en groupe</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ctr">
                        <a:lnSpc>
                          <a:spcPct val="117000"/>
                        </a:lnSpc>
                        <a:defRPr/>
                      </a:pPr>
                      <a:r>
                        <a:rPr lang="en-US" sz="15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Faisabilité du plan + authenticité des progrès</a:t>
                      </a:r>
                      <a:endParaRPr lang="en-US" sz="1100"/>
                    </a:p>
                  </a:txBody>
                  <a:tcPr marL="177800" marR="177800" marT="107950" marB="107950">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bl>
          </a:graphicData>
        </a:graphic>
      </p:graphicFrame>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Aperçu du projet</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132840"/>
            <a:ext cx="11277600" cy="5044440"/>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Contexte du projet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RMSNorm</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Root Mean Square Normalization</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connexion résiduelle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Residual Connection</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sont des composants essentiels des grands modèles de langage modernes (comme la série</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LLaMA</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Fusionner ces deux opérations en un seul</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kernel </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permet de réduire significativement les accès</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HBM</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ce qui en fait un cas classique d'optimisation par fusion d'opérateurs. C</a:t>
            </a:r>
            <a:r>
              <a:rPr lang="en-US" sz="160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Contexte du projet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a:solidFill>
                  <a:srgbClr val="404040"/>
                </a:solidFill>
                <a:latin typeface="Calibri" panose="020F0502020204030204"/>
                <a:ea typeface="Calibri" panose="020F0502020204030204"/>
                <a:cs typeface="Calibri" panose="020F0502020204030204"/>
                <a:sym typeface="Calibri" panose="020F0502020204030204"/>
              </a:rPr>
              <a:t>RMSNorm</a:t>
            </a:r>
            <a:r>
              <a:rPr lang="en-US" sz="160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00">
                <a:solidFill>
                  <a:srgbClr val="404040"/>
                </a:solidFill>
                <a:latin typeface="Calibri" panose="020F0502020204030204"/>
                <a:ea typeface="Calibri" panose="020F0502020204030204"/>
                <a:cs typeface="Calibri" panose="020F0502020204030204"/>
                <a:sym typeface="Calibri" panose="020F0502020204030204"/>
              </a:rPr>
              <a:t>Root Mean Square Normalization</a:t>
            </a:r>
            <a:r>
              <a:rPr lang="en-US" sz="160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connexion résiduelle (</a:t>
            </a:r>
            <a:r>
              <a:rPr lang="en-US" sz="1600">
                <a:solidFill>
                  <a:srgbClr val="404040"/>
                </a:solidFill>
                <a:latin typeface="Calibri" panose="020F0502020204030204"/>
                <a:ea typeface="Calibri" panose="020F0502020204030204"/>
                <a:cs typeface="Calibri" panose="020F0502020204030204"/>
                <a:sym typeface="Calibri" panose="020F0502020204030204"/>
              </a:rPr>
              <a:t>Residual Connection</a:t>
            </a:r>
            <a:r>
              <a:rPr lang="en-US" sz="160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sont des composants essentiels des grands modèles de langage modernes (comme la série</a:t>
            </a:r>
            <a:r>
              <a:rPr lang="en-US" sz="1600">
                <a:solidFill>
                  <a:srgbClr val="404040"/>
                </a:solidFill>
                <a:latin typeface="Calibri" panose="020F0502020204030204"/>
                <a:ea typeface="Calibri" panose="020F0502020204030204"/>
                <a:cs typeface="Calibri" panose="020F0502020204030204"/>
                <a:sym typeface="Calibri" panose="020F0502020204030204"/>
              </a:rPr>
              <a:t> LLaMA </a:t>
            </a:r>
            <a:r>
              <a:rPr lang="en-US" sz="160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Fusionner ces deux opérations en un seul</a:t>
            </a:r>
            <a:r>
              <a:rPr lang="en-US" sz="1600">
                <a:solidFill>
                  <a:srgbClr val="404040"/>
                </a:solidFill>
                <a:latin typeface="Calibri" panose="020F0502020204030204"/>
                <a:ea typeface="Calibri" panose="020F0502020204030204"/>
                <a:cs typeface="Calibri" panose="020F0502020204030204"/>
                <a:sym typeface="Calibri" panose="020F0502020204030204"/>
              </a:rPr>
              <a:t> Kernel </a:t>
            </a:r>
            <a:r>
              <a:rPr lang="en-US" sz="160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permet de réduire significativement les accès</a:t>
            </a:r>
            <a:r>
              <a:rPr lang="en-US" sz="1600">
                <a:solidFill>
                  <a:srgbClr val="404040"/>
                </a:solidFill>
                <a:latin typeface="Calibri" panose="020F0502020204030204"/>
                <a:ea typeface="Calibri" panose="020F0502020204030204"/>
                <a:cs typeface="Calibri" panose="020F0502020204030204"/>
                <a:sym typeface="Calibri" panose="020F0502020204030204"/>
              </a:rPr>
              <a:t> HBM </a:t>
            </a:r>
            <a:r>
              <a:rPr lang="en-US" sz="160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ce qui en fait un cas classique d'optimisation par fusion d'opérateurs. Ce projet demande aux étudiants d'implémenter un opérateur fusionné haute performance, avec un objectif de performance d'au moins</a:t>
            </a:r>
            <a:r>
              <a:rPr lang="en-US" sz="1600">
                <a:solidFill>
                  <a:srgbClr val="404040"/>
                </a:solidFill>
                <a:latin typeface="Calibri" panose="020F0502020204030204"/>
                <a:ea typeface="Calibri" panose="020F0502020204030204"/>
                <a:cs typeface="Calibri" panose="020F0502020204030204"/>
                <a:sym typeface="Calibri" panose="020F0502020204030204"/>
              </a:rPr>
              <a:t> FlagGems </a:t>
            </a:r>
            <a:r>
              <a:rPr lang="en-US" sz="160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 l'implémentation de référence</a:t>
            </a:r>
            <a:r>
              <a:rPr lang="en-US" sz="1600">
                <a:solidFill>
                  <a:srgbClr val="404040"/>
                </a:solidFill>
                <a:latin typeface="Calibri" panose="020F0502020204030204"/>
                <a:ea typeface="Calibri" panose="020F0502020204030204"/>
                <a:cs typeface="Calibri" panose="020F0502020204030204"/>
                <a:sym typeface="Calibri" panose="020F0502020204030204"/>
              </a:rPr>
              <a:t> 90% </a:t>
            </a:r>
            <a:r>
              <a:rPr lang="en-US" sz="160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60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Objectifs du projet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Utiliser Triton pour impl</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menter un noyau fusionn</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 Add + RMSNorm, supportant float32 et bfloat16</a:t>
            </a:r>
            <a:endPar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60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Supporter toute entrée</a:t>
            </a:r>
            <a:r>
              <a:rPr lang="en-US" sz="1600">
                <a:solidFill>
                  <a:srgbClr val="404040"/>
                </a:solidFill>
                <a:latin typeface="Calibri" panose="020F0502020204030204"/>
                <a:ea typeface="Calibri" panose="020F0502020204030204"/>
                <a:cs typeface="Calibri" panose="020F0502020204030204"/>
                <a:sym typeface="Calibri" panose="020F0502020204030204"/>
              </a:rPr>
              <a:t> [M, N] </a:t>
            </a:r>
            <a:r>
              <a:rPr lang="en-US" sz="160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600">
                <a:solidFill>
                  <a:srgbClr val="404040"/>
                </a:solidFill>
                <a:latin typeface="Calibri" panose="020F0502020204030204"/>
                <a:ea typeface="Calibri" panose="020F0502020204030204"/>
                <a:cs typeface="Calibri" panose="020F0502020204030204"/>
                <a:sym typeface="Calibri" panose="020F0502020204030204"/>
              </a:rPr>
              <a:t>N </a:t>
            </a:r>
            <a:r>
              <a:rPr lang="en-US" sz="160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est la dimension de normalisation, valeurs typiques</a:t>
            </a:r>
            <a:r>
              <a:rPr lang="en-US" sz="1600">
                <a:solidFill>
                  <a:srgbClr val="404040"/>
                </a:solidFill>
                <a:latin typeface="Calibri" panose="020F0502020204030204"/>
                <a:ea typeface="Calibri" panose="020F0502020204030204"/>
                <a:cs typeface="Calibri" panose="020F0502020204030204"/>
                <a:sym typeface="Calibri" panose="020F0502020204030204"/>
              </a:rPr>
              <a:t> 4096/8192</a:t>
            </a:r>
            <a:r>
              <a:rPr lang="en-US" sz="160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Exactitude : erreur absolue maximale entre PyTorch et le 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sultat du calcul s</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quentiel &lt; 2e-5 (float32).</a:t>
            </a:r>
            <a:endPar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Performance : pour la forme [4096, 4096], atteindre 90 % du d</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bit de l'impl</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mentation de r</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f</a:t>
            </a:r>
            <a:r>
              <a:rPr lang="en-US" alt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rence de FlagGems.</a:t>
            </a:r>
            <a:endPar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60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Avanc</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Supporter le noyau de 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tropropagation (calcul des gradients).</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Exigences d'implémentation</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11164570" cy="4853305"/>
          </a:xfrm>
          <a:prstGeom prst="rect">
            <a:avLst/>
          </a:prstGeom>
        </p:spPr>
        <p:txBody>
          <a:bodyPr wrap="square" lIns="91440" tIns="45720" rIns="91440" bIns="45720" anchor="t">
            <a:normAutofit fontScale="77500" lnSpcReduction="10000"/>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Spécification de l'opérateur forward</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Points clés d'optimisation</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x</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cution unique du kernel pour effectuer l'addition et la normalisation, avec une seule lecture/</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criture dans la HBM</a:t>
            </a:r>
            <a:endPar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Utiliser tl.rsqrt de Triton pour le calcul du RMS</a:t>
            </a:r>
            <a:endPar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rer le chargement avec masque (mask) lorsque N n'est pas align</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endPar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our bfloat16, effectuer les accumulations en interne en float32, puis convertir (garantie de pr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cision</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0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Rapport d'analyse de performance (obligatoire)</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Diagramme Roofline de Nsight Compute montrant l'intensit</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 arithm</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tique (Arithmetic Intensity) de l'op</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rateur.</a:t>
            </a:r>
            <a:endPar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Comparaison du d</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bit pour diff</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rents BLOCK_SIZE (64, 128, 256)</a:t>
            </a:r>
            <a:endPar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Comparaison des surco</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ts de lancement du kernel par rapport à une impl</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mentation non fusionn</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(ex</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s</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des op</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a:t>
            </a:r>
            <a:endPar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aphicFrame>
        <p:nvGraphicFramePr>
          <p:cNvPr id="6" name="Table 6"/>
          <p:cNvGraphicFramePr>
            <a:graphicFrameLocks noGrp="1"/>
          </p:cNvGraphicFramePr>
          <p:nvPr/>
        </p:nvGraphicFramePr>
        <p:xfrm>
          <a:off x="995680" y="1649095"/>
          <a:ext cx="8482965" cy="1175385"/>
        </p:xfrm>
        <a:graphic>
          <a:graphicData uri="http://schemas.openxmlformats.org/drawingml/2006/table">
            <a:tbl>
              <a:tblPr>
                <a:effectLst/>
              </a:tblPr>
              <a:tblGrid>
                <a:gridCol w="8482965"/>
              </a:tblGrid>
              <a:tr h="391795">
                <a:tc>
                  <a:txBody>
                    <a:bodyPr/>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def fused_add_rms_norm(x, residual, weight, eps=1e-6):</a:t>
                      </a:r>
                      <a:endParaRPr lang="en-US" sz="1100"/>
                    </a:p>
                  </a:txBody>
                  <a:tcPr marL="114300" marR="114300" marT="76200" marB="762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391795">
                <a:tc>
                  <a:txBody>
                    <a:bodyPr/>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 x, residual: [M, N]  weight: [N]</a:t>
                      </a:r>
                      <a:endParaRPr lang="en-US" sz="1100"/>
                    </a:p>
                  </a:txBody>
                  <a:tcPr marL="114300" marR="114300" marT="76200" marB="762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391795">
                <a:tc>
                  <a:txBody>
                    <a:bodyPr/>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 retourne (normed_output, updated_residual)</a:t>
                      </a:r>
                      <a:endParaRPr lang="en-US" sz="1100"/>
                    </a:p>
                  </a:txBody>
                  <a:tcPr marL="114300" marR="114300" marT="76200" marB="762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bl>
          </a:graphicData>
        </a:graphic>
      </p:graphicFrame>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93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Exigences de soumission et critères d'évaluation</a:t>
            </a:r>
            <a:endParaRPr lang="en-US" sz="293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Liste des éléments à soumettre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fused_rms_norm.py</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c</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ode complet du kernel, incluant les tests de validation</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benchmark.py</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script de tests de performance reproductibles</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report.pdf</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maximum 6 pages, incluant les 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cisions de conception, les 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sultats d'analyse NSC, et des graphiques de performanc</a:t>
            </a:r>
            <a:endPar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(Avancé)</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grad_kernel.py</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impl</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mentation de la 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tropropagation et v</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rification des gradient</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t>
            </a:r>
            <a:endParaRPr lang="en-US" sz="17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Critères d'évaluation</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aphicFrame>
        <p:nvGraphicFramePr>
          <p:cNvPr id="6" name="Table 6"/>
          <p:cNvGraphicFramePr>
            <a:graphicFrameLocks noGrp="1"/>
          </p:cNvGraphicFramePr>
          <p:nvPr/>
        </p:nvGraphicFramePr>
        <p:xfrm>
          <a:off x="1584325" y="3743325"/>
          <a:ext cx="9023985" cy="2179955"/>
        </p:xfrm>
        <a:graphic>
          <a:graphicData uri="http://schemas.openxmlformats.org/drawingml/2006/table">
            <a:tbl>
              <a:tblPr>
                <a:effectLst/>
              </a:tblPr>
              <a:tblGrid>
                <a:gridCol w="2892425"/>
                <a:gridCol w="1735455"/>
                <a:gridCol w="4396105"/>
              </a:tblGrid>
              <a:tr h="381000">
                <a:tc>
                  <a:txBody>
                    <a:bodyPr/>
                    <a:lstStyle/>
                    <a:p>
                      <a:pPr indent="0" algn="ctr">
                        <a:lnSpc>
                          <a:spcPct val="100000"/>
                        </a:lnSpc>
                        <a:defRPr/>
                      </a:pPr>
                      <a:r>
                        <a:rPr lang="en-US" sz="1600" b="1" i="0" u="none" strike="noStrike">
                          <a:solidFill>
                            <a:srgbClr val="FFFFFF"/>
                          </a:solidFill>
                          <a:latin typeface="Calibri" panose="020F0502020204030204"/>
                          <a:ea typeface="Arial" panose="020B0604020202020204"/>
                          <a:cs typeface="Arial" panose="020B0604020202020204"/>
                          <a:sym typeface="Arial" panose="020B0604020202020204"/>
                        </a:rPr>
                        <a:t>Dimension d'évaluation</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c>
                  <a:txBody>
                    <a:bodyPr/>
                    <a:lstStyle/>
                    <a:p>
                      <a:pPr indent="0" algn="ctr">
                        <a:lnSpc>
                          <a:spcPct val="100000"/>
                        </a:lnSpc>
                        <a:defRPr/>
                      </a:pPr>
                      <a:r>
                        <a:rPr lang="en-US" sz="1600" b="1" i="0" u="none" strike="noStrike">
                          <a:solidFill>
                            <a:srgbClr val="FFFFFF"/>
                          </a:solidFill>
                          <a:latin typeface="Calibri" panose="020F0502020204030204"/>
                          <a:ea typeface="Arial" panose="020B0604020202020204"/>
                          <a:cs typeface="Arial" panose="020B0604020202020204"/>
                          <a:sym typeface="Arial" panose="020B0604020202020204"/>
                        </a:rPr>
                        <a:t>Points</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c>
                  <a:txBody>
                    <a:bodyPr/>
                    <a:lstStyle/>
                    <a:p>
                      <a:pPr indent="0" algn="ctr">
                        <a:lnSpc>
                          <a:spcPct val="100000"/>
                        </a:lnSpc>
                        <a:defRPr/>
                      </a:pPr>
                      <a:r>
                        <a:rPr lang="en-US" sz="1600" b="1" i="0" u="none" strike="noStrike">
                          <a:solidFill>
                            <a:srgbClr val="FFFFFF"/>
                          </a:solidFill>
                          <a:latin typeface="Calibri" panose="020F0502020204030204"/>
                          <a:ea typeface="Arial" panose="020B0604020202020204"/>
                          <a:cs typeface="Arial" panose="020B0604020202020204"/>
                          <a:sym typeface="Arial" panose="020B0604020202020204"/>
                        </a:rPr>
                        <a:t>Critères de notation</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r>
              <a:tr h="360045">
                <a:tc>
                  <a:txBody>
                    <a:bodyPr/>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Exactitude du code (float32/bf16)</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30 pts</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Les deux types de données passent la vérification de précision</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r h="359410">
                <a:tc>
                  <a:txBody>
                    <a:bodyPr/>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Performance (débit)</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30 pts</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≥90% de la référence = note max ; 75%-90% = 20 pts</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r>
              <a:tr h="360045">
                <a:tc>
                  <a:txBody>
                    <a:bodyPr/>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Rapport d'analyse d'optimisation</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25 pts</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Graphique Roofline, analyse Block Size, quantification des gains de fusion</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r h="359410">
                <a:tc>
                  <a:txBody>
                    <a:bodyPr/>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Qualité d'ingénierie du code</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10 pts</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Commentaires complets, interfaces claires, sans codage en dur</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r>
              <a:tr h="360045">
                <a:tc>
                  <a:txBody>
                    <a:bodyPr/>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Avancé : rétropropagation</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5 pts</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Gradient correct avec vérification numérique</a:t>
                      </a:r>
                      <a:endParaRPr lang="en-US" sz="1100"/>
                    </a:p>
                  </a:txBody>
                  <a:tcPr marL="76200" marR="50800" marT="50800" marB="50800">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bl>
          </a:graphicData>
        </a:graphic>
      </p:graphicFrame>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Solution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FlagOS</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Pile logicielle IA unifi</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xfrm>
            <a:off x="724535" y="6356350"/>
            <a:ext cx="11076940" cy="365125"/>
          </a:xfrm>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4" name="Picture 3" descr="image.png"/>
          <p:cNvPicPr>
            <a:picLocks noChangeAspect="1"/>
          </p:cNvPicPr>
          <p:nvPr/>
        </p:nvPicPr>
        <p:blipFill>
          <a:blip r:embed="rId1"/>
          <a:stretch>
            <a:fillRect/>
          </a:stretch>
        </p:blipFill>
        <p:spPr>
          <a:xfrm>
            <a:off x="741493" y="1256030"/>
            <a:ext cx="9408534" cy="4852988"/>
          </a:xfrm>
          <a:prstGeom prst="rect">
            <a:avLst/>
          </a:prstGeom>
        </p:spPr>
      </p:pic>
    </p:spTree>
  </p:cSld>
  <p:clrMapOvr>
    <a:masterClrMapping/>
  </p:clrMapOvr>
  <p:transition spd="slow">
    <p:fade/>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9535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3" name="AutoShape 3"/>
          <p:cNvSpPr/>
          <p:nvPr/>
        </p:nvSpPr>
        <p:spPr>
          <a:xfrm>
            <a:off x="440023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790511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89535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440023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790511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2298364" y="1689569"/>
            <a:ext cx="356915" cy="356915"/>
          </a:xfrm>
          <a:prstGeom prst="ellipse">
            <a:avLst/>
          </a:prstGeom>
          <a:blipFill rotWithShape="1">
            <a:blip r:embed="rId1"/>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5803244" y="1689569"/>
            <a:ext cx="356915" cy="356915"/>
          </a:xfrm>
          <a:prstGeom prst="ellipse">
            <a:avLst/>
          </a:prstGeom>
          <a:blipFill rotWithShape="1">
            <a:blip r:embed="rId2"/>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9308124" y="1689569"/>
            <a:ext cx="356915" cy="356915"/>
          </a:xfrm>
          <a:prstGeom prst="ellipse">
            <a:avLst/>
          </a:prstGeom>
          <a:blipFill rotWithShape="1">
            <a:blip r:embed="rId3"/>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2298364" y="3577269"/>
            <a:ext cx="356915" cy="356915"/>
          </a:xfrm>
          <a:prstGeom prst="ellipse">
            <a:avLst/>
          </a:prstGeom>
          <a:blipFill rotWithShape="1">
            <a:blip r:embed="rId4"/>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5803244" y="3577269"/>
            <a:ext cx="356915" cy="356915"/>
          </a:xfrm>
          <a:prstGeom prst="ellipse">
            <a:avLst/>
          </a:prstGeom>
          <a:blipFill rotWithShape="1">
            <a:blip r:embed="rId5"/>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9308124" y="3577269"/>
            <a:ext cx="356915" cy="356915"/>
          </a:xfrm>
          <a:prstGeom prst="ellipse">
            <a:avLst/>
          </a:prstGeom>
          <a:blipFill rotWithShape="1">
            <a:blip r:embed="rId6"/>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1219842" y="251790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7" tooltip="https://github.com/flagos-ai"/>
              </a:rPr>
              <a:t>https://github.com/flagos-ai</a:t>
            </a:r>
            <a:endParaRPr lang="en-US" sz="1100"/>
          </a:p>
          <a:p>
            <a:pPr indent="0" algn="l">
              <a:lnSpc>
                <a:spcPct val="150000"/>
              </a:lnSpc>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767171"/>
              </a:solidFill>
              <a:latin typeface="Arial" panose="020B0604020202020204"/>
              <a:ea typeface="Arial" panose="020B0604020202020204"/>
              <a:cs typeface="Arial" panose="020B0604020202020204"/>
              <a:sym typeface="Arial" panose="020B0604020202020204"/>
            </a:endParaRPr>
          </a:p>
        </p:txBody>
      </p:sp>
      <p:sp>
        <p:nvSpPr>
          <p:cNvPr id="15" name="AutoShape 15"/>
          <p:cNvSpPr/>
          <p:nvPr/>
        </p:nvSpPr>
        <p:spPr>
          <a:xfrm>
            <a:off x="8015605" y="2341245"/>
            <a:ext cx="2882265"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8" tooltip="https://space.bilibili.com/3546791834290849"/>
              </a:rPr>
              <a:t>https://space.bilibili.com/3546791834290849</a:t>
            </a:r>
            <a:endParaRPr lang="en-US" sz="1100"/>
          </a:p>
        </p:txBody>
      </p:sp>
      <p:sp>
        <p:nvSpPr>
          <p:cNvPr id="16" name="AutoShape 16"/>
          <p:cNvSpPr/>
          <p:nvPr/>
        </p:nvSpPr>
        <p:spPr>
          <a:xfrm>
            <a:off x="1219842" y="440385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9" tooltip="https://www.zhihu.com/people/95-22-20-18/posts"/>
              </a:rPr>
              <a:t>https://www.zhihu.com/people/95-22-20-18/posts</a:t>
            </a:r>
            <a:endParaRPr lang="en-US" sz="1100"/>
          </a:p>
        </p:txBody>
      </p:sp>
      <p:sp>
        <p:nvSpPr>
          <p:cNvPr id="17" name="AutoShape 17"/>
          <p:cNvSpPr/>
          <p:nvPr/>
        </p:nvSpPr>
        <p:spPr>
          <a:xfrm>
            <a:off x="4724722" y="4403854"/>
            <a:ext cx="2513958" cy="39687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0" tooltip="https://flagos.io/Home"/>
              </a:rPr>
              <a:t>https://flagos.io/Home</a:t>
            </a:r>
            <a:endParaRPr lang="en-US" sz="1100"/>
          </a:p>
        </p:txBody>
      </p:sp>
      <p:pic>
        <p:nvPicPr>
          <p:cNvPr id="18" name="Picture 18"/>
          <p:cNvPicPr>
            <a:picLocks noChangeAspect="1"/>
          </p:cNvPicPr>
          <p:nvPr/>
        </p:nvPicPr>
        <p:blipFill>
          <a:blip r:embed="rId11"/>
          <a:srcRect/>
          <a:stretch>
            <a:fillRect/>
          </a:stretch>
        </p:blipFill>
        <p:spPr>
          <a:xfrm>
            <a:off x="5408930" y="2046605"/>
            <a:ext cx="1255395" cy="1255395"/>
          </a:xfrm>
          <a:prstGeom prst="rect">
            <a:avLst/>
          </a:prstGeom>
          <a:ln w="12700">
            <a:noFill/>
            <a:prstDash val="solid"/>
          </a:ln>
        </p:spPr>
      </p:pic>
      <p:pic>
        <p:nvPicPr>
          <p:cNvPr id="19" name="Picture 19"/>
          <p:cNvPicPr>
            <a:picLocks noChangeAspect="1"/>
          </p:cNvPicPr>
          <p:nvPr/>
        </p:nvPicPr>
        <p:blipFill>
          <a:blip r:embed="rId12"/>
          <a:srcRect/>
          <a:stretch>
            <a:fillRect/>
          </a:stretch>
        </p:blipFill>
        <p:spPr>
          <a:xfrm>
            <a:off x="8903970" y="3953510"/>
            <a:ext cx="1299210" cy="1308735"/>
          </a:xfrm>
          <a:prstGeom prst="rect">
            <a:avLst/>
          </a:prstGeom>
          <a:ln w="12700">
            <a:noFill/>
            <a:prstDash val="solid"/>
          </a:ln>
        </p:spPr>
      </p:pic>
    </p:spTree>
  </p:cSld>
  <p:clrMapOvr>
    <a:masterClrMapping/>
  </p:clrMapOvr>
  <p:transition spd="slow">
    <p:fade/>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ChangeAspect="1"/>
          </p:cNvPicPr>
          <p:nvPr>
            <p:ph type="pic" sz="quarter" idx="27"/>
          </p:nvPr>
        </p:nvPicPr>
        <p:blipFill>
          <a:blip r:embed="rId1"/>
          <a:srcRect l="2306" r="2305"/>
          <a:stretch>
            <a:fillRect/>
          </a:stretch>
        </p:blipFill>
        <p:spPr>
          <a:xfrm>
            <a:off x="0" y="1"/>
            <a:ext cx="12192000" cy="6858000"/>
          </a:xfrm>
          <a:prstGeom prst="rect">
            <a:avLst/>
          </a:prstGeom>
        </p:spPr>
      </p:pic>
      <p:sp>
        <p:nvSpPr>
          <p:cNvPr id="3" name="AutoShape 3"/>
          <p:cNvSpPr>
            <a:spLocks noGrp="1"/>
          </p:cNvSpPr>
          <p:nvPr>
            <p:ph type="body" sz="quarter" idx="28" hasCustomPrompt="1"/>
          </p:nvPr>
        </p:nvSpPr>
        <p:spPr>
          <a:xfrm>
            <a:off x="6069661" y="2424583"/>
            <a:ext cx="4670511" cy="2664541"/>
          </a:xfrm>
          <a:prstGeom prst="rect">
            <a:avLst/>
          </a:prstGeom>
        </p:spPr>
        <p:txBody>
          <a:bodyPr wrap="square" lIns="91440" tIns="45720" rIns="91440" bIns="45720" anchor="ctr">
            <a:noAutofit/>
          </a:bodyPr>
          <a:lstStyle>
            <a:lvl1pPr algn="ctr">
              <a:lnSpc>
                <a:spcPct val="92000"/>
              </a:lnSpc>
              <a:defRPr sz="4400" b="0" i="0" u="none" strike="noStrike" spc="0">
                <a:solidFill>
                  <a:srgbClr val="44546A">
                    <a:alpha val="100000"/>
                  </a:srgbClr>
                </a:solidFill>
                <a:latin typeface="微软雅黑" panose="020B0503020204020204" charset="-122"/>
              </a:defRPr>
            </a:lvl1pPr>
          </a:lstStyle>
          <a:p>
            <a:pPr indent="0" algn="ctr">
              <a:lnSpc>
                <a:spcPct val="92000"/>
              </a:lnSpc>
            </a:pPr>
            <a:r>
              <a:rPr lang="en-US" sz="3230" b="0" i="0" u="none" strike="noStrike">
                <a:solidFill>
                  <a:srgbClr val="44546A"/>
                </a:solidFill>
                <a:latin typeface="Calibri" panose="020F0502020204030204"/>
                <a:ea typeface="微软雅黑" panose="020B0503020204020204" charset="-122"/>
                <a:cs typeface="微软雅黑" panose="020B0503020204020204" charset="-122"/>
                <a:sym typeface="微软雅黑" panose="020B0503020204020204" charset="-122"/>
              </a:rPr>
              <a:t>Merci pour votre attention !</a:t>
            </a:r>
            <a:endParaRPr lang="en-US" sz="3230" b="0" i="0" u="none" strike="noStrike">
              <a:solidFill>
                <a:srgbClr val="44546A"/>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pic>
        <p:nvPicPr>
          <p:cNvPr id="10" name="图片 9" descr="/Users/jieran/Library/Containers/com.kingsoft.wpsoffice.mac/Data/tmp/picturecompress_20260414165320/output_1.pngoutput_1"/>
          <p:cNvPicPr>
            <a:picLocks noChangeAspect="1"/>
          </p:cNvPicPr>
          <p:nvPr/>
        </p:nvPicPr>
        <p:blipFill>
          <a:blip r:embed="rId4"/>
          <a:stretch>
            <a:fillRect/>
          </a:stretch>
        </p:blipFill>
        <p:spPr>
          <a:xfrm>
            <a:off x="8110855" y="306705"/>
            <a:ext cx="927735" cy="386715"/>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60136</Words>
  <Application>WPS 演示</Application>
  <PresentationFormat>宽屏</PresentationFormat>
  <Paragraphs>1558</Paragraphs>
  <Slides>166</Slides>
  <Notes>300</Notes>
  <HiddenSlides>0</HiddenSlides>
  <MMClips>0</MMClips>
  <ScaleCrop>false</ScaleCrop>
  <HeadingPairs>
    <vt:vector size="6" baseType="variant">
      <vt:variant>
        <vt:lpstr>已用的字体</vt:lpstr>
      </vt:variant>
      <vt:variant>
        <vt:i4>22</vt:i4>
      </vt:variant>
      <vt:variant>
        <vt:lpstr>主题</vt:lpstr>
      </vt:variant>
      <vt:variant>
        <vt:i4>2</vt:i4>
      </vt:variant>
      <vt:variant>
        <vt:lpstr>幻灯片标题</vt:lpstr>
      </vt:variant>
      <vt:variant>
        <vt:i4>166</vt:i4>
      </vt:variant>
    </vt:vector>
  </HeadingPairs>
  <TitlesOfParts>
    <vt:vector size="190" baseType="lpstr">
      <vt:lpstr>Arial</vt:lpstr>
      <vt:lpstr>宋体</vt:lpstr>
      <vt:lpstr>Wingdings</vt:lpstr>
      <vt:lpstr>Arial</vt:lpstr>
      <vt:lpstr>微软雅黑</vt:lpstr>
      <vt:lpstr>Noto Sans SC</vt:lpstr>
      <vt:lpstr>Garamond</vt:lpstr>
      <vt:lpstr>Calibri</vt:lpstr>
      <vt:lpstr>Calibri Light</vt:lpstr>
      <vt:lpstr>Pretendard</vt:lpstr>
      <vt:lpstr>Segoe Print</vt:lpstr>
      <vt:lpstr>Montserrat SemiBold</vt:lpstr>
      <vt:lpstr>Chinese Quote</vt:lpstr>
      <vt:lpstr>Helvetica Neue</vt:lpstr>
      <vt:lpstr>Arial Unicode MS</vt:lpstr>
      <vt:lpstr>BatangChe</vt:lpstr>
      <vt:lpstr>Bahnschrift</vt:lpstr>
      <vt:lpstr>DejaVu Math TeX Gyre</vt:lpstr>
      <vt:lpstr>Ebrima</vt:lpstr>
      <vt:lpstr>Courier New</vt:lpstr>
      <vt:lpstr>Menlo</vt:lpstr>
      <vt:lpstr>MS PGothic</vt:lpstr>
      <vt:lpstr>Office 主题​​</vt:lpstr>
      <vt:lpstr>母版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Zhiqiang Zhao</cp:lastModifiedBy>
  <cp:revision>14</cp:revision>
  <dcterms:created xsi:type="dcterms:W3CDTF">2026-04-11T07:50:00Z</dcterms:created>
  <dcterms:modified xsi:type="dcterms:W3CDTF">2026-04-24T02:00:58Z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CD33028D399240FC9BFF97FE7D78F163_12</vt:lpwstr>
  </property>
  <property fmtid="{D5CDD505-2E9C-101B-9397-08002B2CF9AE}" pid="3" name="KSOProductBuildVer">
    <vt:lpwstr>2052-12.1.0.19302</vt:lpwstr>
  </property>
</Properties>
</file>