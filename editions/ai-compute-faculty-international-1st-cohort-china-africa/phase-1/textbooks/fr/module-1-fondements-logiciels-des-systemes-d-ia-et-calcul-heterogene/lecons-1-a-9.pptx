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321"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32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2" r:id="rId68"/>
    <p:sldId id="323" r:id="rId69"/>
    <p:sldId id="324" r:id="rId70"/>
    <p:sldId id="325" r:id="rId71"/>
    <p:sldId id="389" r:id="rId72"/>
    <p:sldId id="390" r:id="rId73"/>
    <p:sldId id="391" r:id="rId74"/>
    <p:sldId id="392" r:id="rId75"/>
    <p:sldId id="393" r:id="rId76"/>
    <p:sldId id="394" r:id="rId77"/>
    <p:sldId id="395" r:id="rId78"/>
    <p:sldId id="396" r:id="rId79"/>
    <p:sldId id="397" r:id="rId80"/>
    <p:sldId id="398" r:id="rId81"/>
    <p:sldId id="399" r:id="rId82"/>
    <p:sldId id="400" r:id="rId83"/>
    <p:sldId id="401" r:id="rId84"/>
    <p:sldId id="402" r:id="rId85"/>
    <p:sldId id="403" r:id="rId86"/>
    <p:sldId id="404" r:id="rId87"/>
    <p:sldId id="405" r:id="rId88"/>
    <p:sldId id="406" r:id="rId89"/>
    <p:sldId id="407" r:id="rId90"/>
    <p:sldId id="408" r:id="rId91"/>
    <p:sldId id="409" r:id="rId92"/>
    <p:sldId id="410" r:id="rId93"/>
    <p:sldId id="411" r:id="rId94"/>
    <p:sldId id="412" r:id="rId95"/>
    <p:sldId id="413" r:id="rId96"/>
    <p:sldId id="414" r:id="rId97"/>
    <p:sldId id="415" r:id="rId98"/>
    <p:sldId id="416" r:id="rId99"/>
    <p:sldId id="417" r:id="rId100"/>
    <p:sldId id="418" r:id="rId101"/>
    <p:sldId id="419" r:id="rId102"/>
    <p:sldId id="420" r:id="rId103"/>
    <p:sldId id="421" r:id="rId104"/>
    <p:sldId id="422" r:id="rId105"/>
    <p:sldId id="423" r:id="rId106"/>
    <p:sldId id="424" r:id="rId107"/>
    <p:sldId id="425" r:id="rId108"/>
    <p:sldId id="426" r:id="rId109"/>
    <p:sldId id="427" r:id="rId110"/>
    <p:sldId id="428" r:id="rId111"/>
    <p:sldId id="429" r:id="rId112"/>
    <p:sldId id="430" r:id="rId113"/>
    <p:sldId id="431" r:id="rId114"/>
    <p:sldId id="432" r:id="rId115"/>
    <p:sldId id="433" r:id="rId116"/>
    <p:sldId id="434" r:id="rId117"/>
    <p:sldId id="435" r:id="rId118"/>
    <p:sldId id="436" r:id="rId119"/>
    <p:sldId id="437" r:id="rId120"/>
    <p:sldId id="438" r:id="rId121"/>
    <p:sldId id="439" r:id="rId122"/>
    <p:sldId id="440" r:id="rId123"/>
    <p:sldId id="441" r:id="rId124"/>
    <p:sldId id="442" r:id="rId125"/>
    <p:sldId id="443" r:id="rId126"/>
    <p:sldId id="444" r:id="rId127"/>
    <p:sldId id="445" r:id="rId128"/>
    <p:sldId id="446" r:id="rId129"/>
    <p:sldId id="447" r:id="rId130"/>
    <p:sldId id="448" r:id="rId131"/>
    <p:sldId id="449" r:id="rId132"/>
    <p:sldId id="450" r:id="rId133"/>
    <p:sldId id="451" r:id="rId134"/>
    <p:sldId id="452" r:id="rId135"/>
    <p:sldId id="453" r:id="rId136"/>
    <p:sldId id="454" r:id="rId137"/>
    <p:sldId id="455" r:id="rId138"/>
    <p:sldId id="456" r:id="rId139"/>
    <p:sldId id="457" r:id="rId140"/>
    <p:sldId id="458" r:id="rId141"/>
    <p:sldId id="459" r:id="rId142"/>
    <p:sldId id="460" r:id="rId143"/>
    <p:sldId id="461" r:id="rId144"/>
    <p:sldId id="462" r:id="rId145"/>
    <p:sldId id="463" r:id="rId146"/>
    <p:sldId id="464" r:id="rId147"/>
    <p:sldId id="465" r:id="rId148"/>
    <p:sldId id="466" r:id="rId149"/>
    <p:sldId id="467" r:id="rId150"/>
    <p:sldId id="468" r:id="rId151"/>
    <p:sldId id="469" r:id="rId152"/>
    <p:sldId id="470" r:id="rId153"/>
    <p:sldId id="471" r:id="rId154"/>
    <p:sldId id="472" r:id="rId155"/>
    <p:sldId id="473" r:id="rId156"/>
    <p:sldId id="474" r:id="rId157"/>
    <p:sldId id="475" r:id="rId158"/>
    <p:sldId id="476" r:id="rId159"/>
    <p:sldId id="477" r:id="rId160"/>
    <p:sldId id="478" r:id="rId161"/>
    <p:sldId id="479" r:id="rId162"/>
    <p:sldId id="480" r:id="rId163"/>
    <p:sldId id="481" r:id="rId164"/>
    <p:sldId id="482" r:id="rId165"/>
    <p:sldId id="483" r:id="rId166"/>
    <p:sldId id="484" r:id="rId167"/>
    <p:sldId id="485" r:id="rId168"/>
    <p:sldId id="486" r:id="rId169"/>
    <p:sldId id="487" r:id="rId170"/>
    <p:sldId id="488" r:id="rId171"/>
    <p:sldId id="489" r:id="rId172"/>
    <p:sldId id="490" r:id="rId173"/>
    <p:sldId id="491" r:id="rId174"/>
    <p:sldId id="492" r:id="rId175"/>
    <p:sldId id="493" r:id="rId176"/>
    <p:sldId id="494" r:id="rId177"/>
    <p:sldId id="495" r:id="rId178"/>
    <p:sldId id="496" r:id="rId179"/>
    <p:sldId id="497" r:id="rId180"/>
    <p:sldId id="498" r:id="rId181"/>
    <p:sldId id="499" r:id="rId182"/>
    <p:sldId id="500" r:id="rId183"/>
    <p:sldId id="501" r:id="rId184"/>
    <p:sldId id="502" r:id="rId185"/>
    <p:sldId id="503" r:id="rId186"/>
    <p:sldId id="504" r:id="rId187"/>
    <p:sldId id="505" r:id="rId188"/>
    <p:sldId id="279" r:id="rId189"/>
    <p:sldId id="280" r:id="rId190"/>
    <p:sldId id="281" r:id="rId19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5" userDrawn="1">
          <p15:clr>
            <a:srgbClr val="747775"/>
          </p15:clr>
        </p15:guide>
        <p15:guide id="2" pos="2935"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E4B644-D0C3-4EBC-B9ED-63DD680D83BC}" styleName="表样式 1 14">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5"/>
        <p:guide pos="2935"/>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presProps" Target="presProps.xml"/><Relationship Id="rId193" Type="http://schemas.openxmlformats.org/officeDocument/2006/relationships/viewProps" Target="viewProps.xml"/><Relationship Id="rId19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Bonjour à tous, bienvenue dans le cours principal de ce semestre, « Fondements logiciels et matériels des systèmes de calcul intelligent ». Ce cours est proposé conjointement par l'Université de Pékin et l'Institut de recherche BAAI. Dans ce cours, nous explorerons de manière systématique, de bas en haut, les technologies full-stack logicielles et matérielles de l'ère de l'intelligence artificielle, en reliant la compréhension de l'architecture bas niveau aux frameworks de niveau supérieur.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Aujourd'hui, c'est notre première leçon : « Introduction au cours et panorama matériel de l'AI ». Nousadoptons une perspective systémique macroscopique pour passer en revue les défis majeurs auxquels fait face le calcul intelligent actuel, et vous guider à travers les architectures matérielles d'accélération AI dominantes et leurs parcours d'évolution.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Aujourd'hui, c'est notre première leçon : « Introduction au cours et panorama matériel de l'AI ». Nousadoptons une perspective systémique macroscopique pour passer en revue les défis majeurs auxquels fait face le calcul intelligent actuel, et vous guider à travers les architectures matérielles d'accélération AI dominantes et leurs parcours d'évolution.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Commençons par examiner les tendances actuelles des applications AI. Aujourd'hui, qu'il s'agisse d'agents intelligents autonomes basés sur de grands modèles de langage ou de divers modèles de génération vidéo haute fidélité, tous présentent une caractéristique typique « intensive en Token ». Le graphique des tendances d'application montre clairement que la consommation de Token des modèles augmente de façon exponentielle. Ce paradigme de calcul à haut débit et intensif impose des exigences sans précédent sur la densité de calcul et la bande passante mémoire du matériel bas niveau. Parallèlement, la puissance de calcul migre vers la périphérie, et les appareils terminaux comme les smartphones AI et les AI PC commencent également à supporter des charges d'inférence locale de plus en plus lourdes.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Face à des scénarios de déploiement diversifiés, le matériel AI a développé un spectre vaste et sophistiqué. Dans le cloud des centres de données, on trouve des accélérateurs d'apprentissage automatique dédiés aux performances extrêmes, comme la série Huawei Ascend et le MLU370 de Cambricon. En périphérie, nous disposons de plateformes de calcul telles qu'Iluvatar et TY1200. Plus loin, du côté des terminaux et de l'Internet des objets, il existe des puces mobiles comme Kirin 9030 Pro, ainsi que l'Arduino Nano 33 BLE Sense orienté vers les scénarios d'apprentissage automatique ultra-compact à très faible consommation.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Cette page présente la projection concrète du matériel de calcul dans le domaine de l'intelligence incarnée et de la robotique. Nous pouvons voir les solutions de contrôleurs de bas niveau adoptées par des plateformes robotiques grand public telles que Tesla Optimus, Unitree et UBTech. Par exemple, certaines plateformes utilisent des puces de niveau conduite autonome offrant des centaines de TFLOPS comme contrôleur principal, ce qui illustre que dans les scénarios d'intelligence incarnée, le matériel doit non seulement fournir une puissance de calcul INT8 ou flottante massive dans un encombrement et une consommation extrêmement limités, mais aussi parfaitement interfacer les entrées perceptives multimodales avec les sorties de contrôle en temps réel.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Approfondissons maintenant avec des données pour quantifier la pression des besoins matériels des modèles AI. Le graphique montre clairement que l'échelle des paramètres des modèles a connu une croissance exponentielle au cours des dernières années. La croissance des besoins en puissance de calcul qui en découle a déjà largement distancé la traditionnelle loi de Moore. De plus, qu'il s'agisse du transfert de données au sein d'un nœud unique ou entre clusters, l'échelle de communication est devenue un nouveau goulot d'étranglement clé dans la conception des systèmes actuels.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Face à d'immenses besoins de calcul, pourquoi ne pouvons-nous pas compter sur les CPU universels ? Cela découle de l'héritage historique profond du CPU. Pendant des décennies, le CPU a été conçu comme un moteur de calcul généraliste poursuivant une latence extrêmement faible, excellant dans le traitement de flux de contrôle complexes et de tâches séquentielles. Mais aujourd'hui, il fait face à deux crises physiques et architecturales : premièrement, le goulot d'étranglement de von Neumann, où le transfert continu de données entre l'unité de calcul et la mémoire crée d'immenses pertes d'efficacité, la consommation énergétique d'accès à la mémoire dépassant de loin le calcul lui-même ; deuxièmement, l'échec de la loi de scaling de Dennard et le ralentissement de la loi de Moore signent la fin de l'ère où l'augmentation de la fréquence d'horloge d'un cœur unique apportait une croissance exponentielle des performances.</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La contradiction fondamentale du CPU réside dans le fait que sa conception d'exécution séquentielle scalaire ne peut pas, fondamentalement, traiter efficacement le calcul parallèle de données à grande échelle inhérent aux charges de travail d'IA (particulièrement les opérations centrées sur la multiplication matricielle). L'analyse réelle du matériel montre que le CPU n'a qu'un taux d'utilisation matérielle de 5% à 10% lors de l'exécution de charges de réseaux neuronaux, consommant des centaines de watts tout en ne produisant qu'environ 100 GFLOPS de puissance de calcul effective. Ce gouffre de performance brutal force directement tout le domaine de l'architecture à se tourner vers des accélérateurs matériels spécifiques au domaine (Domain-Specific).</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 carrefour de l'évolution architecturale, le GPU est devenu le "héros inattendu" qui sauve la crise de puissance de calcul. Né à la fin des années 90, le GPU était initialement dédié au pipeline de rendu graphique des jeux vidéo, sa puce étant couverte de milliers d'ALU pour exécuter en parallèle des tâches simples. Par coïncidence, les fondements mathématiques de la graphique 3D — les opérations denses sur matrices et vecteurs — correspondent parfaitement aux besoins de calcul des graphes d'apprentissage profond au niveau de l'architecture sous-jacente.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Mais l'adéquation de la structure matérielle n'est que la base ; le véritable catalyseur industriel est le logiciel système. En 2007, NVIDIA a lancé la plateforme de calcul parallèle CUDA, qui a abstrait un modèle de programmation SIMT hautement extensible, libérant complètement le potentiel de calcul généraliste du GPU. Les chercheurs en IA n'avaient plus besoin d'apprendre les API graphiques obscures pour orchestrer directement l'immense puissance de calcul parallèle. Cette percée de l'écosystème logiciel a compressé le cycle d'entraînement des modèles d'IA de plusieurs semaines à quelques heures, établissant ainsi la position de domination incontestable du GPU dans le domaine de l'apprentissage profond.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À mesure que la soif de densité de calcul des modèles d'IA ne cessait de croître, NVIDIA a introduit la logique de silicium dédiée révolutionnaire — le Tensor Core — dans l'architecture Volta. Contrairement aux unités de calcul FP32 traditionnelles traitant des scalaires ou des vecteurs unidimensionnels, le premier Tensor Core prenait nativement en charge les opérations de multiplication-accumulation matricielle au niveau Warp. Cela marquait le passage officiel de la granularité des instructions de calcul d'unidimensionnel à tenseur bidimensionnel, permettant une augmentation de plusieurs ordres de grandeur du débit à virgule flottante en un seul cycle.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 tableau d'évolution architecturale compare en détail l'évolution des spécifications du Tensor Core des architectures Volta, Ampere, Hopper jusqu'à la dernière architecture Blackwell. Nous pouvons clairement voir l'évolution du parallélisme au niveau des instructions : du Warp-scoped initial, au niveau Warp, puis au calcul WarpGroup-level introduit par l'architecture Hopper. La forme des blocs de multiplication matricielle (Shape) de ses instructions MMA s'est également constamment étendue, ce qui signifie que le nombre d'opérations en virgule flottante (FLOP) pouvant être effectuées par cycle SM double à chaque génération.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En approfondissant l'évolution physique, le Tensor Core est non seulement devenu plus puissant en termes de calcul, mais il prend également en charge une gamme de précisions de données de plus en plus riche. Dans les architectures Hopper et Blackwell, outre le FP16 de base, des formats à virgule flottante de basse précision comme FP8 et même FP4 ont été introduits de manière agressive, spécialement conçus pour accélérer l'inférence et l'entraînement en précision mixte. En raison de l'explosion de la densité de calcul au niveau matériel, une seule instruction d'assemblage PTX (comme HGMMA) peut désormais atteindre des niveaux de FLOPs de l'ordre du million.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Cependant, la conception de l'architecture est toujours un compromis entre puissance de calcul et accès mémoire. Bien que le débit absolu du Tensor Core double à chaque génération, la latence physique de chargement des données depuis la HBM ou la mémoire globale ne s'est pas raccourcie de manière significative. Au contraire, elle fait face à des défis encore plus grands en raison de l'augmentation du degré de parallélisme. Pour nourrir ces cœurs de calcul extrêmement affamés et masquer la latence élevée d'accès mémoire, les architectes doivent agrressivement augmenter la capacité de la mémoire partagée temporaire (Shared Memory) et des fichiers de registres dans chaque SM.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Dans une perspective globale, l'architecture de calcul IA actuelle se trouve dans une ère d'or où toutes les fleurs s'épanouissent. Outre le camp GPU centré sur le Tensor Core, on voit émerger la série TPU basée sur une architecture de flux de données spatiaux dominée par Google, la solution Ascend full-stack de Huawei, ainsi que les séries CPU qui défendent leur position de base en ajoutant des instructions d'extension matricielle (AMX) ou en intégrant des NPU. Dans les explorations de frontière plus avancées, pour briser complètement le mur de la mémoire, le milieu académique et industriel développe activement des architectures de calcul en mémoire, des puces wafer-scale qui poursuivent une communication ultime, ainsi que des systèmes de super-nœuds au niveau rack construits via des réseaux à ultra-haute bande passante.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Examinons maintenant une conception d'architecture DSA classique : l'architecture DaVinci de Huawei. Son cœur de calcul est le Cube tridimensionnel (unité de calcul matriciel), capable d'effectuer 4096 opérations FP16 ou 8192 opérations INT8 de multiplication-accumulation en un seul cycle d'horloge. Pour garantir l'exécution complète des opérateurs de bout en bout, le Cube est étroitement couplé avec le Vector (unité de calcul vectoriel) pour traiter les fonctions d'activation non linéaires. Il est particulièrement important de souligner sa hiérarchie mémoire explicite : tous les transferts de données entre les SRAM sur puce sont gérés de manière asynchrone par un moteur de transfert mémoire dédié (MTE), illustrant la conception typique de découplage entre calcul et accès mémoire.</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Face à la pression croissante des accélérateurs, le géant traditionnel des CPU Intel propose sa solution : les Extensions Matricielles Avancées (AMX). La stratégie d'AMX consiste à étendre directement l'architecture de jeu d'instructions x86 de manière native, plutôt que d'ajouter une puce externe indépendante. Au niveau de la microarchitecture, il introduit un fichier de registres bidimensionnel appelé "Tiles" et une instruction "TMUL" dédiée à l'exécution de grandes multiplications matricielles. Les programmeurs ou les compilateurs peuvent le contrôler via des instructions explicites telles que tileload, tmul, etc., et il prend actuellement principalement en charge l'accélération de tenseurs aux formats INT8 et BF16.</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AMD a adopté une approche SoC hautement hétérogène, avec une architecture combinant le CPU Zen, le GPU RDNA et le moteur XDNA. Sur le côté droit de cette figure, nous pouvons voir le XDNA Inference Engine, spécialement conçu pour l'inférence IA à haute efficacité énergétique. Il s'agit essentiellement d'un réseau de Tiles AIE (DPU Overlay). Cette architecture Tile interconnectée par un réseau sur puce (NoC) peut mapper efficacement les graphes de calcul, améliorant considérablement la puissance de calcul par watt sur les appareils de périphérie ou en périphérie de réseau.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Pour éliminer fondamentalement le goulot d'étranglement d'accès à la mémoire de l'architecture de von Neumann, le calcul proche de la mémoire et la technologie de calcul et stockage intégrés (PIM) sont devenus une branche importante, avec d-Matrix comme exemple typique. Du côté du calcul, il adopte une logique de calcul et stockage numériques intégrés (DIMC), intégrant directement les multiplicateurs-accumulateurs près des cellules SRAM, évitant le mouvement des données entre les niveaux, et combiné avec le format MXINT8/4, réalisant un rapport d'efficacité énergétique impressionnant de 38 TOPS/W. Du côté du stockage, il est équipé d'une énorme SRAM sur puce pour stocker les poids via Stash, et utilise LPDDR5 pour traiter d'énormes quantités de KV Cache. Sa couche système supporte même un runtime Host-Free, avec le noyau RISC-V côté appareil ordonnançant directement le graphe de calcul, libérant complètement le CPU hôte.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Si l'objectif est de poursuivre un débit absolu et une latence de communication sur puce extrêmement faible, l'architecture WSE-3 au niveau de la tranche de Cerebras fournit la réponse ultime. En transformant une tranche de 12 pouces entière en une seule puce, sa superficie est 57 fois celle du H100, avec jusqu'à 900 000 cœurs de calcul déployés à l'intérieur, et intégrant 44 Go de SRAM haute vitesse, réalisant une bande passante mémoire terrifiante de 21 PB/s. Cette architecture avec calcul et stockage étroitement intégrés est naturellement adaptée au parallélisme de pipeline, permettant de mapper physiquement différentes couches Transformer du grand modèle de langage à différentes régions de la tranche, rendant la latence de transfert de données entre les couches quasi nulle.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 niveau du centre de données, l'architecture du système évolue vers des « super-nœuds ». Le NVL72 de NVIDIA affiche une esthétique brute de « rack en tant que puce », en utilisant un fond de panier en cuivre haute densité et un réseau NVLink Switch pour réaliser une interconnexion All-to-All à haute bande passante globale des 72 GPU Blackwell dans le rack, reconstruisant la puissance de calcul de nœuds gras similaires aux puces au niveau de la tranche avec des composants discrets. Le Cloud-Matrix 384 de Huawei, en revanche, est une conception au niveau du système avec priorité à la communication, construisant un pool mémoire unifié contenant des centaines de NPU via un protocole privé HCCS haute vitesse, non seulement équilibrant l'entraînement et l'inférence, mais garantissant également une haute disponibilité grâce à une pile logicielle CANN mature.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En examinant la chronologie technologique des 7 dernières années, nous faisons face à un cruel phénomène de ciseaux. La 'Loi de Moore NLP' montre que des premiers BERT à quelques milliards de paramètres aux modèles d'architecture MoE actuels atteignant des billions de paramètres, la taille des modèles a gonflé de dizaines de milliers de fois. Mais en regardant le matériel sous-jacent, la capacité mémoire GPU n'a augmenté que de moins de 10 fois sur la même période, et la vitesse de bande passante mémoire est déjà loin derrière la croissance des paramètres des modèles.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L'existence objective de ce mur mémoire monopuce nous annonce que nous sommes officiellement entrés dans un 'monde multi-puces' où la collaboration distribuée est nécessaire. L'entraînement et l'inférence des très grands modèles ne sont plus des tâches pour appareils individuels, mais une course d'obstacles complexe au niveau système. Nous devons mapper d'énormes graphes de calcul via parallélisme de tenseurs, parallélisme de pipeline, parallélisme de données, etc., les distribuer précisément sur des milliers de nœuds de calcul, puis assembler le système d'IA complet.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Pour combler l'immense fossé entre le matériel hétérogène sous-jacent et les modèles complexes de couche supérieure, nous avons besoin d'une pile logicielle d'IA unifiée similaire à un système d'exploitation, comme FlagOS de BAAI. Du diagramme d'architecture en couches, on peut voir que FlagOS abstrait et supporte Nvidia, divers NPU, et même RISC-V et autres matériels de calcul hétérogènes, supportant diverses capacités d'apprentissage automatique et d'applications de grands modèles. En fournissant des bibliothèques de noyaux de calcul comme FlagGems, des interfaces unifiées, et des capacités de partitionnement de calcul à multi-dimension, FlagOS vise à réaliser le déploiement et la migration sans friction des applications d'IA sur différentes formes de systèmes tels que les AI PC et les robots périphériques.</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 thème central de cette leçon est « les fondements des modèles de programmation hétérogène ». Après avoir compris les systèmes IA à un niveau macro, nous devons descendre au niveau inférieur pour explorer comment le CPU, le GPU et d'autres accélérateurs collaborent au niveau de l'architecture, et comment nous pilotons ces géants à travers des modèles de programmation.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Voici notre plan d'aujourd'hui. Le contenu se divise en deux grandes parties: premièrement, nous discuterons de l'hôte, de l'appareil et des technologies d'interconnexion de données entre eux, y compris les technologies bien connues PCIe et NVLink. Deuxièmement, nous entrerons officiellement dans les fondamentaux de la programmation CUDA, pour comprendre comment le matériel exécute du code parallèle.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Commencons par examiner la genealogie du materiel AI. Avec le developpement collaboratif du cloud, de l'edge et des terminaux, les formes de materiel de calcul AI presentent des differences considerables. Le cloud dispose de monstres de calcul comme le NVIDIA DGX A100; l'edge dispose de boitiers Jetson Orin; le terminal mobile est l'iPhone que nous utilisons tous les jours (equipe d'un moteur de reseau de neurones dedie); et dans les scenarios a tres faible consommation, meme des appareils MCU micro comme Arduino ex'ecutent du Tiny ML.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Ce tableau presente une perspective de comparaison plus quantitative. Vous pouvez voir que du cloud au micro-terminal, la consommation du systeme varie de kilowatts (kW) a des milliwatts (mW), et la capacite memoire passe de TB a KB. Cet immense fosse dans les ressources materielles sous-jacentes determine que la conception des operateurs AI, la gestion memoire et les strategies de deploiement sont radicalement differentes selon les plateformes.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En nous concentrant sur les puces AI hautes performances, les architectures systeme actuelles se divisent en deux formes. L'une est la puce AI discrete comme le DGX A100, c'est-a-dire une "architecture separee", ou le GPU sert de coprocesseur connecte au CPU via le bus. L'autre est la puce AI integree comme Thor, ou CPU et GPU sont hautement integres dans le meme SoC, partageant la memoire physique, principalement utilisee pour la conduite autonome et autres scenarios sensibles a la latence. L'objet principal de ce cours est le premier type : l'architecture heterogene separee.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Analysons plus en détail ces deux modes d'intégration. À gauche, l'intégration inter-puces (niveau carte), une architecture serveur typique. Le CPU (Host, hôte) et le XPU (Device, périphérique) communiquent via des protocoles comme PCIe ou NVLink, et leurs mémoires physiques sont totalement indépendantes. À droite, l'intégration intra-puce : le CPU et le XPU se trouvent sur le même Die ou dans le même boîtier, et le matériel sous-jacent implémente une cohérence de cache unidirectionnelle ou bidirectionnelle (Cache Coherence) via des mécanismes de répertoire ou de sondage de bus, réduisant considérablement les coûts de transfert de données.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Dans les architectures disjointes, la communication est souvent le maillon le plus faible de l'effet de seau, c'est pourquoi il est essentiel de bien comprendre le bus PCIe. Actuellement, PCIe 4.0 est le standard dans les centres de données, et les équipements récents passent à PCIe 5.0. La bande passante PCIe est déterminée par le nombre de voies (Lanes, soit "x"). Par exemple, selon la norme PCIe 5.0, des voies x16 complètes offrent environ 32 Go/s de bande passante unidirectionnelle, ce qui est standard pour les GPU et FPGA ; les NVMe SSD ou cartes réseau haut débit utilisent généralement des voies x4.</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Voici une topologie PCIe typique. Vous devez la comprendre comme un système réseau miniature à l'intérieur de l'ordinateur. Le CPU se connecte à l'ensemble de l'arborescence PCIe via le Root Complex (complexe racine) qui sert de passerelle, et peut s'étendre via des Switch (commutateurs) pour connecter plus d'Endpoint (périphériques terminaux), c'est-à-dire nos GPU ou cartes de stockage.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Cette page presente les differents peripheriques reels montes sur l'arbre PCIe. Outre les noeuds de calcul qui nous interessent le plus (comme le GPU NVIDIA A100 et le FPGA AMD), les noeuds d'entree/sortie de flux de donnees (comme le SSD NVMe, la carte NIC haut debit, le module WiFi et le controleur de stockage RAID) dependent tous sans exception du protocole PCIe pour leurs liaisons de donnees sous-jacentes.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Dans l'entrainement AI, le role fondamental de PCIe est d'etablir le flux de donnees entre l'hote et le GPU. L'hote envoie des commandes de noyaux CUDA au GPU via PCIe, tout en transmettant des donnees d'entrainement massives et les poids du modele; le GPU renvoie les evenements d'etat et les resultats de gradients. En mode traditionnel, les donnees doivent etre lues du SSD vers la memoire systeme de l'hote (Bounce Buffer), puis copiees via DMA vers la memoire GPU, subissant ainsi deux trajets longs. Pour cela, NVIDIA a lance la technologie GPUDirect Storage, permettant aux donnees de contourner la memoire CPU et d'etre transferees directement du SSD NVMe vers la memoire GPU via le PCIe Switch (P2P DMA), ce qui depasse largement les goulets d'etranglement I/O.</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Dans l'entrainement distribue multi-GPU (comme le parallelisme de pipeline ou le parallelisme de tenseurs), les GPU doivent aussi frequentement s'interconnecter. Au debut, sans la technologie GPUDirect P2P, les donnees du GPU 0 devaient d'abord etre ecrites via PCIe dans la memoire de l'hote, puis envoyees par la memoire de l'hote au GPU 1, avec un trajet extremement long. Avec le mecanisme P2P, le GPU 0 peut acceder directement a la memoire du GPU 1 via des instructions Load/Store ou cudaMemcpy, le flux de donnees ne passant que par le PCIe Switch, ce qui reduit considerablement la latence d'interconnexion au niveau systeme.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Bien que PCIe P2P ait considerablement optimise la communication, sa limite de bande passante de 32 Go/s ne peut toujours pas repondre aux exigences extrement elevees de communication collective (comme All-Reduce) pour l'entrainement des grands modeles de langage. Par consequent, NVIDIA a introduit en 2016 avec l'architecture Pascal un bus NVLink dedie. La premiere generation de NVLink, grace a une communication serie utilisant des signaux differentiels a haute vitesse, a atteint une bande passante totale de 160 Go/s, revolutionnant completement les goulots d'etranglement de l'extension multi-GPU.</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Ce graphique presente l'histoire de l'evolution de NVLink. Du P100 publie en 2016 jusqu'au GB200 de 2024, la bande passante de NVLink a connu une croissance en escalier remarquable. La cinquieme et derniere generation de NVLink atteint une bande passante bidirectionnelle par carte de 1800 Go/s dans les reseaux de cluster (a grande echelle). C'est le fondement physique qui permet aux modeles de langage modernes de dizaines voire centaines de milliards de parametres d'effectuer un entrainement distribue a tres grande echelle.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rPr>
              <a:t>Resumeons les modeles d'interaction sous architecture heterogene. Si nous n'utilisons pas la memoire unifiee (Unified Memory), les DRAM de l'hote et du peripherique sont isolees tant physiquement que dans l'espace d'adressage virtuel, necessitant que le programmeur gere explicitement la migration des donnees entrantes et sortantes. Avec le modele de memoire unifiee, le pilote et le materiel sous-jacents utilisent le mecanisme de defaut de page (Page Fault) pour effectuer automatiquement en arriere-plan une migration des pages a la demande, simplifiant ainsi la programmation. Cependant, dans le developpement d'operateurs IA recherchant des performances extremes, nous privilegions generalement un controle explicite du flux memoire pour masquer la latence.</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Apres avoir examine le socle materiel du systeme et l architecture d interconnexion, nous passons a la partie principale d aujourd hui : la programmation CUDA essentielle. Nous allons explorer comment ecrire du code pour vraiment piloter ces GPU.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Face au materiel heterogene, lors de la conception de logiciels systeme ou de l ecriture d operateurs de bas niveau, nous devons repondre avec precision a six questions cles : comment compiler le code du noyau ? Comment le CPU et le GPU cooperent-ils et interagissent-ils ? Comment exprimer logiquement le parallelisme de centaines voire milliers de threads ? Comment les threads concurrents se synchronisent-ils pour eviter les conditions de course ? Comment gerer et acceder aux niveaux de donnees ? Enfin, comment ce code logique est-il precisement ordonnance sur le pipeline physique de bas niveau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Pour relever ces defis, CUDA fournit un ensemble rigoureux de concepts semantiques. Par exemple, via des compilateurs specialises comme nvcc pour separer le code hote et peripherique; utiliser Host, Device et Kernel pour distinguer les espaces d execution; etablir une topologie parallele tridimensionnelle via Thread, Block et Grid; utiliser __syncthreads() pour la synchronisation barriere; utiliser des modificateurs comme global/shared pour diviser les espaces memoire; ainsi que l unite d ordonnancement materiel Warp au niveau le plus bas.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Regardons d'abord le paradigme d'interaction au niveau macroscopique. L'hote (CPU) est responsable du flux de controle complexe, tandis que l'appareil (GPU) est responsable du calcul parallele de donnees a grande echelle. Ils sont relies par un bus PCIe de plusieurs dizaines de GB/s ou par NVLink C2C allant jusqu'a 1.8 TB/s (comme Grace-Blackwell). Ce qu'on appelle noyau (Kernel) est essentiellement une tache de calcul hautement concurrente que l'hote soumet a l'appareil. Avant et apres cela, l'hote doit utiliser des API similaires a malloc et memcpy pour planifier la preparation des donnees dans la memoire video.</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Voici un exemple de code de controle C++ typique cote hote. D'abord, on alloue et initialise les donnees dans la memoire systeme sur le CPU (A, B) ; ensuite, on appelle cudaMalloc pour ouvrir de l'espace dans la memoire video du GPU (g_A, g_B, g_C) ; puis, via cudaMemcpy, on pousse les donnees vers le GPU a travers le bus. Ensuite, on configure les dimensions du Grid et du Block, et on utilise la syntaxe de configuration d'execution &lt;&lt;&lt; &gt;&gt;&gt; pour lancer de maniere asynchrone le noyau vadd. Enfin, on utilise a nouveau cudaMemcpy pour rapatrier les resultats de l'appareil vers la memoire systeme de l'hote.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C'est la fonction noyau vadd qui vient d'etre appelee. On utilise le qualificateur __global__ pour indiquer qu'elle est appelee par l'hote et executee sur le GPU. C'est la difficulte centrale de la programmation heterogene : des milliers, voire des millions de threads executent simultanement ce meme code. Pour eviter les calculs redondants, chaque thread doit calculer en temps reel son ID physique global via les variables integrees fournies par CUDA (comme blockIdx.x, blockDim.x, threadIdx.x), afin d'etablir une correspondance un-a-un avec les differentes tranches de donnees du tableau.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CUDA utilise une topologie hiérarchique stricte pour exprimer le parallélisme. Thread (fil) est la plus petite unité d'exécution. Plusieurs Threads sont liés en un Block (bloc de threads), et les threads au sein d'un même Block peuvent collaborer via la mémoire partagée (Shared Memory) à très faible latence et effectuer une synchronisation au niveau matériel. Enfin, plusieurs Blocks sont assemblés en une Grid (grille), qui est l'entité de niveau supérieur pour l'ordonnancement du noyau. Block et Grid peuvent tous deux être configurés en structures tridimensionnelles au maximum.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Cette figure permet de comprendre intuitivement la topologie unidimensionnelle. Le grand cadre extérieur est la Grid, qui contient plusieurs Blocks (blocs orange et bleu), et chaque Block contient plusieurs Threads spécifiques (petits carrés). Lors de l'exécution, n'importe quel Thread peut connaître sa position en accédant aux variables prédéfinies dans les registres : l'index du Block actuel (blockIdx.x), l'index du thread local au sein du Block (threadIdx.x), la taille du Block (blockDim.x) et la taille de la Grid (gridDim.x).</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Lors du traitement d'images, de matrices ou d'autres données multidimensionnelles, configurer des grilles et des blocs de threads en deux ou trois dimensions rend le calcul des indices plus naturel. Dans cette grille bidimensionnelle, le Block a non seulement une coordonnée x, mais aussi une coordonnée y (blockIdx.y), et les Threads internes ont également des attributs bidimensionnels (threadIdx.y). L'essentiel reste d'utiliser ces indices multidimensionnels pour calculer (aplatir) une adresse d'accès mémoire globale unidimensionnelle.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Dans un environnement hautement parallele, la synchronisation est essentielle pour eviter les donnees corrompues et les conditions de course. __syncthreads() est une barriere de synchronisation materielle au niveau du Block. Lorsqu'un thread atteint cette primitive, il est suspendu jusqu'a ce que tous les threads actifs du meme Block atteignent ce point, apres quoi ils peuvent continuer ensemble. Pour la synchronisation entre Blocks ou avec l'hote, il faut s'appuyer sur cudaDeviceSynchronize() ou le mecanisme plus leger des Events, ce qui est particulierement important lorsque nous travaillons avec les flux CUDA.</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Approfondissons le modele memoire. Dans l'architecture par defaut avec des espaces d'adressage separes, la memoire de l'hote (Host) et la memoire globale du peripherique (Device) sont mutuellement invisibles. Cela oblige le programmeur a agir comme un "coordinateur de livraison", en allouant explicitement l'espace distant via cudaMalloc et en controlant le flux des donnees sur le bus physique via cudaMemcpy.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En plongeant dans les entrailles du GPU, les espaces d'adressage accessibles au code du noyau presentent une forte hierarchie. La memoire globale declaree avec __global__ correspond a la DRAM : capacite maximale mais latence elevee, visible par tous les threads. Les variables locales non qualifiees ou l'espace qualifie __device__ se trouvent generalement dans les registres ou la memoire locale, appartenant en propre au thread. Quant a la memoire partagee qualifiee __shared__, c'est une zone SRAM rapide directement gravee dans le SM (Streaming Multiprocessor). Les threads d'un meme Block peuvent l'utiliser comme "brouillon" ultra-rapide. Exploiter pleinement la Shared Memory est un moyen essentiel pour extraire la puissance maximale du GPU.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En comprenant l'abstraction logique, voyons l'exécution physique au niveau inférieur. Le secret de la puissance de calcul phénoménale des GPU réside dans la combinaison du mécanisme d'exécution SIMD avec un pipeline d'instructions profond. Le graphique à droite illustre le processus de décomposition des étapes d'exécution par le pipeline : tous les ALU exécutent le même flux d'instructions, et lorsqu'une instruction (comme Add) passe à l'étape suivante du pipeline, l'instruction suivante occupe immédiatement l'espace libéré. Grâce au changement de contexte rapide entre de nombreux groupes de threads concurrents, le GPU peut masquer les latences mémoire extrêmement coûteuses par des instructions de calcul, ce qui est l'essence de la conception orientée débit (Throughput-Oriented).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 niveau de l'architecture système, il est essentiel de clarifier trois concepts souvent confondus. Tout d'abord, SIMD (Single Instruction Multiple Data) est une architecture matérielle stricte. Elle met l'accent sur la capacité du matériel à ingérer simultanément plusieurs points de données via des registres extrêmement larges pour effectuer des calculs arithmétiques. Par exemple, dans ce code, l'instruction AVX-512 d'Intel _mm512_fmadd_ps force physiquement, au niveau du circuit, l'exécution parallèle de 16 multiplications-additions flottantes en un seul cycle d'horloge, pilotée par une seule unité de contrôle.</a:t>
            </a:r>
            <a:endParaRPr lang="en-US" sz="1400" b="0" i="0" u="none" strike="noStrike">
              <a:solidFill>
                <a:srgbClr val="000000"/>
              </a:solidFill>
            </a:endParaRP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Ensuite, SPMD (Single Program Multiple Data) n'est pas une architecture matérielle, mais un « paradigme de programmation » hautement abstrait. Comme le souligne « Computer Organization and Design », les programmeurs écrivent un seul code source, déployé sur chaque unité de traitement d'un système distribué. Grâce aux différences d'ID physique des processeurs ou de variables d'environnement, le code peut produire des flux de contrôle complètement différents via des branches if-else, présentant à l'échelle macroscopique les caractéristiques du MIMD (Multiple Instruction Multiple Data).</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Enfin, le SIMT (Single Instruction Multiple Threads) inventé par NVIDIA. C'est un modèle hybride qui fusionne parfaitement la flexibilité de programmation du SPMD avec l'efficacité matérielle du SIMD. Du point de vue du programmeur, c'est de la programmation multithread pure, chaque thread ayant son propre flux de contrôle logique indépendant; mais lors de l'ordonnancement matériel sous-jacent, le GPU regroupe de manière contraignante 32 threads consécutifs en un Warp (appelé Wavefront chez AMD, de taille 64). Ces 32 threads partagent le même compteur de programme (PC) et s'exécutent en lockstep sur les réseaux ALU physiques, comme le SIMD. Le matériel extrait dynamiquement le parallélisme.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Regardons une comparaison d'évolution du code. À gauche, sur un CPU scalaire, nous avons l'habitude d'utiliser une boucle for pour traiter un tableau de manière séquentielle; à droite, dans le modèle SIMT, nous « déroulons » complètement la boucle. Le corps de la fonction noyau ne contient plus d'itération de boucle, mais extrait directement l'ID de thread global i. Si le tableau a N éléments, nous lançons directement N threads logiques. Cela illustre parfaitement comment un flux d'instruction unique se mappe implicitement en parallèle sur un ensemble de données massif via le matériel SIMT.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Après avoir défini le travail d'un seul thread, nous devons configurer la topologie et lancer l'exécution côté hôte. Nous utilisons la structure dim3 pour configurer des paramètres tridimensionnels : nous spécifions que chaque bloc contient 256 threads, et utilisons la formule d'arrondi supérieur (N+256-1)/256 pour calculer le nombre de blocs nécessaires pour couvrir entièrement le tableau. Enfin, nous utilisons la syntaxe &lt;&lt;&lt;blocks, threads&gt;&gt;&gt; pour envoyer cette grande grille d'exécution de threads (Grid) à l'ordonnanceur matériel du GPU.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 code qui fonctionne est encore bien loin d'etre "haute performance". Nous devons effectuer une "optimisation sensible aux ressources (Resource-aware Optimization)", c'est-a-dire comprendre en profondeur les caracteristiques de l'architecture SM pour exploiter pleinement les ressources. Les strategies principales incluent : calculer avec precision la taille des Blocks pour maintenir un Warp Occupancy (taux d'occupation) extremement eleve ; concevoir soigneusement la repartition des donnees pour optimiser le taux d'utilisation de la bande passante memoire ; eliminer les divergences de flux de controle (Warp Divergence) qui entrainent une chute drastique des performances ; assurer les acces coalescents a la memoire globale (Memory Coalescing) ; et eviter les conflits de Bank dans la memoire partagee (Bank Conflicts).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La latence de la memoire globale atteint plusieurs centaines de cycles, l'optimisation des modes d'acces memoire est donc primordiale. Nous allons analyser en detail les "acces memoire coalescents (Coalescing)". Supposons que le pointeur X pointe vers un tableau d'entiers 32-bit dont l'adresse de base est 0x00001232. Lorsque le code execute tmp = X[0], un seul thread envoie au materiel une requete de lecture pour une adresse physique specifique de 4 octets. Que se passe-t-il ensuite au niveau inferieur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 controlleur de memoire video ne recupere pas ces 4 octets de maniere precise comme on prendrait un colis. L'acces a la memoire physique se fait par unite de transaction de bus (Bus Transaction). Supposons que la largeur du bus GDDR soit de 32 octets (256 bits), alors toutes les adressages physiques doivent etre alignes sur une frontiere de 32 octets (c'est-a-dire que les 5 bits de poids faible sont mis a zero). Par consequent, pour une requete ciblant 0x00001232, le niveau inferieur envoie en fait une instruction de lecture a l'adresse de base 0x00001220.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Le contrôleur matériel ramène ensuite un bloc entier de 32 octets de données commençant à 0x00001220. Comme notre thread logique actuel ne s'intéresse qu'à 4 des 32 octets, les 28 octets restants deviennent des données purement accessoires. Lors d'une opération d'accès mémoire, la bande passante du bus est gaspillée à près de 87,5%. Pour les algorithmes d'apprentissage profond qui dépendent extrêmement du débit d'accès mémoire, ce type d'accès non aligné et dispersé est une catastrophe pour les performances.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Pour remédier à ce terrible gaspillage de bande passante, le matériel GPU intègre une logique de « fusion (Coalescing) ». Lorsqu'il détecte que plusieurs threads au sein d'un Warp effectuent des accès mémoire simultanés, il intercepte et analyse ces adresses. Considérons cette ligne de code de mappage standard : tmp = X[threadIdx.x + blockDim.x * blockIdx.x]. C'est un mappage contigu classique où les threads adjacents (threadIdx.x 0, 1, 2...) accèdent aux éléments adjacents du tableau.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Le matériel découvre que ces 16 ou 32 threads consécutifs, qui demandent des dizaines de données de 4 octets, tombent physiquement exactement dans le même (ou adjacent) segment de données aligné sur 32 octets. Ainsi, le GPU fusionne ces dizaines de micro-requêtes en une ou deux requêtes de bus large physiques. Si c'est parfaitement aligné, une seule transaction de bus 256-bit peut nourrir exactement 8 threads, et le taux d'utilisation de la bande passante grimpe à 100%.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Aujourd'hui, nous abordons le contenu de la troisieme seance. Le theme central de ce cours est l'analyse de la chaine d'appel des cadres d'apprentissage profond. Nous allons diss quer de haut en bas la chaine complete, de l'ecriture du code frontal a l'execution sur le materiel dorsal, en comprenant comment le cadre transforme les modeles mathematiques en instructions materielles efficaces.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Avant d'approfondir les techniques de cadres, commencons par une vue d'ensemble du cycle de vie des systemes d'apprentissage automatique et des trois grandes lois de mise a l'echelle qui dirigeant le developpement de l'industrie. Comme le montre le graphique, le cycle de vie complet couvre les etapes cles formant une boucle fermee : collecte de donnees, preparation des donnees, entrainement de modeles, evaluation des modeles, deploiement des modeles et surveillance continue des modeles. En ce qui concerne l'extension de la puissance de calcul, nous traversons une evolution de l'extension du pre-entrainement vers l'extension du post-entrainement, puis vers l'extension du calcul au moment du test. Avec un investissement exponentiel dans la puissance de calcul, le niveau d'intelligence des modeles presente une croissance non lineaire significative.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Book Antiqua" panose="02040602050305030304"/>
              </a:defRPr>
            </a:lvl1pPr>
          </a:lstStyle>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Ici, nous presentons une vue d'ensemble complete de l'infrastructure logicielle des grands modeles. Du point de vue du cycle de vie du systeme, le cadre stabilise et prend en charge des scenarios metiers essentiels tels que les services, le developpement, le pre-entrainement et le post-entrainement. Cela comprend non seulement les cadres de programmation fondamentaux bien connus comme PyTorch et TensorFlow, mais aussi de nombreuses innovations au niveau systeme pour l'entrainement et l'inference des grands modeles. Par exemple, l'optimisation extreme de Megatron pour le parallelisme tensoriel et le parallelisme de pipeline, le mecanisme d'attention paginee et la technologie de mise en cache de prefixe introduits par vLLM qui ont considerablement ameliore le debit des systemes d'inference, ainsi que la personnalisation et l'optimisation approfondies du flux de donnees et des controles par OpenRLHF lors de la phase de finetuning par apprentissage par renforcement. Ces cadres construisent ensemble une pile logicielle systeme riche et complexe pour les grands modeles.</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Book Antiqua" panose="02040602050305030304"/>
              </a:defRPr>
            </a:lvl1pPr>
          </a:lstStyle>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Afin de mieux clarifier les liens, nous avons approfondi les concepts cles de l'infrastructure logicielle des grands modeles. Ce domaine de pointe couvre trois dimensions essentielles : l'architecture de calcul fondamentale, la conception d'algorithmes de haut niveau et l'ingenierie systeme. Dans la conception systeme, nous devons accorder une attention particuliere a l'automatisation de la compilation, aux niveaux d'abstraction des interfaces et a la portabilite des modeles entre differents backends materiels. Concernant le modele de programmation, l'industrie recherche constamment l'equilibre optimal entre la convivialite des graphes dynamiques et la performance extreme des graphes statiques. Parallelement, toutes les optimisations systeme de bas niveau s'efforcent de franchir les trois grandes barrieres physiques : le calcul, la memoire et la communication reseau. Lors de la phase d'inference du modele, gerer la dynamicite a l'execution est essentiel pour l'optimisation systeme. Quant a la phase de post-entrainement, divers algorithmes d'alignement comme l'optimisation de politique proximale posent de nouveaux defis en termes de flexibilite et d'efficacite de calcul pour les cadres systeme.</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Book Antiqua" panose="02040602050305030304"/>
              </a:defRPr>
            </a:lvl1pPr>
          </a:lstStyle>
          <a:p>
            <a:pPr indent="0" algn="l">
              <a:lnSpc>
                <a:spcPct val="100000"/>
              </a:lnSpc>
            </a:pPr>
            <a:r>
              <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Nous poursuivons notre exploration des facteurs de contrainte materielle derriere les concepts cles. Ces graphiques de tendances classiques illustrent de maniere intuitive l'evolution critique des goulots d'etranglement de performance systeme. Les graphiques montrent clairement les tendances historiques de croissance de la capacite de calcul de pointe du materiel et de la bande passante memoire. Nous pouvons observer de maniere tres evidente que la vitesse de croissance de la capacite de traitement de calcul a deja largement depasse celle de la bande passante memoire, ce qui constitue le probleme du mur memoire qui entrave gravement les performances des modeles d'apprentissage profond. En particulier avec la croissance explosive des parametres des modeles Transformer et de la longueur des sequences de contexte, la pression sur la memoire video causee par le cache cle-valeur pendant la phase d'inference devient extremement importante. Par consequent, nous devons exploiter en profondeur des moyens d'optimisation de compilation avances comme la fusion d'operateurs et la planification memoire pour attenuer la pression sur la bande passante memoire et ameliorer considerablement le taux d'utilisation effectif du materiel.</a:t>
            </a:r>
            <a:endParaRPr lang="en-US" sz="120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Ensuite, nous nous concentrons sur PyTorch, la bibliothèque d'apprentissage automatique open source la plus populaire dans le monde académique et industriel. Comme vous pouvez le voir, parmi la compétition féroce de nombreux cadres d'apprentissage profond, PyTorch s'est imposé grâce à sa conception visionnaire. Ses caractéristiques principales incluent une définition de tenseurs extrêmement flexible, un support natif pour le calcul accéléré par GPU, un moteur puissant de différenciation automatique et un support de compilateur moderne de plus en plus complet ces dernières années. Comparé au TensorFlow basé sur des graphes statiques et à Numpy pour le calcul numérique pur, PyTorch réduit considérablement la charge mentale des chercheurs en algorithmes tout en conservant l'avantage central de la construction dynamique de graphes de calcul.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Le format de données le plus fondamental et central de PyTorch est le tenseur. Nous pouvons le comprendre intuitivement comme un tableau à N dimensions, son modèle conceptuel étant très similaire aux tableaux multidimensionnels de NumPy. Mais la différence cruciale réside dans le fait que les tenseurs de PyTorch intègrent un support natif pour le calcul des gradients, et sont dotés de marqueurs de placement sur périphérique extrêmement explicites. Par exemple, lorsque nous créons un tenseur en définissant l'attribut requires_grad sur True, le cadre enregistre en arrière-plan, de manière silencieuse et automatique, le graphe de calcul nécessaire à la rétropropagation pour ce tenseur. Au cours de l'exécution du code, nous pouvons à tout moment accéder à ses valeurs concrètes via l'attribut data, et obtenir le gradient précisé calculé lors de la rétropropagation via l'attribut grad.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L'autre capacité centrale des tenseurs réside dans leur puissant support matériel hétérogène et leur système d'abstraction distribué. En pratique, nous pouvons facilement dispatcher et transférer des tenseurs vers différents matériels de calcul via la méthode intégrée to. Cette abstraction matérielle ne se limite pas aux GPU NVIDIA grand public, mais supporte également nativement d'excellents accélérateurs NPU nationaux comme Huawei Ascend. Face aux besoins d'entraînement distribué de grands modèles avec des milliards de paramètres, PyTorch a également introduit des concepts d'abstraction avancés comme les tenseurs distribués et les grilles de périphériques. Cela permet au cadre sous-jacent de diviser automatiquement un tenseur logique de très grande taille et de le mapper sur un vaste cluster physique composé de plusieurs machines physiques et de périphériques hétérogènes, simplifiant ainsi considérablement le développement de diverses stratégies de parallélisation.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Le mecanisme fondamental qui prend en charge la retropropagation dans les modeles d'apprentissage profond complexes est le moteur de differentiation automatique Autograd de PyTorch. Ce moteur integre en bas niveau des fonctions mathematiques de derivation extremement completes, notamment les derivees partielles et la regle de la chaine. Lorsque nous appelons directement la fonction backward sur le noeud de sortie scalaire de la propagation avant, le moteur parcourt en sens inverse le graphe de calcul construit dynamiquement en memoire, calculant de maniere efficace et automatique les gradients de tous les noeuds feuilles precedents. Il est particulierement important de souligner que la logique de conception sous-jacente de PyTorch fait que les gradients calcules a chaque etape s'accumulent par defaut. Par consequent, apres chaque mise a jour des poids du reseau, nous devons explicitement reinitialiser les gradients manuellement pour eviter que les anciens gradients historiques ne polluent serieusement la direction de mise a jour du cycle de calcul actuel. Grace a cet exemple de code d'equation lineaire concis, nous pouvons observer tres clairement l'ensemble du processus precis de construction dynamique du graphe de calcul et de retropropagation des gradients mathematiques.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Nous abordons maintenant une exploration plus approfondie des details techniques du compilateur bas niveau du cadre. Bien que PyTorch propose une API extremement simple et elegante pour activer l'entrainement de modeles ou les taches d'inference, comment se comportent ses performances d'execution au niveau inferieur ? Aux premiers temps du developpement du cadre, le principe de conception fondamental de PyTorch etait que la facilite d'utilisation devait absolument primer sur les performances extremes, en mettant l'accent sur l'experience de debogage flexible offerte par les graphes dynamiques. Cependant, avec l'essor des besoins en puissance de calcul, les bibliotheques de noyaux ecrites manuellement ne suffisent plus du tout pour repondre aux exigences d'extraction de puissance des grands modeles, et les performances d'execution du cadre, la portabilite materielle et l'extensibilite des clusters deviennent cruciales. Pour cela, PyTorch 2.0 a introduit un flux de travail d'optimisation de compilation interne extremement avance. Ce flux de travail permet une acceleration systemique approfondie du code Python de graphes dynamiques a travers trois etapes cles : la capture precise du graphe de calcul, la traduction hierarchique du graphe de calcul, et enfin la compilation finale du graphe de calcul materiel bas niveau.</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Pour decllencher le flux de travail de compilation complet mentionne precedemment, l'utilisateur n'a qu'a appeler la fonction d'entree unifiee extremement simple fournie par PyTorch 2.0, a savoir torch.compile. Dans cette chaine complexe, le premier element est le module central Torch Dynamo, qui est essentiellement un compilateur immediat specialise dans l'extraction sans couture du graphe de calcul de propagation avant. Dynamo, grace a l'analyse et la conversion instantanee du bytecode dynamique au niveau le plus bas de la machine virtuelle Python, fournit un support plus robuste et flexible que les schemas de suivi statique traditionnels. Lorsque le compilateur rencontre un flux de controle Python natif qu'il ne peut pas analyser en toute securite ou des operateurs speciaux non encore pris en charge, le systeme decllenche de maniere securisee un mecanisme de rupture de graphe pour revenir a l'execution native. Pour gerer efficacement les entrees dynamiques, il introduit de maniere innovante un mecanisme de garde pour effectuer des verifications strictes de recompilation du graphe, verifiant des dimensions incluant la forme des tenseurs, le pas en memoire et les informations specifiques du peripherique materiel. Si le systeme est en mode forme dynamique, tant que les changements de dimensions des tenseurs d'entree respectent les regles de raisonnement symbolique etablies, les lourds calculs au niveau inferieur n'ont pas besoin de re-decllencher le processus de compilation couteux. De plus, pour les scenarios d'entrainement, nous utilisons la technologie AOTAutograd pour prendre en charge specifiquement l'extraction du graphe de calcul lors de la retropropagation, assurant ainsi l'integrite et la coherence du graphe de calcul combine avant-arriere.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Une fois que le graphe de calcul dynamique a été capturé avec succès par Dynamo, l'étape suivante consiste à traduire et normaliser rigoureusement les niveaux du graphe de calcul. Le module frontal capture le graphe de calcul original en utilisant l'ensemble d'opérateurs ATen contenant de nombreuses logiques de surcharge complexes. Ces opérateurs de haut niveau dépassent les mille deux cents dans le code source de PyTorch, et si l'on compte les diverses variantes mineures de surcharge, leur nombre atteint plus de deux mille. Pour réduire considérablement la charge d'adaptation pour les divers backends de compilation hétérogènes, le framework a méticuleusement conçu un processus de traduction vers une représentation intermédiaire avec une sémantique plus bas niveau et un jeu d'instructions plus concis, à savoir le système Prim IR. Au niveau de Prim IR, le nombre total d'opérateurs du système a été radicalement réduit à seulement environ deux cent cinquante opérateurs de base. Parallèlement, le système maintient à long terme un sous-ensemble ATen central contenant environ sept cent cinquante opérateurs normalisés. Cette conception de la couche de représentation intermédiaire ATen normalisée est d'une vision stratégique, très adaptée aux backends matériels existants ayant déjà intégré des bibliothèques d'opérateurs matures au niveau ATen avancé, et également adaptée aux accélérateurs personnalisés spéciaux qui ne peuvent pas retrouver efficacement et à faible coût les performances matérielles extrêmes à partir de l'ensemble d'opérateurs Prim de très bas niveau.</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Le dernier maillon de la chaîne d'optimisation de compilation consiste à effectuer une compilation de graphe extrême et à générer le code machine ou de noyau de bas niveau qui sera finalement exécuté. C'est TorchInductor, en tant que backend compilateur par défaut, qui occupe ici une position absolument centrale. C'est un compilateur d'apprentissage profond moderne qui suit strictement les sémantiques natives de Python et adhère à une philosophie de conception prioritaire PyTorch. TorchInductor peut convertir avec précision la représentation intermédiaire entrée à l'étape précédente en une représentation intermédiaire au niveau boucle ne contenant que cinquante-quatre opérateurs primitifs de bas niveau. Il adopte de manière innovante le concept central de définition à l'exécution, utilisant directement un sous-ensemble de code Python exécutable pour définir clairement les dispositions mémoire et les corps de boucle denses, et s'intègre profondément et sans couture avec le moteur d'algèbre symbolique Sympy, capable de gérer avec élégance et précision le raisonnement algébrique de formes dynamiques complexes. Au niveau de l'ordonnancement central, il assume le travail crucial de fusion d'opérateurs, intégrant de multiples opérateurs minuscules en un tout grâce à des algorithmes d'ordonnancement ingénieux, réduisant ainsi considérablement les coûts d'accès mémoire globale onéreuse. Finalement, le générateur de code de bas niveau produira du code C++ optimisé natif et hautement parallèle selon les caractéristiques d'architecture du matériel cible, ou du code source de noyau Triton pour l'accélération extrême sur GPU NVIDIA.</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Nous allons maintenant examiner l'évaluation finale de cette architecture de compilation complexe PyTorch 2.0 après son déploiement. À travers la validation rigoureuse de plusieurs benchmarks de référence industriels tels que TorchBench et HuggingFace, cette nouvelle chaîne de compilation dynamique a apporté une amélioration significative des performances de bout en bout. Elle excelle non seulement dans les scénarios traditionnels de graphes statiques visuels, mais répond également parfaitement aux exigences strictes des formes dynamiques des grands modèles de langage contemporains, brisant définitivement la malédiction de l'effondrement des performances des compilateurs statiques traditionnels face aux séquences textuelles de longueur variable changeant fréquemment, causée par des recompilations extrêmement fréquentes. De plus, grâce au mécanisme d'exécution de repli Python complet et sécurisé au niveau inférieur, elle fournit une compatibilité et un support extrêmement larges et hautement stables pour diverses architectures de modèles d'apprentissage profond à longue traîne.</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Ce cours est la quatrième séance du semestre. Le thème est l'introduction au langage Triton. Nous allons apprendre à franchir le fossé des frameworks de bas niveau, et écrire en style Python des fonctions de noyau GPU offrant des performances matérielles optimales.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Commençons par une vue d'ensemble macroscopique de ce cours. Actuellement, le domaine des systèmes d'IA souffre d'une lacune : il existe un fossé considérable entre la haute productivité de Python et les hautes performances de bas niveau de CUDA C++. Triton est né précisément pour combler cette lacune. Il s'agit essentiellement d'un langage spécifique au domaine embarqué et d'un compilateur spécialisé pour écrire des opérateurs d'apprentissage profond personnalisés efficaces. Son objectif de conception central est de permettre aux développeurs d'utiliser une syntaxe de haut niveau pour écrire des algorithmes dont les performances rivalisent avec celles du code CUDA optimisé manuellement par des ingénieurs expérimentés. Il convient de noter pour les chercheurs en architecture de systèmes que Triton adopte une philosophie d'algorithme basé sur les blocs, ce qui contraste totalement avec le modèle traditionnel basé sur les threads SIMT de CUDA, et qui est également appelé dans le monde académique un paradigme de programmation centré sur les tuiles. Ce cours couvrira quatre modules principaux : d'abord, nous explorerons la philosophie de conception de Triton et pourquoi ne pas utiliser directement le framework CUDA natif ; ensuite, nous analyserons en profondeur son modèle d'exécution sous-jacent, en comprenant les concepts de grille et de programme ; puis nous aborderons l'apprentissage des blocs de base, en maîtrisant la logique de calcul basée sur les blocs et les opérations arithmétiques sur les pointeurs ; enfin, par la pratique du code, je vous guiderai pour définir et lancer votre première fonction de noyau Triton.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Commencons par un apercu macroscopique de Triton. Triton est un langage concu specifiquement pour la programmation parallele a grande echelle, et constitue egalement un compilateur de graphe de calcul en profondeur. Sa vision fondamentale est de fournir un environnement de programmation natif base sur Python, aidant les chercheurs en architecture et les ingenieurs systeme a ecrire efficacement des operateurs de bas niveau pour les reseaux de neurones profonds, tout en garantissant que ces operateurs, une fois compiles, puissent s'executer a debit maximal sur le materiel d'acceleration tensorielle moderne tel que les GPU.</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rPr>
              <a:t>Ensuite, nous comparerons Triton avec d'autres modeles de programmation open source majeurs du secteur, pour vous aider a clarifier l'evolution technologique. Nous nous basons principalement sur cinq criteres d'evaluation fondamentaux : l'avancee de l'architecture sous-jacente, l'efficacite d'implementation des operateurs, la qualite de l'infrastructure, la facilite de programmation pour les developpeurs, et l'adaptabilite a l'ecosysteme IA superieur. En comparant MLIR, OpenXLA, Mojo et le framework PyTorch natif, nous pouvons clairement voir les avantages uniques de Triton. Triton est en avance d'une generation sur l'industrie en termes de modele de programmation de noyau, sa simplicite extreme de programmation est nettement superieure au modele CUDA traditionnel, tout en maintenant un niveau superieur en efficacite d'implementation des operateurs complexes. De plus, un point extremement important : Triton beneficie actuellement du support natif au niveau inferieur du framework PyTorch, ce qui elargit considerablent son applicabilite industrielle. En comparaison, bien que la conception architecturale globale d'OpenXLA soit tres avancee, elle presente une lacune au niveau de l'abstraction de programmation des noyaux, et sa performance peak sur GPU peut parfois etrelegerement inferieure aux operateurs Triton profondement optimises. Quant a Mojo, en tant que nouveau langage tres attendu, son concept architectural est extremement en avance, mais limite par le developpement de son ecosysteme, il se concentre actuellement sur l'optimisation CPU, et n'a pas encore rendu open source l'ensemble de sa stack technologique.</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Approfondissons la composition systeme de Triton,il est compose de deux parties principales collaborant etroitement : le langage et le compilateur. En tant que langage DSL dedie a la programmation parallele, Triton s'adresse principalement aux accelerateurs materiels hautes performances comme les GPU, avec une syntaxe concue pour s'adapter a la logique d'ecriture des operateurs de propagation avant et arriere des reseaux de neurones. Le role du compilateur Triton est de convertir efficacement le langage Triton en instructions de langage machine de bas niveau, grace a une serie d'analyses de representations intermediaires complexes et d'optimisations au niveau du graphe. Je recommande fortement a tous d'acceder au depot du projet open source Triton sur GitHub et de consulter sa documentation officielle pour explorer en profondeur les details d'implementation du backend de compilation.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Ici, nous présentons brièvement la position de Triton dans l'écosystème de programmation GPU. Face aux défis architecturaux et matériels, lors de l'écriture de code CUDA de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Triton occupe une position cruciale et stratégique dans l'écosystème AI actuel. Lors de l'intégration avec les frameworks, Triton démontre...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r>
              <a:t>En tant que chercheurs, pourquoi Triton est-il un choix ferme ? Équilibrer la productivité et la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Dans ce modèle d'exécution, sous la syntaxe Pythonique, Triton mappe le modèle d'exécution de bas niveau sur la pensée matérielle...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Ici, nous démontons la logique de bas niveau du noyau Triton. Les spécifications détaillées des pointeurs...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Ici, nous construisons trois mécanismes fondamentaux ensemble : les instructions sécurisées pour les données, le chargement et le stockage en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Passons à la pratique. Construisons directement un noyau d'addition vectorielle simple. À travers cet exemple...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Entre le noyau et l'appareil, les instructions d'interaction sont définies. Il faut comprendre comment appeler depuis Python...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Dans cette couche d'optimisation, face à l'énorme espace de paramètres de contrôle constant à la compilation...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Au-delà du calcul vectoriel unidimensionnel, explorons le calcul de blocs bidimensionnels. Comme calcul central de l'IA...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Les architectes système doivent comprendre pleinement la hiérarchie mémoire matérielle, de la mémoire globale aux registres...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Triton fournit aux programmeurs système un ensemble riche de fonctions intégrées...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Cette page montre le mécanisme de bas niveau de l'implémentation Softmax. La migration exponentielle...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Face au matériel complexe et aux graphes de calcul traditionnels, le chemin de débogage est pavé...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Sur le terrain d'entraînement de la performance, affrontons différentes architectures aux capacités distinctes...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Face à la multidimensionnalité et la discontinuité mémoire, le positionnement précis des données...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Pour surpasser le mur mémoire, Triton utilise le pipeline logiciel pour masquer la latence...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Cette section contraste les paradigmes de programmation CUDA C++ versus Triton. Les principes de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En tant que langage de haut niveau et open-source, Triton a encore certaines contraintes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Pour les différents backgrounds et structures système, planifiez une progression vers le niveau expert...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Cette section résume la signification historique de Triton pour l'architecture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Aujourd'hui, notre thème principal est la cinquième séance : configuration de l'environnement et chaîne d'outils. Un environnement de développement robuste constitue la base de tous les développements d'opérateurs et optimisations système à venir. J'espère que vous suivrez attentivement cette séance pour configurer votre pile système de bas niveau.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Avant de commencer la pratique, passons en revue la planification des projets de ce cours. L'ensemble du système expérimental est divisé en quatre phases principales. Nous sommes actuellement à la séance 5, soit le premier travaux pratiques, avec pour tâche principale de compléter la validation en quatre étapes de la configuration de l'environnement et de la chaîne d'outils, et de soumettre un rapport de laboratoire. Par la suite, à la séance 9, vous devrez compléter individuellement le projet de mi-semestre sur la conception de la fonction kernel softmax, avec des critères d'évaluation incluant l'exactitude et l'atteinte d'un seuil de performance spécifique. Pour la phase finale, deux projets individuels sont proposés : l'un sur la fusion normalisation de couche et résidu, dont la performance doit approcher la bibliothèque de référence ; l'autre consiste à contribuer des passes d'optimisation au moteur de compilation. Le grand projet final est un travail de groupe à trois sur l'entraînement distribué multi-machine d'un grand modèle de 7 milliards de paramètres, nécessitant une comparaison approfondie de trois stratégies de parallélisation et une analyse de l'accélération linéaire, avec une soutenance finale.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Cette séance est une introduction importante à la pile logicielle système complet. Dans FlagOS écosystème, nous abordons le découplage modèle-système-puce...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Avant de commencer, comprenons les objectifs de ce laboratoire. La maîtrise de l'environnement est la base pour développer des opérateurs...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Ici, nous détaillons les prérequis matériels et logiciels. NVIDIA GPU avec Compute Capability ≥ 8.0...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Passons aux étapes concrètes. Docker ou Conda, deux environnements au choix...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Pour les parties NVCC et CUDA : d'abord vérifier la version du compilateur...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Hello World Triton Kernel : un test simple pour valider l'environnement...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Conditions de soumission et critères d'évaluation : rapport PDF + code source...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767171">
                    <a:alpha val="100000"/>
                  </a:srgbClr>
                </a:solidFill>
              </a:defRPr>
            </a:lvl1pPr>
          </a:lstStyle>
          <a:p>
            <a:r>
              <a:t>Dans ce cours, nous apprenons le modèle d'exécution GPU kernel et le modèle de programmation Triton...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Pourquoi commencer par l'addition vectorielle ? Le principe est très simple...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Avant d'entrer dans les détails, connaissez les caractéristiques de Triton. OpenAI a développé Triton comme un langage 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Pour comprendre Triton, il faut maîtriser son modèle d'exécution. L'unité d'exécution est le program...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Bien, formalisons le problème de l'addition vectorielle. Deux vecteurs a et 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Voici l'exemple officiel de noyau Triton pour l'addition vectorielle...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program_id est l'API la plus fondamentale...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Le calcul de l'offset détermine quelle partie des données chaque bloc traite...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tl.arange génère un tableau d'indices local...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Le mask empêche les accès mémoire hors limites...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Voyons le fonctionnement du mask avec un exemple concret...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tl.load charge les données depuis la mémoire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tl.store écrit les résultats en mémoire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Définir la grille pour le lancement du noyau...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Pourquoi utiliser lambda avec cdiv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La syntaxe [] lance le noyau Triton...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Comparons Triton avec CUDA...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Les benchmarks officiels montrent les avantages de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Passons en revue le flux complet...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Résumons les concepts clés de Vector Add...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Voici les ressources avancées...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Dans ce cours, nous allons apprendre l'optimisation de la multiplication matricielle...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Commençons par les bases de la multiplication matricielle...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Examinons d'abord les problèmes de l'implémentation naive 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 goulot d'étranglement principal est la bande passante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Pourquoi le Tiling est-il nécessaire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L'idée de base du Tiling est de diviser les matrices en blocs...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 flux de calcul Tile suit un ordre défini...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 principe de réutilisation des données...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Analysons le rapport calcul vs accès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L'Arithmetic Intensity est un indicateur clé...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 Roofline Model analyse les limites de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Comment le Tiling améliore les performances...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 Tiling dans Triton...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 program_id multidimensionnel...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Le calcul des indices Tile...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La boucle sur la dimension 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L'accumulateur local...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L'écriture vers Global Memory...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99A1AF">
                    <a:alpha val="100000"/>
                  </a:srgbClr>
                </a:solidFill>
                <a:latin typeface="MiSans" panose="00000500000000000000" charset="-122"/>
              </a:defRPr>
            </a:lvl1pPr>
          </a:lstStyle>
          <a:p>
            <a:r>
              <a:t>Les limites de capacité mémoire et le calcul streaming...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Exemple de Triton MatMul Kernel...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Résumé de cette partie...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t>Dans cette leçon, nous allons apprendre l'optimisation de la hiérarchie mémoire, en mettant l'accent sur les techniques d'optimisation de la mémoire partagée (Shared Memory) et du cache. Cette partie constitue des connaissances essentielles pour l'optimisation des performances GPU, nécessitant une compréhension de base de la structure matérielle du GPU. Nous présenterons successivement le système de hiérarchie mémoire du GPU, puis approfondirons les méthodes d'utilisation de la Shared Memory, le problème des conflits de banque (Bank Conflict) et leurs solutions, ainsi que les concepts de Memory Coalescing et de localité du cache. Enfin, nous utiliserons le cas typique du Reduction Kernel pour relier toutes ces connaissances.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hiérarchie mémoire du GPU, du plus rapide au plus lent, est : Register (registre), Shared Memory (mémoire partagée), L1 Cache (cache de niveau 1), L2 Cache (cache de niveau 2), Global Memory (mémoire globale).</a:t>
            </a:r>
            <a:br/>
            <a:r>
              <a:t>Le Register est le stockage le plus rapide, situé à l'intérieur du cœur du GPU, privé à chaque thread, avec une latence d'accès proche de zéro, mais d'une capacité extrêmement faible. La Global Memory offre la plus grande capacité, de l'ordre du Go, mais avec une latence d'accès pouvant atteindre 400 à 800 cycles d'horloge. L'écart de performance entre les deux est d'environ 100 fois. Comprendre cette hiérarchie est le point de départ de toute optimisation des performances GPU : essayer de garder les données dans les niveaux de stockage rapides et réduire les accès à la Global Memory.</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Register est le stockage le plus rapide dont chaque thread dispose exclusivement. Il est situé à l'intérieur du cœur de calcul du GPU, avec une vitesse d'accès extrêmement rapide, sans latence. Chaque thread possède son propre fichier de registres, invisible entre threads, garantissant ainsi l'indépendance des données. L'utilisation principale des registres est de stocker les variables locales, les compteurs de boucle, les résultats de calcul intermédiaires, etc.</a:t>
            </a:r>
            <a:br/>
            <a:r>
              <a:t>Il faut noter que lorsqu'un Kernel utilise trop de registres, le nombre de threads pouvant résider simultanément sur un SM diminue (l'occupancy chute), ce qui affecte le parallélisme. C'est le compromis de l'utilisation des registres : en utiliser plus pour réduire les accès mémoire, mais contrôler le total pour ne pas dépasser les limites matérielles.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Global Memory est la mémoire principale du GPU, avec une capacité de l'ordre du Go, accessible par tous les threads. C'est l'endroit où sont stockés les grands tenseurs (comme les poids du modèle, les valeurs d'activation). Mais sa latence est très élevée, environ 400 à 800 cycles d'horloge.</a:t>
            </a:r>
            <a:br/>
            <a:r>
              <a:t>Cela signifie que si un thread accède à la Global Memory, il doit attendre plusieurs centaines de cycles d'horloge pour obtenir les données, pendant lesquels les unités de calcul du GPU sont inactives. Bien que le GPU puisse masquer une partie de la latence par la commutation de warps, si le volume d'accès est trop important, la latence ne peut pas être entièrement masquée et les performances chutent considérablement. Par conséquent, l'une des stratégies clés pour optimiser un Kernel GPU consiste à réduire autant que possible les accès à la Global Memory, ou à améliorer les modes d'accès pour les rendre plus favorables au cache.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Shared Memory est une mémoire rapide sur puce, située à l'intérieur du SM (Streaming Multiprocessor). Comparée à la Global Memory, sa latence d'accès n'est que d'environ 20 cycles d'horloge, soit 20 à 40 fois plus rapide, mais sa capacité par SM est limitée, généralement 48KB ou 96KB selon les architectures.</a:t>
            </a:r>
            <a:br/>
            <a:r>
              <a:t>La caractéristique clé de la Shared Memory est que tous les threads d'un même thread block peuvent y accéder de manière partagée, ce qui permet de transmettre des données entre threads ou de partager des résultats de calcul. En termes d'utilisation, la Shared Memory sert principalement de cache L1 contrôlé par l'utilisateur : le programmeur charge explicitement les données de la Global Memory dans la Shared Memory, puis effectue des lectures/écritures fréquentes dans la Shared Memory, et enfin réécrit les résultats dans la Global Memory. Cette approche réduit considérablement la latence et améliore le taux de réutilisation des données.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Pourquoi Shared Memory est-elle beaucoup plus rapide que Global Memory ? Physiquement, Shared Memory est située à l'intérieur du SM, à proximité des unités de calcul ; tandis que Global Memory se trouve dans la DRAM externe à la puce GPU, nécessitant un transfert via plusieurs niveaux de bus. La distance physique est grande et la latence de transfert est élevée.</a:t>
            </a:r>
            <a:br/>
            <a:r>
              <a:t>Une analogie imagée : Global Memory équivaut au disque, Shared Memory au cache L1 du CPU, et Register aux registres. En programmation CPU, nous savons tous l'importance de réduire les effets de cache miss — en programmation GPU, le principe est exactement le même, avec simplement plus de niveaux et des écarts plus importants. Comparaison de vitesse : Global Memory environ 400-800 cycles, Shared Memory environ 20 cycles, soit 20 à 40 fois moins. Cet écart justifie pleinement l'effort pour utiliser pleinement Shared Memory.</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t>Voici un exemple d'utilisation de Shared Memory en CUDA. Méthode de déclaration : dans une fonction Kernel, utilisez __shared__ float tile[32][32] pour déclarer un tableau de mémoire partagée de 32x32. Cette mémoire est partagée entre tous les threads du même thread block.</a:t>
            </a:r>
            <a:br/>
            <a:r>
              <a:t>Le processus d'utilisation comporte quatre étapes : premièrement, chaque thread charge l'élément correspondant depuis Global Memory vers Shared Memory selon son threadIdx ; deuxièmement, appelez __syncthreads() pour synchroniser les threads, en vous assurant que tous les threads ont terminé le chargement des données — cette étape est cruciale, car si elle est ignorée, certains threads pourraient commencer à lire les données avant que d'autres ne terminent le chargement ; troisièmement, lisez les données depuis Shared Memory pour effectuer les calculs ; quatrièmement, écrivez les résultats dans Global Memory. __syncthreads() est une primitive de synchronisation de type barrière en CUDA. Son utilisation incorrecte ou son omission est une source de bugs très courante en programmation CUDA.</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t>En comparant avec la méthode naïve, comprenons le principe d'optimisation de Shared Memory.</a:t>
            </a:r>
            <a:br/>
            <a:r>
              <a:t>Méthode naïve : chaque fois que des données sont nécessaires, on les lit directement depuis Global Memory. La latence est élevée (400-800 cycles), l'utilisation des données est faible, sans réutilisation. Méthode optimisée : première étape, charger les données depuis Global Memory vers Shared Memory (Global → Shared) ; deuxième étape, lire les données depuis Shared Memory vers Register pour effectuer les calculs (Shared → Register). Après un seul chargement, plusieurs threads d'un même block peuvent lire plusieurs fois les mêmes données depuis Shared Memory, avec seulement environ 20 cycles à chaque fois. Observation clé : on passe de "chaque calcul d'un élément nécessite un accès à Global Memory" dans l'approche naïve, à "charger en lot une seule fois dans Shared Memory pour un usage partagé". C'est la valeur essentielle de Shared Memory — un cache coopératif.</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La structure matérielle de la Shared Memory est une condition préalable à la compréhension des Bank Conflict. Au niveau matériel, la Shared Memory est divisée en plusieurs Bank, avec une configuration typique de 32 Bank. La conception de la structure Bank vise à permettre un accès parallèle : si 32 thread d'un warp accèdent respectivement à 32 Bank différentes, ces 32 accès peuvent être effectués en parallèle en un seul cycle d'horloge. C'est la situation idéale pour un accès efficace à la Shared Memory.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Le Bank Conflict est le "tueur de performances" de la Shared Memory. Lorsque plusieurs thread accèdent simultanément au même Bank, ces accès ne peuvent pas être parallélisés mais sont sérialisés, ce qui entraîne une augmentation du temps d'exécution d'un facteur N (N étant le nombre de thread accédant au même Bank). Pourquoi un Bank Conflict se produit-il ? La raison réside dans la règle de mappage entre les adresses de la Shared Memory et les Bank : le numéro de Bank correspondant à l'adresse addr = (addr / 4) % 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r>
              <a:t>La situation idéale sans Bank Conflict : chaque thread accède à un Bank différent. Par exemple, le thread 0 accède au Bank 0, le thread 1 accède au Bank 1, ..., le thread 31 accède au Bank 31. Ces 32 accès sont entièrement parallèles, offrant les performances optimales, ce qu'on appelle le "perfect access pattern". Dans la conception de Kernel réels, il faut autant que possible satisfaire cette condition : les thread adjacents au sein d'un warp doivent accéder à des adresses contiguës.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À l'inverse, si plusieurs thread accèdent au même Bank, un conflit se produit. Le cas le plus extrême est lorsque 32 thread accèdent tous au même Bank — appelé 32-way conflict, les accès sont sérialisés en 32 fois, la vitesse diminue d'un facteur 32, et l'avantage du Shared Memory est totalement perdu.</a:t>
            </a:r>
            <a:br/>
            <a:r>
              <a:t>Un scénario courant qui produit un Bank Conflict est : l'accès par colonne à un tableau Shared Memory bidimensionnel. Par exemple tile[32][32], thread i accède à tile[i][0], le numéro de Bank correspondant = (i*32) % 32 = 0, les 32 thread accèdent tous au Bank 0, produisant un 32-way conflict ! C'est le piège classique du Kernel de transposition de matrice, la page suivante donnera la solution.</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t>La technique la plus courante pour éviter le Bank Conflict est le Padding (remplissage). Remplacer tile[32][32] par tile[32][33], c'est-à-dire ajouter un élément de remplissage par ligne.</a:t>
            </a:r>
            <a:br/>
            <a:r>
              <a:t>Raison : après avoir ajouté le padding, thread i accédant à tile[i][0], le numéro de Bank = (i*33) % 32 = i (car 33 et 32 sont premiers entre eux), donc thread 0 accède au Bank 0, thread 1 au Bank 1, ..., thread 31 au Bank 31, sans aucun conflit. Cette ligne de padding n'a presque aucun coût de calcul, mais peut éliminer le Bank Conflict, apportant une amélioration significative des performances dans certains modes d'accès. C'est une petite astuce d'optimisation GPU qu'il vaut la peine de maîtriser.</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 Memory Coalescing (fusion d'accès mémoire) est la technique clé pour l'optimisation des accès au Global Memory. Son concept central est : si des thread adjacents d'un warp accèdent à des adresses contiguës de la mémoire globale, le matériel fusionne ces accès en une seule (ou quelques) transaction(s) mémoire, avec une efficacité maximale ; inversement, si chaque thread accède à des adresses dispersées, cela nécessite plusieurs transactions mémoire indépendantes, avec une utilisation de la bande passante très faible.</a:t>
            </a:r>
            <a:br/>
            <a:r>
              <a:t>Le mode d'accès idéal est : thread i accède à A[i], les thread adjacents accèdent à des adresses contiguës, constituant un coalesced access. Dans ce cas, les accès de 32 thread peuvent être fusionnés en 1 à 4 transactions mémoire de 128 octets, avec une utilisation de la bande passante proche de 100%.</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Un accès non regroupé (non-coalesced) entraîne une baisse grave des performances. Un exemple typique est l'accès avec un pas (stride access) : thread 0 accède à A[0], thread 1 accède à A[1000], thread 2 accède à A[2000], etc. Chaque thread accède à une adresse séparée par 1000 éléments, dépassant largement la taille d'une ligne de cache.</a:t>
            </a:r>
            <a:br/>
            <a:r>
              <a:t>Le résultat est que ces 32 accès ne peuvent pas être fusionnés et nécessitent 32 transactions mémoire indépendantes. Le taux d'utilisation de la bande passante n'est que d'environ 3 %, avec une perte de performance allant jusqu'à 32 fois. Dans les opérations matricielles, l'accès par ligne est généralement regroupé (les threads adjacents accèdent aux colonnes adjacentes d'une même ligne), tandis que l'accès par colonne (stride = largeur de ligne de la matrice) est non regroupé. C'est pourquoi l'opérateur de transposition matricielle nécessite une optimisation particulière — utiliser Shared Memory pour faire d'abord une lecture regroupée, puis une écriture regroupée.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localité du cache (Locality) est un concept clé pour comprendre les performances du cache. Elle se divise en deux types : localité temporelle (Temporal Locality) et localité spatiale (Spatial Locality).</a:t>
            </a:r>
            <a:br/>
            <a:r>
              <a:t>La localité temporelle : les données récemment accédées seront bientôt accédées à nouveau. Un exemple typique est une variable utilisée plusieurs fois dans une boucle. Exploiter la localité temporelle permet d'augmenter le taux de succès du cache. La localité spatiale : après avoir accédé à une adresse, les adresses voisines seront bientôt accédées. Un exemple typique est le parcours séquentiel d'un tableau. En exploitant la localité spatiale, non seulement l'élément cible est chargé dans la ligne de cache, mais aussi les éléments voisins, de sorte que les accès suivants réussissent. L'objectif d'optimisation est d'augmenter le taux de succès du cache — faire en sorte que le maximum d'accès aux données trouvent leur cible dans le cache, réduisant ainsi les requêtes à la mémoire globale lente.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La réduction est une classe classique de problèmes de calcul parallèle — étant donné un tableau A, calculer A[0] ⊕ A[1] ⊕ ... ⊕ A[n-1], où ⊕ peut être une addition, une multiplication, un maximum, un minimum ou toute autre opération associative. Le cas le plus courant est la somme : sum(A).</a:t>
            </a:r>
            <a:br/>
            <a:r>
              <a:t>La raison des mauvaises performances de la méthode naïve : des accès fréquents à la mémoire globale — chaque mise à jour de somme partielle nécessite des lecture et écriture dans la mémoire globale, avec une latence élevée et une grande consommation de bande passante, ce qui devient un goulot d'étranglement sérieux. L'approche correcte est d'utiliser Shared Memory pour effectuer d'abord une réduction locale au sein du bloc, puis de fusionner les résultats inter-blocs, ce qui est le schéma d'optimisation présenté dans la page suivante.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4A4A4A">
                    <a:alpha val="100000"/>
                  </a:srgbClr>
                </a:solidFill>
                <a:latin typeface="MiSans" panose="00000500000000000000" charset="-122"/>
              </a:defRPr>
            </a:lvl1pPr>
          </a:lstStyle>
          <a:p>
            <a:pPr indent="0" algn="l">
              <a:lnSpc>
                <a:spcPct val="100000"/>
              </a:lnSpc>
            </a:pPr>
            <a:r>
              <a:t>Le processus d'optimisation Reduction par Shared Memory se divise en trois etapes : premiere etape, Load - charger le bloc de donnees correspondant depuis Global Memory vers Shared Memory ; deuxieme etape, Reduce - effectuer l'operation de reduction dans Shared Memory (methode de reduction par demition), tous les resultats intermediaires sont completes dans Shared Memory, sans toucher a Global Memory ; troisieme etape, Write Back - le resultat final de reduction de chaque bloc est ecrit dans Global Memory par thread 0.</a:t>
            </a:r>
            <a:br/>
            <a:r>
              <a:t>L'avantage de cette approche : la grande majorite des operations de lecture et ecriture se font dans Shared Memory (environ 20 cycles) plutot que dans Global Memory (400-800 cycles), le volume d'acces a la memoire globale passe de O(N) a une seule operation d'ecriture par bloc, l'efficacite parallele est nettement amelioree.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Voici l'implementation concrete de CUDA Reduction Kernel. __shared__ float sdata[256] declare un tableau de memoire partagee de 256 elements ; les donnees de Global Memory sont chargees dans sdata, les positions hors limites sont remplies par 0 ; __syncthreads() synchronise, garantissant que toutes les donnees sont chargees ; la boucle de reduction principale : for(int s = blockDim.x/2; s &gt; 0; s &gt;&gt;= 1), chaque iteration divise le pas s par deux, les threads de la premiere moitie ajoutent l'element de leur position a celui situe a s pas, apres log2(blockDim.x) iterations, sdata[0] contient la somme de tous les elements du bloc ; chaque iteration necessite __syncthreads() pour synchroniser, evitant les conditions de course ; finalement, thread 0 ecrit sdata[0] dans Global Memory.</a:t>
            </a:r>
            <a:br/>
            <a:r>
              <a:t>La complexite temporelle de la reduction par demition est O(log N), beaucoup plus efficace que le O(N) sequentiel, utilisant pleinement le parallelisme du GPU.</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Enfin, regardons les effets de l'optimisation. Par rapport a l'implementation Naive, le Reduction Kernel optimise avec Shared Memory peut obtenir une amelioration de performance de 10 a 50 fois, le chiffre precis dependant de la taille du tableau et de la configuration materielle.</a:t>
            </a:r>
            <a:br/>
            <a:r>
              <a:t>Les trois sources de l'amelioration de performance : premierement, reduire le nombre d'acces a Global Memory - passant de lectures et ecritures dans la memoire globale a chaque operation, a la majorite des operations completees dans Shared Memory ; deuxiemement, ameliorer l'efficacite parallele - la reduction par demition utilise parallelement tous les threads ; troisiemement, exploiter pleinement la faible latence de Shared Memory - la reduction intra-bloc est extremement efficace. Ce cas montre parfaitement l'immense valeur de Shared Memory dans l'optimisation GPU. Cette partie du contenu se termine ici.</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contenu principal de cette neuvième leçon porte sur la présentation et l'explication du projet de mi-semestre du premier module. Nous allons nous concentrer sur un opérateur de base très classique et important, à savoir l'implémentation concrète du noyau Softmax.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d'approfondir le projet de mi-semestre, examinons d'abord une vue d'ensemble de tous les projets pratiques de ce cours. Vous pouvez voir qu'en plus du cours pratique sur la configuration de l'environnement et la chaîne d'outils, nous avons planifié quatre projets centraux. Celui que nous devons réaliser maintenant est le projet individuel de mi-semestre, c'est-à-dire l'implémentation du noyau Softmax. Ses critères d'évaluation portent sur l'exactitude du code et sur sa capacité à atteindre 70 % de la performance de référence. En fin de semestre, vous devrez également accomplir des évaluations avancées parmi la fusion RMSNorm avec résidu, la contribution FlagTree et l'entraînement distribué multi-machines du grand modèle de 7 milliards de paramètres, puis finaliser avec une soutenance de projet en groupe. C'est un processus progressif.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Examinons maintenant en detail les exigences de ce projet de mi-semestre. Tout dabord, le contexte du projet. Softmax est lun des operateurs les plus fondamentaux en apprentissage profond, omnipresent tant dans les mecanismes dattention des Transformer que dans diverses taches de classification. Implementer un Softmax efficace necessite de combiner le decoupage par blocs, la normalisation en ligne et loptimisation de la reduction, ce qui en fait un projet ideal pour evaluer vos competences du premier module. Lobjectif de ce projet est dutiliser le langage Triton pour implementer de zero un noyau Softmax numeriquement stable. Ce noyau doit supporter des tenseurs bidimensionnels de forme arbitraire et effectuer les calculs selon la derniere dimension. En termes de precision, lerreur absolue maximale doit etre inferieure a dix puissance moins cinq. En termes de performance, le debit doit atteindre au moins soixante-dix pour cent de limplementation native. Pour les etudiants souhaitant aller plus loin, nous proposons un objectif avance : enregistrer cet operateur dans le framework FlagGems et passer ses tests.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Pour atteindre les objectifs susmentionnes, vous devez suivre strictement les specifications dimplementation suivantes. Dabord, la stabilite numerique. Vous devez implementer un Safe Softmax, cest-a-dire soustraire la valeur maximale de chaque ligne avant de calculer lexponentielle, afin deviter absolument le depassement numerique ou les problemes de valeurs non numeriques ou infinies. Ensuite, les exigences structurelles du noyau. Nous specifions que chaque bloc de programme est responsable du traitement dune ligne de donnees. Lors de la lecture des donnees, il faut gerer les cas limites ou la longueur de ligne nest pas divisible par la taille de bloc via des instructions de chargement par blocs. Lensemble du processus de calcul se divise en trois etapes de reduction : premiere etape trouver la valeur maximale, deuxieme etape calculer la somme des exponentielles, troisieme etape effectuer la normalisation et ecrire dans la memoire video. Enfin, la specification de linterface, vous devez implementer une signature de fonction specifique, recevant et retournant un objet tenseur de meme forme.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Apres avoir ecrit le code, des tests et validations stricts sont indispensables. Les tests de correction se divisent en trois dimensions : base, limites et precision. Le cas de base est un tenseur de forme cent vingt-huit fois deux cent cinquante-six en simple precision. Les cas limites doivent couvrir un nombre de colonnes egal a un, un nombre de colonnes egal a soixante-cinq mille cinq cent trente-sept qui nest pas une puissance de deux, ainsi que le cas extreme dun nombre de lignes egal a un. Les tests de precision requierent une erreur absolue maximale inferieure a dix puissance moins cinq. Pour les benchmarks de performance, nous simulerons des scenarii reels de mecanismes dattention des Transformer avec une forme de test definie a mille vingt-quatre fois quatre mille quatre-vingt-seize. Vous devez utiliser des outils de test et indiquer dans votre rapport les deux indicateurs principaux : le taux dutilisation de la bande passante memoire et la latence.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Veuillez verifier attentivement la liste des elements a soumettre et les criteres devaluation. Vous devez soumettre un script Python contenant limplementation du noyau et le code de test, ainsi quun rapport dexperience de moins de quatre pages. Le rapport doit inclure lapproche dimplementation, les captures decran de validation et les graphiques de comparaison de performances. Si vous avez termine la tache avancee, veuillez joindre le lien de la demande de fusion ou le fichier diff. Le score maximum est de cent points plus cinq points bonus. Lexactitude du code compte pour quarante points, la stabilite numerique pour quinze points, la performance de debit pour vingt-cinq points, le rapport dexperience pour quinze points. Le rapport doit analyser le choix de la taille de bloc et limpact sur le taux doccupation. Lintegration avancee FlagGems peut donner cinq points bonus supplementaires. Jespere que vous pourrez explorer les performances materielles autant que possible tout en garantissant lexactitude.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Pour combler l'immense fossé entre le matériel hétérogène sous-jacent et les modèles complexes de couche supérieure, nous avons besoin d'une pile logicielle d'IA unifiée similaire à un système d'exploitation, comme FlagOS de BAAI. Du diagramme d'architecture en couches, on peut voir que FlagOS abstrait et supporte Nvidia, divers NPU, et même RISC-V et autres matériels de calcul hétérogènes, supportant diverses capacités d'apprentissage automatique et d'applications de grands modèles. En fournissant des bibliothèques de noyaux de calcul comme FlagGems, des interfaces unifiées, et des capacités de partitionnement de calcul à multi-dimension, FlagOS vise à réaliser le déploiement et la migration sans friction des applications d'IA sur différentes formes de systèmes tels que les AI PC et les robots périphériques.</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Ceci conclut l'introduction au cours et le panorama du matériel AI. J'espère que nous pourrons approfondir ensemble les concepts de l'ensemble du système.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Merci à tous lescodeants et aux entreprises pour leur soutien. Rendez-vous au prochain cours.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p:nvPr>
            <p:ph type="body" sz="quarter" idx="25" hasCustomPrompt="1"/>
          </p:nvPr>
        </p:nvSpPr>
        <p:spPr>
          <a:xfrm>
            <a:off x="838200" y="6356350"/>
            <a:ext cx="2743200" cy="365125"/>
          </a:xfrm>
          <a:prstGeom prst="rect">
            <a:avLst/>
          </a:prstGeom>
          <a:noFill/>
          <a:ln w="12700">
            <a:noFill/>
            <a:prstDash val="solid"/>
          </a:ln>
        </p:spPr>
        <p:txBody>
          <a:bodyPr wrap="square" lIns="91440" tIns="45720" rIns="91440" bIns="45720" anchor="t">
            <a:noAutofit/>
          </a:bodyPr>
          <a:lstStyle>
            <a:lvl1pPr algn="l">
              <a:lnSpc>
                <a:spcPct val="100000"/>
              </a:lnSpc>
              <a:defRPr sz="1400" b="0" i="0" u="none" strike="noStrike" spc="0">
                <a:solidFill>
                  <a:srgbClr val="000000">
                    <a:alpha val="100000"/>
                  </a:srgbClr>
                </a:solidFill>
                <a:latin typeface="Arial" panose="020B0604020202020204"/>
              </a:defRPr>
            </a:lvl1pPr>
          </a:lstStyle>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2026/3/17</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ph type="body" sz="quarter" idx="26" hasCustomPrompt="1"/>
          </p:nvPr>
        </p:nvSpPr>
        <p:spPr>
          <a:xfrm>
            <a:off x="523874"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7"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8"/>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9"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30"/>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31"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image" Target="../media/image1.png"/><Relationship Id="rId17" Type="http://schemas.openxmlformats.org/officeDocument/2006/relationships/image" Target="../media/image5.png"/><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pic>
        <p:nvPicPr>
          <p:cNvPr id="1"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pic>
        <p:nvPicPr>
          <p:cNvPr id="6" name="Picture 6"/>
          <p:cNvPicPr>
            <a:picLocks noChangeAspect="1"/>
          </p:cNvPicPr>
          <p:nvPr/>
        </p:nvPicPr>
        <p:blipFill>
          <a:blip r:embed="rId16"/>
          <a:stretch>
            <a:fillRect/>
          </a:stretch>
        </p:blipFill>
        <p:spPr>
          <a:xfrm>
            <a:off x="9017000" y="5029200"/>
            <a:ext cx="2286000" cy="1371600"/>
          </a:xfrm>
          <a:prstGeom prst="rect">
            <a:avLst/>
          </a:prstGeom>
        </p:spPr>
      </p:pic>
      <p:pic>
        <p:nvPicPr>
          <p:cNvPr id="7" name="图片 6" descr="logo-africa"/>
          <p:cNvPicPr>
            <a:picLocks noChangeAspect="1"/>
          </p:cNvPicPr>
          <p:nvPr userDrawn="1"/>
        </p:nvPicPr>
        <p:blipFill>
          <a:blip r:embed="rId17"/>
          <a:stretch>
            <a:fillRect/>
          </a:stretch>
        </p:blipFill>
        <p:spPr>
          <a:xfrm>
            <a:off x="8021320" y="199390"/>
            <a:ext cx="991235" cy="41275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slideLayout" Target="../slideLayouts/slideLayout2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slideLayout" Target="../slideLayouts/slideLayout1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slideLayout" Target="../slideLayouts/slideLayout1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1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1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1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1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1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1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1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42.jpeg"/><Relationship Id="rId2" Type="http://schemas.openxmlformats.org/officeDocument/2006/relationships/slideLayout" Target="../slideLayouts/slideLayout1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12.png"/><Relationship Id="rId5" Type="http://schemas.openxmlformats.org/officeDocument/2006/relationships/slideLayout" Target="../slideLayouts/slideLayout13.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slideLayout" Target="../slideLayouts/slideLayout13.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1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52.jpeg"/><Relationship Id="rId2" Type="http://schemas.openxmlformats.org/officeDocument/2006/relationships/image" Target="../media/image53.jpeg"/><Relationship Id="rId3" Type="http://schemas.openxmlformats.org/officeDocument/2006/relationships/slideLayout" Target="../slideLayouts/slideLayout1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1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jpeg"/><Relationship Id="rId4" Type="http://schemas.openxmlformats.org/officeDocument/2006/relationships/image" Target="../media/image58.jpeg"/><Relationship Id="rId5" Type="http://schemas.openxmlformats.org/officeDocument/2006/relationships/image" Target="../media/image59.jpeg"/><Relationship Id="rId6" Type="http://schemas.openxmlformats.org/officeDocument/2006/relationships/image" Target="../media/image60.jpeg"/><Relationship Id="rId7" Type="http://schemas.openxmlformats.org/officeDocument/2006/relationships/slideLayout" Target="../slideLayouts/slideLayout13.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slideLayout" Target="../slideLayouts/slideLayout13.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slideLayout" Target="../slideLayouts/slideLayout13.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1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1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1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image" Target="../media/image72.png"/><Relationship Id="rId3" Type="http://schemas.openxmlformats.org/officeDocument/2006/relationships/slideLayout" Target="../slideLayouts/slideLayout13.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73.png"/><Relationship Id="rId2" Type="http://schemas.openxmlformats.org/officeDocument/2006/relationships/image" Target="../media/image74.png"/><Relationship Id="rId3" Type="http://schemas.openxmlformats.org/officeDocument/2006/relationships/slideLayout" Target="../slideLayouts/slideLayout13.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1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image" Target="../media/image77.jpeg"/><Relationship Id="rId2"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image" Target="../media/image78.jpeg"/><Relationship Id="rId2" Type="http://schemas.openxmlformats.org/officeDocument/2006/relationships/image" Target="../media/image79.png"/><Relationship Id="rId3" Type="http://schemas.openxmlformats.org/officeDocument/2006/relationships/slideLayout" Target="../slideLayouts/slideLayout13.xml"/><Relationship Id="rId4"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slideLayout" Target="../slideLayouts/slideLayout13.xml"/><Relationship Id="rId11"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slideLayout" Target="../slideLayouts/slideLayout13.xml"/><Relationship Id="rId10"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3.xml"/><Relationship Id="rId10"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image" Target="../media/image99.png"/><Relationship Id="rId2" Type="http://schemas.openxmlformats.org/officeDocument/2006/relationships/image" Target="../media/image100.png"/><Relationship Id="rId3" Type="http://schemas.openxmlformats.org/officeDocument/2006/relationships/slideLayout" Target="../slideLayouts/slideLayout13.xml"/><Relationship Id="rId4"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3.xml"/><Relationship Id="rId3"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7.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slideLayout" Target="../slideLayouts/slideLayout13.xml"/><Relationship Id="rId3" Type="http://schemas.openxmlformats.org/officeDocument/2006/relationships/notesSlide" Target="../notesSlides/notesSlide73.xml"/></Relationships>
</file>

<file path=ppt/slides/_rels/slide78.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104.png"/><Relationship Id="rId3" Type="http://schemas.openxmlformats.org/officeDocument/2006/relationships/slideLayout" Target="../slideLayouts/slideLayout13.xml"/><Relationship Id="rId4"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image" Target="../media/image105.png"/><Relationship Id="rId2" Type="http://schemas.openxmlformats.org/officeDocument/2006/relationships/slideLayout" Target="../slideLayouts/slideLayout13.xml"/><Relationship Id="rId3"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image" Target="../media/image106.png"/><Relationship Id="rId2" Type="http://schemas.openxmlformats.org/officeDocument/2006/relationships/image" Target="../media/image107.png"/><Relationship Id="rId3" Type="http://schemas.openxmlformats.org/officeDocument/2006/relationships/slideLayout" Target="../slideLayouts/slideLayout13.xml"/><Relationship Id="rId4"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image" Target="../media/image108.png"/><Relationship Id="rId2" Type="http://schemas.openxmlformats.org/officeDocument/2006/relationships/image" Target="../media/image109.png"/><Relationship Id="rId3" Type="http://schemas.openxmlformats.org/officeDocument/2006/relationships/slideLayout" Target="../slideLayouts/slideLayout14.xml"/><Relationship Id="rId4"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image" Target="../media/image110.png"/><Relationship Id="rId2" Type="http://schemas.openxmlformats.org/officeDocument/2006/relationships/image" Target="../media/image111.png"/><Relationship Id="rId3" Type="http://schemas.openxmlformats.org/officeDocument/2006/relationships/slideLayout" Target="../slideLayouts/slideLayout13.xml"/><Relationship Id="rId4"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hyperlink" Target="https://github.com/triton-lang/triton" TargetMode="External"/><Relationship Id="rId2" Type="http://schemas.openxmlformats.org/officeDocument/2006/relationships/hyperlink" Target="https://triton-lang.org/" TargetMode="Externa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slideLayout" Target="../slideLayouts/slideLayout13.xml"/><Relationship Id="rId8"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image" Target="../media/image115.png"/><Relationship Id="rId2" Type="http://schemas.openxmlformats.org/officeDocument/2006/relationships/slideLayout" Target="../slideLayouts/slideLayout13.xml"/><Relationship Id="rId3"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hyperlink" Target="https://triton-lang.org/main/index.html" TargetMode="External"/><Relationship Id="rId2" Type="http://schemas.openxmlformats.org/officeDocument/2006/relationships/hyperlink" Target="https://github.com/triton-lang/triton/tree/main/docs/meetups" TargetMode="External"/><Relationship Id="rId3" Type="http://schemas.openxmlformats.org/officeDocument/2006/relationships/hyperlink" Target="https://github.com/dao-ailab/flash-attention/blob/main/flash_attn/flash_attn_triton.py" TargetMode="External"/><Relationship Id="rId4" Type="http://schemas.openxmlformats.org/officeDocument/2006/relationships/slideLayout" Target="../slideLayouts/slideLayout13.xml"/><Relationship Id="rId5"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image" Target="../media/image116.png"/><Relationship Id="rId2" Type="http://schemas.openxmlformats.org/officeDocument/2006/relationships/slideLayout" Target="../slideLayouts/slideLayout13.xml"/><Relationship Id="rId3"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image" Target="../media/image117.png"/><Relationship Id="rId2" Type="http://schemas.openxmlformats.org/officeDocument/2006/relationships/slideLayout" Target="../slideLayouts/slideLayout17.xml"/><Relationship Id="rId3"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image" Target="../media/image118.png"/><Relationship Id="rId2" Type="http://schemas.openxmlformats.org/officeDocument/2006/relationships/slideLayout" Target="../slideLayouts/slideLayout17.xml"/><Relationship Id="rId3"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image" Target="../media/image119.png"/><Relationship Id="rId2" Type="http://schemas.openxmlformats.org/officeDocument/2006/relationships/slideLayout" Target="../slideLayouts/slideLayout17.xml"/><Relationship Id="rId3"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tags" Target="../tags/tag7.xml"/><Relationship Id="rId7" Type="http://schemas.openxmlformats.org/officeDocument/2006/relationships/tags" Target="../tags/tag8.xml"/><Relationship Id="rId8" Type="http://schemas.openxmlformats.org/officeDocument/2006/relationships/tags" Target="../tags/tag9.xml"/><Relationship Id="rId9" Type="http://schemas.openxmlformats.org/officeDocument/2006/relationships/tags" Target="../tags/tag10.xml"/><Relationship Id="rId10" Type="http://schemas.openxmlformats.org/officeDocument/2006/relationships/tags" Target="../tags/tag11.xml"/><Relationship Id="rId11" Type="http://schemas.openxmlformats.org/officeDocument/2006/relationships/tags" Target="../tags/tag12.xml"/><Relationship Id="rId12" Type="http://schemas.openxmlformats.org/officeDocument/2006/relationships/tags" Target="../tags/tag13.xml"/><Relationship Id="rId13" Type="http://schemas.openxmlformats.org/officeDocument/2006/relationships/tags" Target="../tags/tag14.xml"/><Relationship Id="rId14" Type="http://schemas.openxmlformats.org/officeDocument/2006/relationships/tags" Target="../tags/tag15.xml"/><Relationship Id="rId15" Type="http://schemas.openxmlformats.org/officeDocument/2006/relationships/tags" Target="../tags/tag16.xml"/><Relationship Id="rId16" Type="http://schemas.openxmlformats.org/officeDocument/2006/relationships/tags" Target="../tags/tag17.xml"/><Relationship Id="rId17" Type="http://schemas.openxmlformats.org/officeDocument/2006/relationships/tags" Target="../tags/tag18.xml"/><Relationship Id="rId18" Type="http://schemas.openxmlformats.org/officeDocument/2006/relationships/tags" Target="../tags/tag19.xml"/><Relationship Id="rId19" Type="http://schemas.openxmlformats.org/officeDocument/2006/relationships/tags" Target="../tags/tag20.xml"/><Relationship Id="rId20" Type="http://schemas.openxmlformats.org/officeDocument/2006/relationships/tags" Target="../tags/tag21.xml"/><Relationship Id="rId21" Type="http://schemas.openxmlformats.org/officeDocument/2006/relationships/tags" Target="../tags/tag22.xml"/><Relationship Id="rId22" Type="http://schemas.openxmlformats.org/officeDocument/2006/relationships/tags" Target="../tags/tag23.xml"/><Relationship Id="rId23" Type="http://schemas.openxmlformats.org/officeDocument/2006/relationships/tags" Target="../tags/tag24.xml"/><Relationship Id="rId24" Type="http://schemas.openxmlformats.org/officeDocument/2006/relationships/tags" Target="../tags/tag25.xml"/><Relationship Id="rId25" Type="http://schemas.openxmlformats.org/officeDocument/2006/relationships/tags" Target="../tags/tag26.xml"/><Relationship Id="rId26" Type="http://schemas.openxmlformats.org/officeDocument/2006/relationships/tags" Target="../tags/tag27.xml"/><Relationship Id="rId27" Type="http://schemas.openxmlformats.org/officeDocument/2006/relationships/tags" Target="../tags/tag28.xml"/><Relationship Id="rId28" Type="http://schemas.openxmlformats.org/officeDocument/2006/relationships/tags" Target="../tags/tag29.xml"/><Relationship Id="rId29" Type="http://schemas.openxmlformats.org/officeDocument/2006/relationships/tags" Target="../tags/tag30.xml"/><Relationship Id="rId30" Type="http://schemas.openxmlformats.org/officeDocument/2006/relationships/tags" Target="../tags/tag31.xml"/><Relationship Id="rId31" Type="http://schemas.openxmlformats.org/officeDocument/2006/relationships/tags" Target="../tags/tag32.xml"/><Relationship Id="rId32" Type="http://schemas.openxmlformats.org/officeDocument/2006/relationships/tags" Target="../tags/tag33.xml"/><Relationship Id="rId33" Type="http://schemas.openxmlformats.org/officeDocument/2006/relationships/tags" Target="../tags/tag34.xml"/><Relationship Id="rId34" Type="http://schemas.openxmlformats.org/officeDocument/2006/relationships/tags" Target="../tags/tag35.xml"/><Relationship Id="rId35" Type="http://schemas.openxmlformats.org/officeDocument/2006/relationships/tags" Target="../tags/tag36.xml"/><Relationship Id="rId36" Type="http://schemas.openxmlformats.org/officeDocument/2006/relationships/tags" Target="../tags/tag37.xml"/><Relationship Id="rId37" Type="http://schemas.openxmlformats.org/officeDocument/2006/relationships/tags" Target="../tags/tag38.xml"/><Relationship Id="rId38" Type="http://schemas.openxmlformats.org/officeDocument/2006/relationships/tags" Target="../tags/tag39.xml"/><Relationship Id="rId39" Type="http://schemas.openxmlformats.org/officeDocument/2006/relationships/tags" Target="../tags/tag40.xml"/><Relationship Id="rId40" Type="http://schemas.openxmlformats.org/officeDocument/2006/relationships/tags" Target="../tags/tag41.xml"/><Relationship Id="rId41" Type="http://schemas.openxmlformats.org/officeDocument/2006/relationships/slideLayout" Target="../slideLayouts/slideLayout17.xml"/><Relationship Id="rId42"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image" Target="../media/image120.png"/><Relationship Id="rId2" Type="http://schemas.openxmlformats.org/officeDocument/2006/relationships/slideLayout" Target="../slideLayouts/slideLayout17.xml"/><Relationship Id="rId3"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 Id="rId7" Type="http://schemas.openxmlformats.org/officeDocument/2006/relationships/tags" Target="../tags/tag48.xml"/><Relationship Id="rId8" Type="http://schemas.openxmlformats.org/officeDocument/2006/relationships/tags" Target="../tags/tag49.xml"/><Relationship Id="rId9" Type="http://schemas.openxmlformats.org/officeDocument/2006/relationships/tags" Target="../tags/tag50.xml"/><Relationship Id="rId10" Type="http://schemas.openxmlformats.org/officeDocument/2006/relationships/tags" Target="../tags/tag51.xml"/><Relationship Id="rId11" Type="http://schemas.openxmlformats.org/officeDocument/2006/relationships/tags" Target="../tags/tag52.xml"/><Relationship Id="rId12" Type="http://schemas.openxmlformats.org/officeDocument/2006/relationships/tags" Target="../tags/tag53.xml"/><Relationship Id="rId13" Type="http://schemas.openxmlformats.org/officeDocument/2006/relationships/tags" Target="../tags/tag54.xml"/><Relationship Id="rId14" Type="http://schemas.openxmlformats.org/officeDocument/2006/relationships/tags" Target="../tags/tag55.xml"/><Relationship Id="rId15" Type="http://schemas.openxmlformats.org/officeDocument/2006/relationships/slideLayout" Target="../slideLayouts/slideLayout17.xml"/><Relationship Id="rId16"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tags" Target="../tags/tag57.xml"/><Relationship Id="rId3" Type="http://schemas.openxmlformats.org/officeDocument/2006/relationships/tags" Target="../tags/tag58.xml"/><Relationship Id="rId4" Type="http://schemas.openxmlformats.org/officeDocument/2006/relationships/tags" Target="../tags/tag59.xml"/><Relationship Id="rId5" Type="http://schemas.openxmlformats.org/officeDocument/2006/relationships/tags" Target="../tags/tag60.xml"/><Relationship Id="rId6" Type="http://schemas.openxmlformats.org/officeDocument/2006/relationships/tags" Target="../tags/tag61.xml"/><Relationship Id="rId7" Type="http://schemas.openxmlformats.org/officeDocument/2006/relationships/tags" Target="../tags/tag62.xml"/><Relationship Id="rId8" Type="http://schemas.openxmlformats.org/officeDocument/2006/relationships/tags" Target="../tags/tag63.xml"/><Relationship Id="rId9" Type="http://schemas.openxmlformats.org/officeDocument/2006/relationships/slideLayout" Target="../slideLayouts/slideLayout17.xml"/><Relationship Id="rId10"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tags" Target="../tags/tag65.xml"/><Relationship Id="rId3" Type="http://schemas.openxmlformats.org/officeDocument/2006/relationships/tags" Target="../tags/tag66.xml"/><Relationship Id="rId4" Type="http://schemas.openxmlformats.org/officeDocument/2006/relationships/tags" Target="../tags/tag67.xml"/><Relationship Id="rId5" Type="http://schemas.openxmlformats.org/officeDocument/2006/relationships/tags" Target="../tags/tag68.xml"/><Relationship Id="rId6" Type="http://schemas.openxmlformats.org/officeDocument/2006/relationships/tags" Target="../tags/tag69.xml"/><Relationship Id="rId7" Type="http://schemas.openxmlformats.org/officeDocument/2006/relationships/tags" Target="../tags/tag70.xml"/><Relationship Id="rId8" Type="http://schemas.openxmlformats.org/officeDocument/2006/relationships/tags" Target="../tags/tag71.xml"/><Relationship Id="rId9" Type="http://schemas.openxmlformats.org/officeDocument/2006/relationships/tags" Target="../tags/tag72.xml"/><Relationship Id="rId10" Type="http://schemas.openxmlformats.org/officeDocument/2006/relationships/tags" Target="../tags/tag73.xml"/><Relationship Id="rId11" Type="http://schemas.openxmlformats.org/officeDocument/2006/relationships/tags" Target="../tags/tag74.xml"/><Relationship Id="rId12" Type="http://schemas.openxmlformats.org/officeDocument/2006/relationships/tags" Target="../tags/tag75.xml"/><Relationship Id="rId13" Type="http://schemas.openxmlformats.org/officeDocument/2006/relationships/slideLayout" Target="../slideLayouts/slideLayout17.xml"/><Relationship Id="rId14"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tags" Target="../tags/tag77.xml"/><Relationship Id="rId3" Type="http://schemas.openxmlformats.org/officeDocument/2006/relationships/tags" Target="../tags/tag78.xml"/><Relationship Id="rId4" Type="http://schemas.openxmlformats.org/officeDocument/2006/relationships/tags" Target="../tags/tag79.xml"/><Relationship Id="rId5" Type="http://schemas.openxmlformats.org/officeDocument/2006/relationships/tags" Target="../tags/tag80.xml"/><Relationship Id="rId6" Type="http://schemas.openxmlformats.org/officeDocument/2006/relationships/tags" Target="../tags/tag81.xml"/><Relationship Id="rId7" Type="http://schemas.openxmlformats.org/officeDocument/2006/relationships/tags" Target="../tags/tag82.xml"/><Relationship Id="rId8" Type="http://schemas.openxmlformats.org/officeDocument/2006/relationships/tags" Target="../tags/tag83.xml"/><Relationship Id="rId9" Type="http://schemas.openxmlformats.org/officeDocument/2006/relationships/tags" Target="../tags/tag84.xml"/><Relationship Id="rId10" Type="http://schemas.openxmlformats.org/officeDocument/2006/relationships/tags" Target="../tags/tag85.xml"/><Relationship Id="rId11" Type="http://schemas.openxmlformats.org/officeDocument/2006/relationships/slideLayout" Target="../slideLayouts/slideLayout17.xml"/><Relationship Id="rId12" Type="http://schemas.openxmlformats.org/officeDocument/2006/relationships/notesSlide" Target="../notesSlides/notesSlide143.xml"/></Relationships>
</file>

<file path=ppt/slides/_rels/slide148.xml.rels><?xml version='1.0' encoding='UTF-8' standalone='yes'?>
<Relationships xmlns="http://schemas.openxmlformats.org/package/2006/relationships"><Relationship Id="rId1" Type="http://schemas.openxmlformats.org/officeDocument/2006/relationships/tags" Target="../tags/tag86.xml"/><Relationship Id="rId2" Type="http://schemas.openxmlformats.org/officeDocument/2006/relationships/tags" Target="../tags/tag87.xml"/><Relationship Id="rId3" Type="http://schemas.openxmlformats.org/officeDocument/2006/relationships/tags" Target="../tags/tag88.xml"/><Relationship Id="rId4" Type="http://schemas.openxmlformats.org/officeDocument/2006/relationships/tags" Target="../tags/tag89.xml"/><Relationship Id="rId5" Type="http://schemas.openxmlformats.org/officeDocument/2006/relationships/tags" Target="../tags/tag90.xml"/><Relationship Id="rId6" Type="http://schemas.openxmlformats.org/officeDocument/2006/relationships/tags" Target="../tags/tag91.xml"/><Relationship Id="rId7" Type="http://schemas.openxmlformats.org/officeDocument/2006/relationships/tags" Target="../tags/tag92.xml"/><Relationship Id="rId8" Type="http://schemas.openxmlformats.org/officeDocument/2006/relationships/tags" Target="../tags/tag93.xml"/><Relationship Id="rId9" Type="http://schemas.openxmlformats.org/officeDocument/2006/relationships/tags" Target="../tags/tag94.xml"/><Relationship Id="rId10" Type="http://schemas.openxmlformats.org/officeDocument/2006/relationships/tags" Target="../tags/tag95.xml"/><Relationship Id="rId11" Type="http://schemas.openxmlformats.org/officeDocument/2006/relationships/slideLayout" Target="../slideLayouts/slideLayout17.xml"/><Relationship Id="rId12" Type="http://schemas.openxmlformats.org/officeDocument/2006/relationships/notesSlide" Target="../notesSlides/notesSlide14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6.xml"/></Relationships>
</file>

<file path=ppt/slides/_rels/slide151.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tags" Target="../tags/tag97.xml"/><Relationship Id="rId3" Type="http://schemas.openxmlformats.org/officeDocument/2006/relationships/tags" Target="../tags/tag98.xml"/><Relationship Id="rId4" Type="http://schemas.openxmlformats.org/officeDocument/2006/relationships/tags" Target="../tags/tag99.xml"/><Relationship Id="rId5" Type="http://schemas.openxmlformats.org/officeDocument/2006/relationships/tags" Target="../tags/tag100.xml"/><Relationship Id="rId6" Type="http://schemas.openxmlformats.org/officeDocument/2006/relationships/tags" Target="../tags/tag101.xml"/><Relationship Id="rId7" Type="http://schemas.openxmlformats.org/officeDocument/2006/relationships/slideLayout" Target="../slideLayouts/slideLayout17.xml"/><Relationship Id="rId8" Type="http://schemas.openxmlformats.org/officeDocument/2006/relationships/notesSlide" Target="../notesSlides/notesSlide147.xml"/></Relationships>
</file>

<file path=ppt/slides/_rels/slide152.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tags" Target="../tags/tag103.xml"/><Relationship Id="rId3" Type="http://schemas.openxmlformats.org/officeDocument/2006/relationships/tags" Target="../tags/tag104.xml"/><Relationship Id="rId4" Type="http://schemas.openxmlformats.org/officeDocument/2006/relationships/tags" Target="../tags/tag105.xml"/><Relationship Id="rId5" Type="http://schemas.openxmlformats.org/officeDocument/2006/relationships/tags" Target="../tags/tag106.xml"/><Relationship Id="rId6" Type="http://schemas.openxmlformats.org/officeDocument/2006/relationships/tags" Target="../tags/tag107.xml"/><Relationship Id="rId7" Type="http://schemas.openxmlformats.org/officeDocument/2006/relationships/slideLayout" Target="../slideLayouts/slideLayout17.xml"/><Relationship Id="rId8" Type="http://schemas.openxmlformats.org/officeDocument/2006/relationships/notesSlide" Target="../notesSlides/notesSlide14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5.xml"/></Relationships>
</file>

<file path=ppt/slides/_rels/slide160.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7.xml"/><Relationship Id="rId3" Type="http://schemas.openxmlformats.org/officeDocument/2006/relationships/notesSlide" Target="../notesSlides/notesSlide15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7.xml"/></Relationships>
</file>

<file path=ppt/slides/_rels/slide162.xml.rels><?xml version='1.0' encoding='UTF-8' standalone='yes'?>
<Relationships xmlns="http://schemas.openxmlformats.org/package/2006/relationships"><Relationship Id="rId1" Type="http://schemas.openxmlformats.org/officeDocument/2006/relationships/image" Target="../media/image122.png"/><Relationship Id="rId2" Type="http://schemas.openxmlformats.org/officeDocument/2006/relationships/slideLayout" Target="../slideLayouts/slideLayout17.xml"/><Relationship Id="rId3" Type="http://schemas.openxmlformats.org/officeDocument/2006/relationships/notesSlide" Target="../notesSlides/notesSlide158.xml"/></Relationships>
</file>

<file path=ppt/slides/_rels/slide163.xml.rels><?xml version='1.0' encoding='UTF-8' standalone='yes'?>
<Relationships xmlns="http://schemas.openxmlformats.org/package/2006/relationships"><Relationship Id="rId1" Type="http://schemas.openxmlformats.org/officeDocument/2006/relationships/image" Target="../media/image123.png"/><Relationship Id="rId2" Type="http://schemas.openxmlformats.org/officeDocument/2006/relationships/slideLayout" Target="../slideLayouts/slideLayout17.xml"/><Relationship Id="rId3" Type="http://schemas.openxmlformats.org/officeDocument/2006/relationships/notesSlide" Target="../notesSlides/notesSlide159.xml"/></Relationships>
</file>

<file path=ppt/slides/_rels/slide164.xml.rels><?xml version='1.0' encoding='UTF-8' standalone='yes'?>
<Relationships xmlns="http://schemas.openxmlformats.org/package/2006/relationships"><Relationship Id="rId1" Type="http://schemas.openxmlformats.org/officeDocument/2006/relationships/image" Target="../media/image124.png"/><Relationship Id="rId2" Type="http://schemas.openxmlformats.org/officeDocument/2006/relationships/slideLayout" Target="../slideLayouts/slideLayout17.xml"/><Relationship Id="rId3" Type="http://schemas.openxmlformats.org/officeDocument/2006/relationships/notesSlide" Target="../notesSlides/notesSlide16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2.xml"/></Relationships>
</file>

<file path=ppt/slides/_rels/slide167.xml.rels><?xml version='1.0' encoding='UTF-8' standalone='yes'?>
<Relationships xmlns="http://schemas.openxmlformats.org/package/2006/relationships"><Relationship Id="rId1" Type="http://schemas.openxmlformats.org/officeDocument/2006/relationships/image" Target="../media/image125.png"/><Relationship Id="rId2" Type="http://schemas.openxmlformats.org/officeDocument/2006/relationships/slideLayout" Target="../slideLayouts/slideLayout17.xml"/><Relationship Id="rId3" Type="http://schemas.openxmlformats.org/officeDocument/2006/relationships/notesSlide" Target="../notesSlides/notesSlide163.xml"/></Relationships>
</file>

<file path=ppt/slides/_rels/slide168.xml.rels><?xml version='1.0' encoding='UTF-8' standalone='yes'?>
<Relationships xmlns="http://schemas.openxmlformats.org/package/2006/relationships"><Relationship Id="rId1" Type="http://schemas.openxmlformats.org/officeDocument/2006/relationships/image" Target="../media/image126.png"/><Relationship Id="rId2" Type="http://schemas.openxmlformats.org/officeDocument/2006/relationships/slideLayout" Target="../slideLayouts/slideLayout17.xml"/><Relationship Id="rId3" Type="http://schemas.openxmlformats.org/officeDocument/2006/relationships/notesSlide" Target="../notesSlides/notesSlide164.xml"/></Relationships>
</file>

<file path=ppt/slides/_rels/slide169.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tags" Target="../tags/tag109.xml"/><Relationship Id="rId3" Type="http://schemas.openxmlformats.org/officeDocument/2006/relationships/tags" Target="../tags/tag110.xml"/><Relationship Id="rId4" Type="http://schemas.openxmlformats.org/officeDocument/2006/relationships/tags" Target="../tags/tag111.xml"/><Relationship Id="rId5" Type="http://schemas.openxmlformats.org/officeDocument/2006/relationships/tags" Target="../tags/tag112.xml"/><Relationship Id="rId6" Type="http://schemas.openxmlformats.org/officeDocument/2006/relationships/tags" Target="../tags/tag113.xml"/><Relationship Id="rId7" Type="http://schemas.openxmlformats.org/officeDocument/2006/relationships/tags" Target="../tags/tag114.xml"/><Relationship Id="rId8" Type="http://schemas.openxmlformats.org/officeDocument/2006/relationships/tags" Target="../tags/tag115.xml"/><Relationship Id="rId9" Type="http://schemas.openxmlformats.org/officeDocument/2006/relationships/tags" Target="../tags/tag116.xml"/><Relationship Id="rId10" Type="http://schemas.openxmlformats.org/officeDocument/2006/relationships/tags" Target="../tags/tag117.xml"/><Relationship Id="rId11" Type="http://schemas.openxmlformats.org/officeDocument/2006/relationships/tags" Target="../tags/tag118.xml"/><Relationship Id="rId12" Type="http://schemas.openxmlformats.org/officeDocument/2006/relationships/tags" Target="../tags/tag119.xml"/><Relationship Id="rId13" Type="http://schemas.openxmlformats.org/officeDocument/2006/relationships/tags" Target="../tags/tag120.xml"/><Relationship Id="rId14" Type="http://schemas.openxmlformats.org/officeDocument/2006/relationships/tags" Target="../tags/tag121.xml"/><Relationship Id="rId15" Type="http://schemas.openxmlformats.org/officeDocument/2006/relationships/tags" Target="../tags/tag122.xml"/><Relationship Id="rId16" Type="http://schemas.openxmlformats.org/officeDocument/2006/relationships/tags" Target="../tags/tag123.xml"/><Relationship Id="rId17" Type="http://schemas.openxmlformats.org/officeDocument/2006/relationships/tags" Target="../tags/tag124.xml"/><Relationship Id="rId18" Type="http://schemas.openxmlformats.org/officeDocument/2006/relationships/tags" Target="../tags/tag125.xml"/><Relationship Id="rId19" Type="http://schemas.openxmlformats.org/officeDocument/2006/relationships/tags" Target="../tags/tag126.xml"/><Relationship Id="rId20" Type="http://schemas.openxmlformats.org/officeDocument/2006/relationships/tags" Target="../tags/tag127.xml"/><Relationship Id="rId21" Type="http://schemas.openxmlformats.org/officeDocument/2006/relationships/slideLayout" Target="../slideLayouts/slideLayout17.xml"/><Relationship Id="rId22" Type="http://schemas.openxmlformats.org/officeDocument/2006/relationships/notesSlide" Target="../notesSlides/notesSlide165.xml"/></Relationships>
</file>

<file path=ppt/slides/_rels/slide170.xml.rels><?xml version='1.0' encoding='UTF-8' standalone='yes'?>
<Relationships xmlns="http://schemas.openxmlformats.org/package/2006/relationships"><Relationship Id="rId1" Type="http://schemas.openxmlformats.org/officeDocument/2006/relationships/image" Target="../media/image125.png"/><Relationship Id="rId2" Type="http://schemas.openxmlformats.org/officeDocument/2006/relationships/slideLayout" Target="../slideLayouts/slideLayout17.xml"/><Relationship Id="rId3" Type="http://schemas.openxmlformats.org/officeDocument/2006/relationships/notesSlide" Target="../notesSlides/notesSlide16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7.xml"/></Relationships>
</file>

<file path=ppt/slides/_rels/slide172.xml.rels><?xml version='1.0' encoding='UTF-8' standalone='yes'?>
<Relationships xmlns="http://schemas.openxmlformats.org/package/2006/relationships"><Relationship Id="rId1" Type="http://schemas.openxmlformats.org/officeDocument/2006/relationships/image" Target="../media/image127.jpeg"/><Relationship Id="rId2" Type="http://schemas.openxmlformats.org/officeDocument/2006/relationships/slideLayout" Target="../slideLayouts/slideLayout17.xml"/><Relationship Id="rId3" Type="http://schemas.openxmlformats.org/officeDocument/2006/relationships/notesSlide" Target="../notesSlides/notesSlide168.xml"/></Relationships>
</file>

<file path=ppt/slides/_rels/slide173.xml.rels><?xml version='1.0' encoding='UTF-8' standalone='yes'?>
<Relationships xmlns="http://schemas.openxmlformats.org/package/2006/relationships"><Relationship Id="rId1" Type="http://schemas.openxmlformats.org/officeDocument/2006/relationships/image" Target="../media/image122.png"/><Relationship Id="rId2" Type="http://schemas.openxmlformats.org/officeDocument/2006/relationships/slideLayout" Target="../slideLayouts/slideLayout17.xml"/><Relationship Id="rId3" Type="http://schemas.openxmlformats.org/officeDocument/2006/relationships/notesSlide" Target="../notesSlides/notesSlide169.xml"/></Relationships>
</file>

<file path=ppt/slides/_rels/slide174.xml.rels><?xml version='1.0' encoding='UTF-8' standalone='yes'?>
<Relationships xmlns="http://schemas.openxmlformats.org/package/2006/relationships"><Relationship Id="rId1" Type="http://schemas.openxmlformats.org/officeDocument/2006/relationships/image" Target="../media/image128.png"/><Relationship Id="rId2" Type="http://schemas.openxmlformats.org/officeDocument/2006/relationships/slideLayout" Target="../slideLayouts/slideLayout17.xml"/><Relationship Id="rId3" Type="http://schemas.openxmlformats.org/officeDocument/2006/relationships/notesSlide" Target="../notesSlides/notesSlide170.xml"/></Relationships>
</file>

<file path=ppt/slides/_rels/slide175.xml.rels><?xml version='1.0' encoding='UTF-8' standalone='yes'?>
<Relationships xmlns="http://schemas.openxmlformats.org/package/2006/relationships"><Relationship Id="rId1" Type="http://schemas.openxmlformats.org/officeDocument/2006/relationships/image" Target="../media/image129.png"/><Relationship Id="rId2" Type="http://schemas.openxmlformats.org/officeDocument/2006/relationships/slideLayout" Target="../slideLayouts/slideLayout17.xml"/><Relationship Id="rId3" Type="http://schemas.openxmlformats.org/officeDocument/2006/relationships/notesSlide" Target="../notesSlides/notesSlide17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3.xml"/></Relationships>
</file>

<file path=ppt/slides/_rels/slide178.xml.rels><?xml version='1.0' encoding='UTF-8' standalone='yes'?>
<Relationships xmlns="http://schemas.openxmlformats.org/package/2006/relationships"><Relationship Id="rId1" Type="http://schemas.openxmlformats.org/officeDocument/2006/relationships/image" Target="../media/image130.png"/><Relationship Id="rId2" Type="http://schemas.openxmlformats.org/officeDocument/2006/relationships/slideLayout" Target="../slideLayouts/slideLayout17.xml"/><Relationship Id="rId3" Type="http://schemas.openxmlformats.org/officeDocument/2006/relationships/notesSlide" Target="../notesSlides/notesSlide17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6.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8.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0.xml"/></Relationships>
</file>

<file path=ppt/slides/_rels/slide185.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Relationship Id="rId3" Type="http://schemas.openxmlformats.org/officeDocument/2006/relationships/notesSlide" Target="../notesSlides/notesSlide181.xml"/></Relationships>
</file>

<file path=ppt/slides/_rels/slide18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hyperlink" Target="https://github.com/flagos-ai" TargetMode="External"/><Relationship Id="rId8" Type="http://schemas.openxmlformats.org/officeDocument/2006/relationships/hyperlink" Target="https://space.bilibili.com/3546791834290849" TargetMode="External"/><Relationship Id="rId9" Type="http://schemas.openxmlformats.org/officeDocument/2006/relationships/hyperlink" Target="https://www.zhihu.com/people/95-22-20-18/posts" TargetMode="External"/><Relationship Id="rId10" Type="http://schemas.openxmlformats.org/officeDocument/2006/relationships/hyperlink" Target="https://flagos.io/Home" TargetMode="External"/><Relationship Id="rId11" Type="http://schemas.openxmlformats.org/officeDocument/2006/relationships/image" Target="../media/image137.jpeg"/><Relationship Id="rId12" Type="http://schemas.openxmlformats.org/officeDocument/2006/relationships/image" Target="../media/image138.png"/><Relationship Id="rId13" Type="http://schemas.openxmlformats.org/officeDocument/2006/relationships/slideLayout" Target="../slideLayouts/slideLayout17.xml"/><Relationship Id="rId14" Type="http://schemas.openxmlformats.org/officeDocument/2006/relationships/notesSlide" Target="../notesSlides/notesSlide182.xml"/></Relationships>
</file>

<file path=ppt/slides/_rels/slide187.xml.rels><?xml version='1.0' encoding='UTF-8' standalone='yes'?>
<Relationships xmlns="http://schemas.openxmlformats.org/package/2006/relationships"><Relationship Id="rId1" Type="http://schemas.openxmlformats.org/officeDocument/2006/relationships/image" Target="../media/image139.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slideLayout" Target="../slideLayouts/slideLayout22.xml"/><Relationship Id="rId6" Type="http://schemas.openxmlformats.org/officeDocument/2006/relationships/notesSlide" Target="../notesSlides/notesSlide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30"/>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31" hasCustomPrompt="1"/>
          </p:nvPr>
        </p:nvSpPr>
        <p:spPr>
          <a:prstGeom prst="rect">
            <a:avLst/>
          </a:prstGeom>
        </p:spPr>
        <p:txBody>
          <a:bodyPr wrap="square" lIns="91440" tIns="45720" rIns="91440" bIns="45720" anchor="ctr">
            <a:noAutofit/>
          </a:bodyPr>
          <a:lstStyle>
            <a:lvl1pPr algn="l">
              <a:lnSpc>
                <a:spcPct val="92000"/>
              </a:lnSpc>
              <a:defRPr sz="4400" b="1" i="0" u="none" strike="noStrike" spc="0">
                <a:solidFill>
                  <a:srgbClr val="44546A">
                    <a:alpha val="100000"/>
                  </a:srgbClr>
                </a:solidFill>
                <a:latin typeface="微软雅黑" panose="020B0503020204020204" charset="-122"/>
              </a:defRPr>
            </a:lvl1pPr>
          </a:lstStyle>
          <a:p>
            <a:pPr indent="0" algn="l">
              <a:lnSpc>
                <a:spcPct val="92000"/>
              </a:lnSpc>
            </a:pPr>
            <a:r>
              <a:rPr>
                <a:sym typeface="+mn-ea"/>
              </a:rPr>
              <a:t>Systèmes de Calcul Intelligent</a:t>
            </a:r>
            <a:endParaRPr lang="en-US" b="1"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pPr>
            <a:r>
              <a:rPr>
                <a:sym typeface="+mn-ea"/>
              </a:rPr>
              <a:t>Fondements Logiciels et Matériels</a:t>
            </a:r>
            <a:endParaRPr lang="en-US" sz="4400" b="1"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logo-africa"/>
          <p:cNvPicPr>
            <a:picLocks noChangeAspect="1"/>
          </p:cNvPicPr>
          <p:nvPr/>
        </p:nvPicPr>
        <p:blipFill>
          <a:blip r:embed="rId4"/>
          <a:stretch>
            <a:fillRect/>
          </a:stretch>
        </p:blipFill>
        <p:spPr>
          <a:xfrm>
            <a:off x="8048625" y="250190"/>
            <a:ext cx="990000" cy="4122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1 : </a:t>
            </a:r>
            <a:r>
              <a:rPr lang="en-US" altLang="zh-CN"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Expos</a:t>
            </a:r>
            <a:r>
              <a:rPr lang="en-US" altLang="en-US"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Introductif</a:t>
            </a:r>
            <a:r>
              <a:rPr lang="en-US"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et </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AI A</a:t>
            </a:r>
            <a:r>
              <a:rPr lang="en-US" altLang="zh-CN"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per</a:t>
            </a:r>
            <a:r>
              <a:rPr lang="en-US" altLang="en-US"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ç</a:t>
            </a:r>
            <a:r>
              <a:rPr lang="en-US" altLang="zh-CN"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u Global</a:t>
            </a:r>
            <a:r>
              <a:rPr lang="en-US" sz="51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de Matériel</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p:nvPr/>
        </p:nvGraphicFramePr>
        <p:xfrm>
          <a:off x="215900" y="1333675"/>
          <a:ext cx="11760200" cy="5156835"/>
        </p:xfrm>
        <a:graphic>
          <a:graphicData uri="http://schemas.openxmlformats.org/drawingml/2006/table">
            <a:tbl>
              <a:tblPr firstRow="1" bandCol="1">
                <a:tableStyleId>{F5E4B644-D0C3-4EBC-B9ED-63DD680D83BC}</a:tableStyleId>
              </a:tblPr>
              <a:tblGrid>
                <a:gridCol w="958850"/>
                <a:gridCol w="3293745"/>
                <a:gridCol w="7507605"/>
              </a:tblGrid>
              <a:tr h="262255">
                <a:tc>
                  <a:txBody>
                    <a:bodyPr/>
                    <a:p>
                      <a:pPr marL="0" indent="0" algn="ctr">
                        <a:lnSpc>
                          <a:spcPct val="120000"/>
                        </a:lnSpc>
                      </a:pPr>
                      <a:r>
                        <a:rPr lang="en-US" altLang="zh-CN" sz="1200" spc="120"/>
                        <a:t>Semaine</a:t>
                      </a:r>
                      <a:endParaRPr lang="en-US" altLang="zh-CN" sz="1200" spc="120"/>
                    </a:p>
                  </a:txBody>
                  <a:tcPr marL="107950" marR="107950" marT="12700" marB="12700" anchor="ctr" anchorCtr="0">
                    <a:lnB w="12700">
                      <a:solidFill>
                        <a:schemeClr val="accent1"/>
                      </a:solidFill>
                      <a:prstDash val="solid"/>
                    </a:lnB>
                  </a:tcPr>
                </a:tc>
                <a:tc>
                  <a:txBody>
                    <a:bodyPr/>
                    <a:p>
                      <a:pPr marL="0" indent="0" algn="ctr">
                        <a:lnSpc>
                          <a:spcPct val="120000"/>
                        </a:lnSpc>
                      </a:pPr>
                      <a:r>
                        <a:rPr lang="en-US" altLang="zh-CN" sz="1200" spc="120"/>
                        <a:t>Module</a:t>
                      </a:r>
                      <a:endParaRPr lang="en-US" altLang="zh-CN" sz="1200" spc="120"/>
                    </a:p>
                  </a:txBody>
                  <a:tcPr marL="107950" marR="107950" marT="12700" marB="12700" anchor="ctr" anchorCtr="0">
                    <a:lnB w="12700">
                      <a:solidFill>
                        <a:schemeClr val="accent1"/>
                      </a:solidFill>
                      <a:prstDash val="solid"/>
                    </a:lnB>
                  </a:tcPr>
                </a:tc>
                <a:tc>
                  <a:txBody>
                    <a:bodyPr/>
                    <a:p>
                      <a:pPr marL="0" indent="0" algn="ctr">
                        <a:lnSpc>
                          <a:spcPct val="120000"/>
                        </a:lnSpc>
                      </a:pPr>
                      <a:r>
                        <a:rPr lang="en-US" altLang="zh-CN" sz="1200" spc="120"/>
                        <a:t>Contenu Principal</a:t>
                      </a:r>
                      <a:endParaRPr lang="en-US" altLang="zh-CN" sz="1200" spc="120"/>
                    </a:p>
                  </a:txBody>
                  <a:tcPr marL="107950" marR="107950" marT="12700" marB="12700" anchor="ctr" anchorCtr="0">
                    <a:lnB w="12700">
                      <a:solidFill>
                        <a:schemeClr val="accent1"/>
                      </a:solidFill>
                      <a:prstDash val="solid"/>
                    </a:lnB>
                  </a:tcPr>
                </a:tc>
              </a:tr>
              <a:tr h="420370">
                <a:tc>
                  <a:txBody>
                    <a:bodyPr/>
                    <a:p>
                      <a:pPr marL="0" indent="0" algn="ctr">
                        <a:lnSpc>
                          <a:spcPct val="120000"/>
                        </a:lnSpc>
                      </a:pPr>
                      <a:r>
                        <a:rPr lang="en-US" altLang="zh-CN" sz="1000" spc="60"/>
                        <a:t>1</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4">
                  <a:txBody>
                    <a:bodyPr/>
                    <a:p>
                      <a:pPr marL="0" indent="0" algn="l">
                        <a:lnSpc>
                          <a:spcPct val="120000"/>
                        </a:lnSpc>
                      </a:pPr>
                      <a:r>
                        <a:rPr lang="en-US" altLang="zh-CN" sz="1000" spc="60"/>
                        <a:t>Module 1 : Fondamentaux des Systèmes IA et Calcul Hétérogène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Architecture matérielle de l'IA ; défis de la loi de Moore et tendances du calcul hétérogène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2</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Modèle de programmation SIMT ; hiérarchie des threads et hiérarchie mémoire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3</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Analyse des chaînes d'appels des frameworks d'apprentissage profond ; Mémoire partagée et conflits de bank</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4</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Optimisation de la localité de cache ; Multiplication matricielle tuilée ; Introduction à Triton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19735">
                <a:tc>
                  <a:txBody>
                    <a:bodyPr/>
                    <a:p>
                      <a:pPr marL="0" indent="0" algn="ctr">
                        <a:lnSpc>
                          <a:spcPct val="120000"/>
                        </a:lnSpc>
                      </a:pPr>
                      <a:r>
                        <a:rPr lang="en-US" altLang="zh-CN" sz="1000" spc="60"/>
                        <a:t>5</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4">
                  <a:txBody>
                    <a:bodyPr/>
                    <a:p>
                      <a:pPr marL="0" indent="0" algn="l">
                        <a:lnSpc>
                          <a:spcPct val="120000"/>
                        </a:lnSpc>
                      </a:pPr>
                      <a:r>
                        <a:rPr lang="en-US" altLang="zh-CN" sz="1000" spc="60"/>
                        <a:t>Module 2 : Opérateurs IA Haute Performance et Ingénierie des Opérateurs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Principes du mécanisme d'attention Transformer ; conception et implémentation de FlashAttention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6</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Optimisation des opérateurs de convolution, normalisation et fonctions d'activation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7</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Techniques de fusion d'opérateurs ; débogage et profilage des opérateurs complexes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4155">
                <a:tc>
                  <a:txBody>
                    <a:bodyPr/>
                    <a:p>
                      <a:pPr marL="0" indent="0" algn="ctr">
                        <a:lnSpc>
                          <a:spcPct val="120000"/>
                        </a:lnSpc>
                      </a:pPr>
                      <a:r>
                        <a:rPr lang="en-US" altLang="zh-CN" sz="1000" spc="60"/>
                        <a:t>8</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Questions-réponses et discussion sur les TP des Modules 1 et 2</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9</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4">
                  <a:txBody>
                    <a:bodyPr/>
                    <a:p>
                      <a:pPr marL="0" indent="0" algn="l">
                        <a:lnSpc>
                          <a:spcPct val="120000"/>
                        </a:lnSpc>
                      </a:pPr>
                      <a:r>
                        <a:rPr lang="en-US" altLang="zh-CN" sz="1000" spc="60"/>
                        <a:t>Module 3 : Principes et Optimisation des Compilateurs IA</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Vue d'ensemble des compilateurs IA ; fondamentaux de la représentation intermédiaire (IR) ; SSA et graphes de calcul</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10</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Analyse approfondie de l'architecture MLIR</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11</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tcPr>
                </a:tc>
                <a:tc>
                  <a:txBody>
                    <a:bodyPr/>
                    <a:p>
                      <a:pPr marL="0" indent="0" algn="l">
                        <a:lnSpc>
                          <a:spcPct val="120000"/>
                        </a:lnSpc>
                      </a:pPr>
                      <a:r>
                        <a:rPr lang="en-US" altLang="zh-CN" sz="1000" spc="60"/>
                        <a:t>Passe de fusion d'opérateurs : correspondance de graphes, reconnaissance de motifs et réécriture de sous-graphes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12</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Disposition et planification mémoire ; génération de code backend multi-puce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19735">
                <a:tc>
                  <a:txBody>
                    <a:bodyPr/>
                    <a:p>
                      <a:pPr marL="0" indent="0" algn="ctr">
                        <a:lnSpc>
                          <a:spcPct val="120000"/>
                        </a:lnSpc>
                      </a:pPr>
                      <a:r>
                        <a:rPr lang="en-US" altLang="zh-CN" sz="1000" spc="60"/>
                        <a:t>13</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2">
                  <a:txBody>
                    <a:bodyPr/>
                    <a:p>
                      <a:pPr marL="0" indent="0" algn="l">
                        <a:lnSpc>
                          <a:spcPct val="120000"/>
                        </a:lnSpc>
                      </a:pPr>
                      <a:r>
                        <a:rPr lang="en-US" altLang="zh-CN" sz="1000" spc="60"/>
                        <a:t>Module 4 : Entraînement Parallèle Distribué et Communication</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Principes du parallélisme de données, parallélisme tensoriel et parallélisme de pipeline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223520">
                <a:tc>
                  <a:txBody>
                    <a:bodyPr/>
                    <a:p>
                      <a:pPr marL="0" indent="0" algn="ctr">
                        <a:lnSpc>
                          <a:spcPct val="120000"/>
                        </a:lnSpc>
                      </a:pPr>
                      <a:r>
                        <a:rPr lang="en-US" altLang="zh-CN" sz="1000" spc="60"/>
                        <a:t>14</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Primitives de communication et optimisation de topologie ; parallélisme hybride et optimisation mémoire</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20370">
                <a:tc>
                  <a:txBody>
                    <a:bodyPr/>
                    <a:p>
                      <a:pPr marL="0" indent="0" algn="ctr">
                        <a:lnSpc>
                          <a:spcPct val="120000"/>
                        </a:lnSpc>
                      </a:pPr>
                      <a:r>
                        <a:rPr lang="en-US" altLang="zh-CN" sz="1000" spc="60"/>
                        <a:t>15</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rowSpan="2">
                  <a:txBody>
                    <a:bodyPr/>
                    <a:p>
                      <a:pPr marL="0" indent="0" algn="l">
                        <a:lnSpc>
                          <a:spcPct val="120000"/>
                        </a:lnSpc>
                      </a:pPr>
                      <a:r>
                        <a:rPr lang="en-US" altLang="zh-CN" sz="1000" spc="60"/>
                        <a:t>Module 5 : Évaluation des Performances et Perspectives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a:txBody>
                    <a:bodyPr/>
                    <a:p>
                      <a:pPr marL="0" indent="0" algn="l">
                        <a:lnSpc>
                          <a:spcPct val="120000"/>
                        </a:lnSpc>
                      </a:pPr>
                      <a:r>
                        <a:rPr lang="en-US" altLang="zh-CN" sz="1000" spc="60"/>
                        <a:t>Métriques de performance des opérateurs ; réglage automatique des opérateurs ; génération de code assistée par LLM</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r h="419735">
                <a:tc>
                  <a:txBody>
                    <a:bodyPr/>
                    <a:p>
                      <a:pPr marL="0" indent="0" algn="ctr">
                        <a:lnSpc>
                          <a:spcPct val="120000"/>
                        </a:lnSpc>
                      </a:pPr>
                      <a:r>
                        <a:rPr lang="en-US" altLang="zh-CN" sz="1000" spc="60"/>
                        <a:t>16</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c vMerge="1">
                  <a:tcPr marL="107950" marR="107950" marT="12700" marB="12700" anchor="ctr" anchorCtr="0">
                    <a:lnL w="12700">
                      <a:solidFill>
                        <a:schemeClr val="accent1"/>
                      </a:solidFill>
                      <a:prstDash val="solid"/>
                    </a:lnL>
                    <a:lnR w="12700">
                      <a:solidFill>
                        <a:schemeClr val="accent1"/>
                      </a:solidFill>
                      <a:prstDash val="solid"/>
                    </a:lnR>
                    <a:lnB w="12700">
                      <a:solidFill>
                        <a:schemeClr val="accent1"/>
                      </a:solidFill>
                      <a:prstDash val="solid"/>
                    </a:lnB>
                  </a:tcPr>
                </a:tc>
                <a:tc>
                  <a:txBody>
                    <a:bodyPr/>
                    <a:p>
                      <a:pPr marL="0" indent="0" algn="l">
                        <a:lnSpc>
                          <a:spcPct val="120000"/>
                        </a:lnSpc>
                      </a:pPr>
                      <a:r>
                        <a:rPr lang="en-US" altLang="zh-CN" sz="1000" spc="60"/>
                        <a:t>Optimisation spécialisée pour les puces IA nationales ; écosystème FlagOS et perspectives technologiques ; résumé du cours</a:t>
                      </a:r>
                      <a:endParaRPr lang="en-US" altLang="zh-CN" sz="1000" spc="60"/>
                    </a:p>
                  </a:txBody>
                  <a:tcPr marL="107950" marR="107950" marT="12700" marB="12700" anchor="ctr" anchorCtr="0">
                    <a:lnL w="12700">
                      <a:solidFill>
                        <a:schemeClr val="accent1"/>
                      </a:solidFill>
                      <a:prstDash val="solid"/>
                    </a:lnL>
                    <a:lnR w="12700">
                      <a:solidFill>
                        <a:schemeClr val="accent1"/>
                      </a:solidFill>
                      <a:prstDash val="solid"/>
                    </a:lnR>
                    <a:lnT w="12700">
                      <a:solidFill>
                        <a:schemeClr val="accent1"/>
                      </a:solidFill>
                      <a:prstDash val="solid"/>
                    </a:lnT>
                    <a:lnB w="12700">
                      <a:solidFill>
                        <a:schemeClr val="accent1"/>
                      </a:solidFill>
                      <a:prstDash val="solid"/>
                    </a:lnB>
                    <a:lnTlToBr>
                      <a:noFill/>
                    </a:lnTlToBr>
                    <a:lnBlToTr>
                      <a:noFill/>
                    </a:lnBlToTr>
                  </a:tcPr>
                </a:tc>
              </a:tr>
            </a:tbl>
          </a:graphicData>
        </a:graphic>
      </p:graphicFrame>
      <p:sp>
        <p:nvSpPr>
          <p:cNvPr id="4" name="AutoShape 2"/>
          <p:cNvSpPr/>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05" b="0" i="0" u="none" strike="noStrike">
                <a:solidFill>
                  <a:srgbClr val="262626"/>
                </a:solidFill>
                <a:latin typeface="Calibri" panose="020F0502020204030204"/>
                <a:ea typeface="Calibri" panose="020F0502020204030204"/>
                <a:cs typeface="Calibri" panose="020F0502020204030204"/>
                <a:sym typeface="Calibri" panose="020F0502020204030204"/>
              </a:rPr>
              <a:t>Token A</a:t>
            </a:r>
            <a:r>
              <a:rPr lang="en-US" sz="290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pplications génératives intensives</a:t>
            </a:r>
            <a:r>
              <a:rPr lang="en-US" sz="290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 </a:t>
            </a:r>
            <a:r>
              <a:rPr lang="en-US" altLang="zh-CN" sz="291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d'AI</a:t>
            </a:r>
            <a:endParaRPr lang="en-US" altLang="zh-CN" sz="291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Agent Intelligent autonome basé sur </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un mod</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è</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le de langage à grande </a:t>
            </a:r>
            <a:r>
              <a:rPr lang="en-US" alt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chelle</a:t>
            </a:r>
            <a:endParaRPr lang="en-US" altLang="zh-CN"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sz="19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charset="0"/>
                <a:ea typeface="Calibri" panose="020F0502020204030204"/>
                <a:cs typeface="Calibri" panose="020F0502020204030204" charset="0"/>
                <a:sym typeface="Calibri" panose="020F0502020204030204"/>
              </a:rPr>
              <a:t>T</a:t>
            </a:r>
            <a:r>
              <a:rPr lang="en-US" sz="2000"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endances de consommation de </a:t>
            </a:r>
            <a:r>
              <a:rPr lang="en-US" sz="2000">
                <a:solidFill>
                  <a:srgbClr val="404040"/>
                </a:solidFill>
                <a:latin typeface="Calibri" panose="020F0502020204030204" charset="0"/>
                <a:ea typeface="Calibri" panose="020F0502020204030204"/>
                <a:cs typeface="Calibri" panose="020F0502020204030204" charset="0"/>
                <a:sym typeface="Calibri" panose="020F0502020204030204"/>
              </a:rPr>
              <a:t>Token</a:t>
            </a:r>
            <a:r>
              <a:rPr lang="en-US">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Source des images :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lilianweng.github.io</a:t>
            </a:r>
            <a:r>
              <a:rPr lang="en-US" sz="1400" b="0" i="0"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openrouter.ai</a:t>
            </a:r>
            <a:r>
              <a:rPr lang="en-US" sz="1400" b="0" i="0"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36kr.com</a:t>
            </a:r>
            <a:r>
              <a:rPr lang="en-US" sz="1400" b="0" i="0"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(Doubao mobile),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github.com/baaivision/URSA</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AI </a:t>
            </a:r>
            <a:r>
              <a:rPr lang="en-US" altLang="zh-CN"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Portable</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et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AI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Ordinateur</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Génération de vidéo</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911860" y="2083435"/>
            <a:ext cx="4410075" cy="174942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11860" y="4388485"/>
            <a:ext cx="3718560" cy="1896745"/>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666664" y="4388202"/>
            <a:ext cx="5134810" cy="1604628"/>
          </a:xfrm>
          <a:prstGeom prst="rect">
            <a:avLst/>
          </a:prstGeom>
          <a:ln w="12700">
            <a:noFill/>
            <a:prstDash val="solid"/>
          </a:ln>
        </p:spPr>
      </p:pic>
      <p:pic>
        <p:nvPicPr>
          <p:cNvPr id="10" name="Picture 10"/>
          <p:cNvPicPr>
            <a:picLocks noChangeAspect="1"/>
          </p:cNvPicPr>
          <p:nvPr/>
        </p:nvPicPr>
        <p:blipFill>
          <a:blip r:embed="rId4"/>
          <a:srcRect/>
          <a:stretch>
            <a:fillRect/>
          </a:stretch>
        </p:blipFill>
        <p:spPr>
          <a:xfrm>
            <a:off x="6666865" y="1762760"/>
            <a:ext cx="3328670" cy="1872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La lign</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e de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AI </a:t>
            </a: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matériel : Exemples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5450504" y="3763828"/>
            <a:ext cx="4847835" cy="2721497"/>
          </a:xfrm>
          <a:prstGeom prst="rect">
            <a:avLst/>
          </a:prstGeom>
          <a:ln w="12700">
            <a:noFill/>
            <a:prstDash val="solid"/>
          </a:ln>
        </p:spPr>
      </p:pic>
      <p:sp>
        <p:nvSpPr>
          <p:cNvPr id="7" name="AutoShape 7"/>
          <p:cNvSpPr/>
          <p:nvPr/>
        </p:nvSpPr>
        <p:spPr>
          <a:xfrm>
            <a:off x="419250" y="1978814"/>
            <a:ext cx="2160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548235"/>
                </a:solidFill>
                <a:latin typeface="Calibri" panose="020F0502020204030204" charset="-122"/>
                <a:ea typeface="微软雅黑" panose="020B0503020204020204" charset="-122"/>
                <a:cs typeface="微软雅黑" panose="020B0503020204020204" charset="-122"/>
                <a:sym typeface="微软雅黑" panose="020B0503020204020204" charset="-122"/>
              </a:rPr>
              <a:t> ML Cloud</a:t>
            </a:r>
            <a:endParaRPr lang="en-US" sz="1600"/>
          </a:p>
          <a:p>
            <a:pPr indent="0" algn="ctr">
              <a:lnSpc>
                <a:spcPct val="100000"/>
              </a:lnSpc>
            </a:pPr>
            <a:r>
              <a:rPr lang="en-US" sz="1600" b="0" i="0" u="none" strike="noStrike">
                <a:solidFill>
                  <a:srgbClr val="000000"/>
                </a:solidFill>
                <a:latin typeface="Calibri" panose="020F0502020204030204" charset="-122"/>
                <a:ea typeface="微软雅黑" panose="020B0503020204020204" charset="-122"/>
                <a:cs typeface="微软雅黑" panose="020B0503020204020204" charset="-122"/>
                <a:sym typeface="微软雅黑" panose="020B0503020204020204" charset="-122"/>
              </a:rPr>
              <a:t>Huawei Ascend</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00000"/>
              </a:lnSpc>
            </a:pPr>
            <a:r>
              <a:rPr lang="en-US" sz="1600" b="0" i="0" u="none" strike="noStrike">
                <a:solidFill>
                  <a:srgbClr val="000000"/>
                </a:solidFill>
                <a:latin typeface="Calibri" panose="020F0502020204030204" charset="-122"/>
                <a:ea typeface="微软雅黑" panose="020B0503020204020204" charset="-122"/>
                <a:cs typeface="微软雅黑" panose="020B0503020204020204" charset="-122"/>
                <a:sym typeface="微软雅黑" panose="020B0503020204020204" charset="-122"/>
              </a:rPr>
              <a:t>Cambricon</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MLU370</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600" b="0" i="0" u="none" strike="noStrike">
                <a:solidFill>
                  <a:srgbClr val="000000"/>
                </a:solidFill>
                <a:latin typeface="Calibri" panose="020F0502020204030204" charset="-122"/>
                <a:ea typeface="微软雅黑" panose="020B0503020204020204" charset="-122"/>
                <a:cs typeface="微软雅黑" panose="020B0503020204020204" charset="-122"/>
                <a:sym typeface="微软雅黑" panose="020B0503020204020204" charset="-122"/>
              </a:rPr>
              <a:t>etc.</a:t>
            </a:r>
            <a:endPar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9608070" y="1979221"/>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548235"/>
                </a:solidFill>
                <a:latin typeface="Calibri" panose="020F0502020204030204" charset="-122"/>
                <a:ea typeface="微软雅黑" panose="020B0503020204020204" charset="-122"/>
                <a:cs typeface="微软雅黑" panose="020B0503020204020204" charset="-122"/>
                <a:sym typeface="微软雅黑" panose="020B0503020204020204" charset="-122"/>
              </a:rPr>
              <a:t>EdgeML</a:t>
            </a:r>
            <a:endParaRPr lang="en-US" sz="1600"/>
          </a:p>
          <a:p>
            <a:pPr indent="0" algn="ctr">
              <a:lnSpc>
                <a:spcPct val="100000"/>
              </a:lnSpc>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Iluvatar</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TY1200</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568475" y="4868975"/>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altLang="zh-CN" sz="1600" b="1">
                <a:solidFill>
                  <a:srgbClr val="548235"/>
                </a:solidFill>
                <a:latin typeface="Calibri" panose="020F0502020204030204" charset="-122"/>
                <a:ea typeface="微软雅黑" panose="020B0503020204020204" charset="-122"/>
                <a:cs typeface="微软雅黑" panose="020B0503020204020204" charset="-122"/>
                <a:sym typeface="微软雅黑" panose="020B0503020204020204" charset="-122"/>
              </a:rPr>
              <a:t>ML</a:t>
            </a:r>
            <a:r>
              <a:rPr lang="en-US" sz="1600" b="1" i="0" u="none" strike="noStrike">
                <a:solidFill>
                  <a:srgbClr val="548235"/>
                </a:solidFill>
                <a:latin typeface="Calibri" panose="020F0502020204030204" charset="-122"/>
                <a:ea typeface="微软雅黑" panose="020B0503020204020204" charset="-122"/>
                <a:cs typeface="微软雅黑" panose="020B0503020204020204" charset="-122"/>
                <a:sym typeface="微软雅黑" panose="020B0503020204020204" charset="-122"/>
              </a:rPr>
              <a:t> Mobile</a:t>
            </a:r>
            <a:endParaRPr lang="en-US" sz="1600"/>
          </a:p>
          <a:p>
            <a:pPr indent="0" algn="ctr">
              <a:lnSpc>
                <a:spcPct val="100000"/>
              </a:lnSpc>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Kirin 9030 Pro</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9524787" y="4869029"/>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600" b="1" i="0" u="none" strike="noStrike">
                <a:solidFill>
                  <a:srgbClr val="548235"/>
                </a:solidFill>
                <a:latin typeface="Calibri" panose="020F0502020204030204" charset="-122"/>
                <a:ea typeface="微软雅黑" panose="020B0503020204020204" charset="-122"/>
                <a:cs typeface="微软雅黑" panose="020B0503020204020204" charset="-122"/>
                <a:sym typeface="微软雅黑" panose="020B0503020204020204" charset="-122"/>
              </a:rPr>
              <a:t>TinyML</a:t>
            </a:r>
            <a:endParaRPr lang="en-US" sz="1600"/>
          </a:p>
          <a:p>
            <a:pPr indent="0" algn="ctr">
              <a:lnSpc>
                <a:spcPct val="100000"/>
              </a:lnSpc>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Arduino Nano 33</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BLE Sense</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1" name="Picture 11"/>
          <p:cNvPicPr>
            <a:picLocks noChangeAspect="1"/>
          </p:cNvPicPr>
          <p:nvPr/>
        </p:nvPicPr>
        <p:blipFill>
          <a:blip r:embed="rId2"/>
          <a:srcRect/>
          <a:stretch>
            <a:fillRect/>
          </a:stretch>
        </p:blipFill>
        <p:spPr>
          <a:xfrm>
            <a:off x="6074410" y="1403350"/>
            <a:ext cx="3600000" cy="1751050"/>
          </a:xfrm>
          <a:prstGeom prst="rect">
            <a:avLst/>
          </a:prstGeom>
          <a:ln w="12700">
            <a:noFill/>
            <a:prstDash val="solid"/>
          </a:ln>
        </p:spPr>
      </p:pic>
      <p:pic>
        <p:nvPicPr>
          <p:cNvPr id="12" name="Picture 12"/>
          <p:cNvPicPr>
            <a:picLocks noChangeAspect="1"/>
          </p:cNvPicPr>
          <p:nvPr/>
        </p:nvPicPr>
        <p:blipFill>
          <a:blip r:embed="rId3"/>
          <a:srcRect/>
          <a:stretch>
            <a:fillRect/>
          </a:stretch>
        </p:blipFill>
        <p:spPr>
          <a:xfrm>
            <a:off x="3115945" y="3996055"/>
            <a:ext cx="2160000" cy="2160000"/>
          </a:xfrm>
          <a:prstGeom prst="rect">
            <a:avLst/>
          </a:prstGeom>
          <a:ln w="12700">
            <a:noFill/>
            <a:prstDash val="solid"/>
          </a:ln>
        </p:spPr>
      </p:pic>
      <p:pic>
        <p:nvPicPr>
          <p:cNvPr id="13" name="Picture 13"/>
          <p:cNvPicPr>
            <a:picLocks noChangeAspect="1"/>
          </p:cNvPicPr>
          <p:nvPr/>
        </p:nvPicPr>
        <p:blipFill>
          <a:blip r:embed="rId4"/>
          <a:srcRect/>
          <a:stretch>
            <a:fillRect/>
          </a:stretch>
        </p:blipFill>
        <p:spPr>
          <a:xfrm>
            <a:off x="2755900" y="1266190"/>
            <a:ext cx="2880000" cy="202581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4" name="Picture 4"/>
          <p:cNvPicPr>
            <a:picLocks noChangeAspect="1"/>
          </p:cNvPicPr>
          <p:nvPr>
            <p:ph type="body" sz="quarter" idx="9"/>
          </p:nvPr>
        </p:nvPicPr>
        <p:blipFill>
          <a:blip r:embed="rId1"/>
          <a:srcRect/>
          <a:stretch>
            <a:fillRect/>
          </a:stretch>
        </p:blipFill>
        <p:spPr>
          <a:xfrm>
            <a:off x="687070" y="720588"/>
            <a:ext cx="11277600" cy="1891622"/>
          </a:xfrm>
          <a:prstGeom prst="rect">
            <a:avLst/>
          </a:prstGeom>
        </p:spPr>
      </p:pic>
      <p:pic>
        <p:nvPicPr>
          <p:cNvPr id="5" name="Picture 5" descr="E:/BAAI/COURSE/i18n/fr/unitree.pngunitree"/>
          <p:cNvPicPr>
            <a:picLocks noChangeAspect="1"/>
          </p:cNvPicPr>
          <p:nvPr/>
        </p:nvPicPr>
        <p:blipFill>
          <a:blip r:embed="rId2"/>
          <a:srcRect t="8" b="8"/>
          <a:stretch>
            <a:fillRect/>
          </a:stretch>
        </p:blipFill>
        <p:spPr>
          <a:xfrm>
            <a:off x="4406900" y="2717800"/>
            <a:ext cx="7497445" cy="40036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AI/ML</a:t>
            </a: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Exigences matérielles</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700" b="0" i="0"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Source de l'image :</a:t>
            </a: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https://medium.com/geekculture/business-analysis-ai-computational-cost-67a136957c95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45720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https://ourworldindata.org/grapher/artificial-intelligence-parameter-count</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L’é</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chelle des paramètres du modèle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Croissance exponentielle.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Les besoins en calcul</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 croissance dépasse </a:t>
            </a:r>
            <a:r>
              <a:rPr lang="en-US" sz="200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déjà</a:t>
            </a: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la loi de Moore.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OpenAI</a:t>
            </a: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sur la comparaison entre les coûts </a:t>
            </a:r>
            <a:endPar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endParaRPr>
          </a:p>
          <a:p>
            <a:pPr marL="342900" lvl="1" indent="0" algn="l">
              <a:lnSpc>
                <a:spcPct val="150000"/>
              </a:lnSpc>
              <a:spcBef>
                <a:spcPts val="750"/>
              </a:spcBef>
              <a:buClr>
                <a:srgbClr val="404040"/>
              </a:buClr>
              <a:buNone/>
            </a:pP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de calcul et 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PIB</a:t>
            </a: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américain.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t>
            </a:r>
            <a:r>
              <a:rPr lang="en-US">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chelle de communications</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 nouveau goulot d'étranglement clé.</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b="27273"/>
          <a:stretch>
            <a:fillRect/>
          </a:stretch>
        </p:blipFill>
        <p:spPr>
          <a:xfrm>
            <a:off x="6054090" y="3467100"/>
            <a:ext cx="5261610" cy="28067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37580" y="1066800"/>
            <a:ext cx="5261610" cy="259969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Pourquoi les CPU classiques ne peuvent-ils pas </a:t>
            </a:r>
            <a:endParaRPr 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assurer les </a:t>
            </a:r>
            <a:r>
              <a:rPr lang="en-US" altLang="zh-CN" sz="2630" b="0" i="0" u="none" strike="noStrike">
                <a:solidFill>
                  <a:srgbClr val="262626"/>
                </a:solidFill>
                <a:latin typeface="Calibri" panose="020F0502020204030204"/>
                <a:ea typeface="Calibri" panose="020F0502020204030204"/>
                <a:cs typeface="Calibri" panose="020F0502020204030204"/>
                <a:sym typeface="Calibri" panose="020F0502020204030204"/>
              </a:rPr>
              <a:t>t</a:t>
            </a:r>
            <a:r>
              <a:rPr lang="en-US" altLang="en-US" sz="2630" b="0" i="0" u="none" strike="noStrike">
                <a:solidFill>
                  <a:srgbClr val="262626"/>
                </a:solidFill>
                <a:latin typeface="Calibri" panose="020F0502020204030204"/>
                <a:ea typeface="Calibri" panose="020F0502020204030204"/>
                <a:cs typeface="Calibri" panose="020F0502020204030204"/>
                <a:sym typeface="Calibri" panose="020F0502020204030204"/>
              </a:rPr>
              <a:t>â</a:t>
            </a:r>
            <a:r>
              <a:rPr lang="en-US" altLang="zh-CN" sz="2630" b="0" i="0" u="none" strike="noStrike">
                <a:solidFill>
                  <a:srgbClr val="262626"/>
                </a:solidFill>
                <a:latin typeface="Calibri" panose="020F0502020204030204"/>
                <a:ea typeface="Calibri" panose="020F0502020204030204"/>
                <a:cs typeface="Calibri" panose="020F0502020204030204"/>
                <a:sym typeface="Calibri" panose="020F0502020204030204"/>
              </a:rPr>
              <a:t>ches d’IA </a:t>
            </a:r>
            <a:r>
              <a:rPr lang="en-US" sz="2630"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00" b="0" i="0" u="none" strike="noStrike">
                <a:solidFill>
                  <a:srgbClr val="A5A5A5"/>
                </a:solidFill>
                <a:latin typeface="Calibri" panose="020F0502020204030204"/>
                <a:ea typeface="Garamond" panose="02020404030301010803"/>
                <a:cs typeface="Garamond" panose="02020404030301010803"/>
                <a:sym typeface="Garamond" panose="02020404030301010803"/>
              </a:rPr>
              <a:t>A. Gholami, Z. Yao, S. Kim, C. Hooper, M. W. Mahoney and K. Keutzer, "AI and Memory Wall," in IEEE Micro, vol. 44, no. 3, pp. 33-39, May-June 2024, doi: 10.1109/MM.2024.3373763.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30301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79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L'héritage historique du </a:t>
            </a:r>
            <a:r>
              <a:rPr lang="en-US" sz="1790">
                <a:solidFill>
                  <a:srgbClr val="404040"/>
                </a:solidFill>
                <a:ea typeface="Calibri" panose="020F0502020204030204"/>
                <a:cs typeface="Calibri" panose="020F0502020204030204"/>
                <a:sym typeface="Calibri" panose="020F0502020204030204"/>
              </a:rPr>
              <a:t>CPU</a:t>
            </a:r>
            <a:r>
              <a:rPr lang="en-US" sz="179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Depuis des décennies, le processeur central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 toujours été le moteur universel de l’informatique, conçu pour les tâches </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a:t>
            </a:r>
            <a:r>
              <a:rPr lang="en-US" alt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quentielles</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à </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usage g</a:t>
            </a:r>
            <a:r>
              <a:rPr lang="en-US" alt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95" b="0" i="0" u="none" strike="noStrike">
                <a:solidFill>
                  <a:srgbClr val="404040"/>
                </a:solidFill>
                <a:latin typeface="Calibri" panose="020F0502020204030204"/>
                <a:ea typeface="Calibri" panose="020F0502020204030204"/>
                <a:cs typeface="Calibri" panose="020F0502020204030204"/>
                <a:sym typeface="Calibri" panose="020F0502020204030204"/>
              </a:rPr>
              <a:t>ral.</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79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Les deux grandes crises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8B0012"/>
              </a:buClr>
              <a:buChar char="•"/>
            </a:pPr>
            <a:r>
              <a:rPr lang="en-US" sz="1495" b="0" i="0" u="none" strike="noStrike">
                <a:solidFill>
                  <a:srgbClr val="8B0012"/>
                </a:solidFill>
                <a:latin typeface="Calibri" panose="020F0502020204030204" charset="-122"/>
                <a:ea typeface="微软雅黑" panose="020B0503020204020204" charset="-122"/>
                <a:cs typeface="微软雅黑" panose="020B0503020204020204" charset="-122"/>
                <a:sym typeface="微软雅黑" panose="020B0503020204020204" charset="-122"/>
              </a:rPr>
              <a:t>Le goulot d'étranglement de von Neumann</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 les transferts contants de données entre l'unité de traitement et l'unité de </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m</a:t>
            </a:r>
            <a:r>
              <a:rPr lang="en-US" alt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moire</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provoque  </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 goulot d'étranglement d'efficacité fondamentale, et leur consommation d'énergie dépasse même </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celle du</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calcul proprement dit.</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sz="1495" b="0" i="0" u="none" strike="noStrike">
                <a:solidFill>
                  <a:srgbClr val="8B0012"/>
                </a:solidFill>
                <a:latin typeface="Calibri" panose="020F0502020204030204" charset="-122"/>
                <a:ea typeface="微软雅黑" panose="020B0503020204020204" charset="-122"/>
                <a:cs typeface="微软雅黑" panose="020B0503020204020204" charset="-122"/>
                <a:sym typeface="微软雅黑" panose="020B0503020204020204" charset="-122"/>
              </a:rPr>
              <a:t>La fin de l'extension des performances</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:La loi de </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Dennard</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ainsi que les gains de performance issus de la loi de Moore ont propulsé des décennies de croissance exponentnelle des performances, </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a:t>
            </a:r>
            <a:r>
              <a:rPr lang="en-US" alt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sormais r</a:t>
            </a:r>
            <a:r>
              <a:rPr lang="en-US" alt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volues</a:t>
            </a:r>
            <a:r>
              <a:rPr lang="en-US" sz="14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14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96430" y="1243965"/>
            <a:ext cx="4661535" cy="24511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99350" y="3585845"/>
            <a:ext cx="3618230" cy="26257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3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Pourquoi les CPU classiques ne peuvent-ils pas </a:t>
            </a:r>
            <a:endParaRPr 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63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assurer les </a:t>
            </a:r>
            <a:r>
              <a:rPr lang="en-US" altLang="zh-CN" sz="2630">
                <a:solidFill>
                  <a:srgbClr val="262626"/>
                </a:solidFill>
                <a:latin typeface="Calibri" panose="020F0502020204030204"/>
                <a:ea typeface="Calibri" panose="020F0502020204030204"/>
                <a:cs typeface="Calibri" panose="020F0502020204030204"/>
                <a:sym typeface="Calibri" panose="020F0502020204030204"/>
              </a:rPr>
              <a:t>t</a:t>
            </a:r>
            <a:r>
              <a:rPr lang="en-US" altLang="en-US" sz="2630">
                <a:solidFill>
                  <a:srgbClr val="262626"/>
                </a:solidFill>
                <a:latin typeface="Calibri" panose="020F0502020204030204"/>
                <a:ea typeface="Calibri" panose="020F0502020204030204"/>
                <a:cs typeface="Calibri" panose="020F0502020204030204"/>
                <a:sym typeface="Calibri" panose="020F0502020204030204"/>
              </a:rPr>
              <a:t>â</a:t>
            </a:r>
            <a:r>
              <a:rPr lang="en-US" altLang="zh-CN" sz="2630">
                <a:solidFill>
                  <a:srgbClr val="262626"/>
                </a:solidFill>
                <a:latin typeface="Calibri" panose="020F0502020204030204"/>
                <a:ea typeface="Calibri" panose="020F0502020204030204"/>
                <a:cs typeface="Calibri" panose="020F0502020204030204"/>
                <a:sym typeface="Calibri" panose="020F0502020204030204"/>
              </a:rPr>
              <a:t>ches d’IA</a:t>
            </a:r>
            <a:r>
              <a:rPr lang="en-US" sz="2630"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 A. Gholami et al., "AI and Memory Wall," in IEEE Micro, vol. 44, no. 3, pp. 33-39, May-June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597535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6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 contradiction fondamentale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50">
                <a:solidFill>
                  <a:srgbClr val="404040"/>
                </a:solidFill>
                <a:latin typeface="Calibri" panose="020F0502020204030204"/>
                <a:ea typeface="Calibri" panose="020F0502020204030204"/>
                <a:cs typeface="Calibri" panose="020F0502020204030204"/>
                <a:sym typeface="Calibri" panose="020F0502020204030204"/>
              </a:rPr>
              <a:t>le design</a:t>
            </a:r>
            <a:r>
              <a:rPr lang="en-US"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séquentiel du CPU ne </a:t>
            </a:r>
            <a:r>
              <a:rPr lang="en-US" altLang="zh-CN"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peut </a:t>
            </a:r>
            <a:r>
              <a:rPr lang="en-US"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fondamentalement pas traiter efficacement le </a:t>
            </a:r>
            <a:r>
              <a:rPr lang="en-US" altLang="zh-CN"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calcul massivement parall</a:t>
            </a:r>
            <a:r>
              <a:rPr lang="en-US" altLang="en-US"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è</a:t>
            </a:r>
            <a:r>
              <a:rPr lang="en-US" altLang="zh-CN"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a:t>
            </a:r>
            <a:r>
              <a:rPr lang="en-US"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inhérent aux charges de travail d'IA (ex.: multiplication matricielle).</a:t>
            </a: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A5A5A5"/>
              </a:buClr>
              <a:buChar char="•"/>
            </a:pPr>
            <a:r>
              <a:rPr lang="en-US" sz="1550" b="0" i="1"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Le taux d'utilisation du CPU sur les charges de travail de réseaux neuronaux n'est que de </a:t>
            </a:r>
            <a:r>
              <a:rPr lang="en-US" sz="1550" b="0" i="1" u="none" strike="noStrike">
                <a:solidFill>
                  <a:srgbClr val="A5A5A5"/>
                </a:solidFill>
                <a:latin typeface="Calibri" panose="020F0502020204030204"/>
                <a:ea typeface="Calibri" panose="020F0502020204030204"/>
                <a:cs typeface="Calibri" panose="020F0502020204030204"/>
                <a:sym typeface="Calibri" panose="020F0502020204030204"/>
              </a:rPr>
              <a:t>5-10%</a:t>
            </a:r>
            <a:r>
              <a:rPr lang="en-US" sz="1550" b="0" i="1"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 avec </a:t>
            </a:r>
            <a:r>
              <a:rPr lang="en-US" sz="1550" b="0" i="1"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la puissance de calcul d'environ </a:t>
            </a:r>
            <a:r>
              <a:rPr lang="en-US" sz="1550" b="0" i="1" u="none" strike="noStrike">
                <a:solidFill>
                  <a:srgbClr val="A5A5A5"/>
                </a:solidFill>
                <a:latin typeface="Calibri" panose="020F0502020204030204"/>
                <a:ea typeface="Calibri" panose="020F0502020204030204"/>
                <a:cs typeface="Calibri" panose="020F0502020204030204"/>
                <a:sym typeface="Calibri" panose="020F0502020204030204"/>
              </a:rPr>
              <a:t>100 GFLOPS</a:t>
            </a:r>
            <a:r>
              <a:rPr lang="en-US" sz="1550" b="0" i="1" u="none" strike="noStrike">
                <a:solidFill>
                  <a:srgbClr val="A5A5A5"/>
                </a:solidFill>
                <a:latin typeface="Calibri" panose="020F0502020204030204" charset="-122"/>
                <a:ea typeface="微软雅黑" panose="020B0503020204020204" charset="-122"/>
                <a:cs typeface="微软雅黑" panose="020B0503020204020204" charset="-122"/>
                <a:sym typeface="微软雅黑" panose="020B0503020204020204" charset="-122"/>
              </a:rPr>
              <a:t>, tout en consommant des centaines de watts</a:t>
            </a:r>
            <a:r>
              <a:rPr lang="en-US" sz="1550" b="0" i="1" u="none" strike="noStrike">
                <a:solidFill>
                  <a:srgbClr val="A5A5A5"/>
                </a:solidFill>
                <a:latin typeface="Calibri" panose="020F0502020204030204"/>
                <a:ea typeface="Calibri" panose="020F0502020204030204"/>
                <a:cs typeface="Calibri" panose="020F0502020204030204"/>
                <a:sym typeface="Calibri" panose="020F0502020204030204"/>
              </a:rPr>
              <a:t>.</a:t>
            </a:r>
            <a:endParaRPr lang="en-US" sz="2000" b="0" i="1" u="none" strike="noStrike">
              <a:solidFill>
                <a:srgbClr val="A5A5A5"/>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6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Conclusion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5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 croissance exponentielle de la demande en IA</a:t>
            </a:r>
            <a:r>
              <a:rPr lang="en-US" sz="155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 expos</a:t>
            </a:r>
            <a:r>
              <a:rPr lang="en-US" sz="155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sz="155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les limitations du modèle de calcul généraliste, forçant l'industrie à se tourner vers du matériel spécialisé.</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625590" y="1740535"/>
            <a:ext cx="5432425" cy="36595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L'essor du GPU</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055" b="0" i="0" u="none" strike="noStrike">
                <a:solidFill>
                  <a:srgbClr val="A5A5A5"/>
                </a:solidFill>
                <a:latin typeface="Calibri" panose="020F0502020204030204"/>
                <a:ea typeface="Garamond" panose="02020404030301010803"/>
                <a:cs typeface="Garamond" panose="02020404030301010803"/>
                <a:sym typeface="Garamond" panose="02020404030301010803"/>
              </a:rPr>
              <a:t>J. D. Owens, M. Houston, D. Luebke, S. Green, J. E. Stone and J. C. Phillips, "GPU Computing," in Proceedings of the IEEE, vol. 96, no. 5, pp. 879-899, May 2008, doi: 10.1109/JPROC.2008.917757.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584315" cy="475678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 héros inattendu : </a:t>
            </a:r>
            <a:r>
              <a:rPr lang="en-US"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processeur graphique (</a:t>
            </a:r>
            <a:r>
              <a:rPr lang="en-US" sz="2220">
                <a:solidFill>
                  <a:srgbClr val="404040"/>
                </a:solidFill>
                <a:latin typeface="Calibri" panose="020F0502020204030204"/>
                <a:ea typeface="Calibri" panose="020F0502020204030204"/>
                <a:cs typeface="Calibri" panose="020F0502020204030204"/>
                <a:sym typeface="Calibri" panose="020F0502020204030204"/>
              </a:rPr>
              <a:t>GPU</a:t>
            </a:r>
            <a:r>
              <a:rPr lang="en-US"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est né </a:t>
            </a:r>
            <a:r>
              <a:rPr lang="en-US" altLang="zh-CN"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à la fin des ann</a:t>
            </a:r>
            <a:r>
              <a:rPr lang="en-US" altLang="en-US"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es 1990,</a:t>
            </a:r>
            <a:r>
              <a:rPr lang="en-US"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Il </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tait initialement utilis</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 pour le rendu graphique des jeux vid</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o, poss</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dant des milliers de c</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urs simples pour les t</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â</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ches parall</a:t>
            </a:r>
            <a:r>
              <a:rPr lang="en-US" altLang="en-US" sz="2220">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220">
                <a:solidFill>
                  <a:srgbClr val="404040"/>
                </a:solidFill>
                <a:latin typeface="Calibri" panose="020F0502020204030204"/>
                <a:ea typeface="Calibri" panose="020F0502020204030204"/>
                <a:cs typeface="Calibri" panose="020F0502020204030204"/>
                <a:sym typeface="Calibri" panose="020F0502020204030204"/>
              </a:rPr>
              <a:t>les.</a:t>
            </a:r>
            <a:r>
              <a:rPr lang="en-US" sz="22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2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L’adéquation architecturale : </a:t>
            </a:r>
            <a:r>
              <a:rPr lang="en-US"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les opérations mathématiques fondamentales de la graphique (les opérations matricielles et vectorielles) sont identiques à celles de l'apprentissage profond, faisant du </a:t>
            </a:r>
            <a:r>
              <a:rPr lang="en-US" sz="2220">
                <a:solidFill>
                  <a:srgbClr val="404040"/>
                </a:solidFill>
                <a:latin typeface="Calibri" panose="020F0502020204030204"/>
                <a:ea typeface="Calibri" panose="020F0502020204030204"/>
                <a:cs typeface="Calibri" panose="020F0502020204030204"/>
                <a:sym typeface="Calibri" panose="020F0502020204030204"/>
              </a:rPr>
              <a:t>GPU </a:t>
            </a:r>
            <a:r>
              <a:rPr lang="en-US" altLang="zh-CN"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une ad</a:t>
            </a:r>
            <a:r>
              <a:rPr lang="en-US" altLang="en-US"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22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quation parfaite, bien qu’accidentelle</a:t>
            </a:r>
            <a:r>
              <a:rPr lang="en-US" sz="22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22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2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08190" y="834390"/>
            <a:ext cx="4105275" cy="5047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L'Essor du </a:t>
            </a:r>
            <a:r>
              <a:rPr lang="en-US">
                <a:solidFill>
                  <a:srgbClr val="262626"/>
                </a:solidFill>
                <a:ea typeface="Calibri" panose="020F0502020204030204"/>
                <a:cs typeface="Calibri" panose="020F0502020204030204"/>
                <a:sym typeface="Calibri" panose="020F0502020204030204"/>
              </a:rPr>
              <a:t>GPU</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055" b="0" i="0" u="none" strike="noStrike">
                <a:solidFill>
                  <a:srgbClr val="A5A5A5"/>
                </a:solidFill>
                <a:latin typeface="Calibri" panose="020F0502020204030204"/>
                <a:ea typeface="Garamond" panose="02020404030301010803"/>
                <a:cs typeface="Garamond" panose="02020404030301010803"/>
                <a:sym typeface="Garamond" panose="02020404030301010803"/>
              </a:rPr>
              <a:t>J. D. Owens, M. Houston, D. Luebke, S. Green, J. E. Stone and J. C. Phillips, "GPU Computing," in Proceedings of the IEEE, vol. 96, no. 5, pp. 879-899, May 2008, doi: 10.1109/JPROC.2008.917757.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310630" cy="4784725"/>
          </a:xfrm>
          <a:prstGeom prst="rect">
            <a:avLst/>
          </a:prstGeom>
        </p:spPr>
        <p:txBody>
          <a:bodyPr wrap="square" lIns="91440" tIns="45720" rIns="91440" bIns="45720" anchor="t">
            <a:normAutofit lnSpcReduction="2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catalyseur logiciel CUDA </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 plateforme CUDA de NVIDIA</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2007</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 libéré la capacité de calcul généraliste du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permettant aux chercheurs en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IA</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d'exploiter leur puissance de calcul sans </a:t>
            </a:r>
            <a:r>
              <a:rPr lang="en-US" altLang="zh-CN"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connaissance approfondie </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 graphique.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Résultat : </a:t>
            </a:r>
            <a:r>
              <a:rPr lang="en-US">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temps d'entraînement des modèles d’IA est passé de plusieurs semaines à quelques heures, </a:t>
            </a:r>
            <a:r>
              <a:rPr lang="en-US" altLang="zh-CN">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faisant des GPU le mat</a:t>
            </a:r>
            <a:r>
              <a:rPr lang="en-US" altLang="en-US">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riel standard de facto</a:t>
            </a:r>
            <a:r>
              <a:rPr lang="en-US">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pour l'entraînement en </a:t>
            </a:r>
            <a:r>
              <a:rPr lang="en-US">
                <a:solidFill>
                  <a:srgbClr val="404040"/>
                </a:solidFill>
                <a:latin typeface="Calibri" panose="020F0502020204030204"/>
                <a:ea typeface="Calibri" panose="020F0502020204030204"/>
                <a:cs typeface="Calibri" panose="020F0502020204030204"/>
                <a:sym typeface="Calibri" panose="020F0502020204030204"/>
              </a:rPr>
              <a:t>IA</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53580" y="1132840"/>
            <a:ext cx="4160520" cy="25082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834505" y="3641090"/>
            <a:ext cx="4379595" cy="24142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0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Première Génération </a:t>
            </a:r>
            <a:r>
              <a:rPr lang="en-US" sz="2205" b="0" i="0" u="none" strike="noStrike">
                <a:solidFill>
                  <a:srgbClr val="262626"/>
                </a:solidFill>
                <a:latin typeface="Calibri" panose="020F0502020204030204"/>
                <a:ea typeface="Calibri" panose="020F0502020204030204"/>
                <a:cs typeface="Calibri" panose="020F0502020204030204"/>
                <a:sym typeface="Calibri" panose="020F0502020204030204"/>
              </a:rPr>
              <a:t>Tensor Core</a:t>
            </a:r>
            <a:r>
              <a:rPr lang="en-US" sz="220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 </a:t>
            </a:r>
            <a:endParaRPr lang="en-US" sz="220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205" b="0" i="0" u="none" strike="noStrike">
                <a:solidFill>
                  <a:srgbClr val="262626"/>
                </a:solidFill>
                <a:latin typeface="Calibri" panose="020F0502020204030204"/>
                <a:ea typeface="Calibri" panose="020F0502020204030204"/>
                <a:cs typeface="Calibri" panose="020F0502020204030204"/>
                <a:sym typeface="Calibri" panose="020F0502020204030204"/>
              </a:rPr>
              <a:t>Warp</a:t>
            </a:r>
            <a:r>
              <a:rPr lang="en-US" sz="220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-level Multiplication-Accumulation Matricielle (</a:t>
            </a:r>
            <a:r>
              <a:rPr lang="en-US" sz="2205" b="0" i="0" u="none" strike="noStrike">
                <a:solidFill>
                  <a:srgbClr val="262626"/>
                </a:solidFill>
                <a:latin typeface="Calibri" panose="020F0502020204030204"/>
                <a:ea typeface="Calibri" panose="020F0502020204030204"/>
                <a:cs typeface="Calibri" panose="020F0502020204030204"/>
                <a:sym typeface="Calibri" panose="020F0502020204030204"/>
              </a:rPr>
              <a:t>MMA</a:t>
            </a:r>
            <a:r>
              <a:rPr lang="en-US" sz="220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524054" y="1537049"/>
            <a:ext cx="7200000" cy="44263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723958" y="1537028"/>
            <a:ext cx="4263571" cy="2538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a:t>
            </a:r>
            <a:r>
              <a:rPr lang="en-US" sz="2875">
                <a:solidFill>
                  <a:srgbClr val="000000"/>
                </a:solidFill>
                <a:sym typeface="+mn-ea"/>
              </a:rPr>
              <a:t>é</a:t>
            </a:r>
            <a:r>
              <a:rPr lang="en-US" sz="28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volution du </a:t>
            </a:r>
            <a:r>
              <a:rPr lang="en-US" sz="2875" b="0" i="0" u="none" strike="noStrike">
                <a:solidFill>
                  <a:srgbClr val="262626"/>
                </a:solidFill>
                <a:latin typeface="Calibri" panose="020F0502020204030204"/>
                <a:ea typeface="Calibri" panose="020F0502020204030204"/>
                <a:cs typeface="Calibri" panose="020F0502020204030204"/>
                <a:sym typeface="Calibri" panose="020F0502020204030204"/>
              </a:rPr>
              <a:t>Tensor Core</a:t>
            </a:r>
            <a:r>
              <a:rPr lang="en-US" sz="28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dans les </a:t>
            </a:r>
            <a:r>
              <a:rPr lang="en-US" sz="2875">
                <a:solidFill>
                  <a:srgbClr val="262626"/>
                </a:solidFill>
                <a:ea typeface="Calibri" panose="020F0502020204030204"/>
                <a:cs typeface="Calibri" panose="020F0502020204030204"/>
                <a:sym typeface="Calibri" panose="020F0502020204030204"/>
              </a:rPr>
              <a:t>NVIDIA GPU</a:t>
            </a:r>
            <a:r>
              <a:rPr lang="en-US" sz="28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2875" b="0" i="0" u="none" strike="noStrike">
                <a:solidFill>
                  <a:srgbClr val="262626"/>
                </a:solidFill>
                <a:latin typeface="Calibri" panose="020F0502020204030204"/>
                <a:ea typeface="Calibri" panose="020F0502020204030204"/>
                <a:cs typeface="Calibri" panose="020F0502020204030204"/>
                <a:sym typeface="Calibri" panose="020F0502020204030204"/>
              </a:rPr>
              <a:t>1/3</a:t>
            </a:r>
            <a:r>
              <a:rPr lang="en-US" sz="28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523875" y="1473261"/>
            <a:ext cx="11277600" cy="45544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0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a:t>
            </a:r>
            <a:r>
              <a:rPr lang="en-US" sz="2900">
                <a:solidFill>
                  <a:srgbClr val="000000"/>
                </a:solidFill>
                <a:sym typeface="+mn-ea"/>
              </a:rPr>
              <a:t>é</a:t>
            </a:r>
            <a:r>
              <a:rPr lang="en-US" sz="290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volution du </a:t>
            </a:r>
            <a:r>
              <a:rPr lang="en-US" sz="2900">
                <a:solidFill>
                  <a:srgbClr val="262626"/>
                </a:solidFill>
                <a:ea typeface="Calibri" panose="020F0502020204030204"/>
                <a:cs typeface="Calibri" panose="020F0502020204030204"/>
                <a:sym typeface="Calibri" panose="020F0502020204030204"/>
              </a:rPr>
              <a:t>Tensor Core</a:t>
            </a:r>
            <a:r>
              <a:rPr lang="en-US" sz="290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dans les </a:t>
            </a:r>
            <a:r>
              <a:rPr lang="en-US" sz="2900">
                <a:solidFill>
                  <a:srgbClr val="262626"/>
                </a:solidFill>
                <a:ea typeface="Calibri" panose="020F0502020204030204"/>
                <a:cs typeface="Calibri" panose="020F0502020204030204"/>
                <a:sym typeface="Calibri" panose="020F0502020204030204"/>
              </a:rPr>
              <a:t>NVIDIA GPU</a:t>
            </a:r>
            <a:r>
              <a:rPr lang="en-US" sz="29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2/3</a:t>
            </a:r>
            <a:r>
              <a:rPr lang="en-US" sz="29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495300" y="1206500"/>
            <a:ext cx="11201400" cy="4445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0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a:t>
            </a:r>
            <a:r>
              <a:rPr lang="en-US" sz="2900">
                <a:solidFill>
                  <a:srgbClr val="000000"/>
                </a:solidFill>
                <a:sym typeface="+mn-ea"/>
              </a:rPr>
              <a:t>é</a:t>
            </a:r>
            <a:r>
              <a:rPr lang="en-US" sz="290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volution du </a:t>
            </a:r>
            <a:r>
              <a:rPr lang="en-US" sz="2900">
                <a:solidFill>
                  <a:srgbClr val="262626"/>
                </a:solidFill>
                <a:ea typeface="Calibri" panose="020F0502020204030204"/>
                <a:cs typeface="Calibri" panose="020F0502020204030204"/>
                <a:sym typeface="Calibri" panose="020F0502020204030204"/>
              </a:rPr>
              <a:t>Tensor Core</a:t>
            </a:r>
            <a:r>
              <a:rPr lang="en-US" sz="2900">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dans les </a:t>
            </a:r>
            <a:r>
              <a:rPr lang="en-US" sz="2900">
                <a:solidFill>
                  <a:srgbClr val="262626"/>
                </a:solidFill>
                <a:ea typeface="Calibri" panose="020F0502020204030204"/>
                <a:cs typeface="Calibri" panose="020F0502020204030204"/>
                <a:sym typeface="Calibri" panose="020F0502020204030204"/>
              </a:rPr>
              <a:t>NVIDIA GPU</a:t>
            </a:r>
            <a:r>
              <a:rPr lang="en-US" sz="29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3/3</a:t>
            </a:r>
            <a:r>
              <a:rPr lang="en-US" sz="290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débit des </a:t>
            </a:r>
            <a:r>
              <a:rPr lang="en-US" sz="2120">
                <a:solidFill>
                  <a:srgbClr val="404040"/>
                </a:solidFill>
                <a:ea typeface="Calibri" panose="020F0502020204030204"/>
                <a:cs typeface="Calibri" panose="020F0502020204030204"/>
                <a:sym typeface="Calibri" panose="020F0502020204030204"/>
              </a:rPr>
              <a:t>Tensor Core</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double à chaque génération, mais la latence de chargement de la mémoire globale augmente plutôt que de diminuer. Par conséquent, il est nécessaire d’ augmenter la capacité de la mémoire partagée temporaire</a:t>
            </a:r>
            <a:r>
              <a:rPr lang="en-US" sz="21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2120">
                <a:solidFill>
                  <a:srgbClr val="404040"/>
                </a:solidFill>
                <a:ea typeface="Calibri" panose="020F0502020204030204"/>
                <a:cs typeface="Calibri" panose="020F0502020204030204"/>
                <a:sym typeface="Calibri" panose="020F0502020204030204"/>
              </a:rPr>
              <a:t>SMEM</a:t>
            </a:r>
            <a:r>
              <a:rPr lang="en-US" sz="212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pour tamponner davantage de donn</a:t>
            </a:r>
            <a:r>
              <a:rPr lang="en-US" alt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es</a:t>
            </a:r>
            <a:endParaRPr lang="en-US" altLang="zh-CN"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23875" y="2835136"/>
            <a:ext cx="11316190" cy="334181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a:t>
            </a:r>
            <a:r>
              <a:rPr lang="en-US" sz="307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volution des architectures de calcul</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série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Tensor Core</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TPU</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série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Série Ascend</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série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Intel</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extensions matricielles)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AMD</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NPU</a:t>
            </a: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Calcul en mémoire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Puce wafer-scale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Super-nœuds et superordinateurs</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L’architecture Da Vinci de Huawei</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10" b="0" i="0" u="none" strike="noStrike">
                <a:solidFill>
                  <a:srgbClr val="A5A5A5"/>
                </a:solidFill>
                <a:latin typeface="Calibri" panose="020F0502020204030204"/>
                <a:ea typeface="Garamond" panose="02020404030301010803"/>
                <a:cs typeface="Garamond" panose="02020404030301010803"/>
                <a:sym typeface="Garamond" panose="02020404030301010803"/>
              </a:rPr>
              <a:t>H. Liao, J. Tu, J. Xia and X. Zhou, "DaVinci: A Scalable Architecture for Neural Network Computing," IEEE Hot Chips 31 Symposium (HCS), 2019.</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132840"/>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Cube</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(Unité de calcul matriciel) :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4096</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16³</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FP16</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multiplications-accumulations</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 + 8192</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INT8</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multiplications-accumulations</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Vector</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(Unité de calcul vectoriel) :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2048</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-bit</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 INT8/FP16/FP32 </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opérations vectorielles, supporte fonctions spéciales (fonctions d'activation,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NMS</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 Suppression des non-maxima,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ROI</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SORT</a:t>
            </a: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Architecture de hiérarchie mémoire explicite, gérée par </a:t>
            </a:r>
            <a:r>
              <a:rPr lang="en-US" sz="2120" b="0" i="0" u="none" strike="noStrike">
                <a:solidFill>
                  <a:srgbClr val="404040"/>
                </a:solidFill>
                <a:latin typeface="Calibri" panose="020F0502020204030204"/>
                <a:ea typeface="Calibri" panose="020F0502020204030204"/>
                <a:cs typeface="Calibri" panose="020F0502020204030204"/>
                <a:sym typeface="Calibri" panose="020F0502020204030204"/>
              </a:rPr>
              <a:t>MTE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366770" y="3526155"/>
            <a:ext cx="7091045" cy="2888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15" b="0" i="0" u="none" strike="noStrike">
                <a:solidFill>
                  <a:srgbClr val="262626"/>
                </a:solidFill>
                <a:latin typeface="Calibri" panose="020F0502020204030204"/>
                <a:ea typeface="Calibri" panose="020F0502020204030204"/>
                <a:cs typeface="Calibri" panose="020F0502020204030204"/>
                <a:sym typeface="Calibri" panose="020F0502020204030204"/>
              </a:rPr>
              <a:t>Intel</a:t>
            </a:r>
            <a:r>
              <a:rPr lang="en-US" sz="301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Extensions Matricielles Avancées (</a:t>
            </a:r>
            <a:r>
              <a:rPr lang="en-US" sz="3015" b="0" i="0" u="none" strike="noStrike">
                <a:solidFill>
                  <a:srgbClr val="262626"/>
                </a:solidFill>
                <a:latin typeface="Calibri" panose="020F0502020204030204"/>
                <a:ea typeface="Calibri" panose="020F0502020204030204"/>
                <a:cs typeface="Calibri" panose="020F0502020204030204"/>
                <a:sym typeface="Calibri" panose="020F0502020204030204"/>
              </a:rPr>
              <a:t>AMX</a:t>
            </a:r>
            <a:r>
              <a:rPr lang="en-US" sz="301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6539866"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Stratégie : Améliorer les capacités d'accélération </a:t>
            </a:r>
            <a:r>
              <a:rPr lang="en-US" sz="2130" b="0" i="0" u="none" strike="noStrike">
                <a:solidFill>
                  <a:srgbClr val="404040"/>
                </a:solidFill>
                <a:latin typeface="Calibri" panose="020F0502020204030204"/>
                <a:ea typeface="Calibri" panose="020F0502020204030204"/>
                <a:cs typeface="Calibri" panose="020F0502020204030204"/>
                <a:sym typeface="Calibri" panose="020F0502020204030204"/>
              </a:rPr>
              <a:t>IA des CPU</a:t>
            </a:r>
            <a:r>
              <a:rPr lang="en-US"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Architecture : Extension de l'architecture </a:t>
            </a:r>
            <a:r>
              <a:rPr lang="en-US" altLang="zh-CN"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du jeu d'instructions</a:t>
            </a:r>
            <a:r>
              <a:rPr lang="en-US"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130" b="0" i="0" u="none" strike="noStrike">
                <a:solidFill>
                  <a:srgbClr val="404040"/>
                </a:solidFill>
                <a:latin typeface="Calibri" panose="020F0502020204030204"/>
                <a:ea typeface="Calibri" panose="020F0502020204030204"/>
                <a:cs typeface="Calibri" panose="020F0502020204030204"/>
                <a:sym typeface="Calibri" panose="020F0502020204030204"/>
              </a:rPr>
              <a:t>x86</a:t>
            </a:r>
            <a:r>
              <a:rPr lang="en-US"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plutôt qu'une puce indépendante.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3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Composants principaux :</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Tiles</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 Fichier de registres bidimensionnel</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TMUL</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 Instructions dédiées à la multiplication matricielle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Modèle de chargement</a:t>
            </a: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/S</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tockage</a:t>
            </a: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/C</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onfiguration explicite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Jeu d'instructions : </a:t>
            </a: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tilecfg, tileload, tmul, tilestore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Support initial : </a:t>
            </a: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INT8</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BF16</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FP16</a:t>
            </a:r>
            <a:r>
              <a:rPr lang="en-US" sz="17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extension)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63740" y="1323975"/>
            <a:ext cx="5008880" cy="19494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287260" y="3562350"/>
            <a:ext cx="4648835" cy="27787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630279" y="431629"/>
            <a:ext cx="9987507"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AMD Zen + RDNA + XDNA </a:t>
            </a:r>
            <a:r>
              <a:rPr lang="en-US" sz="307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Système sur puce(SoC)</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pSp>
        <p:nvGrpSpPr>
          <p:cNvPr id="6" name="Group 6"/>
          <p:cNvGrpSpPr/>
          <p:nvPr/>
        </p:nvGrpSpPr>
        <p:grpSpPr>
          <a:xfrm>
            <a:off x="523875" y="1323975"/>
            <a:ext cx="7201059" cy="3677271"/>
            <a:chOff x="523875" y="1323975"/>
            <a:chExt cx="7201059" cy="3677271"/>
          </a:xfrm>
        </p:grpSpPr>
        <p:pic>
          <p:nvPicPr>
            <p:cNvPr id="7" name="Picture 7"/>
            <p:cNvPicPr>
              <a:picLocks noChangeAspect="1"/>
            </p:cNvPicPr>
            <p:nvPr/>
          </p:nvPicPr>
          <p:blipFill>
            <a:blip r:embed="rId1"/>
            <a:srcRect l="15649" t="23097" r="14961" b="13910"/>
            <a:stretch>
              <a:fillRect/>
            </a:stretch>
          </p:blipFill>
          <p:spPr>
            <a:xfrm>
              <a:off x="523875" y="1323975"/>
              <a:ext cx="7201059" cy="3677271"/>
            </a:xfrm>
            <a:prstGeom prst="rect">
              <a:avLst/>
            </a:prstGeom>
            <a:ln w="12700">
              <a:noFill/>
              <a:prstDash val="solid"/>
            </a:ln>
          </p:spPr>
        </p:pic>
        <p:sp>
          <p:nvSpPr>
            <p:cNvPr id="8" name="AutoShape 8"/>
            <p:cNvSpPr/>
            <p:nvPr/>
          </p:nvSpPr>
          <p:spPr>
            <a:xfrm>
              <a:off x="893296" y="166375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893296" y="192732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893296" y="2172902"/>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893296" y="2424828"/>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3802087" y="166375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3802087" y="1927327"/>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3802087" y="2172902"/>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3802087" y="2424828"/>
              <a:ext cx="840459" cy="179947"/>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4712408" y="3265286"/>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4712408" y="3641058"/>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4712408" y="4033766"/>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4712408" y="4418006"/>
              <a:ext cx="600176" cy="299559"/>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1012908" y="4088809"/>
              <a:ext cx="600176" cy="600176"/>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1726345" y="4088809"/>
              <a:ext cx="600176" cy="600176"/>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2429197" y="4088809"/>
              <a:ext cx="600176" cy="600176"/>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pic>
        <p:nvPicPr>
          <p:cNvPr id="23" name="Picture 23"/>
          <p:cNvPicPr>
            <a:picLocks noChangeAspect="1"/>
          </p:cNvPicPr>
          <p:nvPr/>
        </p:nvPicPr>
        <p:blipFill>
          <a:blip r:embed="rId2"/>
          <a:srcRect/>
          <a:stretch>
            <a:fillRect/>
          </a:stretch>
        </p:blipFill>
        <p:spPr>
          <a:xfrm>
            <a:off x="8201660" y="2490470"/>
            <a:ext cx="3600000" cy="2510840"/>
          </a:xfrm>
          <a:prstGeom prst="rect">
            <a:avLst/>
          </a:prstGeom>
          <a:ln w="12700">
            <a:noFill/>
            <a:prstDash val="solid"/>
          </a:ln>
        </p:spPr>
      </p:pic>
      <p:sp>
        <p:nvSpPr>
          <p:cNvPr id="24" name="AutoShape 24"/>
          <p:cNvSpPr/>
          <p:nvPr/>
        </p:nvSpPr>
        <p:spPr>
          <a:xfrm>
            <a:off x="8201660" y="5001260"/>
            <a:ext cx="359981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Calibri" panose="020F0502020204030204"/>
                <a:ea typeface="Arial" panose="020B0604020202020204"/>
                <a:cs typeface="Arial" panose="020B0604020202020204"/>
                <a:sym typeface="Arial" panose="020B0604020202020204"/>
              </a:rPr>
              <a:t>XDNA</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669381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2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Architecture de calcul </a:t>
            </a:r>
            <a:r>
              <a:rPr lang="en-US" altLang="zh-CN" sz="2220" b="0" i="0" u="none" strike="noStrike">
                <a:solidFill>
                  <a:srgbClr val="262626"/>
                </a:solidFill>
                <a:latin typeface="Calibri" panose="020F0502020204030204"/>
                <a:ea typeface="Calibri" panose="020F0502020204030204"/>
                <a:cs typeface="Calibri" panose="020F0502020204030204"/>
                <a:sym typeface="Calibri" panose="020F0502020204030204"/>
              </a:rPr>
              <a:t>en m</a:t>
            </a:r>
            <a:r>
              <a:rPr lang="en-US" altLang="en-US" sz="222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220" b="0" i="0" u="none" strike="noStrike">
                <a:solidFill>
                  <a:srgbClr val="262626"/>
                </a:solidFill>
                <a:latin typeface="Calibri" panose="020F0502020204030204"/>
                <a:ea typeface="Calibri" panose="020F0502020204030204"/>
                <a:cs typeface="Calibri" panose="020F0502020204030204"/>
                <a:sym typeface="Calibri" panose="020F0502020204030204"/>
              </a:rPr>
              <a:t>moire</a:t>
            </a:r>
            <a:r>
              <a:rPr lang="en-US" sz="2220" b="0" i="0" u="none" strike="noStrike">
                <a:solidFill>
                  <a:srgbClr val="262626"/>
                </a:solidFill>
                <a:latin typeface="Calibri" panose="020F0502020204030204"/>
                <a:ea typeface="Calibri" panose="020F0502020204030204"/>
                <a:cs typeface="Calibri" panose="020F0502020204030204"/>
                <a:sym typeface="Calibri" panose="020F0502020204030204"/>
              </a:rPr>
              <a:t>(e.g., d-Matrix)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908800" cy="475678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16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Calcul : </a:t>
            </a:r>
            <a:r>
              <a:rPr lang="en-US" altLang="zh-CN" sz="1675" b="0" i="0" u="none" strike="noStrike">
                <a:solidFill>
                  <a:srgbClr val="404040"/>
                </a:solidFill>
                <a:latin typeface="Calibri" panose="020F0502020204030204"/>
                <a:ea typeface="Calibri" panose="020F0502020204030204"/>
                <a:cs typeface="Calibri" panose="020F0502020204030204"/>
                <a:sym typeface="Calibri" panose="020F0502020204030204"/>
              </a:rPr>
              <a:t>Calcul num</a:t>
            </a:r>
            <a:r>
              <a:rPr lang="en-US" altLang="en-US" sz="167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75" b="0" i="0" u="none" strike="noStrike">
                <a:solidFill>
                  <a:srgbClr val="404040"/>
                </a:solidFill>
                <a:latin typeface="Calibri" panose="020F0502020204030204"/>
                <a:ea typeface="Calibri" panose="020F0502020204030204"/>
                <a:cs typeface="Calibri" panose="020F0502020204030204"/>
                <a:sym typeface="Calibri" panose="020F0502020204030204"/>
              </a:rPr>
              <a:t>rique en m</a:t>
            </a:r>
            <a:r>
              <a:rPr lang="en-US" altLang="en-US" sz="167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75" b="0" i="0" u="none" strike="noStrike">
                <a:solidFill>
                  <a:srgbClr val="404040"/>
                </a:solidFill>
                <a:latin typeface="Calibri" panose="020F0502020204030204"/>
                <a:ea typeface="Calibri" panose="020F0502020204030204"/>
                <a:cs typeface="Calibri" panose="020F0502020204030204"/>
                <a:sym typeface="Calibri" panose="020F0502020204030204"/>
              </a:rPr>
              <a:t>moire</a:t>
            </a:r>
            <a:r>
              <a:rPr lang="en-US" sz="1675" b="0" i="0" u="none" strike="noStrike">
                <a:solidFill>
                  <a:srgbClr val="404040"/>
                </a:solidFill>
                <a:latin typeface="Calibri" panose="020F0502020204030204"/>
                <a:ea typeface="Calibri" panose="020F0502020204030204"/>
                <a:cs typeface="Calibri" panose="020F0502020204030204"/>
                <a:sym typeface="Calibri" panose="020F0502020204030204"/>
              </a:rPr>
              <a:t> (DIMC</a:t>
            </a:r>
            <a:r>
              <a:rPr lang="en-US" sz="16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167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Éviter le mouvement des données : intégrer physiquement les unités de calcul a l’int</a:t>
            </a:r>
            <a:r>
              <a:rPr lang="en-US" sz="139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rieur de la SRAM</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Précision numérique complète : </a:t>
            </a:r>
            <a:r>
              <a:rPr lang="en-US" altLang="zh-CN" b="0" i="0" u="none" strike="noStrike">
                <a:solidFill>
                  <a:srgbClr val="404040"/>
                </a:solidFill>
                <a:latin typeface="Calibri" panose="020F0502020204030204" charset="0"/>
                <a:ea typeface="微软雅黑" panose="020B0503020204020204" charset="-122"/>
                <a:cs typeface="Calibri" panose="020F0502020204030204" charset="0"/>
                <a:sym typeface="微软雅黑" panose="020B0503020204020204" charset="-122"/>
              </a:rPr>
              <a:t>supporte les formats bloc flottant MXINT8/MXINT4</a:t>
            </a:r>
            <a:endParaRPr lang="en-US" altLang="zh-CN"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Haute efficacité énergétique : </a:t>
            </a:r>
            <a:r>
              <a:rPr lang="en-US" sz="1395" b="1" i="0" u="none" strike="noStrike">
                <a:solidFill>
                  <a:srgbClr val="548235"/>
                </a:solidFill>
                <a:latin typeface="Calibri" panose="020F0502020204030204"/>
                <a:ea typeface="Calibri" panose="020F0502020204030204"/>
                <a:cs typeface="Calibri" panose="020F0502020204030204"/>
                <a:sym typeface="Calibri" panose="020F0502020204030204"/>
              </a:rPr>
              <a:t>38 TOPS/W</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contre environ 2,8 TOPS/W pour le H100</a:t>
            </a:r>
            <a:endPar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16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Stockage : repose sur la </a:t>
            </a:r>
            <a:r>
              <a:rPr lang="en-US" sz="1675" b="0" i="0" u="none" strike="noStrike">
                <a:solidFill>
                  <a:srgbClr val="404040"/>
                </a:solidFill>
                <a:latin typeface="Calibri" panose="020F0502020204030204"/>
                <a:ea typeface="Calibri" panose="020F0502020204030204"/>
                <a:cs typeface="Calibri" panose="020F0502020204030204"/>
                <a:sym typeface="Calibri" panose="020F0502020204030204"/>
              </a:rPr>
              <a:t>SRAM sur puce et une</a:t>
            </a:r>
            <a:r>
              <a:rPr lang="en-US" sz="16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hiérarchie mémoire innovante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Stash (</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stockage des poids</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395">
                <a:solidFill>
                  <a:srgbClr val="404040"/>
                </a:solidFill>
                <a:latin typeface="Calibri" panose="020F0502020204030204"/>
                <a:ea typeface="Calibri" panose="020F0502020204030204"/>
                <a:cs typeface="Calibri" panose="020F0502020204030204"/>
                <a:sym typeface="Calibri" panose="020F0502020204030204"/>
              </a:rPr>
              <a:t>6 Mo </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par tranche, bande passante agrégée de </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150 To/s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altLang="zh-CN" sz="1395" b="0"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alt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395"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stockage des activations</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4 Mo </a:t>
            </a:r>
            <a:r>
              <a:rPr lang="en-US" sz="139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par tranche</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LPDDR5 (</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capacité de 256 Go</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：Traiter les très grands modèles ou du c</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ache KV</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167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Scalabilité et pile logicielle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Technologie d'interconnexion </a:t>
            </a:r>
            <a:r>
              <a:rPr lang="en-US" sz="1395">
                <a:solidFill>
                  <a:srgbClr val="404040"/>
                </a:solidFill>
                <a:latin typeface="Calibri" panose="020F0502020204030204"/>
                <a:ea typeface="Calibri" panose="020F0502020204030204"/>
                <a:cs typeface="Calibri" panose="020F0502020204030204"/>
                <a:sym typeface="Calibri" panose="020F0502020204030204"/>
              </a:rPr>
              <a:t>Scale-Out</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et cartes réseau transparentes, contournant le </a:t>
            </a:r>
            <a:r>
              <a:rPr lang="en-US" sz="1395">
                <a:solidFill>
                  <a:srgbClr val="404040"/>
                </a:solidFill>
                <a:latin typeface="Calibri" panose="020F0502020204030204"/>
                <a:ea typeface="Calibri" panose="020F0502020204030204"/>
                <a:cs typeface="Calibri" panose="020F0502020204030204"/>
                <a:sym typeface="Calibri" panose="020F0502020204030204"/>
              </a:rPr>
              <a:t>RDMA</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complexe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r</a:t>
            </a:r>
            <a:r>
              <a:rPr lang="en-US" sz="139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untime </a:t>
            </a:r>
            <a:r>
              <a:rPr lang="en-US" sz="1395" b="0" i="0" u="none" strike="noStrike">
                <a:solidFill>
                  <a:srgbClr val="404040"/>
                </a:solidFill>
                <a:latin typeface="Calibri" panose="020F0502020204030204"/>
                <a:ea typeface="Calibri" panose="020F0502020204030204"/>
                <a:cs typeface="Calibri" panose="020F0502020204030204"/>
                <a:sym typeface="Calibri" panose="020F0502020204030204"/>
              </a:rPr>
              <a:t>Host-Free</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dans </a:t>
            </a:r>
            <a:r>
              <a:rPr lang="en-US" sz="139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pile logiciel </a:t>
            </a:r>
            <a:r>
              <a:rPr lang="en-US" sz="1395">
                <a:solidFill>
                  <a:srgbClr val="404040"/>
                </a:solidFill>
                <a:latin typeface="Calibri" panose="020F0502020204030204"/>
                <a:ea typeface="Calibri" panose="020F0502020204030204"/>
                <a:cs typeface="Calibri" panose="020F0502020204030204"/>
                <a:sym typeface="Calibri" panose="020F0502020204030204"/>
              </a:rPr>
              <a:t>Aviator</a:t>
            </a:r>
            <a:r>
              <a:rPr 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les c</a:t>
            </a:r>
            <a:r>
              <a:rPr lang="en-US" alt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œ</a:t>
            </a:r>
            <a:r>
              <a:rPr lang="en-US" altLang="zh-CN"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urs RISC-V sur le dispositif pilotent l’ex</a:t>
            </a:r>
            <a:r>
              <a:rPr lang="en-US" alt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cution du graphe de calcul, contournant le goulot d’</a:t>
            </a:r>
            <a:r>
              <a:rPr lang="en-US" altLang="en-US"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39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tranglement du CPU hôte.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6" name="Group 6"/>
          <p:cNvGrpSpPr/>
          <p:nvPr/>
        </p:nvGrpSpPr>
        <p:grpSpPr>
          <a:xfrm>
            <a:off x="7435215" y="797560"/>
            <a:ext cx="4617085" cy="5817870"/>
            <a:chOff x="7435215" y="797560"/>
            <a:chExt cx="4617085" cy="5817870"/>
          </a:xfrm>
        </p:grpSpPr>
        <p:pic>
          <p:nvPicPr>
            <p:cNvPr id="7" name="Picture 7"/>
            <p:cNvPicPr>
              <a:picLocks noChangeAspect="1"/>
            </p:cNvPicPr>
            <p:nvPr/>
          </p:nvPicPr>
          <p:blipFill>
            <a:blip r:embed="rId1"/>
            <a:srcRect/>
            <a:stretch>
              <a:fillRect/>
            </a:stretch>
          </p:blipFill>
          <p:spPr>
            <a:xfrm>
              <a:off x="7435215" y="3617476"/>
              <a:ext cx="4617085" cy="2997954"/>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8210106" y="797560"/>
              <a:ext cx="3048184" cy="2359290"/>
            </a:xfrm>
            <a:prstGeom prst="rect">
              <a:avLst/>
            </a:prstGeom>
            <a:ln w="12700">
              <a:noFill/>
              <a:prstDash val="solid"/>
            </a:ln>
          </p:spPr>
        </p:pic>
        <p:cxnSp>
          <p:nvCxnSpPr>
            <p:cNvPr id="9" name="Connector 9"/>
            <p:cNvCxnSpPr/>
            <p:nvPr/>
          </p:nvCxnSpPr>
          <p:spPr>
            <a:xfrm>
              <a:off x="8196365" y="3128173"/>
              <a:ext cx="2762604" cy="620143"/>
            </a:xfrm>
            <a:prstGeom prst="line">
              <a:avLst/>
            </a:prstGeom>
            <a:noFill/>
            <a:ln w="12700" cap="flat">
              <a:solidFill>
                <a:srgbClr val="A5A5A5">
                  <a:alpha val="100000"/>
                </a:srgbClr>
              </a:solidFill>
              <a:prstDash val="solid"/>
              <a:headEnd type="none" w="med" len="med"/>
              <a:tailEnd type="none" w="med" len="med"/>
            </a:ln>
          </p:spPr>
        </p:cxnSp>
        <p:cxnSp>
          <p:nvCxnSpPr>
            <p:cNvPr id="10" name="Connector 10"/>
            <p:cNvCxnSpPr/>
            <p:nvPr/>
          </p:nvCxnSpPr>
          <p:spPr>
            <a:xfrm>
              <a:off x="11232600" y="3107263"/>
              <a:ext cx="25690" cy="641053"/>
            </a:xfrm>
            <a:prstGeom prst="line">
              <a:avLst/>
            </a:prstGeom>
            <a:noFill/>
            <a:ln w="12700" cap="flat">
              <a:solidFill>
                <a:srgbClr val="A5A5A5">
                  <a:alpha val="100000"/>
                </a:srgbClr>
              </a:solidFill>
              <a:prstDash val="solid"/>
              <a:headEnd type="none" w="med" len="med"/>
              <a:tailEnd type="none" w="med" len="med"/>
            </a:ln>
          </p:spPr>
        </p:cxn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3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Architecture d'intégration au niveau de la tranche</a:t>
            </a:r>
            <a:r>
              <a:rPr lang="en-US" sz="2535" b="0" i="0" u="none" strike="noStrike">
                <a:solidFill>
                  <a:srgbClr val="262626"/>
                </a:solidFill>
                <a:latin typeface="Calibri" panose="020F0502020204030204"/>
                <a:ea typeface="Calibri" panose="020F0502020204030204"/>
                <a:cs typeface="Calibri" panose="020F0502020204030204"/>
                <a:sym typeface="Calibri" panose="020F0502020204030204"/>
              </a:rPr>
              <a:t> (e.g., Cerebras)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791083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WSE-3 </a:t>
            </a:r>
            <a:r>
              <a:rPr 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Spécifications (</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vs Nvidia H100</a:t>
            </a:r>
            <a:r>
              <a:rPr 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Superficie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46,225 mm</a:t>
            </a:r>
            <a:r>
              <a:rPr lang="en-US" sz="1585" b="0" i="0" u="none" strike="noStrike" baseline="30000">
                <a:solidFill>
                  <a:srgbClr val="404040"/>
                </a:solidFill>
                <a:latin typeface="Calibri" panose="020F0502020204030204"/>
                <a:ea typeface="Calibri" panose="020F0502020204030204"/>
                <a:cs typeface="Calibri" panose="020F0502020204030204"/>
                <a:sym typeface="Calibri" panose="020F0502020204030204"/>
              </a:rPr>
              <a:t>2</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 (57x</a:t>
            </a: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Nombre de cœurs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900,000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AI cores (52x</a:t>
            </a: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Mémoire sur puce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44 Go SRAM (880x)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Bande passante mémoire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21 Po/s (7000x)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WSE-3 </a:t>
            </a:r>
            <a:r>
              <a:rPr 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cœur</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Calcul et mémoire étroitement disposés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Support pour haute performance</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AI</a:t>
            </a: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calcul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8/16-way SIMD </a:t>
            </a: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traiter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16/8</a:t>
            </a: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données de bits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Haute bande passante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SRAM </a:t>
            </a: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et </a:t>
            </a:r>
            <a:r>
              <a:rPr lang="en-US" sz="1585" b="0" i="0" u="none" strike="noStrike">
                <a:solidFill>
                  <a:srgbClr val="404040"/>
                </a:solidFill>
                <a:latin typeface="Calibri" panose="020F0502020204030204"/>
                <a:ea typeface="Calibri" panose="020F0502020204030204"/>
                <a:cs typeface="Calibri" panose="020F0502020204030204"/>
                <a:sym typeface="Calibri" panose="020F0502020204030204"/>
              </a:rPr>
              <a:t>Cache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Solution d'inférence : le parallélisme de pipeline </a:t>
            </a:r>
            <a:r>
              <a:rPr lang="en-US" altLang="zh-CN"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int</a:t>
            </a:r>
            <a:r>
              <a:rPr lang="en-US" alt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gr</a:t>
            </a:r>
            <a:r>
              <a:rPr lang="en-US" alt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 </a:t>
            </a:r>
            <a:r>
              <a:rPr lang="en-US" sz="190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sur puce (parallélisme en pipeline)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8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le mapper physiquement des couches du modèle sur différentes régions du wafer rend la tranche, avec une latence de communication quasi nulle</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r="38870" b="-807"/>
          <a:stretch>
            <a:fillRect/>
          </a:stretch>
        </p:blipFill>
        <p:spPr>
          <a:xfrm>
            <a:off x="8434705" y="1237615"/>
            <a:ext cx="1799590" cy="206248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568690" y="3404870"/>
            <a:ext cx="2690495" cy="3126105"/>
          </a:xfrm>
          <a:prstGeom prst="rect">
            <a:avLst/>
          </a:prstGeom>
          <a:ln w="12700">
            <a:noFill/>
            <a:prstDash val="solid"/>
          </a:ln>
        </p:spPr>
      </p:pic>
      <p:pic>
        <p:nvPicPr>
          <p:cNvPr id="8" name="Picture 8"/>
          <p:cNvPicPr>
            <a:picLocks noChangeAspect="1"/>
          </p:cNvPicPr>
          <p:nvPr/>
        </p:nvPicPr>
        <p:blipFill>
          <a:blip r:embed="rId1"/>
          <a:srcRect l="75302" t="69305"/>
          <a:stretch>
            <a:fillRect/>
          </a:stretch>
        </p:blipFill>
        <p:spPr>
          <a:xfrm>
            <a:off x="10410825" y="1931670"/>
            <a:ext cx="727075" cy="6280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737072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34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Architecture de super-nœud</a:t>
            </a:r>
            <a:r>
              <a:rPr lang="en-US" sz="2340" b="0" i="0" u="none" strike="noStrike">
                <a:solidFill>
                  <a:srgbClr val="262626"/>
                </a:solidFill>
                <a:latin typeface="Calibri" panose="020F0502020204030204"/>
                <a:ea typeface="Calibri" panose="020F0502020204030204"/>
                <a:cs typeface="Calibri" panose="020F0502020204030204"/>
                <a:sym typeface="Calibri" panose="020F0502020204030204"/>
              </a:rPr>
              <a:t> (e.g., NVL72 &amp; CloudMatrix 384)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[1] https://zhuanlan.zhihu.com/p/1919101924445254162</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655435" cy="540575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820" b="0" i="0" u="none" strike="noStrike">
                <a:solidFill>
                  <a:srgbClr val="404040"/>
                </a:solidFill>
                <a:latin typeface="Calibri" panose="020F0502020204030204"/>
                <a:ea typeface="Calibri" panose="020F0502020204030204"/>
                <a:cs typeface="Calibri" panose="020F0502020204030204"/>
                <a:sym typeface="Calibri" panose="020F0502020204030204"/>
              </a:rPr>
              <a:t>Nvidia NVL72</a:t>
            </a:r>
            <a:r>
              <a:rPr lang="en-US" sz="18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le rack en tant que puce</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 super-nœud au niveau de la puce, donnant la priorité au calcul</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Conception : </a:t>
            </a: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72 GPU Blackwell </a:t>
            </a:r>
            <a:r>
              <a:rPr lang="en-US" altLang="zh-CN" sz="1515" b="0" i="0" u="none" strike="noStrike">
                <a:solidFill>
                  <a:srgbClr val="404040"/>
                </a:solidFill>
                <a:latin typeface="Calibri" panose="020F0502020204030204"/>
                <a:ea typeface="Calibri" panose="020F0502020204030204"/>
                <a:cs typeface="Calibri" panose="020F0502020204030204"/>
                <a:sym typeface="Calibri" panose="020F0502020204030204"/>
              </a:rPr>
              <a:t>int</a:t>
            </a:r>
            <a:r>
              <a:rPr lang="en-US" alt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15" b="0" i="0" u="none" strike="noStrike">
                <a:solidFill>
                  <a:srgbClr val="404040"/>
                </a:solidFill>
                <a:latin typeface="Calibri" panose="020F0502020204030204"/>
                <a:ea typeface="Calibri" panose="020F0502020204030204"/>
                <a:cs typeface="Calibri" panose="020F0502020204030204"/>
                <a:sym typeface="Calibri" panose="020F0502020204030204"/>
              </a:rPr>
              <a:t>gr</a:t>
            </a:r>
            <a:r>
              <a:rPr lang="en-US" alt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15" b="0" i="0" u="none" strike="noStrike">
                <a:solidFill>
                  <a:srgbClr val="404040"/>
                </a:solidFill>
                <a:latin typeface="Calibri" panose="020F0502020204030204"/>
                <a:ea typeface="Calibri" panose="020F0502020204030204"/>
                <a:cs typeface="Calibri" panose="020F0502020204030204"/>
                <a:sym typeface="Calibri" panose="020F0502020204030204"/>
              </a:rPr>
              <a:t>s </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dans un seul rack, entièrement interconnecté </a:t>
            </a:r>
            <a:r>
              <a:rPr lang="en-US" sz="151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via un fond de panier en cuivre(</a:t>
            </a:r>
            <a:r>
              <a:rPr lang="en-US" sz="1515">
                <a:solidFill>
                  <a:srgbClr val="404040"/>
                </a:solidFill>
                <a:latin typeface="Calibri" panose="020F0502020204030204"/>
                <a:ea typeface="Calibri" panose="020F0502020204030204"/>
                <a:cs typeface="Calibri" panose="020F0502020204030204"/>
                <a:sym typeface="Calibri" panose="020F0502020204030204"/>
              </a:rPr>
              <a:t>NVLink Switch</a:t>
            </a:r>
            <a:r>
              <a:rPr lang="en-US" sz="151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Objectif : </a:t>
            </a:r>
            <a:r>
              <a:rPr lang="en-US" altLang="zh-CN"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approcher les performances du WSE-3</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avec des composants traditionnels, en utilisant des connexions en cuivre pour réalise</a:t>
            </a:r>
            <a:r>
              <a:rPr lang="en-US" altLang="zh-CN" sz="1515" b="0" i="0" u="none" strike="noStrike">
                <a:solidFill>
                  <a:srgbClr val="404040"/>
                </a:solidFill>
                <a:latin typeface="Calibri" panose="020F0502020204030204"/>
                <a:ea typeface="Calibri" panose="020F0502020204030204"/>
                <a:cs typeface="Calibri" panose="020F0502020204030204"/>
                <a:sym typeface="Calibri" panose="020F0502020204030204"/>
              </a:rPr>
              <a:t> une large bande passante en communication </a:t>
            </a:r>
            <a:r>
              <a:rPr lang="en-US" altLang="zh-CN"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tous-à-tous</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1515" b="0" i="0" u="none" strike="noStrike">
                <a:solidFill>
                  <a:srgbClr val="404040"/>
                </a:solidFill>
                <a:latin typeface="Calibri" panose="020F0502020204030204"/>
                <a:ea typeface="Calibri" panose="020F0502020204030204"/>
                <a:cs typeface="Calibri" panose="020F0502020204030204"/>
                <a:sym typeface="Calibri" panose="020F0502020204030204"/>
              </a:rPr>
              <a:t>au sein du rack</a:t>
            </a: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2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Huawei</a:t>
            </a:r>
            <a:r>
              <a:rPr lang="en-US" sz="1820" b="0" i="0" u="none" strike="noStrike">
                <a:solidFill>
                  <a:srgbClr val="404040"/>
                </a:solidFill>
                <a:latin typeface="Calibri" panose="020F0502020204030204"/>
                <a:ea typeface="Calibri" panose="020F0502020204030204"/>
                <a:cs typeface="Calibri" panose="020F0502020204030204"/>
                <a:sym typeface="Calibri" panose="020F0502020204030204"/>
              </a:rPr>
              <a:t> Cloud-Matrix 384</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Un super-nœud monolithique au niveau du système, priorité à la communication</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Logique : Interconnecter des centaines de processeurs </a:t>
            </a: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Ascend </a:t>
            </a:r>
            <a:r>
              <a:rPr lang="en-US" sz="151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via le protocole privé </a:t>
            </a:r>
            <a:r>
              <a:rPr lang="en-US" sz="1515">
                <a:solidFill>
                  <a:srgbClr val="404040"/>
                </a:solidFill>
                <a:latin typeface="Calibri" panose="020F0502020204030204"/>
                <a:ea typeface="Calibri" panose="020F0502020204030204"/>
                <a:cs typeface="Calibri" panose="020F0502020204030204"/>
                <a:sym typeface="Calibri" panose="020F0502020204030204"/>
              </a:rPr>
              <a:t>HCCS</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construisant </a:t>
            </a:r>
            <a:r>
              <a:rPr lang="en-US" altLang="zh-CN"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ainsi</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un pool mémoire unifié</a:t>
            </a: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Avantages de polyvalence : </a:t>
            </a:r>
            <a:r>
              <a:rPr lang="en-US" altLang="zh-CN"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Compar</a:t>
            </a:r>
            <a:r>
              <a:rPr lang="en-US" alt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aux puces d'inférence dédiées, équilibrant l'entraînement et l'inférence à grande échelle, avec un écosystème </a:t>
            </a:r>
            <a:r>
              <a:rPr lang="en-US" sz="1515" b="0" i="0" u="none" strike="noStrike">
                <a:solidFill>
                  <a:srgbClr val="404040"/>
                </a:solidFill>
                <a:latin typeface="Calibri" panose="020F0502020204030204"/>
                <a:ea typeface="Calibri" panose="020F0502020204030204"/>
                <a:cs typeface="Calibri" panose="020F0502020204030204"/>
                <a:sym typeface="Calibri" panose="020F0502020204030204"/>
              </a:rPr>
              <a:t>CANN</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515">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mature</a:t>
            </a:r>
            <a:r>
              <a:rPr lang="en-US" sz="151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112125" y="1065530"/>
            <a:ext cx="2963545" cy="29635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179310" y="4284980"/>
            <a:ext cx="4622165" cy="19932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30" b="0" i="0" u="none" strike="noStrike">
                <a:solidFill>
                  <a:srgbClr val="262626"/>
                </a:solidFill>
                <a:latin typeface="Calibri" panose="020F0502020204030204"/>
                <a:ea typeface="Calibri" panose="020F0502020204030204"/>
                <a:cs typeface="Calibri" panose="020F0502020204030204"/>
                <a:sym typeface="Calibri" panose="020F0502020204030204"/>
              </a:rPr>
              <a:t>C</a:t>
            </a:r>
            <a:r>
              <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omparaison entre les param</a:t>
            </a:r>
            <a:r>
              <a:rPr lang="en-US" alt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è</a:t>
            </a:r>
            <a:r>
              <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tres du mod</a:t>
            </a:r>
            <a:r>
              <a:rPr lang="en-US" alt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è</a:t>
            </a:r>
            <a:r>
              <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le </a:t>
            </a:r>
            <a:endPar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et la capacit</a:t>
            </a:r>
            <a:r>
              <a:rPr lang="en-US" alt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m</a:t>
            </a:r>
            <a:r>
              <a:rPr lang="en-US" alt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é</a:t>
            </a:r>
            <a:r>
              <a:rPr lang="en-US" altLang="zh-CN"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moire du</a:t>
            </a:r>
            <a:r>
              <a:rPr lang="en-US" sz="26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2630">
                <a:solidFill>
                  <a:srgbClr val="262626"/>
                </a:solidFill>
                <a:latin typeface="Calibri" panose="020F0502020204030204"/>
                <a:ea typeface="Calibri" panose="020F0502020204030204"/>
                <a:cs typeface="Calibri" panose="020F0502020204030204"/>
                <a:sym typeface="Calibri" panose="020F0502020204030204"/>
              </a:rPr>
              <a:t>GPU</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100" b="0" i="0" u="none" strike="noStrike">
                <a:solidFill>
                  <a:srgbClr val="404040"/>
                </a:solidFill>
                <a:latin typeface="Calibri" panose="020F0502020204030204"/>
                <a:ea typeface="Calibri" panose="020F0502020204030204"/>
                <a:cs typeface="Calibri" panose="020F0502020204030204"/>
                <a:sym typeface="Calibri" panose="020F0502020204030204"/>
              </a:rPr>
              <a:t>la loi de Moore en NLP</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Paramètres du modèle : </a:t>
            </a:r>
            <a:r>
              <a:rPr lang="en-US" sz="1750" b="1" i="0" u="none" strike="noStrike">
                <a:solidFill>
                  <a:srgbClr val="C00000"/>
                </a:solidFill>
                <a:latin typeface="Calibri" panose="020F0502020204030204"/>
                <a:ea typeface="Calibri" panose="020F0502020204030204"/>
                <a:cs typeface="Calibri" panose="020F0502020204030204"/>
                <a:sym typeface="Calibri" panose="020F0502020204030204"/>
              </a:rPr>
              <a:t>&gt;10,000</a:t>
            </a:r>
            <a:r>
              <a:rPr lang="en-US" sz="1750" b="1" i="0" u="none" strike="noStrike">
                <a:solidFill>
                  <a:srgbClr val="C00000"/>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75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de croissance en </a:t>
            </a:r>
            <a:r>
              <a:rPr lang="en-US" sz="2000">
                <a:solidFill>
                  <a:srgbClr val="404040"/>
                </a:solidFill>
                <a:latin typeface="Calibri" panose="020F0502020204030204"/>
                <a:ea typeface="Calibri" panose="020F0502020204030204"/>
                <a:cs typeface="Calibri" panose="020F0502020204030204"/>
                <a:sym typeface="Calibri" panose="020F0502020204030204"/>
              </a:rPr>
              <a:t>7</a:t>
            </a:r>
            <a:r>
              <a:rPr lang="en-US" sz="200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ans</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45"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La croissance de la mémoire </a:t>
            </a:r>
            <a:r>
              <a:rPr lang="en-US">
                <a:solidFill>
                  <a:srgbClr val="404040"/>
                </a:solidFill>
                <a:ea typeface="Calibri" panose="020F0502020204030204"/>
                <a:cs typeface="Calibri" panose="020F0502020204030204"/>
                <a:sym typeface="Calibri" panose="020F0502020204030204"/>
              </a:rPr>
              <a:t>GPU</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7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Capacité mémoire: </a:t>
            </a:r>
            <a:r>
              <a:rPr lang="en-US" sz="1870" b="1" i="0" u="none" strike="noStrike">
                <a:solidFill>
                  <a:srgbClr val="C00000"/>
                </a:solidFill>
                <a:latin typeface="Calibri" panose="020F0502020204030204"/>
                <a:ea typeface="Calibri" panose="020F0502020204030204"/>
                <a:cs typeface="Calibri" panose="020F0502020204030204"/>
                <a:sym typeface="Calibri" panose="020F0502020204030204"/>
              </a:rPr>
              <a:t>&lt;10</a:t>
            </a:r>
            <a:r>
              <a:rPr lang="en-US" sz="1870" b="1" i="0" u="none" strike="noStrike">
                <a:solidFill>
                  <a:srgbClr val="C00000"/>
                </a:solidFill>
                <a:latin typeface="Calibri" panose="020F0502020204030204" charset="-122"/>
                <a:ea typeface="微软雅黑" panose="020B0503020204020204" charset="-122"/>
                <a:cs typeface="微软雅黑" panose="020B0503020204020204" charset="-122"/>
                <a:sym typeface="微软雅黑" panose="020B0503020204020204" charset="-122"/>
              </a:rPr>
              <a:t>×</a:t>
            </a:r>
            <a:r>
              <a:rPr lang="en-US" sz="1870" b="0" i="0" u="none" strike="noStrike">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 de croissance en </a:t>
            </a:r>
            <a:r>
              <a:rPr lang="en-US" sz="2000">
                <a:solidFill>
                  <a:srgbClr val="404040"/>
                </a:solidFill>
                <a:latin typeface="Calibri" panose="020F0502020204030204"/>
                <a:ea typeface="Calibri" panose="020F0502020204030204"/>
                <a:cs typeface="Calibri" panose="020F0502020204030204"/>
                <a:sym typeface="Calibri" panose="020F0502020204030204"/>
              </a:rPr>
              <a:t>7</a:t>
            </a:r>
            <a:r>
              <a:rPr lang="en-US" sz="2000">
                <a:solidFill>
                  <a:srgbClr val="404040"/>
                </a:solidFill>
                <a:latin typeface="Calibri" panose="020F0502020204030204" charset="-122"/>
                <a:ea typeface="微软雅黑" panose="020B0503020204020204" charset="-122"/>
                <a:cs typeface="微软雅黑" panose="020B0503020204020204" charset="-122"/>
                <a:sym typeface="微软雅黑" panose="020B0503020204020204" charset="-122"/>
              </a:rPr>
              <a:t>ans </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indent="0" algn="l">
              <a:lnSpc>
                <a:spcPct val="100000"/>
              </a:lnSpc>
              <a:spcBef>
                <a:spcPts val="1500"/>
              </a:spcBef>
            </a:pPr>
            <a:r>
              <a:rPr lang="en-US" sz="22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7" name="Table 7"/>
          <p:cNvGraphicFramePr>
            <a:graphicFrameLocks noGrp="1"/>
          </p:cNvGraphicFramePr>
          <p:nvPr/>
        </p:nvGraphicFramePr>
        <p:xfrm>
          <a:off x="863600" y="2407285"/>
          <a:ext cx="4288155" cy="3503295"/>
        </p:xfrm>
        <a:graphic>
          <a:graphicData uri="http://schemas.openxmlformats.org/drawingml/2006/table">
            <a:tbl>
              <a:tblPr>
                <a:effectLst/>
              </a:tblPr>
              <a:tblGrid>
                <a:gridCol w="1250950"/>
                <a:gridCol w="1391285"/>
                <a:gridCol w="1645920"/>
              </a:tblGrid>
              <a:tr h="389255">
                <a:tc>
                  <a:txBody>
                    <a:bodyPr rtlCol="0"/>
                    <a:lstStyle/>
                    <a:p>
                      <a:pPr indent="0" algn="l">
                        <a:lnSpc>
                          <a:spcPct val="100000"/>
                        </a:lnSpc>
                        <a:defRPr/>
                      </a:pPr>
                      <a:r>
                        <a:rPr lang="en-US" sz="1800" b="0" i="0" u="none" strike="noStrike">
                          <a:solidFill>
                            <a:srgbClr val="FFFFFF"/>
                          </a:solidFill>
                          <a:latin typeface="Calibri" panose="020F0502020204030204" charset="-122"/>
                          <a:ea typeface="微软雅黑" panose="020B0503020204020204" charset="-122"/>
                          <a:cs typeface="微软雅黑" panose="020B0503020204020204" charset="-122"/>
                          <a:sym typeface="微软雅黑" panose="020B0503020204020204" charset="-122"/>
                        </a:rPr>
                        <a:t>Temps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Calibri" panose="020F0502020204030204" charset="-122"/>
                          <a:ea typeface="微软雅黑" panose="020B0503020204020204" charset="-122"/>
                          <a:cs typeface="微软雅黑" panose="020B0503020204020204" charset="-122"/>
                          <a:sym typeface="微软雅黑" panose="020B0503020204020204" charset="-122"/>
                        </a:rPr>
                        <a:t>Modèle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Calibri" panose="020F0502020204030204" charset="-122"/>
                          <a:ea typeface="微软雅黑" panose="020B0503020204020204" charset="-122"/>
                          <a:cs typeface="微软雅黑" panose="020B0503020204020204" charset="-122"/>
                          <a:sym typeface="微软雅黑" panose="020B0503020204020204" charset="-122"/>
                        </a:rPr>
                        <a:t>Échelle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2018</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BERT-Large </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0.34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2019</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GPT-2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1.5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GPT-3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175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GPT-4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≈1.8 T (MoE)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Llama-3.1</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405 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Gemini 1.5 Pro</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≈1.5 T</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DeepSeek-V3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671 B (MoE)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8925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GPT-4.5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≈12.8 T (MoE)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graphicFrame>
        <p:nvGraphicFramePr>
          <p:cNvPr id="8" name="Table 8"/>
          <p:cNvGraphicFramePr>
            <a:graphicFrameLocks noGrp="1"/>
          </p:cNvGraphicFramePr>
          <p:nvPr/>
        </p:nvGraphicFramePr>
        <p:xfrm>
          <a:off x="6210300" y="2407285"/>
          <a:ext cx="4861560" cy="3504565"/>
        </p:xfrm>
        <a:graphic>
          <a:graphicData uri="http://schemas.openxmlformats.org/drawingml/2006/table">
            <a:tbl>
              <a:tblPr>
                <a:effectLst/>
              </a:tblPr>
              <a:tblGrid>
                <a:gridCol w="1215390"/>
                <a:gridCol w="1215390"/>
                <a:gridCol w="1215390"/>
                <a:gridCol w="1215390"/>
              </a:tblGrid>
              <a:tr h="914400">
                <a:tc>
                  <a:txBody>
                    <a:bodyPr rtlCol="0"/>
                    <a:lstStyle/>
                    <a:p>
                      <a:pPr indent="0" algn="l">
                        <a:lnSpc>
                          <a:spcPct val="100000"/>
                        </a:lnSpc>
                        <a:defRPr/>
                      </a:pPr>
                      <a:r>
                        <a:rPr lang="en-US" sz="1800" b="0" i="0" u="none" strike="noStrike">
                          <a:solidFill>
                            <a:srgbClr val="FFFFFF"/>
                          </a:solidFill>
                          <a:latin typeface="Calibri" panose="020F0502020204030204" charset="-122"/>
                          <a:ea typeface="微软雅黑" panose="020B0503020204020204" charset="-122"/>
                          <a:cs typeface="微软雅黑" panose="020B0503020204020204" charset="-122"/>
                          <a:sym typeface="微软雅黑" panose="020B0503020204020204" charset="-122"/>
                        </a:rPr>
                        <a:t>Temps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GPU</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Calibri" panose="020F0502020204030204" charset="-122"/>
                          <a:ea typeface="微软雅黑" panose="020B0503020204020204" charset="-122"/>
                          <a:cs typeface="微软雅黑" panose="020B0503020204020204" charset="-122"/>
                          <a:sym typeface="微软雅黑" panose="020B0503020204020204" charset="-122"/>
                        </a:rPr>
                        <a:t>Capacité mémoire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800" b="0" i="0" u="none" strike="noStrike">
                          <a:solidFill>
                            <a:srgbClr val="FFFFFF"/>
                          </a:solidFill>
                          <a:latin typeface="Calibri" panose="020F0502020204030204" charset="-122"/>
                          <a:ea typeface="微软雅黑" panose="020B0503020204020204" charset="-122"/>
                          <a:cs typeface="微软雅黑" panose="020B0503020204020204" charset="-122"/>
                          <a:sym typeface="微软雅黑" panose="020B0503020204020204" charset="-122"/>
                        </a:rPr>
                        <a:t>Bande passante mémoire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7020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2018</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V100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32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900 GB/s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20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A100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80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69570">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2022</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A800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80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69570">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2023</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H100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94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3.9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69570">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2024</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H200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141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4.8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B200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192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8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205">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2025</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B300</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288 GB</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10 TB/s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9" name="AutoShape 9"/>
          <p:cNvSpPr/>
          <p:nvPr/>
        </p:nvSpPr>
        <p:spPr>
          <a:xfrm>
            <a:off x="6156325" y="6109970"/>
            <a:ext cx="5156200" cy="30670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395" b="1" i="1" u="none" strike="noStrike">
                <a:solidFill>
                  <a:srgbClr val="000000"/>
                </a:solidFill>
                <a:latin typeface="Calibri" panose="020F0502020204030204" charset="-122"/>
                <a:ea typeface="微软雅黑" panose="020B0503020204020204" charset="-122"/>
                <a:cs typeface="微软雅黑" panose="020B0503020204020204" charset="-122"/>
                <a:sym typeface="微软雅黑" panose="020B0503020204020204" charset="-122"/>
              </a:rPr>
              <a:t>Grande échelle, haute bande passante</a:t>
            </a:r>
            <a:r>
              <a:rPr lang="en-US" sz="1395" b="0" i="1" u="none" strike="noStrike">
                <a:solidFill>
                  <a:srgbClr val="000000"/>
                </a:solidFill>
                <a:latin typeface="Calibri" panose="020F0502020204030204" charset="-122"/>
                <a:ea typeface="微软雅黑" panose="020B0503020204020204" charset="-122"/>
                <a:cs typeface="微软雅黑" panose="020B0503020204020204" charset="-122"/>
                <a:sym typeface="微软雅黑" panose="020B0503020204020204" charset="-122"/>
              </a:rPr>
              <a:t>Interconnexion nécessaire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8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La course d'obstacles de </a:t>
            </a:r>
            <a:r>
              <a:rPr lang="en-US" altLang="zh-CN" sz="288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l’IA </a:t>
            </a:r>
            <a:r>
              <a:rPr lang="en-US" sz="288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sz="1925"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les défis d’un monde multi-puces</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2562860" y="1741170"/>
            <a:ext cx="7200000" cy="40186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Solution : </a:t>
            </a:r>
            <a:r>
              <a:rPr lang="en-US" sz="2830" b="0" i="0" u="none" strike="noStrike">
                <a:solidFill>
                  <a:srgbClr val="262626"/>
                </a:solidFill>
                <a:latin typeface="Calibri" panose="020F0502020204030204"/>
                <a:ea typeface="Calibri" panose="020F0502020204030204"/>
                <a:cs typeface="Calibri" panose="020F0502020204030204"/>
                <a:sym typeface="Calibri" panose="020F0502020204030204"/>
              </a:rPr>
              <a:t>FlagOS</a:t>
            </a:r>
            <a:r>
              <a:rPr lang="en-US" sz="28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Pile logicielle IA unifi</a:t>
            </a:r>
            <a:r>
              <a:rPr lang="en-US" altLang="en-US"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e</a:t>
            </a:r>
            <a:endParaRPr lang="en-US" altLang="zh-CN"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pic>
        <p:nvPicPr>
          <p:cNvPr id="5" name="Picture 3" descr="image.png"/>
          <p:cNvPicPr>
            <a:picLocks noChangeAspect="1"/>
          </p:cNvPicPr>
          <p:nvPr/>
        </p:nvPicPr>
        <p:blipFill>
          <a:blip r:embed="rId1"/>
          <a:stretch>
            <a:fillRect/>
          </a:stretch>
        </p:blipFill>
        <p:spPr>
          <a:xfrm>
            <a:off x="741493" y="1256030"/>
            <a:ext cx="9408534"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xfrm>
            <a:off x="965750" y="1976727"/>
            <a:ext cx="10392032" cy="2387600"/>
          </a:xfrm>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 </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Fondements des Modèles de Programmation Hétérogène</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1" i="0" u="none" strike="noStrike" spc="0">
                <a:solidFill>
                  <a:srgbClr val="8B0012">
                    <a:alpha val="100000"/>
                  </a:srgbClr>
                </a:solidFill>
                <a:latin typeface="微软雅黑" panose="020B0503020204020204" charset="-122"/>
              </a:defRPr>
            </a:lvl1pPr>
          </a:lstStyle>
          <a:p>
            <a:pPr marL="355600" indent="-355600" algn="l">
              <a:lnSpc>
                <a:spcPct val="100000"/>
              </a:lnSpc>
              <a:spcBef>
                <a:spcPts val="3000"/>
              </a:spcBef>
              <a:buClr>
                <a:srgbClr val="8B0012"/>
              </a:buClr>
              <a:buChar char="•"/>
            </a:pPr>
            <a:r>
              <a:rPr lang="en-US" sz="2800" b="1"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Hôte, Appareil et Interconnexion</a:t>
            </a:r>
            <a:endParaRPr lang="en-US" sz="2800" b="1"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Hôte</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 </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PCIe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NVLink-C2C</a:t>
            </a:r>
            <a:endParaRPr lang="en-US" sz="24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Appareil: </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PCIe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NVLink</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Ebrima" panose="02000000000000000000"/>
                <a:ea typeface="Ebrima" panose="02000000000000000000"/>
                <a:cs typeface="Ebrima" panose="02000000000000000000"/>
                <a:sym typeface="Ebrima" panose="02000000000000000000"/>
              </a:rPr>
              <a:t>RDMA</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Ebrima" panose="02000000000000000000"/>
              </a:rPr>
              <a:t>CUDA </a:t>
            </a: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Programmation Principale</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微软雅黑" panose="020B0503020204020204" charset="-122"/>
              </a:defRPr>
            </a:lvl1pPr>
          </a:lstStyle>
          <a:p>
            <a:pPr indent="0" algn="ctr">
              <a:lnSpc>
                <a:spcPct val="100000"/>
              </a:lnSpc>
              <a:spcBef>
                <a:spcPts val="1500"/>
              </a:spcBef>
            </a:pPr>
            <a:r>
              <a:rPr lang="en-US" sz="32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Plan du Cours</a:t>
            </a:r>
            <a:endParaRPr lang="en-US" sz="32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5908208"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465" b="0" i="0" u="none" strike="noStrike">
                <a:solidFill>
                  <a:srgbClr val="262626"/>
                </a:solidFill>
                <a:latin typeface="Calibri" panose="020F0502020204030204"/>
                <a:ea typeface="Calibri" panose="020F0502020204030204"/>
                <a:cs typeface="Calibri" panose="020F0502020204030204"/>
                <a:sym typeface="Calibri" panose="020F0502020204030204"/>
              </a:rPr>
              <a:t>AI </a:t>
            </a:r>
            <a:r>
              <a:rPr lang="en-US" sz="24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Genealogie materielle : Exemples (</a:t>
            </a:r>
            <a:r>
              <a:rPr lang="en-US" sz="2465" b="0" i="0" u="none" strike="noStrike">
                <a:solidFill>
                  <a:srgbClr val="262626"/>
                </a:solidFill>
                <a:latin typeface="Calibri" panose="020F0502020204030204"/>
                <a:ea typeface="Calibri" panose="020F0502020204030204"/>
                <a:cs typeface="Calibri" panose="020F0502020204030204"/>
                <a:sym typeface="Calibri" panose="020F0502020204030204"/>
              </a:rPr>
              <a:t>1/2</a:t>
            </a:r>
            <a:r>
              <a:rPr lang="en-US" sz="24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2491105" y="1318895"/>
            <a:ext cx="3903345" cy="219837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49612" y="958566"/>
            <a:ext cx="2449563" cy="2454433"/>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2886321" y="3763880"/>
            <a:ext cx="2620322" cy="2625532"/>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5528310" y="3866515"/>
            <a:ext cx="4664075" cy="2618740"/>
          </a:xfrm>
          <a:prstGeom prst="rect">
            <a:avLst/>
          </a:prstGeom>
          <a:ln w="12700">
            <a:noFill/>
            <a:prstDash val="solid"/>
          </a:ln>
        </p:spPr>
      </p:pic>
      <p:sp>
        <p:nvSpPr>
          <p:cNvPr id="10" name="AutoShape 10"/>
          <p:cNvSpPr/>
          <p:nvPr/>
        </p:nvSpPr>
        <p:spPr>
          <a:xfrm>
            <a:off x="568475" y="1978814"/>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Cloud </a:t>
            </a:r>
            <a:r>
              <a:rPr lang="en-US" sz="1800" b="1" i="0" u="none" strike="noStrike">
                <a:solidFill>
                  <a:srgbClr val="548235"/>
                </a:solidFill>
                <a:latin typeface="Calibri" panose="020F0502020204030204"/>
                <a:ea typeface="Arial" panose="020B0604020202020204"/>
                <a:cs typeface="Arial" panose="020B0604020202020204"/>
                <a:sym typeface="Arial" panose="020B0604020202020204"/>
              </a:rPr>
              <a:t> ML</a:t>
            </a:r>
            <a:endParaRPr lang="en-US" sz="1800"/>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NVIDIA DGX 100</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1" name="AutoShape 11"/>
          <p:cNvSpPr/>
          <p:nvPr/>
        </p:nvSpPr>
        <p:spPr>
          <a:xfrm>
            <a:off x="9354070" y="1978586"/>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Edge </a:t>
            </a:r>
            <a:r>
              <a:rPr lang="en-US" sz="1800" b="1" i="0" u="none" strike="noStrike">
                <a:solidFill>
                  <a:srgbClr val="548235"/>
                </a:solidFill>
                <a:latin typeface="Calibri" panose="020F0502020204030204"/>
                <a:ea typeface="Arial" panose="020B0604020202020204"/>
                <a:cs typeface="Arial" panose="020B0604020202020204"/>
                <a:sym typeface="Arial" panose="020B0604020202020204"/>
              </a:rPr>
              <a:t> ML</a:t>
            </a:r>
            <a:endParaRPr lang="en-US" sz="1800"/>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NVIDIA Jetson</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AGX Orin</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2" name="AutoShape 12"/>
          <p:cNvSpPr/>
          <p:nvPr/>
        </p:nvSpPr>
        <p:spPr>
          <a:xfrm>
            <a:off x="568475" y="4868975"/>
            <a:ext cx="2017265"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Mobile </a:t>
            </a:r>
            <a:r>
              <a:rPr lang="en-US" sz="1800" b="1" i="0" u="none" strike="noStrike">
                <a:solidFill>
                  <a:srgbClr val="548235"/>
                </a:solidFill>
                <a:latin typeface="Calibri" panose="020F0502020204030204"/>
                <a:ea typeface="Arial" panose="020B0604020202020204"/>
                <a:cs typeface="Arial" panose="020B0604020202020204"/>
                <a:sym typeface="Arial" panose="020B0604020202020204"/>
              </a:rPr>
              <a:t> ML</a:t>
            </a:r>
            <a:endParaRPr lang="en-US" sz="1800"/>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iPhone</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3" name="AutoShape 13"/>
          <p:cNvSpPr/>
          <p:nvPr/>
        </p:nvSpPr>
        <p:spPr>
          <a:xfrm>
            <a:off x="9292377" y="4869029"/>
            <a:ext cx="2448000" cy="414929"/>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800"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Micro </a:t>
            </a:r>
            <a:r>
              <a:rPr lang="en-US" sz="1800" b="1" i="0" u="none" strike="noStrike">
                <a:solidFill>
                  <a:srgbClr val="548235"/>
                </a:solidFill>
                <a:latin typeface="Calibri" panose="020F0502020204030204"/>
                <a:ea typeface="Arial" panose="020B0604020202020204"/>
                <a:cs typeface="Arial" panose="020B0604020202020204"/>
                <a:sym typeface="Arial" panose="020B0604020202020204"/>
              </a:rPr>
              <a:t> ML</a:t>
            </a:r>
            <a:endParaRPr lang="en-US" sz="1800"/>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Arduino Nano 33</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ctr">
              <a:lnSpc>
                <a:spcPct val="100000"/>
              </a:lnSpc>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BLE Sense</a:t>
            </a:r>
            <a:endParaRPr lang="en-US" sz="18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AI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Genealogie materielle : exemples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2/2</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https://www.mlsysbook.ai/contents/core/ml_systems/ml_systems.html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254531" y="1531795"/>
            <a:ext cx="5825790" cy="39732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80311" y="2007539"/>
            <a:ext cx="5857124" cy="2399067"/>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080311" y="1531838"/>
            <a:ext cx="5838623" cy="475691"/>
          </a:xfrm>
          <a:prstGeom prst="rect">
            <a:avLst/>
          </a:prstGeom>
          <a:ln w="12700">
            <a:noFill/>
            <a:prstDash val="solid"/>
          </a:ln>
        </p:spPr>
      </p:pic>
      <p:sp>
        <p:nvSpPr>
          <p:cNvPr id="9" name="AutoShape 9"/>
          <p:cNvSpPr/>
          <p:nvPr/>
        </p:nvSpPr>
        <p:spPr>
          <a:xfrm>
            <a:off x="935355" y="1531620"/>
            <a:ext cx="5144770" cy="2367280"/>
          </a:xfrm>
          <a:prstGeom prst="rect">
            <a:avLst/>
          </a:prstGeom>
          <a:solidFill>
            <a:srgbClr val="4472C4">
              <a:alpha val="20000"/>
            </a:srgbClr>
          </a:solidFill>
          <a:ln w="12700" cap="flat">
            <a:solidFill>
              <a:srgbClr val="2F5597">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5355" y="3898900"/>
            <a:ext cx="5144770" cy="1606550"/>
          </a:xfrm>
          <a:prstGeom prst="rect">
            <a:avLst/>
          </a:prstGeom>
          <a:solidFill>
            <a:srgbClr val="ED7D31">
              <a:alpha val="20000"/>
            </a:srgbClr>
          </a:solidFill>
          <a:ln w="12700" cap="flat">
            <a:solidFill>
              <a:srgbClr val="843C0B">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6774180" y="1531620"/>
            <a:ext cx="5144770" cy="1435100"/>
          </a:xfrm>
          <a:prstGeom prst="rect">
            <a:avLst/>
          </a:prstGeom>
          <a:solidFill>
            <a:srgbClr val="FFC000">
              <a:alpha val="20000"/>
            </a:srgbClr>
          </a:solidFill>
          <a:ln w="12700" cap="flat">
            <a:solidFill>
              <a:srgbClr val="806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774180" y="2966720"/>
            <a:ext cx="5144770" cy="1435100"/>
          </a:xfrm>
          <a:prstGeom prst="rect">
            <a:avLst/>
          </a:prstGeom>
          <a:solidFill>
            <a:srgbClr val="70AD47">
              <a:alpha val="20000"/>
            </a:srgbClr>
          </a:solidFill>
          <a:ln w="12700" cap="flat">
            <a:solidFill>
              <a:srgbClr val="38572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60" b="0" i="0" u="none" strike="noStrike">
                <a:solidFill>
                  <a:srgbClr val="262626"/>
                </a:solidFill>
                <a:latin typeface="Calibri" panose="020F0502020204030204"/>
                <a:ea typeface="Calibri" panose="020F0502020204030204"/>
                <a:cs typeface="Calibri" panose="020F0502020204030204"/>
                <a:sym typeface="Calibri" panose="020F0502020204030204"/>
              </a:rPr>
              <a:t>AI </a:t>
            </a:r>
            <a:r>
              <a:rPr lang="en-US" sz="29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Deux formes de puces : exemple avec NVIDIA</a:t>
            </a:r>
            <a:endParaRPr lang="en-US" sz="29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Puce AI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discrete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exemple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DGX A100</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Puce AI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integree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exemple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Thor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r="6249"/>
          <a:stretch>
            <a:fillRect/>
          </a:stretch>
        </p:blipFill>
        <p:spPr>
          <a:xfrm>
            <a:off x="523875" y="2051050"/>
            <a:ext cx="5400000" cy="3402133"/>
          </a:xfrm>
          <a:prstGeom prst="rect">
            <a:avLst/>
          </a:prstGeom>
          <a:ln w="12700">
            <a:noFill/>
            <a:prstDash val="solid"/>
          </a:ln>
        </p:spPr>
      </p:pic>
      <p:sp>
        <p:nvSpPr>
          <p:cNvPr id="8" name="AutoShape 8"/>
          <p:cNvSpPr/>
          <p:nvPr/>
        </p:nvSpPr>
        <p:spPr>
          <a:xfrm>
            <a:off x="6041390" y="3366115"/>
            <a:ext cx="5760000" cy="2814619"/>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pris en charge</a:t>
            </a:r>
            <a:endParaRPr lang="en-US" sz="1100"/>
          </a:p>
        </p:txBody>
      </p:sp>
      <p:sp>
        <p:nvSpPr>
          <p:cNvPr id="9" name="AutoShape 9"/>
          <p:cNvSpPr/>
          <p:nvPr/>
        </p:nvSpPr>
        <p:spPr>
          <a:xfrm>
            <a:off x="6852020" y="1926120"/>
            <a:ext cx="3168000" cy="1440000"/>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pris en charge</a:t>
            </a:r>
            <a:endParaRPr lang="en-US" sz="1100"/>
          </a:p>
        </p:txBody>
      </p:sp>
      <p:pic>
        <p:nvPicPr>
          <p:cNvPr id="10" name="Picture 10"/>
          <p:cNvPicPr>
            <a:picLocks noChangeAspect="1"/>
          </p:cNvPicPr>
          <p:nvPr/>
        </p:nvPicPr>
        <p:blipFill>
          <a:blip r:embed="rId2"/>
          <a:srcRect/>
          <a:stretch>
            <a:fillRect/>
          </a:stretch>
        </p:blipFill>
        <p:spPr>
          <a:xfrm>
            <a:off x="524099" y="5000625"/>
            <a:ext cx="2880000" cy="1720992"/>
          </a:xfrm>
          <a:prstGeom prst="rect">
            <a:avLst/>
          </a:prstGeom>
          <a:ln w="12700">
            <a:noFill/>
            <a:prstDash val="solid"/>
          </a:ln>
        </p:spPr>
      </p:pic>
      <p:cxnSp>
        <p:nvCxnSpPr>
          <p:cNvPr id="11" name="Connector 11"/>
          <p:cNvCxnSpPr/>
          <p:nvPr/>
        </p:nvCxnSpPr>
        <p:spPr>
          <a:xfrm>
            <a:off x="3373120" y="3381375"/>
            <a:ext cx="1800000" cy="0"/>
          </a:xfrm>
          <a:prstGeom prst="line">
            <a:avLst/>
          </a:prstGeom>
          <a:noFill/>
          <a:ln w="38100" cap="flat">
            <a:solidFill>
              <a:srgbClr val="FF0000">
                <a:alpha val="100000"/>
              </a:srgbClr>
            </a:solidFill>
            <a:prstDash val="solid"/>
            <a:headEnd type="none" w="med" len="med"/>
            <a:tailEnd type="none" w="med" len="med"/>
          </a:ln>
        </p:spPr>
      </p:cxnSp>
      <p:cxnSp>
        <p:nvCxnSpPr>
          <p:cNvPr id="12" name="Connector 12"/>
          <p:cNvCxnSpPr/>
          <p:nvPr/>
        </p:nvCxnSpPr>
        <p:spPr>
          <a:xfrm>
            <a:off x="3151505" y="3857625"/>
            <a:ext cx="900000" cy="0"/>
          </a:xfrm>
          <a:prstGeom prst="line">
            <a:avLst/>
          </a:prstGeom>
          <a:noFill/>
          <a:ln w="38100" cap="flat">
            <a:solidFill>
              <a:srgbClr val="92D050">
                <a:alpha val="100000"/>
              </a:srgbClr>
            </a:solidFill>
            <a:prstDash val="solid"/>
            <a:headEnd type="none" w="med" len="med"/>
            <a:tailEnd type="none" w="med" len="med"/>
          </a:ln>
        </p:spPr>
      </p:cxnSp>
      <p:cxnSp>
        <p:nvCxnSpPr>
          <p:cNvPr id="13" name="Connector 13"/>
          <p:cNvCxnSpPr/>
          <p:nvPr/>
        </p:nvCxnSpPr>
        <p:spPr>
          <a:xfrm>
            <a:off x="3016885" y="4324350"/>
            <a:ext cx="900000" cy="0"/>
          </a:xfrm>
          <a:prstGeom prst="line">
            <a:avLst/>
          </a:prstGeom>
          <a:noFill/>
          <a:ln w="38100" cap="flat">
            <a:solidFill>
              <a:srgbClr val="00B050">
                <a:alpha val="100000"/>
              </a:srgbClr>
            </a:solidFill>
            <a:prstDash val="solid"/>
            <a:headEnd type="none" w="med" len="med"/>
            <a:tailEnd type="none" w="med" len="med"/>
          </a:ln>
        </p:spPr>
      </p:cxnSp>
      <p:cxnSp>
        <p:nvCxnSpPr>
          <p:cNvPr id="14" name="Connector 14"/>
          <p:cNvCxnSpPr/>
          <p:nvPr/>
        </p:nvCxnSpPr>
        <p:spPr>
          <a:xfrm>
            <a:off x="2921000" y="4781550"/>
            <a:ext cx="900000" cy="0"/>
          </a:xfrm>
          <a:prstGeom prst="line">
            <a:avLst/>
          </a:prstGeom>
          <a:noFill/>
          <a:ln w="38100" cap="flat">
            <a:solidFill>
              <a:srgbClr val="EA609E">
                <a:alpha val="100000"/>
              </a:srgbClr>
            </a:solidFill>
            <a:prstDash val="solid"/>
            <a:headEnd type="none" w="med" len="med"/>
            <a:tailEnd type="none" w="med" len="med"/>
          </a:ln>
        </p:spPr>
      </p:cxnSp>
      <p:cxnSp>
        <p:nvCxnSpPr>
          <p:cNvPr id="15" name="Connector 15"/>
          <p:cNvCxnSpPr/>
          <p:nvPr/>
        </p:nvCxnSpPr>
        <p:spPr>
          <a:xfrm>
            <a:off x="3723640" y="2867660"/>
            <a:ext cx="2160000" cy="0"/>
          </a:xfrm>
          <a:prstGeom prst="line">
            <a:avLst/>
          </a:prstGeom>
          <a:noFill/>
          <a:ln w="38100" cap="flat">
            <a:solidFill>
              <a:srgbClr val="00B0F0">
                <a:alpha val="100000"/>
              </a:srgbClr>
            </a:solidFill>
            <a:prstDash val="soli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CPU</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XPU</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intégration hétérogène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微软雅黑" panose="020B0503020204020204" charset="-122"/>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Intégration inter-puces (niveau carte)</a:t>
            </a: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Protocole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PCIe</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NVLink</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etc.</a:t>
            </a: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Intégration intra-puce</a:t>
            </a:r>
            <a:endPar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596900" lvl="1" indent="-254000" algn="l">
              <a:lnSpc>
                <a:spcPct val="92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Protocole : cohérence de cache unidirectionnelle ou bidirectionnelle</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7" name="Group 7"/>
          <p:cNvGrpSpPr/>
          <p:nvPr/>
        </p:nvGrpSpPr>
        <p:grpSpPr>
          <a:xfrm>
            <a:off x="354965" y="1708150"/>
            <a:ext cx="5760085" cy="3441700"/>
            <a:chOff x="354965" y="1708150"/>
            <a:chExt cx="5760085" cy="3441700"/>
          </a:xfrm>
        </p:grpSpPr>
        <p:pic>
          <p:nvPicPr>
            <p:cNvPr id="8" name="Picture 8"/>
            <p:cNvPicPr>
              <a:picLocks noChangeAspect="1"/>
            </p:cNvPicPr>
            <p:nvPr/>
          </p:nvPicPr>
          <p:blipFill>
            <a:blip r:embed="rId1"/>
            <a:srcRect/>
            <a:stretch>
              <a:fillRect/>
            </a:stretch>
          </p:blipFill>
          <p:spPr>
            <a:xfrm>
              <a:off x="354965" y="1708150"/>
              <a:ext cx="5760085" cy="3441700"/>
            </a:xfrm>
            <a:prstGeom prst="rect">
              <a:avLst/>
            </a:prstGeom>
            <a:ln w="12700">
              <a:noFill/>
              <a:prstDash val="solid"/>
            </a:ln>
          </p:spPr>
        </p:pic>
        <p:sp>
          <p:nvSpPr>
            <p:cNvPr id="9" name="AutoShape 9"/>
            <p:cNvSpPr/>
            <p:nvPr/>
          </p:nvSpPr>
          <p:spPr>
            <a:xfrm>
              <a:off x="1508125" y="2423795"/>
              <a:ext cx="575945" cy="53975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523875" y="3928110"/>
              <a:ext cx="575945" cy="53975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cxnSp>
          <p:nvCxnSpPr>
            <p:cNvPr id="11" name="Connector 11"/>
            <p:cNvCxnSpPr/>
            <p:nvPr/>
          </p:nvCxnSpPr>
          <p:spPr>
            <a:xfrm rot="10800000" flipV="1">
              <a:off x="812165" y="2963545"/>
              <a:ext cx="984250" cy="964565"/>
            </a:xfrm>
            <a:prstGeom prst="line">
              <a:avLst/>
            </a:prstGeom>
            <a:noFill/>
            <a:ln w="38100" cap="flat">
              <a:solidFill>
                <a:srgbClr val="7030A0">
                  <a:alpha val="100000"/>
                </a:srgbClr>
              </a:solidFill>
              <a:prstDash val="sysDot"/>
              <a:headEnd type="none" w="med" len="med"/>
              <a:tailEnd type="none" w="med" len="med"/>
            </a:ln>
          </p:spPr>
        </p:cxnSp>
        <p:sp>
          <p:nvSpPr>
            <p:cNvPr id="12" name="AutoShape 12"/>
            <p:cNvSpPr/>
            <p:nvPr/>
          </p:nvSpPr>
          <p:spPr>
            <a:xfrm>
              <a:off x="1363980" y="1840230"/>
              <a:ext cx="86423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CPU</a:t>
              </a:r>
              <a:endParaRPr lang="en-US" sz="1100"/>
            </a:p>
            <a:p>
              <a:pPr indent="0" algn="ctr">
                <a:lnSpc>
                  <a:spcPct val="100000"/>
                </a:lnSpc>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"host"</a:t>
              </a:r>
              <a:endParaRPr lang="en-US" sz="1240" b="1" i="0" u="none" strike="noStrike">
                <a:solidFill>
                  <a:srgbClr val="7030A0"/>
                </a:solidFill>
                <a:latin typeface="Calibri" panose="020F0502020204030204"/>
                <a:ea typeface="Arial" panose="020B0604020202020204"/>
                <a:cs typeface="Arial" panose="020B0604020202020204"/>
                <a:sym typeface="Arial" panose="020B0604020202020204"/>
              </a:endParaRPr>
            </a:p>
          </p:txBody>
        </p:sp>
        <p:sp>
          <p:nvSpPr>
            <p:cNvPr id="13" name="AutoShape 13"/>
            <p:cNvSpPr/>
            <p:nvPr/>
          </p:nvSpPr>
          <p:spPr>
            <a:xfrm>
              <a:off x="381000" y="4485005"/>
              <a:ext cx="86423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XPU</a:t>
              </a:r>
              <a:endParaRPr lang="en-US" sz="1100"/>
            </a:p>
            <a:p>
              <a:pPr indent="0" algn="ctr">
                <a:lnSpc>
                  <a:spcPct val="100000"/>
                </a:lnSpc>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"device"</a:t>
              </a:r>
              <a:endParaRPr lang="en-US" sz="1240" b="1" i="0" u="none" strike="noStrike">
                <a:solidFill>
                  <a:srgbClr val="7030A0"/>
                </a:solidFill>
                <a:latin typeface="Calibri" panose="020F0502020204030204"/>
                <a:ea typeface="Arial" panose="020B0604020202020204"/>
                <a:cs typeface="Arial" panose="020B0604020202020204"/>
                <a:sym typeface="Arial" panose="020B0604020202020204"/>
              </a:endParaRPr>
            </a:p>
          </p:txBody>
        </p:sp>
      </p:grpSp>
      <p:grpSp>
        <p:nvGrpSpPr>
          <p:cNvPr id="14" name="Group 14"/>
          <p:cNvGrpSpPr/>
          <p:nvPr/>
        </p:nvGrpSpPr>
        <p:grpSpPr>
          <a:xfrm>
            <a:off x="6210300" y="1840230"/>
            <a:ext cx="5760085" cy="3224530"/>
            <a:chOff x="6210300" y="1840230"/>
            <a:chExt cx="5760085" cy="3224530"/>
          </a:xfrm>
        </p:grpSpPr>
        <p:grpSp>
          <p:nvGrpSpPr>
            <p:cNvPr id="15" name="Group 15"/>
            <p:cNvGrpSpPr/>
            <p:nvPr/>
          </p:nvGrpSpPr>
          <p:grpSpPr>
            <a:xfrm>
              <a:off x="6210300" y="2250440"/>
              <a:ext cx="5760085" cy="2814320"/>
              <a:chOff x="6210300" y="2250440"/>
              <a:chExt cx="5760085" cy="2814320"/>
            </a:xfrm>
          </p:grpSpPr>
          <p:sp>
            <p:nvSpPr>
              <p:cNvPr id="16" name="AutoShape 16"/>
              <p:cNvSpPr/>
              <p:nvPr/>
            </p:nvSpPr>
            <p:spPr>
              <a:xfrm>
                <a:off x="6210300" y="2250440"/>
                <a:ext cx="5760085" cy="2814320"/>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supporté à l'importation</a:t>
                </a:r>
                <a:endParaRPr lang="en-US" sz="1100"/>
              </a:p>
            </p:txBody>
          </p:sp>
          <p:sp>
            <p:nvSpPr>
              <p:cNvPr id="17" name="AutoShape 17"/>
              <p:cNvSpPr/>
              <p:nvPr/>
            </p:nvSpPr>
            <p:spPr>
              <a:xfrm>
                <a:off x="7018655" y="2671445"/>
                <a:ext cx="899795" cy="899795"/>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8035925" y="2453005"/>
                <a:ext cx="1188085" cy="1259840"/>
              </a:xfrm>
              <a:prstGeom prst="rect">
                <a:avLst/>
              </a:prstGeom>
              <a:noFill/>
              <a:ln w="381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cxnSp>
            <p:nvCxnSpPr>
              <p:cNvPr id="19" name="Connector 19"/>
              <p:cNvCxnSpPr/>
              <p:nvPr/>
            </p:nvCxnSpPr>
            <p:spPr>
              <a:xfrm rot="5400000" flipV="1">
                <a:off x="7978775" y="3060700"/>
                <a:ext cx="141605" cy="1161415"/>
              </a:xfrm>
              <a:prstGeom prst="bentConnector3">
                <a:avLst>
                  <a:gd name="adj1" fmla="val 597309"/>
                </a:avLst>
              </a:prstGeom>
              <a:noFill/>
              <a:ln w="38100" cap="flat">
                <a:solidFill>
                  <a:srgbClr val="7030A0">
                    <a:alpha val="100000"/>
                  </a:srgbClr>
                </a:solidFill>
                <a:prstDash val="sysDot"/>
                <a:headEnd type="none" w="med" len="med"/>
                <a:tailEnd type="none" w="med" len="med"/>
              </a:ln>
            </p:spPr>
          </p:cxnSp>
        </p:grpSp>
        <p:sp>
          <p:nvSpPr>
            <p:cNvPr id="20" name="AutoShape 20"/>
            <p:cNvSpPr/>
            <p:nvPr/>
          </p:nvSpPr>
          <p:spPr>
            <a:xfrm>
              <a:off x="7018655" y="2087880"/>
              <a:ext cx="86423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CPU</a:t>
              </a:r>
              <a:endParaRPr lang="en-US" sz="1100"/>
            </a:p>
            <a:p>
              <a:pPr indent="0" algn="ctr">
                <a:lnSpc>
                  <a:spcPct val="100000"/>
                </a:lnSpc>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"host"</a:t>
              </a:r>
              <a:endParaRPr lang="en-US" sz="1240" b="1" i="0" u="none" strike="noStrike">
                <a:solidFill>
                  <a:srgbClr val="7030A0"/>
                </a:solidFill>
                <a:latin typeface="Calibri" panose="020F0502020204030204"/>
                <a:ea typeface="Arial" panose="020B0604020202020204"/>
                <a:cs typeface="Arial" panose="020B0604020202020204"/>
                <a:sym typeface="Arial" panose="020B0604020202020204"/>
              </a:endParaRPr>
            </a:p>
          </p:txBody>
        </p:sp>
        <p:sp>
          <p:nvSpPr>
            <p:cNvPr id="21" name="AutoShape 21"/>
            <p:cNvSpPr/>
            <p:nvPr/>
          </p:nvSpPr>
          <p:spPr>
            <a:xfrm>
              <a:off x="8197850" y="1840230"/>
              <a:ext cx="86423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XPU</a:t>
              </a:r>
              <a:endParaRPr lang="en-US" sz="1100"/>
            </a:p>
            <a:p>
              <a:pPr indent="0" algn="ctr">
                <a:lnSpc>
                  <a:spcPct val="100000"/>
                </a:lnSpc>
              </a:pPr>
              <a:r>
                <a:rPr lang="en-US" sz="1240" b="1" i="0" u="none" strike="noStrike">
                  <a:solidFill>
                    <a:srgbClr val="7030A0"/>
                  </a:solidFill>
                  <a:latin typeface="Calibri" panose="020F0502020204030204"/>
                  <a:ea typeface="Arial" panose="020B0604020202020204"/>
                  <a:cs typeface="Arial" panose="020B0604020202020204"/>
                  <a:sym typeface="Arial" panose="020B0604020202020204"/>
                </a:rPr>
                <a:t>"device"</a:t>
              </a:r>
              <a:endParaRPr lang="en-US" sz="1240" b="1" i="0" u="none" strike="noStrike">
                <a:solidFill>
                  <a:srgbClr val="7030A0"/>
                </a:solidFill>
                <a:latin typeface="Calibri" panose="020F050202020403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PCIe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connaissances de base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État actuel du marché (août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2025</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Standard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PCIe 4.0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Équipements récents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PCIe 5.0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 encore en production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PCIe 6.0/7.0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90" b="0" i="0" u="none" strike="noStrike">
                <a:solidFill>
                  <a:srgbClr val="404040"/>
                </a:solidFill>
                <a:latin typeface="Calibri" panose="020F0502020204030204"/>
                <a:ea typeface="Calibri" panose="020F0502020204030204"/>
                <a:cs typeface="Calibri" panose="020F0502020204030204"/>
                <a:sym typeface="Calibri" panose="020F0502020204030204"/>
              </a:rPr>
              <a:t>PCIe </a:t>
            </a:r>
            <a:r>
              <a:rPr lang="en-US"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voies</a:t>
            </a:r>
            <a:endParaRPr lang="en-US" sz="21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"x" =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 de paires de voies (</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TX/RX</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 :</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PCIe 5.0</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"x1" = 4 Go/s</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"x16" = 32 Go/s</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x4</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la plupart des</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NVMe SSD</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cartes réseau (</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NIC</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x16</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la plupart des</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FPGA</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495300" y="3530346"/>
            <a:ext cx="5669280" cy="3081528"/>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550025" y="3731895"/>
            <a:ext cx="5251450" cy="26244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PCIe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523240" y="1656715"/>
            <a:ext cx="5003800" cy="4187825"/>
          </a:xfrm>
          <a:prstGeom prst="rect">
            <a:avLst/>
          </a:prstGeom>
          <a:ln w="12700">
            <a:noFill/>
            <a:prstDash val="solid"/>
          </a:ln>
        </p:spPr>
      </p:pic>
      <p:sp>
        <p:nvSpPr>
          <p:cNvPr id="7" name="AutoShape 7"/>
          <p:cNvSpPr/>
          <p:nvPr/>
        </p:nvSpPr>
        <p:spPr>
          <a:xfrm>
            <a:off x="6031230" y="1133475"/>
            <a:ext cx="5766435" cy="5316855"/>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supporté à l'importation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PCIe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Peripheriques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pic>
        <p:nvPicPr>
          <p:cNvPr id="6" name="Picture 6"/>
          <p:cNvPicPr>
            <a:picLocks noChangeAspect="1"/>
          </p:cNvPicPr>
          <p:nvPr/>
        </p:nvPicPr>
        <p:blipFill>
          <a:blip r:embed="rId1"/>
          <a:srcRect/>
          <a:stretch>
            <a:fillRect/>
          </a:stretch>
        </p:blipFill>
        <p:spPr>
          <a:xfrm>
            <a:off x="955675" y="1229995"/>
            <a:ext cx="2491740" cy="1934845"/>
          </a:xfrm>
          <a:prstGeom prst="rect">
            <a:avLst/>
          </a:prstGeom>
          <a:ln w="12700">
            <a:noFill/>
            <a:prstDash val="solid"/>
          </a:ln>
        </p:spPr>
      </p:pic>
      <p:sp>
        <p:nvSpPr>
          <p:cNvPr id="7" name="AutoShape 7"/>
          <p:cNvSpPr/>
          <p:nvPr/>
        </p:nvSpPr>
        <p:spPr>
          <a:xfrm>
            <a:off x="539750"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GPU </a:t>
            </a:r>
            <a:endParaRPr lang="en-US" sz="1100"/>
          </a:p>
          <a:p>
            <a:pPr indent="0" algn="ctr">
              <a:lnSpc>
                <a:spcPct val="100000"/>
              </a:lnSpc>
            </a:pP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(NVIDIA</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A100</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PCIe 4.0 x16</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8" name="Picture 8"/>
          <p:cNvPicPr>
            <a:picLocks noChangeAspect="1"/>
          </p:cNvPicPr>
          <p:nvPr/>
        </p:nvPicPr>
        <p:blipFill>
          <a:blip r:embed="rId2"/>
          <a:srcRect/>
          <a:stretch>
            <a:fillRect/>
          </a:stretch>
        </p:blipFill>
        <p:spPr>
          <a:xfrm>
            <a:off x="8595360" y="1767205"/>
            <a:ext cx="2664460" cy="860425"/>
          </a:xfrm>
          <a:prstGeom prst="rect">
            <a:avLst/>
          </a:prstGeom>
          <a:ln w="12700">
            <a:noFill/>
            <a:prstDash val="solid"/>
          </a:ln>
        </p:spPr>
      </p:pic>
      <p:sp>
        <p:nvSpPr>
          <p:cNvPr id="9" name="AutoShape 9"/>
          <p:cNvSpPr/>
          <p:nvPr/>
        </p:nvSpPr>
        <p:spPr>
          <a:xfrm>
            <a:off x="8325485"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NVMe</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SSD</a:t>
            </a:r>
            <a:endParaRPr lang="en-US" sz="1100"/>
          </a:p>
          <a:p>
            <a:pPr indent="0" algn="ctr">
              <a:lnSpc>
                <a:spcPct val="100000"/>
              </a:lnSpc>
            </a:pP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(Samsung</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970</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PCIe 4.0 x4</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10" name="Picture 10"/>
          <p:cNvPicPr>
            <a:picLocks noChangeAspect="1"/>
          </p:cNvPicPr>
          <p:nvPr/>
        </p:nvPicPr>
        <p:blipFill>
          <a:blip r:embed="rId3"/>
          <a:srcRect l="-1658" t="3077" r="1658" b="46340"/>
          <a:stretch>
            <a:fillRect/>
          </a:stretch>
        </p:blipFill>
        <p:spPr>
          <a:xfrm>
            <a:off x="4304665" y="1464310"/>
            <a:ext cx="3077845" cy="1629410"/>
          </a:xfrm>
          <a:prstGeom prst="rect">
            <a:avLst/>
          </a:prstGeom>
          <a:ln w="12700">
            <a:noFill/>
            <a:prstDash val="solid"/>
          </a:ln>
        </p:spPr>
      </p:pic>
      <p:sp>
        <p:nvSpPr>
          <p:cNvPr id="11" name="AutoShape 11"/>
          <p:cNvSpPr/>
          <p:nvPr/>
        </p:nvSpPr>
        <p:spPr>
          <a:xfrm>
            <a:off x="4256405" y="3164840"/>
            <a:ext cx="332422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FPGA </a:t>
            </a:r>
            <a:endParaRPr lang="en-US" sz="1100"/>
          </a:p>
          <a:p>
            <a:pPr indent="0" algn="ctr">
              <a:lnSpc>
                <a:spcPct val="100000"/>
              </a:lnSpc>
            </a:pP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AMD V80</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PCIe 4.0/5.0 x16</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12" name="Picture 12"/>
          <p:cNvPicPr>
            <a:picLocks noChangeAspect="1"/>
          </p:cNvPicPr>
          <p:nvPr/>
        </p:nvPicPr>
        <p:blipFill>
          <a:blip r:embed="rId4"/>
          <a:srcRect/>
          <a:stretch>
            <a:fillRect/>
          </a:stretch>
        </p:blipFill>
        <p:spPr>
          <a:xfrm>
            <a:off x="986790" y="4113530"/>
            <a:ext cx="2460625" cy="1684655"/>
          </a:xfrm>
          <a:prstGeom prst="rect">
            <a:avLst/>
          </a:prstGeom>
          <a:ln w="12700">
            <a:noFill/>
            <a:prstDash val="solid"/>
          </a:ln>
        </p:spPr>
      </p:pic>
      <p:sp>
        <p:nvSpPr>
          <p:cNvPr id="13" name="AutoShape 13"/>
          <p:cNvSpPr/>
          <p:nvPr/>
        </p:nvSpPr>
        <p:spPr>
          <a:xfrm>
            <a:off x="240665"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Carte reseau (</a:t>
            </a:r>
            <a:r>
              <a:rPr lang="en-US" sz="1390" b="0" i="0" u="none" strike="noStrike">
                <a:solidFill>
                  <a:srgbClr val="000000"/>
                </a:solidFill>
                <a:latin typeface="Calibri" panose="020F0502020204030204"/>
                <a:ea typeface="Arial" panose="020B0604020202020204"/>
                <a:cs typeface="Arial" panose="020B0604020202020204"/>
                <a:sym typeface="Arial" panose="020B0604020202020204"/>
              </a:rPr>
              <a:t>NIC</a:t>
            </a:r>
            <a:r>
              <a:rPr lang="en-US" sz="13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p>
            <a:pPr indent="0" algn="ctr">
              <a:lnSpc>
                <a:spcPct val="100000"/>
              </a:lnSpc>
            </a:pPr>
            <a:r>
              <a:rPr lang="en-US" sz="13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(Intel</a:t>
            </a:r>
            <a:r>
              <a:rPr lang="en-US" sz="1390" b="0" i="0" u="none" strike="noStrike">
                <a:solidFill>
                  <a:srgbClr val="000000"/>
                </a:solidFill>
                <a:latin typeface="Calibri" panose="020F0502020204030204"/>
                <a:ea typeface="Arial" panose="020B0604020202020204"/>
                <a:cs typeface="Arial" panose="020B0604020202020204"/>
                <a:sym typeface="Arial" panose="020B0604020202020204"/>
              </a:rPr>
              <a:t> E810 10/25 GbE</a:t>
            </a:r>
            <a:r>
              <a:rPr lang="en-US" sz="13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0" b="0" i="0" u="none" strike="noStrike">
                <a:solidFill>
                  <a:srgbClr val="000000"/>
                </a:solidFill>
                <a:latin typeface="Calibri" panose="020F0502020204030204"/>
                <a:ea typeface="Arial" panose="020B0604020202020204"/>
                <a:cs typeface="Arial" panose="020B0604020202020204"/>
                <a:sym typeface="Arial" panose="020B0604020202020204"/>
              </a:rPr>
              <a:t> PCIe 4.0 x4</a:t>
            </a:r>
            <a:r>
              <a:rPr lang="en-US" sz="13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14" name="Picture 14"/>
          <p:cNvPicPr>
            <a:picLocks noChangeAspect="1"/>
          </p:cNvPicPr>
          <p:nvPr/>
        </p:nvPicPr>
        <p:blipFill>
          <a:blip r:embed="rId5"/>
          <a:srcRect/>
          <a:stretch>
            <a:fillRect/>
          </a:stretch>
        </p:blipFill>
        <p:spPr>
          <a:xfrm>
            <a:off x="4837430" y="4025265"/>
            <a:ext cx="2304415" cy="1739265"/>
          </a:xfrm>
          <a:prstGeom prst="rect">
            <a:avLst/>
          </a:prstGeom>
          <a:ln w="12700">
            <a:noFill/>
            <a:prstDash val="solid"/>
          </a:ln>
        </p:spPr>
      </p:pic>
      <p:sp>
        <p:nvSpPr>
          <p:cNvPr id="15" name="AutoShape 15"/>
          <p:cNvSpPr/>
          <p:nvPr/>
        </p:nvSpPr>
        <p:spPr>
          <a:xfrm>
            <a:off x="4179570"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WiFi 6E</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carte</a:t>
            </a:r>
            <a:endParaRPr lang="en-US" sz="1100"/>
          </a:p>
          <a:p>
            <a:pPr indent="0" algn="ctr">
              <a:lnSpc>
                <a:spcPct val="100000"/>
              </a:lnSpc>
            </a:pP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(Intel</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AX210</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PCIe 3.0 x1</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16" name="Picture 16"/>
          <p:cNvPicPr>
            <a:picLocks noChangeAspect="1"/>
          </p:cNvPicPr>
          <p:nvPr/>
        </p:nvPicPr>
        <p:blipFill>
          <a:blip r:embed="rId6"/>
          <a:srcRect/>
          <a:stretch>
            <a:fillRect/>
          </a:stretch>
        </p:blipFill>
        <p:spPr>
          <a:xfrm>
            <a:off x="8655050" y="4265295"/>
            <a:ext cx="2545080" cy="1567815"/>
          </a:xfrm>
          <a:prstGeom prst="rect">
            <a:avLst/>
          </a:prstGeom>
          <a:ln w="12700">
            <a:noFill/>
            <a:prstDash val="solid"/>
          </a:ln>
        </p:spPr>
      </p:pic>
      <p:sp>
        <p:nvSpPr>
          <p:cNvPr id="17" name="AutoShape 17"/>
          <p:cNvSpPr/>
          <p:nvPr/>
        </p:nvSpPr>
        <p:spPr>
          <a:xfrm>
            <a:off x="8070850" y="5888990"/>
            <a:ext cx="3833495" cy="64516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RAID</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controleur</a:t>
            </a:r>
            <a:endParaRPr lang="en-US" sz="1100"/>
          </a:p>
          <a:p>
            <a:pPr indent="0" algn="ctr">
              <a:lnSpc>
                <a:spcPct val="100000"/>
              </a:lnSpc>
            </a:pP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(Broadcom</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9560-16i</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 PCIe 4.0 x8</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9530" t="17680" r="12705" b="9335"/>
          <a:stretch>
            <a:fillRect/>
          </a:stretch>
        </p:blipFill>
        <p:spPr>
          <a:xfrm>
            <a:off x="6537960" y="3586480"/>
            <a:ext cx="5469255" cy="2807970"/>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PCIe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dans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AI</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connexion </a:t>
            </a:r>
            <a:r>
              <a:rPr lang="en-US" sz="2735"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27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-hote</a:t>
            </a:r>
            <a:endParaRPr lang="en-US" sz="27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xfrm>
            <a:off x="523874" y="1323975"/>
            <a:ext cx="755269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95"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connecte a l'hote via </a:t>
            </a:r>
            <a:r>
              <a:rPr lang="en-US" sz="2095" b="0" i="0" u="none" strike="noStrike">
                <a:solidFill>
                  <a:srgbClr val="404040"/>
                </a:solidFill>
                <a:latin typeface="Calibri" panose="020F0502020204030204"/>
                <a:ea typeface="Calibri" panose="020F0502020204030204"/>
                <a:cs typeface="Calibri" panose="020F0502020204030204"/>
                <a:sym typeface="Calibri" panose="020F0502020204030204"/>
              </a:rPr>
              <a:t>PCIe</a:t>
            </a:r>
            <a:r>
              <a:rPr lang="en-US" sz="20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7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aout</a:t>
            </a:r>
            <a:r>
              <a:rPr lang="en-US" sz="1575" b="0" i="1" u="none" strike="noStrike">
                <a:solidFill>
                  <a:srgbClr val="404040"/>
                </a:solidFill>
                <a:latin typeface="Calibri" panose="020F0502020204030204"/>
                <a:ea typeface="Calibri" panose="020F0502020204030204"/>
                <a:cs typeface="Calibri" panose="020F0502020204030204"/>
                <a:sym typeface="Calibri" panose="020F0502020204030204"/>
              </a:rPr>
              <a:t> 2025</a:t>
            </a:r>
            <a:r>
              <a:rPr lang="en-US" sz="157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7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Hote</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vers GPU: commandes (noyaux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CUDA</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fichiers binaires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OpenCL</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Donnees d'entrainement, poids du modele</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hote: etat du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(achevement du noyau, evenements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CUDA</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Resultats de calcul (gradients,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sortie d'inference</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Transmission de donnees traditionnelle</a:t>
            </a:r>
            <a:endPar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Premiere copie: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NVMe SSD vers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memoire hote (via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DMA</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Deuxieme copie: memoire hote</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vers memoire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NVIDIA</a:t>
            </a:r>
            <a:r>
              <a:rPr lang="en-US" sz="2095" b="0" i="0" u="none" strike="noStrike">
                <a:solidFill>
                  <a:srgbClr val="404040"/>
                </a:solidFill>
                <a:latin typeface="Calibri" panose="020F0502020204030204"/>
                <a:ea typeface="Calibri" panose="020F0502020204030204"/>
                <a:cs typeface="Calibri" panose="020F0502020204030204"/>
                <a:sym typeface="Calibri" panose="020F0502020204030204"/>
              </a:rPr>
              <a:t> GPUDirect</a:t>
            </a:r>
            <a:r>
              <a:rPr lang="en-US" sz="20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Storage</a:t>
            </a:r>
            <a:r>
              <a:rPr lang="en-US" sz="20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(depuis juin</a:t>
            </a:r>
            <a:r>
              <a:rPr lang="en-US" sz="1575" b="0" i="0" u="none" strike="noStrike">
                <a:solidFill>
                  <a:srgbClr val="404040"/>
                </a:solidFill>
                <a:latin typeface="Calibri" panose="020F0502020204030204"/>
                <a:ea typeface="Calibri" panose="020F0502020204030204"/>
                <a:cs typeface="Calibri" panose="020F0502020204030204"/>
                <a:sym typeface="Calibri" panose="020F0502020204030204"/>
              </a:rPr>
              <a:t> 2020</a:t>
            </a:r>
            <a:r>
              <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Copie unique: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NVMe SSD vers memoire </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8076565" y="880745"/>
            <a:ext cx="2948940" cy="1974850"/>
          </a:xfrm>
          <a:prstGeom prst="rect">
            <a:avLst/>
          </a:prstGeom>
          <a:ln w="12700">
            <a:noFill/>
            <a:prstDash val="solid"/>
          </a:ln>
        </p:spPr>
      </p:pic>
      <p:sp>
        <p:nvSpPr>
          <p:cNvPr id="8" name="AutoShape 8"/>
          <p:cNvSpPr/>
          <p:nvPr/>
        </p:nvSpPr>
        <p:spPr>
          <a:xfrm>
            <a:off x="7906385" y="2912745"/>
            <a:ext cx="3346450" cy="368300"/>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70" b="0" i="0" u="none" strike="noStrike">
                <a:solidFill>
                  <a:srgbClr val="000000"/>
                </a:solidFill>
                <a:latin typeface="Calibri" panose="020F0502020204030204"/>
                <a:ea typeface="Arial" panose="020B0604020202020204"/>
                <a:cs typeface="Arial" panose="020B0604020202020204"/>
                <a:sym typeface="Arial" panose="020B0604020202020204"/>
              </a:rPr>
              <a:t>GPU</a:t>
            </a:r>
            <a:r>
              <a:rPr lang="en-US" sz="117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connecte a la carte mere via </a:t>
            </a:r>
            <a:r>
              <a:rPr lang="en-US" sz="1170" b="0" i="0" u="none" strike="noStrike">
                <a:solidFill>
                  <a:srgbClr val="000000"/>
                </a:solidFill>
                <a:latin typeface="Calibri" panose="020F0502020204030204"/>
                <a:ea typeface="Arial" panose="020B0604020202020204"/>
                <a:cs typeface="Arial" panose="020B0604020202020204"/>
                <a:sym typeface="Arial" panose="020B0604020202020204"/>
              </a:rPr>
              <a:t>PCIe</a:t>
            </a:r>
            <a:r>
              <a:rPr lang="en-US" sz="117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depassement de bande passante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PCIe</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dans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AI</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interconnexion </a:t>
            </a:r>
            <a:r>
              <a:rPr lang="en-US" sz="2735" b="0" i="0" u="none" strike="noStrike">
                <a:solidFill>
                  <a:srgbClr val="262626"/>
                </a:solidFill>
                <a:latin typeface="Calibri" panose="020F0502020204030204"/>
                <a:ea typeface="Calibri" panose="020F0502020204030204"/>
                <a:cs typeface="Calibri" panose="020F0502020204030204"/>
                <a:sym typeface="Calibri" panose="020F0502020204030204"/>
              </a:rPr>
              <a:t>GPU</a:t>
            </a:r>
            <a:endParaRPr lang="en-US" sz="27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511937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interconnectees via </a:t>
            </a: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PCIe</a:t>
            </a: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5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55" b="0" i="1" u="none" strike="noStrike">
                <a:solidFill>
                  <a:srgbClr val="404040"/>
                </a:solidFill>
                <a:latin typeface="Calibri" panose="020F0502020204030204"/>
                <a:ea typeface="Calibri" panose="020F0502020204030204"/>
                <a:cs typeface="Calibri" panose="020F0502020204030204"/>
                <a:sym typeface="Calibri" panose="020F0502020204030204"/>
              </a:rPr>
              <a:t>avant le lancement de </a:t>
            </a:r>
            <a:r>
              <a:rPr lang="en-US" sz="155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NVLink</a:t>
            </a:r>
            <a:r>
              <a:rPr lang="en-US" sz="1555" b="0" i="1" u="none" strike="noStrike">
                <a:solidFill>
                  <a:srgbClr val="404040"/>
                </a:solidFill>
                <a:latin typeface="Calibri" panose="020F0502020204030204"/>
                <a:ea typeface="Calibri" panose="020F0502020204030204"/>
                <a:cs typeface="Calibri" panose="020F0502020204030204"/>
                <a:sym typeface="Calibri" panose="020F0502020204030204"/>
              </a:rPr>
              <a:t> en 2016</a:t>
            </a:r>
            <a:r>
              <a:rPr lang="en-US" sz="155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55" b="0" i="1"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Donnees</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pipeline</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tenseur</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expert</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parallelisme</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Transmission de donnees traditionnelle</a:t>
            </a:r>
            <a:endPar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725"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 0</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ecrit dans la memoire partagee de l'hote</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725"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 1</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lit depuis la memoire partagee de l'hote</a:t>
            </a:r>
            <a:endPar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GPUDirect </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transfert point a point</a:t>
            </a:r>
            <a:endPar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Acces direct via instructions </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Load/Store</a:t>
            </a:r>
            <a:endPar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Transfert direct via </a:t>
            </a:r>
            <a:r>
              <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rPr>
              <a:t>cudaMemcpy()</a:t>
            </a:r>
            <a:endParaRPr lang="en-US" sz="17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643245" y="1922780"/>
            <a:ext cx="6231255" cy="17684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90335" y="4077970"/>
            <a:ext cx="4413250" cy="23869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NVLink</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Interconnexion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55" b="0" i="0" u="none" strike="noStrike">
                <a:solidFill>
                  <a:srgbClr val="404040"/>
                </a:solidFill>
                <a:latin typeface="Calibri" panose="020F0502020204030204"/>
                <a:ea typeface="Calibri" panose="020F0502020204030204"/>
                <a:cs typeface="Calibri" panose="020F0502020204030204"/>
                <a:sym typeface="Calibri" panose="020F0502020204030204"/>
              </a:rPr>
              <a:t>NVLink 1.0</a:t>
            </a:r>
            <a:r>
              <a:rPr lang="en-US" sz="22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publie en</a:t>
            </a:r>
            <a:r>
              <a:rPr lang="en-US" sz="2255" b="0" i="0" u="none" strike="noStrike">
                <a:solidFill>
                  <a:srgbClr val="404040"/>
                </a:solidFill>
                <a:latin typeface="Calibri" panose="020F0502020204030204"/>
                <a:ea typeface="Calibri" panose="020F0502020204030204"/>
                <a:cs typeface="Calibri" panose="020F0502020204030204"/>
                <a:sym typeface="Calibri" panose="020F0502020204030204"/>
              </a:rPr>
              <a:t>2016</a:t>
            </a:r>
            <a:r>
              <a:rPr lang="en-US" sz="22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a:t>
            </a:r>
            <a:r>
              <a:rPr lang="en-US" sz="2255" b="0" i="0" u="none" strike="noStrike">
                <a:solidFill>
                  <a:srgbClr val="404040"/>
                </a:solidFill>
                <a:latin typeface="Calibri" panose="020F0502020204030204"/>
                <a:ea typeface="Calibri" panose="020F0502020204030204"/>
                <a:cs typeface="Calibri" panose="020F0502020204030204"/>
                <a:sym typeface="Calibri" panose="020F0502020204030204"/>
              </a:rPr>
              <a:t>P100 GPU</a:t>
            </a:r>
            <a:r>
              <a:rPr lang="en-US" sz="22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la premiere fois</a:t>
            </a:r>
            <a:endParaRPr lang="en-US" sz="22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4</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liaisons</a:t>
            </a: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NVLink</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liaison</a:t>
            </a: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8</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canaux, bande passante bidirectionnelle</a:t>
            </a: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40 Go/s</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total</a:t>
            </a: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160 Go/s</a:t>
            </a:r>
            <a:endPar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Vitesse depassant</a:t>
            </a: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PCIe 3.0 x16</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32 Go/s</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Communication serie basee sur des signaux differentiels a haute vitesse</a:t>
            </a:r>
            <a:endParaRPr lang="en-US" sz="22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80" b="0" i="0" u="none" strike="noStrike">
                <a:solidFill>
                  <a:srgbClr val="404040"/>
                </a:solidFill>
                <a:latin typeface="Calibri" panose="020F0502020204030204"/>
                <a:ea typeface="Calibri" panose="020F0502020204030204"/>
                <a:cs typeface="Calibri" panose="020F0502020204030204"/>
                <a:sym typeface="Calibri" panose="020F0502020204030204"/>
              </a:rPr>
              <a:t>NVLink 1.0, 5 Go/s</a:t>
            </a: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canal</a:t>
            </a:r>
            <a:endPar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2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5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68020" y="3832860"/>
            <a:ext cx="4147820" cy="2273300"/>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pris en charge</a:t>
            </a:r>
            <a:endParaRPr lang="en-US" sz="1100"/>
          </a:p>
        </p:txBody>
      </p:sp>
      <p:sp>
        <p:nvSpPr>
          <p:cNvPr id="7" name="AutoShape 7"/>
          <p:cNvSpPr/>
          <p:nvPr/>
        </p:nvSpPr>
        <p:spPr>
          <a:xfrm>
            <a:off x="5165090" y="4199890"/>
            <a:ext cx="6636385" cy="1906270"/>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pris en charge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NVLink</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Evolution des generations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Derniere version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2024</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NVLink 5.0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07860" y="2023745"/>
            <a:ext cx="5143500" cy="3616960"/>
          </a:xfrm>
          <a:prstGeom prst="rect">
            <a:avLst/>
          </a:prstGeom>
          <a:ln w="12700">
            <a:noFill/>
            <a:prstDash val="solid"/>
          </a:ln>
        </p:spPr>
      </p:pic>
      <p:grpSp>
        <p:nvGrpSpPr>
          <p:cNvPr id="7" name="Group 7"/>
          <p:cNvGrpSpPr/>
          <p:nvPr/>
        </p:nvGrpSpPr>
        <p:grpSpPr>
          <a:xfrm>
            <a:off x="378460" y="2146300"/>
            <a:ext cx="6704330" cy="3196590"/>
            <a:chOff x="378460" y="2146300"/>
            <a:chExt cx="6704330" cy="3196590"/>
          </a:xfrm>
        </p:grpSpPr>
        <p:sp>
          <p:nvSpPr>
            <p:cNvPr id="8" name="AutoShape 8"/>
            <p:cNvSpPr/>
            <p:nvPr/>
          </p:nvSpPr>
          <p:spPr>
            <a:xfrm>
              <a:off x="378460" y="2146300"/>
              <a:ext cx="6704330" cy="3196590"/>
            </a:xfrm>
            <a:prstGeom prst="rect">
              <a:avLst/>
            </a:prstGeom>
            <a:solidFill>
              <a:srgbClr val="EFF0F0">
                <a:alpha val="100000"/>
              </a:srgbClr>
            </a:solidFill>
            <a:ln w="12700">
              <a:solidFill>
                <a:srgbClr val="D0D3D6">
                  <a:alpha val="100000"/>
                </a:srgbClr>
              </a:solidFill>
              <a:prstDash val="dash"/>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Contenu non pris en charge</a:t>
              </a:r>
              <a:endParaRPr lang="en-US" sz="1100"/>
            </a:p>
          </p:txBody>
        </p:sp>
        <p:sp>
          <p:nvSpPr>
            <p:cNvPr id="9" name="AutoShape 9"/>
            <p:cNvSpPr/>
            <p:nvPr/>
          </p:nvSpPr>
          <p:spPr>
            <a:xfrm>
              <a:off x="6315075" y="5057140"/>
              <a:ext cx="538480" cy="219710"/>
            </a:xfrm>
            <a:prstGeom prst="rect">
              <a:avLst/>
            </a:prstGeom>
            <a:solidFill>
              <a:srgbClr val="CED6EC">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1800</a:t>
              </a:r>
              <a:endParaRPr lang="en-US" sz="1100"/>
            </a:p>
          </p:txBody>
        </p:sp>
      </p:grpSp>
      <p:sp>
        <p:nvSpPr>
          <p:cNvPr id="10" name="AutoShape 10"/>
          <p:cNvSpPr/>
          <p:nvPr/>
        </p:nvSpPr>
        <p:spPr>
          <a:xfrm>
            <a:off x="12216765" y="6080760"/>
            <a:ext cx="40640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Hote heterogene</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Interaction peripherique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Sans memoire unifiee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Avec memoire unifiee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a:stretch>
            <a:fillRect/>
          </a:stretch>
        </p:blipFill>
        <p:spPr>
          <a:xfrm>
            <a:off x="1519555" y="2704465"/>
            <a:ext cx="3600000" cy="3651589"/>
          </a:xfrm>
          <a:prstGeom prst="rect">
            <a:avLst/>
          </a:prstGeom>
          <a:ln w="12700">
            <a:noFill/>
            <a:prstDash val="solid"/>
          </a:ln>
        </p:spPr>
      </p:pic>
      <p:pic>
        <p:nvPicPr>
          <p:cNvPr id="8" name="Picture 8"/>
          <p:cNvPicPr>
            <a:picLocks noChangeAspect="1"/>
          </p:cNvPicPr>
          <p:nvPr/>
        </p:nvPicPr>
        <p:blipFill>
          <a:blip r:embed="rId1"/>
          <a:srcRect/>
          <a:stretch>
            <a:fillRect/>
          </a:stretch>
        </p:blipFill>
        <p:spPr>
          <a:xfrm>
            <a:off x="7129145" y="2704465"/>
            <a:ext cx="3600000" cy="3651589"/>
          </a:xfrm>
          <a:prstGeom prst="rect">
            <a:avLst/>
          </a:prstGeom>
          <a:ln w="12700">
            <a:noFill/>
            <a:prstDash val="solid"/>
          </a:ln>
        </p:spPr>
      </p:pic>
      <p:sp>
        <p:nvSpPr>
          <p:cNvPr id="9" name="AutoShape 9"/>
          <p:cNvSpPr/>
          <p:nvPr/>
        </p:nvSpPr>
        <p:spPr>
          <a:xfrm>
            <a:off x="1122680" y="1691640"/>
            <a:ext cx="1800000" cy="13220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40" b="0" i="0" u="none" strike="noStrike">
                <a:solidFill>
                  <a:srgbClr val="7C7C7C"/>
                </a:solidFill>
                <a:latin typeface="Calibri" panose="020F0502020204030204"/>
                <a:ea typeface="微软雅黑" panose="020B0503020204020204" charset="-122"/>
                <a:cs typeface="微软雅黑" panose="020B0503020204020204" charset="-122"/>
                <a:sym typeface="微软雅黑" panose="020B0503020204020204" charset="-122"/>
              </a:rPr>
              <a:t>(1)</a:t>
            </a: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 malloc</a:t>
            </a:r>
            <a:endParaRPr lang="en-US" sz="1100"/>
          </a:p>
          <a:p>
            <a:pPr indent="0" algn="l">
              <a:lnSpc>
                <a:spcPct val="100000"/>
              </a:lnSpc>
            </a:pPr>
            <a:r>
              <a:rPr lang="en-US" sz="1240" b="0" i="0" u="none" strike="noStrike">
                <a:solidFill>
                  <a:srgbClr val="7C7C7C"/>
                </a:solidFill>
                <a:latin typeface="Calibri" panose="020F0502020204030204"/>
                <a:ea typeface="微软雅黑" panose="020B0503020204020204" charset="-122"/>
                <a:cs typeface="微软雅黑" panose="020B0503020204020204" charset="-122"/>
                <a:sym typeface="微软雅黑" panose="020B0503020204020204" charset="-122"/>
              </a:rPr>
              <a:t>(2)</a:t>
            </a: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 cudaMalloc</a:t>
            </a:r>
            <a:endParaRPr lang="en-US" sz="1240" b="0" i="0" u="none" strike="noStrike">
              <a:solidFill>
                <a:srgbClr val="7C7C7C"/>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240" b="0" i="0" u="none" strike="noStrike">
                <a:solidFill>
                  <a:srgbClr val="7C7C7C"/>
                </a:solidFill>
                <a:latin typeface="Calibri" panose="020F0502020204030204"/>
                <a:ea typeface="微软雅黑" panose="020B0503020204020204" charset="-122"/>
                <a:cs typeface="微软雅黑" panose="020B0503020204020204" charset="-122"/>
                <a:sym typeface="微软雅黑" panose="020B0503020204020204" charset="-122"/>
              </a:rPr>
              <a:t>(3)</a:t>
            </a: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 cudaMemcpy</a:t>
            </a:r>
            <a:endParaRPr lang="en-US" sz="1240" b="0" i="0" u="none" strike="noStrike">
              <a:solidFill>
                <a:srgbClr val="7C7C7C"/>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a:t>
            </a:r>
            <a:endParaRPr lang="en-US" sz="1240" b="0" i="0" u="none" strike="noStrike">
              <a:solidFill>
                <a:srgbClr val="7C7C7C"/>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240" b="0" i="0" u="none" strike="noStrike">
                <a:solidFill>
                  <a:srgbClr val="7C7C7C"/>
                </a:solidFill>
                <a:latin typeface="Calibri" panose="020F0502020204030204"/>
                <a:ea typeface="微软雅黑" panose="020B0503020204020204" charset="-122"/>
                <a:cs typeface="微软雅黑" panose="020B0503020204020204" charset="-122"/>
                <a:sym typeface="微软雅黑" panose="020B0503020204020204" charset="-122"/>
              </a:rPr>
              <a:t>(6)</a:t>
            </a: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 cudaMemcpy</a:t>
            </a:r>
            <a:endParaRPr lang="en-US" sz="1240" b="0" i="0" u="none" strike="noStrike">
              <a:solidFill>
                <a:srgbClr val="7C7C7C"/>
              </a:solidFill>
              <a:latin typeface="Calibri" panose="020F0502020204030204"/>
              <a:ea typeface="Arial" panose="020B0604020202020204"/>
              <a:cs typeface="Arial" panose="020B0604020202020204"/>
              <a:sym typeface="Arial" panose="020B0604020202020204"/>
            </a:endParaRPr>
          </a:p>
        </p:txBody>
      </p:sp>
      <p:sp>
        <p:nvSpPr>
          <p:cNvPr id="10" name="AutoShape 10"/>
          <p:cNvSpPr/>
          <p:nvPr/>
        </p:nvSpPr>
        <p:spPr>
          <a:xfrm>
            <a:off x="419100" y="6076315"/>
            <a:ext cx="2880000" cy="58356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40" b="0" i="0" u="none" strike="noStrike">
                <a:solidFill>
                  <a:srgbClr val="7C7C7C"/>
                </a:solidFill>
                <a:latin typeface="Calibri" panose="020F0502020204030204"/>
                <a:ea typeface="微软雅黑" panose="020B0503020204020204" charset="-122"/>
                <a:cs typeface="微软雅黑" panose="020B0503020204020204" charset="-122"/>
                <a:sym typeface="微软雅黑" panose="020B0503020204020204" charset="-122"/>
              </a:rPr>
              <a:t>(4)</a:t>
            </a: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 cudaLaunchKernel</a:t>
            </a:r>
            <a:endParaRPr lang="en-US" sz="1100"/>
          </a:p>
          <a:p>
            <a:pPr indent="0" algn="l">
              <a:lnSpc>
                <a:spcPct val="100000"/>
              </a:lnSpc>
            </a:pPr>
            <a:r>
              <a:rPr lang="en-US" sz="1240" b="0" i="0" u="none" strike="noStrike">
                <a:solidFill>
                  <a:srgbClr val="7C7C7C"/>
                </a:solidFill>
                <a:latin typeface="Calibri" panose="020F0502020204030204"/>
                <a:ea typeface="微软雅黑" panose="020B0503020204020204" charset="-122"/>
                <a:cs typeface="微软雅黑" panose="020B0503020204020204" charset="-122"/>
                <a:sym typeface="微软雅黑" panose="020B0503020204020204" charset="-122"/>
              </a:rPr>
              <a:t>(5)</a:t>
            </a:r>
            <a:r>
              <a:rPr lang="en-US" sz="1240" b="0" i="0" u="none" strike="noStrike">
                <a:solidFill>
                  <a:srgbClr val="7C7C7C"/>
                </a:solidFill>
                <a:latin typeface="Calibri" panose="020F0502020204030204"/>
                <a:ea typeface="Arial" panose="020B0604020202020204"/>
                <a:cs typeface="Arial" panose="020B0604020202020204"/>
                <a:sym typeface="Arial" panose="020B0604020202020204"/>
              </a:rPr>
              <a:t> cudaDeviceSynchronize</a:t>
            </a:r>
            <a:endParaRPr lang="en-US" sz="1240" b="0" i="0" u="none" strike="noStrike">
              <a:solidFill>
                <a:srgbClr val="7C7C7C"/>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Hote, peripheriques et interconnexion</a:t>
            </a:r>
            <a:endParaRPr lang="en-US" sz="2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55600" indent="-355600" algn="l">
              <a:lnSpc>
                <a:spcPct val="100000"/>
              </a:lnSpc>
              <a:spcBef>
                <a:spcPts val="3000"/>
              </a:spcBef>
              <a:buClr>
                <a:srgbClr val="8B0012"/>
              </a:buClr>
              <a:buChar char="•"/>
            </a:pPr>
            <a:r>
              <a:rPr lang="en-US" sz="2800" b="1" i="0" u="none" strike="noStrike">
                <a:solidFill>
                  <a:srgbClr val="8B0012"/>
                </a:solidFill>
                <a:latin typeface="Ebrima" panose="02000000000000000000"/>
                <a:ea typeface="Ebrima" panose="02000000000000000000"/>
                <a:cs typeface="Ebrima" panose="02000000000000000000"/>
                <a:sym typeface="Ebrima" panose="02000000000000000000"/>
              </a:rPr>
              <a:t>CUDA</a:t>
            </a:r>
            <a:r>
              <a:rPr lang="en-US" sz="2800" b="1"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rPr>
              <a:t>Programmation essentielle</a:t>
            </a:r>
            <a:endParaRPr lang="en-US" sz="2800" b="1" i="0" u="none" strike="noStrike">
              <a:solidFill>
                <a:srgbClr val="8B0012"/>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微软雅黑" panose="020B0503020204020204" charset="-122"/>
              </a:defRPr>
            </a:lvl1pPr>
          </a:lstStyle>
          <a:p>
            <a:pPr indent="0" algn="ctr">
              <a:lnSpc>
                <a:spcPct val="100000"/>
              </a:lnSpc>
              <a:spcBef>
                <a:spcPts val="1500"/>
              </a:spcBef>
            </a:pPr>
            <a:r>
              <a:rPr lang="en-US" sz="32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Plan</a:t>
            </a:r>
            <a:endParaRPr lang="en-US" sz="32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Questions cles dans la programmation heterogene</a:t>
            </a:r>
            <a:r>
              <a:rPr lang="en-US" sz="2930" b="0" i="0" u="none" strike="noStrike">
                <a:solidFill>
                  <a:srgbClr val="262626"/>
                </a:solidFill>
                <a:latin typeface="Calibri" panose="020F0502020204030204"/>
                <a:ea typeface="Calibri" panose="020F0502020204030204"/>
                <a:cs typeface="Calibri" panose="020F0502020204030204"/>
                <a:sym typeface="Calibri" panose="020F0502020204030204"/>
              </a:rPr>
              <a:t> </a:t>
            </a:r>
            <a:endParaRPr lang="en-US" sz="293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compiler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noyau</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interagir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exprimer le parallelisme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exprimer la synchronisation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gerer et acceder aux donnees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le code du noyau</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execute-t-il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Autres sujets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Outils de debogage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Bibliotheques utilitaires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微软雅黑" panose="020B0503020204020204" charset="-122"/>
              </a:defRPr>
            </a:lvl1pPr>
          </a:lstStyle>
          <a:p>
            <a:pPr indent="0" algn="l">
              <a:lnSpc>
                <a:spcPct val="100000"/>
              </a:lnSpc>
            </a:pP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Concepts lies a la programmation heterogene (liste non exhaustive)</a:t>
            </a:r>
            <a:endPar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compiler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noyau</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interagir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exprimer le parallelisme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exprimer la synchronisation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gerer et acceder aux donnees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le code du noyau</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execute-t-il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Compilateur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specialise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808080"/>
                </a:solidFill>
                <a:latin typeface="Calibri" panose="020F0502020204030204"/>
                <a:ea typeface="微软雅黑" panose="020B0503020204020204" charset="-122"/>
                <a:cs typeface="微软雅黑" panose="020B0503020204020204" charset="-122"/>
                <a:sym typeface="微软雅黑" panose="020B0503020204020204" charset="-122"/>
              </a:rPr>
              <a:t>(presente dans un cours ulterieur)</a:t>
            </a:r>
            <a:endParaRPr lang="en-US" sz="2400" b="0" i="0" u="none" strike="noStrike">
              <a:solidFill>
                <a:srgbClr val="80808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Hote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host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peripherique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device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noyau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Thread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 de threads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block</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grille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grid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__syncthreads()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xxMalloc(), xxxMemcpy(), global/shared/constant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CPU</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comment interagissent-ils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collaboration entre l'hote</a:t>
            </a:r>
            <a:r>
              <a:rPr lang="en-US" sz="2400" b="0"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 et l'appareil</a:t>
            </a:r>
            <a:endParaRPr lang="en-US" sz="2400" b="0"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Hote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CPU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appareil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OpenCL/ROCm</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peut aussi agir comme appareil</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Interface CPU-GPU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x86-NV5090 @ PCIe 5.0: 64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Grace-Hopper NVLink C2C: 900 GB/s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Grace-Blackwell NVLink C2C: 1.8 TB/s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Noyau</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 pour que l'hote appelle les fonctions de l'appareil</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BFBFBF"/>
              </a:buClr>
              <a:buChar char="•"/>
            </a:pPr>
            <a:r>
              <a:rPr lang="en-US" sz="2400" b="0" i="0" u="none" strike="noStrike">
                <a:solidFill>
                  <a:srgbClr val="BFBFBF"/>
                </a:solidFill>
                <a:latin typeface="Calibri" panose="020F0502020204030204"/>
                <a:ea typeface="Calibri" panose="020F0502020204030204"/>
                <a:cs typeface="Calibri" panose="020F0502020204030204"/>
                <a:sym typeface="Calibri" panose="020F0502020204030204"/>
              </a:rPr>
              <a:t>xxxMalloc(), xxxMemcpy()</a:t>
            </a:r>
            <a:endParaRPr lang="en-US" sz="2400" b="0" i="0" u="none" strike="noStrike">
              <a:solidFill>
                <a:srgbClr val="BFBFB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20" b="0" i="0" u="none" strike="noStrike">
                <a:solidFill>
                  <a:srgbClr val="262626"/>
                </a:solidFill>
                <a:latin typeface="Calibri" panose="020F0502020204030204"/>
                <a:ea typeface="Calibri" panose="020F0502020204030204"/>
                <a:cs typeface="Calibri" panose="020F0502020204030204"/>
                <a:sym typeface="Calibri" panose="020F0502020204030204"/>
              </a:rPr>
              <a:t>CPU</a:t>
            </a: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720"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comment interagissent-ils ?</a:t>
            </a:r>
            <a:r>
              <a:rPr lang="en-US" sz="272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(Programme hote)</a:t>
            </a:r>
            <a:endParaRPr lang="en-US" sz="27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xfrm>
            <a:off x="523874" y="1323975"/>
            <a:ext cx="2600326"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Programme hote</a:t>
            </a:r>
            <a:endParaRPr lang="en-US" sz="21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S'execute sur le </a:t>
            </a:r>
            <a:r>
              <a:rPr lang="en-US" sz="1805"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tant que partie d'une application</a:t>
            </a:r>
            <a:r>
              <a:rPr lang="en-US" sz="1805" b="0" i="0" u="none" strike="noStrike">
                <a:solidFill>
                  <a:srgbClr val="404040"/>
                </a:solidFill>
                <a:latin typeface="Calibri" panose="020F0502020204030204"/>
                <a:ea typeface="Calibri" panose="020F0502020204030204"/>
                <a:cs typeface="Calibri" panose="020F0502020204030204"/>
                <a:sym typeface="Calibri" panose="020F0502020204030204"/>
              </a:rPr>
              <a:t> C/C++</a:t>
            </a:r>
            <a:r>
              <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ordinaire</a:t>
            </a:r>
            <a:endPar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 une grille composee de blocs de threads du noyau</a:t>
            </a:r>
            <a:endPar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L'appel ne revient qu'apres que tous les threads sont termines</a:t>
            </a:r>
            <a:endParaRPr lang="en-US" sz="18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5" name="Picture 5"/>
          <p:cNvPicPr>
            <a:picLocks noChangeAspect="1"/>
          </p:cNvPicPr>
          <p:nvPr/>
        </p:nvPicPr>
        <p:blipFill>
          <a:blip r:embed="rId1"/>
          <a:srcRect/>
          <a:stretch>
            <a:fillRect/>
          </a:stretch>
        </p:blipFill>
        <p:spPr>
          <a:xfrm>
            <a:off x="3124200" y="3074035"/>
            <a:ext cx="5928995" cy="31032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CPU</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comment interagissent-ils ?</a:t>
            </a: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(Programme noyau)</a:t>
            </a:r>
            <a:endPar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xfrm>
            <a:off x="523874" y="1323975"/>
            <a:ext cx="3051176"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Definition du noyau</a:t>
            </a:r>
            <a:endParaRPr lang="en-US" sz="22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85" b="0" i="0" u="none" strike="noStrike">
                <a:solidFill>
                  <a:srgbClr val="404040"/>
                </a:solidFill>
                <a:latin typeface="Calibri" panose="020F0502020204030204"/>
                <a:ea typeface="Calibri" panose="020F0502020204030204"/>
                <a:cs typeface="Calibri" panose="020F0502020204030204"/>
                <a:sym typeface="Calibri" panose="020F0502020204030204"/>
              </a:rPr>
              <a:t>__global__ </a:t>
            </a:r>
            <a:r>
              <a:rPr lang="en-US" sz="18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qualificateur indiquant une fonction noyau</a:t>
            </a:r>
            <a:endParaRPr lang="en-US" sz="18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thread calcule son propre </a:t>
            </a:r>
            <a:r>
              <a:rPr lang="en-US" sz="1885" b="0" i="0" u="none" strike="noStrike">
                <a:solidFill>
                  <a:srgbClr val="404040"/>
                </a:solidFill>
                <a:latin typeface="Calibri" panose="020F0502020204030204"/>
                <a:ea typeface="Calibri" panose="020F0502020204030204"/>
                <a:cs typeface="Calibri" panose="020F0502020204030204"/>
                <a:sym typeface="Calibri" panose="020F0502020204030204"/>
              </a:rPr>
              <a:t>ID</a:t>
            </a:r>
            <a:r>
              <a:rPr lang="en-US" sz="18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thread en fonction de sa position dans le bloc de threads (</a:t>
            </a:r>
            <a:r>
              <a:rPr lang="en-US" sz="1885" b="0" i="0" u="none" strike="noStrike">
                <a:solidFill>
                  <a:srgbClr val="404040"/>
                </a:solidFill>
                <a:latin typeface="Calibri" panose="020F0502020204030204"/>
                <a:ea typeface="Calibri" panose="020F0502020204030204"/>
                <a:cs typeface="Calibri" panose="020F0502020204030204"/>
                <a:sym typeface="Calibri" panose="020F0502020204030204"/>
              </a:rPr>
              <a:t>threadIdx</a:t>
            </a:r>
            <a:r>
              <a:rPr lang="en-US" sz="18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 la position du bloc dans la grille (</a:t>
            </a:r>
            <a:r>
              <a:rPr lang="en-US" sz="1885" b="0" i="0" u="none" strike="noStrike">
                <a:solidFill>
                  <a:srgbClr val="404040"/>
                </a:solidFill>
                <a:latin typeface="Calibri" panose="020F0502020204030204"/>
                <a:ea typeface="Calibri" panose="020F0502020204030204"/>
                <a:cs typeface="Calibri" panose="020F0502020204030204"/>
                <a:sym typeface="Calibri" panose="020F0502020204030204"/>
              </a:rPr>
              <a:t>blockIdx</a:t>
            </a:r>
            <a:endParaRPr lang="en-US" sz="188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3575050" y="2822575"/>
            <a:ext cx="4320000" cy="185674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Comment exprimer le parallélisme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Structure hiérarchique des threads</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Thread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 petite unité d'exécution</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85800" lvl="2" indent="0" algn="l">
              <a:lnSpc>
                <a:spcPct val="100000"/>
              </a:lnSpc>
              <a:spcBef>
                <a:spcPts val="750"/>
              </a:spcBef>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 n'est pas la plus petite unité de planification)</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 de threads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Block</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groupe de threads</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Collaborent via la mémoire partagée et des primitives de synchronisation</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être organisé en une structure tridimensionnelle au maximum</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Grille (</a:t>
            </a:r>
            <a:r>
              <a:rPr lang="en-US" sz="1475" b="0" i="0" u="none" strike="noStrike">
                <a:solidFill>
                  <a:srgbClr val="404040"/>
                </a:solidFill>
                <a:latin typeface="Calibri" panose="020F0502020204030204"/>
                <a:ea typeface="Calibri" panose="020F0502020204030204"/>
                <a:cs typeface="Calibri" panose="020F0502020204030204"/>
                <a:sym typeface="Calibri" panose="020F0502020204030204"/>
              </a:rPr>
              <a:t>Grid</a:t>
            </a:r>
            <a:r>
              <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Ensemble de blocs de threads</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être organisé en une structure tridimensionnelle au maximum</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Lancé par le </a:t>
            </a:r>
            <a:r>
              <a:rPr lang="en-US" sz="118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exécuté sur le </a:t>
            </a:r>
            <a:r>
              <a:rPr lang="en-US" sz="1180" b="0" i="0" u="none" strike="noStrike">
                <a:solidFill>
                  <a:srgbClr val="404040"/>
                </a:solidFill>
                <a:latin typeface="Calibri" panose="020F0502020204030204"/>
                <a:ea typeface="Calibri" panose="020F0502020204030204"/>
                <a:cs typeface="Calibri" panose="020F0502020204030204"/>
                <a:sym typeface="Calibri" panose="020F0502020204030204"/>
              </a:rPr>
              <a:t>GPU</a:t>
            </a:r>
            <a:endParaRPr lang="en-US" sz="1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205980" y="1323975"/>
            <a:ext cx="3600000" cy="445347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Grille : blocs de threads unidimensionnels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Adapté de l'Université de Washington</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CSEP 590</a:t>
            </a: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cours,</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Hari Sadasivan</a:t>
            </a: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Ph.D.</a:t>
            </a:r>
            <a:endPar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threads dans la grille peuvent accéder aux informations suivantes :</a:t>
            </a:r>
            <a:endParaRPr lang="en-US" sz="22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Numéro du bloc de threads :</a:t>
            </a:r>
            <a:r>
              <a:rPr lang="en-US" sz="171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blockIdx.x</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(figure</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indiqué :</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4</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 du thread au sein du bloc</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ID</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1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threadIdx.x</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(figure</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indiqué :</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0</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Dimension du bloc de threads :</a:t>
            </a:r>
            <a:r>
              <a:rPr lang="en-US" sz="171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blockDim.x</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cet exemple :</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4</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 de blocs de threads dans la grille :</a:t>
            </a:r>
            <a:r>
              <a:rPr lang="en-US" sz="171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gridDim.x</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cet exemple :</a:t>
            </a: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8</a:t>
            </a:r>
            <a:r>
              <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2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8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496185" y="1324052"/>
            <a:ext cx="7200000" cy="17691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Grille : blocs de threads bidimensionnels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couleur représente un bloc de threads</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petit carré représente un thread</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concepts unidimensionnels et bidimensionnels sont identiques</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le cas bidimensionnel, les blocs de threads et les threads ont tous deux des indices bidimensionnels</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threads dans la grille peuvent accéder aux informations suivantes :</a:t>
            </a:r>
            <a:endParaRPr lang="en-US" sz="20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 du bloc de threads</a:t>
            </a:r>
            <a:r>
              <a:rPr lang="en-US" sz="1680" b="0" i="0" u="none" strike="noStrike">
                <a:solidFill>
                  <a:srgbClr val="404040"/>
                </a:solidFill>
                <a:latin typeface="Calibri" panose="020F0502020204030204"/>
                <a:ea typeface="Calibri" panose="020F0502020204030204"/>
                <a:cs typeface="Calibri" panose="020F0502020204030204"/>
                <a:sym typeface="Calibri" panose="020F0502020204030204"/>
              </a:rPr>
              <a:t>ID</a:t>
            </a:r>
            <a:r>
              <a:rPr lang="en-US" sz="16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1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blockIdx.x</a:t>
            </a:r>
            <a:r>
              <a:rPr lang="en-US" sz="16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1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blockIdx.y</a:t>
            </a:r>
            <a:endParaRPr lang="en-US" sz="151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6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 du thread au sein du bloc</a:t>
            </a:r>
            <a:r>
              <a:rPr lang="en-US" sz="1680" b="0" i="0" u="none" strike="noStrike">
                <a:solidFill>
                  <a:srgbClr val="404040"/>
                </a:solidFill>
                <a:latin typeface="Calibri" panose="020F0502020204030204"/>
                <a:ea typeface="Calibri" panose="020F0502020204030204"/>
                <a:cs typeface="Calibri" panose="020F0502020204030204"/>
                <a:sym typeface="Calibri" panose="020F0502020204030204"/>
              </a:rPr>
              <a:t>ID</a:t>
            </a:r>
            <a:r>
              <a:rPr lang="en-US" sz="16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1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threadIdx.x</a:t>
            </a:r>
            <a:r>
              <a:rPr lang="en-US" sz="16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1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threadIdx.y</a:t>
            </a:r>
            <a:endParaRPr lang="en-US" sz="151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1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Adapté de l'Université de Washington</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CSEP 590</a:t>
            </a: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cours,</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Hari Sadasivan</a:t>
            </a: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Ph.D.</a:t>
            </a:r>
            <a:endPar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6210330" y="1323956"/>
            <a:ext cx="4320000" cy="424520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Comment exprimer la synchronisation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__syncthreads()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xxxDeviceSynchronize()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Evenements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events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(sera discute dans un cours ulterieur)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Comment gerer et acceder aux donnees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Modele memoire </a:t>
            </a:r>
            <a:r>
              <a:rPr lang="en-US" sz="2275">
                <a:solidFill>
                  <a:srgbClr val="404040"/>
                </a:solidFill>
                <a:ea typeface="Calibri" panose="020F0502020204030204"/>
                <a:cs typeface="Calibri" panose="020F0502020204030204"/>
                <a:sym typeface="Calibri" panose="020F0502020204030204"/>
              </a:rPr>
              <a:t>CUDA </a:t>
            </a:r>
            <a:endParaRPr lang="en-US"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espaces d'adressage de l'hote et du peripherique sont mutuellement independants</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95" b="0" i="0" u="none" strike="noStrike">
                <a:solidFill>
                  <a:srgbClr val="F4B183"/>
                </a:solidFill>
                <a:latin typeface="Calibri" panose="020F0502020204030204"/>
                <a:ea typeface="微软雅黑" panose="020B0503020204020204" charset="-122"/>
                <a:cs typeface="微软雅黑" panose="020B0503020204020204" charset="-122"/>
                <a:sym typeface="微软雅黑" panose="020B0503020204020204" charset="-122"/>
              </a:rPr>
              <a:t>(sans utilisation de memoire unifiee)</a:t>
            </a:r>
            <a:endParaRPr lang="en-US" sz="1895" b="0" i="0" u="none" strike="noStrike">
              <a:solidFill>
                <a:srgbClr val="F4B183"/>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La m</a:t>
            </a:r>
            <a:r>
              <a:rPr lang="en-US" alt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moire est allou</a:t>
            </a:r>
            <a:r>
              <a:rPr lang="en-US" alt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rPr>
              <a:t>e sur le GPU via cudaMalloc()</a:t>
            </a:r>
            <a:endParaRPr lang="en-US" altLang="zh-CN"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donn</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sont transf</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entre les espaces d’adressage via cudaMemcpy()</a:t>
            </a:r>
            <a:endPar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5" name="Picture 5"/>
          <p:cNvPicPr>
            <a:picLocks noChangeAspect="1"/>
          </p:cNvPicPr>
          <p:nvPr/>
        </p:nvPicPr>
        <p:blipFill>
          <a:blip r:embed="rId1"/>
          <a:srcRect/>
          <a:stretch>
            <a:fillRect/>
          </a:stretch>
        </p:blipFill>
        <p:spPr>
          <a:xfrm>
            <a:off x="1129665" y="3429000"/>
            <a:ext cx="4680000" cy="2449664"/>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6049010" y="3657600"/>
            <a:ext cx="4680000" cy="1901367"/>
          </a:xfrm>
          <a:prstGeom prst="rect">
            <a:avLst/>
          </a:prstGeom>
          <a:ln w="12700">
            <a:noFill/>
            <a:prstDash val="solid"/>
          </a:ln>
        </p:spPr>
      </p:pic>
      <p:sp>
        <p:nvSpPr>
          <p:cNvPr id="7" name="AutoShape 7"/>
          <p:cNvSpPr/>
          <p:nvPr/>
        </p:nvSpPr>
        <p:spPr>
          <a:xfrm>
            <a:off x="1407160" y="4256405"/>
            <a:ext cx="4133850" cy="826135"/>
          </a:xfrm>
          <a:prstGeom prst="rect">
            <a:avLst/>
          </a:prstGeom>
          <a:noFill/>
          <a:ln w="12700" cap="flat" cmpd="sng">
            <a:solidFill>
              <a:srgbClr val="548235">
                <a:alpha val="100000"/>
              </a:srgbClr>
            </a:solidFill>
            <a:prstDash val="solid"/>
            <a:roun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Comment g</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rer et acc</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der aux donn</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es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Modele memoire </a:t>
            </a:r>
            <a:r>
              <a:rPr lang="en-US">
                <a:solidFill>
                  <a:srgbClr val="404040"/>
                </a:solidFill>
                <a:ea typeface="Calibri" panose="020F0502020204030204"/>
                <a:cs typeface="Calibri" panose="020F0502020204030204"/>
                <a:sym typeface="Calibri" panose="020F0502020204030204"/>
              </a:rPr>
              <a:t>CUDA</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Trois espaces d'adressage independants visibles par le noyau</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__global__</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accessible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tous les threads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__device__</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independant de la memoire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__shared__</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partag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entre les threads d'un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éme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5" name="Group 5"/>
          <p:cNvGrpSpPr/>
          <p:nvPr/>
        </p:nvGrpSpPr>
        <p:grpSpPr>
          <a:xfrm>
            <a:off x="1151255" y="3877945"/>
            <a:ext cx="9000000" cy="1888713"/>
            <a:chOff x="1151255" y="3877945"/>
            <a:chExt cx="9000000" cy="1888713"/>
          </a:xfrm>
        </p:grpSpPr>
        <p:pic>
          <p:nvPicPr>
            <p:cNvPr id="6" name="Picture 6"/>
            <p:cNvPicPr>
              <a:picLocks noChangeAspect="1"/>
            </p:cNvPicPr>
            <p:nvPr/>
          </p:nvPicPr>
          <p:blipFill>
            <a:blip r:embed="rId1"/>
            <a:srcRect r="11284"/>
            <a:stretch>
              <a:fillRect/>
            </a:stretch>
          </p:blipFill>
          <p:spPr>
            <a:xfrm>
              <a:off x="1151255" y="3877945"/>
              <a:ext cx="6176072" cy="188871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058704" y="4203001"/>
              <a:ext cx="2092551" cy="1218962"/>
            </a:xfrm>
            <a:prstGeom prst="rect">
              <a:avLst/>
            </a:prstGeom>
            <a:ln w="12700">
              <a:noFill/>
              <a:prstDash val="solid"/>
            </a:ln>
          </p:spPr>
        </p:pic>
        <p:cxnSp>
          <p:nvCxnSpPr>
            <p:cNvPr id="8" name="Connector 8"/>
            <p:cNvCxnSpPr/>
            <p:nvPr/>
          </p:nvCxnSpPr>
          <p:spPr>
            <a:xfrm flipV="1">
              <a:off x="7327327" y="4812482"/>
              <a:ext cx="731377" cy="10158"/>
            </a:xfrm>
            <a:prstGeom prst="straightConnector1">
              <a:avLst/>
            </a:prstGeom>
            <a:solidFill>
              <a:srgbClr val="4472C4">
                <a:alpha val="100000"/>
              </a:srgbClr>
            </a:solidFill>
            <a:ln w="12700" cap="flat" cmpd="sng">
              <a:solidFill>
                <a:srgbClr val="000000">
                  <a:alpha val="100000"/>
                </a:srgbClr>
              </a:solidFill>
              <a:prstDash val="solid"/>
              <a:round/>
              <a:headEnd type="triangle" w="med" len="med"/>
              <a:tailEnd type="triangle" w="med" len="med"/>
            </a:ln>
          </p:spPr>
        </p:cxn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Comment le code du noyau est-il exécuté sur le </a:t>
            </a:r>
            <a:r>
              <a:rPr lang="en-US" sz="2840"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28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8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6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SIMD peut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combin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avec la technique du pipeline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 les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ALU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exécutent la même instruction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pipeline décompose les instructions en plusieurs étapes d'exécution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00000"/>
              </a:lnSpc>
              <a:spcBef>
                <a:spcPts val="6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la première instruction est terminée (ici,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4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cycles), l'instruction suivante est prête à être exécutée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5" name="Table 5"/>
          <p:cNvGraphicFramePr>
            <a:graphicFrameLocks noGrp="1"/>
          </p:cNvGraphicFramePr>
          <p:nvPr/>
        </p:nvGraphicFramePr>
        <p:xfrm>
          <a:off x="4113607" y="6121095"/>
          <a:ext cx="5360670" cy="262890"/>
        </p:xfrm>
        <a:graphic>
          <a:graphicData uri="http://schemas.openxmlformats.org/drawingml/2006/table">
            <a:tbl>
              <a:tblPr>
                <a:effectLst/>
              </a:tblPr>
              <a:tblGrid>
                <a:gridCol w="595630"/>
                <a:gridCol w="595630"/>
                <a:gridCol w="595630"/>
                <a:gridCol w="595630"/>
                <a:gridCol w="595630"/>
                <a:gridCol w="595630"/>
                <a:gridCol w="595630"/>
                <a:gridCol w="595630"/>
                <a:gridCol w="595630"/>
              </a:tblGrid>
              <a:tr h="262890">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1</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2</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3</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4</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5</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6</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7</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8</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ctr">
                        <a:lnSpc>
                          <a:spcPct val="100000"/>
                        </a:lnSpc>
                        <a:defRPr/>
                      </a:pPr>
                      <a:r>
                        <a:rPr lang="en-US" sz="1300" b="0" i="0" u="none" strike="noStrike">
                          <a:solidFill>
                            <a:srgbClr val="000000"/>
                          </a:solidFill>
                          <a:latin typeface="Calibri" panose="020F0502020204030204"/>
                          <a:ea typeface="Arial" panose="020B0604020202020204"/>
                          <a:cs typeface="Arial" panose="020B0604020202020204"/>
                          <a:sym typeface="Arial" panose="020B0604020202020204"/>
                        </a:rPr>
                        <a:t>9</a:t>
                      </a:r>
                      <a:endParaRPr lang="en-US" sz="1100"/>
                    </a:p>
                  </a:txBody>
                  <a:tcPr marL="64294" marR="64294" marT="32147" marB="32147"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grpSp>
        <p:nvGrpSpPr>
          <p:cNvPr id="6" name="Group 6"/>
          <p:cNvGrpSpPr/>
          <p:nvPr/>
        </p:nvGrpSpPr>
        <p:grpSpPr>
          <a:xfrm>
            <a:off x="4085691" y="3495766"/>
            <a:ext cx="964406" cy="910828"/>
            <a:chOff x="4085691" y="3495766"/>
            <a:chExt cx="964406" cy="910828"/>
          </a:xfrm>
        </p:grpSpPr>
        <p:sp>
          <p:nvSpPr>
            <p:cNvPr id="7" name="AutoShape 7"/>
            <p:cNvSpPr/>
            <p:nvPr/>
          </p:nvSpPr>
          <p:spPr>
            <a:xfrm>
              <a:off x="4460738" y="349576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8" name="AutoShape 8"/>
            <p:cNvSpPr/>
            <p:nvPr/>
          </p:nvSpPr>
          <p:spPr>
            <a:xfrm>
              <a:off x="4407160" y="354934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9" name="AutoShape 9"/>
            <p:cNvSpPr/>
            <p:nvPr/>
          </p:nvSpPr>
          <p:spPr>
            <a:xfrm>
              <a:off x="4353582" y="360292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0" name="AutoShape 10"/>
            <p:cNvSpPr/>
            <p:nvPr/>
          </p:nvSpPr>
          <p:spPr>
            <a:xfrm>
              <a:off x="4300003" y="365650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1" name="AutoShape 11"/>
            <p:cNvSpPr/>
            <p:nvPr/>
          </p:nvSpPr>
          <p:spPr>
            <a:xfrm>
              <a:off x="4246425" y="371007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2" name="AutoShape 12"/>
            <p:cNvSpPr/>
            <p:nvPr/>
          </p:nvSpPr>
          <p:spPr>
            <a:xfrm>
              <a:off x="4192847" y="376365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3" name="AutoShape 13"/>
            <p:cNvSpPr/>
            <p:nvPr/>
          </p:nvSpPr>
          <p:spPr>
            <a:xfrm>
              <a:off x="4139269" y="381723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4" name="AutoShape 14"/>
            <p:cNvSpPr/>
            <p:nvPr/>
          </p:nvSpPr>
          <p:spPr>
            <a:xfrm>
              <a:off x="4085691" y="3870813"/>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grpSp>
      <p:grpSp>
        <p:nvGrpSpPr>
          <p:cNvPr id="15" name="Group 15"/>
          <p:cNvGrpSpPr/>
          <p:nvPr/>
        </p:nvGrpSpPr>
        <p:grpSpPr>
          <a:xfrm>
            <a:off x="4675050" y="4031548"/>
            <a:ext cx="964406" cy="910828"/>
            <a:chOff x="4675050" y="4031548"/>
            <a:chExt cx="964406" cy="910828"/>
          </a:xfrm>
        </p:grpSpPr>
        <p:sp>
          <p:nvSpPr>
            <p:cNvPr id="16" name="AutoShape 16"/>
            <p:cNvSpPr/>
            <p:nvPr/>
          </p:nvSpPr>
          <p:spPr>
            <a:xfrm>
              <a:off x="5050097" y="403154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7" name="AutoShape 17"/>
            <p:cNvSpPr/>
            <p:nvPr/>
          </p:nvSpPr>
          <p:spPr>
            <a:xfrm>
              <a:off x="4996519" y="408512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8" name="AutoShape 18"/>
            <p:cNvSpPr/>
            <p:nvPr/>
          </p:nvSpPr>
          <p:spPr>
            <a:xfrm>
              <a:off x="4942941" y="413870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19" name="AutoShape 19"/>
            <p:cNvSpPr/>
            <p:nvPr/>
          </p:nvSpPr>
          <p:spPr>
            <a:xfrm>
              <a:off x="4889362" y="419228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0" name="AutoShape 20"/>
            <p:cNvSpPr/>
            <p:nvPr/>
          </p:nvSpPr>
          <p:spPr>
            <a:xfrm>
              <a:off x="4835784" y="424586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1" name="AutoShape 21"/>
            <p:cNvSpPr/>
            <p:nvPr/>
          </p:nvSpPr>
          <p:spPr>
            <a:xfrm>
              <a:off x="4782206" y="429943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2" name="AutoShape 22"/>
            <p:cNvSpPr/>
            <p:nvPr/>
          </p:nvSpPr>
          <p:spPr>
            <a:xfrm>
              <a:off x="4728628" y="435301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3" name="AutoShape 23"/>
            <p:cNvSpPr/>
            <p:nvPr/>
          </p:nvSpPr>
          <p:spPr>
            <a:xfrm>
              <a:off x="4675050" y="440659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grpSp>
      <p:grpSp>
        <p:nvGrpSpPr>
          <p:cNvPr id="24" name="Group 24"/>
          <p:cNvGrpSpPr/>
          <p:nvPr/>
        </p:nvGrpSpPr>
        <p:grpSpPr>
          <a:xfrm>
            <a:off x="5264409" y="4567329"/>
            <a:ext cx="964406" cy="910828"/>
            <a:chOff x="5264409" y="4567329"/>
            <a:chExt cx="964406" cy="910828"/>
          </a:xfrm>
        </p:grpSpPr>
        <p:sp>
          <p:nvSpPr>
            <p:cNvPr id="25" name="AutoShape 25"/>
            <p:cNvSpPr/>
            <p:nvPr/>
          </p:nvSpPr>
          <p:spPr>
            <a:xfrm>
              <a:off x="5639456" y="456732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6" name="AutoShape 26"/>
            <p:cNvSpPr/>
            <p:nvPr/>
          </p:nvSpPr>
          <p:spPr>
            <a:xfrm>
              <a:off x="5585878" y="462090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7" name="AutoShape 27"/>
            <p:cNvSpPr/>
            <p:nvPr/>
          </p:nvSpPr>
          <p:spPr>
            <a:xfrm>
              <a:off x="5532300" y="4674485"/>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8" name="AutoShape 28"/>
            <p:cNvSpPr/>
            <p:nvPr/>
          </p:nvSpPr>
          <p:spPr>
            <a:xfrm>
              <a:off x="5478721" y="4728063"/>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29" name="AutoShape 29"/>
            <p:cNvSpPr/>
            <p:nvPr/>
          </p:nvSpPr>
          <p:spPr>
            <a:xfrm>
              <a:off x="5425143" y="4781641"/>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0" name="AutoShape 30"/>
            <p:cNvSpPr/>
            <p:nvPr/>
          </p:nvSpPr>
          <p:spPr>
            <a:xfrm>
              <a:off x="5371565" y="483522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1" name="AutoShape 31"/>
            <p:cNvSpPr/>
            <p:nvPr/>
          </p:nvSpPr>
          <p:spPr>
            <a:xfrm>
              <a:off x="5317987" y="488879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2" name="AutoShape 32"/>
            <p:cNvSpPr/>
            <p:nvPr/>
          </p:nvSpPr>
          <p:spPr>
            <a:xfrm>
              <a:off x="5264409" y="494237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grpSp>
      <p:grpSp>
        <p:nvGrpSpPr>
          <p:cNvPr id="33" name="Group 33"/>
          <p:cNvGrpSpPr/>
          <p:nvPr/>
        </p:nvGrpSpPr>
        <p:grpSpPr>
          <a:xfrm>
            <a:off x="5853769" y="5103110"/>
            <a:ext cx="964406" cy="910828"/>
            <a:chOff x="5853769" y="5103110"/>
            <a:chExt cx="964406" cy="910828"/>
          </a:xfrm>
        </p:grpSpPr>
        <p:sp>
          <p:nvSpPr>
            <p:cNvPr id="34" name="AutoShape 34"/>
            <p:cNvSpPr/>
            <p:nvPr/>
          </p:nvSpPr>
          <p:spPr>
            <a:xfrm>
              <a:off x="6228816" y="5103110"/>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5" name="AutoShape 35"/>
            <p:cNvSpPr/>
            <p:nvPr/>
          </p:nvSpPr>
          <p:spPr>
            <a:xfrm>
              <a:off x="6175238" y="5156688"/>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6" name="AutoShape 36"/>
            <p:cNvSpPr/>
            <p:nvPr/>
          </p:nvSpPr>
          <p:spPr>
            <a:xfrm>
              <a:off x="6121660" y="5210266"/>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7" name="AutoShape 37"/>
            <p:cNvSpPr/>
            <p:nvPr/>
          </p:nvSpPr>
          <p:spPr>
            <a:xfrm>
              <a:off x="6068081" y="5263844"/>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8" name="AutoShape 38"/>
            <p:cNvSpPr/>
            <p:nvPr/>
          </p:nvSpPr>
          <p:spPr>
            <a:xfrm>
              <a:off x="6014503" y="5317422"/>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39" name="AutoShape 39"/>
            <p:cNvSpPr/>
            <p:nvPr/>
          </p:nvSpPr>
          <p:spPr>
            <a:xfrm>
              <a:off x="5960925" y="5371001"/>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40" name="AutoShape 40"/>
            <p:cNvSpPr/>
            <p:nvPr/>
          </p:nvSpPr>
          <p:spPr>
            <a:xfrm>
              <a:off x="5907347" y="5424579"/>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sp>
          <p:nvSpPr>
            <p:cNvPr id="41" name="AutoShape 41"/>
            <p:cNvSpPr/>
            <p:nvPr/>
          </p:nvSpPr>
          <p:spPr>
            <a:xfrm>
              <a:off x="5853769" y="5478157"/>
              <a:ext cx="589359" cy="535781"/>
            </a:xfrm>
            <a:prstGeom prst="rect">
              <a:avLst/>
            </a:prstGeom>
            <a:solidFill>
              <a:srgbClr val="99FF00">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Add</a:t>
              </a:r>
              <a:endParaRPr lang="en-US" sz="1100"/>
            </a:p>
          </p:txBody>
        </p:sp>
      </p:grpSp>
      <p:grpSp>
        <p:nvGrpSpPr>
          <p:cNvPr id="42" name="Group 42"/>
          <p:cNvGrpSpPr/>
          <p:nvPr/>
        </p:nvGrpSpPr>
        <p:grpSpPr>
          <a:xfrm>
            <a:off x="6496706" y="3495766"/>
            <a:ext cx="964406" cy="910828"/>
            <a:chOff x="6496706" y="3495766"/>
            <a:chExt cx="964406" cy="910828"/>
          </a:xfrm>
        </p:grpSpPr>
        <p:sp>
          <p:nvSpPr>
            <p:cNvPr id="43" name="AutoShape 43"/>
            <p:cNvSpPr/>
            <p:nvPr/>
          </p:nvSpPr>
          <p:spPr>
            <a:xfrm>
              <a:off x="6871753" y="349576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44" name="AutoShape 44"/>
            <p:cNvSpPr/>
            <p:nvPr/>
          </p:nvSpPr>
          <p:spPr>
            <a:xfrm>
              <a:off x="6818175" y="354934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45" name="AutoShape 45"/>
            <p:cNvSpPr/>
            <p:nvPr/>
          </p:nvSpPr>
          <p:spPr>
            <a:xfrm>
              <a:off x="6764597" y="360292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46" name="AutoShape 46"/>
            <p:cNvSpPr/>
            <p:nvPr/>
          </p:nvSpPr>
          <p:spPr>
            <a:xfrm>
              <a:off x="6711018" y="365650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47" name="AutoShape 47"/>
            <p:cNvSpPr/>
            <p:nvPr/>
          </p:nvSpPr>
          <p:spPr>
            <a:xfrm>
              <a:off x="6657440" y="371007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48" name="AutoShape 48"/>
            <p:cNvSpPr/>
            <p:nvPr/>
          </p:nvSpPr>
          <p:spPr>
            <a:xfrm>
              <a:off x="6603862" y="376365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49" name="AutoShape 49"/>
            <p:cNvSpPr/>
            <p:nvPr/>
          </p:nvSpPr>
          <p:spPr>
            <a:xfrm>
              <a:off x="6550284" y="381723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0" name="AutoShape 50"/>
            <p:cNvSpPr/>
            <p:nvPr/>
          </p:nvSpPr>
          <p:spPr>
            <a:xfrm>
              <a:off x="6496706" y="3870813"/>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grpSp>
      <p:grpSp>
        <p:nvGrpSpPr>
          <p:cNvPr id="51" name="Group 51"/>
          <p:cNvGrpSpPr/>
          <p:nvPr/>
        </p:nvGrpSpPr>
        <p:grpSpPr>
          <a:xfrm>
            <a:off x="7086066" y="4031548"/>
            <a:ext cx="964406" cy="910828"/>
            <a:chOff x="7086066" y="4031548"/>
            <a:chExt cx="964406" cy="910828"/>
          </a:xfrm>
        </p:grpSpPr>
        <p:sp>
          <p:nvSpPr>
            <p:cNvPr id="52" name="AutoShape 52"/>
            <p:cNvSpPr/>
            <p:nvPr/>
          </p:nvSpPr>
          <p:spPr>
            <a:xfrm>
              <a:off x="7461113" y="403154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3" name="AutoShape 53"/>
            <p:cNvSpPr/>
            <p:nvPr/>
          </p:nvSpPr>
          <p:spPr>
            <a:xfrm>
              <a:off x="7407535" y="408512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4" name="AutoShape 54"/>
            <p:cNvSpPr/>
            <p:nvPr/>
          </p:nvSpPr>
          <p:spPr>
            <a:xfrm>
              <a:off x="7353957" y="413870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5" name="AutoShape 55"/>
            <p:cNvSpPr/>
            <p:nvPr/>
          </p:nvSpPr>
          <p:spPr>
            <a:xfrm>
              <a:off x="7300378" y="419228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6" name="AutoShape 56"/>
            <p:cNvSpPr/>
            <p:nvPr/>
          </p:nvSpPr>
          <p:spPr>
            <a:xfrm>
              <a:off x="7246800" y="424586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7" name="AutoShape 57"/>
            <p:cNvSpPr/>
            <p:nvPr/>
          </p:nvSpPr>
          <p:spPr>
            <a:xfrm>
              <a:off x="7193222" y="429943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8" name="AutoShape 58"/>
            <p:cNvSpPr/>
            <p:nvPr/>
          </p:nvSpPr>
          <p:spPr>
            <a:xfrm>
              <a:off x="7139644" y="435301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59" name="AutoShape 59"/>
            <p:cNvSpPr/>
            <p:nvPr/>
          </p:nvSpPr>
          <p:spPr>
            <a:xfrm>
              <a:off x="7086066" y="440659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grpSp>
      <p:grpSp>
        <p:nvGrpSpPr>
          <p:cNvPr id="60" name="Group 60"/>
          <p:cNvGrpSpPr/>
          <p:nvPr/>
        </p:nvGrpSpPr>
        <p:grpSpPr>
          <a:xfrm>
            <a:off x="7675425" y="4567329"/>
            <a:ext cx="964406" cy="910828"/>
            <a:chOff x="7675425" y="4567329"/>
            <a:chExt cx="964406" cy="910828"/>
          </a:xfrm>
        </p:grpSpPr>
        <p:sp>
          <p:nvSpPr>
            <p:cNvPr id="61" name="AutoShape 61"/>
            <p:cNvSpPr/>
            <p:nvPr/>
          </p:nvSpPr>
          <p:spPr>
            <a:xfrm>
              <a:off x="8050472" y="456732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2" name="AutoShape 62"/>
            <p:cNvSpPr/>
            <p:nvPr/>
          </p:nvSpPr>
          <p:spPr>
            <a:xfrm>
              <a:off x="7996894" y="462090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3" name="AutoShape 63"/>
            <p:cNvSpPr/>
            <p:nvPr/>
          </p:nvSpPr>
          <p:spPr>
            <a:xfrm>
              <a:off x="7943316" y="4674485"/>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4" name="AutoShape 64"/>
            <p:cNvSpPr/>
            <p:nvPr/>
          </p:nvSpPr>
          <p:spPr>
            <a:xfrm>
              <a:off x="7889737" y="4728063"/>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5" name="AutoShape 65"/>
            <p:cNvSpPr/>
            <p:nvPr/>
          </p:nvSpPr>
          <p:spPr>
            <a:xfrm>
              <a:off x="7836159" y="4781641"/>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6" name="AutoShape 66"/>
            <p:cNvSpPr/>
            <p:nvPr/>
          </p:nvSpPr>
          <p:spPr>
            <a:xfrm>
              <a:off x="7782581" y="483522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7" name="AutoShape 67"/>
            <p:cNvSpPr/>
            <p:nvPr/>
          </p:nvSpPr>
          <p:spPr>
            <a:xfrm>
              <a:off x="7729003" y="488879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68" name="AutoShape 68"/>
            <p:cNvSpPr/>
            <p:nvPr/>
          </p:nvSpPr>
          <p:spPr>
            <a:xfrm>
              <a:off x="7675425" y="494237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grpSp>
      <p:grpSp>
        <p:nvGrpSpPr>
          <p:cNvPr id="69" name="Group 69"/>
          <p:cNvGrpSpPr/>
          <p:nvPr/>
        </p:nvGrpSpPr>
        <p:grpSpPr>
          <a:xfrm>
            <a:off x="8264784" y="5103110"/>
            <a:ext cx="964406" cy="910828"/>
            <a:chOff x="8264784" y="5103110"/>
            <a:chExt cx="964406" cy="910828"/>
          </a:xfrm>
        </p:grpSpPr>
        <p:sp>
          <p:nvSpPr>
            <p:cNvPr id="70" name="AutoShape 70"/>
            <p:cNvSpPr/>
            <p:nvPr/>
          </p:nvSpPr>
          <p:spPr>
            <a:xfrm>
              <a:off x="8639831" y="5103110"/>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1" name="AutoShape 71"/>
            <p:cNvSpPr/>
            <p:nvPr/>
          </p:nvSpPr>
          <p:spPr>
            <a:xfrm>
              <a:off x="8586253" y="5156688"/>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2" name="AutoShape 72"/>
            <p:cNvSpPr/>
            <p:nvPr/>
          </p:nvSpPr>
          <p:spPr>
            <a:xfrm>
              <a:off x="8532675" y="5210266"/>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3" name="AutoShape 73"/>
            <p:cNvSpPr/>
            <p:nvPr/>
          </p:nvSpPr>
          <p:spPr>
            <a:xfrm>
              <a:off x="8479096" y="5263844"/>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4" name="AutoShape 74"/>
            <p:cNvSpPr/>
            <p:nvPr/>
          </p:nvSpPr>
          <p:spPr>
            <a:xfrm>
              <a:off x="8425518" y="5317422"/>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5" name="AutoShape 75"/>
            <p:cNvSpPr/>
            <p:nvPr/>
          </p:nvSpPr>
          <p:spPr>
            <a:xfrm>
              <a:off x="8371940" y="5371001"/>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6" name="AutoShape 76"/>
            <p:cNvSpPr/>
            <p:nvPr/>
          </p:nvSpPr>
          <p:spPr>
            <a:xfrm>
              <a:off x="8318362" y="5424579"/>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sp>
          <p:nvSpPr>
            <p:cNvPr id="77" name="AutoShape 77"/>
            <p:cNvSpPr/>
            <p:nvPr/>
          </p:nvSpPr>
          <p:spPr>
            <a:xfrm>
              <a:off x="8264784" y="5478157"/>
              <a:ext cx="589359" cy="535781"/>
            </a:xfrm>
            <a:prstGeom prst="rect">
              <a:avLst/>
            </a:prstGeom>
            <a:solidFill>
              <a:srgbClr val="A5A5A5">
                <a:alpha val="100000"/>
              </a:srgbClr>
            </a:solid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Mul</a:t>
              </a:r>
              <a:endParaRPr lang="en-US" sz="1100"/>
            </a:p>
          </p:txBody>
        </p:sp>
      </p:grpSp>
      <p:sp>
        <p:nvSpPr>
          <p:cNvPr id="78" name="AutoShape 78"/>
          <p:cNvSpPr/>
          <p:nvPr/>
        </p:nvSpPr>
        <p:spPr>
          <a:xfrm>
            <a:off x="9282769" y="3873592"/>
            <a:ext cx="331470" cy="309245"/>
          </a:xfrm>
          <a:prstGeom prst="rect">
            <a:avLst/>
          </a:prstGeom>
          <a:noFill/>
          <a:ln w="12700">
            <a:noFill/>
            <a:prstDash val="solid"/>
          </a:ln>
        </p:spPr>
        <p:txBody>
          <a:bodyPr wrap="none" lIns="64291" tIns="32146" rIns="64291" bIns="32146" rtlCol="0" anchor="t">
            <a:spAutoFit/>
          </a:bodyPr>
          <a:lstStyle/>
          <a:p>
            <a:pPr indent="0" algn="l">
              <a:lnSpc>
                <a:spcPct val="100000"/>
              </a:lnSpc>
              <a:defRPr/>
            </a:pPr>
            <a:r>
              <a:rPr lang="en-US" sz="1100" b="0"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100"/>
          </a:p>
        </p:txBody>
      </p:sp>
      <p:sp>
        <p:nvSpPr>
          <p:cNvPr id="79" name="AutoShape 79"/>
          <p:cNvSpPr/>
          <p:nvPr/>
        </p:nvSpPr>
        <p:spPr>
          <a:xfrm rot="10800000" flipV="1">
            <a:off x="3577828" y="3870813"/>
            <a:ext cx="160734" cy="2143125"/>
          </a:xfrm>
          <a:prstGeom prst="leftBracket">
            <a:avLst>
              <a:gd name="adj" fmla="val 8333"/>
            </a:avLst>
          </a:prstGeom>
          <a:noFill/>
          <a:ln w="12700" cap="flat">
            <a:solidFill>
              <a:srgbClr val="000000">
                <a:alpha val="100000"/>
              </a:srgbClr>
            </a:solidFill>
            <a:prstDash val="solid"/>
          </a:ln>
        </p:spPr>
        <p:txBody>
          <a:bodyPr wrap="square" lIns="64291" tIns="32146" rIns="64291" bIns="32146"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80" name="AutoShape 80"/>
          <p:cNvSpPr/>
          <p:nvPr/>
        </p:nvSpPr>
        <p:spPr>
          <a:xfrm>
            <a:off x="9614535" y="6014085"/>
            <a:ext cx="335280" cy="304165"/>
          </a:xfrm>
          <a:prstGeom prst="rect">
            <a:avLst/>
          </a:prstGeom>
          <a:noFill/>
          <a:ln w="12700">
            <a:noFill/>
            <a:prstDash val="solid"/>
          </a:ln>
        </p:spPr>
        <p:txBody>
          <a:bodyPr wrap="square" lIns="64291" tIns="32146" rIns="64291" bIns="32146" rtlCol="0" anchor="t">
            <a:noAutofit/>
          </a:bodyPr>
          <a:lstStyle/>
          <a:p>
            <a:pPr indent="0" algn="l">
              <a:lnSpc>
                <a:spcPct val="100000"/>
              </a:lnSpc>
              <a:defRPr/>
            </a:pPr>
            <a:r>
              <a:rPr lang="en-US" sz="1075" b="0"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100"/>
          </a:p>
        </p:txBody>
      </p:sp>
      <p:sp>
        <p:nvSpPr>
          <p:cNvPr id="81" name="AutoShape 81"/>
          <p:cNvSpPr/>
          <p:nvPr/>
        </p:nvSpPr>
        <p:spPr>
          <a:xfrm>
            <a:off x="3417094" y="6121095"/>
            <a:ext cx="670560" cy="309245"/>
          </a:xfrm>
          <a:prstGeom prst="rect">
            <a:avLst/>
          </a:prstGeom>
          <a:noFill/>
          <a:ln w="12700">
            <a:noFill/>
            <a:prstDash val="solid"/>
          </a:ln>
        </p:spPr>
        <p:txBody>
          <a:bodyPr wrap="none" lIns="64291" tIns="32146" rIns="64291" bIns="32146" rtlCol="0" anchor="t">
            <a:spAutoFit/>
          </a:bodyPr>
          <a:lstStyle/>
          <a:p>
            <a:pPr indent="0" algn="l">
              <a:lnSpc>
                <a:spcPct val="100000"/>
              </a:lnSpc>
              <a:defRPr/>
            </a:pPr>
            <a:r>
              <a:rPr lang="en-US" sz="1100"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Cycles</a:t>
            </a:r>
            <a:endParaRPr lang="en-US" sz="1100"/>
          </a:p>
        </p:txBody>
      </p:sp>
      <p:cxnSp>
        <p:nvCxnSpPr>
          <p:cNvPr id="82" name="Connector 82"/>
          <p:cNvCxnSpPr/>
          <p:nvPr/>
        </p:nvCxnSpPr>
        <p:spPr>
          <a:xfrm>
            <a:off x="4810125" y="408400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3" name="Connector 83"/>
          <p:cNvCxnSpPr/>
          <p:nvPr/>
        </p:nvCxnSpPr>
        <p:spPr>
          <a:xfrm>
            <a:off x="5399484" y="461979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4" name="Connector 84"/>
          <p:cNvCxnSpPr/>
          <p:nvPr/>
        </p:nvCxnSpPr>
        <p:spPr>
          <a:xfrm>
            <a:off x="5988844" y="5209150"/>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5" name="Connector 85"/>
          <p:cNvCxnSpPr/>
          <p:nvPr/>
        </p:nvCxnSpPr>
        <p:spPr>
          <a:xfrm>
            <a:off x="6578203" y="5692469"/>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6" name="Connector 86"/>
          <p:cNvCxnSpPr/>
          <p:nvPr/>
        </p:nvCxnSpPr>
        <p:spPr>
          <a:xfrm>
            <a:off x="7221141" y="4085126"/>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7" name="Connector 87"/>
          <p:cNvCxnSpPr/>
          <p:nvPr/>
        </p:nvCxnSpPr>
        <p:spPr>
          <a:xfrm>
            <a:off x="7810500" y="4620907"/>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8" name="Connector 88"/>
          <p:cNvCxnSpPr/>
          <p:nvPr/>
        </p:nvCxnSpPr>
        <p:spPr>
          <a:xfrm>
            <a:off x="8399859" y="5156688"/>
            <a:ext cx="1607344" cy="1117"/>
          </a:xfrm>
          <a:prstGeom prst="straightConnector1">
            <a:avLst/>
          </a:prstGeom>
          <a:noFill/>
          <a:ln w="12700" cap="flat">
            <a:solidFill>
              <a:srgbClr val="000000">
                <a:alpha val="100000"/>
              </a:srgbClr>
            </a:solidFill>
            <a:prstDash val="solid"/>
            <a:headEnd type="none" w="med" len="med"/>
            <a:tailEnd type="arrow" w="med" len="med"/>
          </a:ln>
        </p:spPr>
      </p:cxnSp>
      <p:cxnSp>
        <p:nvCxnSpPr>
          <p:cNvPr id="89" name="Connector 89"/>
          <p:cNvCxnSpPr/>
          <p:nvPr/>
        </p:nvCxnSpPr>
        <p:spPr>
          <a:xfrm>
            <a:off x="9042797" y="5691353"/>
            <a:ext cx="1339453" cy="1117"/>
          </a:xfrm>
          <a:prstGeom prst="straightConnector1">
            <a:avLst/>
          </a:prstGeom>
          <a:noFill/>
          <a:ln w="12700" cap="flat">
            <a:solidFill>
              <a:srgbClr val="000000">
                <a:alpha val="100000"/>
              </a:srgbClr>
            </a:solidFill>
            <a:prstDash val="solid"/>
            <a:headEnd type="none" w="med" len="med"/>
            <a:tailEnd type="none" w="med" len="med"/>
          </a:ln>
        </p:spPr>
      </p:cxnSp>
      <p:grpSp>
        <p:nvGrpSpPr>
          <p:cNvPr id="90" name="Group 90"/>
          <p:cNvGrpSpPr/>
          <p:nvPr/>
        </p:nvGrpSpPr>
        <p:grpSpPr>
          <a:xfrm>
            <a:off x="2660000" y="3026508"/>
            <a:ext cx="1668180" cy="808446"/>
            <a:chOff x="2660000" y="3026508"/>
            <a:chExt cx="1668180" cy="808446"/>
          </a:xfrm>
        </p:grpSpPr>
        <p:sp>
          <p:nvSpPr>
            <p:cNvPr id="91" name="AutoShape 91"/>
            <p:cNvSpPr/>
            <p:nvPr/>
          </p:nvSpPr>
          <p:spPr>
            <a:xfrm>
              <a:off x="3890961" y="3245595"/>
              <a:ext cx="437219" cy="589359"/>
            </a:xfrm>
            <a:prstGeom prst="rightBrace">
              <a:avLst>
                <a:gd name="adj1" fmla="val 8333"/>
                <a:gd name="adj2" fmla="val 50000"/>
              </a:avLst>
            </a:prstGeom>
            <a:noFill/>
            <a:ln w="12700" cap="flat">
              <a:solidFill>
                <a:srgbClr val="000000">
                  <a:alpha val="100000"/>
                </a:srgbClr>
              </a:solidFill>
              <a:prstDash val="solid"/>
            </a:ln>
            <a:effectLst>
              <a:outerShdw blurRad="63500" dist="12700" dir="5400000" sx="102000" sy="102000" rotWithShape="0">
                <a:srgbClr val="000000">
                  <a:alpha val="32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92" name="AutoShape 92"/>
            <p:cNvSpPr/>
            <p:nvPr/>
          </p:nvSpPr>
          <p:spPr>
            <a:xfrm>
              <a:off x="2660000" y="3026508"/>
              <a:ext cx="1230630" cy="737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0" b="0" i="0" u="none" strike="noStrike">
                  <a:solidFill>
                    <a:srgbClr val="000000"/>
                  </a:solidFill>
                  <a:latin typeface="Calibri" panose="020F0502020204030204"/>
                  <a:ea typeface="Arial" panose="020B0604020202020204"/>
                  <a:cs typeface="Arial" panose="020B0604020202020204"/>
                  <a:sym typeface="Arial" panose="020B0604020202020204"/>
                </a:rPr>
                <a:t>SIMD</a:t>
              </a:r>
              <a:r>
                <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largeur</a:t>
              </a:r>
              <a:endParaRPr lang="en-US" sz="1100"/>
            </a:p>
            <a:p>
              <a:pPr indent="0" algn="l">
                <a:lnSpc>
                  <a:spcPct val="100000"/>
                </a:lnSpc>
              </a:pPr>
              <a:r>
                <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080" b="0" i="0" u="none" strike="noStrike">
                  <a:solidFill>
                    <a:srgbClr val="000000"/>
                  </a:solidFill>
                  <a:latin typeface="Calibri" panose="020F0502020204030204"/>
                  <a:ea typeface="Arial" panose="020B0604020202020204"/>
                  <a:cs typeface="Arial" panose="020B0604020202020204"/>
                  <a:sym typeface="Arial" panose="020B0604020202020204"/>
                </a:rPr>
                <a:t>AMD</a:t>
              </a:r>
              <a:r>
                <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 16)</a:t>
              </a:r>
              <a:r>
                <a:rPr lang="en-US" sz="1080" b="0" i="0" u="none" strike="noStrike">
                  <a:solidFill>
                    <a:srgbClr val="000000"/>
                  </a:solidFill>
                  <a:latin typeface="Calibri" panose="020F0502020204030204"/>
                  <a:ea typeface="Arial" panose="020B0604020202020204"/>
                  <a:cs typeface="Arial" panose="020B0604020202020204"/>
                  <a:sym typeface="Arial" panose="020B0604020202020204"/>
                </a:rPr>
                <a:t>16</a:t>
              </a:r>
              <a:r>
                <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(NVIDIA</a:t>
              </a:r>
              <a:r>
                <a:rPr lang="en-US" sz="1080" b="0" i="0" u="none" strike="noStrike">
                  <a:solidFill>
                    <a:srgbClr val="000000"/>
                  </a:solidFill>
                  <a:latin typeface="Calibri" panose="020F0502020204030204"/>
                  <a:ea typeface="Arial" panose="020B0604020202020204"/>
                  <a:cs typeface="Arial" panose="020B0604020202020204"/>
                  <a:sym typeface="Arial" panose="020B0604020202020204"/>
                </a:rPr>
                <a:t> : 8)</a:t>
              </a:r>
              <a:r>
                <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08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sp>
        <p:nvSpPr>
          <p:cNvPr id="93" name="AutoShape 93"/>
          <p:cNvSpPr/>
          <p:nvPr/>
        </p:nvSpPr>
        <p:spPr>
          <a:xfrm>
            <a:off x="1100455" y="4086225"/>
            <a:ext cx="1728000" cy="13220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350" b="0" i="0" u="none" strike="noStrike">
                <a:solidFill>
                  <a:srgbClr val="000000"/>
                </a:solidFill>
                <a:latin typeface="Calibri" panose="020F0502020204030204"/>
                <a:ea typeface="Arial" panose="020B0604020202020204"/>
                <a:cs typeface="Arial" panose="020B0604020202020204"/>
                <a:sym typeface="Arial" panose="020B0604020202020204"/>
              </a:rPr>
              <a:t>AMD</a:t>
            </a:r>
            <a:r>
              <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350" b="0" i="0" u="none" strike="noStrike">
                <a:solidFill>
                  <a:srgbClr val="000000"/>
                </a:solidFill>
                <a:latin typeface="Calibri" panose="020F0502020204030204"/>
                <a:ea typeface="Arial" panose="020B0604020202020204"/>
                <a:cs typeface="Arial" panose="020B0604020202020204"/>
                <a:sym typeface="Arial" panose="020B0604020202020204"/>
              </a:rPr>
              <a:t>Wavefront</a:t>
            </a:r>
            <a:endParaRPr lang="en-US" sz="1100"/>
          </a:p>
          <a:p>
            <a:pPr indent="0" algn="l">
              <a:lnSpc>
                <a:spcPct val="100000"/>
              </a:lnSpc>
            </a:pPr>
            <a:r>
              <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50" b="0" i="0" u="none" strike="noStrike">
                <a:solidFill>
                  <a:srgbClr val="000000"/>
                </a:solidFill>
                <a:latin typeface="Calibri" panose="020F0502020204030204"/>
                <a:ea typeface="Arial" panose="020B0604020202020204"/>
                <a:cs typeface="Arial" panose="020B0604020202020204"/>
                <a:sym typeface="Arial" panose="020B0604020202020204"/>
              </a:rPr>
              <a:t>64</a:t>
            </a:r>
            <a:r>
              <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éléments de travail)</a:t>
            </a:r>
            <a:endPar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p>
          <a:p>
            <a:pPr indent="0" algn="l">
              <a:lnSpc>
                <a:spcPct val="100000"/>
              </a:lnSpc>
            </a:pPr>
            <a:r>
              <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NVIDIA</a:t>
            </a:r>
            <a:r>
              <a:rPr lang="en-US" sz="135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35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50" b="0" i="0" u="none" strike="noStrike">
                <a:solidFill>
                  <a:srgbClr val="000000"/>
                </a:solidFill>
                <a:latin typeface="Calibri" panose="020F0502020204030204"/>
                <a:ea typeface="Arial" panose="020B0604020202020204"/>
                <a:cs typeface="Arial" panose="020B0604020202020204"/>
                <a:sym typeface="Arial" panose="020B0604020202020204"/>
              </a:rPr>
              <a:t>32</a:t>
            </a:r>
            <a:r>
              <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threads)</a:t>
            </a:r>
            <a:endParaRPr lang="en-US" sz="13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SIMD</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SPMD</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SIMT</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1/3</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15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https://www.intel.com/content/www/us/en/developer/articles/technical/accelerating-compute-intensive-workloads-with-intel-avx-512-using-microsoft-visual-studio.html</a:t>
            </a:r>
            <a:endParaRPr lang="en-US" sz="115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une architecture matérielle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flux d'instructions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SIMD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 unique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multiplication matrice-vecteur avec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AVX-512.</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custDataLst>
              <p:tags r:id="rId1"/>
            </p:custDataLst>
          </p:nvPr>
        </p:nvGraphicFramePr>
        <p:xfrm>
          <a:off x="1179830" y="2739390"/>
          <a:ext cx="10173335" cy="3347085"/>
        </p:xfrm>
        <a:graphic>
          <a:graphicData uri="http://schemas.openxmlformats.org/drawingml/2006/table">
            <a:tbl>
              <a:tblPr>
                <a:effectLst/>
              </a:tblPr>
              <a:tblGrid>
                <a:gridCol w="10173335"/>
              </a:tblGrid>
              <a:tr h="3347085">
                <a:tc>
                  <a:txBody>
                    <a:bodyPr rtlCol="0"/>
                    <a:lstStyle/>
                    <a:p>
                      <a:pPr indent="0" algn="l">
                        <a:lnSpc>
                          <a:spcPct val="100000"/>
                        </a:lnSpc>
                        <a:defRPr/>
                      </a:pPr>
                      <a:r>
                        <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rPr>
                        <a:t>static float *outx16;
static float *avx512Multiply() {
  for (uint64_t i = 0; i &lt; row; i++) {
    __m512 sumx16 = _mm512_set1_ps(0.0);
    for (uint64_t j = 0; j &lt; col; j += 16) {
      __m512 a = _mm512_loadu_ps(&amp;(t1[i*col + j]));
      __m512 b = _mm512_loadu_ps(&amp;(t2[j]));
      sumx16 = _mm512_fmadd_ps(a, b, sumx16);
    }
    outx16[i] = _mm512_reduce_add_ps(sumx16);
  }
  return outx16;
}</a:t>
                      </a:r>
                      <a:endParaRPr lang="en-US" sz="1600" b="0" i="0" u="none" strike="noStrike">
                        <a:solidFill>
                          <a:srgbClr val="262626"/>
                        </a:solidFill>
                        <a:latin typeface="Courier New" panose="02070309020205020404"/>
                        <a:ea typeface="Courier New" panose="02070309020205020404"/>
                        <a:cs typeface="Courier New" panose="02070309020205020404"/>
                        <a:sym typeface="Courier New" panose="02070309020205020404"/>
                      </a:endParaRP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SIMD</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SPMD</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SIMT</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2/3</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SPMD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 paradigme de programmation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programmeurs écrivent généralement un seul programme qui s'exécute sur tous les processeurs d'un ordinateur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MIMD</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lorsque différents processeurs doivent exécuter différentes sections de code, on utilise des instructions conditionnelles pour les distinguer.</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A6A6A6"/>
              </a:buClr>
              <a:buChar char="•"/>
            </a:pPr>
            <a:r>
              <a:rPr lang="en-US" sz="2000" b="0"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Voir « Computer Organization and Design: The Hardware</a:t>
            </a:r>
            <a:r>
              <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Software Interface » (cinquième édition), section </a:t>
            </a:r>
            <a:r>
              <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rPr>
              <a:t>6.3</a:t>
            </a:r>
            <a:r>
              <a:rPr lang="en-US" sz="2000" b="0"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 par </a:t>
            </a:r>
            <a:r>
              <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rPr>
              <a:t>David A. Patterson</a:t>
            </a:r>
            <a:r>
              <a:rPr lang="en-US" sz="2000" b="0"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rPr>
              <a:t>John L. Hennessy</a:t>
            </a:r>
            <a:endParaRPr lang="en-US" sz="2000" b="0" i="0" u="none" strike="noStrike">
              <a:solidFill>
                <a:srgbClr val="A6A6A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SIMD</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SPMD</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SIMT</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3/3</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微软雅黑" panose="020B0503020204020204" charset="-122"/>
              </a:defRPr>
            </a:lvl1pPr>
          </a:lstStyle>
          <a:p>
            <a:pPr indent="0" algn="l">
              <a:lnSpc>
                <a:spcPct val="100000"/>
              </a:lnSpc>
            </a:pPr>
            <a:r>
              <a:rPr lang="en-US" sz="12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Adapté du cours </a:t>
            </a:r>
            <a:r>
              <a:rPr lang="en-US" sz="1200" b="0" i="0" u="none" strike="noStrike">
                <a:solidFill>
                  <a:srgbClr val="A5A5A5"/>
                </a:solidFill>
                <a:latin typeface="Calibri" panose="020F0502020204030204"/>
                <a:ea typeface="Garamond" panose="02020404030301010803"/>
                <a:cs typeface="Garamond" panose="02020404030301010803"/>
                <a:sym typeface="Garamond" panose="02020404030301010803"/>
              </a:rPr>
              <a:t>CSEP 590</a:t>
            </a:r>
            <a:r>
              <a:rPr lang="en-US" sz="12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 de l'Université de Washington, </a:t>
            </a:r>
            <a:r>
              <a:rPr lang="en-US" sz="1200" b="0" i="0" u="none" strike="noStrike">
                <a:solidFill>
                  <a:srgbClr val="A5A5A5"/>
                </a:solidFill>
                <a:latin typeface="Calibri" panose="020F0502020204030204"/>
                <a:ea typeface="Garamond" panose="02020404030301010803"/>
                <a:cs typeface="Garamond" panose="02020404030301010803"/>
                <a:sym typeface="Garamond" panose="02020404030301010803"/>
              </a:rPr>
              <a:t>Dr. Hari Sadasivan</a:t>
            </a:r>
            <a:r>
              <a:rPr lang="en-US" sz="12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vecteur</a:t>
            </a:r>
            <a:endParaRPr lang="en-US" sz="12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SIMT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à la fois un modèle de programmation et un modèle d'exécution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execute aussi le modele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Flux d'instructions scalaires multiples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thread peut être traité indépendamment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thread peut s'exécuter indépendamment sur n'importe quel type de pipeline scalaire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MIMD</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traitement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Organisation flexible des threads en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warp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Regroupement dynamique des threads exécutant les mêmes instructions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capter dynamiquement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maximiser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b</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fices du traitement SIMD </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Warp dans les GPU NVIDIA : taille de warp = 32</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AMD GPU</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Wavefront dans les GPU AMD : taille de wavefront = 64</a:t>
            </a:r>
            <a:endPar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120" b="0" i="0" u="none" strike="noStrike">
                <a:solidFill>
                  <a:srgbClr val="262626"/>
                </a:solidFill>
                <a:latin typeface="Calibri" panose="020F0502020204030204"/>
                <a:ea typeface="Calibri" panose="020F0502020204030204"/>
                <a:cs typeface="Calibri" panose="020F0502020204030204"/>
                <a:sym typeface="Calibri" panose="020F0502020204030204"/>
              </a:rPr>
              <a:t>SIMT</a:t>
            </a:r>
            <a:r>
              <a:rPr lang="en-US" sz="21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comment exprimer le travail d'un seul thread ?</a:t>
            </a:r>
            <a:b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180" b="0" i="0" u="none" strike="noStrike">
                <a:solidFill>
                  <a:srgbClr val="262626"/>
                </a:solidFill>
                <a:latin typeface="Calibri" panose="020F0502020204030204"/>
                <a:ea typeface="Calibri" panose="020F0502020204030204"/>
                <a:cs typeface="Calibri" panose="020F0502020204030204"/>
                <a:sym typeface="Calibri" panose="020F0502020204030204"/>
              </a:rPr>
              <a:t>SIMT</a:t>
            </a:r>
            <a:r>
              <a:rPr lang="en-US" sz="1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flux d'instruction unique</a:t>
            </a:r>
            <a:r>
              <a:rPr lang="en-US" sz="1180"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SI</a:t>
            </a:r>
            <a:r>
              <a:rPr lang="en-US" sz="1180" b="1" i="0" u="none" strike="noStrike">
                <a:solidFill>
                  <a:srgbClr val="548235"/>
                </a:solidFill>
                <a:latin typeface="Calibri" panose="020F0502020204030204"/>
                <a:ea typeface="Calibri" panose="020F0502020204030204"/>
                <a:cs typeface="Calibri" panose="020F0502020204030204"/>
                <a:sym typeface="Calibri" panose="020F0502020204030204"/>
              </a:rPr>
              <a:t>MT)</a:t>
            </a:r>
            <a:r>
              <a:rPr lang="en-US" sz="1180" b="0" i="0" u="none" strike="noStrike">
                <a:solidFill>
                  <a:srgbClr val="262626"/>
                </a:solidFill>
                <a:latin typeface="Calibri" panose="020F0502020204030204"/>
                <a:ea typeface="Calibri" panose="020F0502020204030204"/>
                <a:cs typeface="Calibri" panose="020F0502020204030204"/>
                <a:sym typeface="Calibri" panose="020F0502020204030204"/>
              </a:rPr>
              <a:t>MT)</a:t>
            </a:r>
            <a:endParaRPr lang="en-US" sz="11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indent="0" algn="l">
              <a:lnSpc>
                <a:spcPct val="92000"/>
              </a:lnSpc>
              <a:spcBef>
                <a:spcPts val="1500"/>
              </a:spcBef>
            </a:pPr>
          </a:p>
          <a:p>
            <a:pPr indent="0" algn="l">
              <a:lnSpc>
                <a:spcPct val="92000"/>
              </a:lnSpc>
              <a:spcBef>
                <a:spcPts val="1500"/>
              </a:spcBef>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boucle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trivialement parallèle »</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de boucle</a:t>
            </a: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r>
              <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for (int i= 0; i&lt;N; i++)</a:t>
            </a:r>
            <a:endPar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92000"/>
              </a:lnSpc>
              <a:spcBef>
                <a:spcPts val="1500"/>
              </a:spcBef>
            </a:pPr>
            <a:r>
              <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h_a[i] *= 2.0;</a:t>
            </a:r>
            <a:endPar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92000"/>
              </a:lnSpc>
              <a:spcBef>
                <a:spcPts val="1500"/>
              </a:spcBef>
            </a:pPr>
          </a:p>
          <a:p>
            <a:pPr indent="0" algn="l">
              <a:lnSpc>
                <a:spcPct val="92000"/>
              </a:lnSpc>
              <a:spcBef>
                <a:spcPts val="1500"/>
              </a:spcBef>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être converti en noyau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r>
              <a:rPr lang="en-US" sz="1600" b="1" i="0" u="none" strike="noStrike">
                <a:solidFill>
                  <a:srgbClr val="C00000"/>
                </a:solidFill>
                <a:latin typeface="Courier New" panose="02070309020205020404"/>
                <a:ea typeface="Courier New" panose="02070309020205020404"/>
                <a:cs typeface="Courier New" panose="02070309020205020404"/>
                <a:sym typeface="Courier New" panose="02070309020205020404"/>
              </a:rPr>
              <a:t>__global__</a:t>
            </a:r>
            <a:r>
              <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void myKernel(int N, double *d_a) {</a:t>
            </a:r>
            <a:endPar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92000"/>
              </a:lnSpc>
              <a:spcBef>
                <a:spcPts val="1500"/>
              </a:spcBef>
            </a:pPr>
            <a:r>
              <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int i = threadldx.x + blockldx.x * blockDim.x; </a:t>
            </a:r>
            <a:endPar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92000"/>
              </a:lnSpc>
              <a:spcBef>
                <a:spcPts val="1500"/>
              </a:spcBef>
            </a:pPr>
            <a:r>
              <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  if (i&lt;N) d_a[i] *= 2.0;</a:t>
            </a:r>
            <a:endPar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92000"/>
              </a:lnSpc>
              <a:spcBef>
                <a:spcPts val="1500"/>
              </a:spcBef>
            </a:pPr>
            <a:r>
              <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a:t>
            </a:r>
            <a:endParaRPr lang="en-US" sz="16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Adapté du cours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CSEP 590</a:t>
            </a: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 de l'Université de Washington,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Dr. Hari Sadasivan</a:t>
            </a: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noyau</a:t>
            </a:r>
            <a:endPar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ph type="body" sz="quarter" idx="14" hasCustomPrompt="1"/>
          </p:nvPr>
        </p:nvSpPr>
        <p:spPr>
          <a:prstGeom prst="rect">
            <a:avLst/>
          </a:prstGeom>
        </p:spPr>
        <p:txBody>
          <a:bodyPr wrap="square" lIns="91440" tIns="45720" rIns="91440" bIns="45720" anchor="t">
            <a:normAutofit fontScale="90000" lnSpcReduction="20000"/>
          </a:bodyPr>
          <a:lstStyle>
            <a:lvl1pPr algn="l">
              <a:lnSpc>
                <a:spcPct val="100000"/>
              </a:lnSpc>
              <a:defRPr sz="2300" b="0" i="0" u="none" strike="noStrike" spc="0">
                <a:solidFill>
                  <a:srgbClr val="404040">
                    <a:alpha val="100000"/>
                  </a:srgbClr>
                </a:solidFill>
                <a:latin typeface="微软雅黑" panose="020B0503020204020204" charset="-122"/>
              </a:defRPr>
            </a:lvl1pPr>
          </a:lstStyle>
          <a:p>
            <a:pPr marL="292100" indent="-2921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fonctions de dispositif lancées par le programme hôte</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 (kernel) </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 appelées noyaux, déclarées avec </a:t>
            </a:r>
            <a:r>
              <a:rPr lang="en-US" sz="1975" b="0" i="0" u="none" strike="noStrike">
                <a:solidFill>
                  <a:srgbClr val="C00000"/>
                </a:solidFill>
                <a:latin typeface="Calibri" panose="020F0502020204030204"/>
                <a:ea typeface="Calibri" panose="020F0502020204030204"/>
                <a:cs typeface="Calibri" panose="020F0502020204030204"/>
                <a:sym typeface="Calibri" panose="020F0502020204030204"/>
              </a:rPr>
              <a:t>__global__ </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__global__ </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memoire h</a:t>
            </a: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ôt</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fonctions noyau doivent être déclarées </a:t>
            </a: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avec le type void</a:t>
            </a:r>
            <a:endPar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 les pointeurs passés au noyau doivent</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 pointer vers la mémoire du périphérique </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specifie la memoire du peripherique</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 les threads ex</a:t>
            </a:r>
            <a:r>
              <a:rPr lang="en-US" alt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cutent le corps du noyau "simultan</a:t>
            </a:r>
            <a:r>
              <a:rPr lang="en-US" alt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
            </a:r>
            <a:endPar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thread utilise son thread ID </a:t>
            </a: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block ID uniques pour calculer son ID global.</a:t>
            </a:r>
            <a:endPar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nombre de threads dans la grille peut dépasser </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N</a:t>
            </a:r>
            <a:endPar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210" b="0" i="0" u="none" strike="noStrike">
                <a:solidFill>
                  <a:srgbClr val="262626"/>
                </a:solidFill>
                <a:latin typeface="Calibri" panose="020F0502020204030204"/>
                <a:ea typeface="Calibri" panose="020F0502020204030204"/>
                <a:cs typeface="Calibri" panose="020F0502020204030204"/>
                <a:sym typeface="Calibri" panose="020F0502020204030204"/>
              </a:rPr>
              <a:t>SIMT</a:t>
            </a:r>
            <a:r>
              <a:rPr lang="en-US" sz="2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comment exprimer la structure des threads ?</a:t>
            </a:r>
            <a:b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2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(Grille : </a:t>
            </a:r>
            <a:r>
              <a:rPr lang="en-US" sz="1225" b="1" i="0" u="none" strike="noStrike">
                <a:solidFill>
                  <a:srgbClr val="548235"/>
                </a:solidFill>
                <a:latin typeface="Calibri" panose="020F0502020204030204"/>
                <a:ea typeface="Calibri" panose="020F0502020204030204"/>
                <a:cs typeface="Calibri" panose="020F0502020204030204"/>
                <a:sym typeface="Calibri" panose="020F0502020204030204"/>
              </a:rPr>
              <a:t>Multi-threads</a:t>
            </a:r>
            <a:r>
              <a:rPr lang="en-US" sz="1225"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 dans </a:t>
            </a:r>
            <a:r>
              <a:rPr lang="en-US" sz="12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SIMT</a:t>
            </a:r>
            <a:r>
              <a:rPr lang="en-US" sz="1225" b="1" i="0" u="none" strike="noStrike">
                <a:solidFill>
                  <a:srgbClr val="548235"/>
                </a:solidFill>
                <a:latin typeface="Calibri" panose="020F0502020204030204"/>
                <a:ea typeface="Calibri" panose="020F0502020204030204"/>
                <a:cs typeface="Calibri" panose="020F0502020204030204"/>
                <a:sym typeface="Calibri" panose="020F0502020204030204"/>
              </a:rPr>
              <a:t>, </a:t>
            </a:r>
            <a:r>
              <a:rPr lang="en-US" sz="1225" b="0" i="0" u="none" strike="noStrike">
                <a:solidFill>
                  <a:srgbClr val="262626"/>
                </a:solidFill>
                <a:latin typeface="Calibri" panose="020F0502020204030204"/>
                <a:ea typeface="Calibri" panose="020F0502020204030204"/>
                <a:cs typeface="Calibri" panose="020F0502020204030204"/>
                <a:sym typeface="Calibri" panose="020F0502020204030204"/>
              </a:rPr>
              <a:t>MT</a:t>
            </a:r>
            <a:endParaRPr lang="en-US" sz="122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500" b="0" i="0" u="none" strike="noStrike" spc="0">
                <a:solidFill>
                  <a:srgbClr val="404040">
                    <a:alpha val="100000"/>
                  </a:srgbClr>
                </a:solidFill>
                <a:latin typeface="微软雅黑" panose="020B0503020204020204" charset="-122"/>
              </a:defRPr>
            </a:lvl1pPr>
          </a:lstStyle>
          <a:p>
            <a:pPr indent="0" algn="l">
              <a:lnSpc>
                <a:spcPct val="100000"/>
              </a:lnSpc>
              <a:spcBef>
                <a:spcPts val="1500"/>
              </a:spcBef>
            </a:pPr>
            <a:r>
              <a:rPr lang="en-US" sz="2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noyau est lancé par l'hôte :</a:t>
            </a:r>
            <a:endParaRPr lang="en-US" sz="2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dim3 threads(256,1,1);           //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dimensions 3D du bloc de threads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dim3 blocks((N+256-1)/256,1,1);  //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dimensions 3D de la grille de blocs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myKernel&lt;&lt;&lt;blocks,threads,0,0&gt;&gt;&gt;(N,a);</a:t>
            </a:r>
            <a:endParaRPr lang="en-US" sz="200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Strategies d'optimisation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6957696" cy="4852988"/>
          </a:xfrm>
          <a:prstGeom prst="rect">
            <a:avLst/>
          </a:prstGeom>
        </p:spPr>
        <p:txBody>
          <a:bodyPr wrap="square" lIns="91440" tIns="45720" rIns="91440" bIns="45720" anchor="t">
            <a:noAutofit/>
          </a:bodyPr>
          <a:lstStyle>
            <a:lvl1pPr algn="l">
              <a:lnSpc>
                <a:spcPct val="100000"/>
              </a:lnSpc>
              <a:defRPr sz="2400" b="1" i="0" u="none" strike="noStrike" spc="0">
                <a:solidFill>
                  <a:srgbClr val="548235">
                    <a:alpha val="100000"/>
                  </a:srgbClr>
                </a:solidFill>
                <a:latin typeface="微软雅黑" panose="020B0503020204020204" charset="-122"/>
              </a:defRPr>
            </a:lvl1pPr>
          </a:lstStyle>
          <a:p>
            <a:pPr marL="304800" indent="-304800" algn="l">
              <a:lnSpc>
                <a:spcPct val="100000"/>
              </a:lnSpc>
              <a:spcBef>
                <a:spcPts val="1500"/>
              </a:spcBef>
              <a:buClr>
                <a:srgbClr val="548235"/>
              </a:buClr>
              <a:buChar char="•"/>
            </a:pPr>
            <a:r>
              <a:rPr lang="en-US" sz="1965" b="1" i="0" u="none" strike="noStrike">
                <a:solidFill>
                  <a:srgbClr val="548235"/>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sensible aux ressources</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Ressources : </a:t>
            </a: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SM</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(multiprocesseurs de flux), registres, memoire partagee, bande passante memoire</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optimiser ? (liste non exhaustive)</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Choisir </a:t>
            </a: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optimale</a:t>
            </a: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taille de bloc de threads pour maximiser le nombre de </a:t>
            </a: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warp</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actifs</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Ameliorer le taux d'utilisation de la bande passante memoire</a:t>
            </a:r>
            <a:r>
              <a:rPr lang="en-US" sz="1310" b="0" i="0" u="none" strike="noStrike">
                <a:solidFill>
                  <a:srgbClr val="404040"/>
                </a:solidFill>
                <a:latin typeface="Calibri" panose="020F0502020204030204"/>
                <a:ea typeface="Calibri" panose="020F0502020204030204"/>
                <a:cs typeface="Calibri" panose="020F0502020204030204"/>
                <a:sym typeface="Calibri" panose="020F0502020204030204"/>
              </a:rPr>
              <a:t>    -&gt;</a:t>
            </a:r>
            <a:endParaRPr lang="en-US" sz="13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Apres partitionnement, mapper (taches, donnees) aux threads ID appropries</a:t>
            </a:r>
            <a:endPar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Eviter les divergences de flux de controle</a:t>
            </a:r>
            <a:endPar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Fusionner les acces memoire globaux</a:t>
            </a:r>
            <a:endPar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Eviter les conflits de </a:t>
            </a:r>
            <a:r>
              <a:rPr lang="en-US" sz="1310" b="0" i="0" u="none" strike="noStrike">
                <a:solidFill>
                  <a:srgbClr val="404040"/>
                </a:solidFill>
                <a:latin typeface="Calibri" panose="020F0502020204030204"/>
                <a:ea typeface="Calibri" panose="020F0502020204030204"/>
                <a:cs typeface="Calibri" panose="020F0502020204030204"/>
                <a:sym typeface="Calibri" panose="020F0502020204030204"/>
              </a:rPr>
              <a:t>Bank</a:t>
            </a: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memoire partagee</a:t>
            </a:r>
            <a:endPar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Outils de profilage des performances</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81570" y="2277110"/>
            <a:ext cx="4320000" cy="230285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Acces memoire coalescent : exemple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微软雅黑" panose="020B0503020204020204" charset="-122"/>
              </a:defRPr>
            </a:lvl1pPr>
          </a:lstStyle>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tableau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X</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un pointeur vers un tableau d'entiers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4 octets par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situ</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l'adresse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0x00001232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thread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veut acc</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der à X[0].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int tmp = X[0];</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2948200" y="2844278"/>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0x00001232</a:t>
            </a:r>
            <a:endParaRPr lang="en-US" sz="1100"/>
          </a:p>
        </p:txBody>
      </p:sp>
      <p:sp>
        <p:nvSpPr>
          <p:cNvPr id="6" name="AutoShape 6"/>
          <p:cNvSpPr/>
          <p:nvPr/>
        </p:nvSpPr>
        <p:spPr>
          <a:xfrm>
            <a:off x="2618000" y="2806178"/>
            <a:ext cx="28956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ourier"/>
                <a:ea typeface="Courier"/>
                <a:cs typeface="Courier"/>
                <a:sym typeface="Courier"/>
              </a:rPr>
              <a:t>X</a:t>
            </a:r>
            <a:endParaRPr lang="en-US" sz="1100"/>
          </a:p>
        </p:txBody>
      </p:sp>
      <p:cxnSp>
        <p:nvCxnSpPr>
          <p:cNvPr id="7" name="Connector 7"/>
          <p:cNvCxnSpPr/>
          <p:nvPr/>
        </p:nvCxnSpPr>
        <p:spPr>
          <a:xfrm flipV="1">
            <a:off x="4573800" y="2313104"/>
            <a:ext cx="2243086" cy="683574"/>
          </a:xfrm>
          <a:prstGeom prst="straightConnector1">
            <a:avLst/>
          </a:prstGeom>
          <a:noFill/>
          <a:ln w="12700" cap="flat">
            <a:solidFill>
              <a:srgbClr val="4472C4">
                <a:alpha val="100000"/>
              </a:srgbClr>
            </a:solidFill>
            <a:prstDash val="solid"/>
            <a:headEnd type="none" w="med" len="med"/>
            <a:tailEnd type="arrow" w="med" len="med"/>
          </a:ln>
        </p:spPr>
      </p:cxnSp>
      <p:sp>
        <p:nvSpPr>
          <p:cNvPr id="8" name="AutoShape 8"/>
          <p:cNvSpPr/>
          <p:nvPr/>
        </p:nvSpPr>
        <p:spPr>
          <a:xfrm>
            <a:off x="6816886" y="2175822"/>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0</a:t>
            </a:r>
            <a:endParaRPr lang="en-US" sz="1100"/>
          </a:p>
        </p:txBody>
      </p:sp>
      <p:sp>
        <p:nvSpPr>
          <p:cNvPr id="9" name="AutoShape 9"/>
          <p:cNvSpPr/>
          <p:nvPr/>
        </p:nvSpPr>
        <p:spPr>
          <a:xfrm>
            <a:off x="6816886" y="2486260"/>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10" name="AutoShape 10"/>
          <p:cNvSpPr/>
          <p:nvPr/>
        </p:nvSpPr>
        <p:spPr>
          <a:xfrm>
            <a:off x="6816886" y="2790688"/>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2</a:t>
            </a:r>
            <a:endParaRPr lang="en-US" sz="1100"/>
          </a:p>
        </p:txBody>
      </p:sp>
      <p:sp>
        <p:nvSpPr>
          <p:cNvPr id="11" name="AutoShape 11"/>
          <p:cNvSpPr/>
          <p:nvPr/>
        </p:nvSpPr>
        <p:spPr>
          <a:xfrm>
            <a:off x="6816886" y="3100754"/>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12" name="AutoShape 12"/>
          <p:cNvSpPr/>
          <p:nvPr/>
        </p:nvSpPr>
        <p:spPr>
          <a:xfrm>
            <a:off x="6816886" y="3405554"/>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4</a:t>
            </a:r>
            <a:endParaRPr lang="en-US" sz="1100"/>
          </a:p>
        </p:txBody>
      </p:sp>
      <p:sp>
        <p:nvSpPr>
          <p:cNvPr id="13" name="AutoShape 13"/>
          <p:cNvSpPr/>
          <p:nvPr/>
        </p:nvSpPr>
        <p:spPr>
          <a:xfrm>
            <a:off x="6816886" y="3715992"/>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14" name="AutoShape 14"/>
          <p:cNvSpPr/>
          <p:nvPr/>
        </p:nvSpPr>
        <p:spPr>
          <a:xfrm>
            <a:off x="6816886" y="4020420"/>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6</a:t>
            </a:r>
            <a:endParaRPr lang="en-US" sz="1100"/>
          </a:p>
        </p:txBody>
      </p:sp>
      <p:sp>
        <p:nvSpPr>
          <p:cNvPr id="15" name="AutoShape 15"/>
          <p:cNvSpPr/>
          <p:nvPr/>
        </p:nvSpPr>
        <p:spPr>
          <a:xfrm>
            <a:off x="6816886" y="4330486"/>
            <a:ext cx="1625600"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sp>
        <p:nvSpPr>
          <p:cNvPr id="16" name="AutoShape 16"/>
          <p:cNvSpPr/>
          <p:nvPr/>
        </p:nvSpPr>
        <p:spPr>
          <a:xfrm>
            <a:off x="8442486" y="2128438"/>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alibri" panose="020F0502020204030204"/>
                <a:ea typeface="Arial" panose="020B0604020202020204"/>
                <a:cs typeface="Arial" panose="020B0604020202020204"/>
                <a:sym typeface="Arial" panose="020B0604020202020204"/>
              </a:rPr>
              <a:t>0x00001232</a:t>
            </a:r>
            <a:endParaRPr lang="en-US" sz="1100"/>
          </a:p>
        </p:txBody>
      </p:sp>
      <p:sp>
        <p:nvSpPr>
          <p:cNvPr id="17" name="AutoShape 17"/>
          <p:cNvSpPr/>
          <p:nvPr/>
        </p:nvSpPr>
        <p:spPr>
          <a:xfrm>
            <a:off x="8442486" y="2440906"/>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alibri" panose="020F0502020204030204"/>
                <a:ea typeface="Arial" panose="020B0604020202020204"/>
                <a:cs typeface="Arial" panose="020B0604020202020204"/>
                <a:sym typeface="Arial" panose="020B0604020202020204"/>
              </a:rPr>
              <a:t>0x00001236</a:t>
            </a:r>
            <a:endParaRPr lang="en-US" sz="1100"/>
          </a:p>
        </p:txBody>
      </p:sp>
      <p:sp>
        <p:nvSpPr>
          <p:cNvPr id="18" name="AutoShape 18"/>
          <p:cNvSpPr/>
          <p:nvPr/>
        </p:nvSpPr>
        <p:spPr>
          <a:xfrm>
            <a:off x="8442486" y="4294984"/>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alibri" panose="020F0502020204030204"/>
                <a:ea typeface="Arial" panose="020B0604020202020204"/>
                <a:cs typeface="Arial" panose="020B0604020202020204"/>
                <a:sym typeface="Arial" panose="020B0604020202020204"/>
              </a:rPr>
              <a:t>0x00001248</a:t>
            </a:r>
            <a:endParaRPr lang="en-US" sz="1100"/>
          </a:p>
        </p:txBody>
      </p:sp>
      <p:sp>
        <p:nvSpPr>
          <p:cNvPr id="19" name="AutoShape 19"/>
          <p:cNvSpPr/>
          <p:nvPr/>
        </p:nvSpPr>
        <p:spPr>
          <a:xfrm>
            <a:off x="9022654" y="3110978"/>
            <a:ext cx="232410" cy="73723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100"/>
          </a:p>
          <a:p>
            <a:pPr indent="0" algn="l">
              <a:lnSpc>
                <a:spcPct val="100000"/>
              </a:lnSpc>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085" b="1"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085" b="1"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20" name="AutoShape 20"/>
          <p:cNvSpPr/>
          <p:nvPr/>
        </p:nvSpPr>
        <p:spPr>
          <a:xfrm>
            <a:off x="9039973" y="4606538"/>
            <a:ext cx="232410" cy="52197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100"/>
          </a:p>
          <a:p>
            <a:pPr indent="0" algn="l">
              <a:lnSpc>
                <a:spcPct val="100000"/>
              </a:lnSpc>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085" b="1"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21" name="AutoShape 21"/>
          <p:cNvSpPr/>
          <p:nvPr/>
        </p:nvSpPr>
        <p:spPr>
          <a:xfrm>
            <a:off x="7508441" y="4607758"/>
            <a:ext cx="232410" cy="52197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100"/>
          </a:p>
          <a:p>
            <a:pPr indent="0" algn="l">
              <a:lnSpc>
                <a:spcPct val="100000"/>
              </a:lnSpc>
            </a:pPr>
            <a:r>
              <a:rPr lang="en-US" sz="1085" b="1"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085" b="1"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a:t>
            </a:r>
            <a:r>
              <a:rPr lang="en-US" alt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m</a:t>
            </a:r>
            <a:r>
              <a:rPr lang="en-US" alt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coalesc</a:t>
            </a:r>
            <a:r>
              <a:rPr lang="en-US" alt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adressage par bus</a:t>
            </a:r>
            <a:r>
              <a:rPr lang="en-US" sz="2905"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290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Supposons une largeur de bus memoire </a:t>
            </a:r>
            <a:r>
              <a:rPr lang="en-US" sz="2070">
                <a:solidFill>
                  <a:srgbClr val="404040"/>
                </a:solidFill>
                <a:latin typeface="Calibri" panose="020F0502020204030204"/>
                <a:ea typeface="Calibri" panose="020F0502020204030204"/>
                <a:cs typeface="Calibri" panose="020F0502020204030204"/>
                <a:sym typeface="Calibri" panose="020F0502020204030204"/>
              </a:rPr>
              <a:t>GDDR </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a:t>
            </a: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32</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octets (</a:t>
            </a: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256</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bits)</a:t>
            </a:r>
            <a:endPar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bus d'adressage par octet doit etre accede align</a:t>
            </a:r>
            <a:r>
              <a:rPr lang="en-US" alt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la largeur du bus, donc les </a:t>
            </a: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5</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bits de poids faible sont masqu</a:t>
            </a:r>
            <a:r>
              <a:rPr lang="en-US" alt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20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altLang="zh-CN" sz="2070" b="0" i="0" u="none" strike="noStrike">
                <a:solidFill>
                  <a:srgbClr val="404040"/>
                </a:solidFill>
                <a:latin typeface="Calibri" panose="020F0502020204030204"/>
                <a:ea typeface="Calibri" panose="020F0502020204030204"/>
                <a:cs typeface="Calibri" panose="020F0502020204030204"/>
                <a:sym typeface="Calibri" panose="020F0502020204030204"/>
              </a:rPr>
              <a:t>Toute adresse dans la plage 0x00001220 à 0x0000123F donnera lieu à l’adresse 0x00001220.</a:t>
            </a:r>
            <a:r>
              <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7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5" name="Table 5"/>
          <p:cNvGraphicFramePr>
            <a:graphicFrameLocks noGrp="1"/>
          </p:cNvGraphicFramePr>
          <p:nvPr/>
        </p:nvGraphicFramePr>
        <p:xfrm>
          <a:off x="2730474" y="2872740"/>
          <a:ext cx="6096000" cy="1112520"/>
        </p:xfrm>
        <a:graphic>
          <a:graphicData uri="http://schemas.openxmlformats.org/drawingml/2006/table">
            <a:tbl>
              <a:tblPr>
                <a:effectLst/>
              </a:tblPr>
              <a:tblGrid>
                <a:gridCol w="3048000"/>
                <a:gridCol w="3048000"/>
              </a:tblGrid>
              <a:tr h="370840">
                <a:tc>
                  <a:txBody>
                    <a:bodyPr rtlCol="0"/>
                    <a:lstStyle/>
                    <a:p>
                      <a:pPr indent="0" algn="r">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Adresse cible :</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38100" cap="flat" cmpd="sng" algn="ctr">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0x00001232</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38100" cap="flat" cmpd="sng" algn="ctr">
                      <a:prstDash val="solid"/>
                      <a:round/>
                      <a:headEnd type="none" w="med" len="med"/>
                      <a:tailEnd type="none" w="med" len="med"/>
                    </a:lnB>
                    <a:noFill/>
                  </a:tcPr>
                </a:tc>
              </a:tr>
              <a:tr h="370840">
                <a:tc>
                  <a:txBody>
                    <a:bodyPr rtlCol="0"/>
                    <a:lstStyle/>
                    <a:p>
                      <a:pPr indent="0" algn="r">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Masque de bus :</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38100" cap="flat" cmpd="sng" algn="ctr">
                      <a:prstDash val="solid"/>
                      <a:round/>
                      <a:headEnd type="none" w="med" len="med"/>
                      <a:tailEnd type="none" w="med" len="med"/>
                    </a:lnT>
                    <a:lnB w="12700" cap="flat" cmpd="sng" algn="ctr">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0xFFFFFFE0</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38100" cap="flat" cmpd="sng" algn="ctr">
                      <a:prstDash val="solid"/>
                      <a:round/>
                      <a:headEnd type="none" w="med" len="med"/>
                      <a:tailEnd type="none" w="med" len="med"/>
                    </a:lnT>
                    <a:lnB w="12700" cap="flat" cmpd="sng" algn="ctr">
                      <a:prstDash val="solid"/>
                      <a:round/>
                      <a:headEnd type="none" w="med" len="med"/>
                      <a:tailEnd type="none" w="med" len="med"/>
                    </a:lnB>
                    <a:noFill/>
                  </a:tcPr>
                </a:tc>
              </a:tr>
              <a:tr h="370840">
                <a:tc>
                  <a:txBody>
                    <a:bodyPr rtlCol="0"/>
                    <a:lstStyle/>
                    <a:p>
                      <a:pPr indent="0" algn="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Adresse d'acces au bus :</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12700" cap="flat" cmpd="sng" algn="ctr">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0x00001220</a:t>
                      </a:r>
                      <a:endParaRPr lang="en-US" sz="1100"/>
                    </a:p>
                  </a:txBody>
                  <a:tcPr anchor="t">
                    <a:lnL w="12700" cap="flat" cmpd="sng" algn="ctr">
                      <a:prstDash val="solid"/>
                      <a:round/>
                      <a:headEnd type="none" w="med" len="med"/>
                      <a:tailEnd type="none" w="med" len="med"/>
                    </a:lnL>
                    <a:lnR w="12700" cap="flat" cmpd="sng" algn="ctr">
                      <a:prstDash val="solid"/>
                      <a:round/>
                      <a:headEnd type="none" w="med" len="med"/>
                      <a:tailEnd type="none" w="med" len="med"/>
                    </a:lnR>
                    <a:lnT w="12700" cap="flat" cmpd="sng" algn="ctr">
                      <a:prstDash val="solid"/>
                      <a:round/>
                      <a:headEnd type="none" w="med" len="med"/>
                      <a:tailEnd type="none" w="med" len="med"/>
                    </a:lnT>
                    <a:lnB w="12700" cap="flat" cmpd="sng" algn="ctr">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Accès mémoire fusionné : adressage par bus</a:t>
            </a:r>
            <a:r>
              <a:rPr lang="en-US" sz="2955"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295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bus renvoie toutes les donn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dans la plage 0x00001220 à 0x0000123F.</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cet exemple,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4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octets sont des données valides,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28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octets sont perdus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5576588" y="4940816"/>
            <a:ext cx="4519912" cy="304800"/>
            <a:chOff x="5576588" y="4940816"/>
            <a:chExt cx="4519912" cy="304800"/>
          </a:xfrm>
        </p:grpSpPr>
        <p:sp>
          <p:nvSpPr>
            <p:cNvPr id="6" name="AutoShape 6"/>
            <p:cNvSpPr/>
            <p:nvPr/>
          </p:nvSpPr>
          <p:spPr>
            <a:xfrm>
              <a:off x="5576588"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7" name="AutoShape 7"/>
            <p:cNvSpPr/>
            <p:nvPr/>
          </p:nvSpPr>
          <p:spPr>
            <a:xfrm>
              <a:off x="6151102"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8" name="AutoShape 8"/>
            <p:cNvSpPr/>
            <p:nvPr/>
          </p:nvSpPr>
          <p:spPr>
            <a:xfrm>
              <a:off x="6725616"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9" name="AutoShape 9"/>
            <p:cNvSpPr/>
            <p:nvPr/>
          </p:nvSpPr>
          <p:spPr>
            <a:xfrm>
              <a:off x="7287430"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0</a:t>
              </a:r>
              <a:endParaRPr lang="en-US" sz="1100"/>
            </a:p>
          </p:txBody>
        </p:sp>
        <p:sp>
          <p:nvSpPr>
            <p:cNvPr id="10" name="AutoShape 10"/>
            <p:cNvSpPr/>
            <p:nvPr/>
          </p:nvSpPr>
          <p:spPr>
            <a:xfrm>
              <a:off x="7849244"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8411058"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2</a:t>
              </a:r>
              <a:endParaRPr lang="en-US" sz="1100"/>
            </a:p>
          </p:txBody>
        </p:sp>
        <p:sp>
          <p:nvSpPr>
            <p:cNvPr id="12" name="AutoShape 12"/>
            <p:cNvSpPr/>
            <p:nvPr/>
          </p:nvSpPr>
          <p:spPr>
            <a:xfrm>
              <a:off x="8972872"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13" name="AutoShape 13"/>
            <p:cNvSpPr/>
            <p:nvPr/>
          </p:nvSpPr>
          <p:spPr>
            <a:xfrm>
              <a:off x="9534686" y="4940816"/>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4</a:t>
              </a:r>
              <a:endParaRPr lang="en-US" sz="1100"/>
            </a:p>
          </p:txBody>
        </p:sp>
      </p:grpSp>
      <p:sp>
        <p:nvSpPr>
          <p:cNvPr id="14" name="AutoShape 14"/>
          <p:cNvSpPr/>
          <p:nvPr/>
        </p:nvSpPr>
        <p:spPr>
          <a:xfrm rot="-5400000">
            <a:off x="3433961" y="4338955"/>
            <a:ext cx="146566" cy="1705888"/>
          </a:xfrm>
          <a:prstGeom prst="leftBracket">
            <a:avLst>
              <a:gd name="adj" fmla="val 8333"/>
            </a:avLst>
          </a:prstGeom>
          <a:noFill/>
          <a:ln w="12700" cap="flat">
            <a:solidFill>
              <a:srgbClr val="4472C4">
                <a:alpha val="100000"/>
              </a:srgbClr>
            </a:solidFill>
            <a:prstDash val="solid"/>
          </a:ln>
          <a:effectLst>
            <a:outerShdw blurRad="63500" dist="12700" dir="5400000" sx="102000" sy="102000" rotWithShape="0">
              <a:srgbClr val="000000">
                <a:alpha val="32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2960602" y="4895850"/>
            <a:ext cx="10915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alibri" panose="020F0502020204030204"/>
                <a:ea typeface="Arial" panose="020B0604020202020204"/>
                <a:cs typeface="Arial" panose="020B0604020202020204"/>
                <a:sym typeface="Arial" panose="020B0604020202020204"/>
              </a:rPr>
              <a:t>0x00001232</a:t>
            </a:r>
            <a:endParaRPr lang="en-US" sz="1100"/>
          </a:p>
        </p:txBody>
      </p:sp>
      <p:cxnSp>
        <p:nvCxnSpPr>
          <p:cNvPr id="16" name="Connector 16"/>
          <p:cNvCxnSpPr/>
          <p:nvPr/>
        </p:nvCxnSpPr>
        <p:spPr>
          <a:xfrm rot="-5400000">
            <a:off x="3505200" y="3638550"/>
            <a:ext cx="1244600" cy="1117600"/>
          </a:xfrm>
          <a:prstGeom prst="straightConnector1">
            <a:avLst/>
          </a:prstGeom>
          <a:noFill/>
          <a:ln w="12700" cap="flat">
            <a:solidFill>
              <a:srgbClr val="4472C4">
                <a:alpha val="100000"/>
              </a:srgbClr>
            </a:solidFill>
            <a:prstDash val="solid"/>
            <a:headEnd type="none" w="med" len="med"/>
            <a:tailEnd type="arrow" w="med" len="med"/>
          </a:ln>
        </p:spPr>
      </p:cxnSp>
      <p:cxnSp>
        <p:nvCxnSpPr>
          <p:cNvPr id="17" name="Connector 17"/>
          <p:cNvCxnSpPr/>
          <p:nvPr/>
        </p:nvCxnSpPr>
        <p:spPr>
          <a:xfrm>
            <a:off x="5317212" y="3575050"/>
            <a:ext cx="1395704" cy="1244600"/>
          </a:xfrm>
          <a:prstGeom prst="straightConnector1">
            <a:avLst/>
          </a:prstGeom>
          <a:noFill/>
          <a:ln w="12700" cap="flat">
            <a:solidFill>
              <a:srgbClr val="4472C4">
                <a:alpha val="100000"/>
              </a:srgbClr>
            </a:solidFill>
            <a:prstDash val="solid"/>
            <a:headEnd type="none" w="med" len="med"/>
            <a:tailEnd type="arrow" w="med" len="med"/>
          </a:ln>
        </p:spPr>
      </p:cxnSp>
      <p:sp>
        <p:nvSpPr>
          <p:cNvPr id="18" name="AutoShape 18"/>
          <p:cNvSpPr/>
          <p:nvPr/>
        </p:nvSpPr>
        <p:spPr>
          <a:xfrm>
            <a:off x="2233504" y="3758684"/>
            <a:ext cx="14344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Adresse envoyée</a:t>
            </a:r>
            <a:endParaRPr lang="en-US" sz="1100"/>
          </a:p>
        </p:txBody>
      </p:sp>
      <p:sp>
        <p:nvSpPr>
          <p:cNvPr id="19" name="AutoShape 19"/>
          <p:cNvSpPr/>
          <p:nvPr/>
        </p:nvSpPr>
        <p:spPr>
          <a:xfrm>
            <a:off x="6029379" y="3758684"/>
            <a:ext cx="115824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5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Données reçues</a:t>
            </a:r>
            <a:endParaRPr lang="en-US" sz="1100"/>
          </a:p>
        </p:txBody>
      </p:sp>
      <p:sp>
        <p:nvSpPr>
          <p:cNvPr id="20" name="AutoShape 20"/>
          <p:cNvSpPr/>
          <p:nvPr/>
        </p:nvSpPr>
        <p:spPr>
          <a:xfrm>
            <a:off x="5368012" y="5253682"/>
            <a:ext cx="95885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930" b="0" i="0" u="none" strike="noStrike">
                <a:solidFill>
                  <a:srgbClr val="000000"/>
                </a:solidFill>
                <a:latin typeface="Calibri" panose="020F0502020204030204"/>
                <a:ea typeface="Arial" panose="020B0604020202020204"/>
                <a:cs typeface="Arial" panose="020B0604020202020204"/>
                <a:sym typeface="Arial" panose="020B0604020202020204"/>
              </a:rPr>
              <a:t>0x00001220</a:t>
            </a:r>
            <a:endParaRPr lang="en-US" sz="1100"/>
          </a:p>
        </p:txBody>
      </p:sp>
      <p:sp>
        <p:nvSpPr>
          <p:cNvPr id="21" name="AutoShape 21"/>
          <p:cNvSpPr/>
          <p:nvPr/>
        </p:nvSpPr>
        <p:spPr>
          <a:xfrm>
            <a:off x="3969629" y="2787650"/>
            <a:ext cx="1961271" cy="762000"/>
          </a:xfrm>
          <a:prstGeom prst="rect">
            <a:avLst/>
          </a:prstGeom>
          <a:gradFill rotWithShape="1">
            <a:gsLst>
              <a:gs pos="0">
                <a:srgbClr val="ED7D31">
                  <a:alpha val="100000"/>
                </a:srgbClr>
              </a:gs>
              <a:gs pos="100000">
                <a:srgbClr val="BF4D00">
                  <a:alpha val="100000"/>
                </a:srgbClr>
              </a:gs>
            </a:gsLst>
            <a:lin ang="4140000"/>
          </a:gradFill>
          <a:ln w="12700" cap="flat">
            <a:solidFill>
              <a:srgbClr val="ED7D31">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Contrôleur mémoire</a:t>
            </a:r>
            <a:endParaRPr lang="en-US" sz="1100"/>
          </a:p>
        </p:txBody>
      </p:sp>
      <p:sp>
        <p:nvSpPr>
          <p:cNvPr id="22" name="AutoShape 22"/>
          <p:cNvSpPr/>
          <p:nvPr/>
        </p:nvSpPr>
        <p:spPr>
          <a:xfrm>
            <a:off x="8041218" y="3943350"/>
            <a:ext cx="143192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8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Élément cible</a:t>
            </a:r>
            <a:endParaRPr lang="en-US" sz="1100"/>
          </a:p>
        </p:txBody>
      </p:sp>
      <p:sp>
        <p:nvSpPr>
          <p:cNvPr id="23" name="AutoShape 23"/>
          <p:cNvSpPr/>
          <p:nvPr/>
        </p:nvSpPr>
        <p:spPr>
          <a:xfrm>
            <a:off x="7295975" y="4840551"/>
            <a:ext cx="561814" cy="502082"/>
          </a:xfrm>
          <a:prstGeom prst="donut">
            <a:avLst>
              <a:gd name="adj" fmla="val 13588"/>
            </a:avLst>
          </a:prstGeom>
          <a:solidFill>
            <a:srgbClr val="FF0000">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4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cxnSp>
        <p:nvCxnSpPr>
          <p:cNvPr id="24" name="Connector 24"/>
          <p:cNvCxnSpPr/>
          <p:nvPr/>
        </p:nvCxnSpPr>
        <p:spPr>
          <a:xfrm rot="10800000" flipV="1">
            <a:off x="7775514" y="4312681"/>
            <a:ext cx="635545" cy="601397"/>
          </a:xfrm>
          <a:prstGeom prst="straightConnector1">
            <a:avLst/>
          </a:prstGeom>
          <a:noFill/>
          <a:ln w="12700" cap="flat">
            <a:solidFill>
              <a:srgbClr val="4472C4">
                <a:alpha val="100000"/>
              </a:srgbClr>
            </a:solidFill>
            <a:prstDash val="solid"/>
            <a:headEnd type="none" w="med" len="med"/>
            <a:tailEnd type="arrow"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Accès mémoire fusionné</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(1/2)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exploiter pleinement le bus,</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GPU, lorsque c’est possible, fusionne les acc</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plusieurs threads en un plus petit nombre de requ</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Considérons le code noyau suivant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Supposons que le tableau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X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identique à l'exemple, les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16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premiers threads accéderont aux adresses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0x00001232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0x00001272</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chaque requête est envoyée séparément, il faut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16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au total, dont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64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octets de données valides,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448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octets sont gaspillés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Remarque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la même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32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plage d'octets, chaque accès retourne exactement les mêmes données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2051050" y="2789555"/>
            <a:ext cx="8107680" cy="39878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550" b="0" i="0" u="none" strike="noStrike">
                <a:solidFill>
                  <a:srgbClr val="000000"/>
                </a:solidFill>
                <a:latin typeface="Courier New" panose="02070309020205020404"/>
                <a:ea typeface="Courier New" panose="02070309020205020404"/>
                <a:cs typeface="Courier New" panose="02070309020205020404"/>
                <a:sym typeface="Courier New" panose="02070309020205020404"/>
              </a:rPr>
              <a:t>int tmp = X[threadIdx.x + blockDim.x * blockIdx.x];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Accès mémoire fusionné</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(2/2)</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xfrm>
            <a:off x="523875" y="1323975"/>
            <a:ext cx="1105471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des threads </a:t>
            </a:r>
            <a:r>
              <a:rPr lang="en-US" sz="1690">
                <a:solidFill>
                  <a:srgbClr val="404040"/>
                </a:solidFill>
                <a:latin typeface="Calibri" panose="020F0502020204030204"/>
                <a:ea typeface="Calibri" panose="020F0502020204030204"/>
                <a:cs typeface="Calibri" panose="020F0502020204030204"/>
                <a:sym typeface="Calibri" panose="020F0502020204030204"/>
              </a:rPr>
              <a:t>GPU</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accèdent aux données dans la même plage de </a:t>
            </a:r>
            <a:r>
              <a:rPr lang="en-US" sz="1690">
                <a:solidFill>
                  <a:srgbClr val="404040"/>
                </a:solidFill>
                <a:latin typeface="Calibri" panose="020F0502020204030204"/>
                <a:ea typeface="Calibri" panose="020F0502020204030204"/>
                <a:cs typeface="Calibri" panose="020F0502020204030204"/>
                <a:sym typeface="Calibri" panose="020F0502020204030204"/>
              </a:rPr>
              <a:t>32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octets, les accès multiples sont fusionnés, de sorte que chaque plage n'est accédée qu'une seule fois</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Cette fusion d'accès est appelée fusion mémoire (</a:t>
            </a:r>
            <a:r>
              <a:rPr lang="en-US" sz="1410" b="0" i="0" u="none" strike="noStrike">
                <a:solidFill>
                  <a:srgbClr val="404040"/>
                </a:solidFill>
                <a:latin typeface="Calibri" panose="020F0502020204030204"/>
                <a:ea typeface="Calibri" panose="020F0502020204030204"/>
                <a:cs typeface="Calibri" panose="020F0502020204030204"/>
                <a:sym typeface="Calibri" panose="020F0502020204030204"/>
              </a:rPr>
              <a:t>Coalescing</a:t>
            </a: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cet exemple, seules </a:t>
            </a:r>
            <a:r>
              <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sont nécessaires</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l'adresse de départ du tableau est alignée sur </a:t>
            </a:r>
            <a:r>
              <a:rPr lang="en-US" sz="1410" b="0" i="0" u="none" strike="noStrike">
                <a:solidFill>
                  <a:srgbClr val="404040"/>
                </a:solidFill>
                <a:latin typeface="Calibri" panose="020F0502020204030204"/>
                <a:ea typeface="Calibri" panose="020F0502020204030204"/>
                <a:cs typeface="Calibri" panose="020F0502020204030204"/>
                <a:sym typeface="Calibri" panose="020F0502020204030204"/>
              </a:rPr>
              <a:t>256 </a:t>
            </a: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bits, </a:t>
            </a:r>
            <a:r>
              <a:rPr lang="en-US" altLang="zh-CN" sz="1410" b="0" i="0" u="none" strike="noStrike">
                <a:solidFill>
                  <a:srgbClr val="404040"/>
                </a:solidFill>
                <a:latin typeface="Calibri" panose="020F0502020204030204"/>
                <a:ea typeface="Calibri" panose="020F0502020204030204"/>
                <a:cs typeface="Calibri" panose="020F0502020204030204"/>
                <a:sym typeface="Calibri" panose="020F0502020204030204"/>
              </a:rPr>
              <a:t>seulement </a:t>
            </a:r>
            <a:r>
              <a:rPr lang="en-US" sz="141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sont nécessaires</a:t>
            </a:r>
            <a:endPar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5" name="Group 5"/>
          <p:cNvGrpSpPr/>
          <p:nvPr/>
        </p:nvGrpSpPr>
        <p:grpSpPr>
          <a:xfrm>
            <a:off x="3682570" y="3921998"/>
            <a:ext cx="4753888" cy="2072986"/>
            <a:chOff x="3682570" y="3921998"/>
            <a:chExt cx="4753888" cy="2072986"/>
          </a:xfrm>
        </p:grpSpPr>
        <p:sp>
          <p:nvSpPr>
            <p:cNvPr id="6" name="AutoShape 6"/>
            <p:cNvSpPr/>
            <p:nvPr/>
          </p:nvSpPr>
          <p:spPr>
            <a:xfrm>
              <a:off x="3922122"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7" name="AutoShape 7"/>
            <p:cNvSpPr/>
            <p:nvPr/>
          </p:nvSpPr>
          <p:spPr>
            <a:xfrm>
              <a:off x="4481148"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8" name="AutoShape 8"/>
            <p:cNvSpPr/>
            <p:nvPr/>
          </p:nvSpPr>
          <p:spPr>
            <a:xfrm>
              <a:off x="5040174"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9" name="AutoShape 9"/>
            <p:cNvSpPr/>
            <p:nvPr/>
          </p:nvSpPr>
          <p:spPr>
            <a:xfrm>
              <a:off x="5601988"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0</a:t>
              </a:r>
              <a:endParaRPr lang="en-US" sz="1100"/>
            </a:p>
          </p:txBody>
        </p:sp>
        <p:sp>
          <p:nvSpPr>
            <p:cNvPr id="10" name="AutoShape 10"/>
            <p:cNvSpPr/>
            <p:nvPr/>
          </p:nvSpPr>
          <p:spPr>
            <a:xfrm>
              <a:off x="6163802"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6725616"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2</a:t>
              </a:r>
              <a:endParaRPr lang="en-US" sz="1100"/>
            </a:p>
          </p:txBody>
        </p:sp>
        <p:sp>
          <p:nvSpPr>
            <p:cNvPr id="12" name="AutoShape 12"/>
            <p:cNvSpPr/>
            <p:nvPr/>
          </p:nvSpPr>
          <p:spPr>
            <a:xfrm>
              <a:off x="7287430"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3</a:t>
              </a:r>
              <a:endParaRPr lang="en-US" sz="1100"/>
            </a:p>
          </p:txBody>
        </p:sp>
        <p:sp>
          <p:nvSpPr>
            <p:cNvPr id="13" name="AutoShape 13"/>
            <p:cNvSpPr/>
            <p:nvPr/>
          </p:nvSpPr>
          <p:spPr>
            <a:xfrm>
              <a:off x="7849244" y="392199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4</a:t>
              </a:r>
              <a:endParaRPr lang="en-US" sz="1100"/>
            </a:p>
          </p:txBody>
        </p:sp>
        <p:sp>
          <p:nvSpPr>
            <p:cNvPr id="14" name="AutoShape 14"/>
            <p:cNvSpPr/>
            <p:nvPr/>
          </p:nvSpPr>
          <p:spPr>
            <a:xfrm>
              <a:off x="3682570" y="4234864"/>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930" b="0" i="0" u="none" strike="noStrike">
                  <a:solidFill>
                    <a:srgbClr val="000000"/>
                  </a:solidFill>
                  <a:latin typeface="Calibri" panose="020F0502020204030204"/>
                  <a:ea typeface="Arial" panose="020B0604020202020204"/>
                  <a:cs typeface="Arial" panose="020B0604020202020204"/>
                  <a:sym typeface="Arial" panose="020B0604020202020204"/>
                </a:rPr>
                <a:t>0x00001220</a:t>
              </a:r>
              <a:endParaRPr lang="en-US" sz="1100"/>
            </a:p>
          </p:txBody>
        </p:sp>
        <p:sp>
          <p:nvSpPr>
            <p:cNvPr id="15" name="AutoShape 15"/>
            <p:cNvSpPr/>
            <p:nvPr/>
          </p:nvSpPr>
          <p:spPr>
            <a:xfrm>
              <a:off x="3950310"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5</a:t>
              </a:r>
              <a:endParaRPr lang="en-US" sz="1100"/>
            </a:p>
          </p:txBody>
        </p:sp>
        <p:sp>
          <p:nvSpPr>
            <p:cNvPr id="16" name="AutoShape 16"/>
            <p:cNvSpPr/>
            <p:nvPr/>
          </p:nvSpPr>
          <p:spPr>
            <a:xfrm>
              <a:off x="4493848"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6</a:t>
              </a:r>
              <a:endParaRPr lang="en-US" sz="1100"/>
            </a:p>
          </p:txBody>
        </p:sp>
        <p:sp>
          <p:nvSpPr>
            <p:cNvPr id="17" name="AutoShape 17"/>
            <p:cNvSpPr/>
            <p:nvPr/>
          </p:nvSpPr>
          <p:spPr>
            <a:xfrm>
              <a:off x="5052874"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7</a:t>
              </a:r>
              <a:endParaRPr lang="en-US" sz="1100"/>
            </a:p>
          </p:txBody>
        </p:sp>
        <p:sp>
          <p:nvSpPr>
            <p:cNvPr id="18" name="AutoShape 18"/>
            <p:cNvSpPr/>
            <p:nvPr/>
          </p:nvSpPr>
          <p:spPr>
            <a:xfrm>
              <a:off x="5614688"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8</a:t>
              </a:r>
              <a:endParaRPr lang="en-US" sz="1100"/>
            </a:p>
          </p:txBody>
        </p:sp>
        <p:sp>
          <p:nvSpPr>
            <p:cNvPr id="19" name="AutoShape 19"/>
            <p:cNvSpPr/>
            <p:nvPr/>
          </p:nvSpPr>
          <p:spPr>
            <a:xfrm>
              <a:off x="6176502"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9</a:t>
              </a:r>
              <a:endParaRPr lang="en-US" sz="1100"/>
            </a:p>
          </p:txBody>
        </p:sp>
        <p:sp>
          <p:nvSpPr>
            <p:cNvPr id="20" name="AutoShape 20"/>
            <p:cNvSpPr/>
            <p:nvPr/>
          </p:nvSpPr>
          <p:spPr>
            <a:xfrm>
              <a:off x="6738316"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10</a:t>
              </a:r>
              <a:endParaRPr lang="en-US" sz="1100"/>
            </a:p>
          </p:txBody>
        </p:sp>
        <p:sp>
          <p:nvSpPr>
            <p:cNvPr id="21" name="AutoShape 21"/>
            <p:cNvSpPr/>
            <p:nvPr/>
          </p:nvSpPr>
          <p:spPr>
            <a:xfrm>
              <a:off x="7300130"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11</a:t>
              </a:r>
              <a:endParaRPr lang="en-US" sz="1100"/>
            </a:p>
          </p:txBody>
        </p:sp>
        <p:sp>
          <p:nvSpPr>
            <p:cNvPr id="22" name="AutoShape 22"/>
            <p:cNvSpPr/>
            <p:nvPr/>
          </p:nvSpPr>
          <p:spPr>
            <a:xfrm>
              <a:off x="7861944" y="4664263"/>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12</a:t>
              </a:r>
              <a:endParaRPr lang="en-US" sz="1100"/>
            </a:p>
          </p:txBody>
        </p:sp>
        <p:sp>
          <p:nvSpPr>
            <p:cNvPr id="23" name="AutoShape 23"/>
            <p:cNvSpPr/>
            <p:nvPr/>
          </p:nvSpPr>
          <p:spPr>
            <a:xfrm>
              <a:off x="3695270" y="4977129"/>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930" b="0" i="0" u="none" strike="noStrike">
                  <a:solidFill>
                    <a:srgbClr val="000000"/>
                  </a:solidFill>
                  <a:latin typeface="Calibri" panose="020F0502020204030204"/>
                  <a:ea typeface="Arial" panose="020B0604020202020204"/>
                  <a:cs typeface="Arial" panose="020B0604020202020204"/>
                  <a:sym typeface="Arial" panose="020B0604020202020204"/>
                </a:rPr>
                <a:t>0x00001240</a:t>
              </a:r>
              <a:endParaRPr lang="en-US" sz="1100"/>
            </a:p>
          </p:txBody>
        </p:sp>
        <p:sp>
          <p:nvSpPr>
            <p:cNvPr id="24" name="AutoShape 24"/>
            <p:cNvSpPr/>
            <p:nvPr/>
          </p:nvSpPr>
          <p:spPr>
            <a:xfrm>
              <a:off x="3947522"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13</a:t>
              </a:r>
              <a:endParaRPr lang="en-US" sz="1100"/>
            </a:p>
          </p:txBody>
        </p:sp>
        <p:sp>
          <p:nvSpPr>
            <p:cNvPr id="25" name="AutoShape 25"/>
            <p:cNvSpPr/>
            <p:nvPr/>
          </p:nvSpPr>
          <p:spPr>
            <a:xfrm>
              <a:off x="4506548"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14</a:t>
              </a:r>
              <a:endParaRPr lang="en-US" sz="1100"/>
            </a:p>
          </p:txBody>
        </p:sp>
        <p:sp>
          <p:nvSpPr>
            <p:cNvPr id="26" name="AutoShape 26"/>
            <p:cNvSpPr/>
            <p:nvPr/>
          </p:nvSpPr>
          <p:spPr>
            <a:xfrm>
              <a:off x="5065574"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15</a:t>
              </a:r>
              <a:endParaRPr lang="en-US" sz="1100"/>
            </a:p>
          </p:txBody>
        </p:sp>
        <p:sp>
          <p:nvSpPr>
            <p:cNvPr id="27" name="AutoShape 27"/>
            <p:cNvSpPr/>
            <p:nvPr/>
          </p:nvSpPr>
          <p:spPr>
            <a:xfrm>
              <a:off x="5627388"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28" name="AutoShape 28"/>
            <p:cNvSpPr/>
            <p:nvPr/>
          </p:nvSpPr>
          <p:spPr>
            <a:xfrm>
              <a:off x="6189202"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29" name="AutoShape 29"/>
            <p:cNvSpPr/>
            <p:nvPr/>
          </p:nvSpPr>
          <p:spPr>
            <a:xfrm>
              <a:off x="6751016"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30" name="AutoShape 30"/>
            <p:cNvSpPr/>
            <p:nvPr/>
          </p:nvSpPr>
          <p:spPr>
            <a:xfrm>
              <a:off x="7312830"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31" name="AutoShape 31"/>
            <p:cNvSpPr/>
            <p:nvPr/>
          </p:nvSpPr>
          <p:spPr>
            <a:xfrm>
              <a:off x="7874644" y="5406528"/>
              <a:ext cx="561814" cy="304800"/>
            </a:xfrm>
            <a:prstGeom prst="rect">
              <a:avLst/>
            </a:prstGeom>
            <a:gradFill rotWithShape="1">
              <a:gsLst>
                <a:gs pos="0">
                  <a:srgbClr val="4472C4">
                    <a:alpha val="100000"/>
                  </a:srgbClr>
                </a:gs>
                <a:gs pos="100000">
                  <a:srgbClr val="0841A8">
                    <a:alpha val="100000"/>
                  </a:srgbClr>
                </a:gs>
              </a:gsLst>
              <a:lin ang="4140000"/>
            </a:gradFill>
            <a:ln w="12700" cap="flat">
              <a:solidFill>
                <a:srgbClr val="FFFFFF">
                  <a:alpha val="100000"/>
                </a:srgbClr>
              </a:solidFill>
              <a:prstDash val="solid"/>
            </a:ln>
            <a:effectLst>
              <a:outerShdw blurRad="76200" dist="38100" dir="5400000" rotWithShape="0">
                <a:srgbClr val="000000">
                  <a:alpha val="60000"/>
                </a:srgbClr>
              </a:outerShdw>
            </a:effectLst>
          </p:spPr>
          <p:txBody>
            <a:bodyPr wrap="square" lIns="91440" tIns="45720" rIns="91440" bIns="45720" rtlCol="0" anchor="ctr">
              <a:noAutofit/>
            </a:bodyPr>
            <a:lstStyle/>
            <a:p>
              <a:pPr indent="0" algn="ctr">
                <a:lnSpc>
                  <a:spcPct val="100000"/>
                </a:lnSpc>
                <a:defRPr/>
              </a:pPr>
              <a:r>
                <a:rPr lang="en-US" sz="1075" b="0" i="0" u="none" strike="noStrike">
                  <a:solidFill>
                    <a:srgbClr val="FFFFFF"/>
                  </a:solidFill>
                  <a:latin typeface="Calibri" panose="020F0502020204030204"/>
                  <a:ea typeface="Arial" panose="020B0604020202020204"/>
                  <a:cs typeface="Arial" panose="020B0604020202020204"/>
                  <a:sym typeface="Arial" panose="020B0604020202020204"/>
                </a:rPr>
                <a:t>?</a:t>
              </a:r>
              <a:endParaRPr lang="en-US" sz="1100"/>
            </a:p>
          </p:txBody>
        </p:sp>
        <p:sp>
          <p:nvSpPr>
            <p:cNvPr id="32" name="AutoShape 32"/>
            <p:cNvSpPr/>
            <p:nvPr/>
          </p:nvSpPr>
          <p:spPr>
            <a:xfrm>
              <a:off x="3707970" y="5719394"/>
              <a:ext cx="944880" cy="27559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930" b="0" i="0" u="none" strike="noStrike">
                  <a:solidFill>
                    <a:srgbClr val="000000"/>
                  </a:solidFill>
                  <a:latin typeface="Calibri" panose="020F0502020204030204"/>
                  <a:ea typeface="Arial" panose="020B0604020202020204"/>
                  <a:cs typeface="Arial" panose="020B0604020202020204"/>
                  <a:sym typeface="Arial" panose="020B0604020202020204"/>
                </a:rPr>
                <a:t>0x00001260</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altLang="zh-CN"/>
              <a:t>Hôte, p</a:t>
            </a:r>
            <a:r>
              <a:rPr lang="en-US" altLang="en-US"/>
              <a:t>é</a:t>
            </a:r>
            <a:r>
              <a:rPr lang="en-US" altLang="zh-CN"/>
              <a:t>riph</a:t>
            </a:r>
            <a:r>
              <a:rPr lang="en-US" altLang="en-US"/>
              <a:t>é</a:t>
            </a:r>
            <a:r>
              <a:rPr lang="en-US" altLang="zh-CN"/>
              <a:t>rique et interconnect</a:t>
            </a:r>
            <a:endParaRPr lang="en-US" altLang="zh-CN"/>
          </a:p>
          <a:p>
            <a:pPr marL="355600" indent="-355600" algn="l">
              <a:lnSpc>
                <a:spcPct val="100000"/>
              </a:lnSpc>
              <a:spcBef>
                <a:spcPts val="3000"/>
              </a:spcBef>
              <a:buClr>
                <a:srgbClr val="404040"/>
              </a:buClr>
              <a:buSzTx/>
              <a:buChar char="•"/>
            </a:pPr>
            <a:r>
              <a:rPr lang="en-US" altLang="zh-CN"/>
              <a:t>Programmation des c</a:t>
            </a:r>
            <a:r>
              <a:rPr lang="en-US" altLang="en-US"/>
              <a:t>œ</a:t>
            </a:r>
            <a:r>
              <a:rPr lang="en-US" altLang="zh-CN"/>
              <a:t>urs CUDA</a:t>
            </a:r>
            <a:endParaRPr lang="en-US" altLang="zh-CN"/>
          </a:p>
          <a:p>
            <a:pPr marL="355600" indent="-355600" algn="l">
              <a:lnSpc>
                <a:spcPct val="100000"/>
              </a:lnSpc>
              <a:spcBef>
                <a:spcPts val="3000"/>
              </a:spcBef>
              <a:buClr>
                <a:srgbClr val="8B0012"/>
              </a:buClr>
              <a:buSzTx/>
              <a:buChar char="•"/>
            </a:pPr>
            <a:r>
              <a:rPr lang="en-US" b="1">
                <a:solidFill>
                  <a:srgbClr val="8B0012"/>
                </a:solidFill>
                <a:ea typeface="Ebrima" panose="02000000000000000000"/>
                <a:cs typeface="Ebrima" panose="02000000000000000000"/>
              </a:rPr>
              <a:t>Programmation des cœurs Tensor</a:t>
            </a:r>
            <a:endParaRPr lang="en-US" b="1">
              <a:solidFill>
                <a:srgbClr val="8B0012"/>
              </a:solidFill>
              <a:ea typeface="Ebrima" panose="02000000000000000000"/>
              <a:cs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altLang="zh-CN"/>
              <a:t>Plan</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Évolution des Tensor Cores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Tendances :</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Taille MMA et intensité arithmétique accrues</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 de précisions inférieures et copie mémoire asynchrone vectorisée</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33" name="Content Placeholder 5"/>
          <p:cNvGraphicFramePr/>
          <p:nvPr/>
        </p:nvGraphicFramePr>
        <p:xfrm>
          <a:off x="390525" y="3253054"/>
          <a:ext cx="11440887" cy="2673350"/>
        </p:xfrm>
        <a:graphic>
          <a:graphicData uri="http://schemas.openxmlformats.org/drawingml/2006/table">
            <a:tbl>
              <a:tblPr firstRow="1" bandRow="1">
                <a:tableStyleId>{5C22544A-7EE6-4342-B048-85BDC9FD1C3A}</a:tableStyleId>
              </a:tblPr>
              <a:tblGrid>
                <a:gridCol w="1833193"/>
                <a:gridCol w="2609539"/>
                <a:gridCol w="947057"/>
                <a:gridCol w="1197429"/>
                <a:gridCol w="794657"/>
                <a:gridCol w="1491343"/>
                <a:gridCol w="2567669"/>
              </a:tblGrid>
              <a:tr h="370840">
                <a:tc>
                  <a:txBody>
                    <a:bodyPr/>
                    <a:p>
                      <a:pPr algn="l" latinLnBrk="1">
                        <a:buNone/>
                      </a:pPr>
                      <a:r>
                        <a:rPr lang="en-US" sz="1800" dirty="0">
                          <a:solidFill>
                            <a:srgbClr val="E6E6E6"/>
                          </a:solidFill>
                          <a:effectLst/>
                        </a:rPr>
                        <a:t>Arch</a:t>
                      </a:r>
                      <a:endParaRPr lang="en-US" sz="1800" dirty="0">
                        <a:solidFill>
                          <a:srgbClr val="E6E6E6"/>
                        </a:solidFill>
                        <a:effectLst/>
                      </a:endParaRPr>
                    </a:p>
                  </a:txBody>
                  <a:tcPr marL="95250" marR="95250" marT="47625" marB="47625" anchor="ctr"/>
                </a:tc>
                <a:tc>
                  <a:txBody>
                    <a:bodyPr/>
                    <a:p>
                      <a:pPr algn="l" latinLnBrk="1">
                        <a:buNone/>
                      </a:pPr>
                      <a:r>
                        <a:rPr lang="en-US" sz="1800" dirty="0" err="1">
                          <a:solidFill>
                            <a:srgbClr val="E6E6E6"/>
                          </a:solidFill>
                          <a:effectLst/>
                        </a:rPr>
                        <a:t>Dtype</a:t>
                      </a:r>
                      <a:endParaRPr lang="en-US" sz="1800" dirty="0">
                        <a:solidFill>
                          <a:srgbClr val="E6E6E6"/>
                        </a:solidFill>
                        <a:effectLst/>
                      </a:endParaRPr>
                    </a:p>
                  </a:txBody>
                  <a:tcPr marL="95250" marR="95250" marT="47625" marB="47625" anchor="ctr"/>
                </a:tc>
                <a:tc>
                  <a:txBody>
                    <a:bodyPr/>
                    <a:p>
                      <a:pPr algn="l" latinLnBrk="1">
                        <a:buNone/>
                      </a:pPr>
                      <a:r>
                        <a:rPr lang="en-US" sz="1800">
                          <a:solidFill>
                            <a:srgbClr val="E6E6E6"/>
                          </a:solidFill>
                          <a:effectLst/>
                        </a:rPr>
                        <a:t>TC par SM</a:t>
                      </a:r>
                      <a:endParaRPr lang="en-US" sz="1800">
                        <a:solidFill>
                          <a:srgbClr val="E6E6E6"/>
                        </a:solidFill>
                        <a:effectLst/>
                      </a:endParaRPr>
                    </a:p>
                  </a:txBody>
                  <a:tcPr marL="95250" marR="95250" marT="47625" marB="47625" anchor="ctr"/>
                </a:tc>
                <a:tc>
                  <a:txBody>
                    <a:bodyPr/>
                    <a:p>
                      <a:pPr algn="l" latinLnBrk="1">
                        <a:buNone/>
                      </a:pPr>
                      <a:r>
                        <a:rPr lang="en-US" sz="1800" dirty="0">
                          <a:solidFill>
                            <a:srgbClr val="E6E6E6"/>
                          </a:solidFill>
                          <a:effectLst/>
                        </a:rPr>
                        <a:t>TC </a:t>
                      </a:r>
                      <a:r>
                        <a:rPr lang="en-US" sz="1800" dirty="0" err="1">
                          <a:solidFill>
                            <a:srgbClr val="E6E6E6"/>
                          </a:solidFill>
                          <a:effectLst/>
                        </a:rPr>
                        <a:t>m,n,k</a:t>
                      </a:r>
                      <a:endParaRPr lang="en-US" sz="1800" dirty="0">
                        <a:solidFill>
                          <a:srgbClr val="E6E6E6"/>
                        </a:solidFill>
                        <a:effectLst/>
                      </a:endParaRPr>
                    </a:p>
                  </a:txBody>
                  <a:tcPr marL="95250" marR="95250" marT="47625" marB="47625" anchor="ctr"/>
                </a:tc>
                <a:tc>
                  <a:txBody>
                    <a:bodyPr/>
                    <a:p>
                      <a:pPr algn="l" latinLnBrk="1">
                        <a:buNone/>
                      </a:pPr>
                      <a:r>
                        <a:rPr lang="en-US" altLang="zh-CN" sz="1800" dirty="0">
                          <a:solidFill>
                            <a:srgbClr val="E6E6E6"/>
                          </a:solidFill>
                          <a:effectLst/>
                        </a:rPr>
                        <a:t>Parcimonie</a:t>
                      </a:r>
                      <a:endParaRPr lang="zh-CN" altLang="en-US" sz="1800" dirty="0">
                        <a:solidFill>
                          <a:srgbClr val="E6E6E6"/>
                        </a:solidFill>
                        <a:effectLst/>
                      </a:endParaRPr>
                    </a:p>
                  </a:txBody>
                  <a:tcPr marL="95250" marR="95250" marT="47625" marB="47625" anchor="ctr"/>
                </a:tc>
                <a:tc>
                  <a:txBody>
                    <a:bodyPr/>
                    <a:p>
                      <a:pPr algn="l" latinLnBrk="1">
                        <a:buNone/>
                      </a:pPr>
                      <a:r>
                        <a:rPr lang="en-US" altLang="zh-CN" sz="1800" dirty="0">
                          <a:solidFill>
                            <a:srgbClr val="E6E6E6"/>
                          </a:solidFill>
                          <a:effectLst/>
                        </a:rPr>
                        <a:t>Mem.</a:t>
                      </a:r>
                      <a:endParaRPr lang="en-US" altLang="zh-CN" sz="1800" dirty="0">
                        <a:solidFill>
                          <a:srgbClr val="E6E6E6"/>
                        </a:solidFill>
                        <a:effectLst/>
                      </a:endParaRPr>
                    </a:p>
                    <a:p>
                      <a:pPr algn="l" latinLnBrk="1">
                        <a:buNone/>
                      </a:pPr>
                      <a:r>
                        <a:rPr lang="en-US" altLang="zh-CN" sz="1800" dirty="0">
                          <a:solidFill>
                            <a:srgbClr val="E6E6E6"/>
                          </a:solidFill>
                          <a:effectLst/>
                        </a:rPr>
                        <a:t>Access</a:t>
                      </a:r>
                      <a:endParaRPr lang="zh-CN" altLang="en-US" sz="1800" dirty="0">
                        <a:solidFill>
                          <a:srgbClr val="E6E6E6"/>
                        </a:solidFill>
                        <a:effectLst/>
                      </a:endParaRPr>
                    </a:p>
                  </a:txBody>
                  <a:tcPr marL="95250" marR="95250" marT="47625" marB="47625" anchor="ctr"/>
                </a:tc>
                <a:tc>
                  <a:txBody>
                    <a:bodyPr/>
                    <a:p>
                      <a:pPr algn="l" latinLnBrk="1">
                        <a:buNone/>
                      </a:pPr>
                      <a:r>
                        <a:rPr lang="en-US" altLang="zh-CN" sz="1800" dirty="0">
                          <a:solidFill>
                            <a:srgbClr val="E6E6E6"/>
                          </a:solidFill>
                          <a:effectLst/>
                        </a:rPr>
                        <a:t>Instructions</a:t>
                      </a:r>
                      <a:endParaRPr lang="zh-CN" altLang="en-US" sz="1800" dirty="0">
                        <a:solidFill>
                          <a:srgbClr val="E6E6E6"/>
                        </a:solidFill>
                        <a:effectLst/>
                      </a:endParaRPr>
                    </a:p>
                  </a:txBody>
                  <a:tcPr marL="95250" marR="95250" marT="47625" marB="47625" anchor="ctr"/>
                </a:tc>
              </a:tr>
              <a:tr h="370840">
                <a:tc>
                  <a:txBody>
                    <a:bodyPr/>
                    <a:p>
                      <a:pPr latinLnBrk="1">
                        <a:buNone/>
                      </a:pPr>
                      <a:r>
                        <a:rPr lang="en-US" sz="1800">
                          <a:effectLst/>
                        </a:rPr>
                        <a:t>Volta(SM70)</a:t>
                      </a:r>
                      <a:endParaRPr lang="en-US" sz="1800">
                        <a:effectLst/>
                      </a:endParaRPr>
                    </a:p>
                  </a:txBody>
                  <a:tcPr marL="95250" marR="95250" marT="47625" marB="47625" anchor="ctr"/>
                </a:tc>
                <a:tc>
                  <a:txBody>
                    <a:bodyPr/>
                    <a:p>
                      <a:pPr latinLnBrk="1">
                        <a:buNone/>
                      </a:pPr>
                      <a:r>
                        <a:rPr lang="en-US" sz="1800">
                          <a:effectLst/>
                        </a:rPr>
                        <a:t>FP16</a:t>
                      </a:r>
                      <a:endParaRPr lang="en-US" sz="1800">
                        <a:effectLst/>
                      </a:endParaRPr>
                    </a:p>
                  </a:txBody>
                  <a:tcPr marL="95250" marR="95250" marT="47625" marB="47625" anchor="ctr"/>
                </a:tc>
                <a:tc>
                  <a:txBody>
                    <a:bodyPr/>
                    <a:p>
                      <a:pPr latinLnBrk="1">
                        <a:buNone/>
                      </a:pPr>
                      <a:r>
                        <a:rPr lang="en-US" sz="1800">
                          <a:effectLst/>
                        </a:rPr>
                        <a:t>8</a:t>
                      </a:r>
                      <a:endParaRPr lang="en-US" sz="1800">
                        <a:effectLst/>
                      </a:endParaRPr>
                    </a:p>
                  </a:txBody>
                  <a:tcPr marL="95250" marR="95250" marT="47625" marB="47625" anchor="ctr"/>
                </a:tc>
                <a:tc>
                  <a:txBody>
                    <a:bodyPr/>
                    <a:p>
                      <a:pPr latinLnBrk="1">
                        <a:buNone/>
                      </a:pPr>
                      <a:r>
                        <a:rPr lang="en-US" sz="1800">
                          <a:effectLst/>
                        </a:rPr>
                        <a:t>4 x 4 x 4</a:t>
                      </a:r>
                      <a:endParaRPr lang="en-US" sz="1800">
                        <a:effectLst/>
                      </a:endParaRPr>
                    </a:p>
                  </a:txBody>
                  <a:tcPr marL="95250" marR="95250" marT="47625" marB="47625" anchor="ctr"/>
                </a:tc>
                <a:tc>
                  <a:txBody>
                    <a:bodyPr/>
                    <a:p>
                      <a:pPr latinLnBrk="1">
                        <a:buNone/>
                      </a:pPr>
                      <a:r>
                        <a:rPr lang="en-US" sz="1800">
                          <a:effectLst/>
                        </a:rPr>
                        <a:t>No</a:t>
                      </a:r>
                      <a:endParaRPr lang="en-US" sz="1800">
                        <a:effectLst/>
                      </a:endParaRPr>
                    </a:p>
                  </a:txBody>
                  <a:tcPr marL="95250" marR="95250" marT="47625" marB="47625" anchor="ctr"/>
                </a:tc>
                <a:tc>
                  <a:txBody>
                    <a:bodyPr/>
                    <a:p>
                      <a:pPr latinLnBrk="1">
                        <a:buNone/>
                      </a:pPr>
                      <a:r>
                        <a:rPr lang="en-US" sz="1800">
                          <a:effectLst/>
                        </a:rPr>
                        <a:t>N/A</a:t>
                      </a:r>
                      <a:endParaRPr lang="en-US" sz="1800">
                        <a:effectLst/>
                      </a:endParaRPr>
                    </a:p>
                  </a:txBody>
                  <a:tcPr marL="95250" marR="95250" marT="47625" marB="47625" anchor="ctr"/>
                </a:tc>
                <a:tc>
                  <a:txBody>
                    <a:bodyPr/>
                    <a:p>
                      <a:pPr latinLnBrk="1">
                        <a:buNone/>
                      </a:pPr>
                      <a:r>
                        <a:rPr lang="en-US" sz="1800">
                          <a:effectLst/>
                        </a:rPr>
                        <a:t>mma</a:t>
                      </a:r>
                      <a:endParaRPr lang="en-US" sz="1800">
                        <a:effectLst/>
                      </a:endParaRPr>
                    </a:p>
                  </a:txBody>
                  <a:tcPr marL="95250" marR="95250" marT="47625" marB="47625" anchor="ctr"/>
                </a:tc>
              </a:tr>
              <a:tr h="370840">
                <a:tc>
                  <a:txBody>
                    <a:bodyPr/>
                    <a:p>
                      <a:pPr latinLnBrk="1">
                        <a:buNone/>
                      </a:pPr>
                      <a:r>
                        <a:rPr lang="en-US" sz="1800">
                          <a:effectLst/>
                        </a:rPr>
                        <a:t>Turing(SM75)</a:t>
                      </a:r>
                      <a:endParaRPr lang="en-US" sz="1800">
                        <a:effectLst/>
                      </a:endParaRPr>
                    </a:p>
                  </a:txBody>
                  <a:tcPr marL="95250" marR="95250" marT="47625" marB="47625" anchor="ctr"/>
                </a:tc>
                <a:tc>
                  <a:txBody>
                    <a:bodyPr/>
                    <a:p>
                      <a:pPr latinLnBrk="1">
                        <a:buNone/>
                      </a:pPr>
                      <a:r>
                        <a:rPr lang="en-US" sz="1800">
                          <a:effectLst/>
                        </a:rPr>
                        <a:t>FP16,INT8,INT4,Binary</a:t>
                      </a:r>
                      <a:endParaRPr lang="en-US" sz="1800">
                        <a:effectLst/>
                      </a:endParaRPr>
                    </a:p>
                  </a:txBody>
                  <a:tcPr marL="95250" marR="95250" marT="47625" marB="47625" anchor="ctr"/>
                </a:tc>
                <a:tc>
                  <a:txBody>
                    <a:bodyPr/>
                    <a:p>
                      <a:pPr latinLnBrk="1">
                        <a:buNone/>
                      </a:pPr>
                      <a:r>
                        <a:rPr lang="en-US" sz="1800" dirty="0">
                          <a:effectLst/>
                        </a:rPr>
                        <a:t>8</a:t>
                      </a:r>
                      <a:endParaRPr lang="en-US" sz="1800" dirty="0">
                        <a:effectLst/>
                      </a:endParaRPr>
                    </a:p>
                  </a:txBody>
                  <a:tcPr marL="95250" marR="95250" marT="47625" marB="47625" anchor="ctr"/>
                </a:tc>
                <a:tc>
                  <a:txBody>
                    <a:bodyPr/>
                    <a:p>
                      <a:pPr latinLnBrk="1">
                        <a:buNone/>
                      </a:pPr>
                      <a:r>
                        <a:rPr lang="en-US" sz="1800" dirty="0">
                          <a:effectLst/>
                        </a:rPr>
                        <a:t>4 x 4 x 4</a:t>
                      </a:r>
                      <a:endParaRPr lang="en-US" sz="1800" dirty="0">
                        <a:effectLst/>
                      </a:endParaRPr>
                    </a:p>
                  </a:txBody>
                  <a:tcPr marL="95250" marR="95250" marT="47625" marB="47625" anchor="ctr"/>
                </a:tc>
                <a:tc>
                  <a:txBody>
                    <a:bodyPr/>
                    <a:p>
                      <a:pPr latinLnBrk="1">
                        <a:buNone/>
                      </a:pPr>
                      <a:r>
                        <a:rPr lang="en-US" sz="1800">
                          <a:effectLst/>
                        </a:rPr>
                        <a:t>No</a:t>
                      </a:r>
                      <a:endParaRPr lang="en-US" sz="1800">
                        <a:effectLst/>
                      </a:endParaRPr>
                    </a:p>
                  </a:txBody>
                  <a:tcPr marL="95250" marR="95250" marT="47625" marB="47625" anchor="ctr"/>
                </a:tc>
                <a:tc>
                  <a:txBody>
                    <a:bodyPr/>
                    <a:p>
                      <a:pPr latinLnBrk="1">
                        <a:buNone/>
                      </a:pPr>
                      <a:r>
                        <a:rPr lang="en-US" sz="1800">
                          <a:effectLst/>
                        </a:rPr>
                        <a:t>ldmatrix</a:t>
                      </a:r>
                      <a:endParaRPr lang="en-US" sz="1800">
                        <a:effectLst/>
                      </a:endParaRPr>
                    </a:p>
                  </a:txBody>
                  <a:tcPr marL="95250" marR="95250" marT="47625" marB="47625" anchor="ctr"/>
                </a:tc>
                <a:tc>
                  <a:txBody>
                    <a:bodyPr/>
                    <a:p>
                      <a:pPr latinLnBrk="1">
                        <a:buNone/>
                      </a:pPr>
                      <a:r>
                        <a:rPr lang="en-US" sz="1800">
                          <a:effectLst/>
                        </a:rPr>
                        <a:t>mma,ldmatrix</a:t>
                      </a:r>
                      <a:endParaRPr lang="en-US" sz="1800">
                        <a:effectLst/>
                      </a:endParaRPr>
                    </a:p>
                  </a:txBody>
                  <a:tcPr marL="95250" marR="95250" marT="47625" marB="47625" anchor="ctr"/>
                </a:tc>
              </a:tr>
              <a:tr h="370840">
                <a:tc>
                  <a:txBody>
                    <a:bodyPr/>
                    <a:p>
                      <a:pPr latinLnBrk="1">
                        <a:buNone/>
                      </a:pPr>
                      <a:r>
                        <a:rPr lang="en-US" sz="1800">
                          <a:effectLst/>
                        </a:rPr>
                        <a:t>Ampere(SM80)</a:t>
                      </a:r>
                      <a:endParaRPr lang="en-US" sz="1800">
                        <a:effectLst/>
                      </a:endParaRPr>
                    </a:p>
                  </a:txBody>
                  <a:tcPr marL="95250" marR="95250" marT="47625" marB="47625" anchor="ctr"/>
                </a:tc>
                <a:tc>
                  <a:txBody>
                    <a:bodyPr/>
                    <a:p>
                      <a:pPr latinLnBrk="1">
                        <a:buNone/>
                      </a:pPr>
                      <a:r>
                        <a:rPr lang="en-US" sz="1800">
                          <a:effectLst/>
                        </a:rPr>
                        <a:t>FP16,BF16,TF32,FP64,INT8,INT4,Binary</a:t>
                      </a:r>
                      <a:endParaRPr lang="en-US" sz="1800">
                        <a:effectLst/>
                      </a:endParaRPr>
                    </a:p>
                  </a:txBody>
                  <a:tcPr marL="95250" marR="95250" marT="47625" marB="47625" anchor="ctr"/>
                </a:tc>
                <a:tc>
                  <a:txBody>
                    <a:bodyPr/>
                    <a:p>
                      <a:pPr latinLnBrk="1">
                        <a:buNone/>
                      </a:pPr>
                      <a:r>
                        <a:rPr lang="en-US" sz="1800">
                          <a:effectLst/>
                        </a:rPr>
                        <a:t>4</a:t>
                      </a:r>
                      <a:endParaRPr lang="en-US" sz="1800">
                        <a:effectLst/>
                      </a:endParaRPr>
                    </a:p>
                  </a:txBody>
                  <a:tcPr marL="95250" marR="95250" marT="47625" marB="47625" anchor="ctr"/>
                </a:tc>
                <a:tc>
                  <a:txBody>
                    <a:bodyPr/>
                    <a:p>
                      <a:pPr latinLnBrk="1">
                        <a:buNone/>
                      </a:pPr>
                      <a:r>
                        <a:rPr lang="en-US" sz="1800">
                          <a:effectLst/>
                        </a:rPr>
                        <a:t>8 x 4 x 8</a:t>
                      </a:r>
                      <a:endParaRPr lang="en-US" sz="1800">
                        <a:effectLst/>
                      </a:endParaRPr>
                    </a:p>
                  </a:txBody>
                  <a:tcPr marL="95250" marR="95250" marT="47625" marB="47625" anchor="ctr"/>
                </a:tc>
                <a:tc>
                  <a:txBody>
                    <a:bodyPr/>
                    <a:p>
                      <a:pPr latinLnBrk="1">
                        <a:buNone/>
                      </a:pPr>
                      <a:r>
                        <a:rPr lang="en-US" sz="1800">
                          <a:effectLst/>
                        </a:rPr>
                        <a:t>Yes</a:t>
                      </a:r>
                      <a:endParaRPr lang="en-US" sz="1800">
                        <a:effectLst/>
                      </a:endParaRPr>
                    </a:p>
                  </a:txBody>
                  <a:tcPr marL="95250" marR="95250" marT="47625" marB="47625" anchor="ctr"/>
                </a:tc>
                <a:tc>
                  <a:txBody>
                    <a:bodyPr/>
                    <a:p>
                      <a:pPr latinLnBrk="1">
                        <a:buNone/>
                      </a:pPr>
                      <a:r>
                        <a:rPr lang="en-US" sz="1800">
                          <a:effectLst/>
                        </a:rPr>
                        <a:t>async Copy</a:t>
                      </a:r>
                      <a:endParaRPr lang="en-US" sz="1800">
                        <a:effectLst/>
                      </a:endParaRPr>
                    </a:p>
                  </a:txBody>
                  <a:tcPr marL="95250" marR="95250" marT="47625" marB="47625" anchor="ctr"/>
                </a:tc>
                <a:tc>
                  <a:txBody>
                    <a:bodyPr/>
                    <a:p>
                      <a:pPr latinLnBrk="1">
                        <a:buNone/>
                      </a:pPr>
                      <a:r>
                        <a:rPr lang="en-US" sz="1800">
                          <a:effectLst/>
                        </a:rPr>
                        <a:t>mma,ldmatrix, mma.sp</a:t>
                      </a:r>
                      <a:endParaRPr lang="en-US" sz="1800">
                        <a:effectLst/>
                      </a:endParaRPr>
                    </a:p>
                  </a:txBody>
                  <a:tcPr marL="95250" marR="95250" marT="47625" marB="47625" anchor="ctr"/>
                </a:tc>
              </a:tr>
              <a:tr h="370840">
                <a:tc>
                  <a:txBody>
                    <a:bodyPr/>
                    <a:p>
                      <a:pPr latinLnBrk="1">
                        <a:buNone/>
                      </a:pPr>
                      <a:r>
                        <a:rPr lang="en-US" sz="1800">
                          <a:effectLst/>
                        </a:rPr>
                        <a:t>Hopper(SM90)</a:t>
                      </a:r>
                      <a:endParaRPr lang="en-US" sz="1800">
                        <a:effectLst/>
                      </a:endParaRPr>
                    </a:p>
                  </a:txBody>
                  <a:tcPr marL="95250" marR="95250" marT="47625" marB="47625" anchor="ctr"/>
                </a:tc>
                <a:tc>
                  <a:txBody>
                    <a:bodyPr/>
                    <a:p>
                      <a:pPr latinLnBrk="1">
                        <a:buNone/>
                      </a:pPr>
                      <a:r>
                        <a:rPr lang="en-US" sz="1800" dirty="0">
                          <a:effectLst/>
                        </a:rPr>
                        <a:t>FP16,BF16,TF32,FP64,INT8,Binary</a:t>
                      </a:r>
                      <a:endParaRPr lang="en-US" sz="1800" dirty="0">
                        <a:effectLst/>
                      </a:endParaRPr>
                    </a:p>
                  </a:txBody>
                  <a:tcPr marL="95250" marR="95250" marT="47625" marB="47625" anchor="ctr"/>
                </a:tc>
                <a:tc>
                  <a:txBody>
                    <a:bodyPr/>
                    <a:p>
                      <a:pPr latinLnBrk="1">
                        <a:buNone/>
                      </a:pPr>
                      <a:r>
                        <a:rPr lang="en-US" sz="1800">
                          <a:effectLst/>
                        </a:rPr>
                        <a:t>4</a:t>
                      </a:r>
                      <a:endParaRPr lang="en-US" sz="1800">
                        <a:effectLst/>
                      </a:endParaRPr>
                    </a:p>
                  </a:txBody>
                  <a:tcPr marL="95250" marR="95250" marT="47625" marB="47625" anchor="ctr"/>
                </a:tc>
                <a:tc>
                  <a:txBody>
                    <a:bodyPr/>
                    <a:p>
                      <a:pPr latinLnBrk="1">
                        <a:buNone/>
                      </a:pPr>
                      <a:r>
                        <a:rPr lang="en-US" sz="1800">
                          <a:effectLst/>
                        </a:rPr>
                        <a:t>8 x 4 x 16</a:t>
                      </a:r>
                      <a:endParaRPr lang="en-US" sz="1800">
                        <a:effectLst/>
                      </a:endParaRPr>
                    </a:p>
                  </a:txBody>
                  <a:tcPr marL="95250" marR="95250" marT="47625" marB="47625" anchor="ctr"/>
                </a:tc>
                <a:tc>
                  <a:txBody>
                    <a:bodyPr/>
                    <a:p>
                      <a:pPr latinLnBrk="1">
                        <a:buNone/>
                      </a:pPr>
                      <a:r>
                        <a:rPr lang="en-US" sz="1800">
                          <a:effectLst/>
                        </a:rPr>
                        <a:t>Yes</a:t>
                      </a:r>
                      <a:endParaRPr lang="en-US" sz="1800">
                        <a:effectLst/>
                      </a:endParaRPr>
                    </a:p>
                  </a:txBody>
                  <a:tcPr marL="95250" marR="95250" marT="47625" marB="47625" anchor="ctr"/>
                </a:tc>
                <a:tc>
                  <a:txBody>
                    <a:bodyPr/>
                    <a:p>
                      <a:pPr latinLnBrk="1">
                        <a:buNone/>
                      </a:pPr>
                      <a:r>
                        <a:rPr lang="en-US" sz="1800">
                          <a:effectLst/>
                        </a:rPr>
                        <a:t>TMA</a:t>
                      </a:r>
                      <a:endParaRPr lang="en-US" sz="1800">
                        <a:effectLst/>
                      </a:endParaRPr>
                    </a:p>
                  </a:txBody>
                  <a:tcPr marL="95250" marR="95250" marT="47625" marB="47625" anchor="ctr"/>
                </a:tc>
                <a:tc>
                  <a:txBody>
                    <a:bodyPr/>
                    <a:p>
                      <a:pPr latinLnBrk="1">
                        <a:buNone/>
                      </a:pPr>
                      <a:r>
                        <a:rPr lang="en-US" sz="1800" dirty="0" err="1">
                          <a:effectLst/>
                        </a:rPr>
                        <a:t>mma,ldmatrix</a:t>
                      </a:r>
                      <a:r>
                        <a:rPr lang="en-US" sz="1800" dirty="0">
                          <a:effectLst/>
                        </a:rPr>
                        <a:t>, </a:t>
                      </a:r>
                      <a:r>
                        <a:rPr lang="en-US" sz="1800" dirty="0" err="1">
                          <a:effectLst/>
                        </a:rPr>
                        <a:t>mma.sp</a:t>
                      </a:r>
                      <a:r>
                        <a:rPr lang="en-US" sz="1800" dirty="0">
                          <a:effectLst/>
                        </a:rPr>
                        <a:t>, </a:t>
                      </a:r>
                      <a:r>
                        <a:rPr lang="en-US" sz="1800" dirty="0" err="1">
                          <a:effectLst/>
                        </a:rPr>
                        <a:t>wgmma</a:t>
                      </a:r>
                      <a:endParaRPr lang="en-US" sz="1800" dirty="0">
                        <a:effectLst/>
                      </a:endParaRPr>
                    </a:p>
                  </a:txBody>
                  <a:tcPr marL="95250" marR="95250" marT="47625" marB="476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Évolution des Tensor Cores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146" name="Picture 2" descr="图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8372" y="1091325"/>
            <a:ext cx="9226686" cy="57666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dirty="0">
                <a:sym typeface="+mn-ea"/>
              </a:rPr>
              <a:t>Aperçu du MMA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xfrm>
            <a:off x="523875" y="1323975"/>
            <a:ext cx="58553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Étant données des matrices, l'instruction multiply and accumulate (MMA) calcule D = A * B + C :</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A est une matrice M par K</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B est une matrice K par N</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762000" lvl="1"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 et D sont des matrices M par N</a:t>
            </a:r>
            <a:endPar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Nous désignons les formes de matrice comme</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mMnNkK</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or MxNxK.</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SMEM &lt;-&gt; RF &lt;-&gt; Tensor Core</a:t>
            </a: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endPar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0606" y="1132872"/>
            <a:ext cx="5699588" cy="53666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3</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Cadres d'apprentissage profond</a:t>
            </a:r>
            <a:b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Analyse de la cha</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ne d'appels</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1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Cycle de vie des syst</a:t>
            </a:r>
            <a:r>
              <a:rPr lang="en-US" altLang="en-US" sz="21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mes ML et les trois lois d’</a:t>
            </a:r>
            <a:r>
              <a:rPr lang="en-US" altLang="en-US" sz="21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chelle</a:t>
            </a:r>
            <a:endParaRPr lang="en-US" altLang="zh-CN" sz="21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6210300" y="1376680"/>
            <a:ext cx="5760000" cy="32400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3875" y="1376680"/>
            <a:ext cx="5358765" cy="1495425"/>
          </a:xfrm>
          <a:prstGeom prst="rect">
            <a:avLst/>
          </a:prstGeom>
          <a:ln w="12700">
            <a:noFill/>
            <a:prstDash val="solid"/>
          </a:ln>
        </p:spPr>
      </p:pic>
      <p:sp>
        <p:nvSpPr>
          <p:cNvPr id="8" name="AutoShape 8"/>
          <p:cNvSpPr/>
          <p:nvPr/>
        </p:nvSpPr>
        <p:spPr>
          <a:xfrm>
            <a:off x="6140450" y="2178685"/>
            <a:ext cx="126000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548235"/>
                </a:solidFill>
                <a:latin typeface="Calibri" panose="020F0502020204030204"/>
                <a:ea typeface="Arial" panose="020B0604020202020204"/>
                <a:cs typeface="Arial" panose="020B0604020202020204"/>
                <a:sym typeface="Arial" panose="020B0604020202020204"/>
              </a:rPr>
              <a:t>serve</a:t>
            </a:r>
            <a:endParaRPr lang="en-US" sz="1100"/>
          </a:p>
        </p:txBody>
      </p:sp>
      <p:sp>
        <p:nvSpPr>
          <p:cNvPr id="9" name="AutoShape 9"/>
          <p:cNvSpPr/>
          <p:nvPr/>
        </p:nvSpPr>
        <p:spPr>
          <a:xfrm>
            <a:off x="2316480" y="2915920"/>
            <a:ext cx="1620000"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548235"/>
                </a:solidFill>
                <a:latin typeface="Calibri" panose="020F0502020204030204"/>
                <a:ea typeface="Arial" panose="020B0604020202020204"/>
                <a:cs typeface="Arial" panose="020B0604020202020204"/>
                <a:sym typeface="Arial" panose="020B0604020202020204"/>
              </a:rPr>
              <a:t>develop</a:t>
            </a:r>
            <a:endParaRPr lang="en-US" sz="1100"/>
          </a:p>
        </p:txBody>
      </p:sp>
      <p:sp>
        <p:nvSpPr>
          <p:cNvPr id="10" name="AutoShape 10"/>
          <p:cNvSpPr/>
          <p:nvPr/>
        </p:nvSpPr>
        <p:spPr>
          <a:xfrm>
            <a:off x="2313305" y="1256030"/>
            <a:ext cx="1620000"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548235"/>
                </a:solidFill>
                <a:latin typeface="Calibri" panose="020F0502020204030204"/>
                <a:ea typeface="Arial" panose="020B0604020202020204"/>
                <a:cs typeface="Arial" panose="020B0604020202020204"/>
                <a:sym typeface="Arial" panose="020B0604020202020204"/>
              </a:rPr>
              <a:t>pre-train</a:t>
            </a:r>
            <a:endParaRPr lang="en-US" sz="1100"/>
          </a:p>
          <a:p>
            <a:pPr indent="0" algn="ctr">
              <a:lnSpc>
                <a:spcPct val="100000"/>
              </a:lnSpc>
            </a:pPr>
            <a:r>
              <a:rPr lang="en-US" sz="1240" b="1" i="0" u="none" strike="noStrike">
                <a:solidFill>
                  <a:srgbClr val="548235"/>
                </a:solidFill>
                <a:latin typeface="Calibri" panose="020F0502020204030204"/>
                <a:ea typeface="Arial" panose="020B0604020202020204"/>
                <a:cs typeface="Arial" panose="020B0604020202020204"/>
                <a:sym typeface="Arial" panose="020B0604020202020204"/>
              </a:rPr>
              <a:t>post-train</a:t>
            </a:r>
            <a:endParaRPr lang="en-US" sz="1240" b="1" i="0" u="none" strike="noStrike">
              <a:solidFill>
                <a:srgbClr val="548235"/>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Infrastructure logicielle des grands modeles</a:t>
            </a:r>
            <a:r>
              <a:rPr lang="en-US" sz="2635"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 - </a:t>
            </a:r>
            <a:r>
              <a:rPr lang="en-US" altLang="zh-CN" sz="26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26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6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a:t>
            </a:r>
            <a:endParaRPr lang="en-US" altLang="zh-CN" sz="26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grpSp>
        <p:nvGrpSpPr>
          <p:cNvPr id="6" name="Group 6"/>
          <p:cNvGrpSpPr/>
          <p:nvPr/>
        </p:nvGrpSpPr>
        <p:grpSpPr>
          <a:xfrm>
            <a:off x="160955" y="1135612"/>
            <a:ext cx="5850892" cy="5526082"/>
            <a:chOff x="160955" y="1135612"/>
            <a:chExt cx="5850892" cy="5526082"/>
          </a:xfrm>
        </p:grpSpPr>
        <p:grpSp>
          <p:nvGrpSpPr>
            <p:cNvPr id="7" name="Group 7"/>
            <p:cNvGrpSpPr/>
            <p:nvPr/>
          </p:nvGrpSpPr>
          <p:grpSpPr>
            <a:xfrm>
              <a:off x="160955" y="1135612"/>
              <a:ext cx="5850892" cy="2701097"/>
              <a:chOff x="160955" y="1135612"/>
              <a:chExt cx="5850892" cy="2701097"/>
            </a:xfrm>
          </p:grpSpPr>
          <p:sp>
            <p:nvSpPr>
              <p:cNvPr id="8" name="AutoShape 8"/>
              <p:cNvSpPr/>
              <p:nvPr/>
            </p:nvSpPr>
            <p:spPr>
              <a:xfrm>
                <a:off x="160955" y="1311942"/>
                <a:ext cx="5850892" cy="2524767"/>
              </a:xfrm>
              <a:prstGeom prst="rect">
                <a:avLst/>
              </a:prstGeom>
              <a:noFill/>
              <a:ln w="12700" cap="flat" cmpd="sng">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2493247" y="1135612"/>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26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Fondamentaux</a:t>
                </a:r>
                <a:endParaRPr lang="en-US" sz="1100"/>
              </a:p>
            </p:txBody>
          </p:sp>
        </p:grpSp>
        <p:grpSp>
          <p:nvGrpSpPr>
            <p:cNvPr id="10" name="Group 10"/>
            <p:cNvGrpSpPr/>
            <p:nvPr/>
          </p:nvGrpSpPr>
          <p:grpSpPr>
            <a:xfrm>
              <a:off x="160955" y="3960597"/>
              <a:ext cx="5850892" cy="2701097"/>
              <a:chOff x="160955" y="3960597"/>
              <a:chExt cx="5850892" cy="2701097"/>
            </a:xfrm>
          </p:grpSpPr>
          <p:sp>
            <p:nvSpPr>
              <p:cNvPr id="11" name="AutoShape 11"/>
              <p:cNvSpPr/>
              <p:nvPr/>
            </p:nvSpPr>
            <p:spPr>
              <a:xfrm>
                <a:off x="160955" y="4136927"/>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2493247" y="3960597"/>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31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Services</a:t>
                </a:r>
                <a:endParaRPr lang="en-US" sz="1100"/>
              </a:p>
            </p:txBody>
          </p:sp>
        </p:grpSp>
      </p:grpSp>
      <p:grpSp>
        <p:nvGrpSpPr>
          <p:cNvPr id="13" name="Group 13"/>
          <p:cNvGrpSpPr/>
          <p:nvPr/>
        </p:nvGrpSpPr>
        <p:grpSpPr>
          <a:xfrm>
            <a:off x="6200149" y="1132554"/>
            <a:ext cx="5850892" cy="5526082"/>
            <a:chOff x="6200149" y="1132554"/>
            <a:chExt cx="5850892" cy="5526082"/>
          </a:xfrm>
        </p:grpSpPr>
        <p:grpSp>
          <p:nvGrpSpPr>
            <p:cNvPr id="14" name="Group 14"/>
            <p:cNvGrpSpPr/>
            <p:nvPr/>
          </p:nvGrpSpPr>
          <p:grpSpPr>
            <a:xfrm>
              <a:off x="6200149" y="1132554"/>
              <a:ext cx="5850892" cy="2701097"/>
              <a:chOff x="6200149" y="1132554"/>
              <a:chExt cx="5850892" cy="2701097"/>
            </a:xfrm>
          </p:grpSpPr>
          <p:sp>
            <p:nvSpPr>
              <p:cNvPr id="15" name="AutoShape 15"/>
              <p:cNvSpPr/>
              <p:nvPr/>
            </p:nvSpPr>
            <p:spPr>
              <a:xfrm>
                <a:off x="6200149" y="1308884"/>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8532441" y="1132554"/>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11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Pre-entrainement</a:t>
                </a:r>
                <a:endParaRPr lang="en-US" sz="1100"/>
              </a:p>
            </p:txBody>
          </p:sp>
        </p:grpSp>
        <p:grpSp>
          <p:nvGrpSpPr>
            <p:cNvPr id="17" name="Group 17"/>
            <p:cNvGrpSpPr/>
            <p:nvPr/>
          </p:nvGrpSpPr>
          <p:grpSpPr>
            <a:xfrm>
              <a:off x="6200149" y="3957539"/>
              <a:ext cx="5850892" cy="2701097"/>
              <a:chOff x="6200149" y="3957539"/>
              <a:chExt cx="5850892" cy="2701097"/>
            </a:xfrm>
          </p:grpSpPr>
          <p:sp>
            <p:nvSpPr>
              <p:cNvPr id="18" name="AutoShape 18"/>
              <p:cNvSpPr/>
              <p:nvPr/>
            </p:nvSpPr>
            <p:spPr>
              <a:xfrm>
                <a:off x="6200149" y="4133869"/>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8532441" y="3957539"/>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sp>
        <p:nvSpPr>
          <p:cNvPr id="20" name="AutoShape 20"/>
          <p:cNvSpPr/>
          <p:nvPr/>
        </p:nvSpPr>
        <p:spPr>
          <a:xfrm>
            <a:off x="6091864" y="3981587"/>
            <a:ext cx="6100482"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Post-entrainement</a:t>
            </a:r>
            <a:endParaRPr lang="en-US" sz="1100"/>
          </a:p>
        </p:txBody>
      </p:sp>
      <p:pic>
        <p:nvPicPr>
          <p:cNvPr id="21" name="Picture 21"/>
          <p:cNvPicPr>
            <a:picLocks noChangeAspect="1"/>
          </p:cNvPicPr>
          <p:nvPr/>
        </p:nvPicPr>
        <p:blipFill>
          <a:blip r:embed="rId1"/>
          <a:srcRect/>
          <a:stretch>
            <a:fillRect/>
          </a:stretch>
        </p:blipFill>
        <p:spPr>
          <a:xfrm>
            <a:off x="312358" y="1579715"/>
            <a:ext cx="2265589" cy="1587356"/>
          </a:xfrm>
          <a:prstGeom prst="rect">
            <a:avLst/>
          </a:prstGeom>
          <a:ln w="12700">
            <a:noFill/>
            <a:prstDash val="solid"/>
          </a:ln>
        </p:spPr>
      </p:pic>
      <p:sp>
        <p:nvSpPr>
          <p:cNvPr id="22" name="AutoShape 22"/>
          <p:cNvSpPr/>
          <p:nvPr/>
        </p:nvSpPr>
        <p:spPr>
          <a:xfrm>
            <a:off x="366744" y="3198926"/>
            <a:ext cx="5328975"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PyTorch &amp; Tensorflow</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DSL&amp;API, Graph, AutoDiff, Compiler, CodeGen</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23" name="Picture 23"/>
          <p:cNvPicPr>
            <a:picLocks noChangeAspect="1"/>
          </p:cNvPicPr>
          <p:nvPr/>
        </p:nvPicPr>
        <p:blipFill>
          <a:blip r:embed="rId2"/>
          <a:srcRect/>
          <a:stretch>
            <a:fillRect/>
          </a:stretch>
        </p:blipFill>
        <p:spPr>
          <a:xfrm>
            <a:off x="2857932" y="1725914"/>
            <a:ext cx="3090002" cy="1473012"/>
          </a:xfrm>
          <a:prstGeom prst="rect">
            <a:avLst/>
          </a:prstGeom>
          <a:ln w="12700">
            <a:noFill/>
            <a:prstDash val="solid"/>
          </a:ln>
        </p:spPr>
      </p:pic>
      <p:sp>
        <p:nvSpPr>
          <p:cNvPr id="24" name="AutoShape 24"/>
          <p:cNvSpPr/>
          <p:nvPr/>
        </p:nvSpPr>
        <p:spPr>
          <a:xfrm>
            <a:off x="6227919" y="3167071"/>
            <a:ext cx="5823122"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Megatron-LM &amp; Accelerate</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Parallelism Settings, FP/BP Optimization, Redundancy</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25" name="Picture 25"/>
          <p:cNvPicPr>
            <a:picLocks noChangeAspect="1"/>
          </p:cNvPicPr>
          <p:nvPr/>
        </p:nvPicPr>
        <p:blipFill>
          <a:blip r:embed="rId3"/>
          <a:srcRect/>
          <a:stretch>
            <a:fillRect/>
          </a:stretch>
        </p:blipFill>
        <p:spPr>
          <a:xfrm>
            <a:off x="6291832" y="1816138"/>
            <a:ext cx="3163020" cy="1335041"/>
          </a:xfrm>
          <a:prstGeom prst="rect">
            <a:avLst/>
          </a:prstGeom>
          <a:ln w="12700">
            <a:noFill/>
            <a:prstDash val="solid"/>
          </a:ln>
        </p:spPr>
      </p:pic>
      <p:pic>
        <p:nvPicPr>
          <p:cNvPr id="26" name="Picture 26"/>
          <p:cNvPicPr>
            <a:picLocks noChangeAspect="1"/>
          </p:cNvPicPr>
          <p:nvPr/>
        </p:nvPicPr>
        <p:blipFill>
          <a:blip r:embed="rId4"/>
          <a:srcRect/>
          <a:stretch>
            <a:fillRect/>
          </a:stretch>
        </p:blipFill>
        <p:spPr>
          <a:xfrm>
            <a:off x="9410124" y="2375545"/>
            <a:ext cx="2620921" cy="791526"/>
          </a:xfrm>
          <a:prstGeom prst="rect">
            <a:avLst/>
          </a:prstGeom>
          <a:ln w="12700">
            <a:noFill/>
            <a:prstDash val="solid"/>
          </a:ln>
        </p:spPr>
      </p:pic>
      <p:pic>
        <p:nvPicPr>
          <p:cNvPr id="27" name="Picture 27"/>
          <p:cNvPicPr>
            <a:picLocks noChangeAspect="1"/>
          </p:cNvPicPr>
          <p:nvPr/>
        </p:nvPicPr>
        <p:blipFill>
          <a:blip r:embed="rId5"/>
          <a:srcRect/>
          <a:stretch>
            <a:fillRect/>
          </a:stretch>
        </p:blipFill>
        <p:spPr>
          <a:xfrm>
            <a:off x="9444257" y="1641775"/>
            <a:ext cx="2552653" cy="762222"/>
          </a:xfrm>
          <a:prstGeom prst="rect">
            <a:avLst/>
          </a:prstGeom>
          <a:ln w="12700">
            <a:noFill/>
            <a:prstDash val="solid"/>
          </a:ln>
        </p:spPr>
      </p:pic>
      <p:sp>
        <p:nvSpPr>
          <p:cNvPr id="28" name="AutoShape 28"/>
          <p:cNvSpPr/>
          <p:nvPr/>
        </p:nvSpPr>
        <p:spPr>
          <a:xfrm>
            <a:off x="140960" y="6012305"/>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vLLM &amp; SGLang</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Paged Attention, Prefix Caching, Speculative Decoding</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29" name="Picture 29"/>
          <p:cNvPicPr>
            <a:picLocks noChangeAspect="1"/>
          </p:cNvPicPr>
          <p:nvPr/>
        </p:nvPicPr>
        <p:blipFill>
          <a:blip r:embed="rId6"/>
          <a:srcRect/>
          <a:stretch>
            <a:fillRect/>
          </a:stretch>
        </p:blipFill>
        <p:spPr>
          <a:xfrm>
            <a:off x="412780" y="4682964"/>
            <a:ext cx="2391298" cy="1098091"/>
          </a:xfrm>
          <a:prstGeom prst="rect">
            <a:avLst/>
          </a:prstGeom>
          <a:ln w="12700">
            <a:noFill/>
            <a:prstDash val="solid"/>
          </a:ln>
        </p:spPr>
      </p:pic>
      <p:pic>
        <p:nvPicPr>
          <p:cNvPr id="30" name="Picture 30"/>
          <p:cNvPicPr>
            <a:picLocks noChangeAspect="1"/>
          </p:cNvPicPr>
          <p:nvPr/>
        </p:nvPicPr>
        <p:blipFill>
          <a:blip r:embed="rId7"/>
          <a:srcRect/>
          <a:stretch>
            <a:fillRect/>
          </a:stretch>
        </p:blipFill>
        <p:spPr>
          <a:xfrm>
            <a:off x="2992380" y="4675951"/>
            <a:ext cx="2675867" cy="1207123"/>
          </a:xfrm>
          <a:prstGeom prst="rect">
            <a:avLst/>
          </a:prstGeom>
          <a:ln w="12700">
            <a:noFill/>
            <a:prstDash val="solid"/>
          </a:ln>
        </p:spPr>
      </p:pic>
      <p:sp>
        <p:nvSpPr>
          <p:cNvPr id="31" name="AutoShape 31"/>
          <p:cNvSpPr/>
          <p:nvPr/>
        </p:nvSpPr>
        <p:spPr>
          <a:xfrm>
            <a:off x="6242551" y="6003968"/>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OpenRLHF &amp; veRL</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Controller &amp; Dataflow Opt, Efficiency &amp; Flexibility </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pic>
        <p:nvPicPr>
          <p:cNvPr id="32" name="Picture 32"/>
          <p:cNvPicPr>
            <a:picLocks noChangeAspect="1"/>
          </p:cNvPicPr>
          <p:nvPr/>
        </p:nvPicPr>
        <p:blipFill>
          <a:blip r:embed="rId8"/>
          <a:srcRect/>
          <a:stretch>
            <a:fillRect/>
          </a:stretch>
        </p:blipFill>
        <p:spPr>
          <a:xfrm>
            <a:off x="6410987" y="4407995"/>
            <a:ext cx="2279825" cy="1650265"/>
          </a:xfrm>
          <a:prstGeom prst="rect">
            <a:avLst/>
          </a:prstGeom>
          <a:ln w="12700">
            <a:noFill/>
            <a:prstDash val="solid"/>
          </a:ln>
        </p:spPr>
      </p:pic>
      <p:pic>
        <p:nvPicPr>
          <p:cNvPr id="33" name="Picture 33"/>
          <p:cNvPicPr>
            <a:picLocks noChangeAspect="1"/>
          </p:cNvPicPr>
          <p:nvPr/>
        </p:nvPicPr>
        <p:blipFill>
          <a:blip r:embed="rId9"/>
          <a:srcRect/>
          <a:stretch>
            <a:fillRect/>
          </a:stretch>
        </p:blipFill>
        <p:spPr>
          <a:xfrm>
            <a:off x="8826722" y="4535679"/>
            <a:ext cx="3088408" cy="130663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Infrastructure logicielle des grands modeles</a:t>
            </a:r>
            <a:r>
              <a:rPr lang="en-US" sz="255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 - </a:t>
            </a: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Concepts cl</a:t>
            </a:r>
            <a:r>
              <a:rPr lang="en-US" alt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255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 (1/2)</a:t>
            </a:r>
            <a:endParaRPr lang="en-US" sz="255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grpSp>
        <p:nvGrpSpPr>
          <p:cNvPr id="6" name="Group 6"/>
          <p:cNvGrpSpPr/>
          <p:nvPr/>
        </p:nvGrpSpPr>
        <p:grpSpPr>
          <a:xfrm>
            <a:off x="160955" y="1135612"/>
            <a:ext cx="5850892" cy="5526082"/>
            <a:chOff x="160955" y="1135612"/>
            <a:chExt cx="5850892" cy="5526082"/>
          </a:xfrm>
        </p:grpSpPr>
        <p:grpSp>
          <p:nvGrpSpPr>
            <p:cNvPr id="7" name="Group 7"/>
            <p:cNvGrpSpPr/>
            <p:nvPr/>
          </p:nvGrpSpPr>
          <p:grpSpPr>
            <a:xfrm>
              <a:off x="160955" y="1135612"/>
              <a:ext cx="5850892" cy="2701097"/>
              <a:chOff x="160955" y="1135612"/>
              <a:chExt cx="5850892" cy="2701097"/>
            </a:xfrm>
          </p:grpSpPr>
          <p:sp>
            <p:nvSpPr>
              <p:cNvPr id="8" name="AutoShape 8"/>
              <p:cNvSpPr/>
              <p:nvPr/>
            </p:nvSpPr>
            <p:spPr>
              <a:xfrm>
                <a:off x="160955" y="1311942"/>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2493247" y="1135612"/>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26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Fondamentaux</a:t>
                </a:r>
                <a:endParaRPr lang="en-US" sz="1100"/>
              </a:p>
            </p:txBody>
          </p:sp>
        </p:grpSp>
        <p:grpSp>
          <p:nvGrpSpPr>
            <p:cNvPr id="10" name="Group 10"/>
            <p:cNvGrpSpPr/>
            <p:nvPr/>
          </p:nvGrpSpPr>
          <p:grpSpPr>
            <a:xfrm>
              <a:off x="160955" y="3960597"/>
              <a:ext cx="5850892" cy="2701097"/>
              <a:chOff x="160955" y="3960597"/>
              <a:chExt cx="5850892" cy="2701097"/>
            </a:xfrm>
          </p:grpSpPr>
          <p:sp>
            <p:nvSpPr>
              <p:cNvPr id="11" name="AutoShape 11"/>
              <p:cNvSpPr/>
              <p:nvPr/>
            </p:nvSpPr>
            <p:spPr>
              <a:xfrm>
                <a:off x="160955" y="4136927"/>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2493247" y="3960597"/>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30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Algorithmes</a:t>
                </a:r>
                <a:endParaRPr lang="en-US" sz="1100"/>
              </a:p>
            </p:txBody>
          </p:sp>
        </p:grpSp>
      </p:grpSp>
      <p:grpSp>
        <p:nvGrpSpPr>
          <p:cNvPr id="13" name="Group 13"/>
          <p:cNvGrpSpPr/>
          <p:nvPr/>
        </p:nvGrpSpPr>
        <p:grpSpPr>
          <a:xfrm>
            <a:off x="6200149" y="1132554"/>
            <a:ext cx="5850892" cy="5526082"/>
            <a:chOff x="6200149" y="1132554"/>
            <a:chExt cx="5850892" cy="5526082"/>
          </a:xfrm>
        </p:grpSpPr>
        <p:sp>
          <p:nvSpPr>
            <p:cNvPr id="14" name="AutoShape 14"/>
            <p:cNvSpPr/>
            <p:nvPr/>
          </p:nvSpPr>
          <p:spPr>
            <a:xfrm>
              <a:off x="6200149" y="1308884"/>
              <a:ext cx="5850892" cy="5349752"/>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8532441" y="1132554"/>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31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Systeme</a:t>
              </a:r>
              <a:endParaRPr lang="en-US" sz="1100"/>
            </a:p>
          </p:txBody>
        </p:sp>
      </p:grpSp>
      <p:sp>
        <p:nvSpPr>
          <p:cNvPr id="16" name="AutoShape 16"/>
          <p:cNvSpPr/>
          <p:nvPr/>
        </p:nvSpPr>
        <p:spPr>
          <a:xfrm>
            <a:off x="160955" y="1509151"/>
            <a:ext cx="5850891"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Features: Automation, Abstraction, Backend Portability</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Programming Model: Eager Execution v.s. Static Graph</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7" name="AutoShape 17"/>
          <p:cNvSpPr/>
          <p:nvPr/>
        </p:nvSpPr>
        <p:spPr>
          <a:xfrm>
            <a:off x="6227919" y="1528168"/>
            <a:ext cx="5823122"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Computation, Memory, and Communication Wall</a:t>
            </a:r>
            <a:endParaRPr lang="en-US" sz="1100"/>
          </a:p>
        </p:txBody>
      </p:sp>
      <p:sp>
        <p:nvSpPr>
          <p:cNvPr id="18" name="AutoShape 18"/>
          <p:cNvSpPr/>
          <p:nvPr/>
        </p:nvSpPr>
        <p:spPr>
          <a:xfrm>
            <a:off x="100329" y="4355991"/>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Runtime: Dynamicity at the inference time.</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Post-training: DPO, PPO, GRPO, and etc. </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9" name="AutoShape 19"/>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20" name="Picture 20"/>
          <p:cNvPicPr>
            <a:picLocks noChangeAspect="1"/>
          </p:cNvPicPr>
          <p:nvPr/>
        </p:nvPicPr>
        <p:blipFill>
          <a:blip r:embed="rId1"/>
          <a:srcRect/>
          <a:stretch>
            <a:fillRect/>
          </a:stretch>
        </p:blipFill>
        <p:spPr>
          <a:xfrm>
            <a:off x="3007066" y="2226174"/>
            <a:ext cx="2927400" cy="1562400"/>
          </a:xfrm>
          <a:prstGeom prst="rect">
            <a:avLst/>
          </a:prstGeom>
          <a:ln w="12700">
            <a:noFill/>
            <a:prstDash val="solid"/>
          </a:ln>
        </p:spPr>
      </p:pic>
      <p:pic>
        <p:nvPicPr>
          <p:cNvPr id="21" name="Picture 21"/>
          <p:cNvPicPr>
            <a:picLocks noChangeAspect="1"/>
          </p:cNvPicPr>
          <p:nvPr/>
        </p:nvPicPr>
        <p:blipFill>
          <a:blip r:embed="rId2"/>
          <a:srcRect/>
          <a:stretch>
            <a:fillRect/>
          </a:stretch>
        </p:blipFill>
        <p:spPr>
          <a:xfrm>
            <a:off x="328742" y="2412834"/>
            <a:ext cx="2559374" cy="1094649"/>
          </a:xfrm>
          <a:prstGeom prst="rect">
            <a:avLst/>
          </a:prstGeom>
          <a:ln w="12700">
            <a:noFill/>
            <a:prstDash val="solid"/>
          </a:ln>
        </p:spPr>
      </p:pic>
      <p:pic>
        <p:nvPicPr>
          <p:cNvPr id="22" name="Picture 22"/>
          <p:cNvPicPr>
            <a:picLocks noChangeAspect="1"/>
          </p:cNvPicPr>
          <p:nvPr/>
        </p:nvPicPr>
        <p:blipFill>
          <a:blip r:embed="rId3"/>
          <a:srcRect/>
          <a:stretch>
            <a:fillRect/>
          </a:stretch>
        </p:blipFill>
        <p:spPr>
          <a:xfrm>
            <a:off x="3931449" y="5277122"/>
            <a:ext cx="2067831" cy="954669"/>
          </a:xfrm>
          <a:prstGeom prst="rect">
            <a:avLst/>
          </a:prstGeom>
          <a:ln w="12700">
            <a:noFill/>
            <a:prstDash val="solid"/>
          </a:ln>
        </p:spPr>
      </p:pic>
      <p:pic>
        <p:nvPicPr>
          <p:cNvPr id="23" name="Picture 23"/>
          <p:cNvPicPr>
            <a:picLocks noChangeAspect="1"/>
          </p:cNvPicPr>
          <p:nvPr/>
        </p:nvPicPr>
        <p:blipFill>
          <a:blip r:embed="rId4"/>
          <a:srcRect/>
          <a:stretch>
            <a:fillRect/>
          </a:stretch>
        </p:blipFill>
        <p:spPr>
          <a:xfrm>
            <a:off x="287830" y="5033781"/>
            <a:ext cx="1481368" cy="531893"/>
          </a:xfrm>
          <a:prstGeom prst="rect">
            <a:avLst/>
          </a:prstGeom>
          <a:ln w="12700">
            <a:noFill/>
            <a:prstDash val="solid"/>
          </a:ln>
        </p:spPr>
      </p:pic>
      <p:pic>
        <p:nvPicPr>
          <p:cNvPr id="24" name="Picture 24"/>
          <p:cNvPicPr>
            <a:picLocks noChangeAspect="1"/>
          </p:cNvPicPr>
          <p:nvPr/>
        </p:nvPicPr>
        <p:blipFill>
          <a:blip r:embed="rId5"/>
          <a:srcRect t="1" r="20093" b="4026"/>
          <a:stretch>
            <a:fillRect/>
          </a:stretch>
        </p:blipFill>
        <p:spPr>
          <a:xfrm>
            <a:off x="1829823" y="5055155"/>
            <a:ext cx="2067831" cy="1337425"/>
          </a:xfrm>
          <a:prstGeom prst="rect">
            <a:avLst/>
          </a:prstGeom>
          <a:ln w="12700">
            <a:noFill/>
            <a:prstDash val="solid"/>
          </a:ln>
        </p:spPr>
      </p:pic>
      <p:pic>
        <p:nvPicPr>
          <p:cNvPr id="25" name="Picture 25"/>
          <p:cNvPicPr>
            <a:picLocks noChangeAspect="1"/>
          </p:cNvPicPr>
          <p:nvPr/>
        </p:nvPicPr>
        <p:blipFill>
          <a:blip r:embed="rId6"/>
          <a:srcRect/>
          <a:stretch>
            <a:fillRect/>
          </a:stretch>
        </p:blipFill>
        <p:spPr>
          <a:xfrm>
            <a:off x="287830" y="5690631"/>
            <a:ext cx="1481369" cy="735740"/>
          </a:xfrm>
          <a:prstGeom prst="rect">
            <a:avLst/>
          </a:prstGeom>
          <a:ln w="12700">
            <a:noFill/>
            <a:prstDash val="solid"/>
          </a:ln>
        </p:spPr>
      </p:pic>
      <p:sp>
        <p:nvSpPr>
          <p:cNvPr id="26" name="AutoShape 2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27" name="Picture 27"/>
          <p:cNvPicPr>
            <a:picLocks noChangeAspect="1"/>
          </p:cNvPicPr>
          <p:nvPr/>
        </p:nvPicPr>
        <p:blipFill>
          <a:blip r:embed="rId7"/>
          <a:srcRect/>
          <a:stretch>
            <a:fillRect/>
          </a:stretch>
        </p:blipFill>
        <p:spPr>
          <a:xfrm>
            <a:off x="6868029" y="2039134"/>
            <a:ext cx="4297276" cy="2163791"/>
          </a:xfrm>
          <a:prstGeom prst="rect">
            <a:avLst/>
          </a:prstGeom>
          <a:ln w="12700">
            <a:noFill/>
            <a:prstDash val="solid"/>
          </a:ln>
        </p:spPr>
      </p:pic>
      <p:pic>
        <p:nvPicPr>
          <p:cNvPr id="28" name="Picture 28"/>
          <p:cNvPicPr>
            <a:picLocks noChangeAspect="1"/>
          </p:cNvPicPr>
          <p:nvPr/>
        </p:nvPicPr>
        <p:blipFill>
          <a:blip r:embed="rId8"/>
          <a:srcRect/>
          <a:stretch>
            <a:fillRect/>
          </a:stretch>
        </p:blipFill>
        <p:spPr>
          <a:xfrm>
            <a:off x="6801728" y="4313256"/>
            <a:ext cx="4429878" cy="226457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Infrastructure logicielle des grands modeles</a:t>
            </a:r>
            <a:r>
              <a:rPr lang="en-US" sz="255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 - </a:t>
            </a:r>
            <a:r>
              <a:rPr lang="en-US" sz="25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Concepts </a:t>
            </a:r>
            <a:r>
              <a:rPr lang="en-US" sz="255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cl</a:t>
            </a:r>
            <a:r>
              <a:rPr lang="en-US" altLang="en-US" sz="255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550">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255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rPr>
              <a:t> (2/2)</a:t>
            </a:r>
            <a:endParaRPr lang="en-US" sz="2550" b="0" i="0" u="none" strike="noStrike">
              <a:solidFill>
                <a:srgbClr val="262626"/>
              </a:solidFill>
              <a:latin typeface="Book Antiqua" panose="02040602050305030304"/>
              <a:ea typeface="Book Antiqua" panose="02040602050305030304"/>
              <a:cs typeface="Book Antiqua" panose="02040602050305030304"/>
              <a:sym typeface="Book Antiqua" panose="020406020503050303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grpSp>
        <p:nvGrpSpPr>
          <p:cNvPr id="6" name="Group 6"/>
          <p:cNvGrpSpPr/>
          <p:nvPr/>
        </p:nvGrpSpPr>
        <p:grpSpPr>
          <a:xfrm>
            <a:off x="160955" y="1135612"/>
            <a:ext cx="5850892" cy="5526082"/>
            <a:chOff x="160955" y="1135612"/>
            <a:chExt cx="5850892" cy="5526082"/>
          </a:xfrm>
        </p:grpSpPr>
        <p:grpSp>
          <p:nvGrpSpPr>
            <p:cNvPr id="7" name="Group 7"/>
            <p:cNvGrpSpPr/>
            <p:nvPr/>
          </p:nvGrpSpPr>
          <p:grpSpPr>
            <a:xfrm>
              <a:off x="160955" y="1135612"/>
              <a:ext cx="5850892" cy="2701097"/>
              <a:chOff x="160955" y="1135612"/>
              <a:chExt cx="5850892" cy="2701097"/>
            </a:xfrm>
          </p:grpSpPr>
          <p:sp>
            <p:nvSpPr>
              <p:cNvPr id="8" name="AutoShape 8"/>
              <p:cNvSpPr/>
              <p:nvPr/>
            </p:nvSpPr>
            <p:spPr>
              <a:xfrm>
                <a:off x="160955" y="1311942"/>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2493247" y="1135612"/>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26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Fondamentaux</a:t>
                </a:r>
                <a:endParaRPr lang="en-US" sz="1100"/>
              </a:p>
            </p:txBody>
          </p:sp>
        </p:grpSp>
        <p:grpSp>
          <p:nvGrpSpPr>
            <p:cNvPr id="10" name="Group 10"/>
            <p:cNvGrpSpPr/>
            <p:nvPr/>
          </p:nvGrpSpPr>
          <p:grpSpPr>
            <a:xfrm>
              <a:off x="160955" y="3960597"/>
              <a:ext cx="5850892" cy="2701097"/>
              <a:chOff x="160955" y="3960597"/>
              <a:chExt cx="5850892" cy="2701097"/>
            </a:xfrm>
          </p:grpSpPr>
          <p:sp>
            <p:nvSpPr>
              <p:cNvPr id="11" name="AutoShape 11"/>
              <p:cNvSpPr/>
              <p:nvPr/>
            </p:nvSpPr>
            <p:spPr>
              <a:xfrm>
                <a:off x="160955" y="4136927"/>
                <a:ext cx="5850892" cy="2524767"/>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2493247" y="3960597"/>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30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Algorithmes</a:t>
                </a:r>
                <a:endParaRPr lang="en-US" sz="1100"/>
              </a:p>
            </p:txBody>
          </p:sp>
        </p:grpSp>
      </p:grpSp>
      <p:grpSp>
        <p:nvGrpSpPr>
          <p:cNvPr id="13" name="Group 13"/>
          <p:cNvGrpSpPr/>
          <p:nvPr/>
        </p:nvGrpSpPr>
        <p:grpSpPr>
          <a:xfrm>
            <a:off x="6200149" y="1132554"/>
            <a:ext cx="5850892" cy="5526082"/>
            <a:chOff x="6200149" y="1132554"/>
            <a:chExt cx="5850892" cy="5526082"/>
          </a:xfrm>
        </p:grpSpPr>
        <p:sp>
          <p:nvSpPr>
            <p:cNvPr id="14" name="AutoShape 14"/>
            <p:cNvSpPr/>
            <p:nvPr/>
          </p:nvSpPr>
          <p:spPr>
            <a:xfrm>
              <a:off x="6200149" y="1308884"/>
              <a:ext cx="5850892" cy="5349752"/>
            </a:xfrm>
            <a:prstGeom prst="rect">
              <a:avLst/>
            </a:prstGeom>
            <a:no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8532441" y="1132554"/>
              <a:ext cx="1186308" cy="352659"/>
            </a:xfrm>
            <a:prstGeom prst="roundRect">
              <a:avLst>
                <a:gd name="adj" fmla="val 16666"/>
              </a:avLst>
            </a:prstGeom>
            <a:solidFill>
              <a:srgbClr val="8B0012">
                <a:alpha val="100000"/>
              </a:srgbClr>
            </a:solidFill>
            <a:ln w="127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315"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Systeme</a:t>
              </a:r>
              <a:endParaRPr lang="en-US" sz="1100"/>
            </a:p>
          </p:txBody>
        </p:sp>
      </p:grpSp>
      <p:sp>
        <p:nvSpPr>
          <p:cNvPr id="16" name="AutoShape 16"/>
          <p:cNvSpPr/>
          <p:nvPr/>
        </p:nvSpPr>
        <p:spPr>
          <a:xfrm>
            <a:off x="160955" y="1509151"/>
            <a:ext cx="5850891"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Features: Automation, Abstraction, Backend Portability</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Programming Model: Eager Execution v.s. Static Graph</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7" name="AutoShape 17"/>
          <p:cNvSpPr/>
          <p:nvPr/>
        </p:nvSpPr>
        <p:spPr>
          <a:xfrm>
            <a:off x="6227919" y="1528168"/>
            <a:ext cx="5823122"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Computation, Memory, and Communication Wall</a:t>
            </a:r>
            <a:endParaRPr lang="en-US" sz="1100"/>
          </a:p>
        </p:txBody>
      </p:sp>
      <p:sp>
        <p:nvSpPr>
          <p:cNvPr id="18" name="AutoShape 18"/>
          <p:cNvSpPr/>
          <p:nvPr/>
        </p:nvSpPr>
        <p:spPr>
          <a:xfrm>
            <a:off x="100329" y="4355991"/>
            <a:ext cx="5870888"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Runtime: Dynamicity at the inference time.</a:t>
            </a:r>
            <a:endParaRPr lang="en-US" sz="1100"/>
          </a:p>
          <a:p>
            <a:pPr indent="0" algn="ctr">
              <a:lnSpc>
                <a:spcPct val="100000"/>
              </a:lnSpc>
            </a:pPr>
            <a:r>
              <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Post-training: DPO, PPO, GRPO, and etc. </a:t>
            </a:r>
            <a:endParaRPr lang="en-US" sz="1240"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endParaRPr>
          </a:p>
        </p:txBody>
      </p:sp>
      <p:sp>
        <p:nvSpPr>
          <p:cNvPr id="19" name="AutoShape 19"/>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20" name="Picture 20"/>
          <p:cNvPicPr>
            <a:picLocks noChangeAspect="1"/>
          </p:cNvPicPr>
          <p:nvPr/>
        </p:nvPicPr>
        <p:blipFill>
          <a:blip r:embed="rId1"/>
          <a:srcRect/>
          <a:stretch>
            <a:fillRect/>
          </a:stretch>
        </p:blipFill>
        <p:spPr>
          <a:xfrm>
            <a:off x="3007066" y="2226174"/>
            <a:ext cx="2927400" cy="1562400"/>
          </a:xfrm>
          <a:prstGeom prst="rect">
            <a:avLst/>
          </a:prstGeom>
          <a:ln w="12700">
            <a:noFill/>
            <a:prstDash val="solid"/>
          </a:ln>
        </p:spPr>
      </p:pic>
      <p:pic>
        <p:nvPicPr>
          <p:cNvPr id="21" name="Picture 21"/>
          <p:cNvPicPr>
            <a:picLocks noChangeAspect="1"/>
          </p:cNvPicPr>
          <p:nvPr/>
        </p:nvPicPr>
        <p:blipFill>
          <a:blip r:embed="rId2"/>
          <a:srcRect/>
          <a:stretch>
            <a:fillRect/>
          </a:stretch>
        </p:blipFill>
        <p:spPr>
          <a:xfrm>
            <a:off x="328742" y="2412834"/>
            <a:ext cx="2559374" cy="1094649"/>
          </a:xfrm>
          <a:prstGeom prst="rect">
            <a:avLst/>
          </a:prstGeom>
          <a:ln w="12700">
            <a:noFill/>
            <a:prstDash val="solid"/>
          </a:ln>
        </p:spPr>
      </p:pic>
      <p:pic>
        <p:nvPicPr>
          <p:cNvPr id="22" name="Picture 22"/>
          <p:cNvPicPr>
            <a:picLocks noChangeAspect="1"/>
          </p:cNvPicPr>
          <p:nvPr/>
        </p:nvPicPr>
        <p:blipFill>
          <a:blip r:embed="rId3"/>
          <a:srcRect/>
          <a:stretch>
            <a:fillRect/>
          </a:stretch>
        </p:blipFill>
        <p:spPr>
          <a:xfrm>
            <a:off x="3931449" y="5277122"/>
            <a:ext cx="2067831" cy="954669"/>
          </a:xfrm>
          <a:prstGeom prst="rect">
            <a:avLst/>
          </a:prstGeom>
          <a:ln w="12700">
            <a:noFill/>
            <a:prstDash val="solid"/>
          </a:ln>
        </p:spPr>
      </p:pic>
      <p:pic>
        <p:nvPicPr>
          <p:cNvPr id="23" name="Picture 23"/>
          <p:cNvPicPr>
            <a:picLocks noChangeAspect="1"/>
          </p:cNvPicPr>
          <p:nvPr/>
        </p:nvPicPr>
        <p:blipFill>
          <a:blip r:embed="rId4"/>
          <a:srcRect/>
          <a:stretch>
            <a:fillRect/>
          </a:stretch>
        </p:blipFill>
        <p:spPr>
          <a:xfrm>
            <a:off x="287830" y="5033781"/>
            <a:ext cx="1481368" cy="531893"/>
          </a:xfrm>
          <a:prstGeom prst="rect">
            <a:avLst/>
          </a:prstGeom>
          <a:ln w="12700">
            <a:noFill/>
            <a:prstDash val="solid"/>
          </a:ln>
        </p:spPr>
      </p:pic>
      <p:pic>
        <p:nvPicPr>
          <p:cNvPr id="24" name="Picture 24"/>
          <p:cNvPicPr>
            <a:picLocks noChangeAspect="1"/>
          </p:cNvPicPr>
          <p:nvPr/>
        </p:nvPicPr>
        <p:blipFill>
          <a:blip r:embed="rId5"/>
          <a:srcRect t="1" r="20093" b="4026"/>
          <a:stretch>
            <a:fillRect/>
          </a:stretch>
        </p:blipFill>
        <p:spPr>
          <a:xfrm>
            <a:off x="1829823" y="5055155"/>
            <a:ext cx="2067831" cy="1337425"/>
          </a:xfrm>
          <a:prstGeom prst="rect">
            <a:avLst/>
          </a:prstGeom>
          <a:ln w="12700">
            <a:noFill/>
            <a:prstDash val="solid"/>
          </a:ln>
        </p:spPr>
      </p:pic>
      <p:pic>
        <p:nvPicPr>
          <p:cNvPr id="25" name="Picture 25"/>
          <p:cNvPicPr>
            <a:picLocks noChangeAspect="1"/>
          </p:cNvPicPr>
          <p:nvPr/>
        </p:nvPicPr>
        <p:blipFill>
          <a:blip r:embed="rId6"/>
          <a:srcRect/>
          <a:stretch>
            <a:fillRect/>
          </a:stretch>
        </p:blipFill>
        <p:spPr>
          <a:xfrm>
            <a:off x="287830" y="5690631"/>
            <a:ext cx="1481369" cy="735740"/>
          </a:xfrm>
          <a:prstGeom prst="rect">
            <a:avLst/>
          </a:prstGeom>
          <a:ln w="12700">
            <a:noFill/>
            <a:prstDash val="solid"/>
          </a:ln>
        </p:spPr>
      </p:pic>
      <p:sp>
        <p:nvSpPr>
          <p:cNvPr id="26" name="AutoShape 26"/>
          <p:cNvSpPr/>
          <p:nvPr/>
        </p:nvSpPr>
        <p:spPr>
          <a:xfrm>
            <a:off x="6096000" y="34290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pic>
        <p:nvPicPr>
          <p:cNvPr id="27" name="Picture 27"/>
          <p:cNvPicPr>
            <a:picLocks noChangeAspect="1"/>
          </p:cNvPicPr>
          <p:nvPr/>
        </p:nvPicPr>
        <p:blipFill>
          <a:blip r:embed="rId7"/>
          <a:srcRect/>
          <a:stretch>
            <a:fillRect/>
          </a:stretch>
        </p:blipFill>
        <p:spPr>
          <a:xfrm>
            <a:off x="6858499" y="4291248"/>
            <a:ext cx="4531268" cy="2346204"/>
          </a:xfrm>
          <a:prstGeom prst="rect">
            <a:avLst/>
          </a:prstGeom>
          <a:ln w="12700">
            <a:noFill/>
            <a:prstDash val="solid"/>
          </a:ln>
        </p:spPr>
      </p:pic>
      <p:pic>
        <p:nvPicPr>
          <p:cNvPr id="28" name="Picture 28"/>
          <p:cNvPicPr>
            <a:picLocks noChangeAspect="1"/>
          </p:cNvPicPr>
          <p:nvPr/>
        </p:nvPicPr>
        <p:blipFill>
          <a:blip r:embed="rId8"/>
          <a:srcRect/>
          <a:stretch>
            <a:fillRect/>
          </a:stretch>
        </p:blipFill>
        <p:spPr>
          <a:xfrm>
            <a:off x="7519356" y="1917786"/>
            <a:ext cx="3209555" cy="23954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PyTorch</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205230"/>
            <a:ext cx="1154176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310" b="0" i="0" u="none" strike="noStrike">
                <a:solidFill>
                  <a:srgbClr val="404040"/>
                </a:solidFill>
                <a:latin typeface="Calibri" panose="020F0502020204030204"/>
                <a:ea typeface="Calibri" panose="020F0502020204030204"/>
                <a:cs typeface="Calibri" panose="020F0502020204030204"/>
                <a:sym typeface="Calibri" panose="020F0502020204030204"/>
              </a:rPr>
              <a:t>PyTorch</a:t>
            </a:r>
            <a:r>
              <a:rPr 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biblioth</a:t>
            </a:r>
            <a:r>
              <a:rPr lang="en-US" altLang="en-US"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 open source de machine learning la plus populaire</a:t>
            </a:r>
            <a:endParaRPr lang="en-US" altLang="zh-CN" sz="2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Caractéristiques : définition de tenseurs, prise en charge du calcul accéléré par</a:t>
            </a:r>
            <a:r>
              <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différenciation automatique, support du compilateur</a:t>
            </a:r>
            <a:endParaRPr lang="en-US" sz="19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02355" y="2889333"/>
            <a:ext cx="3120105" cy="198552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3617595" y="2889250"/>
            <a:ext cx="8574405" cy="3467100"/>
          </a:xfrm>
          <a:prstGeom prst="rect">
            <a:avLst/>
          </a:prstGeom>
          <a:ln w="12700">
            <a:noFill/>
            <a:prstDash val="solid"/>
          </a:ln>
        </p:spPr>
      </p:pic>
      <p:sp>
        <p:nvSpPr>
          <p:cNvPr id="8" name="AutoShape 8"/>
          <p:cNvSpPr/>
          <p:nvPr/>
        </p:nvSpPr>
        <p:spPr>
          <a:xfrm>
            <a:off x="596960" y="5130850"/>
            <a:ext cx="2771023"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13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Autres cadres d'apprentissage automatique</a:t>
            </a:r>
            <a:endParaRPr lang="en-US" sz="1100"/>
          </a:p>
        </p:txBody>
      </p:sp>
      <p:sp>
        <p:nvSpPr>
          <p:cNvPr id="9" name="AutoShape 9"/>
          <p:cNvSpPr/>
          <p:nvPr/>
        </p:nvSpPr>
        <p:spPr>
          <a:xfrm>
            <a:off x="6431999" y="5690346"/>
            <a:ext cx="4473039"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395"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Numpy vs TensorFlow vs PyTorch</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PyTorch – Tensors </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https://medium.com/@vipinra79/understanding-tensors-in-pytorch-a-detailed-exploration-be51c735c2b1</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672084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Format de données :</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PyTorch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tableaux à N dimensions, similaires à</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dimensions dans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NumPy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ndarray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Mais</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torch.Tensor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prend en charge les</a:t>
            </a:r>
            <a:r>
              <a:rPr lang="en-US" sz="1755"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gradients</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a:t>
            </a:r>
            <a:r>
              <a:rPr lang="en-US" sz="1755"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drapeaux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périphérique</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support des gradients</a:t>
            </a: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 = torch.randn(1)</a:t>
            </a:r>
            <a:endPar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t.requires_grad_() </a:t>
            </a:r>
            <a:endPar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or </a:t>
            </a:r>
            <a:r>
              <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 = torch.randn(1, requires_grad=True)</a:t>
            </a:r>
            <a:endPar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Access the value: </a:t>
            </a:r>
            <a:r>
              <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t.data</a:t>
            </a:r>
            <a:endPar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Access the gradient: </a:t>
            </a:r>
            <a:r>
              <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t.grad</a:t>
            </a:r>
            <a:endParaRPr lang="en-US" sz="175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7485" b="5423"/>
          <a:stretch>
            <a:fillRect/>
          </a:stretch>
        </p:blipFill>
        <p:spPr>
          <a:xfrm>
            <a:off x="7244715" y="2329180"/>
            <a:ext cx="4764405" cy="23348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Programming</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PyTorch – Tensors </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5211446"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Format de données :</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endPar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PyTorch </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tableaux à N dimensions, similaires à</a:t>
            </a: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dimensions dans </a:t>
            </a: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 NumPy </a:t>
            </a: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 ndarray </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Mais</a:t>
            </a: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 torch.Tensor </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prend en charge les</a:t>
            </a:r>
            <a:r>
              <a:rPr lang="en-US" sz="1525"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gradients</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a:t>
            </a:r>
            <a:r>
              <a:rPr lang="en-US" sz="1525"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drapeaux </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périphérique</a:t>
            </a:r>
            <a:endPar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des appareils hétérogènes</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 = torch.randn(1)</a:t>
            </a:r>
            <a:endPar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t.to("gpu:1")</a:t>
            </a:r>
            <a:endPar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torch.cuda.is_available()</a:t>
            </a:r>
            <a:endPar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685800" lvl="2" indent="0" algn="l">
              <a:lnSpc>
                <a:spcPct val="100000"/>
              </a:lnSpc>
              <a:spcBef>
                <a:spcPts val="750"/>
              </a:spcBef>
            </a:pPr>
          </a:p>
          <a:p>
            <a:pPr marL="342900" lvl="1" indent="0" algn="l">
              <a:lnSpc>
                <a:spcPct val="100000"/>
              </a:lnSpc>
              <a:spcBef>
                <a:spcPts val="750"/>
              </a:spcBef>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torch-npu (</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Huawei Ascend</a:t>
            </a: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t.to("npu:0")</a:t>
            </a:r>
            <a:endPar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torch.npu.is_available()</a:t>
            </a:r>
            <a:endParaRPr lang="en-US" sz="1525"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indent="0" algn="l">
              <a:lnSpc>
                <a:spcPct val="100000"/>
              </a:lnSpc>
              <a:spcBef>
                <a:spcPts val="1500"/>
              </a:spcBef>
            </a:pP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735320" y="3750310"/>
            <a:ext cx="6694170" cy="1349375"/>
          </a:xfrm>
          <a:prstGeom prst="rect">
            <a:avLst/>
          </a:prstGeom>
          <a:noFill/>
          <a:ln w="12700">
            <a:noFill/>
            <a:prstDash val="solid"/>
          </a:ln>
        </p:spPr>
        <p:txBody>
          <a:bodyPr vert="horz" wrap="square" lIns="91440" tIns="45720" rIns="91440" bIns="45720" rtlCol="0" anchor="t">
            <a:normAutofit/>
          </a:bodyPr>
          <a:lstStyle/>
          <a:p>
            <a:pPr indent="0" algn="ctr">
              <a:lnSpc>
                <a:spcPct val="100000"/>
              </a:lnSpc>
              <a:spcBef>
                <a:spcPts val="1500"/>
              </a:spcBef>
              <a:defRP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distribué</a:t>
            </a:r>
            <a:endParaRPr lang="en-US" sz="1100"/>
          </a:p>
          <a:p>
            <a:pPr indent="0" algn="ctr">
              <a:lnSpc>
                <a:spcPct val="100000"/>
              </a:lnSpc>
              <a:spcBef>
                <a:spcPts val="1500"/>
              </a:spcBef>
            </a:pPr>
            <a:r>
              <a:rPr lang="en-US" sz="24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DTensor &amp; DeviceMesh</a:t>
            </a:r>
            <a:endParaRPr lang="en-US" sz="240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PyTorch – Autograd</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980" b="0" i="0" u="none" strike="noStrike">
                <a:solidFill>
                  <a:srgbClr val="404040"/>
                </a:solidFill>
                <a:latin typeface="Calibri" panose="020F0502020204030204"/>
                <a:ea typeface="Calibri" panose="020F0502020204030204"/>
                <a:cs typeface="Calibri" panose="020F0502020204030204"/>
                <a:sym typeface="Calibri" panose="020F0502020204030204"/>
              </a:rPr>
              <a:t>Autograd</a:t>
            </a:r>
            <a:r>
              <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Package de differentiation automatique</a:t>
            </a:r>
            <a:endPar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Derivees partielles, regle de la chaine et autres fonctions de derivation courantes</a:t>
            </a:r>
            <a:r>
              <a:rPr lang="en-US" sz="1650" b="0" i="0" u="none" strike="noStrike">
                <a:solidFill>
                  <a:srgbClr val="404040"/>
                </a:solidFill>
                <a:latin typeface="Calibri" panose="020F0502020204030204"/>
                <a:ea typeface="Calibri" panose="020F0502020204030204"/>
                <a:cs typeface="Calibri" panose="020F0502020204030204"/>
                <a:sym typeface="Calibri" panose="020F0502020204030204"/>
              </a:rPr>
              <a:t>   =&gt; </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appeler</a:t>
            </a:r>
            <a:r>
              <a:rPr lang="en-US" sz="1650" b="0" i="0" u="none" strike="noStrike">
                <a:solidFill>
                  <a:srgbClr val="404040"/>
                </a:solidFill>
                <a:latin typeface="Calibri" panose="020F0502020204030204"/>
                <a:ea typeface="Calibri" panose="020F0502020204030204"/>
                <a:cs typeface="Calibri" panose="020F0502020204030204"/>
                <a:sym typeface="Calibri" panose="020F0502020204030204"/>
              </a:rPr>
              <a:t> backward() </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a:t>
            </a:r>
            <a:endPar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gradients s'accumulent a chaque etape</a:t>
            </a:r>
            <a:r>
              <a:rPr lang="en-US" sz="1650" b="0" i="0" u="none" strike="noStrike">
                <a:solidFill>
                  <a:srgbClr val="404040"/>
                </a:solidFill>
                <a:latin typeface="Calibri" panose="020F0502020204030204"/>
                <a:ea typeface="Calibri" panose="020F0502020204030204"/>
                <a:cs typeface="Calibri" panose="020F0502020204030204"/>
                <a:sym typeface="Calibri" panose="020F0502020204030204"/>
              </a:rPr>
              <a:t> =&gt; </a:t>
            </a:r>
            <a:r>
              <a:rPr lang="en-US" sz="16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Reinitialiser les gradients apres mise a jour</a:t>
            </a:r>
            <a:r>
              <a:rPr lang="en-US" sz="1650" b="0" i="0" u="none" strike="noStrike">
                <a:solidFill>
                  <a:srgbClr val="404040"/>
                </a:solidFill>
                <a:latin typeface="Calibri" panose="020F0502020204030204"/>
                <a:ea typeface="Calibri" panose="020F0502020204030204"/>
                <a:cs typeface="Calibri" panose="020F0502020204030204"/>
                <a:sym typeface="Calibri" panose="020F0502020204030204"/>
              </a:rPr>
              <a:t> grad_zero()</a:t>
            </a:r>
            <a:endParaRPr lang="en-US" sz="16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a:t>
            </a:r>
            <a:endParaRPr lang="en-US" sz="19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x = torch.tensor(1., requires_grad = True)</a:t>
            </a:r>
            <a:endPar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w = torch.tensor(2., requires_grad = True)</a:t>
            </a:r>
            <a:endPar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b = torch.tensor(3., requires_grad = True)</a:t>
            </a:r>
            <a:endPar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y = w * x + b    </a:t>
            </a:r>
            <a:r>
              <a:rPr lang="en-US" sz="1650" b="0" i="0" u="none" strike="noStrike">
                <a:solidFill>
                  <a:srgbClr val="A5A5A5"/>
                </a:solidFill>
                <a:latin typeface="Courier New" panose="02070309020205020404"/>
                <a:ea typeface="Courier New" panose="02070309020205020404"/>
                <a:cs typeface="Courier New" panose="02070309020205020404"/>
                <a:sym typeface="Courier New" panose="02070309020205020404"/>
              </a:rPr>
              <a:t># y = 2 * x + 3</a:t>
            </a:r>
            <a:endParaRPr lang="en-US" sz="1650" b="0" i="0" u="none" strike="noStrike">
              <a:solidFill>
                <a:srgbClr val="A5A5A5"/>
              </a:solidFill>
              <a:latin typeface="Courier New" panose="02070309020205020404"/>
              <a:ea typeface="Courier New" panose="02070309020205020404"/>
              <a:cs typeface="Courier New" panose="02070309020205020404"/>
              <a:sym typeface="Courier New" panose="02070309020205020404"/>
            </a:endParaRPr>
          </a:p>
          <a:p>
            <a:pPr marL="596900" lvl="1" indent="-254000" algn="l">
              <a:lnSpc>
                <a:spcPct val="100000"/>
              </a:lnSpc>
              <a:spcBef>
                <a:spcPts val="750"/>
              </a:spcBef>
              <a:buClr>
                <a:srgbClr val="404040"/>
              </a:buClr>
              <a:buChar char="•"/>
            </a:pPr>
            <a:r>
              <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y.backward()</a:t>
            </a:r>
            <a:endPar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endParaR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1650" b="0" i="0" u="none" strike="noStrike">
                <a:solidFill>
                  <a:srgbClr val="404040"/>
                </a:solidFill>
                <a:latin typeface="Courier New" panose="02070309020205020404"/>
                <a:ea typeface="Courier New" panose="02070309020205020404"/>
                <a:cs typeface="Courier New" panose="02070309020205020404"/>
                <a:sym typeface="Courier New" panose="02070309020205020404"/>
              </a:rPr>
              <a:t>print(x.grad, w.grad, b.grad)   </a:t>
            </a:r>
            <a:r>
              <a:rPr lang="en-US" sz="1650" b="0" i="0" u="none" strike="noStrike">
                <a:solidFill>
                  <a:srgbClr val="A5A5A5"/>
                </a:solidFill>
                <a:latin typeface="Courier New" panose="02070309020205020404"/>
                <a:ea typeface="Courier New" panose="02070309020205020404"/>
                <a:cs typeface="Courier New" panose="02070309020205020404"/>
                <a:sym typeface="Courier New" panose="02070309020205020404"/>
              </a:rPr>
              <a:t># 2, 1, 1</a:t>
            </a:r>
            <a:endParaRPr lang="en-US" sz="1650" b="0" i="0" u="none" strike="noStrike">
              <a:solidFill>
                <a:srgbClr val="A5A5A5"/>
              </a:solidFill>
              <a:latin typeface="Courier New" panose="02070309020205020404"/>
              <a:ea typeface="Courier New" panose="02070309020205020404"/>
              <a:cs typeface="Courier New" panose="02070309020205020404"/>
              <a:sym typeface="Courier New" panose="02070309020205020404"/>
            </a:endParaRPr>
          </a:p>
          <a:p>
            <a:pPr marL="342900" lvl="1" indent="0" algn="l">
              <a:lnSpc>
                <a:spcPct val="100000"/>
              </a:lnSpc>
              <a:spcBef>
                <a:spcPts val="750"/>
              </a:spcBef>
            </a:pPr>
          </a:p>
          <a:p>
            <a:pPr indent="0" algn="l">
              <a:lnSpc>
                <a:spcPct val="100000"/>
              </a:lnSpc>
              <a:spcBef>
                <a:spcPts val="1500"/>
              </a:spcBef>
            </a:pPr>
            <a:r>
              <a:rPr lang="en-US" sz="198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8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PyTorch – </a:t>
            </a: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Details techniques</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 (1/5)</a:t>
            </a:r>
            <a:endPar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5342910"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L'activation d'une tache d'entrainement ou d'inference est tres simple. Mais qu'en est-il des performances ?</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ses debuts, </a:t>
            </a:r>
            <a:r>
              <a:rPr lang="en-US" sz="1460" b="0" i="0" u="none" strike="noStrike">
                <a:solidFill>
                  <a:srgbClr val="404040"/>
                </a:solidFill>
                <a:latin typeface="Calibri" panose="020F0502020204030204"/>
                <a:ea typeface="Calibri" panose="020F0502020204030204"/>
                <a:cs typeface="Calibri" panose="020F0502020204030204"/>
                <a:sym typeface="Calibri" panose="020F0502020204030204"/>
              </a:rPr>
              <a:t>PyTorch </a:t>
            </a: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avait pour principe de conception : la facilite d'utilisation prime sur les performances</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Avec l'augmentation de la puissance de calcul materielle :</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ctr">
              <a:lnSpc>
                <a:spcPct val="100000"/>
              </a:lnSpc>
              <a:spcBef>
                <a:spcPts val="750"/>
              </a:spcBef>
            </a:pPr>
            <a:r>
              <a:rPr lang="en-US" sz="146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performances, la portabilite et l'extensibilite deviennent de plus en plus importantes !</a:t>
            </a:r>
            <a:endParaRPr lang="en-US" sz="1460" b="0" i="0" u="sng"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PyTorch (2.0)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Flux de travail interne avance : (optimisation des performances)</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de la compilation</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Capture du graphe de calcul (obtention)</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Traduction du graphe de calcul</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Compilation du graphe de calcul</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866784" y="3680300"/>
            <a:ext cx="5139884" cy="2496515"/>
          </a:xfrm>
          <a:prstGeom prst="rect">
            <a:avLst/>
          </a:prstGeom>
          <a:ln w="12700">
            <a:noFill/>
            <a:prstDash val="solid"/>
          </a:ln>
        </p:spPr>
      </p:pic>
      <p:sp>
        <p:nvSpPr>
          <p:cNvPr id="7" name="AutoShape 7"/>
          <p:cNvSpPr/>
          <p:nvPr/>
        </p:nvSpPr>
        <p:spPr>
          <a:xfrm>
            <a:off x="7328435" y="6176816"/>
            <a:ext cx="310035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395"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PyTorch 2.0 </a:t>
            </a:r>
            <a:r>
              <a:rPr lang="en-US" sz="13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Backend</a:t>
            </a:r>
            <a:r>
              <a:rPr lang="en-US" sz="1395" b="0" i="0" u="none" strike="noStrike">
                <a:solidFill>
                  <a:srgbClr val="000000"/>
                </a:solidFill>
                <a:latin typeface="Book Antiqua" panose="02040602050305030304"/>
                <a:ea typeface="Book Antiqua" panose="02040602050305030304"/>
                <a:cs typeface="Book Antiqua" panose="02040602050305030304"/>
                <a:sym typeface="Book Antiqua" panose="020406020503050303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82454" y="3429000"/>
            <a:ext cx="4709546" cy="3143093"/>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PyTorch – </a:t>
            </a: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Details techniques</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 (2/5)</a:t>
            </a:r>
            <a:endPar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xfrm>
            <a:off x="523875" y="1323975"/>
            <a:ext cx="6958330" cy="4853305"/>
          </a:xfrm>
          <a:prstGeom prst="rect">
            <a:avLst/>
          </a:prstGeom>
        </p:spPr>
        <p:txBody>
          <a:bodyPr wrap="square" lIns="91440" tIns="45720" rIns="91440" bIns="45720" anchor="t">
            <a:normAutofit fontScale="80000"/>
          </a:bodyPr>
          <a:lstStyle>
            <a:lvl1pPr algn="l">
              <a:lnSpc>
                <a:spcPct val="150000"/>
              </a:lnSpc>
              <a:defRPr sz="2200" b="0" i="0" u="none" strike="noStrike" spc="0">
                <a:solidFill>
                  <a:srgbClr val="404040">
                    <a:alpha val="100000"/>
                  </a:srgbClr>
                </a:solidFill>
                <a:latin typeface="Book Antiqua" panose="02040602050305030304"/>
              </a:defRPr>
            </a:lvl1pPr>
          </a:lstStyle>
          <a:p>
            <a:pPr marL="279400" indent="-279400" algn="l">
              <a:lnSpc>
                <a:spcPct val="150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point d’entr</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unifi</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PyTorch 2.0 </a:t>
            </a: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14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 </a:t>
            </a:r>
            <a:r>
              <a:rPr lang="en-US" sz="214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torch.compile()</a:t>
            </a:r>
            <a:endParaRPr lang="en-US" sz="214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endParaRPr>
          </a:p>
          <a:p>
            <a:pPr marL="279400" indent="-279400" algn="l">
              <a:lnSpc>
                <a:spcPct val="150000"/>
              </a:lnSpc>
              <a:spcBef>
                <a:spcPts val="1500"/>
              </a:spcBef>
              <a:buClr>
                <a:srgbClr val="404040"/>
              </a:buClr>
              <a:buChar char="•"/>
            </a:pPr>
            <a:r>
              <a:rPr lang="en-US" sz="214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Torch Dynamo </a:t>
            </a: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la propagation avant)</a:t>
            </a:r>
            <a:endPar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Compilateur immediat (</a:t>
            </a:r>
            <a:r>
              <a:rPr lang="en-US" sz="185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JIT</a:t>
            </a: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l'extraction du graphe de calcul</a:t>
            </a: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Fournit un support plus flexible via bytecode et machine virtuelle</a:t>
            </a: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Lorsqu'un operateur non supporte est rencontre, un </a:t>
            </a:r>
            <a:r>
              <a:rPr lang="en-US" sz="185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rPr>
              <a:t> Graph Break </a:t>
            </a:r>
            <a:endParaRPr lang="en-US" sz="1850" b="0" i="0" u="none" strike="noStrike">
              <a:solidFill>
                <a:srgbClr val="404040"/>
              </a:solidFill>
              <a:latin typeface="Book Antiqua" panose="02040602050305030304"/>
              <a:ea typeface="Book Antiqua" panose="02040602050305030304"/>
              <a:cs typeface="Book Antiqua" panose="02040602050305030304"/>
              <a:sym typeface="Book Antiqua" panose="02040602050305030304"/>
            </a:endParaRPr>
          </a:p>
          <a:p>
            <a:pPr marL="584200" lvl="1" indent="-241300" algn="l">
              <a:lnSpc>
                <a:spcPct val="150000"/>
              </a:lnSpc>
              <a:spcBef>
                <a:spcPts val="750"/>
              </a:spcBef>
              <a:buClr>
                <a:srgbClr val="404040"/>
              </a:buClr>
              <a:buChar cha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 produit (en mode forme statique) :</a:t>
            </a: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01700" lvl="2" indent="-215900" algn="l">
              <a:lnSpc>
                <a:spcPct val="150000"/>
              </a:lnSpc>
              <a:spcBef>
                <a:spcPts val="750"/>
              </a:spcBef>
              <a:buClr>
                <a:srgbClr val="404040"/>
              </a:buClr>
              <a:buChar char="•"/>
            </a:pPr>
            <a:r>
              <a:rPr lang="en-US" sz="16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Incluant la forme du tenseur, le pas, le peripherique, etc.</a:t>
            </a:r>
            <a:endParaRPr lang="en-US" sz="16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calculs sur tenseurs avec dimensions dynamiques ne necessitent pas de recompilation</a:t>
            </a: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SzTx/>
              <a:buChar char="•"/>
            </a:pP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Book Antiqua" panose="02040602050305030304"/>
              </a:rPr>
              <a:t>AOTAutograd </a:t>
            </a: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l'extraction du graphe lors de la retropropagation</a:t>
            </a: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8028712" y="1144587"/>
            <a:ext cx="3772762" cy="213488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PyTorch - </a:t>
            </a: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Détails techniques</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 (3/5)</a:t>
            </a:r>
            <a:endPar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33500"/>
            <a:ext cx="6875780" cy="4843780"/>
          </a:xfrm>
          <a:prstGeom prst="rect">
            <a:avLst/>
          </a:prstGeom>
        </p:spPr>
        <p:txBody>
          <a:bodyPr wrap="square" lIns="91440" tIns="45720" rIns="91440" bIns="45720" anchor="t">
            <a:normAutofit fontScale="70000"/>
          </a:bodyPr>
          <a:lstStyle>
            <a:lvl1pPr algn="l">
              <a:lnSpc>
                <a:spcPct val="150000"/>
              </a:lnSpc>
              <a:defRPr sz="2200" b="0" i="0" u="none" strike="noStrike" spc="0">
                <a:solidFill>
                  <a:srgbClr val="404040">
                    <a:alpha val="100000"/>
                  </a:srgbClr>
                </a:solidFill>
                <a:latin typeface="Calibri" panose="020F0502020204030204"/>
              </a:defRPr>
            </a:lvl1pPr>
          </a:lstStyle>
          <a:p>
            <a:pPr marL="279400" indent="-279400" algn="l">
              <a:lnSpc>
                <a:spcPct val="150000"/>
              </a:lnSpc>
              <a:spcBef>
                <a:spcPts val="1500"/>
              </a:spcBef>
              <a:buClr>
                <a:srgbClr val="404040"/>
              </a:buClr>
              <a:buChar char="•"/>
            </a:pPr>
            <a:r>
              <a:rPr lang="en-US" altLang="zh-CN"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point d’entr</a:t>
            </a:r>
            <a:r>
              <a:rPr lang="en-US" alt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unifi</a:t>
            </a:r>
            <a:r>
              <a:rPr lang="en-US" alt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PyTorch 2.0 </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2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torch.compile()</a:t>
            </a:r>
            <a:endParaRPr lang="en-US" sz="22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endParaRPr>
          </a:p>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ATen/PrimIR</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ombre d'opérateurs de </a:t>
            </a:r>
            <a:r>
              <a:rPr lang="en-US" sz="2000">
                <a:solidFill>
                  <a:srgbClr val="404040"/>
                </a:solidFill>
                <a:latin typeface="Calibri" panose="020F0502020204030204"/>
                <a:ea typeface="Calibri" panose="020F0502020204030204"/>
                <a:cs typeface="Calibri" panose="020F0502020204030204"/>
                <a:sym typeface="Calibri" panose="020F0502020204030204"/>
              </a:rPr>
              <a:t>PyTorch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1200+</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(incluant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2000+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 surchargés)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 d'opérateurs de </a:t>
            </a:r>
            <a:r>
              <a:rPr lang="en-US" sz="2000">
                <a:solidFill>
                  <a:srgbClr val="404040"/>
                </a:solidFill>
                <a:latin typeface="Calibri" panose="020F0502020204030204"/>
                <a:ea typeface="Calibri" panose="020F0502020204030204"/>
                <a:cs typeface="Calibri" panose="020F0502020204030204"/>
                <a:sym typeface="Calibri" panose="020F0502020204030204"/>
              </a:rPr>
              <a:t>Prim IR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environ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250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(représentation de bas niveau)</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ombre d'opérateurs normalisés de  </a:t>
            </a:r>
            <a:r>
              <a:rPr lang="en-US" sz="2000">
                <a:solidFill>
                  <a:srgbClr val="404040"/>
                </a:solidFill>
                <a:latin typeface="Calibri" panose="020F0502020204030204"/>
                <a:ea typeface="Calibri" panose="020F0502020204030204"/>
                <a:cs typeface="Calibri" panose="020F0502020204030204"/>
                <a:sym typeface="Calibri" panose="020F0502020204030204"/>
              </a:rPr>
              <a:t>ATen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environ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750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5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ATen IR </a:t>
            </a:r>
            <a:r>
              <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 :</a:t>
            </a: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Adapté aux backends déjà intégrés</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ATen </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 niveau</a:t>
            </a: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Adapté aux backends qui ne peuvent pas retrouver </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leurs </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performances avec</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 Prim ops </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autres opérateurs de bas niveau</a:t>
            </a: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616537" y="1311941"/>
            <a:ext cx="4392756" cy="548776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7284508"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3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rPr>
              <a:t>PyTorch - </a:t>
            </a:r>
            <a:r>
              <a:rPr lang="en-US" sz="233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Détails techniques</a:t>
            </a:r>
            <a:r>
              <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rPr>
              <a:t> (4/5)</a:t>
            </a:r>
            <a:endParaRPr lang="en-US" sz="233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7502038" cy="4852988"/>
          </a:xfrm>
          <a:prstGeom prst="rect">
            <a:avLst/>
          </a:prstGeom>
        </p:spPr>
        <p:txBody>
          <a:bodyPr wrap="square" lIns="91440" tIns="45720" rIns="91440" bIns="45720" anchor="t">
            <a:normAutofit fontScale="90000"/>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altLang="zh-CN" sz="2000">
                <a:solidFill>
                  <a:srgbClr val="404040"/>
                </a:solidFill>
                <a:ea typeface="微软雅黑" panose="020B0503020204020204" charset="-122"/>
                <a:cs typeface="微软雅黑" panose="020B0503020204020204" charset="-122"/>
                <a:sym typeface="微软雅黑" panose="020B0503020204020204" charset="-122"/>
              </a:rPr>
              <a:t>Le point d’entr</a:t>
            </a:r>
            <a:r>
              <a:rPr lang="en-US" altLang="en-US" sz="2000">
                <a:solidFill>
                  <a:srgbClr val="404040"/>
                </a:solidFill>
                <a:ea typeface="微软雅黑" panose="020B0503020204020204" charset="-122"/>
                <a:cs typeface="微软雅黑" panose="020B0503020204020204" charset="-122"/>
                <a:sym typeface="微软雅黑" panose="020B0503020204020204" charset="-122"/>
              </a:rPr>
              <a:t>é</a:t>
            </a:r>
            <a:r>
              <a:rPr lang="en-US" altLang="zh-CN" sz="2000">
                <a:solidFill>
                  <a:srgbClr val="404040"/>
                </a:solidFill>
                <a:ea typeface="微软雅黑" panose="020B0503020204020204" charset="-122"/>
                <a:cs typeface="微软雅黑" panose="020B0503020204020204" charset="-122"/>
                <a:sym typeface="微软雅黑" panose="020B0503020204020204" charset="-122"/>
              </a:rPr>
              <a:t>e unifi</a:t>
            </a:r>
            <a:r>
              <a:rPr lang="en-US" altLang="en-US" sz="2000">
                <a:solidFill>
                  <a:srgbClr val="404040"/>
                </a:solidFill>
                <a:ea typeface="微软雅黑" panose="020B0503020204020204" charset="-122"/>
                <a:cs typeface="微软雅黑" panose="020B0503020204020204" charset="-122"/>
                <a:sym typeface="微软雅黑" panose="020B0503020204020204" charset="-122"/>
              </a:rPr>
              <a:t>é</a:t>
            </a:r>
            <a:r>
              <a:rPr lang="en-US" altLang="zh-CN" sz="2000">
                <a:solidFill>
                  <a:srgbClr val="404040"/>
                </a:solidFill>
                <a:ea typeface="微软雅黑" panose="020B0503020204020204" charset="-122"/>
                <a:cs typeface="微软雅黑" panose="020B0503020204020204" charset="-122"/>
                <a:sym typeface="微软雅黑" panose="020B0503020204020204" charset="-122"/>
              </a:rPr>
              <a:t> de PyTorch 2.0</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torch.compile()</a:t>
            </a:r>
            <a:endParaRPr lang="en-US" sz="20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endParaRPr>
          </a:p>
          <a:p>
            <a:pPr marL="279400" indent="-2794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TorchInductor avec OpenAI Triton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50000"/>
              </a:lnSpc>
              <a:spcBef>
                <a:spcPts val="75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Backend compilateur par défaut</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Python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natif et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PyTorch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prioritaire</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Niveau boucle</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TorchInductor IR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contient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54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 primitifs</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Définition à l'exécution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IR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 du code</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Python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exécutable pour définir les corps de boucle</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Sympy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 traitement des formes dynamiques</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 : principalement pour la fusion d'opérateurs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Génération de code : support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Triton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wrappers.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025912" y="958583"/>
            <a:ext cx="4097867" cy="285499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100223" y="3840163"/>
            <a:ext cx="3949243" cy="24264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Cadre de programmation :</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PyTorch - </a:t>
            </a:r>
            <a:r>
              <a:rPr 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Détails techniques</a:t>
            </a:r>
            <a:r>
              <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rPr>
              <a:t> (5/5)</a:t>
            </a:r>
            <a:endParaRPr lang="en-US" sz="268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Évaluation de </a:t>
            </a:r>
            <a:r>
              <a:rPr lang="en-US">
                <a:solidFill>
                  <a:srgbClr val="404040"/>
                </a:solidFill>
                <a:ea typeface="Calibri" panose="020F0502020204030204"/>
                <a:cs typeface="Calibri" panose="020F0502020204030204"/>
                <a:sym typeface="Calibri" panose="020F0502020204030204"/>
              </a:rPr>
              <a:t>PyTorch 2.0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Meilleures performances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des formes dynamiques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de modèles plus large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523874" y="3194700"/>
            <a:ext cx="4913285" cy="333401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289897" y="1190118"/>
            <a:ext cx="4953691" cy="535379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4</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Introduction au langage </a:t>
            </a:r>
            <a:r>
              <a:rPr lang="en-US">
                <a:solidFill>
                  <a:srgbClr val="262626"/>
                </a:solidFill>
                <a:latin typeface="Calibri" panose="020F0502020204030204"/>
                <a:ea typeface="Calibri" panose="020F0502020204030204"/>
                <a:cs typeface="Calibri" panose="020F0502020204030204"/>
                <a:sym typeface="Calibri" panose="020F0502020204030204"/>
              </a:rPr>
              <a:t>Triton</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Programmation </a:t>
            </a:r>
            <a:r>
              <a:rPr lang="en-US" sz="2180">
                <a:solidFill>
                  <a:srgbClr val="262626"/>
                </a:solidFill>
                <a:ea typeface="Calibri" panose="020F0502020204030204"/>
                <a:cs typeface="Calibri" panose="020F0502020204030204"/>
                <a:sym typeface="Calibri" panose="020F0502020204030204"/>
              </a:rPr>
              <a:t>Triton </a:t>
            </a:r>
            <a:r>
              <a:rPr lang="en-US"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en-US" sz="1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crire des kernels GPU haute performance dans un style Python</a:t>
            </a:r>
            <a:endParaRPr lang="en-US" altLang="zh-CN" sz="12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a:t>
            </a:r>
            <a:endPar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Le fossé entre la haute productivité de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Python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et les hautes performances de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CUDA C++ </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un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DSL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embarqué et un compilateur pour écrire des opérateurs d'apprentissage profond personnalisés efficaces</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 permettre aux développeurs d'écrire des algorithmes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basés sur les blocs</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 pouvant rivaliser avec du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CUDA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optimisé manuellement</a:t>
            </a:r>
            <a:endPar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altLang="zh-CN"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opposition à l’approche “par threads” ; </a:t>
            </a:r>
            <a:r>
              <a:rPr lang="en-US" altLang="en-US"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galement appel</a:t>
            </a:r>
            <a:r>
              <a:rPr lang="en-US" altLang="en-US"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“centr</a:t>
            </a:r>
            <a:r>
              <a:rPr lang="en-US" altLang="en-US"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bloc</a:t>
            </a:r>
            <a:r>
              <a:rPr lang="en-US"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3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Contenu du cours :</a:t>
            </a:r>
            <a:endParaRPr lang="en-US" sz="20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Philosophie de conception de </a:t>
            </a:r>
            <a:r>
              <a:rPr lang="en-US" sz="1685">
                <a:solidFill>
                  <a:srgbClr val="404040"/>
                </a:solidFill>
                <a:latin typeface="Calibri" panose="020F0502020204030204"/>
                <a:ea typeface="Calibri" panose="020F0502020204030204"/>
                <a:cs typeface="Calibri" panose="020F0502020204030204"/>
                <a:sym typeface="Calibri" panose="020F0502020204030204"/>
              </a:rPr>
              <a:t>Triton </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pourquoi ne pas utiliser directement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CUDA</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 d'exécution : comprendre les grilles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Grid</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programmes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Program</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Blocs de base : maîtriser la programmation basée sur les blocs et l'arithmétique des pointeurs.</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Pratique : définir et lancer votre première fonction de noyau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@triton.jit </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Triton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nvSpPr>
        <p:spPr>
          <a:xfrm>
            <a:off x="3849408" y="1365267"/>
            <a:ext cx="6634442" cy="1476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360" b="0" i="0" u="none" strike="noStrike">
                <a:solidFill>
                  <a:srgbClr val="20B5C2"/>
                </a:solidFill>
                <a:highlight>
                  <a:srgbClr val="FCFCFC">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Triton</a:t>
            </a:r>
            <a:r>
              <a:rPr lang="en-US" sz="1360" b="0" i="0" u="none" strike="noStrike">
                <a:solidFill>
                  <a:srgbClr val="2980B9"/>
                </a:solidFill>
                <a:highlight>
                  <a:srgbClr val="FCFCFC">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 </a:t>
            </a:r>
            <a:r>
              <a:rPr lang="en-US" sz="1360" b="0" i="0" u="none" strike="noStrike">
                <a:solidFill>
                  <a:srgbClr val="404040"/>
                </a:solidFill>
                <a:highlight>
                  <a:srgbClr val="FCFCFC">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est un langage ne pour la programmation parallele</a:t>
            </a:r>
            <a:r>
              <a:rPr lang="en-US" sz="1360" b="0" i="0" u="none" strike="noStrike">
                <a:solidFill>
                  <a:srgbClr val="404040"/>
                </a:solidFill>
                <a:highlight>
                  <a:srgbClr val="FCFCFC">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 et egalement un</a:t>
            </a:r>
            <a:r>
              <a:rPr lang="en-US" sz="1360" b="1" i="0" u="none" strike="noStrike">
                <a:solidFill>
                  <a:srgbClr val="C00000"/>
                </a:solidFill>
                <a:highlight>
                  <a:srgbClr val="FCFCFC">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compilateur</a:t>
            </a:r>
            <a:r>
              <a:rPr lang="en-US" sz="1360" b="0" i="0" u="none" strike="noStrike">
                <a:solidFill>
                  <a:srgbClr val="404040"/>
                </a:solidFill>
                <a:highlight>
                  <a:srgbClr val="FCFCFC">
                    <a:alpha val="100000"/>
                  </a:srgbClr>
                </a:highlight>
                <a:latin typeface="Calibri" panose="020F0502020204030204"/>
                <a:ea typeface="微软雅黑" panose="020B0503020204020204" charset="-122"/>
                <a:cs typeface="微软雅黑" panose="020B0503020204020204" charset="-122"/>
                <a:sym typeface="微软雅黑" panose="020B0503020204020204" charset="-122"/>
              </a:rPr>
              <a:t>, triton vise a fournir un environnement de programmation base sur Python, permettant d'ecrire efficacement des noyaux de calcul DNN personnalises, afin qu'ils puissent s'executer avec un debit maximal sur le materiel GPU moderne</a:t>
            </a:r>
            <a:endParaRPr lang="en-US" sz="1100"/>
          </a:p>
          <a:p>
            <a:pPr indent="0" algn="l">
              <a:lnSpc>
                <a:spcPct val="100000"/>
              </a:lnSpc>
            </a:pPr>
            <a:r>
              <a:rPr lang="en-US" sz="136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36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pic>
        <p:nvPicPr>
          <p:cNvPr id="6" name="Picture 6"/>
          <p:cNvPicPr>
            <a:picLocks noChangeAspect="1"/>
          </p:cNvPicPr>
          <p:nvPr/>
        </p:nvPicPr>
        <p:blipFill>
          <a:blip r:embed="rId1"/>
          <a:srcRect r="831" b="10333"/>
          <a:stretch>
            <a:fillRect/>
          </a:stretch>
        </p:blipFill>
        <p:spPr>
          <a:xfrm>
            <a:off x="1510167" y="2703943"/>
            <a:ext cx="9646868" cy="3703006"/>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266190" y="1186815"/>
            <a:ext cx="1286510" cy="14630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Triton vs </a:t>
            </a:r>
            <a:r>
              <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autres modeles de programmation open source</a:t>
            </a:r>
            <a:endPar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nvSpPr>
        <p:spPr>
          <a:xfrm>
            <a:off x="5748030" y="2316787"/>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MLIR</a:t>
            </a:r>
            <a:endParaRPr lang="en-US" sz="1100"/>
          </a:p>
        </p:txBody>
      </p:sp>
      <p:sp>
        <p:nvSpPr>
          <p:cNvPr id="6" name="AutoShape 6"/>
          <p:cNvSpPr/>
          <p:nvPr/>
        </p:nvSpPr>
        <p:spPr>
          <a:xfrm>
            <a:off x="62865" y="4999355"/>
            <a:ext cx="8847455" cy="1443355"/>
          </a:xfrm>
          <a:prstGeom prst="rect">
            <a:avLst/>
          </a:prstGeom>
          <a:noFill/>
          <a:ln w="12700">
            <a:noFill/>
            <a:prstDash val="solid"/>
          </a:ln>
        </p:spPr>
        <p:txBody>
          <a:bodyPr wrap="square" lIns="91440" tIns="45720" rIns="91440" bIns="45720" rtlCol="0" anchor="t">
            <a:noAutofit/>
          </a:bodyPr>
          <a:lstStyle/>
          <a:p>
            <a:pPr marL="203200" indent="-203200" algn="l">
              <a:lnSpc>
                <a:spcPct val="100000"/>
              </a:lnSpc>
              <a:spcBef>
                <a:spcPts val="1000"/>
              </a:spcBef>
              <a:buClr>
                <a:srgbClr val="404040"/>
              </a:buClr>
              <a:buChar char="•"/>
              <a:defRP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rit</a:t>
            </a:r>
            <a:r>
              <a:rPr lang="en-US" alt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d’</a:t>
            </a:r>
            <a:r>
              <a:rPr lang="en-US" alt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a:t>
            </a:r>
            <a:endParaRPr lang="en-US" sz="1200"/>
          </a:p>
          <a:p>
            <a:pPr marL="660400" lvl="1" indent="-203200" algn="l">
              <a:lnSpc>
                <a:spcPct val="100000"/>
              </a:lnSpc>
              <a:spcBef>
                <a:spcPts val="50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Avancee architecturale : </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degr</a:t>
            </a:r>
            <a:r>
              <a:rPr lang="en-US" alt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d’avancement technologique et d’excellence de l’architecture logicielle.</a:t>
            </a:r>
            <a:endPar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60400" lvl="1" indent="-203200" algn="l">
              <a:lnSpc>
                <a:spcPct val="100000"/>
              </a:lnSpc>
              <a:spcBef>
                <a:spcPts val="50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Efficacite d'implementation : implementation efficace des operateurs importants et complexes, performance egale ou superieure a l'optimisation manuelle</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60400" lvl="1" indent="-203200" algn="l">
              <a:lnSpc>
                <a:spcPct val="100000"/>
              </a:lnSpc>
              <a:spcBef>
                <a:spcPts val="50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Qualite d'implementation : </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qualit</a:t>
            </a:r>
            <a:r>
              <a:rPr lang="en-US" alt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l’infrastructure</a:t>
            </a: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logicielle pour </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diffusion ult</a:t>
            </a:r>
            <a:r>
              <a:rPr lang="en-US" alt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 et un d</a:t>
            </a:r>
            <a:r>
              <a:rPr lang="en-US" alt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secondaire.</a:t>
            </a:r>
            <a:endParaRPr lang="en-US" altLang="zh-CN"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60400" lvl="1" indent="-203200" algn="l">
              <a:lnSpc>
                <a:spcPct val="100000"/>
              </a:lnSpc>
              <a:spcBef>
                <a:spcPts val="50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Facilite de programmation : reduction de la difficulte de programmation, amelioration de la productivite</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60400" lvl="1" indent="-203200" algn="l">
              <a:lnSpc>
                <a:spcPct val="100000"/>
              </a:lnSpc>
              <a:spcBef>
                <a:spcPts val="500"/>
              </a:spcBef>
              <a:buClr>
                <a:srgbClr val="404040"/>
              </a:buClr>
              <a:buChar char="•"/>
            </a:pPr>
            <a:r>
              <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Adaptabilite : applicabilite aux differents frameworks, etendue de l'ecosysteme superieur</a:t>
            </a:r>
            <a:endParaRPr lang="en-US" sz="1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1714041" y="956108"/>
            <a:ext cx="78930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Triton</a:t>
            </a:r>
            <a:endParaRPr lang="en-US" sz="1100"/>
          </a:p>
        </p:txBody>
      </p:sp>
      <p:sp>
        <p:nvSpPr>
          <p:cNvPr id="8" name="AutoShape 8"/>
          <p:cNvSpPr/>
          <p:nvPr/>
        </p:nvSpPr>
        <p:spPr>
          <a:xfrm>
            <a:off x="5207785" y="945820"/>
            <a:ext cx="10769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OpenXLA</a:t>
            </a:r>
            <a:endParaRPr lang="en-US" sz="1100"/>
          </a:p>
        </p:txBody>
      </p:sp>
      <p:sp>
        <p:nvSpPr>
          <p:cNvPr id="9" name="AutoShape 9"/>
          <p:cNvSpPr/>
          <p:nvPr/>
        </p:nvSpPr>
        <p:spPr>
          <a:xfrm>
            <a:off x="9177323" y="945820"/>
            <a:ext cx="6648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95" b="0" i="0" u="none" strike="noStrike">
                <a:solidFill>
                  <a:srgbClr val="000000"/>
                </a:solidFill>
                <a:latin typeface="Calibri" panose="020F0502020204030204"/>
                <a:ea typeface="Arial" panose="020B0604020202020204"/>
                <a:cs typeface="Arial" panose="020B0604020202020204"/>
                <a:sym typeface="Arial" panose="020B0604020202020204"/>
              </a:rPr>
              <a:t>Mojo</a:t>
            </a:r>
            <a:endParaRPr lang="en-US" sz="1100"/>
          </a:p>
        </p:txBody>
      </p:sp>
      <p:sp>
        <p:nvSpPr>
          <p:cNvPr id="10" name="AutoShape 10"/>
          <p:cNvSpPr/>
          <p:nvPr/>
        </p:nvSpPr>
        <p:spPr>
          <a:xfrm>
            <a:off x="4449093" y="1600769"/>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Pytorch</a:t>
            </a:r>
            <a:endParaRPr lang="en-US" sz="1100"/>
          </a:p>
        </p:txBody>
      </p:sp>
      <p:sp>
        <p:nvSpPr>
          <p:cNvPr id="11" name="AutoShape 11"/>
          <p:cNvSpPr/>
          <p:nvPr/>
        </p:nvSpPr>
        <p:spPr>
          <a:xfrm>
            <a:off x="5660833"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TF</a:t>
            </a:r>
            <a:endParaRPr lang="en-US" sz="1100"/>
          </a:p>
        </p:txBody>
      </p:sp>
      <p:sp>
        <p:nvSpPr>
          <p:cNvPr id="12" name="AutoShape 12"/>
          <p:cNvSpPr/>
          <p:nvPr/>
        </p:nvSpPr>
        <p:spPr>
          <a:xfrm>
            <a:off x="6619578"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JAX</a:t>
            </a:r>
            <a:endParaRPr lang="en-US" sz="1100"/>
          </a:p>
        </p:txBody>
      </p:sp>
      <p:sp>
        <p:nvSpPr>
          <p:cNvPr id="13" name="AutoShape 13"/>
          <p:cNvSpPr/>
          <p:nvPr/>
        </p:nvSpPr>
        <p:spPr>
          <a:xfrm>
            <a:off x="4594951" y="2177365"/>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OpenXLA</a:t>
            </a:r>
            <a:endParaRPr lang="en-US" sz="1100"/>
          </a:p>
        </p:txBody>
      </p:sp>
      <p:sp>
        <p:nvSpPr>
          <p:cNvPr id="14" name="AutoShape 14"/>
          <p:cNvSpPr/>
          <p:nvPr/>
        </p:nvSpPr>
        <p:spPr>
          <a:xfrm>
            <a:off x="4449093" y="2825427"/>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GPU</a:t>
            </a:r>
            <a:endParaRPr lang="en-US" sz="1100"/>
          </a:p>
        </p:txBody>
      </p:sp>
      <p:sp>
        <p:nvSpPr>
          <p:cNvPr id="15" name="AutoShape 15"/>
          <p:cNvSpPr/>
          <p:nvPr/>
        </p:nvSpPr>
        <p:spPr>
          <a:xfrm>
            <a:off x="5660832" y="2825427"/>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TPU</a:t>
            </a:r>
            <a:endParaRPr lang="en-US" sz="1100"/>
          </a:p>
        </p:txBody>
      </p:sp>
      <p:sp>
        <p:nvSpPr>
          <p:cNvPr id="16" name="AutoShape 16"/>
          <p:cNvSpPr/>
          <p:nvPr/>
        </p:nvSpPr>
        <p:spPr>
          <a:xfrm>
            <a:off x="6619578" y="2814820"/>
            <a:ext cx="870333"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CPU</a:t>
            </a:r>
            <a:endParaRPr lang="en-US" sz="1100"/>
          </a:p>
        </p:txBody>
      </p:sp>
      <p:cxnSp>
        <p:nvCxnSpPr>
          <p:cNvPr id="17" name="Connector 17"/>
          <p:cNvCxnSpPr/>
          <p:nvPr/>
        </p:nvCxnSpPr>
        <p:spPr>
          <a:xfrm rot="10800000" flipV="1">
            <a:off x="5697901" y="1909241"/>
            <a:ext cx="398099"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18" name="Connector 18"/>
          <p:cNvCxnSpPr/>
          <p:nvPr/>
        </p:nvCxnSpPr>
        <p:spPr>
          <a:xfrm>
            <a:off x="5010757" y="1909241"/>
            <a:ext cx="6871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19" name="Connector 19"/>
          <p:cNvCxnSpPr/>
          <p:nvPr/>
        </p:nvCxnSpPr>
        <p:spPr>
          <a:xfrm rot="10800000" flipV="1">
            <a:off x="5697901" y="1909241"/>
            <a:ext cx="13568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20" name="Connector 20"/>
          <p:cNvCxnSpPr/>
          <p:nvPr/>
        </p:nvCxnSpPr>
        <p:spPr>
          <a:xfrm rot="10800000" flipV="1">
            <a:off x="5010757" y="2546696"/>
            <a:ext cx="687144"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id="21" name="Connector 21"/>
          <p:cNvCxnSpPr/>
          <p:nvPr/>
        </p:nvCxnSpPr>
        <p:spPr>
          <a:xfrm>
            <a:off x="5697901" y="2546696"/>
            <a:ext cx="398098"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id="22" name="Connector 22"/>
          <p:cNvCxnSpPr/>
          <p:nvPr/>
        </p:nvCxnSpPr>
        <p:spPr>
          <a:xfrm>
            <a:off x="5697901" y="2546696"/>
            <a:ext cx="1356844" cy="268124"/>
          </a:xfrm>
          <a:prstGeom prst="straightConnector1">
            <a:avLst/>
          </a:prstGeom>
          <a:noFill/>
          <a:ln w="12700" cap="flat">
            <a:solidFill>
              <a:srgbClr val="4472C4">
                <a:alpha val="100000"/>
              </a:srgbClr>
            </a:solidFill>
            <a:prstDash val="solid"/>
            <a:headEnd type="none" w="med" len="med"/>
            <a:tailEnd type="triangle" w="med" len="med"/>
          </a:ln>
        </p:spPr>
      </p:cxnSp>
      <p:sp>
        <p:nvSpPr>
          <p:cNvPr id="23" name="AutoShape 23"/>
          <p:cNvSpPr/>
          <p:nvPr/>
        </p:nvSpPr>
        <p:spPr>
          <a:xfrm>
            <a:off x="2090217"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MLIR</a:t>
            </a:r>
            <a:endParaRPr lang="en-US" sz="1100"/>
          </a:p>
        </p:txBody>
      </p:sp>
      <p:sp>
        <p:nvSpPr>
          <p:cNvPr id="24" name="AutoShape 24"/>
          <p:cNvSpPr/>
          <p:nvPr/>
        </p:nvSpPr>
        <p:spPr>
          <a:xfrm>
            <a:off x="1528553" y="1600769"/>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Pytorch</a:t>
            </a:r>
            <a:endParaRPr lang="en-US" sz="1100"/>
          </a:p>
        </p:txBody>
      </p:sp>
      <p:sp>
        <p:nvSpPr>
          <p:cNvPr id="25" name="AutoShape 25"/>
          <p:cNvSpPr/>
          <p:nvPr/>
        </p:nvSpPr>
        <p:spPr>
          <a:xfrm>
            <a:off x="937138"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Triton</a:t>
            </a:r>
            <a:endParaRPr lang="en-US" sz="1100"/>
          </a:p>
        </p:txBody>
      </p:sp>
      <p:sp>
        <p:nvSpPr>
          <p:cNvPr id="26" name="AutoShape 26"/>
          <p:cNvSpPr/>
          <p:nvPr/>
        </p:nvSpPr>
        <p:spPr>
          <a:xfrm>
            <a:off x="1432193" y="2814820"/>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GPU</a:t>
            </a:r>
            <a:endParaRPr lang="en-US" sz="1100"/>
          </a:p>
        </p:txBody>
      </p:sp>
      <p:cxnSp>
        <p:nvCxnSpPr>
          <p:cNvPr id="27" name="Connector 27"/>
          <p:cNvCxnSpPr/>
          <p:nvPr/>
        </p:nvCxnSpPr>
        <p:spPr>
          <a:xfrm rot="10800000" flipV="1">
            <a:off x="2040088" y="1909241"/>
            <a:ext cx="50129" cy="257517"/>
          </a:xfrm>
          <a:prstGeom prst="straightConnector1">
            <a:avLst/>
          </a:prstGeom>
          <a:noFill/>
          <a:ln w="12700" cap="flat">
            <a:solidFill>
              <a:srgbClr val="4472C4">
                <a:alpha val="100000"/>
              </a:srgbClr>
            </a:solidFill>
            <a:prstDash val="solid"/>
            <a:headEnd type="none" w="med" len="med"/>
            <a:tailEnd type="triangle" w="med" len="med"/>
          </a:ln>
        </p:spPr>
      </p:cxnSp>
      <p:cxnSp>
        <p:nvCxnSpPr>
          <p:cNvPr id="28" name="Connector 28"/>
          <p:cNvCxnSpPr/>
          <p:nvPr/>
        </p:nvCxnSpPr>
        <p:spPr>
          <a:xfrm rot="10800000" flipV="1">
            <a:off x="1993857" y="2536089"/>
            <a:ext cx="46231" cy="278731"/>
          </a:xfrm>
          <a:prstGeom prst="straightConnector1">
            <a:avLst/>
          </a:prstGeom>
          <a:noFill/>
          <a:ln w="12700" cap="flat">
            <a:solidFill>
              <a:srgbClr val="4472C4">
                <a:alpha val="100000"/>
              </a:srgbClr>
            </a:solidFill>
            <a:prstDash val="solid"/>
            <a:headEnd type="none" w="med" len="med"/>
            <a:tailEnd type="triangle" w="med" len="med"/>
          </a:ln>
        </p:spPr>
      </p:cxnSp>
      <p:sp>
        <p:nvSpPr>
          <p:cNvPr id="29" name="AutoShape 29"/>
          <p:cNvSpPr/>
          <p:nvPr/>
        </p:nvSpPr>
        <p:spPr>
          <a:xfrm>
            <a:off x="9821649"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MLIR</a:t>
            </a:r>
            <a:endParaRPr lang="en-US" sz="1100"/>
          </a:p>
        </p:txBody>
      </p:sp>
      <p:sp>
        <p:nvSpPr>
          <p:cNvPr id="30" name="AutoShape 30"/>
          <p:cNvSpPr/>
          <p:nvPr/>
        </p:nvSpPr>
        <p:spPr>
          <a:xfrm>
            <a:off x="8668570"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Mojo</a:t>
            </a:r>
            <a:endParaRPr lang="en-US" sz="1100"/>
          </a:p>
        </p:txBody>
      </p:sp>
      <p:sp>
        <p:nvSpPr>
          <p:cNvPr id="31" name="AutoShape 31"/>
          <p:cNvSpPr/>
          <p:nvPr/>
        </p:nvSpPr>
        <p:spPr>
          <a:xfrm>
            <a:off x="8507403" y="2823700"/>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GPU</a:t>
            </a:r>
            <a:endParaRPr lang="en-US" sz="1100"/>
          </a:p>
        </p:txBody>
      </p:sp>
      <p:sp>
        <p:nvSpPr>
          <p:cNvPr id="32" name="AutoShape 32"/>
          <p:cNvSpPr/>
          <p:nvPr/>
        </p:nvSpPr>
        <p:spPr>
          <a:xfrm>
            <a:off x="9719142" y="2823700"/>
            <a:ext cx="870333" cy="308472"/>
          </a:xfrm>
          <a:prstGeom prst="roundRect">
            <a:avLst>
              <a:gd name="adj" fmla="val 16666"/>
            </a:avLst>
          </a:prstGeom>
          <a:no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1100"/>
          </a:p>
        </p:txBody>
      </p:sp>
      <p:sp>
        <p:nvSpPr>
          <p:cNvPr id="33" name="AutoShape 33"/>
          <p:cNvSpPr/>
          <p:nvPr/>
        </p:nvSpPr>
        <p:spPr>
          <a:xfrm>
            <a:off x="10677888" y="2813093"/>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095" b="0" i="0" u="none" strike="noStrike">
                <a:solidFill>
                  <a:srgbClr val="000000"/>
                </a:solidFill>
                <a:latin typeface="Calibri" panose="020F0502020204030204"/>
                <a:ea typeface="Arial" panose="020B0604020202020204"/>
                <a:cs typeface="Arial" panose="020B0604020202020204"/>
                <a:sym typeface="Arial" panose="020B0604020202020204"/>
              </a:rPr>
              <a:t>CPU</a:t>
            </a:r>
            <a:endParaRPr lang="en-US" sz="1100"/>
          </a:p>
        </p:txBody>
      </p:sp>
      <p:cxnSp>
        <p:nvCxnSpPr>
          <p:cNvPr id="34" name="Connector 34"/>
          <p:cNvCxnSpPr/>
          <p:nvPr/>
        </p:nvCxnSpPr>
        <p:spPr>
          <a:xfrm rot="10800000" flipV="1">
            <a:off x="9069067" y="2536089"/>
            <a:ext cx="702453" cy="287611"/>
          </a:xfrm>
          <a:prstGeom prst="straightConnector1">
            <a:avLst/>
          </a:prstGeom>
          <a:noFill/>
          <a:ln w="12700" cap="flat">
            <a:solidFill>
              <a:srgbClr val="4472C4">
                <a:alpha val="100000"/>
              </a:srgbClr>
            </a:solidFill>
            <a:prstDash val="solid"/>
            <a:headEnd type="none" w="med" len="med"/>
            <a:tailEnd type="triangle" w="med" len="med"/>
          </a:ln>
        </p:spPr>
      </p:cxnSp>
      <p:cxnSp>
        <p:nvCxnSpPr>
          <p:cNvPr id="35" name="Connector 35"/>
          <p:cNvCxnSpPr/>
          <p:nvPr/>
        </p:nvCxnSpPr>
        <p:spPr>
          <a:xfrm>
            <a:off x="9771520" y="2536089"/>
            <a:ext cx="1341535" cy="277004"/>
          </a:xfrm>
          <a:prstGeom prst="straightConnector1">
            <a:avLst/>
          </a:prstGeom>
          <a:noFill/>
          <a:ln w="12700" cap="flat">
            <a:solidFill>
              <a:srgbClr val="4472C4">
                <a:alpha val="100000"/>
              </a:srgbClr>
            </a:solidFill>
            <a:prstDash val="solid"/>
            <a:headEnd type="none" w="med" len="med"/>
            <a:tailEnd type="triangle" w="med" len="med"/>
          </a:ln>
        </p:spPr>
      </p:cxnSp>
      <p:cxnSp>
        <p:nvCxnSpPr>
          <p:cNvPr id="36" name="Connector 36"/>
          <p:cNvCxnSpPr/>
          <p:nvPr/>
        </p:nvCxnSpPr>
        <p:spPr>
          <a:xfrm>
            <a:off x="9771520" y="2536089"/>
            <a:ext cx="382789" cy="287611"/>
          </a:xfrm>
          <a:prstGeom prst="straightConnector1">
            <a:avLst/>
          </a:prstGeom>
          <a:noFill/>
          <a:ln w="12700" cap="flat">
            <a:solidFill>
              <a:srgbClr val="4472C4">
                <a:alpha val="100000"/>
              </a:srgbClr>
            </a:solidFill>
            <a:prstDash val="solid"/>
            <a:headEnd type="none" w="med" len="med"/>
            <a:tailEnd type="triangle" w="med" len="med"/>
          </a:ln>
        </p:spPr>
      </p:cxnSp>
      <p:sp>
        <p:nvSpPr>
          <p:cNvPr id="37" name="AutoShape 37"/>
          <p:cNvSpPr/>
          <p:nvPr/>
        </p:nvSpPr>
        <p:spPr>
          <a:xfrm>
            <a:off x="9066890"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38" name="AutoShape 38"/>
          <p:cNvSpPr/>
          <p:nvPr/>
        </p:nvSpPr>
        <p:spPr>
          <a:xfrm>
            <a:off x="9633341"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cxnSp>
        <p:nvCxnSpPr>
          <p:cNvPr id="39" name="Connector 39"/>
          <p:cNvCxnSpPr/>
          <p:nvPr/>
        </p:nvCxnSpPr>
        <p:spPr>
          <a:xfrm>
            <a:off x="9467387" y="6120904"/>
            <a:ext cx="165954" cy="0"/>
          </a:xfrm>
          <a:prstGeom prst="straightConnector1">
            <a:avLst/>
          </a:prstGeom>
          <a:noFill/>
          <a:ln w="12700" cap="flat">
            <a:solidFill>
              <a:srgbClr val="4472C4">
                <a:alpha val="100000"/>
              </a:srgbClr>
            </a:solidFill>
            <a:prstDash val="solid"/>
            <a:headEnd type="none" w="med" len="med"/>
            <a:tailEnd type="triangle" w="med" len="med"/>
          </a:ln>
        </p:spPr>
      </p:cxnSp>
      <p:sp>
        <p:nvSpPr>
          <p:cNvPr id="40" name="AutoShape 40"/>
          <p:cNvSpPr/>
          <p:nvPr/>
        </p:nvSpPr>
        <p:spPr>
          <a:xfrm>
            <a:off x="10055777" y="5921204"/>
            <a:ext cx="20116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5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 bleu indique le chemin principal</a:t>
            </a:r>
            <a:endParaRPr lang="en-US" sz="1100"/>
          </a:p>
        </p:txBody>
      </p:sp>
      <p:sp>
        <p:nvSpPr>
          <p:cNvPr id="41" name="AutoShape 41"/>
          <p:cNvSpPr/>
          <p:nvPr/>
        </p:nvSpPr>
        <p:spPr>
          <a:xfrm>
            <a:off x="129540" y="3320415"/>
            <a:ext cx="3789680" cy="132905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Avanc</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 architecturale : programmation de </a:t>
            </a:r>
            <a:r>
              <a:rPr lang="en-US" sz="1200">
                <a:latin typeface="Calibri" panose="020F0502020204030204"/>
                <a:sym typeface="Arial" panose="020B0604020202020204"/>
              </a:rPr>
              <a:t>kernel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en avance d'une generation</a:t>
            </a:r>
            <a:endParaRPr lang="en-US" sz="1200"/>
          </a:p>
          <a:p>
            <a:pPr indent="0" algn="l">
              <a:lnSpc>
                <a:spcPct val="100000"/>
              </a:lnSpc>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Efficacit</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200">
                <a:latin typeface="Calibri" panose="020F0502020204030204"/>
                <a:ea typeface="微软雅黑" panose="020B0503020204020204" charset="-122"/>
                <a:cs typeface="微软雅黑" panose="020B0503020204020204" charset="-122"/>
                <a:sym typeface="微软雅黑" panose="020B0503020204020204" charset="-122"/>
              </a:rPr>
              <a:t>d’ex</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a:latin typeface="Calibri" panose="020F0502020204030204"/>
                <a:ea typeface="微软雅黑" panose="020B0503020204020204" charset="-122"/>
                <a:cs typeface="微软雅黑" panose="020B0503020204020204" charset="-122"/>
                <a:sym typeface="微软雅黑" panose="020B0503020204020204" charset="-122"/>
              </a:rPr>
              <a:t>cution</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sup</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rieure</a:t>
            </a:r>
            <a:endPar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Qualit</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d'impl</a:t>
            </a:r>
            <a:r>
              <a:rPr lang="en-US" sz="1200">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mentation : bonne</a:t>
            </a:r>
            <a:endPar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Facilit</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programmation : superieure </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CUDA</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Ad</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quation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support natif dans le framework PyTorch</a:t>
            </a:r>
            <a:endPar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2" name="AutoShape 42"/>
          <p:cNvSpPr/>
          <p:nvPr/>
        </p:nvSpPr>
        <p:spPr>
          <a:xfrm>
            <a:off x="4013835" y="3241675"/>
            <a:ext cx="4164330" cy="205613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Avanc</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 architecturale : </a:t>
            </a:r>
            <a:r>
              <a:rPr lang="en-US" altLang="zh-CN" sz="1100"/>
              <a:t>globalement une g</a:t>
            </a:r>
            <a:r>
              <a:rPr lang="en-US" altLang="en-US" sz="1100"/>
              <a:t>é</a:t>
            </a:r>
            <a:r>
              <a:rPr lang="en-US" altLang="zh-CN" sz="1100"/>
              <a:t>n</a:t>
            </a:r>
            <a:r>
              <a:rPr lang="en-US" altLang="en-US" sz="1100"/>
              <a:t>é</a:t>
            </a:r>
            <a:r>
              <a:rPr lang="en-US" altLang="zh-CN" sz="1100"/>
              <a:t>ration en avance, mais absence de programmation de noyaux (kernels)</a:t>
            </a:r>
            <a:endParaRPr lang="en-US" altLang="zh-CN" sz="1100"/>
          </a:p>
          <a:p>
            <a:pPr indent="0" algn="l">
              <a:lnSpc>
                <a:spcPct val="100000"/>
              </a:lnSpc>
            </a:pP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Efficacit</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d’ex</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cution </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sup</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rieure</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mais les performances GPU restent inf</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rieures à Triton</a:t>
            </a:r>
            <a:endPar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Qualit</a:t>
            </a:r>
            <a:r>
              <a:rPr lang="en-US" altLang="en-US" sz="1165">
                <a:latin typeface="Calibri" panose="020F0502020204030204"/>
                <a:ea typeface="微软雅黑" panose="020B0503020204020204" charset="-122"/>
                <a:cs typeface="微软雅黑" panose="020B0503020204020204" charset="-122"/>
                <a:sym typeface="微软雅黑" panose="020B0503020204020204" charset="-122"/>
              </a:rPr>
              <a:t>é</a:t>
            </a:r>
            <a:r>
              <a:rPr lang="en-US" sz="1165">
                <a:latin typeface="Calibri" panose="020F0502020204030204"/>
                <a:ea typeface="微软雅黑" panose="020B0503020204020204" charset="-122"/>
                <a:cs typeface="微软雅黑" panose="020B0503020204020204" charset="-122"/>
                <a:sym typeface="微软雅黑" panose="020B0503020204020204" charset="-122"/>
              </a:rPr>
              <a:t> </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d'impl</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mentation : bonne</a:t>
            </a:r>
            <a:endPar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Facilit</a:t>
            </a:r>
            <a:r>
              <a:rPr lang="en-US" alt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de programmation : </a:t>
            </a:r>
            <a:r>
              <a:rPr lang="en-US" altLang="zh-CN" sz="1165" b="0" i="0" u="none" strike="noStrike">
                <a:solidFill>
                  <a:srgbClr val="000000"/>
                </a:solidFill>
                <a:latin typeface="Calibri" panose="020F0502020204030204"/>
                <a:ea typeface="Arial" panose="020B0604020202020204"/>
                <a:cs typeface="Arial" panose="020B0604020202020204"/>
                <a:sym typeface="Arial" panose="020B0604020202020204"/>
              </a:rPr>
              <a:t>le mod</a:t>
            </a:r>
            <a:r>
              <a:rPr lang="en-US" altLang="en-US" sz="1165" b="0" i="0" u="none" strike="noStrike">
                <a:solidFill>
                  <a:srgbClr val="000000"/>
                </a:solidFill>
                <a:latin typeface="Calibri" panose="020F0502020204030204"/>
                <a:ea typeface="Arial" panose="020B0604020202020204"/>
                <a:cs typeface="Arial" panose="020B0604020202020204"/>
                <a:sym typeface="Arial" panose="020B0604020202020204"/>
              </a:rPr>
              <a:t>è</a:t>
            </a:r>
            <a:r>
              <a:rPr lang="en-US" altLang="zh-CN" sz="1165" b="0" i="0" u="none" strike="noStrike">
                <a:solidFill>
                  <a:srgbClr val="000000"/>
                </a:solidFill>
                <a:latin typeface="Calibri" panose="020F0502020204030204"/>
                <a:ea typeface="Arial" panose="020B0604020202020204"/>
                <a:cs typeface="Arial" panose="020B0604020202020204"/>
                <a:sym typeface="Arial" panose="020B0604020202020204"/>
              </a:rPr>
              <a:t>le de programmation des noyaux s’inspire de Triton</a:t>
            </a:r>
            <a:endParaRPr lang="en-US" altLang="zh-CN" sz="1165"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altLang="zh-CN" sz="1165">
                <a:latin typeface="Calibri" panose="020F0502020204030204"/>
                <a:ea typeface="微软雅黑" panose="020B0503020204020204" charset="-122"/>
                <a:cs typeface="微软雅黑" panose="020B0503020204020204" charset="-122"/>
                <a:sym typeface="微软雅黑" panose="020B0503020204020204" charset="-122"/>
              </a:rPr>
              <a:t>Ad</a:t>
            </a:r>
            <a:r>
              <a:rPr lang="en-US" altLang="en-US" sz="1165">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165">
                <a:latin typeface="Calibri" panose="020F0502020204030204"/>
                <a:ea typeface="微软雅黑" panose="020B0503020204020204" charset="-122"/>
                <a:cs typeface="微软雅黑" panose="020B0503020204020204" charset="-122"/>
                <a:sym typeface="微软雅黑" panose="020B0503020204020204" charset="-122"/>
              </a:rPr>
              <a:t>quation </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b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165" b="0" i="0" u="none" strike="noStrike">
                <a:solidFill>
                  <a:srgbClr val="000000"/>
                </a:solidFill>
                <a:latin typeface="Calibri" panose="020F0502020204030204"/>
                <a:ea typeface="Arial" panose="020B0604020202020204"/>
                <a:cs typeface="Arial" panose="020B0604020202020204"/>
                <a:sym typeface="Arial" panose="020B0604020202020204"/>
              </a:rPr>
              <a:t>    </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Bon support pour TensorFlow et JAX</a:t>
            </a:r>
            <a:b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165" b="0" i="0" u="none" strike="noStrike">
                <a:solidFill>
                  <a:srgbClr val="000000"/>
                </a:solidFill>
                <a:latin typeface="Calibri" panose="020F0502020204030204"/>
                <a:ea typeface="Arial" panose="020B0604020202020204"/>
                <a:cs typeface="Arial" panose="020B0604020202020204"/>
                <a:sym typeface="Arial" panose="020B0604020202020204"/>
              </a:rPr>
              <a:t>    </a:t>
            </a:r>
            <a:r>
              <a:rPr lang="en-US" altLang="zh-CN"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Pas de support natif pour PyTorch,</a:t>
            </a:r>
            <a:r>
              <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necessite l'exportation du modele</a:t>
            </a:r>
            <a:endParaRPr lang="en-US" sz="116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3" name="AutoShape 43"/>
          <p:cNvSpPr/>
          <p:nvPr/>
        </p:nvSpPr>
        <p:spPr>
          <a:xfrm>
            <a:off x="8143875" y="3320415"/>
            <a:ext cx="4000500" cy="180784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Avance</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architecturale : en avance de deux </a:t>
            </a:r>
            <a:r>
              <a:rPr lang="en-US" altLang="zh-CN" sz="1200"/>
              <a:t>g</a:t>
            </a:r>
            <a:r>
              <a:rPr lang="en-US" altLang="en-US" sz="1200"/>
              <a:t>é</a:t>
            </a:r>
            <a:r>
              <a:rPr lang="en-US" altLang="zh-CN" sz="1200"/>
              <a:t>n</a:t>
            </a:r>
            <a:r>
              <a:rPr lang="en-US" altLang="en-US" sz="1200"/>
              <a:t>é</a:t>
            </a:r>
            <a:r>
              <a:rPr lang="en-US" altLang="zh-CN" sz="1200"/>
              <a:t>rations</a:t>
            </a:r>
            <a:endParaRPr lang="en-US" altLang="zh-CN" sz="1200"/>
          </a:p>
          <a:p>
            <a:pPr indent="0" algn="l">
              <a:lnSpc>
                <a:spcPct val="100000"/>
              </a:lnSpc>
            </a:pPr>
            <a:r>
              <a:rPr lang="en-US" sz="1200">
                <a:latin typeface="Calibri" panose="020F0502020204030204"/>
                <a:ea typeface="微软雅黑" panose="020B0503020204020204" charset="-122"/>
                <a:cs typeface="微软雅黑" panose="020B0503020204020204" charset="-122"/>
                <a:sym typeface="微软雅黑" panose="020B0503020204020204" charset="-122"/>
              </a:rPr>
              <a:t>Efficacit</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200">
                <a:latin typeface="Calibri" panose="020F0502020204030204"/>
                <a:ea typeface="微软雅黑" panose="020B0503020204020204" charset="-122"/>
                <a:cs typeface="微软雅黑" panose="020B0503020204020204" charset="-122"/>
                <a:sym typeface="微软雅黑" panose="020B0503020204020204" charset="-122"/>
              </a:rPr>
              <a:t>d’ex</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a:latin typeface="Calibri" panose="020F0502020204030204"/>
                <a:ea typeface="微软雅黑" panose="020B0503020204020204" charset="-122"/>
                <a:cs typeface="微软雅黑" panose="020B0503020204020204" charset="-122"/>
                <a:sym typeface="微软雅黑" panose="020B0503020204020204" charset="-122"/>
              </a:rPr>
              <a:t>cution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insuffisante, ne prend en charge que </a:t>
            </a: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CPU</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200">
                <a:latin typeface="Calibri" panose="020F0502020204030204"/>
                <a:ea typeface="微软雅黑" panose="020B0503020204020204" charset="-122"/>
                <a:cs typeface="微软雅黑" panose="020B0503020204020204" charset="-122"/>
                <a:sym typeface="微软雅黑" panose="020B0503020204020204" charset="-122"/>
              </a:rPr>
              <a:t>Qualit</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a:latin typeface="Calibri" panose="020F0502020204030204"/>
                <a:ea typeface="微软雅黑" panose="020B0503020204020204" charset="-122"/>
                <a:cs typeface="微软雅黑" panose="020B0503020204020204" charset="-122"/>
                <a:sym typeface="微软雅黑" panose="020B0503020204020204" charset="-122"/>
              </a:rPr>
              <a:t> d'impl</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a:latin typeface="Calibri" panose="020F0502020204030204"/>
                <a:ea typeface="微软雅黑" panose="020B0503020204020204" charset="-122"/>
                <a:cs typeface="微软雅黑" panose="020B0503020204020204" charset="-122"/>
                <a:sym typeface="微软雅黑" panose="020B0503020204020204" charset="-122"/>
              </a:rPr>
              <a:t>mentation</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 actuellement non open source, </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mais l’</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quipe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technique est tres solide</a:t>
            </a:r>
            <a:endPar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Facilit</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sz="1200">
                <a:latin typeface="Calibri" panose="020F0502020204030204"/>
                <a:ea typeface="微软雅黑" panose="020B0503020204020204" charset="-122"/>
                <a:cs typeface="微软雅黑" panose="020B0503020204020204" charset="-122"/>
                <a:sym typeface="微软雅黑" panose="020B0503020204020204" charset="-122"/>
              </a:rPr>
              <a:t>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 programmation : </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nouveau mod</a:t>
            </a:r>
            <a:r>
              <a:rPr lang="en-US" alt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 de programmation, retours d’utilisateurs insuffisants</a:t>
            </a:r>
            <a:endPar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1200">
                <a:latin typeface="Calibri" panose="020F0502020204030204"/>
                <a:ea typeface="微软雅黑" panose="020B0503020204020204" charset="-122"/>
                <a:cs typeface="微软雅黑" panose="020B0503020204020204" charset="-122"/>
                <a:sym typeface="微软雅黑" panose="020B0503020204020204" charset="-122"/>
              </a:rPr>
              <a:t>Ad</a:t>
            </a:r>
            <a:r>
              <a:rPr lang="en-US" altLang="en-US" sz="1200">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00">
                <a:latin typeface="Calibri" panose="020F0502020204030204"/>
                <a:ea typeface="微软雅黑" panose="020B0503020204020204" charset="-122"/>
                <a:cs typeface="微软雅黑" panose="020B0503020204020204" charset="-122"/>
                <a:sym typeface="微软雅黑" panose="020B0503020204020204" charset="-122"/>
              </a:rPr>
              <a:t>quation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aucun framework ne le supporte pour l’instant</a:t>
            </a:r>
            <a:endParaRPr lang="en-US" altLang="zh-CN"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4" name="AutoShape 44"/>
          <p:cNvSpPr/>
          <p:nvPr/>
        </p:nvSpPr>
        <p:spPr>
          <a:xfrm>
            <a:off x="2555521" y="948450"/>
            <a:ext cx="11982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15" b="0" i="0" u="none" strike="noStrike">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Developpe par</a:t>
            </a:r>
            <a:r>
              <a:rPr lang="en-US" sz="1015" b="0" i="0" u="none" strike="noStrike">
                <a:solidFill>
                  <a:srgbClr val="FF0000"/>
                </a:solidFill>
                <a:latin typeface="Calibri" panose="020F0502020204030204"/>
                <a:ea typeface="Arial" panose="020B0604020202020204"/>
                <a:cs typeface="Arial" panose="020B0604020202020204"/>
                <a:sym typeface="Arial" panose="020B0604020202020204"/>
              </a:rPr>
              <a:t> OpenAI </a:t>
            </a:r>
            <a:endParaRPr lang="en-US" sz="1100"/>
          </a:p>
        </p:txBody>
      </p:sp>
      <p:sp>
        <p:nvSpPr>
          <p:cNvPr id="45" name="AutoShape 45"/>
          <p:cNvSpPr/>
          <p:nvPr/>
        </p:nvSpPr>
        <p:spPr>
          <a:xfrm>
            <a:off x="6410770" y="934731"/>
            <a:ext cx="117030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15" b="0" i="0" u="none" strike="noStrike">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Developpe par</a:t>
            </a:r>
            <a:r>
              <a:rPr lang="en-US" sz="1015" b="0" i="0" u="none" strike="noStrike">
                <a:solidFill>
                  <a:srgbClr val="FF0000"/>
                </a:solidFill>
                <a:latin typeface="Calibri" panose="020F0502020204030204"/>
                <a:ea typeface="Arial" panose="020B0604020202020204"/>
                <a:cs typeface="Arial" panose="020B0604020202020204"/>
                <a:sym typeface="Arial" panose="020B0604020202020204"/>
              </a:rPr>
              <a:t> Google </a:t>
            </a:r>
            <a:endParaRPr lang="en-US" sz="1100"/>
          </a:p>
        </p:txBody>
      </p:sp>
      <p:sp>
        <p:nvSpPr>
          <p:cNvPr id="46" name="AutoShape 46"/>
          <p:cNvSpPr/>
          <p:nvPr/>
        </p:nvSpPr>
        <p:spPr>
          <a:xfrm>
            <a:off x="9862126" y="956108"/>
            <a:ext cx="129540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45" b="0" i="0" u="none" strike="noStrike">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Developpe par</a:t>
            </a:r>
            <a:r>
              <a:rPr lang="en-US" sz="1045" b="0" i="0" u="none" strike="noStrike">
                <a:solidFill>
                  <a:srgbClr val="FF0000"/>
                </a:solidFill>
                <a:latin typeface="Calibri" panose="020F0502020204030204"/>
                <a:ea typeface="Arial" panose="020B0604020202020204"/>
                <a:cs typeface="Arial" panose="020B0604020202020204"/>
                <a:sym typeface="Arial" panose="020B0604020202020204"/>
              </a:rPr>
              <a:t> Modular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angage </a:t>
            </a:r>
            <a:r>
              <a:rPr lang="en-US" sz="3075">
                <a:solidFill>
                  <a:srgbClr val="262626"/>
                </a:solidFill>
                <a:ea typeface="Calibri" panose="020F0502020204030204"/>
                <a:cs typeface="Calibri" panose="020F0502020204030204"/>
                <a:sym typeface="Calibri" panose="020F0502020204030204"/>
              </a:rPr>
              <a:t>Triton</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et compilateur</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nvSpPr>
        <p:spPr>
          <a:xfrm>
            <a:off x="2673250" y="1032975"/>
            <a:ext cx="5475530" cy="5372100"/>
          </a:xfrm>
          <a:prstGeom prst="rect">
            <a:avLst/>
          </a:prstGeom>
          <a:noFill/>
          <a:ln w="12700">
            <a:noFill/>
            <a:prstDash val="solid"/>
          </a:ln>
        </p:spPr>
        <p:txBody>
          <a:bodyPr wrap="square" lIns="91440" tIns="45720" rIns="91440" bIns="45720" rtlCol="0" anchor="t">
            <a:spAutoFit/>
          </a:bodyPr>
          <a:lstStyle/>
          <a:p>
            <a:pPr indent="0" algn="l">
              <a:lnSpc>
                <a:spcPct val="150000"/>
              </a:lnSpc>
              <a:defRPr/>
            </a:pPr>
            <a:r>
              <a:rPr lang="en-US" sz="2205"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Langage Triton</a:t>
            </a:r>
            <a:endParaRPr lang="en-US" sz="1100"/>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Langage dedie a la programmation parallele</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Pour le materiel GPU (ou autres accelerateurs)</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Permet d'ecrire des operateurs de reseaux de neurones</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17000"/>
              </a:lnSpc>
            </a:pPr>
          </a:p>
          <a:p>
            <a:pPr indent="0" algn="l">
              <a:lnSpc>
                <a:spcPct val="117000"/>
              </a:lnSpc>
            </a:pPr>
            <a:r>
              <a:rPr lang="en-US" sz="2205"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Compilateur Triton</a:t>
            </a:r>
            <a:endParaRPr lang="en-US" sz="2205" b="1"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Convertit le langage Triton en langage machine</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Analyse, optimisation</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17000"/>
              </a:lnSpc>
            </a:pPr>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Adresse du projet open source :</a:t>
            </a: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hlinkClick r:id="rId1" tooltip="https://github.com/triton-lang/triton"/>
              </a:rPr>
              <a:t>https://</a:t>
            </a: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hlinkClick r:id="rId1" tooltip="https://github.com/triton-lang/triton"/>
              </a:rPr>
              <a:t>github.com</a:t>
            </a: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hlinkClick r:id="rId1" tooltip="https://github.com/triton-lang/triton"/>
              </a:rPr>
              <a:t>/triton-lang/triton</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150000"/>
              </a:lnSpc>
              <a:buClr>
                <a:srgbClr val="000000"/>
              </a:buClr>
              <a:buChar char="•"/>
            </a:pP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Adresse de la documentation :</a:t>
            </a: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hlinkClick r:id="rId2" tooltip="https://triton-lang.org/"/>
              </a:rPr>
              <a:t>https://triton-</a:t>
            </a:r>
            <a:r>
              <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hlinkClick r:id="rId2" tooltip="https://triton-lang.org/"/>
              </a:rPr>
              <a:t>lang.org</a:t>
            </a:r>
            <a:endParaRPr lang="en-US" sz="15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hlinkClick r:id="rId2" tooltip="https://triton-lang.org/"/>
            </a:endParaRPr>
          </a:p>
        </p:txBody>
      </p:sp>
      <p:pic>
        <p:nvPicPr>
          <p:cNvPr id="6" name="Picture 6"/>
          <p:cNvPicPr>
            <a:picLocks noChangeAspect="1"/>
          </p:cNvPicPr>
          <p:nvPr/>
        </p:nvPicPr>
        <p:blipFill>
          <a:blip r:embed="rId3"/>
          <a:srcRect/>
          <a:stretch>
            <a:fillRect/>
          </a:stretch>
        </p:blipFill>
        <p:spPr>
          <a:xfrm>
            <a:off x="8148780" y="1872216"/>
            <a:ext cx="1369970" cy="1556784"/>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1702496" y="1264435"/>
            <a:ext cx="764287" cy="764287"/>
          </a:xfrm>
          <a:prstGeom prst="rect">
            <a:avLst/>
          </a:prstGeom>
          <a:ln w="12700">
            <a:noFill/>
            <a:prstDash val="solid"/>
          </a:ln>
        </p:spPr>
      </p:pic>
      <p:pic>
        <p:nvPicPr>
          <p:cNvPr id="8" name="Picture 8"/>
          <p:cNvPicPr>
            <a:picLocks noChangeAspect="1"/>
          </p:cNvPicPr>
          <p:nvPr/>
        </p:nvPicPr>
        <p:blipFill>
          <a:blip r:embed="rId5"/>
          <a:srcRect/>
          <a:stretch>
            <a:fillRect/>
          </a:stretch>
        </p:blipFill>
        <p:spPr>
          <a:xfrm>
            <a:off x="1635821" y="2810905"/>
            <a:ext cx="764287" cy="764287"/>
          </a:xfrm>
          <a:prstGeom prst="rect">
            <a:avLst/>
          </a:prstGeom>
          <a:ln w="12700">
            <a:noFill/>
            <a:prstDash val="solid"/>
          </a:ln>
        </p:spPr>
      </p:pic>
      <p:pic>
        <p:nvPicPr>
          <p:cNvPr id="9" name="Picture 9"/>
          <p:cNvPicPr>
            <a:picLocks noChangeAspect="1"/>
          </p:cNvPicPr>
          <p:nvPr/>
        </p:nvPicPr>
        <p:blipFill>
          <a:blip r:embed="rId6"/>
          <a:srcRect/>
          <a:stretch>
            <a:fillRect/>
          </a:stretch>
        </p:blipFill>
        <p:spPr>
          <a:xfrm>
            <a:off x="1635821" y="4295314"/>
            <a:ext cx="764287" cy="76428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615" b="0" i="0" u="none" strike="noStrike">
                <a:solidFill>
                  <a:srgbClr val="262626"/>
                </a:solidFill>
                <a:latin typeface="Calibri" panose="020F0502020204030204"/>
                <a:ea typeface="Calibri" panose="020F0502020204030204"/>
                <a:cs typeface="Calibri" panose="020F0502020204030204"/>
                <a:sym typeface="Calibri" panose="020F0502020204030204"/>
              </a:rPr>
              <a:t>Aper</a:t>
            </a:r>
            <a:r>
              <a:rPr lang="en-US" altLang="en-US" sz="2615" b="0" i="0" u="none" strike="noStrike">
                <a:solidFill>
                  <a:srgbClr val="262626"/>
                </a:solidFill>
                <a:latin typeface="Calibri" panose="020F0502020204030204"/>
                <a:ea typeface="Calibri" panose="020F0502020204030204"/>
                <a:cs typeface="Calibri" panose="020F0502020204030204"/>
                <a:sym typeface="Calibri" panose="020F0502020204030204"/>
              </a:rPr>
              <a:t>ç</a:t>
            </a:r>
            <a:r>
              <a:rPr lang="en-US" altLang="zh-CN" sz="2615" b="0" i="0" u="none" strike="noStrike">
                <a:solidFill>
                  <a:srgbClr val="262626"/>
                </a:solidFill>
                <a:latin typeface="Calibri" panose="020F0502020204030204"/>
                <a:ea typeface="Calibri" panose="020F0502020204030204"/>
                <a:cs typeface="Calibri" panose="020F0502020204030204"/>
                <a:sym typeface="Calibri" panose="020F0502020204030204"/>
              </a:rPr>
              <a:t>u de Triton</a:t>
            </a:r>
            <a:r>
              <a:rPr lang="en-US" sz="2615" b="0" i="0" u="none" strike="noStrike">
                <a:solidFill>
                  <a:srgbClr val="262626"/>
                </a:solidFill>
                <a:latin typeface="Calibri" panose="020F0502020204030204"/>
                <a:ea typeface="Calibri" panose="020F0502020204030204"/>
                <a:cs typeface="Calibri" panose="020F0502020204030204"/>
                <a:sym typeface="Calibri" panose="020F0502020204030204"/>
              </a:rPr>
              <a:t> | Triton </a:t>
            </a:r>
            <a:r>
              <a:rPr lang="en-US"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comme langage de programmation</a:t>
            </a:r>
            <a:endParaRPr lang="en-US" sz="26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nvSpPr>
        <p:spPr>
          <a:xfrm>
            <a:off x="11315785" y="6333924"/>
            <a:ext cx="495300" cy="365125"/>
          </a:xfrm>
          <a:prstGeom prst="rect">
            <a:avLst/>
          </a:prstGeom>
          <a:noFill/>
          <a:ln w="12700">
            <a:noFill/>
            <a:prstDash val="solid"/>
          </a:ln>
        </p:spPr>
        <p:txBody>
          <a:bodyPr vert="horz" wrap="square" lIns="91440" tIns="45720" rIns="91440" bIns="45720" rtlCol="0" anchor="ctr">
            <a:noAutofit/>
          </a:bodyPr>
          <a:lstStyle/>
          <a:p>
            <a:pPr indent="0" algn="r">
              <a:lnSpc>
                <a:spcPct val="100000"/>
              </a:lnSpc>
              <a:defRPr/>
            </a:pPr>
            <a:fld id="{8EEFEEE5-5F04-4339-8C06-6B7ADBA1E866}" type="slidenum">
              <a:rPr sz="1200" b="0" i="0" u="none" strike="noStrike">
                <a:solidFill>
                  <a:srgbClr val="767676"/>
                </a:solidFill>
                <a:latin typeface="Arial" panose="020B0604020202020204"/>
                <a:ea typeface="Arial" panose="020B0604020202020204"/>
                <a:cs typeface="Arial" panose="020B0604020202020204"/>
                <a:sym typeface="Arial" panose="020B0604020202020204"/>
              </a:rPr>
            </a:fld>
            <a:endParaRPr lang="en-US" sz="1100"/>
          </a:p>
        </p:txBody>
      </p:sp>
      <p:pic>
        <p:nvPicPr>
          <p:cNvPr id="6" name="Picture 6"/>
          <p:cNvPicPr>
            <a:picLocks noChangeAspect="1"/>
          </p:cNvPicPr>
          <p:nvPr/>
        </p:nvPicPr>
        <p:blipFill>
          <a:blip r:embed="rId1"/>
          <a:srcRect/>
          <a:stretch>
            <a:fillRect/>
          </a:stretch>
        </p:blipFill>
        <p:spPr>
          <a:xfrm>
            <a:off x="4888230" y="1132840"/>
            <a:ext cx="7136130" cy="2316480"/>
          </a:xfrm>
          <a:prstGeom prst="rect">
            <a:avLst/>
          </a:prstGeom>
          <a:ln w="12700">
            <a:noFill/>
            <a:prstDash val="solid"/>
          </a:ln>
        </p:spPr>
      </p:pic>
      <p:sp>
        <p:nvSpPr>
          <p:cNvPr id="7" name="AutoShape 7"/>
          <p:cNvSpPr/>
          <p:nvPr/>
        </p:nvSpPr>
        <p:spPr>
          <a:xfrm>
            <a:off x="675005" y="1132840"/>
            <a:ext cx="4145915" cy="5584825"/>
          </a:xfrm>
          <a:prstGeom prst="rect">
            <a:avLst/>
          </a:prstGeom>
          <a:noFill/>
          <a:ln w="12700">
            <a:noFill/>
            <a:prstDash val="solid"/>
          </a:ln>
        </p:spPr>
        <p:txBody>
          <a:bodyPr wrap="square" lIns="91440" tIns="45720" rIns="91440" bIns="45720" rtlCol="0" anchor="t">
            <a:spAutoFit/>
          </a:bodyPr>
          <a:lstStyle/>
          <a:p>
            <a:pPr indent="0" algn="l">
              <a:lnSpc>
                <a:spcPct val="150000"/>
              </a:lnSpc>
              <a:defRPr/>
            </a:pPr>
            <a:r>
              <a:rPr lang="en-US" sz="1400" b="1" i="0" u="none" strike="noStrike">
                <a:solidFill>
                  <a:srgbClr val="ED7D31"/>
                </a:solidFill>
                <a:latin typeface="Calibri" panose="020F0502020204030204"/>
                <a:ea typeface="微软雅黑" panose="020B0503020204020204" charset="-122"/>
                <a:cs typeface="微软雅黑" panose="020B0503020204020204" charset="-122"/>
                <a:sym typeface="微软雅黑" panose="020B0503020204020204" charset="-122"/>
              </a:rPr>
              <a:t>Les défis de la programmation GPU</a:t>
            </a:r>
            <a:endParaRPr lang="en-US" sz="1100"/>
          </a:p>
          <a:p>
            <a:pPr marL="177800" indent="-177800" algn="l">
              <a:lnSpc>
                <a:spcPct val="150000"/>
              </a:lnSpc>
              <a:buClr>
                <a:srgbClr val="000000"/>
              </a:buClr>
              <a:buChar cha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Lors de l'écriture de code CUDA, il faut considérer DRAM, SRAM et ALUs pour écrire des opérateurs efficaces</a:t>
            </a:r>
            <a:endPar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177800" indent="-177800" algn="l">
              <a:lnSpc>
                <a:spcPct val="150000"/>
              </a:lnSpc>
              <a:buClr>
                <a:srgbClr val="000000"/>
              </a:buClr>
              <a:buChar cha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Les accès mémoire DRAM doivent être fusionnés pour utiliser pleinement la bande passante</a:t>
            </a:r>
            <a:endPar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177800" indent="-177800" algn="l">
              <a:lnSpc>
                <a:spcPct val="150000"/>
              </a:lnSpc>
              <a:buClr>
                <a:srgbClr val="000000"/>
              </a:buClr>
              <a:buChar cha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Les données doivent être stockées manuellement dans SRAM avant réutilisation et gérées pour minimiser les conflits de bank mémoire partagée lors de la récupération.</a:t>
            </a:r>
            <a:endPar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177800" indent="-177800" algn="l">
              <a:lnSpc>
                <a:spcPct val="150000"/>
              </a:lnSpc>
              <a:buClr>
                <a:srgbClr val="000000"/>
              </a:buClr>
              <a:buChar cha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Les calculs doivent être soigneusement partitionnés et ordonnancés, que ce soit entre les multiprocesseurs de flux (SMs) ou en interne, pour favoriser le parallélisme au niveau instruction/thread et exploiter des unités de calcul spécifiques (comme Tensor core)</a:t>
            </a:r>
            <a:endPar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8" name="Table 8"/>
          <p:cNvGraphicFramePr>
            <a:graphicFrameLocks noGrp="1"/>
          </p:cNvGraphicFramePr>
          <p:nvPr/>
        </p:nvGraphicFramePr>
        <p:xfrm>
          <a:off x="7191858" y="3760491"/>
          <a:ext cx="3838092" cy="1133240"/>
        </p:xfrm>
        <a:graphic>
          <a:graphicData uri="http://schemas.openxmlformats.org/drawingml/2006/table">
            <a:tbl>
              <a:tblPr>
                <a:effectLst/>
              </a:tblPr>
              <a:tblGrid>
                <a:gridCol w="1666392"/>
                <a:gridCol w="1050778"/>
                <a:gridCol w="1120922"/>
              </a:tblGrid>
              <a:tr h="0">
                <a:tc>
                  <a:txBody>
                    <a:bodyPr rtlCol="0"/>
                    <a:lstStyle/>
                    <a:p>
                      <a:pPr indent="0" algn="l">
                        <a:lnSpc>
                          <a:spcPct val="100000"/>
                        </a:lnSpc>
                        <a:defRPr/>
                      </a:pPr>
                      <a:r>
                        <a:rPr lang="en-US" sz="1400" b="1"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CUDA</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Triton</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r h="520997">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Fusion d'accès mémoire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Manuel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Automatique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r>
              <a:tr h="485775">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Gestion mémoire partagée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Manuel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Automatique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r h="0">
                <a:tc>
                  <a:txBody>
                    <a:bodyPr rtlCol="0"/>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Ordonnancement intra-SM</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Manuel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Automatique</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r>
              <a:tr h="126468">
                <a:tc>
                  <a:txBody>
                    <a:bodyPr rtlCol="0"/>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Ordonnancement extra-SM</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Manuel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rtlCol="0"/>
                    <a:lstStyle/>
                    <a:p>
                      <a:pPr indent="0" algn="l">
                        <a:lnSpc>
                          <a:spcPct val="100000"/>
                        </a:lnSpc>
                        <a:defRPr/>
                      </a:pPr>
                      <a:r>
                        <a:rPr lang="en-US" sz="1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Manuel</a:t>
                      </a:r>
                      <a:endParaRPr lang="en-US" sz="1100"/>
                    </a:p>
                  </a:txBody>
                  <a:tcPr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Atouts open source de Triton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Pytorch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Intégration framework</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Opérateurs personnalisés pour les grands modèles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cxnSp>
        <p:nvCxnSpPr>
          <p:cNvPr id="5" name="Connector 5"/>
          <p:cNvCxnSpPr/>
          <p:nvPr/>
        </p:nvCxnSpPr>
        <p:spPr>
          <a:xfrm flipV="1">
            <a:off x="264577" y="5716228"/>
            <a:ext cx="10929654" cy="15804"/>
          </a:xfrm>
          <a:prstGeom prst="straightConnector1">
            <a:avLst/>
          </a:prstGeom>
          <a:noFill/>
          <a:ln w="38100" cap="flat">
            <a:solidFill>
              <a:srgbClr val="4472C4">
                <a:alpha val="100000"/>
              </a:srgbClr>
            </a:solidFill>
            <a:prstDash val="solid"/>
            <a:headEnd type="none" w="med" len="med"/>
            <a:tailEnd type="triangle" w="med" len="med"/>
          </a:ln>
        </p:spPr>
      </p:cxnSp>
      <p:cxnSp>
        <p:nvCxnSpPr>
          <p:cNvPr id="6" name="Connector 6"/>
          <p:cNvCxnSpPr/>
          <p:nvPr/>
        </p:nvCxnSpPr>
        <p:spPr>
          <a:xfrm flipV="1">
            <a:off x="1869428" y="5715593"/>
            <a:ext cx="1276" cy="425418"/>
          </a:xfrm>
          <a:prstGeom prst="line">
            <a:avLst/>
          </a:prstGeom>
          <a:noFill/>
          <a:ln w="12700" cap="flat">
            <a:solidFill>
              <a:srgbClr val="4472C4">
                <a:alpha val="100000"/>
              </a:srgbClr>
            </a:solidFill>
            <a:prstDash val="solid"/>
            <a:headEnd type="none" w="med" len="med"/>
            <a:tailEnd type="none" w="med" len="med"/>
          </a:ln>
        </p:spPr>
      </p:cxnSp>
      <p:sp>
        <p:nvSpPr>
          <p:cNvPr id="7" name="AutoShape 7"/>
          <p:cNvSpPr/>
          <p:nvPr/>
        </p:nvSpPr>
        <p:spPr>
          <a:xfrm>
            <a:off x="1869428"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2016</a:t>
            </a:r>
            <a:endParaRPr lang="en-US" sz="1100"/>
          </a:p>
        </p:txBody>
      </p:sp>
      <p:cxnSp>
        <p:nvCxnSpPr>
          <p:cNvPr id="8" name="Connector 8"/>
          <p:cNvCxnSpPr/>
          <p:nvPr/>
        </p:nvCxnSpPr>
        <p:spPr>
          <a:xfrm flipV="1">
            <a:off x="3455296"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9" name="AutoShape 9"/>
          <p:cNvSpPr/>
          <p:nvPr/>
        </p:nvSpPr>
        <p:spPr>
          <a:xfrm>
            <a:off x="3455296"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2018</a:t>
            </a:r>
            <a:endParaRPr lang="en-US" sz="1100"/>
          </a:p>
        </p:txBody>
      </p:sp>
      <p:cxnSp>
        <p:nvCxnSpPr>
          <p:cNvPr id="10" name="Connector 10"/>
          <p:cNvCxnSpPr/>
          <p:nvPr/>
        </p:nvCxnSpPr>
        <p:spPr>
          <a:xfrm flipV="1">
            <a:off x="4993937"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11" name="AutoShape 11"/>
          <p:cNvSpPr/>
          <p:nvPr/>
        </p:nvSpPr>
        <p:spPr>
          <a:xfrm>
            <a:off x="4993937"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2020</a:t>
            </a:r>
            <a:endParaRPr lang="en-US" sz="1100"/>
          </a:p>
        </p:txBody>
      </p:sp>
      <p:cxnSp>
        <p:nvCxnSpPr>
          <p:cNvPr id="12" name="Connector 12"/>
          <p:cNvCxnSpPr/>
          <p:nvPr/>
        </p:nvCxnSpPr>
        <p:spPr>
          <a:xfrm flipV="1">
            <a:off x="8142063"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13" name="AutoShape 13"/>
          <p:cNvSpPr/>
          <p:nvPr/>
        </p:nvSpPr>
        <p:spPr>
          <a:xfrm>
            <a:off x="8142063"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2023</a:t>
            </a:r>
            <a:endParaRPr lang="en-US" sz="1100"/>
          </a:p>
        </p:txBody>
      </p:sp>
      <p:sp>
        <p:nvSpPr>
          <p:cNvPr id="14" name="Freeform 14"/>
          <p:cNvSpPr/>
          <p:nvPr/>
        </p:nvSpPr>
        <p:spPr>
          <a:xfrm>
            <a:off x="1388297" y="2734778"/>
            <a:ext cx="4682169" cy="2057400"/>
          </a:xfrm>
          <a:custGeom>
            <a:avLst/>
            <a:gdLst/>
            <a:ahLst/>
            <a:cxnLst/>
            <a:rect l="l" t="t" r="r" b="b"/>
            <a:pathLst>
              <a:path w="4682169" h="2057400">
                <a:moveTo>
                  <a:pt x="0" y="2057400"/>
                </a:moveTo>
                <a:cubicBezTo>
                  <a:pt x="948369" y="1904288"/>
                  <a:pt x="1896737" y="1751174"/>
                  <a:pt x="2677099" y="1408274"/>
                </a:cubicBezTo>
                <a:cubicBezTo>
                  <a:pt x="3457461" y="1065374"/>
                  <a:pt x="4069815" y="532688"/>
                  <a:pt x="4682169" y="0"/>
                </a:cubicBezTo>
              </a:path>
            </a:pathLst>
          </a:custGeom>
          <a:no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Freeform 15"/>
          <p:cNvSpPr/>
          <p:nvPr/>
        </p:nvSpPr>
        <p:spPr>
          <a:xfrm>
            <a:off x="892539" y="2381622"/>
            <a:ext cx="5501096" cy="1951821"/>
          </a:xfrm>
          <a:custGeom>
            <a:avLst/>
            <a:gdLst/>
            <a:ahLst/>
            <a:cxnLst/>
            <a:rect l="l" t="t" r="r" b="b"/>
            <a:pathLst>
              <a:path w="5501096" h="1951821">
                <a:moveTo>
                  <a:pt x="0" y="1927951"/>
                </a:moveTo>
                <a:cubicBezTo>
                  <a:pt x="1022640" y="1939886"/>
                  <a:pt x="2045280" y="1951821"/>
                  <a:pt x="2962129" y="1630496"/>
                </a:cubicBezTo>
                <a:cubicBezTo>
                  <a:pt x="3878978" y="1309171"/>
                  <a:pt x="5501096" y="0"/>
                  <a:pt x="5501096" y="0"/>
                </a:cubicBezTo>
                <a:lnTo>
                  <a:pt x="5501096" y="0"/>
                </a:lnTo>
              </a:path>
            </a:pathLst>
          </a:custGeom>
          <a:noFill/>
          <a:ln w="50800" cap="flat">
            <a:solidFill>
              <a:srgbClr val="2E75B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1855479" y="4317446"/>
            <a:ext cx="12928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Tensorflow</a:t>
            </a:r>
            <a:endParaRPr lang="en-US" sz="1100"/>
          </a:p>
        </p:txBody>
      </p:sp>
      <p:sp>
        <p:nvSpPr>
          <p:cNvPr id="17" name="AutoShape 17"/>
          <p:cNvSpPr/>
          <p:nvPr/>
        </p:nvSpPr>
        <p:spPr>
          <a:xfrm>
            <a:off x="4249757" y="3749108"/>
            <a:ext cx="95567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Pytorch</a:t>
            </a:r>
            <a:endParaRPr lang="en-US" sz="1100"/>
          </a:p>
        </p:txBody>
      </p:sp>
      <p:sp>
        <p:nvSpPr>
          <p:cNvPr id="18" name="AutoShape 18"/>
          <p:cNvSpPr/>
          <p:nvPr/>
        </p:nvSpPr>
        <p:spPr>
          <a:xfrm>
            <a:off x="1464327" y="4600935"/>
            <a:ext cx="6934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Caffe</a:t>
            </a:r>
            <a:endParaRPr lang="en-US" sz="1100"/>
          </a:p>
        </p:txBody>
      </p:sp>
      <p:sp>
        <p:nvSpPr>
          <p:cNvPr id="19" name="AutoShape 19"/>
          <p:cNvSpPr/>
          <p:nvPr/>
        </p:nvSpPr>
        <p:spPr>
          <a:xfrm>
            <a:off x="2440640" y="4689207"/>
            <a:ext cx="6724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MxNet</a:t>
            </a:r>
            <a:endParaRPr lang="en-US" sz="1100"/>
          </a:p>
        </p:txBody>
      </p:sp>
      <p:sp>
        <p:nvSpPr>
          <p:cNvPr id="20" name="AutoShape 20"/>
          <p:cNvSpPr/>
          <p:nvPr/>
        </p:nvSpPr>
        <p:spPr>
          <a:xfrm>
            <a:off x="3963241" y="4027791"/>
            <a:ext cx="125095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PaddlePaddle</a:t>
            </a:r>
            <a:endParaRPr lang="en-US" sz="1100"/>
          </a:p>
        </p:txBody>
      </p:sp>
      <p:sp>
        <p:nvSpPr>
          <p:cNvPr id="21" name="AutoShape 21"/>
          <p:cNvSpPr/>
          <p:nvPr/>
        </p:nvSpPr>
        <p:spPr>
          <a:xfrm>
            <a:off x="5085346" y="3236757"/>
            <a:ext cx="48577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Jax</a:t>
            </a:r>
            <a:endParaRPr lang="en-US" sz="1100"/>
          </a:p>
        </p:txBody>
      </p:sp>
      <p:sp>
        <p:nvSpPr>
          <p:cNvPr id="22" name="Freeform 22"/>
          <p:cNvSpPr/>
          <p:nvPr/>
        </p:nvSpPr>
        <p:spPr>
          <a:xfrm>
            <a:off x="3910363" y="2556689"/>
            <a:ext cx="5221995" cy="1830635"/>
          </a:xfrm>
          <a:custGeom>
            <a:avLst/>
            <a:gdLst/>
            <a:ahLst/>
            <a:cxnLst/>
            <a:rect l="l" t="t" r="r" b="b"/>
            <a:pathLst>
              <a:path w="5221995" h="1830635">
                <a:moveTo>
                  <a:pt x="0" y="1795750"/>
                </a:moveTo>
                <a:cubicBezTo>
                  <a:pt x="1272449" y="1813192"/>
                  <a:pt x="2544896" y="1830635"/>
                  <a:pt x="3415228" y="1531344"/>
                </a:cubicBezTo>
                <a:cubicBezTo>
                  <a:pt x="4285560" y="1232052"/>
                  <a:pt x="5221995" y="0"/>
                  <a:pt x="5221995" y="0"/>
                </a:cubicBezTo>
                <a:lnTo>
                  <a:pt x="5221995" y="0"/>
                </a:lnTo>
                <a:lnTo>
                  <a:pt x="5221995" y="0"/>
                </a:lnTo>
                <a:lnTo>
                  <a:pt x="5221995" y="0"/>
                </a:lnTo>
              </a:path>
            </a:pathLst>
          </a:custGeom>
          <a:noFill/>
          <a:ln w="50800" cap="flat">
            <a:solidFill>
              <a:srgbClr val="548235">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5875153" y="2932084"/>
            <a:ext cx="6089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Jittor</a:t>
            </a:r>
            <a:endParaRPr lang="en-US" sz="1100"/>
          </a:p>
        </p:txBody>
      </p:sp>
      <p:sp>
        <p:nvSpPr>
          <p:cNvPr id="24" name="AutoShape 24"/>
          <p:cNvSpPr/>
          <p:nvPr/>
        </p:nvSpPr>
        <p:spPr>
          <a:xfrm>
            <a:off x="5188840" y="2460109"/>
            <a:ext cx="6400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025" b="0" i="0" u="none" strike="noStrike">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Frameworks</a:t>
            </a:r>
            <a:endParaRPr lang="en-US" sz="1100"/>
          </a:p>
        </p:txBody>
      </p:sp>
      <p:sp>
        <p:nvSpPr>
          <p:cNvPr id="25" name="AutoShape 25"/>
          <p:cNvSpPr/>
          <p:nvPr/>
        </p:nvSpPr>
        <p:spPr>
          <a:xfrm>
            <a:off x="8091416" y="2280314"/>
            <a:ext cx="8686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115" b="0" i="0" u="none" strike="noStrike">
                <a:solidFill>
                  <a:srgbClr val="FF0000"/>
                </a:solidFill>
                <a:latin typeface="Calibri" panose="020F0502020204030204"/>
                <a:ea typeface="微软雅黑" panose="020B0503020204020204" charset="-122"/>
                <a:cs typeface="微软雅黑" panose="020B0503020204020204" charset="-122"/>
                <a:sym typeface="微软雅黑" panose="020B0503020204020204" charset="-122"/>
              </a:rPr>
              <a:t>Compilateurs</a:t>
            </a:r>
            <a:endParaRPr lang="en-US" sz="1100"/>
          </a:p>
        </p:txBody>
      </p:sp>
      <p:sp>
        <p:nvSpPr>
          <p:cNvPr id="26" name="AutoShape 26"/>
          <p:cNvSpPr/>
          <p:nvPr/>
        </p:nvSpPr>
        <p:spPr>
          <a:xfrm>
            <a:off x="4073262" y="4487887"/>
            <a:ext cx="60071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TVM</a:t>
            </a:r>
            <a:endParaRPr lang="en-US" sz="1100"/>
          </a:p>
        </p:txBody>
      </p:sp>
      <p:sp>
        <p:nvSpPr>
          <p:cNvPr id="27" name="AutoShape 27"/>
          <p:cNvSpPr/>
          <p:nvPr/>
        </p:nvSpPr>
        <p:spPr>
          <a:xfrm>
            <a:off x="6027260" y="4401090"/>
            <a:ext cx="6680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MLIR</a:t>
            </a:r>
            <a:endParaRPr lang="en-US" sz="1100"/>
          </a:p>
        </p:txBody>
      </p:sp>
      <p:sp>
        <p:nvSpPr>
          <p:cNvPr id="28" name="AutoShape 28"/>
          <p:cNvSpPr/>
          <p:nvPr/>
        </p:nvSpPr>
        <p:spPr>
          <a:xfrm>
            <a:off x="4003735" y="4819437"/>
            <a:ext cx="198310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Tensorcomprehensions</a:t>
            </a:r>
            <a:endParaRPr lang="en-US" sz="1100"/>
          </a:p>
        </p:txBody>
      </p:sp>
      <p:sp>
        <p:nvSpPr>
          <p:cNvPr id="29" name="AutoShape 29"/>
          <p:cNvSpPr/>
          <p:nvPr/>
        </p:nvSpPr>
        <p:spPr>
          <a:xfrm>
            <a:off x="7370495" y="3930803"/>
            <a:ext cx="159956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4472C4"/>
                </a:solidFill>
                <a:latin typeface="Calibri" panose="020F0502020204030204"/>
                <a:ea typeface="Arial" panose="020B0604020202020204"/>
                <a:cs typeface="Arial" panose="020B0604020202020204"/>
                <a:sym typeface="Arial" panose="020B0604020202020204"/>
              </a:rPr>
              <a:t>TorchInductor</a:t>
            </a:r>
            <a:endParaRPr lang="en-US" sz="1100"/>
          </a:p>
        </p:txBody>
      </p:sp>
      <p:sp>
        <p:nvSpPr>
          <p:cNvPr id="30" name="AutoShape 30"/>
          <p:cNvSpPr/>
          <p:nvPr/>
        </p:nvSpPr>
        <p:spPr>
          <a:xfrm>
            <a:off x="7062682" y="4226599"/>
            <a:ext cx="155511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4472C4"/>
                </a:solidFill>
                <a:latin typeface="Calibri" panose="020F0502020204030204"/>
                <a:ea typeface="Arial" panose="020B0604020202020204"/>
                <a:cs typeface="Arial" panose="020B0604020202020204"/>
                <a:sym typeface="Arial" panose="020B0604020202020204"/>
              </a:rPr>
              <a:t>OpenAI Triton</a:t>
            </a:r>
            <a:endParaRPr lang="en-US" sz="1100"/>
          </a:p>
        </p:txBody>
      </p:sp>
      <p:sp>
        <p:nvSpPr>
          <p:cNvPr id="31" name="AutoShape 31"/>
          <p:cNvSpPr/>
          <p:nvPr/>
        </p:nvSpPr>
        <p:spPr>
          <a:xfrm>
            <a:off x="8161769" y="3552909"/>
            <a:ext cx="10769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OpenXLA</a:t>
            </a:r>
            <a:endParaRPr lang="en-US" sz="1100"/>
          </a:p>
        </p:txBody>
      </p:sp>
      <p:sp>
        <p:nvSpPr>
          <p:cNvPr id="32" name="AutoShape 32"/>
          <p:cNvSpPr/>
          <p:nvPr/>
        </p:nvSpPr>
        <p:spPr>
          <a:xfrm>
            <a:off x="5188840" y="4422846"/>
            <a:ext cx="54927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XLA</a:t>
            </a:r>
            <a:endParaRPr lang="en-US" sz="1100"/>
          </a:p>
        </p:txBody>
      </p:sp>
      <p:sp>
        <p:nvSpPr>
          <p:cNvPr id="33" name="AutoShape 33"/>
          <p:cNvSpPr/>
          <p:nvPr/>
        </p:nvSpPr>
        <p:spPr>
          <a:xfrm>
            <a:off x="8872894" y="2913362"/>
            <a:ext cx="6648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Mojo</a:t>
            </a:r>
            <a:endParaRPr lang="en-US" sz="1100"/>
          </a:p>
        </p:txBody>
      </p:sp>
      <p:sp>
        <p:nvSpPr>
          <p:cNvPr id="34" name="Freeform 34"/>
          <p:cNvSpPr/>
          <p:nvPr/>
        </p:nvSpPr>
        <p:spPr>
          <a:xfrm>
            <a:off x="7629424" y="2205213"/>
            <a:ext cx="3926142" cy="2562112"/>
          </a:xfrm>
          <a:custGeom>
            <a:avLst/>
            <a:gdLst/>
            <a:ahLst/>
            <a:cxnLst/>
            <a:rect l="l" t="t" r="r" b="b"/>
            <a:pathLst>
              <a:path w="3926142" h="2562112">
                <a:moveTo>
                  <a:pt x="0" y="2513286"/>
                </a:moveTo>
                <a:cubicBezTo>
                  <a:pt x="956686" y="2537699"/>
                  <a:pt x="1913372" y="2562112"/>
                  <a:pt x="2567729" y="2143232"/>
                </a:cubicBezTo>
                <a:cubicBezTo>
                  <a:pt x="3222085" y="1724351"/>
                  <a:pt x="3926142" y="0"/>
                  <a:pt x="3926142" y="0"/>
                </a:cubicBezTo>
                <a:lnTo>
                  <a:pt x="3926142" y="0"/>
                </a:lnTo>
                <a:lnTo>
                  <a:pt x="3926142" y="0"/>
                </a:lnTo>
                <a:lnTo>
                  <a:pt x="3926142" y="0"/>
                </a:lnTo>
              </a:path>
            </a:pathLst>
          </a:custGeom>
          <a:noFill/>
          <a:ln w="508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8161769" y="4804129"/>
            <a:ext cx="112712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FlashAttn</a:t>
            </a:r>
            <a:endParaRPr lang="en-US" sz="1100"/>
          </a:p>
        </p:txBody>
      </p:sp>
      <p:sp>
        <p:nvSpPr>
          <p:cNvPr id="36" name="AutoShape 36"/>
          <p:cNvSpPr/>
          <p:nvPr/>
        </p:nvSpPr>
        <p:spPr>
          <a:xfrm>
            <a:off x="10560724" y="2071171"/>
            <a:ext cx="58293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700" b="0" i="0" u="none" strike="noStrike">
                <a:solidFill>
                  <a:srgbClr val="FF0000"/>
                </a:solidFill>
                <a:latin typeface="Calibri" panose="020F0502020204030204"/>
                <a:ea typeface="Arial" panose="020B0604020202020204"/>
                <a:cs typeface="Arial" panose="020B0604020202020204"/>
                <a:sym typeface="Arial" panose="020B0604020202020204"/>
              </a:rPr>
              <a:t>Grands modèles de langage</a:t>
            </a:r>
            <a:endParaRPr lang="en-US" sz="1100"/>
          </a:p>
        </p:txBody>
      </p:sp>
      <p:sp>
        <p:nvSpPr>
          <p:cNvPr id="37" name="AutoShape 37"/>
          <p:cNvSpPr/>
          <p:nvPr/>
        </p:nvSpPr>
        <p:spPr>
          <a:xfrm>
            <a:off x="9160969" y="4634435"/>
            <a:ext cx="190817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Segment anything fast</a:t>
            </a:r>
            <a:endParaRPr lang="en-US" sz="1100"/>
          </a:p>
        </p:txBody>
      </p:sp>
      <p:sp>
        <p:nvSpPr>
          <p:cNvPr id="38" name="AutoShape 38"/>
          <p:cNvSpPr/>
          <p:nvPr/>
        </p:nvSpPr>
        <p:spPr>
          <a:xfrm>
            <a:off x="10296760" y="4137627"/>
            <a:ext cx="9347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unsloth</a:t>
            </a:r>
            <a:endParaRPr lang="en-US" sz="1100"/>
          </a:p>
        </p:txBody>
      </p:sp>
      <p:sp>
        <p:nvSpPr>
          <p:cNvPr id="39" name="AutoShape 39"/>
          <p:cNvSpPr/>
          <p:nvPr/>
        </p:nvSpPr>
        <p:spPr>
          <a:xfrm>
            <a:off x="9897939" y="4380765"/>
            <a:ext cx="88455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gptfast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3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Pourquoi choisir</a:t>
            </a:r>
            <a:r>
              <a:rPr lang="en-US" sz="2325" b="0" i="0" u="none" strike="noStrike">
                <a:solidFill>
                  <a:srgbClr val="262626"/>
                </a:solidFill>
                <a:latin typeface="Calibri" panose="020F0502020204030204"/>
                <a:ea typeface="Calibri" panose="020F0502020204030204"/>
                <a:cs typeface="Calibri" panose="020F0502020204030204"/>
                <a:sym typeface="Calibri" panose="020F0502020204030204"/>
              </a:rPr>
              <a:t> Triton</a:t>
            </a:r>
            <a:r>
              <a:rPr lang="en-US" sz="23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Rechercher un équilibre entre productivité et performance</a:t>
            </a:r>
            <a:endParaRPr lang="en-US" sz="20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dilemme productivité-performance</a:t>
            </a:r>
            <a:endPar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PyTorch </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autres frameworks</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Haute productivité, mais </a:t>
            </a:r>
            <a:r>
              <a:rPr 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fusion</a:t>
            </a:r>
            <a:r>
              <a:rPr 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d'opérateurs personnalisés nécessite généralement CUDA C++</a:t>
            </a:r>
            <a:r>
              <a:rPr 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 CUDA C++ </a:t>
            </a: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éviter les surcoûts</a:t>
            </a:r>
            <a:endPar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CUDA C++</a:t>
            </a:r>
            <a:endPar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altLang="zh-CN"/>
              <a:t>Permet d’exploiter pleinement les ressources mat</a:t>
            </a:r>
            <a:r>
              <a:rPr lang="en-US" altLang="en-US"/>
              <a:t>é</a:t>
            </a:r>
            <a:r>
              <a:rPr lang="en-US" altLang="zh-CN"/>
              <a:t>rielles, mais la r</a:t>
            </a:r>
            <a:r>
              <a:rPr lang="en-US" altLang="en-US"/>
              <a:t>é</a:t>
            </a:r>
            <a:r>
              <a:rPr lang="en-US" altLang="zh-CN"/>
              <a:t>daction, le d</a:t>
            </a:r>
            <a:r>
              <a:rPr lang="en-US" altLang="en-US"/>
              <a:t>é</a:t>
            </a:r>
            <a:r>
              <a:rPr lang="en-US" altLang="zh-CN"/>
              <a:t>bogage et la maintenance sont extr</a:t>
            </a:r>
            <a:r>
              <a:rPr lang="en-US" altLang="en-US"/>
              <a:t>ê</a:t>
            </a:r>
            <a:r>
              <a:rPr lang="en-US" altLang="zh-CN"/>
              <a:t>mement difficiles</a:t>
            </a:r>
            <a:endParaRPr lang="en-US" altLang="zh-CN"/>
          </a:p>
          <a:p>
            <a:pPr marL="596900" lvl="1" indent="-254000" algn="l">
              <a:lnSpc>
                <a:spcPct val="100000"/>
              </a:lnSpc>
              <a:spcBef>
                <a:spcPts val="75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L'écart</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plupart des chercheurs ne peuvent pas passer des semaines à optimiser un seul</a:t>
            </a:r>
            <a:r>
              <a:rPr 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 CUDA </a:t>
            </a: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noyau</a:t>
            </a:r>
            <a:endPar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1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Triton</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pour</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arme secrète</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Abstraction au niveau bloc</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 besoin de gérer des threads individuels, seulement des blocs de données.</a:t>
            </a:r>
            <a:endPar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Parallélisation automatique</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compilateur gère automatiquement la fusion d'accès mémoire, l'allocation de mémoire partagée et l'ordonnancement matériel.</a:t>
            </a:r>
            <a:endPar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a:t>Soutien d’OpenAI</a:t>
            </a:r>
            <a:endParaRPr lang="en-US" altLang="zh-CN"/>
          </a:p>
          <a:p>
            <a:pPr marL="889000" lvl="2" indent="-203200" algn="l">
              <a:lnSpc>
                <a:spcPct val="100000"/>
              </a:lnSpc>
              <a:spcBef>
                <a:spcPts val="750"/>
              </a:spcBef>
              <a:buClr>
                <a:srgbClr val="404040"/>
              </a:buClr>
              <a:buChar char="•"/>
            </a:pP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Développé spécifiquement pour rendre la programmation</a:t>
            </a:r>
            <a:r>
              <a:rPr lang="en-US" sz="131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31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31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prochains mod</a:t>
            </a:r>
            <a:r>
              <a:rPr lang="en-US" alt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d’IA plus accessible</a:t>
            </a:r>
            <a:r>
              <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odèle d'exécution de </a:t>
            </a:r>
            <a:r>
              <a:rPr lang="en-US" sz="3075">
                <a:solidFill>
                  <a:srgbClr val="262626"/>
                </a:solidFill>
                <a:ea typeface="Calibri" panose="020F0502020204030204"/>
                <a:cs typeface="Calibri" panose="020F0502020204030204"/>
                <a:sym typeface="Calibri" panose="020F0502020204030204"/>
              </a:rPr>
              <a:t>Triton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微软雅黑" panose="020B0503020204020204" charset="-122"/>
              </a:defRPr>
            </a:lvl1pPr>
          </a:lstStyle>
          <a:p>
            <a:pPr marL="292100" indent="-292100" algn="l">
              <a:lnSpc>
                <a:spcPct val="100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thread au bloc</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CUDA</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centré sur les threads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Thread</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warps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Warp</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développeurs doivent gérer manuellement la synchronisation et la mémoire partagée.</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odèle </a:t>
            </a:r>
            <a:r>
              <a:rPr lang="en-US" sz="1510">
                <a:solidFill>
                  <a:srgbClr val="404040"/>
                </a:solidFill>
                <a:latin typeface="Calibri" panose="020F0502020204030204"/>
                <a:ea typeface="Calibri" panose="020F0502020204030204"/>
                <a:cs typeface="Calibri" panose="020F0502020204030204"/>
                <a:sym typeface="Calibri" panose="020F0502020204030204"/>
              </a:rPr>
              <a:t>Triton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centré sur les programmes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Program</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blocs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Block</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code manipule les données par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tuiles</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Block</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comme unité de base.</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Composants clés</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Grille (espace de coordonnées) : une grille est un espace d'exécution d'instances à une, deux ou trois dimensions. Lors du lancement d'un noyau</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(kernel)</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il faut définir la taille de la grille (par exemple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grid=(1024,)</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point dans la grille est appelé un programme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Program</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Programme (instance) : un programme est une instance d'exécution indépendante du noyau</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(kernel)</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s'exécutant en parallèle sur les unités de calcul du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programme s'identifie via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tl.program_id(axis)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00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 (unité de données) : un bloc est un fragment de données continu traité par un programme (c'est-à-dire une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tuile</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Contrainte : la taille du bloc doit être une puissance de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2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exemple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128</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256</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512</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1024</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afin de supporter les optimisations matérielles.</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des kernels et arithm</a:t>
            </a:r>
            <a:r>
              <a:rPr lang="en-US" alt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tique des pointeurs </a:t>
            </a:r>
            <a:endPar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微软雅黑" panose="020B0503020204020204" charset="-122"/>
              </a:defRPr>
            </a:lvl1pPr>
          </a:lstStyle>
          <a:p>
            <a:pPr marL="292100" indent="-292100" algn="l">
              <a:lnSpc>
                <a:spcPct val="92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Définition</a:t>
            </a:r>
            <a:r>
              <a:rPr lang="en-US" sz="1795" b="0" i="0" u="none" strike="noStrike">
                <a:solidFill>
                  <a:srgbClr val="404040"/>
                </a:solidFill>
                <a:latin typeface="Calibri" panose="020F0502020204030204"/>
                <a:ea typeface="Calibri" panose="020F0502020204030204"/>
                <a:cs typeface="Calibri" panose="020F0502020204030204"/>
                <a:sym typeface="Calibri" panose="020F0502020204030204"/>
              </a:rPr>
              <a:t> d'une fonction noyau </a:t>
            </a: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Décorateur </a:t>
            </a:r>
            <a:r>
              <a:rPr lang="en-US" sz="1560">
                <a:solidFill>
                  <a:srgbClr val="404040"/>
                </a:solidFill>
                <a:latin typeface="Calibri" panose="020F0502020204030204"/>
                <a:ea typeface="Calibri" panose="020F0502020204030204"/>
                <a:cs typeface="Calibri" panose="020F0502020204030204"/>
                <a:sym typeface="Calibri" panose="020F0502020204030204"/>
              </a:rPr>
              <a:t>@triton.jit </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convertit une fonction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Python </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standard en un noyau exécutable sur le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Signature de la fonction :</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92000"/>
              </a:lnSpc>
              <a:spcBef>
                <a:spcPts val="750"/>
              </a:spcBef>
              <a:buClr>
                <a:srgbClr val="404040"/>
              </a:buClr>
              <a:buChar char="•"/>
            </a:pP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Pointeurs : adresses mémoire d'entrée</a:t>
            </a:r>
            <a:r>
              <a:rPr lang="en-US" sz="125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sortie (par exemple </a:t>
            </a:r>
            <a:r>
              <a:rPr lang="en-US" sz="1250" b="0" i="0" u="none" strike="noStrike">
                <a:solidFill>
                  <a:srgbClr val="404040"/>
                </a:solidFill>
                <a:latin typeface="Calibri" panose="020F0502020204030204"/>
                <a:ea typeface="Calibri" panose="020F0502020204030204"/>
                <a:cs typeface="Calibri" panose="020F0502020204030204"/>
                <a:sym typeface="Calibri" panose="020F0502020204030204"/>
              </a:rPr>
              <a:t> x_ptr</a:t>
            </a: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92000"/>
              </a:lnSpc>
              <a:spcBef>
                <a:spcPts val="750"/>
              </a:spcBef>
              <a:buClr>
                <a:srgbClr val="404040"/>
              </a:buClr>
              <a:buChar char="•"/>
            </a:pP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Métadonnées : constantes de taille ou pas (par exemple </a:t>
            </a:r>
            <a:r>
              <a:rPr lang="en-US" sz="1250" b="0" i="0" u="none" strike="noStrike">
                <a:solidFill>
                  <a:srgbClr val="404040"/>
                </a:solidFill>
                <a:latin typeface="Calibri" panose="020F0502020204030204"/>
                <a:ea typeface="Calibri" panose="020F0502020204030204"/>
                <a:cs typeface="Calibri" panose="020F0502020204030204"/>
                <a:sym typeface="Calibri" panose="020F0502020204030204"/>
              </a:rPr>
              <a:t> n_elements</a:t>
            </a: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250" b="0" i="0" u="none" strike="noStrike">
                <a:solidFill>
                  <a:srgbClr val="404040"/>
                </a:solidFill>
                <a:latin typeface="Calibri" panose="020F0502020204030204"/>
                <a:ea typeface="Calibri" panose="020F0502020204030204"/>
                <a:cs typeface="Calibri" panose="020F0502020204030204"/>
                <a:sym typeface="Calibri" panose="020F0502020204030204"/>
              </a:rPr>
              <a:t>tl.constexpr</a:t>
            </a: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a:t>
            </a:r>
            <a:r>
              <a:rPr lang="en-US" alt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sp</a:t>
            </a:r>
            <a:r>
              <a:rPr lang="en-US" alt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ciaux d</a:t>
            </a:r>
            <a:r>
              <a:rPr lang="en-US" alt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a:t>
            </a:r>
            <a:r>
              <a:rPr lang="en-US" alt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à la compilation</a:t>
            </a: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exemple </a:t>
            </a:r>
            <a:r>
              <a:rPr lang="en-US" sz="1250" b="0" i="0" u="none" strike="noStrike">
                <a:solidFill>
                  <a:srgbClr val="404040"/>
                </a:solidFill>
                <a:latin typeface="Calibri" panose="020F0502020204030204"/>
                <a:ea typeface="Calibri" panose="020F0502020204030204"/>
                <a:cs typeface="Calibri" panose="020F0502020204030204"/>
                <a:sym typeface="Calibri" panose="020F0502020204030204"/>
              </a:rPr>
              <a:t> BLOCK_SIZE</a:t>
            </a:r>
            <a:r>
              <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Logique principale : arithmétique de pointeurs</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Identifier le programme :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pid = tl.program_id(axis=0)    </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l'offset de départ :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block_start = pid * BLOCK_SIZE</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Générer la plage d'offsets :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offsets = block_start + tl.arange(0, BLOCK_SIZE)</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Construire les pointeurs :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pointers = base_ptr + offsets</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Visualisation du mapping d'adresses</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tl.arange(0, 4) -&gt; [0, 1, 2, 3]</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base_ptr + [0, 1, 2, 3] -&gt; un vecteur de </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4 adresses mémoire.</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Opérations mémoire</a:t>
            </a:r>
            <a:r>
              <a:rPr lang="en-US" sz="2845" b="0" i="0" u="none" strike="noStrike">
                <a:solidFill>
                  <a:srgbClr val="262626"/>
                </a:solidFill>
                <a:latin typeface="Calibri" panose="020F0502020204030204"/>
                <a:ea typeface="Calibri" panose="020F0502020204030204"/>
                <a:cs typeface="Calibri" panose="020F0502020204030204"/>
                <a:sym typeface="Calibri" panose="020F0502020204030204"/>
              </a:rPr>
              <a:t>—</a:t>
            </a:r>
            <a:r>
              <a:rPr lang="en-US" sz="28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chargement, stockage et masquage</a:t>
            </a:r>
            <a:endParaRPr lang="en-US" sz="28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Pont de données : mémoire globale (</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DRAM</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↔SRAM/</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tl.load(pointers, mask)</a:t>
            </a:r>
            <a:endPar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Lit un bloc de données depuis les adresses spécifiées par les pointeurs.</a:t>
            </a:r>
            <a:endPar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Efficacité : </a:t>
            </a:r>
            <a:r>
              <a:rPr lang="en-US" sz="1175"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garantit automatiquement </a:t>
            </a:r>
            <a:r>
              <a:rPr lang="en-US" sz="117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l'accès mémoire coalescent</a:t>
            </a:r>
            <a:r>
              <a:rPr lang="en-US" sz="117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c'est-à-dire que le matériel lit les données de la manière la plus efficace en mode rafale.</a:t>
            </a:r>
            <a:endPar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tl.store(pointers, data, mask)</a:t>
            </a:r>
            <a:endPar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Écrit les résultats du calcul depuis les registres vers la mémoire globale.</a:t>
            </a:r>
            <a:endParaRPr lang="en-US" sz="11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Nécessité du masquage</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 que la taille de bloc soit une puissance de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 2 </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exemple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 512</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alors que la quantité réelle de données peut ne pas l'être (par exemple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 500 </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éléments), il faut prévenir les accès mémoire hors limites.</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Logique : créer un masque booléen où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 offsets &lt; total_elements</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de syntaxe :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mask = offsets &lt; n_elements    data = tl.load(ptr + offsets, mask=mask)</a:t>
            </a:r>
            <a:endPar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 lorsque le masque est f</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alse </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l'opération est ignorée en toute sécurité, prévenant ainsi les erreurs de segmentation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Segmentation Fault</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Etude de cas </a:t>
            </a:r>
            <a:r>
              <a:rPr lang="en-US" sz="288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Fonction noyau d'addition vectorielle</a:t>
            </a:r>
            <a:endParaRPr 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p:nvPr/>
        </p:nvSpPr>
        <p:spPr>
          <a:xfrm>
            <a:off x="1904365" y="1323975"/>
            <a:ext cx="9342120" cy="5363845"/>
          </a:xfrm>
          <a:prstGeom prst="rect">
            <a:avLst/>
          </a:prstGeom>
          <a:noFill/>
          <a:ln w="12700">
            <a:solidFill>
              <a:srgbClr val="262626">
                <a:alpha val="100000"/>
              </a:srgbClr>
            </a:solidFill>
            <a:prstDash val="solid"/>
          </a:ln>
        </p:spPr>
        <p:txBody>
          <a:bodyPr wrap="square" lIns="91440" tIns="45720" rIns="91440" bIns="45720" rtlCol="0" anchor="t">
            <a:noAutofit/>
          </a:bodyPr>
          <a:lstStyle/>
          <a:p>
            <a:pPr indent="0" algn="l">
              <a:lnSpc>
                <a:spcPct val="100000"/>
              </a:lnSpc>
              <a:defRPr/>
            </a:pPr>
            <a:r>
              <a:rPr lang="en-US" sz="975" b="0" i="0" u="none" strike="noStrike">
                <a:solidFill>
                  <a:srgbClr val="000000"/>
                </a:solidFill>
                <a:latin typeface="Droid Sans Mono"/>
                <a:ea typeface="Droid Sans Mono"/>
                <a:cs typeface="Droid Sans Mono"/>
                <a:sym typeface="Droid Sans Mono"/>
              </a:rPr>
              <a:t>import triton</a:t>
            </a:r>
            <a:endParaRPr lang="en-US" sz="1100"/>
          </a:p>
          <a:p>
            <a:pPr indent="0" algn="l">
              <a:lnSpc>
                <a:spcPct val="100000"/>
              </a:lnSpc>
            </a:pPr>
            <a:r>
              <a:rPr lang="en-US" sz="975" b="0" i="0" u="none" strike="noStrike">
                <a:solidFill>
                  <a:srgbClr val="000000"/>
                </a:solidFill>
                <a:latin typeface="Droid Sans Mono"/>
                <a:ea typeface="Droid Sans Mono"/>
                <a:cs typeface="Droid Sans Mono"/>
                <a:sym typeface="Droid Sans Mono"/>
              </a:rPr>
              <a:t>import triton.language as tl</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p>
          <a:p>
            <a:pPr indent="0" algn="l">
              <a:lnSpc>
                <a:spcPct val="100000"/>
              </a:lnSpc>
            </a:pPr>
            <a:r>
              <a:rPr lang="en-US" sz="975" b="0" i="0" u="none" strike="noStrike">
                <a:solidFill>
                  <a:srgbClr val="000000"/>
                </a:solidFill>
                <a:latin typeface="Droid Sans Mono"/>
                <a:ea typeface="Droid Sans Mono"/>
                <a:cs typeface="Droid Sans Mono"/>
                <a:sym typeface="Droid Sans Mono"/>
              </a:rPr>
              <a:t>@triton.jit</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def add_kernel(</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x_ptr,  #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pointeur vers le premier vecteur d'entree</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y_ptr,  #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pointeur vers le deuxieme vecteur d'entree</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out_ptr, #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pointeur vers le vecteur de sortie</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n_elements, #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taille du vecteur</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BLOCK_SIZE: tl.constexpr, #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constante a la compilation</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 1.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Determiner quel bloc ce programme traite</a:t>
            </a:r>
            <a:r>
              <a:rPr lang="en-US" sz="975" b="0" i="0" u="none" strike="noStrike">
                <a:solidFill>
                  <a:srgbClr val="000000"/>
                </a:solidFill>
                <a:latin typeface="Droid Sans Mono"/>
                <a:ea typeface="Droid Sans Mono"/>
                <a:cs typeface="Droid Sans Mono"/>
                <a:sym typeface="Droid Sans Mono"/>
              </a:rPr>
              <a:t>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bloc</a:t>
            </a:r>
            <a:r>
              <a:rPr lang="en-US" sz="975" b="0" i="0" u="none" strike="noStrike">
                <a:solidFill>
                  <a:srgbClr val="000000"/>
                </a:solidFill>
                <a:latin typeface="Droid Sans Mono"/>
                <a:ea typeface="Droid Sans Mono"/>
                <a:cs typeface="Droid Sans Mono"/>
                <a:sym typeface="Droid Sans Mono"/>
              </a:rPr>
              <a:t>"</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pid = tl.program_id(axis=0) </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 2.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Calculer les offsets mémoire</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block_start = pid * BLOCK_SIZE</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offsets = block_start + tl.arange(0, BLOCK_SIZE)</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 3.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Creer un masque pour eviter les acces hors limites</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mask = offsets &lt; n_elements</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 4.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Charger les données depuis</a:t>
            </a:r>
            <a:r>
              <a:rPr lang="en-US" sz="975" b="0" i="0" u="none" strike="noStrike">
                <a:solidFill>
                  <a:srgbClr val="000000"/>
                </a:solidFill>
                <a:latin typeface="Droid Sans Mono"/>
                <a:ea typeface="Droid Sans Mono"/>
                <a:cs typeface="Droid Sans Mono"/>
                <a:sym typeface="Droid Sans Mono"/>
              </a:rPr>
              <a:t> DRAM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vers les registres</a:t>
            </a:r>
            <a:endPar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x = tl.load(x_ptr + offsets, mask=mask)</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y = tl.load(y_ptr + offsets, mask=mask)</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 5. </a:t>
            </a:r>
            <a:r>
              <a:rPr lang="en-US" sz="9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Executer le calcul et stocker le resultat dans</a:t>
            </a:r>
            <a:r>
              <a:rPr lang="en-US" sz="975" b="0" i="0" u="none" strike="noStrike">
                <a:solidFill>
                  <a:srgbClr val="000000"/>
                </a:solidFill>
                <a:latin typeface="Droid Sans Mono"/>
                <a:ea typeface="Droid Sans Mono"/>
                <a:cs typeface="Droid Sans Mono"/>
                <a:sym typeface="Droid Sans Mono"/>
              </a:rPr>
              <a:t> DRAM</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output = x + y</a:t>
            </a:r>
            <a:endParaRPr lang="en-US" sz="975" b="0" i="0" u="none" strike="noStrike">
              <a:solidFill>
                <a:srgbClr val="000000"/>
              </a:solidFill>
              <a:latin typeface="Droid Sans Mono"/>
              <a:ea typeface="Droid Sans Mono"/>
              <a:cs typeface="Droid Sans Mono"/>
              <a:sym typeface="Droid Sans Mono"/>
            </a:endParaRPr>
          </a:p>
          <a:p>
            <a:pPr indent="0" algn="l">
              <a:lnSpc>
                <a:spcPct val="100000"/>
              </a:lnSpc>
            </a:pPr>
            <a:r>
              <a:rPr lang="en-US" sz="975" b="0" i="0" u="none" strike="noStrike">
                <a:solidFill>
                  <a:srgbClr val="000000"/>
                </a:solidFill>
                <a:latin typeface="Droid Sans Mono"/>
                <a:ea typeface="Droid Sans Mono"/>
                <a:cs typeface="Droid Sans Mono"/>
                <a:sym typeface="Droid Sans Mono"/>
              </a:rPr>
              <a:t>    tl.store(out_ptr + offsets, output, mask=mask)</a:t>
            </a:r>
            <a:endParaRPr lang="en-US" sz="975"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Lancer une fonction noyau depuis</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Python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Interaction hôte-dispositif</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la taille de grille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85800" lvl="2" indent="0" algn="l">
              <a:lnSpc>
                <a:spcPct val="100000"/>
              </a:lnSpc>
              <a:spcBef>
                <a:spcPts val="750"/>
              </a:spcBef>
            </a:pPr>
          </a:p>
          <a:p>
            <a:pPr marL="685800" lvl="2"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Syntaxe d'appel</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85800" lvl="2" indent="0" algn="l">
              <a:lnSpc>
                <a:spcPct val="100000"/>
              </a:lnSpc>
              <a:spcBef>
                <a:spcPts val="750"/>
              </a:spcBef>
            </a:pPr>
          </a:p>
          <a:p>
            <a:pPr marL="685800" lvl="2" indent="0" algn="l">
              <a:lnSpc>
                <a:spcPct val="100000"/>
              </a:lnSpc>
              <a:spcBef>
                <a:spcPts val="750"/>
              </a:spcBef>
            </a:pPr>
          </a:p>
          <a:p>
            <a:pPr marL="685800" lvl="2"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Mecanismes cles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Compilation paresseuse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compile la fonction noyau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(kernel)</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lors de son premier appel, les appels suivants sont presque sans latence.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Auto-optimisation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tester automatiquement differentes valeurs de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BLOCK_SIZE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trouver la configuration optimale pour un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specifique.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172210" y="2129790"/>
            <a:ext cx="6407150" cy="460375"/>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692150" lvl="2" indent="-152400" algn="l">
              <a:lnSpc>
                <a:spcPct val="100000"/>
              </a:lnSpc>
              <a:buChar char=" "/>
              <a:defRPr/>
            </a:pPr>
            <a:r>
              <a:rPr lang="en-US" sz="930" b="0" i="0" u="none" strike="noStrike">
                <a:solidFill>
                  <a:srgbClr val="000000"/>
                </a:solidFill>
                <a:latin typeface="Droid Sans Mono"/>
                <a:ea typeface="Droid Sans Mono"/>
                <a:cs typeface="Droid Sans Mono"/>
                <a:sym typeface="Droid Sans Mono"/>
              </a:rPr>
              <a:t># </a:t>
            </a:r>
            <a:r>
              <a:rPr lang="en-US" sz="93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Modele courant pour calculer la taille de grille</a:t>
            </a:r>
            <a:endParaRPr lang="en-US" sz="1100"/>
          </a:p>
          <a:p>
            <a:pPr marL="692150" lvl="2" indent="-152400" algn="l">
              <a:lnSpc>
                <a:spcPct val="100000"/>
              </a:lnSpc>
              <a:buChar char=" "/>
            </a:pPr>
            <a:r>
              <a:rPr lang="en-US" sz="930" b="0" i="0" u="none" strike="noStrike">
                <a:solidFill>
                  <a:srgbClr val="000000"/>
                </a:solidFill>
                <a:latin typeface="Droid Sans Mono"/>
                <a:ea typeface="Droid Sans Mono"/>
                <a:cs typeface="Droid Sans Mono"/>
                <a:sym typeface="Droid Sans Mono"/>
              </a:rPr>
              <a:t>grid = lambda meta: (triton.cdiv(n_elements, meta['BLOCK_SIZE']), )</a:t>
            </a:r>
            <a:endParaRPr lang="en-US" sz="930" b="0" i="0" u="none" strike="noStrike">
              <a:solidFill>
                <a:srgbClr val="000000"/>
              </a:solidFill>
              <a:latin typeface="Droid Sans Mono"/>
              <a:ea typeface="Droid Sans Mono"/>
              <a:cs typeface="Droid Sans Mono"/>
              <a:sym typeface="Droid Sans Mono"/>
            </a:endParaRPr>
          </a:p>
        </p:txBody>
      </p:sp>
      <p:sp>
        <p:nvSpPr>
          <p:cNvPr id="7" name="AutoShape 7"/>
          <p:cNvSpPr/>
          <p:nvPr/>
        </p:nvSpPr>
        <p:spPr>
          <a:xfrm>
            <a:off x="1172210" y="3145790"/>
            <a:ext cx="6407150" cy="8026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692150" lvl="2" indent="-152400" algn="l">
              <a:lnSpc>
                <a:spcPct val="100000"/>
              </a:lnSpc>
              <a:buChar char=" "/>
              <a:defRPr/>
            </a:pPr>
            <a:r>
              <a:rPr lang="en-US" sz="895" b="0" i="0" u="none" strike="noStrike">
                <a:solidFill>
                  <a:srgbClr val="000000"/>
                </a:solidFill>
                <a:latin typeface="Droid Sans Mono"/>
                <a:ea typeface="Droid Sans Mono"/>
                <a:cs typeface="Droid Sans Mono"/>
                <a:sym typeface="Droid Sans Mono"/>
              </a:rPr>
              <a:t>add_kernel[grid](</a:t>
            </a:r>
            <a:endParaRPr lang="en-US" sz="1100"/>
          </a:p>
          <a:p>
            <a:pPr marL="692150" lvl="2" indent="-152400" algn="l">
              <a:lnSpc>
                <a:spcPct val="100000"/>
              </a:lnSpc>
              <a:buChar char=" "/>
            </a:pPr>
            <a:r>
              <a:rPr lang="en-US" sz="895" b="0" i="0" u="none" strike="noStrike">
                <a:solidFill>
                  <a:srgbClr val="000000"/>
                </a:solidFill>
                <a:latin typeface="Droid Sans Mono"/>
                <a:ea typeface="Droid Sans Mono"/>
                <a:cs typeface="Droid Sans Mono"/>
                <a:sym typeface="Droid Sans Mono"/>
              </a:rPr>
              <a:t>    x, y, output, n_elements, </a:t>
            </a:r>
            <a:endParaRPr lang="en-US" sz="895" b="0" i="0" u="none" strike="noStrike">
              <a:solidFill>
                <a:srgbClr val="000000"/>
              </a:solidFill>
              <a:latin typeface="Droid Sans Mono"/>
              <a:ea typeface="Droid Sans Mono"/>
              <a:cs typeface="Droid Sans Mono"/>
              <a:sym typeface="Droid Sans Mono"/>
            </a:endParaRPr>
          </a:p>
          <a:p>
            <a:pPr marL="692150" lvl="2" indent="-152400" algn="l">
              <a:lnSpc>
                <a:spcPct val="100000"/>
              </a:lnSpc>
              <a:buChar char=" "/>
            </a:pPr>
            <a:r>
              <a:rPr lang="en-US" sz="895" b="0" i="0" u="none" strike="noStrike">
                <a:solidFill>
                  <a:srgbClr val="000000"/>
                </a:solidFill>
                <a:latin typeface="Droid Sans Mono"/>
                <a:ea typeface="Droid Sans Mono"/>
                <a:cs typeface="Droid Sans Mono"/>
                <a:sym typeface="Droid Sans Mono"/>
              </a:rPr>
              <a:t>    BLOCK_SIZE=1024  # </a:t>
            </a:r>
            <a:r>
              <a:rPr lang="en-US" sz="8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passe comme</a:t>
            </a:r>
            <a:r>
              <a:rPr lang="en-US" sz="895" b="0" i="0" u="none" strike="noStrike">
                <a:solidFill>
                  <a:srgbClr val="000000"/>
                </a:solidFill>
                <a:latin typeface="Droid Sans Mono"/>
                <a:ea typeface="Droid Sans Mono"/>
                <a:cs typeface="Droid Sans Mono"/>
                <a:sym typeface="Droid Sans Mono"/>
              </a:rPr>
              <a:t> tl.constexpr </a:t>
            </a:r>
            <a:endParaRPr lang="en-US" sz="895" b="0" i="0" u="none" strike="noStrike">
              <a:solidFill>
                <a:srgbClr val="000000"/>
              </a:solidFill>
              <a:latin typeface="Droid Sans Mono"/>
              <a:ea typeface="Droid Sans Mono"/>
              <a:cs typeface="Droid Sans Mono"/>
              <a:sym typeface="Droid Sans Mono"/>
            </a:endParaRPr>
          </a:p>
          <a:p>
            <a:pPr marL="692150" lvl="2" indent="-152400" algn="l">
              <a:lnSpc>
                <a:spcPct val="100000"/>
              </a:lnSpc>
              <a:buChar char=" "/>
            </a:pPr>
            <a:r>
              <a:rPr lang="en-US" sz="895" b="0" i="0" u="none" strike="noStrike">
                <a:solidFill>
                  <a:srgbClr val="000000"/>
                </a:solidFill>
                <a:latin typeface="Droid Sans Mono"/>
                <a:ea typeface="Droid Sans Mono"/>
                <a:cs typeface="Droid Sans Mono"/>
                <a:sym typeface="Droid Sans Mono"/>
              </a:rPr>
              <a:t>)</a:t>
            </a:r>
            <a:endParaRPr lang="en-US" sz="895"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微软雅黑" panose="020B0503020204020204" charset="-122"/>
              </a:defRPr>
            </a:lvl1pPr>
          </a:lstStyle>
          <a:p>
            <a:pPr indent="0" algn="l">
              <a:lnSpc>
                <a:spcPct val="100000"/>
              </a:lnSpc>
            </a:pPr>
            <a:r>
              <a:rPr lang="en-US" sz="23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Puissance des constantes a la compilation et specialisation des fonctions noyau</a:t>
            </a:r>
            <a:endParaRPr lang="en-US" sz="23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Pourquoi utiliser</a:t>
            </a:r>
            <a:r>
              <a:rPr lang="en-US" sz="1950" b="0" i="0" u="none" strike="noStrike">
                <a:solidFill>
                  <a:srgbClr val="404040"/>
                </a:solidFill>
                <a:latin typeface="Calibri" panose="020F0502020204030204"/>
                <a:ea typeface="Calibri" panose="020F0502020204030204"/>
                <a:cs typeface="Calibri" panose="020F0502020204030204"/>
                <a:sym typeface="Calibri" panose="020F0502020204030204"/>
              </a:rPr>
              <a:t> tl.constexpr</a:t>
            </a:r>
            <a:r>
              <a:rPr lang="en-US" sz="19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Deroulement de boucle : si le nombre d'iterations est une constante, le compilateur peut optimiser en deroulant la boucle.</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Allocation mémoire partagee : le materiel doit savoir exactement combien de mémoire reserver avant le lancement de la fonction noyau.</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Elimination de code mort : si la valeur de</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tl.constexpr </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rend une condition toujours</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False</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compilateur supprimera entierement ce segment de code.</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Specialisation des fonctions noyau</a:t>
            </a:r>
            <a:endParaRPr lang="en-US" sz="19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genere une nouvelle version de fonction noyau pour chaque combinaison unique de valeur</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constexpr </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de type de données.</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Scenario</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A</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avec</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BLOCK_SIZE=128 </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lancement</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-&gt;</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generation de la fonction noyau</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V1</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Scenario</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B</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avec</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BLOCK_SIZE=512 </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lancement</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-&gt;</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generation de la fonction noyau</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V2</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Resultat : pas besoin d'instruction</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 "if </a:t>
            </a:r>
            <a:r>
              <a:rPr lang="en-US" sz="162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 l'execution pour verifier la taille de bloc ; le code est code en dur pour une taille specifique, atteignant des performances optimales.</a:t>
            </a:r>
            <a:endParaRPr 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6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Vers la deuxième dimension </a:t>
            </a:r>
            <a:r>
              <a:rPr lang="en-US" sz="261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6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Blocs et multiplication matricielle</a:t>
            </a:r>
            <a:endParaRPr lang="en-US" sz="26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微软雅黑" panose="020B0503020204020204" charset="-122"/>
              </a:defRPr>
            </a:lvl1pPr>
          </a:lstStyle>
          <a:p>
            <a:pPr marL="292100" indent="-292100" algn="l">
              <a:lnSpc>
                <a:spcPct val="92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Au-delà des vecteurs : penser en termes de blocs</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offs_m = tl.arange(0, BLOCK_SIZE_M) (Vertical)</a:t>
            </a:r>
            <a:endPar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offs_n = tl.arange(0, BLOCK_SIZE_N) (Horizontal)</a:t>
            </a:r>
            <a:endPar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tile_pointers = base_ptr + offs_m[:, None] * stride_m + offs_n[None, :] * stride_n</a:t>
            </a:r>
            <a:endPar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tl.dot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primitive</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Multiplication matricielle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C = A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B</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le</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AI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pilier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calcul</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fournit des primitives d'accélération matérielle :</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Syntaxe :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accumulator = tl.dot(a_tile, b_tile, accumulator)</a:t>
            </a:r>
            <a:endPar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 : </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tl.dot de </a:t>
            </a:r>
            <a:r>
              <a:rPr lang="en-US" sz="1510">
                <a:solidFill>
                  <a:srgbClr val="404040"/>
                </a:solidFill>
                <a:latin typeface="Calibri" panose="020F0502020204030204"/>
                <a:ea typeface="Calibri" panose="020F0502020204030204"/>
                <a:cs typeface="Calibri" panose="020F0502020204030204"/>
                <a:sym typeface="Calibri" panose="020F0502020204030204"/>
              </a:rPr>
              <a:t>Triton</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exige que la taille des blocs d'entrée soit une puissance de</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2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un minimum généralement de</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16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(selon l'architecture</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 du GPU</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Disposition mémoire : pas (</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Stride</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naviguer dans la mémoire bidimensionnelle,</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 des pas(</a:t>
            </a: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Stride</a:t>
            </a:r>
            <a:r>
              <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pas indiquent au noyau combien d'éléments sauter en mémoire pour passer à la ligne ou colonne suivante.</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rPr>
              <a:t>row_major_stride = [Width, 1]</a:t>
            </a:r>
            <a:endParaRPr lang="en-US" sz="151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Comprendre la hiérarchie mémoire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fontScale="60000"/>
          </a:bodyPr>
          <a:lstStyle>
            <a:lvl1pPr algn="l">
              <a:lnSpc>
                <a:spcPct val="83000"/>
              </a:lnSpc>
              <a:defRPr sz="22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SzTx/>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globale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DRAM</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Emplacement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de grande capacité mais lente sur le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a:solidFill>
                  <a:srgbClr val="404040"/>
                </a:solidFill>
                <a:latin typeface="Calibri" panose="020F0502020204030204"/>
                <a:ea typeface="Calibri" panose="020F0502020204030204"/>
                <a:cs typeface="Calibri" panose="020F0502020204030204"/>
                <a:sym typeface="Calibri" panose="020F0502020204030204"/>
              </a:rPr>
              <a:t>GPU (ex.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16GB HBM</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Rôle : stockage des tenseurs d'entrée et de sortie (tenseurs by </a:t>
            </a:r>
            <a:r>
              <a:rPr lang="en-US" sz="1800">
                <a:solidFill>
                  <a:srgbClr val="404040"/>
                </a:solidFill>
                <a:latin typeface="Calibri" panose="020F0502020204030204"/>
                <a:ea typeface="Calibri" panose="020F0502020204030204"/>
                <a:cs typeface="Calibri" panose="020F0502020204030204"/>
                <a:sym typeface="Calibri" panose="020F0502020204030204"/>
              </a:rPr>
              <a:t>PyTorch</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83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 coût élevé. Via</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tl.load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tl.store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les accès.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SzTx/>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Mémoire partagée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SRAM</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eaLnBrk="1" fontAlgn="auto" latinLnBrk="0" hangingPunct="1">
              <a:lnSpc>
                <a:spcPct val="100000"/>
              </a:lnSpc>
              <a:spcBef>
                <a:spcPts val="700"/>
              </a:spcBef>
              <a:buClr>
                <a:srgbClr val="404040"/>
              </a:buClr>
              <a:buSzTx/>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Emplacement : mémoire sur puce à grande vitesse partagée par les multiprocesseurs.</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eaLnBrk="1" fontAlgn="auto" latinLnBrk="0" hangingPunct="1">
              <a:lnSpc>
                <a:spcPct val="100000"/>
              </a:lnSpc>
              <a:spcBef>
                <a:spcPts val="700"/>
              </a:spcBef>
              <a:buClr>
                <a:srgbClr val="404040"/>
              </a:buClr>
              <a:buSzTx/>
              <a:buChar char="•"/>
            </a:pPr>
            <a:r>
              <a:rPr lang="en-US" sz="180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de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Triton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CUDA, il faut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manuellement la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(__shared__) ; dans Triton, le compilateur utilise automatiquement la SRAM pour mettre en tampon les 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dans des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comme tl.dot.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SzTx/>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eaLnBrk="1" fontAlgn="auto" latinLnBrk="0" hangingPunct="1">
              <a:lnSpc>
                <a:spcPct val="100000"/>
              </a:lnSpc>
              <a:spcBef>
                <a:spcPts val="7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Emplacement : U</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stockage la plus rapide, au sein d’un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programme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eaLnBrk="1" fontAlgn="auto" latinLnBrk="0" hangingPunct="1">
              <a:lnSpc>
                <a:spcPct val="100000"/>
              </a:lnSpc>
              <a:spcBef>
                <a:spcPts val="7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Rôle :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C’est là que les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arithm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elles (+, -,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ont lieu. Capacit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duite ; Triton optimise l’allocation des registres pour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les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bordements de registre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(register spilling)</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83000"/>
              </a:lnSpc>
              <a:spcBef>
                <a:spcPts val="1500"/>
              </a:spcBef>
            </a:pPr>
            <a:r>
              <a:rPr 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Flux de données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Chargement : mémoire globale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registres (via</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SRAM</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 e</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 arithmétiques sur les registres.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Stockage : registres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mémoire globale.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Fonctions intégrées courantes et opérations de réduction</a:t>
            </a:r>
            <a:endParaRPr lang="en-US" sz="27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 mathématiques </a:t>
            </a:r>
            <a:r>
              <a:rPr lang="en-US" alt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mentaires(</a:t>
            </a:r>
            <a:r>
              <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élément par élément)</a:t>
            </a:r>
            <a:endPar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 arithmétiques :</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Fonctions mathématiques :</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tl.exp()</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tl.log()</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tl.sqrt()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tl.sin()</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tl.cos()</a:t>
            </a:r>
            <a:endPar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 de comparaison :</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&lt;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&gt;</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tl.where(condition, x, y)</a:t>
            </a:r>
            <a:endPar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 de réduction</a:t>
            </a:r>
            <a:endPar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tl.sum(data, axis=...)</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 la somme des </a:t>
            </a:r>
            <a:r>
              <a:rPr lang="en-US" alt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 selon l’axe sp</a:t>
            </a:r>
            <a:r>
              <a:rPr lang="en-US" alt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a:t>
            </a:r>
            <a:r>
              <a:rPr lang="en-US" alt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tl.max(data, axis=...)</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renvoie la valeur maximale</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tl.argmin() / tl.argmax()</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renvoie l’indice du minimum / maximum</a:t>
            </a:r>
            <a:r>
              <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Opérations atomiques</a:t>
            </a:r>
            <a:endParaRPr lang="en-US" sz="21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tl.atomic_add(pointer, value, mask)</a:t>
            </a:r>
            <a:endPar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rPr>
              <a:t>tl.atomic_max(pointer, value, mask)</a:t>
            </a:r>
            <a:endParaRPr lang="en-US" sz="181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Étude de cas</a:t>
            </a:r>
            <a:r>
              <a:rPr lang="en-US" sz="2900" b="0" i="0" u="none" strike="noStrike">
                <a:solidFill>
                  <a:srgbClr val="262626"/>
                </a:solidFill>
                <a:latin typeface="Calibri" panose="020F0502020204030204"/>
                <a:ea typeface="Calibri" panose="020F0502020204030204"/>
                <a:cs typeface="Calibri" panose="020F0502020204030204"/>
                <a:sym typeface="Calibri" panose="020F0502020204030204"/>
              </a:rPr>
              <a:t>: Softmax </a:t>
            </a:r>
            <a:r>
              <a:rPr 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 réduction dimensionnelle</a:t>
            </a:r>
            <a:endParaRPr lang="en-US"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6" name="AutoShape 6"/>
          <p:cNvSpPr/>
          <p:nvPr/>
        </p:nvSpPr>
        <p:spPr>
          <a:xfrm>
            <a:off x="1776095" y="1132840"/>
            <a:ext cx="8640000" cy="51587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415" b="0" i="0" u="none" strike="noStrike">
                <a:solidFill>
                  <a:srgbClr val="000000"/>
                </a:solidFill>
                <a:latin typeface="Droid Sans Mono"/>
                <a:ea typeface="Droid Sans Mono"/>
                <a:cs typeface="Droid Sans Mono"/>
                <a:sym typeface="Droid Sans Mono"/>
              </a:rPr>
              <a:t>@triton.jit</a:t>
            </a:r>
            <a:endParaRPr lang="en-US" sz="1100"/>
          </a:p>
          <a:p>
            <a:pPr indent="0" algn="l">
              <a:lnSpc>
                <a:spcPct val="100000"/>
              </a:lnSpc>
            </a:pPr>
            <a:r>
              <a:rPr lang="en-US" sz="1415" b="0" i="0" u="none" strike="noStrike">
                <a:solidFill>
                  <a:srgbClr val="000000"/>
                </a:solidFill>
                <a:latin typeface="Droid Sans Mono"/>
                <a:ea typeface="Droid Sans Mono"/>
                <a:cs typeface="Droid Sans Mono"/>
                <a:sym typeface="Droid Sans Mono"/>
              </a:rPr>
              <a:t>def softmax_kernel(output_ptr, input_ptr, row_stride, n_cols, BLOCK_SIZE: tl.constexpr):</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row_idx = tl.program_id(0)</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 </a:t>
            </a:r>
            <a:r>
              <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Déplacer le pointeur vers le début de la ligne actuelle</a:t>
            </a:r>
            <a:endPar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row_start_ptr = input_ptr + row_idx * row_stride</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offsets = tl.arange(0, BLOCK_SIZE)</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mask = offsets &lt; n_cols</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 </a:t>
            </a:r>
            <a:r>
              <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Chargement des données</a:t>
            </a:r>
            <a:endPar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x = tl.load(row_start_ptr + offsets, mask=mask, other=-float('inf'))</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 </a:t>
            </a:r>
            <a:r>
              <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Calcul du Softmax</a:t>
            </a:r>
            <a:r>
              <a:rPr lang="en-US" sz="1415" b="0" i="0" u="none" strike="noStrike">
                <a:solidFill>
                  <a:srgbClr val="000000"/>
                </a:solidFill>
                <a:latin typeface="Droid Sans Mono"/>
                <a:ea typeface="Droid Sans Mono"/>
                <a:cs typeface="Droid Sans Mono"/>
                <a:sym typeface="Droid Sans Mono"/>
              </a:rPr>
              <a:t> numériquement stable</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z = x - tl.max(x, axis=0)</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numerator = tl.exp(z)</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denominator = tl.sum(numerator, axis=0)</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softmax_out = numerator / denominator</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a:t>
            </a:r>
            <a:endParaRPr lang="en-US" sz="141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 </a:t>
            </a:r>
            <a:r>
              <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Stockage du résultat</a:t>
            </a:r>
            <a:endParaRPr lang="en-US" sz="141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415" b="0" i="0" u="none" strike="noStrike">
                <a:solidFill>
                  <a:srgbClr val="000000"/>
                </a:solidFill>
                <a:latin typeface="Droid Sans Mono"/>
                <a:ea typeface="Droid Sans Mono"/>
                <a:cs typeface="Droid Sans Mono"/>
                <a:sym typeface="Droid Sans Mono"/>
              </a:rPr>
              <a:t>    tl.store(output_ptr + row_idx * row_stride + offsets, softmax_out, mask=mask)</a:t>
            </a:r>
            <a:endParaRPr lang="en-US" sz="1415"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Débogage et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Triton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interpréteur</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000" b="0" i="0" u="none" strike="noStrike" spc="0">
                <a:solidFill>
                  <a:srgbClr val="404040">
                    <a:alpha val="100000"/>
                  </a:srgbClr>
                </a:solidFill>
                <a:latin typeface="微软雅黑" panose="020B0503020204020204" charset="-122"/>
              </a:defRPr>
            </a:lvl1pPr>
          </a:lstStyle>
          <a:p>
            <a:pPr marL="254000" indent="-254000" algn="l">
              <a:lnSpc>
                <a:spcPct val="92000"/>
              </a:lnSpc>
              <a:spcBef>
                <a:spcPts val="150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 débogage</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102000"/>
              </a:lnSpc>
              <a:spcBef>
                <a:spcPts val="750"/>
              </a:spcBef>
              <a:buClr>
                <a:srgbClr val="404040"/>
              </a:buClr>
              <a:buChar char="•"/>
            </a:pP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débogage</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traditionnel (avec</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cuda-gdb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Nsight</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complexe. Les fonctions</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Triton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sont compilées</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485" b="0" i="0" u="none" strike="noStrike">
                <a:solidFill>
                  <a:srgbClr val="404040"/>
                </a:solidFill>
                <a:latin typeface="Calibri" panose="020F0502020204030204"/>
                <a:ea typeface="Calibri" panose="020F0502020204030204"/>
                <a:cs typeface="Calibri" panose="020F0502020204030204"/>
                <a:sym typeface="Calibri" panose="020F0502020204030204"/>
              </a:rPr>
              <a:t>à </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JIT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hautement parallèles,</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il n’est pas facile d’</a:t>
            </a:r>
            <a:r>
              <a:rPr lang="en-US" alt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afficher </a:t>
            </a:r>
            <a:r>
              <a:rPr lang="en-US" alt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variables à l’int</a:t>
            </a:r>
            <a:r>
              <a:rPr lang="en-US" alt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du GPU</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indent="-254000" algn="l">
              <a:lnSpc>
                <a:spcPct val="92000"/>
              </a:lnSpc>
              <a:spcBef>
                <a:spcPts val="1500"/>
              </a:spcBef>
              <a:buClr>
                <a:srgbClr val="404040"/>
              </a:buClr>
              <a:buChar char="•"/>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Interpréteur</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Triton </a:t>
            </a: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(mode</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CPU)</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fournit un interpréteur intégré permettant d'exécuter les fonctions sur</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CPU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le débogage.</a:t>
            </a:r>
            <a:endPar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 de fonctionnement : l'interpréteur ne compile pas le code en</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PTX</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code machine</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mais exécute sur</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CPU </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avec des opérations de type</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NumPy </a:t>
            </a:r>
            <a:endPar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a:latin typeface="PingFang SC Regular" charset="0"/>
                <a:cs typeface="PingFang SC Regular" charset="0"/>
              </a:rPr>
              <a:t>Avantage clé : </a:t>
            </a:r>
            <a:r>
              <a:rPr lang="en-US" altLang="zh-CN">
                <a:latin typeface="PingFang SC Regular" charset="0"/>
                <a:cs typeface="PingFang SC Regular" charset="0"/>
              </a:rPr>
              <a:t>il est possible d’utiliser des outils Python standard comme print() ou pdb.set_trace() à l’int</a:t>
            </a:r>
            <a:r>
              <a:rPr lang="en-US" altLang="en-US">
                <a:latin typeface="PingFang SC Regular" charset="0"/>
                <a:cs typeface="PingFang SC Regular" charset="0"/>
              </a:rPr>
              <a:t>é</a:t>
            </a:r>
            <a:r>
              <a:rPr lang="en-US" altLang="zh-CN">
                <a:latin typeface="PingFang SC Regular" charset="0"/>
                <a:cs typeface="PingFang SC Regular" charset="0"/>
              </a:rPr>
              <a:t>rieur d’une fonction @triton.jit. Activation : # Forcer l’ex</a:t>
            </a:r>
            <a:r>
              <a:rPr lang="en-US" altLang="en-US">
                <a:latin typeface="PingFang SC Regular" charset="0"/>
                <a:cs typeface="PingFang SC Regular" charset="0"/>
              </a:rPr>
              <a:t>é</a:t>
            </a:r>
            <a:r>
              <a:rPr lang="en-US" altLang="zh-CN">
                <a:latin typeface="PingFang SC Regular" charset="0"/>
                <a:cs typeface="PingFang SC Regular" charset="0"/>
              </a:rPr>
              <a:t>cution sur l’interpr</a:t>
            </a:r>
            <a:r>
              <a:rPr lang="en-US" altLang="en-US">
                <a:latin typeface="PingFang SC Regular" charset="0"/>
                <a:cs typeface="PingFang SC Regular" charset="0"/>
              </a:rPr>
              <a:t>é</a:t>
            </a:r>
            <a:r>
              <a:rPr lang="en-US" altLang="zh-CN">
                <a:latin typeface="PingFang SC Regular" charset="0"/>
                <a:cs typeface="PingFang SC Regular" charset="0"/>
              </a:rPr>
              <a:t>teur CPU</a:t>
            </a:r>
            <a:endParaRPr lang="en-US" altLang="zh-CN">
              <a:latin typeface="PingFang SC Regular" charset="0"/>
              <a:cs typeface="PingFang SC Regular" charset="0"/>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254000" indent="-254000" algn="l">
              <a:lnSpc>
                <a:spcPct val="92000"/>
              </a:lnSpc>
              <a:spcBef>
                <a:spcPts val="1500"/>
              </a:spcBef>
              <a:buClr>
                <a:srgbClr val="404040"/>
              </a:buClr>
              <a:buChar char="•"/>
            </a:pP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Meilleures pratiques de débogage</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Commencer à petite échelle : utiliser un</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BLOCK_SIZE</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plus petit (comme</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8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16</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des vecteurs d'entrée réduits.</a:t>
            </a:r>
            <a:endPar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Valider les masques : vérifier que la logique de masque gère correctement les indices hors limites.</a:t>
            </a:r>
            <a:endPar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58800" lvl="1" indent="-215900" algn="l">
              <a:lnSpc>
                <a:spcPct val="92000"/>
              </a:lnSpc>
              <a:spcBef>
                <a:spcPts val="750"/>
              </a:spcBef>
              <a:buClr>
                <a:srgbClr val="404040"/>
              </a:buClr>
              <a:buChar char="•"/>
            </a:pP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Vérifier les formes : s'assurer que les blocs 2D et les entrées</a:t>
            </a:r>
            <a:r>
              <a:rPr lang="en-US" sz="1485" b="0" i="0" u="none" strike="noStrike">
                <a:solidFill>
                  <a:srgbClr val="404040"/>
                </a:solidFill>
                <a:latin typeface="Calibri" panose="020F0502020204030204"/>
                <a:ea typeface="Calibri" panose="020F0502020204030204"/>
                <a:cs typeface="Calibri" panose="020F0502020204030204"/>
                <a:sym typeface="Calibri" panose="020F0502020204030204"/>
              </a:rPr>
              <a:t> tl.dot </a:t>
            </a:r>
            <a:r>
              <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ont des dimensions compatibles.</a:t>
            </a:r>
            <a:endParaRPr lang="en-US" sz="14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180465" y="3906520"/>
            <a:ext cx="4319905" cy="701040"/>
          </a:xfrm>
          <a:prstGeom prst="rect">
            <a:avLst/>
          </a:prstGeom>
          <a:noFill/>
          <a:ln w="12700">
            <a:solidFill>
              <a:srgbClr val="262626">
                <a:alpha val="100000"/>
              </a:srgbClr>
            </a:solidFill>
            <a:prstDash val="solid"/>
          </a:ln>
        </p:spPr>
        <p:txBody>
          <a:bodyPr wrap="square" lIns="91440" tIns="45720" rIns="91440" bIns="45720" rtlCol="0" anchor="t">
            <a:noAutofit/>
          </a:bodyPr>
          <a:lstStyle/>
          <a:p>
            <a:pPr marL="422275" lvl="1" indent="-152400" algn="l">
              <a:lnSpc>
                <a:spcPct val="100000"/>
              </a:lnSpc>
              <a:buChar char=" "/>
              <a:defRPr/>
            </a:pPr>
            <a:r>
              <a:rPr lang="en-US" sz="895" b="0" i="0" u="none" strike="noStrike">
                <a:solidFill>
                  <a:srgbClr val="000000"/>
                </a:solidFill>
                <a:latin typeface="Droid Sans Mono"/>
                <a:ea typeface="Droid Sans Mono"/>
                <a:cs typeface="Droid Sans Mono"/>
                <a:sym typeface="Droid Sans Mono"/>
              </a:rPr>
              <a:t>import os</a:t>
            </a:r>
            <a:endParaRPr lang="en-US" sz="1100"/>
          </a:p>
          <a:p>
            <a:pPr marL="422275" lvl="1" indent="-152400" algn="l">
              <a:lnSpc>
                <a:spcPct val="100000"/>
              </a:lnSpc>
              <a:buChar char=" "/>
            </a:pPr>
            <a:r>
              <a:rPr lang="en-US" sz="895" b="0" i="0" u="none" strike="noStrike">
                <a:solidFill>
                  <a:srgbClr val="000000"/>
                </a:solidFill>
                <a:latin typeface="Droid Sans Mono"/>
                <a:ea typeface="Droid Sans Mono"/>
                <a:cs typeface="Droid Sans Mono"/>
                <a:sym typeface="Droid Sans Mono"/>
              </a:rPr>
              <a:t>os.environ["TRITON_INTERPRET"] = "1"</a:t>
            </a:r>
            <a:endParaRPr lang="en-US" sz="895" b="0" i="0" u="none" strike="noStrike">
              <a:solidFill>
                <a:srgbClr val="000000"/>
              </a:solidFill>
              <a:latin typeface="Droid Sans Mono"/>
              <a:ea typeface="Droid Sans Mono"/>
              <a:cs typeface="Droid Sans Mono"/>
              <a:sym typeface="Droid Sans Mono"/>
            </a:endParaRPr>
          </a:p>
          <a:p>
            <a:pPr marL="422275" lvl="1" indent="-152400" algn="l">
              <a:lnSpc>
                <a:spcPct val="100000"/>
              </a:lnSpc>
              <a:buChar char=" "/>
            </a:pPr>
            <a:r>
              <a:rPr lang="en-US" sz="895" b="0" i="0" u="none" strike="noStrike">
                <a:solidFill>
                  <a:srgbClr val="000000"/>
                </a:solidFill>
                <a:latin typeface="Droid Sans Mono"/>
                <a:ea typeface="Droid Sans Mono"/>
                <a:cs typeface="Droid Sans Mono"/>
                <a:sym typeface="Droid Sans Mono"/>
              </a:rPr>
              <a:t># </a:t>
            </a:r>
            <a:r>
              <a:rPr lang="en-US" sz="89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maintenant l'appel de fonction s'exécute sur</a:t>
            </a:r>
            <a:r>
              <a:rPr lang="en-US" sz="895" b="0" i="0" u="none" strike="noStrike">
                <a:solidFill>
                  <a:srgbClr val="000000"/>
                </a:solidFill>
                <a:latin typeface="Droid Sans Mono"/>
                <a:ea typeface="Droid Sans Mono"/>
                <a:cs typeface="Droid Sans Mono"/>
                <a:sym typeface="Droid Sans Mono"/>
              </a:rPr>
              <a:t> CPU </a:t>
            </a:r>
            <a:endParaRPr lang="en-US" sz="895" b="0" i="0" u="none" strike="noStrike">
              <a:solidFill>
                <a:srgbClr val="000000"/>
              </a:solidFill>
              <a:latin typeface="Droid Sans Mono"/>
              <a:ea typeface="Droid Sans Mono"/>
              <a:cs typeface="Droid Sans Mono"/>
              <a:sym typeface="Droid Sans Mono"/>
            </a:endParaRPr>
          </a:p>
          <a:p>
            <a:pPr marL="422275" lvl="1" indent="-152400" algn="l">
              <a:lnSpc>
                <a:spcPct val="100000"/>
              </a:lnSpc>
              <a:buChar char=" "/>
            </a:pPr>
            <a:r>
              <a:rPr lang="en-US" sz="895" b="0" i="0" u="none" strike="noStrike">
                <a:solidFill>
                  <a:srgbClr val="000000"/>
                </a:solidFill>
                <a:latin typeface="Droid Sans Mono"/>
                <a:ea typeface="Droid Sans Mono"/>
                <a:cs typeface="Droid Sans Mono"/>
                <a:sym typeface="Droid Sans Mono"/>
              </a:rPr>
              <a:t>add_kernel[grid](...)</a:t>
            </a:r>
            <a:endParaRPr lang="en-US" sz="895"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des performances et auto-réglage</a:t>
            </a:r>
            <a:endParaRPr lang="en-US" sz="30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11277600" cy="509333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Recherche de</a:t>
            </a:r>
            <a:r>
              <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configuration optimale”</a:t>
            </a:r>
            <a:endPar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Les performances sur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dépendent fortement des paramètres matériels spécifiques, comme la taille des blocs et le nombre de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Warp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Une configuration efficace sur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NVIDIA A100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peut ne pas fonctionner sur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RTX 4090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Décorateur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triton.autotune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fournissez simplement une liste de configurations à tester, et Triton fera automatiquement des benchmarks pour choisir la meilleure configuration.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95960" y="3799205"/>
            <a:ext cx="5400040" cy="2454910"/>
          </a:xfrm>
          <a:prstGeom prst="rect">
            <a:avLst/>
          </a:prstGeom>
          <a:noFill/>
          <a:ln w="12700">
            <a:solidFill>
              <a:srgbClr val="262626">
                <a:alpha val="100000"/>
              </a:srgbClr>
            </a:solid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Droid Sans Mono"/>
                <a:ea typeface="Droid Sans Mono"/>
                <a:cs typeface="Droid Sans Mono"/>
                <a:sym typeface="Droid Sans Mono"/>
              </a:rPr>
              <a:t>@triton.autotune(</a:t>
            </a:r>
            <a:endParaRPr lang="en-US" sz="1200"/>
          </a:p>
          <a:p>
            <a:pPr indent="0" algn="l">
              <a:lnSpc>
                <a:spcPct val="100000"/>
              </a:lnSpc>
            </a:pPr>
            <a:r>
              <a:rPr lang="en-US" sz="1200" b="0" i="0" u="none" strike="noStrike">
                <a:solidFill>
                  <a:srgbClr val="000000"/>
                </a:solidFill>
                <a:latin typeface="Droid Sans Mono"/>
                <a:ea typeface="Droid Sans Mono"/>
                <a:cs typeface="Droid Sans Mono"/>
                <a:sym typeface="Droid Sans Mono"/>
              </a:rPr>
              <a:t>configs=[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triton.Config({'BLOCK_SIZE': 128}, num_warps=4),</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triton.Config({'BLOCK_SIZE': 256}, num_warps=8),</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triton.Config({'BLOCK_SIZE': 512}, num_warps=8),</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key=['n_elements'], #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si</a:t>
            </a:r>
            <a:r>
              <a:rPr lang="en-US" sz="1200" b="0" i="0" u="none" strike="noStrike">
                <a:solidFill>
                  <a:srgbClr val="000000"/>
                </a:solidFill>
                <a:latin typeface="Droid Sans Mono"/>
                <a:ea typeface="Droid Sans Mono"/>
                <a:cs typeface="Droid Sans Mono"/>
                <a:sym typeface="Droid Sans Mono"/>
              </a:rPr>
              <a:t> N </a:t>
            </a: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change significativement, relancer l'optimisation</a:t>
            </a:r>
            <a:endPar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@triton.jit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def optimized_kernel(..., BLOCK_SIZE: tl.constexpr):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705"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705"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7" name="AutoShape 7"/>
          <p:cNvSpPr/>
          <p:nvPr/>
        </p:nvSpPr>
        <p:spPr>
          <a:xfrm>
            <a:off x="6401435" y="3721735"/>
            <a:ext cx="5400000" cy="218376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4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Paramètres de réglage clés</a:t>
            </a:r>
            <a:endParaRPr lang="en-US" sz="2400"/>
          </a:p>
          <a:p>
            <a:pPr marL="254000" lvl="1" indent="-203200" algn="l">
              <a:lnSpc>
                <a:spcPct val="100000"/>
              </a:lnSpc>
              <a:buClr>
                <a:srgbClr val="000000"/>
              </a:buClr>
              <a:buChar cha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num_warps</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 contrôle le nombre de</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Warp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exécutant ce bloc (chaque</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Warp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contient</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32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threads). Plus de</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Warp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peuvent masquer la latence mémoire, mais consomment plus de ressources de registres.</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54000" lvl="1" indent="-203200" algn="l">
              <a:lnSpc>
                <a:spcPct val="100000"/>
              </a:lnSpc>
              <a:buClr>
                <a:srgbClr val="000000"/>
              </a:buClr>
              <a:buChar cha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num_stages</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 : contrôle le nombre d'étapes de pipeline logiciel. Une valeur plus élevée permet au</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GPU </a:t>
            </a: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 précharger le bloc suivant tout en calculant le bloc actuel.</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Multiplication matricielle</a:t>
            </a: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a:t>
            </a:r>
            <a:r>
              <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pas et disposition mémoire</a:t>
            </a:r>
            <a:endParaRPr lang="en-US" sz="28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Construction de pointeurs de blocs bidimensionnels</a:t>
            </a:r>
            <a:endParaRPr lang="en-US" sz="2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endParaRPr lang="en-US" sz="2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Importance des </a:t>
            </a:r>
            <a:r>
              <a:rPr lang="en-US" altLang="zh-CN" sz="2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strides</a:t>
            </a:r>
            <a:endParaRPr lang="en-US" altLang="zh-CN" sz="20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Flexibilit</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les </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strides </a:t>
            </a: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permettent aux noyaux de traiter des matrices transposees ou des sous-vues (</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slices</a:t>
            </a: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sans copier les données.</a:t>
            </a:r>
            <a:endPar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Efficacit</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strides appropri</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garantissent des acc</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coalesc</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(coalesced memory access), ce qui permet au GPU de lire des blocs m</a:t>
            </a:r>
            <a:r>
              <a:rPr lang="en-US" alt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contigus</a:t>
            </a:r>
            <a:r>
              <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997585" y="1736725"/>
            <a:ext cx="7200000" cy="20218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345" b="0" i="0" u="none" strike="noStrike">
                <a:solidFill>
                  <a:srgbClr val="000000"/>
                </a:solidFill>
                <a:latin typeface="Droid Sans Mono"/>
                <a:ea typeface="Droid Sans Mono"/>
                <a:cs typeface="Droid Sans Mono"/>
                <a:sym typeface="Droid Sans Mono"/>
              </a:rPr>
              <a:t># </a:t>
            </a:r>
            <a:r>
              <a:rPr lang="en-US" sz="134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Creer des vecteurs de decalage unidimensionnels</a:t>
            </a:r>
            <a:endParaRPr lang="en-US" sz="1100"/>
          </a:p>
          <a:p>
            <a:pPr indent="0" algn="l">
              <a:lnSpc>
                <a:spcPct val="100000"/>
              </a:lnSpc>
            </a:pPr>
            <a:r>
              <a:rPr lang="en-US" sz="1345" b="0" i="0" u="none" strike="noStrike">
                <a:solidFill>
                  <a:srgbClr val="000000"/>
                </a:solidFill>
                <a:latin typeface="Droid Sans Mono"/>
                <a:ea typeface="Droid Sans Mono"/>
                <a:cs typeface="Droid Sans Mono"/>
                <a:sym typeface="Droid Sans Mono"/>
              </a:rPr>
              <a:t>offs_m = tl.arange(0, BLOCK_SIZE_M)</a:t>
            </a:r>
            <a:endParaRPr lang="en-US" sz="134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345" b="0" i="0" u="none" strike="noStrike">
                <a:solidFill>
                  <a:srgbClr val="000000"/>
                </a:solidFill>
                <a:latin typeface="Droid Sans Mono"/>
                <a:ea typeface="Droid Sans Mono"/>
                <a:cs typeface="Droid Sans Mono"/>
                <a:sym typeface="Droid Sans Mono"/>
              </a:rPr>
              <a:t>offs_n = tl.arange(0, BLOCK_SIZE_N)</a:t>
            </a:r>
            <a:endParaRPr lang="en-US" sz="1345" b="0" i="0" u="none" strike="noStrike">
              <a:solidFill>
                <a:srgbClr val="000000"/>
              </a:solidFill>
              <a:latin typeface="Droid Sans Mono"/>
              <a:ea typeface="Droid Sans Mono"/>
              <a:cs typeface="Droid Sans Mono"/>
              <a:sym typeface="Droid Sans Mono"/>
            </a:endParaRPr>
          </a:p>
          <a:p>
            <a:pPr indent="0" algn="l">
              <a:lnSpc>
                <a:spcPct val="100000"/>
              </a:lnSpc>
            </a:pPr>
          </a:p>
          <a:p>
            <a:pPr indent="0" algn="l">
              <a:lnSpc>
                <a:spcPct val="100000"/>
              </a:lnSpc>
            </a:pPr>
            <a:r>
              <a:rPr lang="en-US" sz="1345" b="0" i="0" u="none" strike="noStrike">
                <a:solidFill>
                  <a:srgbClr val="000000"/>
                </a:solidFill>
                <a:latin typeface="Droid Sans Mono"/>
                <a:ea typeface="Droid Sans Mono"/>
                <a:cs typeface="Droid Sans Mono"/>
                <a:sym typeface="Droid Sans Mono"/>
              </a:rPr>
              <a:t># </a:t>
            </a:r>
            <a:r>
              <a:rPr lang="en-US" sz="134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Combiner en une grille de pointeurs bidimensionnelle (</a:t>
            </a:r>
            <a:r>
              <a:rPr lang="en-US" sz="1345" b="0" i="0" u="none" strike="noStrike">
                <a:solidFill>
                  <a:srgbClr val="000000"/>
                </a:solidFill>
                <a:latin typeface="Droid Sans Mono"/>
                <a:ea typeface="Droid Sans Mono"/>
                <a:cs typeface="Droid Sans Mono"/>
                <a:sym typeface="Droid Sans Mono"/>
              </a:rPr>
              <a:t>M, N</a:t>
            </a:r>
            <a:r>
              <a:rPr lang="en-US" sz="134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4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345" b="0" i="0" u="none" strike="noStrike">
                <a:solidFill>
                  <a:srgbClr val="000000"/>
                </a:solidFill>
                <a:latin typeface="Droid Sans Mono"/>
                <a:ea typeface="Droid Sans Mono"/>
                <a:cs typeface="Droid Sans Mono"/>
                <a:sym typeface="Droid Sans Mono"/>
              </a:rPr>
              <a:t># [M, 1] * stride_m + [1, N] * stride_n</a:t>
            </a:r>
            <a:endParaRPr lang="en-US" sz="134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345" b="0" i="0" u="none" strike="noStrike">
                <a:solidFill>
                  <a:srgbClr val="000000"/>
                </a:solidFill>
                <a:latin typeface="Droid Sans Mono"/>
                <a:ea typeface="Droid Sans Mono"/>
                <a:cs typeface="Droid Sans Mono"/>
                <a:sym typeface="Droid Sans Mono"/>
              </a:rPr>
              <a:t>tile_ptr = base_ptr + (offs_m[:, None] * stride_m + </a:t>
            </a:r>
            <a:endParaRPr lang="en-US" sz="1345" b="0" i="0" u="none" strike="noStrike">
              <a:solidFill>
                <a:srgbClr val="000000"/>
              </a:solidFill>
              <a:latin typeface="Droid Sans Mono"/>
              <a:ea typeface="Droid Sans Mono"/>
              <a:cs typeface="Droid Sans Mono"/>
              <a:sym typeface="Droid Sans Mono"/>
            </a:endParaRPr>
          </a:p>
          <a:p>
            <a:pPr indent="0" algn="l">
              <a:lnSpc>
                <a:spcPct val="100000"/>
              </a:lnSpc>
            </a:pPr>
            <a:r>
              <a:rPr lang="en-US" sz="1345" b="0" i="0" u="none" strike="noStrike">
                <a:solidFill>
                  <a:srgbClr val="000000"/>
                </a:solidFill>
                <a:latin typeface="Droid Sans Mono"/>
                <a:ea typeface="Droid Sans Mono"/>
                <a:cs typeface="Droid Sans Mono"/>
                <a:sym typeface="Droid Sans Mono"/>
              </a:rPr>
              <a:t>                       offs_n[None, :] * stride_n)</a:t>
            </a:r>
            <a:endParaRPr lang="en-US" sz="1345" b="0" i="0" u="none" strike="noStrike">
              <a:solidFill>
                <a:srgbClr val="000000"/>
              </a:solidFill>
              <a:latin typeface="Droid Sans Mono"/>
              <a:ea typeface="Droid Sans Mono"/>
              <a:cs typeface="Droid Sans Mono"/>
              <a:sym typeface="Droid Sans Mono"/>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Pipeline logiciel et</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num_stages</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Franchir le mur mémoire</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Sur GPU,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operations arithmetiques</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 l'addition a virgule flottante) sont beaucoup plus rapides que la recuperation de donn</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depuis la mémoire globale. Pour empecher le</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Qu'est-ce qu'un pipeline logiciel ?</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compilateur n'adopte plus l'approche seriee</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charger d'abord, calculer ensuite</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mais fait chevaucher les deux operations.</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Charger les données de l'iteration suivante tout en calculant l'iteration courante</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 maintenir l'unite arithmetique logique (</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ALU</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occupee pour masquer la latence mémoire.</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Param</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num_stages </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Triton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 p</a:t>
            </a:r>
            <a:r>
              <a:rPr lang="en-US" altLang="zh-CN"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aram</a:t>
            </a:r>
            <a:r>
              <a:rPr lang="en-US" alt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le bouton de reglage controlant la profondeur du pipeline.</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num_stages=2</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mode standard double tampon.</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num_stages=3+</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pour les noyaux complexes (comme</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FlashAttention</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afin de precharger les données plus en amont.</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 materielle : cette fonctionnalite depend de l'instruction</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cp.async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NVIDIA</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permettant au materiel de deplacer de maniere asynchrone les données de la mémoire globale vers la</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SRAM</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Compromis</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num_stages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eleve : meilleure dissimulation de latence, mais occupe plus de</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SRAM</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num_stages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faible : economise la mémoire, mais peut entrainer</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stalls de pipeline</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laissant les unites de calcul attendre les données.</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670" b="0" i="0" u="none" strike="noStrike">
                <a:solidFill>
                  <a:srgbClr val="262626"/>
                </a:solidFill>
                <a:latin typeface="Calibri" panose="020F0502020204030204"/>
                <a:ea typeface="Calibri" panose="020F0502020204030204"/>
                <a:cs typeface="Calibri" panose="020F0502020204030204"/>
                <a:sym typeface="Calibri" panose="020F0502020204030204"/>
              </a:rPr>
              <a:t>Triton </a:t>
            </a:r>
            <a:r>
              <a:rPr lang="en-US" sz="26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670" b="0" i="0" u="none" strike="noStrike">
                <a:solidFill>
                  <a:srgbClr val="262626"/>
                </a:solidFill>
                <a:latin typeface="Calibri" panose="020F0502020204030204"/>
                <a:ea typeface="Calibri" panose="020F0502020204030204"/>
                <a:cs typeface="Calibri" panose="020F0502020204030204"/>
                <a:sym typeface="Calibri" panose="020F0502020204030204"/>
              </a:rPr>
              <a:t> CUDA </a:t>
            </a:r>
            <a:r>
              <a:rPr lang="en-US" sz="26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 comparaison</a:t>
            </a:r>
            <a:r>
              <a:rPr lang="en-US" sz="2670"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6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Un changement de paradigme</a:t>
            </a:r>
            <a:endParaRPr lang="en-US" sz="267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微软雅黑" panose="020B0503020204020204" charset="-122"/>
              </a:defRPr>
            </a:lvl1pPr>
          </a:lstStyle>
          <a:p>
            <a:pPr marL="292100" indent="-292100" algn="l">
              <a:lnSpc>
                <a:spcPct val="92000"/>
              </a:lnSpc>
              <a:spcBef>
                <a:spcPts val="1500"/>
              </a:spcBef>
              <a:buClr>
                <a:srgbClr val="404040"/>
              </a:buClr>
              <a:buChar char="•"/>
            </a:pP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Evolution conceptuelle</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292100" indent="-292100" algn="l">
              <a:lnSpc>
                <a:spcPct val="92000"/>
              </a:lnSpc>
              <a:spcBef>
                <a:spcPts val="1500"/>
              </a:spcBef>
              <a:buClr>
                <a:srgbClr val="404040"/>
              </a:buClr>
              <a:buChar char="•"/>
            </a:pP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Comment choisir ?</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Choisir</a:t>
            </a:r>
            <a:r>
              <a:rPr lang="en-US" sz="1545" b="0" i="0" u="none" strike="noStrike">
                <a:solidFill>
                  <a:srgbClr val="404040"/>
                </a:solidFill>
                <a:latin typeface="Calibri" panose="020F0502020204030204"/>
                <a:ea typeface="Calibri" panose="020F0502020204030204"/>
                <a:cs typeface="Calibri" panose="020F0502020204030204"/>
                <a:sym typeface="Calibri" panose="020F0502020204030204"/>
              </a:rPr>
              <a:t> CUDA</a:t>
            </a: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pour des operations au niveau du bit extremes, des structures de données irregulieres ou la prise en charge de materiel ancien.</a:t>
            </a:r>
            <a:endPar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Choisir</a:t>
            </a:r>
            <a:r>
              <a:rPr lang="en-US" sz="1545" b="0" i="0" u="none" strike="noStrike">
                <a:solidFill>
                  <a:srgbClr val="404040"/>
                </a:solidFill>
                <a:latin typeface="Calibri" panose="020F0502020204030204"/>
                <a:ea typeface="Calibri" panose="020F0502020204030204"/>
                <a:cs typeface="Calibri" panose="020F0502020204030204"/>
                <a:sym typeface="Calibri" panose="020F0502020204030204"/>
              </a:rPr>
              <a:t> Triton</a:t>
            </a: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pour construire des operateurs d'apprentissage profond (</a:t>
            </a:r>
            <a:r>
              <a:rPr lang="en-US" sz="1545" b="0" i="0" u="none" strike="noStrike">
                <a:solidFill>
                  <a:srgbClr val="404040"/>
                </a:solidFill>
                <a:latin typeface="Calibri" panose="020F0502020204030204"/>
                <a:ea typeface="Calibri" panose="020F0502020204030204"/>
                <a:cs typeface="Calibri" panose="020F0502020204030204"/>
                <a:sym typeface="Calibri" panose="020F0502020204030204"/>
              </a:rPr>
              <a:t>MatMul</a:t>
            </a: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45" b="0" i="0" u="none" strike="noStrike">
                <a:solidFill>
                  <a:srgbClr val="404040"/>
                </a:solidFill>
                <a:latin typeface="Calibri" panose="020F0502020204030204"/>
                <a:ea typeface="Calibri" panose="020F0502020204030204"/>
                <a:cs typeface="Calibri" panose="020F0502020204030204"/>
                <a:sym typeface="Calibri" panose="020F0502020204030204"/>
              </a:rPr>
              <a:t>Attention</a:t>
            </a: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45" b="0" i="0" u="none" strike="noStrike">
                <a:solidFill>
                  <a:srgbClr val="404040"/>
                </a:solidFill>
                <a:latin typeface="Calibri" panose="020F0502020204030204"/>
                <a:ea typeface="Calibri" panose="020F0502020204030204"/>
                <a:cs typeface="Calibri" panose="020F0502020204030204"/>
                <a:sym typeface="Calibri" panose="020F0502020204030204"/>
              </a:rPr>
              <a:t>Normalization</a:t>
            </a: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une vitesse de developpement</a:t>
            </a:r>
            <a:r>
              <a:rPr lang="en-US" sz="1545" b="0" i="0" u="none" strike="noStrike">
                <a:solidFill>
                  <a:srgbClr val="404040"/>
                </a:solidFill>
                <a:latin typeface="Calibri" panose="020F0502020204030204"/>
                <a:ea typeface="Calibri" panose="020F0502020204030204"/>
                <a:cs typeface="Calibri" panose="020F0502020204030204"/>
                <a:sym typeface="Calibri" panose="020F0502020204030204"/>
              </a:rPr>
              <a:t> 10 </a:t>
            </a:r>
            <a:r>
              <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 superieure pour des performances proches de l'optimal.</a:t>
            </a:r>
            <a:endParaRPr lang="en-US" sz="15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018540" y="1908175"/>
          <a:ext cx="8280000" cy="2286000"/>
        </p:xfrm>
        <a:graphic>
          <a:graphicData uri="http://schemas.openxmlformats.org/drawingml/2006/table">
            <a:tbl>
              <a:tblPr>
                <a:effectLst/>
              </a:tblPr>
              <a:tblGrid>
                <a:gridCol w="1800000"/>
                <a:gridCol w="3240000"/>
                <a:gridCol w="3240000"/>
              </a:tblGrid>
              <a:tr h="381000">
                <a:tc>
                  <a:txBody>
                    <a:bodyPr rtlCol="0"/>
                    <a:lstStyle/>
                    <a:p>
                      <a:r>
                        <a:t>Différences</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CUDA C++ (modèle basé sur threads)</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Triton (modèle basé sur blocs)</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r>
                        <a:t>Unité d'exécution</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Un seul thread</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Bloc / Tuile (par ex. 128×128)</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r>
                        <a:t>Modèle d'exécution</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threadIdx, blockIdx</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pPr indent="0" algn="l">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tl.program_id, tl.arange</a:t>
                      </a:r>
                      <a:endParaRPr lang="en-US" sz="1100"/>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r>
                        <a:t>Méthode de communication</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Barrière explicite, synchronisation manuelle</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Barrière implicite, synchronisation automatique</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r>
                        <a:t>Méthode d'optimisation</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Par réglage de bloc et autotuning</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Par réglage de bloc et autotuning</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rtlCol="0"/>
                    <a:lstStyle/>
                    <a:p>
                      <a:r>
                        <a:t>Distribution de code</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Ciblage bas niveau (PTX/SASS)</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rtlCol="0"/>
                    <a:lstStyle/>
                    <a:p>
                      <a:r>
                        <a:t>IR de haut niveau ( divisible en cibles multiples)</a:t>
                      </a:r>
                    </a:p>
                  </a:txBody>
                  <a:tcPr anchor="t">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Limitations et contraintes actuelles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微软雅黑" panose="020B0503020204020204" charset="-122"/>
              </a:defRPr>
            </a:lvl1pPr>
          </a:lstStyle>
          <a:p>
            <a:pPr marL="292100" indent="-292100" algn="l">
              <a:lnSpc>
                <a:spcPct val="92000"/>
              </a:lnSpc>
              <a:spcBef>
                <a:spcPts val="1500"/>
              </a:spcBef>
              <a:buClr>
                <a:srgbClr val="404040"/>
              </a:buClr>
              <a:buChar char="•"/>
            </a:pP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Contraintes structurelles</a:t>
            </a:r>
            <a:endPar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 de puissance de deux : la taille des blocs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K</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doit être une puissance de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2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(comme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64</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128</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1024</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 qui est une exigence rigide de la logique de découpage du compilateur.</a:t>
            </a: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Forme statique : bien que les tenseurs puissent avoir des tailles dynamiques,</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BLOCK_SIZE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doit être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tl.constexpr</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(fixé à la compilation pour chaque version spécialisée).</a:t>
            </a: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Restrictions du flux de contrôle</a:t>
            </a:r>
            <a:endPar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altLang="zh-CN"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Absence de support pour les sauts non structur</a:t>
            </a:r>
            <a:r>
              <a:rPr lang="en-US" alt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prend en charge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if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else</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mais les branches complexes et fortement divergentes (fréquentes dans les algorithmes de graphes) peuvent entraîner de graves baisses de performance.</a:t>
            </a: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limité de la récursion : les fonctions noyau haute performance adoptent généralement une structure plate et ne supportent pas la logique récursive.</a:t>
            </a: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matériel</a:t>
            </a:r>
            <a:endParaRPr lang="en-US" sz="17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Plateforme principale : optimisé en profondeur pour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NVIDIA GPU</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Ampere</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Hopper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autres architectures).</a:t>
            </a: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en évolution : le support pour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AMD</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ROCm</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Intel GPU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s'améliore continuellement, mais des écarts peuvent subsister en termes de complétude fonctionnelle ou de primitives de performance spécialisées.</a:t>
            </a: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Parcours d'apprentissage</a:t>
            </a:r>
            <a:r>
              <a:rPr lang="en-US" sz="242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Feuille de route de croissance </a:t>
            </a:r>
            <a:endPar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 quatre étapes</a:t>
            </a:r>
            <a:endParaRPr lang="en-US" sz="24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Première étape : Les bases (une dimension)</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 maîtriser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le "mode de pensée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Pratique : implémenter l'addition de vecteurs et la normalisation de couche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Layer Normalization</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Points clés : arithmétique de pointeurs,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tl.arange</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ainsi que l'importance cruciale des masques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Masking</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Deuxième étape : Réduction et mémoire (intermédiaire)</a:t>
            </a:r>
            <a:endPar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 comprendre les mécanismes de communication intra-bloc.</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Pratique : implémenter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 Softmax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 un noyau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 Dropout </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haute performance.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Points clés :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tl.sum</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45" b="0" i="0" u="none" strike="noStrike">
                <a:solidFill>
                  <a:srgbClr val="404040"/>
                </a:solidFill>
                <a:latin typeface="Calibri" panose="020F0502020204030204"/>
                <a:ea typeface="Calibri" panose="020F0502020204030204"/>
                <a:cs typeface="Calibri" panose="020F0502020204030204"/>
                <a:sym typeface="Calibri" panose="020F0502020204030204"/>
              </a:rPr>
              <a:t>tl.max</a:t>
            </a:r>
            <a:r>
              <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l'utilisation d'autres valeurs lors du chargement pour assurer la stabilité numérique.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Troisième étape : Découpage et strides (avancé)</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 implémenter des opérations 2D haute performance.</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Pratique : construire de zéro la multiplication matricielle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MatMul</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Points clés : broadcasting 2D,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tl.dot</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l'optimisation des strides pour l'accès fusionné à la mémoire.</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Quatrième étape : Optimisation production (expert)</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 tirer parti de chaque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TFLOPS </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 matériel.</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Pratique : implémenter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FlashAttention </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 un bloc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Transformer </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fusionné.</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Points clés : autotuning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autotune</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num_stages</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(pipelining) et </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num_warps</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Résumé et prochaines étapes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La r</a:t>
            </a:r>
            <a:r>
              <a:rPr lang="en-US" alt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volution Triton</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Performance : avec une complexité de code minimale, atteindre des vitesses proches de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CUDA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Facilit</a:t>
            </a:r>
            <a:r>
              <a:rPr lang="en-US" alt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d’utilisation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savoir écrire en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Python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comprendre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NumPy</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suffit pour écrire des fonctions noyau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GPU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 laisser le compilateur gérer la gestion mémoire, la synchronisation et les instructions spécialisées du matériel</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travaux lourds</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92000"/>
              </a:lnSpc>
              <a:spcBef>
                <a:spcPts val="1500"/>
              </a:spcBef>
              <a:buClr>
                <a:srgbClr val="404040"/>
              </a:buClr>
              <a:buChar char="•"/>
            </a:pP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Ressources pour aller plus loin</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Documentation officielle</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triton-lang.org/main/index.html"/>
              </a:rPr>
              <a:t>https://triton-lang.org/main/index.html</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comptes rendus des réunions communautaires</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github.com/triton-lang/triton/tree/main/docs/meetups"/>
              </a:rPr>
              <a:t>https://github.com/triton-lang/triton/tree/main/docs/meetups</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blog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OpenAI</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https://openai.com/index/triton/</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Triton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FlashAttention </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github.com/dao-ailab/flash-attention/blob/main/flash_attn/flash_attn_triton.py"/>
              </a:rPr>
              <a:t>https://github.com/Dao-AILab/flash-attention/blob/main/flash_attn/flash_attn_triton.py</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Conclusion : </a:t>
            </a: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"L'objectif de </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 </a:t>
            </a: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n'est pas seulement de rendre la programmation </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GPU </a:t>
            </a: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plus rapide, mais de permettre aux chercheurs qui conçoivent réellement des modèles de programmer."</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5</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Configuration de l'environnement et chaîne d'outils</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des projets du cours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graphicFrame>
        <p:nvGraphicFramePr>
          <p:cNvPr id="6" name="Table 6"/>
          <p:cNvGraphicFramePr>
            <a:graphicFrameLocks noGrp="1"/>
          </p:cNvGraphicFramePr>
          <p:nvPr/>
        </p:nvGraphicFramePr>
        <p:xfrm>
          <a:off x="882015" y="1676575"/>
          <a:ext cx="10427970" cy="4445635"/>
        </p:xfrm>
        <a:graphic>
          <a:graphicData uri="http://schemas.openxmlformats.org/drawingml/2006/table">
            <a:tbl>
              <a:tblPr>
                <a:effectLst/>
              </a:tblPr>
              <a:tblGrid>
                <a:gridCol w="1050925"/>
                <a:gridCol w="4147185"/>
                <a:gridCol w="1414145"/>
                <a:gridCol w="3815715"/>
              </a:tblGrid>
              <a:tr h="583565">
                <a:tc>
                  <a:txBody>
                    <a:bodyPr rtlCol="0"/>
                    <a:lstStyle/>
                    <a:p>
                      <a:r>
                        <a:t>Séance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Nom du projet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Type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Points d'évaluation clés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Configuration de l'environnement et chaîne d'outils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Travaux pratiques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Vérification par étapes + rapport de labo</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Softmax Kernel : vérification milieu de semestre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Exactitude 40 + Performance 70%</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RMSNorm+Residual fusion : fin de semestre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Alignement avec FlagGems 90%</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84709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FlagTree Pass ajout : fin de semestre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Passer les tests FileCheck sélectionnés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7B entraînement distribué : fin de semestre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Groupe de 3</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Accélération distribuée + rapport comparatif</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Soutenance de projet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Groupe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Q&amp;R × 2 + démonstration pratique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FlagOS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de l'ecosysteme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https://docs.flagos.io/en/latest/overview.html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1147000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Philosophie de conception : “Modele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Systeme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Puce” decouples,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 developpement, execution partout”.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KernelGen</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(Source intelligente)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LLM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agent de génération et de verification de tests pour operateurs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FlagGems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(Bibliotheque d'operateurs haute performance) : bibliotheque d'operateurs generalises haute performance basee sur</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Triton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FlagTree</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(Moteur de compilation) : compilateur</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MLIR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unifie connectant les operateurs </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plus de dix puces heterogenes.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830195" y="2966085"/>
            <a:ext cx="6294755" cy="3246755"/>
          </a:xfrm>
          <a:prstGeom prst="rect">
            <a:avLst/>
          </a:prstGeom>
          <a:ln w="12700">
            <a:noFill/>
            <a:prstDash val="solid"/>
          </a:ln>
        </p:spPr>
      </p:pic>
      <p:sp>
        <p:nvSpPr>
          <p:cNvPr id="7" name="AutoShape 7"/>
          <p:cNvSpPr/>
          <p:nvPr/>
        </p:nvSpPr>
        <p:spPr>
          <a:xfrm>
            <a:off x="2839085" y="4561840"/>
            <a:ext cx="1993265" cy="1699260"/>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Apercu du projet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SzTx/>
              <a:buChar char="•"/>
            </a:pPr>
            <a:r>
              <a:rPr sz="2400" b="0" i="0" u="none" strike="noStrike">
                <a:sym typeface="微软雅黑" panose="020B0503020204020204" charset="-122"/>
              </a:rPr>
              <a:t>Objectifs du laboratoire</a:t>
            </a:r>
            <a:endParaRPr sz="2400" b="0" i="0" u="none" strike="noStrike">
              <a:sym typeface="微软雅黑" panose="020B0503020204020204" charset="-122"/>
            </a:endParaRPr>
          </a:p>
          <a:p>
            <a:pPr marL="596900" lvl="1" indent="-254000" algn="l">
              <a:lnSpc>
                <a:spcPct val="100000"/>
              </a:lnSpc>
              <a:spcBef>
                <a:spcPts val="750"/>
              </a:spcBef>
              <a:buClr>
                <a:srgbClr val="404040"/>
              </a:buClr>
              <a:buSzTx/>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de mani</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autonome la configuration compl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de l’environnement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 au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de FlagOS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via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Docker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Conda</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sz="2000">
                <a:solidFill>
                  <a:srgbClr val="404040"/>
                </a:solidFill>
                <a:latin typeface="Calibri" panose="020F0502020204030204"/>
                <a:ea typeface="微软雅黑" panose="020B0503020204020204" charset="-122"/>
                <a:cs typeface="微软雅黑" panose="020B0503020204020204" charset="-122"/>
              </a:rPr>
              <a:t>Installer et vérifier avec succès CUDA Toolkit (NVCC) et le compilateur Triton</a:t>
            </a:r>
            <a:endParaRPr lang="en-US" sz="2000">
              <a:solidFill>
                <a:srgbClr val="404040"/>
              </a:solidFill>
              <a:latin typeface="Calibri" panose="020F0502020204030204"/>
              <a:ea typeface="微软雅黑" panose="020B0503020204020204" charset="-122"/>
              <a:cs typeface="微软雅黑" panose="020B0503020204020204" charset="-122"/>
            </a:endParaRPr>
          </a:p>
          <a:p>
            <a:pPr marL="596900" lvl="1" indent="-254000" algn="l">
              <a:lnSpc>
                <a:spcPct val="100000"/>
              </a:lnSpc>
              <a:spcBef>
                <a:spcPts val="750"/>
              </a:spcBef>
              <a:buClr>
                <a:srgbClr val="404040"/>
              </a:buClr>
              <a:buSzTx/>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Cloner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flagos-ai/FlagGems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verifier la compilation</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Executer votre premier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Hello World Triton Kernel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comprendre le flux d'execution de base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t>Prérequis : cours 1-4 théorie fondamentale; compétences de base en ligne de commande Linux; compte GitHub</a:t>
            </a: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Description de l'environnement experimental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Configuration materielle requise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a:t>
            </a:r>
            <a:r>
              <a:rPr lang="en-US" sz="2000">
                <a:solidFill>
                  <a:srgbClr val="404040"/>
                </a:solidFill>
                <a:latin typeface="Calibri" panose="020F0502020204030204"/>
                <a:ea typeface="Calibri" panose="020F0502020204030204"/>
                <a:cs typeface="Calibri" panose="020F0502020204030204"/>
                <a:sym typeface="Calibri" panose="020F0502020204030204"/>
              </a:rPr>
              <a:t>NVIDIA</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Capability &gt;= 8.0</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recommand</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A100/A800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RTX 30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serie ou superieure)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Memoire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&gt;= 16 GB</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espace disque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&gt;= 50 GB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Dependances logicielles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Systeme d'exploitation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Ubuntu 20.04 / 22.04 LTS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(recommand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CUDA Toolkit : 12.1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12.2</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(compatible avec</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PyTorch 2.x</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Environnement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Python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3.10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3.11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Docker : version ≥ 24.0 (optionnel)</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Étapes de l'expérience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Choix de l’environnement et initialisation</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Choisissez l'une des deux options suivantes selon les ressources disponibles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758950" y="2364740"/>
          <a:ext cx="9097645" cy="1311910"/>
        </p:xfrm>
        <a:graphic>
          <a:graphicData uri="http://schemas.openxmlformats.org/drawingml/2006/table">
            <a:tbl>
              <a:tblPr>
                <a:effectLst/>
              </a:tblPr>
              <a:tblGrid>
                <a:gridCol w="9097645"/>
              </a:tblGrid>
              <a:tr h="451485">
                <a:tc>
                  <a:txBody>
                    <a:bodyPr rtlCol="0"/>
                    <a:lstStyle/>
                    <a:p>
                      <a:r>
                        <a:t>· Étape 1 : Docker (recommandé)</a:t>
                      </a:r>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3053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docker pull nvcr.io/nvidia/pytorch:24.03-py3</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2989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docker run --gpus all -it --name flaggems-dev -v $(pwd):/workspace ...</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1758950" y="4133215"/>
          <a:ext cx="9097645" cy="1860550"/>
        </p:xfrm>
        <a:graphic>
          <a:graphicData uri="http://schemas.openxmlformats.org/drawingml/2006/table">
            <a:tbl>
              <a:tblPr>
                <a:effectLst/>
              </a:tblPr>
              <a:tblGrid>
                <a:gridCol w="9097645"/>
              </a:tblGrid>
              <a:tr h="482600">
                <a:tc>
                  <a:txBody>
                    <a:bodyPr rtlCol="0"/>
                    <a:lstStyle/>
                    <a:p>
                      <a:r>
                        <a:t>· Étape 2 : Conda</a:t>
                      </a:r>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910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conda create -n flaggems python=3.11 -y</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974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conda activate flaggems</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910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pip install torch==2.3.0 triton==2.3.0</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Étapes de l'expérience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NVCC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CUDA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vérification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C</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clonage de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FlagGems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installation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635760" y="1878965"/>
          <a:ext cx="8004810" cy="1352550"/>
        </p:xfrm>
        <a:graphic>
          <a:graphicData uri="http://schemas.openxmlformats.org/drawingml/2006/table">
            <a:tbl>
              <a:tblPr>
                <a:effectLst/>
              </a:tblPr>
              <a:tblGrid>
                <a:gridCol w="8004810"/>
              </a:tblGrid>
              <a:tr h="450850">
                <a:tc>
                  <a:txBody>
                    <a:bodyPr rtlCol="0"/>
                    <a:lstStyle/>
                    <a:p>
                      <a:r>
                        <a:t>nvcc --version          # Vérifier version CUDA</a:t>
                      </a:r>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0850">
                <a:tc>
                  <a:txBody>
                    <a:bodyPr rtlCol="0"/>
                    <a:lstStyle/>
                    <a:p>
                      <a:r>
                        <a:t>nvidia-smi              # Vérifier GPU accessible</a:t>
                      </a:r>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085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python -c "import torch; print(torch.cuda.is_available())"</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1635760" y="4038600"/>
          <a:ext cx="8047990" cy="2080260"/>
        </p:xfrm>
        <a:graphic>
          <a:graphicData uri="http://schemas.openxmlformats.org/drawingml/2006/table">
            <a:tbl>
              <a:tblPr>
                <a:effectLst/>
              </a:tblPr>
              <a:tblGrid>
                <a:gridCol w="8047990"/>
              </a:tblGrid>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git clone https://github.com/flagos-ai/FlagGems.git</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cd FlagGems</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20065">
                <a:tc>
                  <a:txBody>
                    <a:bodyPr rtlCol="0"/>
                    <a:lstStyle/>
                    <a:p>
                      <a:r>
                        <a:t>pip install -e .         # Installation mode éditable</a:t>
                      </a:r>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200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python -c "import flag_gems; print('FlagGems OK')"</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Étapes de l'expérience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Étape</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 D</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Hello World Triton Kernel</a:t>
            </a:r>
            <a:endPar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Écrire et exécuter le</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 Triton Kernel</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minimaliste suivant, </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v</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rifier la sortie (affichage).</a:t>
            </a:r>
            <a:endPar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Observer la sortie de la compilation JIT de Triton, et noter dans le rapport d’exp</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rimentation le chemin du fichier PTX ainsi que le temps de lancement du noyau.</a:t>
            </a:r>
            <a:endPar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690370" y="2830195"/>
          <a:ext cx="8373110" cy="3196590"/>
        </p:xfrm>
        <a:graphic>
          <a:graphicData uri="http://schemas.openxmlformats.org/drawingml/2006/table">
            <a:tbl>
              <a:tblPr>
                <a:effectLst/>
              </a:tblPr>
              <a:tblGrid>
                <a:gridCol w="8373110"/>
              </a:tblGrid>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import triton, triton.language as tl, torch</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@triton.jit</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hello_kernel(x_ptr, out_ptr, n: tl.constexpr):</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idx = tl.program_id(0)</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x = tl.load(x_ptr + idx)</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532765">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tl.store(out_ptr + idx, x * 2)</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Conditions de soumission et critères d'évaluation</a:t>
            </a:r>
            <a:endParaRPr lang="en-US" sz="291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380" b="0" i="0" u="none" strike="noStrike">
              <a:solidFill>
                <a:srgbClr val="FFFFFF"/>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Exigences du rapport de laboratoire</a:t>
            </a:r>
            <a:endPar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Captures d'écran : sorties terminal des quatre étapes (</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version de nvcc, informations GPU, import r</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ussi de FlagGems, sortie du noyau</a:t>
            </a:r>
            <a:r>
              <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Texte : décrire les problèmes d'environnement rencontrés et le processus de résolution (si aucun problème, résumer les étapes clés de configuration de l'environnement)</a:t>
            </a:r>
            <a:endPar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 </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comparer les avantages et les inconv</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nients des deux voies (Docker vs Conda) en moins de 200 caract</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a:t>
            </a:r>
            <a:endPar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Bonus (optionnel) : </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dessiner un diagramme de la cha</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d’outils depuis le code Python jusqu’à l’ex</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sur le GPU.</a:t>
            </a:r>
            <a:endPar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Critères d'évaluation</a:t>
            </a:r>
            <a:endParaRPr lang="en-US" sz="18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745615" y="4017010"/>
          <a:ext cx="9110980" cy="1967865"/>
        </p:xfrm>
        <a:graphic>
          <a:graphicData uri="http://schemas.openxmlformats.org/drawingml/2006/table">
            <a:tbl>
              <a:tblPr>
                <a:effectLst/>
              </a:tblPr>
              <a:tblGrid>
                <a:gridCol w="2920365"/>
                <a:gridCol w="1751965"/>
                <a:gridCol w="4438650"/>
              </a:tblGrid>
              <a:tr h="412115">
                <a:tc>
                  <a:txBody>
                    <a:bodyPr rtlCol="0"/>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Dimension d'évaluation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Score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Critères d'évaluation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89255">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Complétude de la configuration environnement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40 points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Réussite des quatre étapes avec captures d'écran justificatives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88620">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Vérification de l'exécution Kernel</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30 points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Sortie Hello World correcte, enregistrement des paramètres de compilation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89255">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Qualité du rapport de laboratoire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20 points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Analyse pertinente, démarche de dépannage claire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88620">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Question bonus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10 points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Diagramme d'appel de la chaîne d'outils précis et complet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6</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Fondements du calcul vectoriel</a:t>
            </a:r>
            <a:b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(Vector Add)</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28" y="60937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Commençons par Vector Add</a:t>
            </a:r>
            <a:endParaRPr lang="en-US" sz="2800"/>
          </a:p>
        </p:txBody>
      </p:sp>
      <p:grpSp>
        <p:nvGrpSpPr>
          <p:cNvPr id="3" name="Group 3"/>
          <p:cNvGrpSpPr/>
          <p:nvPr/>
        </p:nvGrpSpPr>
        <p:grpSpPr>
          <a:xfrm>
            <a:off x="6471854" y="2202376"/>
            <a:ext cx="5486400" cy="2597944"/>
            <a:chOff x="6471854" y="2202376"/>
            <a:chExt cx="5486400" cy="2597944"/>
          </a:xfrm>
        </p:grpSpPr>
        <p:sp>
          <p:nvSpPr>
            <p:cNvPr id="4" name="Freeform 4"/>
            <p:cNvSpPr/>
            <p:nvPr/>
          </p:nvSpPr>
          <p:spPr>
            <a:xfrm>
              <a:off x="6518271" y="2202376"/>
              <a:ext cx="445602" cy="457200"/>
            </a:xfrm>
            <a:custGeom>
              <a:avLst/>
              <a:gdLst/>
              <a:ahLst/>
              <a:cxnLst/>
              <a:rect l="l" t="t" r="r" b="b"/>
              <a:pathLst>
                <a:path w="445602" h="457200">
                  <a:moveTo>
                    <a:pt x="74268" y="0"/>
                  </a:moveTo>
                  <a:lnTo>
                    <a:pt x="371333" y="0"/>
                  </a:lnTo>
                  <a:cubicBezTo>
                    <a:pt x="412323" y="0"/>
                    <a:pt x="445602" y="34145"/>
                    <a:pt x="445602" y="76203"/>
                  </a:cubicBezTo>
                  <a:lnTo>
                    <a:pt x="445602" y="380997"/>
                  </a:lnTo>
                  <a:cubicBezTo>
                    <a:pt x="445602" y="423055"/>
                    <a:pt x="412323" y="457200"/>
                    <a:pt x="371333" y="457200"/>
                  </a:cubicBezTo>
                  <a:lnTo>
                    <a:pt x="74268" y="457200"/>
                  </a:lnTo>
                  <a:cubicBezTo>
                    <a:pt x="33279" y="457200"/>
                    <a:pt x="0" y="423055"/>
                    <a:pt x="0" y="380997"/>
                  </a:cubicBezTo>
                  <a:lnTo>
                    <a:pt x="0" y="76203"/>
                  </a:lnTo>
                  <a:cubicBezTo>
                    <a:pt x="0" y="34145"/>
                    <a:pt x="33279" y="0"/>
                    <a:pt x="7426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1854" y="2202376"/>
              <a:ext cx="538435" cy="457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6" name="AutoShape 6"/>
            <p:cNvSpPr/>
            <p:nvPr/>
          </p:nvSpPr>
          <p:spPr>
            <a:xfrm>
              <a:off x="7112336" y="2202376"/>
              <a:ext cx="4845918"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Partitionnement des tâches parallèles</a:t>
              </a:r>
              <a:endParaRPr lang="en-US" sz="1600"/>
            </a:p>
          </p:txBody>
        </p:sp>
        <p:sp>
          <p:nvSpPr>
            <p:cNvPr id="7" name="AutoShape 7"/>
            <p:cNvSpPr/>
            <p:nvPr/>
          </p:nvSpPr>
          <p:spPr>
            <a:xfrm>
              <a:off x="7112336" y="2545273"/>
              <a:ext cx="4496025" cy="5619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Décomposer l'opération d'addition vectorielle à grande échelle en plusieurs sous-tâches indépendantes, chaque sous-tâche traitant une partie des données</a:t>
              </a:r>
              <a:endParaRPr lang="en-US" sz="1000"/>
            </a:p>
          </p:txBody>
        </p:sp>
        <p:sp>
          <p:nvSpPr>
            <p:cNvPr id="8" name="Freeform 8"/>
            <p:cNvSpPr/>
            <p:nvPr/>
          </p:nvSpPr>
          <p:spPr>
            <a:xfrm>
              <a:off x="6518271" y="3331100"/>
              <a:ext cx="445602" cy="457200"/>
            </a:xfrm>
            <a:custGeom>
              <a:avLst/>
              <a:gdLst/>
              <a:ahLst/>
              <a:cxnLst/>
              <a:rect l="l" t="t" r="r" b="b"/>
              <a:pathLst>
                <a:path w="445602" h="457200">
                  <a:moveTo>
                    <a:pt x="74268" y="0"/>
                  </a:moveTo>
                  <a:lnTo>
                    <a:pt x="371333" y="0"/>
                  </a:lnTo>
                  <a:cubicBezTo>
                    <a:pt x="412323" y="0"/>
                    <a:pt x="445602" y="34145"/>
                    <a:pt x="445602" y="76203"/>
                  </a:cubicBezTo>
                  <a:lnTo>
                    <a:pt x="445602" y="380997"/>
                  </a:lnTo>
                  <a:cubicBezTo>
                    <a:pt x="445602" y="423055"/>
                    <a:pt x="412323" y="457200"/>
                    <a:pt x="371333" y="457200"/>
                  </a:cubicBezTo>
                  <a:lnTo>
                    <a:pt x="74268" y="457200"/>
                  </a:lnTo>
                  <a:cubicBezTo>
                    <a:pt x="33279" y="457200"/>
                    <a:pt x="0" y="423055"/>
                    <a:pt x="0" y="380997"/>
                  </a:cubicBezTo>
                  <a:lnTo>
                    <a:pt x="0" y="76203"/>
                  </a:lnTo>
                  <a:cubicBezTo>
                    <a:pt x="0" y="34145"/>
                    <a:pt x="33279" y="0"/>
                    <a:pt x="7426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471854" y="3331100"/>
              <a:ext cx="538435" cy="457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0" name="AutoShape 10"/>
            <p:cNvSpPr/>
            <p:nvPr/>
          </p:nvSpPr>
          <p:spPr>
            <a:xfrm>
              <a:off x="7112336" y="3331100"/>
              <a:ext cx="3871164" cy="266700"/>
            </a:xfrm>
            <a:prstGeom prst="rect">
              <a:avLst/>
            </a:prstGeom>
            <a:noFill/>
            <a:ln w="12700">
              <a:noFill/>
              <a:prstDash val="solid"/>
            </a:ln>
          </p:spPr>
          <p:txBody>
            <a:bodyPr wrap="square" lIns="0" tIns="0" rIns="0" bIns="0" rtlCol="0" anchor="ctr">
              <a:noAutofit/>
            </a:bodyPr>
            <a:lstStyle/>
            <a:p>
              <a:pPr algn="l">
                <a:lnSpc>
                  <a:spcPct val="117000"/>
                </a:lnSpc>
                <a:buSzTx/>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Accès à la mémoire globale</a:t>
              </a:r>
              <a:endParaRPr lang="en-US" sz="1600" b="1">
                <a:solidFill>
                  <a:srgbClr val="101828"/>
                </a:solidFill>
                <a:latin typeface="MiSans" panose="00000500000000000000" charset="-122"/>
                <a:ea typeface="MiSans" panose="00000500000000000000" charset="-122"/>
                <a:cs typeface="MiSans" panose="00000500000000000000" charset="-122"/>
              </a:endParaRPr>
            </a:p>
          </p:txBody>
        </p:sp>
        <p:sp>
          <p:nvSpPr>
            <p:cNvPr id="11" name="AutoShape 11"/>
            <p:cNvSpPr/>
            <p:nvPr/>
          </p:nvSpPr>
          <p:spPr>
            <a:xfrm>
              <a:off x="7112336" y="3673997"/>
              <a:ext cx="4164631" cy="276225"/>
            </a:xfrm>
            <a:prstGeom prst="rect">
              <a:avLst/>
            </a:prstGeom>
            <a:noFill/>
            <a:ln w="12700">
              <a:noFill/>
              <a:prstDash val="solid"/>
            </a:ln>
          </p:spPr>
          <p:txBody>
            <a:bodyPr wrap="square" lIns="0" tIns="0" rIns="0" bIns="0" rtlCol="0" anchor="ctr">
              <a:noAutofit/>
            </a:bodyPr>
            <a:lstStyle/>
            <a:p>
              <a:pPr algn="l">
                <a:lnSpc>
                  <a:spcPct val="142000"/>
                </a:lnSpc>
                <a:buSzTx/>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Comprendre les modes de lecture et écriture de la mémoire globale GPU, optimiser l'efficacité d'accès mémoire</a:t>
              </a:r>
              <a:endParaRPr lang="en-US" sz="1000">
                <a:solidFill>
                  <a:srgbClr val="4A5565"/>
                </a:solidFill>
                <a:latin typeface="MiSans" panose="00000500000000000000" charset="-122"/>
                <a:ea typeface="MiSans" panose="00000500000000000000" charset="-122"/>
                <a:cs typeface="MiSans" panose="00000500000000000000" charset="-122"/>
              </a:endParaRPr>
            </a:p>
          </p:txBody>
        </p:sp>
        <p:sp>
          <p:nvSpPr>
            <p:cNvPr id="12" name="Freeform 12"/>
            <p:cNvSpPr/>
            <p:nvPr/>
          </p:nvSpPr>
          <p:spPr>
            <a:xfrm>
              <a:off x="6518271" y="4181197"/>
              <a:ext cx="445602" cy="457200"/>
            </a:xfrm>
            <a:custGeom>
              <a:avLst/>
              <a:gdLst/>
              <a:ahLst/>
              <a:cxnLst/>
              <a:rect l="l" t="t" r="r" b="b"/>
              <a:pathLst>
                <a:path w="445602" h="457200">
                  <a:moveTo>
                    <a:pt x="74268" y="0"/>
                  </a:moveTo>
                  <a:lnTo>
                    <a:pt x="371333" y="0"/>
                  </a:lnTo>
                  <a:cubicBezTo>
                    <a:pt x="412323" y="0"/>
                    <a:pt x="445602" y="34145"/>
                    <a:pt x="445602" y="76203"/>
                  </a:cubicBezTo>
                  <a:lnTo>
                    <a:pt x="445602" y="380997"/>
                  </a:lnTo>
                  <a:cubicBezTo>
                    <a:pt x="445602" y="423055"/>
                    <a:pt x="412323" y="457200"/>
                    <a:pt x="371333" y="457200"/>
                  </a:cubicBezTo>
                  <a:lnTo>
                    <a:pt x="74268" y="457200"/>
                  </a:lnTo>
                  <a:cubicBezTo>
                    <a:pt x="33279" y="457200"/>
                    <a:pt x="0" y="423055"/>
                    <a:pt x="0" y="380997"/>
                  </a:cubicBezTo>
                  <a:lnTo>
                    <a:pt x="0" y="76203"/>
                  </a:lnTo>
                  <a:cubicBezTo>
                    <a:pt x="0" y="34145"/>
                    <a:pt x="33279" y="0"/>
                    <a:pt x="7426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71854" y="4181197"/>
              <a:ext cx="538435" cy="457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7112336" y="4181197"/>
              <a:ext cx="3100645" cy="266700"/>
            </a:xfrm>
            <a:prstGeom prst="rect">
              <a:avLst/>
            </a:prstGeom>
            <a:noFill/>
            <a:ln w="12700">
              <a:noFill/>
              <a:prstDash val="solid"/>
            </a:ln>
          </p:spPr>
          <p:txBody>
            <a:bodyPr wrap="square" lIns="0" tIns="0" rIns="0" bIns="0" rtlCol="0" anchor="ctr">
              <a:noAutofit/>
            </a:bodyPr>
            <a:lstStyle/>
            <a:p>
              <a:pPr algn="l">
                <a:lnSpc>
                  <a:spcPct val="117000"/>
                </a:lnSpc>
                <a:buSzTx/>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Contrôle des débordements</a:t>
              </a:r>
              <a:endParaRPr lang="en-US" sz="1600" b="1">
                <a:solidFill>
                  <a:srgbClr val="101828"/>
                </a:solidFill>
                <a:latin typeface="MiSans" panose="00000500000000000000" charset="-122"/>
                <a:ea typeface="MiSans" panose="00000500000000000000" charset="-122"/>
                <a:cs typeface="MiSans" panose="00000500000000000000" charset="-122"/>
              </a:endParaRPr>
            </a:p>
          </p:txBody>
        </p:sp>
        <p:sp>
          <p:nvSpPr>
            <p:cNvPr id="15" name="AutoShape 15"/>
            <p:cNvSpPr/>
            <p:nvPr/>
          </p:nvSpPr>
          <p:spPr>
            <a:xfrm>
              <a:off x="7112336" y="4524095"/>
              <a:ext cx="3091361" cy="276225"/>
            </a:xfrm>
            <a:prstGeom prst="rect">
              <a:avLst/>
            </a:prstGeom>
            <a:noFill/>
            <a:ln w="12700">
              <a:noFill/>
              <a:prstDash val="solid"/>
            </a:ln>
          </p:spPr>
          <p:txBody>
            <a:bodyPr wrap="square" lIns="0" tIns="0" rIns="0" bIns="0" rtlCol="0" anchor="ctr">
              <a:noAutofit/>
            </a:bodyPr>
            <a:lstStyle/>
            <a:p>
              <a:pPr algn="l">
                <a:lnSpc>
                  <a:spcPct val="142000"/>
                </a:lnSpc>
                <a:buSzTx/>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Traiter les cas limites des blocs de données, assurer l'exécution sécurisée du programme</a:t>
              </a:r>
              <a:endParaRPr lang="en-US" sz="1000">
                <a:solidFill>
                  <a:srgbClr val="4A5565"/>
                </a:solidFill>
                <a:latin typeface="MiSans" panose="00000500000000000000" charset="-122"/>
                <a:ea typeface="MiSans" panose="00000500000000000000" charset="-122"/>
                <a:cs typeface="MiSans" panose="00000500000000000000" charset="-122"/>
              </a:endParaRPr>
            </a:p>
          </p:txBody>
        </p:sp>
      </p:grpSp>
      <p:grpSp>
        <p:nvGrpSpPr>
          <p:cNvPr id="16" name="Group 16"/>
          <p:cNvGrpSpPr/>
          <p:nvPr/>
        </p:nvGrpSpPr>
        <p:grpSpPr>
          <a:xfrm>
            <a:off x="494665" y="2084070"/>
            <a:ext cx="5417820" cy="2555240"/>
            <a:chOff x="494462" y="2084135"/>
            <a:chExt cx="5486400" cy="2924175"/>
          </a:xfrm>
        </p:grpSpPr>
        <p:sp>
          <p:nvSpPr>
            <p:cNvPr id="17" name="Freeform 17"/>
            <p:cNvSpPr/>
            <p:nvPr/>
          </p:nvSpPr>
          <p:spPr>
            <a:xfrm>
              <a:off x="494462" y="2084135"/>
              <a:ext cx="5486400" cy="2924175"/>
            </a:xfrm>
            <a:custGeom>
              <a:avLst/>
              <a:gdLst/>
              <a:ahLst/>
              <a:cxnLst/>
              <a:rect l="l" t="t" r="r" b="b"/>
              <a:pathLst>
                <a:path w="5486400" h="2924175">
                  <a:moveTo>
                    <a:pt x="114306" y="0"/>
                  </a:moveTo>
                  <a:lnTo>
                    <a:pt x="5372094" y="0"/>
                  </a:lnTo>
                  <a:cubicBezTo>
                    <a:pt x="5435223" y="0"/>
                    <a:pt x="5486400" y="51177"/>
                    <a:pt x="5486400" y="114306"/>
                  </a:cubicBezTo>
                  <a:lnTo>
                    <a:pt x="5486400" y="2809869"/>
                  </a:lnTo>
                  <a:cubicBezTo>
                    <a:pt x="5486400" y="2872998"/>
                    <a:pt x="5435223" y="2924175"/>
                    <a:pt x="5372094" y="2924175"/>
                  </a:cubicBezTo>
                  <a:lnTo>
                    <a:pt x="114306" y="2924175"/>
                  </a:lnTo>
                  <a:cubicBezTo>
                    <a:pt x="51177" y="2924175"/>
                    <a:pt x="0" y="2872998"/>
                    <a:pt x="0" y="2809869"/>
                  </a:cubicBezTo>
                  <a:lnTo>
                    <a:pt x="0" y="114306"/>
                  </a:lnTo>
                  <a:cubicBezTo>
                    <a:pt x="0" y="51177"/>
                    <a:pt x="51177" y="0"/>
                    <a:pt x="11430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2951962" y="2387002"/>
              <a:ext cx="571500" cy="575295"/>
            </a:xfrm>
            <a:custGeom>
              <a:avLst/>
              <a:gdLst/>
              <a:ahLst/>
              <a:cxnLst/>
              <a:rect l="l" t="t" r="r" b="b"/>
              <a:pathLst>
                <a:path w="571500" h="575295">
                  <a:moveTo>
                    <a:pt x="259519" y="7701"/>
                  </a:moveTo>
                  <a:cubicBezTo>
                    <a:pt x="276151" y="0"/>
                    <a:pt x="295349" y="0"/>
                    <a:pt x="311981" y="7701"/>
                  </a:cubicBezTo>
                  <a:lnTo>
                    <a:pt x="555984" y="120439"/>
                  </a:lnTo>
                  <a:cubicBezTo>
                    <a:pt x="565473" y="124792"/>
                    <a:pt x="571500" y="134281"/>
                    <a:pt x="571500" y="144772"/>
                  </a:cubicBezTo>
                  <a:cubicBezTo>
                    <a:pt x="571500" y="155263"/>
                    <a:pt x="565473" y="164752"/>
                    <a:pt x="555984" y="169105"/>
                  </a:cubicBezTo>
                  <a:lnTo>
                    <a:pt x="311981" y="281843"/>
                  </a:lnTo>
                  <a:cubicBezTo>
                    <a:pt x="295349" y="289544"/>
                    <a:pt x="276151" y="289544"/>
                    <a:pt x="259519" y="281843"/>
                  </a:cubicBezTo>
                  <a:lnTo>
                    <a:pt x="15516" y="169105"/>
                  </a:lnTo>
                  <a:cubicBezTo>
                    <a:pt x="6027" y="164641"/>
                    <a:pt x="0" y="155153"/>
                    <a:pt x="0" y="144772"/>
                  </a:cubicBezTo>
                  <a:cubicBezTo>
                    <a:pt x="0" y="134391"/>
                    <a:pt x="6027" y="124792"/>
                    <a:pt x="15516" y="120439"/>
                  </a:cubicBezTo>
                  <a:lnTo>
                    <a:pt x="259519" y="7701"/>
                  </a:lnTo>
                  <a:close/>
                  <a:moveTo>
                    <a:pt x="53691" y="245677"/>
                  </a:moveTo>
                  <a:lnTo>
                    <a:pt x="237084" y="330398"/>
                  </a:lnTo>
                  <a:cubicBezTo>
                    <a:pt x="268002" y="344685"/>
                    <a:pt x="303609" y="344685"/>
                    <a:pt x="334528" y="330398"/>
                  </a:cubicBezTo>
                  <a:lnTo>
                    <a:pt x="517923" y="245677"/>
                  </a:lnTo>
                  <a:lnTo>
                    <a:pt x="555984" y="263314"/>
                  </a:lnTo>
                  <a:cubicBezTo>
                    <a:pt x="565473" y="267667"/>
                    <a:pt x="571500" y="277156"/>
                    <a:pt x="571500" y="287647"/>
                  </a:cubicBezTo>
                  <a:cubicBezTo>
                    <a:pt x="571500" y="298138"/>
                    <a:pt x="565473" y="307627"/>
                    <a:pt x="555984" y="311980"/>
                  </a:cubicBezTo>
                  <a:lnTo>
                    <a:pt x="311981" y="424718"/>
                  </a:lnTo>
                  <a:cubicBezTo>
                    <a:pt x="295349" y="432419"/>
                    <a:pt x="276151" y="432419"/>
                    <a:pt x="259519" y="424718"/>
                  </a:cubicBezTo>
                  <a:lnTo>
                    <a:pt x="15516" y="311980"/>
                  </a:lnTo>
                  <a:cubicBezTo>
                    <a:pt x="6027" y="307516"/>
                    <a:pt x="0" y="298028"/>
                    <a:pt x="0" y="287647"/>
                  </a:cubicBezTo>
                  <a:cubicBezTo>
                    <a:pt x="0" y="277266"/>
                    <a:pt x="6027" y="267667"/>
                    <a:pt x="15516" y="263314"/>
                  </a:cubicBezTo>
                  <a:lnTo>
                    <a:pt x="53577" y="245677"/>
                  </a:lnTo>
                  <a:close/>
                  <a:moveTo>
                    <a:pt x="15516" y="406189"/>
                  </a:moveTo>
                  <a:lnTo>
                    <a:pt x="53577" y="388552"/>
                  </a:lnTo>
                  <a:lnTo>
                    <a:pt x="236972" y="473273"/>
                  </a:lnTo>
                  <a:cubicBezTo>
                    <a:pt x="267891" y="487560"/>
                    <a:pt x="303498" y="487560"/>
                    <a:pt x="334416" y="473273"/>
                  </a:cubicBezTo>
                  <a:lnTo>
                    <a:pt x="517809" y="388552"/>
                  </a:lnTo>
                  <a:lnTo>
                    <a:pt x="555873" y="406189"/>
                  </a:lnTo>
                  <a:cubicBezTo>
                    <a:pt x="565361" y="410542"/>
                    <a:pt x="571388" y="420031"/>
                    <a:pt x="571388" y="430522"/>
                  </a:cubicBezTo>
                  <a:cubicBezTo>
                    <a:pt x="571388" y="441013"/>
                    <a:pt x="565361" y="450502"/>
                    <a:pt x="555873" y="454855"/>
                  </a:cubicBezTo>
                  <a:lnTo>
                    <a:pt x="311869" y="567593"/>
                  </a:lnTo>
                  <a:cubicBezTo>
                    <a:pt x="295238" y="575294"/>
                    <a:pt x="276040" y="575294"/>
                    <a:pt x="259406" y="567593"/>
                  </a:cubicBezTo>
                  <a:lnTo>
                    <a:pt x="15516" y="454855"/>
                  </a:lnTo>
                  <a:cubicBezTo>
                    <a:pt x="6027" y="450391"/>
                    <a:pt x="0" y="440903"/>
                    <a:pt x="0" y="430522"/>
                  </a:cubicBezTo>
                  <a:cubicBezTo>
                    <a:pt x="0" y="420141"/>
                    <a:pt x="6027" y="410542"/>
                    <a:pt x="15516" y="40618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42076" y="3206195"/>
              <a:ext cx="4991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Addition vectorielle</a:t>
              </a:r>
              <a:endParaRPr lang="en-US" sz="1800"/>
            </a:p>
          </p:txBody>
        </p:sp>
        <p:sp>
          <p:nvSpPr>
            <p:cNvPr id="20" name="AutoShape 20"/>
            <p:cNvSpPr/>
            <p:nvPr/>
          </p:nvSpPr>
          <p:spPr>
            <a:xfrm>
              <a:off x="756364" y="3663268"/>
              <a:ext cx="4962525" cy="27622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L'opérateur d'introduction le plus classique en programmation GPU, le calcul de chaque élément est indépendant</a:t>
              </a:r>
              <a:endParaRPr lang="en-US" sz="1200"/>
            </a:p>
          </p:txBody>
        </p:sp>
        <p:sp>
          <p:nvSpPr>
            <p:cNvPr id="21" name="Freeform 21"/>
            <p:cNvSpPr/>
            <p:nvPr/>
          </p:nvSpPr>
          <p:spPr>
            <a:xfrm>
              <a:off x="818181" y="4170468"/>
              <a:ext cx="4857655" cy="533400"/>
            </a:xfrm>
            <a:custGeom>
              <a:avLst/>
              <a:gdLst/>
              <a:ahLst/>
              <a:cxnLst/>
              <a:rect l="l" t="t" r="r" b="b"/>
              <a:pathLst>
                <a:path w="4857655" h="533400">
                  <a:moveTo>
                    <a:pt x="37909" y="0"/>
                  </a:moveTo>
                  <a:lnTo>
                    <a:pt x="4781453" y="0"/>
                  </a:lnTo>
                  <a:cubicBezTo>
                    <a:pt x="4823539" y="0"/>
                    <a:pt x="4857655" y="34117"/>
                    <a:pt x="4857655" y="76203"/>
                  </a:cubicBezTo>
                  <a:lnTo>
                    <a:pt x="4857655" y="457197"/>
                  </a:lnTo>
                  <a:cubicBezTo>
                    <a:pt x="4857655" y="499283"/>
                    <a:pt x="4823539" y="533400"/>
                    <a:pt x="4781453" y="533400"/>
                  </a:cubicBezTo>
                  <a:lnTo>
                    <a:pt x="37909" y="533400"/>
                  </a:lnTo>
                  <a:cubicBezTo>
                    <a:pt x="16974" y="533400"/>
                    <a:pt x="0" y="516426"/>
                    <a:pt x="0" y="4954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18181" y="4170468"/>
              <a:ext cx="37909" cy="533400"/>
            </a:xfrm>
            <a:custGeom>
              <a:avLst/>
              <a:gdLst/>
              <a:ahLst/>
              <a:cxnLst/>
              <a:rect l="l" t="t" r="r" b="b"/>
              <a:pathLst>
                <a:path w="37909" h="533400">
                  <a:moveTo>
                    <a:pt x="37909" y="0"/>
                  </a:moveTo>
                  <a:lnTo>
                    <a:pt x="37909" y="0"/>
                  </a:lnTo>
                  <a:lnTo>
                    <a:pt x="37909" y="533400"/>
                  </a:lnTo>
                  <a:lnTo>
                    <a:pt x="37909" y="533400"/>
                  </a:lnTo>
                  <a:cubicBezTo>
                    <a:pt x="16974" y="533400"/>
                    <a:pt x="0" y="516426"/>
                    <a:pt x="0" y="495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989519" y="4322850"/>
              <a:ext cx="4610100" cy="2286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c[i] = a[i] + b[i]</a:t>
              </a:r>
              <a:endParaRPr lang="en-US"/>
            </a:p>
          </p:txBody>
        </p:sp>
      </p:grpSp>
      <p:sp>
        <p:nvSpPr>
          <p:cNvPr id="24" name="AutoShape 24"/>
          <p:cNvSpPr/>
          <p:nvPr/>
        </p:nvSpPr>
        <p:spPr>
          <a:xfrm>
            <a:off x="989330" y="4718050"/>
            <a:ext cx="4991100" cy="46037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00" b="0" i="0" u="none" strike="noStrike">
                <a:solidFill>
                  <a:srgbClr val="767171"/>
                </a:solidFill>
                <a:latin typeface="Calibri" panose="020F0502020204030204"/>
                <a:ea typeface="微软雅黑" panose="020B0503020204020204" charset="-122"/>
                <a:cs typeface="微软雅黑" panose="020B0503020204020204" charset="-122"/>
                <a:sym typeface="微软雅黑" panose="020B0503020204020204" charset="-122"/>
              </a:rPr>
              <a:t>Pour chaque indice i, additionner les éléments correspondants des tableaux A et B, stocker le résultat dans le tableau C</a:t>
            </a:r>
            <a:endParaRPr lang="en-US" sz="12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0080" y="629177"/>
            <a:ext cx="3724639"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Qu'est-ce que Triton ?</a:t>
            </a:r>
            <a:endParaRPr lang="en-US" sz="2800"/>
          </a:p>
        </p:txBody>
      </p:sp>
      <p:grpSp>
        <p:nvGrpSpPr>
          <p:cNvPr id="3" name="Group 3"/>
          <p:cNvGrpSpPr/>
          <p:nvPr/>
        </p:nvGrpSpPr>
        <p:grpSpPr>
          <a:xfrm>
            <a:off x="4580898" y="1500393"/>
            <a:ext cx="3030203" cy="1295317"/>
            <a:chOff x="4580898" y="1500393"/>
            <a:chExt cx="3030203" cy="1295317"/>
          </a:xfrm>
        </p:grpSpPr>
        <p:sp>
          <p:nvSpPr>
            <p:cNvPr id="4" name="Freeform 4"/>
            <p:cNvSpPr/>
            <p:nvPr/>
          </p:nvSpPr>
          <p:spPr>
            <a:xfrm>
              <a:off x="4629166" y="150039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934516" y="1806487"/>
              <a:ext cx="303855" cy="303521"/>
            </a:xfrm>
            <a:custGeom>
              <a:avLst/>
              <a:gdLst/>
              <a:ahLst/>
              <a:cxnLst/>
              <a:rect l="l" t="t" r="r" b="b"/>
              <a:pathLst>
                <a:path w="303855" h="303521">
                  <a:moveTo>
                    <a:pt x="296354" y="113921"/>
                  </a:moveTo>
                  <a:cubicBezTo>
                    <a:pt x="291197" y="93227"/>
                    <a:pt x="281419" y="77621"/>
                    <a:pt x="260590" y="77621"/>
                  </a:cubicBezTo>
                  <a:lnTo>
                    <a:pt x="233734" y="77621"/>
                  </a:lnTo>
                  <a:lnTo>
                    <a:pt x="233734" y="109366"/>
                  </a:lnTo>
                  <a:cubicBezTo>
                    <a:pt x="233734" y="134013"/>
                    <a:pt x="212839" y="154774"/>
                    <a:pt x="188997" y="154774"/>
                  </a:cubicBezTo>
                  <a:lnTo>
                    <a:pt x="117469" y="154774"/>
                  </a:lnTo>
                  <a:cubicBezTo>
                    <a:pt x="97914" y="154774"/>
                    <a:pt x="81706" y="171518"/>
                    <a:pt x="81706" y="191140"/>
                  </a:cubicBezTo>
                  <a:lnTo>
                    <a:pt x="81706" y="259319"/>
                  </a:lnTo>
                  <a:cubicBezTo>
                    <a:pt x="81706" y="278741"/>
                    <a:pt x="98583" y="290126"/>
                    <a:pt x="117469" y="295686"/>
                  </a:cubicBezTo>
                  <a:cubicBezTo>
                    <a:pt x="140107" y="302315"/>
                    <a:pt x="161872" y="303521"/>
                    <a:pt x="188997" y="295686"/>
                  </a:cubicBezTo>
                  <a:cubicBezTo>
                    <a:pt x="207012" y="290461"/>
                    <a:pt x="224760" y="279946"/>
                    <a:pt x="224760" y="259319"/>
                  </a:cubicBezTo>
                  <a:lnTo>
                    <a:pt x="224760" y="232061"/>
                  </a:lnTo>
                  <a:lnTo>
                    <a:pt x="153300" y="232061"/>
                  </a:lnTo>
                  <a:lnTo>
                    <a:pt x="153300" y="222953"/>
                  </a:lnTo>
                  <a:lnTo>
                    <a:pt x="260590" y="222953"/>
                  </a:lnTo>
                  <a:cubicBezTo>
                    <a:pt x="281419" y="222953"/>
                    <a:pt x="289121" y="208420"/>
                    <a:pt x="296354" y="186654"/>
                  </a:cubicBezTo>
                  <a:cubicBezTo>
                    <a:pt x="303855" y="164218"/>
                    <a:pt x="303521" y="142652"/>
                    <a:pt x="296354" y="113921"/>
                  </a:cubicBezTo>
                  <a:close/>
                  <a:moveTo>
                    <a:pt x="193484" y="277467"/>
                  </a:moveTo>
                  <a:cubicBezTo>
                    <a:pt x="188388" y="277826"/>
                    <a:pt x="183516" y="275308"/>
                    <a:pt x="180858" y="270945"/>
                  </a:cubicBezTo>
                  <a:cubicBezTo>
                    <a:pt x="178201" y="266581"/>
                    <a:pt x="178201" y="261098"/>
                    <a:pt x="180858" y="256733"/>
                  </a:cubicBezTo>
                  <a:cubicBezTo>
                    <a:pt x="183516" y="252370"/>
                    <a:pt x="188388" y="249853"/>
                    <a:pt x="193484" y="250211"/>
                  </a:cubicBezTo>
                  <a:cubicBezTo>
                    <a:pt x="198581" y="249853"/>
                    <a:pt x="203452" y="252370"/>
                    <a:pt x="206109" y="256733"/>
                  </a:cubicBezTo>
                  <a:cubicBezTo>
                    <a:pt x="208767" y="261098"/>
                    <a:pt x="208767" y="266581"/>
                    <a:pt x="206109" y="270945"/>
                  </a:cubicBezTo>
                  <a:cubicBezTo>
                    <a:pt x="203452" y="275308"/>
                    <a:pt x="198581" y="277826"/>
                    <a:pt x="193484" y="277467"/>
                  </a:cubicBezTo>
                  <a:close/>
                  <a:moveTo>
                    <a:pt x="114188" y="145800"/>
                  </a:moveTo>
                  <a:lnTo>
                    <a:pt x="185715" y="145800"/>
                  </a:lnTo>
                  <a:cubicBezTo>
                    <a:pt x="205606" y="145800"/>
                    <a:pt x="221479" y="129392"/>
                    <a:pt x="221479" y="109434"/>
                  </a:cubicBezTo>
                  <a:lnTo>
                    <a:pt x="221479" y="41189"/>
                  </a:lnTo>
                  <a:cubicBezTo>
                    <a:pt x="221479" y="21767"/>
                    <a:pt x="205138" y="7234"/>
                    <a:pt x="185715" y="3953"/>
                  </a:cubicBezTo>
                  <a:cubicBezTo>
                    <a:pt x="161739" y="0"/>
                    <a:pt x="135686" y="202"/>
                    <a:pt x="114188" y="4019"/>
                  </a:cubicBezTo>
                  <a:cubicBezTo>
                    <a:pt x="83916" y="9377"/>
                    <a:pt x="78425" y="20560"/>
                    <a:pt x="78425" y="41256"/>
                  </a:cubicBezTo>
                  <a:lnTo>
                    <a:pt x="78425" y="68514"/>
                  </a:lnTo>
                  <a:lnTo>
                    <a:pt x="150018" y="68514"/>
                  </a:lnTo>
                  <a:lnTo>
                    <a:pt x="150018" y="77621"/>
                  </a:lnTo>
                  <a:lnTo>
                    <a:pt x="51569" y="77621"/>
                  </a:lnTo>
                  <a:cubicBezTo>
                    <a:pt x="30740" y="77621"/>
                    <a:pt x="12524" y="90146"/>
                    <a:pt x="6831" y="113921"/>
                  </a:cubicBezTo>
                  <a:cubicBezTo>
                    <a:pt x="267" y="141179"/>
                    <a:pt x="0" y="158190"/>
                    <a:pt x="6831" y="186654"/>
                  </a:cubicBezTo>
                  <a:cubicBezTo>
                    <a:pt x="11921" y="207817"/>
                    <a:pt x="24043" y="222953"/>
                    <a:pt x="44871" y="222953"/>
                  </a:cubicBezTo>
                  <a:lnTo>
                    <a:pt x="69449" y="222953"/>
                  </a:lnTo>
                  <a:lnTo>
                    <a:pt x="69449" y="190271"/>
                  </a:lnTo>
                  <a:cubicBezTo>
                    <a:pt x="69449" y="166629"/>
                    <a:pt x="89877" y="145800"/>
                    <a:pt x="114188" y="145800"/>
                  </a:cubicBezTo>
                  <a:close/>
                  <a:moveTo>
                    <a:pt x="109768" y="22972"/>
                  </a:moveTo>
                  <a:cubicBezTo>
                    <a:pt x="117308" y="22972"/>
                    <a:pt x="123430" y="29094"/>
                    <a:pt x="123430" y="36635"/>
                  </a:cubicBezTo>
                  <a:cubicBezTo>
                    <a:pt x="123430" y="44175"/>
                    <a:pt x="117308" y="50297"/>
                    <a:pt x="109768" y="50297"/>
                  </a:cubicBezTo>
                  <a:cubicBezTo>
                    <a:pt x="102227" y="50297"/>
                    <a:pt x="96106" y="44175"/>
                    <a:pt x="96106" y="36635"/>
                  </a:cubicBezTo>
                  <a:cubicBezTo>
                    <a:pt x="96106" y="29094"/>
                    <a:pt x="102227" y="22972"/>
                    <a:pt x="109768" y="2297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4580898" y="2529010"/>
              <a:ext cx="10096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Python DSL</a:t>
              </a:r>
              <a:endParaRPr lang="en-US" sz="1200"/>
            </a:p>
          </p:txBody>
        </p:sp>
        <p:sp>
          <p:nvSpPr>
            <p:cNvPr id="7" name="AutoShape 7"/>
            <p:cNvSpPr/>
            <p:nvPr/>
          </p:nvSpPr>
          <p:spPr>
            <a:xfrm>
              <a:off x="5853703" y="1957540"/>
              <a:ext cx="5143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Freeform 8"/>
            <p:cNvSpPr/>
            <p:nvPr/>
          </p:nvSpPr>
          <p:spPr>
            <a:xfrm>
              <a:off x="6579259" y="1500393"/>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864985" y="1786128"/>
              <a:ext cx="342900" cy="342900"/>
            </a:xfrm>
            <a:custGeom>
              <a:avLst/>
              <a:gdLst/>
              <a:ahLst/>
              <a:cxnLst/>
              <a:rect l="l" t="t" r="r" b="b"/>
              <a:pathLst>
                <a:path w="342900" h="342900">
                  <a:moveTo>
                    <a:pt x="117873" y="16073"/>
                  </a:moveTo>
                  <a:cubicBezTo>
                    <a:pt x="117873" y="7167"/>
                    <a:pt x="110706" y="0"/>
                    <a:pt x="101798" y="0"/>
                  </a:cubicBezTo>
                  <a:cubicBezTo>
                    <a:pt x="92892" y="0"/>
                    <a:pt x="85725" y="7167"/>
                    <a:pt x="85725" y="16073"/>
                  </a:cubicBezTo>
                  <a:lnTo>
                    <a:pt x="85725" y="42862"/>
                  </a:lnTo>
                  <a:cubicBezTo>
                    <a:pt x="62084" y="42862"/>
                    <a:pt x="42862" y="62084"/>
                    <a:pt x="42862" y="85725"/>
                  </a:cubicBezTo>
                  <a:lnTo>
                    <a:pt x="16073" y="85725"/>
                  </a:lnTo>
                  <a:cubicBezTo>
                    <a:pt x="7167" y="85725"/>
                    <a:pt x="0" y="92892"/>
                    <a:pt x="0" y="101798"/>
                  </a:cubicBezTo>
                  <a:cubicBezTo>
                    <a:pt x="0" y="110706"/>
                    <a:pt x="7167" y="117873"/>
                    <a:pt x="16073" y="117873"/>
                  </a:cubicBezTo>
                  <a:lnTo>
                    <a:pt x="42862" y="117873"/>
                  </a:lnTo>
                  <a:lnTo>
                    <a:pt x="42862" y="155377"/>
                  </a:lnTo>
                  <a:lnTo>
                    <a:pt x="16073" y="155377"/>
                  </a:lnTo>
                  <a:cubicBezTo>
                    <a:pt x="7167" y="155377"/>
                    <a:pt x="0" y="162543"/>
                    <a:pt x="0" y="171450"/>
                  </a:cubicBezTo>
                  <a:cubicBezTo>
                    <a:pt x="0" y="180357"/>
                    <a:pt x="7167" y="187523"/>
                    <a:pt x="16073" y="187523"/>
                  </a:cubicBezTo>
                  <a:lnTo>
                    <a:pt x="42862" y="187523"/>
                  </a:lnTo>
                  <a:lnTo>
                    <a:pt x="42862" y="225027"/>
                  </a:lnTo>
                  <a:lnTo>
                    <a:pt x="16073" y="225027"/>
                  </a:lnTo>
                  <a:cubicBezTo>
                    <a:pt x="7167" y="225027"/>
                    <a:pt x="0" y="232194"/>
                    <a:pt x="0" y="241102"/>
                  </a:cubicBezTo>
                  <a:cubicBezTo>
                    <a:pt x="0" y="250008"/>
                    <a:pt x="7167" y="257175"/>
                    <a:pt x="16073" y="257175"/>
                  </a:cubicBezTo>
                  <a:lnTo>
                    <a:pt x="42862" y="257175"/>
                  </a:lnTo>
                  <a:cubicBezTo>
                    <a:pt x="42862" y="280816"/>
                    <a:pt x="62084" y="300037"/>
                    <a:pt x="85725" y="300037"/>
                  </a:cubicBezTo>
                  <a:lnTo>
                    <a:pt x="85725" y="326827"/>
                  </a:lnTo>
                  <a:cubicBezTo>
                    <a:pt x="85725" y="335733"/>
                    <a:pt x="92892" y="342900"/>
                    <a:pt x="101798" y="342900"/>
                  </a:cubicBezTo>
                  <a:cubicBezTo>
                    <a:pt x="110706" y="342900"/>
                    <a:pt x="117873" y="335733"/>
                    <a:pt x="117873" y="326827"/>
                  </a:cubicBezTo>
                  <a:lnTo>
                    <a:pt x="117873" y="300037"/>
                  </a:lnTo>
                  <a:lnTo>
                    <a:pt x="155377" y="300037"/>
                  </a:lnTo>
                  <a:lnTo>
                    <a:pt x="155377" y="326827"/>
                  </a:lnTo>
                  <a:cubicBezTo>
                    <a:pt x="155377" y="335733"/>
                    <a:pt x="162543" y="342900"/>
                    <a:pt x="171450" y="342900"/>
                  </a:cubicBezTo>
                  <a:cubicBezTo>
                    <a:pt x="180357" y="342900"/>
                    <a:pt x="187523" y="335733"/>
                    <a:pt x="187523" y="326827"/>
                  </a:cubicBezTo>
                  <a:lnTo>
                    <a:pt x="187523" y="300037"/>
                  </a:lnTo>
                  <a:lnTo>
                    <a:pt x="225027" y="300037"/>
                  </a:lnTo>
                  <a:lnTo>
                    <a:pt x="225027" y="326827"/>
                  </a:lnTo>
                  <a:cubicBezTo>
                    <a:pt x="225027" y="335733"/>
                    <a:pt x="232194" y="342900"/>
                    <a:pt x="241102" y="342900"/>
                  </a:cubicBezTo>
                  <a:cubicBezTo>
                    <a:pt x="250008" y="342900"/>
                    <a:pt x="257175" y="335733"/>
                    <a:pt x="257175" y="326827"/>
                  </a:cubicBezTo>
                  <a:lnTo>
                    <a:pt x="257175" y="300037"/>
                  </a:lnTo>
                  <a:cubicBezTo>
                    <a:pt x="280816" y="300037"/>
                    <a:pt x="300037" y="280816"/>
                    <a:pt x="300037" y="257175"/>
                  </a:cubicBezTo>
                  <a:lnTo>
                    <a:pt x="326827" y="257175"/>
                  </a:lnTo>
                  <a:cubicBezTo>
                    <a:pt x="335733" y="257175"/>
                    <a:pt x="342900" y="250008"/>
                    <a:pt x="342900" y="241102"/>
                  </a:cubicBezTo>
                  <a:cubicBezTo>
                    <a:pt x="342900" y="232194"/>
                    <a:pt x="335733" y="225027"/>
                    <a:pt x="326827" y="225027"/>
                  </a:cubicBezTo>
                  <a:lnTo>
                    <a:pt x="300037" y="225027"/>
                  </a:lnTo>
                  <a:lnTo>
                    <a:pt x="300037" y="187523"/>
                  </a:lnTo>
                  <a:lnTo>
                    <a:pt x="326827" y="187523"/>
                  </a:lnTo>
                  <a:cubicBezTo>
                    <a:pt x="335733" y="187523"/>
                    <a:pt x="342900" y="180357"/>
                    <a:pt x="342900" y="171450"/>
                  </a:cubicBezTo>
                  <a:cubicBezTo>
                    <a:pt x="342900" y="162543"/>
                    <a:pt x="335733" y="155377"/>
                    <a:pt x="326827" y="155377"/>
                  </a:cubicBezTo>
                  <a:lnTo>
                    <a:pt x="300037" y="155377"/>
                  </a:lnTo>
                  <a:lnTo>
                    <a:pt x="300037" y="117873"/>
                  </a:lnTo>
                  <a:lnTo>
                    <a:pt x="326827" y="117873"/>
                  </a:lnTo>
                  <a:cubicBezTo>
                    <a:pt x="335733" y="117873"/>
                    <a:pt x="342900" y="110706"/>
                    <a:pt x="342900" y="101798"/>
                  </a:cubicBezTo>
                  <a:cubicBezTo>
                    <a:pt x="342900" y="92892"/>
                    <a:pt x="335733" y="85725"/>
                    <a:pt x="326827" y="85725"/>
                  </a:cubicBezTo>
                  <a:lnTo>
                    <a:pt x="300037" y="85725"/>
                  </a:lnTo>
                  <a:cubicBezTo>
                    <a:pt x="300037" y="62084"/>
                    <a:pt x="280816" y="42862"/>
                    <a:pt x="257175" y="42862"/>
                  </a:cubicBezTo>
                  <a:lnTo>
                    <a:pt x="257175" y="16073"/>
                  </a:lnTo>
                  <a:cubicBezTo>
                    <a:pt x="257175" y="7167"/>
                    <a:pt x="250008" y="0"/>
                    <a:pt x="241102" y="0"/>
                  </a:cubicBezTo>
                  <a:cubicBezTo>
                    <a:pt x="232194" y="0"/>
                    <a:pt x="225027" y="7167"/>
                    <a:pt x="225027" y="16073"/>
                  </a:cubicBezTo>
                  <a:lnTo>
                    <a:pt x="225027" y="42862"/>
                  </a:lnTo>
                  <a:lnTo>
                    <a:pt x="187523" y="42862"/>
                  </a:lnTo>
                  <a:lnTo>
                    <a:pt x="187523" y="16073"/>
                  </a:lnTo>
                  <a:cubicBezTo>
                    <a:pt x="187523" y="7167"/>
                    <a:pt x="180357" y="0"/>
                    <a:pt x="171450" y="0"/>
                  </a:cubicBezTo>
                  <a:cubicBezTo>
                    <a:pt x="162543" y="0"/>
                    <a:pt x="155377" y="7167"/>
                    <a:pt x="155377" y="16073"/>
                  </a:cubicBezTo>
                  <a:lnTo>
                    <a:pt x="155377" y="42862"/>
                  </a:lnTo>
                  <a:lnTo>
                    <a:pt x="117873" y="42862"/>
                  </a:lnTo>
                  <a:lnTo>
                    <a:pt x="117873" y="16073"/>
                  </a:lnTo>
                  <a:close/>
                  <a:moveTo>
                    <a:pt x="107156" y="85725"/>
                  </a:moveTo>
                  <a:lnTo>
                    <a:pt x="235744" y="85725"/>
                  </a:lnTo>
                  <a:cubicBezTo>
                    <a:pt x="247598" y="85725"/>
                    <a:pt x="257175" y="95302"/>
                    <a:pt x="257175" y="107156"/>
                  </a:cubicBezTo>
                  <a:lnTo>
                    <a:pt x="257175" y="235744"/>
                  </a:lnTo>
                  <a:cubicBezTo>
                    <a:pt x="257175" y="247598"/>
                    <a:pt x="247598" y="257175"/>
                    <a:pt x="235744" y="257175"/>
                  </a:cubicBezTo>
                  <a:lnTo>
                    <a:pt x="107156" y="257175"/>
                  </a:lnTo>
                  <a:cubicBezTo>
                    <a:pt x="95302" y="257175"/>
                    <a:pt x="85725" y="247598"/>
                    <a:pt x="85725" y="235744"/>
                  </a:cubicBezTo>
                  <a:lnTo>
                    <a:pt x="85725" y="107156"/>
                  </a:lnTo>
                  <a:cubicBezTo>
                    <a:pt x="85725" y="95302"/>
                    <a:pt x="95302" y="85725"/>
                    <a:pt x="107156" y="85725"/>
                  </a:cubicBezTo>
                  <a:close/>
                  <a:moveTo>
                    <a:pt x="117873" y="117873"/>
                  </a:moveTo>
                  <a:lnTo>
                    <a:pt x="117873" y="225027"/>
                  </a:lnTo>
                  <a:lnTo>
                    <a:pt x="225027" y="225027"/>
                  </a:lnTo>
                  <a:lnTo>
                    <a:pt x="225027" y="117873"/>
                  </a:lnTo>
                  <a:lnTo>
                    <a:pt x="117873" y="11787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458576" y="2529010"/>
              <a:ext cx="1152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Kernel haute performance</a:t>
              </a:r>
              <a:endParaRPr lang="en-US" sz="1200"/>
            </a:p>
          </p:txBody>
        </p:sp>
      </p:grpSp>
      <p:grpSp>
        <p:nvGrpSpPr>
          <p:cNvPr id="11" name="Group 11"/>
          <p:cNvGrpSpPr/>
          <p:nvPr/>
        </p:nvGrpSpPr>
        <p:grpSpPr>
          <a:xfrm>
            <a:off x="1578762" y="3167710"/>
            <a:ext cx="3657600" cy="1371600"/>
            <a:chOff x="1578762" y="3167710"/>
            <a:chExt cx="3657600" cy="1371600"/>
          </a:xfrm>
        </p:grpSpPr>
        <p:sp>
          <p:nvSpPr>
            <p:cNvPr id="12" name="Freeform 12"/>
            <p:cNvSpPr/>
            <p:nvPr/>
          </p:nvSpPr>
          <p:spPr>
            <a:xfrm>
              <a:off x="1578762" y="316771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1820238" y="3413660"/>
              <a:ext cx="259988" cy="231905"/>
            </a:xfrm>
            <a:custGeom>
              <a:avLst/>
              <a:gdLst/>
              <a:ahLst/>
              <a:cxnLst/>
              <a:rect l="l" t="t" r="r" b="b"/>
              <a:pathLst>
                <a:path w="259988" h="231905">
                  <a:moveTo>
                    <a:pt x="162476" y="2188"/>
                  </a:moveTo>
                  <a:cubicBezTo>
                    <a:pt x="154885" y="0"/>
                    <a:pt x="146983" y="4421"/>
                    <a:pt x="144795" y="12010"/>
                  </a:cubicBezTo>
                  <a:lnTo>
                    <a:pt x="87645" y="212035"/>
                  </a:lnTo>
                  <a:cubicBezTo>
                    <a:pt x="85457" y="219626"/>
                    <a:pt x="89878" y="227528"/>
                    <a:pt x="97467" y="229716"/>
                  </a:cubicBezTo>
                  <a:cubicBezTo>
                    <a:pt x="105058" y="231904"/>
                    <a:pt x="112960" y="227483"/>
                    <a:pt x="115148" y="219894"/>
                  </a:cubicBezTo>
                  <a:lnTo>
                    <a:pt x="172298" y="19869"/>
                  </a:lnTo>
                  <a:cubicBezTo>
                    <a:pt x="174486" y="12278"/>
                    <a:pt x="170065" y="4376"/>
                    <a:pt x="162476" y="2188"/>
                  </a:cubicBezTo>
                  <a:close/>
                  <a:moveTo>
                    <a:pt x="191318" y="62954"/>
                  </a:moveTo>
                  <a:cubicBezTo>
                    <a:pt x="185737" y="68535"/>
                    <a:pt x="185737" y="77599"/>
                    <a:pt x="191318" y="83180"/>
                  </a:cubicBezTo>
                  <a:lnTo>
                    <a:pt x="224090" y="115952"/>
                  </a:lnTo>
                  <a:lnTo>
                    <a:pt x="191318" y="148724"/>
                  </a:lnTo>
                  <a:cubicBezTo>
                    <a:pt x="185737" y="154305"/>
                    <a:pt x="185737" y="163369"/>
                    <a:pt x="191318" y="168950"/>
                  </a:cubicBezTo>
                  <a:cubicBezTo>
                    <a:pt x="196900" y="174531"/>
                    <a:pt x="205963" y="174531"/>
                    <a:pt x="211544" y="168950"/>
                  </a:cubicBezTo>
                  <a:lnTo>
                    <a:pt x="254407" y="126087"/>
                  </a:lnTo>
                  <a:cubicBezTo>
                    <a:pt x="259988" y="120506"/>
                    <a:pt x="259988" y="111443"/>
                    <a:pt x="254407" y="105861"/>
                  </a:cubicBezTo>
                  <a:lnTo>
                    <a:pt x="211544" y="62999"/>
                  </a:lnTo>
                  <a:cubicBezTo>
                    <a:pt x="205963" y="57418"/>
                    <a:pt x="196900" y="57418"/>
                    <a:pt x="191318" y="62999"/>
                  </a:cubicBezTo>
                  <a:close/>
                  <a:moveTo>
                    <a:pt x="68669" y="62954"/>
                  </a:moveTo>
                  <a:cubicBezTo>
                    <a:pt x="63088" y="57373"/>
                    <a:pt x="54026" y="57373"/>
                    <a:pt x="48443" y="62954"/>
                  </a:cubicBezTo>
                  <a:lnTo>
                    <a:pt x="5581" y="105817"/>
                  </a:lnTo>
                  <a:cubicBezTo>
                    <a:pt x="0" y="111398"/>
                    <a:pt x="0" y="120460"/>
                    <a:pt x="5581" y="126043"/>
                  </a:cubicBezTo>
                  <a:lnTo>
                    <a:pt x="48443" y="168905"/>
                  </a:lnTo>
                  <a:cubicBezTo>
                    <a:pt x="54026" y="174486"/>
                    <a:pt x="63088" y="174486"/>
                    <a:pt x="68669" y="168905"/>
                  </a:cubicBezTo>
                  <a:cubicBezTo>
                    <a:pt x="74250" y="163324"/>
                    <a:pt x="74250" y="154260"/>
                    <a:pt x="68669" y="148679"/>
                  </a:cubicBezTo>
                  <a:lnTo>
                    <a:pt x="35898" y="115952"/>
                  </a:lnTo>
                  <a:lnTo>
                    <a:pt x="68625" y="83180"/>
                  </a:lnTo>
                  <a:cubicBezTo>
                    <a:pt x="74206" y="77599"/>
                    <a:pt x="74206" y="68535"/>
                    <a:pt x="68625" y="6295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2207412" y="3396310"/>
              <a:ext cx="294195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OpenAI open source</a:t>
              </a:r>
              <a:endParaRPr lang="en-US" sz="1600"/>
            </a:p>
          </p:txBody>
        </p:sp>
        <p:sp>
          <p:nvSpPr>
            <p:cNvPr id="15" name="AutoShape 15"/>
            <p:cNvSpPr/>
            <p:nvPr/>
          </p:nvSpPr>
          <p:spPr>
            <a:xfrm>
              <a:off x="1807335" y="3815371"/>
              <a:ext cx="3276600" cy="49530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 langage de programmation GPU développé par OpenAI, utilisant un langage spécifique au domaine (DSL) de style Python</a:t>
              </a:r>
              <a:endParaRPr lang="en-US" sz="1200"/>
            </a:p>
          </p:txBody>
        </p:sp>
      </p:grpSp>
      <p:grpSp>
        <p:nvGrpSpPr>
          <p:cNvPr id="16" name="Group 16"/>
          <p:cNvGrpSpPr/>
          <p:nvPr/>
        </p:nvGrpSpPr>
        <p:grpSpPr>
          <a:xfrm>
            <a:off x="6367889" y="3128128"/>
            <a:ext cx="4231640" cy="1371600"/>
            <a:chOff x="6367889" y="3128128"/>
            <a:chExt cx="4231640" cy="1371600"/>
          </a:xfrm>
        </p:grpSpPr>
        <p:sp>
          <p:nvSpPr>
            <p:cNvPr id="17" name="Freeform 17"/>
            <p:cNvSpPr/>
            <p:nvPr/>
          </p:nvSpPr>
          <p:spPr>
            <a:xfrm>
              <a:off x="6367889" y="3128128"/>
              <a:ext cx="423164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579292" y="3356869"/>
              <a:ext cx="224626" cy="224626"/>
            </a:xfrm>
            <a:custGeom>
              <a:avLst/>
              <a:gdLst/>
              <a:ahLst/>
              <a:cxnLst/>
              <a:rect l="l" t="t" r="r" b="b"/>
              <a:pathLst>
                <a:path w="224626" h="224626">
                  <a:moveTo>
                    <a:pt x="64160" y="131891"/>
                  </a:moveTo>
                  <a:lnTo>
                    <a:pt x="17949" y="131891"/>
                  </a:lnTo>
                  <a:cubicBezTo>
                    <a:pt x="6831" y="131891"/>
                    <a:pt x="0" y="119790"/>
                    <a:pt x="5715" y="110238"/>
                  </a:cubicBezTo>
                  <a:lnTo>
                    <a:pt x="29334" y="70857"/>
                  </a:lnTo>
                  <a:cubicBezTo>
                    <a:pt x="33219" y="64383"/>
                    <a:pt x="40184" y="60454"/>
                    <a:pt x="47729" y="60454"/>
                  </a:cubicBezTo>
                  <a:lnTo>
                    <a:pt x="90145" y="60454"/>
                  </a:lnTo>
                  <a:cubicBezTo>
                    <a:pt x="124123" y="2902"/>
                    <a:pt x="174799" y="0"/>
                    <a:pt x="208687" y="4954"/>
                  </a:cubicBezTo>
                  <a:cubicBezTo>
                    <a:pt x="214402" y="5804"/>
                    <a:pt x="218868" y="10269"/>
                    <a:pt x="219671" y="15939"/>
                  </a:cubicBezTo>
                  <a:cubicBezTo>
                    <a:pt x="224626" y="49827"/>
                    <a:pt x="221724" y="100503"/>
                    <a:pt x="164173" y="134481"/>
                  </a:cubicBezTo>
                  <a:lnTo>
                    <a:pt x="164173" y="176897"/>
                  </a:lnTo>
                  <a:cubicBezTo>
                    <a:pt x="164173" y="184442"/>
                    <a:pt x="160243" y="191407"/>
                    <a:pt x="153769" y="195292"/>
                  </a:cubicBezTo>
                  <a:lnTo>
                    <a:pt x="114389" y="218911"/>
                  </a:lnTo>
                  <a:cubicBezTo>
                    <a:pt x="104879" y="224626"/>
                    <a:pt x="92735" y="217751"/>
                    <a:pt x="92735" y="206677"/>
                  </a:cubicBezTo>
                  <a:lnTo>
                    <a:pt x="92735" y="160466"/>
                  </a:lnTo>
                  <a:cubicBezTo>
                    <a:pt x="92735" y="144705"/>
                    <a:pt x="79921" y="131891"/>
                    <a:pt x="64160" y="131891"/>
                  </a:cubicBezTo>
                  <a:lnTo>
                    <a:pt x="64116" y="131891"/>
                  </a:lnTo>
                  <a:close/>
                  <a:moveTo>
                    <a:pt x="185604" y="60454"/>
                  </a:moveTo>
                  <a:cubicBezTo>
                    <a:pt x="185604" y="48625"/>
                    <a:pt x="176001" y="39022"/>
                    <a:pt x="164173" y="39022"/>
                  </a:cubicBezTo>
                  <a:cubicBezTo>
                    <a:pt x="152344" y="39022"/>
                    <a:pt x="142741" y="48625"/>
                    <a:pt x="142741" y="60454"/>
                  </a:cubicBezTo>
                  <a:cubicBezTo>
                    <a:pt x="142741" y="72282"/>
                    <a:pt x="152344" y="81885"/>
                    <a:pt x="164173" y="81885"/>
                  </a:cubicBezTo>
                  <a:cubicBezTo>
                    <a:pt x="176001" y="81885"/>
                    <a:pt x="185604" y="72282"/>
                    <a:pt x="185604" y="6045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021304" y="3356728"/>
              <a:ext cx="3498215" cy="266700"/>
            </a:xfrm>
            <a:prstGeom prst="rect">
              <a:avLst/>
            </a:prstGeom>
            <a:noFill/>
            <a:ln w="12700">
              <a:noFill/>
              <a:prstDash val="solid"/>
            </a:ln>
          </p:spPr>
          <p:txBody>
            <a:bodyPr wrap="square" lIns="0" tIns="0" rIns="0" bIns="0" rtlCol="0" anchor="ctr">
              <a:noAutofit/>
            </a:bodyPr>
            <a:lstStyle/>
            <a:p>
              <a:pPr algn="l">
                <a:lnSpc>
                  <a:spcPct val="117000"/>
                </a:lnSpc>
                <a:buSzTx/>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Génération automatique de Kernel</a:t>
              </a:r>
              <a:endParaRPr lang="en-US" sz="1600" b="1">
                <a:solidFill>
                  <a:srgbClr val="101828"/>
                </a:solidFill>
                <a:latin typeface="MiSans" panose="00000500000000000000" charset="-122"/>
                <a:ea typeface="MiSans" panose="00000500000000000000" charset="-122"/>
                <a:cs typeface="MiSans" panose="00000500000000000000" charset="-122"/>
              </a:endParaRPr>
            </a:p>
          </p:txBody>
        </p:sp>
        <p:sp>
          <p:nvSpPr>
            <p:cNvPr id="20" name="AutoShape 20"/>
            <p:cNvSpPr/>
            <p:nvPr/>
          </p:nvSpPr>
          <p:spPr>
            <a:xfrm>
              <a:off x="6579344" y="3775828"/>
              <a:ext cx="3867785" cy="72390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Le compilateur convertit automatiquement le code Python en kernel GPU haute performance, sans nécessiter l'écriture manuelle de CUDA</a:t>
              </a:r>
              <a:endParaRPr lang="en-US" sz="1200"/>
            </a:p>
          </p:txBody>
        </p:sp>
      </p:grpSp>
      <p:grpSp>
        <p:nvGrpSpPr>
          <p:cNvPr id="21" name="Group 21"/>
          <p:cNvGrpSpPr/>
          <p:nvPr/>
        </p:nvGrpSpPr>
        <p:grpSpPr>
          <a:xfrm>
            <a:off x="6474460" y="5059680"/>
            <a:ext cx="4124960" cy="1371600"/>
            <a:chOff x="6921729" y="5059591"/>
            <a:chExt cx="3657600" cy="1371600"/>
          </a:xfrm>
        </p:grpSpPr>
        <p:sp>
          <p:nvSpPr>
            <p:cNvPr id="22" name="Freeform 22"/>
            <p:cNvSpPr/>
            <p:nvPr/>
          </p:nvSpPr>
          <p:spPr>
            <a:xfrm>
              <a:off x="6921729" y="5059591"/>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7053261" y="5239248"/>
              <a:ext cx="286777" cy="228600"/>
            </a:xfrm>
            <a:custGeom>
              <a:avLst/>
              <a:gdLst/>
              <a:ahLst/>
              <a:cxnLst/>
              <a:rect l="l" t="t" r="r" b="b"/>
              <a:pathLst>
                <a:path w="286777" h="228600">
                  <a:moveTo>
                    <a:pt x="172209" y="14287"/>
                  </a:moveTo>
                  <a:lnTo>
                    <a:pt x="229359" y="14287"/>
                  </a:lnTo>
                  <a:cubicBezTo>
                    <a:pt x="237262" y="14287"/>
                    <a:pt x="243647" y="20672"/>
                    <a:pt x="243647" y="28575"/>
                  </a:cubicBezTo>
                  <a:cubicBezTo>
                    <a:pt x="243647" y="36478"/>
                    <a:pt x="237262" y="42863"/>
                    <a:pt x="229359" y="42863"/>
                  </a:cubicBezTo>
                  <a:lnTo>
                    <a:pt x="178638" y="42863"/>
                  </a:lnTo>
                  <a:cubicBezTo>
                    <a:pt x="176317" y="54381"/>
                    <a:pt x="168414" y="63892"/>
                    <a:pt x="157922" y="68445"/>
                  </a:cubicBezTo>
                  <a:lnTo>
                    <a:pt x="157922" y="200025"/>
                  </a:lnTo>
                  <a:lnTo>
                    <a:pt x="229359" y="200025"/>
                  </a:lnTo>
                  <a:cubicBezTo>
                    <a:pt x="237262" y="200025"/>
                    <a:pt x="243647" y="206411"/>
                    <a:pt x="243647" y="214313"/>
                  </a:cubicBezTo>
                  <a:cubicBezTo>
                    <a:pt x="243647" y="222214"/>
                    <a:pt x="237262" y="228600"/>
                    <a:pt x="229359" y="228600"/>
                  </a:cubicBezTo>
                  <a:lnTo>
                    <a:pt x="57909" y="228600"/>
                  </a:lnTo>
                  <a:cubicBezTo>
                    <a:pt x="50006" y="228600"/>
                    <a:pt x="43622" y="222214"/>
                    <a:pt x="43622" y="214313"/>
                  </a:cubicBezTo>
                  <a:cubicBezTo>
                    <a:pt x="43622" y="206411"/>
                    <a:pt x="50006" y="200025"/>
                    <a:pt x="57909" y="200025"/>
                  </a:cubicBezTo>
                  <a:lnTo>
                    <a:pt x="129347" y="200025"/>
                  </a:lnTo>
                  <a:lnTo>
                    <a:pt x="129347" y="68445"/>
                  </a:lnTo>
                  <a:cubicBezTo>
                    <a:pt x="118854" y="63847"/>
                    <a:pt x="110951" y="54337"/>
                    <a:pt x="108630" y="42863"/>
                  </a:cubicBezTo>
                  <a:lnTo>
                    <a:pt x="57909" y="42863"/>
                  </a:lnTo>
                  <a:cubicBezTo>
                    <a:pt x="50006" y="42863"/>
                    <a:pt x="43622" y="36478"/>
                    <a:pt x="43622" y="28575"/>
                  </a:cubicBezTo>
                  <a:cubicBezTo>
                    <a:pt x="43622" y="20672"/>
                    <a:pt x="50006" y="14287"/>
                    <a:pt x="57909" y="14287"/>
                  </a:cubicBezTo>
                  <a:lnTo>
                    <a:pt x="115059" y="14287"/>
                  </a:lnTo>
                  <a:cubicBezTo>
                    <a:pt x="121578" y="5626"/>
                    <a:pt x="131936" y="0"/>
                    <a:pt x="143634" y="0"/>
                  </a:cubicBezTo>
                  <a:cubicBezTo>
                    <a:pt x="155332" y="0"/>
                    <a:pt x="165690" y="5626"/>
                    <a:pt x="172209" y="14287"/>
                  </a:cubicBezTo>
                  <a:close/>
                  <a:moveTo>
                    <a:pt x="197034" y="142875"/>
                  </a:moveTo>
                  <a:lnTo>
                    <a:pt x="261684" y="142875"/>
                  </a:lnTo>
                  <a:lnTo>
                    <a:pt x="229359" y="87422"/>
                  </a:lnTo>
                  <a:lnTo>
                    <a:pt x="197034" y="142875"/>
                  </a:lnTo>
                  <a:close/>
                  <a:moveTo>
                    <a:pt x="229359" y="185737"/>
                  </a:moveTo>
                  <a:cubicBezTo>
                    <a:pt x="201275" y="185737"/>
                    <a:pt x="177924" y="170557"/>
                    <a:pt x="173102" y="150510"/>
                  </a:cubicBezTo>
                  <a:cubicBezTo>
                    <a:pt x="171941" y="145599"/>
                    <a:pt x="173548" y="140553"/>
                    <a:pt x="176093" y="136178"/>
                  </a:cubicBezTo>
                  <a:lnTo>
                    <a:pt x="218600" y="63311"/>
                  </a:lnTo>
                  <a:cubicBezTo>
                    <a:pt x="220831" y="59472"/>
                    <a:pt x="224939" y="57150"/>
                    <a:pt x="229359" y="57150"/>
                  </a:cubicBezTo>
                  <a:cubicBezTo>
                    <a:pt x="233779" y="57150"/>
                    <a:pt x="237887" y="59516"/>
                    <a:pt x="240118" y="63311"/>
                  </a:cubicBezTo>
                  <a:lnTo>
                    <a:pt x="282625" y="136178"/>
                  </a:lnTo>
                  <a:cubicBezTo>
                    <a:pt x="285170" y="140553"/>
                    <a:pt x="286777" y="145599"/>
                    <a:pt x="285616" y="150510"/>
                  </a:cubicBezTo>
                  <a:cubicBezTo>
                    <a:pt x="280794" y="170511"/>
                    <a:pt x="257443" y="185737"/>
                    <a:pt x="229359" y="185737"/>
                  </a:cubicBezTo>
                  <a:close/>
                  <a:moveTo>
                    <a:pt x="57373" y="87422"/>
                  </a:moveTo>
                  <a:lnTo>
                    <a:pt x="25048" y="142875"/>
                  </a:lnTo>
                  <a:lnTo>
                    <a:pt x="89743" y="142875"/>
                  </a:lnTo>
                  <a:lnTo>
                    <a:pt x="57373" y="87422"/>
                  </a:lnTo>
                  <a:close/>
                  <a:moveTo>
                    <a:pt x="1162" y="150510"/>
                  </a:moveTo>
                  <a:cubicBezTo>
                    <a:pt x="0" y="145599"/>
                    <a:pt x="1607" y="140553"/>
                    <a:pt x="4152" y="136178"/>
                  </a:cubicBezTo>
                  <a:lnTo>
                    <a:pt x="46658" y="63311"/>
                  </a:lnTo>
                  <a:cubicBezTo>
                    <a:pt x="48889" y="59472"/>
                    <a:pt x="52998" y="57150"/>
                    <a:pt x="57418" y="57150"/>
                  </a:cubicBezTo>
                  <a:cubicBezTo>
                    <a:pt x="61838" y="57150"/>
                    <a:pt x="65946" y="59516"/>
                    <a:pt x="68178" y="63311"/>
                  </a:cubicBezTo>
                  <a:lnTo>
                    <a:pt x="110683" y="136178"/>
                  </a:lnTo>
                  <a:cubicBezTo>
                    <a:pt x="113228" y="140553"/>
                    <a:pt x="114835" y="145599"/>
                    <a:pt x="113675" y="150510"/>
                  </a:cubicBezTo>
                  <a:cubicBezTo>
                    <a:pt x="108853" y="170511"/>
                    <a:pt x="85502" y="185737"/>
                    <a:pt x="57418" y="185737"/>
                  </a:cubicBezTo>
                  <a:cubicBezTo>
                    <a:pt x="29334" y="185737"/>
                    <a:pt x="5983" y="170557"/>
                    <a:pt x="1162" y="15051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7529546" y="5199926"/>
              <a:ext cx="2896870" cy="266700"/>
            </a:xfrm>
            <a:prstGeom prst="rect">
              <a:avLst/>
            </a:prstGeom>
            <a:noFill/>
            <a:ln w="12700">
              <a:noFill/>
              <a:prstDash val="solid"/>
            </a:ln>
          </p:spPr>
          <p:txBody>
            <a:bodyPr wrap="square" lIns="0" tIns="0" rIns="0" bIns="0" rtlCol="0" anchor="ctr">
              <a:noAutofit/>
            </a:bodyPr>
            <a:lstStyle/>
            <a:p>
              <a:pPr algn="l">
                <a:lnSpc>
                  <a:spcPct val="117000"/>
                </a:lnSpc>
                <a:buSzTx/>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Objectif de conception</a:t>
              </a:r>
              <a:endParaRPr lang="en-US" sz="1600" b="1">
                <a:solidFill>
                  <a:srgbClr val="101828"/>
                </a:solidFill>
                <a:latin typeface="MiSans" panose="00000500000000000000" charset="-122"/>
                <a:ea typeface="MiSans" panose="00000500000000000000" charset="-122"/>
                <a:cs typeface="MiSans" panose="00000500000000000000" charset="-122"/>
              </a:endParaRPr>
            </a:p>
          </p:txBody>
        </p:sp>
        <p:sp>
          <p:nvSpPr>
            <p:cNvPr id="25" name="AutoShape 25"/>
            <p:cNvSpPr/>
            <p:nvPr/>
          </p:nvSpPr>
          <p:spPr>
            <a:xfrm>
              <a:off x="7014633" y="5707291"/>
              <a:ext cx="3412108" cy="24765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Performance proche de CUDA</a:t>
              </a: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coût de développement proche de PyTorch</a:t>
              </a:r>
              <a:endParaRPr lang="en-US" sz="1200"/>
            </a:p>
          </p:txBody>
        </p:sp>
      </p:grpSp>
      <p:grpSp>
        <p:nvGrpSpPr>
          <p:cNvPr id="26" name="Group 26"/>
          <p:cNvGrpSpPr/>
          <p:nvPr/>
        </p:nvGrpSpPr>
        <p:grpSpPr>
          <a:xfrm>
            <a:off x="1408728" y="5059591"/>
            <a:ext cx="3827634" cy="1371600"/>
            <a:chOff x="1408728" y="5059591"/>
            <a:chExt cx="3827634" cy="1371600"/>
          </a:xfrm>
        </p:grpSpPr>
        <p:sp>
          <p:nvSpPr>
            <p:cNvPr id="27" name="Freeform 27"/>
            <p:cNvSpPr/>
            <p:nvPr/>
          </p:nvSpPr>
          <p:spPr>
            <a:xfrm>
              <a:off x="1578762" y="5059591"/>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1895724" y="5238950"/>
              <a:ext cx="208490" cy="233362"/>
            </a:xfrm>
            <a:custGeom>
              <a:avLst/>
              <a:gdLst/>
              <a:ahLst/>
              <a:cxnLst/>
              <a:rect l="l" t="t" r="r" b="b"/>
              <a:pathLst>
                <a:path w="208490" h="233362">
                  <a:moveTo>
                    <a:pt x="13031" y="0"/>
                  </a:moveTo>
                  <a:cubicBezTo>
                    <a:pt x="5823" y="0"/>
                    <a:pt x="0" y="7448"/>
                    <a:pt x="0" y="16667"/>
                  </a:cubicBezTo>
                  <a:lnTo>
                    <a:pt x="0" y="208360"/>
                  </a:lnTo>
                  <a:cubicBezTo>
                    <a:pt x="0" y="222163"/>
                    <a:pt x="8755" y="233362"/>
                    <a:pt x="19547" y="233362"/>
                  </a:cubicBezTo>
                  <a:lnTo>
                    <a:pt x="188943" y="233362"/>
                  </a:lnTo>
                  <a:cubicBezTo>
                    <a:pt x="199734" y="233362"/>
                    <a:pt x="208490" y="222163"/>
                    <a:pt x="208490" y="208360"/>
                  </a:cubicBezTo>
                  <a:lnTo>
                    <a:pt x="208490" y="62612"/>
                  </a:lnTo>
                  <a:cubicBezTo>
                    <a:pt x="208490" y="53131"/>
                    <a:pt x="200589" y="47141"/>
                    <a:pt x="194075" y="51621"/>
                  </a:cubicBezTo>
                  <a:lnTo>
                    <a:pt x="130306" y="95533"/>
                  </a:lnTo>
                  <a:lnTo>
                    <a:pt x="130306" y="62612"/>
                  </a:lnTo>
                  <a:cubicBezTo>
                    <a:pt x="130306" y="53131"/>
                    <a:pt x="122405" y="47141"/>
                    <a:pt x="115890" y="51621"/>
                  </a:cubicBezTo>
                  <a:lnTo>
                    <a:pt x="52122" y="95533"/>
                  </a:lnTo>
                  <a:lnTo>
                    <a:pt x="52122" y="16667"/>
                  </a:lnTo>
                  <a:cubicBezTo>
                    <a:pt x="52122" y="7448"/>
                    <a:pt x="46299" y="0"/>
                    <a:pt x="39092" y="0"/>
                  </a:cubicBezTo>
                  <a:lnTo>
                    <a:pt x="13031" y="0"/>
                  </a:lnTo>
                  <a:close/>
                </a:path>
              </a:pathLst>
            </a:custGeom>
            <a:solidFill>
              <a:srgbClr val="8B0012">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2264708" y="5223421"/>
              <a:ext cx="2884805" cy="266700"/>
            </a:xfrm>
            <a:prstGeom prst="rect">
              <a:avLst/>
            </a:prstGeom>
            <a:noFill/>
            <a:ln w="12700">
              <a:noFill/>
              <a:prstDash val="solid"/>
            </a:ln>
          </p:spPr>
          <p:txBody>
            <a:bodyPr wrap="square" lIns="0" tIns="0" rIns="0" bIns="0" rtlCol="0" anchor="ctr">
              <a:noAutofit/>
            </a:bodyPr>
            <a:lstStyle/>
            <a:p>
              <a:pPr algn="l">
                <a:lnSpc>
                  <a:spcPct val="117000"/>
                </a:lnSpc>
                <a:buSzTx/>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Applications</a:t>
              </a:r>
              <a:endParaRPr lang="en-US" sz="1600" b="1">
                <a:solidFill>
                  <a:srgbClr val="101828"/>
                </a:solidFill>
                <a:latin typeface="MiSans" panose="00000500000000000000" charset="-122"/>
                <a:ea typeface="MiSans" panose="00000500000000000000" charset="-122"/>
                <a:cs typeface="MiSans" panose="00000500000000000000" charset="-122"/>
              </a:endParaRPr>
            </a:p>
          </p:txBody>
        </p:sp>
        <p:grpSp>
          <p:nvGrpSpPr>
            <p:cNvPr id="30" name="Group 30"/>
            <p:cNvGrpSpPr/>
            <p:nvPr/>
          </p:nvGrpSpPr>
          <p:grpSpPr>
            <a:xfrm>
              <a:off x="1408728" y="5746099"/>
              <a:ext cx="1571625" cy="444469"/>
              <a:chOff x="1408728" y="5746099"/>
              <a:chExt cx="1571625" cy="444469"/>
            </a:xfrm>
          </p:grpSpPr>
          <p:sp>
            <p:nvSpPr>
              <p:cNvPr id="31" name="Freeform 31"/>
              <p:cNvSpPr/>
              <p:nvPr/>
            </p:nvSpPr>
            <p:spPr>
              <a:xfrm>
                <a:off x="2099340" y="5746099"/>
                <a:ext cx="190500" cy="190500"/>
              </a:xfrm>
              <a:custGeom>
                <a:avLst/>
                <a:gdLst/>
                <a:ahLst/>
                <a:cxnLst/>
                <a:rect l="l" t="t" r="r" b="b"/>
                <a:pathLst>
                  <a:path w="190500" h="190500">
                    <a:moveTo>
                      <a:pt x="65484" y="8929"/>
                    </a:moveTo>
                    <a:cubicBezTo>
                      <a:pt x="65484" y="3981"/>
                      <a:pt x="61504" y="0"/>
                      <a:pt x="56554" y="0"/>
                    </a:cubicBezTo>
                    <a:cubicBezTo>
                      <a:pt x="51606" y="0"/>
                      <a:pt x="47625" y="3981"/>
                      <a:pt x="47625" y="8929"/>
                    </a:cubicBezTo>
                    <a:lnTo>
                      <a:pt x="47625" y="23813"/>
                    </a:lnTo>
                    <a:cubicBezTo>
                      <a:pt x="34491" y="23813"/>
                      <a:pt x="23812" y="34491"/>
                      <a:pt x="23812" y="47625"/>
                    </a:cubicBezTo>
                    <a:lnTo>
                      <a:pt x="8929" y="47625"/>
                    </a:lnTo>
                    <a:cubicBezTo>
                      <a:pt x="3981" y="47625"/>
                      <a:pt x="0" y="51606"/>
                      <a:pt x="0" y="56554"/>
                    </a:cubicBezTo>
                    <a:cubicBezTo>
                      <a:pt x="0" y="61504"/>
                      <a:pt x="3981" y="65484"/>
                      <a:pt x="8929" y="65484"/>
                    </a:cubicBezTo>
                    <a:lnTo>
                      <a:pt x="23812" y="65484"/>
                    </a:lnTo>
                    <a:lnTo>
                      <a:pt x="23812" y="86321"/>
                    </a:lnTo>
                    <a:lnTo>
                      <a:pt x="8929" y="86321"/>
                    </a:lnTo>
                    <a:cubicBezTo>
                      <a:pt x="3981" y="86321"/>
                      <a:pt x="0" y="90301"/>
                      <a:pt x="0" y="95250"/>
                    </a:cubicBezTo>
                    <a:cubicBezTo>
                      <a:pt x="0" y="100199"/>
                      <a:pt x="3981" y="104179"/>
                      <a:pt x="8929" y="104179"/>
                    </a:cubicBezTo>
                    <a:lnTo>
                      <a:pt x="23812" y="104179"/>
                    </a:lnTo>
                    <a:lnTo>
                      <a:pt x="23812" y="125016"/>
                    </a:lnTo>
                    <a:lnTo>
                      <a:pt x="8929" y="125016"/>
                    </a:lnTo>
                    <a:cubicBezTo>
                      <a:pt x="3981" y="125016"/>
                      <a:pt x="0" y="128996"/>
                      <a:pt x="0" y="133946"/>
                    </a:cubicBezTo>
                    <a:cubicBezTo>
                      <a:pt x="0" y="138894"/>
                      <a:pt x="3981" y="142875"/>
                      <a:pt x="8929" y="142875"/>
                    </a:cubicBezTo>
                    <a:lnTo>
                      <a:pt x="23812" y="142875"/>
                    </a:lnTo>
                    <a:cubicBezTo>
                      <a:pt x="23812" y="156009"/>
                      <a:pt x="34491" y="166687"/>
                      <a:pt x="47625" y="166687"/>
                    </a:cubicBezTo>
                    <a:lnTo>
                      <a:pt x="47625" y="181571"/>
                    </a:lnTo>
                    <a:cubicBezTo>
                      <a:pt x="47625" y="186519"/>
                      <a:pt x="51606" y="190500"/>
                      <a:pt x="56554" y="190500"/>
                    </a:cubicBezTo>
                    <a:cubicBezTo>
                      <a:pt x="61504" y="190500"/>
                      <a:pt x="65484" y="186519"/>
                      <a:pt x="65484" y="181571"/>
                    </a:cubicBezTo>
                    <a:lnTo>
                      <a:pt x="65484" y="166687"/>
                    </a:lnTo>
                    <a:lnTo>
                      <a:pt x="86321" y="166687"/>
                    </a:lnTo>
                    <a:lnTo>
                      <a:pt x="86321" y="181571"/>
                    </a:lnTo>
                    <a:cubicBezTo>
                      <a:pt x="86321" y="186519"/>
                      <a:pt x="90301" y="190500"/>
                      <a:pt x="95250" y="190500"/>
                    </a:cubicBezTo>
                    <a:cubicBezTo>
                      <a:pt x="100199" y="190500"/>
                      <a:pt x="104179" y="186519"/>
                      <a:pt x="104179" y="181571"/>
                    </a:cubicBezTo>
                    <a:lnTo>
                      <a:pt x="104179" y="166687"/>
                    </a:lnTo>
                    <a:lnTo>
                      <a:pt x="125016" y="166687"/>
                    </a:lnTo>
                    <a:lnTo>
                      <a:pt x="125016" y="181571"/>
                    </a:lnTo>
                    <a:cubicBezTo>
                      <a:pt x="125016" y="186519"/>
                      <a:pt x="128996" y="190500"/>
                      <a:pt x="133946" y="190500"/>
                    </a:cubicBezTo>
                    <a:cubicBezTo>
                      <a:pt x="138894" y="190500"/>
                      <a:pt x="142875" y="186519"/>
                      <a:pt x="142875" y="181571"/>
                    </a:cubicBezTo>
                    <a:lnTo>
                      <a:pt x="142875" y="166687"/>
                    </a:lnTo>
                    <a:cubicBezTo>
                      <a:pt x="156009" y="166687"/>
                      <a:pt x="166688" y="156009"/>
                      <a:pt x="166688" y="142875"/>
                    </a:cubicBezTo>
                    <a:lnTo>
                      <a:pt x="181571" y="142875"/>
                    </a:lnTo>
                    <a:cubicBezTo>
                      <a:pt x="186519" y="142875"/>
                      <a:pt x="190500" y="138894"/>
                      <a:pt x="190500" y="133946"/>
                    </a:cubicBezTo>
                    <a:cubicBezTo>
                      <a:pt x="190500" y="128996"/>
                      <a:pt x="186519" y="125016"/>
                      <a:pt x="181571" y="125016"/>
                    </a:cubicBezTo>
                    <a:lnTo>
                      <a:pt x="166688" y="125016"/>
                    </a:lnTo>
                    <a:lnTo>
                      <a:pt x="166688" y="104179"/>
                    </a:lnTo>
                    <a:lnTo>
                      <a:pt x="181571" y="104179"/>
                    </a:lnTo>
                    <a:cubicBezTo>
                      <a:pt x="186519" y="104179"/>
                      <a:pt x="190500" y="100199"/>
                      <a:pt x="190500" y="95250"/>
                    </a:cubicBezTo>
                    <a:cubicBezTo>
                      <a:pt x="190500" y="90301"/>
                      <a:pt x="186519" y="86321"/>
                      <a:pt x="181571" y="86321"/>
                    </a:cubicBezTo>
                    <a:lnTo>
                      <a:pt x="166688" y="86321"/>
                    </a:lnTo>
                    <a:lnTo>
                      <a:pt x="166688" y="65484"/>
                    </a:lnTo>
                    <a:lnTo>
                      <a:pt x="181571" y="65484"/>
                    </a:lnTo>
                    <a:cubicBezTo>
                      <a:pt x="186519" y="65484"/>
                      <a:pt x="190500" y="61504"/>
                      <a:pt x="190500" y="56554"/>
                    </a:cubicBezTo>
                    <a:cubicBezTo>
                      <a:pt x="190500" y="51606"/>
                      <a:pt x="186519" y="47625"/>
                      <a:pt x="181571" y="47625"/>
                    </a:cubicBezTo>
                    <a:lnTo>
                      <a:pt x="166688" y="47625"/>
                    </a:lnTo>
                    <a:cubicBezTo>
                      <a:pt x="166688" y="34491"/>
                      <a:pt x="156009" y="23813"/>
                      <a:pt x="142875" y="23813"/>
                    </a:cubicBezTo>
                    <a:lnTo>
                      <a:pt x="142875" y="8929"/>
                    </a:lnTo>
                    <a:cubicBezTo>
                      <a:pt x="142875" y="3981"/>
                      <a:pt x="138894" y="0"/>
                      <a:pt x="133946" y="0"/>
                    </a:cubicBezTo>
                    <a:cubicBezTo>
                      <a:pt x="128996" y="0"/>
                      <a:pt x="125016" y="3981"/>
                      <a:pt x="125016" y="8929"/>
                    </a:cubicBezTo>
                    <a:lnTo>
                      <a:pt x="125016" y="23813"/>
                    </a:lnTo>
                    <a:lnTo>
                      <a:pt x="104179" y="23813"/>
                    </a:lnTo>
                    <a:lnTo>
                      <a:pt x="104179" y="8929"/>
                    </a:lnTo>
                    <a:cubicBezTo>
                      <a:pt x="104179" y="3981"/>
                      <a:pt x="100199" y="0"/>
                      <a:pt x="95250" y="0"/>
                    </a:cubicBezTo>
                    <a:cubicBezTo>
                      <a:pt x="90301" y="0"/>
                      <a:pt x="86321" y="3981"/>
                      <a:pt x="86321" y="8929"/>
                    </a:cubicBezTo>
                    <a:lnTo>
                      <a:pt x="86321" y="23813"/>
                    </a:lnTo>
                    <a:lnTo>
                      <a:pt x="65484" y="23813"/>
                    </a:lnTo>
                    <a:lnTo>
                      <a:pt x="65484" y="8929"/>
                    </a:lnTo>
                    <a:close/>
                    <a:moveTo>
                      <a:pt x="59531" y="47625"/>
                    </a:moveTo>
                    <a:lnTo>
                      <a:pt x="130969" y="47625"/>
                    </a:lnTo>
                    <a:cubicBezTo>
                      <a:pt x="137554" y="47625"/>
                      <a:pt x="142875" y="52946"/>
                      <a:pt x="142875" y="59531"/>
                    </a:cubicBezTo>
                    <a:lnTo>
                      <a:pt x="142875" y="130969"/>
                    </a:lnTo>
                    <a:cubicBezTo>
                      <a:pt x="142875" y="137554"/>
                      <a:pt x="137554" y="142875"/>
                      <a:pt x="130969" y="142875"/>
                    </a:cubicBezTo>
                    <a:lnTo>
                      <a:pt x="59531" y="142875"/>
                    </a:lnTo>
                    <a:cubicBezTo>
                      <a:pt x="52946" y="142875"/>
                      <a:pt x="47625" y="137554"/>
                      <a:pt x="47625" y="130969"/>
                    </a:cubicBezTo>
                    <a:lnTo>
                      <a:pt x="47625" y="59531"/>
                    </a:lnTo>
                    <a:cubicBezTo>
                      <a:pt x="47625" y="52946"/>
                      <a:pt x="52946" y="47625"/>
                      <a:pt x="59531" y="47625"/>
                    </a:cubicBezTo>
                    <a:close/>
                    <a:moveTo>
                      <a:pt x="65484" y="65484"/>
                    </a:moveTo>
                    <a:lnTo>
                      <a:pt x="65484" y="125016"/>
                    </a:lnTo>
                    <a:lnTo>
                      <a:pt x="125016" y="125016"/>
                    </a:lnTo>
                    <a:lnTo>
                      <a:pt x="125016" y="65484"/>
                    </a:lnTo>
                    <a:lnTo>
                      <a:pt x="65484" y="65484"/>
                    </a:lnTo>
                    <a:close/>
                  </a:path>
                </a:pathLst>
              </a:custGeom>
              <a:solidFill>
                <a:srgbClr val="E07A5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408728" y="6000068"/>
                <a:ext cx="1571625"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Kernel</a:t>
                </a:r>
                <a:endParaRPr lang="en-US" sz="1100"/>
              </a:p>
            </p:txBody>
          </p:sp>
        </p:grpSp>
        <p:grpSp>
          <p:nvGrpSpPr>
            <p:cNvPr id="33" name="Group 33"/>
            <p:cNvGrpSpPr/>
            <p:nvPr/>
          </p:nvGrpSpPr>
          <p:grpSpPr>
            <a:xfrm>
              <a:off x="2515047" y="5756525"/>
              <a:ext cx="1571625" cy="444469"/>
              <a:chOff x="2515047" y="5756525"/>
              <a:chExt cx="1571625" cy="444469"/>
            </a:xfrm>
          </p:grpSpPr>
          <p:sp>
            <p:nvSpPr>
              <p:cNvPr id="34" name="Freeform 34"/>
              <p:cNvSpPr/>
              <p:nvPr/>
            </p:nvSpPr>
            <p:spPr>
              <a:xfrm>
                <a:off x="3208697" y="5756525"/>
                <a:ext cx="184546" cy="190500"/>
              </a:xfrm>
              <a:custGeom>
                <a:avLst/>
                <a:gdLst/>
                <a:ahLst/>
                <a:cxnLst/>
                <a:rect l="l" t="t" r="r" b="b"/>
                <a:pathLst>
                  <a:path w="184546" h="190500">
                    <a:moveTo>
                      <a:pt x="41671" y="20836"/>
                    </a:moveTo>
                    <a:cubicBezTo>
                      <a:pt x="41671" y="9340"/>
                      <a:pt x="51009" y="0"/>
                      <a:pt x="62507" y="0"/>
                    </a:cubicBezTo>
                    <a:lnTo>
                      <a:pt x="71437" y="0"/>
                    </a:lnTo>
                    <a:cubicBezTo>
                      <a:pt x="78024" y="0"/>
                      <a:pt x="83344" y="5321"/>
                      <a:pt x="83344" y="11906"/>
                    </a:cubicBezTo>
                    <a:lnTo>
                      <a:pt x="83344" y="178594"/>
                    </a:lnTo>
                    <a:cubicBezTo>
                      <a:pt x="83344" y="185179"/>
                      <a:pt x="78024" y="190500"/>
                      <a:pt x="71437" y="190500"/>
                    </a:cubicBezTo>
                    <a:lnTo>
                      <a:pt x="59531" y="190500"/>
                    </a:lnTo>
                    <a:cubicBezTo>
                      <a:pt x="48443" y="190500"/>
                      <a:pt x="39104" y="182910"/>
                      <a:pt x="36462" y="172641"/>
                    </a:cubicBezTo>
                    <a:cubicBezTo>
                      <a:pt x="36203" y="172641"/>
                      <a:pt x="35979" y="172641"/>
                      <a:pt x="35719" y="172641"/>
                    </a:cubicBezTo>
                    <a:cubicBezTo>
                      <a:pt x="19273" y="172641"/>
                      <a:pt x="5952" y="159321"/>
                      <a:pt x="5952" y="142875"/>
                    </a:cubicBezTo>
                    <a:cubicBezTo>
                      <a:pt x="5952" y="136178"/>
                      <a:pt x="8185" y="130001"/>
                      <a:pt x="11906" y="125016"/>
                    </a:cubicBezTo>
                    <a:cubicBezTo>
                      <a:pt x="4687" y="119583"/>
                      <a:pt x="0" y="110951"/>
                      <a:pt x="0" y="101202"/>
                    </a:cubicBezTo>
                    <a:cubicBezTo>
                      <a:pt x="0" y="89706"/>
                      <a:pt x="6548" y="79698"/>
                      <a:pt x="16073" y="74748"/>
                    </a:cubicBezTo>
                    <a:cubicBezTo>
                      <a:pt x="13431" y="70284"/>
                      <a:pt x="11906" y="65075"/>
                      <a:pt x="11906" y="59531"/>
                    </a:cubicBezTo>
                    <a:cubicBezTo>
                      <a:pt x="11906" y="43086"/>
                      <a:pt x="25226" y="29766"/>
                      <a:pt x="41671" y="29766"/>
                    </a:cubicBezTo>
                    <a:lnTo>
                      <a:pt x="41671" y="20836"/>
                    </a:lnTo>
                    <a:close/>
                    <a:moveTo>
                      <a:pt x="142875" y="20836"/>
                    </a:moveTo>
                    <a:lnTo>
                      <a:pt x="142875" y="29766"/>
                    </a:lnTo>
                    <a:cubicBezTo>
                      <a:pt x="159320" y="29766"/>
                      <a:pt x="172640" y="43086"/>
                      <a:pt x="172640" y="59531"/>
                    </a:cubicBezTo>
                    <a:cubicBezTo>
                      <a:pt x="172640" y="65112"/>
                      <a:pt x="171115" y="70321"/>
                      <a:pt x="168473" y="74748"/>
                    </a:cubicBezTo>
                    <a:cubicBezTo>
                      <a:pt x="178035" y="79698"/>
                      <a:pt x="184546" y="89670"/>
                      <a:pt x="184546" y="101202"/>
                    </a:cubicBezTo>
                    <a:cubicBezTo>
                      <a:pt x="184546" y="110951"/>
                      <a:pt x="179859" y="119583"/>
                      <a:pt x="172640" y="125016"/>
                    </a:cubicBezTo>
                    <a:cubicBezTo>
                      <a:pt x="176361" y="130001"/>
                      <a:pt x="178594" y="136178"/>
                      <a:pt x="178594" y="142875"/>
                    </a:cubicBezTo>
                    <a:cubicBezTo>
                      <a:pt x="178594" y="159321"/>
                      <a:pt x="165273" y="172641"/>
                      <a:pt x="148827" y="172641"/>
                    </a:cubicBezTo>
                    <a:cubicBezTo>
                      <a:pt x="148567" y="172641"/>
                      <a:pt x="148344" y="172641"/>
                      <a:pt x="148084" y="172641"/>
                    </a:cubicBezTo>
                    <a:cubicBezTo>
                      <a:pt x="145442" y="182910"/>
                      <a:pt x="136103" y="190500"/>
                      <a:pt x="125015" y="190500"/>
                    </a:cubicBezTo>
                    <a:lnTo>
                      <a:pt x="113109" y="190500"/>
                    </a:lnTo>
                    <a:cubicBezTo>
                      <a:pt x="106522" y="190500"/>
                      <a:pt x="101202" y="185179"/>
                      <a:pt x="101202" y="178594"/>
                    </a:cubicBezTo>
                    <a:lnTo>
                      <a:pt x="101202" y="11906"/>
                    </a:lnTo>
                    <a:cubicBezTo>
                      <a:pt x="101202" y="5321"/>
                      <a:pt x="106522" y="0"/>
                      <a:pt x="113109" y="0"/>
                    </a:cubicBezTo>
                    <a:lnTo>
                      <a:pt x="122039" y="0"/>
                    </a:lnTo>
                    <a:cubicBezTo>
                      <a:pt x="133537" y="0"/>
                      <a:pt x="142875" y="9340"/>
                      <a:pt x="142875" y="20836"/>
                    </a:cubicBezTo>
                    <a:close/>
                  </a:path>
                </a:pathLst>
              </a:custGeom>
              <a:solidFill>
                <a:srgbClr val="4A6C8C">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2515047" y="6010494"/>
                <a:ext cx="1571625"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767171"/>
                    </a:solidFill>
                    <a:latin typeface="MiSans" panose="00000500000000000000" charset="-122"/>
                    <a:ea typeface="MiSans" panose="00000500000000000000" charset="-122"/>
                    <a:cs typeface="MiSans" panose="00000500000000000000" charset="-122"/>
                    <a:sym typeface="MiSans" panose="00000500000000000000" charset="-122"/>
                  </a:rPr>
                  <a:t>Deep Learning</a:t>
                </a:r>
                <a:endParaRPr lang="en-US" sz="1200"/>
              </a:p>
            </p:txBody>
          </p:sp>
        </p:grpSp>
        <p:grpSp>
          <p:nvGrpSpPr>
            <p:cNvPr id="36" name="Group 36"/>
            <p:cNvGrpSpPr/>
            <p:nvPr/>
          </p:nvGrpSpPr>
          <p:grpSpPr>
            <a:xfrm>
              <a:off x="3577000" y="5756524"/>
              <a:ext cx="1571625" cy="457194"/>
              <a:chOff x="3577000" y="5756524"/>
              <a:chExt cx="1571625" cy="457194"/>
            </a:xfrm>
          </p:grpSpPr>
          <p:sp>
            <p:nvSpPr>
              <p:cNvPr id="37" name="Freeform 37"/>
              <p:cNvSpPr/>
              <p:nvPr/>
            </p:nvSpPr>
            <p:spPr>
              <a:xfrm>
                <a:off x="4279518" y="5756524"/>
                <a:ext cx="166649" cy="203189"/>
              </a:xfrm>
              <a:custGeom>
                <a:avLst/>
                <a:gdLst/>
                <a:ahLst/>
                <a:cxnLst/>
                <a:rect l="l" t="t" r="r" b="b"/>
                <a:pathLst>
                  <a:path w="166649" h="203189">
                    <a:moveTo>
                      <a:pt x="59717" y="2902"/>
                    </a:moveTo>
                    <a:cubicBezTo>
                      <a:pt x="63177" y="0"/>
                      <a:pt x="68275" y="113"/>
                      <a:pt x="71586" y="3237"/>
                    </a:cubicBezTo>
                    <a:cubicBezTo>
                      <a:pt x="76163" y="7554"/>
                      <a:pt x="80256" y="12316"/>
                      <a:pt x="84200" y="17153"/>
                    </a:cubicBezTo>
                    <a:cubicBezTo>
                      <a:pt x="89223" y="23291"/>
                      <a:pt x="95250" y="31403"/>
                      <a:pt x="101054" y="41040"/>
                    </a:cubicBezTo>
                    <a:cubicBezTo>
                      <a:pt x="102989" y="38509"/>
                      <a:pt x="104775" y="36277"/>
                      <a:pt x="106338" y="34378"/>
                    </a:cubicBezTo>
                    <a:cubicBezTo>
                      <a:pt x="106747" y="33896"/>
                      <a:pt x="107156" y="33375"/>
                      <a:pt x="107566" y="32854"/>
                    </a:cubicBezTo>
                    <a:cubicBezTo>
                      <a:pt x="110505" y="29208"/>
                      <a:pt x="114151" y="24631"/>
                      <a:pt x="119024" y="24631"/>
                    </a:cubicBezTo>
                    <a:cubicBezTo>
                      <a:pt x="124010" y="24631"/>
                      <a:pt x="127508" y="29058"/>
                      <a:pt x="130485" y="32854"/>
                    </a:cubicBezTo>
                    <a:cubicBezTo>
                      <a:pt x="130969" y="33487"/>
                      <a:pt x="131453" y="34083"/>
                      <a:pt x="131936" y="34640"/>
                    </a:cubicBezTo>
                    <a:cubicBezTo>
                      <a:pt x="135768" y="39254"/>
                      <a:pt x="140866" y="45914"/>
                      <a:pt x="145962" y="54136"/>
                    </a:cubicBezTo>
                    <a:cubicBezTo>
                      <a:pt x="156083" y="70471"/>
                      <a:pt x="166649" y="93726"/>
                      <a:pt x="166649" y="119844"/>
                    </a:cubicBezTo>
                    <a:cubicBezTo>
                      <a:pt x="166649" y="165869"/>
                      <a:pt x="129332" y="203188"/>
                      <a:pt x="83307" y="203188"/>
                    </a:cubicBezTo>
                    <a:cubicBezTo>
                      <a:pt x="37281" y="203188"/>
                      <a:pt x="0" y="165906"/>
                      <a:pt x="0" y="119881"/>
                    </a:cubicBezTo>
                    <a:cubicBezTo>
                      <a:pt x="0" y="85986"/>
                      <a:pt x="15292" y="56629"/>
                      <a:pt x="29952" y="36165"/>
                    </a:cubicBezTo>
                    <a:cubicBezTo>
                      <a:pt x="37356" y="25859"/>
                      <a:pt x="44723" y="17599"/>
                      <a:pt x="50267" y="11944"/>
                    </a:cubicBezTo>
                    <a:cubicBezTo>
                      <a:pt x="53318" y="8818"/>
                      <a:pt x="56406" y="5730"/>
                      <a:pt x="59754" y="2940"/>
                    </a:cubicBezTo>
                    <a:close/>
                    <a:moveTo>
                      <a:pt x="83976" y="167506"/>
                    </a:moveTo>
                    <a:cubicBezTo>
                      <a:pt x="93389" y="167506"/>
                      <a:pt x="101724" y="164901"/>
                      <a:pt x="109576" y="159693"/>
                    </a:cubicBezTo>
                    <a:cubicBezTo>
                      <a:pt x="125239" y="148753"/>
                      <a:pt x="129443" y="126876"/>
                      <a:pt x="120030" y="109687"/>
                    </a:cubicBezTo>
                    <a:cubicBezTo>
                      <a:pt x="118356" y="106338"/>
                      <a:pt x="114076" y="106114"/>
                      <a:pt x="111658" y="108941"/>
                    </a:cubicBezTo>
                    <a:lnTo>
                      <a:pt x="102282" y="119844"/>
                    </a:lnTo>
                    <a:cubicBezTo>
                      <a:pt x="99826" y="122671"/>
                      <a:pt x="95399" y="122597"/>
                      <a:pt x="93092" y="119658"/>
                    </a:cubicBezTo>
                    <a:cubicBezTo>
                      <a:pt x="86655" y="111434"/>
                      <a:pt x="74823" y="96441"/>
                      <a:pt x="68796" y="88776"/>
                    </a:cubicBezTo>
                    <a:cubicBezTo>
                      <a:pt x="66787" y="86208"/>
                      <a:pt x="63141" y="85800"/>
                      <a:pt x="60796" y="88069"/>
                    </a:cubicBezTo>
                    <a:cubicBezTo>
                      <a:pt x="53986" y="94692"/>
                      <a:pt x="41634" y="109203"/>
                      <a:pt x="41634" y="126876"/>
                    </a:cubicBezTo>
                    <a:cubicBezTo>
                      <a:pt x="41634" y="152400"/>
                      <a:pt x="60461" y="167506"/>
                      <a:pt x="83939" y="167506"/>
                    </a:cubicBezTo>
                    <a:close/>
                  </a:path>
                </a:pathLst>
              </a:custGeom>
              <a:solidFill>
                <a:srgbClr val="E07A5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3577000" y="6023218"/>
                <a:ext cx="1571625"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767171"/>
                    </a:solidFill>
                    <a:latin typeface="MiSans" panose="00000500000000000000" charset="-122"/>
                    <a:ea typeface="MiSans" panose="00000500000000000000" charset="-122"/>
                    <a:cs typeface="MiSans" panose="00000500000000000000" charset="-122"/>
                    <a:sym typeface="MiSans" panose="00000500000000000000" charset="-122"/>
                  </a:rPr>
                  <a:t>PyTorch</a:t>
                </a:r>
                <a:endParaRPr lang="en-US" sz="1200"/>
              </a:p>
            </p:txBody>
          </p:sp>
        </p:gr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9796" y="623039"/>
            <a:ext cx="10529386"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Modèle d'exécution de Triton</a:t>
            </a:r>
            <a:endParaRPr lang="en-US" sz="2800" b="1">
              <a:solidFill>
                <a:srgbClr val="101828"/>
              </a:solidFill>
              <a:latin typeface="MiSans" panose="00000500000000000000" charset="-122"/>
              <a:ea typeface="MiSans" panose="00000500000000000000" charset="-122"/>
              <a:cs typeface="MiSans" panose="00000500000000000000" charset="-122"/>
            </a:endParaRPr>
          </a:p>
        </p:txBody>
      </p:sp>
      <p:sp>
        <p:nvSpPr>
          <p:cNvPr id="3" name="AutoShape 3"/>
          <p:cNvSpPr/>
          <p:nvPr/>
        </p:nvSpPr>
        <p:spPr>
          <a:xfrm>
            <a:off x="380956" y="1694493"/>
            <a:ext cx="115157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8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L'unité d'exécution de base de Triton : </a:t>
            </a:r>
            <a:r>
              <a:rPr lang="en-US" sz="18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program</a:t>
            </a:r>
            <a:r>
              <a:rPr lang="en-US" sz="18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plusieurs programs forment une </a:t>
            </a:r>
            <a:r>
              <a:rPr lang="en-US" sz="18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grid</a:t>
            </a:r>
            <a:r>
              <a:rPr lang="en-US" sz="18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chaque program traite un bloc de données</a:t>
            </a:r>
            <a:endParaRPr lang="en-US" sz="1800"/>
          </a:p>
        </p:txBody>
      </p:sp>
      <p:sp>
        <p:nvSpPr>
          <p:cNvPr id="4" name="Freeform 4"/>
          <p:cNvSpPr/>
          <p:nvPr/>
        </p:nvSpPr>
        <p:spPr>
          <a:xfrm>
            <a:off x="380956" y="2354076"/>
            <a:ext cx="11430000" cy="2771775"/>
          </a:xfrm>
          <a:custGeom>
            <a:avLst/>
            <a:gdLst/>
            <a:ahLst/>
            <a:cxnLst/>
            <a:rect l="l" t="t" r="r" b="b"/>
            <a:pathLst>
              <a:path w="11430000" h="2771775">
                <a:moveTo>
                  <a:pt x="114308" y="0"/>
                </a:moveTo>
                <a:lnTo>
                  <a:pt x="11315692" y="0"/>
                </a:lnTo>
                <a:cubicBezTo>
                  <a:pt x="11378823" y="0"/>
                  <a:pt x="11430000" y="51177"/>
                  <a:pt x="11430000" y="114308"/>
                </a:cubicBezTo>
                <a:lnTo>
                  <a:pt x="11430000" y="2657467"/>
                </a:lnTo>
                <a:cubicBezTo>
                  <a:pt x="11430000" y="2720598"/>
                  <a:pt x="11378823" y="2771775"/>
                  <a:pt x="11315692" y="2771775"/>
                </a:cubicBezTo>
                <a:lnTo>
                  <a:pt x="114308" y="2771775"/>
                </a:lnTo>
                <a:cubicBezTo>
                  <a:pt x="51177" y="2771775"/>
                  <a:pt x="0" y="2720598"/>
                  <a:pt x="0" y="2657467"/>
                </a:cubicBezTo>
                <a:lnTo>
                  <a:pt x="0" y="114308"/>
                </a:lnTo>
                <a:cubicBezTo>
                  <a:pt x="0" y="51220"/>
                  <a:pt x="51220" y="0"/>
                  <a:pt x="1143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graphicFrame>
        <p:nvGraphicFramePr>
          <p:cNvPr id="5" name="Table 5"/>
          <p:cNvGraphicFramePr>
            <a:graphicFrameLocks noGrp="1"/>
          </p:cNvGraphicFramePr>
          <p:nvPr/>
        </p:nvGraphicFramePr>
        <p:xfrm>
          <a:off x="609529" y="2582649"/>
          <a:ext cx="10972800" cy="2314576"/>
        </p:xfrm>
        <a:graphic>
          <a:graphicData uri="http://schemas.openxmlformats.org/drawingml/2006/table">
            <a:tbl>
              <a:tblPr>
                <a:effectLst/>
              </a:tblPr>
              <a:tblGrid>
                <a:gridCol w="5153025"/>
                <a:gridCol w="1733550"/>
                <a:gridCol w="4086225"/>
              </a:tblGrid>
              <a:tr h="578644">
                <a:tc>
                  <a:txBody>
                    <a:bodyPr rtlCol="0"/>
                    <a:lstStyle/>
                    <a:p>
                      <a:r>
                        <a:t>CUDA thread</a:t>
                      </a:r>
                    </a:p>
                  </a:txBody>
                  <a:tcPr marL="152400" marR="152400" marT="114300" marB="114300"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25274"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800" b="1" i="0" u="none" strike="noStrike">
                          <a:solidFill>
                            <a:srgbClr val="99A1AF"/>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txBody>
                  <a:tcPr marL="152400" marR="152400" marT="114300" marB="114300"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25274" cap="flat" cmpd="sng" algn="ctr">
                      <a:solidFill>
                        <a:srgbClr val="000000"/>
                      </a:solidFill>
                      <a:prstDash val="solid"/>
                      <a:round/>
                      <a:headEnd type="none" w="med" len="med"/>
                      <a:tailEnd type="none" w="med" len="med"/>
                    </a:lnB>
                    <a:solidFill>
                      <a:srgbClr val="FFFFFF">
                        <a:alpha val="0"/>
                      </a:srgbClr>
                    </a:solidFill>
                  </a:tcPr>
                </a:tc>
                <a:tc>
                  <a:txBody>
                    <a:bodyPr rtlCol="0"/>
                    <a:lstStyle/>
                    <a:p>
                      <a:r>
                        <a:t>Triton program</a:t>
                      </a:r>
                    </a:p>
                  </a:txBody>
                  <a:tcPr marL="152400" marR="152400" marT="114300" marB="114300" anchor="t">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25274" cap="flat" cmpd="sng" algn="ctr">
                      <a:solidFill>
                        <a:srgbClr val="000000"/>
                      </a:solidFill>
                      <a:prstDash val="solid"/>
                      <a:round/>
                      <a:headEnd type="none" w="med" len="med"/>
                      <a:tailEnd type="none" w="med" len="med"/>
                    </a:lnB>
                    <a:solidFill>
                      <a:srgbClr val="FFFFFF">
                        <a:alpha val="0"/>
                      </a:srgbClr>
                    </a:solidFill>
                  </a:tcPr>
                </a:tc>
              </a:tr>
              <a:tr h="578644">
                <a:tc>
                  <a:txBody>
                    <a:bodyPr rtlCol="0"/>
                    <a:lstStyle/>
                    <a:p>
                      <a:pPr indent="0" algn="l">
                        <a:lnSpc>
                          <a:spcPct val="100000"/>
                        </a:lnSpc>
                        <a:defRPr/>
                      </a:pPr>
                      <a:r>
                        <a:rPr lang="en-US" sz="1300" b="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thread block</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25274"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300" b="0" i="0" u="none" strike="noStrike">
                          <a:solidFill>
                            <a:srgbClr val="99A1AF"/>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txBody>
                  <a:tcPr marL="0" marR="0" marT="0" marB="0" anchor="t">
                    <a:lnL w="0" cap="flat" cmpd="sng" algn="ctr">
                      <a:prstDash val="solid"/>
                      <a:round/>
                      <a:headEnd type="none" w="med" len="med"/>
                      <a:tailEnd type="none" w="med" len="med"/>
                    </a:lnL>
                    <a:lnR w="0" cap="flat" cmpd="sng" algn="ctr">
                      <a:prstDash val="solid"/>
                      <a:round/>
                      <a:headEnd type="none" w="med" len="med"/>
                      <a:tailEnd type="none" w="med" len="med"/>
                    </a:lnR>
                    <a:lnT w="25274"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300" b="1"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program</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25274"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r>
              <a:tr h="578644">
                <a:tc>
                  <a:txBody>
                    <a:bodyPr rtlCol="0"/>
                    <a:lstStyle/>
                    <a:p>
                      <a:pPr indent="0" algn="l">
                        <a:lnSpc>
                          <a:spcPct val="100000"/>
                        </a:lnSpc>
                        <a:defRPr/>
                      </a:pPr>
                      <a:r>
                        <a:rPr lang="en-US" sz="1300" b="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blockIdx</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300" b="0" i="0" u="none" strike="noStrike">
                          <a:solidFill>
                            <a:srgbClr val="99A1AF"/>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txBody>
                  <a:tcPr marL="0" marR="0" marT="0" marB="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300" b="1"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program_id</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12637" cap="flat" cmpd="sng" algn="ctr">
                      <a:solidFill>
                        <a:srgbClr val="000000"/>
                      </a:solidFill>
                      <a:prstDash val="solid"/>
                      <a:round/>
                      <a:headEnd type="none" w="med" len="med"/>
                      <a:tailEnd type="none" w="med" len="med"/>
                    </a:lnB>
                    <a:solidFill>
                      <a:srgbClr val="FFFFFF">
                        <a:alpha val="0"/>
                      </a:srgbClr>
                    </a:solidFill>
                  </a:tcPr>
                </a:tc>
              </a:tr>
              <a:tr h="578644">
                <a:tc>
                  <a:txBody>
                    <a:bodyPr rtlCol="0"/>
                    <a:lstStyle/>
                    <a:p>
                      <a:pPr indent="0" algn="l">
                        <a:lnSpc>
                          <a:spcPct val="100000"/>
                        </a:lnSpc>
                        <a:defRPr/>
                      </a:pPr>
                      <a:r>
                        <a:rPr lang="en-US" sz="1300" b="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gridDim</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0" cap="flat" cmpd="sng" algn="ctr">
                      <a:prstDash val="solid"/>
                      <a:round/>
                      <a:headEnd type="none" w="med" len="med"/>
                      <a:tailEnd type="none" w="med" len="med"/>
                    </a:lnB>
                    <a:solidFill>
                      <a:srgbClr val="FFFFFF">
                        <a:alpha val="0"/>
                      </a:srgbClr>
                    </a:solidFill>
                  </a:tcPr>
                </a:tc>
                <a:tc>
                  <a:txBody>
                    <a:bodyPr rtlCol="0"/>
                    <a:lstStyle/>
                    <a:p>
                      <a:pPr indent="0" algn="ctr">
                        <a:lnSpc>
                          <a:spcPct val="100000"/>
                        </a:lnSpc>
                        <a:defRPr/>
                      </a:pPr>
                      <a:r>
                        <a:rPr lang="en-US" sz="1300" b="0" i="0" u="none" strike="noStrike">
                          <a:solidFill>
                            <a:srgbClr val="99A1AF"/>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txBody>
                  <a:tcPr marL="0" marR="0" marT="0" marB="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0" cap="flat" cmpd="sng" algn="ctr">
                      <a:prstDash val="solid"/>
                      <a:round/>
                      <a:headEnd type="none" w="med" len="med"/>
                      <a:tailEnd type="none" w="med" len="med"/>
                    </a:lnB>
                    <a:solidFill>
                      <a:srgbClr val="FFFFFF">
                        <a:alpha val="0"/>
                      </a:srgbClr>
                    </a:solidFill>
                  </a:tcPr>
                </a:tc>
                <a:tc>
                  <a:txBody>
                    <a:bodyPr rtlCol="0"/>
                    <a:lstStyle/>
                    <a:p>
                      <a:pPr indent="0" algn="l">
                        <a:lnSpc>
                          <a:spcPct val="100000"/>
                        </a:lnSpc>
                        <a:defRPr/>
                      </a:pPr>
                      <a:r>
                        <a:rPr lang="en-US" sz="1300" b="1"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launch grid</a:t>
                      </a:r>
                      <a:endParaRPr lang="en-US" sz="1100"/>
                    </a:p>
                  </a:txBody>
                  <a:tcPr marL="152400" marR="152400" marT="152400" marB="152400" anchor="t">
                    <a:lnL w="0" cap="flat" cmpd="sng" algn="ctr">
                      <a:prstDash val="solid"/>
                      <a:round/>
                      <a:headEnd type="none" w="med" len="med"/>
                      <a:tailEnd type="none" w="med" len="med"/>
                    </a:lnL>
                    <a:lnR w="0" cap="flat" cmpd="sng" algn="ctr">
                      <a:prstDash val="solid"/>
                      <a:round/>
                      <a:headEnd type="none" w="med" len="med"/>
                      <a:tailEnd type="none" w="med" len="med"/>
                    </a:lnR>
                    <a:lnT w="12637" cap="flat" cmpd="sng" algn="ctr">
                      <a:solidFill>
                        <a:srgbClr val="000000"/>
                      </a:solidFill>
                      <a:prstDash val="solid"/>
                      <a:round/>
                      <a:headEnd type="none" w="med" len="med"/>
                      <a:tailEnd type="none" w="med" len="med"/>
                    </a:lnT>
                    <a:lnB w="0" cap="flat" cmpd="sng" algn="ctr">
                      <a:prstDash val="solid"/>
                      <a:round/>
                      <a:headEnd type="none" w="med" len="med"/>
                      <a:tailEnd type="none" w="med" len="med"/>
                    </a:lnB>
                    <a:solidFill>
                      <a:srgbClr val="FFFFFF">
                        <a:alpha val="0"/>
                      </a:srgbClr>
                    </a:solidFill>
                  </a:tcPr>
                </a:tc>
              </a:tr>
            </a:tbl>
          </a:graphicData>
        </a:graphic>
      </p:graphicFrame>
      <p:sp>
        <p:nvSpPr>
          <p:cNvPr id="6" name="Freeform 6"/>
          <p:cNvSpPr/>
          <p:nvPr/>
        </p:nvSpPr>
        <p:spPr>
          <a:xfrm>
            <a:off x="381000" y="5125085"/>
            <a:ext cx="11430000" cy="971550"/>
          </a:xfrm>
          <a:custGeom>
            <a:avLst/>
            <a:gdLst/>
            <a:ahLst/>
            <a:cxnLst/>
            <a:rect l="l" t="t" r="r" b="b"/>
            <a:pathLst>
              <a:path w="11430000" h="533400">
                <a:moveTo>
                  <a:pt x="76203" y="0"/>
                </a:moveTo>
                <a:lnTo>
                  <a:pt x="11353797" y="0"/>
                </a:lnTo>
                <a:cubicBezTo>
                  <a:pt x="11395883" y="0"/>
                  <a:pt x="11430000" y="34117"/>
                  <a:pt x="11430000" y="76203"/>
                </a:cubicBezTo>
                <a:lnTo>
                  <a:pt x="11430000" y="457197"/>
                </a:lnTo>
                <a:cubicBezTo>
                  <a:pt x="11430000" y="499283"/>
                  <a:pt x="11395883" y="533400"/>
                  <a:pt x="11353797" y="533400"/>
                </a:cubicBezTo>
                <a:lnTo>
                  <a:pt x="76203" y="533400"/>
                </a:lnTo>
                <a:cubicBezTo>
                  <a:pt x="34117" y="533400"/>
                  <a:pt x="0" y="499283"/>
                  <a:pt x="0" y="4571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0488" y="5506123"/>
            <a:ext cx="171450" cy="235744"/>
          </a:xfrm>
          <a:custGeom>
            <a:avLst/>
            <a:gdLst/>
            <a:ahLst/>
            <a:cxnLst/>
            <a:rect l="l" t="t" r="r" b="b"/>
            <a:pathLst>
              <a:path w="171450" h="235744">
                <a:moveTo>
                  <a:pt x="130774" y="171450"/>
                </a:moveTo>
                <a:cubicBezTo>
                  <a:pt x="134035" y="161493"/>
                  <a:pt x="140553" y="152474"/>
                  <a:pt x="147919" y="144706"/>
                </a:cubicBezTo>
                <a:cubicBezTo>
                  <a:pt x="162521" y="129347"/>
                  <a:pt x="171450" y="108585"/>
                  <a:pt x="171450" y="85725"/>
                </a:cubicBezTo>
                <a:cubicBezTo>
                  <a:pt x="171450" y="38398"/>
                  <a:pt x="133052" y="0"/>
                  <a:pt x="85725" y="0"/>
                </a:cubicBezTo>
                <a:cubicBezTo>
                  <a:pt x="38398" y="0"/>
                  <a:pt x="0" y="38398"/>
                  <a:pt x="0" y="85725"/>
                </a:cubicBezTo>
                <a:cubicBezTo>
                  <a:pt x="0" y="108585"/>
                  <a:pt x="8929" y="129347"/>
                  <a:pt x="23531" y="144706"/>
                </a:cubicBezTo>
                <a:cubicBezTo>
                  <a:pt x="30897" y="152474"/>
                  <a:pt x="37460" y="161493"/>
                  <a:pt x="40676" y="171450"/>
                </a:cubicBezTo>
                <a:lnTo>
                  <a:pt x="130731" y="171450"/>
                </a:lnTo>
                <a:close/>
                <a:moveTo>
                  <a:pt x="128588" y="192881"/>
                </a:moveTo>
                <a:lnTo>
                  <a:pt x="42862" y="192881"/>
                </a:lnTo>
                <a:lnTo>
                  <a:pt x="42862" y="200025"/>
                </a:lnTo>
                <a:cubicBezTo>
                  <a:pt x="42862" y="219760"/>
                  <a:pt x="58847" y="235744"/>
                  <a:pt x="78581" y="235744"/>
                </a:cubicBezTo>
                <a:lnTo>
                  <a:pt x="92869" y="235744"/>
                </a:lnTo>
                <a:cubicBezTo>
                  <a:pt x="112603" y="235744"/>
                  <a:pt x="128588" y="219760"/>
                  <a:pt x="128588" y="200025"/>
                </a:cubicBezTo>
                <a:lnTo>
                  <a:pt x="128588" y="192881"/>
                </a:lnTo>
                <a:close/>
                <a:moveTo>
                  <a:pt x="82152" y="50006"/>
                </a:moveTo>
                <a:cubicBezTo>
                  <a:pt x="64383" y="50006"/>
                  <a:pt x="50006" y="64383"/>
                  <a:pt x="50006" y="82152"/>
                </a:cubicBezTo>
                <a:cubicBezTo>
                  <a:pt x="50006" y="88091"/>
                  <a:pt x="45229" y="92869"/>
                  <a:pt x="39291" y="92869"/>
                </a:cubicBezTo>
                <a:cubicBezTo>
                  <a:pt x="33351" y="92869"/>
                  <a:pt x="28575" y="88091"/>
                  <a:pt x="28575" y="82152"/>
                </a:cubicBezTo>
                <a:cubicBezTo>
                  <a:pt x="28575" y="52551"/>
                  <a:pt x="52551" y="28575"/>
                  <a:pt x="82152" y="28575"/>
                </a:cubicBezTo>
                <a:cubicBezTo>
                  <a:pt x="88091" y="28575"/>
                  <a:pt x="92869" y="33351"/>
                  <a:pt x="92869" y="39291"/>
                </a:cubicBezTo>
                <a:cubicBezTo>
                  <a:pt x="92869" y="45229"/>
                  <a:pt x="88091" y="50006"/>
                  <a:pt x="82152" y="5000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971455" y="5506123"/>
            <a:ext cx="9565624" cy="15211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Compréhension clé : </a:t>
            </a:r>
            <a:r>
              <a:rPr lang="en-US" sz="18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Le program de Triton correspond au thread block de CUDA, mais Triton opère sur les données de manière vectorisée, plutôt que par thread individuel</a:t>
            </a:r>
            <a:endParaRPr lang="en-US" sz="1800"/>
          </a:p>
        </p:txBody>
      </p:sp>
      <p:sp>
        <p:nvSpPr>
          <p:cNvPr id="9" name="AutoShape 9"/>
          <p:cNvSpPr/>
          <p:nvPr/>
        </p:nvSpPr>
        <p:spPr>
          <a:xfrm>
            <a:off x="380956" y="6324603"/>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36897" y="623038"/>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微软雅黑" panose="020B0503020204020204" charset="-122"/>
              </a:rPr>
              <a:t>Définition du problème Vector Add</a:t>
            </a:r>
            <a:endParaRPr lang="en-US" sz="2800" b="1" i="0" u="none" strike="noStrike">
              <a:solidFill>
                <a:srgbClr val="101828"/>
              </a:solidFill>
              <a:latin typeface="MiSans" panose="00000500000000000000" charset="-122"/>
              <a:ea typeface="MiSans" panose="00000500000000000000" charset="-122"/>
              <a:cs typeface="MiSans" panose="00000500000000000000" charset="-122"/>
              <a:sym typeface="微软雅黑" panose="020B0503020204020204" charset="-122"/>
            </a:endParaRPr>
          </a:p>
        </p:txBody>
      </p:sp>
      <p:sp>
        <p:nvSpPr>
          <p:cNvPr id="3" name="Freeform 3"/>
          <p:cNvSpPr/>
          <p:nvPr/>
        </p:nvSpPr>
        <p:spPr>
          <a:xfrm>
            <a:off x="380956" y="1356854"/>
            <a:ext cx="3916625" cy="1575526"/>
          </a:xfrm>
          <a:custGeom>
            <a:avLst/>
            <a:gdLst/>
            <a:ahLst/>
            <a:cxnLst/>
            <a:rect l="l" t="t" r="r" b="b"/>
            <a:pathLst>
              <a:path w="3916625" h="1575526">
                <a:moveTo>
                  <a:pt x="147805" y="0"/>
                </a:moveTo>
                <a:lnTo>
                  <a:pt x="3768822" y="0"/>
                </a:lnTo>
                <a:cubicBezTo>
                  <a:pt x="3850452" y="0"/>
                  <a:pt x="3916625" y="47028"/>
                  <a:pt x="3916625" y="105040"/>
                </a:cubicBezTo>
                <a:lnTo>
                  <a:pt x="3916625" y="1470486"/>
                </a:lnTo>
                <a:cubicBezTo>
                  <a:pt x="3916625" y="1528498"/>
                  <a:pt x="3850452" y="1575526"/>
                  <a:pt x="3768822" y="1575526"/>
                </a:cubicBezTo>
                <a:lnTo>
                  <a:pt x="147805" y="1575526"/>
                </a:lnTo>
                <a:cubicBezTo>
                  <a:pt x="66175" y="1575526"/>
                  <a:pt x="0" y="1528498"/>
                  <a:pt x="0" y="1470486"/>
                </a:cubicBezTo>
                <a:lnTo>
                  <a:pt x="0" y="105040"/>
                </a:lnTo>
                <a:cubicBezTo>
                  <a:pt x="0" y="47067"/>
                  <a:pt x="66229" y="0"/>
                  <a:pt x="14780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grpSp>
        <p:nvGrpSpPr>
          <p:cNvPr id="4" name="Group 4"/>
          <p:cNvGrpSpPr/>
          <p:nvPr/>
        </p:nvGrpSpPr>
        <p:grpSpPr>
          <a:xfrm>
            <a:off x="494853" y="1522995"/>
            <a:ext cx="3514725" cy="1180919"/>
            <a:chOff x="494853" y="1522995"/>
            <a:chExt cx="3514725" cy="1180919"/>
          </a:xfrm>
        </p:grpSpPr>
        <p:sp>
          <p:nvSpPr>
            <p:cNvPr id="5" name="Freeform 5"/>
            <p:cNvSpPr/>
            <p:nvPr/>
          </p:nvSpPr>
          <p:spPr>
            <a:xfrm>
              <a:off x="556671" y="1522995"/>
              <a:ext cx="3409855" cy="762000"/>
            </a:xfrm>
            <a:custGeom>
              <a:avLst/>
              <a:gdLst/>
              <a:ahLst/>
              <a:cxnLst/>
              <a:rect l="l" t="t" r="r" b="b"/>
              <a:pathLst>
                <a:path w="3409855" h="762000">
                  <a:moveTo>
                    <a:pt x="37909" y="0"/>
                  </a:moveTo>
                  <a:lnTo>
                    <a:pt x="3333655" y="0"/>
                  </a:lnTo>
                  <a:cubicBezTo>
                    <a:pt x="3375711" y="0"/>
                    <a:pt x="3409855" y="34144"/>
                    <a:pt x="3409855" y="76200"/>
                  </a:cubicBezTo>
                  <a:lnTo>
                    <a:pt x="3409855" y="685800"/>
                  </a:lnTo>
                  <a:cubicBezTo>
                    <a:pt x="3409855" y="727856"/>
                    <a:pt x="3375711" y="762000"/>
                    <a:pt x="3333655" y="762000"/>
                  </a:cubicBezTo>
                  <a:lnTo>
                    <a:pt x="37909" y="762000"/>
                  </a:lnTo>
                  <a:cubicBezTo>
                    <a:pt x="16974" y="762000"/>
                    <a:pt x="0" y="745026"/>
                    <a:pt x="0" y="724091"/>
                  </a:cubicBezTo>
                  <a:lnTo>
                    <a:pt x="0" y="37909"/>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6" name="Freeform 6"/>
            <p:cNvSpPr/>
            <p:nvPr/>
          </p:nvSpPr>
          <p:spPr>
            <a:xfrm>
              <a:off x="556671" y="1522995"/>
              <a:ext cx="37909" cy="762000"/>
            </a:xfrm>
            <a:custGeom>
              <a:avLst/>
              <a:gdLst/>
              <a:ahLst/>
              <a:cxnLst/>
              <a:rect l="l" t="t" r="r" b="b"/>
              <a:pathLst>
                <a:path w="37909" h="762000">
                  <a:moveTo>
                    <a:pt x="37909" y="0"/>
                  </a:moveTo>
                  <a:lnTo>
                    <a:pt x="37909" y="0"/>
                  </a:lnTo>
                  <a:lnTo>
                    <a:pt x="37909" y="762000"/>
                  </a:lnTo>
                  <a:lnTo>
                    <a:pt x="37909" y="762000"/>
                  </a:lnTo>
                  <a:cubicBezTo>
                    <a:pt x="16974" y="762000"/>
                    <a:pt x="0" y="745026"/>
                    <a:pt x="0" y="724091"/>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AutoShape 7"/>
            <p:cNvSpPr/>
            <p:nvPr/>
          </p:nvSpPr>
          <p:spPr>
            <a:xfrm>
              <a:off x="747049" y="1751567"/>
              <a:ext cx="3048000" cy="304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c[i] = a[i] + b[i]</a:t>
              </a:r>
              <a:endParaRPr lang="en-US" sz="12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94853" y="2437214"/>
              <a:ext cx="3514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Additionner deux vecteurs élément par élément, stocker le résultat dans un troisième vecteur</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9" name="Group 9"/>
          <p:cNvGrpSpPr/>
          <p:nvPr/>
        </p:nvGrpSpPr>
        <p:grpSpPr>
          <a:xfrm>
            <a:off x="380956" y="3052629"/>
            <a:ext cx="5144185" cy="1485688"/>
            <a:chOff x="380956" y="3052629"/>
            <a:chExt cx="5144185" cy="1485688"/>
          </a:xfrm>
        </p:grpSpPr>
        <p:sp>
          <p:nvSpPr>
            <p:cNvPr id="10" name="Freeform 10"/>
            <p:cNvSpPr/>
            <p:nvPr/>
          </p:nvSpPr>
          <p:spPr>
            <a:xfrm>
              <a:off x="380956" y="3052629"/>
              <a:ext cx="5144185" cy="1485688"/>
            </a:xfrm>
            <a:custGeom>
              <a:avLst/>
              <a:gdLst/>
              <a:ahLst/>
              <a:cxnLst/>
              <a:rect l="l" t="t" r="r" b="b"/>
              <a:pathLst>
                <a:path w="5144185" h="1485688">
                  <a:moveTo>
                    <a:pt x="105694" y="0"/>
                  </a:moveTo>
                  <a:lnTo>
                    <a:pt x="5038489" y="0"/>
                  </a:lnTo>
                  <a:cubicBezTo>
                    <a:pt x="5096863" y="0"/>
                    <a:pt x="5144185" y="37648"/>
                    <a:pt x="5144185" y="84089"/>
                  </a:cubicBezTo>
                  <a:lnTo>
                    <a:pt x="5144185" y="1401599"/>
                  </a:lnTo>
                  <a:cubicBezTo>
                    <a:pt x="5144185" y="1448040"/>
                    <a:pt x="5096863" y="1485688"/>
                    <a:pt x="5038489" y="1485688"/>
                  </a:cubicBezTo>
                  <a:lnTo>
                    <a:pt x="105694" y="1485688"/>
                  </a:lnTo>
                  <a:cubicBezTo>
                    <a:pt x="47321" y="1485688"/>
                    <a:pt x="0" y="1448040"/>
                    <a:pt x="0" y="1401599"/>
                  </a:cubicBezTo>
                  <a:lnTo>
                    <a:pt x="0" y="84089"/>
                  </a:lnTo>
                  <a:cubicBezTo>
                    <a:pt x="0" y="37680"/>
                    <a:pt x="47361" y="0"/>
                    <a:pt x="10569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Freeform 11"/>
            <p:cNvSpPr/>
            <p:nvPr/>
          </p:nvSpPr>
          <p:spPr>
            <a:xfrm>
              <a:off x="593091" y="3281201"/>
              <a:ext cx="249531" cy="228600"/>
            </a:xfrm>
            <a:custGeom>
              <a:avLst/>
              <a:gdLst/>
              <a:ahLst/>
              <a:cxnLst/>
              <a:rect l="l" t="t" r="r" b="b"/>
              <a:pathLst>
                <a:path w="249531" h="228600">
                  <a:moveTo>
                    <a:pt x="218340" y="114300"/>
                  </a:moveTo>
                  <a:cubicBezTo>
                    <a:pt x="218340" y="66987"/>
                    <a:pt x="176411" y="28575"/>
                    <a:pt x="124766" y="28575"/>
                  </a:cubicBezTo>
                  <a:cubicBezTo>
                    <a:pt x="73120" y="28575"/>
                    <a:pt x="31191" y="66987"/>
                    <a:pt x="31191" y="114300"/>
                  </a:cubicBezTo>
                  <a:cubicBezTo>
                    <a:pt x="31191" y="161613"/>
                    <a:pt x="73120" y="200025"/>
                    <a:pt x="124766" y="200025"/>
                  </a:cubicBezTo>
                  <a:cubicBezTo>
                    <a:pt x="176411" y="200025"/>
                    <a:pt x="218340" y="161613"/>
                    <a:pt x="218340" y="114300"/>
                  </a:cubicBezTo>
                  <a:close/>
                  <a:moveTo>
                    <a:pt x="0" y="114300"/>
                  </a:moveTo>
                  <a:cubicBezTo>
                    <a:pt x="0" y="51217"/>
                    <a:pt x="55905" y="0"/>
                    <a:pt x="124766" y="0"/>
                  </a:cubicBezTo>
                  <a:cubicBezTo>
                    <a:pt x="193625" y="0"/>
                    <a:pt x="249531" y="51217"/>
                    <a:pt x="249531" y="114300"/>
                  </a:cubicBezTo>
                  <a:cubicBezTo>
                    <a:pt x="249531" y="177383"/>
                    <a:pt x="193625" y="228600"/>
                    <a:pt x="124766" y="228600"/>
                  </a:cubicBezTo>
                  <a:cubicBezTo>
                    <a:pt x="55905" y="228600"/>
                    <a:pt x="0" y="177383"/>
                    <a:pt x="0" y="114300"/>
                  </a:cubicBezTo>
                  <a:close/>
                  <a:moveTo>
                    <a:pt x="124766" y="150019"/>
                  </a:moveTo>
                  <a:cubicBezTo>
                    <a:pt x="146285" y="150019"/>
                    <a:pt x="163755" y="134014"/>
                    <a:pt x="163755" y="114300"/>
                  </a:cubicBezTo>
                  <a:cubicBezTo>
                    <a:pt x="163755" y="94586"/>
                    <a:pt x="146285" y="78581"/>
                    <a:pt x="124766" y="78581"/>
                  </a:cubicBezTo>
                  <a:cubicBezTo>
                    <a:pt x="103246" y="78581"/>
                    <a:pt x="85776" y="94586"/>
                    <a:pt x="85776" y="114300"/>
                  </a:cubicBezTo>
                  <a:cubicBezTo>
                    <a:pt x="85776" y="134014"/>
                    <a:pt x="103246" y="150019"/>
                    <a:pt x="124766" y="150019"/>
                  </a:cubicBezTo>
                  <a:close/>
                  <a:moveTo>
                    <a:pt x="124766" y="50006"/>
                  </a:moveTo>
                  <a:cubicBezTo>
                    <a:pt x="163500" y="50006"/>
                    <a:pt x="194946" y="78815"/>
                    <a:pt x="194946" y="114300"/>
                  </a:cubicBezTo>
                  <a:cubicBezTo>
                    <a:pt x="194946" y="149785"/>
                    <a:pt x="163500" y="178594"/>
                    <a:pt x="124766" y="178594"/>
                  </a:cubicBezTo>
                  <a:cubicBezTo>
                    <a:pt x="86031" y="178594"/>
                    <a:pt x="54585" y="149785"/>
                    <a:pt x="54585" y="114300"/>
                  </a:cubicBezTo>
                  <a:cubicBezTo>
                    <a:pt x="54585" y="78815"/>
                    <a:pt x="86031" y="50006"/>
                    <a:pt x="124766" y="50006"/>
                  </a:cubicBezTo>
                  <a:close/>
                  <a:moveTo>
                    <a:pt x="109170" y="114300"/>
                  </a:moveTo>
                  <a:cubicBezTo>
                    <a:pt x="109170" y="106415"/>
                    <a:pt x="116158" y="100013"/>
                    <a:pt x="124766" y="100013"/>
                  </a:cubicBezTo>
                  <a:cubicBezTo>
                    <a:pt x="133373" y="100013"/>
                    <a:pt x="140362" y="106415"/>
                    <a:pt x="140362" y="114300"/>
                  </a:cubicBezTo>
                  <a:cubicBezTo>
                    <a:pt x="140362" y="122185"/>
                    <a:pt x="133373" y="128587"/>
                    <a:pt x="124766" y="128587"/>
                  </a:cubicBezTo>
                  <a:cubicBezTo>
                    <a:pt x="116158" y="128587"/>
                    <a:pt x="109170" y="122185"/>
                    <a:pt x="109170" y="11430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2" name="AutoShape 12"/>
            <p:cNvSpPr/>
            <p:nvPr/>
          </p:nvSpPr>
          <p:spPr>
            <a:xfrm>
              <a:off x="998811" y="3262179"/>
              <a:ext cx="12515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Objectif</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561900" y="3681260"/>
              <a:ext cx="28072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832441" y="3681279"/>
              <a:ext cx="410464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i="0" u="none" strike="noStrike">
                  <a:solidFill>
                    <a:srgbClr val="364153"/>
                  </a:solidFill>
                  <a:latin typeface="PingFang SC Regular" charset="0"/>
                  <a:ea typeface="MiSans" panose="00000500000000000000" charset="-122"/>
                  <a:cs typeface="PingFang SC Regular" charset="0"/>
                  <a:sym typeface="MiSans" panose="00000500000000000000" charset="-122"/>
                </a:rPr>
                <a:t>Calcul parallélisé : exploiter pleinement la capacité de parallélisation du GPU</a:t>
              </a:r>
              <a:endParaRPr lang="en-US" sz="1200">
                <a:latin typeface="PingFang SC Regular" charset="0"/>
                <a:cs typeface="PingFang SC Regular" charset="0"/>
              </a:endParaRPr>
            </a:p>
          </p:txBody>
        </p:sp>
        <p:sp>
          <p:nvSpPr>
            <p:cNvPr id="15" name="AutoShape 15"/>
            <p:cNvSpPr/>
            <p:nvPr/>
          </p:nvSpPr>
          <p:spPr>
            <a:xfrm>
              <a:off x="561900" y="4062216"/>
              <a:ext cx="28072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AutoShape 16"/>
            <p:cNvSpPr/>
            <p:nvPr/>
          </p:nvSpPr>
          <p:spPr>
            <a:xfrm>
              <a:off x="832255" y="4180961"/>
              <a:ext cx="437719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Traitement par blocs </a:t>
              </a:r>
              <a:r>
                <a:rPr lang="en-US" sz="1200" b="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 chaque program traite BLOCK_SIZE éléments</a:t>
              </a:r>
              <a:endParaRPr lang="en-US" sz="1200"/>
            </a:p>
          </p:txBody>
        </p:sp>
      </p:grpSp>
      <p:grpSp>
        <p:nvGrpSpPr>
          <p:cNvPr id="17" name="Group 17"/>
          <p:cNvGrpSpPr/>
          <p:nvPr/>
        </p:nvGrpSpPr>
        <p:grpSpPr>
          <a:xfrm>
            <a:off x="400685" y="4662170"/>
            <a:ext cx="5124450" cy="2019300"/>
            <a:chOff x="400685" y="4662170"/>
            <a:chExt cx="5124450" cy="2019300"/>
          </a:xfrm>
        </p:grpSpPr>
        <p:sp>
          <p:nvSpPr>
            <p:cNvPr id="18" name="Freeform 18"/>
            <p:cNvSpPr/>
            <p:nvPr/>
          </p:nvSpPr>
          <p:spPr>
            <a:xfrm>
              <a:off x="400685" y="4662170"/>
              <a:ext cx="5124450" cy="2019300"/>
            </a:xfrm>
            <a:custGeom>
              <a:avLst/>
              <a:gdLst/>
              <a:ahLst/>
              <a:cxnLst/>
              <a:rect l="l" t="t" r="r" b="b"/>
              <a:pathLst>
                <a:path w="5124450" h="2019300">
                  <a:moveTo>
                    <a:pt x="105289" y="0"/>
                  </a:moveTo>
                  <a:lnTo>
                    <a:pt x="5019161" y="0"/>
                  </a:lnTo>
                  <a:cubicBezTo>
                    <a:pt x="5077310" y="0"/>
                    <a:pt x="5124450" y="51170"/>
                    <a:pt x="5124450" y="114292"/>
                  </a:cubicBezTo>
                  <a:lnTo>
                    <a:pt x="5124450" y="1905008"/>
                  </a:lnTo>
                  <a:cubicBezTo>
                    <a:pt x="5124450" y="1968130"/>
                    <a:pt x="5077310" y="2019300"/>
                    <a:pt x="5019161" y="2019300"/>
                  </a:cubicBezTo>
                  <a:lnTo>
                    <a:pt x="105289" y="2019300"/>
                  </a:lnTo>
                  <a:cubicBezTo>
                    <a:pt x="47140" y="2019300"/>
                    <a:pt x="0" y="1968130"/>
                    <a:pt x="0" y="1905008"/>
                  </a:cubicBezTo>
                  <a:lnTo>
                    <a:pt x="0" y="114292"/>
                  </a:lnTo>
                  <a:cubicBezTo>
                    <a:pt x="0" y="51213"/>
                    <a:pt x="47179" y="0"/>
                    <a:pt x="10528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9" name="Freeform 19"/>
            <p:cNvSpPr/>
            <p:nvPr/>
          </p:nvSpPr>
          <p:spPr>
            <a:xfrm>
              <a:off x="637579" y="4924058"/>
              <a:ext cx="210594" cy="200025"/>
            </a:xfrm>
            <a:custGeom>
              <a:avLst/>
              <a:gdLst/>
              <a:ahLst/>
              <a:cxnLst/>
              <a:rect l="l" t="t" r="r" b="b"/>
              <a:pathLst>
                <a:path w="210594" h="200025">
                  <a:moveTo>
                    <a:pt x="78972" y="14288"/>
                  </a:moveTo>
                  <a:cubicBezTo>
                    <a:pt x="78972" y="6385"/>
                    <a:pt x="84855" y="0"/>
                    <a:pt x="92136" y="0"/>
                  </a:cubicBezTo>
                  <a:lnTo>
                    <a:pt x="118459" y="0"/>
                  </a:lnTo>
                  <a:cubicBezTo>
                    <a:pt x="125739" y="0"/>
                    <a:pt x="131622" y="6385"/>
                    <a:pt x="131622" y="14288"/>
                  </a:cubicBezTo>
                  <a:lnTo>
                    <a:pt x="131622" y="42863"/>
                  </a:lnTo>
                  <a:cubicBezTo>
                    <a:pt x="131622" y="50766"/>
                    <a:pt x="125739" y="57150"/>
                    <a:pt x="118459" y="57150"/>
                  </a:cubicBezTo>
                  <a:lnTo>
                    <a:pt x="115169" y="57150"/>
                  </a:lnTo>
                  <a:lnTo>
                    <a:pt x="115169" y="85726"/>
                  </a:lnTo>
                  <a:lnTo>
                    <a:pt x="164527" y="85726"/>
                  </a:lnTo>
                  <a:cubicBezTo>
                    <a:pt x="180898" y="85726"/>
                    <a:pt x="194141" y="100102"/>
                    <a:pt x="194141" y="117872"/>
                  </a:cubicBezTo>
                  <a:lnTo>
                    <a:pt x="194141" y="142876"/>
                  </a:lnTo>
                  <a:lnTo>
                    <a:pt x="197433" y="142876"/>
                  </a:lnTo>
                  <a:cubicBezTo>
                    <a:pt x="204711" y="142876"/>
                    <a:pt x="210594" y="149260"/>
                    <a:pt x="210594" y="157163"/>
                  </a:cubicBezTo>
                  <a:lnTo>
                    <a:pt x="210594" y="185738"/>
                  </a:lnTo>
                  <a:cubicBezTo>
                    <a:pt x="210594" y="193641"/>
                    <a:pt x="204711" y="200026"/>
                    <a:pt x="197433" y="200026"/>
                  </a:cubicBezTo>
                  <a:lnTo>
                    <a:pt x="171108" y="200026"/>
                  </a:lnTo>
                  <a:cubicBezTo>
                    <a:pt x="163827" y="200026"/>
                    <a:pt x="157946" y="193641"/>
                    <a:pt x="157946" y="185738"/>
                  </a:cubicBezTo>
                  <a:lnTo>
                    <a:pt x="157946" y="157163"/>
                  </a:lnTo>
                  <a:cubicBezTo>
                    <a:pt x="157946" y="149260"/>
                    <a:pt x="163827" y="142876"/>
                    <a:pt x="171108" y="142876"/>
                  </a:cubicBezTo>
                  <a:lnTo>
                    <a:pt x="174398" y="142876"/>
                  </a:lnTo>
                  <a:lnTo>
                    <a:pt x="174398" y="117872"/>
                  </a:lnTo>
                  <a:cubicBezTo>
                    <a:pt x="174398" y="111934"/>
                    <a:pt x="169997" y="107157"/>
                    <a:pt x="164527" y="107157"/>
                  </a:cubicBezTo>
                  <a:lnTo>
                    <a:pt x="115169" y="107157"/>
                  </a:lnTo>
                  <a:lnTo>
                    <a:pt x="115169" y="142876"/>
                  </a:lnTo>
                  <a:lnTo>
                    <a:pt x="118459" y="142876"/>
                  </a:lnTo>
                  <a:cubicBezTo>
                    <a:pt x="125739" y="142876"/>
                    <a:pt x="131622" y="149260"/>
                    <a:pt x="131622" y="157163"/>
                  </a:cubicBezTo>
                  <a:lnTo>
                    <a:pt x="131622" y="185738"/>
                  </a:lnTo>
                  <a:cubicBezTo>
                    <a:pt x="131622" y="193641"/>
                    <a:pt x="125739" y="200026"/>
                    <a:pt x="118459" y="200026"/>
                  </a:cubicBezTo>
                  <a:lnTo>
                    <a:pt x="92136" y="200026"/>
                  </a:lnTo>
                  <a:cubicBezTo>
                    <a:pt x="84855" y="200026"/>
                    <a:pt x="78972" y="193641"/>
                    <a:pt x="78972" y="185738"/>
                  </a:cubicBezTo>
                  <a:lnTo>
                    <a:pt x="78972" y="157163"/>
                  </a:lnTo>
                  <a:cubicBezTo>
                    <a:pt x="78972" y="149260"/>
                    <a:pt x="84855" y="142876"/>
                    <a:pt x="92136" y="142876"/>
                  </a:cubicBezTo>
                  <a:lnTo>
                    <a:pt x="95425" y="142876"/>
                  </a:lnTo>
                  <a:lnTo>
                    <a:pt x="95425" y="107157"/>
                  </a:lnTo>
                  <a:lnTo>
                    <a:pt x="46067" y="107157"/>
                  </a:lnTo>
                  <a:cubicBezTo>
                    <a:pt x="40597" y="107157"/>
                    <a:pt x="36196" y="111934"/>
                    <a:pt x="36196" y="117872"/>
                  </a:cubicBezTo>
                  <a:lnTo>
                    <a:pt x="36196" y="142876"/>
                  </a:lnTo>
                  <a:lnTo>
                    <a:pt x="39487" y="142876"/>
                  </a:lnTo>
                  <a:cubicBezTo>
                    <a:pt x="46766" y="142876"/>
                    <a:pt x="52649" y="149260"/>
                    <a:pt x="52649" y="157163"/>
                  </a:cubicBezTo>
                  <a:lnTo>
                    <a:pt x="52649" y="185738"/>
                  </a:lnTo>
                  <a:cubicBezTo>
                    <a:pt x="52649" y="193641"/>
                    <a:pt x="46766" y="200026"/>
                    <a:pt x="39487" y="200026"/>
                  </a:cubicBezTo>
                  <a:lnTo>
                    <a:pt x="13162" y="200026"/>
                  </a:lnTo>
                  <a:cubicBezTo>
                    <a:pt x="5883" y="200026"/>
                    <a:pt x="0" y="193641"/>
                    <a:pt x="0" y="185738"/>
                  </a:cubicBezTo>
                  <a:lnTo>
                    <a:pt x="0" y="157163"/>
                  </a:lnTo>
                  <a:cubicBezTo>
                    <a:pt x="0" y="149260"/>
                    <a:pt x="5883" y="142876"/>
                    <a:pt x="13162" y="142876"/>
                  </a:cubicBezTo>
                  <a:lnTo>
                    <a:pt x="16453" y="142876"/>
                  </a:lnTo>
                  <a:lnTo>
                    <a:pt x="16453" y="117872"/>
                  </a:lnTo>
                  <a:cubicBezTo>
                    <a:pt x="16453" y="100102"/>
                    <a:pt x="29696" y="85726"/>
                    <a:pt x="46067" y="85726"/>
                  </a:cubicBezTo>
                  <a:lnTo>
                    <a:pt x="95425" y="85726"/>
                  </a:lnTo>
                  <a:lnTo>
                    <a:pt x="95425" y="57150"/>
                  </a:lnTo>
                  <a:lnTo>
                    <a:pt x="92136" y="57150"/>
                  </a:lnTo>
                  <a:cubicBezTo>
                    <a:pt x="84855" y="57150"/>
                    <a:pt x="78972" y="50766"/>
                    <a:pt x="78972" y="42863"/>
                  </a:cubicBezTo>
                  <a:lnTo>
                    <a:pt x="78972" y="1428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0" name="AutoShape 20"/>
            <p:cNvSpPr/>
            <p:nvPr/>
          </p:nvSpPr>
          <p:spPr>
            <a:xfrm>
              <a:off x="979805" y="4890770"/>
              <a:ext cx="163703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Stratégie parallèle</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611255" y="5309830"/>
              <a:ext cx="280792" cy="304800"/>
            </a:xfrm>
            <a:custGeom>
              <a:avLst/>
              <a:gdLst/>
              <a:ahLst/>
              <a:cxnLst/>
              <a:rect l="l" t="t" r="r" b="b"/>
              <a:pathLst>
                <a:path w="280792" h="304800">
                  <a:moveTo>
                    <a:pt x="35099" y="0"/>
                  </a:moveTo>
                  <a:lnTo>
                    <a:pt x="245693" y="0"/>
                  </a:lnTo>
                  <a:cubicBezTo>
                    <a:pt x="265064" y="0"/>
                    <a:pt x="280792" y="17073"/>
                    <a:pt x="280792" y="38100"/>
                  </a:cubicBezTo>
                  <a:lnTo>
                    <a:pt x="280792" y="266700"/>
                  </a:lnTo>
                  <a:cubicBezTo>
                    <a:pt x="280792" y="287727"/>
                    <a:pt x="265064" y="304800"/>
                    <a:pt x="245693" y="304800"/>
                  </a:cubicBezTo>
                  <a:lnTo>
                    <a:pt x="35099" y="304800"/>
                  </a:lnTo>
                  <a:cubicBezTo>
                    <a:pt x="15728" y="304800"/>
                    <a:pt x="0" y="287727"/>
                    <a:pt x="0" y="266700"/>
                  </a:cubicBezTo>
                  <a:lnTo>
                    <a:pt x="0" y="38100"/>
                  </a:lnTo>
                  <a:cubicBezTo>
                    <a:pt x="0" y="17073"/>
                    <a:pt x="15728" y="0"/>
                    <a:pt x="350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2" name="AutoShape 22"/>
            <p:cNvSpPr/>
            <p:nvPr/>
          </p:nvSpPr>
          <p:spPr>
            <a:xfrm>
              <a:off x="580544" y="5309830"/>
              <a:ext cx="342215"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996950" y="5328920"/>
              <a:ext cx="39401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Diviser le vecteur en plusieurs blocs de données</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611255" y="5728844"/>
              <a:ext cx="280792" cy="304800"/>
            </a:xfrm>
            <a:custGeom>
              <a:avLst/>
              <a:gdLst/>
              <a:ahLst/>
              <a:cxnLst/>
              <a:rect l="l" t="t" r="r" b="b"/>
              <a:pathLst>
                <a:path w="280792" h="304800">
                  <a:moveTo>
                    <a:pt x="35099" y="0"/>
                  </a:moveTo>
                  <a:lnTo>
                    <a:pt x="245693" y="0"/>
                  </a:lnTo>
                  <a:cubicBezTo>
                    <a:pt x="265064" y="0"/>
                    <a:pt x="280792" y="17073"/>
                    <a:pt x="280792" y="38100"/>
                  </a:cubicBezTo>
                  <a:lnTo>
                    <a:pt x="280792" y="266700"/>
                  </a:lnTo>
                  <a:cubicBezTo>
                    <a:pt x="280792" y="287727"/>
                    <a:pt x="265064" y="304800"/>
                    <a:pt x="245693" y="304800"/>
                  </a:cubicBezTo>
                  <a:lnTo>
                    <a:pt x="35099" y="304800"/>
                  </a:lnTo>
                  <a:cubicBezTo>
                    <a:pt x="15728" y="304800"/>
                    <a:pt x="0" y="287727"/>
                    <a:pt x="0" y="266700"/>
                  </a:cubicBezTo>
                  <a:lnTo>
                    <a:pt x="0" y="38100"/>
                  </a:lnTo>
                  <a:cubicBezTo>
                    <a:pt x="0" y="17073"/>
                    <a:pt x="15728" y="0"/>
                    <a:pt x="350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AutoShape 25"/>
            <p:cNvSpPr/>
            <p:nvPr/>
          </p:nvSpPr>
          <p:spPr>
            <a:xfrm>
              <a:off x="580544" y="5728844"/>
              <a:ext cx="342215"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996950" y="5748020"/>
              <a:ext cx="391731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Chaque program traite un bloc</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611255" y="6147858"/>
              <a:ext cx="280792" cy="304800"/>
            </a:xfrm>
            <a:custGeom>
              <a:avLst/>
              <a:gdLst/>
              <a:ahLst/>
              <a:cxnLst/>
              <a:rect l="l" t="t" r="r" b="b"/>
              <a:pathLst>
                <a:path w="280792" h="304800">
                  <a:moveTo>
                    <a:pt x="35099" y="0"/>
                  </a:moveTo>
                  <a:lnTo>
                    <a:pt x="245693" y="0"/>
                  </a:lnTo>
                  <a:cubicBezTo>
                    <a:pt x="265064" y="0"/>
                    <a:pt x="280792" y="17073"/>
                    <a:pt x="280792" y="38100"/>
                  </a:cubicBezTo>
                  <a:lnTo>
                    <a:pt x="280792" y="266700"/>
                  </a:lnTo>
                  <a:cubicBezTo>
                    <a:pt x="280792" y="287727"/>
                    <a:pt x="265064" y="304800"/>
                    <a:pt x="245693" y="304800"/>
                  </a:cubicBezTo>
                  <a:lnTo>
                    <a:pt x="35099" y="304800"/>
                  </a:lnTo>
                  <a:cubicBezTo>
                    <a:pt x="15728" y="304800"/>
                    <a:pt x="0" y="287727"/>
                    <a:pt x="0" y="266700"/>
                  </a:cubicBezTo>
                  <a:lnTo>
                    <a:pt x="0" y="38100"/>
                  </a:lnTo>
                  <a:cubicBezTo>
                    <a:pt x="0" y="17073"/>
                    <a:pt x="15728" y="0"/>
                    <a:pt x="350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8" name="AutoShape 28"/>
            <p:cNvSpPr/>
            <p:nvPr/>
          </p:nvSpPr>
          <p:spPr>
            <a:xfrm>
              <a:off x="580544" y="6147858"/>
              <a:ext cx="342215"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996950" y="6167120"/>
              <a:ext cx="4213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Calcul parallèle des éléments dans le bloc</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pic>
        <p:nvPicPr>
          <p:cNvPr id="30" name="Picture 30"/>
          <p:cNvPicPr>
            <a:picLocks noChangeAspect="1"/>
          </p:cNvPicPr>
          <p:nvPr/>
        </p:nvPicPr>
        <p:blipFill>
          <a:blip r:embed="rId1"/>
          <a:srcRect/>
          <a:stretch>
            <a:fillRect/>
          </a:stretch>
        </p:blipFill>
        <p:spPr>
          <a:xfrm>
            <a:off x="5991918" y="1352439"/>
            <a:ext cx="5638182" cy="4442845"/>
          </a:xfrm>
          <a:prstGeom prst="rect">
            <a:avLst/>
          </a:prstGeom>
          <a:ln w="12700">
            <a:noFill/>
            <a:prstDash val="solid"/>
          </a:ln>
        </p:spPr>
      </p:pic>
      <p:sp>
        <p:nvSpPr>
          <p:cNvPr id="31" name="AutoShape 31"/>
          <p:cNvSpPr/>
          <p:nvPr/>
        </p:nvSpPr>
        <p:spPr>
          <a:xfrm>
            <a:off x="5806049" y="6542917"/>
            <a:ext cx="6799699" cy="27559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00" b="0" i="0" u="none" strike="noStrike">
                <a:solidFill>
                  <a:srgbClr val="808080"/>
                </a:solidFill>
                <a:latin typeface="Calibri" panose="020F0502020204030204"/>
                <a:ea typeface="微软雅黑" panose="020B0503020204020204" charset="-122"/>
                <a:cs typeface="微软雅黑" panose="020B0503020204020204" charset="-122"/>
                <a:sym typeface="微软雅黑" panose="020B0503020204020204" charset="-122"/>
              </a:rPr>
              <a:t>Source de l'image : https://www.learnpdc.org/PDCBeginners/4-cuda/6-VectorAddTiming.html</a:t>
            </a:r>
            <a:endParaRPr lang="en-US" sz="1200" b="0" i="0" u="none" strike="noStrike">
              <a:solidFill>
                <a:srgbClr val="80808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439" y="609451"/>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Exemple de Kernel officiel </a:t>
            </a:r>
            <a:endParaRPr lang="en-US" sz="2800"/>
          </a:p>
        </p:txBody>
      </p:sp>
      <p:sp>
        <p:nvSpPr>
          <p:cNvPr id="3" name="Freeform 3"/>
          <p:cNvSpPr/>
          <p:nvPr/>
        </p:nvSpPr>
        <p:spPr>
          <a:xfrm>
            <a:off x="399911" y="1333235"/>
            <a:ext cx="11267980" cy="4953000"/>
          </a:xfrm>
          <a:custGeom>
            <a:avLst/>
            <a:gdLst/>
            <a:ahLst/>
            <a:cxnLst/>
            <a:rect l="l" t="t" r="r" b="b"/>
            <a:pathLst>
              <a:path w="11267980" h="4953000">
                <a:moveTo>
                  <a:pt x="37909" y="0"/>
                </a:moveTo>
                <a:lnTo>
                  <a:pt x="11153665" y="0"/>
                </a:lnTo>
                <a:cubicBezTo>
                  <a:pt x="11216800" y="0"/>
                  <a:pt x="11267980" y="51181"/>
                  <a:pt x="11267980" y="114315"/>
                </a:cubicBezTo>
                <a:lnTo>
                  <a:pt x="11267980" y="4838685"/>
                </a:lnTo>
                <a:cubicBezTo>
                  <a:pt x="11267980" y="4901819"/>
                  <a:pt x="11216800" y="4953000"/>
                  <a:pt x="11153665" y="4953000"/>
                </a:cubicBezTo>
                <a:lnTo>
                  <a:pt x="37909" y="4953000"/>
                </a:lnTo>
                <a:cubicBezTo>
                  <a:pt x="16974" y="4953000"/>
                  <a:pt x="0" y="4936026"/>
                  <a:pt x="0" y="4915090"/>
                </a:cubicBezTo>
                <a:lnTo>
                  <a:pt x="0" y="37909"/>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333235"/>
            <a:ext cx="37909" cy="4953000"/>
          </a:xfrm>
          <a:custGeom>
            <a:avLst/>
            <a:gdLst/>
            <a:ahLst/>
            <a:cxnLst/>
            <a:rect l="l" t="t" r="r" b="b"/>
            <a:pathLst>
              <a:path w="37909" h="4953000">
                <a:moveTo>
                  <a:pt x="37909" y="0"/>
                </a:moveTo>
                <a:lnTo>
                  <a:pt x="37909" y="0"/>
                </a:lnTo>
                <a:lnTo>
                  <a:pt x="37909" y="4953000"/>
                </a:lnTo>
                <a:lnTo>
                  <a:pt x="37909" y="4953000"/>
                </a:lnTo>
                <a:cubicBezTo>
                  <a:pt x="16974" y="4953000"/>
                  <a:pt x="0" y="4936026"/>
                  <a:pt x="0" y="49150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99888" y="704537"/>
            <a:ext cx="10868025" cy="59436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8B0000"/>
                </a:solidFill>
                <a:latin typeface="Calibri" panose="020F0502020204030204"/>
                <a:ea typeface="Calibri" panose="020F0502020204030204"/>
                <a:cs typeface="Calibri" panose="020F0502020204030204"/>
                <a:sym typeface="Calibri" panose="020F0502020204030204"/>
              </a:rPr>
              <a:t>@triton.jit </a:t>
            </a:r>
            <a:br>
              <a:rPr lang="en-US" sz="1200" b="1" i="0" u="none" strike="noStrike">
                <a:solidFill>
                  <a:srgbClr val="8B0000"/>
                </a:solidFill>
                <a:latin typeface="Calibri" panose="020F0502020204030204"/>
                <a:ea typeface="Calibri" panose="020F0502020204030204"/>
                <a:cs typeface="Calibri" panose="020F0502020204030204"/>
                <a:sym typeface="Calibri" panose="020F0502020204030204"/>
              </a:rPr>
            </a:br>
            <a:r>
              <a:rPr lang="en-US" sz="1200" b="1">
                <a:solidFill>
                  <a:srgbClr val="0066CC"/>
                </a:solidFill>
                <a:latin typeface="Calibri" panose="020F0502020204030204"/>
                <a:ea typeface="Calibri" panose="020F0502020204030204"/>
                <a:cs typeface="Calibri" panose="020F0502020204030204"/>
                <a:sym typeface="Calibri" panose="020F0502020204030204"/>
              </a:rPr>
              <a:t>def </a:t>
            </a:r>
            <a:r>
              <a:rPr lang="en-US" sz="1200" b="1">
                <a:solidFill>
                  <a:srgbClr val="8B0000"/>
                </a:solidFill>
                <a:latin typeface="Calibri" panose="020F0502020204030204"/>
                <a:ea typeface="Calibri" panose="020F0502020204030204"/>
                <a:cs typeface="Calibri" panose="020F0502020204030204"/>
                <a:sym typeface="Calibri" panose="020F0502020204030204"/>
              </a:rPr>
              <a:t>add_kernel</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(x_ptr, y_ptr, output_ptr, n_elements, BLOCK_SIZE: tl.constexpr):</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altLang="zh-CN" sz="1200" b="0" i="0" u="none" strike="noStrike">
                <a:solidFill>
                  <a:srgbClr val="666666"/>
                </a:solidFill>
                <a:latin typeface="Calibri" panose="020F0502020204030204"/>
                <a:ea typeface="Calibri" panose="020F0502020204030204"/>
                <a:cs typeface="Calibri" panose="020F0502020204030204"/>
                <a:sym typeface="Calibri" panose="020F0502020204030204"/>
              </a:rPr>
              <a:t># Obtenir l’ID du programme actuel </a:t>
            </a:r>
            <a:endParaRPr lang="en-US" altLang="zh-CN"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pid = tl.program_id(axis=</a:t>
            </a:r>
            <a:r>
              <a:rPr lang="en-US" sz="1200" b="0" i="0" u="none" strike="noStrike">
                <a:solidFill>
                  <a:srgbClr val="0099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altLang="zh-CN" sz="1200" b="0" i="0" u="none" strike="noStrike">
                <a:solidFill>
                  <a:srgbClr val="666666"/>
                </a:solidFill>
                <a:latin typeface="Calibri" panose="020F0502020204030204"/>
                <a:ea typeface="Calibri" panose="020F0502020204030204"/>
                <a:cs typeface="Calibri" panose="020F0502020204030204"/>
                <a:sym typeface="Calibri" panose="020F0502020204030204"/>
              </a:rPr>
              <a:t># Calculer la position de d</a:t>
            </a:r>
            <a:r>
              <a:rPr lang="en-US" alt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é</a:t>
            </a:r>
            <a:r>
              <a:rPr lang="en-US" altLang="zh-CN" sz="1200" b="0" i="0" u="none" strike="noStrike">
                <a:solidFill>
                  <a:srgbClr val="666666"/>
                </a:solidFill>
                <a:latin typeface="Calibri" panose="020F0502020204030204"/>
                <a:ea typeface="Calibri" panose="020F0502020204030204"/>
                <a:cs typeface="Calibri" panose="020F0502020204030204"/>
                <a:sym typeface="Calibri" panose="020F0502020204030204"/>
              </a:rPr>
              <a:t>part du bloc actuel</a:t>
            </a:r>
            <a:endParaRPr lang="en-US" altLang="zh-CN"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block_start = pid * BLOCK_SIZE</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Générer un tableau de décalages locaux [0, 1, 2, ..., BLOCK_SIZE-1]</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offsets = block_start + tl.arange(</a:t>
            </a:r>
            <a:r>
              <a:rPr lang="en-US" sz="1200" b="0" i="0" u="none" strike="noStrike">
                <a:solidFill>
                  <a:srgbClr val="0099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BLOCK_SIZE)</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Créer un masque pour éviter les accès hors limites</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mask = offsets &lt; n_elements</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Charger les données depuis la mémoire globale</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x = tl.load(x_ptr + offsets, mask=mask)</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y = tl.load(y_ptr + offsets, mask=mask)</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Exécuter l'addition vectorielle</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output = x + y</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Écrire le résultat dans la mémoire globale</a:t>
            </a:r>
            <a:endPar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tl.store(output_ptr + offsets, output, mask=mask)</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380956" y="6571937"/>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Source du code : Tutoriel officiel Triton https://triton-lang.org/main/getting-started/tutorials/01-vector-add.html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32" y="62917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7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program_id</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379095" y="2830195"/>
            <a:ext cx="5505450" cy="2150745"/>
            <a:chOff x="378890" y="2830298"/>
            <a:chExt cx="5505355" cy="2133600"/>
          </a:xfrm>
        </p:grpSpPr>
        <p:sp>
          <p:nvSpPr>
            <p:cNvPr id="4" name="Freeform 4"/>
            <p:cNvSpPr/>
            <p:nvPr/>
          </p:nvSpPr>
          <p:spPr>
            <a:xfrm>
              <a:off x="378890" y="2830298"/>
              <a:ext cx="5505355" cy="762000"/>
            </a:xfrm>
            <a:custGeom>
              <a:avLst/>
              <a:gdLst/>
              <a:ahLst/>
              <a:cxnLst/>
              <a:rect l="l" t="t" r="r" b="b"/>
              <a:pathLst>
                <a:path w="5505355" h="762000">
                  <a:moveTo>
                    <a:pt x="37910" y="0"/>
                  </a:moveTo>
                  <a:lnTo>
                    <a:pt x="5391055" y="0"/>
                  </a:lnTo>
                  <a:cubicBezTo>
                    <a:pt x="5454139" y="0"/>
                    <a:pt x="5505355" y="51217"/>
                    <a:pt x="5505355" y="114300"/>
                  </a:cubicBezTo>
                  <a:lnTo>
                    <a:pt x="5505355" y="647700"/>
                  </a:lnTo>
                  <a:cubicBezTo>
                    <a:pt x="5505355" y="710783"/>
                    <a:pt x="5454139" y="762000"/>
                    <a:pt x="5391055" y="762000"/>
                  </a:cubicBezTo>
                  <a:lnTo>
                    <a:pt x="37910" y="762000"/>
                  </a:lnTo>
                  <a:cubicBezTo>
                    <a:pt x="16974" y="762000"/>
                    <a:pt x="0" y="745026"/>
                    <a:pt x="0" y="7240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78890" y="2830298"/>
              <a:ext cx="37909" cy="762000"/>
            </a:xfrm>
            <a:custGeom>
              <a:avLst/>
              <a:gdLst/>
              <a:ahLst/>
              <a:cxnLst/>
              <a:rect l="l" t="t" r="r" b="b"/>
              <a:pathLst>
                <a:path w="37909" h="762000">
                  <a:moveTo>
                    <a:pt x="37910" y="0"/>
                  </a:moveTo>
                  <a:lnTo>
                    <a:pt x="37910" y="0"/>
                  </a:lnTo>
                  <a:lnTo>
                    <a:pt x="37910" y="762000"/>
                  </a:lnTo>
                  <a:lnTo>
                    <a:pt x="37910" y="762000"/>
                  </a:lnTo>
                  <a:cubicBezTo>
                    <a:pt x="16974" y="762000"/>
                    <a:pt x="0" y="745026"/>
                    <a:pt x="0" y="7240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26418" y="3058870"/>
              <a:ext cx="5124450" cy="31432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pid = tl.program_id(axis=0)</a:t>
              </a:r>
              <a:endPar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Freeform 7"/>
            <p:cNvSpPr/>
            <p:nvPr/>
          </p:nvSpPr>
          <p:spPr>
            <a:xfrm>
              <a:off x="383747" y="3863654"/>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12265" y="3825343"/>
              <a:ext cx="5143500"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altLang="zh-CN"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Renvoie l’identifiant du programme courant sur la dimension 0 de la grille. </a:t>
              </a:r>
              <a:endParaRPr lang="en-US" altLang="zh-CN"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383747" y="429466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2309" y="4256602"/>
              <a:ext cx="22193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Similaire au </a:t>
              </a:r>
              <a:r>
                <a:rPr lang="en-US" sz="12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blockIdx.x</a:t>
              </a:r>
              <a:endParaRPr lang="en-US" sz="1200"/>
            </a:p>
          </p:txBody>
        </p:sp>
        <p:sp>
          <p:nvSpPr>
            <p:cNvPr id="11" name="Freeform 11"/>
            <p:cNvSpPr/>
            <p:nvPr/>
          </p:nvSpPr>
          <p:spPr>
            <a:xfrm>
              <a:off x="383747" y="472567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12265" y="4687673"/>
              <a:ext cx="50387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Utilisé pour déterminer quel bloc de données le program actuel doit traiter</a:t>
              </a:r>
              <a:endParaRPr lang="en-US" sz="120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grpSp>
        <p:nvGrpSpPr>
          <p:cNvPr id="13" name="Group 13"/>
          <p:cNvGrpSpPr/>
          <p:nvPr/>
        </p:nvGrpSpPr>
        <p:grpSpPr>
          <a:xfrm>
            <a:off x="6415345" y="1494066"/>
            <a:ext cx="5524500" cy="3619500"/>
            <a:chOff x="6415345" y="1494066"/>
            <a:chExt cx="5524500" cy="3619500"/>
          </a:xfrm>
        </p:grpSpPr>
        <p:sp>
          <p:nvSpPr>
            <p:cNvPr id="14" name="Freeform 14"/>
            <p:cNvSpPr/>
            <p:nvPr/>
          </p:nvSpPr>
          <p:spPr>
            <a:xfrm>
              <a:off x="6415345" y="1494066"/>
              <a:ext cx="5524500" cy="3619500"/>
            </a:xfrm>
            <a:custGeom>
              <a:avLst/>
              <a:gdLst/>
              <a:ahLst/>
              <a:cxnLst/>
              <a:rect l="l" t="t" r="r" b="b"/>
              <a:pathLst>
                <a:path w="5524500" h="3619500">
                  <a:moveTo>
                    <a:pt x="114304" y="0"/>
                  </a:moveTo>
                  <a:lnTo>
                    <a:pt x="5410196" y="0"/>
                  </a:lnTo>
                  <a:cubicBezTo>
                    <a:pt x="5473324" y="0"/>
                    <a:pt x="5524500" y="51176"/>
                    <a:pt x="5524500" y="114304"/>
                  </a:cubicBezTo>
                  <a:lnTo>
                    <a:pt x="5524500" y="3505196"/>
                  </a:lnTo>
                  <a:cubicBezTo>
                    <a:pt x="5524500" y="3568324"/>
                    <a:pt x="5473324" y="3619500"/>
                    <a:pt x="5410196" y="3619500"/>
                  </a:cubicBezTo>
                  <a:lnTo>
                    <a:pt x="114304" y="3619500"/>
                  </a:lnTo>
                  <a:cubicBezTo>
                    <a:pt x="51176" y="3619500"/>
                    <a:pt x="0" y="3568324"/>
                    <a:pt x="0" y="3505196"/>
                  </a:cubicBezTo>
                  <a:lnTo>
                    <a:pt x="0" y="114304"/>
                  </a:lnTo>
                  <a:cubicBezTo>
                    <a:pt x="0" y="51218"/>
                    <a:pt x="51218" y="0"/>
                    <a:pt x="11430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596294" y="1722641"/>
              <a:ext cx="5162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Distribution des programs dans la Grid</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6643919" y="2217922"/>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05819" y="2217922"/>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7215315" y="2217922"/>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215315" y="2217922"/>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Traite le bloc de données 0</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6643919" y="2789315"/>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605819" y="2789315"/>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7215315" y="2789315"/>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215315" y="2789315"/>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Traite le bloc de données 1</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6643919" y="3360713"/>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605819" y="3360713"/>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Freeform 26"/>
            <p:cNvSpPr/>
            <p:nvPr/>
          </p:nvSpPr>
          <p:spPr>
            <a:xfrm>
              <a:off x="7215315" y="3360713"/>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215315" y="3360713"/>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Traite le bloc de données 2</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6605819" y="3932110"/>
              <a:ext cx="5143500" cy="381000"/>
            </a:xfrm>
            <a:prstGeom prst="rect">
              <a:avLst/>
            </a:prstGeom>
            <a:noFill/>
            <a:ln w="12700">
              <a:noFill/>
              <a:prstDash val="solid"/>
            </a:ln>
          </p:spPr>
          <p:txBody>
            <a:bodyPr wrap="square" lIns="0" tIns="76200" rIns="0" bIns="76200" rtlCol="0" anchor="ctr">
              <a:noAutofit/>
            </a:bodyPr>
            <a:lstStyle/>
            <a:p>
              <a:pPr indent="0" algn="ctr">
                <a:lnSpc>
                  <a:spcPct val="133000"/>
                </a:lnSpc>
                <a:defRPr/>
              </a:pPr>
              <a:r>
                <a:rPr lang="en-US"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Freeform 29"/>
            <p:cNvSpPr/>
            <p:nvPr/>
          </p:nvSpPr>
          <p:spPr>
            <a:xfrm>
              <a:off x="6643919" y="4427313"/>
              <a:ext cx="457200" cy="457200"/>
            </a:xfrm>
            <a:custGeom>
              <a:avLst/>
              <a:gdLst/>
              <a:ahLst/>
              <a:cxnLst/>
              <a:rect l="l" t="t" r="r" b="b"/>
              <a:pathLst>
                <a:path w="457200" h="457200">
                  <a:moveTo>
                    <a:pt x="38097" y="0"/>
                  </a:moveTo>
                  <a:lnTo>
                    <a:pt x="419103" y="0"/>
                  </a:lnTo>
                  <a:cubicBezTo>
                    <a:pt x="440143" y="0"/>
                    <a:pt x="457200" y="17057"/>
                    <a:pt x="457200" y="38097"/>
                  </a:cubicBezTo>
                  <a:lnTo>
                    <a:pt x="457200" y="419103"/>
                  </a:lnTo>
                  <a:cubicBezTo>
                    <a:pt x="457200" y="440143"/>
                    <a:pt x="440143" y="457200"/>
                    <a:pt x="419103" y="457200"/>
                  </a:cubicBezTo>
                  <a:lnTo>
                    <a:pt x="38097" y="457200"/>
                  </a:lnTo>
                  <a:cubicBezTo>
                    <a:pt x="17057" y="457200"/>
                    <a:pt x="0" y="440143"/>
                    <a:pt x="0" y="419103"/>
                  </a:cubicBezTo>
                  <a:lnTo>
                    <a:pt x="0" y="38097"/>
                  </a:lnTo>
                  <a:cubicBezTo>
                    <a:pt x="0" y="17071"/>
                    <a:pt x="17071" y="0"/>
                    <a:pt x="38097"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605819" y="4427313"/>
              <a:ext cx="533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Freeform 31"/>
            <p:cNvSpPr/>
            <p:nvPr/>
          </p:nvSpPr>
          <p:spPr>
            <a:xfrm>
              <a:off x="7215315" y="4427313"/>
              <a:ext cx="4495800" cy="457200"/>
            </a:xfrm>
            <a:custGeom>
              <a:avLst/>
              <a:gdLst/>
              <a:ahLst/>
              <a:cxnLst/>
              <a:rect l="l" t="t" r="r" b="b"/>
              <a:pathLst>
                <a:path w="4495800" h="457200">
                  <a:moveTo>
                    <a:pt x="38097" y="0"/>
                  </a:moveTo>
                  <a:lnTo>
                    <a:pt x="4457703" y="0"/>
                  </a:lnTo>
                  <a:cubicBezTo>
                    <a:pt x="4478743" y="0"/>
                    <a:pt x="4495800" y="17057"/>
                    <a:pt x="4495800" y="38097"/>
                  </a:cubicBezTo>
                  <a:lnTo>
                    <a:pt x="4495800" y="419103"/>
                  </a:lnTo>
                  <a:cubicBezTo>
                    <a:pt x="4495800" y="440143"/>
                    <a:pt x="4478743" y="457200"/>
                    <a:pt x="4457703" y="457200"/>
                  </a:cubicBezTo>
                  <a:lnTo>
                    <a:pt x="38097" y="457200"/>
                  </a:lnTo>
                  <a:cubicBezTo>
                    <a:pt x="17057" y="457200"/>
                    <a:pt x="0" y="440143"/>
                    <a:pt x="0" y="419103"/>
                  </a:cubicBezTo>
                  <a:lnTo>
                    <a:pt x="0" y="38097"/>
                  </a:lnTo>
                  <a:cubicBezTo>
                    <a:pt x="0" y="17071"/>
                    <a:pt x="17071" y="0"/>
                    <a:pt x="38097"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7215315" y="4427313"/>
              <a:ext cx="4572000" cy="457200"/>
            </a:xfrm>
            <a:prstGeom prst="rect">
              <a:avLst/>
            </a:prstGeom>
            <a:noFill/>
            <a:ln w="12700">
              <a:noFill/>
              <a:prstDash val="solid"/>
            </a:ln>
          </p:spPr>
          <p:txBody>
            <a:bodyPr wrap="square" lIns="152400" tIns="0" rIns="15240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Traite le bloc de données N</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3" name="AutoShape 33"/>
          <p:cNvSpPr/>
          <p:nvPr/>
        </p:nvSpPr>
        <p:spPr>
          <a:xfrm>
            <a:off x="380956" y="6533258"/>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Source de l'image : Documentation officielle Triton https://triton-lang.org/main/python-api/generated/triton.language.program_id.html</a:t>
            </a:r>
            <a:endParaRPr lang="en-US" sz="1100"/>
          </a:p>
        </p:txBody>
      </p:sp>
      <p:pic>
        <p:nvPicPr>
          <p:cNvPr id="34" name="Picture 34"/>
          <p:cNvPicPr>
            <a:picLocks noChangeAspect="1"/>
          </p:cNvPicPr>
          <p:nvPr/>
        </p:nvPicPr>
        <p:blipFill>
          <a:blip r:embed="rId1"/>
          <a:srcRect/>
          <a:stretch>
            <a:fillRect/>
          </a:stretch>
        </p:blipFill>
        <p:spPr>
          <a:xfrm>
            <a:off x="380957" y="1494066"/>
            <a:ext cx="5715044" cy="97901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2349" y="63880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Méthode de calcul des offsets</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sp>
        <p:nvSpPr>
          <p:cNvPr id="3" name="Freeform 3"/>
          <p:cNvSpPr/>
          <p:nvPr/>
        </p:nvSpPr>
        <p:spPr>
          <a:xfrm>
            <a:off x="399911" y="1570620"/>
            <a:ext cx="5543455" cy="1847850"/>
          </a:xfrm>
          <a:custGeom>
            <a:avLst/>
            <a:gdLst/>
            <a:ahLst/>
            <a:cxnLst/>
            <a:rect l="l" t="t" r="r" b="b"/>
            <a:pathLst>
              <a:path w="5543455" h="1847850">
                <a:moveTo>
                  <a:pt x="37909" y="0"/>
                </a:moveTo>
                <a:lnTo>
                  <a:pt x="5429147" y="0"/>
                </a:lnTo>
                <a:cubicBezTo>
                  <a:pt x="5492278" y="0"/>
                  <a:pt x="5543455" y="51177"/>
                  <a:pt x="5543455" y="114308"/>
                </a:cubicBezTo>
                <a:lnTo>
                  <a:pt x="5543455" y="1733542"/>
                </a:lnTo>
                <a:cubicBezTo>
                  <a:pt x="5543455" y="1796673"/>
                  <a:pt x="5492278" y="1847850"/>
                  <a:pt x="5429147" y="1847850"/>
                </a:cubicBezTo>
                <a:lnTo>
                  <a:pt x="37909" y="1847850"/>
                </a:lnTo>
                <a:cubicBezTo>
                  <a:pt x="16974" y="1847850"/>
                  <a:pt x="0" y="1830876"/>
                  <a:pt x="0" y="180994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570620"/>
            <a:ext cx="37909" cy="1847850"/>
          </a:xfrm>
          <a:custGeom>
            <a:avLst/>
            <a:gdLst/>
            <a:ahLst/>
            <a:cxnLst/>
            <a:rect l="l" t="t" r="r" b="b"/>
            <a:pathLst>
              <a:path w="37909" h="1847850">
                <a:moveTo>
                  <a:pt x="37909" y="0"/>
                </a:moveTo>
                <a:lnTo>
                  <a:pt x="37909" y="0"/>
                </a:lnTo>
                <a:lnTo>
                  <a:pt x="37909" y="1847850"/>
                </a:lnTo>
                <a:lnTo>
                  <a:pt x="37909" y="1847850"/>
                </a:lnTo>
                <a:cubicBezTo>
                  <a:pt x="16974" y="1847850"/>
                  <a:pt x="0" y="1830876"/>
                  <a:pt x="0" y="180994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799193"/>
            <a:ext cx="5153025" cy="139065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Calculer la position de départ du bloc actuel</a:t>
            </a:r>
            <a:endParaRPr lang="en-US" sz="1100"/>
          </a:p>
          <a:p>
            <a:pPr indent="0" algn="l">
              <a:lnSpc>
                <a:spcPct val="100000"/>
              </a:lnSpc>
            </a:pP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pid * BLOCK_SIZE</a:t>
            </a:r>
            <a:endPar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Générer les offsets globaux</a:t>
            </a:r>
            <a:endPar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block_start + tl.arange(</a:t>
            </a:r>
            <a:r>
              <a:rPr lang="en-US" sz="14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BLOCK_SIZE)</a:t>
            </a:r>
            <a:endParaRPr lang="en-US" sz="14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6248338" y="1771948"/>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210238" y="1771948"/>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6743700" y="1771650"/>
            <a:ext cx="4998720" cy="314325"/>
          </a:xfrm>
          <a:prstGeom prst="rect">
            <a:avLst/>
          </a:prstGeom>
          <a:noFill/>
          <a:ln w="12700">
            <a:noFill/>
            <a:prstDash val="solid"/>
          </a:ln>
        </p:spPr>
        <p:txBody>
          <a:bodyPr wrap="square" lIns="0" tIns="38100" rIns="0" bIns="0" rtlCol="0" anchor="ctr">
            <a:noAutofit/>
          </a:bodyPr>
          <a:lstStyle/>
          <a:p>
            <a:pPr indent="0" algn="l">
              <a:lnSpc>
                <a:spcPct val="142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Chaque program traite </a:t>
            </a:r>
            <a:r>
              <a:rPr lang="en-US"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BLOCK_SIZE</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éléments consécutifs</a:t>
            </a:r>
            <a:endParaRPr lang="en-US"/>
          </a:p>
        </p:txBody>
      </p:sp>
      <p:sp>
        <p:nvSpPr>
          <p:cNvPr id="9" name="Freeform 9"/>
          <p:cNvSpPr/>
          <p:nvPr/>
        </p:nvSpPr>
        <p:spPr>
          <a:xfrm>
            <a:off x="6248338" y="2305283"/>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210238" y="2305283"/>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1" name="AutoShape 11"/>
          <p:cNvSpPr/>
          <p:nvPr/>
        </p:nvSpPr>
        <p:spPr>
          <a:xfrm>
            <a:off x="6743700" y="2305050"/>
            <a:ext cx="4998720" cy="323850"/>
          </a:xfrm>
          <a:prstGeom prst="rect">
            <a:avLst/>
          </a:prstGeom>
          <a:noFill/>
          <a:ln w="12700">
            <a:noFill/>
            <a:prstDash val="solid"/>
          </a:ln>
        </p:spPr>
        <p:txBody>
          <a:bodyPr wrap="square" lIns="0" tIns="38100" rIns="0" bIns="0" rtlCol="0" anchor="ctr">
            <a:noAutofit/>
          </a:bodyPr>
          <a:lstStyle/>
          <a:p>
            <a:pPr indent="0" algn="l">
              <a:lnSpc>
                <a:spcPct val="142000"/>
              </a:lnSpc>
              <a:defRPr/>
            </a:pPr>
            <a:r>
              <a:rPr lang="en-US"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tl.arange </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génère les index locaux </a:t>
            </a:r>
            <a:r>
              <a:rPr lang="en-US"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[0, 1, ..., BLOCK_SIZE-1]</a:t>
            </a:r>
            <a:endParaRPr lang="en-US"/>
          </a:p>
        </p:txBody>
      </p:sp>
      <p:sp>
        <p:nvSpPr>
          <p:cNvPr id="12" name="Freeform 12"/>
          <p:cNvSpPr/>
          <p:nvPr/>
        </p:nvSpPr>
        <p:spPr>
          <a:xfrm>
            <a:off x="6248338" y="283862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210238" y="2838622"/>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6743700" y="2838450"/>
            <a:ext cx="5067300" cy="323850"/>
          </a:xfrm>
          <a:prstGeom prst="rect">
            <a:avLst/>
          </a:prstGeom>
          <a:noFill/>
          <a:ln w="12700">
            <a:noFill/>
            <a:prstDash val="solid"/>
          </a:ln>
        </p:spPr>
        <p:txBody>
          <a:bodyPr wrap="square" lIns="0" tIns="38100" rIns="0" bIns="0" rtlCol="0" anchor="ctr">
            <a:noAutofit/>
          </a:bodyPr>
          <a:lstStyle/>
          <a:p>
            <a:pPr indent="0" algn="l">
              <a:lnSpc>
                <a:spcPct val="142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Ajouter </a:t>
            </a:r>
            <a:r>
              <a:rPr lang="en-US"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block_start </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pour obtenir les index globaux</a:t>
            </a:r>
            <a:endParaRPr lang="en-US"/>
          </a:p>
        </p:txBody>
      </p:sp>
      <p:sp>
        <p:nvSpPr>
          <p:cNvPr id="15" name="Freeform 15"/>
          <p:cNvSpPr/>
          <p:nvPr/>
        </p:nvSpPr>
        <p:spPr>
          <a:xfrm>
            <a:off x="380956" y="3649475"/>
            <a:ext cx="11430000" cy="2362200"/>
          </a:xfrm>
          <a:custGeom>
            <a:avLst/>
            <a:gdLst/>
            <a:ahLst/>
            <a:cxnLst/>
            <a:rect l="l" t="t" r="r" b="b"/>
            <a:pathLst>
              <a:path w="11430000" h="2362200">
                <a:moveTo>
                  <a:pt x="114308" y="0"/>
                </a:moveTo>
                <a:lnTo>
                  <a:pt x="11315692" y="0"/>
                </a:lnTo>
                <a:cubicBezTo>
                  <a:pt x="11378781" y="0"/>
                  <a:pt x="11430000" y="51219"/>
                  <a:pt x="11430000" y="114308"/>
                </a:cubicBezTo>
                <a:lnTo>
                  <a:pt x="11430000" y="2247892"/>
                </a:lnTo>
                <a:cubicBezTo>
                  <a:pt x="11430000" y="2310981"/>
                  <a:pt x="11378781" y="2362200"/>
                  <a:pt x="11315692" y="2362200"/>
                </a:cubicBezTo>
                <a:lnTo>
                  <a:pt x="114308" y="2362200"/>
                </a:lnTo>
                <a:cubicBezTo>
                  <a:pt x="51219" y="2362200"/>
                  <a:pt x="0" y="2310981"/>
                  <a:pt x="0" y="2247892"/>
                </a:cubicBezTo>
                <a:lnTo>
                  <a:pt x="0" y="114308"/>
                </a:lnTo>
                <a:cubicBezTo>
                  <a:pt x="0" y="51219"/>
                  <a:pt x="51219" y="0"/>
                  <a:pt x="1143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529" y="387804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Exemple de calcul (BLOCK_SIZE = 256)</a:t>
            </a:r>
            <a:endParaRPr lang="en-US" sz="1100"/>
          </a:p>
        </p:txBody>
      </p:sp>
      <p:sp>
        <p:nvSpPr>
          <p:cNvPr id="17" name="Freeform 17"/>
          <p:cNvSpPr/>
          <p:nvPr/>
        </p:nvSpPr>
        <p:spPr>
          <a:xfrm>
            <a:off x="619007" y="4306615"/>
            <a:ext cx="3533680" cy="1466755"/>
          </a:xfrm>
          <a:custGeom>
            <a:avLst/>
            <a:gdLst/>
            <a:ahLst/>
            <a:cxnLst/>
            <a:rect l="l" t="t" r="r" b="b"/>
            <a:pathLst>
              <a:path w="3533680" h="1466755">
                <a:moveTo>
                  <a:pt x="76197" y="0"/>
                </a:moveTo>
                <a:lnTo>
                  <a:pt x="3457482" y="0"/>
                </a:lnTo>
                <a:cubicBezTo>
                  <a:pt x="3499565" y="0"/>
                  <a:pt x="3533680" y="34115"/>
                  <a:pt x="3533680" y="76197"/>
                </a:cubicBezTo>
                <a:lnTo>
                  <a:pt x="3533680" y="1390557"/>
                </a:lnTo>
                <a:cubicBezTo>
                  <a:pt x="3533680" y="1432640"/>
                  <a:pt x="3499565" y="1466755"/>
                  <a:pt x="3457482" y="1466755"/>
                </a:cubicBezTo>
                <a:lnTo>
                  <a:pt x="76197" y="1466755"/>
                </a:lnTo>
                <a:cubicBezTo>
                  <a:pt x="34115" y="1466755"/>
                  <a:pt x="0" y="1432640"/>
                  <a:pt x="0" y="1390557"/>
                </a:cubicBezTo>
                <a:lnTo>
                  <a:pt x="0" y="76197"/>
                </a:lnTo>
                <a:cubicBezTo>
                  <a:pt x="0" y="34115"/>
                  <a:pt x="34115" y="0"/>
                  <a:pt x="76197"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780866" y="4468476"/>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program_id = 0</a:t>
            </a:r>
            <a:endParaRPr lang="en-US" sz="1100"/>
          </a:p>
        </p:txBody>
      </p:sp>
      <p:sp>
        <p:nvSpPr>
          <p:cNvPr id="19" name="Freeform 19"/>
          <p:cNvSpPr/>
          <p:nvPr/>
        </p:nvSpPr>
        <p:spPr>
          <a:xfrm>
            <a:off x="799822" y="4735106"/>
            <a:ext cx="3190780" cy="609600"/>
          </a:xfrm>
          <a:custGeom>
            <a:avLst/>
            <a:gdLst/>
            <a:ahLst/>
            <a:cxnLst/>
            <a:rect l="l" t="t" r="r" b="b"/>
            <a:pathLst>
              <a:path w="3190780" h="609600">
                <a:moveTo>
                  <a:pt x="37909" y="0"/>
                </a:moveTo>
                <a:lnTo>
                  <a:pt x="3152680" y="0"/>
                </a:lnTo>
                <a:cubicBezTo>
                  <a:pt x="3173708" y="0"/>
                  <a:pt x="3190780" y="17073"/>
                  <a:pt x="3190780" y="38100"/>
                </a:cubicBezTo>
                <a:lnTo>
                  <a:pt x="3190780" y="571500"/>
                </a:lnTo>
                <a:cubicBezTo>
                  <a:pt x="3190780" y="592527"/>
                  <a:pt x="3173708" y="609600"/>
                  <a:pt x="3152680" y="609600"/>
                </a:cubicBezTo>
                <a:lnTo>
                  <a:pt x="37909" y="609600"/>
                </a:lnTo>
                <a:cubicBezTo>
                  <a:pt x="16974" y="609600"/>
                  <a:pt x="0" y="592626"/>
                  <a:pt x="0" y="5716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99822" y="4735106"/>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933026" y="4849355"/>
            <a:ext cx="3009900"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0</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[0..255]</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780866" y="5420678"/>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Traite les éléments 0-255</a:t>
            </a:r>
            <a:endParaRPr lang="en-US" sz="1100"/>
          </a:p>
        </p:txBody>
      </p:sp>
      <p:sp>
        <p:nvSpPr>
          <p:cNvPr id="23" name="Freeform 23"/>
          <p:cNvSpPr/>
          <p:nvPr/>
        </p:nvSpPr>
        <p:spPr>
          <a:xfrm>
            <a:off x="4327418" y="4306615"/>
            <a:ext cx="3533680" cy="1466755"/>
          </a:xfrm>
          <a:custGeom>
            <a:avLst/>
            <a:gdLst/>
            <a:ahLst/>
            <a:cxnLst/>
            <a:rect l="l" t="t" r="r" b="b"/>
            <a:pathLst>
              <a:path w="3533680" h="1466755">
                <a:moveTo>
                  <a:pt x="76197" y="0"/>
                </a:moveTo>
                <a:lnTo>
                  <a:pt x="3457482" y="0"/>
                </a:lnTo>
                <a:cubicBezTo>
                  <a:pt x="3499565" y="0"/>
                  <a:pt x="3533680" y="34115"/>
                  <a:pt x="3533680" y="76197"/>
                </a:cubicBezTo>
                <a:lnTo>
                  <a:pt x="3533680" y="1390557"/>
                </a:lnTo>
                <a:cubicBezTo>
                  <a:pt x="3533680" y="1432640"/>
                  <a:pt x="3499565" y="1466755"/>
                  <a:pt x="3457482" y="1466755"/>
                </a:cubicBezTo>
                <a:lnTo>
                  <a:pt x="76197" y="1466755"/>
                </a:lnTo>
                <a:cubicBezTo>
                  <a:pt x="34115" y="1466755"/>
                  <a:pt x="0" y="1432640"/>
                  <a:pt x="0" y="1390557"/>
                </a:cubicBezTo>
                <a:lnTo>
                  <a:pt x="0" y="76197"/>
                </a:lnTo>
                <a:cubicBezTo>
                  <a:pt x="0" y="34115"/>
                  <a:pt x="34115" y="0"/>
                  <a:pt x="76197"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4489278" y="4468476"/>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program_id = 1</a:t>
            </a:r>
            <a:endParaRPr lang="en-US" sz="1100"/>
          </a:p>
        </p:txBody>
      </p:sp>
      <p:sp>
        <p:nvSpPr>
          <p:cNvPr id="25" name="Freeform 25"/>
          <p:cNvSpPr/>
          <p:nvPr/>
        </p:nvSpPr>
        <p:spPr>
          <a:xfrm>
            <a:off x="4508233" y="4735106"/>
            <a:ext cx="3190780" cy="609600"/>
          </a:xfrm>
          <a:custGeom>
            <a:avLst/>
            <a:gdLst/>
            <a:ahLst/>
            <a:cxnLst/>
            <a:rect l="l" t="t" r="r" b="b"/>
            <a:pathLst>
              <a:path w="3190780" h="609600">
                <a:moveTo>
                  <a:pt x="37909" y="0"/>
                </a:moveTo>
                <a:lnTo>
                  <a:pt x="3152680" y="0"/>
                </a:lnTo>
                <a:cubicBezTo>
                  <a:pt x="3173708" y="0"/>
                  <a:pt x="3190780" y="17073"/>
                  <a:pt x="3190780" y="38100"/>
                </a:cubicBezTo>
                <a:lnTo>
                  <a:pt x="3190780" y="571500"/>
                </a:lnTo>
                <a:cubicBezTo>
                  <a:pt x="3190780" y="592527"/>
                  <a:pt x="3173708" y="609600"/>
                  <a:pt x="3152680" y="609600"/>
                </a:cubicBezTo>
                <a:lnTo>
                  <a:pt x="37909" y="609600"/>
                </a:lnTo>
                <a:cubicBezTo>
                  <a:pt x="16974" y="609600"/>
                  <a:pt x="0" y="592626"/>
                  <a:pt x="0" y="5716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4508233" y="4735106"/>
            <a:ext cx="37910" cy="609600"/>
          </a:xfrm>
          <a:custGeom>
            <a:avLst/>
            <a:gdLst/>
            <a:ahLst/>
            <a:cxnLst/>
            <a:rect l="l" t="t" r="r" b="b"/>
            <a:pathLst>
              <a:path w="37910" h="609600">
                <a:moveTo>
                  <a:pt x="37909" y="0"/>
                </a:moveTo>
                <a:lnTo>
                  <a:pt x="37909" y="0"/>
                </a:lnTo>
                <a:lnTo>
                  <a:pt x="37909" y="609600"/>
                </a:lnTo>
                <a:lnTo>
                  <a:pt x="37909" y="609600"/>
                </a:lnTo>
                <a:cubicBezTo>
                  <a:pt x="16974" y="609600"/>
                  <a:pt x="0" y="592626"/>
                  <a:pt x="0" y="5716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4641438" y="4849355"/>
            <a:ext cx="3009900"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256</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[256..511]</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4489278" y="5420678"/>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Traite les éléments 256-511</a:t>
            </a:r>
            <a:endParaRPr lang="en-US" sz="1100"/>
          </a:p>
        </p:txBody>
      </p:sp>
      <p:sp>
        <p:nvSpPr>
          <p:cNvPr id="29" name="Freeform 29"/>
          <p:cNvSpPr/>
          <p:nvPr/>
        </p:nvSpPr>
        <p:spPr>
          <a:xfrm>
            <a:off x="8035830" y="4306615"/>
            <a:ext cx="3533680" cy="1466755"/>
          </a:xfrm>
          <a:custGeom>
            <a:avLst/>
            <a:gdLst/>
            <a:ahLst/>
            <a:cxnLst/>
            <a:rect l="l" t="t" r="r" b="b"/>
            <a:pathLst>
              <a:path w="3533680" h="1466755">
                <a:moveTo>
                  <a:pt x="76197" y="0"/>
                </a:moveTo>
                <a:lnTo>
                  <a:pt x="3457482" y="0"/>
                </a:lnTo>
                <a:cubicBezTo>
                  <a:pt x="3499565" y="0"/>
                  <a:pt x="3533680" y="34115"/>
                  <a:pt x="3533680" y="76197"/>
                </a:cubicBezTo>
                <a:lnTo>
                  <a:pt x="3533680" y="1390557"/>
                </a:lnTo>
                <a:cubicBezTo>
                  <a:pt x="3533680" y="1432640"/>
                  <a:pt x="3499565" y="1466755"/>
                  <a:pt x="3457482" y="1466755"/>
                </a:cubicBezTo>
                <a:lnTo>
                  <a:pt x="76197" y="1466755"/>
                </a:lnTo>
                <a:cubicBezTo>
                  <a:pt x="34115" y="1466755"/>
                  <a:pt x="0" y="1432640"/>
                  <a:pt x="0" y="1390557"/>
                </a:cubicBezTo>
                <a:lnTo>
                  <a:pt x="0" y="76197"/>
                </a:lnTo>
                <a:cubicBezTo>
                  <a:pt x="0" y="34115"/>
                  <a:pt x="34115" y="0"/>
                  <a:pt x="76197"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8197690" y="4468476"/>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program_id = 2</a:t>
            </a:r>
            <a:endParaRPr lang="en-US" sz="1100"/>
          </a:p>
        </p:txBody>
      </p:sp>
      <p:sp>
        <p:nvSpPr>
          <p:cNvPr id="31" name="Freeform 31"/>
          <p:cNvSpPr/>
          <p:nvPr/>
        </p:nvSpPr>
        <p:spPr>
          <a:xfrm>
            <a:off x="8216645" y="4735106"/>
            <a:ext cx="3190780" cy="609600"/>
          </a:xfrm>
          <a:custGeom>
            <a:avLst/>
            <a:gdLst/>
            <a:ahLst/>
            <a:cxnLst/>
            <a:rect l="l" t="t" r="r" b="b"/>
            <a:pathLst>
              <a:path w="3190780" h="609600">
                <a:moveTo>
                  <a:pt x="37909" y="0"/>
                </a:moveTo>
                <a:lnTo>
                  <a:pt x="3152680" y="0"/>
                </a:lnTo>
                <a:cubicBezTo>
                  <a:pt x="3173708" y="0"/>
                  <a:pt x="3190780" y="17073"/>
                  <a:pt x="3190780" y="38100"/>
                </a:cubicBezTo>
                <a:lnTo>
                  <a:pt x="3190780" y="571500"/>
                </a:lnTo>
                <a:cubicBezTo>
                  <a:pt x="3190780" y="592527"/>
                  <a:pt x="3173708" y="609600"/>
                  <a:pt x="3152680" y="609600"/>
                </a:cubicBezTo>
                <a:lnTo>
                  <a:pt x="37909" y="609600"/>
                </a:lnTo>
                <a:cubicBezTo>
                  <a:pt x="16974" y="609600"/>
                  <a:pt x="0" y="592626"/>
                  <a:pt x="0" y="5716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8216645" y="4735106"/>
            <a:ext cx="37910" cy="609600"/>
          </a:xfrm>
          <a:custGeom>
            <a:avLst/>
            <a:gdLst/>
            <a:ahLst/>
            <a:cxnLst/>
            <a:rect l="l" t="t" r="r" b="b"/>
            <a:pathLst>
              <a:path w="37910" h="609600">
                <a:moveTo>
                  <a:pt x="37909" y="0"/>
                </a:moveTo>
                <a:lnTo>
                  <a:pt x="37909" y="0"/>
                </a:lnTo>
                <a:lnTo>
                  <a:pt x="37909" y="609600"/>
                </a:lnTo>
                <a:lnTo>
                  <a:pt x="37909" y="609600"/>
                </a:lnTo>
                <a:cubicBezTo>
                  <a:pt x="16974" y="609600"/>
                  <a:pt x="0" y="592626"/>
                  <a:pt x="0" y="5716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8349850" y="4849355"/>
            <a:ext cx="3009900"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block_start = 512</a:t>
            </a:r>
            <a:endParaRPr lang="en-US" sz="1100"/>
          </a:p>
          <a:p>
            <a:pPr indent="0" algn="l">
              <a:lnSpc>
                <a:spcPct val="100000"/>
              </a:lnSpc>
            </a:pPr>
            <a:r>
              <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[512..767]</a:t>
            </a:r>
            <a:endParaRPr lang="en-US" sz="11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8197690" y="5420678"/>
            <a:ext cx="32766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Traite les éléments 512-767</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9260" y="615256"/>
            <a:ext cx="11665604" cy="33961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tl.arange</a:t>
            </a:r>
            <a:endPar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75935" y="3383603"/>
            <a:ext cx="5586585" cy="2943784"/>
            <a:chOff x="375935" y="3383603"/>
            <a:chExt cx="5586585" cy="2943784"/>
          </a:xfrm>
        </p:grpSpPr>
        <p:sp>
          <p:nvSpPr>
            <p:cNvPr id="4" name="Freeform 4"/>
            <p:cNvSpPr/>
            <p:nvPr/>
          </p:nvSpPr>
          <p:spPr>
            <a:xfrm>
              <a:off x="392831" y="3383603"/>
              <a:ext cx="5569520" cy="679220"/>
            </a:xfrm>
            <a:custGeom>
              <a:avLst/>
              <a:gdLst/>
              <a:ahLst/>
              <a:cxnLst/>
              <a:rect l="l" t="t" r="r" b="b"/>
              <a:pathLst>
                <a:path w="5569520" h="679220">
                  <a:moveTo>
                    <a:pt x="33792" y="0"/>
                  </a:moveTo>
                  <a:lnTo>
                    <a:pt x="5467637" y="0"/>
                  </a:lnTo>
                  <a:cubicBezTo>
                    <a:pt x="5523904" y="0"/>
                    <a:pt x="5569520" y="45615"/>
                    <a:pt x="5569520" y="101883"/>
                  </a:cubicBezTo>
                  <a:lnTo>
                    <a:pt x="5569520" y="577337"/>
                  </a:lnTo>
                  <a:cubicBezTo>
                    <a:pt x="5569520" y="633606"/>
                    <a:pt x="5523904" y="679220"/>
                    <a:pt x="5467637" y="679220"/>
                  </a:cubicBezTo>
                  <a:lnTo>
                    <a:pt x="33792" y="679220"/>
                  </a:lnTo>
                  <a:cubicBezTo>
                    <a:pt x="15130" y="679220"/>
                    <a:pt x="0" y="664091"/>
                    <a:pt x="0" y="645428"/>
                  </a:cubicBezTo>
                  <a:lnTo>
                    <a:pt x="0" y="33792"/>
                  </a:lnTo>
                  <a:cubicBezTo>
                    <a:pt x="0" y="15142"/>
                    <a:pt x="15142" y="0"/>
                    <a:pt x="3379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5" name="Freeform 5"/>
            <p:cNvSpPr/>
            <p:nvPr/>
          </p:nvSpPr>
          <p:spPr>
            <a:xfrm>
              <a:off x="392831" y="3383603"/>
              <a:ext cx="33792" cy="679220"/>
            </a:xfrm>
            <a:custGeom>
              <a:avLst/>
              <a:gdLst/>
              <a:ahLst/>
              <a:cxnLst/>
              <a:rect l="l" t="t" r="r" b="b"/>
              <a:pathLst>
                <a:path w="33792" h="679220">
                  <a:moveTo>
                    <a:pt x="33792" y="0"/>
                  </a:moveTo>
                  <a:lnTo>
                    <a:pt x="33792" y="0"/>
                  </a:lnTo>
                  <a:lnTo>
                    <a:pt x="33792" y="679220"/>
                  </a:lnTo>
                  <a:lnTo>
                    <a:pt x="33792" y="679220"/>
                  </a:lnTo>
                  <a:cubicBezTo>
                    <a:pt x="15130" y="679220"/>
                    <a:pt x="0" y="664091"/>
                    <a:pt x="0" y="645428"/>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6" name="AutoShape 6"/>
            <p:cNvSpPr/>
            <p:nvPr/>
          </p:nvSpPr>
          <p:spPr>
            <a:xfrm>
              <a:off x="613470" y="3587345"/>
              <a:ext cx="5229994" cy="280178"/>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tl.arange(</a:t>
              </a:r>
              <a:r>
                <a:rPr lang="en-US" sz="1200" b="0" i="0" u="none" strike="noStrike">
                  <a:solidFill>
                    <a:srgbClr val="009900"/>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en-US" sz="12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BLOCK_SIZE)</a:t>
              </a:r>
              <a:endParaRPr lang="en-US" sz="1200"/>
            </a:p>
          </p:txBody>
        </p:sp>
        <p:sp>
          <p:nvSpPr>
            <p:cNvPr id="7" name="Freeform 7"/>
            <p:cNvSpPr/>
            <p:nvPr/>
          </p:nvSpPr>
          <p:spPr>
            <a:xfrm>
              <a:off x="375935" y="4270777"/>
              <a:ext cx="5586585" cy="925438"/>
            </a:xfrm>
            <a:custGeom>
              <a:avLst/>
              <a:gdLst/>
              <a:ahLst/>
              <a:cxnLst/>
              <a:rect l="l" t="t" r="r" b="b"/>
              <a:pathLst>
                <a:path w="5586585" h="925438">
                  <a:moveTo>
                    <a:pt x="67918" y="0"/>
                  </a:moveTo>
                  <a:lnTo>
                    <a:pt x="5518667" y="0"/>
                  </a:lnTo>
                  <a:cubicBezTo>
                    <a:pt x="5556152" y="0"/>
                    <a:pt x="5586585" y="30433"/>
                    <a:pt x="5586585" y="67918"/>
                  </a:cubicBezTo>
                  <a:lnTo>
                    <a:pt x="5586585" y="857519"/>
                  </a:lnTo>
                  <a:cubicBezTo>
                    <a:pt x="5586585" y="895005"/>
                    <a:pt x="5556152" y="925438"/>
                    <a:pt x="5518667" y="925438"/>
                  </a:cubicBezTo>
                  <a:lnTo>
                    <a:pt x="67918" y="925438"/>
                  </a:lnTo>
                  <a:cubicBezTo>
                    <a:pt x="30433" y="925438"/>
                    <a:pt x="0" y="895005"/>
                    <a:pt x="0" y="857519"/>
                  </a:cubicBezTo>
                  <a:lnTo>
                    <a:pt x="0" y="67918"/>
                  </a:lnTo>
                  <a:cubicBezTo>
                    <a:pt x="0" y="30433"/>
                    <a:pt x="30433" y="0"/>
                    <a:pt x="6791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Freeform 8"/>
            <p:cNvSpPr/>
            <p:nvPr/>
          </p:nvSpPr>
          <p:spPr>
            <a:xfrm>
              <a:off x="571119" y="4457487"/>
              <a:ext cx="203845" cy="203766"/>
            </a:xfrm>
            <a:custGeom>
              <a:avLst/>
              <a:gdLst/>
              <a:ahLst/>
              <a:cxnLst/>
              <a:rect l="l" t="t" r="r" b="b"/>
              <a:pathLst>
                <a:path w="203845" h="203766">
                  <a:moveTo>
                    <a:pt x="26266" y="90940"/>
                  </a:moveTo>
                  <a:cubicBezTo>
                    <a:pt x="31559" y="53925"/>
                    <a:pt x="63437" y="25471"/>
                    <a:pt x="101922" y="25471"/>
                  </a:cubicBezTo>
                  <a:cubicBezTo>
                    <a:pt x="123014" y="25471"/>
                    <a:pt x="142118" y="34027"/>
                    <a:pt x="155968" y="47837"/>
                  </a:cubicBezTo>
                  <a:cubicBezTo>
                    <a:pt x="156047" y="47917"/>
                    <a:pt x="156127" y="47996"/>
                    <a:pt x="156207" y="48076"/>
                  </a:cubicBezTo>
                  <a:lnTo>
                    <a:pt x="159231" y="50942"/>
                  </a:lnTo>
                  <a:lnTo>
                    <a:pt x="140168" y="50942"/>
                  </a:lnTo>
                  <a:cubicBezTo>
                    <a:pt x="133124" y="50942"/>
                    <a:pt x="127433" y="56633"/>
                    <a:pt x="127433" y="63677"/>
                  </a:cubicBezTo>
                  <a:cubicBezTo>
                    <a:pt x="127433" y="70721"/>
                    <a:pt x="133124" y="76412"/>
                    <a:pt x="140168" y="76412"/>
                  </a:cubicBezTo>
                  <a:lnTo>
                    <a:pt x="191109" y="76412"/>
                  </a:lnTo>
                  <a:cubicBezTo>
                    <a:pt x="198154" y="76412"/>
                    <a:pt x="203845" y="70721"/>
                    <a:pt x="203845" y="63677"/>
                  </a:cubicBezTo>
                  <a:lnTo>
                    <a:pt x="203845" y="12736"/>
                  </a:lnTo>
                  <a:cubicBezTo>
                    <a:pt x="203845" y="5691"/>
                    <a:pt x="198154" y="0"/>
                    <a:pt x="191109" y="0"/>
                  </a:cubicBezTo>
                  <a:cubicBezTo>
                    <a:pt x="184065" y="0"/>
                    <a:pt x="178374" y="5691"/>
                    <a:pt x="178374" y="12736"/>
                  </a:cubicBezTo>
                  <a:lnTo>
                    <a:pt x="178374" y="33988"/>
                  </a:lnTo>
                  <a:lnTo>
                    <a:pt x="173877" y="29729"/>
                  </a:lnTo>
                  <a:cubicBezTo>
                    <a:pt x="155450" y="11382"/>
                    <a:pt x="129980" y="0"/>
                    <a:pt x="101922" y="0"/>
                  </a:cubicBezTo>
                  <a:cubicBezTo>
                    <a:pt x="50582" y="0"/>
                    <a:pt x="8117" y="37967"/>
                    <a:pt x="1074" y="87357"/>
                  </a:cubicBezTo>
                  <a:cubicBezTo>
                    <a:pt x="78" y="94322"/>
                    <a:pt x="4894" y="100769"/>
                    <a:pt x="11859" y="101764"/>
                  </a:cubicBezTo>
                  <a:cubicBezTo>
                    <a:pt x="18824" y="102760"/>
                    <a:pt x="25271" y="97903"/>
                    <a:pt x="26266" y="90978"/>
                  </a:cubicBezTo>
                  <a:close/>
                  <a:moveTo>
                    <a:pt x="202770" y="116409"/>
                  </a:moveTo>
                  <a:cubicBezTo>
                    <a:pt x="203765" y="109445"/>
                    <a:pt x="198910" y="102997"/>
                    <a:pt x="191986" y="102003"/>
                  </a:cubicBezTo>
                  <a:cubicBezTo>
                    <a:pt x="185060" y="101007"/>
                    <a:pt x="178573" y="105863"/>
                    <a:pt x="177577" y="112787"/>
                  </a:cubicBezTo>
                  <a:cubicBezTo>
                    <a:pt x="172285" y="149800"/>
                    <a:pt x="140407" y="178255"/>
                    <a:pt x="101922" y="178255"/>
                  </a:cubicBezTo>
                  <a:cubicBezTo>
                    <a:pt x="80829" y="178255"/>
                    <a:pt x="61725" y="169699"/>
                    <a:pt x="47876" y="155889"/>
                  </a:cubicBezTo>
                  <a:cubicBezTo>
                    <a:pt x="47797" y="155809"/>
                    <a:pt x="47717" y="155730"/>
                    <a:pt x="47637" y="155650"/>
                  </a:cubicBezTo>
                  <a:lnTo>
                    <a:pt x="44613" y="152785"/>
                  </a:lnTo>
                  <a:lnTo>
                    <a:pt x="63676" y="152785"/>
                  </a:lnTo>
                  <a:cubicBezTo>
                    <a:pt x="70720" y="152785"/>
                    <a:pt x="76410" y="147094"/>
                    <a:pt x="76410" y="140049"/>
                  </a:cubicBezTo>
                  <a:cubicBezTo>
                    <a:pt x="76410" y="133005"/>
                    <a:pt x="70720" y="127314"/>
                    <a:pt x="63676" y="127314"/>
                  </a:cubicBezTo>
                  <a:lnTo>
                    <a:pt x="12775" y="127354"/>
                  </a:lnTo>
                  <a:cubicBezTo>
                    <a:pt x="9393" y="127354"/>
                    <a:pt x="6127" y="128707"/>
                    <a:pt x="3740" y="131135"/>
                  </a:cubicBezTo>
                  <a:cubicBezTo>
                    <a:pt x="1352" y="133562"/>
                    <a:pt x="0" y="136787"/>
                    <a:pt x="39" y="140209"/>
                  </a:cubicBezTo>
                  <a:lnTo>
                    <a:pt x="437" y="190751"/>
                  </a:lnTo>
                  <a:cubicBezTo>
                    <a:pt x="477" y="197796"/>
                    <a:pt x="6247" y="203448"/>
                    <a:pt x="13291" y="203368"/>
                  </a:cubicBezTo>
                  <a:cubicBezTo>
                    <a:pt x="20336" y="203288"/>
                    <a:pt x="25986" y="197557"/>
                    <a:pt x="25908" y="190513"/>
                  </a:cubicBezTo>
                  <a:lnTo>
                    <a:pt x="25749" y="170017"/>
                  </a:lnTo>
                  <a:lnTo>
                    <a:pt x="30007" y="174037"/>
                  </a:lnTo>
                  <a:cubicBezTo>
                    <a:pt x="48434" y="192383"/>
                    <a:pt x="73864" y="203766"/>
                    <a:pt x="101922" y="203766"/>
                  </a:cubicBezTo>
                  <a:cubicBezTo>
                    <a:pt x="153261" y="203766"/>
                    <a:pt x="195726" y="165799"/>
                    <a:pt x="202770" y="11640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9" name="AutoShape 9"/>
            <p:cNvSpPr/>
            <p:nvPr/>
          </p:nvSpPr>
          <p:spPr>
            <a:xfrm>
              <a:off x="902350" y="4440243"/>
              <a:ext cx="4941570" cy="2374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Generer des indices de vecteur</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AutoShape 10"/>
            <p:cNvSpPr/>
            <p:nvPr/>
          </p:nvSpPr>
          <p:spPr>
            <a:xfrm>
              <a:off x="545688" y="4780096"/>
              <a:ext cx="5323387" cy="24621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Genere un tableau d'entiers consecutifs de start a end-1</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375935" y="5401949"/>
              <a:ext cx="5586585" cy="925438"/>
            </a:xfrm>
            <a:custGeom>
              <a:avLst/>
              <a:gdLst/>
              <a:ahLst/>
              <a:cxnLst/>
              <a:rect l="l" t="t" r="r" b="b"/>
              <a:pathLst>
                <a:path w="5586585" h="925438">
                  <a:moveTo>
                    <a:pt x="67918" y="0"/>
                  </a:moveTo>
                  <a:lnTo>
                    <a:pt x="5518667" y="0"/>
                  </a:lnTo>
                  <a:cubicBezTo>
                    <a:pt x="5556152" y="0"/>
                    <a:pt x="5586585" y="30433"/>
                    <a:pt x="5586585" y="67918"/>
                  </a:cubicBezTo>
                  <a:lnTo>
                    <a:pt x="5586585" y="857519"/>
                  </a:lnTo>
                  <a:cubicBezTo>
                    <a:pt x="5586585" y="895005"/>
                    <a:pt x="5556152" y="925438"/>
                    <a:pt x="5518667" y="925438"/>
                  </a:cubicBezTo>
                  <a:lnTo>
                    <a:pt x="67918" y="925438"/>
                  </a:lnTo>
                  <a:cubicBezTo>
                    <a:pt x="30433" y="925438"/>
                    <a:pt x="0" y="895005"/>
                    <a:pt x="0" y="857519"/>
                  </a:cubicBezTo>
                  <a:lnTo>
                    <a:pt x="0" y="67918"/>
                  </a:lnTo>
                  <a:cubicBezTo>
                    <a:pt x="0" y="30433"/>
                    <a:pt x="30433" y="0"/>
                    <a:pt x="6791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2" name="Freeform 12"/>
            <p:cNvSpPr/>
            <p:nvPr/>
          </p:nvSpPr>
          <p:spPr>
            <a:xfrm>
              <a:off x="570959" y="5584167"/>
              <a:ext cx="204164" cy="204125"/>
            </a:xfrm>
            <a:custGeom>
              <a:avLst/>
              <a:gdLst/>
              <a:ahLst/>
              <a:cxnLst/>
              <a:rect l="l" t="t" r="r" b="b"/>
              <a:pathLst>
                <a:path w="204164" h="204125">
                  <a:moveTo>
                    <a:pt x="113225" y="3980"/>
                  </a:moveTo>
                  <a:cubicBezTo>
                    <a:pt x="106341" y="0"/>
                    <a:pt x="97824" y="0"/>
                    <a:pt x="90939" y="3980"/>
                  </a:cubicBezTo>
                  <a:lnTo>
                    <a:pt x="57429" y="23321"/>
                  </a:lnTo>
                  <a:cubicBezTo>
                    <a:pt x="50544" y="27301"/>
                    <a:pt x="46285" y="34665"/>
                    <a:pt x="46285" y="42624"/>
                  </a:cubicBezTo>
                  <a:lnTo>
                    <a:pt x="46285" y="83179"/>
                  </a:lnTo>
                  <a:lnTo>
                    <a:pt x="11143" y="103474"/>
                  </a:lnTo>
                  <a:cubicBezTo>
                    <a:pt x="4258" y="107455"/>
                    <a:pt x="0" y="114817"/>
                    <a:pt x="0" y="122777"/>
                  </a:cubicBezTo>
                  <a:lnTo>
                    <a:pt x="0" y="161499"/>
                  </a:lnTo>
                  <a:cubicBezTo>
                    <a:pt x="0" y="169460"/>
                    <a:pt x="4258" y="176823"/>
                    <a:pt x="11143" y="180802"/>
                  </a:cubicBezTo>
                  <a:lnTo>
                    <a:pt x="44693" y="200144"/>
                  </a:lnTo>
                  <a:cubicBezTo>
                    <a:pt x="51578" y="204124"/>
                    <a:pt x="60095" y="204124"/>
                    <a:pt x="66979" y="200144"/>
                  </a:cubicBezTo>
                  <a:lnTo>
                    <a:pt x="102122" y="179847"/>
                  </a:lnTo>
                  <a:lnTo>
                    <a:pt x="137262" y="200144"/>
                  </a:lnTo>
                  <a:cubicBezTo>
                    <a:pt x="144148" y="204124"/>
                    <a:pt x="152665" y="204124"/>
                    <a:pt x="159550" y="200144"/>
                  </a:cubicBezTo>
                  <a:lnTo>
                    <a:pt x="193021" y="180802"/>
                  </a:lnTo>
                  <a:cubicBezTo>
                    <a:pt x="199907" y="176823"/>
                    <a:pt x="204164" y="169460"/>
                    <a:pt x="204164" y="161499"/>
                  </a:cubicBezTo>
                  <a:lnTo>
                    <a:pt x="204164" y="122777"/>
                  </a:lnTo>
                  <a:cubicBezTo>
                    <a:pt x="204164" y="114817"/>
                    <a:pt x="199907" y="107455"/>
                    <a:pt x="193021" y="103474"/>
                  </a:cubicBezTo>
                  <a:lnTo>
                    <a:pt x="157878" y="83179"/>
                  </a:lnTo>
                  <a:lnTo>
                    <a:pt x="157878" y="42624"/>
                  </a:lnTo>
                  <a:cubicBezTo>
                    <a:pt x="157878" y="34665"/>
                    <a:pt x="153620" y="27301"/>
                    <a:pt x="146735" y="23321"/>
                  </a:cubicBezTo>
                  <a:lnTo>
                    <a:pt x="113225" y="3980"/>
                  </a:lnTo>
                  <a:close/>
                  <a:moveTo>
                    <a:pt x="92531" y="120946"/>
                  </a:moveTo>
                  <a:lnTo>
                    <a:pt x="92531" y="163331"/>
                  </a:lnTo>
                  <a:lnTo>
                    <a:pt x="57388" y="183628"/>
                  </a:lnTo>
                  <a:cubicBezTo>
                    <a:pt x="56911" y="183907"/>
                    <a:pt x="56355" y="184066"/>
                    <a:pt x="55797" y="184066"/>
                  </a:cubicBezTo>
                  <a:lnTo>
                    <a:pt x="55797" y="142157"/>
                  </a:lnTo>
                  <a:lnTo>
                    <a:pt x="92531" y="120946"/>
                  </a:lnTo>
                  <a:close/>
                  <a:moveTo>
                    <a:pt x="184623" y="121185"/>
                  </a:moveTo>
                  <a:cubicBezTo>
                    <a:pt x="184901" y="121662"/>
                    <a:pt x="185061" y="122220"/>
                    <a:pt x="185061" y="122777"/>
                  </a:cubicBezTo>
                  <a:lnTo>
                    <a:pt x="185061" y="161499"/>
                  </a:lnTo>
                  <a:cubicBezTo>
                    <a:pt x="185061" y="162654"/>
                    <a:pt x="184465" y="163689"/>
                    <a:pt x="183469" y="164246"/>
                  </a:cubicBezTo>
                  <a:lnTo>
                    <a:pt x="149919" y="183589"/>
                  </a:lnTo>
                  <a:cubicBezTo>
                    <a:pt x="149442" y="183867"/>
                    <a:pt x="148886" y="184025"/>
                    <a:pt x="148327" y="184025"/>
                  </a:cubicBezTo>
                  <a:lnTo>
                    <a:pt x="148327" y="142119"/>
                  </a:lnTo>
                  <a:lnTo>
                    <a:pt x="184623" y="121185"/>
                  </a:lnTo>
                  <a:close/>
                  <a:moveTo>
                    <a:pt x="138816" y="42624"/>
                  </a:moveTo>
                  <a:lnTo>
                    <a:pt x="138816" y="83179"/>
                  </a:lnTo>
                  <a:lnTo>
                    <a:pt x="102082" y="104390"/>
                  </a:lnTo>
                  <a:lnTo>
                    <a:pt x="102082" y="62005"/>
                  </a:lnTo>
                  <a:lnTo>
                    <a:pt x="138378" y="41070"/>
                  </a:lnTo>
                  <a:cubicBezTo>
                    <a:pt x="138656" y="41549"/>
                    <a:pt x="138816" y="42106"/>
                    <a:pt x="138816" y="4266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3" name="AutoShape 13"/>
            <p:cNvSpPr/>
            <p:nvPr/>
          </p:nvSpPr>
          <p:spPr>
            <a:xfrm>
              <a:off x="902350" y="5571813"/>
              <a:ext cx="4940300" cy="2374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Operations sur Tensor</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545688" y="5911273"/>
              <a:ext cx="5323387" cy="24621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Triton opere sur des </a:t>
              </a: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tensor</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et non sur des threads individuels</a:t>
              </a:r>
              <a:endParaRPr lang="en-US" sz="1200"/>
            </a:p>
          </p:txBody>
        </p:sp>
      </p:grpSp>
      <p:sp>
        <p:nvSpPr>
          <p:cNvPr id="15" name="Freeform 15"/>
          <p:cNvSpPr/>
          <p:nvPr/>
        </p:nvSpPr>
        <p:spPr>
          <a:xfrm>
            <a:off x="6267632" y="1256313"/>
            <a:ext cx="5586585" cy="5331877"/>
          </a:xfrm>
          <a:custGeom>
            <a:avLst/>
            <a:gdLst/>
            <a:ahLst/>
            <a:cxnLst/>
            <a:rect l="l" t="t" r="r" b="b"/>
            <a:pathLst>
              <a:path w="5586585" h="5331877">
                <a:moveTo>
                  <a:pt x="101892" y="0"/>
                </a:moveTo>
                <a:lnTo>
                  <a:pt x="5484693" y="0"/>
                </a:lnTo>
                <a:cubicBezTo>
                  <a:pt x="5540966" y="0"/>
                  <a:pt x="5586585" y="45618"/>
                  <a:pt x="5586585" y="101892"/>
                </a:cubicBezTo>
                <a:lnTo>
                  <a:pt x="5586585" y="5229984"/>
                </a:lnTo>
                <a:cubicBezTo>
                  <a:pt x="5586585" y="5286259"/>
                  <a:pt x="5540966" y="5331877"/>
                  <a:pt x="5484693" y="5331877"/>
                </a:cubicBezTo>
                <a:lnTo>
                  <a:pt x="101892" y="5331877"/>
                </a:lnTo>
                <a:cubicBezTo>
                  <a:pt x="45618" y="5331877"/>
                  <a:pt x="0" y="5286259"/>
                  <a:pt x="0" y="5229984"/>
                </a:cubicBezTo>
                <a:lnTo>
                  <a:pt x="0" y="101892"/>
                </a:lnTo>
                <a:cubicBezTo>
                  <a:pt x="0" y="45618"/>
                  <a:pt x="45618" y="0"/>
                  <a:pt x="1018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6" name="AutoShape 16"/>
          <p:cNvSpPr/>
          <p:nvPr/>
        </p:nvSpPr>
        <p:spPr>
          <a:xfrm>
            <a:off x="6428923" y="1460054"/>
            <a:ext cx="5263955" cy="237727"/>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Comparaison operation vectorielle vs scalaire</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6488270" y="1901530"/>
            <a:ext cx="5161987" cy="2241426"/>
          </a:xfrm>
          <a:custGeom>
            <a:avLst/>
            <a:gdLst/>
            <a:ahLst/>
            <a:cxnLst/>
            <a:rect l="l" t="t" r="r" b="b"/>
            <a:pathLst>
              <a:path w="5161987" h="2241426">
                <a:moveTo>
                  <a:pt x="33792" y="0"/>
                </a:moveTo>
                <a:lnTo>
                  <a:pt x="5094073" y="0"/>
                </a:lnTo>
                <a:cubicBezTo>
                  <a:pt x="5131581" y="0"/>
                  <a:pt x="5161987" y="30408"/>
                  <a:pt x="5161987" y="67915"/>
                </a:cubicBezTo>
                <a:lnTo>
                  <a:pt x="5161987" y="2173511"/>
                </a:lnTo>
                <a:cubicBezTo>
                  <a:pt x="5161987" y="2211020"/>
                  <a:pt x="5131581" y="2241426"/>
                  <a:pt x="5094073" y="2241426"/>
                </a:cubicBezTo>
                <a:lnTo>
                  <a:pt x="33792" y="2241426"/>
                </a:lnTo>
                <a:cubicBezTo>
                  <a:pt x="15130" y="2241426"/>
                  <a:pt x="0" y="2226297"/>
                  <a:pt x="0" y="2207633"/>
                </a:cubicBezTo>
                <a:lnTo>
                  <a:pt x="0" y="33792"/>
                </a:lnTo>
                <a:cubicBezTo>
                  <a:pt x="0" y="15142"/>
                  <a:pt x="15142" y="0"/>
                  <a:pt x="33792"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8" name="Freeform 18"/>
          <p:cNvSpPr/>
          <p:nvPr/>
        </p:nvSpPr>
        <p:spPr>
          <a:xfrm>
            <a:off x="6488270" y="1901530"/>
            <a:ext cx="33792" cy="2241426"/>
          </a:xfrm>
          <a:custGeom>
            <a:avLst/>
            <a:gdLst/>
            <a:ahLst/>
            <a:cxnLst/>
            <a:rect l="l" t="t" r="r" b="b"/>
            <a:pathLst>
              <a:path w="33792" h="2241426">
                <a:moveTo>
                  <a:pt x="33792" y="0"/>
                </a:moveTo>
                <a:lnTo>
                  <a:pt x="33792" y="0"/>
                </a:lnTo>
                <a:lnTo>
                  <a:pt x="33792" y="2241426"/>
                </a:lnTo>
                <a:lnTo>
                  <a:pt x="33792" y="2241426"/>
                </a:lnTo>
                <a:cubicBezTo>
                  <a:pt x="15130" y="2241426"/>
                  <a:pt x="0" y="2226297"/>
                  <a:pt x="0" y="2207633"/>
                </a:cubicBezTo>
                <a:lnTo>
                  <a:pt x="0" y="33792"/>
                </a:lnTo>
                <a:cubicBezTo>
                  <a:pt x="0" y="15142"/>
                  <a:pt x="15142" y="0"/>
                  <a:pt x="33792"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9" name="AutoShape 19"/>
          <p:cNvSpPr/>
          <p:nvPr/>
        </p:nvSpPr>
        <p:spPr>
          <a:xfrm>
            <a:off x="6674918" y="2071281"/>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CUDA (operation scalaire)</a:t>
            </a:r>
            <a:endParaRPr lang="en-US" sz="1200" b="1"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6691814" y="2308946"/>
            <a:ext cx="4788417" cy="1426362"/>
          </a:xfrm>
          <a:custGeom>
            <a:avLst/>
            <a:gdLst/>
            <a:ahLst/>
            <a:cxnLst/>
            <a:rect l="l" t="t" r="r" b="b"/>
            <a:pathLst>
              <a:path w="4788417" h="1426362">
                <a:moveTo>
                  <a:pt x="33792" y="0"/>
                </a:moveTo>
                <a:lnTo>
                  <a:pt x="4754455" y="0"/>
                </a:lnTo>
                <a:cubicBezTo>
                  <a:pt x="4773212" y="0"/>
                  <a:pt x="4788417" y="15204"/>
                  <a:pt x="4788417" y="33962"/>
                </a:cubicBezTo>
                <a:lnTo>
                  <a:pt x="4788417" y="1392400"/>
                </a:lnTo>
                <a:cubicBezTo>
                  <a:pt x="4788417" y="1411157"/>
                  <a:pt x="4773212" y="1426362"/>
                  <a:pt x="4754455" y="1426362"/>
                </a:cubicBezTo>
                <a:lnTo>
                  <a:pt x="33792" y="1426362"/>
                </a:lnTo>
                <a:cubicBezTo>
                  <a:pt x="15130" y="1426362"/>
                  <a:pt x="0" y="1411233"/>
                  <a:pt x="0" y="1392570"/>
                </a:cubicBezTo>
                <a:lnTo>
                  <a:pt x="0" y="33792"/>
                </a:lnTo>
                <a:cubicBezTo>
                  <a:pt x="0" y="15142"/>
                  <a:pt x="15142" y="0"/>
                  <a:pt x="3379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Freeform 21"/>
          <p:cNvSpPr/>
          <p:nvPr/>
        </p:nvSpPr>
        <p:spPr>
          <a:xfrm>
            <a:off x="6691814" y="2308946"/>
            <a:ext cx="33792" cy="1426362"/>
          </a:xfrm>
          <a:custGeom>
            <a:avLst/>
            <a:gdLst/>
            <a:ahLst/>
            <a:cxnLst/>
            <a:rect l="l" t="t" r="r" b="b"/>
            <a:pathLst>
              <a:path w="33792" h="1426362">
                <a:moveTo>
                  <a:pt x="33792" y="0"/>
                </a:moveTo>
                <a:lnTo>
                  <a:pt x="33792" y="0"/>
                </a:lnTo>
                <a:lnTo>
                  <a:pt x="33792" y="1426362"/>
                </a:lnTo>
                <a:lnTo>
                  <a:pt x="33792" y="1426362"/>
                </a:lnTo>
                <a:cubicBezTo>
                  <a:pt x="15130" y="1426362"/>
                  <a:pt x="0" y="1411233"/>
                  <a:pt x="0" y="1392570"/>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2" name="AutoShape 22"/>
          <p:cNvSpPr/>
          <p:nvPr/>
        </p:nvSpPr>
        <p:spPr>
          <a:xfrm>
            <a:off x="6810549" y="2410788"/>
            <a:ext cx="4635677" cy="122259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Calibri" panose="020F0502020204030204"/>
                <a:ea typeface="Calibri" panose="020F0502020204030204"/>
                <a:cs typeface="Calibri" panose="020F0502020204030204"/>
                <a:sym typeface="Calibri" panose="020F0502020204030204"/>
              </a:rPr>
              <a:t>// Chaque thread traite un element</a:t>
            </a:r>
            <a:r>
              <a:rPr lang="en-US" sz="1200" b="1" i="0" u="none" strike="noStrike">
                <a:solidFill>
                  <a:srgbClr val="0066CC"/>
                </a:solidFill>
                <a:latin typeface="Calibri" panose="020F0502020204030204"/>
                <a:ea typeface="Calibri" panose="020F0502020204030204"/>
                <a:cs typeface="Calibri" panose="020F0502020204030204"/>
                <a:sym typeface="Calibri" panose="020F0502020204030204"/>
              </a:rPr>
              <a:t>int</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idx = blockIdx.x * blockDim.x </a:t>
            </a:r>
            <a:endParaRPr lang="en-US" sz="1200"/>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 threadIdx.x;</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66CC"/>
                </a:solidFill>
                <a:latin typeface="Calibri" panose="020F0502020204030204"/>
                <a:ea typeface="Calibri" panose="020F0502020204030204"/>
                <a:cs typeface="Calibri" panose="020F0502020204030204"/>
                <a:sym typeface="Calibri" panose="020F0502020204030204"/>
              </a:rPr>
              <a:t>float</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x = input[idx];</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66CC"/>
                </a:solidFill>
                <a:latin typeface="Calibri" panose="020F0502020204030204"/>
                <a:ea typeface="Calibri" panose="020F0502020204030204"/>
                <a:cs typeface="Calibri" panose="020F0502020204030204"/>
                <a:sym typeface="Calibri" panose="020F0502020204030204"/>
              </a:rPr>
              <a:t>float</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 y = x * </a:t>
            </a:r>
            <a:r>
              <a:rPr lang="en-US" sz="1200" b="0" i="0" u="none" strike="noStrike">
                <a:solidFill>
                  <a:srgbClr val="009900"/>
                </a:solidFill>
                <a:latin typeface="Calibri" panose="020F0502020204030204"/>
                <a:ea typeface="Calibri" panose="020F0502020204030204"/>
                <a:cs typeface="Calibri" panose="020F0502020204030204"/>
                <a:sym typeface="Calibri" panose="020F0502020204030204"/>
              </a:rPr>
              <a:t>2.0</a:t>
            </a: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rPr>
              <a:t>output[idx] = y;</a:t>
            </a:r>
            <a:endParaRPr lang="en-US" sz="1200" b="0" i="0" u="none" strike="noStrike">
              <a:solidFill>
                <a:srgbClr val="1E2939"/>
              </a:solidFill>
              <a:latin typeface="Calibri" panose="020F0502020204030204"/>
              <a:ea typeface="Calibri" panose="020F0502020204030204"/>
              <a:cs typeface="Calibri" panose="020F0502020204030204"/>
              <a:sym typeface="Calibri" panose="020F0502020204030204"/>
            </a:endParaRPr>
          </a:p>
        </p:txBody>
      </p:sp>
      <p:sp>
        <p:nvSpPr>
          <p:cNvPr id="23" name="AutoShape 23"/>
          <p:cNvSpPr/>
          <p:nvPr/>
        </p:nvSpPr>
        <p:spPr>
          <a:xfrm>
            <a:off x="6674918" y="3802990"/>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Chaque thread traite une valeur scalaire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6488270" y="4346237"/>
            <a:ext cx="5161987" cy="2037660"/>
          </a:xfrm>
          <a:custGeom>
            <a:avLst/>
            <a:gdLst/>
            <a:ahLst/>
            <a:cxnLst/>
            <a:rect l="l" t="t" r="r" b="b"/>
            <a:pathLst>
              <a:path w="5161987" h="2037660">
                <a:moveTo>
                  <a:pt x="33792" y="0"/>
                </a:moveTo>
                <a:lnTo>
                  <a:pt x="5094073" y="0"/>
                </a:lnTo>
                <a:cubicBezTo>
                  <a:pt x="5131581" y="0"/>
                  <a:pt x="5161987" y="30408"/>
                  <a:pt x="5161987" y="67915"/>
                </a:cubicBezTo>
                <a:lnTo>
                  <a:pt x="5161987" y="1969745"/>
                </a:lnTo>
                <a:cubicBezTo>
                  <a:pt x="5161987" y="2007253"/>
                  <a:pt x="5131581" y="2037660"/>
                  <a:pt x="5094073" y="2037660"/>
                </a:cubicBezTo>
                <a:lnTo>
                  <a:pt x="33792" y="2037660"/>
                </a:lnTo>
                <a:cubicBezTo>
                  <a:pt x="15130" y="2037660"/>
                  <a:pt x="0" y="2022531"/>
                  <a:pt x="0" y="2003868"/>
                </a:cubicBezTo>
                <a:lnTo>
                  <a:pt x="0" y="33792"/>
                </a:lnTo>
                <a:cubicBezTo>
                  <a:pt x="0" y="15142"/>
                  <a:pt x="15142" y="0"/>
                  <a:pt x="33792"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Freeform 25"/>
          <p:cNvSpPr/>
          <p:nvPr/>
        </p:nvSpPr>
        <p:spPr>
          <a:xfrm>
            <a:off x="6488270" y="4346237"/>
            <a:ext cx="33792" cy="2037660"/>
          </a:xfrm>
          <a:custGeom>
            <a:avLst/>
            <a:gdLst/>
            <a:ahLst/>
            <a:cxnLst/>
            <a:rect l="l" t="t" r="r" b="b"/>
            <a:pathLst>
              <a:path w="33792" h="2037660">
                <a:moveTo>
                  <a:pt x="33792" y="0"/>
                </a:moveTo>
                <a:lnTo>
                  <a:pt x="33792" y="0"/>
                </a:lnTo>
                <a:lnTo>
                  <a:pt x="33792" y="2037660"/>
                </a:lnTo>
                <a:lnTo>
                  <a:pt x="33792" y="2037660"/>
                </a:lnTo>
                <a:cubicBezTo>
                  <a:pt x="15130" y="2037660"/>
                  <a:pt x="0" y="2022531"/>
                  <a:pt x="0" y="2003868"/>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6" name="AutoShape 26"/>
          <p:cNvSpPr/>
          <p:nvPr/>
        </p:nvSpPr>
        <p:spPr>
          <a:xfrm>
            <a:off x="6674918" y="4515988"/>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Triton (operation vectorielle)</a:t>
            </a:r>
            <a:endPar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6691814" y="4753657"/>
            <a:ext cx="4788417" cy="1222596"/>
          </a:xfrm>
          <a:custGeom>
            <a:avLst/>
            <a:gdLst/>
            <a:ahLst/>
            <a:cxnLst/>
            <a:rect l="l" t="t" r="r" b="b"/>
            <a:pathLst>
              <a:path w="4788417" h="1222596">
                <a:moveTo>
                  <a:pt x="33792" y="0"/>
                </a:moveTo>
                <a:lnTo>
                  <a:pt x="4754453" y="0"/>
                </a:lnTo>
                <a:cubicBezTo>
                  <a:pt x="4773211" y="0"/>
                  <a:pt x="4788417" y="15206"/>
                  <a:pt x="4788417" y="33964"/>
                </a:cubicBezTo>
                <a:lnTo>
                  <a:pt x="4788417" y="1188632"/>
                </a:lnTo>
                <a:cubicBezTo>
                  <a:pt x="4788417" y="1207390"/>
                  <a:pt x="4773211" y="1222596"/>
                  <a:pt x="4754453" y="1222596"/>
                </a:cubicBezTo>
                <a:lnTo>
                  <a:pt x="33792" y="1222596"/>
                </a:lnTo>
                <a:cubicBezTo>
                  <a:pt x="15130" y="1222596"/>
                  <a:pt x="0" y="1207466"/>
                  <a:pt x="0" y="1188804"/>
                </a:cubicBezTo>
                <a:lnTo>
                  <a:pt x="0" y="33792"/>
                </a:lnTo>
                <a:cubicBezTo>
                  <a:pt x="0" y="15142"/>
                  <a:pt x="15142" y="0"/>
                  <a:pt x="3379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8" name="Freeform 28"/>
          <p:cNvSpPr/>
          <p:nvPr/>
        </p:nvSpPr>
        <p:spPr>
          <a:xfrm>
            <a:off x="6691814" y="4753657"/>
            <a:ext cx="33792" cy="1222596"/>
          </a:xfrm>
          <a:custGeom>
            <a:avLst/>
            <a:gdLst/>
            <a:ahLst/>
            <a:cxnLst/>
            <a:rect l="l" t="t" r="r" b="b"/>
            <a:pathLst>
              <a:path w="33792" h="1222596">
                <a:moveTo>
                  <a:pt x="33792" y="0"/>
                </a:moveTo>
                <a:lnTo>
                  <a:pt x="33792" y="0"/>
                </a:lnTo>
                <a:lnTo>
                  <a:pt x="33792" y="1222596"/>
                </a:lnTo>
                <a:lnTo>
                  <a:pt x="33792" y="1222596"/>
                </a:lnTo>
                <a:cubicBezTo>
                  <a:pt x="15130" y="1222596"/>
                  <a:pt x="0" y="1207466"/>
                  <a:pt x="0" y="1188804"/>
                </a:cubicBezTo>
                <a:lnTo>
                  <a:pt x="0" y="33792"/>
                </a:lnTo>
                <a:cubicBezTo>
                  <a:pt x="0" y="15142"/>
                  <a:pt x="15142" y="0"/>
                  <a:pt x="337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9" name="AutoShape 29"/>
          <p:cNvSpPr/>
          <p:nvPr/>
        </p:nvSpPr>
        <p:spPr>
          <a:xfrm>
            <a:off x="6810549" y="4855495"/>
            <a:ext cx="4635677" cy="101883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Chaque program traite un vecteur</a:t>
            </a:r>
            <a:endParaRPr lang="en-US" sz="12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block_start + tl.arange(</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BLOCK)</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x = tl.load(ptr + offsets)</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y = x *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2.0</a:t>
            </a:r>
            <a:endPar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tl.store(out_ptr + offsets, y)</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6674918" y="6043960"/>
            <a:ext cx="4864914" cy="1698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Chaque program traite un vecteur (plusieurs elements)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pic>
        <p:nvPicPr>
          <p:cNvPr id="31" name="Picture 31"/>
          <p:cNvPicPr>
            <a:picLocks noChangeAspect="1"/>
          </p:cNvPicPr>
          <p:nvPr/>
        </p:nvPicPr>
        <p:blipFill>
          <a:blip r:embed="rId1"/>
          <a:srcRect/>
          <a:stretch>
            <a:fillRect/>
          </a:stretch>
        </p:blipFill>
        <p:spPr>
          <a:xfrm>
            <a:off x="373213" y="1516155"/>
            <a:ext cx="5586585" cy="144986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8595" y="600050"/>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Role du mask</a:t>
            </a:r>
            <a:endParaRPr lang="en-US" sz="2800"/>
          </a:p>
        </p:txBody>
      </p:sp>
      <p:grpSp>
        <p:nvGrpSpPr>
          <p:cNvPr id="3" name="Group 3"/>
          <p:cNvGrpSpPr/>
          <p:nvPr/>
        </p:nvGrpSpPr>
        <p:grpSpPr>
          <a:xfrm>
            <a:off x="333259" y="1451391"/>
            <a:ext cx="5635546" cy="635000"/>
            <a:chOff x="333259" y="1451391"/>
            <a:chExt cx="5635546" cy="635000"/>
          </a:xfrm>
        </p:grpSpPr>
        <p:sp>
          <p:nvSpPr>
            <p:cNvPr id="4" name="Freeform 4"/>
            <p:cNvSpPr/>
            <p:nvPr/>
          </p:nvSpPr>
          <p:spPr>
            <a:xfrm>
              <a:off x="333259" y="1451391"/>
              <a:ext cx="5635546" cy="635000"/>
            </a:xfrm>
            <a:custGeom>
              <a:avLst/>
              <a:gdLst/>
              <a:ahLst/>
              <a:cxnLst/>
              <a:rect l="l" t="t" r="r" b="b"/>
              <a:pathLst>
                <a:path w="5635546" h="635000">
                  <a:moveTo>
                    <a:pt x="31593" y="0"/>
                  </a:moveTo>
                  <a:lnTo>
                    <a:pt x="5540296" y="0"/>
                  </a:lnTo>
                  <a:cubicBezTo>
                    <a:pt x="5592865" y="0"/>
                    <a:pt x="5635546" y="42680"/>
                    <a:pt x="5635546" y="95250"/>
                  </a:cubicBezTo>
                  <a:lnTo>
                    <a:pt x="5635546" y="539750"/>
                  </a:lnTo>
                  <a:cubicBezTo>
                    <a:pt x="5635546" y="592320"/>
                    <a:pt x="5592865" y="635000"/>
                    <a:pt x="5540296" y="635000"/>
                  </a:cubicBezTo>
                  <a:lnTo>
                    <a:pt x="31593" y="635000"/>
                  </a:lnTo>
                  <a:cubicBezTo>
                    <a:pt x="14144" y="635000"/>
                    <a:pt x="0" y="620856"/>
                    <a:pt x="0" y="603407"/>
                  </a:cubicBezTo>
                  <a:lnTo>
                    <a:pt x="0" y="31593"/>
                  </a:lnTo>
                  <a:cubicBezTo>
                    <a:pt x="0" y="14155"/>
                    <a:pt x="14155" y="0"/>
                    <a:pt x="3159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5" name="Freeform 5"/>
            <p:cNvSpPr/>
            <p:nvPr/>
          </p:nvSpPr>
          <p:spPr>
            <a:xfrm>
              <a:off x="333259" y="1451391"/>
              <a:ext cx="31593" cy="635000"/>
            </a:xfrm>
            <a:custGeom>
              <a:avLst/>
              <a:gdLst/>
              <a:ahLst/>
              <a:cxnLst/>
              <a:rect l="l" t="t" r="r" b="b"/>
              <a:pathLst>
                <a:path w="31593" h="635000">
                  <a:moveTo>
                    <a:pt x="31593" y="0"/>
                  </a:moveTo>
                  <a:lnTo>
                    <a:pt x="31593" y="0"/>
                  </a:lnTo>
                  <a:lnTo>
                    <a:pt x="31593" y="635000"/>
                  </a:lnTo>
                  <a:lnTo>
                    <a:pt x="31593" y="635000"/>
                  </a:lnTo>
                  <a:cubicBezTo>
                    <a:pt x="14144" y="635000"/>
                    <a:pt x="0" y="620856"/>
                    <a:pt x="0" y="603407"/>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6" name="AutoShape 6"/>
            <p:cNvSpPr/>
            <p:nvPr/>
          </p:nvSpPr>
          <p:spPr>
            <a:xfrm>
              <a:off x="539533" y="1641872"/>
              <a:ext cx="5318125" cy="26193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mask = offsets &lt; n_elements</a:t>
              </a:r>
              <a:endParaRPr lang="en-US" sz="120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7" name="Group 7"/>
          <p:cNvGrpSpPr/>
          <p:nvPr/>
        </p:nvGrpSpPr>
        <p:grpSpPr>
          <a:xfrm>
            <a:off x="333259" y="2237056"/>
            <a:ext cx="5635546" cy="928688"/>
            <a:chOff x="333259" y="2237056"/>
            <a:chExt cx="5635546" cy="928688"/>
          </a:xfrm>
        </p:grpSpPr>
        <p:sp>
          <p:nvSpPr>
            <p:cNvPr id="8" name="Freeform 8"/>
            <p:cNvSpPr/>
            <p:nvPr/>
          </p:nvSpPr>
          <p:spPr>
            <a:xfrm>
              <a:off x="333259" y="2237056"/>
              <a:ext cx="5635546" cy="928688"/>
            </a:xfrm>
            <a:custGeom>
              <a:avLst/>
              <a:gdLst/>
              <a:ahLst/>
              <a:cxnLst/>
              <a:rect l="l" t="t" r="r" b="b"/>
              <a:pathLst>
                <a:path w="5635546" h="928688">
                  <a:moveTo>
                    <a:pt x="31593" y="0"/>
                  </a:moveTo>
                  <a:lnTo>
                    <a:pt x="5540300" y="0"/>
                  </a:lnTo>
                  <a:cubicBezTo>
                    <a:pt x="5592903" y="0"/>
                    <a:pt x="5635546" y="42643"/>
                    <a:pt x="5635546" y="95246"/>
                  </a:cubicBezTo>
                  <a:lnTo>
                    <a:pt x="5635546" y="833441"/>
                  </a:lnTo>
                  <a:cubicBezTo>
                    <a:pt x="5635546" y="886043"/>
                    <a:pt x="5592903" y="928688"/>
                    <a:pt x="5540300" y="928688"/>
                  </a:cubicBezTo>
                  <a:lnTo>
                    <a:pt x="31593" y="928688"/>
                  </a:lnTo>
                  <a:cubicBezTo>
                    <a:pt x="14144" y="928688"/>
                    <a:pt x="0" y="914544"/>
                    <a:pt x="0" y="897095"/>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9" name="Freeform 9"/>
            <p:cNvSpPr/>
            <p:nvPr/>
          </p:nvSpPr>
          <p:spPr>
            <a:xfrm>
              <a:off x="333259" y="2237056"/>
              <a:ext cx="31593" cy="928688"/>
            </a:xfrm>
            <a:custGeom>
              <a:avLst/>
              <a:gdLst/>
              <a:ahLst/>
              <a:cxnLst/>
              <a:rect l="l" t="t" r="r" b="b"/>
              <a:pathLst>
                <a:path w="31593" h="928688">
                  <a:moveTo>
                    <a:pt x="31593" y="0"/>
                  </a:moveTo>
                  <a:lnTo>
                    <a:pt x="31593" y="0"/>
                  </a:lnTo>
                  <a:lnTo>
                    <a:pt x="31593" y="928688"/>
                  </a:lnTo>
                  <a:lnTo>
                    <a:pt x="31593" y="928688"/>
                  </a:lnTo>
                  <a:cubicBezTo>
                    <a:pt x="14144" y="928688"/>
                    <a:pt x="0" y="914544"/>
                    <a:pt x="0" y="897095"/>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Freeform 10"/>
            <p:cNvSpPr/>
            <p:nvPr/>
          </p:nvSpPr>
          <p:spPr>
            <a:xfrm>
              <a:off x="569297" y="2443392"/>
              <a:ext cx="178669" cy="190202"/>
            </a:xfrm>
            <a:custGeom>
              <a:avLst/>
              <a:gdLst/>
              <a:ahLst/>
              <a:cxnLst/>
              <a:rect l="l" t="t" r="r" b="b"/>
              <a:pathLst>
                <a:path w="178669" h="190202">
                  <a:moveTo>
                    <a:pt x="89298" y="0"/>
                  </a:moveTo>
                  <a:cubicBezTo>
                    <a:pt x="91010" y="0"/>
                    <a:pt x="92721" y="372"/>
                    <a:pt x="94284" y="1080"/>
                  </a:cubicBezTo>
                  <a:lnTo>
                    <a:pt x="164382" y="30806"/>
                  </a:lnTo>
                  <a:cubicBezTo>
                    <a:pt x="172567" y="34268"/>
                    <a:pt x="178669" y="42342"/>
                    <a:pt x="178632" y="52090"/>
                  </a:cubicBezTo>
                  <a:cubicBezTo>
                    <a:pt x="178446" y="88999"/>
                    <a:pt x="163267" y="156530"/>
                    <a:pt x="99158" y="187226"/>
                  </a:cubicBezTo>
                  <a:cubicBezTo>
                    <a:pt x="92944" y="190202"/>
                    <a:pt x="85725" y="190202"/>
                    <a:pt x="79513" y="187226"/>
                  </a:cubicBezTo>
                  <a:cubicBezTo>
                    <a:pt x="15367" y="156530"/>
                    <a:pt x="224" y="88999"/>
                    <a:pt x="39" y="52090"/>
                  </a:cubicBezTo>
                  <a:cubicBezTo>
                    <a:pt x="0" y="42342"/>
                    <a:pt x="6103" y="34268"/>
                    <a:pt x="14289" y="30806"/>
                  </a:cubicBezTo>
                  <a:lnTo>
                    <a:pt x="84349" y="1080"/>
                  </a:lnTo>
                  <a:cubicBezTo>
                    <a:pt x="85912" y="372"/>
                    <a:pt x="87586" y="0"/>
                    <a:pt x="89298" y="0"/>
                  </a:cubicBezTo>
                  <a:close/>
                  <a:moveTo>
                    <a:pt x="89298" y="24854"/>
                  </a:moveTo>
                  <a:lnTo>
                    <a:pt x="89298" y="165534"/>
                  </a:lnTo>
                  <a:cubicBezTo>
                    <a:pt x="140644" y="140680"/>
                    <a:pt x="154448" y="85613"/>
                    <a:pt x="154782" y="52648"/>
                  </a:cubicBezTo>
                  <a:lnTo>
                    <a:pt x="89298" y="24892"/>
                  </a:lnTo>
                  <a:lnTo>
                    <a:pt x="89298" y="24892"/>
                  </a:lnTo>
                  <a:close/>
                </a:path>
              </a:pathLst>
            </a:custGeom>
            <a:solidFill>
              <a:srgbClr val="A6A6A6">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1" name="AutoShape 11"/>
            <p:cNvSpPr/>
            <p:nvPr/>
          </p:nvSpPr>
          <p:spPr>
            <a:xfrm>
              <a:off x="873009" y="2427556"/>
              <a:ext cx="182562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Role principal</a:t>
              </a:r>
              <a:endPar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539533" y="2744998"/>
              <a:ext cx="5310188" cy="23018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1"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Empecher le dernier block de depasser les limites</a:t>
              </a:r>
              <a:r>
                <a:rPr lang="en-US" sz="1200" b="0"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 lors de l'acces memoire</a:t>
              </a:r>
              <a:endParaRPr lang="en-US" sz="1200"/>
            </a:p>
          </p:txBody>
        </p:sp>
      </p:grpSp>
      <p:sp>
        <p:nvSpPr>
          <p:cNvPr id="13" name="Freeform 13"/>
          <p:cNvSpPr/>
          <p:nvPr/>
        </p:nvSpPr>
        <p:spPr>
          <a:xfrm>
            <a:off x="6222953" y="1174517"/>
            <a:ext cx="5651500" cy="1079500"/>
          </a:xfrm>
          <a:custGeom>
            <a:avLst/>
            <a:gdLst/>
            <a:ahLst/>
            <a:cxnLst/>
            <a:rect l="l" t="t" r="r" b="b"/>
            <a:pathLst>
              <a:path w="5651500" h="1079500">
                <a:moveTo>
                  <a:pt x="63496" y="0"/>
                </a:moveTo>
                <a:lnTo>
                  <a:pt x="5588004" y="0"/>
                </a:lnTo>
                <a:cubicBezTo>
                  <a:pt x="5623072" y="0"/>
                  <a:pt x="5651500" y="28428"/>
                  <a:pt x="5651500" y="63496"/>
                </a:cubicBezTo>
                <a:lnTo>
                  <a:pt x="5651500" y="1016004"/>
                </a:lnTo>
                <a:cubicBezTo>
                  <a:pt x="5651500" y="1051072"/>
                  <a:pt x="5623072" y="1079500"/>
                  <a:pt x="5588004" y="1079500"/>
                </a:cubicBezTo>
                <a:lnTo>
                  <a:pt x="63496" y="1079500"/>
                </a:lnTo>
                <a:cubicBezTo>
                  <a:pt x="28428" y="1079500"/>
                  <a:pt x="0" y="1051072"/>
                  <a:pt x="0" y="1016004"/>
                </a:cubicBezTo>
                <a:lnTo>
                  <a:pt x="0" y="63496"/>
                </a:lnTo>
                <a:cubicBezTo>
                  <a:pt x="0" y="28452"/>
                  <a:pt x="28452" y="0"/>
                  <a:pt x="634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05466" y="1349077"/>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4" y="58638"/>
                  <a:pt x="71289" y="58638"/>
                  <a:pt x="74748" y="62136"/>
                </a:cubicBezTo>
                <a:lnTo>
                  <a:pt x="95213" y="82600"/>
                </a:lnTo>
                <a:lnTo>
                  <a:pt x="115677" y="62136"/>
                </a:lnTo>
                <a:cubicBezTo>
                  <a:pt x="119174" y="58638"/>
                  <a:pt x="124830" y="58638"/>
                  <a:pt x="128290" y="62136"/>
                </a:cubicBezTo>
                <a:cubicBezTo>
                  <a:pt x="131750" y="65634"/>
                  <a:pt x="131787" y="71289"/>
                  <a:pt x="128290" y="74748"/>
                </a:cubicBezTo>
                <a:lnTo>
                  <a:pt x="107826" y="95213"/>
                </a:lnTo>
                <a:lnTo>
                  <a:pt x="128290" y="115677"/>
                </a:lnTo>
                <a:cubicBezTo>
                  <a:pt x="131787" y="119174"/>
                  <a:pt x="131787" y="124830"/>
                  <a:pt x="128290" y="128290"/>
                </a:cubicBezTo>
                <a:cubicBezTo>
                  <a:pt x="124791" y="131750"/>
                  <a:pt x="119137" y="131787"/>
                  <a:pt x="115677" y="128290"/>
                </a:cubicBezTo>
                <a:lnTo>
                  <a:pt x="95213" y="107826"/>
                </a:lnTo>
                <a:lnTo>
                  <a:pt x="74748" y="128290"/>
                </a:lnTo>
                <a:cubicBezTo>
                  <a:pt x="71251" y="131787"/>
                  <a:pt x="65596" y="131787"/>
                  <a:pt x="62136" y="128290"/>
                </a:cubicBezTo>
                <a:cubicBezTo>
                  <a:pt x="58675" y="124791"/>
                  <a:pt x="58638" y="119137"/>
                  <a:pt x="62136" y="115677"/>
                </a:cubicBezTo>
                <a:lnTo>
                  <a:pt x="82600" y="95213"/>
                </a:lnTo>
                <a:lnTo>
                  <a:pt x="62136" y="74748"/>
                </a:lnTo>
                <a:cubicBezTo>
                  <a:pt x="58638" y="71251"/>
                  <a:pt x="58638" y="65595"/>
                  <a:pt x="62136" y="62136"/>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AutoShape 15"/>
          <p:cNvSpPr/>
          <p:nvPr/>
        </p:nvSpPr>
        <p:spPr>
          <a:xfrm>
            <a:off x="6714974" y="1333221"/>
            <a:ext cx="2576312"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Lorsque offsets &gt;= n_elements</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AutoShape 16"/>
          <p:cNvSpPr/>
          <p:nvPr/>
        </p:nvSpPr>
        <p:spPr>
          <a:xfrm>
            <a:off x="6381654" y="1650682"/>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load</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n'accede pas a la memoire</a:t>
            </a:r>
            <a:endParaRPr lang="en-US" sz="1200"/>
          </a:p>
        </p:txBody>
      </p:sp>
      <p:sp>
        <p:nvSpPr>
          <p:cNvPr id="17" name="AutoShape 17"/>
          <p:cNvSpPr/>
          <p:nvPr/>
        </p:nvSpPr>
        <p:spPr>
          <a:xfrm>
            <a:off x="6381654" y="1904655"/>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store</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n'ecrit pas dans la memoire</a:t>
            </a:r>
            <a:endParaRPr lang="en-US" sz="1200"/>
          </a:p>
        </p:txBody>
      </p:sp>
      <p:sp>
        <p:nvSpPr>
          <p:cNvPr id="18" name="Freeform 18"/>
          <p:cNvSpPr/>
          <p:nvPr/>
        </p:nvSpPr>
        <p:spPr>
          <a:xfrm>
            <a:off x="6222953" y="2380816"/>
            <a:ext cx="5651500" cy="1079500"/>
          </a:xfrm>
          <a:custGeom>
            <a:avLst/>
            <a:gdLst/>
            <a:ahLst/>
            <a:cxnLst/>
            <a:rect l="l" t="t" r="r" b="b"/>
            <a:pathLst>
              <a:path w="5651500" h="1079500">
                <a:moveTo>
                  <a:pt x="63496" y="0"/>
                </a:moveTo>
                <a:lnTo>
                  <a:pt x="5588004" y="0"/>
                </a:lnTo>
                <a:cubicBezTo>
                  <a:pt x="5623072" y="0"/>
                  <a:pt x="5651500" y="28428"/>
                  <a:pt x="5651500" y="63496"/>
                </a:cubicBezTo>
                <a:lnTo>
                  <a:pt x="5651500" y="1016004"/>
                </a:lnTo>
                <a:cubicBezTo>
                  <a:pt x="5651500" y="1051072"/>
                  <a:pt x="5623072" y="1079500"/>
                  <a:pt x="5588004" y="1079500"/>
                </a:cubicBezTo>
                <a:lnTo>
                  <a:pt x="63496" y="1079500"/>
                </a:lnTo>
                <a:cubicBezTo>
                  <a:pt x="28428" y="1079500"/>
                  <a:pt x="0" y="1051072"/>
                  <a:pt x="0" y="1016004"/>
                </a:cubicBezTo>
                <a:lnTo>
                  <a:pt x="0" y="63496"/>
                </a:lnTo>
                <a:cubicBezTo>
                  <a:pt x="0" y="28452"/>
                  <a:pt x="28452" y="0"/>
                  <a:pt x="634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9" name="Freeform 19"/>
          <p:cNvSpPr/>
          <p:nvPr/>
        </p:nvSpPr>
        <p:spPr>
          <a:xfrm>
            <a:off x="6405466" y="25553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00A63E">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0" name="AutoShape 20"/>
          <p:cNvSpPr/>
          <p:nvPr/>
        </p:nvSpPr>
        <p:spPr>
          <a:xfrm>
            <a:off x="6714974" y="2539516"/>
            <a:ext cx="2177413"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Lorsque offsets &lt; n_elements</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6381654" y="2856981"/>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load</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lit normalement les donnees</a:t>
            </a:r>
            <a:endParaRPr lang="en-US" sz="1200"/>
          </a:p>
        </p:txBody>
      </p:sp>
      <p:sp>
        <p:nvSpPr>
          <p:cNvPr id="22" name="AutoShape 22"/>
          <p:cNvSpPr/>
          <p:nvPr/>
        </p:nvSpPr>
        <p:spPr>
          <a:xfrm>
            <a:off x="6381654" y="3110950"/>
            <a:ext cx="5397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store</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ecrit normalement les resultats</a:t>
            </a:r>
            <a:endParaRPr lang="en-US" sz="1200"/>
          </a:p>
        </p:txBody>
      </p:sp>
      <p:grpSp>
        <p:nvGrpSpPr>
          <p:cNvPr id="23" name="Group 23"/>
          <p:cNvGrpSpPr/>
          <p:nvPr/>
        </p:nvGrpSpPr>
        <p:grpSpPr>
          <a:xfrm>
            <a:off x="317463" y="3650607"/>
            <a:ext cx="11557000" cy="2625938"/>
            <a:chOff x="317463" y="3650607"/>
            <a:chExt cx="11557000" cy="2625938"/>
          </a:xfrm>
        </p:grpSpPr>
        <p:sp>
          <p:nvSpPr>
            <p:cNvPr id="24" name="Freeform 24"/>
            <p:cNvSpPr/>
            <p:nvPr/>
          </p:nvSpPr>
          <p:spPr>
            <a:xfrm>
              <a:off x="317463" y="3650607"/>
              <a:ext cx="11557000" cy="2625938"/>
            </a:xfrm>
            <a:custGeom>
              <a:avLst/>
              <a:gdLst/>
              <a:ahLst/>
              <a:cxnLst/>
              <a:rect l="l" t="t" r="r" b="b"/>
              <a:pathLst>
                <a:path w="11557000" h="2625938">
                  <a:moveTo>
                    <a:pt x="95240" y="0"/>
                  </a:moveTo>
                  <a:lnTo>
                    <a:pt x="11461760" y="0"/>
                  </a:lnTo>
                  <a:cubicBezTo>
                    <a:pt x="11514360" y="0"/>
                    <a:pt x="11557000" y="32355"/>
                    <a:pt x="11557000" y="72266"/>
                  </a:cubicBezTo>
                  <a:lnTo>
                    <a:pt x="11557000" y="2553672"/>
                  </a:lnTo>
                  <a:cubicBezTo>
                    <a:pt x="11557000" y="2593584"/>
                    <a:pt x="11514360" y="2625938"/>
                    <a:pt x="11461760" y="2625938"/>
                  </a:cubicBezTo>
                  <a:lnTo>
                    <a:pt x="95240" y="2625938"/>
                  </a:lnTo>
                  <a:cubicBezTo>
                    <a:pt x="42640" y="2625938"/>
                    <a:pt x="0" y="2593584"/>
                    <a:pt x="0" y="2553672"/>
                  </a:cubicBezTo>
                  <a:lnTo>
                    <a:pt x="0" y="72266"/>
                  </a:lnTo>
                  <a:cubicBezTo>
                    <a:pt x="0" y="32381"/>
                    <a:pt x="42676" y="0"/>
                    <a:pt x="9524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AutoShape 25"/>
            <p:cNvSpPr/>
            <p:nvPr/>
          </p:nvSpPr>
          <p:spPr>
            <a:xfrm>
              <a:off x="507941" y="3841083"/>
              <a:ext cx="11255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Exemple d'utilisation du mask</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Freeform 26"/>
            <p:cNvSpPr/>
            <p:nvPr/>
          </p:nvSpPr>
          <p:spPr>
            <a:xfrm>
              <a:off x="523737" y="4190326"/>
              <a:ext cx="11160046" cy="1903628"/>
            </a:xfrm>
            <a:custGeom>
              <a:avLst/>
              <a:gdLst/>
              <a:ahLst/>
              <a:cxnLst/>
              <a:rect l="l" t="t" r="r" b="b"/>
              <a:pathLst>
                <a:path w="11160046" h="1903628">
                  <a:moveTo>
                    <a:pt x="31593" y="0"/>
                  </a:moveTo>
                  <a:lnTo>
                    <a:pt x="11096535" y="0"/>
                  </a:lnTo>
                  <a:cubicBezTo>
                    <a:pt x="11131611" y="0"/>
                    <a:pt x="11160046" y="19825"/>
                    <a:pt x="11160046" y="44279"/>
                  </a:cubicBezTo>
                  <a:lnTo>
                    <a:pt x="11160046" y="1859350"/>
                  </a:lnTo>
                  <a:cubicBezTo>
                    <a:pt x="11160046" y="1883804"/>
                    <a:pt x="11131611" y="1903628"/>
                    <a:pt x="11096535" y="1903628"/>
                  </a:cubicBezTo>
                  <a:lnTo>
                    <a:pt x="31593" y="1903628"/>
                  </a:lnTo>
                  <a:cubicBezTo>
                    <a:pt x="14144" y="1903628"/>
                    <a:pt x="0" y="1893767"/>
                    <a:pt x="0" y="1881603"/>
                  </a:cubicBezTo>
                  <a:lnTo>
                    <a:pt x="0" y="22026"/>
                  </a:lnTo>
                  <a:cubicBezTo>
                    <a:pt x="0" y="9869"/>
                    <a:pt x="14155" y="0"/>
                    <a:pt x="3159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27" name="Freeform 27"/>
            <p:cNvSpPr/>
            <p:nvPr/>
          </p:nvSpPr>
          <p:spPr>
            <a:xfrm>
              <a:off x="523736" y="4190326"/>
              <a:ext cx="45719" cy="1854533"/>
            </a:xfrm>
            <a:custGeom>
              <a:avLst/>
              <a:gdLst/>
              <a:ahLst/>
              <a:cxnLst/>
              <a:rect l="l" t="t" r="r" b="b"/>
              <a:pathLst>
                <a:path w="45719" h="1854533">
                  <a:moveTo>
                    <a:pt x="45719" y="0"/>
                  </a:moveTo>
                  <a:lnTo>
                    <a:pt x="45719" y="0"/>
                  </a:lnTo>
                  <a:lnTo>
                    <a:pt x="45719" y="1854533"/>
                  </a:lnTo>
                  <a:lnTo>
                    <a:pt x="45719" y="1854533"/>
                  </a:lnTo>
                  <a:cubicBezTo>
                    <a:pt x="20469" y="1854533"/>
                    <a:pt x="0" y="1844926"/>
                    <a:pt x="0" y="1833076"/>
                  </a:cubicBezTo>
                  <a:lnTo>
                    <a:pt x="0" y="21457"/>
                  </a:lnTo>
                  <a:cubicBezTo>
                    <a:pt x="0" y="9615"/>
                    <a:pt x="20486" y="0"/>
                    <a:pt x="4571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8" name="AutoShape 28"/>
            <p:cNvSpPr/>
            <p:nvPr/>
          </p:nvSpPr>
          <p:spPr>
            <a:xfrm>
              <a:off x="666518" y="3800045"/>
              <a:ext cx="10953750" cy="2476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rPr>
                <a:t># Creer le mask</a:t>
              </a:r>
              <a:endParaRPr lang="en-US" sz="1200"/>
            </a:p>
            <a:p>
              <a:pPr indent="0" algn="l">
                <a:lnSpc>
                  <a:spcPct val="100000"/>
                </a:lnSpc>
              </a:pP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mask = offsets &lt; n_elements</a:t>
              </a:r>
              <a:endPar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rPr>
                <a:t># Operation load avec mask</a:t>
              </a:r>
              <a:endPar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x = tl.load(x_ptr + offsets, </a:t>
              </a:r>
              <a:r>
                <a:rPr lang="en-US" sz="1200" b="1" i="0" u="none" strike="noStrike">
                  <a:solidFill>
                    <a:srgbClr val="8B0000"/>
                  </a:solidFill>
                  <a:latin typeface="Calibri" panose="020F0502020204030204"/>
                  <a:ea typeface="微软雅黑" panose="020B0503020204020204" charset="-122"/>
                  <a:cs typeface="微软雅黑" panose="020B0503020204020204" charset="-122"/>
                  <a:sym typeface="微软雅黑" panose="020B0503020204020204" charset="-122"/>
                </a:rPr>
                <a:t>mask=mask</a:t>
              </a: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y = tl.load(y_ptr + offsets, </a:t>
              </a:r>
              <a:r>
                <a:rPr lang="en-US" sz="1200" b="1" i="0" u="none" strike="noStrike">
                  <a:solidFill>
                    <a:srgbClr val="8B0000"/>
                  </a:solidFill>
                  <a:latin typeface="Calibri" panose="020F0502020204030204"/>
                  <a:ea typeface="微软雅黑" panose="020B0503020204020204" charset="-122"/>
                  <a:cs typeface="微软雅黑" panose="020B0503020204020204" charset="-122"/>
                  <a:sym typeface="微软雅黑" panose="020B0503020204020204" charset="-122"/>
                </a:rPr>
                <a:t>mask=mask</a:t>
              </a: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rPr>
                <a:t># Calcul</a:t>
              </a:r>
              <a:endPar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output = x + y</a:t>
              </a:r>
              <a:endPar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rPr>
                <a:t># Operation store avec mask</a:t>
              </a:r>
              <a:endParaRPr lang="en-US" sz="1200" b="0" i="0" u="none" strike="noStrike">
                <a:solidFill>
                  <a:srgbClr val="66666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tl.store(output_ptr + offsets, output, </a:t>
              </a:r>
              <a:r>
                <a:rPr lang="en-US" sz="1200" b="1" i="0" u="none" strike="noStrike">
                  <a:solidFill>
                    <a:srgbClr val="8B0000"/>
                  </a:solidFill>
                  <a:latin typeface="Calibri" panose="020F0502020204030204"/>
                  <a:ea typeface="微软雅黑" panose="020B0503020204020204" charset="-122"/>
                  <a:cs typeface="微软雅黑" panose="020B0503020204020204" charset="-122"/>
                  <a:sym typeface="微软雅黑" panose="020B0503020204020204" charset="-122"/>
                </a:rPr>
                <a:t>mask=mask</a:t>
              </a:r>
              <a:r>
                <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00" b="0" i="0" u="none" strike="noStrike">
                <a:solidFill>
                  <a:srgbClr val="1E2939"/>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9251"/>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MiSans" panose="00000500000000000000" charset="-122"/>
              </a:rPr>
              <a:t>Exemple de fonctionnement du mask</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380956" y="1409793"/>
            <a:ext cx="11430000" cy="1714500"/>
            <a:chOff x="380956" y="1409793"/>
            <a:chExt cx="11430000" cy="1714500"/>
          </a:xfrm>
        </p:grpSpPr>
        <p:sp>
          <p:nvSpPr>
            <p:cNvPr id="4" name="Freeform 4"/>
            <p:cNvSpPr/>
            <p:nvPr/>
          </p:nvSpPr>
          <p:spPr>
            <a:xfrm>
              <a:off x="380956" y="1409793"/>
              <a:ext cx="11430000" cy="1714500"/>
            </a:xfrm>
            <a:custGeom>
              <a:avLst/>
              <a:gdLst/>
              <a:ahLst/>
              <a:cxnLst/>
              <a:rect l="l" t="t" r="r" b="b"/>
              <a:pathLst>
                <a:path w="11430000" h="1714500">
                  <a:moveTo>
                    <a:pt x="114306" y="0"/>
                  </a:moveTo>
                  <a:lnTo>
                    <a:pt x="11315694" y="0"/>
                  </a:lnTo>
                  <a:cubicBezTo>
                    <a:pt x="11378824" y="0"/>
                    <a:pt x="11430000" y="51176"/>
                    <a:pt x="11430000" y="114306"/>
                  </a:cubicBezTo>
                  <a:lnTo>
                    <a:pt x="11430000" y="1600194"/>
                  </a:lnTo>
                  <a:cubicBezTo>
                    <a:pt x="11430000" y="1663324"/>
                    <a:pt x="11378824" y="1714500"/>
                    <a:pt x="11315694"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1638365"/>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Hypotheses</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628484" y="2057456"/>
              <a:ext cx="5486305" cy="838200"/>
            </a:xfrm>
            <a:custGeom>
              <a:avLst/>
              <a:gdLst/>
              <a:ahLst/>
              <a:cxnLst/>
              <a:rect l="l" t="t" r="r" b="b"/>
              <a:pathLst>
                <a:path w="5486305" h="838200">
                  <a:moveTo>
                    <a:pt x="37910" y="0"/>
                  </a:moveTo>
                  <a:lnTo>
                    <a:pt x="5410103" y="0"/>
                  </a:lnTo>
                  <a:cubicBezTo>
                    <a:pt x="5452189" y="0"/>
                    <a:pt x="5486305" y="34116"/>
                    <a:pt x="5486305" y="76201"/>
                  </a:cubicBezTo>
                  <a:lnTo>
                    <a:pt x="5486305" y="761999"/>
                  </a:lnTo>
                  <a:cubicBezTo>
                    <a:pt x="5486305" y="804084"/>
                    <a:pt x="5452189" y="838200"/>
                    <a:pt x="5410103" y="838200"/>
                  </a:cubicBezTo>
                  <a:lnTo>
                    <a:pt x="37910" y="838200"/>
                  </a:lnTo>
                  <a:cubicBezTo>
                    <a:pt x="16974" y="838200"/>
                    <a:pt x="0" y="821226"/>
                    <a:pt x="0" y="8002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28484" y="2057456"/>
              <a:ext cx="37909" cy="838200"/>
            </a:xfrm>
            <a:custGeom>
              <a:avLst/>
              <a:gdLst/>
              <a:ahLst/>
              <a:cxnLst/>
              <a:rect l="l" t="t" r="r" b="b"/>
              <a:pathLst>
                <a:path w="37909" h="838200">
                  <a:moveTo>
                    <a:pt x="37910" y="0"/>
                  </a:moveTo>
                  <a:lnTo>
                    <a:pt x="37910" y="0"/>
                  </a:lnTo>
                  <a:lnTo>
                    <a:pt x="37910" y="838200"/>
                  </a:lnTo>
                  <a:lnTo>
                    <a:pt x="37910" y="838200"/>
                  </a:lnTo>
                  <a:cubicBezTo>
                    <a:pt x="16974" y="838200"/>
                    <a:pt x="0" y="821226"/>
                    <a:pt x="0" y="8002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99822" y="2209837"/>
              <a:ext cx="5248275" cy="5334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n_elements = </a:t>
              </a:r>
              <a:r>
                <a:rPr lang="en-US" b="1"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1000</a:t>
              </a:r>
              <a:endParaRPr lang="en-US"/>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BLOCK_SIZE = </a:t>
              </a:r>
              <a:r>
                <a:rPr lang="en-US" b="1"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1024</a:t>
              </a:r>
              <a:endParaRPr lang="en-US" b="1"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AutoShape 9"/>
            <p:cNvSpPr/>
            <p:nvPr/>
          </p:nvSpPr>
          <p:spPr>
            <a:xfrm>
              <a:off x="6419675" y="2209837"/>
              <a:ext cx="52482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Le vecteur a 1000 elements, mais chaque block traite 1024 elements, le dernier block depassera les limites</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10" name="Group 10"/>
          <p:cNvGrpSpPr/>
          <p:nvPr/>
        </p:nvGrpSpPr>
        <p:grpSpPr>
          <a:xfrm>
            <a:off x="380956" y="3352777"/>
            <a:ext cx="11430000" cy="2820035"/>
            <a:chOff x="380956" y="3352777"/>
            <a:chExt cx="11430000" cy="2820035"/>
          </a:xfrm>
        </p:grpSpPr>
        <p:sp>
          <p:nvSpPr>
            <p:cNvPr id="11" name="Freeform 11"/>
            <p:cNvSpPr/>
            <p:nvPr/>
          </p:nvSpPr>
          <p:spPr>
            <a:xfrm>
              <a:off x="380956" y="3352777"/>
              <a:ext cx="11430000" cy="2819400"/>
            </a:xfrm>
            <a:custGeom>
              <a:avLst/>
              <a:gdLst/>
              <a:ahLst/>
              <a:cxnLst/>
              <a:rect l="l" t="t" r="r" b="b"/>
              <a:pathLst>
                <a:path w="11430000" h="2819400">
                  <a:moveTo>
                    <a:pt x="114297" y="0"/>
                  </a:moveTo>
                  <a:lnTo>
                    <a:pt x="11315703" y="0"/>
                  </a:lnTo>
                  <a:cubicBezTo>
                    <a:pt x="11378827" y="0"/>
                    <a:pt x="11430000" y="51173"/>
                    <a:pt x="11430000" y="114297"/>
                  </a:cubicBezTo>
                  <a:lnTo>
                    <a:pt x="11430000" y="2705103"/>
                  </a:lnTo>
                  <a:cubicBezTo>
                    <a:pt x="11430000" y="2768227"/>
                    <a:pt x="11378827" y="2819400"/>
                    <a:pt x="11315703" y="2819400"/>
                  </a:cubicBezTo>
                  <a:lnTo>
                    <a:pt x="114297" y="2819400"/>
                  </a:lnTo>
                  <a:cubicBezTo>
                    <a:pt x="51173" y="2819400"/>
                    <a:pt x="0" y="2768227"/>
                    <a:pt x="0" y="2705103"/>
                  </a:cubicBezTo>
                  <a:lnTo>
                    <a:pt x="0" y="114297"/>
                  </a:lnTo>
                  <a:cubicBezTo>
                    <a:pt x="0" y="51173"/>
                    <a:pt x="51173" y="0"/>
                    <a:pt x="1142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3581353"/>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Dernier block (program_id = 0, un seul block)</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609529" y="4000440"/>
              <a:ext cx="5457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Tableau offsets</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609529" y="4381398"/>
              <a:ext cx="5372100" cy="876300"/>
            </a:xfrm>
            <a:custGeom>
              <a:avLst/>
              <a:gdLst/>
              <a:ahLst/>
              <a:cxnLst/>
              <a:rect l="l" t="t" r="r" b="b"/>
              <a:pathLst>
                <a:path w="5372100" h="876300">
                  <a:moveTo>
                    <a:pt x="76203" y="0"/>
                  </a:moveTo>
                  <a:lnTo>
                    <a:pt x="5295897" y="0"/>
                  </a:lnTo>
                  <a:cubicBezTo>
                    <a:pt x="5337983" y="0"/>
                    <a:pt x="5372100" y="34117"/>
                    <a:pt x="5372100" y="76203"/>
                  </a:cubicBezTo>
                  <a:lnTo>
                    <a:pt x="5372100" y="800097"/>
                  </a:lnTo>
                  <a:cubicBezTo>
                    <a:pt x="5372100" y="842183"/>
                    <a:pt x="5337983" y="876300"/>
                    <a:pt x="5295897" y="876300"/>
                  </a:cubicBezTo>
                  <a:lnTo>
                    <a:pt x="76203" y="876300"/>
                  </a:lnTo>
                  <a:cubicBezTo>
                    <a:pt x="34117" y="876300"/>
                    <a:pt x="0" y="842183"/>
                    <a:pt x="0" y="8000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761911"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23811"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0</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1400095"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1361995"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1</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2038279"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2000179"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2</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2676463"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2638363"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Freeform 23"/>
            <p:cNvSpPr/>
            <p:nvPr/>
          </p:nvSpPr>
          <p:spPr>
            <a:xfrm>
              <a:off x="3314647"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3276547"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998</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Freeform 25"/>
            <p:cNvSpPr/>
            <p:nvPr/>
          </p:nvSpPr>
          <p:spPr>
            <a:xfrm>
              <a:off x="3952831"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BEAFE">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3914731"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999</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4591014"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4552914"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1000</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Freeform 29"/>
            <p:cNvSpPr/>
            <p:nvPr/>
          </p:nvSpPr>
          <p:spPr>
            <a:xfrm>
              <a:off x="5229198"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5191098"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AutoShape 31"/>
            <p:cNvSpPr/>
            <p:nvPr/>
          </p:nvSpPr>
          <p:spPr>
            <a:xfrm>
              <a:off x="761911" y="4914658"/>
              <a:ext cx="51339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Plage d'indices : [0 ... 1023]</a:t>
              </a:r>
              <a:endPar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6210279" y="4000440"/>
              <a:ext cx="5457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Tableau mask</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Freeform 33"/>
            <p:cNvSpPr/>
            <p:nvPr/>
          </p:nvSpPr>
          <p:spPr>
            <a:xfrm>
              <a:off x="6210279" y="4381398"/>
              <a:ext cx="5372100" cy="876300"/>
            </a:xfrm>
            <a:custGeom>
              <a:avLst/>
              <a:gdLst/>
              <a:ahLst/>
              <a:cxnLst/>
              <a:rect l="l" t="t" r="r" b="b"/>
              <a:pathLst>
                <a:path w="5372100" h="876300">
                  <a:moveTo>
                    <a:pt x="76203" y="0"/>
                  </a:moveTo>
                  <a:lnTo>
                    <a:pt x="5295897" y="0"/>
                  </a:lnTo>
                  <a:cubicBezTo>
                    <a:pt x="5337983" y="0"/>
                    <a:pt x="5372100" y="34117"/>
                    <a:pt x="5372100" y="76203"/>
                  </a:cubicBezTo>
                  <a:lnTo>
                    <a:pt x="5372100" y="800097"/>
                  </a:lnTo>
                  <a:cubicBezTo>
                    <a:pt x="5372100" y="842183"/>
                    <a:pt x="5337983" y="876300"/>
                    <a:pt x="5295897" y="876300"/>
                  </a:cubicBezTo>
                  <a:lnTo>
                    <a:pt x="76203" y="876300"/>
                  </a:lnTo>
                  <a:cubicBezTo>
                    <a:pt x="34117" y="876300"/>
                    <a:pt x="0" y="842183"/>
                    <a:pt x="0" y="8000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6362662"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324562"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6" name="Freeform 36"/>
            <p:cNvSpPr/>
            <p:nvPr/>
          </p:nvSpPr>
          <p:spPr>
            <a:xfrm>
              <a:off x="7000845"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962745"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8" name="Freeform 38"/>
            <p:cNvSpPr/>
            <p:nvPr/>
          </p:nvSpPr>
          <p:spPr>
            <a:xfrm>
              <a:off x="7639029"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7600929"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0" name="Freeform 40"/>
            <p:cNvSpPr/>
            <p:nvPr/>
          </p:nvSpPr>
          <p:spPr>
            <a:xfrm>
              <a:off x="8277213"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8239113"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a:t>
              </a:r>
              <a:endPar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2" name="Freeform 42"/>
            <p:cNvSpPr/>
            <p:nvPr/>
          </p:nvSpPr>
          <p:spPr>
            <a:xfrm>
              <a:off x="8915397"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43" name="AutoShape 43"/>
            <p:cNvSpPr/>
            <p:nvPr/>
          </p:nvSpPr>
          <p:spPr>
            <a:xfrm>
              <a:off x="8877297"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4" name="Freeform 44"/>
            <p:cNvSpPr/>
            <p:nvPr/>
          </p:nvSpPr>
          <p:spPr>
            <a:xfrm>
              <a:off x="9553581"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DCFCE7">
                <a:alpha val="100000"/>
              </a:srgbClr>
            </a:solidFill>
            <a:ln w="12700">
              <a:noFill/>
              <a:prstDash val="solid"/>
            </a:ln>
          </p:spPr>
          <p:txBody>
            <a:bodyPr wrap="square" lIns="91440" tIns="45720" rIns="91440" bIns="45720" rtlCol="0" anchor="t">
              <a:noAutofit/>
            </a:bodyPr>
            <a:lstStyle/>
            <a:p>
              <a:pPr algn="ctr">
                <a:defRPr/>
              </a:pPr>
            </a:p>
          </p:txBody>
        </p:sp>
        <p:sp>
          <p:nvSpPr>
            <p:cNvPr id="45" name="AutoShape 45"/>
            <p:cNvSpPr/>
            <p:nvPr/>
          </p:nvSpPr>
          <p:spPr>
            <a:xfrm>
              <a:off x="9515481"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rPr>
                <a:t>T</a:t>
              </a:r>
              <a:endParaRPr lang="en-US" b="1" i="0" u="none" strike="noStrike">
                <a:solidFill>
                  <a:srgbClr val="00823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6" name="Freeform 46"/>
            <p:cNvSpPr/>
            <p:nvPr/>
          </p:nvSpPr>
          <p:spPr>
            <a:xfrm>
              <a:off x="10191765"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47" name="AutoShape 47"/>
            <p:cNvSpPr/>
            <p:nvPr/>
          </p:nvSpPr>
          <p:spPr>
            <a:xfrm>
              <a:off x="10153665"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C10007"/>
                  </a:solidFill>
                  <a:latin typeface="MiSans" panose="00000500000000000000" charset="-122"/>
                  <a:ea typeface="MiSans" panose="00000500000000000000" charset="-122"/>
                  <a:cs typeface="MiSans" panose="00000500000000000000" charset="-122"/>
                  <a:sym typeface="MiSans" panose="00000500000000000000" charset="-122"/>
                </a:rPr>
                <a:t>F</a:t>
              </a:r>
              <a:endParaRPr lang="en-US" b="1" i="0" u="none" strike="noStrike">
                <a:solidFill>
                  <a:srgbClr val="C10007"/>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8" name="Freeform 48"/>
            <p:cNvSpPr/>
            <p:nvPr/>
          </p:nvSpPr>
          <p:spPr>
            <a:xfrm>
              <a:off x="10829948" y="4533779"/>
              <a:ext cx="600075" cy="304800"/>
            </a:xfrm>
            <a:custGeom>
              <a:avLst/>
              <a:gdLst/>
              <a:ahLst/>
              <a:cxnLst/>
              <a:rect l="l" t="t" r="r" b="b"/>
              <a:pathLst>
                <a:path w="600075" h="304800">
                  <a:moveTo>
                    <a:pt x="38100" y="0"/>
                  </a:moveTo>
                  <a:lnTo>
                    <a:pt x="561975" y="0"/>
                  </a:lnTo>
                  <a:cubicBezTo>
                    <a:pt x="583002" y="0"/>
                    <a:pt x="600075" y="17073"/>
                    <a:pt x="600075" y="38100"/>
                  </a:cubicBezTo>
                  <a:lnTo>
                    <a:pt x="600075" y="266700"/>
                  </a:lnTo>
                  <a:cubicBezTo>
                    <a:pt x="600075" y="287727"/>
                    <a:pt x="583002" y="304800"/>
                    <a:pt x="561975" y="304800"/>
                  </a:cubicBezTo>
                  <a:lnTo>
                    <a:pt x="38100" y="304800"/>
                  </a:lnTo>
                  <a:cubicBezTo>
                    <a:pt x="17073" y="304800"/>
                    <a:pt x="0" y="287727"/>
                    <a:pt x="0" y="266700"/>
                  </a:cubicBezTo>
                  <a:lnTo>
                    <a:pt x="0" y="38100"/>
                  </a:lnTo>
                  <a:cubicBezTo>
                    <a:pt x="0" y="17073"/>
                    <a:pt x="17073" y="0"/>
                    <a:pt x="38100" y="0"/>
                  </a:cubicBezTo>
                  <a:close/>
                </a:path>
              </a:pathLst>
            </a:custGeom>
            <a:solidFill>
              <a:srgbClr val="FFE2E2">
                <a:alpha val="100000"/>
              </a:srgbClr>
            </a:solidFill>
            <a:ln w="12700">
              <a:noFill/>
              <a:prstDash val="solid"/>
            </a:ln>
          </p:spPr>
          <p:txBody>
            <a:bodyPr wrap="square" lIns="91440" tIns="45720" rIns="91440" bIns="45720" rtlCol="0" anchor="t">
              <a:noAutofit/>
            </a:bodyPr>
            <a:lstStyle/>
            <a:p>
              <a:pPr algn="ctr">
                <a:defRPr/>
              </a:pPr>
            </a:p>
          </p:txBody>
        </p:sp>
        <p:sp>
          <p:nvSpPr>
            <p:cNvPr id="49" name="AutoShape 49"/>
            <p:cNvSpPr/>
            <p:nvPr/>
          </p:nvSpPr>
          <p:spPr>
            <a:xfrm>
              <a:off x="10791848" y="4533779"/>
              <a:ext cx="676275" cy="304800"/>
            </a:xfrm>
            <a:prstGeom prst="rect">
              <a:avLst/>
            </a:prstGeom>
            <a:noFill/>
            <a:ln w="12700">
              <a:noFill/>
              <a:prstDash val="solid"/>
            </a:ln>
          </p:spPr>
          <p:txBody>
            <a:bodyPr wrap="square" lIns="38100" tIns="38100" rIns="38100" bIns="38100" rtlCol="0" anchor="ctr">
              <a:noAutofit/>
            </a:bodyPr>
            <a:lstStyle/>
            <a:p>
              <a:pPr indent="0" algn="ctr">
                <a:lnSpc>
                  <a:spcPct val="133000"/>
                </a:lnSpc>
                <a:defRPr/>
              </a:pPr>
              <a:r>
                <a:rPr lang="en-US" b="1" i="0" u="none" strike="noStrike">
                  <a:solidFill>
                    <a:srgbClr val="C10007"/>
                  </a:solidFill>
                  <a:latin typeface="MiSans" panose="00000500000000000000" charset="-122"/>
                  <a:ea typeface="MiSans" panose="00000500000000000000" charset="-122"/>
                  <a:cs typeface="MiSans" panose="00000500000000000000" charset="-122"/>
                  <a:sym typeface="MiSans" panose="00000500000000000000" charset="-122"/>
                </a:rPr>
                <a:t>...</a:t>
              </a:r>
              <a:endParaRPr lang="en-US" b="1" i="0" u="none" strike="noStrike">
                <a:solidFill>
                  <a:srgbClr val="C10007"/>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0" name="AutoShape 50"/>
            <p:cNvSpPr/>
            <p:nvPr/>
          </p:nvSpPr>
          <p:spPr>
            <a:xfrm>
              <a:off x="6362662" y="4914658"/>
              <a:ext cx="51339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True = acces, False = ignore</a:t>
              </a:r>
              <a:endPar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1" name="Freeform 51"/>
            <p:cNvSpPr/>
            <p:nvPr/>
          </p:nvSpPr>
          <p:spPr>
            <a:xfrm>
              <a:off x="609556" y="5258412"/>
              <a:ext cx="10972800" cy="914400"/>
            </a:xfrm>
            <a:custGeom>
              <a:avLst/>
              <a:gdLst/>
              <a:ahLst/>
              <a:cxnLst/>
              <a:rect l="l" t="t" r="r" b="b"/>
              <a:pathLst>
                <a:path w="10972800" h="533400">
                  <a:moveTo>
                    <a:pt x="76203" y="0"/>
                  </a:moveTo>
                  <a:lnTo>
                    <a:pt x="10896597" y="0"/>
                  </a:lnTo>
                  <a:cubicBezTo>
                    <a:pt x="10938683" y="0"/>
                    <a:pt x="10972800" y="34117"/>
                    <a:pt x="10972800" y="76203"/>
                  </a:cubicBezTo>
                  <a:lnTo>
                    <a:pt x="10972800" y="457197"/>
                  </a:lnTo>
                  <a:cubicBezTo>
                    <a:pt x="10972800" y="499283"/>
                    <a:pt x="10938683" y="533400"/>
                    <a:pt x="10896597" y="533400"/>
                  </a:cubicBezTo>
                  <a:lnTo>
                    <a:pt x="76203" y="533400"/>
                  </a:lnTo>
                  <a:cubicBezTo>
                    <a:pt x="34117" y="533400"/>
                    <a:pt x="0" y="499283"/>
                    <a:pt x="0" y="4571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2" name="Freeform 52"/>
            <p:cNvSpPr/>
            <p:nvPr/>
          </p:nvSpPr>
          <p:spPr>
            <a:xfrm>
              <a:off x="790486" y="5562247"/>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0012" y="71437"/>
                  </a:moveTo>
                  <a:cubicBezTo>
                    <a:pt x="100012" y="63552"/>
                    <a:pt x="106415" y="57150"/>
                    <a:pt x="114300" y="57150"/>
                  </a:cubicBezTo>
                  <a:cubicBezTo>
                    <a:pt x="122185" y="57150"/>
                    <a:pt x="128587" y="63552"/>
                    <a:pt x="128587" y="71437"/>
                  </a:cubicBezTo>
                  <a:cubicBezTo>
                    <a:pt x="128587" y="79323"/>
                    <a:pt x="122185" y="85725"/>
                    <a:pt x="114300" y="85725"/>
                  </a:cubicBezTo>
                  <a:cubicBezTo>
                    <a:pt x="106415" y="85725"/>
                    <a:pt x="100012" y="79323"/>
                    <a:pt x="100012" y="71437"/>
                  </a:cubicBezTo>
                  <a:close/>
                  <a:moveTo>
                    <a:pt x="96441" y="100013"/>
                  </a:moveTo>
                  <a:lnTo>
                    <a:pt x="117873" y="100013"/>
                  </a:lnTo>
                  <a:cubicBezTo>
                    <a:pt x="123810" y="100013"/>
                    <a:pt x="128587" y="104790"/>
                    <a:pt x="128587" y="110727"/>
                  </a:cubicBezTo>
                  <a:lnTo>
                    <a:pt x="128587" y="150019"/>
                  </a:lnTo>
                  <a:lnTo>
                    <a:pt x="132159" y="150019"/>
                  </a:lnTo>
                  <a:cubicBezTo>
                    <a:pt x="138099" y="150019"/>
                    <a:pt x="142875" y="154796"/>
                    <a:pt x="142875" y="160734"/>
                  </a:cubicBezTo>
                  <a:cubicBezTo>
                    <a:pt x="142875" y="166674"/>
                    <a:pt x="138099" y="171450"/>
                    <a:pt x="132159" y="171450"/>
                  </a:cubicBezTo>
                  <a:lnTo>
                    <a:pt x="96441" y="171450"/>
                  </a:lnTo>
                  <a:cubicBezTo>
                    <a:pt x="90501" y="171450"/>
                    <a:pt x="85725" y="166674"/>
                    <a:pt x="85725" y="160734"/>
                  </a:cubicBezTo>
                  <a:cubicBezTo>
                    <a:pt x="85725" y="154796"/>
                    <a:pt x="90501" y="150019"/>
                    <a:pt x="96441" y="150019"/>
                  </a:cubicBezTo>
                  <a:lnTo>
                    <a:pt x="107156" y="150019"/>
                  </a:lnTo>
                  <a:lnTo>
                    <a:pt x="107156" y="121444"/>
                  </a:lnTo>
                  <a:lnTo>
                    <a:pt x="96441" y="121444"/>
                  </a:lnTo>
                  <a:cubicBezTo>
                    <a:pt x="90501" y="121444"/>
                    <a:pt x="85725" y="116666"/>
                    <a:pt x="85725" y="110727"/>
                  </a:cubicBezTo>
                  <a:cubicBezTo>
                    <a:pt x="85725" y="104790"/>
                    <a:pt x="90501" y="100013"/>
                    <a:pt x="96441" y="10001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3" name="AutoShape 53"/>
            <p:cNvSpPr/>
            <p:nvPr/>
          </p:nvSpPr>
          <p:spPr>
            <a:xfrm>
              <a:off x="1200106" y="5561942"/>
              <a:ext cx="895286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Resultat : </a:t>
              </a:r>
              <a:r>
                <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Seules les positions avec offsets &lt; 1000 feront l'objet d'un acces memoire, </a:t>
              </a:r>
              <a:endPar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defRPr/>
              </a:pPr>
              <a:r>
                <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les positions au-dela sont protegees par le mask</a:t>
              </a:r>
              <a:endParaRPr lang="en-US"/>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5791" y="604784"/>
            <a:ext cx="11617605" cy="370578"/>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MiSans" panose="00000500000000000000" charset="-122"/>
              </a:rPr>
              <a:t>Détails de tl.load</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388971" y="1370870"/>
            <a:ext cx="11431905" cy="1649070"/>
            <a:chOff x="388971" y="1370870"/>
            <a:chExt cx="11431905" cy="1649070"/>
          </a:xfrm>
        </p:grpSpPr>
        <p:sp>
          <p:nvSpPr>
            <p:cNvPr id="4" name="Freeform 4"/>
            <p:cNvSpPr/>
            <p:nvPr/>
          </p:nvSpPr>
          <p:spPr>
            <a:xfrm>
              <a:off x="388971" y="1370870"/>
              <a:ext cx="5558570" cy="1649070"/>
            </a:xfrm>
            <a:custGeom>
              <a:avLst/>
              <a:gdLst/>
              <a:ahLst/>
              <a:cxnLst/>
              <a:rect l="l" t="t" r="r" b="b"/>
              <a:pathLst>
                <a:path w="5558570" h="1649070">
                  <a:moveTo>
                    <a:pt x="36873" y="0"/>
                  </a:moveTo>
                  <a:lnTo>
                    <a:pt x="5447389" y="0"/>
                  </a:lnTo>
                  <a:cubicBezTo>
                    <a:pt x="5508793" y="0"/>
                    <a:pt x="5558570" y="49776"/>
                    <a:pt x="5558570" y="111180"/>
                  </a:cubicBezTo>
                  <a:lnTo>
                    <a:pt x="5558570" y="1537890"/>
                  </a:lnTo>
                  <a:cubicBezTo>
                    <a:pt x="5558570" y="1599293"/>
                    <a:pt x="5508793" y="1649070"/>
                    <a:pt x="5447389" y="1649070"/>
                  </a:cubicBezTo>
                  <a:lnTo>
                    <a:pt x="36873" y="1649070"/>
                  </a:lnTo>
                  <a:cubicBezTo>
                    <a:pt x="16509" y="1649070"/>
                    <a:pt x="0" y="1632561"/>
                    <a:pt x="0" y="1612196"/>
                  </a:cubicBezTo>
                  <a:lnTo>
                    <a:pt x="0" y="36873"/>
                  </a:lnTo>
                  <a:cubicBezTo>
                    <a:pt x="0" y="16521"/>
                    <a:pt x="16521"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88971" y="1370870"/>
              <a:ext cx="36873" cy="1649070"/>
            </a:xfrm>
            <a:custGeom>
              <a:avLst/>
              <a:gdLst/>
              <a:ahLst/>
              <a:cxnLst/>
              <a:rect l="l" t="t" r="r" b="b"/>
              <a:pathLst>
                <a:path w="36873" h="1649070">
                  <a:moveTo>
                    <a:pt x="36873" y="0"/>
                  </a:moveTo>
                  <a:lnTo>
                    <a:pt x="36873" y="0"/>
                  </a:lnTo>
                  <a:lnTo>
                    <a:pt x="36873" y="1649070"/>
                  </a:lnTo>
                  <a:lnTo>
                    <a:pt x="36873" y="1649070"/>
                  </a:lnTo>
                  <a:cubicBezTo>
                    <a:pt x="16509" y="1649070"/>
                    <a:pt x="0" y="1632561"/>
                    <a:pt x="0" y="1612196"/>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29728" y="1593194"/>
              <a:ext cx="5188085" cy="120437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x = tl.load(</a:t>
              </a:r>
              <a:endParaRPr lang="en-US"/>
            </a:p>
            <a:p>
              <a:pPr indent="0" algn="l">
                <a:lnSpc>
                  <a:spcPct val="100000"/>
                </a:lnSpc>
              </a:pPr>
              <a:r>
                <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x_ptr + offsets, </a:t>
              </a:r>
              <a:endPar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mask=mask</a:t>
              </a:r>
              <a:endParaRPr lang="en-US"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Freeform 7"/>
            <p:cNvSpPr/>
            <p:nvPr/>
          </p:nvSpPr>
          <p:spPr>
            <a:xfrm>
              <a:off x="6265277" y="1407887"/>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584666" y="1370870"/>
              <a:ext cx="5236210" cy="2686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Support mask</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 lecture conditionnelle, évite les débordements</a:t>
              </a:r>
              <a:endParaRPr lang="en-US"/>
            </a:p>
          </p:txBody>
        </p:sp>
        <p:sp>
          <p:nvSpPr>
            <p:cNvPr id="9" name="Freeform 9"/>
            <p:cNvSpPr/>
            <p:nvPr/>
          </p:nvSpPr>
          <p:spPr>
            <a:xfrm>
              <a:off x="6265277" y="1827107"/>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584666" y="1789970"/>
              <a:ext cx="4691380" cy="2686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Lecture vectorisée</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 lit plusieurs éléments à la fois</a:t>
              </a:r>
              <a:endParaRPr lang="en-US"/>
            </a:p>
          </p:txBody>
        </p:sp>
        <p:sp>
          <p:nvSpPr>
            <p:cNvPr id="11" name="Freeform 11"/>
            <p:cNvSpPr/>
            <p:nvPr/>
          </p:nvSpPr>
          <p:spPr>
            <a:xfrm>
              <a:off x="6265277" y="2246328"/>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584666" y="2209070"/>
              <a:ext cx="4882515" cy="2686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Retourne un tensor</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 permet des calculs vectorisés directs</a:t>
              </a:r>
              <a:endParaRPr lang="en-US"/>
            </a:p>
          </p:txBody>
        </p:sp>
      </p:grpSp>
      <p:grpSp>
        <p:nvGrpSpPr>
          <p:cNvPr id="13" name="Group 13"/>
          <p:cNvGrpSpPr/>
          <p:nvPr/>
        </p:nvGrpSpPr>
        <p:grpSpPr>
          <a:xfrm>
            <a:off x="370534" y="3242268"/>
            <a:ext cx="11450845" cy="3316669"/>
            <a:chOff x="370534" y="3242268"/>
            <a:chExt cx="11450845" cy="3316669"/>
          </a:xfrm>
        </p:grpSpPr>
        <p:sp>
          <p:nvSpPr>
            <p:cNvPr id="14" name="Freeform 14"/>
            <p:cNvSpPr/>
            <p:nvPr/>
          </p:nvSpPr>
          <p:spPr>
            <a:xfrm>
              <a:off x="370534" y="3242268"/>
              <a:ext cx="11450845" cy="3316669"/>
            </a:xfrm>
            <a:custGeom>
              <a:avLst/>
              <a:gdLst/>
              <a:ahLst/>
              <a:cxnLst/>
              <a:rect l="l" t="t" r="r" b="b"/>
              <a:pathLst>
                <a:path w="11450845" h="3316669">
                  <a:moveTo>
                    <a:pt x="111175" y="0"/>
                  </a:moveTo>
                  <a:lnTo>
                    <a:pt x="11339670" y="0"/>
                  </a:lnTo>
                  <a:cubicBezTo>
                    <a:pt x="11401069" y="0"/>
                    <a:pt x="11450845" y="49775"/>
                    <a:pt x="11450845" y="111175"/>
                  </a:cubicBezTo>
                  <a:lnTo>
                    <a:pt x="11450845" y="3205494"/>
                  </a:lnTo>
                  <a:cubicBezTo>
                    <a:pt x="11450845" y="3266893"/>
                    <a:pt x="11401069" y="3316668"/>
                    <a:pt x="11339670" y="3316668"/>
                  </a:cubicBezTo>
                  <a:lnTo>
                    <a:pt x="111175" y="3316668"/>
                  </a:lnTo>
                  <a:cubicBezTo>
                    <a:pt x="49775" y="3316668"/>
                    <a:pt x="0" y="3266893"/>
                    <a:pt x="0" y="3205494"/>
                  </a:cubicBezTo>
                  <a:lnTo>
                    <a:pt x="0" y="111175"/>
                  </a:lnTo>
                  <a:cubicBezTo>
                    <a:pt x="0" y="49816"/>
                    <a:pt x="49816" y="0"/>
                    <a:pt x="11117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AutoShape 15"/>
            <p:cNvSpPr/>
            <p:nvPr/>
          </p:nvSpPr>
          <p:spPr>
            <a:xfrm>
              <a:off x="592855" y="3464588"/>
              <a:ext cx="11098796" cy="2594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Description complète des paramètres</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611292" y="3872214"/>
              <a:ext cx="10987531" cy="537337"/>
            </a:xfrm>
            <a:custGeom>
              <a:avLst/>
              <a:gdLst/>
              <a:ahLst/>
              <a:cxnLst/>
              <a:rect l="l" t="t" r="r" b="b"/>
              <a:pathLst>
                <a:path w="10987531" h="537337">
                  <a:moveTo>
                    <a:pt x="36873" y="0"/>
                  </a:moveTo>
                  <a:lnTo>
                    <a:pt x="10913416" y="0"/>
                  </a:lnTo>
                  <a:cubicBezTo>
                    <a:pt x="10954349" y="0"/>
                    <a:pt x="10987531" y="33183"/>
                    <a:pt x="10987531" y="74115"/>
                  </a:cubicBezTo>
                  <a:lnTo>
                    <a:pt x="10987531" y="463222"/>
                  </a:lnTo>
                  <a:cubicBezTo>
                    <a:pt x="10987531" y="504154"/>
                    <a:pt x="10954349" y="537337"/>
                    <a:pt x="10913416" y="537337"/>
                  </a:cubicBezTo>
                  <a:lnTo>
                    <a:pt x="36873" y="537337"/>
                  </a:lnTo>
                  <a:cubicBezTo>
                    <a:pt x="16509" y="537337"/>
                    <a:pt x="0" y="520830"/>
                    <a:pt x="0" y="500464"/>
                  </a:cubicBezTo>
                  <a:lnTo>
                    <a:pt x="0" y="36873"/>
                  </a:lnTo>
                  <a:cubicBezTo>
                    <a:pt x="0" y="16509"/>
                    <a:pt x="16509"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7" name="Freeform 17"/>
            <p:cNvSpPr/>
            <p:nvPr/>
          </p:nvSpPr>
          <p:spPr>
            <a:xfrm>
              <a:off x="611292" y="3872214"/>
              <a:ext cx="36873" cy="537337"/>
            </a:xfrm>
            <a:custGeom>
              <a:avLst/>
              <a:gdLst/>
              <a:ahLst/>
              <a:cxnLst/>
              <a:rect l="l" t="t" r="r" b="b"/>
              <a:pathLst>
                <a:path w="36873" h="537337">
                  <a:moveTo>
                    <a:pt x="36873" y="0"/>
                  </a:moveTo>
                  <a:lnTo>
                    <a:pt x="36873" y="0"/>
                  </a:lnTo>
                  <a:lnTo>
                    <a:pt x="36873" y="537337"/>
                  </a:lnTo>
                  <a:lnTo>
                    <a:pt x="36873" y="537337"/>
                  </a:lnTo>
                  <a:cubicBezTo>
                    <a:pt x="16509" y="537337"/>
                    <a:pt x="0" y="520830"/>
                    <a:pt x="0" y="500464"/>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8" name="AutoShape 18"/>
            <p:cNvSpPr/>
            <p:nvPr/>
          </p:nvSpPr>
          <p:spPr>
            <a:xfrm>
              <a:off x="777942" y="4020427"/>
              <a:ext cx="10746748" cy="2408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tl.load(ptr, mask=None, other=None, cache_modifier="", eviction_policy="", volatile=False)</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611292" y="4557683"/>
              <a:ext cx="5410338" cy="815271"/>
            </a:xfrm>
            <a:custGeom>
              <a:avLst/>
              <a:gdLst/>
              <a:ahLst/>
              <a:cxnLst/>
              <a:rect l="l" t="t" r="r" b="b"/>
              <a:pathLst>
                <a:path w="5410338" h="815271">
                  <a:moveTo>
                    <a:pt x="36873" y="0"/>
                  </a:moveTo>
                  <a:lnTo>
                    <a:pt x="5336223" y="0"/>
                  </a:lnTo>
                  <a:cubicBezTo>
                    <a:pt x="5377156" y="0"/>
                    <a:pt x="5410338" y="33183"/>
                    <a:pt x="5410338" y="74116"/>
                  </a:cubicBezTo>
                  <a:lnTo>
                    <a:pt x="5410338" y="741154"/>
                  </a:lnTo>
                  <a:cubicBezTo>
                    <a:pt x="5410338" y="782088"/>
                    <a:pt x="5377156" y="815271"/>
                    <a:pt x="5336223"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0" name="Freeform 20"/>
            <p:cNvSpPr/>
            <p:nvPr/>
          </p:nvSpPr>
          <p:spPr>
            <a:xfrm>
              <a:off x="611292" y="4557683"/>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AutoShape 21"/>
            <p:cNvSpPr/>
            <p:nvPr/>
          </p:nvSpPr>
          <p:spPr>
            <a:xfrm>
              <a:off x="777942" y="4705896"/>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ptr</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777942" y="5002321"/>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Pointeur de données, peut être une adresse unique ou un tableau d'adresses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Freeform 23"/>
            <p:cNvSpPr/>
            <p:nvPr/>
          </p:nvSpPr>
          <p:spPr>
            <a:xfrm>
              <a:off x="6186446" y="4557683"/>
              <a:ext cx="5410338" cy="815271"/>
            </a:xfrm>
            <a:custGeom>
              <a:avLst/>
              <a:gdLst/>
              <a:ahLst/>
              <a:cxnLst/>
              <a:rect l="l" t="t" r="r" b="b"/>
              <a:pathLst>
                <a:path w="5410338" h="815271">
                  <a:moveTo>
                    <a:pt x="36873" y="0"/>
                  </a:moveTo>
                  <a:lnTo>
                    <a:pt x="5336222" y="0"/>
                  </a:lnTo>
                  <a:cubicBezTo>
                    <a:pt x="5377156" y="0"/>
                    <a:pt x="5410338" y="33183"/>
                    <a:pt x="5410338" y="74116"/>
                  </a:cubicBezTo>
                  <a:lnTo>
                    <a:pt x="5410338" y="741154"/>
                  </a:lnTo>
                  <a:cubicBezTo>
                    <a:pt x="5410338" y="782088"/>
                    <a:pt x="5377156" y="815271"/>
                    <a:pt x="5336222"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4" name="Freeform 24"/>
            <p:cNvSpPr/>
            <p:nvPr/>
          </p:nvSpPr>
          <p:spPr>
            <a:xfrm>
              <a:off x="6186446" y="4557683"/>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AutoShape 25"/>
            <p:cNvSpPr/>
            <p:nvPr/>
          </p:nvSpPr>
          <p:spPr>
            <a:xfrm>
              <a:off x="6353097" y="4705896"/>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6353097" y="5002321"/>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Tableau booléen, contrôle les positions à lire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611292" y="5521076"/>
              <a:ext cx="5410338" cy="815271"/>
            </a:xfrm>
            <a:custGeom>
              <a:avLst/>
              <a:gdLst/>
              <a:ahLst/>
              <a:cxnLst/>
              <a:rect l="l" t="t" r="r" b="b"/>
              <a:pathLst>
                <a:path w="5410338" h="815271">
                  <a:moveTo>
                    <a:pt x="36873" y="0"/>
                  </a:moveTo>
                  <a:lnTo>
                    <a:pt x="5336223" y="0"/>
                  </a:lnTo>
                  <a:cubicBezTo>
                    <a:pt x="5377156" y="0"/>
                    <a:pt x="5410338" y="33183"/>
                    <a:pt x="5410338" y="74116"/>
                  </a:cubicBezTo>
                  <a:lnTo>
                    <a:pt x="5410338" y="741154"/>
                  </a:lnTo>
                  <a:cubicBezTo>
                    <a:pt x="5410338" y="782088"/>
                    <a:pt x="5377156" y="815271"/>
                    <a:pt x="5336223"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8" name="Freeform 28"/>
            <p:cNvSpPr/>
            <p:nvPr/>
          </p:nvSpPr>
          <p:spPr>
            <a:xfrm>
              <a:off x="611292" y="5521076"/>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9" name="AutoShape 29"/>
            <p:cNvSpPr/>
            <p:nvPr/>
          </p:nvSpPr>
          <p:spPr>
            <a:xfrm>
              <a:off x="777942" y="5669289"/>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other</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777942" y="5965714"/>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Valeur par défaut quand mask est False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Freeform 31"/>
            <p:cNvSpPr/>
            <p:nvPr/>
          </p:nvSpPr>
          <p:spPr>
            <a:xfrm>
              <a:off x="6186446" y="5521076"/>
              <a:ext cx="5410338" cy="815271"/>
            </a:xfrm>
            <a:custGeom>
              <a:avLst/>
              <a:gdLst/>
              <a:ahLst/>
              <a:cxnLst/>
              <a:rect l="l" t="t" r="r" b="b"/>
              <a:pathLst>
                <a:path w="5410338" h="815271">
                  <a:moveTo>
                    <a:pt x="36873" y="0"/>
                  </a:moveTo>
                  <a:lnTo>
                    <a:pt x="5336222" y="0"/>
                  </a:lnTo>
                  <a:cubicBezTo>
                    <a:pt x="5377156" y="0"/>
                    <a:pt x="5410338" y="33183"/>
                    <a:pt x="5410338" y="74116"/>
                  </a:cubicBezTo>
                  <a:lnTo>
                    <a:pt x="5410338" y="741154"/>
                  </a:lnTo>
                  <a:cubicBezTo>
                    <a:pt x="5410338" y="782088"/>
                    <a:pt x="5377156" y="815271"/>
                    <a:pt x="5336222"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2" name="Freeform 32"/>
            <p:cNvSpPr/>
            <p:nvPr/>
          </p:nvSpPr>
          <p:spPr>
            <a:xfrm>
              <a:off x="6186446" y="5521076"/>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3" name="AutoShape 33"/>
            <p:cNvSpPr/>
            <p:nvPr/>
          </p:nvSpPr>
          <p:spPr>
            <a:xfrm>
              <a:off x="6353097" y="5669289"/>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cache_modifier</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6353097" y="5965714"/>
              <a:ext cx="5169556"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Modificateur de cache (ex: ".ca", ".cg")</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5" name="AutoShape 35"/>
          <p:cNvSpPr/>
          <p:nvPr/>
        </p:nvSpPr>
        <p:spPr>
          <a:xfrm>
            <a:off x="370534" y="6706779"/>
            <a:ext cx="11506432" cy="148231"/>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8165" y="585821"/>
            <a:ext cx="11617605" cy="370578"/>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MiSans" panose="00000500000000000000" charset="-122"/>
              </a:rPr>
              <a:t>Détails de tl.store</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519504" y="1370874"/>
            <a:ext cx="11301730" cy="1954795"/>
            <a:chOff x="519504" y="1370874"/>
            <a:chExt cx="11301730" cy="1954795"/>
          </a:xfrm>
        </p:grpSpPr>
        <p:sp>
          <p:nvSpPr>
            <p:cNvPr id="4" name="Freeform 4"/>
            <p:cNvSpPr/>
            <p:nvPr/>
          </p:nvSpPr>
          <p:spPr>
            <a:xfrm>
              <a:off x="519504" y="1370874"/>
              <a:ext cx="5558570" cy="1954795"/>
            </a:xfrm>
            <a:custGeom>
              <a:avLst/>
              <a:gdLst/>
              <a:ahLst/>
              <a:cxnLst/>
              <a:rect l="l" t="t" r="r" b="b"/>
              <a:pathLst>
                <a:path w="5558570" h="1954795">
                  <a:moveTo>
                    <a:pt x="36873" y="0"/>
                  </a:moveTo>
                  <a:lnTo>
                    <a:pt x="5447401" y="0"/>
                  </a:lnTo>
                  <a:cubicBezTo>
                    <a:pt x="5508798" y="0"/>
                    <a:pt x="5558570" y="49773"/>
                    <a:pt x="5558570" y="111169"/>
                  </a:cubicBezTo>
                  <a:lnTo>
                    <a:pt x="5558570" y="1843627"/>
                  </a:lnTo>
                  <a:cubicBezTo>
                    <a:pt x="5558570" y="1905024"/>
                    <a:pt x="5508798" y="1954795"/>
                    <a:pt x="5447401" y="1954795"/>
                  </a:cubicBezTo>
                  <a:lnTo>
                    <a:pt x="36873" y="1954795"/>
                  </a:lnTo>
                  <a:cubicBezTo>
                    <a:pt x="16509" y="1954795"/>
                    <a:pt x="0" y="1938288"/>
                    <a:pt x="0" y="1917924"/>
                  </a:cubicBezTo>
                  <a:lnTo>
                    <a:pt x="0" y="36873"/>
                  </a:lnTo>
                  <a:cubicBezTo>
                    <a:pt x="0" y="16521"/>
                    <a:pt x="16521"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19504" y="1370874"/>
              <a:ext cx="36873" cy="1954795"/>
            </a:xfrm>
            <a:custGeom>
              <a:avLst/>
              <a:gdLst/>
              <a:ahLst/>
              <a:cxnLst/>
              <a:rect l="l" t="t" r="r" b="b"/>
              <a:pathLst>
                <a:path w="36873" h="1954795">
                  <a:moveTo>
                    <a:pt x="36873" y="0"/>
                  </a:moveTo>
                  <a:lnTo>
                    <a:pt x="36873" y="0"/>
                  </a:lnTo>
                  <a:lnTo>
                    <a:pt x="36873" y="1954795"/>
                  </a:lnTo>
                  <a:lnTo>
                    <a:pt x="36873" y="1954795"/>
                  </a:lnTo>
                  <a:cubicBezTo>
                    <a:pt x="16509" y="1954795"/>
                    <a:pt x="0" y="1938288"/>
                    <a:pt x="0" y="1917924"/>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60261" y="1593194"/>
              <a:ext cx="5188085" cy="1510103"/>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tl.store(</a:t>
              </a:r>
              <a:endParaRPr lang="en-US" sz="1100"/>
            </a:p>
            <a:p>
              <a:pPr indent="0" algn="l">
                <a:lnSpc>
                  <a:spcPct val="100000"/>
                </a:lnSpc>
              </a:pPr>
              <a:r>
                <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output_ptr + offsets, </a:t>
              </a:r>
              <a:endPar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output, </a:t>
              </a:r>
              <a:endPar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3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mask=mask</a:t>
              </a:r>
              <a:endParaRPr lang="en-US" sz="143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30"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Freeform 7"/>
            <p:cNvSpPr/>
            <p:nvPr/>
          </p:nvSpPr>
          <p:spPr>
            <a:xfrm>
              <a:off x="6395810" y="1407887"/>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715199" y="1370874"/>
              <a:ext cx="5106035" cy="2686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Support mask</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 écriture conditionnelle, évite les débordements</a:t>
              </a:r>
              <a:endParaRPr lang="en-US" sz="1200"/>
            </a:p>
          </p:txBody>
        </p:sp>
        <p:sp>
          <p:nvSpPr>
            <p:cNvPr id="9" name="Freeform 9"/>
            <p:cNvSpPr/>
            <p:nvPr/>
          </p:nvSpPr>
          <p:spPr>
            <a:xfrm>
              <a:off x="6395810" y="1827103"/>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715199" y="1789974"/>
              <a:ext cx="4878705" cy="2686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Écriture conditionnelle</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 écrit uniquement où mask est True</a:t>
              </a:r>
              <a:endParaRPr lang="en-US" sz="1200"/>
            </a:p>
          </p:txBody>
        </p:sp>
        <p:sp>
          <p:nvSpPr>
            <p:cNvPr id="11" name="Freeform 11"/>
            <p:cNvSpPr/>
            <p:nvPr/>
          </p:nvSpPr>
          <p:spPr>
            <a:xfrm>
              <a:off x="6395810" y="2246328"/>
              <a:ext cx="185289" cy="185289"/>
            </a:xfrm>
            <a:custGeom>
              <a:avLst/>
              <a:gdLst/>
              <a:ahLst/>
              <a:cxnLst/>
              <a:rect l="l" t="t" r="r" b="b"/>
              <a:pathLst>
                <a:path w="185289" h="185289">
                  <a:moveTo>
                    <a:pt x="92644" y="185289"/>
                  </a:moveTo>
                  <a:cubicBezTo>
                    <a:pt x="143775" y="185289"/>
                    <a:pt x="185289" y="143775"/>
                    <a:pt x="185289" y="92644"/>
                  </a:cubicBezTo>
                  <a:cubicBezTo>
                    <a:pt x="185289" y="41512"/>
                    <a:pt x="143775" y="0"/>
                    <a:pt x="92644" y="0"/>
                  </a:cubicBezTo>
                  <a:cubicBezTo>
                    <a:pt x="41512" y="0"/>
                    <a:pt x="0" y="41512"/>
                    <a:pt x="0" y="92644"/>
                  </a:cubicBezTo>
                  <a:cubicBezTo>
                    <a:pt x="0" y="143775"/>
                    <a:pt x="41512" y="185289"/>
                    <a:pt x="92644" y="185289"/>
                  </a:cubicBezTo>
                  <a:close/>
                  <a:moveTo>
                    <a:pt x="123187" y="76973"/>
                  </a:moveTo>
                  <a:lnTo>
                    <a:pt x="94237" y="123297"/>
                  </a:lnTo>
                  <a:cubicBezTo>
                    <a:pt x="92718" y="125721"/>
                    <a:pt x="90112" y="127241"/>
                    <a:pt x="87252" y="127386"/>
                  </a:cubicBezTo>
                  <a:cubicBezTo>
                    <a:pt x="84393" y="127531"/>
                    <a:pt x="81643" y="126228"/>
                    <a:pt x="79941" y="123913"/>
                  </a:cubicBezTo>
                  <a:lnTo>
                    <a:pt x="62572" y="100750"/>
                  </a:lnTo>
                  <a:cubicBezTo>
                    <a:pt x="59676" y="96915"/>
                    <a:pt x="60472" y="91486"/>
                    <a:pt x="64308" y="88591"/>
                  </a:cubicBezTo>
                  <a:cubicBezTo>
                    <a:pt x="68144" y="85696"/>
                    <a:pt x="73572" y="86492"/>
                    <a:pt x="76468" y="90327"/>
                  </a:cubicBezTo>
                  <a:lnTo>
                    <a:pt x="86239" y="103356"/>
                  </a:lnTo>
                  <a:lnTo>
                    <a:pt x="108459" y="67782"/>
                  </a:lnTo>
                  <a:cubicBezTo>
                    <a:pt x="110992" y="63729"/>
                    <a:pt x="116349" y="62462"/>
                    <a:pt x="120438" y="65032"/>
                  </a:cubicBezTo>
                  <a:cubicBezTo>
                    <a:pt x="124527" y="67601"/>
                    <a:pt x="125758" y="72921"/>
                    <a:pt x="123187" y="77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715199" y="2209074"/>
              <a:ext cx="4975860" cy="2686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Garantit la mémoire safety</a:t>
              </a: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 évite les écritures mémoire illégales</a:t>
              </a:r>
              <a:endParaRPr lang="en-US" sz="1200"/>
            </a:p>
          </p:txBody>
        </p:sp>
      </p:grpSp>
      <p:sp>
        <p:nvSpPr>
          <p:cNvPr id="13" name="Freeform 13"/>
          <p:cNvSpPr/>
          <p:nvPr/>
        </p:nvSpPr>
        <p:spPr>
          <a:xfrm>
            <a:off x="370534" y="3543376"/>
            <a:ext cx="11450845" cy="3020207"/>
          </a:xfrm>
          <a:custGeom>
            <a:avLst/>
            <a:gdLst/>
            <a:ahLst/>
            <a:cxnLst/>
            <a:rect l="l" t="t" r="r" b="b"/>
            <a:pathLst>
              <a:path w="11450845" h="3020207">
                <a:moveTo>
                  <a:pt x="111175" y="0"/>
                </a:moveTo>
                <a:lnTo>
                  <a:pt x="11339671" y="0"/>
                </a:lnTo>
                <a:cubicBezTo>
                  <a:pt x="11401071" y="0"/>
                  <a:pt x="11450845" y="49774"/>
                  <a:pt x="11450845" y="111175"/>
                </a:cubicBezTo>
                <a:lnTo>
                  <a:pt x="11450845" y="2909033"/>
                </a:lnTo>
                <a:cubicBezTo>
                  <a:pt x="11450845" y="2970392"/>
                  <a:pt x="11401030" y="3020207"/>
                  <a:pt x="11339671" y="3020207"/>
                </a:cubicBezTo>
                <a:lnTo>
                  <a:pt x="111175" y="3020207"/>
                </a:lnTo>
                <a:cubicBezTo>
                  <a:pt x="49774" y="3020207"/>
                  <a:pt x="0" y="2970432"/>
                  <a:pt x="0" y="2909033"/>
                </a:cubicBezTo>
                <a:lnTo>
                  <a:pt x="0" y="111175"/>
                </a:lnTo>
                <a:cubicBezTo>
                  <a:pt x="0" y="49774"/>
                  <a:pt x="49774" y="0"/>
                  <a:pt x="11117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92855" y="3765695"/>
            <a:ext cx="11098796" cy="2594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Description complète des paramètres</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611292" y="4173322"/>
            <a:ext cx="10987531" cy="537337"/>
          </a:xfrm>
          <a:custGeom>
            <a:avLst/>
            <a:gdLst/>
            <a:ahLst/>
            <a:cxnLst/>
            <a:rect l="l" t="t" r="r" b="b"/>
            <a:pathLst>
              <a:path w="10987531" h="537337">
                <a:moveTo>
                  <a:pt x="36873" y="0"/>
                </a:moveTo>
                <a:lnTo>
                  <a:pt x="10913416" y="0"/>
                </a:lnTo>
                <a:cubicBezTo>
                  <a:pt x="10954349" y="0"/>
                  <a:pt x="10987531" y="33183"/>
                  <a:pt x="10987531" y="74115"/>
                </a:cubicBezTo>
                <a:lnTo>
                  <a:pt x="10987531" y="463222"/>
                </a:lnTo>
                <a:cubicBezTo>
                  <a:pt x="10987531" y="504154"/>
                  <a:pt x="10954349" y="537337"/>
                  <a:pt x="10913416" y="537337"/>
                </a:cubicBezTo>
                <a:lnTo>
                  <a:pt x="36873" y="537337"/>
                </a:lnTo>
                <a:cubicBezTo>
                  <a:pt x="16509" y="537337"/>
                  <a:pt x="0" y="520830"/>
                  <a:pt x="0" y="500464"/>
                </a:cubicBezTo>
                <a:lnTo>
                  <a:pt x="0" y="36873"/>
                </a:lnTo>
                <a:cubicBezTo>
                  <a:pt x="0" y="16509"/>
                  <a:pt x="16509" y="0"/>
                  <a:pt x="3687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11292" y="4173322"/>
            <a:ext cx="36873" cy="537337"/>
          </a:xfrm>
          <a:custGeom>
            <a:avLst/>
            <a:gdLst/>
            <a:ahLst/>
            <a:cxnLst/>
            <a:rect l="l" t="t" r="r" b="b"/>
            <a:pathLst>
              <a:path w="36873" h="537337">
                <a:moveTo>
                  <a:pt x="36873" y="0"/>
                </a:moveTo>
                <a:lnTo>
                  <a:pt x="36873" y="0"/>
                </a:lnTo>
                <a:lnTo>
                  <a:pt x="36873" y="537337"/>
                </a:lnTo>
                <a:lnTo>
                  <a:pt x="36873" y="537337"/>
                </a:lnTo>
                <a:cubicBezTo>
                  <a:pt x="16509" y="537337"/>
                  <a:pt x="0" y="520830"/>
                  <a:pt x="0" y="500464"/>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777942" y="4321534"/>
            <a:ext cx="10746748" cy="2408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tl.store(ptr, value, mask=None, cache_modifier="", eviction_policy="")</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11292" y="4858790"/>
            <a:ext cx="3548187" cy="815271"/>
          </a:xfrm>
          <a:custGeom>
            <a:avLst/>
            <a:gdLst/>
            <a:ahLst/>
            <a:cxnLst/>
            <a:rect l="l" t="t" r="r" b="b"/>
            <a:pathLst>
              <a:path w="3548187" h="815271">
                <a:moveTo>
                  <a:pt x="36873" y="0"/>
                </a:moveTo>
                <a:lnTo>
                  <a:pt x="3474071" y="0"/>
                </a:lnTo>
                <a:cubicBezTo>
                  <a:pt x="3515004" y="0"/>
                  <a:pt x="3548187" y="33183"/>
                  <a:pt x="3548187" y="74116"/>
                </a:cubicBezTo>
                <a:lnTo>
                  <a:pt x="3548187" y="741154"/>
                </a:lnTo>
                <a:cubicBezTo>
                  <a:pt x="3548187" y="782088"/>
                  <a:pt x="3515004" y="815271"/>
                  <a:pt x="3474071"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11292" y="4858790"/>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777942" y="5007003"/>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ptr</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777942" y="5303429"/>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Adresse mémoire cible</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4328085" y="4858790"/>
            <a:ext cx="3548187" cy="815271"/>
          </a:xfrm>
          <a:custGeom>
            <a:avLst/>
            <a:gdLst/>
            <a:ahLst/>
            <a:cxnLst/>
            <a:rect l="l" t="t" r="r" b="b"/>
            <a:pathLst>
              <a:path w="3548187" h="815271">
                <a:moveTo>
                  <a:pt x="36873" y="0"/>
                </a:moveTo>
                <a:lnTo>
                  <a:pt x="3474071" y="0"/>
                </a:lnTo>
                <a:cubicBezTo>
                  <a:pt x="3515004" y="0"/>
                  <a:pt x="3548187" y="33183"/>
                  <a:pt x="3548187" y="74116"/>
                </a:cubicBezTo>
                <a:lnTo>
                  <a:pt x="3548187" y="741154"/>
                </a:lnTo>
                <a:cubicBezTo>
                  <a:pt x="3548187" y="782088"/>
                  <a:pt x="3515004" y="815271"/>
                  <a:pt x="3474071"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4328085" y="4858790"/>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4494736" y="5007003"/>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value</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AutoShape 25"/>
          <p:cNvSpPr/>
          <p:nvPr/>
        </p:nvSpPr>
        <p:spPr>
          <a:xfrm>
            <a:off x="4494736" y="5303429"/>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Données à écrire (tensor)</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Freeform 26"/>
          <p:cNvSpPr/>
          <p:nvPr/>
        </p:nvSpPr>
        <p:spPr>
          <a:xfrm>
            <a:off x="8044879" y="4858790"/>
            <a:ext cx="3548187" cy="815271"/>
          </a:xfrm>
          <a:custGeom>
            <a:avLst/>
            <a:gdLst/>
            <a:ahLst/>
            <a:cxnLst/>
            <a:rect l="l" t="t" r="r" b="b"/>
            <a:pathLst>
              <a:path w="3548187" h="815271">
                <a:moveTo>
                  <a:pt x="36873" y="0"/>
                </a:moveTo>
                <a:lnTo>
                  <a:pt x="3474071" y="0"/>
                </a:lnTo>
                <a:cubicBezTo>
                  <a:pt x="3515004" y="0"/>
                  <a:pt x="3548187" y="33183"/>
                  <a:pt x="3548187" y="74116"/>
                </a:cubicBezTo>
                <a:lnTo>
                  <a:pt x="3548187" y="741154"/>
                </a:lnTo>
                <a:cubicBezTo>
                  <a:pt x="3548187" y="782088"/>
                  <a:pt x="3515004" y="815271"/>
                  <a:pt x="3474071" y="815271"/>
                </a:cubicBezTo>
                <a:lnTo>
                  <a:pt x="36873" y="815271"/>
                </a:lnTo>
                <a:cubicBezTo>
                  <a:pt x="16509" y="815271"/>
                  <a:pt x="0" y="798761"/>
                  <a:pt x="0" y="778397"/>
                </a:cubicBezTo>
                <a:lnTo>
                  <a:pt x="0" y="36873"/>
                </a:lnTo>
                <a:cubicBezTo>
                  <a:pt x="0" y="16509"/>
                  <a:pt x="16509" y="0"/>
                  <a:pt x="3687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8044879" y="4858790"/>
            <a:ext cx="36873" cy="815271"/>
          </a:xfrm>
          <a:custGeom>
            <a:avLst/>
            <a:gdLst/>
            <a:ahLst/>
            <a:cxnLst/>
            <a:rect l="l" t="t" r="r" b="b"/>
            <a:pathLst>
              <a:path w="36873" h="815271">
                <a:moveTo>
                  <a:pt x="36873" y="0"/>
                </a:moveTo>
                <a:lnTo>
                  <a:pt x="36873" y="0"/>
                </a:lnTo>
                <a:lnTo>
                  <a:pt x="36873" y="815271"/>
                </a:lnTo>
                <a:lnTo>
                  <a:pt x="36873" y="815271"/>
                </a:lnTo>
                <a:cubicBezTo>
                  <a:pt x="16509" y="815271"/>
                  <a:pt x="0" y="798761"/>
                  <a:pt x="0" y="778397"/>
                </a:cubicBezTo>
                <a:lnTo>
                  <a:pt x="0" y="36873"/>
                </a:lnTo>
                <a:cubicBezTo>
                  <a:pt x="0" y="16509"/>
                  <a:pt x="16509" y="0"/>
                  <a:pt x="3687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211530" y="5007003"/>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8211530" y="5303429"/>
            <a:ext cx="3307404" cy="22234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Contrôle les positions d'écriture</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Freeform 30"/>
          <p:cNvSpPr/>
          <p:nvPr/>
        </p:nvSpPr>
        <p:spPr>
          <a:xfrm>
            <a:off x="593090" y="5673090"/>
            <a:ext cx="11006455" cy="966470"/>
          </a:xfrm>
          <a:custGeom>
            <a:avLst/>
            <a:gdLst/>
            <a:ahLst/>
            <a:cxnLst/>
            <a:rect l="l" t="t" r="r" b="b"/>
            <a:pathLst>
              <a:path w="11006151" h="518809">
                <a:moveTo>
                  <a:pt x="74117" y="0"/>
                </a:moveTo>
                <a:lnTo>
                  <a:pt x="10932036" y="0"/>
                </a:lnTo>
                <a:cubicBezTo>
                  <a:pt x="10972969" y="0"/>
                  <a:pt x="11006151" y="33183"/>
                  <a:pt x="11006151" y="74117"/>
                </a:cubicBezTo>
                <a:lnTo>
                  <a:pt x="11006151" y="444692"/>
                </a:lnTo>
                <a:cubicBezTo>
                  <a:pt x="11006151" y="485625"/>
                  <a:pt x="10972969" y="518809"/>
                  <a:pt x="10932036" y="518809"/>
                </a:cubicBezTo>
                <a:lnTo>
                  <a:pt x="74117" y="518809"/>
                </a:lnTo>
                <a:cubicBezTo>
                  <a:pt x="33183" y="518809"/>
                  <a:pt x="0" y="485625"/>
                  <a:pt x="0" y="444692"/>
                </a:cubicBezTo>
                <a:lnTo>
                  <a:pt x="0" y="74117"/>
                </a:lnTo>
                <a:cubicBezTo>
                  <a:pt x="0" y="33211"/>
                  <a:pt x="33210" y="0"/>
                  <a:pt x="7411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763542" y="5988898"/>
            <a:ext cx="186665" cy="173708"/>
          </a:xfrm>
          <a:custGeom>
            <a:avLst/>
            <a:gdLst/>
            <a:ahLst/>
            <a:cxnLst/>
            <a:rect l="l" t="t" r="r" b="b"/>
            <a:pathLst>
              <a:path w="186665" h="173708">
                <a:moveTo>
                  <a:pt x="93332" y="0"/>
                </a:moveTo>
                <a:cubicBezTo>
                  <a:pt x="98652" y="0"/>
                  <a:pt x="103538" y="2931"/>
                  <a:pt x="106071" y="7600"/>
                </a:cubicBezTo>
                <a:lnTo>
                  <a:pt x="184240" y="152357"/>
                </a:lnTo>
                <a:cubicBezTo>
                  <a:pt x="186664" y="156844"/>
                  <a:pt x="186556" y="162272"/>
                  <a:pt x="183950" y="166651"/>
                </a:cubicBezTo>
                <a:cubicBezTo>
                  <a:pt x="181345" y="171030"/>
                  <a:pt x="176605" y="173708"/>
                  <a:pt x="171500" y="173708"/>
                </a:cubicBezTo>
                <a:lnTo>
                  <a:pt x="15163" y="173708"/>
                </a:lnTo>
                <a:cubicBezTo>
                  <a:pt x="10061" y="173708"/>
                  <a:pt x="5357" y="171030"/>
                  <a:pt x="2715" y="166651"/>
                </a:cubicBezTo>
                <a:cubicBezTo>
                  <a:pt x="73" y="162272"/>
                  <a:pt x="0" y="156844"/>
                  <a:pt x="2425" y="152357"/>
                </a:cubicBezTo>
                <a:lnTo>
                  <a:pt x="80594" y="7600"/>
                </a:lnTo>
                <a:cubicBezTo>
                  <a:pt x="83128" y="2931"/>
                  <a:pt x="88013" y="0"/>
                  <a:pt x="93332" y="0"/>
                </a:cubicBezTo>
                <a:close/>
                <a:moveTo>
                  <a:pt x="93332" y="60797"/>
                </a:moveTo>
                <a:cubicBezTo>
                  <a:pt x="88519" y="60797"/>
                  <a:pt x="84646" y="64670"/>
                  <a:pt x="84646" y="69483"/>
                </a:cubicBezTo>
                <a:lnTo>
                  <a:pt x="84646" y="110015"/>
                </a:lnTo>
                <a:cubicBezTo>
                  <a:pt x="84646" y="114828"/>
                  <a:pt x="88519" y="118701"/>
                  <a:pt x="93332" y="118701"/>
                </a:cubicBezTo>
                <a:cubicBezTo>
                  <a:pt x="98147" y="118701"/>
                  <a:pt x="102017" y="114828"/>
                  <a:pt x="102017" y="110015"/>
                </a:cubicBezTo>
                <a:lnTo>
                  <a:pt x="102017" y="69483"/>
                </a:lnTo>
                <a:cubicBezTo>
                  <a:pt x="102017" y="64670"/>
                  <a:pt x="98147" y="60797"/>
                  <a:pt x="93332" y="60797"/>
                </a:cubicBezTo>
                <a:close/>
                <a:moveTo>
                  <a:pt x="102995" y="138967"/>
                </a:moveTo>
                <a:cubicBezTo>
                  <a:pt x="103215" y="135379"/>
                  <a:pt x="101426" y="131968"/>
                  <a:pt x="98351" y="130108"/>
                </a:cubicBezTo>
                <a:cubicBezTo>
                  <a:pt x="95278" y="128248"/>
                  <a:pt x="91424" y="128248"/>
                  <a:pt x="88348" y="130108"/>
                </a:cubicBezTo>
                <a:cubicBezTo>
                  <a:pt x="85275" y="131968"/>
                  <a:pt x="83486" y="135379"/>
                  <a:pt x="83707" y="138967"/>
                </a:cubicBezTo>
                <a:cubicBezTo>
                  <a:pt x="83486" y="142552"/>
                  <a:pt x="85275" y="145966"/>
                  <a:pt x="88348" y="147825"/>
                </a:cubicBezTo>
                <a:cubicBezTo>
                  <a:pt x="91424" y="149685"/>
                  <a:pt x="95278" y="149685"/>
                  <a:pt x="98351" y="147825"/>
                </a:cubicBezTo>
                <a:cubicBezTo>
                  <a:pt x="101426" y="145966"/>
                  <a:pt x="103215" y="142552"/>
                  <a:pt x="102995" y="13896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083945" y="5970270"/>
            <a:ext cx="9798050"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Les opérations de store doivent inclure un mask, sinon cela peut entraîner des débordements mémoire et une corruption des données</a:t>
            </a:r>
            <a:endPar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370534" y="6711461"/>
            <a:ext cx="11506432" cy="148231"/>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9218" y="626561"/>
            <a:ext cx="11652454" cy="348094"/>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Définition de Grid </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sp>
        <p:nvSpPr>
          <p:cNvPr id="3" name="Freeform 3"/>
          <p:cNvSpPr/>
          <p:nvPr/>
        </p:nvSpPr>
        <p:spPr>
          <a:xfrm>
            <a:off x="365372" y="1287694"/>
            <a:ext cx="5586827" cy="2680325"/>
          </a:xfrm>
          <a:custGeom>
            <a:avLst/>
            <a:gdLst/>
            <a:ahLst/>
            <a:cxnLst/>
            <a:rect l="l" t="t" r="r" b="b"/>
            <a:pathLst>
              <a:path w="5586827" h="2680325">
                <a:moveTo>
                  <a:pt x="34635" y="0"/>
                </a:moveTo>
                <a:lnTo>
                  <a:pt x="5482400" y="0"/>
                </a:lnTo>
                <a:cubicBezTo>
                  <a:pt x="5540073" y="0"/>
                  <a:pt x="5586827" y="46753"/>
                  <a:pt x="5586827" y="104424"/>
                </a:cubicBezTo>
                <a:lnTo>
                  <a:pt x="5586827" y="2575900"/>
                </a:lnTo>
                <a:cubicBezTo>
                  <a:pt x="5586827" y="2633574"/>
                  <a:pt x="5540073" y="2680325"/>
                  <a:pt x="5482400" y="2680325"/>
                </a:cubicBezTo>
                <a:lnTo>
                  <a:pt x="34635" y="2680325"/>
                </a:lnTo>
                <a:cubicBezTo>
                  <a:pt x="15507" y="2680325"/>
                  <a:pt x="0" y="2664818"/>
                  <a:pt x="0" y="2645689"/>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65372" y="1287694"/>
            <a:ext cx="34635" cy="2680325"/>
          </a:xfrm>
          <a:custGeom>
            <a:avLst/>
            <a:gdLst/>
            <a:ahLst/>
            <a:cxnLst/>
            <a:rect l="l" t="t" r="r" b="b"/>
            <a:pathLst>
              <a:path w="34635" h="2680325">
                <a:moveTo>
                  <a:pt x="34635" y="0"/>
                </a:moveTo>
                <a:lnTo>
                  <a:pt x="34635" y="0"/>
                </a:lnTo>
                <a:lnTo>
                  <a:pt x="34635" y="2680325"/>
                </a:lnTo>
                <a:lnTo>
                  <a:pt x="34635" y="2680325"/>
                </a:lnTo>
                <a:cubicBezTo>
                  <a:pt x="15507" y="2680325"/>
                  <a:pt x="0" y="2664818"/>
                  <a:pt x="0" y="2645689"/>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91522" y="1496525"/>
            <a:ext cx="5230116" cy="1783983"/>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Définir grid</a:t>
            </a:r>
            <a:endParaRPr lang="en-US"/>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grid = </a:t>
            </a:r>
            <a:r>
              <a:rPr lang="en-US"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lambda</a:t>
            </a: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meta: (</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triton.cdiv(n_elements, meta[</a:t>
            </a:r>
            <a:r>
              <a:rPr lang="en-US"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'BLOCK_SIZE'</a:t>
            </a: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Lancer kernel</a:t>
            </a:r>
            <a:endParaRPr lang="en-US"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add_kernel[grid](...)</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grpSp>
        <p:nvGrpSpPr>
          <p:cNvPr id="6" name="Group 6"/>
          <p:cNvGrpSpPr/>
          <p:nvPr/>
        </p:nvGrpSpPr>
        <p:grpSpPr>
          <a:xfrm>
            <a:off x="6234726" y="1287694"/>
            <a:ext cx="5604317" cy="2680172"/>
            <a:chOff x="6234726" y="1287694"/>
            <a:chExt cx="5604317" cy="2680172"/>
          </a:xfrm>
        </p:grpSpPr>
        <p:sp>
          <p:nvSpPr>
            <p:cNvPr id="7" name="Freeform 7"/>
            <p:cNvSpPr/>
            <p:nvPr/>
          </p:nvSpPr>
          <p:spPr>
            <a:xfrm>
              <a:off x="6234726" y="1287694"/>
              <a:ext cx="5604317" cy="800617"/>
            </a:xfrm>
            <a:custGeom>
              <a:avLst/>
              <a:gdLst/>
              <a:ahLst/>
              <a:cxnLst/>
              <a:rect l="l" t="t" r="r" b="b"/>
              <a:pathLst>
                <a:path w="5604317" h="800617">
                  <a:moveTo>
                    <a:pt x="69621" y="0"/>
                  </a:moveTo>
                  <a:lnTo>
                    <a:pt x="5534696" y="0"/>
                  </a:lnTo>
                  <a:cubicBezTo>
                    <a:pt x="5573146" y="0"/>
                    <a:pt x="5604317" y="31171"/>
                    <a:pt x="5604317" y="69621"/>
                  </a:cubicBezTo>
                  <a:lnTo>
                    <a:pt x="5604317" y="730995"/>
                  </a:lnTo>
                  <a:cubicBezTo>
                    <a:pt x="5604317" y="769446"/>
                    <a:pt x="5573146" y="800617"/>
                    <a:pt x="5534696" y="800617"/>
                  </a:cubicBezTo>
                  <a:lnTo>
                    <a:pt x="69621" y="800617"/>
                  </a:lnTo>
                  <a:cubicBezTo>
                    <a:pt x="31196" y="800617"/>
                    <a:pt x="0" y="769421"/>
                    <a:pt x="0" y="730995"/>
                  </a:cubicBezTo>
                  <a:lnTo>
                    <a:pt x="0" y="69621"/>
                  </a:lnTo>
                  <a:cubicBezTo>
                    <a:pt x="0" y="31196"/>
                    <a:pt x="31196" y="0"/>
                    <a:pt x="6962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406581" y="1472568"/>
              <a:ext cx="152291" cy="152292"/>
            </a:xfrm>
            <a:custGeom>
              <a:avLst/>
              <a:gdLst/>
              <a:ahLst/>
              <a:cxnLst/>
              <a:rect l="l" t="t" r="r" b="b"/>
              <a:pathLst>
                <a:path w="152291" h="152292">
                  <a:moveTo>
                    <a:pt x="130534" y="21756"/>
                  </a:moveTo>
                  <a:lnTo>
                    <a:pt x="130534" y="43512"/>
                  </a:lnTo>
                  <a:lnTo>
                    <a:pt x="108779" y="43512"/>
                  </a:lnTo>
                  <a:lnTo>
                    <a:pt x="108779" y="21756"/>
                  </a:lnTo>
                  <a:lnTo>
                    <a:pt x="130534" y="21756"/>
                  </a:lnTo>
                  <a:close/>
                  <a:moveTo>
                    <a:pt x="130534" y="65267"/>
                  </a:moveTo>
                  <a:lnTo>
                    <a:pt x="130534" y="87022"/>
                  </a:lnTo>
                  <a:lnTo>
                    <a:pt x="108779" y="87022"/>
                  </a:lnTo>
                  <a:lnTo>
                    <a:pt x="108779" y="65267"/>
                  </a:lnTo>
                  <a:lnTo>
                    <a:pt x="130534" y="65267"/>
                  </a:lnTo>
                  <a:close/>
                  <a:moveTo>
                    <a:pt x="130534" y="108779"/>
                  </a:moveTo>
                  <a:lnTo>
                    <a:pt x="130534" y="130535"/>
                  </a:lnTo>
                  <a:lnTo>
                    <a:pt x="108779" y="130535"/>
                  </a:lnTo>
                  <a:lnTo>
                    <a:pt x="108779" y="108779"/>
                  </a:lnTo>
                  <a:lnTo>
                    <a:pt x="130534" y="108779"/>
                  </a:lnTo>
                  <a:close/>
                  <a:moveTo>
                    <a:pt x="87024" y="87022"/>
                  </a:moveTo>
                  <a:lnTo>
                    <a:pt x="65268" y="87022"/>
                  </a:lnTo>
                  <a:lnTo>
                    <a:pt x="65268" y="65267"/>
                  </a:lnTo>
                  <a:lnTo>
                    <a:pt x="87024" y="65267"/>
                  </a:lnTo>
                  <a:lnTo>
                    <a:pt x="87024" y="87022"/>
                  </a:lnTo>
                  <a:close/>
                  <a:moveTo>
                    <a:pt x="65268" y="108779"/>
                  </a:moveTo>
                  <a:lnTo>
                    <a:pt x="87024" y="108779"/>
                  </a:lnTo>
                  <a:lnTo>
                    <a:pt x="87024" y="130535"/>
                  </a:lnTo>
                  <a:lnTo>
                    <a:pt x="65268" y="130535"/>
                  </a:lnTo>
                  <a:lnTo>
                    <a:pt x="65268" y="108779"/>
                  </a:lnTo>
                  <a:close/>
                  <a:moveTo>
                    <a:pt x="43511" y="87022"/>
                  </a:moveTo>
                  <a:lnTo>
                    <a:pt x="21756" y="87022"/>
                  </a:lnTo>
                  <a:lnTo>
                    <a:pt x="21756" y="65267"/>
                  </a:lnTo>
                  <a:lnTo>
                    <a:pt x="43511" y="65267"/>
                  </a:lnTo>
                  <a:lnTo>
                    <a:pt x="43511" y="87022"/>
                  </a:lnTo>
                  <a:close/>
                  <a:moveTo>
                    <a:pt x="21756" y="108779"/>
                  </a:moveTo>
                  <a:lnTo>
                    <a:pt x="43511" y="108779"/>
                  </a:lnTo>
                  <a:lnTo>
                    <a:pt x="43511" y="130535"/>
                  </a:lnTo>
                  <a:lnTo>
                    <a:pt x="21756" y="130535"/>
                  </a:lnTo>
                  <a:lnTo>
                    <a:pt x="21756" y="108779"/>
                  </a:lnTo>
                  <a:close/>
                  <a:moveTo>
                    <a:pt x="21756" y="43512"/>
                  </a:moveTo>
                  <a:lnTo>
                    <a:pt x="21756" y="21756"/>
                  </a:lnTo>
                  <a:lnTo>
                    <a:pt x="43511" y="21756"/>
                  </a:lnTo>
                  <a:lnTo>
                    <a:pt x="43511" y="43512"/>
                  </a:lnTo>
                  <a:lnTo>
                    <a:pt x="21756" y="43512"/>
                  </a:lnTo>
                  <a:close/>
                  <a:moveTo>
                    <a:pt x="65268" y="43512"/>
                  </a:moveTo>
                  <a:lnTo>
                    <a:pt x="65268" y="21756"/>
                  </a:lnTo>
                  <a:lnTo>
                    <a:pt x="87024" y="21756"/>
                  </a:lnTo>
                  <a:lnTo>
                    <a:pt x="87024" y="43512"/>
                  </a:lnTo>
                  <a:lnTo>
                    <a:pt x="65268" y="43512"/>
                  </a:lnTo>
                  <a:close/>
                  <a:moveTo>
                    <a:pt x="21756" y="0"/>
                  </a:moveTo>
                  <a:cubicBezTo>
                    <a:pt x="9756" y="0"/>
                    <a:pt x="0" y="9756"/>
                    <a:pt x="0" y="21756"/>
                  </a:cubicBezTo>
                  <a:lnTo>
                    <a:pt x="0" y="130535"/>
                  </a:lnTo>
                  <a:cubicBezTo>
                    <a:pt x="0" y="142535"/>
                    <a:pt x="9756" y="152292"/>
                    <a:pt x="21756" y="152292"/>
                  </a:cubicBezTo>
                  <a:lnTo>
                    <a:pt x="130534" y="152292"/>
                  </a:lnTo>
                  <a:cubicBezTo>
                    <a:pt x="142535" y="152292"/>
                    <a:pt x="152291" y="142535"/>
                    <a:pt x="152291" y="130535"/>
                  </a:cubicBezTo>
                  <a:lnTo>
                    <a:pt x="152291" y="21756"/>
                  </a:lnTo>
                  <a:cubicBezTo>
                    <a:pt x="152291" y="9756"/>
                    <a:pt x="142535" y="0"/>
                    <a:pt x="130534" y="0"/>
                  </a:cubicBezTo>
                  <a:lnTo>
                    <a:pt x="21756"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695889" y="1426914"/>
              <a:ext cx="1889652"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 est un tuple</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AutoShape 10"/>
            <p:cNvSpPr/>
            <p:nvPr/>
          </p:nvSpPr>
          <p:spPr>
            <a:xfrm>
              <a:off x="6373947" y="1740199"/>
              <a:ext cx="5395460"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représente une grid 1D, 2D ou 3D</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6234726" y="2227472"/>
              <a:ext cx="5604317" cy="800617"/>
            </a:xfrm>
            <a:custGeom>
              <a:avLst/>
              <a:gdLst/>
              <a:ahLst/>
              <a:cxnLst/>
              <a:rect l="l" t="t" r="r" b="b"/>
              <a:pathLst>
                <a:path w="5604317" h="800617">
                  <a:moveTo>
                    <a:pt x="69621" y="0"/>
                  </a:moveTo>
                  <a:lnTo>
                    <a:pt x="5534696" y="0"/>
                  </a:lnTo>
                  <a:cubicBezTo>
                    <a:pt x="5573146" y="0"/>
                    <a:pt x="5604317" y="31171"/>
                    <a:pt x="5604317" y="69621"/>
                  </a:cubicBezTo>
                  <a:lnTo>
                    <a:pt x="5604317" y="730995"/>
                  </a:lnTo>
                  <a:cubicBezTo>
                    <a:pt x="5604317" y="769446"/>
                    <a:pt x="5573146" y="800617"/>
                    <a:pt x="5534696" y="800617"/>
                  </a:cubicBezTo>
                  <a:lnTo>
                    <a:pt x="69621" y="800617"/>
                  </a:lnTo>
                  <a:cubicBezTo>
                    <a:pt x="31196" y="800617"/>
                    <a:pt x="0" y="769421"/>
                    <a:pt x="0" y="730995"/>
                  </a:cubicBezTo>
                  <a:lnTo>
                    <a:pt x="0" y="69621"/>
                  </a:lnTo>
                  <a:cubicBezTo>
                    <a:pt x="0" y="31196"/>
                    <a:pt x="31196" y="0"/>
                    <a:pt x="6962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417459" y="2401468"/>
              <a:ext cx="130534" cy="174047"/>
            </a:xfrm>
            <a:custGeom>
              <a:avLst/>
              <a:gdLst/>
              <a:ahLst/>
              <a:cxnLst/>
              <a:rect l="l" t="t" r="r" b="b"/>
              <a:pathLst>
                <a:path w="130534" h="174047">
                  <a:moveTo>
                    <a:pt x="21756" y="0"/>
                  </a:moveTo>
                  <a:cubicBezTo>
                    <a:pt x="9756" y="0"/>
                    <a:pt x="0" y="9756"/>
                    <a:pt x="0" y="21756"/>
                  </a:cubicBezTo>
                  <a:lnTo>
                    <a:pt x="0" y="152291"/>
                  </a:lnTo>
                  <a:cubicBezTo>
                    <a:pt x="0" y="164291"/>
                    <a:pt x="9756" y="174047"/>
                    <a:pt x="21756" y="174047"/>
                  </a:cubicBezTo>
                  <a:lnTo>
                    <a:pt x="108779" y="174047"/>
                  </a:lnTo>
                  <a:cubicBezTo>
                    <a:pt x="120780" y="174047"/>
                    <a:pt x="130534" y="164291"/>
                    <a:pt x="130534" y="152291"/>
                  </a:cubicBezTo>
                  <a:lnTo>
                    <a:pt x="130534" y="21756"/>
                  </a:lnTo>
                  <a:cubicBezTo>
                    <a:pt x="130534" y="9756"/>
                    <a:pt x="120780" y="0"/>
                    <a:pt x="108779" y="0"/>
                  </a:cubicBezTo>
                  <a:lnTo>
                    <a:pt x="21756" y="0"/>
                  </a:lnTo>
                  <a:close/>
                  <a:moveTo>
                    <a:pt x="32634" y="21756"/>
                  </a:moveTo>
                  <a:lnTo>
                    <a:pt x="97900" y="21756"/>
                  </a:lnTo>
                  <a:cubicBezTo>
                    <a:pt x="103918" y="21756"/>
                    <a:pt x="108779" y="26617"/>
                    <a:pt x="108779" y="32634"/>
                  </a:cubicBezTo>
                  <a:lnTo>
                    <a:pt x="108779" y="43511"/>
                  </a:lnTo>
                  <a:cubicBezTo>
                    <a:pt x="108779" y="49529"/>
                    <a:pt x="103918" y="54390"/>
                    <a:pt x="97900" y="54390"/>
                  </a:cubicBezTo>
                  <a:lnTo>
                    <a:pt x="32634" y="54390"/>
                  </a:lnTo>
                  <a:cubicBezTo>
                    <a:pt x="26617" y="54390"/>
                    <a:pt x="21756" y="49529"/>
                    <a:pt x="21756" y="43511"/>
                  </a:cubicBezTo>
                  <a:lnTo>
                    <a:pt x="21756" y="32634"/>
                  </a:lnTo>
                  <a:cubicBezTo>
                    <a:pt x="21756" y="26617"/>
                    <a:pt x="26617" y="21756"/>
                    <a:pt x="32634" y="21756"/>
                  </a:cubicBezTo>
                  <a:close/>
                  <a:moveTo>
                    <a:pt x="38073" y="78864"/>
                  </a:moveTo>
                  <a:cubicBezTo>
                    <a:pt x="38073" y="83368"/>
                    <a:pt x="34417" y="87024"/>
                    <a:pt x="29914" y="87024"/>
                  </a:cubicBezTo>
                  <a:cubicBezTo>
                    <a:pt x="25411" y="87024"/>
                    <a:pt x="21756" y="83368"/>
                    <a:pt x="21756" y="78864"/>
                  </a:cubicBezTo>
                  <a:cubicBezTo>
                    <a:pt x="21756" y="74362"/>
                    <a:pt x="25411" y="70707"/>
                    <a:pt x="29914" y="70707"/>
                  </a:cubicBezTo>
                  <a:cubicBezTo>
                    <a:pt x="34417" y="70707"/>
                    <a:pt x="38073" y="74362"/>
                    <a:pt x="38073" y="78864"/>
                  </a:cubicBezTo>
                  <a:close/>
                  <a:moveTo>
                    <a:pt x="65268" y="87024"/>
                  </a:moveTo>
                  <a:cubicBezTo>
                    <a:pt x="60764" y="87024"/>
                    <a:pt x="57109" y="83368"/>
                    <a:pt x="57109" y="78864"/>
                  </a:cubicBezTo>
                  <a:cubicBezTo>
                    <a:pt x="57109" y="74362"/>
                    <a:pt x="60764" y="70707"/>
                    <a:pt x="65268" y="70707"/>
                  </a:cubicBezTo>
                  <a:cubicBezTo>
                    <a:pt x="69770" y="70707"/>
                    <a:pt x="73426" y="74362"/>
                    <a:pt x="73426" y="78864"/>
                  </a:cubicBezTo>
                  <a:cubicBezTo>
                    <a:pt x="73426" y="83368"/>
                    <a:pt x="69770" y="87024"/>
                    <a:pt x="65268" y="87024"/>
                  </a:cubicBezTo>
                  <a:close/>
                  <a:moveTo>
                    <a:pt x="108779" y="78864"/>
                  </a:moveTo>
                  <a:cubicBezTo>
                    <a:pt x="108779" y="83368"/>
                    <a:pt x="105124" y="87024"/>
                    <a:pt x="100621" y="87024"/>
                  </a:cubicBezTo>
                  <a:cubicBezTo>
                    <a:pt x="96117" y="87024"/>
                    <a:pt x="92464" y="83368"/>
                    <a:pt x="92464" y="78864"/>
                  </a:cubicBezTo>
                  <a:cubicBezTo>
                    <a:pt x="92464" y="74362"/>
                    <a:pt x="96117" y="70707"/>
                    <a:pt x="100621" y="70707"/>
                  </a:cubicBezTo>
                  <a:cubicBezTo>
                    <a:pt x="105124" y="70707"/>
                    <a:pt x="108779" y="74362"/>
                    <a:pt x="108779" y="78864"/>
                  </a:cubicBezTo>
                  <a:close/>
                  <a:moveTo>
                    <a:pt x="29914" y="119657"/>
                  </a:moveTo>
                  <a:cubicBezTo>
                    <a:pt x="25411" y="119657"/>
                    <a:pt x="21756" y="116002"/>
                    <a:pt x="21756" y="111498"/>
                  </a:cubicBezTo>
                  <a:cubicBezTo>
                    <a:pt x="21756" y="106996"/>
                    <a:pt x="25411" y="103340"/>
                    <a:pt x="29914" y="103340"/>
                  </a:cubicBezTo>
                  <a:cubicBezTo>
                    <a:pt x="34417" y="103340"/>
                    <a:pt x="38073" y="106996"/>
                    <a:pt x="38073" y="111498"/>
                  </a:cubicBezTo>
                  <a:cubicBezTo>
                    <a:pt x="38073" y="116002"/>
                    <a:pt x="34417" y="119657"/>
                    <a:pt x="29914" y="119657"/>
                  </a:cubicBezTo>
                  <a:close/>
                  <a:moveTo>
                    <a:pt x="73426" y="111498"/>
                  </a:moveTo>
                  <a:cubicBezTo>
                    <a:pt x="73426" y="116002"/>
                    <a:pt x="69770" y="119657"/>
                    <a:pt x="65268" y="119657"/>
                  </a:cubicBezTo>
                  <a:cubicBezTo>
                    <a:pt x="60764" y="119657"/>
                    <a:pt x="57109" y="116002"/>
                    <a:pt x="57109" y="111498"/>
                  </a:cubicBezTo>
                  <a:cubicBezTo>
                    <a:pt x="57109" y="106996"/>
                    <a:pt x="60764" y="103340"/>
                    <a:pt x="65268" y="103340"/>
                  </a:cubicBezTo>
                  <a:cubicBezTo>
                    <a:pt x="69770" y="103340"/>
                    <a:pt x="73426" y="106996"/>
                    <a:pt x="73426" y="111498"/>
                  </a:cubicBezTo>
                  <a:close/>
                  <a:moveTo>
                    <a:pt x="100621" y="119657"/>
                  </a:moveTo>
                  <a:cubicBezTo>
                    <a:pt x="96117" y="119657"/>
                    <a:pt x="92464" y="116002"/>
                    <a:pt x="92464" y="111498"/>
                  </a:cubicBezTo>
                  <a:cubicBezTo>
                    <a:pt x="92464" y="106996"/>
                    <a:pt x="96117" y="103340"/>
                    <a:pt x="100621" y="103340"/>
                  </a:cubicBezTo>
                  <a:cubicBezTo>
                    <a:pt x="105124" y="103340"/>
                    <a:pt x="108779" y="106996"/>
                    <a:pt x="108779" y="111498"/>
                  </a:cubicBezTo>
                  <a:cubicBezTo>
                    <a:pt x="108779" y="116002"/>
                    <a:pt x="105124" y="119657"/>
                    <a:pt x="100621" y="119657"/>
                  </a:cubicBezTo>
                  <a:close/>
                  <a:moveTo>
                    <a:pt x="21756" y="144134"/>
                  </a:moveTo>
                  <a:cubicBezTo>
                    <a:pt x="21756" y="139612"/>
                    <a:pt x="25392" y="135974"/>
                    <a:pt x="29914" y="135974"/>
                  </a:cubicBezTo>
                  <a:lnTo>
                    <a:pt x="67987" y="135974"/>
                  </a:lnTo>
                  <a:cubicBezTo>
                    <a:pt x="72508" y="135974"/>
                    <a:pt x="76145" y="139612"/>
                    <a:pt x="76145" y="144134"/>
                  </a:cubicBezTo>
                  <a:cubicBezTo>
                    <a:pt x="76145" y="148654"/>
                    <a:pt x="72508" y="152291"/>
                    <a:pt x="67987" y="152291"/>
                  </a:cubicBezTo>
                  <a:lnTo>
                    <a:pt x="29914" y="152291"/>
                  </a:lnTo>
                  <a:cubicBezTo>
                    <a:pt x="25392" y="152291"/>
                    <a:pt x="21756" y="148654"/>
                    <a:pt x="21756" y="144134"/>
                  </a:cubicBezTo>
                  <a:close/>
                  <a:moveTo>
                    <a:pt x="100621" y="135974"/>
                  </a:moveTo>
                  <a:cubicBezTo>
                    <a:pt x="105142" y="135974"/>
                    <a:pt x="108779" y="139612"/>
                    <a:pt x="108779" y="144134"/>
                  </a:cubicBezTo>
                  <a:cubicBezTo>
                    <a:pt x="108779" y="148654"/>
                    <a:pt x="105142" y="152291"/>
                    <a:pt x="100621" y="152291"/>
                  </a:cubicBezTo>
                  <a:cubicBezTo>
                    <a:pt x="96100" y="152291"/>
                    <a:pt x="92464" y="148654"/>
                    <a:pt x="92464" y="144134"/>
                  </a:cubicBezTo>
                  <a:cubicBezTo>
                    <a:pt x="92464" y="139612"/>
                    <a:pt x="96100" y="135974"/>
                    <a:pt x="100621" y="13597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695736" y="2366559"/>
              <a:ext cx="4118610"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Calcul de la taille de grid</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6373947" y="2679977"/>
              <a:ext cx="5395460"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Taille = ceil(n_elements / BLOCK_SIZE)</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6234726" y="3167249"/>
              <a:ext cx="5604317" cy="800617"/>
            </a:xfrm>
            <a:custGeom>
              <a:avLst/>
              <a:gdLst/>
              <a:ahLst/>
              <a:cxnLst/>
              <a:rect l="l" t="t" r="r" b="b"/>
              <a:pathLst>
                <a:path w="5604317" h="800617">
                  <a:moveTo>
                    <a:pt x="69621" y="0"/>
                  </a:moveTo>
                  <a:lnTo>
                    <a:pt x="5534696" y="0"/>
                  </a:lnTo>
                  <a:cubicBezTo>
                    <a:pt x="5573146" y="0"/>
                    <a:pt x="5604317" y="31171"/>
                    <a:pt x="5604317" y="69621"/>
                  </a:cubicBezTo>
                  <a:lnTo>
                    <a:pt x="5604317" y="730995"/>
                  </a:lnTo>
                  <a:cubicBezTo>
                    <a:pt x="5604317" y="769446"/>
                    <a:pt x="5573146" y="800617"/>
                    <a:pt x="5534696" y="800617"/>
                  </a:cubicBezTo>
                  <a:lnTo>
                    <a:pt x="69621" y="800617"/>
                  </a:lnTo>
                  <a:cubicBezTo>
                    <a:pt x="31196" y="800617"/>
                    <a:pt x="0" y="769421"/>
                    <a:pt x="0" y="730995"/>
                  </a:cubicBezTo>
                  <a:lnTo>
                    <a:pt x="0" y="69621"/>
                  </a:lnTo>
                  <a:cubicBezTo>
                    <a:pt x="0" y="31196"/>
                    <a:pt x="31196" y="0"/>
                    <a:pt x="6962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394649" y="3340362"/>
              <a:ext cx="176190" cy="175781"/>
            </a:xfrm>
            <a:custGeom>
              <a:avLst/>
              <a:gdLst/>
              <a:ahLst/>
              <a:cxnLst/>
              <a:rect l="l" t="t" r="r" b="b"/>
              <a:pathLst>
                <a:path w="176190" h="175781">
                  <a:moveTo>
                    <a:pt x="171906" y="139102"/>
                  </a:moveTo>
                  <a:lnTo>
                    <a:pt x="139272" y="171736"/>
                  </a:lnTo>
                  <a:cubicBezTo>
                    <a:pt x="136144" y="174863"/>
                    <a:pt x="131487" y="175781"/>
                    <a:pt x="127408" y="174082"/>
                  </a:cubicBezTo>
                  <a:cubicBezTo>
                    <a:pt x="123330" y="172382"/>
                    <a:pt x="120711" y="168438"/>
                    <a:pt x="120711" y="164054"/>
                  </a:cubicBezTo>
                  <a:lnTo>
                    <a:pt x="120711" y="142297"/>
                  </a:lnTo>
                  <a:lnTo>
                    <a:pt x="11932" y="142297"/>
                  </a:lnTo>
                  <a:cubicBezTo>
                    <a:pt x="5916" y="142297"/>
                    <a:pt x="1054" y="137436"/>
                    <a:pt x="1054" y="131418"/>
                  </a:cubicBezTo>
                  <a:cubicBezTo>
                    <a:pt x="1054" y="125402"/>
                    <a:pt x="5916" y="120541"/>
                    <a:pt x="11932" y="120541"/>
                  </a:cubicBezTo>
                  <a:lnTo>
                    <a:pt x="120711" y="120541"/>
                  </a:lnTo>
                  <a:lnTo>
                    <a:pt x="120711" y="98784"/>
                  </a:lnTo>
                  <a:cubicBezTo>
                    <a:pt x="120711" y="94400"/>
                    <a:pt x="123363" y="90423"/>
                    <a:pt x="127442" y="88724"/>
                  </a:cubicBezTo>
                  <a:cubicBezTo>
                    <a:pt x="131521" y="87024"/>
                    <a:pt x="136178" y="87976"/>
                    <a:pt x="139306" y="91069"/>
                  </a:cubicBezTo>
                  <a:lnTo>
                    <a:pt x="171940" y="123703"/>
                  </a:lnTo>
                  <a:cubicBezTo>
                    <a:pt x="176190" y="127953"/>
                    <a:pt x="176190" y="134852"/>
                    <a:pt x="171940" y="139102"/>
                  </a:cubicBezTo>
                  <a:close/>
                  <a:moveTo>
                    <a:pt x="4249" y="52078"/>
                  </a:moveTo>
                  <a:cubicBezTo>
                    <a:pt x="0" y="47830"/>
                    <a:pt x="0" y="40928"/>
                    <a:pt x="4249" y="36679"/>
                  </a:cubicBezTo>
                  <a:lnTo>
                    <a:pt x="36883" y="4045"/>
                  </a:lnTo>
                  <a:cubicBezTo>
                    <a:pt x="40011" y="918"/>
                    <a:pt x="44668" y="0"/>
                    <a:pt x="48748" y="1701"/>
                  </a:cubicBezTo>
                  <a:cubicBezTo>
                    <a:pt x="52826" y="3400"/>
                    <a:pt x="55444" y="7378"/>
                    <a:pt x="55444" y="11762"/>
                  </a:cubicBezTo>
                  <a:lnTo>
                    <a:pt x="55444" y="33518"/>
                  </a:lnTo>
                  <a:lnTo>
                    <a:pt x="164224" y="33518"/>
                  </a:lnTo>
                  <a:cubicBezTo>
                    <a:pt x="170240" y="33518"/>
                    <a:pt x="175101" y="38379"/>
                    <a:pt x="175101" y="44395"/>
                  </a:cubicBezTo>
                  <a:cubicBezTo>
                    <a:pt x="175101" y="50413"/>
                    <a:pt x="170240" y="55274"/>
                    <a:pt x="164224" y="55274"/>
                  </a:cubicBezTo>
                  <a:lnTo>
                    <a:pt x="55444" y="55274"/>
                  </a:lnTo>
                  <a:lnTo>
                    <a:pt x="55444" y="77029"/>
                  </a:lnTo>
                  <a:cubicBezTo>
                    <a:pt x="55444" y="81415"/>
                    <a:pt x="52793" y="85392"/>
                    <a:pt x="48713" y="87092"/>
                  </a:cubicBezTo>
                  <a:cubicBezTo>
                    <a:pt x="44634" y="88791"/>
                    <a:pt x="39977" y="87840"/>
                    <a:pt x="36849" y="84746"/>
                  </a:cubicBezTo>
                  <a:lnTo>
                    <a:pt x="4215" y="5211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95889" y="3306470"/>
              <a:ext cx="722296"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 1D</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6373947" y="3619755"/>
              <a:ext cx="5395460"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Cet exemple utilise une grid 1D, avec une seule dimension</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19" name="Group 19"/>
          <p:cNvGrpSpPr/>
          <p:nvPr/>
        </p:nvGrpSpPr>
        <p:grpSpPr>
          <a:xfrm>
            <a:off x="348054" y="4176638"/>
            <a:ext cx="11495811" cy="2401849"/>
            <a:chOff x="348054" y="4176638"/>
            <a:chExt cx="11495811" cy="2401849"/>
          </a:xfrm>
        </p:grpSpPr>
        <p:sp>
          <p:nvSpPr>
            <p:cNvPr id="20" name="Freeform 20"/>
            <p:cNvSpPr/>
            <p:nvPr/>
          </p:nvSpPr>
          <p:spPr>
            <a:xfrm>
              <a:off x="348054" y="4176638"/>
              <a:ext cx="11495811" cy="2401849"/>
            </a:xfrm>
            <a:custGeom>
              <a:avLst/>
              <a:gdLst/>
              <a:ahLst/>
              <a:cxnLst/>
              <a:rect l="l" t="t" r="r" b="b"/>
              <a:pathLst>
                <a:path w="11495811" h="2401849">
                  <a:moveTo>
                    <a:pt x="104432" y="0"/>
                  </a:moveTo>
                  <a:lnTo>
                    <a:pt x="11391379" y="0"/>
                  </a:lnTo>
                  <a:cubicBezTo>
                    <a:pt x="11449056" y="0"/>
                    <a:pt x="11495811" y="46756"/>
                    <a:pt x="11495811" y="104432"/>
                  </a:cubicBezTo>
                  <a:lnTo>
                    <a:pt x="11495811" y="2297419"/>
                  </a:lnTo>
                  <a:cubicBezTo>
                    <a:pt x="11495811" y="2355094"/>
                    <a:pt x="11449056" y="2401849"/>
                    <a:pt x="11391379" y="2401849"/>
                  </a:cubicBezTo>
                  <a:lnTo>
                    <a:pt x="104432" y="2401849"/>
                  </a:lnTo>
                  <a:cubicBezTo>
                    <a:pt x="46756" y="2401849"/>
                    <a:pt x="0" y="2355094"/>
                    <a:pt x="0" y="2297419"/>
                  </a:cubicBezTo>
                  <a:lnTo>
                    <a:pt x="0" y="104432"/>
                  </a:lnTo>
                  <a:cubicBezTo>
                    <a:pt x="0" y="46794"/>
                    <a:pt x="46794" y="0"/>
                    <a:pt x="10443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56886" y="4385469"/>
              <a:ext cx="11165122" cy="2436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Exemple de calcul</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565545" y="4777023"/>
              <a:ext cx="5412779" cy="1583742"/>
            </a:xfrm>
            <a:custGeom>
              <a:avLst/>
              <a:gdLst/>
              <a:ahLst/>
              <a:cxnLst/>
              <a:rect l="l" t="t" r="r" b="b"/>
              <a:pathLst>
                <a:path w="5412779" h="1583742">
                  <a:moveTo>
                    <a:pt x="69621" y="0"/>
                  </a:moveTo>
                  <a:lnTo>
                    <a:pt x="5343157" y="0"/>
                  </a:lnTo>
                  <a:cubicBezTo>
                    <a:pt x="5381608" y="0"/>
                    <a:pt x="5412779" y="31171"/>
                    <a:pt x="5412779" y="69621"/>
                  </a:cubicBezTo>
                  <a:lnTo>
                    <a:pt x="5412779" y="1514121"/>
                  </a:lnTo>
                  <a:cubicBezTo>
                    <a:pt x="5412779" y="1552572"/>
                    <a:pt x="5381608" y="1583742"/>
                    <a:pt x="5343157" y="1583742"/>
                  </a:cubicBezTo>
                  <a:lnTo>
                    <a:pt x="69621" y="1583742"/>
                  </a:lnTo>
                  <a:cubicBezTo>
                    <a:pt x="31171" y="1583742"/>
                    <a:pt x="0" y="1552572"/>
                    <a:pt x="0" y="1514121"/>
                  </a:cubicBezTo>
                  <a:lnTo>
                    <a:pt x="0" y="69621"/>
                  </a:lnTo>
                  <a:cubicBezTo>
                    <a:pt x="0" y="31196"/>
                    <a:pt x="31196" y="0"/>
                    <a:pt x="6962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713425" y="4924904"/>
              <a:ext cx="5177901"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Exemple 1</a:t>
              </a:r>
              <a:endPar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730743" y="5168511"/>
              <a:ext cx="5099494" cy="556951"/>
            </a:xfrm>
            <a:custGeom>
              <a:avLst/>
              <a:gdLst/>
              <a:ahLst/>
              <a:cxnLst/>
              <a:rect l="l" t="t" r="r" b="b"/>
              <a:pathLst>
                <a:path w="5099494" h="556951">
                  <a:moveTo>
                    <a:pt x="34635" y="0"/>
                  </a:moveTo>
                  <a:lnTo>
                    <a:pt x="5064684" y="0"/>
                  </a:lnTo>
                  <a:cubicBezTo>
                    <a:pt x="5083909" y="0"/>
                    <a:pt x="5099495" y="15585"/>
                    <a:pt x="5099495" y="34809"/>
                  </a:cubicBezTo>
                  <a:lnTo>
                    <a:pt x="5099495" y="522141"/>
                  </a:lnTo>
                  <a:cubicBezTo>
                    <a:pt x="5099495" y="541365"/>
                    <a:pt x="5083909" y="556951"/>
                    <a:pt x="5064684" y="556951"/>
                  </a:cubicBezTo>
                  <a:lnTo>
                    <a:pt x="34635" y="556951"/>
                  </a:lnTo>
                  <a:cubicBezTo>
                    <a:pt x="15507" y="556951"/>
                    <a:pt x="0" y="541444"/>
                    <a:pt x="0" y="522315"/>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730743" y="5168511"/>
              <a:ext cx="34635" cy="556951"/>
            </a:xfrm>
            <a:custGeom>
              <a:avLst/>
              <a:gdLst/>
              <a:ahLst/>
              <a:cxnLst/>
              <a:rect l="l" t="t" r="r" b="b"/>
              <a:pathLst>
                <a:path w="34635" h="556951">
                  <a:moveTo>
                    <a:pt x="34635" y="0"/>
                  </a:moveTo>
                  <a:lnTo>
                    <a:pt x="34635" y="0"/>
                  </a:lnTo>
                  <a:lnTo>
                    <a:pt x="34635" y="556951"/>
                  </a:lnTo>
                  <a:lnTo>
                    <a:pt x="34635" y="556951"/>
                  </a:lnTo>
                  <a:cubicBezTo>
                    <a:pt x="15507" y="556951"/>
                    <a:pt x="0" y="541444"/>
                    <a:pt x="0" y="522315"/>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852444" y="5272888"/>
              <a:ext cx="4942938" cy="34809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n_elements = 10000</a:t>
              </a:r>
              <a:endParaRPr lang="en-US"/>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BLOCK_SIZE = 1024</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nvSpPr>
          <p:spPr>
            <a:xfrm>
              <a:off x="713425" y="5794868"/>
              <a:ext cx="5186604" cy="41771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grid = (10,)</a:t>
              </a:r>
              <a:endParaRPr lang="en-US"/>
            </a:p>
            <a:p>
              <a:pPr indent="0" algn="l">
                <a:lnSpc>
                  <a:spcPct val="133000"/>
                </a:lnSpc>
              </a:pPr>
              <a:r>
                <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ceil(10000/1024) = 10</a:t>
              </a:r>
              <a:endPar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nvSpPr>
          <p:spPr>
            <a:xfrm>
              <a:off x="6208546" y="4777023"/>
              <a:ext cx="5412779" cy="1583742"/>
            </a:xfrm>
            <a:custGeom>
              <a:avLst/>
              <a:gdLst/>
              <a:ahLst/>
              <a:cxnLst/>
              <a:rect l="l" t="t" r="r" b="b"/>
              <a:pathLst>
                <a:path w="5412779" h="1583742">
                  <a:moveTo>
                    <a:pt x="69621" y="0"/>
                  </a:moveTo>
                  <a:lnTo>
                    <a:pt x="5343157" y="0"/>
                  </a:lnTo>
                  <a:cubicBezTo>
                    <a:pt x="5381608" y="0"/>
                    <a:pt x="5412779" y="31171"/>
                    <a:pt x="5412779" y="69621"/>
                  </a:cubicBezTo>
                  <a:lnTo>
                    <a:pt x="5412779" y="1514121"/>
                  </a:lnTo>
                  <a:cubicBezTo>
                    <a:pt x="5412779" y="1552572"/>
                    <a:pt x="5381608" y="1583742"/>
                    <a:pt x="5343157" y="1583742"/>
                  </a:cubicBezTo>
                  <a:lnTo>
                    <a:pt x="69621" y="1583742"/>
                  </a:lnTo>
                  <a:cubicBezTo>
                    <a:pt x="31171" y="1583742"/>
                    <a:pt x="0" y="1552572"/>
                    <a:pt x="0" y="1514121"/>
                  </a:cubicBezTo>
                  <a:lnTo>
                    <a:pt x="0" y="69621"/>
                  </a:lnTo>
                  <a:cubicBezTo>
                    <a:pt x="0" y="31196"/>
                    <a:pt x="31196" y="0"/>
                    <a:pt x="69621"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6356426" y="4924904"/>
              <a:ext cx="5177901"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Exemple 2</a:t>
              </a:r>
              <a:endPar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Freeform 30"/>
            <p:cNvSpPr/>
            <p:nvPr/>
          </p:nvSpPr>
          <p:spPr>
            <a:xfrm>
              <a:off x="6373745" y="5168511"/>
              <a:ext cx="5099495" cy="556951"/>
            </a:xfrm>
            <a:custGeom>
              <a:avLst/>
              <a:gdLst/>
              <a:ahLst/>
              <a:cxnLst/>
              <a:rect l="l" t="t" r="r" b="b"/>
              <a:pathLst>
                <a:path w="5099495" h="556951">
                  <a:moveTo>
                    <a:pt x="34635" y="0"/>
                  </a:moveTo>
                  <a:lnTo>
                    <a:pt x="5064684" y="0"/>
                  </a:lnTo>
                  <a:cubicBezTo>
                    <a:pt x="5083909" y="0"/>
                    <a:pt x="5099495" y="15585"/>
                    <a:pt x="5099495" y="34809"/>
                  </a:cubicBezTo>
                  <a:lnTo>
                    <a:pt x="5099495" y="522141"/>
                  </a:lnTo>
                  <a:cubicBezTo>
                    <a:pt x="5099495" y="541365"/>
                    <a:pt x="5083909" y="556951"/>
                    <a:pt x="5064684" y="556951"/>
                  </a:cubicBezTo>
                  <a:lnTo>
                    <a:pt x="34635" y="556951"/>
                  </a:lnTo>
                  <a:cubicBezTo>
                    <a:pt x="15507" y="556951"/>
                    <a:pt x="0" y="541444"/>
                    <a:pt x="0" y="522315"/>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373745" y="5168511"/>
              <a:ext cx="34635" cy="556951"/>
            </a:xfrm>
            <a:custGeom>
              <a:avLst/>
              <a:gdLst/>
              <a:ahLst/>
              <a:cxnLst/>
              <a:rect l="l" t="t" r="r" b="b"/>
              <a:pathLst>
                <a:path w="34635" h="556951">
                  <a:moveTo>
                    <a:pt x="34635" y="0"/>
                  </a:moveTo>
                  <a:lnTo>
                    <a:pt x="34635" y="0"/>
                  </a:lnTo>
                  <a:lnTo>
                    <a:pt x="34635" y="556951"/>
                  </a:lnTo>
                  <a:lnTo>
                    <a:pt x="34635" y="556951"/>
                  </a:lnTo>
                  <a:cubicBezTo>
                    <a:pt x="15507" y="556951"/>
                    <a:pt x="0" y="541444"/>
                    <a:pt x="0" y="522315"/>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495445" y="5272888"/>
              <a:ext cx="4942938" cy="34809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n_elements = 5000</a:t>
              </a:r>
              <a:endParaRPr lang="en-US"/>
            </a:p>
            <a:p>
              <a:pPr indent="0" algn="l">
                <a:lnSpc>
                  <a:spcPct val="100000"/>
                </a:lnSpc>
              </a:pPr>
              <a:r>
                <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BLOCK_SIZE = 256</a:t>
              </a:r>
              <a:endParaRPr lang="en-US"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6356426" y="5794868"/>
              <a:ext cx="5186604" cy="41771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grid = (20,)</a:t>
              </a:r>
              <a:endParaRPr lang="en-US"/>
            </a:p>
            <a:p>
              <a:pPr indent="0" algn="l">
                <a:lnSpc>
                  <a:spcPct val="133000"/>
                </a:lnSpc>
              </a:pPr>
              <a:r>
                <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ceil(5000/256) = 20</a:t>
              </a:r>
              <a:endParaRPr lang="en-US"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4" name="AutoShape 34"/>
          <p:cNvSpPr/>
          <p:nvPr/>
        </p:nvSpPr>
        <p:spPr>
          <a:xfrm>
            <a:off x="348054" y="6717131"/>
            <a:ext cx="11548026" cy="13923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3087" y="614621"/>
            <a:ext cx="11670327" cy="336563"/>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MiSans" panose="00000500000000000000" charset="-122"/>
              </a:rPr>
              <a:t>Pourquoi utiliser lambda meta ?</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336524" y="1779537"/>
            <a:ext cx="5603875" cy="1139825"/>
            <a:chOff x="336524" y="1779537"/>
            <a:chExt cx="5603875" cy="1139825"/>
          </a:xfrm>
        </p:grpSpPr>
        <p:sp>
          <p:nvSpPr>
            <p:cNvPr id="4" name="Freeform 4"/>
            <p:cNvSpPr/>
            <p:nvPr/>
          </p:nvSpPr>
          <p:spPr>
            <a:xfrm>
              <a:off x="336524" y="1779537"/>
              <a:ext cx="5603875" cy="1139825"/>
            </a:xfrm>
            <a:custGeom>
              <a:avLst/>
              <a:gdLst/>
              <a:ahLst/>
              <a:cxnLst/>
              <a:rect l="l" t="t" r="r" b="b"/>
              <a:pathLst>
                <a:path w="5603693" h="984447">
                  <a:moveTo>
                    <a:pt x="33489" y="0"/>
                  </a:moveTo>
                  <a:lnTo>
                    <a:pt x="5502728" y="0"/>
                  </a:lnTo>
                  <a:cubicBezTo>
                    <a:pt x="5558489" y="0"/>
                    <a:pt x="5603693" y="45204"/>
                    <a:pt x="5603693" y="100965"/>
                  </a:cubicBezTo>
                  <a:lnTo>
                    <a:pt x="5603693" y="883482"/>
                  </a:lnTo>
                  <a:cubicBezTo>
                    <a:pt x="5603693" y="939244"/>
                    <a:pt x="5558489" y="984447"/>
                    <a:pt x="5502728" y="984447"/>
                  </a:cubicBezTo>
                  <a:lnTo>
                    <a:pt x="33489" y="984447"/>
                  </a:lnTo>
                  <a:cubicBezTo>
                    <a:pt x="14994" y="984447"/>
                    <a:pt x="0" y="969454"/>
                    <a:pt x="0" y="950958"/>
                  </a:cubicBezTo>
                  <a:lnTo>
                    <a:pt x="0" y="33489"/>
                  </a:lnTo>
                  <a:cubicBezTo>
                    <a:pt x="0" y="15006"/>
                    <a:pt x="15006" y="0"/>
                    <a:pt x="334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5" name="Freeform 5"/>
            <p:cNvSpPr/>
            <p:nvPr/>
          </p:nvSpPr>
          <p:spPr>
            <a:xfrm>
              <a:off x="336524" y="1779537"/>
              <a:ext cx="33489" cy="984447"/>
            </a:xfrm>
            <a:custGeom>
              <a:avLst/>
              <a:gdLst/>
              <a:ahLst/>
              <a:cxnLst/>
              <a:rect l="l" t="t" r="r" b="b"/>
              <a:pathLst>
                <a:path w="33489" h="984447">
                  <a:moveTo>
                    <a:pt x="33489" y="0"/>
                  </a:moveTo>
                  <a:lnTo>
                    <a:pt x="33489" y="0"/>
                  </a:lnTo>
                  <a:lnTo>
                    <a:pt x="33489" y="984447"/>
                  </a:lnTo>
                  <a:lnTo>
                    <a:pt x="33489" y="984447"/>
                  </a:lnTo>
                  <a:cubicBezTo>
                    <a:pt x="14994" y="984447"/>
                    <a:pt x="0" y="969454"/>
                    <a:pt x="0" y="950958"/>
                  </a:cubicBezTo>
                  <a:lnTo>
                    <a:pt x="0" y="33489"/>
                  </a:lnTo>
                  <a:cubicBezTo>
                    <a:pt x="0" y="15006"/>
                    <a:pt x="15006" y="0"/>
                    <a:pt x="334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6" name="Freeform 6"/>
            <p:cNvSpPr/>
            <p:nvPr/>
          </p:nvSpPr>
          <p:spPr>
            <a:xfrm>
              <a:off x="580425" y="1998262"/>
              <a:ext cx="201938" cy="201938"/>
            </a:xfrm>
            <a:custGeom>
              <a:avLst/>
              <a:gdLst/>
              <a:ahLst/>
              <a:cxnLst/>
              <a:rect l="l" t="t" r="r" b="b"/>
              <a:pathLst>
                <a:path w="201938" h="201938">
                  <a:moveTo>
                    <a:pt x="100969" y="201938"/>
                  </a:moveTo>
                  <a:cubicBezTo>
                    <a:pt x="156695" y="201938"/>
                    <a:pt x="201938" y="156695"/>
                    <a:pt x="201938" y="100969"/>
                  </a:cubicBezTo>
                  <a:cubicBezTo>
                    <a:pt x="201938" y="45242"/>
                    <a:pt x="156695" y="0"/>
                    <a:pt x="100969" y="0"/>
                  </a:cubicBezTo>
                  <a:cubicBezTo>
                    <a:pt x="45242" y="0"/>
                    <a:pt x="0" y="45242"/>
                    <a:pt x="0" y="100969"/>
                  </a:cubicBezTo>
                  <a:cubicBezTo>
                    <a:pt x="0" y="156695"/>
                    <a:pt x="45242" y="201938"/>
                    <a:pt x="100969" y="201938"/>
                  </a:cubicBezTo>
                  <a:close/>
                  <a:moveTo>
                    <a:pt x="100969" y="69416"/>
                  </a:moveTo>
                  <a:cubicBezTo>
                    <a:pt x="93988" y="69416"/>
                    <a:pt x="88348" y="75056"/>
                    <a:pt x="88348" y="82037"/>
                  </a:cubicBezTo>
                  <a:cubicBezTo>
                    <a:pt x="88348" y="87283"/>
                    <a:pt x="84129" y="91504"/>
                    <a:pt x="78882" y="91504"/>
                  </a:cubicBezTo>
                  <a:cubicBezTo>
                    <a:pt x="73636" y="91504"/>
                    <a:pt x="69416" y="87283"/>
                    <a:pt x="69416" y="82037"/>
                  </a:cubicBezTo>
                  <a:cubicBezTo>
                    <a:pt x="69416" y="64604"/>
                    <a:pt x="83536" y="50484"/>
                    <a:pt x="100969" y="50484"/>
                  </a:cubicBezTo>
                  <a:cubicBezTo>
                    <a:pt x="118402" y="50484"/>
                    <a:pt x="132522" y="64604"/>
                    <a:pt x="132522" y="82037"/>
                  </a:cubicBezTo>
                  <a:cubicBezTo>
                    <a:pt x="132522" y="100653"/>
                    <a:pt x="118323" y="108542"/>
                    <a:pt x="110435" y="111421"/>
                  </a:cubicBezTo>
                  <a:lnTo>
                    <a:pt x="110435" y="112920"/>
                  </a:lnTo>
                  <a:cubicBezTo>
                    <a:pt x="110435" y="118165"/>
                    <a:pt x="106215" y="122385"/>
                    <a:pt x="100969" y="122385"/>
                  </a:cubicBezTo>
                  <a:cubicBezTo>
                    <a:pt x="95722" y="122385"/>
                    <a:pt x="91503" y="118165"/>
                    <a:pt x="91503" y="112920"/>
                  </a:cubicBezTo>
                  <a:lnTo>
                    <a:pt x="91503" y="109725"/>
                  </a:lnTo>
                  <a:cubicBezTo>
                    <a:pt x="91503" y="101639"/>
                    <a:pt x="97340" y="95842"/>
                    <a:pt x="103375" y="93870"/>
                  </a:cubicBezTo>
                  <a:cubicBezTo>
                    <a:pt x="105899" y="93041"/>
                    <a:pt x="108581" y="91700"/>
                    <a:pt x="110553" y="89807"/>
                  </a:cubicBezTo>
                  <a:cubicBezTo>
                    <a:pt x="112249" y="88151"/>
                    <a:pt x="113590" y="85863"/>
                    <a:pt x="113590" y="82078"/>
                  </a:cubicBezTo>
                  <a:cubicBezTo>
                    <a:pt x="113590" y="75096"/>
                    <a:pt x="107950" y="69456"/>
                    <a:pt x="100969" y="69456"/>
                  </a:cubicBezTo>
                  <a:close/>
                  <a:moveTo>
                    <a:pt x="88348" y="145143"/>
                  </a:moveTo>
                  <a:cubicBezTo>
                    <a:pt x="88348" y="138177"/>
                    <a:pt x="94003" y="132522"/>
                    <a:pt x="100969" y="132522"/>
                  </a:cubicBezTo>
                  <a:cubicBezTo>
                    <a:pt x="107935" y="132522"/>
                    <a:pt x="113590" y="138177"/>
                    <a:pt x="113590" y="145143"/>
                  </a:cubicBezTo>
                  <a:cubicBezTo>
                    <a:pt x="113590" y="152109"/>
                    <a:pt x="107935" y="157764"/>
                    <a:pt x="100969" y="157764"/>
                  </a:cubicBezTo>
                  <a:cubicBezTo>
                    <a:pt x="94003" y="157764"/>
                    <a:pt x="88348" y="152109"/>
                    <a:pt x="88348" y="14514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7" name="AutoShape 7"/>
            <p:cNvSpPr/>
            <p:nvPr/>
          </p:nvSpPr>
          <p:spPr>
            <a:xfrm>
              <a:off x="557504" y="2004962"/>
              <a:ext cx="4511040" cy="23558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Probleme central</a:t>
              </a:r>
              <a:endPar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554964" y="2318017"/>
              <a:ext cx="5259070" cy="44640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BLOCK_SIZE est </a:t>
              </a:r>
              <a:r>
                <a:rPr lang="en-US" sz="12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constexpr</a:t>
              </a: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 (constante a la compilation), le grid doit etre calcule dynamiquement selon meta</a:t>
              </a:r>
              <a:endParaRPr lang="en-US" sz="1200"/>
            </a:p>
          </p:txBody>
        </p:sp>
      </p:grpSp>
      <p:grpSp>
        <p:nvGrpSpPr>
          <p:cNvPr id="9" name="Group 9"/>
          <p:cNvGrpSpPr/>
          <p:nvPr/>
        </p:nvGrpSpPr>
        <p:grpSpPr>
          <a:xfrm>
            <a:off x="336550" y="3022600"/>
            <a:ext cx="5620385" cy="1586865"/>
            <a:chOff x="336524" y="3022371"/>
            <a:chExt cx="5620605" cy="984447"/>
          </a:xfrm>
        </p:grpSpPr>
        <p:sp>
          <p:nvSpPr>
            <p:cNvPr id="10" name="Freeform 10"/>
            <p:cNvSpPr/>
            <p:nvPr/>
          </p:nvSpPr>
          <p:spPr>
            <a:xfrm>
              <a:off x="336524" y="3022371"/>
              <a:ext cx="5620605" cy="984447"/>
            </a:xfrm>
            <a:custGeom>
              <a:avLst/>
              <a:gdLst/>
              <a:ahLst/>
              <a:cxnLst/>
              <a:rect l="l" t="t" r="r" b="b"/>
              <a:pathLst>
                <a:path w="5620605" h="984447">
                  <a:moveTo>
                    <a:pt x="100965" y="0"/>
                  </a:moveTo>
                  <a:lnTo>
                    <a:pt x="5519640" y="0"/>
                  </a:lnTo>
                  <a:cubicBezTo>
                    <a:pt x="5575402" y="0"/>
                    <a:pt x="5620605" y="45204"/>
                    <a:pt x="5620605" y="100965"/>
                  </a:cubicBezTo>
                  <a:lnTo>
                    <a:pt x="5620605" y="883482"/>
                  </a:lnTo>
                  <a:cubicBezTo>
                    <a:pt x="5620605" y="939244"/>
                    <a:pt x="5575402" y="984447"/>
                    <a:pt x="5519640" y="984447"/>
                  </a:cubicBezTo>
                  <a:lnTo>
                    <a:pt x="100965" y="984447"/>
                  </a:lnTo>
                  <a:cubicBezTo>
                    <a:pt x="45204" y="984447"/>
                    <a:pt x="0" y="939244"/>
                    <a:pt x="0" y="883482"/>
                  </a:cubicBezTo>
                  <a:lnTo>
                    <a:pt x="0" y="100965"/>
                  </a:lnTo>
                  <a:cubicBezTo>
                    <a:pt x="0" y="45241"/>
                    <a:pt x="45241" y="0"/>
                    <a:pt x="10096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1" name="AutoShape 11"/>
            <p:cNvSpPr/>
            <p:nvPr/>
          </p:nvSpPr>
          <p:spPr>
            <a:xfrm>
              <a:off x="557513" y="3235885"/>
              <a:ext cx="1684721" cy="2355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Solution</a:t>
              </a:r>
              <a:endPar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538438" y="3560814"/>
              <a:ext cx="5292455" cy="24400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b="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rPr>
                <a:t>Utiliser une fonction lambda pour retarder le calcul, obtenir la valeur reelle de BLOCK_SIZE lors de la compilation du kernel</a:t>
              </a:r>
              <a:endParaRPr lang="en-US" b="0" i="0" u="none" strike="noStrike">
                <a:solidFill>
                  <a:srgbClr val="364153"/>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sp>
        <p:nvSpPr>
          <p:cNvPr id="13" name="Freeform 13"/>
          <p:cNvSpPr/>
          <p:nvPr/>
        </p:nvSpPr>
        <p:spPr>
          <a:xfrm>
            <a:off x="6246852" y="1245045"/>
            <a:ext cx="5603693" cy="3357217"/>
          </a:xfrm>
          <a:custGeom>
            <a:avLst/>
            <a:gdLst/>
            <a:ahLst/>
            <a:cxnLst/>
            <a:rect l="l" t="t" r="r" b="b"/>
            <a:pathLst>
              <a:path w="5603693" h="3357217">
                <a:moveTo>
                  <a:pt x="33489" y="0"/>
                </a:moveTo>
                <a:lnTo>
                  <a:pt x="5502708" y="0"/>
                </a:lnTo>
                <a:cubicBezTo>
                  <a:pt x="5558480" y="0"/>
                  <a:pt x="5603693" y="45213"/>
                  <a:pt x="5603693" y="100985"/>
                </a:cubicBezTo>
                <a:lnTo>
                  <a:pt x="5603693" y="3256232"/>
                </a:lnTo>
                <a:cubicBezTo>
                  <a:pt x="5603693" y="3312005"/>
                  <a:pt x="5558480" y="3357217"/>
                  <a:pt x="5502708" y="3357217"/>
                </a:cubicBezTo>
                <a:lnTo>
                  <a:pt x="33489" y="3357217"/>
                </a:lnTo>
                <a:cubicBezTo>
                  <a:pt x="14994" y="3357217"/>
                  <a:pt x="0" y="3342223"/>
                  <a:pt x="0" y="3323728"/>
                </a:cubicBezTo>
                <a:lnTo>
                  <a:pt x="0" y="33489"/>
                </a:lnTo>
                <a:cubicBezTo>
                  <a:pt x="0" y="15006"/>
                  <a:pt x="15006" y="0"/>
                  <a:pt x="3348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246852" y="1245045"/>
            <a:ext cx="33489" cy="3357217"/>
          </a:xfrm>
          <a:custGeom>
            <a:avLst/>
            <a:gdLst/>
            <a:ahLst/>
            <a:cxnLst/>
            <a:rect l="l" t="t" r="r" b="b"/>
            <a:pathLst>
              <a:path w="33489" h="3357217">
                <a:moveTo>
                  <a:pt x="33489" y="0"/>
                </a:moveTo>
                <a:lnTo>
                  <a:pt x="33489" y="0"/>
                </a:lnTo>
                <a:lnTo>
                  <a:pt x="33489" y="3357217"/>
                </a:lnTo>
                <a:lnTo>
                  <a:pt x="33489" y="3357217"/>
                </a:lnTo>
                <a:cubicBezTo>
                  <a:pt x="14994" y="3357217"/>
                  <a:pt x="0" y="3342223"/>
                  <a:pt x="0" y="3323728"/>
                </a:cubicBezTo>
                <a:lnTo>
                  <a:pt x="0" y="33489"/>
                </a:lnTo>
                <a:cubicBezTo>
                  <a:pt x="0" y="15006"/>
                  <a:pt x="15006" y="0"/>
                  <a:pt x="334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465510" y="1446959"/>
            <a:ext cx="5258799" cy="295334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syntaxe lambda meta</a:t>
            </a:r>
            <a:endParaRPr lang="en-US" sz="12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grid = </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lambda</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meta: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triton.cdiv(n_elements,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meta[</a:t>
            </a:r>
            <a:r>
              <a:rPr lang="en-US" sz="12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'BLOCK_SIZE'</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fonction triton.cdiv</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triton.cdiv(a, b) = ceil(a / b)</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exemple</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triton.cdiv(</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1000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256</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4</a:t>
            </a: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ceil(1000/256) = ceil(3.906) = 4</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grpSp>
        <p:nvGrpSpPr>
          <p:cNvPr id="16" name="Group 16"/>
          <p:cNvGrpSpPr/>
          <p:nvPr/>
        </p:nvGrpSpPr>
        <p:grpSpPr>
          <a:xfrm>
            <a:off x="336524" y="4804349"/>
            <a:ext cx="11518875" cy="1783785"/>
            <a:chOff x="336524" y="4804349"/>
            <a:chExt cx="11518875" cy="1783785"/>
          </a:xfrm>
        </p:grpSpPr>
        <p:sp>
          <p:nvSpPr>
            <p:cNvPr id="17" name="Freeform 17"/>
            <p:cNvSpPr/>
            <p:nvPr/>
          </p:nvSpPr>
          <p:spPr>
            <a:xfrm>
              <a:off x="336524" y="4804349"/>
              <a:ext cx="11518875" cy="1783785"/>
            </a:xfrm>
            <a:custGeom>
              <a:avLst/>
              <a:gdLst/>
              <a:ahLst/>
              <a:cxnLst/>
              <a:rect l="l" t="t" r="r" b="b"/>
              <a:pathLst>
                <a:path w="11518875" h="1783785">
                  <a:moveTo>
                    <a:pt x="100962" y="0"/>
                  </a:moveTo>
                  <a:lnTo>
                    <a:pt x="11417911" y="0"/>
                  </a:lnTo>
                  <a:cubicBezTo>
                    <a:pt x="11473671" y="0"/>
                    <a:pt x="11518875" y="45202"/>
                    <a:pt x="11518875" y="100962"/>
                  </a:cubicBezTo>
                  <a:lnTo>
                    <a:pt x="11518875" y="1682822"/>
                  </a:lnTo>
                  <a:cubicBezTo>
                    <a:pt x="11518875" y="1738582"/>
                    <a:pt x="11473671" y="1783785"/>
                    <a:pt x="11417911" y="1783785"/>
                  </a:cubicBezTo>
                  <a:lnTo>
                    <a:pt x="100962" y="1783785"/>
                  </a:lnTo>
                  <a:cubicBezTo>
                    <a:pt x="45202" y="1783785"/>
                    <a:pt x="0" y="1738582"/>
                    <a:pt x="0" y="1682822"/>
                  </a:cubicBezTo>
                  <a:lnTo>
                    <a:pt x="0" y="100962"/>
                  </a:lnTo>
                  <a:cubicBezTo>
                    <a:pt x="0" y="45240"/>
                    <a:pt x="45240" y="0"/>
                    <a:pt x="10096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2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8" name="AutoShape 18"/>
            <p:cNvSpPr/>
            <p:nvPr/>
          </p:nvSpPr>
          <p:spPr>
            <a:xfrm>
              <a:off x="538438" y="5006262"/>
              <a:ext cx="11199139" cy="23559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Flux d'execution</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2037392" y="5376473"/>
              <a:ext cx="538502" cy="538502"/>
            </a:xfrm>
            <a:custGeom>
              <a:avLst/>
              <a:gdLst/>
              <a:ahLst/>
              <a:cxnLst/>
              <a:rect l="l" t="t" r="r" b="b"/>
              <a:pathLst>
                <a:path w="538502" h="538502">
                  <a:moveTo>
                    <a:pt x="269251" y="0"/>
                  </a:moveTo>
                  <a:lnTo>
                    <a:pt x="269251" y="0"/>
                  </a:lnTo>
                  <a:cubicBezTo>
                    <a:pt x="417854" y="0"/>
                    <a:pt x="538502" y="120647"/>
                    <a:pt x="538502" y="269251"/>
                  </a:cubicBezTo>
                  <a:lnTo>
                    <a:pt x="538502" y="269251"/>
                  </a:lnTo>
                  <a:cubicBezTo>
                    <a:pt x="538502" y="417854"/>
                    <a:pt x="417854" y="538502"/>
                    <a:pt x="269251" y="538502"/>
                  </a:cubicBezTo>
                  <a:lnTo>
                    <a:pt x="269251" y="538502"/>
                  </a:lnTo>
                  <a:cubicBezTo>
                    <a:pt x="120647" y="538502"/>
                    <a:pt x="0" y="417854"/>
                    <a:pt x="0" y="269251"/>
                  </a:cubicBezTo>
                  <a:lnTo>
                    <a:pt x="0" y="269251"/>
                  </a:lnTo>
                  <a:cubicBezTo>
                    <a:pt x="0" y="120647"/>
                    <a:pt x="120647" y="0"/>
                    <a:pt x="26925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0" name="AutoShape 20"/>
            <p:cNvSpPr/>
            <p:nvPr/>
          </p:nvSpPr>
          <p:spPr>
            <a:xfrm>
              <a:off x="1995322" y="5376473"/>
              <a:ext cx="622642" cy="53850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504782" y="5982213"/>
              <a:ext cx="3601226" cy="40387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Definir le kernel</a:t>
              </a:r>
              <a:endParaRPr lang="en-US" sz="1200"/>
            </a:p>
            <a:p>
              <a:pPr indent="0" algn="ctr">
                <a:lnSpc>
                  <a:spcPct val="133000"/>
                </a:lnSpc>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specifier BLOCK_SIZE</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4074850" y="5729807"/>
              <a:ext cx="378634" cy="30290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2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Freeform 23"/>
            <p:cNvSpPr/>
            <p:nvPr/>
          </p:nvSpPr>
          <p:spPr>
            <a:xfrm>
              <a:off x="5826279" y="5376473"/>
              <a:ext cx="538502" cy="538502"/>
            </a:xfrm>
            <a:custGeom>
              <a:avLst/>
              <a:gdLst/>
              <a:ahLst/>
              <a:cxnLst/>
              <a:rect l="l" t="t" r="r" b="b"/>
              <a:pathLst>
                <a:path w="538502" h="538502">
                  <a:moveTo>
                    <a:pt x="269251" y="0"/>
                  </a:moveTo>
                  <a:lnTo>
                    <a:pt x="269251" y="0"/>
                  </a:lnTo>
                  <a:cubicBezTo>
                    <a:pt x="417854" y="0"/>
                    <a:pt x="538502" y="120647"/>
                    <a:pt x="538502" y="269251"/>
                  </a:cubicBezTo>
                  <a:lnTo>
                    <a:pt x="538502" y="269251"/>
                  </a:lnTo>
                  <a:cubicBezTo>
                    <a:pt x="538502" y="417854"/>
                    <a:pt x="417854" y="538502"/>
                    <a:pt x="269251" y="538502"/>
                  </a:cubicBezTo>
                  <a:lnTo>
                    <a:pt x="269251" y="538502"/>
                  </a:lnTo>
                  <a:cubicBezTo>
                    <a:pt x="120647" y="538502"/>
                    <a:pt x="0" y="417854"/>
                    <a:pt x="0" y="269251"/>
                  </a:cubicBezTo>
                  <a:lnTo>
                    <a:pt x="0" y="269251"/>
                  </a:lnTo>
                  <a:cubicBezTo>
                    <a:pt x="0" y="120647"/>
                    <a:pt x="120647" y="0"/>
                    <a:pt x="26925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4" name="AutoShape 24"/>
            <p:cNvSpPr/>
            <p:nvPr/>
          </p:nvSpPr>
          <p:spPr>
            <a:xfrm>
              <a:off x="5784208" y="5376473"/>
              <a:ext cx="622642" cy="53850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AutoShape 25"/>
            <p:cNvSpPr/>
            <p:nvPr/>
          </p:nvSpPr>
          <p:spPr>
            <a:xfrm>
              <a:off x="4293668" y="5982213"/>
              <a:ext cx="3601226" cy="40387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lambda obtient</a:t>
              </a:r>
              <a:endParaRPr lang="en-US" sz="1200"/>
            </a:p>
            <a:p>
              <a:pPr indent="0" algn="ctr">
                <a:lnSpc>
                  <a:spcPct val="133000"/>
                </a:lnSpc>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meta['BLOCK_SIZE']</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7863736" y="5729807"/>
              <a:ext cx="378634" cy="30290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2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9615165" y="5376473"/>
              <a:ext cx="538502" cy="538502"/>
            </a:xfrm>
            <a:custGeom>
              <a:avLst/>
              <a:gdLst/>
              <a:ahLst/>
              <a:cxnLst/>
              <a:rect l="l" t="t" r="r" b="b"/>
              <a:pathLst>
                <a:path w="538502" h="538502">
                  <a:moveTo>
                    <a:pt x="269251" y="0"/>
                  </a:moveTo>
                  <a:lnTo>
                    <a:pt x="269251" y="0"/>
                  </a:lnTo>
                  <a:cubicBezTo>
                    <a:pt x="417854" y="0"/>
                    <a:pt x="538502" y="120647"/>
                    <a:pt x="538502" y="269251"/>
                  </a:cubicBezTo>
                  <a:lnTo>
                    <a:pt x="538502" y="269251"/>
                  </a:lnTo>
                  <a:cubicBezTo>
                    <a:pt x="538502" y="417854"/>
                    <a:pt x="417854" y="538502"/>
                    <a:pt x="269251" y="538502"/>
                  </a:cubicBezTo>
                  <a:lnTo>
                    <a:pt x="269251" y="538502"/>
                  </a:lnTo>
                  <a:cubicBezTo>
                    <a:pt x="120647" y="538502"/>
                    <a:pt x="0" y="417854"/>
                    <a:pt x="0" y="269251"/>
                  </a:cubicBezTo>
                  <a:lnTo>
                    <a:pt x="0" y="269251"/>
                  </a:lnTo>
                  <a:cubicBezTo>
                    <a:pt x="0" y="120647"/>
                    <a:pt x="120647" y="0"/>
                    <a:pt x="26925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8" name="AutoShape 28"/>
            <p:cNvSpPr/>
            <p:nvPr/>
          </p:nvSpPr>
          <p:spPr>
            <a:xfrm>
              <a:off x="9573094" y="5376473"/>
              <a:ext cx="622642" cy="53850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8082555" y="5982213"/>
              <a:ext cx="3601226" cy="40387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Calculer grid</a:t>
              </a:r>
              <a:endParaRPr lang="en-US" sz="1200"/>
            </a:p>
            <a:p>
              <a:pPr indent="0" algn="ctr">
                <a:lnSpc>
                  <a:spcPct val="133000"/>
                </a:lnSpc>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lancer le kernel</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0" name="AutoShape 30"/>
          <p:cNvSpPr/>
          <p:nvPr/>
        </p:nvSpPr>
        <p:spPr>
          <a:xfrm>
            <a:off x="336524" y="6722569"/>
            <a:ext cx="11569358" cy="13462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Source : documentation officielle Triton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4392" y="610485"/>
            <a:ext cx="11614092" cy="372844"/>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Syntaxe []</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391350" y="1379250"/>
            <a:ext cx="5555284" cy="2870898"/>
            <a:chOff x="391350" y="1379250"/>
            <a:chExt cx="5555284" cy="2870898"/>
          </a:xfrm>
        </p:grpSpPr>
        <p:sp>
          <p:nvSpPr>
            <p:cNvPr id="4" name="Freeform 4"/>
            <p:cNvSpPr/>
            <p:nvPr/>
          </p:nvSpPr>
          <p:spPr>
            <a:xfrm>
              <a:off x="391350" y="1379250"/>
              <a:ext cx="5555284" cy="2870898"/>
            </a:xfrm>
            <a:custGeom>
              <a:avLst/>
              <a:gdLst/>
              <a:ahLst/>
              <a:cxnLst/>
              <a:rect l="l" t="t" r="r" b="b"/>
              <a:pathLst>
                <a:path w="5555284" h="2870898">
                  <a:moveTo>
                    <a:pt x="37099" y="0"/>
                  </a:moveTo>
                  <a:lnTo>
                    <a:pt x="5443433" y="0"/>
                  </a:lnTo>
                  <a:cubicBezTo>
                    <a:pt x="5505206" y="0"/>
                    <a:pt x="5555284" y="50077"/>
                    <a:pt x="5555284" y="111850"/>
                  </a:cubicBezTo>
                  <a:lnTo>
                    <a:pt x="5555284" y="2759050"/>
                  </a:lnTo>
                  <a:cubicBezTo>
                    <a:pt x="5555284" y="2820822"/>
                    <a:pt x="5505206" y="2870899"/>
                    <a:pt x="5443433" y="2870899"/>
                  </a:cubicBezTo>
                  <a:lnTo>
                    <a:pt x="37099" y="2870899"/>
                  </a:lnTo>
                  <a:cubicBezTo>
                    <a:pt x="16610" y="2870899"/>
                    <a:pt x="0" y="2854289"/>
                    <a:pt x="0" y="2833801"/>
                  </a:cubicBezTo>
                  <a:lnTo>
                    <a:pt x="0" y="37099"/>
                  </a:lnTo>
                  <a:cubicBezTo>
                    <a:pt x="0" y="16610"/>
                    <a:pt x="16610" y="0"/>
                    <a:pt x="3709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1350" y="1379250"/>
              <a:ext cx="37099" cy="2870898"/>
            </a:xfrm>
            <a:custGeom>
              <a:avLst/>
              <a:gdLst/>
              <a:ahLst/>
              <a:cxnLst/>
              <a:rect l="l" t="t" r="r" b="b"/>
              <a:pathLst>
                <a:path w="37099" h="2870898">
                  <a:moveTo>
                    <a:pt x="37099" y="0"/>
                  </a:moveTo>
                  <a:lnTo>
                    <a:pt x="37099" y="0"/>
                  </a:lnTo>
                  <a:lnTo>
                    <a:pt x="37099" y="2870899"/>
                  </a:lnTo>
                  <a:lnTo>
                    <a:pt x="37099" y="2870899"/>
                  </a:lnTo>
                  <a:cubicBezTo>
                    <a:pt x="16610" y="2870899"/>
                    <a:pt x="0" y="2854289"/>
                    <a:pt x="0" y="2833801"/>
                  </a:cubicBezTo>
                  <a:lnTo>
                    <a:pt x="0" y="37099"/>
                  </a:lnTo>
                  <a:cubicBezTo>
                    <a:pt x="0" y="16623"/>
                    <a:pt x="16623" y="0"/>
                    <a:pt x="370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33580" y="1602929"/>
              <a:ext cx="5182532" cy="1211743"/>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add_kernel[grid](</a:t>
              </a:r>
              <a:endParaRPr lang="en-US" sz="1100"/>
            </a:p>
            <a:p>
              <a:pPr indent="0" algn="l">
                <a:lnSpc>
                  <a:spcPct val="100000"/>
                </a:lnSpc>
              </a:pPr>
              <a:r>
                <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x_ptr, y_ptr, </a:t>
              </a:r>
              <a:endPar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    output_ptr, n_elements</a:t>
              </a:r>
              <a:endPar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pPr>
              <a:r>
                <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15" b="0" i="0" u="none" strike="noStrike">
                <a:solidFill>
                  <a:srgbClr val="1E293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7" name="Group 7"/>
          <p:cNvGrpSpPr/>
          <p:nvPr/>
        </p:nvGrpSpPr>
        <p:grpSpPr>
          <a:xfrm>
            <a:off x="6247181" y="1379250"/>
            <a:ext cx="5574019" cy="2875377"/>
            <a:chOff x="6247181" y="1379250"/>
            <a:chExt cx="5574019" cy="2875377"/>
          </a:xfrm>
        </p:grpSpPr>
        <p:sp>
          <p:nvSpPr>
            <p:cNvPr id="8" name="Freeform 8"/>
            <p:cNvSpPr/>
            <p:nvPr/>
          </p:nvSpPr>
          <p:spPr>
            <a:xfrm>
              <a:off x="6247181" y="1379250"/>
              <a:ext cx="5574019" cy="857541"/>
            </a:xfrm>
            <a:custGeom>
              <a:avLst/>
              <a:gdLst/>
              <a:ahLst/>
              <a:cxnLst/>
              <a:rect l="l" t="t" r="r" b="b"/>
              <a:pathLst>
                <a:path w="5574019" h="857541">
                  <a:moveTo>
                    <a:pt x="74572" y="0"/>
                  </a:moveTo>
                  <a:lnTo>
                    <a:pt x="5499447" y="0"/>
                  </a:lnTo>
                  <a:cubicBezTo>
                    <a:pt x="5540632" y="0"/>
                    <a:pt x="5574019" y="33387"/>
                    <a:pt x="5574019" y="74572"/>
                  </a:cubicBezTo>
                  <a:lnTo>
                    <a:pt x="5574019" y="782969"/>
                  </a:lnTo>
                  <a:cubicBezTo>
                    <a:pt x="5574019" y="824154"/>
                    <a:pt x="5540632" y="857541"/>
                    <a:pt x="5499447" y="857541"/>
                  </a:cubicBezTo>
                  <a:lnTo>
                    <a:pt x="74572" y="857541"/>
                  </a:lnTo>
                  <a:cubicBezTo>
                    <a:pt x="33414" y="857541"/>
                    <a:pt x="0" y="824127"/>
                    <a:pt x="0" y="782969"/>
                  </a:cubicBezTo>
                  <a:lnTo>
                    <a:pt x="0" y="74572"/>
                  </a:lnTo>
                  <a:cubicBezTo>
                    <a:pt x="0" y="33387"/>
                    <a:pt x="33387" y="0"/>
                    <a:pt x="74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406824" y="1564270"/>
              <a:ext cx="212019" cy="189117"/>
            </a:xfrm>
            <a:custGeom>
              <a:avLst/>
              <a:gdLst/>
              <a:ahLst/>
              <a:cxnLst/>
              <a:rect l="l" t="t" r="r" b="b"/>
              <a:pathLst>
                <a:path w="212019" h="189117">
                  <a:moveTo>
                    <a:pt x="132498" y="1784"/>
                  </a:moveTo>
                  <a:cubicBezTo>
                    <a:pt x="126308" y="0"/>
                    <a:pt x="119864" y="3604"/>
                    <a:pt x="118079" y="9794"/>
                  </a:cubicBezTo>
                  <a:lnTo>
                    <a:pt x="71474" y="172914"/>
                  </a:lnTo>
                  <a:cubicBezTo>
                    <a:pt x="69690" y="179103"/>
                    <a:pt x="73295" y="185548"/>
                    <a:pt x="79485" y="187332"/>
                  </a:cubicBezTo>
                  <a:cubicBezTo>
                    <a:pt x="85674" y="189117"/>
                    <a:pt x="92119" y="185512"/>
                    <a:pt x="93902" y="179322"/>
                  </a:cubicBezTo>
                  <a:lnTo>
                    <a:pt x="140509" y="16203"/>
                  </a:lnTo>
                  <a:cubicBezTo>
                    <a:pt x="142293" y="10013"/>
                    <a:pt x="138688" y="3568"/>
                    <a:pt x="132498" y="1784"/>
                  </a:cubicBezTo>
                  <a:close/>
                  <a:moveTo>
                    <a:pt x="156019" y="51339"/>
                  </a:moveTo>
                  <a:cubicBezTo>
                    <a:pt x="151468" y="55890"/>
                    <a:pt x="151468" y="63281"/>
                    <a:pt x="156019" y="67833"/>
                  </a:cubicBezTo>
                  <a:lnTo>
                    <a:pt x="182745" y="94557"/>
                  </a:lnTo>
                  <a:lnTo>
                    <a:pt x="156019" y="121283"/>
                  </a:lnTo>
                  <a:cubicBezTo>
                    <a:pt x="151468" y="125835"/>
                    <a:pt x="151468" y="133226"/>
                    <a:pt x="156019" y="137777"/>
                  </a:cubicBezTo>
                  <a:cubicBezTo>
                    <a:pt x="160571" y="142328"/>
                    <a:pt x="167963" y="142328"/>
                    <a:pt x="172513" y="137777"/>
                  </a:cubicBezTo>
                  <a:lnTo>
                    <a:pt x="207468" y="102823"/>
                  </a:lnTo>
                  <a:cubicBezTo>
                    <a:pt x="212019" y="98272"/>
                    <a:pt x="212019" y="90881"/>
                    <a:pt x="207468" y="86329"/>
                  </a:cubicBezTo>
                  <a:lnTo>
                    <a:pt x="172513" y="51375"/>
                  </a:lnTo>
                  <a:cubicBezTo>
                    <a:pt x="167963" y="46824"/>
                    <a:pt x="160571" y="46824"/>
                    <a:pt x="156019" y="51375"/>
                  </a:cubicBezTo>
                  <a:close/>
                  <a:moveTo>
                    <a:pt x="56001" y="51339"/>
                  </a:moveTo>
                  <a:cubicBezTo>
                    <a:pt x="51448" y="46788"/>
                    <a:pt x="44058" y="46788"/>
                    <a:pt x="39506" y="51339"/>
                  </a:cubicBezTo>
                  <a:lnTo>
                    <a:pt x="4552" y="86293"/>
                  </a:lnTo>
                  <a:cubicBezTo>
                    <a:pt x="0" y="90844"/>
                    <a:pt x="0" y="98235"/>
                    <a:pt x="4552" y="102787"/>
                  </a:cubicBezTo>
                  <a:lnTo>
                    <a:pt x="39506" y="137741"/>
                  </a:lnTo>
                  <a:cubicBezTo>
                    <a:pt x="44058" y="142292"/>
                    <a:pt x="51448" y="142292"/>
                    <a:pt x="56001" y="137741"/>
                  </a:cubicBezTo>
                  <a:cubicBezTo>
                    <a:pt x="60551" y="133190"/>
                    <a:pt x="60551" y="125798"/>
                    <a:pt x="56001" y="121246"/>
                  </a:cubicBezTo>
                  <a:lnTo>
                    <a:pt x="29273" y="94557"/>
                  </a:lnTo>
                  <a:lnTo>
                    <a:pt x="55963" y="67833"/>
                  </a:lnTo>
                  <a:cubicBezTo>
                    <a:pt x="60515" y="63281"/>
                    <a:pt x="60515" y="55890"/>
                    <a:pt x="55963" y="5133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741211" y="1528475"/>
              <a:ext cx="3319145" cy="26098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Surcharge __getitem__</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6396301" y="1863929"/>
              <a:ext cx="5350312" cy="22370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Triton a surcharge la methode </a:t>
              </a:r>
              <a:r>
                <a:rPr lang="en-US"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__getitem__ </a:t>
              </a: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de Python</a:t>
              </a:r>
              <a:endParaRPr lang="en-US"/>
            </a:p>
          </p:txBody>
        </p:sp>
        <p:sp>
          <p:nvSpPr>
            <p:cNvPr id="12" name="Freeform 12"/>
            <p:cNvSpPr/>
            <p:nvPr/>
          </p:nvSpPr>
          <p:spPr>
            <a:xfrm>
              <a:off x="6247181" y="2390489"/>
              <a:ext cx="5574019" cy="857541"/>
            </a:xfrm>
            <a:custGeom>
              <a:avLst/>
              <a:gdLst/>
              <a:ahLst/>
              <a:cxnLst/>
              <a:rect l="l" t="t" r="r" b="b"/>
              <a:pathLst>
                <a:path w="5574019" h="857541">
                  <a:moveTo>
                    <a:pt x="74572" y="0"/>
                  </a:moveTo>
                  <a:lnTo>
                    <a:pt x="5499447" y="0"/>
                  </a:lnTo>
                  <a:cubicBezTo>
                    <a:pt x="5540632" y="0"/>
                    <a:pt x="5574019" y="33387"/>
                    <a:pt x="5574019" y="74572"/>
                  </a:cubicBezTo>
                  <a:lnTo>
                    <a:pt x="5574019" y="782969"/>
                  </a:lnTo>
                  <a:cubicBezTo>
                    <a:pt x="5574019" y="824154"/>
                    <a:pt x="5540632" y="857541"/>
                    <a:pt x="5499447" y="857541"/>
                  </a:cubicBezTo>
                  <a:lnTo>
                    <a:pt x="74572" y="857541"/>
                  </a:lnTo>
                  <a:cubicBezTo>
                    <a:pt x="33414" y="857541"/>
                    <a:pt x="0" y="824127"/>
                    <a:pt x="0" y="782969"/>
                  </a:cubicBezTo>
                  <a:lnTo>
                    <a:pt x="0" y="74572"/>
                  </a:lnTo>
                  <a:cubicBezTo>
                    <a:pt x="0" y="33387"/>
                    <a:pt x="33387" y="0"/>
                    <a:pt x="74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419604" y="2576847"/>
              <a:ext cx="186422" cy="186422"/>
            </a:xfrm>
            <a:custGeom>
              <a:avLst/>
              <a:gdLst/>
              <a:ahLst/>
              <a:cxnLst/>
              <a:rect l="l" t="t" r="r" b="b"/>
              <a:pathLst>
                <a:path w="186422" h="186422">
                  <a:moveTo>
                    <a:pt x="163119" y="93210"/>
                  </a:moveTo>
                  <a:cubicBezTo>
                    <a:pt x="163119" y="54628"/>
                    <a:pt x="131794" y="23303"/>
                    <a:pt x="93210" y="23303"/>
                  </a:cubicBezTo>
                  <a:cubicBezTo>
                    <a:pt x="54628" y="23303"/>
                    <a:pt x="23303" y="54628"/>
                    <a:pt x="23303" y="93210"/>
                  </a:cubicBezTo>
                  <a:cubicBezTo>
                    <a:pt x="23303" y="131794"/>
                    <a:pt x="54628" y="163119"/>
                    <a:pt x="93210" y="163119"/>
                  </a:cubicBezTo>
                  <a:cubicBezTo>
                    <a:pt x="131794" y="163119"/>
                    <a:pt x="163119" y="131794"/>
                    <a:pt x="163119" y="93210"/>
                  </a:cubicBezTo>
                  <a:close/>
                  <a:moveTo>
                    <a:pt x="0" y="93210"/>
                  </a:moveTo>
                  <a:cubicBezTo>
                    <a:pt x="0" y="41766"/>
                    <a:pt x="41766" y="0"/>
                    <a:pt x="93210" y="0"/>
                  </a:cubicBezTo>
                  <a:cubicBezTo>
                    <a:pt x="144656" y="0"/>
                    <a:pt x="186422" y="41766"/>
                    <a:pt x="186422" y="93210"/>
                  </a:cubicBezTo>
                  <a:cubicBezTo>
                    <a:pt x="186422" y="144656"/>
                    <a:pt x="144656" y="186422"/>
                    <a:pt x="93210" y="186422"/>
                  </a:cubicBezTo>
                  <a:cubicBezTo>
                    <a:pt x="41766" y="186422"/>
                    <a:pt x="0" y="144656"/>
                    <a:pt x="0" y="93210"/>
                  </a:cubicBezTo>
                  <a:close/>
                  <a:moveTo>
                    <a:pt x="93210" y="122339"/>
                  </a:moveTo>
                  <a:cubicBezTo>
                    <a:pt x="109287" y="122339"/>
                    <a:pt x="122339" y="109287"/>
                    <a:pt x="122339" y="93210"/>
                  </a:cubicBezTo>
                  <a:cubicBezTo>
                    <a:pt x="122339" y="77135"/>
                    <a:pt x="109287" y="64083"/>
                    <a:pt x="93210" y="64083"/>
                  </a:cubicBezTo>
                  <a:cubicBezTo>
                    <a:pt x="77135" y="64083"/>
                    <a:pt x="64083" y="77135"/>
                    <a:pt x="64083" y="93210"/>
                  </a:cubicBezTo>
                  <a:cubicBezTo>
                    <a:pt x="64083" y="109287"/>
                    <a:pt x="77135" y="122339"/>
                    <a:pt x="93210" y="122339"/>
                  </a:cubicBezTo>
                  <a:close/>
                  <a:moveTo>
                    <a:pt x="93210" y="40780"/>
                  </a:moveTo>
                  <a:cubicBezTo>
                    <a:pt x="122149" y="40780"/>
                    <a:pt x="145642" y="64273"/>
                    <a:pt x="145642" y="93210"/>
                  </a:cubicBezTo>
                  <a:cubicBezTo>
                    <a:pt x="145642" y="122149"/>
                    <a:pt x="122149" y="145642"/>
                    <a:pt x="93210" y="145642"/>
                  </a:cubicBezTo>
                  <a:cubicBezTo>
                    <a:pt x="64273" y="145642"/>
                    <a:pt x="40780" y="122149"/>
                    <a:pt x="40780" y="93210"/>
                  </a:cubicBezTo>
                  <a:cubicBezTo>
                    <a:pt x="40780" y="64273"/>
                    <a:pt x="64273" y="40780"/>
                    <a:pt x="93210" y="40780"/>
                  </a:cubicBezTo>
                  <a:close/>
                  <a:moveTo>
                    <a:pt x="81559" y="93210"/>
                  </a:moveTo>
                  <a:cubicBezTo>
                    <a:pt x="81559" y="86780"/>
                    <a:pt x="86780" y="81559"/>
                    <a:pt x="93210" y="81559"/>
                  </a:cubicBezTo>
                  <a:cubicBezTo>
                    <a:pt x="99642" y="81559"/>
                    <a:pt x="104863" y="86780"/>
                    <a:pt x="104863" y="93210"/>
                  </a:cubicBezTo>
                  <a:cubicBezTo>
                    <a:pt x="104863" y="99642"/>
                    <a:pt x="99642" y="104863"/>
                    <a:pt x="93210" y="104863"/>
                  </a:cubicBezTo>
                  <a:cubicBezTo>
                    <a:pt x="86780" y="104863"/>
                    <a:pt x="81559" y="99642"/>
                    <a:pt x="81559" y="9321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741132" y="2539609"/>
              <a:ext cx="1408688"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kernel[grid]</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AutoShape 15"/>
            <p:cNvSpPr/>
            <p:nvPr/>
          </p:nvSpPr>
          <p:spPr>
            <a:xfrm>
              <a:off x="6396301" y="2875159"/>
              <a:ext cx="5350312" cy="22370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specifie le launch grid, determine le nombre de programmes</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6247181" y="3397086"/>
              <a:ext cx="5574019" cy="857541"/>
            </a:xfrm>
            <a:custGeom>
              <a:avLst/>
              <a:gdLst/>
              <a:ahLst/>
              <a:cxnLst/>
              <a:rect l="l" t="t" r="r" b="b"/>
              <a:pathLst>
                <a:path w="5574019" h="857541">
                  <a:moveTo>
                    <a:pt x="74572" y="0"/>
                  </a:moveTo>
                  <a:lnTo>
                    <a:pt x="5499447" y="0"/>
                  </a:lnTo>
                  <a:cubicBezTo>
                    <a:pt x="5540632" y="0"/>
                    <a:pt x="5574019" y="33387"/>
                    <a:pt x="5574019" y="74572"/>
                  </a:cubicBezTo>
                  <a:lnTo>
                    <a:pt x="5574019" y="782969"/>
                  </a:lnTo>
                  <a:cubicBezTo>
                    <a:pt x="5574019" y="824154"/>
                    <a:pt x="5540632" y="857541"/>
                    <a:pt x="5499447" y="857541"/>
                  </a:cubicBezTo>
                  <a:lnTo>
                    <a:pt x="74572" y="857541"/>
                  </a:lnTo>
                  <a:cubicBezTo>
                    <a:pt x="33414" y="857541"/>
                    <a:pt x="0" y="824127"/>
                    <a:pt x="0" y="782969"/>
                  </a:cubicBezTo>
                  <a:lnTo>
                    <a:pt x="0" y="74572"/>
                  </a:lnTo>
                  <a:cubicBezTo>
                    <a:pt x="0" y="33387"/>
                    <a:pt x="33387" y="0"/>
                    <a:pt x="74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442906" y="3594404"/>
              <a:ext cx="151468" cy="164502"/>
            </a:xfrm>
            <a:custGeom>
              <a:avLst/>
              <a:gdLst/>
              <a:ahLst/>
              <a:cxnLst/>
              <a:rect l="l" t="t" r="r" b="b"/>
              <a:pathLst>
                <a:path w="151468" h="164502">
                  <a:moveTo>
                    <a:pt x="21554" y="2475"/>
                  </a:moveTo>
                  <a:cubicBezTo>
                    <a:pt x="17041" y="0"/>
                    <a:pt x="11579" y="109"/>
                    <a:pt x="7137" y="2731"/>
                  </a:cubicBezTo>
                  <a:cubicBezTo>
                    <a:pt x="2695" y="5352"/>
                    <a:pt x="0" y="10122"/>
                    <a:pt x="0" y="15257"/>
                  </a:cubicBezTo>
                  <a:lnTo>
                    <a:pt x="0" y="149245"/>
                  </a:lnTo>
                  <a:cubicBezTo>
                    <a:pt x="0" y="154380"/>
                    <a:pt x="2730" y="159150"/>
                    <a:pt x="7137" y="161771"/>
                  </a:cubicBezTo>
                  <a:cubicBezTo>
                    <a:pt x="11543" y="164393"/>
                    <a:pt x="17041" y="164502"/>
                    <a:pt x="21554" y="162027"/>
                  </a:cubicBezTo>
                  <a:lnTo>
                    <a:pt x="143895" y="95030"/>
                  </a:lnTo>
                  <a:cubicBezTo>
                    <a:pt x="148554" y="92481"/>
                    <a:pt x="151468" y="87567"/>
                    <a:pt x="151468" y="82250"/>
                  </a:cubicBezTo>
                  <a:cubicBezTo>
                    <a:pt x="151468" y="76935"/>
                    <a:pt x="148554" y="72021"/>
                    <a:pt x="143895" y="69470"/>
                  </a:cubicBezTo>
                  <a:lnTo>
                    <a:pt x="21554" y="247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741211" y="3546505"/>
              <a:ext cx="1970405" cy="26098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 execution</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AutoShape 19"/>
            <p:cNvSpPr/>
            <p:nvPr/>
          </p:nvSpPr>
          <p:spPr>
            <a:xfrm>
              <a:off x="6396301" y="3881756"/>
              <a:ext cx="5350312" cy="22370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passe les arguments, execute reellement le kernel</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20" name="Group 20"/>
          <p:cNvGrpSpPr/>
          <p:nvPr/>
        </p:nvGrpSpPr>
        <p:grpSpPr>
          <a:xfrm>
            <a:off x="372801" y="4478243"/>
            <a:ext cx="11446312" cy="2087927"/>
            <a:chOff x="372801" y="4478243"/>
            <a:chExt cx="11446312" cy="2087927"/>
          </a:xfrm>
        </p:grpSpPr>
        <p:sp>
          <p:nvSpPr>
            <p:cNvPr id="21" name="Freeform 21"/>
            <p:cNvSpPr/>
            <p:nvPr/>
          </p:nvSpPr>
          <p:spPr>
            <a:xfrm>
              <a:off x="372801" y="4478243"/>
              <a:ext cx="11446312" cy="2087927"/>
            </a:xfrm>
            <a:custGeom>
              <a:avLst/>
              <a:gdLst/>
              <a:ahLst/>
              <a:cxnLst/>
              <a:rect l="l" t="t" r="r" b="b"/>
              <a:pathLst>
                <a:path w="11446312" h="2087927">
                  <a:moveTo>
                    <a:pt x="111850" y="0"/>
                  </a:moveTo>
                  <a:lnTo>
                    <a:pt x="11334462" y="0"/>
                  </a:lnTo>
                  <a:cubicBezTo>
                    <a:pt x="11396235" y="0"/>
                    <a:pt x="11446312" y="50077"/>
                    <a:pt x="11446312" y="111850"/>
                  </a:cubicBezTo>
                  <a:lnTo>
                    <a:pt x="11446312" y="1976076"/>
                  </a:lnTo>
                  <a:cubicBezTo>
                    <a:pt x="11446312" y="2037850"/>
                    <a:pt x="11396235" y="2087927"/>
                    <a:pt x="11334462" y="2087927"/>
                  </a:cubicBezTo>
                  <a:lnTo>
                    <a:pt x="111850" y="2087927"/>
                  </a:lnTo>
                  <a:cubicBezTo>
                    <a:pt x="50077" y="2087927"/>
                    <a:pt x="0" y="2037850"/>
                    <a:pt x="0" y="1976076"/>
                  </a:cubicBezTo>
                  <a:lnTo>
                    <a:pt x="0" y="111850"/>
                  </a:lnTo>
                  <a:cubicBezTo>
                    <a:pt x="0" y="50118"/>
                    <a:pt x="50118" y="0"/>
                    <a:pt x="11185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22" name="AutoShape 22"/>
            <p:cNvSpPr/>
            <p:nvPr/>
          </p:nvSpPr>
          <p:spPr>
            <a:xfrm>
              <a:off x="596481" y="4701922"/>
              <a:ext cx="11092110" cy="26099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Decomposition syntaxique</a:t>
              </a:r>
              <a:endPar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Freeform 23"/>
            <p:cNvSpPr/>
            <p:nvPr/>
          </p:nvSpPr>
          <p:spPr>
            <a:xfrm>
              <a:off x="4064649" y="5121316"/>
              <a:ext cx="1155724" cy="801522"/>
            </a:xfrm>
            <a:custGeom>
              <a:avLst/>
              <a:gdLst/>
              <a:ahLst/>
              <a:cxnLst/>
              <a:rect l="l" t="t" r="r" b="b"/>
              <a:pathLst>
                <a:path w="1155724" h="801522">
                  <a:moveTo>
                    <a:pt x="74566" y="0"/>
                  </a:moveTo>
                  <a:lnTo>
                    <a:pt x="1081159" y="0"/>
                  </a:lnTo>
                  <a:cubicBezTo>
                    <a:pt x="1122312" y="0"/>
                    <a:pt x="1155724" y="33412"/>
                    <a:pt x="1155724" y="74566"/>
                  </a:cubicBezTo>
                  <a:lnTo>
                    <a:pt x="1155724" y="726956"/>
                  </a:lnTo>
                  <a:cubicBezTo>
                    <a:pt x="1155724" y="768110"/>
                    <a:pt x="1122312" y="801522"/>
                    <a:pt x="1081159" y="801522"/>
                  </a:cubicBezTo>
                  <a:lnTo>
                    <a:pt x="74566" y="801522"/>
                  </a:lnTo>
                  <a:cubicBezTo>
                    <a:pt x="33412" y="801522"/>
                    <a:pt x="0" y="768110"/>
                    <a:pt x="0" y="726956"/>
                  </a:cubicBezTo>
                  <a:lnTo>
                    <a:pt x="0" y="74566"/>
                  </a:lnTo>
                  <a:cubicBezTo>
                    <a:pt x="0" y="33412"/>
                    <a:pt x="33412" y="0"/>
                    <a:pt x="74566"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endParaRPr sz="1000"/>
            </a:p>
          </p:txBody>
        </p:sp>
        <p:sp>
          <p:nvSpPr>
            <p:cNvPr id="24" name="AutoShape 24"/>
            <p:cNvSpPr/>
            <p:nvPr/>
          </p:nvSpPr>
          <p:spPr>
            <a:xfrm>
              <a:off x="4223044" y="5279712"/>
              <a:ext cx="904147" cy="18642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objet kernel</a:t>
              </a:r>
              <a:endPar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AutoShape 25"/>
            <p:cNvSpPr/>
            <p:nvPr/>
          </p:nvSpPr>
          <p:spPr>
            <a:xfrm>
              <a:off x="4223044" y="5503318"/>
              <a:ext cx="922789"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add_kernel</a:t>
              </a:r>
              <a:endPar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5377458" y="5372886"/>
              <a:ext cx="186422"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5613311" y="5121316"/>
              <a:ext cx="848128" cy="801522"/>
            </a:xfrm>
            <a:custGeom>
              <a:avLst/>
              <a:gdLst/>
              <a:ahLst/>
              <a:cxnLst/>
              <a:rect l="l" t="t" r="r" b="b"/>
              <a:pathLst>
                <a:path w="848128" h="801522">
                  <a:moveTo>
                    <a:pt x="74566" y="0"/>
                  </a:moveTo>
                  <a:lnTo>
                    <a:pt x="773562" y="0"/>
                  </a:lnTo>
                  <a:cubicBezTo>
                    <a:pt x="814716" y="0"/>
                    <a:pt x="848128" y="33412"/>
                    <a:pt x="848128" y="74566"/>
                  </a:cubicBezTo>
                  <a:lnTo>
                    <a:pt x="848128" y="726956"/>
                  </a:lnTo>
                  <a:cubicBezTo>
                    <a:pt x="848128" y="768110"/>
                    <a:pt x="814716" y="801522"/>
                    <a:pt x="773562" y="801522"/>
                  </a:cubicBezTo>
                  <a:lnTo>
                    <a:pt x="74566" y="801522"/>
                  </a:lnTo>
                  <a:cubicBezTo>
                    <a:pt x="33412" y="801522"/>
                    <a:pt x="0" y="768110"/>
                    <a:pt x="0" y="726956"/>
                  </a:cubicBezTo>
                  <a:lnTo>
                    <a:pt x="0" y="74566"/>
                  </a:lnTo>
                  <a:cubicBezTo>
                    <a:pt x="0" y="33412"/>
                    <a:pt x="33412" y="0"/>
                    <a:pt x="74566"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endParaRPr sz="1000"/>
            </a:p>
          </p:txBody>
        </p:sp>
        <p:sp>
          <p:nvSpPr>
            <p:cNvPr id="28" name="AutoShape 28"/>
            <p:cNvSpPr/>
            <p:nvPr/>
          </p:nvSpPr>
          <p:spPr>
            <a:xfrm>
              <a:off x="5771706" y="5279712"/>
              <a:ext cx="596550" cy="18642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configuration grid</a:t>
              </a:r>
              <a:endParaRPr lang="en-US" sz="10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5771706" y="5503318"/>
              <a:ext cx="615193"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a:t>
              </a:r>
              <a:endPar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6623315" y="5372886"/>
              <a:ext cx="186422"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AutoShape 31"/>
            <p:cNvSpPr/>
            <p:nvPr/>
          </p:nvSpPr>
          <p:spPr>
            <a:xfrm>
              <a:off x="6849893" y="5372886"/>
              <a:ext cx="177101"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7075892" y="5121316"/>
              <a:ext cx="838806" cy="801522"/>
            </a:xfrm>
            <a:custGeom>
              <a:avLst/>
              <a:gdLst/>
              <a:ahLst/>
              <a:cxnLst/>
              <a:rect l="l" t="t" r="r" b="b"/>
              <a:pathLst>
                <a:path w="838806" h="801522">
                  <a:moveTo>
                    <a:pt x="74566" y="0"/>
                  </a:moveTo>
                  <a:lnTo>
                    <a:pt x="764242" y="0"/>
                  </a:lnTo>
                  <a:cubicBezTo>
                    <a:pt x="805395" y="0"/>
                    <a:pt x="838806" y="33412"/>
                    <a:pt x="838806" y="74566"/>
                  </a:cubicBezTo>
                  <a:lnTo>
                    <a:pt x="838806" y="726956"/>
                  </a:lnTo>
                  <a:cubicBezTo>
                    <a:pt x="838806" y="768110"/>
                    <a:pt x="805395" y="801522"/>
                    <a:pt x="764242" y="801522"/>
                  </a:cubicBezTo>
                  <a:lnTo>
                    <a:pt x="74566" y="801522"/>
                  </a:lnTo>
                  <a:cubicBezTo>
                    <a:pt x="33412" y="801522"/>
                    <a:pt x="0" y="768110"/>
                    <a:pt x="0" y="726956"/>
                  </a:cubicBezTo>
                  <a:lnTo>
                    <a:pt x="0" y="74566"/>
                  </a:lnTo>
                  <a:cubicBezTo>
                    <a:pt x="0" y="33412"/>
                    <a:pt x="33412" y="0"/>
                    <a:pt x="74566" y="0"/>
                  </a:cubicBezTo>
                  <a:close/>
                </a:path>
              </a:pathLst>
            </a:custGeom>
            <a:solidFill>
              <a:srgbClr val="FFFFFF">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endParaRPr sz="1000"/>
            </a:p>
          </p:txBody>
        </p:sp>
        <p:sp>
          <p:nvSpPr>
            <p:cNvPr id="33" name="AutoShape 33"/>
            <p:cNvSpPr/>
            <p:nvPr/>
          </p:nvSpPr>
          <p:spPr>
            <a:xfrm>
              <a:off x="7234287" y="5279712"/>
              <a:ext cx="587229" cy="18642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arguments de fonction</a:t>
              </a:r>
              <a:endPar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7234287" y="5503318"/>
              <a:ext cx="605872" cy="26099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0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AutoShape 35"/>
            <p:cNvSpPr/>
            <p:nvPr/>
          </p:nvSpPr>
          <p:spPr>
            <a:xfrm>
              <a:off x="8073070" y="5372886"/>
              <a:ext cx="177101" cy="2982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0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6" name="AutoShape 36"/>
            <p:cNvSpPr/>
            <p:nvPr/>
          </p:nvSpPr>
          <p:spPr>
            <a:xfrm>
              <a:off x="554536" y="6081099"/>
              <a:ext cx="11082789" cy="26099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Equivalent a :</a:t>
              </a:r>
              <a:r>
                <a:rPr lang="en-US" sz="1000" b="0" i="0" u="none" strike="noStrike">
                  <a:solidFill>
                    <a:srgbClr val="364153"/>
                  </a:solidFill>
                  <a:highlight>
                    <a:srgbClr val="E5E7EB">
                      <a:alpha val="100000"/>
                    </a:srgbClr>
                  </a:highlight>
                  <a:latin typeface="MiSans" panose="00000500000000000000" charset="-122"/>
                  <a:ea typeface="MiSans" panose="00000500000000000000" charset="-122"/>
                  <a:cs typeface="MiSans" panose="00000500000000000000" charset="-122"/>
                  <a:sym typeface="MiSans" panose="00000500000000000000" charset="-122"/>
                </a:rPr>
                <a:t> add_kernel.__getitem__(grid).__call__(...)</a:t>
              </a:r>
              <a:endParaRPr lang="en-US" sz="10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9664" y="618850"/>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MiSans" panose="00000500000000000000" charset="-122"/>
              </a:rPr>
              <a:t>Comparaison Triton vs CUDA</a:t>
            </a:r>
            <a:endParaRPr lang="en-US" sz="2800" b="1">
              <a:solidFill>
                <a:srgbClr val="101828"/>
              </a:solidFill>
              <a:latin typeface="Calibri" panose="020F0502020204030204"/>
              <a:ea typeface="微软雅黑" panose="020B0503020204020204" charset="-122"/>
              <a:cs typeface="微软雅黑" panose="020B0503020204020204" charset="-122"/>
            </a:endParaRPr>
          </a:p>
        </p:txBody>
      </p:sp>
      <p:grpSp>
        <p:nvGrpSpPr>
          <p:cNvPr id="3" name="Group 3"/>
          <p:cNvGrpSpPr/>
          <p:nvPr/>
        </p:nvGrpSpPr>
        <p:grpSpPr>
          <a:xfrm>
            <a:off x="380956" y="1409421"/>
            <a:ext cx="5562600" cy="4876800"/>
            <a:chOff x="380956" y="1409421"/>
            <a:chExt cx="5562600" cy="4876800"/>
          </a:xfrm>
        </p:grpSpPr>
        <p:sp>
          <p:nvSpPr>
            <p:cNvPr id="4" name="Freeform 4"/>
            <p:cNvSpPr/>
            <p:nvPr/>
          </p:nvSpPr>
          <p:spPr>
            <a:xfrm>
              <a:off x="380956" y="1409421"/>
              <a:ext cx="5562600" cy="4876800"/>
            </a:xfrm>
            <a:custGeom>
              <a:avLst/>
              <a:gdLst/>
              <a:ahLst/>
              <a:cxnLst/>
              <a:rect l="l" t="t" r="r" b="b"/>
              <a:pathLst>
                <a:path w="5562600" h="4876800">
                  <a:moveTo>
                    <a:pt x="114311" y="0"/>
                  </a:moveTo>
                  <a:lnTo>
                    <a:pt x="5448289" y="0"/>
                  </a:lnTo>
                  <a:cubicBezTo>
                    <a:pt x="5511422" y="0"/>
                    <a:pt x="5562600" y="51178"/>
                    <a:pt x="5562600" y="114311"/>
                  </a:cubicBezTo>
                  <a:lnTo>
                    <a:pt x="5562600" y="4762489"/>
                  </a:lnTo>
                  <a:cubicBezTo>
                    <a:pt x="5562600" y="4825622"/>
                    <a:pt x="5511422" y="4876800"/>
                    <a:pt x="5448289" y="4876800"/>
                  </a:cubicBezTo>
                  <a:lnTo>
                    <a:pt x="114311" y="4876800"/>
                  </a:lnTo>
                  <a:cubicBezTo>
                    <a:pt x="51178" y="4876800"/>
                    <a:pt x="0" y="4825622"/>
                    <a:pt x="0" y="4762489"/>
                  </a:cubicBezTo>
                  <a:lnTo>
                    <a:pt x="0" y="114311"/>
                  </a:lnTo>
                  <a:cubicBezTo>
                    <a:pt x="0" y="51222"/>
                    <a:pt x="51222" y="0"/>
                    <a:pt x="1143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09529" y="1637993"/>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364153">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723773" y="1752247"/>
              <a:ext cx="228600" cy="228600"/>
            </a:xfrm>
            <a:custGeom>
              <a:avLst/>
              <a:gdLst/>
              <a:ahLst/>
              <a:cxnLst/>
              <a:rect l="l" t="t" r="r" b="b"/>
              <a:pathLst>
                <a:path w="228600" h="228600">
                  <a:moveTo>
                    <a:pt x="78581" y="10716"/>
                  </a:moveTo>
                  <a:cubicBezTo>
                    <a:pt x="78581" y="4776"/>
                    <a:pt x="73804" y="0"/>
                    <a:pt x="67866" y="0"/>
                  </a:cubicBezTo>
                  <a:cubicBezTo>
                    <a:pt x="61926" y="0"/>
                    <a:pt x="57150" y="4776"/>
                    <a:pt x="57150" y="10716"/>
                  </a:cubicBezTo>
                  <a:lnTo>
                    <a:pt x="57150" y="28575"/>
                  </a:lnTo>
                  <a:cubicBezTo>
                    <a:pt x="41389" y="28575"/>
                    <a:pt x="28575" y="41389"/>
                    <a:pt x="28575" y="57150"/>
                  </a:cubicBezTo>
                  <a:lnTo>
                    <a:pt x="10716" y="57150"/>
                  </a:lnTo>
                  <a:cubicBezTo>
                    <a:pt x="4776" y="57150"/>
                    <a:pt x="0" y="61926"/>
                    <a:pt x="0" y="67866"/>
                  </a:cubicBezTo>
                  <a:cubicBezTo>
                    <a:pt x="0" y="73804"/>
                    <a:pt x="4776" y="78581"/>
                    <a:pt x="10716" y="78581"/>
                  </a:cubicBezTo>
                  <a:lnTo>
                    <a:pt x="28575" y="78581"/>
                  </a:lnTo>
                  <a:lnTo>
                    <a:pt x="28575" y="103584"/>
                  </a:lnTo>
                  <a:lnTo>
                    <a:pt x="10716" y="103584"/>
                  </a:lnTo>
                  <a:cubicBezTo>
                    <a:pt x="4776" y="103584"/>
                    <a:pt x="0" y="108361"/>
                    <a:pt x="0" y="114300"/>
                  </a:cubicBezTo>
                  <a:cubicBezTo>
                    <a:pt x="0" y="120239"/>
                    <a:pt x="4776" y="125016"/>
                    <a:pt x="10716" y="125016"/>
                  </a:cubicBezTo>
                  <a:lnTo>
                    <a:pt x="28575" y="125016"/>
                  </a:lnTo>
                  <a:lnTo>
                    <a:pt x="28575" y="150019"/>
                  </a:lnTo>
                  <a:lnTo>
                    <a:pt x="10716" y="150019"/>
                  </a:lnTo>
                  <a:cubicBezTo>
                    <a:pt x="4776" y="150019"/>
                    <a:pt x="0" y="154796"/>
                    <a:pt x="0" y="160734"/>
                  </a:cubicBezTo>
                  <a:cubicBezTo>
                    <a:pt x="0" y="166674"/>
                    <a:pt x="4776" y="171450"/>
                    <a:pt x="10716" y="171450"/>
                  </a:cubicBezTo>
                  <a:lnTo>
                    <a:pt x="28575" y="171450"/>
                  </a:lnTo>
                  <a:cubicBezTo>
                    <a:pt x="28575" y="187211"/>
                    <a:pt x="41389" y="200025"/>
                    <a:pt x="57150" y="200025"/>
                  </a:cubicBezTo>
                  <a:lnTo>
                    <a:pt x="57150" y="217884"/>
                  </a:lnTo>
                  <a:cubicBezTo>
                    <a:pt x="57150" y="223824"/>
                    <a:pt x="61926" y="228600"/>
                    <a:pt x="67866" y="228600"/>
                  </a:cubicBezTo>
                  <a:cubicBezTo>
                    <a:pt x="73804" y="228600"/>
                    <a:pt x="78581" y="223824"/>
                    <a:pt x="78581" y="217884"/>
                  </a:cubicBezTo>
                  <a:lnTo>
                    <a:pt x="78581" y="200025"/>
                  </a:lnTo>
                  <a:lnTo>
                    <a:pt x="103584" y="200025"/>
                  </a:lnTo>
                  <a:lnTo>
                    <a:pt x="103584" y="217884"/>
                  </a:lnTo>
                  <a:cubicBezTo>
                    <a:pt x="103584" y="223824"/>
                    <a:pt x="108361" y="228600"/>
                    <a:pt x="114300" y="228600"/>
                  </a:cubicBezTo>
                  <a:cubicBezTo>
                    <a:pt x="120239" y="228600"/>
                    <a:pt x="125016" y="223824"/>
                    <a:pt x="125016" y="217884"/>
                  </a:cubicBezTo>
                  <a:lnTo>
                    <a:pt x="125016" y="200025"/>
                  </a:lnTo>
                  <a:lnTo>
                    <a:pt x="150019" y="200025"/>
                  </a:lnTo>
                  <a:lnTo>
                    <a:pt x="150019" y="217884"/>
                  </a:lnTo>
                  <a:cubicBezTo>
                    <a:pt x="150019" y="223824"/>
                    <a:pt x="154796" y="228600"/>
                    <a:pt x="160734" y="228600"/>
                  </a:cubicBezTo>
                  <a:cubicBezTo>
                    <a:pt x="166674" y="228600"/>
                    <a:pt x="171450" y="223824"/>
                    <a:pt x="171450" y="217884"/>
                  </a:cubicBezTo>
                  <a:lnTo>
                    <a:pt x="171450" y="200025"/>
                  </a:lnTo>
                  <a:cubicBezTo>
                    <a:pt x="187211" y="200025"/>
                    <a:pt x="200025" y="187211"/>
                    <a:pt x="200025" y="171450"/>
                  </a:cubicBezTo>
                  <a:lnTo>
                    <a:pt x="217884" y="171450"/>
                  </a:lnTo>
                  <a:cubicBezTo>
                    <a:pt x="223824" y="171450"/>
                    <a:pt x="228600" y="166674"/>
                    <a:pt x="228600" y="160734"/>
                  </a:cubicBezTo>
                  <a:cubicBezTo>
                    <a:pt x="228600" y="154796"/>
                    <a:pt x="223824" y="150019"/>
                    <a:pt x="217884" y="150019"/>
                  </a:cubicBezTo>
                  <a:lnTo>
                    <a:pt x="200025" y="150019"/>
                  </a:lnTo>
                  <a:lnTo>
                    <a:pt x="200025" y="125016"/>
                  </a:lnTo>
                  <a:lnTo>
                    <a:pt x="217884" y="125016"/>
                  </a:lnTo>
                  <a:cubicBezTo>
                    <a:pt x="223824" y="125016"/>
                    <a:pt x="228600" y="120239"/>
                    <a:pt x="228600" y="114300"/>
                  </a:cubicBezTo>
                  <a:cubicBezTo>
                    <a:pt x="228600" y="108361"/>
                    <a:pt x="223824" y="103584"/>
                    <a:pt x="217884" y="103584"/>
                  </a:cubicBezTo>
                  <a:lnTo>
                    <a:pt x="200025" y="103584"/>
                  </a:lnTo>
                  <a:lnTo>
                    <a:pt x="200025" y="78581"/>
                  </a:lnTo>
                  <a:lnTo>
                    <a:pt x="217884" y="78581"/>
                  </a:lnTo>
                  <a:cubicBezTo>
                    <a:pt x="223824" y="78581"/>
                    <a:pt x="228600" y="73804"/>
                    <a:pt x="228600" y="67866"/>
                  </a:cubicBezTo>
                  <a:cubicBezTo>
                    <a:pt x="228600" y="61926"/>
                    <a:pt x="223824" y="57150"/>
                    <a:pt x="217884" y="57150"/>
                  </a:cubicBezTo>
                  <a:lnTo>
                    <a:pt x="200025" y="57150"/>
                  </a:lnTo>
                  <a:cubicBezTo>
                    <a:pt x="200025" y="41389"/>
                    <a:pt x="187211" y="28575"/>
                    <a:pt x="171450" y="28575"/>
                  </a:cubicBezTo>
                  <a:lnTo>
                    <a:pt x="171450" y="10716"/>
                  </a:lnTo>
                  <a:cubicBezTo>
                    <a:pt x="171450" y="4776"/>
                    <a:pt x="166674" y="0"/>
                    <a:pt x="160734" y="0"/>
                  </a:cubicBezTo>
                  <a:cubicBezTo>
                    <a:pt x="154796" y="0"/>
                    <a:pt x="150019" y="4776"/>
                    <a:pt x="150019" y="10716"/>
                  </a:cubicBezTo>
                  <a:lnTo>
                    <a:pt x="150019" y="28575"/>
                  </a:lnTo>
                  <a:lnTo>
                    <a:pt x="125016" y="28575"/>
                  </a:lnTo>
                  <a:lnTo>
                    <a:pt x="125016" y="10716"/>
                  </a:lnTo>
                  <a:cubicBezTo>
                    <a:pt x="125016" y="4776"/>
                    <a:pt x="120239" y="0"/>
                    <a:pt x="114300" y="0"/>
                  </a:cubicBezTo>
                  <a:cubicBezTo>
                    <a:pt x="108361" y="0"/>
                    <a:pt x="103584" y="4776"/>
                    <a:pt x="103584" y="10716"/>
                  </a:cubicBezTo>
                  <a:lnTo>
                    <a:pt x="103584" y="28575"/>
                  </a:lnTo>
                  <a:lnTo>
                    <a:pt x="78581" y="28575"/>
                  </a:lnTo>
                  <a:lnTo>
                    <a:pt x="78581" y="10716"/>
                  </a:lnTo>
                  <a:close/>
                  <a:moveTo>
                    <a:pt x="71438" y="57150"/>
                  </a:moveTo>
                  <a:lnTo>
                    <a:pt x="157163" y="57150"/>
                  </a:lnTo>
                  <a:cubicBezTo>
                    <a:pt x="165064" y="57150"/>
                    <a:pt x="171450" y="63536"/>
                    <a:pt x="171450" y="71437"/>
                  </a:cubicBezTo>
                  <a:lnTo>
                    <a:pt x="171450" y="157162"/>
                  </a:lnTo>
                  <a:cubicBezTo>
                    <a:pt x="171450" y="165064"/>
                    <a:pt x="165064" y="171450"/>
                    <a:pt x="157163" y="171450"/>
                  </a:cubicBezTo>
                  <a:lnTo>
                    <a:pt x="71438" y="171450"/>
                  </a:lnTo>
                  <a:cubicBezTo>
                    <a:pt x="63536" y="171450"/>
                    <a:pt x="57150" y="165064"/>
                    <a:pt x="57150" y="157162"/>
                  </a:cubicBezTo>
                  <a:lnTo>
                    <a:pt x="57150" y="71437"/>
                  </a:lnTo>
                  <a:cubicBezTo>
                    <a:pt x="57150" y="63536"/>
                    <a:pt x="63536" y="57150"/>
                    <a:pt x="71438" y="57150"/>
                  </a:cubicBezTo>
                  <a:close/>
                  <a:moveTo>
                    <a:pt x="78581" y="78581"/>
                  </a:moveTo>
                  <a:lnTo>
                    <a:pt x="78581" y="150019"/>
                  </a:lnTo>
                  <a:lnTo>
                    <a:pt x="150019" y="150019"/>
                  </a:lnTo>
                  <a:lnTo>
                    <a:pt x="150019" y="78581"/>
                  </a:lnTo>
                  <a:lnTo>
                    <a:pt x="78581" y="78581"/>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180925" y="1714184"/>
              <a:ext cx="75247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CUDA</a:t>
              </a:r>
              <a:endParaRPr lang="en-US" sz="1100"/>
            </a:p>
          </p:txBody>
        </p:sp>
        <p:sp>
          <p:nvSpPr>
            <p:cNvPr id="8" name="Freeform 8"/>
            <p:cNvSpPr/>
            <p:nvPr/>
          </p:nvSpPr>
          <p:spPr>
            <a:xfrm>
              <a:off x="628484" y="2247519"/>
              <a:ext cx="5086255" cy="2533650"/>
            </a:xfrm>
            <a:custGeom>
              <a:avLst/>
              <a:gdLst/>
              <a:ahLst/>
              <a:cxnLst/>
              <a:rect l="l" t="t" r="r" b="b"/>
              <a:pathLst>
                <a:path w="5086255" h="2533650">
                  <a:moveTo>
                    <a:pt x="37910" y="0"/>
                  </a:moveTo>
                  <a:lnTo>
                    <a:pt x="5010043" y="0"/>
                  </a:lnTo>
                  <a:cubicBezTo>
                    <a:pt x="5052134" y="0"/>
                    <a:pt x="5086255" y="34121"/>
                    <a:pt x="5086255" y="76211"/>
                  </a:cubicBezTo>
                  <a:lnTo>
                    <a:pt x="5086255" y="2457439"/>
                  </a:lnTo>
                  <a:cubicBezTo>
                    <a:pt x="5086255" y="2499529"/>
                    <a:pt x="5052134" y="2533650"/>
                    <a:pt x="5010043" y="2533650"/>
                  </a:cubicBezTo>
                  <a:lnTo>
                    <a:pt x="37910" y="2533650"/>
                  </a:lnTo>
                  <a:cubicBezTo>
                    <a:pt x="16974" y="2533650"/>
                    <a:pt x="0" y="2516676"/>
                    <a:pt x="0" y="249574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28484" y="2247519"/>
              <a:ext cx="37909" cy="2533650"/>
            </a:xfrm>
            <a:custGeom>
              <a:avLst/>
              <a:gdLst/>
              <a:ahLst/>
              <a:cxnLst/>
              <a:rect l="l" t="t" r="r" b="b"/>
              <a:pathLst>
                <a:path w="37909" h="2533650">
                  <a:moveTo>
                    <a:pt x="37910" y="0"/>
                  </a:moveTo>
                  <a:lnTo>
                    <a:pt x="37910" y="0"/>
                  </a:lnTo>
                  <a:lnTo>
                    <a:pt x="37910" y="2533650"/>
                  </a:lnTo>
                  <a:lnTo>
                    <a:pt x="37910" y="2533650"/>
                  </a:lnTo>
                  <a:cubicBezTo>
                    <a:pt x="16974" y="2533650"/>
                    <a:pt x="0" y="2516676"/>
                    <a:pt x="0" y="249574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99822" y="2399909"/>
              <a:ext cx="4838700" cy="222885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Calculer l'index global du thread</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int</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idx = blockIdx.x * blockDim.x </a:t>
              </a:r>
              <a:endParaRPr lang="en-US" sz="11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 threadIdx.x;</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Verification des limites</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if</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(idx &lt; n_elements)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a:t>
              </a:r>
              <a:r>
                <a:rPr lang="en-US" sz="1200" b="1" i="0" u="none" strike="noStrike">
                  <a:solidFill>
                    <a:srgbClr val="0066CC"/>
                  </a:solidFill>
                  <a:latin typeface="MiSans" panose="00000500000000000000" charset="-122"/>
                  <a:ea typeface="MiSans" panose="00000500000000000000" charset="-122"/>
                  <a:cs typeface="MiSans" panose="00000500000000000000" charset="-122"/>
                  <a:sym typeface="MiSans" panose="00000500000000000000" charset="-122"/>
                </a:rPr>
                <a:t>float</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x = input[idx];</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output[idx] = x * </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2.0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609529" y="4933094"/>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Necessite une gestion manuelle de thread, block, grid</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609529" y="5237857"/>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Chaque thread traite un element</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609529" y="554262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Verification explicite des limites requise</a:t>
              </a:r>
              <a:endParaRPr lang="en-US"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14" name="Group 14"/>
          <p:cNvGrpSpPr/>
          <p:nvPr/>
        </p:nvGrpSpPr>
        <p:grpSpPr>
          <a:xfrm>
            <a:off x="6257815" y="1418899"/>
            <a:ext cx="5543455" cy="4857655"/>
            <a:chOff x="6257815" y="1418899"/>
            <a:chExt cx="5543455" cy="4857655"/>
          </a:xfrm>
        </p:grpSpPr>
        <p:sp>
          <p:nvSpPr>
            <p:cNvPr id="15" name="Freeform 15"/>
            <p:cNvSpPr/>
            <p:nvPr/>
          </p:nvSpPr>
          <p:spPr>
            <a:xfrm>
              <a:off x="6257815" y="1418899"/>
              <a:ext cx="5543455" cy="4857655"/>
            </a:xfrm>
            <a:custGeom>
              <a:avLst/>
              <a:gdLst/>
              <a:ahLst/>
              <a:cxnLst/>
              <a:rect l="l" t="t" r="r" b="b"/>
              <a:pathLst>
                <a:path w="5543455" h="4857655">
                  <a:moveTo>
                    <a:pt x="114301" y="0"/>
                  </a:moveTo>
                  <a:lnTo>
                    <a:pt x="5429155" y="0"/>
                  </a:lnTo>
                  <a:cubicBezTo>
                    <a:pt x="5492281" y="0"/>
                    <a:pt x="5543455" y="51173"/>
                    <a:pt x="5543455" y="114301"/>
                  </a:cubicBezTo>
                  <a:lnTo>
                    <a:pt x="5543455" y="4743355"/>
                  </a:lnTo>
                  <a:cubicBezTo>
                    <a:pt x="5543455" y="4806481"/>
                    <a:pt x="5492281" y="4857655"/>
                    <a:pt x="5429155" y="4857655"/>
                  </a:cubicBezTo>
                  <a:lnTo>
                    <a:pt x="114301" y="4857655"/>
                  </a:lnTo>
                  <a:cubicBezTo>
                    <a:pt x="51173" y="4857655"/>
                    <a:pt x="0" y="4806481"/>
                    <a:pt x="0" y="4743355"/>
                  </a:cubicBezTo>
                  <a:lnTo>
                    <a:pt x="0" y="114301"/>
                  </a:lnTo>
                  <a:cubicBezTo>
                    <a:pt x="0" y="51217"/>
                    <a:pt x="51217"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6495866" y="1656950"/>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623190" y="1784776"/>
              <a:ext cx="202570" cy="202348"/>
            </a:xfrm>
            <a:custGeom>
              <a:avLst/>
              <a:gdLst/>
              <a:ahLst/>
              <a:cxnLst/>
              <a:rect l="l" t="t" r="r" b="b"/>
              <a:pathLst>
                <a:path w="202570" h="202348">
                  <a:moveTo>
                    <a:pt x="197571" y="75948"/>
                  </a:moveTo>
                  <a:cubicBezTo>
                    <a:pt x="194133" y="62152"/>
                    <a:pt x="187614" y="51749"/>
                    <a:pt x="173729" y="51749"/>
                  </a:cubicBezTo>
                  <a:lnTo>
                    <a:pt x="155824" y="51749"/>
                  </a:lnTo>
                  <a:lnTo>
                    <a:pt x="155824" y="72912"/>
                  </a:lnTo>
                  <a:cubicBezTo>
                    <a:pt x="155824" y="89342"/>
                    <a:pt x="141894" y="103184"/>
                    <a:pt x="125998" y="103184"/>
                  </a:cubicBezTo>
                  <a:lnTo>
                    <a:pt x="78315" y="103184"/>
                  </a:lnTo>
                  <a:cubicBezTo>
                    <a:pt x="65278" y="103184"/>
                    <a:pt x="54473" y="114346"/>
                    <a:pt x="54473" y="127428"/>
                  </a:cubicBezTo>
                  <a:lnTo>
                    <a:pt x="54473" y="172881"/>
                  </a:lnTo>
                  <a:cubicBezTo>
                    <a:pt x="54473" y="185828"/>
                    <a:pt x="65724" y="193418"/>
                    <a:pt x="78315" y="197124"/>
                  </a:cubicBezTo>
                  <a:cubicBezTo>
                    <a:pt x="93406" y="201544"/>
                    <a:pt x="107917" y="202348"/>
                    <a:pt x="125998" y="197124"/>
                  </a:cubicBezTo>
                  <a:cubicBezTo>
                    <a:pt x="138010" y="193641"/>
                    <a:pt x="149841" y="186632"/>
                    <a:pt x="149841" y="172881"/>
                  </a:cubicBezTo>
                  <a:lnTo>
                    <a:pt x="149841" y="154708"/>
                  </a:lnTo>
                  <a:lnTo>
                    <a:pt x="102202" y="154708"/>
                  </a:lnTo>
                  <a:lnTo>
                    <a:pt x="102202" y="148636"/>
                  </a:lnTo>
                  <a:lnTo>
                    <a:pt x="173729" y="148636"/>
                  </a:lnTo>
                  <a:cubicBezTo>
                    <a:pt x="187614" y="148636"/>
                    <a:pt x="192748" y="138947"/>
                    <a:pt x="197571" y="124436"/>
                  </a:cubicBezTo>
                  <a:cubicBezTo>
                    <a:pt x="202571" y="109480"/>
                    <a:pt x="202348" y="95102"/>
                    <a:pt x="197571" y="75948"/>
                  </a:cubicBezTo>
                  <a:close/>
                  <a:moveTo>
                    <a:pt x="128991" y="184980"/>
                  </a:moveTo>
                  <a:cubicBezTo>
                    <a:pt x="125593" y="185219"/>
                    <a:pt x="122346" y="183540"/>
                    <a:pt x="120574" y="180631"/>
                  </a:cubicBezTo>
                  <a:cubicBezTo>
                    <a:pt x="118801" y="177720"/>
                    <a:pt x="118801" y="174065"/>
                    <a:pt x="120574" y="171157"/>
                  </a:cubicBezTo>
                  <a:cubicBezTo>
                    <a:pt x="122346" y="168248"/>
                    <a:pt x="125593" y="166569"/>
                    <a:pt x="128991" y="166807"/>
                  </a:cubicBezTo>
                  <a:cubicBezTo>
                    <a:pt x="132389" y="166569"/>
                    <a:pt x="135637" y="168248"/>
                    <a:pt x="137408" y="171157"/>
                  </a:cubicBezTo>
                  <a:cubicBezTo>
                    <a:pt x="139179" y="174065"/>
                    <a:pt x="139179" y="177720"/>
                    <a:pt x="137408" y="180631"/>
                  </a:cubicBezTo>
                  <a:cubicBezTo>
                    <a:pt x="135637" y="183540"/>
                    <a:pt x="132389" y="185219"/>
                    <a:pt x="128991" y="184980"/>
                  </a:cubicBezTo>
                  <a:close/>
                  <a:moveTo>
                    <a:pt x="76127" y="97201"/>
                  </a:moveTo>
                  <a:lnTo>
                    <a:pt x="123812" y="97201"/>
                  </a:lnTo>
                  <a:cubicBezTo>
                    <a:pt x="137072" y="97201"/>
                    <a:pt x="147655" y="86261"/>
                    <a:pt x="147655" y="72957"/>
                  </a:cubicBezTo>
                  <a:lnTo>
                    <a:pt x="147655" y="27460"/>
                  </a:lnTo>
                  <a:cubicBezTo>
                    <a:pt x="147655" y="14512"/>
                    <a:pt x="136760" y="4823"/>
                    <a:pt x="123812" y="2634"/>
                  </a:cubicBezTo>
                  <a:cubicBezTo>
                    <a:pt x="107827" y="0"/>
                    <a:pt x="90459" y="135"/>
                    <a:pt x="76127" y="2680"/>
                  </a:cubicBezTo>
                  <a:cubicBezTo>
                    <a:pt x="55947" y="6251"/>
                    <a:pt x="52285" y="13708"/>
                    <a:pt x="52285" y="27505"/>
                  </a:cubicBezTo>
                  <a:lnTo>
                    <a:pt x="52285" y="45676"/>
                  </a:lnTo>
                  <a:lnTo>
                    <a:pt x="100014" y="45676"/>
                  </a:lnTo>
                  <a:lnTo>
                    <a:pt x="100014" y="51749"/>
                  </a:lnTo>
                  <a:lnTo>
                    <a:pt x="34381" y="51749"/>
                  </a:lnTo>
                  <a:cubicBezTo>
                    <a:pt x="20494" y="51749"/>
                    <a:pt x="8351" y="60098"/>
                    <a:pt x="4556" y="75948"/>
                  </a:cubicBezTo>
                  <a:cubicBezTo>
                    <a:pt x="180" y="94120"/>
                    <a:pt x="0" y="105461"/>
                    <a:pt x="4556" y="124436"/>
                  </a:cubicBezTo>
                  <a:cubicBezTo>
                    <a:pt x="7949" y="138545"/>
                    <a:pt x="16030" y="148636"/>
                    <a:pt x="29917" y="148636"/>
                  </a:cubicBezTo>
                  <a:lnTo>
                    <a:pt x="46302" y="148636"/>
                  </a:lnTo>
                  <a:lnTo>
                    <a:pt x="46302" y="126847"/>
                  </a:lnTo>
                  <a:cubicBezTo>
                    <a:pt x="46302" y="111086"/>
                    <a:pt x="59920" y="97201"/>
                    <a:pt x="76127" y="97201"/>
                  </a:cubicBezTo>
                  <a:close/>
                  <a:moveTo>
                    <a:pt x="73180" y="15315"/>
                  </a:moveTo>
                  <a:cubicBezTo>
                    <a:pt x="78207" y="15315"/>
                    <a:pt x="82289" y="19397"/>
                    <a:pt x="82289" y="24424"/>
                  </a:cubicBezTo>
                  <a:cubicBezTo>
                    <a:pt x="82289" y="29451"/>
                    <a:pt x="78207" y="33532"/>
                    <a:pt x="73180" y="33532"/>
                  </a:cubicBezTo>
                  <a:cubicBezTo>
                    <a:pt x="68153" y="33532"/>
                    <a:pt x="64072" y="29451"/>
                    <a:pt x="64072" y="24424"/>
                  </a:cubicBezTo>
                  <a:cubicBezTo>
                    <a:pt x="64072" y="19397"/>
                    <a:pt x="68153" y="15315"/>
                    <a:pt x="73180" y="1531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067263" y="1733141"/>
              <a:ext cx="7334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Triton</a:t>
              </a:r>
              <a:endParaRPr lang="en-US" sz="1100"/>
            </a:p>
          </p:txBody>
        </p:sp>
        <p:sp>
          <p:nvSpPr>
            <p:cNvPr id="19" name="Freeform 19"/>
            <p:cNvSpPr/>
            <p:nvPr/>
          </p:nvSpPr>
          <p:spPr>
            <a:xfrm>
              <a:off x="6514822" y="2266476"/>
              <a:ext cx="5048155" cy="2781300"/>
            </a:xfrm>
            <a:custGeom>
              <a:avLst/>
              <a:gdLst/>
              <a:ahLst/>
              <a:cxnLst/>
              <a:rect l="l" t="t" r="r" b="b"/>
              <a:pathLst>
                <a:path w="5048155" h="2781300">
                  <a:moveTo>
                    <a:pt x="37909" y="0"/>
                  </a:moveTo>
                  <a:lnTo>
                    <a:pt x="4971948" y="0"/>
                  </a:lnTo>
                  <a:cubicBezTo>
                    <a:pt x="5014036" y="0"/>
                    <a:pt x="5048155" y="34119"/>
                    <a:pt x="5048155" y="76208"/>
                  </a:cubicBezTo>
                  <a:lnTo>
                    <a:pt x="5048155" y="2705092"/>
                  </a:lnTo>
                  <a:cubicBezTo>
                    <a:pt x="5048155" y="2747181"/>
                    <a:pt x="5014036" y="2781300"/>
                    <a:pt x="4971948" y="2781300"/>
                  </a:cubicBezTo>
                  <a:lnTo>
                    <a:pt x="37909" y="2781300"/>
                  </a:lnTo>
                  <a:cubicBezTo>
                    <a:pt x="16974" y="2781300"/>
                    <a:pt x="0" y="2764326"/>
                    <a:pt x="0" y="2743390"/>
                  </a:cubicBezTo>
                  <a:lnTo>
                    <a:pt x="0" y="37910"/>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514822" y="2266476"/>
              <a:ext cx="37910" cy="2781300"/>
            </a:xfrm>
            <a:custGeom>
              <a:avLst/>
              <a:gdLst/>
              <a:ahLst/>
              <a:cxnLst/>
              <a:rect l="l" t="t" r="r" b="b"/>
              <a:pathLst>
                <a:path w="37910" h="2781300">
                  <a:moveTo>
                    <a:pt x="37910" y="0"/>
                  </a:moveTo>
                  <a:lnTo>
                    <a:pt x="37910" y="0"/>
                  </a:lnTo>
                  <a:lnTo>
                    <a:pt x="37910" y="2781300"/>
                  </a:lnTo>
                  <a:lnTo>
                    <a:pt x="37910" y="2781300"/>
                  </a:lnTo>
                  <a:cubicBezTo>
                    <a:pt x="16974" y="2781300"/>
                    <a:pt x="0" y="2764326"/>
                    <a:pt x="0" y="27433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686159" y="2418857"/>
              <a:ext cx="4800600" cy="2476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Obtenir le program ID</a:t>
              </a:r>
              <a:endParaRPr lang="en-US" sz="1100"/>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pid = tl.program_id(</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Calculer les offsets (vectorise)</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offsets = pid * BLOCK_SIZE \</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 tl.arange(</a:t>
              </a:r>
              <a:r>
                <a:rPr lang="en-US" sz="1200" b="0" i="0" u="none" strike="noStrike">
                  <a:solidFill>
                    <a:srgbClr val="009900"/>
                  </a:solidFill>
                  <a:latin typeface="MiSans" panose="00000500000000000000" charset="-122"/>
                  <a:ea typeface="MiSans" panose="00000500000000000000" charset="-122"/>
                  <a:cs typeface="MiSans" panose="00000500000000000000" charset="-122"/>
                  <a:sym typeface="MiSans" panose="00000500000000000000" charset="-122"/>
                </a:rPr>
                <a:t>0</a:t>
              </a: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 BLOCK_SIZE)</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Operation memoire avec mask</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mask = offsets &lt; n_elements</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rPr>
                <a:t>x = tl.load(ptr + offsets, mask=mask)</a:t>
              </a:r>
              <a:endParaRPr lang="en-US" sz="1200" b="0" i="0" u="none" strike="noStrike">
                <a:solidFill>
                  <a:srgbClr val="1E2939"/>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6495866" y="5199655"/>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Unite de programme, gestion automatique</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6495866" y="5504418"/>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Operations vectorisees, traitement de plusieurs elements a la fois</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6495866" y="5809180"/>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Mecanisme mask simplifie le traitement des limites</a:t>
              </a:r>
              <a:endPar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1373" y="61892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Benchmark officiel</a:t>
            </a:r>
            <a:endParaRPr lang="en-US" sz="2800"/>
          </a:p>
        </p:txBody>
      </p:sp>
      <p:grpSp>
        <p:nvGrpSpPr>
          <p:cNvPr id="3" name="Group 3"/>
          <p:cNvGrpSpPr/>
          <p:nvPr/>
        </p:nvGrpSpPr>
        <p:grpSpPr>
          <a:xfrm>
            <a:off x="380956" y="1638374"/>
            <a:ext cx="5562600" cy="2781300"/>
            <a:chOff x="380956" y="1638374"/>
            <a:chExt cx="5562600" cy="2781300"/>
          </a:xfrm>
        </p:grpSpPr>
        <p:sp>
          <p:nvSpPr>
            <p:cNvPr id="4" name="Freeform 4"/>
            <p:cNvSpPr/>
            <p:nvPr/>
          </p:nvSpPr>
          <p:spPr>
            <a:xfrm>
              <a:off x="380956" y="1638374"/>
              <a:ext cx="5562600" cy="2781300"/>
            </a:xfrm>
            <a:custGeom>
              <a:avLst/>
              <a:gdLst/>
              <a:ahLst/>
              <a:cxnLst/>
              <a:rect l="l" t="t" r="r" b="b"/>
              <a:pathLst>
                <a:path w="5562600" h="2781300">
                  <a:moveTo>
                    <a:pt x="114311" y="0"/>
                  </a:moveTo>
                  <a:lnTo>
                    <a:pt x="5448289" y="0"/>
                  </a:lnTo>
                  <a:cubicBezTo>
                    <a:pt x="5511422" y="0"/>
                    <a:pt x="5562600" y="51178"/>
                    <a:pt x="5562600" y="114311"/>
                  </a:cubicBezTo>
                  <a:lnTo>
                    <a:pt x="5562600" y="2666989"/>
                  </a:lnTo>
                  <a:cubicBezTo>
                    <a:pt x="5562600" y="2730122"/>
                    <a:pt x="5511422" y="2781300"/>
                    <a:pt x="5448289" y="2781300"/>
                  </a:cubicBezTo>
                  <a:lnTo>
                    <a:pt x="114311" y="2781300"/>
                  </a:lnTo>
                  <a:cubicBezTo>
                    <a:pt x="51178" y="2781300"/>
                    <a:pt x="0" y="2730122"/>
                    <a:pt x="0" y="2666989"/>
                  </a:cubicBezTo>
                  <a:lnTo>
                    <a:pt x="0" y="114311"/>
                  </a:lnTo>
                  <a:cubicBezTo>
                    <a:pt x="0" y="51178"/>
                    <a:pt x="51178" y="0"/>
                    <a:pt x="1143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800"/>
            </a:p>
          </p:txBody>
        </p:sp>
        <p:sp>
          <p:nvSpPr>
            <p:cNvPr id="5" name="AutoShape 5"/>
            <p:cNvSpPr/>
            <p:nvPr/>
          </p:nvSpPr>
          <p:spPr>
            <a:xfrm>
              <a:off x="609529" y="1866947"/>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Avantages de performance de Triton</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631094" y="2335075"/>
              <a:ext cx="224626" cy="224626"/>
            </a:xfrm>
            <a:custGeom>
              <a:avLst/>
              <a:gdLst/>
              <a:ahLst/>
              <a:cxnLst/>
              <a:rect l="l" t="t" r="r" b="b"/>
              <a:pathLst>
                <a:path w="224626" h="224626">
                  <a:moveTo>
                    <a:pt x="64160" y="131891"/>
                  </a:moveTo>
                  <a:lnTo>
                    <a:pt x="17949" y="131891"/>
                  </a:lnTo>
                  <a:cubicBezTo>
                    <a:pt x="6831" y="131891"/>
                    <a:pt x="0" y="119790"/>
                    <a:pt x="5715" y="110237"/>
                  </a:cubicBezTo>
                  <a:lnTo>
                    <a:pt x="29334" y="70857"/>
                  </a:lnTo>
                  <a:cubicBezTo>
                    <a:pt x="33219" y="64383"/>
                    <a:pt x="40184" y="60453"/>
                    <a:pt x="47729" y="60453"/>
                  </a:cubicBezTo>
                  <a:lnTo>
                    <a:pt x="90145" y="60453"/>
                  </a:lnTo>
                  <a:cubicBezTo>
                    <a:pt x="124123" y="2902"/>
                    <a:pt x="174799" y="0"/>
                    <a:pt x="208687" y="4955"/>
                  </a:cubicBezTo>
                  <a:cubicBezTo>
                    <a:pt x="214402" y="5804"/>
                    <a:pt x="218868" y="10269"/>
                    <a:pt x="219672" y="15939"/>
                  </a:cubicBezTo>
                  <a:cubicBezTo>
                    <a:pt x="224626" y="49827"/>
                    <a:pt x="221724" y="100503"/>
                    <a:pt x="164172" y="134481"/>
                  </a:cubicBezTo>
                  <a:lnTo>
                    <a:pt x="164172" y="176897"/>
                  </a:lnTo>
                  <a:cubicBezTo>
                    <a:pt x="164172" y="184442"/>
                    <a:pt x="160243" y="191407"/>
                    <a:pt x="153769" y="195292"/>
                  </a:cubicBezTo>
                  <a:lnTo>
                    <a:pt x="114388" y="218911"/>
                  </a:lnTo>
                  <a:cubicBezTo>
                    <a:pt x="104879" y="224626"/>
                    <a:pt x="92735" y="217751"/>
                    <a:pt x="92735" y="206677"/>
                  </a:cubicBezTo>
                  <a:lnTo>
                    <a:pt x="92735" y="160466"/>
                  </a:lnTo>
                  <a:cubicBezTo>
                    <a:pt x="92735" y="144705"/>
                    <a:pt x="79921" y="131891"/>
                    <a:pt x="64160" y="131891"/>
                  </a:cubicBezTo>
                  <a:lnTo>
                    <a:pt x="64116" y="131891"/>
                  </a:lnTo>
                  <a:close/>
                  <a:moveTo>
                    <a:pt x="185604" y="60453"/>
                  </a:moveTo>
                  <a:cubicBezTo>
                    <a:pt x="185604" y="48625"/>
                    <a:pt x="176001" y="39022"/>
                    <a:pt x="164172" y="39022"/>
                  </a:cubicBezTo>
                  <a:cubicBezTo>
                    <a:pt x="152344" y="39022"/>
                    <a:pt x="142741" y="48625"/>
                    <a:pt x="142741" y="60453"/>
                  </a:cubicBezTo>
                  <a:cubicBezTo>
                    <a:pt x="142741" y="72282"/>
                    <a:pt x="152344" y="81885"/>
                    <a:pt x="164172" y="81885"/>
                  </a:cubicBezTo>
                  <a:cubicBezTo>
                    <a:pt x="176001" y="81885"/>
                    <a:pt x="185604" y="72282"/>
                    <a:pt x="185604" y="6045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009606" y="2286074"/>
              <a:ext cx="43021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Performance proche de CUDA</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1009606" y="2590874"/>
              <a:ext cx="4692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Atteint le niveau de performance du CUDA écrit à la main grâce à l'optimisation automatique</a:t>
              </a:r>
              <a:endPar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622432" y="3008164"/>
              <a:ext cx="259988" cy="231905"/>
            </a:xfrm>
            <a:custGeom>
              <a:avLst/>
              <a:gdLst/>
              <a:ahLst/>
              <a:cxnLst/>
              <a:rect l="l" t="t" r="r" b="b"/>
              <a:pathLst>
                <a:path w="259988" h="231905">
                  <a:moveTo>
                    <a:pt x="162476" y="2188"/>
                  </a:moveTo>
                  <a:cubicBezTo>
                    <a:pt x="154885" y="0"/>
                    <a:pt x="146983" y="4421"/>
                    <a:pt x="144795" y="12010"/>
                  </a:cubicBezTo>
                  <a:lnTo>
                    <a:pt x="87645" y="212035"/>
                  </a:lnTo>
                  <a:cubicBezTo>
                    <a:pt x="85457" y="219626"/>
                    <a:pt x="89878" y="227528"/>
                    <a:pt x="97467" y="229716"/>
                  </a:cubicBezTo>
                  <a:cubicBezTo>
                    <a:pt x="105058" y="231904"/>
                    <a:pt x="112960" y="227483"/>
                    <a:pt x="115148" y="219894"/>
                  </a:cubicBezTo>
                  <a:lnTo>
                    <a:pt x="172298" y="19869"/>
                  </a:lnTo>
                  <a:cubicBezTo>
                    <a:pt x="174486" y="12278"/>
                    <a:pt x="170065" y="4376"/>
                    <a:pt x="162476" y="2188"/>
                  </a:cubicBezTo>
                  <a:close/>
                  <a:moveTo>
                    <a:pt x="191318" y="62954"/>
                  </a:moveTo>
                  <a:cubicBezTo>
                    <a:pt x="185737" y="68535"/>
                    <a:pt x="185737" y="77599"/>
                    <a:pt x="191318" y="83180"/>
                  </a:cubicBezTo>
                  <a:lnTo>
                    <a:pt x="224090" y="115952"/>
                  </a:lnTo>
                  <a:lnTo>
                    <a:pt x="191318" y="148724"/>
                  </a:lnTo>
                  <a:cubicBezTo>
                    <a:pt x="185737" y="154305"/>
                    <a:pt x="185737" y="163369"/>
                    <a:pt x="191318" y="168950"/>
                  </a:cubicBezTo>
                  <a:cubicBezTo>
                    <a:pt x="196900" y="174531"/>
                    <a:pt x="205963" y="174531"/>
                    <a:pt x="211544" y="168950"/>
                  </a:cubicBezTo>
                  <a:lnTo>
                    <a:pt x="254407" y="126087"/>
                  </a:lnTo>
                  <a:cubicBezTo>
                    <a:pt x="259988" y="120506"/>
                    <a:pt x="259988" y="111444"/>
                    <a:pt x="254407" y="105861"/>
                  </a:cubicBezTo>
                  <a:lnTo>
                    <a:pt x="211544" y="62999"/>
                  </a:lnTo>
                  <a:cubicBezTo>
                    <a:pt x="205963" y="57418"/>
                    <a:pt x="196900" y="57418"/>
                    <a:pt x="191318" y="62999"/>
                  </a:cubicBezTo>
                  <a:close/>
                  <a:moveTo>
                    <a:pt x="68669" y="62954"/>
                  </a:moveTo>
                  <a:cubicBezTo>
                    <a:pt x="63088" y="57373"/>
                    <a:pt x="54026" y="57373"/>
                    <a:pt x="48443" y="62954"/>
                  </a:cubicBezTo>
                  <a:lnTo>
                    <a:pt x="5581" y="105817"/>
                  </a:lnTo>
                  <a:cubicBezTo>
                    <a:pt x="0" y="111398"/>
                    <a:pt x="0" y="120460"/>
                    <a:pt x="5581" y="126043"/>
                  </a:cubicBezTo>
                  <a:lnTo>
                    <a:pt x="48443" y="168905"/>
                  </a:lnTo>
                  <a:cubicBezTo>
                    <a:pt x="54026" y="174486"/>
                    <a:pt x="63088" y="174486"/>
                    <a:pt x="68669" y="168905"/>
                  </a:cubicBezTo>
                  <a:cubicBezTo>
                    <a:pt x="74250" y="163324"/>
                    <a:pt x="74250" y="154260"/>
                    <a:pt x="68669" y="148679"/>
                  </a:cubicBezTo>
                  <a:lnTo>
                    <a:pt x="35898" y="115952"/>
                  </a:lnTo>
                  <a:lnTo>
                    <a:pt x="68625" y="83180"/>
                  </a:lnTo>
                  <a:cubicBezTo>
                    <a:pt x="74206" y="77599"/>
                    <a:pt x="74206" y="68535"/>
                    <a:pt x="68625" y="6295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09606" y="2971874"/>
              <a:ext cx="440309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Efficacité de développement élevée</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1009606" y="3276674"/>
              <a:ext cx="456311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Syntaxe Python concise, coût de développement considérablement réduit</a:t>
              </a:r>
              <a:endPar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616539" y="3673789"/>
              <a:ext cx="272132" cy="272132"/>
            </a:xfrm>
            <a:custGeom>
              <a:avLst/>
              <a:gdLst/>
              <a:ahLst/>
              <a:cxnLst/>
              <a:rect l="l" t="t" r="r" b="b"/>
              <a:pathLst>
                <a:path w="272132" h="272132">
                  <a:moveTo>
                    <a:pt x="178683" y="115729"/>
                  </a:moveTo>
                  <a:cubicBezTo>
                    <a:pt x="184130" y="114256"/>
                    <a:pt x="189845" y="116845"/>
                    <a:pt x="192301" y="121890"/>
                  </a:cubicBezTo>
                  <a:lnTo>
                    <a:pt x="200605" y="138678"/>
                  </a:lnTo>
                  <a:cubicBezTo>
                    <a:pt x="205204" y="139303"/>
                    <a:pt x="209714" y="140553"/>
                    <a:pt x="213955" y="142295"/>
                  </a:cubicBezTo>
                  <a:lnTo>
                    <a:pt x="229582" y="131892"/>
                  </a:lnTo>
                  <a:cubicBezTo>
                    <a:pt x="234270" y="128766"/>
                    <a:pt x="240476" y="129390"/>
                    <a:pt x="244450" y="133366"/>
                  </a:cubicBezTo>
                  <a:lnTo>
                    <a:pt x="253023" y="141938"/>
                  </a:lnTo>
                  <a:cubicBezTo>
                    <a:pt x="256996" y="145911"/>
                    <a:pt x="257621" y="152162"/>
                    <a:pt x="254496" y="156806"/>
                  </a:cubicBezTo>
                  <a:lnTo>
                    <a:pt x="244093" y="172388"/>
                  </a:lnTo>
                  <a:cubicBezTo>
                    <a:pt x="244941" y="174486"/>
                    <a:pt x="245700" y="176674"/>
                    <a:pt x="246325" y="178951"/>
                  </a:cubicBezTo>
                  <a:cubicBezTo>
                    <a:pt x="246951" y="181228"/>
                    <a:pt x="247352" y="183461"/>
                    <a:pt x="247664" y="185738"/>
                  </a:cubicBezTo>
                  <a:lnTo>
                    <a:pt x="264497" y="194042"/>
                  </a:lnTo>
                  <a:cubicBezTo>
                    <a:pt x="269541" y="196543"/>
                    <a:pt x="272132" y="202258"/>
                    <a:pt x="270659" y="207661"/>
                  </a:cubicBezTo>
                  <a:lnTo>
                    <a:pt x="267534" y="219359"/>
                  </a:lnTo>
                  <a:cubicBezTo>
                    <a:pt x="266060" y="224760"/>
                    <a:pt x="261015" y="228423"/>
                    <a:pt x="255389" y="228064"/>
                  </a:cubicBezTo>
                  <a:lnTo>
                    <a:pt x="236637" y="226859"/>
                  </a:lnTo>
                  <a:cubicBezTo>
                    <a:pt x="233824" y="230475"/>
                    <a:pt x="230564" y="233824"/>
                    <a:pt x="226859" y="236683"/>
                  </a:cubicBezTo>
                  <a:lnTo>
                    <a:pt x="228064" y="255388"/>
                  </a:lnTo>
                  <a:cubicBezTo>
                    <a:pt x="228421" y="261015"/>
                    <a:pt x="224760" y="266105"/>
                    <a:pt x="219359" y="267533"/>
                  </a:cubicBezTo>
                  <a:lnTo>
                    <a:pt x="207659" y="270659"/>
                  </a:lnTo>
                  <a:cubicBezTo>
                    <a:pt x="202214" y="272132"/>
                    <a:pt x="196542" y="269543"/>
                    <a:pt x="194042" y="264498"/>
                  </a:cubicBezTo>
                  <a:lnTo>
                    <a:pt x="185737" y="247710"/>
                  </a:lnTo>
                  <a:cubicBezTo>
                    <a:pt x="181139" y="247085"/>
                    <a:pt x="176629" y="245835"/>
                    <a:pt x="172386" y="244093"/>
                  </a:cubicBezTo>
                  <a:lnTo>
                    <a:pt x="156760" y="254496"/>
                  </a:lnTo>
                  <a:cubicBezTo>
                    <a:pt x="152071" y="257622"/>
                    <a:pt x="145866" y="256998"/>
                    <a:pt x="141892" y="253022"/>
                  </a:cubicBezTo>
                  <a:lnTo>
                    <a:pt x="133320" y="244450"/>
                  </a:lnTo>
                  <a:cubicBezTo>
                    <a:pt x="129346" y="240477"/>
                    <a:pt x="128721" y="234271"/>
                    <a:pt x="131847" y="229582"/>
                  </a:cubicBezTo>
                  <a:lnTo>
                    <a:pt x="142251" y="213956"/>
                  </a:lnTo>
                  <a:cubicBezTo>
                    <a:pt x="141401" y="211857"/>
                    <a:pt x="140641" y="209668"/>
                    <a:pt x="140017" y="207393"/>
                  </a:cubicBezTo>
                  <a:cubicBezTo>
                    <a:pt x="139392" y="205115"/>
                    <a:pt x="138990" y="202838"/>
                    <a:pt x="138678" y="200606"/>
                  </a:cubicBezTo>
                  <a:lnTo>
                    <a:pt x="121845" y="192301"/>
                  </a:lnTo>
                  <a:cubicBezTo>
                    <a:pt x="116800" y="189801"/>
                    <a:pt x="114255" y="184086"/>
                    <a:pt x="115683" y="178683"/>
                  </a:cubicBezTo>
                  <a:lnTo>
                    <a:pt x="118809" y="166985"/>
                  </a:lnTo>
                  <a:cubicBezTo>
                    <a:pt x="120283" y="161582"/>
                    <a:pt x="125328" y="157922"/>
                    <a:pt x="130954" y="158279"/>
                  </a:cubicBezTo>
                  <a:lnTo>
                    <a:pt x="149661" y="159484"/>
                  </a:lnTo>
                  <a:cubicBezTo>
                    <a:pt x="152474" y="155867"/>
                    <a:pt x="155734" y="152518"/>
                    <a:pt x="159439" y="149662"/>
                  </a:cubicBezTo>
                  <a:lnTo>
                    <a:pt x="158234" y="131000"/>
                  </a:lnTo>
                  <a:cubicBezTo>
                    <a:pt x="157877" y="125373"/>
                    <a:pt x="161538" y="120283"/>
                    <a:pt x="166941" y="118855"/>
                  </a:cubicBezTo>
                  <a:lnTo>
                    <a:pt x="178639" y="115729"/>
                  </a:lnTo>
                  <a:close/>
                  <a:moveTo>
                    <a:pt x="193194" y="173548"/>
                  </a:moveTo>
                  <a:cubicBezTo>
                    <a:pt x="182351" y="173561"/>
                    <a:pt x="173559" y="182374"/>
                    <a:pt x="173571" y="193216"/>
                  </a:cubicBezTo>
                  <a:cubicBezTo>
                    <a:pt x="173583" y="204059"/>
                    <a:pt x="182397" y="212852"/>
                    <a:pt x="193239" y="212840"/>
                  </a:cubicBezTo>
                  <a:cubicBezTo>
                    <a:pt x="204081" y="212827"/>
                    <a:pt x="212874" y="204014"/>
                    <a:pt x="212861" y="193172"/>
                  </a:cubicBezTo>
                  <a:cubicBezTo>
                    <a:pt x="212849" y="182329"/>
                    <a:pt x="204036" y="173536"/>
                    <a:pt x="193194" y="173548"/>
                  </a:cubicBezTo>
                  <a:close/>
                  <a:moveTo>
                    <a:pt x="93404" y="1429"/>
                  </a:moveTo>
                  <a:lnTo>
                    <a:pt x="105102" y="4555"/>
                  </a:lnTo>
                  <a:cubicBezTo>
                    <a:pt x="110504" y="6028"/>
                    <a:pt x="114166" y="11118"/>
                    <a:pt x="113809" y="16700"/>
                  </a:cubicBezTo>
                  <a:lnTo>
                    <a:pt x="112602" y="35362"/>
                  </a:lnTo>
                  <a:cubicBezTo>
                    <a:pt x="116310" y="38218"/>
                    <a:pt x="119568" y="41523"/>
                    <a:pt x="122381" y="45184"/>
                  </a:cubicBezTo>
                  <a:lnTo>
                    <a:pt x="141134" y="43979"/>
                  </a:lnTo>
                  <a:cubicBezTo>
                    <a:pt x="146715" y="43622"/>
                    <a:pt x="151803" y="47282"/>
                    <a:pt x="153278" y="52685"/>
                  </a:cubicBezTo>
                  <a:lnTo>
                    <a:pt x="156403" y="64383"/>
                  </a:lnTo>
                  <a:cubicBezTo>
                    <a:pt x="157832" y="69786"/>
                    <a:pt x="155287" y="75501"/>
                    <a:pt x="150241" y="78001"/>
                  </a:cubicBezTo>
                  <a:lnTo>
                    <a:pt x="133409" y="86306"/>
                  </a:lnTo>
                  <a:cubicBezTo>
                    <a:pt x="133096" y="88583"/>
                    <a:pt x="132651" y="90860"/>
                    <a:pt x="132070" y="93093"/>
                  </a:cubicBezTo>
                  <a:cubicBezTo>
                    <a:pt x="131489" y="95325"/>
                    <a:pt x="130686" y="97557"/>
                    <a:pt x="129838" y="99656"/>
                  </a:cubicBezTo>
                  <a:lnTo>
                    <a:pt x="140241" y="115282"/>
                  </a:lnTo>
                  <a:cubicBezTo>
                    <a:pt x="143366" y="119971"/>
                    <a:pt x="142741" y="126177"/>
                    <a:pt x="138767" y="130150"/>
                  </a:cubicBezTo>
                  <a:lnTo>
                    <a:pt x="130194" y="138722"/>
                  </a:lnTo>
                  <a:cubicBezTo>
                    <a:pt x="126221" y="142698"/>
                    <a:pt x="120015" y="143322"/>
                    <a:pt x="115327" y="140196"/>
                  </a:cubicBezTo>
                  <a:lnTo>
                    <a:pt x="99700" y="129793"/>
                  </a:lnTo>
                  <a:cubicBezTo>
                    <a:pt x="95457" y="131535"/>
                    <a:pt x="90949" y="132785"/>
                    <a:pt x="86350" y="133410"/>
                  </a:cubicBezTo>
                  <a:lnTo>
                    <a:pt x="78044" y="150198"/>
                  </a:lnTo>
                  <a:cubicBezTo>
                    <a:pt x="75545" y="155243"/>
                    <a:pt x="69830" y="157788"/>
                    <a:pt x="64427" y="156359"/>
                  </a:cubicBezTo>
                  <a:lnTo>
                    <a:pt x="52730" y="153233"/>
                  </a:lnTo>
                  <a:cubicBezTo>
                    <a:pt x="47283" y="151760"/>
                    <a:pt x="43666" y="146670"/>
                    <a:pt x="44022" y="141088"/>
                  </a:cubicBezTo>
                  <a:lnTo>
                    <a:pt x="45229" y="122383"/>
                  </a:lnTo>
                  <a:cubicBezTo>
                    <a:pt x="41523" y="119524"/>
                    <a:pt x="38264" y="116221"/>
                    <a:pt x="35451" y="112559"/>
                  </a:cubicBezTo>
                  <a:lnTo>
                    <a:pt x="16698" y="113764"/>
                  </a:lnTo>
                  <a:cubicBezTo>
                    <a:pt x="11117" y="114123"/>
                    <a:pt x="6027" y="110460"/>
                    <a:pt x="4555" y="105059"/>
                  </a:cubicBezTo>
                  <a:lnTo>
                    <a:pt x="1429" y="93361"/>
                  </a:lnTo>
                  <a:cubicBezTo>
                    <a:pt x="0" y="87958"/>
                    <a:pt x="2545" y="82243"/>
                    <a:pt x="7590" y="79742"/>
                  </a:cubicBezTo>
                  <a:lnTo>
                    <a:pt x="24423" y="71438"/>
                  </a:lnTo>
                  <a:cubicBezTo>
                    <a:pt x="24735" y="69161"/>
                    <a:pt x="25182" y="66928"/>
                    <a:pt x="25762" y="64651"/>
                  </a:cubicBezTo>
                  <a:cubicBezTo>
                    <a:pt x="26387" y="62374"/>
                    <a:pt x="27101" y="60186"/>
                    <a:pt x="27994" y="58088"/>
                  </a:cubicBezTo>
                  <a:lnTo>
                    <a:pt x="17591" y="42506"/>
                  </a:lnTo>
                  <a:cubicBezTo>
                    <a:pt x="14466" y="37817"/>
                    <a:pt x="15091" y="31611"/>
                    <a:pt x="19064" y="27638"/>
                  </a:cubicBezTo>
                  <a:lnTo>
                    <a:pt x="27637" y="19066"/>
                  </a:lnTo>
                  <a:cubicBezTo>
                    <a:pt x="31611" y="15090"/>
                    <a:pt x="37817" y="14466"/>
                    <a:pt x="42505" y="17592"/>
                  </a:cubicBezTo>
                  <a:lnTo>
                    <a:pt x="58132" y="27995"/>
                  </a:lnTo>
                  <a:cubicBezTo>
                    <a:pt x="62374" y="26253"/>
                    <a:pt x="66882" y="25003"/>
                    <a:pt x="71482" y="24378"/>
                  </a:cubicBezTo>
                  <a:lnTo>
                    <a:pt x="79787" y="7590"/>
                  </a:lnTo>
                  <a:cubicBezTo>
                    <a:pt x="82288" y="2545"/>
                    <a:pt x="87957" y="0"/>
                    <a:pt x="93404" y="1429"/>
                  </a:cubicBezTo>
                  <a:close/>
                  <a:moveTo>
                    <a:pt x="78894" y="59248"/>
                  </a:moveTo>
                  <a:cubicBezTo>
                    <a:pt x="68051" y="59248"/>
                    <a:pt x="59248" y="68051"/>
                    <a:pt x="59248" y="78894"/>
                  </a:cubicBezTo>
                  <a:cubicBezTo>
                    <a:pt x="59248" y="89737"/>
                    <a:pt x="68051" y="98540"/>
                    <a:pt x="78894" y="98540"/>
                  </a:cubicBezTo>
                  <a:cubicBezTo>
                    <a:pt x="89736" y="98540"/>
                    <a:pt x="98538" y="89737"/>
                    <a:pt x="98538" y="78894"/>
                  </a:cubicBezTo>
                  <a:cubicBezTo>
                    <a:pt x="98538" y="68051"/>
                    <a:pt x="89736" y="59248"/>
                    <a:pt x="78894" y="592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09606" y="3657674"/>
              <a:ext cx="373634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Optimisation automatique</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1009606" y="3962474"/>
              <a:ext cx="45624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Le compilateur optimise automatiquement les accès mémoire, la vectorisation, etc.</a:t>
              </a:r>
              <a:endPar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15" name="Freeform 15"/>
          <p:cNvSpPr/>
          <p:nvPr/>
        </p:nvSpPr>
        <p:spPr>
          <a:xfrm>
            <a:off x="6248338" y="1638374"/>
            <a:ext cx="5562600" cy="2781300"/>
          </a:xfrm>
          <a:custGeom>
            <a:avLst/>
            <a:gdLst/>
            <a:ahLst/>
            <a:cxnLst/>
            <a:rect l="l" t="t" r="r" b="b"/>
            <a:pathLst>
              <a:path w="5562600" h="2781300">
                <a:moveTo>
                  <a:pt x="114311" y="0"/>
                </a:moveTo>
                <a:lnTo>
                  <a:pt x="5448289" y="0"/>
                </a:lnTo>
                <a:cubicBezTo>
                  <a:pt x="5511422" y="0"/>
                  <a:pt x="5562600" y="51178"/>
                  <a:pt x="5562600" y="114311"/>
                </a:cubicBezTo>
                <a:lnTo>
                  <a:pt x="5562600" y="2666989"/>
                </a:lnTo>
                <a:cubicBezTo>
                  <a:pt x="5562600" y="2730122"/>
                  <a:pt x="5511422" y="2781300"/>
                  <a:pt x="5448289" y="2781300"/>
                </a:cubicBezTo>
                <a:lnTo>
                  <a:pt x="114311" y="2781300"/>
                </a:lnTo>
                <a:cubicBezTo>
                  <a:pt x="51178" y="2781300"/>
                  <a:pt x="0" y="2730122"/>
                  <a:pt x="0" y="2666989"/>
                </a:cubicBezTo>
                <a:lnTo>
                  <a:pt x="0" y="114311"/>
                </a:lnTo>
                <a:cubicBezTo>
                  <a:pt x="0" y="51178"/>
                  <a:pt x="51178" y="0"/>
                  <a:pt x="1143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600"/>
          </a:p>
        </p:txBody>
      </p:sp>
      <p:grpSp>
        <p:nvGrpSpPr>
          <p:cNvPr id="16" name="Group 16"/>
          <p:cNvGrpSpPr/>
          <p:nvPr/>
        </p:nvGrpSpPr>
        <p:grpSpPr>
          <a:xfrm>
            <a:off x="6429286" y="1924106"/>
            <a:ext cx="5231906" cy="2209493"/>
            <a:chOff x="6429286" y="1924106"/>
            <a:chExt cx="5231906" cy="2209493"/>
          </a:xfrm>
        </p:grpSpPr>
        <p:sp>
          <p:nvSpPr>
            <p:cNvPr id="17" name="AutoShape 17"/>
            <p:cNvSpPr/>
            <p:nvPr/>
          </p:nvSpPr>
          <p:spPr>
            <a:xfrm>
              <a:off x="6429286" y="1924106"/>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Comparaison de performance</a:t>
              </a:r>
              <a:endParaRPr lang="en-US" sz="12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6476911" y="2343197"/>
              <a:ext cx="5048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CUDA</a:t>
              </a:r>
              <a:endPar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AutoShape 19"/>
            <p:cNvSpPr/>
            <p:nvPr/>
          </p:nvSpPr>
          <p:spPr>
            <a:xfrm>
              <a:off x="11206461" y="2343197"/>
              <a:ext cx="4476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100%</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6476911" y="2609831"/>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Freeform 21"/>
            <p:cNvSpPr/>
            <p:nvPr/>
          </p:nvSpPr>
          <p:spPr>
            <a:xfrm>
              <a:off x="6476911" y="2609831"/>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2" name="AutoShape 22"/>
            <p:cNvSpPr/>
            <p:nvPr/>
          </p:nvSpPr>
          <p:spPr>
            <a:xfrm>
              <a:off x="6476911" y="2990785"/>
              <a:ext cx="4857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Triton</a:t>
              </a:r>
              <a:endParaRPr lang="en-US" sz="12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10956342" y="2990785"/>
              <a:ext cx="704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95-100%</a:t>
              </a:r>
              <a:endParaRPr lang="en-US" sz="12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6476911" y="3257410"/>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Freeform 25"/>
            <p:cNvSpPr/>
            <p:nvPr/>
          </p:nvSpPr>
          <p:spPr>
            <a:xfrm>
              <a:off x="6476911" y="3257410"/>
              <a:ext cx="4848225" cy="228600"/>
            </a:xfrm>
            <a:custGeom>
              <a:avLst/>
              <a:gdLst/>
              <a:ahLst/>
              <a:cxnLst/>
              <a:rect l="l" t="t" r="r" b="b"/>
              <a:pathLst>
                <a:path w="4848225" h="228600">
                  <a:moveTo>
                    <a:pt x="114300" y="0"/>
                  </a:moveTo>
                  <a:lnTo>
                    <a:pt x="4733925" y="0"/>
                  </a:lnTo>
                  <a:cubicBezTo>
                    <a:pt x="4797008" y="0"/>
                    <a:pt x="4848225" y="51217"/>
                    <a:pt x="4848225" y="114300"/>
                  </a:cubicBezTo>
                  <a:lnTo>
                    <a:pt x="4848225" y="114300"/>
                  </a:lnTo>
                  <a:cubicBezTo>
                    <a:pt x="4848225" y="177383"/>
                    <a:pt x="4797008" y="228600"/>
                    <a:pt x="4733925" y="228600"/>
                  </a:cubicBezTo>
                  <a:lnTo>
                    <a:pt x="114300" y="228600"/>
                  </a:lnTo>
                  <a:cubicBezTo>
                    <a:pt x="51217" y="228600"/>
                    <a:pt x="0" y="177383"/>
                    <a:pt x="0" y="114300"/>
                  </a:cubicBezTo>
                  <a:lnTo>
                    <a:pt x="0" y="114300"/>
                  </a:lnTo>
                  <a:cubicBezTo>
                    <a:pt x="0" y="51217"/>
                    <a:pt x="51217" y="0"/>
                    <a:pt x="1143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6" name="AutoShape 26"/>
            <p:cNvSpPr/>
            <p:nvPr/>
          </p:nvSpPr>
          <p:spPr>
            <a:xfrm>
              <a:off x="6476911" y="3638373"/>
              <a:ext cx="1636088" cy="2094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PyTorch (eager)</a:t>
              </a:r>
              <a:endParaRPr lang="en-US" sz="1200" b="1"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nvSpPr>
          <p:spPr>
            <a:xfrm>
              <a:off x="11011356" y="3638373"/>
              <a:ext cx="647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60-80%</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nvSpPr>
          <p:spPr>
            <a:xfrm>
              <a:off x="6476911" y="3904999"/>
              <a:ext cx="5105400" cy="228600"/>
            </a:xfrm>
            <a:custGeom>
              <a:avLst/>
              <a:gdLst/>
              <a:ahLst/>
              <a:cxnLst/>
              <a:rect l="l" t="t" r="r" b="b"/>
              <a:pathLst>
                <a:path w="5105400" h="228600">
                  <a:moveTo>
                    <a:pt x="114300" y="0"/>
                  </a:moveTo>
                  <a:lnTo>
                    <a:pt x="4991100" y="0"/>
                  </a:lnTo>
                  <a:cubicBezTo>
                    <a:pt x="5054183" y="0"/>
                    <a:pt x="5105400" y="51217"/>
                    <a:pt x="5105400" y="114300"/>
                  </a:cubicBezTo>
                  <a:lnTo>
                    <a:pt x="5105400" y="114300"/>
                  </a:lnTo>
                  <a:cubicBezTo>
                    <a:pt x="5105400" y="177383"/>
                    <a:pt x="5054183" y="228600"/>
                    <a:pt x="4991100" y="228600"/>
                  </a:cubicBezTo>
                  <a:lnTo>
                    <a:pt x="114300" y="228600"/>
                  </a:lnTo>
                  <a:cubicBezTo>
                    <a:pt x="51217" y="228600"/>
                    <a:pt x="0" y="177383"/>
                    <a:pt x="0" y="114300"/>
                  </a:cubicBezTo>
                  <a:lnTo>
                    <a:pt x="0" y="114300"/>
                  </a:lnTo>
                  <a:cubicBezTo>
                    <a:pt x="0" y="51217"/>
                    <a:pt x="51217" y="0"/>
                    <a:pt x="114300" y="0"/>
                  </a:cubicBezTo>
                  <a:close/>
                </a:path>
              </a:pathLst>
            </a:custGeom>
            <a:solidFill>
              <a:srgbClr val="E5E7E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9" name="Freeform 29"/>
            <p:cNvSpPr/>
            <p:nvPr/>
          </p:nvSpPr>
          <p:spPr>
            <a:xfrm>
              <a:off x="6476911" y="3904999"/>
              <a:ext cx="3571875" cy="228600"/>
            </a:xfrm>
            <a:custGeom>
              <a:avLst/>
              <a:gdLst/>
              <a:ahLst/>
              <a:cxnLst/>
              <a:rect l="l" t="t" r="r" b="b"/>
              <a:pathLst>
                <a:path w="3571875" h="228600">
                  <a:moveTo>
                    <a:pt x="114300" y="0"/>
                  </a:moveTo>
                  <a:lnTo>
                    <a:pt x="3457575" y="0"/>
                  </a:lnTo>
                  <a:cubicBezTo>
                    <a:pt x="3520658" y="0"/>
                    <a:pt x="3571875" y="51217"/>
                    <a:pt x="3571875" y="114300"/>
                  </a:cubicBezTo>
                  <a:lnTo>
                    <a:pt x="3571875" y="114300"/>
                  </a:lnTo>
                  <a:cubicBezTo>
                    <a:pt x="3571875" y="177383"/>
                    <a:pt x="3520658" y="228600"/>
                    <a:pt x="3457575" y="228600"/>
                  </a:cubicBezTo>
                  <a:lnTo>
                    <a:pt x="114300" y="228600"/>
                  </a:lnTo>
                  <a:cubicBezTo>
                    <a:pt x="51217" y="228600"/>
                    <a:pt x="0" y="177383"/>
                    <a:pt x="0" y="114300"/>
                  </a:cubicBezTo>
                  <a:lnTo>
                    <a:pt x="0" y="114300"/>
                  </a:lnTo>
                  <a:cubicBezTo>
                    <a:pt x="0" y="51217"/>
                    <a:pt x="51217" y="0"/>
                    <a:pt x="114300" y="0"/>
                  </a:cubicBez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endParaRPr sz="1200"/>
            </a:p>
          </p:txBody>
        </p:sp>
      </p:grpSp>
      <p:sp>
        <p:nvSpPr>
          <p:cNvPr id="30" name="Freeform 30"/>
          <p:cNvSpPr/>
          <p:nvPr/>
        </p:nvSpPr>
        <p:spPr>
          <a:xfrm>
            <a:off x="399911" y="4647958"/>
            <a:ext cx="11410855" cy="1295400"/>
          </a:xfrm>
          <a:custGeom>
            <a:avLst/>
            <a:gdLst/>
            <a:ahLst/>
            <a:cxnLst/>
            <a:rect l="l" t="t" r="r" b="b"/>
            <a:pathLst>
              <a:path w="11410855" h="1295400">
                <a:moveTo>
                  <a:pt x="37909" y="0"/>
                </a:moveTo>
                <a:lnTo>
                  <a:pt x="11296548" y="0"/>
                </a:lnTo>
                <a:cubicBezTo>
                  <a:pt x="11359679" y="0"/>
                  <a:pt x="11410855" y="51177"/>
                  <a:pt x="11410855" y="114306"/>
                </a:cubicBezTo>
                <a:lnTo>
                  <a:pt x="11410855" y="1181094"/>
                </a:lnTo>
                <a:cubicBezTo>
                  <a:pt x="11410855" y="1244223"/>
                  <a:pt x="11359679" y="1295400"/>
                  <a:pt x="11296548" y="1295400"/>
                </a:cubicBezTo>
                <a:lnTo>
                  <a:pt x="37909" y="1295400"/>
                </a:lnTo>
                <a:cubicBezTo>
                  <a:pt x="16974" y="1295400"/>
                  <a:pt x="0" y="1278426"/>
                  <a:pt x="0" y="1257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399911" y="4647958"/>
            <a:ext cx="37909" cy="1295400"/>
          </a:xfrm>
          <a:custGeom>
            <a:avLst/>
            <a:gdLst/>
            <a:ahLst/>
            <a:cxnLst/>
            <a:rect l="l" t="t" r="r" b="b"/>
            <a:pathLst>
              <a:path w="37909" h="1295400">
                <a:moveTo>
                  <a:pt x="37909" y="0"/>
                </a:moveTo>
                <a:lnTo>
                  <a:pt x="37909" y="0"/>
                </a:lnTo>
                <a:lnTo>
                  <a:pt x="37909" y="1295400"/>
                </a:lnTo>
                <a:lnTo>
                  <a:pt x="37909" y="1295400"/>
                </a:lnTo>
                <a:cubicBezTo>
                  <a:pt x="16974" y="1295400"/>
                  <a:pt x="0" y="1278426"/>
                  <a:pt x="0" y="1257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85539" y="5152718"/>
            <a:ext cx="285750" cy="285750"/>
          </a:xfrm>
          <a:custGeom>
            <a:avLst/>
            <a:gdLst/>
            <a:ahLst/>
            <a:cxnLst/>
            <a:rect l="l" t="t" r="r" b="b"/>
            <a:pathLst>
              <a:path w="285750" h="285750">
                <a:moveTo>
                  <a:pt x="142875" y="285750"/>
                </a:moveTo>
                <a:cubicBezTo>
                  <a:pt x="221731" y="285750"/>
                  <a:pt x="285750" y="221731"/>
                  <a:pt x="285750" y="142875"/>
                </a:cubicBezTo>
                <a:cubicBezTo>
                  <a:pt x="285750" y="64019"/>
                  <a:pt x="221731" y="0"/>
                  <a:pt x="142875" y="0"/>
                </a:cubicBezTo>
                <a:cubicBezTo>
                  <a:pt x="64019" y="0"/>
                  <a:pt x="0" y="64019"/>
                  <a:pt x="0" y="142875"/>
                </a:cubicBezTo>
                <a:cubicBezTo>
                  <a:pt x="0" y="221731"/>
                  <a:pt x="64019" y="285750"/>
                  <a:pt x="142875" y="285750"/>
                </a:cubicBezTo>
                <a:close/>
                <a:moveTo>
                  <a:pt x="125016" y="89298"/>
                </a:moveTo>
                <a:cubicBezTo>
                  <a:pt x="125016" y="79440"/>
                  <a:pt x="133019" y="71438"/>
                  <a:pt x="142875" y="71438"/>
                </a:cubicBezTo>
                <a:cubicBezTo>
                  <a:pt x="152731" y="71438"/>
                  <a:pt x="160734" y="79440"/>
                  <a:pt x="160734" y="89298"/>
                </a:cubicBezTo>
                <a:cubicBezTo>
                  <a:pt x="160734" y="99154"/>
                  <a:pt x="152731" y="107156"/>
                  <a:pt x="142875" y="107156"/>
                </a:cubicBezTo>
                <a:cubicBezTo>
                  <a:pt x="133019" y="107156"/>
                  <a:pt x="125016" y="99154"/>
                  <a:pt x="125016" y="89298"/>
                </a:cubicBezTo>
                <a:close/>
                <a:moveTo>
                  <a:pt x="120551" y="125016"/>
                </a:moveTo>
                <a:lnTo>
                  <a:pt x="147340" y="125016"/>
                </a:lnTo>
                <a:cubicBezTo>
                  <a:pt x="154763" y="125016"/>
                  <a:pt x="160734" y="130987"/>
                  <a:pt x="160734" y="138410"/>
                </a:cubicBezTo>
                <a:lnTo>
                  <a:pt x="160734" y="187523"/>
                </a:lnTo>
                <a:lnTo>
                  <a:pt x="165199" y="187523"/>
                </a:lnTo>
                <a:cubicBezTo>
                  <a:pt x="172622" y="187523"/>
                  <a:pt x="178594" y="193495"/>
                  <a:pt x="178594" y="200918"/>
                </a:cubicBezTo>
                <a:cubicBezTo>
                  <a:pt x="178594" y="208341"/>
                  <a:pt x="172622" y="214312"/>
                  <a:pt x="165199" y="214312"/>
                </a:cubicBezTo>
                <a:lnTo>
                  <a:pt x="120551" y="214312"/>
                </a:lnTo>
                <a:cubicBezTo>
                  <a:pt x="113128" y="214312"/>
                  <a:pt x="107156" y="208341"/>
                  <a:pt x="107156" y="200918"/>
                </a:cubicBezTo>
                <a:cubicBezTo>
                  <a:pt x="107156" y="193495"/>
                  <a:pt x="113128" y="187523"/>
                  <a:pt x="120551" y="187523"/>
                </a:cubicBezTo>
                <a:lnTo>
                  <a:pt x="133946" y="187523"/>
                </a:lnTo>
                <a:lnTo>
                  <a:pt x="133946" y="151804"/>
                </a:lnTo>
                <a:lnTo>
                  <a:pt x="120551" y="151804"/>
                </a:lnTo>
                <a:cubicBezTo>
                  <a:pt x="113128" y="151804"/>
                  <a:pt x="107156" y="145833"/>
                  <a:pt x="107156" y="138410"/>
                </a:cubicBezTo>
                <a:cubicBezTo>
                  <a:pt x="107156" y="130987"/>
                  <a:pt x="113128" y="125016"/>
                  <a:pt x="120551" y="12501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1157009" y="4876530"/>
            <a:ext cx="6191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Ressources de référence</a:t>
            </a:r>
            <a:endPar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1156970" y="5219700"/>
            <a:ext cx="1016825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Le site officiel du tutoriel Triton fournit des graphiques de comparaison de performance détaillés, montrant les performances de différents opérateurs sur divers matériels</a:t>
            </a:r>
            <a:endPar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AutoShape 35"/>
          <p:cNvSpPr/>
          <p:nvPr/>
        </p:nvSpPr>
        <p:spPr>
          <a:xfrm>
            <a:off x="1156970" y="5524500"/>
            <a:ext cx="1042543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https://triton-lang.org/main/getting-started/tutorials/01-vector-add.html</a:t>
            </a:r>
            <a:endPar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9540" y="650704"/>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Processus Vector Add</a:t>
            </a:r>
            <a:endParaRPr lang="en-US" sz="2800"/>
          </a:p>
        </p:txBody>
      </p:sp>
      <p:sp>
        <p:nvSpPr>
          <p:cNvPr id="3" name="Freeform 3"/>
          <p:cNvSpPr/>
          <p:nvPr/>
        </p:nvSpPr>
        <p:spPr>
          <a:xfrm>
            <a:off x="5174739" y="1174525"/>
            <a:ext cx="1841500" cy="730250"/>
          </a:xfrm>
          <a:custGeom>
            <a:avLst/>
            <a:gdLst/>
            <a:ahLst/>
            <a:cxnLst/>
            <a:rect l="l" t="t" r="r" b="b"/>
            <a:pathLst>
              <a:path w="1841500" h="730250">
                <a:moveTo>
                  <a:pt x="95247" y="0"/>
                </a:moveTo>
                <a:lnTo>
                  <a:pt x="1746253" y="0"/>
                </a:lnTo>
                <a:cubicBezTo>
                  <a:pt x="1798857" y="0"/>
                  <a:pt x="1841500" y="42643"/>
                  <a:pt x="1841500" y="95247"/>
                </a:cubicBezTo>
                <a:lnTo>
                  <a:pt x="1841500" y="635003"/>
                </a:lnTo>
                <a:cubicBezTo>
                  <a:pt x="1841500" y="687607"/>
                  <a:pt x="1798857" y="730250"/>
                  <a:pt x="1746253" y="730250"/>
                </a:cubicBezTo>
                <a:lnTo>
                  <a:pt x="95247" y="730250"/>
                </a:lnTo>
                <a:cubicBezTo>
                  <a:pt x="42643" y="730250"/>
                  <a:pt x="0" y="687607"/>
                  <a:pt x="0" y="635003"/>
                </a:cubicBezTo>
                <a:lnTo>
                  <a:pt x="0" y="95247"/>
                </a:lnTo>
                <a:cubicBezTo>
                  <a:pt x="0" y="42680"/>
                  <a:pt x="42680" y="0"/>
                  <a:pt x="95247" y="0"/>
                </a:cubicBezTo>
                <a:close/>
              </a:path>
            </a:pathLst>
          </a:custGeom>
          <a:solidFill>
            <a:srgbClr val="8B0000">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endParaRPr sz="1000"/>
          </a:p>
        </p:txBody>
      </p:sp>
      <p:sp>
        <p:nvSpPr>
          <p:cNvPr id="4" name="AutoShape 4"/>
          <p:cNvSpPr/>
          <p:nvPr/>
        </p:nvSpPr>
        <p:spPr>
          <a:xfrm>
            <a:off x="5381084" y="1301510"/>
            <a:ext cx="142875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program_id</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5396959" y="1587136"/>
            <a:ext cx="1397000"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Obtenir le numéro du program actuel</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6007168" y="2031581"/>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7" name="Freeform 7"/>
          <p:cNvSpPr/>
          <p:nvPr/>
        </p:nvSpPr>
        <p:spPr>
          <a:xfrm>
            <a:off x="4926137" y="2396675"/>
            <a:ext cx="2341563" cy="730250"/>
          </a:xfrm>
          <a:custGeom>
            <a:avLst/>
            <a:gdLst/>
            <a:ahLst/>
            <a:cxnLst/>
            <a:rect l="l" t="t" r="r" b="b"/>
            <a:pathLst>
              <a:path w="2341563" h="730250">
                <a:moveTo>
                  <a:pt x="95247" y="0"/>
                </a:moveTo>
                <a:lnTo>
                  <a:pt x="2246316" y="0"/>
                </a:lnTo>
                <a:cubicBezTo>
                  <a:pt x="2298918" y="0"/>
                  <a:pt x="2341563" y="42643"/>
                  <a:pt x="2341563" y="95247"/>
                </a:cubicBezTo>
                <a:lnTo>
                  <a:pt x="2341563" y="635003"/>
                </a:lnTo>
                <a:cubicBezTo>
                  <a:pt x="2341563" y="687607"/>
                  <a:pt x="2298918" y="730250"/>
                  <a:pt x="2246316" y="730250"/>
                </a:cubicBezTo>
                <a:lnTo>
                  <a:pt x="95247" y="730250"/>
                </a:lnTo>
                <a:cubicBezTo>
                  <a:pt x="42643" y="730250"/>
                  <a:pt x="0" y="687607"/>
                  <a:pt x="0" y="635003"/>
                </a:cubicBezTo>
                <a:lnTo>
                  <a:pt x="0" y="95247"/>
                </a:lnTo>
                <a:cubicBezTo>
                  <a:pt x="0" y="42680"/>
                  <a:pt x="42680" y="0"/>
                  <a:pt x="95247" y="0"/>
                </a:cubicBezTo>
                <a:close/>
              </a:path>
            </a:pathLst>
          </a:custGeom>
          <a:solidFill>
            <a:srgbClr val="364153">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endParaRPr sz="1000"/>
          </a:p>
        </p:txBody>
      </p:sp>
      <p:sp>
        <p:nvSpPr>
          <p:cNvPr id="8" name="AutoShape 8"/>
          <p:cNvSpPr/>
          <p:nvPr/>
        </p:nvSpPr>
        <p:spPr>
          <a:xfrm>
            <a:off x="5132482" y="2523660"/>
            <a:ext cx="1928813"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Calculer le point de départ du block</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AutoShape 9"/>
          <p:cNvSpPr/>
          <p:nvPr/>
        </p:nvSpPr>
        <p:spPr>
          <a:xfrm>
            <a:off x="5148357" y="2809286"/>
            <a:ext cx="1897063"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block_start = pid * BLOCK_SIZE</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6007168" y="3253739"/>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1" name="Freeform 11"/>
          <p:cNvSpPr/>
          <p:nvPr/>
        </p:nvSpPr>
        <p:spPr>
          <a:xfrm>
            <a:off x="4442384" y="3618833"/>
            <a:ext cx="3309938" cy="730250"/>
          </a:xfrm>
          <a:custGeom>
            <a:avLst/>
            <a:gdLst/>
            <a:ahLst/>
            <a:cxnLst/>
            <a:rect l="l" t="t" r="r" b="b"/>
            <a:pathLst>
              <a:path w="3309938" h="730250">
                <a:moveTo>
                  <a:pt x="95247" y="0"/>
                </a:moveTo>
                <a:lnTo>
                  <a:pt x="3214691" y="0"/>
                </a:lnTo>
                <a:cubicBezTo>
                  <a:pt x="3267293" y="0"/>
                  <a:pt x="3309938" y="42643"/>
                  <a:pt x="3309938" y="95247"/>
                </a:cubicBezTo>
                <a:lnTo>
                  <a:pt x="3309938" y="635003"/>
                </a:lnTo>
                <a:cubicBezTo>
                  <a:pt x="3309938" y="687607"/>
                  <a:pt x="3267293" y="730250"/>
                  <a:pt x="3214691" y="730250"/>
                </a:cubicBezTo>
                <a:lnTo>
                  <a:pt x="95247" y="730250"/>
                </a:lnTo>
                <a:cubicBezTo>
                  <a:pt x="42643" y="730250"/>
                  <a:pt x="0" y="687607"/>
                  <a:pt x="0" y="635003"/>
                </a:cubicBezTo>
                <a:lnTo>
                  <a:pt x="0" y="95247"/>
                </a:lnTo>
                <a:cubicBezTo>
                  <a:pt x="0" y="42680"/>
                  <a:pt x="42680" y="0"/>
                  <a:pt x="95247" y="0"/>
                </a:cubicBezTo>
                <a:close/>
              </a:path>
            </a:pathLst>
          </a:custGeom>
          <a:solidFill>
            <a:srgbClr val="364153">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endParaRPr sz="1000"/>
          </a:p>
        </p:txBody>
      </p:sp>
      <p:sp>
        <p:nvSpPr>
          <p:cNvPr id="12" name="AutoShape 12"/>
          <p:cNvSpPr/>
          <p:nvPr/>
        </p:nvSpPr>
        <p:spPr>
          <a:xfrm>
            <a:off x="4648729" y="3745818"/>
            <a:ext cx="2897188"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Générer les offsets</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4664604" y="4031444"/>
            <a:ext cx="3087718"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offsets = block_start + tl.arange(0, BLOCK_SIZE)</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6007168" y="4475890"/>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5" name="Freeform 15"/>
          <p:cNvSpPr/>
          <p:nvPr/>
        </p:nvSpPr>
        <p:spPr>
          <a:xfrm>
            <a:off x="5011534" y="4840991"/>
            <a:ext cx="2166938" cy="730250"/>
          </a:xfrm>
          <a:custGeom>
            <a:avLst/>
            <a:gdLst/>
            <a:ahLst/>
            <a:cxnLst/>
            <a:rect l="l" t="t" r="r" b="b"/>
            <a:pathLst>
              <a:path w="2166938" h="730250">
                <a:moveTo>
                  <a:pt x="95247" y="0"/>
                </a:moveTo>
                <a:lnTo>
                  <a:pt x="2071691" y="0"/>
                </a:lnTo>
                <a:cubicBezTo>
                  <a:pt x="2124293" y="0"/>
                  <a:pt x="2166938" y="42643"/>
                  <a:pt x="2166938" y="95247"/>
                </a:cubicBezTo>
                <a:lnTo>
                  <a:pt x="2166938" y="635003"/>
                </a:lnTo>
                <a:cubicBezTo>
                  <a:pt x="2166938" y="687607"/>
                  <a:pt x="2124293" y="730250"/>
                  <a:pt x="2071691" y="730250"/>
                </a:cubicBezTo>
                <a:lnTo>
                  <a:pt x="95247" y="730250"/>
                </a:lnTo>
                <a:cubicBezTo>
                  <a:pt x="42643" y="730250"/>
                  <a:pt x="0" y="687607"/>
                  <a:pt x="0" y="635003"/>
                </a:cubicBezTo>
                <a:lnTo>
                  <a:pt x="0" y="95247"/>
                </a:lnTo>
                <a:cubicBezTo>
                  <a:pt x="0" y="42680"/>
                  <a:pt x="42680" y="0"/>
                  <a:pt x="95247" y="0"/>
                </a:cubicBezTo>
                <a:close/>
              </a:path>
            </a:pathLst>
          </a:custGeom>
          <a:solidFill>
            <a:srgbClr val="8B0000">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endParaRPr sz="1000"/>
          </a:p>
        </p:txBody>
      </p:sp>
      <p:sp>
        <p:nvSpPr>
          <p:cNvPr id="16" name="AutoShape 16"/>
          <p:cNvSpPr/>
          <p:nvPr/>
        </p:nvSpPr>
        <p:spPr>
          <a:xfrm>
            <a:off x="5217880" y="4967976"/>
            <a:ext cx="1754188"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mask anti-dépassement</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5233754" y="5253602"/>
            <a:ext cx="1891201"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mask = offsets &lt; n_elements</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007168" y="5698048"/>
            <a:ext cx="181571" cy="239566"/>
          </a:xfrm>
          <a:custGeom>
            <a:avLst/>
            <a:gdLst/>
            <a:ahLst/>
            <a:cxnLst/>
            <a:rect l="l" t="t" r="r" b="b"/>
            <a:pathLst>
              <a:path w="181571" h="239566">
                <a:moveTo>
                  <a:pt x="80274" y="233752"/>
                </a:moveTo>
                <a:cubicBezTo>
                  <a:pt x="86087" y="239566"/>
                  <a:pt x="95529" y="239566"/>
                  <a:pt x="101342" y="233752"/>
                </a:cubicBezTo>
                <a:lnTo>
                  <a:pt x="175756" y="159339"/>
                </a:lnTo>
                <a:cubicBezTo>
                  <a:pt x="181570" y="153526"/>
                  <a:pt x="181570" y="144084"/>
                  <a:pt x="175756" y="138271"/>
                </a:cubicBezTo>
                <a:cubicBezTo>
                  <a:pt x="169943" y="132457"/>
                  <a:pt x="160502" y="132457"/>
                  <a:pt x="154688" y="138271"/>
                </a:cubicBezTo>
                <a:lnTo>
                  <a:pt x="105667" y="187291"/>
                </a:lnTo>
                <a:lnTo>
                  <a:pt x="105667" y="14883"/>
                </a:lnTo>
                <a:cubicBezTo>
                  <a:pt x="105667" y="6651"/>
                  <a:pt x="99016" y="0"/>
                  <a:pt x="90786" y="0"/>
                </a:cubicBezTo>
                <a:cubicBezTo>
                  <a:pt x="82553" y="0"/>
                  <a:pt x="75902" y="6651"/>
                  <a:pt x="75902" y="14883"/>
                </a:cubicBezTo>
                <a:lnTo>
                  <a:pt x="75902" y="187291"/>
                </a:lnTo>
                <a:lnTo>
                  <a:pt x="26882" y="138271"/>
                </a:lnTo>
                <a:cubicBezTo>
                  <a:pt x="21068" y="132457"/>
                  <a:pt x="11626" y="132457"/>
                  <a:pt x="5814" y="138271"/>
                </a:cubicBezTo>
                <a:cubicBezTo>
                  <a:pt x="0" y="144084"/>
                  <a:pt x="0" y="153526"/>
                  <a:pt x="5814" y="159339"/>
                </a:cubicBezTo>
                <a:lnTo>
                  <a:pt x="80227" y="23375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9" name="Freeform 19"/>
          <p:cNvSpPr/>
          <p:nvPr/>
        </p:nvSpPr>
        <p:spPr>
          <a:xfrm>
            <a:off x="4730229" y="6063142"/>
            <a:ext cx="2730500" cy="730250"/>
          </a:xfrm>
          <a:custGeom>
            <a:avLst/>
            <a:gdLst/>
            <a:ahLst/>
            <a:cxnLst/>
            <a:rect l="l" t="t" r="r" b="b"/>
            <a:pathLst>
              <a:path w="2730500" h="730250">
                <a:moveTo>
                  <a:pt x="95247" y="0"/>
                </a:moveTo>
                <a:lnTo>
                  <a:pt x="2635253" y="0"/>
                </a:lnTo>
                <a:cubicBezTo>
                  <a:pt x="2687857" y="0"/>
                  <a:pt x="2730500" y="42643"/>
                  <a:pt x="2730500" y="95247"/>
                </a:cubicBezTo>
                <a:lnTo>
                  <a:pt x="2730500" y="635003"/>
                </a:lnTo>
                <a:cubicBezTo>
                  <a:pt x="2730500" y="687607"/>
                  <a:pt x="2687857" y="730250"/>
                  <a:pt x="2635253" y="730250"/>
                </a:cubicBezTo>
                <a:lnTo>
                  <a:pt x="95247" y="730250"/>
                </a:lnTo>
                <a:cubicBezTo>
                  <a:pt x="42643" y="730250"/>
                  <a:pt x="0" y="687607"/>
                  <a:pt x="0" y="635003"/>
                </a:cubicBezTo>
                <a:lnTo>
                  <a:pt x="0" y="95247"/>
                </a:lnTo>
                <a:cubicBezTo>
                  <a:pt x="0" y="42680"/>
                  <a:pt x="42680" y="0"/>
                  <a:pt x="95247" y="0"/>
                </a:cubicBezTo>
                <a:close/>
              </a:path>
            </a:pathLst>
          </a:custGeom>
          <a:solidFill>
            <a:srgbClr val="364153">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endParaRPr sz="1000"/>
          </a:p>
        </p:txBody>
      </p:sp>
      <p:sp>
        <p:nvSpPr>
          <p:cNvPr id="20" name="AutoShape 20"/>
          <p:cNvSpPr/>
          <p:nvPr/>
        </p:nvSpPr>
        <p:spPr>
          <a:xfrm>
            <a:off x="4936575" y="6190126"/>
            <a:ext cx="231775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load</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4952449" y="6475752"/>
            <a:ext cx="2508279"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x = tl.load(x_ptr + offsets, mask=mask)</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28" y="64758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Résumé des concepts clés</a:t>
            </a:r>
            <a:endParaRPr lang="en-US" sz="2800"/>
          </a:p>
        </p:txBody>
      </p:sp>
      <p:sp>
        <p:nvSpPr>
          <p:cNvPr id="3" name="Freeform 3"/>
          <p:cNvSpPr/>
          <p:nvPr>
            <p:custDataLst>
              <p:tags r:id="rId1"/>
            </p:custDataLst>
          </p:nvPr>
        </p:nvSpPr>
        <p:spPr>
          <a:xfrm>
            <a:off x="390433"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4" name="Freeform 4"/>
          <p:cNvSpPr/>
          <p:nvPr>
            <p:custDataLst>
              <p:tags r:id="rId2"/>
            </p:custDataLst>
          </p:nvPr>
        </p:nvSpPr>
        <p:spPr>
          <a:xfrm>
            <a:off x="1485838"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custDataLst>
              <p:tags r:id="rId3"/>
            </p:custDataLst>
          </p:nvPr>
        </p:nvSpPr>
        <p:spPr>
          <a:xfrm>
            <a:off x="1645581" y="2280045"/>
            <a:ext cx="214179" cy="241013"/>
          </a:xfrm>
          <a:custGeom>
            <a:avLst/>
            <a:gdLst/>
            <a:ahLst/>
            <a:cxnLst/>
            <a:rect l="l" t="t" r="r" b="b"/>
            <a:pathLst>
              <a:path w="214179" h="241013">
                <a:moveTo>
                  <a:pt x="92779" y="5090"/>
                </a:moveTo>
                <a:cubicBezTo>
                  <a:pt x="101621" y="0"/>
                  <a:pt x="112513" y="0"/>
                  <a:pt x="121354" y="5090"/>
                </a:cubicBezTo>
                <a:lnTo>
                  <a:pt x="199891" y="50408"/>
                </a:lnTo>
                <a:cubicBezTo>
                  <a:pt x="208731" y="55499"/>
                  <a:pt x="214179" y="64963"/>
                  <a:pt x="214179" y="75143"/>
                </a:cubicBezTo>
                <a:lnTo>
                  <a:pt x="214179" y="165780"/>
                </a:lnTo>
                <a:cubicBezTo>
                  <a:pt x="214179" y="176004"/>
                  <a:pt x="208731" y="185425"/>
                  <a:pt x="199891" y="190515"/>
                </a:cubicBezTo>
                <a:lnTo>
                  <a:pt x="121354" y="235922"/>
                </a:lnTo>
                <a:cubicBezTo>
                  <a:pt x="112513" y="241012"/>
                  <a:pt x="101621" y="241012"/>
                  <a:pt x="92779" y="235922"/>
                </a:cubicBezTo>
                <a:lnTo>
                  <a:pt x="14287" y="190604"/>
                </a:lnTo>
                <a:cubicBezTo>
                  <a:pt x="5447" y="185513"/>
                  <a:pt x="0" y="176049"/>
                  <a:pt x="0" y="165869"/>
                </a:cubicBezTo>
                <a:lnTo>
                  <a:pt x="0" y="75232"/>
                </a:lnTo>
                <a:cubicBezTo>
                  <a:pt x="0" y="65008"/>
                  <a:pt x="5447" y="55587"/>
                  <a:pt x="14287" y="50497"/>
                </a:cubicBezTo>
                <a:lnTo>
                  <a:pt x="92779" y="5090"/>
                </a:lnTo>
                <a:close/>
                <a:moveTo>
                  <a:pt x="185559" y="165823"/>
                </a:moveTo>
                <a:lnTo>
                  <a:pt x="185559" y="91663"/>
                </a:lnTo>
                <a:lnTo>
                  <a:pt x="121354" y="128722"/>
                </a:lnTo>
                <a:lnTo>
                  <a:pt x="121354" y="202882"/>
                </a:lnTo>
                <a:lnTo>
                  <a:pt x="185559" y="16582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custDataLst>
              <p:tags r:id="rId4"/>
            </p:custDataLst>
          </p:nvPr>
        </p:nvSpPr>
        <p:spPr>
          <a:xfrm>
            <a:off x="547489"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program</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7" name="AutoShape 7"/>
          <p:cNvSpPr/>
          <p:nvPr>
            <p:custDataLst>
              <p:tags r:id="rId5"/>
            </p:custDataLst>
          </p:nvPr>
        </p:nvSpPr>
        <p:spPr>
          <a:xfrm>
            <a:off x="557014" y="3194199"/>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Unité d'exécution de base de Triton, correspond au thread block de CUDA</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custDataLst>
              <p:tags r:id="rId6"/>
            </p:custDataLst>
          </p:nvPr>
        </p:nvSpPr>
        <p:spPr>
          <a:xfrm>
            <a:off x="3285992"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Freeform 9"/>
          <p:cNvSpPr/>
          <p:nvPr>
            <p:custDataLst>
              <p:tags r:id="rId7"/>
            </p:custDataLst>
          </p:nvPr>
        </p:nvSpPr>
        <p:spPr>
          <a:xfrm>
            <a:off x="4381470"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custDataLst>
              <p:tags r:id="rId8"/>
            </p:custDataLst>
          </p:nvPr>
        </p:nvSpPr>
        <p:spPr>
          <a:xfrm>
            <a:off x="4533847" y="2286251"/>
            <a:ext cx="228644" cy="226412"/>
          </a:xfrm>
          <a:custGeom>
            <a:avLst/>
            <a:gdLst/>
            <a:ahLst/>
            <a:cxnLst/>
            <a:rect l="l" t="t" r="r" b="b"/>
            <a:pathLst>
              <a:path w="228644" h="226412">
                <a:moveTo>
                  <a:pt x="21431" y="114300"/>
                </a:moveTo>
                <a:cubicBezTo>
                  <a:pt x="21431" y="63000"/>
                  <a:pt x="63000" y="21431"/>
                  <a:pt x="114300" y="21431"/>
                </a:cubicBezTo>
                <a:cubicBezTo>
                  <a:pt x="142472" y="21431"/>
                  <a:pt x="167700" y="33978"/>
                  <a:pt x="184755" y="53801"/>
                </a:cubicBezTo>
                <a:cubicBezTo>
                  <a:pt x="188595" y="58311"/>
                  <a:pt x="195382" y="58802"/>
                  <a:pt x="199846" y="54962"/>
                </a:cubicBezTo>
                <a:cubicBezTo>
                  <a:pt x="204311" y="51123"/>
                  <a:pt x="204847" y="44336"/>
                  <a:pt x="201007" y="39870"/>
                </a:cubicBezTo>
                <a:cubicBezTo>
                  <a:pt x="180067" y="15448"/>
                  <a:pt x="148993" y="0"/>
                  <a:pt x="114300" y="0"/>
                </a:cubicBezTo>
                <a:cubicBezTo>
                  <a:pt x="51167" y="0"/>
                  <a:pt x="0" y="51167"/>
                  <a:pt x="0" y="114300"/>
                </a:cubicBezTo>
                <a:lnTo>
                  <a:pt x="0" y="132159"/>
                </a:lnTo>
                <a:cubicBezTo>
                  <a:pt x="0" y="138099"/>
                  <a:pt x="4776" y="142875"/>
                  <a:pt x="10716" y="142875"/>
                </a:cubicBezTo>
                <a:cubicBezTo>
                  <a:pt x="16654" y="142875"/>
                  <a:pt x="21431" y="138099"/>
                  <a:pt x="21431" y="132159"/>
                </a:cubicBezTo>
                <a:lnTo>
                  <a:pt x="21431" y="114300"/>
                </a:lnTo>
                <a:close/>
                <a:moveTo>
                  <a:pt x="226144" y="90681"/>
                </a:moveTo>
                <a:cubicBezTo>
                  <a:pt x="224939" y="84877"/>
                  <a:pt x="219224" y="81171"/>
                  <a:pt x="213464" y="82420"/>
                </a:cubicBezTo>
                <a:cubicBezTo>
                  <a:pt x="207705" y="83671"/>
                  <a:pt x="203954" y="89342"/>
                  <a:pt x="205204" y="95101"/>
                </a:cubicBezTo>
                <a:cubicBezTo>
                  <a:pt x="206499" y="101307"/>
                  <a:pt x="207213" y="107737"/>
                  <a:pt x="207213" y="114344"/>
                </a:cubicBezTo>
                <a:lnTo>
                  <a:pt x="207213" y="132204"/>
                </a:lnTo>
                <a:cubicBezTo>
                  <a:pt x="207213" y="138142"/>
                  <a:pt x="211991" y="142919"/>
                  <a:pt x="217929" y="142919"/>
                </a:cubicBezTo>
                <a:cubicBezTo>
                  <a:pt x="223867" y="142919"/>
                  <a:pt x="228644" y="138142"/>
                  <a:pt x="228644" y="132204"/>
                </a:cubicBezTo>
                <a:lnTo>
                  <a:pt x="228644" y="114344"/>
                </a:lnTo>
                <a:cubicBezTo>
                  <a:pt x="228644" y="106263"/>
                  <a:pt x="227796" y="98361"/>
                  <a:pt x="226190" y="90726"/>
                </a:cubicBezTo>
                <a:close/>
                <a:moveTo>
                  <a:pt x="114300" y="35719"/>
                </a:moveTo>
                <a:cubicBezTo>
                  <a:pt x="105816" y="35719"/>
                  <a:pt x="97601" y="37059"/>
                  <a:pt x="89967" y="39559"/>
                </a:cubicBezTo>
                <a:cubicBezTo>
                  <a:pt x="83180" y="41791"/>
                  <a:pt x="81617" y="50140"/>
                  <a:pt x="86261" y="55587"/>
                </a:cubicBezTo>
                <a:cubicBezTo>
                  <a:pt x="89431" y="59292"/>
                  <a:pt x="94654" y="60409"/>
                  <a:pt x="99386" y="59115"/>
                </a:cubicBezTo>
                <a:cubicBezTo>
                  <a:pt x="104120" y="57821"/>
                  <a:pt x="109121" y="57150"/>
                  <a:pt x="114300" y="57150"/>
                </a:cubicBezTo>
                <a:cubicBezTo>
                  <a:pt x="145866" y="57150"/>
                  <a:pt x="171450" y="82734"/>
                  <a:pt x="171450" y="114300"/>
                </a:cubicBezTo>
                <a:lnTo>
                  <a:pt x="171450" y="125418"/>
                </a:lnTo>
                <a:cubicBezTo>
                  <a:pt x="171450" y="136669"/>
                  <a:pt x="170779" y="147876"/>
                  <a:pt x="169485" y="159038"/>
                </a:cubicBezTo>
                <a:cubicBezTo>
                  <a:pt x="168726" y="165556"/>
                  <a:pt x="173681" y="171450"/>
                  <a:pt x="180290" y="171450"/>
                </a:cubicBezTo>
                <a:cubicBezTo>
                  <a:pt x="185558" y="171450"/>
                  <a:pt x="190068" y="167610"/>
                  <a:pt x="190693" y="162386"/>
                </a:cubicBezTo>
                <a:cubicBezTo>
                  <a:pt x="192168" y="150153"/>
                  <a:pt x="192926" y="137831"/>
                  <a:pt x="192926" y="125462"/>
                </a:cubicBezTo>
                <a:lnTo>
                  <a:pt x="192926" y="114344"/>
                </a:lnTo>
                <a:cubicBezTo>
                  <a:pt x="192926" y="70946"/>
                  <a:pt x="157743" y="35763"/>
                  <a:pt x="114344" y="35763"/>
                </a:cubicBezTo>
                <a:close/>
                <a:moveTo>
                  <a:pt x="67285" y="66392"/>
                </a:moveTo>
                <a:cubicBezTo>
                  <a:pt x="63222" y="61659"/>
                  <a:pt x="55989" y="61302"/>
                  <a:pt x="52149" y="66214"/>
                </a:cubicBezTo>
                <a:cubicBezTo>
                  <a:pt x="41836" y="79519"/>
                  <a:pt x="35719" y="96173"/>
                  <a:pt x="35719" y="114300"/>
                </a:cubicBezTo>
                <a:lnTo>
                  <a:pt x="35719" y="125418"/>
                </a:lnTo>
                <a:cubicBezTo>
                  <a:pt x="35719" y="136221"/>
                  <a:pt x="34558" y="147027"/>
                  <a:pt x="32236" y="157519"/>
                </a:cubicBezTo>
                <a:cubicBezTo>
                  <a:pt x="30717" y="164485"/>
                  <a:pt x="35763" y="171406"/>
                  <a:pt x="42907" y="171406"/>
                </a:cubicBezTo>
                <a:cubicBezTo>
                  <a:pt x="47595" y="171406"/>
                  <a:pt x="51792" y="168280"/>
                  <a:pt x="52819" y="163681"/>
                </a:cubicBezTo>
                <a:cubicBezTo>
                  <a:pt x="55677" y="151135"/>
                  <a:pt x="57150" y="138321"/>
                  <a:pt x="57150" y="125373"/>
                </a:cubicBezTo>
                <a:lnTo>
                  <a:pt x="57150" y="114256"/>
                </a:lnTo>
                <a:cubicBezTo>
                  <a:pt x="57150" y="102111"/>
                  <a:pt x="60945" y="90860"/>
                  <a:pt x="67373" y="81617"/>
                </a:cubicBezTo>
                <a:cubicBezTo>
                  <a:pt x="70589" y="76973"/>
                  <a:pt x="70946" y="70634"/>
                  <a:pt x="67285" y="66349"/>
                </a:cubicBezTo>
                <a:close/>
                <a:moveTo>
                  <a:pt x="114300" y="71437"/>
                </a:moveTo>
                <a:cubicBezTo>
                  <a:pt x="90636" y="71437"/>
                  <a:pt x="71437" y="90636"/>
                  <a:pt x="71437" y="114300"/>
                </a:cubicBezTo>
                <a:lnTo>
                  <a:pt x="71437" y="125418"/>
                </a:lnTo>
                <a:cubicBezTo>
                  <a:pt x="71437" y="141446"/>
                  <a:pt x="69384" y="157342"/>
                  <a:pt x="65275" y="172789"/>
                </a:cubicBezTo>
                <a:cubicBezTo>
                  <a:pt x="63579" y="179174"/>
                  <a:pt x="68268" y="185737"/>
                  <a:pt x="74875" y="185737"/>
                </a:cubicBezTo>
                <a:cubicBezTo>
                  <a:pt x="79117" y="185737"/>
                  <a:pt x="82867" y="182969"/>
                  <a:pt x="83984" y="178862"/>
                </a:cubicBezTo>
                <a:cubicBezTo>
                  <a:pt x="88671" y="161449"/>
                  <a:pt x="91083" y="143500"/>
                  <a:pt x="91083" y="125418"/>
                </a:cubicBezTo>
                <a:lnTo>
                  <a:pt x="91083" y="114300"/>
                </a:lnTo>
                <a:cubicBezTo>
                  <a:pt x="91083" y="101486"/>
                  <a:pt x="101486" y="91083"/>
                  <a:pt x="114300" y="91083"/>
                </a:cubicBezTo>
                <a:cubicBezTo>
                  <a:pt x="127114" y="91083"/>
                  <a:pt x="137517" y="101486"/>
                  <a:pt x="137517" y="114300"/>
                </a:cubicBezTo>
                <a:lnTo>
                  <a:pt x="137517" y="125418"/>
                </a:lnTo>
                <a:cubicBezTo>
                  <a:pt x="137517" y="141625"/>
                  <a:pt x="135953" y="157743"/>
                  <a:pt x="132874" y="173592"/>
                </a:cubicBezTo>
                <a:cubicBezTo>
                  <a:pt x="131669" y="179799"/>
                  <a:pt x="136312" y="185737"/>
                  <a:pt x="142607" y="185737"/>
                </a:cubicBezTo>
                <a:cubicBezTo>
                  <a:pt x="147161" y="185737"/>
                  <a:pt x="151091" y="182612"/>
                  <a:pt x="151983" y="178147"/>
                </a:cubicBezTo>
                <a:cubicBezTo>
                  <a:pt x="155421" y="160824"/>
                  <a:pt x="157163" y="143187"/>
                  <a:pt x="157163" y="125418"/>
                </a:cubicBezTo>
                <a:lnTo>
                  <a:pt x="157163" y="114300"/>
                </a:lnTo>
                <a:cubicBezTo>
                  <a:pt x="157163" y="90636"/>
                  <a:pt x="137964" y="71437"/>
                  <a:pt x="114300" y="71437"/>
                </a:cubicBezTo>
                <a:close/>
                <a:moveTo>
                  <a:pt x="125016" y="114300"/>
                </a:moveTo>
                <a:cubicBezTo>
                  <a:pt x="125016" y="108361"/>
                  <a:pt x="120239" y="103584"/>
                  <a:pt x="114300" y="103584"/>
                </a:cubicBezTo>
                <a:cubicBezTo>
                  <a:pt x="108361" y="103584"/>
                  <a:pt x="103584" y="108361"/>
                  <a:pt x="103584" y="114300"/>
                </a:cubicBezTo>
                <a:lnTo>
                  <a:pt x="103584" y="125418"/>
                </a:lnTo>
                <a:cubicBezTo>
                  <a:pt x="103584" y="152163"/>
                  <a:pt x="98673" y="178683"/>
                  <a:pt x="89074" y="203642"/>
                </a:cubicBezTo>
                <a:lnTo>
                  <a:pt x="86439" y="210473"/>
                </a:lnTo>
                <a:cubicBezTo>
                  <a:pt x="84296" y="216009"/>
                  <a:pt x="87064" y="222214"/>
                  <a:pt x="92601" y="224314"/>
                </a:cubicBezTo>
                <a:cubicBezTo>
                  <a:pt x="98137" y="226412"/>
                  <a:pt x="104343" y="223689"/>
                  <a:pt x="106443" y="218152"/>
                </a:cubicBezTo>
                <a:lnTo>
                  <a:pt x="109076" y="211320"/>
                </a:lnTo>
                <a:cubicBezTo>
                  <a:pt x="119612" y="183907"/>
                  <a:pt x="125016" y="154796"/>
                  <a:pt x="125016" y="125418"/>
                </a:cubicBezTo>
                <a:lnTo>
                  <a:pt x="125016" y="11430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custDataLst>
              <p:tags r:id="rId9"/>
            </p:custDataLst>
          </p:nvPr>
        </p:nvSpPr>
        <p:spPr>
          <a:xfrm>
            <a:off x="3443047"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program_id</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custDataLst>
              <p:tags r:id="rId10"/>
            </p:custDataLst>
          </p:nvPr>
        </p:nvSpPr>
        <p:spPr>
          <a:xfrm>
            <a:off x="3452572" y="3194199"/>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Numéro du program actuel dans la grid, similaire à blockIdx.x</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custDataLst>
              <p:tags r:id="rId11"/>
            </p:custDataLst>
          </p:nvPr>
        </p:nvSpPr>
        <p:spPr>
          <a:xfrm>
            <a:off x="6181624"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4" name="Freeform 14"/>
          <p:cNvSpPr/>
          <p:nvPr>
            <p:custDataLst>
              <p:tags r:id="rId12"/>
            </p:custDataLst>
          </p:nvPr>
        </p:nvSpPr>
        <p:spPr>
          <a:xfrm>
            <a:off x="7277103"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custDataLst>
              <p:tags r:id="rId13"/>
            </p:custDataLst>
          </p:nvPr>
        </p:nvSpPr>
        <p:spPr>
          <a:xfrm>
            <a:off x="7443767" y="2300538"/>
            <a:ext cx="200025" cy="200025"/>
          </a:xfrm>
          <a:custGeom>
            <a:avLst/>
            <a:gdLst/>
            <a:ahLst/>
            <a:cxnLst/>
            <a:rect l="l" t="t" r="r" b="b"/>
            <a:pathLst>
              <a:path w="200025" h="200025">
                <a:moveTo>
                  <a:pt x="171450" y="28576"/>
                </a:moveTo>
                <a:lnTo>
                  <a:pt x="171450" y="57150"/>
                </a:lnTo>
                <a:lnTo>
                  <a:pt x="142875" y="57150"/>
                </a:lnTo>
                <a:lnTo>
                  <a:pt x="142875" y="28576"/>
                </a:lnTo>
                <a:lnTo>
                  <a:pt x="171450" y="28576"/>
                </a:lnTo>
                <a:close/>
                <a:moveTo>
                  <a:pt x="171450" y="85726"/>
                </a:moveTo>
                <a:lnTo>
                  <a:pt x="171450" y="114300"/>
                </a:lnTo>
                <a:lnTo>
                  <a:pt x="142875" y="114300"/>
                </a:lnTo>
                <a:lnTo>
                  <a:pt x="142875" y="85726"/>
                </a:lnTo>
                <a:lnTo>
                  <a:pt x="171450" y="85726"/>
                </a:lnTo>
                <a:close/>
                <a:moveTo>
                  <a:pt x="171450" y="142876"/>
                </a:moveTo>
                <a:lnTo>
                  <a:pt x="171450" y="171450"/>
                </a:lnTo>
                <a:lnTo>
                  <a:pt x="142875" y="171450"/>
                </a:lnTo>
                <a:lnTo>
                  <a:pt x="142875" y="142876"/>
                </a:lnTo>
                <a:lnTo>
                  <a:pt x="171450" y="142876"/>
                </a:lnTo>
                <a:close/>
                <a:moveTo>
                  <a:pt x="114300" y="114300"/>
                </a:moveTo>
                <a:lnTo>
                  <a:pt x="85725" y="114300"/>
                </a:lnTo>
                <a:lnTo>
                  <a:pt x="85725" y="85726"/>
                </a:lnTo>
                <a:lnTo>
                  <a:pt x="114300" y="85726"/>
                </a:lnTo>
                <a:lnTo>
                  <a:pt x="114300" y="114300"/>
                </a:lnTo>
                <a:close/>
                <a:moveTo>
                  <a:pt x="85725" y="142876"/>
                </a:moveTo>
                <a:lnTo>
                  <a:pt x="114300" y="142876"/>
                </a:lnTo>
                <a:lnTo>
                  <a:pt x="114300" y="171450"/>
                </a:lnTo>
                <a:lnTo>
                  <a:pt x="85725" y="171450"/>
                </a:lnTo>
                <a:lnTo>
                  <a:pt x="85725" y="142876"/>
                </a:lnTo>
                <a:close/>
                <a:moveTo>
                  <a:pt x="57150" y="114300"/>
                </a:moveTo>
                <a:lnTo>
                  <a:pt x="28575" y="114300"/>
                </a:lnTo>
                <a:lnTo>
                  <a:pt x="28575" y="85726"/>
                </a:lnTo>
                <a:lnTo>
                  <a:pt x="57150" y="85726"/>
                </a:lnTo>
                <a:lnTo>
                  <a:pt x="57150" y="114300"/>
                </a:lnTo>
                <a:close/>
                <a:moveTo>
                  <a:pt x="28575" y="142876"/>
                </a:moveTo>
                <a:lnTo>
                  <a:pt x="57150" y="142876"/>
                </a:lnTo>
                <a:lnTo>
                  <a:pt x="57150" y="171450"/>
                </a:lnTo>
                <a:lnTo>
                  <a:pt x="28575" y="171450"/>
                </a:lnTo>
                <a:lnTo>
                  <a:pt x="28575" y="142876"/>
                </a:lnTo>
                <a:close/>
                <a:moveTo>
                  <a:pt x="28575" y="57150"/>
                </a:moveTo>
                <a:lnTo>
                  <a:pt x="28575" y="28576"/>
                </a:lnTo>
                <a:lnTo>
                  <a:pt x="57150" y="28576"/>
                </a:lnTo>
                <a:lnTo>
                  <a:pt x="57150" y="57150"/>
                </a:lnTo>
                <a:lnTo>
                  <a:pt x="28575" y="57150"/>
                </a:lnTo>
                <a:close/>
                <a:moveTo>
                  <a:pt x="85725" y="57150"/>
                </a:moveTo>
                <a:lnTo>
                  <a:pt x="85725" y="28576"/>
                </a:lnTo>
                <a:lnTo>
                  <a:pt x="114300" y="28576"/>
                </a:lnTo>
                <a:lnTo>
                  <a:pt x="114300" y="57150"/>
                </a:lnTo>
                <a:lnTo>
                  <a:pt x="85725" y="57150"/>
                </a:lnTo>
                <a:close/>
                <a:moveTo>
                  <a:pt x="28575" y="0"/>
                </a:moveTo>
                <a:cubicBezTo>
                  <a:pt x="12814" y="0"/>
                  <a:pt x="0" y="12815"/>
                  <a:pt x="0" y="28576"/>
                </a:cubicBezTo>
                <a:lnTo>
                  <a:pt x="0" y="171450"/>
                </a:lnTo>
                <a:cubicBezTo>
                  <a:pt x="0" y="187211"/>
                  <a:pt x="12814" y="200026"/>
                  <a:pt x="28575" y="200026"/>
                </a:cubicBezTo>
                <a:lnTo>
                  <a:pt x="171450" y="200026"/>
                </a:lnTo>
                <a:cubicBezTo>
                  <a:pt x="187211" y="200026"/>
                  <a:pt x="200025" y="187211"/>
                  <a:pt x="200025" y="171450"/>
                </a:cubicBezTo>
                <a:lnTo>
                  <a:pt x="200025" y="28576"/>
                </a:lnTo>
                <a:cubicBezTo>
                  <a:pt x="200025" y="12815"/>
                  <a:pt x="187211" y="0"/>
                  <a:pt x="171450" y="0"/>
                </a:cubicBezTo>
                <a:lnTo>
                  <a:pt x="28575" y="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custDataLst>
              <p:tags r:id="rId14"/>
            </p:custDataLst>
          </p:nvPr>
        </p:nvSpPr>
        <p:spPr>
          <a:xfrm>
            <a:off x="6338680"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grid</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custDataLst>
              <p:tags r:id="rId15"/>
            </p:custDataLst>
          </p:nvPr>
        </p:nvSpPr>
        <p:spPr>
          <a:xfrm>
            <a:off x="6348205" y="3194199"/>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Ensemble de programs, définit l'échelle d'exécution parallèle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custDataLst>
              <p:tags r:id="rId16"/>
            </p:custDataLst>
          </p:nvPr>
        </p:nvSpPr>
        <p:spPr>
          <a:xfrm>
            <a:off x="9077257" y="1933946"/>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9" name="Freeform 19"/>
          <p:cNvSpPr/>
          <p:nvPr>
            <p:custDataLst>
              <p:tags r:id="rId17"/>
            </p:custDataLst>
          </p:nvPr>
        </p:nvSpPr>
        <p:spPr>
          <a:xfrm>
            <a:off x="10172735" y="21338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custDataLst>
              <p:tags r:id="rId18"/>
            </p:custDataLst>
          </p:nvPr>
        </p:nvSpPr>
        <p:spPr>
          <a:xfrm>
            <a:off x="10339399" y="2300538"/>
            <a:ext cx="200025" cy="200025"/>
          </a:xfrm>
          <a:custGeom>
            <a:avLst/>
            <a:gdLst/>
            <a:ahLst/>
            <a:cxnLst/>
            <a:rect l="l" t="t" r="r" b="b"/>
            <a:pathLst>
              <a:path w="200025" h="200025">
                <a:moveTo>
                  <a:pt x="75009" y="0"/>
                </a:moveTo>
                <a:lnTo>
                  <a:pt x="10716" y="0"/>
                </a:lnTo>
                <a:cubicBezTo>
                  <a:pt x="4776" y="0"/>
                  <a:pt x="0" y="4778"/>
                  <a:pt x="0" y="10715"/>
                </a:cubicBezTo>
                <a:lnTo>
                  <a:pt x="0" y="75011"/>
                </a:lnTo>
                <a:cubicBezTo>
                  <a:pt x="0" y="79341"/>
                  <a:pt x="2590" y="83271"/>
                  <a:pt x="6608" y="84922"/>
                </a:cubicBezTo>
                <a:cubicBezTo>
                  <a:pt x="10626" y="86574"/>
                  <a:pt x="15225" y="85637"/>
                  <a:pt x="18306" y="82600"/>
                </a:cubicBezTo>
                <a:lnTo>
                  <a:pt x="36165" y="64741"/>
                </a:lnTo>
                <a:lnTo>
                  <a:pt x="71437" y="100013"/>
                </a:lnTo>
                <a:lnTo>
                  <a:pt x="36165" y="135285"/>
                </a:lnTo>
                <a:lnTo>
                  <a:pt x="18306" y="117426"/>
                </a:lnTo>
                <a:cubicBezTo>
                  <a:pt x="15225" y="114345"/>
                  <a:pt x="10626" y="113452"/>
                  <a:pt x="6608" y="115104"/>
                </a:cubicBezTo>
                <a:cubicBezTo>
                  <a:pt x="2590" y="116755"/>
                  <a:pt x="0" y="120685"/>
                  <a:pt x="0" y="125015"/>
                </a:cubicBezTo>
                <a:lnTo>
                  <a:pt x="0" y="189311"/>
                </a:lnTo>
                <a:cubicBezTo>
                  <a:pt x="0" y="195248"/>
                  <a:pt x="4776" y="200026"/>
                  <a:pt x="10716" y="200026"/>
                </a:cubicBezTo>
                <a:lnTo>
                  <a:pt x="75009" y="200026"/>
                </a:lnTo>
                <a:cubicBezTo>
                  <a:pt x="79339" y="200026"/>
                  <a:pt x="83269" y="197436"/>
                  <a:pt x="84921" y="193418"/>
                </a:cubicBezTo>
                <a:cubicBezTo>
                  <a:pt x="86573" y="189399"/>
                  <a:pt x="85681" y="184799"/>
                  <a:pt x="82600" y="181720"/>
                </a:cubicBezTo>
                <a:lnTo>
                  <a:pt x="64740" y="163860"/>
                </a:lnTo>
                <a:lnTo>
                  <a:pt x="100013" y="128588"/>
                </a:lnTo>
                <a:lnTo>
                  <a:pt x="135285" y="163860"/>
                </a:lnTo>
                <a:lnTo>
                  <a:pt x="117425" y="181720"/>
                </a:lnTo>
                <a:cubicBezTo>
                  <a:pt x="114344" y="184799"/>
                  <a:pt x="113452" y="189399"/>
                  <a:pt x="115104" y="193418"/>
                </a:cubicBezTo>
                <a:cubicBezTo>
                  <a:pt x="116756" y="197436"/>
                  <a:pt x="120686" y="200026"/>
                  <a:pt x="125016" y="200026"/>
                </a:cubicBezTo>
                <a:lnTo>
                  <a:pt x="189309" y="200026"/>
                </a:lnTo>
                <a:cubicBezTo>
                  <a:pt x="195249" y="200026"/>
                  <a:pt x="200025" y="195248"/>
                  <a:pt x="200025" y="189311"/>
                </a:cubicBezTo>
                <a:lnTo>
                  <a:pt x="200025" y="125015"/>
                </a:lnTo>
                <a:cubicBezTo>
                  <a:pt x="200025" y="120685"/>
                  <a:pt x="197435" y="116755"/>
                  <a:pt x="193417" y="115104"/>
                </a:cubicBezTo>
                <a:cubicBezTo>
                  <a:pt x="189399" y="113452"/>
                  <a:pt x="184800" y="114345"/>
                  <a:pt x="181719" y="117426"/>
                </a:cubicBezTo>
                <a:lnTo>
                  <a:pt x="163860" y="135285"/>
                </a:lnTo>
                <a:lnTo>
                  <a:pt x="128587" y="100013"/>
                </a:lnTo>
                <a:lnTo>
                  <a:pt x="163860" y="64741"/>
                </a:lnTo>
                <a:lnTo>
                  <a:pt x="181719" y="82600"/>
                </a:lnTo>
                <a:cubicBezTo>
                  <a:pt x="184800" y="85681"/>
                  <a:pt x="189399" y="86574"/>
                  <a:pt x="193417" y="84922"/>
                </a:cubicBezTo>
                <a:cubicBezTo>
                  <a:pt x="197435" y="83271"/>
                  <a:pt x="200025" y="79341"/>
                  <a:pt x="200025" y="75011"/>
                </a:cubicBezTo>
                <a:lnTo>
                  <a:pt x="200025" y="10715"/>
                </a:lnTo>
                <a:cubicBezTo>
                  <a:pt x="200025" y="4778"/>
                  <a:pt x="195249" y="0"/>
                  <a:pt x="189309" y="0"/>
                </a:cubicBezTo>
                <a:lnTo>
                  <a:pt x="125016" y="0"/>
                </a:lnTo>
                <a:cubicBezTo>
                  <a:pt x="120686" y="0"/>
                  <a:pt x="116756" y="2590"/>
                  <a:pt x="115104" y="6608"/>
                </a:cubicBezTo>
                <a:cubicBezTo>
                  <a:pt x="113452" y="10627"/>
                  <a:pt x="114389" y="15227"/>
                  <a:pt x="117425" y="18306"/>
                </a:cubicBezTo>
                <a:lnTo>
                  <a:pt x="135285" y="36166"/>
                </a:lnTo>
                <a:lnTo>
                  <a:pt x="100013" y="71438"/>
                </a:lnTo>
                <a:lnTo>
                  <a:pt x="64740" y="36166"/>
                </a:lnTo>
                <a:lnTo>
                  <a:pt x="82600" y="18306"/>
                </a:lnTo>
                <a:cubicBezTo>
                  <a:pt x="85681" y="15227"/>
                  <a:pt x="86573" y="10627"/>
                  <a:pt x="84921" y="6608"/>
                </a:cubicBezTo>
                <a:cubicBezTo>
                  <a:pt x="83269" y="2590"/>
                  <a:pt x="79339" y="0"/>
                  <a:pt x="750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custDataLst>
              <p:tags r:id="rId19"/>
            </p:custDataLst>
          </p:nvPr>
        </p:nvSpPr>
        <p:spPr>
          <a:xfrm>
            <a:off x="9234313" y="2781458"/>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BLOCK_SIZE</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custDataLst>
              <p:tags r:id="rId20"/>
            </p:custDataLst>
          </p:nvPr>
        </p:nvSpPr>
        <p:spPr>
          <a:xfrm>
            <a:off x="9243838" y="3194199"/>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Nombre d'éléments traités par chaque program, constante à la compilation</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Freeform 23"/>
          <p:cNvSpPr/>
          <p:nvPr>
            <p:custDataLst>
              <p:tags r:id="rId21"/>
            </p:custDataLst>
          </p:nvPr>
        </p:nvSpPr>
        <p:spPr>
          <a:xfrm>
            <a:off x="390433"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4" name="Freeform 24"/>
          <p:cNvSpPr/>
          <p:nvPr>
            <p:custDataLst>
              <p:tags r:id="rId22"/>
            </p:custDataLst>
          </p:nvPr>
        </p:nvSpPr>
        <p:spPr>
          <a:xfrm>
            <a:off x="1485838"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custDataLst>
              <p:tags r:id="rId23"/>
            </p:custDataLst>
          </p:nvPr>
        </p:nvSpPr>
        <p:spPr>
          <a:xfrm>
            <a:off x="1636785" y="4250224"/>
            <a:ext cx="230029" cy="185738"/>
          </a:xfrm>
          <a:custGeom>
            <a:avLst/>
            <a:gdLst/>
            <a:ahLst/>
            <a:cxnLst/>
            <a:rect l="l" t="t" r="r" b="b"/>
            <a:pathLst>
              <a:path w="230029" h="185738">
                <a:moveTo>
                  <a:pt x="1429" y="10717"/>
                </a:moveTo>
                <a:cubicBezTo>
                  <a:pt x="1429" y="4822"/>
                  <a:pt x="6205" y="0"/>
                  <a:pt x="12145" y="0"/>
                </a:cubicBezTo>
                <a:lnTo>
                  <a:pt x="33577" y="0"/>
                </a:lnTo>
                <a:cubicBezTo>
                  <a:pt x="39514" y="0"/>
                  <a:pt x="44292" y="4778"/>
                  <a:pt x="44292" y="10717"/>
                </a:cubicBezTo>
                <a:lnTo>
                  <a:pt x="44292" y="57150"/>
                </a:lnTo>
                <a:lnTo>
                  <a:pt x="55006" y="57150"/>
                </a:lnTo>
                <a:cubicBezTo>
                  <a:pt x="60945" y="57150"/>
                  <a:pt x="65723" y="61928"/>
                  <a:pt x="65723" y="67867"/>
                </a:cubicBezTo>
                <a:cubicBezTo>
                  <a:pt x="65723" y="73804"/>
                  <a:pt x="60945" y="78582"/>
                  <a:pt x="55006" y="78582"/>
                </a:cubicBezTo>
                <a:lnTo>
                  <a:pt x="12145" y="78582"/>
                </a:lnTo>
                <a:cubicBezTo>
                  <a:pt x="6205" y="78582"/>
                  <a:pt x="1429" y="73804"/>
                  <a:pt x="1429" y="67867"/>
                </a:cubicBezTo>
                <a:cubicBezTo>
                  <a:pt x="1429" y="61928"/>
                  <a:pt x="6205" y="57150"/>
                  <a:pt x="12145" y="57150"/>
                </a:cubicBezTo>
                <a:lnTo>
                  <a:pt x="22860" y="57150"/>
                </a:lnTo>
                <a:lnTo>
                  <a:pt x="22860" y="21432"/>
                </a:lnTo>
                <a:lnTo>
                  <a:pt x="12145" y="21432"/>
                </a:lnTo>
                <a:cubicBezTo>
                  <a:pt x="6205" y="21432"/>
                  <a:pt x="1429" y="16654"/>
                  <a:pt x="1429" y="10717"/>
                </a:cubicBezTo>
                <a:close/>
                <a:moveTo>
                  <a:pt x="15001" y="113051"/>
                </a:moveTo>
                <a:cubicBezTo>
                  <a:pt x="20092" y="109210"/>
                  <a:pt x="26298" y="107156"/>
                  <a:pt x="32682" y="107156"/>
                </a:cubicBezTo>
                <a:lnTo>
                  <a:pt x="34871" y="107156"/>
                </a:lnTo>
                <a:cubicBezTo>
                  <a:pt x="49918" y="107156"/>
                  <a:pt x="62152" y="119390"/>
                  <a:pt x="62152" y="134437"/>
                </a:cubicBezTo>
                <a:cubicBezTo>
                  <a:pt x="62152" y="143188"/>
                  <a:pt x="57954" y="151358"/>
                  <a:pt x="50899" y="156493"/>
                </a:cubicBezTo>
                <a:lnTo>
                  <a:pt x="40184" y="164306"/>
                </a:lnTo>
                <a:lnTo>
                  <a:pt x="55006" y="164306"/>
                </a:lnTo>
                <a:cubicBezTo>
                  <a:pt x="60945" y="164306"/>
                  <a:pt x="65723" y="169084"/>
                  <a:pt x="65723" y="175021"/>
                </a:cubicBezTo>
                <a:cubicBezTo>
                  <a:pt x="65723" y="180960"/>
                  <a:pt x="60945" y="185738"/>
                  <a:pt x="55006" y="185738"/>
                </a:cubicBezTo>
                <a:lnTo>
                  <a:pt x="14511" y="185738"/>
                </a:lnTo>
                <a:cubicBezTo>
                  <a:pt x="7279" y="185738"/>
                  <a:pt x="1429" y="179889"/>
                  <a:pt x="1429" y="172655"/>
                </a:cubicBezTo>
                <a:cubicBezTo>
                  <a:pt x="1429" y="168459"/>
                  <a:pt x="3438" y="164530"/>
                  <a:pt x="6832" y="162074"/>
                </a:cubicBezTo>
                <a:lnTo>
                  <a:pt x="38309" y="139169"/>
                </a:lnTo>
                <a:cubicBezTo>
                  <a:pt x="39827" y="138053"/>
                  <a:pt x="40720" y="136312"/>
                  <a:pt x="40720" y="134437"/>
                </a:cubicBezTo>
                <a:cubicBezTo>
                  <a:pt x="40720" y="131222"/>
                  <a:pt x="38085" y="128588"/>
                  <a:pt x="34871" y="128588"/>
                </a:cubicBezTo>
                <a:lnTo>
                  <a:pt x="32682" y="128588"/>
                </a:lnTo>
                <a:cubicBezTo>
                  <a:pt x="30943" y="128588"/>
                  <a:pt x="29245" y="129168"/>
                  <a:pt x="27862" y="130196"/>
                </a:cubicBezTo>
                <a:lnTo>
                  <a:pt x="18574" y="137160"/>
                </a:lnTo>
                <a:cubicBezTo>
                  <a:pt x="13841" y="140731"/>
                  <a:pt x="7144" y="139750"/>
                  <a:pt x="3571" y="135016"/>
                </a:cubicBezTo>
                <a:cubicBezTo>
                  <a:pt x="0" y="130284"/>
                  <a:pt x="983" y="123586"/>
                  <a:pt x="5715" y="120015"/>
                </a:cubicBezTo>
                <a:lnTo>
                  <a:pt x="15001" y="113051"/>
                </a:lnTo>
                <a:close/>
                <a:moveTo>
                  <a:pt x="101442" y="7144"/>
                </a:moveTo>
                <a:lnTo>
                  <a:pt x="215742" y="7144"/>
                </a:lnTo>
                <a:cubicBezTo>
                  <a:pt x="223643" y="7144"/>
                  <a:pt x="230029" y="13530"/>
                  <a:pt x="230029" y="21432"/>
                </a:cubicBezTo>
                <a:cubicBezTo>
                  <a:pt x="230029" y="29333"/>
                  <a:pt x="223643" y="35719"/>
                  <a:pt x="215742" y="35719"/>
                </a:cubicBezTo>
                <a:lnTo>
                  <a:pt x="101442" y="35719"/>
                </a:lnTo>
                <a:cubicBezTo>
                  <a:pt x="93540" y="35719"/>
                  <a:pt x="87154" y="29333"/>
                  <a:pt x="87154" y="21432"/>
                </a:cubicBezTo>
                <a:cubicBezTo>
                  <a:pt x="87154" y="13530"/>
                  <a:pt x="93540" y="7144"/>
                  <a:pt x="101442" y="7144"/>
                </a:cubicBezTo>
                <a:close/>
                <a:moveTo>
                  <a:pt x="101442" y="78582"/>
                </a:moveTo>
                <a:lnTo>
                  <a:pt x="215742" y="78582"/>
                </a:lnTo>
                <a:cubicBezTo>
                  <a:pt x="223643" y="78582"/>
                  <a:pt x="230029" y="84966"/>
                  <a:pt x="230029" y="92869"/>
                </a:cubicBezTo>
                <a:cubicBezTo>
                  <a:pt x="230029" y="100772"/>
                  <a:pt x="223643" y="107156"/>
                  <a:pt x="215742" y="107156"/>
                </a:cubicBezTo>
                <a:lnTo>
                  <a:pt x="101442" y="107156"/>
                </a:lnTo>
                <a:cubicBezTo>
                  <a:pt x="93540" y="107156"/>
                  <a:pt x="87154" y="100772"/>
                  <a:pt x="87154" y="92869"/>
                </a:cubicBezTo>
                <a:cubicBezTo>
                  <a:pt x="87154" y="84966"/>
                  <a:pt x="93540" y="78582"/>
                  <a:pt x="101442" y="78582"/>
                </a:cubicBezTo>
                <a:close/>
                <a:moveTo>
                  <a:pt x="101442" y="150019"/>
                </a:moveTo>
                <a:lnTo>
                  <a:pt x="215742" y="150019"/>
                </a:lnTo>
                <a:cubicBezTo>
                  <a:pt x="223643" y="150019"/>
                  <a:pt x="230029" y="156405"/>
                  <a:pt x="230029" y="164306"/>
                </a:cubicBezTo>
                <a:cubicBezTo>
                  <a:pt x="230029" y="172208"/>
                  <a:pt x="223643" y="178594"/>
                  <a:pt x="215742" y="178594"/>
                </a:cubicBezTo>
                <a:lnTo>
                  <a:pt x="101442" y="178594"/>
                </a:lnTo>
                <a:cubicBezTo>
                  <a:pt x="93540" y="178594"/>
                  <a:pt x="87154" y="172208"/>
                  <a:pt x="87154" y="164306"/>
                </a:cubicBezTo>
                <a:cubicBezTo>
                  <a:pt x="87154" y="156405"/>
                  <a:pt x="93540" y="150019"/>
                  <a:pt x="101442" y="15001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custDataLst>
              <p:tags r:id="rId24"/>
            </p:custDataLst>
          </p:nvPr>
        </p:nvSpPr>
        <p:spPr>
          <a:xfrm>
            <a:off x="547489"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tl.arange</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custDataLst>
              <p:tags r:id="rId25"/>
            </p:custDataLst>
          </p:nvPr>
        </p:nvSpPr>
        <p:spPr>
          <a:xfrm>
            <a:off x="557014" y="513674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Génère des indices vectoriels, permet les opérations vectorisées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custDataLst>
              <p:tags r:id="rId26"/>
            </p:custDataLst>
          </p:nvPr>
        </p:nvSpPr>
        <p:spPr>
          <a:xfrm>
            <a:off x="3285992"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29" name="Freeform 29"/>
          <p:cNvSpPr/>
          <p:nvPr>
            <p:custDataLst>
              <p:tags r:id="rId27"/>
            </p:custDataLst>
          </p:nvPr>
        </p:nvSpPr>
        <p:spPr>
          <a:xfrm>
            <a:off x="4381470"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custDataLst>
              <p:tags r:id="rId28"/>
            </p:custDataLst>
          </p:nvPr>
        </p:nvSpPr>
        <p:spPr>
          <a:xfrm>
            <a:off x="4540991" y="4228793"/>
            <a:ext cx="214403" cy="228243"/>
          </a:xfrm>
          <a:custGeom>
            <a:avLst/>
            <a:gdLst/>
            <a:ahLst/>
            <a:cxnLst/>
            <a:rect l="l" t="t" r="r" b="b"/>
            <a:pathLst>
              <a:path w="214403" h="228243">
                <a:moveTo>
                  <a:pt x="107156" y="0"/>
                </a:moveTo>
                <a:cubicBezTo>
                  <a:pt x="109210" y="0"/>
                  <a:pt x="111264" y="446"/>
                  <a:pt x="113139" y="1295"/>
                </a:cubicBezTo>
                <a:lnTo>
                  <a:pt x="197257" y="36968"/>
                </a:lnTo>
                <a:cubicBezTo>
                  <a:pt x="207080" y="41121"/>
                  <a:pt x="214402" y="50810"/>
                  <a:pt x="214357" y="62508"/>
                </a:cubicBezTo>
                <a:cubicBezTo>
                  <a:pt x="214134" y="106799"/>
                  <a:pt x="195918" y="187836"/>
                  <a:pt x="118989" y="224671"/>
                </a:cubicBezTo>
                <a:cubicBezTo>
                  <a:pt x="111532" y="228243"/>
                  <a:pt x="102870" y="228243"/>
                  <a:pt x="95414" y="224671"/>
                </a:cubicBezTo>
                <a:cubicBezTo>
                  <a:pt x="18440" y="187836"/>
                  <a:pt x="268" y="106799"/>
                  <a:pt x="44" y="62508"/>
                </a:cubicBezTo>
                <a:cubicBezTo>
                  <a:pt x="0" y="50810"/>
                  <a:pt x="7323" y="41121"/>
                  <a:pt x="17145" y="36968"/>
                </a:cubicBezTo>
                <a:lnTo>
                  <a:pt x="101217" y="1295"/>
                </a:lnTo>
                <a:cubicBezTo>
                  <a:pt x="103093" y="446"/>
                  <a:pt x="105102" y="0"/>
                  <a:pt x="107156" y="0"/>
                </a:cubicBezTo>
                <a:close/>
                <a:moveTo>
                  <a:pt x="107156" y="29825"/>
                </a:moveTo>
                <a:lnTo>
                  <a:pt x="107156" y="198641"/>
                </a:lnTo>
                <a:cubicBezTo>
                  <a:pt x="168771" y="168816"/>
                  <a:pt x="185335" y="102735"/>
                  <a:pt x="185737" y="63177"/>
                </a:cubicBezTo>
                <a:lnTo>
                  <a:pt x="107156" y="29870"/>
                </a:lnTo>
                <a:lnTo>
                  <a:pt x="107156" y="2987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custDataLst>
              <p:tags r:id="rId29"/>
            </p:custDataLst>
          </p:nvPr>
        </p:nvSpPr>
        <p:spPr>
          <a:xfrm>
            <a:off x="3443047"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mask</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custDataLst>
              <p:tags r:id="rId30"/>
            </p:custDataLst>
          </p:nvPr>
        </p:nvSpPr>
        <p:spPr>
          <a:xfrm>
            <a:off x="3452572" y="513674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Tableau booléen, contrôle les accès mémoire, empêche les dépassements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Freeform 33"/>
          <p:cNvSpPr/>
          <p:nvPr>
            <p:custDataLst>
              <p:tags r:id="rId31"/>
            </p:custDataLst>
          </p:nvPr>
        </p:nvSpPr>
        <p:spPr>
          <a:xfrm>
            <a:off x="6181624"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4" name="Freeform 34"/>
          <p:cNvSpPr/>
          <p:nvPr>
            <p:custDataLst>
              <p:tags r:id="rId32"/>
            </p:custDataLst>
          </p:nvPr>
        </p:nvSpPr>
        <p:spPr>
          <a:xfrm>
            <a:off x="7277103"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custDataLst>
              <p:tags r:id="rId33"/>
            </p:custDataLst>
          </p:nvPr>
        </p:nvSpPr>
        <p:spPr>
          <a:xfrm>
            <a:off x="7443767" y="4228793"/>
            <a:ext cx="200025" cy="214312"/>
          </a:xfrm>
          <a:custGeom>
            <a:avLst/>
            <a:gdLst/>
            <a:ahLst/>
            <a:cxnLst/>
            <a:rect l="l" t="t" r="r" b="b"/>
            <a:pathLst>
              <a:path w="200025" h="214312">
                <a:moveTo>
                  <a:pt x="114300" y="14287"/>
                </a:moveTo>
                <a:cubicBezTo>
                  <a:pt x="114300" y="6386"/>
                  <a:pt x="107914" y="0"/>
                  <a:pt x="100013" y="0"/>
                </a:cubicBezTo>
                <a:cubicBezTo>
                  <a:pt x="92111" y="0"/>
                  <a:pt x="85725" y="6386"/>
                  <a:pt x="85725" y="14287"/>
                </a:cubicBezTo>
                <a:lnTo>
                  <a:pt x="85725" y="108361"/>
                </a:lnTo>
                <a:lnTo>
                  <a:pt x="67241" y="89877"/>
                </a:lnTo>
                <a:cubicBezTo>
                  <a:pt x="61659" y="84296"/>
                  <a:pt x="52596" y="84296"/>
                  <a:pt x="47015" y="89877"/>
                </a:cubicBezTo>
                <a:cubicBezTo>
                  <a:pt x="41434" y="95458"/>
                  <a:pt x="41434" y="104522"/>
                  <a:pt x="47015" y="110103"/>
                </a:cubicBezTo>
                <a:lnTo>
                  <a:pt x="89877" y="152966"/>
                </a:lnTo>
                <a:cubicBezTo>
                  <a:pt x="95458" y="158547"/>
                  <a:pt x="104522" y="158547"/>
                  <a:pt x="110103" y="152966"/>
                </a:cubicBezTo>
                <a:lnTo>
                  <a:pt x="152966" y="110103"/>
                </a:lnTo>
                <a:cubicBezTo>
                  <a:pt x="158547" y="104522"/>
                  <a:pt x="158547" y="95458"/>
                  <a:pt x="152966" y="89877"/>
                </a:cubicBezTo>
                <a:cubicBezTo>
                  <a:pt x="147384" y="84296"/>
                  <a:pt x="138321" y="84296"/>
                  <a:pt x="132740" y="89877"/>
                </a:cubicBezTo>
                <a:lnTo>
                  <a:pt x="114300" y="108361"/>
                </a:lnTo>
                <a:lnTo>
                  <a:pt x="114300" y="14287"/>
                </a:lnTo>
                <a:close/>
                <a:moveTo>
                  <a:pt x="28575" y="142875"/>
                </a:moveTo>
                <a:cubicBezTo>
                  <a:pt x="12814" y="142875"/>
                  <a:pt x="0" y="155689"/>
                  <a:pt x="0" y="171450"/>
                </a:cubicBezTo>
                <a:lnTo>
                  <a:pt x="0" y="185737"/>
                </a:lnTo>
                <a:cubicBezTo>
                  <a:pt x="0" y="201498"/>
                  <a:pt x="12814" y="214313"/>
                  <a:pt x="28575" y="214313"/>
                </a:cubicBezTo>
                <a:lnTo>
                  <a:pt x="171450" y="214313"/>
                </a:lnTo>
                <a:cubicBezTo>
                  <a:pt x="187211" y="214313"/>
                  <a:pt x="200025" y="201498"/>
                  <a:pt x="200025" y="185737"/>
                </a:cubicBezTo>
                <a:lnTo>
                  <a:pt x="200025" y="171450"/>
                </a:lnTo>
                <a:cubicBezTo>
                  <a:pt x="200025" y="155689"/>
                  <a:pt x="187211" y="142875"/>
                  <a:pt x="171450" y="142875"/>
                </a:cubicBezTo>
                <a:lnTo>
                  <a:pt x="150510" y="142875"/>
                </a:lnTo>
                <a:lnTo>
                  <a:pt x="125239" y="168145"/>
                </a:lnTo>
                <a:cubicBezTo>
                  <a:pt x="111309" y="182076"/>
                  <a:pt x="88671" y="182076"/>
                  <a:pt x="74741" y="168145"/>
                </a:cubicBezTo>
                <a:lnTo>
                  <a:pt x="49515" y="142875"/>
                </a:lnTo>
                <a:lnTo>
                  <a:pt x="28575" y="142875"/>
                </a:lnTo>
                <a:close/>
                <a:moveTo>
                  <a:pt x="164306" y="167877"/>
                </a:moveTo>
                <a:cubicBezTo>
                  <a:pt x="170219" y="167877"/>
                  <a:pt x="175023" y="172681"/>
                  <a:pt x="175023" y="178594"/>
                </a:cubicBezTo>
                <a:cubicBezTo>
                  <a:pt x="175023" y="184508"/>
                  <a:pt x="170219" y="189309"/>
                  <a:pt x="164306" y="189309"/>
                </a:cubicBezTo>
                <a:cubicBezTo>
                  <a:pt x="158392" y="189309"/>
                  <a:pt x="153591" y="184508"/>
                  <a:pt x="153591" y="178594"/>
                </a:cubicBezTo>
                <a:cubicBezTo>
                  <a:pt x="153591" y="172681"/>
                  <a:pt x="158392" y="167877"/>
                  <a:pt x="164306" y="1678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custDataLst>
              <p:tags r:id="rId34"/>
            </p:custDataLst>
          </p:nvPr>
        </p:nvSpPr>
        <p:spPr>
          <a:xfrm>
            <a:off x="6338680"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tl.load</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7" name="AutoShape 37"/>
          <p:cNvSpPr/>
          <p:nvPr>
            <p:custDataLst>
              <p:tags r:id="rId35"/>
            </p:custDataLst>
          </p:nvPr>
        </p:nvSpPr>
        <p:spPr>
          <a:xfrm>
            <a:off x="6348205" y="5136741"/>
            <a:ext cx="239077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Lit des données depuis la mémoire globale, supporte mask et vectorisation</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8" name="Freeform 38"/>
          <p:cNvSpPr/>
          <p:nvPr>
            <p:custDataLst>
              <p:tags r:id="rId36"/>
            </p:custDataLst>
          </p:nvPr>
        </p:nvSpPr>
        <p:spPr>
          <a:xfrm>
            <a:off x="9077257" y="3876488"/>
            <a:ext cx="2724055" cy="1771555"/>
          </a:xfrm>
          <a:custGeom>
            <a:avLst/>
            <a:gdLst/>
            <a:ahLst/>
            <a:cxnLst/>
            <a:rect l="l" t="t" r="r" b="b"/>
            <a:pathLst>
              <a:path w="2724055" h="1771555">
                <a:moveTo>
                  <a:pt x="114301" y="0"/>
                </a:moveTo>
                <a:lnTo>
                  <a:pt x="2609753" y="0"/>
                </a:lnTo>
                <a:cubicBezTo>
                  <a:pt x="2672881" y="0"/>
                  <a:pt x="2724055" y="51173"/>
                  <a:pt x="2724055" y="114301"/>
                </a:cubicBezTo>
                <a:lnTo>
                  <a:pt x="2724055" y="1657253"/>
                </a:lnTo>
                <a:cubicBezTo>
                  <a:pt x="2724055" y="1720381"/>
                  <a:pt x="2672881" y="1771555"/>
                  <a:pt x="2609753" y="1771555"/>
                </a:cubicBezTo>
                <a:lnTo>
                  <a:pt x="114301" y="1771555"/>
                </a:lnTo>
                <a:cubicBezTo>
                  <a:pt x="51173" y="1771555"/>
                  <a:pt x="0" y="1720381"/>
                  <a:pt x="0" y="1657253"/>
                </a:cubicBezTo>
                <a:lnTo>
                  <a:pt x="0" y="114301"/>
                </a:lnTo>
                <a:cubicBezTo>
                  <a:pt x="0" y="51173"/>
                  <a:pt x="51173" y="0"/>
                  <a:pt x="114301" y="0"/>
                </a:cubicBezTo>
                <a:close/>
              </a:path>
            </a:pathLst>
          </a:custGeom>
          <a:solidFill>
            <a:srgbClr val="F9FAFB">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39" name="Freeform 39"/>
          <p:cNvSpPr/>
          <p:nvPr>
            <p:custDataLst>
              <p:tags r:id="rId37"/>
            </p:custDataLst>
          </p:nvPr>
        </p:nvSpPr>
        <p:spPr>
          <a:xfrm>
            <a:off x="10172735" y="4076412"/>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A5565">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custDataLst>
              <p:tags r:id="rId38"/>
            </p:custDataLst>
          </p:nvPr>
        </p:nvSpPr>
        <p:spPr>
          <a:xfrm>
            <a:off x="10339399" y="4227409"/>
            <a:ext cx="200025" cy="215697"/>
          </a:xfrm>
          <a:custGeom>
            <a:avLst/>
            <a:gdLst/>
            <a:ahLst/>
            <a:cxnLst/>
            <a:rect l="l" t="t" r="r" b="b"/>
            <a:pathLst>
              <a:path w="200025" h="215697">
                <a:moveTo>
                  <a:pt x="114300" y="50185"/>
                </a:moveTo>
                <a:lnTo>
                  <a:pt x="114300" y="144259"/>
                </a:lnTo>
                <a:cubicBezTo>
                  <a:pt x="114300" y="152162"/>
                  <a:pt x="107914" y="158547"/>
                  <a:pt x="100013" y="158547"/>
                </a:cubicBezTo>
                <a:cubicBezTo>
                  <a:pt x="92111" y="158547"/>
                  <a:pt x="85725" y="152162"/>
                  <a:pt x="85725" y="144259"/>
                </a:cubicBezTo>
                <a:lnTo>
                  <a:pt x="85725" y="50185"/>
                </a:lnTo>
                <a:lnTo>
                  <a:pt x="67241" y="68669"/>
                </a:lnTo>
                <a:cubicBezTo>
                  <a:pt x="61659" y="74250"/>
                  <a:pt x="52596" y="74250"/>
                  <a:pt x="47015" y="68669"/>
                </a:cubicBezTo>
                <a:cubicBezTo>
                  <a:pt x="41434" y="63088"/>
                  <a:pt x="41434" y="54025"/>
                  <a:pt x="47015" y="48443"/>
                </a:cubicBezTo>
                <a:lnTo>
                  <a:pt x="89877" y="5581"/>
                </a:lnTo>
                <a:cubicBezTo>
                  <a:pt x="95458" y="0"/>
                  <a:pt x="104522" y="0"/>
                  <a:pt x="110103" y="5581"/>
                </a:cubicBezTo>
                <a:lnTo>
                  <a:pt x="152966" y="48443"/>
                </a:lnTo>
                <a:cubicBezTo>
                  <a:pt x="158547" y="54025"/>
                  <a:pt x="158547" y="63088"/>
                  <a:pt x="152966" y="68669"/>
                </a:cubicBezTo>
                <a:cubicBezTo>
                  <a:pt x="147383" y="74250"/>
                  <a:pt x="138321" y="74250"/>
                  <a:pt x="132740" y="68669"/>
                </a:cubicBezTo>
                <a:lnTo>
                  <a:pt x="114300" y="50185"/>
                </a:lnTo>
                <a:close/>
                <a:moveTo>
                  <a:pt x="100013" y="179978"/>
                </a:moveTo>
                <a:cubicBezTo>
                  <a:pt x="119747" y="179978"/>
                  <a:pt x="135731" y="163994"/>
                  <a:pt x="135731" y="144259"/>
                </a:cubicBezTo>
                <a:lnTo>
                  <a:pt x="171450" y="144259"/>
                </a:lnTo>
                <a:cubicBezTo>
                  <a:pt x="187211" y="144259"/>
                  <a:pt x="200025" y="157073"/>
                  <a:pt x="200025" y="172834"/>
                </a:cubicBezTo>
                <a:lnTo>
                  <a:pt x="200025" y="187121"/>
                </a:lnTo>
                <a:cubicBezTo>
                  <a:pt x="200025" y="202882"/>
                  <a:pt x="187211" y="215697"/>
                  <a:pt x="171450" y="215697"/>
                </a:cubicBezTo>
                <a:lnTo>
                  <a:pt x="28575" y="215697"/>
                </a:lnTo>
                <a:cubicBezTo>
                  <a:pt x="12814" y="215697"/>
                  <a:pt x="0" y="202882"/>
                  <a:pt x="0" y="187121"/>
                </a:cubicBezTo>
                <a:lnTo>
                  <a:pt x="0" y="172834"/>
                </a:lnTo>
                <a:cubicBezTo>
                  <a:pt x="0" y="157073"/>
                  <a:pt x="12814" y="144259"/>
                  <a:pt x="28575" y="144259"/>
                </a:cubicBezTo>
                <a:lnTo>
                  <a:pt x="64294" y="144259"/>
                </a:lnTo>
                <a:cubicBezTo>
                  <a:pt x="64294" y="163994"/>
                  <a:pt x="80278" y="179978"/>
                  <a:pt x="100013" y="179978"/>
                </a:cubicBezTo>
                <a:close/>
                <a:moveTo>
                  <a:pt x="164306" y="190693"/>
                </a:moveTo>
                <a:cubicBezTo>
                  <a:pt x="170219" y="190693"/>
                  <a:pt x="175023" y="185892"/>
                  <a:pt x="175023" y="179978"/>
                </a:cubicBezTo>
                <a:cubicBezTo>
                  <a:pt x="175023" y="174065"/>
                  <a:pt x="170219" y="169261"/>
                  <a:pt x="164306" y="169261"/>
                </a:cubicBezTo>
                <a:cubicBezTo>
                  <a:pt x="158392" y="169261"/>
                  <a:pt x="153591" y="174065"/>
                  <a:pt x="153591" y="179978"/>
                </a:cubicBezTo>
                <a:cubicBezTo>
                  <a:pt x="153591" y="185892"/>
                  <a:pt x="158392" y="190693"/>
                  <a:pt x="164306" y="19069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custDataLst>
              <p:tags r:id="rId39"/>
            </p:custDataLst>
          </p:nvPr>
        </p:nvSpPr>
        <p:spPr>
          <a:xfrm>
            <a:off x="9234313" y="4724000"/>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tl.store</a:t>
            </a:r>
            <a:endParaRPr lang="en-US" sz="16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2" name="AutoShape 42"/>
          <p:cNvSpPr/>
          <p:nvPr>
            <p:custDataLst>
              <p:tags r:id="rId40"/>
            </p:custDataLst>
          </p:nvPr>
        </p:nvSpPr>
        <p:spPr>
          <a:xfrm>
            <a:off x="9243838" y="513674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Écrit des données dans la mémoire globale, supporte la protection par mask</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7331" y="591438"/>
            <a:ext cx="11652454" cy="34809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01828"/>
                </a:solidFill>
                <a:latin typeface="Calibri" panose="020F0502020204030204"/>
                <a:ea typeface="微软雅黑" panose="020B0503020204020204" charset="-122"/>
                <a:cs typeface="微软雅黑" panose="020B0503020204020204" charset="-122"/>
                <a:sym typeface="微软雅黑" panose="020B0503020204020204" charset="-122"/>
              </a:rPr>
              <a:t>Ressources connexes</a:t>
            </a:r>
            <a:endParaRPr lang="en-US" sz="2800"/>
          </a:p>
        </p:txBody>
      </p:sp>
      <p:sp>
        <p:nvSpPr>
          <p:cNvPr id="3" name="Freeform 3"/>
          <p:cNvSpPr/>
          <p:nvPr/>
        </p:nvSpPr>
        <p:spPr>
          <a:xfrm>
            <a:off x="348054" y="1287694"/>
            <a:ext cx="5604317" cy="3654989"/>
          </a:xfrm>
          <a:custGeom>
            <a:avLst/>
            <a:gdLst/>
            <a:ahLst/>
            <a:cxnLst/>
            <a:rect l="l" t="t" r="r" b="b"/>
            <a:pathLst>
              <a:path w="5604317" h="3654989">
                <a:moveTo>
                  <a:pt x="104423" y="0"/>
                </a:moveTo>
                <a:lnTo>
                  <a:pt x="5499894" y="0"/>
                </a:lnTo>
                <a:cubicBezTo>
                  <a:pt x="5557564" y="0"/>
                  <a:pt x="5604317" y="46753"/>
                  <a:pt x="5604317" y="104423"/>
                </a:cubicBezTo>
                <a:lnTo>
                  <a:pt x="5604317" y="3550566"/>
                </a:lnTo>
                <a:cubicBezTo>
                  <a:pt x="5604317" y="3608238"/>
                  <a:pt x="5557564" y="3654989"/>
                  <a:pt x="5499894" y="3654989"/>
                </a:cubicBezTo>
                <a:lnTo>
                  <a:pt x="104423" y="3654989"/>
                </a:lnTo>
                <a:cubicBezTo>
                  <a:pt x="46753" y="3654989"/>
                  <a:pt x="0" y="3608238"/>
                  <a:pt x="0" y="3550566"/>
                </a:cubicBezTo>
                <a:lnTo>
                  <a:pt x="0" y="104423"/>
                </a:lnTo>
                <a:cubicBezTo>
                  <a:pt x="0" y="46791"/>
                  <a:pt x="46791" y="0"/>
                  <a:pt x="10442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56886" y="1496525"/>
            <a:ext cx="5291032" cy="2784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Sujets avancés</a:t>
            </a:r>
            <a:endPar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574204" y="1914127"/>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74204" y="1914127"/>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739416" y="2140270"/>
            <a:ext cx="130534" cy="174047"/>
          </a:xfrm>
          <a:custGeom>
            <a:avLst/>
            <a:gdLst/>
            <a:ahLst/>
            <a:cxnLst/>
            <a:rect l="l" t="t" r="r" b="b"/>
            <a:pathLst>
              <a:path w="130534" h="174047">
                <a:moveTo>
                  <a:pt x="21756" y="0"/>
                </a:moveTo>
                <a:cubicBezTo>
                  <a:pt x="9756" y="0"/>
                  <a:pt x="0" y="9756"/>
                  <a:pt x="0" y="21756"/>
                </a:cubicBezTo>
                <a:lnTo>
                  <a:pt x="0" y="152291"/>
                </a:lnTo>
                <a:cubicBezTo>
                  <a:pt x="0" y="164291"/>
                  <a:pt x="9756" y="174047"/>
                  <a:pt x="21756" y="174047"/>
                </a:cubicBezTo>
                <a:lnTo>
                  <a:pt x="108779" y="174047"/>
                </a:lnTo>
                <a:cubicBezTo>
                  <a:pt x="120780" y="174047"/>
                  <a:pt x="130534" y="164291"/>
                  <a:pt x="130534" y="152291"/>
                </a:cubicBezTo>
                <a:lnTo>
                  <a:pt x="130534" y="21756"/>
                </a:lnTo>
                <a:cubicBezTo>
                  <a:pt x="130534" y="9756"/>
                  <a:pt x="120780" y="0"/>
                  <a:pt x="108779" y="0"/>
                </a:cubicBezTo>
                <a:lnTo>
                  <a:pt x="21756" y="0"/>
                </a:lnTo>
                <a:close/>
                <a:moveTo>
                  <a:pt x="32634" y="21756"/>
                </a:moveTo>
                <a:lnTo>
                  <a:pt x="97900" y="21756"/>
                </a:lnTo>
                <a:cubicBezTo>
                  <a:pt x="103918" y="21756"/>
                  <a:pt x="108779" y="26617"/>
                  <a:pt x="108779" y="32634"/>
                </a:cubicBezTo>
                <a:lnTo>
                  <a:pt x="108779" y="43511"/>
                </a:lnTo>
                <a:cubicBezTo>
                  <a:pt x="108779" y="49529"/>
                  <a:pt x="103918" y="54390"/>
                  <a:pt x="97900" y="54390"/>
                </a:cubicBezTo>
                <a:lnTo>
                  <a:pt x="32634" y="54390"/>
                </a:lnTo>
                <a:cubicBezTo>
                  <a:pt x="26617" y="54390"/>
                  <a:pt x="21756" y="49529"/>
                  <a:pt x="21756" y="43511"/>
                </a:cubicBezTo>
                <a:lnTo>
                  <a:pt x="21756" y="32634"/>
                </a:lnTo>
                <a:cubicBezTo>
                  <a:pt x="21756" y="26617"/>
                  <a:pt x="26617" y="21756"/>
                  <a:pt x="32634" y="21756"/>
                </a:cubicBezTo>
                <a:close/>
                <a:moveTo>
                  <a:pt x="38073" y="78864"/>
                </a:moveTo>
                <a:cubicBezTo>
                  <a:pt x="38073" y="83368"/>
                  <a:pt x="34417" y="87024"/>
                  <a:pt x="29914" y="87024"/>
                </a:cubicBezTo>
                <a:cubicBezTo>
                  <a:pt x="25411" y="87024"/>
                  <a:pt x="21756" y="83368"/>
                  <a:pt x="21756" y="78864"/>
                </a:cubicBezTo>
                <a:cubicBezTo>
                  <a:pt x="21756" y="74362"/>
                  <a:pt x="25411" y="70707"/>
                  <a:pt x="29914" y="70707"/>
                </a:cubicBezTo>
                <a:cubicBezTo>
                  <a:pt x="34417" y="70707"/>
                  <a:pt x="38073" y="74362"/>
                  <a:pt x="38073" y="78864"/>
                </a:cubicBezTo>
                <a:close/>
                <a:moveTo>
                  <a:pt x="65268" y="87024"/>
                </a:moveTo>
                <a:cubicBezTo>
                  <a:pt x="60764" y="87024"/>
                  <a:pt x="57109" y="83368"/>
                  <a:pt x="57109" y="78864"/>
                </a:cubicBezTo>
                <a:cubicBezTo>
                  <a:pt x="57109" y="74362"/>
                  <a:pt x="60764" y="70707"/>
                  <a:pt x="65268" y="70707"/>
                </a:cubicBezTo>
                <a:cubicBezTo>
                  <a:pt x="69770" y="70707"/>
                  <a:pt x="73426" y="74362"/>
                  <a:pt x="73426" y="78864"/>
                </a:cubicBezTo>
                <a:cubicBezTo>
                  <a:pt x="73426" y="83368"/>
                  <a:pt x="69770" y="87024"/>
                  <a:pt x="65268" y="87024"/>
                </a:cubicBezTo>
                <a:close/>
                <a:moveTo>
                  <a:pt x="108779" y="78864"/>
                </a:moveTo>
                <a:cubicBezTo>
                  <a:pt x="108779" y="83368"/>
                  <a:pt x="105124" y="87024"/>
                  <a:pt x="100621" y="87024"/>
                </a:cubicBezTo>
                <a:cubicBezTo>
                  <a:pt x="96117" y="87024"/>
                  <a:pt x="92464" y="83368"/>
                  <a:pt x="92464" y="78864"/>
                </a:cubicBezTo>
                <a:cubicBezTo>
                  <a:pt x="92464" y="74362"/>
                  <a:pt x="96117" y="70707"/>
                  <a:pt x="100621" y="70707"/>
                </a:cubicBezTo>
                <a:cubicBezTo>
                  <a:pt x="105124" y="70707"/>
                  <a:pt x="108779" y="74362"/>
                  <a:pt x="108779" y="78864"/>
                </a:cubicBezTo>
                <a:close/>
                <a:moveTo>
                  <a:pt x="29914" y="119657"/>
                </a:moveTo>
                <a:cubicBezTo>
                  <a:pt x="25411" y="119657"/>
                  <a:pt x="21756" y="116002"/>
                  <a:pt x="21756" y="111498"/>
                </a:cubicBezTo>
                <a:cubicBezTo>
                  <a:pt x="21756" y="106996"/>
                  <a:pt x="25411" y="103340"/>
                  <a:pt x="29914" y="103340"/>
                </a:cubicBezTo>
                <a:cubicBezTo>
                  <a:pt x="34417" y="103340"/>
                  <a:pt x="38073" y="106996"/>
                  <a:pt x="38073" y="111498"/>
                </a:cubicBezTo>
                <a:cubicBezTo>
                  <a:pt x="38073" y="116002"/>
                  <a:pt x="34417" y="119657"/>
                  <a:pt x="29914" y="119657"/>
                </a:cubicBezTo>
                <a:close/>
                <a:moveTo>
                  <a:pt x="73426" y="111498"/>
                </a:moveTo>
                <a:cubicBezTo>
                  <a:pt x="73426" y="116002"/>
                  <a:pt x="69770" y="119657"/>
                  <a:pt x="65268" y="119657"/>
                </a:cubicBezTo>
                <a:cubicBezTo>
                  <a:pt x="60764" y="119657"/>
                  <a:pt x="57109" y="116002"/>
                  <a:pt x="57109" y="111498"/>
                </a:cubicBezTo>
                <a:cubicBezTo>
                  <a:pt x="57109" y="106996"/>
                  <a:pt x="60764" y="103340"/>
                  <a:pt x="65268" y="103340"/>
                </a:cubicBezTo>
                <a:cubicBezTo>
                  <a:pt x="69770" y="103340"/>
                  <a:pt x="73426" y="106996"/>
                  <a:pt x="73426" y="111498"/>
                </a:cubicBezTo>
                <a:close/>
                <a:moveTo>
                  <a:pt x="100621" y="119657"/>
                </a:moveTo>
                <a:cubicBezTo>
                  <a:pt x="96117" y="119657"/>
                  <a:pt x="92464" y="116002"/>
                  <a:pt x="92464" y="111498"/>
                </a:cubicBezTo>
                <a:cubicBezTo>
                  <a:pt x="92464" y="106996"/>
                  <a:pt x="96117" y="103340"/>
                  <a:pt x="100621" y="103340"/>
                </a:cubicBezTo>
                <a:cubicBezTo>
                  <a:pt x="105124" y="103340"/>
                  <a:pt x="108779" y="106996"/>
                  <a:pt x="108779" y="111498"/>
                </a:cubicBezTo>
                <a:cubicBezTo>
                  <a:pt x="108779" y="116002"/>
                  <a:pt x="105124" y="119657"/>
                  <a:pt x="100621" y="119657"/>
                </a:cubicBezTo>
                <a:close/>
                <a:moveTo>
                  <a:pt x="21756" y="144134"/>
                </a:moveTo>
                <a:cubicBezTo>
                  <a:pt x="21756" y="139612"/>
                  <a:pt x="25392" y="135974"/>
                  <a:pt x="29914" y="135974"/>
                </a:cubicBezTo>
                <a:lnTo>
                  <a:pt x="67987" y="135974"/>
                </a:lnTo>
                <a:cubicBezTo>
                  <a:pt x="72508" y="135974"/>
                  <a:pt x="76145" y="139612"/>
                  <a:pt x="76145" y="144134"/>
                </a:cubicBezTo>
                <a:cubicBezTo>
                  <a:pt x="76145" y="148654"/>
                  <a:pt x="72508" y="152291"/>
                  <a:pt x="67987" y="152291"/>
                </a:cubicBezTo>
                <a:lnTo>
                  <a:pt x="29914" y="152291"/>
                </a:lnTo>
                <a:cubicBezTo>
                  <a:pt x="25392" y="152291"/>
                  <a:pt x="21756" y="148654"/>
                  <a:pt x="21756" y="144134"/>
                </a:cubicBezTo>
                <a:close/>
                <a:moveTo>
                  <a:pt x="100621" y="135974"/>
                </a:moveTo>
                <a:cubicBezTo>
                  <a:pt x="105142" y="135974"/>
                  <a:pt x="108779" y="139612"/>
                  <a:pt x="108779" y="144134"/>
                </a:cubicBezTo>
                <a:cubicBezTo>
                  <a:pt x="108779" y="148654"/>
                  <a:pt x="105142" y="152291"/>
                  <a:pt x="100621" y="152291"/>
                </a:cubicBezTo>
                <a:cubicBezTo>
                  <a:pt x="96100" y="152291"/>
                  <a:pt x="92464" y="148654"/>
                  <a:pt x="92464" y="144134"/>
                </a:cubicBezTo>
                <a:cubicBezTo>
                  <a:pt x="92464" y="139612"/>
                  <a:pt x="96100" y="135974"/>
                  <a:pt x="100621" y="13597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17905" y="2018665"/>
            <a:ext cx="4432300"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Multiplication matricielle (MatMul)</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AutoShape 9"/>
          <p:cNvSpPr/>
          <p:nvPr/>
        </p:nvSpPr>
        <p:spPr>
          <a:xfrm>
            <a:off x="1017905" y="2331720"/>
            <a:ext cx="4257040" cy="1739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Apprendre la mémoire partagée, le calcul par tuiles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574204" y="2644938"/>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74204" y="2644938"/>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17660" y="2892845"/>
            <a:ext cx="174047" cy="130534"/>
          </a:xfrm>
          <a:custGeom>
            <a:avLst/>
            <a:gdLst/>
            <a:ahLst/>
            <a:cxnLst/>
            <a:rect l="l" t="t" r="r" b="b"/>
            <a:pathLst>
              <a:path w="174047" h="130534">
                <a:moveTo>
                  <a:pt x="21756" y="10878"/>
                </a:moveTo>
                <a:cubicBezTo>
                  <a:pt x="21756" y="4861"/>
                  <a:pt x="26617" y="0"/>
                  <a:pt x="32634" y="0"/>
                </a:cubicBezTo>
                <a:lnTo>
                  <a:pt x="87024" y="0"/>
                </a:lnTo>
                <a:cubicBezTo>
                  <a:pt x="93040" y="0"/>
                  <a:pt x="97900" y="4861"/>
                  <a:pt x="97900" y="10878"/>
                </a:cubicBezTo>
                <a:lnTo>
                  <a:pt x="97900" y="108778"/>
                </a:lnTo>
                <a:lnTo>
                  <a:pt x="130534" y="108778"/>
                </a:lnTo>
                <a:lnTo>
                  <a:pt x="130534" y="65268"/>
                </a:lnTo>
                <a:cubicBezTo>
                  <a:pt x="130534" y="59251"/>
                  <a:pt x="135396" y="54389"/>
                  <a:pt x="141413" y="54389"/>
                </a:cubicBezTo>
                <a:lnTo>
                  <a:pt x="163170" y="54389"/>
                </a:lnTo>
                <a:cubicBezTo>
                  <a:pt x="169186" y="54389"/>
                  <a:pt x="174047" y="59251"/>
                  <a:pt x="174047" y="65268"/>
                </a:cubicBezTo>
                <a:cubicBezTo>
                  <a:pt x="174047" y="71284"/>
                  <a:pt x="169186" y="76144"/>
                  <a:pt x="163170" y="76144"/>
                </a:cubicBezTo>
                <a:lnTo>
                  <a:pt x="152291" y="76144"/>
                </a:lnTo>
                <a:lnTo>
                  <a:pt x="152291" y="119657"/>
                </a:lnTo>
                <a:cubicBezTo>
                  <a:pt x="152291" y="125674"/>
                  <a:pt x="147430" y="130535"/>
                  <a:pt x="141413" y="130535"/>
                </a:cubicBezTo>
                <a:lnTo>
                  <a:pt x="87024" y="130535"/>
                </a:lnTo>
                <a:cubicBezTo>
                  <a:pt x="81007" y="130535"/>
                  <a:pt x="76145" y="125674"/>
                  <a:pt x="76145" y="119657"/>
                </a:cubicBezTo>
                <a:lnTo>
                  <a:pt x="76145" y="21755"/>
                </a:lnTo>
                <a:lnTo>
                  <a:pt x="43511" y="21755"/>
                </a:lnTo>
                <a:lnTo>
                  <a:pt x="43511" y="65268"/>
                </a:lnTo>
                <a:cubicBezTo>
                  <a:pt x="43511" y="71284"/>
                  <a:pt x="38651" y="76144"/>
                  <a:pt x="32634" y="76144"/>
                </a:cubicBezTo>
                <a:lnTo>
                  <a:pt x="10878" y="76144"/>
                </a:lnTo>
                <a:cubicBezTo>
                  <a:pt x="4862" y="76144"/>
                  <a:pt x="0" y="71284"/>
                  <a:pt x="0" y="65268"/>
                </a:cubicBezTo>
                <a:cubicBezTo>
                  <a:pt x="0" y="59251"/>
                  <a:pt x="4862" y="54389"/>
                  <a:pt x="10878" y="54389"/>
                </a:cubicBezTo>
                <a:lnTo>
                  <a:pt x="21756" y="54389"/>
                </a:lnTo>
                <a:lnTo>
                  <a:pt x="21756" y="1087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17905" y="2749550"/>
            <a:ext cx="4383405"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Softmax</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1017905" y="3062605"/>
            <a:ext cx="4208145" cy="1739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Comprendre les opérations de réduction, la stabilité numérique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574204" y="3375749"/>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574204" y="3375749"/>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717660" y="3601322"/>
            <a:ext cx="174047" cy="175203"/>
          </a:xfrm>
          <a:custGeom>
            <a:avLst/>
            <a:gdLst/>
            <a:ahLst/>
            <a:cxnLst/>
            <a:rect l="l" t="t" r="r" b="b"/>
            <a:pathLst>
              <a:path w="174047" h="175203">
                <a:moveTo>
                  <a:pt x="79035" y="2346"/>
                </a:moveTo>
                <a:cubicBezTo>
                  <a:pt x="84099" y="0"/>
                  <a:pt x="89946" y="0"/>
                  <a:pt x="95013" y="2346"/>
                </a:cubicBezTo>
                <a:lnTo>
                  <a:pt x="169321" y="36679"/>
                </a:lnTo>
                <a:cubicBezTo>
                  <a:pt x="172211" y="38005"/>
                  <a:pt x="174047" y="40894"/>
                  <a:pt x="174047" y="44089"/>
                </a:cubicBezTo>
                <a:cubicBezTo>
                  <a:pt x="174047" y="47285"/>
                  <a:pt x="172211" y="50175"/>
                  <a:pt x="169321" y="51500"/>
                </a:cubicBezTo>
                <a:lnTo>
                  <a:pt x="95013" y="85834"/>
                </a:lnTo>
                <a:cubicBezTo>
                  <a:pt x="89946" y="88179"/>
                  <a:pt x="84099" y="88179"/>
                  <a:pt x="79035" y="85834"/>
                </a:cubicBezTo>
                <a:lnTo>
                  <a:pt x="4724" y="51500"/>
                </a:lnTo>
                <a:cubicBezTo>
                  <a:pt x="1836" y="50141"/>
                  <a:pt x="0" y="47250"/>
                  <a:pt x="0" y="44089"/>
                </a:cubicBezTo>
                <a:cubicBezTo>
                  <a:pt x="0" y="40928"/>
                  <a:pt x="1836" y="38005"/>
                  <a:pt x="4724" y="36679"/>
                </a:cubicBezTo>
                <a:lnTo>
                  <a:pt x="79035" y="2346"/>
                </a:lnTo>
                <a:close/>
                <a:moveTo>
                  <a:pt x="16351" y="74820"/>
                </a:moveTo>
                <a:lnTo>
                  <a:pt x="72202" y="100621"/>
                </a:lnTo>
                <a:cubicBezTo>
                  <a:pt x="81619" y="104972"/>
                  <a:pt x="92464" y="104972"/>
                  <a:pt x="101879" y="100621"/>
                </a:cubicBezTo>
                <a:lnTo>
                  <a:pt x="157730" y="74820"/>
                </a:lnTo>
                <a:lnTo>
                  <a:pt x="169321" y="80190"/>
                </a:lnTo>
                <a:cubicBezTo>
                  <a:pt x="172211" y="81516"/>
                  <a:pt x="174047" y="84406"/>
                  <a:pt x="174047" y="87602"/>
                </a:cubicBezTo>
                <a:cubicBezTo>
                  <a:pt x="174047" y="90798"/>
                  <a:pt x="172211" y="93686"/>
                  <a:pt x="169321" y="95011"/>
                </a:cubicBezTo>
                <a:lnTo>
                  <a:pt x="95013" y="129346"/>
                </a:lnTo>
                <a:cubicBezTo>
                  <a:pt x="89946" y="131692"/>
                  <a:pt x="84099" y="131692"/>
                  <a:pt x="79035" y="129346"/>
                </a:cubicBezTo>
                <a:lnTo>
                  <a:pt x="4724" y="95011"/>
                </a:lnTo>
                <a:cubicBezTo>
                  <a:pt x="1836" y="93652"/>
                  <a:pt x="0" y="90763"/>
                  <a:pt x="0" y="87602"/>
                </a:cubicBezTo>
                <a:cubicBezTo>
                  <a:pt x="0" y="84440"/>
                  <a:pt x="1836" y="81516"/>
                  <a:pt x="4724" y="80190"/>
                </a:cubicBezTo>
                <a:lnTo>
                  <a:pt x="16317" y="74820"/>
                </a:lnTo>
                <a:close/>
                <a:moveTo>
                  <a:pt x="4724" y="123703"/>
                </a:moveTo>
                <a:lnTo>
                  <a:pt x="16317" y="118332"/>
                </a:lnTo>
                <a:lnTo>
                  <a:pt x="72168" y="144132"/>
                </a:lnTo>
                <a:cubicBezTo>
                  <a:pt x="81585" y="148483"/>
                  <a:pt x="92429" y="148483"/>
                  <a:pt x="101845" y="144132"/>
                </a:cubicBezTo>
                <a:lnTo>
                  <a:pt x="157696" y="118332"/>
                </a:lnTo>
                <a:lnTo>
                  <a:pt x="169288" y="123703"/>
                </a:lnTo>
                <a:cubicBezTo>
                  <a:pt x="172176" y="125028"/>
                  <a:pt x="174013" y="127918"/>
                  <a:pt x="174013" y="131112"/>
                </a:cubicBezTo>
                <a:cubicBezTo>
                  <a:pt x="174013" y="134309"/>
                  <a:pt x="172176" y="137198"/>
                  <a:pt x="169288" y="138524"/>
                </a:cubicBezTo>
                <a:lnTo>
                  <a:pt x="94978" y="172857"/>
                </a:lnTo>
                <a:cubicBezTo>
                  <a:pt x="89913" y="175203"/>
                  <a:pt x="84066" y="175203"/>
                  <a:pt x="79002" y="172857"/>
                </a:cubicBezTo>
                <a:lnTo>
                  <a:pt x="4724" y="138524"/>
                </a:lnTo>
                <a:cubicBezTo>
                  <a:pt x="1836" y="137164"/>
                  <a:pt x="0" y="134275"/>
                  <a:pt x="0" y="131112"/>
                </a:cubicBezTo>
                <a:cubicBezTo>
                  <a:pt x="0" y="127951"/>
                  <a:pt x="1836" y="125028"/>
                  <a:pt x="4724" y="12370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1017905" y="3480435"/>
            <a:ext cx="4383405"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LayerNorm</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AutoShape 19"/>
          <p:cNvSpPr/>
          <p:nvPr/>
        </p:nvSpPr>
        <p:spPr>
          <a:xfrm>
            <a:off x="1017905" y="3793490"/>
            <a:ext cx="4208145" cy="1739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Apprendre le calcul des statistiques, les opérations de diffusion</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574204" y="4106560"/>
            <a:ext cx="5169113" cy="626570"/>
          </a:xfrm>
          <a:custGeom>
            <a:avLst/>
            <a:gdLst/>
            <a:ahLst/>
            <a:cxnLst/>
            <a:rect l="l" t="t" r="r" b="b"/>
            <a:pathLst>
              <a:path w="5169113" h="626570">
                <a:moveTo>
                  <a:pt x="34635" y="0"/>
                </a:moveTo>
                <a:lnTo>
                  <a:pt x="5099494" y="0"/>
                </a:lnTo>
                <a:cubicBezTo>
                  <a:pt x="5137942" y="0"/>
                  <a:pt x="5169113" y="31170"/>
                  <a:pt x="5169113" y="69618"/>
                </a:cubicBezTo>
                <a:lnTo>
                  <a:pt x="5169113" y="556951"/>
                </a:lnTo>
                <a:cubicBezTo>
                  <a:pt x="5169113" y="595400"/>
                  <a:pt x="5137942" y="626570"/>
                  <a:pt x="5099494"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74204" y="4106560"/>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727620" y="4326422"/>
            <a:ext cx="154127" cy="186625"/>
          </a:xfrm>
          <a:custGeom>
            <a:avLst/>
            <a:gdLst/>
            <a:ahLst/>
            <a:cxnLst/>
            <a:rect l="l" t="t" r="r" b="b"/>
            <a:pathLst>
              <a:path w="154127" h="186625">
                <a:moveTo>
                  <a:pt x="116088" y="2924"/>
                </a:moveTo>
                <a:cubicBezTo>
                  <a:pt x="120133" y="5847"/>
                  <a:pt x="121629" y="11151"/>
                  <a:pt x="119794" y="15773"/>
                </a:cubicBezTo>
                <a:lnTo>
                  <a:pt x="93143" y="82434"/>
                </a:lnTo>
                <a:lnTo>
                  <a:pt x="142331" y="82434"/>
                </a:lnTo>
                <a:cubicBezTo>
                  <a:pt x="146920" y="82434"/>
                  <a:pt x="151000" y="85291"/>
                  <a:pt x="152564" y="89607"/>
                </a:cubicBezTo>
                <a:cubicBezTo>
                  <a:pt x="154127" y="93924"/>
                  <a:pt x="152801" y="98753"/>
                  <a:pt x="149300" y="101675"/>
                </a:cubicBezTo>
                <a:lnTo>
                  <a:pt x="51398" y="183260"/>
                </a:lnTo>
                <a:cubicBezTo>
                  <a:pt x="47557" y="186455"/>
                  <a:pt x="42084" y="186625"/>
                  <a:pt x="38039" y="183700"/>
                </a:cubicBezTo>
                <a:cubicBezTo>
                  <a:pt x="33994" y="180778"/>
                  <a:pt x="32498" y="175475"/>
                  <a:pt x="34334" y="170852"/>
                </a:cubicBezTo>
                <a:lnTo>
                  <a:pt x="60985" y="104189"/>
                </a:lnTo>
                <a:lnTo>
                  <a:pt x="11796" y="104189"/>
                </a:lnTo>
                <a:cubicBezTo>
                  <a:pt x="7207" y="104189"/>
                  <a:pt x="3128" y="101335"/>
                  <a:pt x="1564" y="97018"/>
                </a:cubicBezTo>
                <a:cubicBezTo>
                  <a:pt x="0" y="92701"/>
                  <a:pt x="1326" y="87874"/>
                  <a:pt x="4827" y="84950"/>
                </a:cubicBezTo>
                <a:lnTo>
                  <a:pt x="102729" y="3365"/>
                </a:lnTo>
                <a:cubicBezTo>
                  <a:pt x="106571" y="170"/>
                  <a:pt x="112043" y="0"/>
                  <a:pt x="116088" y="292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1017905" y="4210685"/>
            <a:ext cx="4406900"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Flash Attention</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1017905" y="4524375"/>
            <a:ext cx="4232910" cy="1739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Optimisation mémoire avancée, noyaux fusionnés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Freeform 25"/>
          <p:cNvSpPr/>
          <p:nvPr/>
        </p:nvSpPr>
        <p:spPr>
          <a:xfrm>
            <a:off x="6234726" y="1287694"/>
            <a:ext cx="5604317" cy="3654989"/>
          </a:xfrm>
          <a:custGeom>
            <a:avLst/>
            <a:gdLst/>
            <a:ahLst/>
            <a:cxnLst/>
            <a:rect l="l" t="t" r="r" b="b"/>
            <a:pathLst>
              <a:path w="5604317" h="3654989">
                <a:moveTo>
                  <a:pt x="104423" y="0"/>
                </a:moveTo>
                <a:lnTo>
                  <a:pt x="5499894" y="0"/>
                </a:lnTo>
                <a:cubicBezTo>
                  <a:pt x="5557564" y="0"/>
                  <a:pt x="5604317" y="46753"/>
                  <a:pt x="5604317" y="104423"/>
                </a:cubicBezTo>
                <a:lnTo>
                  <a:pt x="5604317" y="3550566"/>
                </a:lnTo>
                <a:cubicBezTo>
                  <a:pt x="5604317" y="3608238"/>
                  <a:pt x="5557564" y="3654989"/>
                  <a:pt x="5499894" y="3654989"/>
                </a:cubicBezTo>
                <a:lnTo>
                  <a:pt x="104423" y="3654989"/>
                </a:lnTo>
                <a:cubicBezTo>
                  <a:pt x="46753" y="3654989"/>
                  <a:pt x="0" y="3608238"/>
                  <a:pt x="0" y="3550566"/>
                </a:cubicBezTo>
                <a:lnTo>
                  <a:pt x="0" y="104423"/>
                </a:lnTo>
                <a:cubicBezTo>
                  <a:pt x="0" y="46791"/>
                  <a:pt x="46791" y="0"/>
                  <a:pt x="10442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443558" y="1565863"/>
            <a:ext cx="5291032" cy="27847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Ressources recommandées</a:t>
            </a:r>
            <a:endParaRPr lang="en-US" sz="1800"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6443558" y="1983466"/>
            <a:ext cx="5186604" cy="800617"/>
          </a:xfrm>
          <a:custGeom>
            <a:avLst/>
            <a:gdLst/>
            <a:ahLst/>
            <a:cxnLst/>
            <a:rect l="l" t="t" r="r" b="b"/>
            <a:pathLst>
              <a:path w="5186604" h="800617">
                <a:moveTo>
                  <a:pt x="69621" y="0"/>
                </a:moveTo>
                <a:lnTo>
                  <a:pt x="5116982" y="0"/>
                </a:lnTo>
                <a:cubicBezTo>
                  <a:pt x="5155433" y="0"/>
                  <a:pt x="5186604" y="31171"/>
                  <a:pt x="5186604" y="69621"/>
                </a:cubicBezTo>
                <a:lnTo>
                  <a:pt x="5186604" y="730995"/>
                </a:lnTo>
                <a:cubicBezTo>
                  <a:pt x="5186604" y="769446"/>
                  <a:pt x="5155433" y="800617"/>
                  <a:pt x="5116982" y="800617"/>
                </a:cubicBezTo>
                <a:lnTo>
                  <a:pt x="69621" y="800617"/>
                </a:lnTo>
                <a:cubicBezTo>
                  <a:pt x="31196" y="800617"/>
                  <a:pt x="0" y="769421"/>
                  <a:pt x="0" y="730995"/>
                </a:cubicBezTo>
                <a:lnTo>
                  <a:pt x="0" y="69621"/>
                </a:lnTo>
                <a:cubicBezTo>
                  <a:pt x="0" y="31196"/>
                  <a:pt x="31196" y="0"/>
                  <a:pt x="6962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6615414" y="2157453"/>
            <a:ext cx="152291" cy="174047"/>
          </a:xfrm>
          <a:custGeom>
            <a:avLst/>
            <a:gdLst/>
            <a:ahLst/>
            <a:cxnLst/>
            <a:rect l="l" t="t" r="r" b="b"/>
            <a:pathLst>
              <a:path w="152291" h="174047">
                <a:moveTo>
                  <a:pt x="130534" y="174047"/>
                </a:moveTo>
                <a:lnTo>
                  <a:pt x="32634" y="174047"/>
                </a:lnTo>
                <a:cubicBezTo>
                  <a:pt x="14616" y="174047"/>
                  <a:pt x="0" y="159429"/>
                  <a:pt x="0" y="141413"/>
                </a:cubicBezTo>
                <a:lnTo>
                  <a:pt x="0" y="32634"/>
                </a:lnTo>
                <a:cubicBezTo>
                  <a:pt x="0" y="14616"/>
                  <a:pt x="14616" y="0"/>
                  <a:pt x="32634" y="0"/>
                </a:cubicBezTo>
                <a:lnTo>
                  <a:pt x="135974" y="0"/>
                </a:lnTo>
                <a:cubicBezTo>
                  <a:pt x="144983" y="0"/>
                  <a:pt x="152291" y="7309"/>
                  <a:pt x="152291" y="16317"/>
                </a:cubicBezTo>
                <a:lnTo>
                  <a:pt x="152291" y="114217"/>
                </a:lnTo>
                <a:cubicBezTo>
                  <a:pt x="152291" y="121323"/>
                  <a:pt x="147737" y="127373"/>
                  <a:pt x="141413" y="129617"/>
                </a:cubicBezTo>
                <a:lnTo>
                  <a:pt x="141413" y="152291"/>
                </a:lnTo>
                <a:cubicBezTo>
                  <a:pt x="147430" y="152291"/>
                  <a:pt x="152291" y="157152"/>
                  <a:pt x="152291" y="163170"/>
                </a:cubicBezTo>
                <a:cubicBezTo>
                  <a:pt x="152291" y="169186"/>
                  <a:pt x="147430" y="174047"/>
                  <a:pt x="141413" y="174047"/>
                </a:cubicBezTo>
                <a:lnTo>
                  <a:pt x="130534" y="174047"/>
                </a:lnTo>
                <a:close/>
                <a:moveTo>
                  <a:pt x="32634" y="130534"/>
                </a:moveTo>
                <a:cubicBezTo>
                  <a:pt x="26617" y="130534"/>
                  <a:pt x="21756" y="135396"/>
                  <a:pt x="21756" y="141413"/>
                </a:cubicBezTo>
                <a:cubicBezTo>
                  <a:pt x="21756" y="147430"/>
                  <a:pt x="26617" y="152291"/>
                  <a:pt x="32634" y="152291"/>
                </a:cubicBezTo>
                <a:lnTo>
                  <a:pt x="119657" y="152291"/>
                </a:lnTo>
                <a:lnTo>
                  <a:pt x="119657" y="130534"/>
                </a:lnTo>
                <a:lnTo>
                  <a:pt x="32634" y="130534"/>
                </a:lnTo>
                <a:close/>
                <a:moveTo>
                  <a:pt x="43511" y="51670"/>
                </a:moveTo>
                <a:cubicBezTo>
                  <a:pt x="43511" y="56191"/>
                  <a:pt x="47149" y="59828"/>
                  <a:pt x="51670" y="59828"/>
                </a:cubicBezTo>
                <a:lnTo>
                  <a:pt x="111498" y="59828"/>
                </a:lnTo>
                <a:cubicBezTo>
                  <a:pt x="116020" y="59828"/>
                  <a:pt x="119657" y="56191"/>
                  <a:pt x="119657" y="51670"/>
                </a:cubicBezTo>
                <a:cubicBezTo>
                  <a:pt x="119657" y="47149"/>
                  <a:pt x="116020" y="43511"/>
                  <a:pt x="111498" y="43511"/>
                </a:cubicBezTo>
                <a:lnTo>
                  <a:pt x="51670" y="43511"/>
                </a:lnTo>
                <a:cubicBezTo>
                  <a:pt x="47149" y="43511"/>
                  <a:pt x="43511" y="47149"/>
                  <a:pt x="43511" y="51670"/>
                </a:cubicBezTo>
                <a:close/>
                <a:moveTo>
                  <a:pt x="51670" y="76145"/>
                </a:moveTo>
                <a:cubicBezTo>
                  <a:pt x="47149" y="76145"/>
                  <a:pt x="43511" y="79783"/>
                  <a:pt x="43511" y="84304"/>
                </a:cubicBezTo>
                <a:cubicBezTo>
                  <a:pt x="43511" y="88825"/>
                  <a:pt x="47149" y="92464"/>
                  <a:pt x="51670" y="92464"/>
                </a:cubicBezTo>
                <a:lnTo>
                  <a:pt x="111498" y="92464"/>
                </a:lnTo>
                <a:cubicBezTo>
                  <a:pt x="116020" y="92464"/>
                  <a:pt x="119657" y="88825"/>
                  <a:pt x="119657" y="84304"/>
                </a:cubicBezTo>
                <a:cubicBezTo>
                  <a:pt x="119657" y="79783"/>
                  <a:pt x="116020" y="76145"/>
                  <a:pt x="111498" y="76145"/>
                </a:cubicBezTo>
                <a:lnTo>
                  <a:pt x="51670" y="7614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6904990" y="2122805"/>
            <a:ext cx="3630930"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Documentation officielle</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6582780" y="2505821"/>
            <a:ext cx="4977747"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https://triton-lang.org/main/index.html</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Freeform 31"/>
          <p:cNvSpPr/>
          <p:nvPr/>
        </p:nvSpPr>
        <p:spPr>
          <a:xfrm>
            <a:off x="6443558" y="2923244"/>
            <a:ext cx="5186604" cy="800617"/>
          </a:xfrm>
          <a:custGeom>
            <a:avLst/>
            <a:gdLst/>
            <a:ahLst/>
            <a:cxnLst/>
            <a:rect l="l" t="t" r="r" b="b"/>
            <a:pathLst>
              <a:path w="5186604" h="800617">
                <a:moveTo>
                  <a:pt x="69621" y="0"/>
                </a:moveTo>
                <a:lnTo>
                  <a:pt x="5116982" y="0"/>
                </a:lnTo>
                <a:cubicBezTo>
                  <a:pt x="5155433" y="0"/>
                  <a:pt x="5186604" y="31171"/>
                  <a:pt x="5186604" y="69621"/>
                </a:cubicBezTo>
                <a:lnTo>
                  <a:pt x="5186604" y="730995"/>
                </a:lnTo>
                <a:cubicBezTo>
                  <a:pt x="5186604" y="769446"/>
                  <a:pt x="5155433" y="800617"/>
                  <a:pt x="5116982" y="800617"/>
                </a:cubicBezTo>
                <a:lnTo>
                  <a:pt x="69621" y="800617"/>
                </a:lnTo>
                <a:cubicBezTo>
                  <a:pt x="31196" y="800617"/>
                  <a:pt x="0" y="769421"/>
                  <a:pt x="0" y="730995"/>
                </a:cubicBezTo>
                <a:lnTo>
                  <a:pt x="0" y="69621"/>
                </a:lnTo>
                <a:cubicBezTo>
                  <a:pt x="0" y="31196"/>
                  <a:pt x="31196" y="0"/>
                  <a:pt x="6962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593658" y="3108109"/>
            <a:ext cx="195804" cy="152292"/>
          </a:xfrm>
          <a:custGeom>
            <a:avLst/>
            <a:gdLst/>
            <a:ahLst/>
            <a:cxnLst/>
            <a:rect l="l" t="t" r="r" b="b"/>
            <a:pathLst>
              <a:path w="195804" h="152292">
                <a:moveTo>
                  <a:pt x="16317" y="55681"/>
                </a:moveTo>
                <a:lnTo>
                  <a:pt x="87431" y="84950"/>
                </a:lnTo>
                <a:cubicBezTo>
                  <a:pt x="90763" y="86310"/>
                  <a:pt x="94298" y="87022"/>
                  <a:pt x="97900" y="87022"/>
                </a:cubicBezTo>
                <a:cubicBezTo>
                  <a:pt x="101505" y="87022"/>
                  <a:pt x="105040" y="86310"/>
                  <a:pt x="108372" y="84950"/>
                </a:cubicBezTo>
                <a:lnTo>
                  <a:pt x="190772" y="51024"/>
                </a:lnTo>
                <a:cubicBezTo>
                  <a:pt x="193831" y="49767"/>
                  <a:pt x="195804" y="46809"/>
                  <a:pt x="195804" y="43512"/>
                </a:cubicBezTo>
                <a:cubicBezTo>
                  <a:pt x="195804" y="40214"/>
                  <a:pt x="193831" y="37258"/>
                  <a:pt x="190772" y="35999"/>
                </a:cubicBezTo>
                <a:lnTo>
                  <a:pt x="108372" y="2073"/>
                </a:lnTo>
                <a:cubicBezTo>
                  <a:pt x="105040" y="715"/>
                  <a:pt x="101505" y="0"/>
                  <a:pt x="97900" y="0"/>
                </a:cubicBezTo>
                <a:cubicBezTo>
                  <a:pt x="94298" y="0"/>
                  <a:pt x="90763" y="715"/>
                  <a:pt x="87431" y="2073"/>
                </a:cubicBezTo>
                <a:lnTo>
                  <a:pt x="5030" y="35999"/>
                </a:lnTo>
                <a:cubicBezTo>
                  <a:pt x="1972" y="37258"/>
                  <a:pt x="0" y="40214"/>
                  <a:pt x="0" y="43512"/>
                </a:cubicBezTo>
                <a:lnTo>
                  <a:pt x="0" y="144133"/>
                </a:lnTo>
                <a:cubicBezTo>
                  <a:pt x="0" y="148654"/>
                  <a:pt x="3637" y="152292"/>
                  <a:pt x="8158" y="152292"/>
                </a:cubicBezTo>
                <a:cubicBezTo>
                  <a:pt x="12680" y="152292"/>
                  <a:pt x="16317" y="148654"/>
                  <a:pt x="16317" y="144133"/>
                </a:cubicBezTo>
                <a:lnTo>
                  <a:pt x="16317" y="55681"/>
                </a:lnTo>
                <a:close/>
                <a:moveTo>
                  <a:pt x="32634" y="80055"/>
                </a:moveTo>
                <a:lnTo>
                  <a:pt x="32634" y="119656"/>
                </a:lnTo>
                <a:cubicBezTo>
                  <a:pt x="32634" y="137674"/>
                  <a:pt x="61868" y="152292"/>
                  <a:pt x="97900" y="152292"/>
                </a:cubicBezTo>
                <a:cubicBezTo>
                  <a:pt x="133935" y="152292"/>
                  <a:pt x="163170" y="137674"/>
                  <a:pt x="163170" y="119656"/>
                </a:cubicBezTo>
                <a:lnTo>
                  <a:pt x="163170" y="80021"/>
                </a:lnTo>
                <a:lnTo>
                  <a:pt x="114592" y="100043"/>
                </a:lnTo>
                <a:cubicBezTo>
                  <a:pt x="109289" y="102219"/>
                  <a:pt x="103646" y="103339"/>
                  <a:pt x="97900" y="103339"/>
                </a:cubicBezTo>
                <a:cubicBezTo>
                  <a:pt x="92158" y="103339"/>
                  <a:pt x="86514" y="102219"/>
                  <a:pt x="81211" y="100043"/>
                </a:cubicBezTo>
                <a:lnTo>
                  <a:pt x="32634" y="80021"/>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904990" y="3062605"/>
            <a:ext cx="3021330"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Tutoriels officiels</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6582780" y="3445599"/>
            <a:ext cx="4977747"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https://triton-lang.org/main/getting-started/tutorials/</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Freeform 35"/>
          <p:cNvSpPr/>
          <p:nvPr/>
        </p:nvSpPr>
        <p:spPr>
          <a:xfrm>
            <a:off x="6443558" y="3863021"/>
            <a:ext cx="5186604" cy="800617"/>
          </a:xfrm>
          <a:custGeom>
            <a:avLst/>
            <a:gdLst/>
            <a:ahLst/>
            <a:cxnLst/>
            <a:rect l="l" t="t" r="r" b="b"/>
            <a:pathLst>
              <a:path w="5186604" h="800617">
                <a:moveTo>
                  <a:pt x="69621" y="0"/>
                </a:moveTo>
                <a:lnTo>
                  <a:pt x="5116982" y="0"/>
                </a:lnTo>
                <a:cubicBezTo>
                  <a:pt x="5155433" y="0"/>
                  <a:pt x="5186604" y="31171"/>
                  <a:pt x="5186604" y="69621"/>
                </a:cubicBezTo>
                <a:lnTo>
                  <a:pt x="5186604" y="730995"/>
                </a:lnTo>
                <a:cubicBezTo>
                  <a:pt x="5186604" y="769446"/>
                  <a:pt x="5155433" y="800617"/>
                  <a:pt x="5116982" y="800617"/>
                </a:cubicBezTo>
                <a:lnTo>
                  <a:pt x="69621" y="800617"/>
                </a:lnTo>
                <a:cubicBezTo>
                  <a:pt x="31196" y="800617"/>
                  <a:pt x="0" y="769421"/>
                  <a:pt x="0" y="730995"/>
                </a:cubicBezTo>
                <a:lnTo>
                  <a:pt x="0" y="69621"/>
                </a:lnTo>
                <a:cubicBezTo>
                  <a:pt x="0" y="31196"/>
                  <a:pt x="31196" y="0"/>
                  <a:pt x="6962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6607255" y="4039737"/>
            <a:ext cx="168609" cy="165039"/>
          </a:xfrm>
          <a:custGeom>
            <a:avLst/>
            <a:gdLst/>
            <a:ahLst/>
            <a:cxnLst/>
            <a:rect l="l" t="t" r="r" b="b"/>
            <a:pathLst>
              <a:path w="168609" h="165039">
                <a:moveTo>
                  <a:pt x="56396" y="132371"/>
                </a:moveTo>
                <a:cubicBezTo>
                  <a:pt x="56396" y="133052"/>
                  <a:pt x="55613" y="133595"/>
                  <a:pt x="54628" y="133595"/>
                </a:cubicBezTo>
                <a:cubicBezTo>
                  <a:pt x="53506" y="133697"/>
                  <a:pt x="52725" y="133153"/>
                  <a:pt x="52725" y="132371"/>
                </a:cubicBezTo>
                <a:cubicBezTo>
                  <a:pt x="52725" y="131691"/>
                  <a:pt x="53506" y="131148"/>
                  <a:pt x="54492" y="131148"/>
                </a:cubicBezTo>
                <a:cubicBezTo>
                  <a:pt x="55512" y="131046"/>
                  <a:pt x="56396" y="131590"/>
                  <a:pt x="56396" y="132371"/>
                </a:cubicBezTo>
                <a:close/>
                <a:moveTo>
                  <a:pt x="45824" y="130842"/>
                </a:moveTo>
                <a:cubicBezTo>
                  <a:pt x="45585" y="131523"/>
                  <a:pt x="46266" y="132304"/>
                  <a:pt x="47286" y="132507"/>
                </a:cubicBezTo>
                <a:cubicBezTo>
                  <a:pt x="48169" y="132847"/>
                  <a:pt x="49188" y="132507"/>
                  <a:pt x="49393" y="131829"/>
                </a:cubicBezTo>
                <a:cubicBezTo>
                  <a:pt x="49597" y="131148"/>
                  <a:pt x="48951" y="130366"/>
                  <a:pt x="47931" y="130059"/>
                </a:cubicBezTo>
                <a:cubicBezTo>
                  <a:pt x="47048" y="129822"/>
                  <a:pt x="46062" y="130162"/>
                  <a:pt x="45824" y="130842"/>
                </a:cubicBezTo>
                <a:close/>
                <a:moveTo>
                  <a:pt x="60850" y="130264"/>
                </a:moveTo>
                <a:cubicBezTo>
                  <a:pt x="59863" y="130501"/>
                  <a:pt x="59183" y="131148"/>
                  <a:pt x="59285" y="131930"/>
                </a:cubicBezTo>
                <a:cubicBezTo>
                  <a:pt x="59387" y="132608"/>
                  <a:pt x="60270" y="133052"/>
                  <a:pt x="61292" y="132813"/>
                </a:cubicBezTo>
                <a:cubicBezTo>
                  <a:pt x="62277" y="132575"/>
                  <a:pt x="62957" y="131930"/>
                  <a:pt x="62855" y="131249"/>
                </a:cubicBezTo>
                <a:cubicBezTo>
                  <a:pt x="62753" y="130604"/>
                  <a:pt x="61835" y="130162"/>
                  <a:pt x="60850" y="130264"/>
                </a:cubicBezTo>
                <a:close/>
                <a:moveTo>
                  <a:pt x="83217" y="0"/>
                </a:moveTo>
                <a:cubicBezTo>
                  <a:pt x="36068" y="0"/>
                  <a:pt x="0" y="35796"/>
                  <a:pt x="0" y="82945"/>
                </a:cubicBezTo>
                <a:cubicBezTo>
                  <a:pt x="0" y="120644"/>
                  <a:pt x="23727" y="152904"/>
                  <a:pt x="57620" y="164257"/>
                </a:cubicBezTo>
                <a:cubicBezTo>
                  <a:pt x="61971" y="165039"/>
                  <a:pt x="63500" y="162354"/>
                  <a:pt x="63500" y="160145"/>
                </a:cubicBezTo>
                <a:cubicBezTo>
                  <a:pt x="63500" y="158038"/>
                  <a:pt x="63398" y="146411"/>
                  <a:pt x="63398" y="139272"/>
                </a:cubicBezTo>
                <a:cubicBezTo>
                  <a:pt x="63398" y="139272"/>
                  <a:pt x="39602" y="144371"/>
                  <a:pt x="34606" y="129143"/>
                </a:cubicBezTo>
                <a:cubicBezTo>
                  <a:pt x="34606" y="129143"/>
                  <a:pt x="30732" y="119251"/>
                  <a:pt x="25156" y="116700"/>
                </a:cubicBezTo>
                <a:cubicBezTo>
                  <a:pt x="25156" y="116700"/>
                  <a:pt x="17371" y="111363"/>
                  <a:pt x="25700" y="111465"/>
                </a:cubicBezTo>
                <a:cubicBezTo>
                  <a:pt x="25700" y="111465"/>
                  <a:pt x="34164" y="112145"/>
                  <a:pt x="38821" y="120236"/>
                </a:cubicBezTo>
                <a:cubicBezTo>
                  <a:pt x="46266" y="133356"/>
                  <a:pt x="58741" y="129585"/>
                  <a:pt x="63602" y="127340"/>
                </a:cubicBezTo>
                <a:cubicBezTo>
                  <a:pt x="64384" y="121901"/>
                  <a:pt x="66594" y="118128"/>
                  <a:pt x="69041" y="115885"/>
                </a:cubicBezTo>
                <a:cubicBezTo>
                  <a:pt x="50039" y="113777"/>
                  <a:pt x="30867" y="111023"/>
                  <a:pt x="30867" y="78322"/>
                </a:cubicBezTo>
                <a:cubicBezTo>
                  <a:pt x="30867" y="68973"/>
                  <a:pt x="33451" y="64282"/>
                  <a:pt x="38889" y="58299"/>
                </a:cubicBezTo>
                <a:cubicBezTo>
                  <a:pt x="38005" y="56090"/>
                  <a:pt x="35116" y="46980"/>
                  <a:pt x="39773" y="35218"/>
                </a:cubicBezTo>
                <a:cubicBezTo>
                  <a:pt x="46878" y="33007"/>
                  <a:pt x="63230" y="44395"/>
                  <a:pt x="63230" y="44395"/>
                </a:cubicBezTo>
                <a:cubicBezTo>
                  <a:pt x="70027" y="42492"/>
                  <a:pt x="77335" y="41507"/>
                  <a:pt x="84577" y="41507"/>
                </a:cubicBezTo>
                <a:cubicBezTo>
                  <a:pt x="91817" y="41507"/>
                  <a:pt x="99126" y="42492"/>
                  <a:pt x="105924" y="44395"/>
                </a:cubicBezTo>
                <a:cubicBezTo>
                  <a:pt x="105924" y="44395"/>
                  <a:pt x="122274" y="32974"/>
                  <a:pt x="129380" y="35218"/>
                </a:cubicBezTo>
                <a:cubicBezTo>
                  <a:pt x="134037" y="47014"/>
                  <a:pt x="131148" y="56090"/>
                  <a:pt x="130264" y="58299"/>
                </a:cubicBezTo>
                <a:cubicBezTo>
                  <a:pt x="135703" y="64315"/>
                  <a:pt x="139035" y="69007"/>
                  <a:pt x="139035" y="78322"/>
                </a:cubicBezTo>
                <a:cubicBezTo>
                  <a:pt x="139035" y="111125"/>
                  <a:pt x="119012" y="113743"/>
                  <a:pt x="100010" y="115885"/>
                </a:cubicBezTo>
                <a:cubicBezTo>
                  <a:pt x="103137" y="118570"/>
                  <a:pt x="105789" y="123669"/>
                  <a:pt x="105789" y="131658"/>
                </a:cubicBezTo>
                <a:cubicBezTo>
                  <a:pt x="105789" y="143113"/>
                  <a:pt x="105687" y="157290"/>
                  <a:pt x="105687" y="160076"/>
                </a:cubicBezTo>
                <a:cubicBezTo>
                  <a:pt x="105687" y="162286"/>
                  <a:pt x="107250" y="164971"/>
                  <a:pt x="111567" y="164189"/>
                </a:cubicBezTo>
                <a:cubicBezTo>
                  <a:pt x="145561" y="152904"/>
                  <a:pt x="168609" y="120644"/>
                  <a:pt x="168609" y="82945"/>
                </a:cubicBezTo>
                <a:cubicBezTo>
                  <a:pt x="168609" y="35796"/>
                  <a:pt x="130366" y="0"/>
                  <a:pt x="83217" y="0"/>
                </a:cubicBezTo>
                <a:close/>
                <a:moveTo>
                  <a:pt x="33042" y="117244"/>
                </a:moveTo>
                <a:cubicBezTo>
                  <a:pt x="32600" y="117584"/>
                  <a:pt x="32703" y="118367"/>
                  <a:pt x="33280" y="119012"/>
                </a:cubicBezTo>
                <a:cubicBezTo>
                  <a:pt x="33824" y="119557"/>
                  <a:pt x="34606" y="119794"/>
                  <a:pt x="35048" y="119352"/>
                </a:cubicBezTo>
                <a:cubicBezTo>
                  <a:pt x="35490" y="119012"/>
                  <a:pt x="35389" y="118229"/>
                  <a:pt x="34809" y="117584"/>
                </a:cubicBezTo>
                <a:cubicBezTo>
                  <a:pt x="34266" y="117039"/>
                  <a:pt x="33484" y="116802"/>
                  <a:pt x="33042" y="117244"/>
                </a:cubicBezTo>
                <a:close/>
                <a:moveTo>
                  <a:pt x="29371" y="114491"/>
                </a:moveTo>
                <a:cubicBezTo>
                  <a:pt x="29133" y="114933"/>
                  <a:pt x="29473" y="115477"/>
                  <a:pt x="30152" y="115816"/>
                </a:cubicBezTo>
                <a:cubicBezTo>
                  <a:pt x="30697" y="116157"/>
                  <a:pt x="31377" y="116055"/>
                  <a:pt x="31615" y="115579"/>
                </a:cubicBezTo>
                <a:cubicBezTo>
                  <a:pt x="31852" y="115137"/>
                  <a:pt x="31513" y="114593"/>
                  <a:pt x="30833" y="114253"/>
                </a:cubicBezTo>
                <a:cubicBezTo>
                  <a:pt x="30152" y="114049"/>
                  <a:pt x="29609" y="114151"/>
                  <a:pt x="29371" y="114491"/>
                </a:cubicBezTo>
                <a:close/>
                <a:moveTo>
                  <a:pt x="40385" y="126592"/>
                </a:moveTo>
                <a:cubicBezTo>
                  <a:pt x="39841" y="127034"/>
                  <a:pt x="40044" y="128054"/>
                  <a:pt x="40827" y="128701"/>
                </a:cubicBezTo>
                <a:cubicBezTo>
                  <a:pt x="41609" y="129482"/>
                  <a:pt x="42595" y="129585"/>
                  <a:pt x="43037" y="129040"/>
                </a:cubicBezTo>
                <a:cubicBezTo>
                  <a:pt x="43479" y="128598"/>
                  <a:pt x="43274" y="127578"/>
                  <a:pt x="42595" y="126931"/>
                </a:cubicBezTo>
                <a:cubicBezTo>
                  <a:pt x="41847" y="126150"/>
                  <a:pt x="40827" y="126049"/>
                  <a:pt x="40385" y="126592"/>
                </a:cubicBezTo>
                <a:close/>
                <a:moveTo>
                  <a:pt x="36510" y="121596"/>
                </a:moveTo>
                <a:cubicBezTo>
                  <a:pt x="35966" y="121935"/>
                  <a:pt x="35966" y="122819"/>
                  <a:pt x="36510" y="123602"/>
                </a:cubicBezTo>
                <a:cubicBezTo>
                  <a:pt x="37054" y="124383"/>
                  <a:pt x="37971" y="124723"/>
                  <a:pt x="38412" y="124383"/>
                </a:cubicBezTo>
                <a:cubicBezTo>
                  <a:pt x="38957" y="123941"/>
                  <a:pt x="38957" y="123057"/>
                  <a:pt x="38412" y="122274"/>
                </a:cubicBezTo>
                <a:cubicBezTo>
                  <a:pt x="37938" y="121495"/>
                  <a:pt x="37054" y="121154"/>
                  <a:pt x="36510" y="12159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904990" y="4002405"/>
            <a:ext cx="2673985" cy="2438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rPr>
              <a:t>Dépôt GitHub</a:t>
            </a:r>
            <a:endParaRPr lang="en-US" b="1" i="0" u="none" strike="noStrike">
              <a:solidFill>
                <a:srgbClr val="101828"/>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8" name="AutoShape 38"/>
          <p:cNvSpPr/>
          <p:nvPr/>
        </p:nvSpPr>
        <p:spPr>
          <a:xfrm>
            <a:off x="6582780" y="4385377"/>
            <a:ext cx="4977747"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https://github.com/triton-lang/triton</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9" name="Freeform 39"/>
          <p:cNvSpPr/>
          <p:nvPr/>
        </p:nvSpPr>
        <p:spPr>
          <a:xfrm>
            <a:off x="348054" y="5150647"/>
            <a:ext cx="11495811" cy="1427187"/>
          </a:xfrm>
          <a:custGeom>
            <a:avLst/>
            <a:gdLst/>
            <a:ahLst/>
            <a:cxnLst/>
            <a:rect l="l" t="t" r="r" b="b"/>
            <a:pathLst>
              <a:path w="11495811" h="1427187">
                <a:moveTo>
                  <a:pt x="104427" y="0"/>
                </a:moveTo>
                <a:lnTo>
                  <a:pt x="11391384" y="0"/>
                </a:lnTo>
                <a:cubicBezTo>
                  <a:pt x="11449058" y="0"/>
                  <a:pt x="11495811" y="46754"/>
                  <a:pt x="11495811" y="104427"/>
                </a:cubicBezTo>
                <a:lnTo>
                  <a:pt x="11495811" y="1322760"/>
                </a:lnTo>
                <a:cubicBezTo>
                  <a:pt x="11495811" y="1380433"/>
                  <a:pt x="11449058" y="1427187"/>
                  <a:pt x="11391384" y="1427187"/>
                </a:cubicBezTo>
                <a:lnTo>
                  <a:pt x="104427" y="1427187"/>
                </a:lnTo>
                <a:cubicBezTo>
                  <a:pt x="46754" y="1427187"/>
                  <a:pt x="0" y="1380433"/>
                  <a:pt x="0" y="1322760"/>
                </a:cubicBezTo>
                <a:lnTo>
                  <a:pt x="0" y="104427"/>
                </a:lnTo>
                <a:cubicBezTo>
                  <a:pt x="0" y="46792"/>
                  <a:pt x="46792" y="0"/>
                  <a:pt x="10442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5929281" y="5374530"/>
            <a:ext cx="307839" cy="307839"/>
          </a:xfrm>
          <a:custGeom>
            <a:avLst/>
            <a:gdLst/>
            <a:ahLst/>
            <a:cxnLst/>
            <a:rect l="l" t="t" r="r" b="b"/>
            <a:pathLst>
              <a:path w="307839" h="307839">
                <a:moveTo>
                  <a:pt x="87929" y="180752"/>
                </a:moveTo>
                <a:lnTo>
                  <a:pt x="24599" y="180752"/>
                </a:lnTo>
                <a:cubicBezTo>
                  <a:pt x="9363" y="180752"/>
                  <a:pt x="0" y="164169"/>
                  <a:pt x="7834" y="151075"/>
                </a:cubicBezTo>
                <a:lnTo>
                  <a:pt x="40202" y="97106"/>
                </a:lnTo>
                <a:cubicBezTo>
                  <a:pt x="45526" y="88235"/>
                  <a:pt x="55071" y="82848"/>
                  <a:pt x="65412" y="82848"/>
                </a:cubicBezTo>
                <a:lnTo>
                  <a:pt x="123541" y="82848"/>
                </a:lnTo>
                <a:cubicBezTo>
                  <a:pt x="170106" y="3978"/>
                  <a:pt x="239554" y="0"/>
                  <a:pt x="285996" y="6792"/>
                </a:cubicBezTo>
                <a:cubicBezTo>
                  <a:pt x="293828" y="7955"/>
                  <a:pt x="299947" y="14074"/>
                  <a:pt x="301049" y="21845"/>
                </a:cubicBezTo>
                <a:cubicBezTo>
                  <a:pt x="307840" y="68287"/>
                  <a:pt x="303863" y="137737"/>
                  <a:pt x="224991" y="184300"/>
                </a:cubicBezTo>
                <a:lnTo>
                  <a:pt x="224991" y="242429"/>
                </a:lnTo>
                <a:cubicBezTo>
                  <a:pt x="224991" y="252769"/>
                  <a:pt x="219608" y="262315"/>
                  <a:pt x="210734" y="267639"/>
                </a:cubicBezTo>
                <a:lnTo>
                  <a:pt x="156765" y="300007"/>
                </a:lnTo>
                <a:cubicBezTo>
                  <a:pt x="143733" y="307839"/>
                  <a:pt x="127091" y="298416"/>
                  <a:pt x="127091" y="283242"/>
                </a:cubicBezTo>
                <a:lnTo>
                  <a:pt x="127091" y="219912"/>
                </a:lnTo>
                <a:cubicBezTo>
                  <a:pt x="127091" y="198312"/>
                  <a:pt x="109529" y="180752"/>
                  <a:pt x="87929" y="180752"/>
                </a:cubicBezTo>
                <a:lnTo>
                  <a:pt x="87868" y="180752"/>
                </a:lnTo>
                <a:close/>
                <a:moveTo>
                  <a:pt x="254362" y="82848"/>
                </a:moveTo>
                <a:cubicBezTo>
                  <a:pt x="254362" y="66639"/>
                  <a:pt x="241201" y="53478"/>
                  <a:pt x="224991" y="53478"/>
                </a:cubicBezTo>
                <a:cubicBezTo>
                  <a:pt x="208781" y="53478"/>
                  <a:pt x="195621" y="66639"/>
                  <a:pt x="195621" y="82848"/>
                </a:cubicBezTo>
                <a:cubicBezTo>
                  <a:pt x="195621" y="99059"/>
                  <a:pt x="208781" y="112220"/>
                  <a:pt x="224991" y="112220"/>
                </a:cubicBezTo>
                <a:cubicBezTo>
                  <a:pt x="241201" y="112220"/>
                  <a:pt x="254362" y="99059"/>
                  <a:pt x="254362" y="8284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504672" y="5777149"/>
            <a:ext cx="11182527" cy="278475"/>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Commencez votre voyage avec Triton !</a:t>
            </a:r>
            <a:endPar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2" name="AutoShape 42"/>
          <p:cNvSpPr/>
          <p:nvPr/>
        </p:nvSpPr>
        <p:spPr>
          <a:xfrm>
            <a:off x="517725" y="6194982"/>
            <a:ext cx="11156420" cy="24366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À partir de Vector Add, explorez les possibilités infinies de la programmation GPU</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3" name="AutoShape 43"/>
          <p:cNvSpPr/>
          <p:nvPr/>
        </p:nvSpPr>
        <p:spPr>
          <a:xfrm>
            <a:off x="348054" y="6716859"/>
            <a:ext cx="11548026" cy="13923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Source de l'image : Documentation officielle de Triton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7</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Optimisation de la multiplication matricielle</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I</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186" y="63852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Fondements de la multiplication matricielle</a:t>
            </a:r>
            <a:endParaRPr lang="en-US" sz="2800"/>
          </a:p>
        </p:txBody>
      </p:sp>
      <p:grpSp>
        <p:nvGrpSpPr>
          <p:cNvPr id="3" name="Group 3"/>
          <p:cNvGrpSpPr/>
          <p:nvPr/>
        </p:nvGrpSpPr>
        <p:grpSpPr>
          <a:xfrm>
            <a:off x="419056" y="1953981"/>
            <a:ext cx="5562600" cy="3504963"/>
            <a:chOff x="380956" y="1962236"/>
            <a:chExt cx="5562600" cy="3504963"/>
          </a:xfrm>
        </p:grpSpPr>
        <p:sp>
          <p:nvSpPr>
            <p:cNvPr id="4" name="Freeform 4"/>
            <p:cNvSpPr/>
            <p:nvPr/>
          </p:nvSpPr>
          <p:spPr>
            <a:xfrm>
              <a:off x="380956" y="1962236"/>
              <a:ext cx="5562600" cy="1485900"/>
            </a:xfrm>
            <a:custGeom>
              <a:avLst/>
              <a:gdLst/>
              <a:ahLst/>
              <a:cxnLst/>
              <a:rect l="l" t="t" r="r" b="b"/>
              <a:pathLst>
                <a:path w="5562600" h="1485900">
                  <a:moveTo>
                    <a:pt x="76197" y="0"/>
                  </a:moveTo>
                  <a:lnTo>
                    <a:pt x="5486403" y="0"/>
                  </a:lnTo>
                  <a:cubicBezTo>
                    <a:pt x="5528485" y="0"/>
                    <a:pt x="5562600" y="34115"/>
                    <a:pt x="5562600" y="76197"/>
                  </a:cubicBezTo>
                  <a:lnTo>
                    <a:pt x="5562600" y="1409703"/>
                  </a:lnTo>
                  <a:cubicBezTo>
                    <a:pt x="5562600" y="1451785"/>
                    <a:pt x="5528485" y="1485900"/>
                    <a:pt x="54864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2190809"/>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Définition de la multiplication matricielle</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628484" y="2609897"/>
              <a:ext cx="5086255" cy="609600"/>
            </a:xfrm>
            <a:custGeom>
              <a:avLst/>
              <a:gdLst/>
              <a:ahLst/>
              <a:cxnLst/>
              <a:rect l="l" t="t" r="r" b="b"/>
              <a:pathLst>
                <a:path w="5086255" h="609600">
                  <a:moveTo>
                    <a:pt x="37910" y="0"/>
                  </a:moveTo>
                  <a:lnTo>
                    <a:pt x="5048155" y="0"/>
                  </a:lnTo>
                  <a:cubicBezTo>
                    <a:pt x="5069183" y="0"/>
                    <a:pt x="5086255" y="17073"/>
                    <a:pt x="5086255" y="38100"/>
                  </a:cubicBezTo>
                  <a:lnTo>
                    <a:pt x="5086255" y="571500"/>
                  </a:lnTo>
                  <a:cubicBezTo>
                    <a:pt x="5086255" y="592527"/>
                    <a:pt x="5069183" y="609600"/>
                    <a:pt x="5048155" y="609600"/>
                  </a:cubicBezTo>
                  <a:lnTo>
                    <a:pt x="37910" y="609600"/>
                  </a:lnTo>
                  <a:cubicBezTo>
                    <a:pt x="16974" y="609600"/>
                    <a:pt x="0" y="592626"/>
                    <a:pt x="0" y="5716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28484" y="2609897"/>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09529" y="2609897"/>
              <a:ext cx="5181600" cy="609600"/>
            </a:xfrm>
            <a:prstGeom prst="rect">
              <a:avLst/>
            </a:prstGeom>
            <a:noFill/>
            <a:ln w="12700">
              <a:noFill/>
              <a:prstDash val="solid"/>
            </a:ln>
          </p:spPr>
          <p:txBody>
            <a:bodyPr wrap="square" lIns="152400" tIns="152400" rIns="152400" bIns="152400" rtlCol="0" anchor="ctr">
              <a:noAutofit/>
            </a:bodyPr>
            <a:lstStyle/>
            <a:p>
              <a:pPr indent="0" algn="l">
                <a:lnSpc>
                  <a:spcPct val="108000"/>
                </a:lnSpc>
                <a:defRPr/>
              </a:pPr>
              <a:r>
                <a:rPr lang="en-US" sz="18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C[M, N] = A[M, K] × B[K, N]</a:t>
              </a:r>
              <a:endParaRPr lang="en-US" sz="1100"/>
            </a:p>
          </p:txBody>
        </p:sp>
        <p:sp>
          <p:nvSpPr>
            <p:cNvPr id="9" name="Freeform 9"/>
            <p:cNvSpPr/>
            <p:nvPr/>
          </p:nvSpPr>
          <p:spPr>
            <a:xfrm>
              <a:off x="380956" y="3676499"/>
              <a:ext cx="5562600" cy="1790700"/>
            </a:xfrm>
            <a:custGeom>
              <a:avLst/>
              <a:gdLst/>
              <a:ahLst/>
              <a:cxnLst/>
              <a:rect l="l" t="t" r="r" b="b"/>
              <a:pathLst>
                <a:path w="5562600" h="1790700">
                  <a:moveTo>
                    <a:pt x="76194" y="0"/>
                  </a:moveTo>
                  <a:lnTo>
                    <a:pt x="5486406" y="0"/>
                  </a:lnTo>
                  <a:cubicBezTo>
                    <a:pt x="5528459" y="0"/>
                    <a:pt x="5562600" y="34141"/>
                    <a:pt x="5562600" y="76194"/>
                  </a:cubicBezTo>
                  <a:lnTo>
                    <a:pt x="5562600" y="1714506"/>
                  </a:lnTo>
                  <a:cubicBezTo>
                    <a:pt x="5562600" y="1756587"/>
                    <a:pt x="5528487" y="1790700"/>
                    <a:pt x="5486406" y="1790700"/>
                  </a:cubicBezTo>
                  <a:lnTo>
                    <a:pt x="76194" y="1790700"/>
                  </a:lnTo>
                  <a:cubicBezTo>
                    <a:pt x="34141" y="1790700"/>
                    <a:pt x="0" y="1756559"/>
                    <a:pt x="0" y="1714506"/>
                  </a:cubicBezTo>
                  <a:lnTo>
                    <a:pt x="0" y="76194"/>
                  </a:lnTo>
                  <a:cubicBezTo>
                    <a:pt x="0" y="34141"/>
                    <a:pt x="34141" y="0"/>
                    <a:pt x="7619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09529" y="3905072"/>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Formule de calcul</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628484" y="4324160"/>
              <a:ext cx="5086255" cy="571500"/>
            </a:xfrm>
            <a:custGeom>
              <a:avLst/>
              <a:gdLst/>
              <a:ahLst/>
              <a:cxnLst/>
              <a:rect l="l" t="t" r="r" b="b"/>
              <a:pathLst>
                <a:path w="5086255" h="571500">
                  <a:moveTo>
                    <a:pt x="37910" y="0"/>
                  </a:moveTo>
                  <a:lnTo>
                    <a:pt x="5048153" y="0"/>
                  </a:lnTo>
                  <a:cubicBezTo>
                    <a:pt x="5069196" y="0"/>
                    <a:pt x="5086255" y="17059"/>
                    <a:pt x="5086255" y="38103"/>
                  </a:cubicBezTo>
                  <a:lnTo>
                    <a:pt x="5086255" y="533397"/>
                  </a:lnTo>
                  <a:cubicBezTo>
                    <a:pt x="5086255" y="554441"/>
                    <a:pt x="5069196" y="571500"/>
                    <a:pt x="50481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8484" y="4324160"/>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09529" y="4324160"/>
              <a:ext cx="5162550" cy="571500"/>
            </a:xfrm>
            <a:prstGeom prst="rect">
              <a:avLst/>
            </a:prstGeom>
            <a:noFill/>
            <a:ln w="12700">
              <a:noFill/>
              <a:prstDash val="solid"/>
            </a:ln>
          </p:spPr>
          <p:txBody>
            <a:bodyPr wrap="square" lIns="152400" tIns="152400" rIns="152400" bIns="152400" rtlCol="0" anchor="ctr">
              <a:noAutofit/>
            </a:bodyPr>
            <a:lstStyle/>
            <a:p>
              <a:pPr indent="0" algn="l">
                <a:lnSpc>
                  <a:spcPct val="117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C[i, j] = Σ A[i, k] × B[k, j]</a:t>
              </a:r>
              <a:endParaRPr lang="en-US" sz="1100"/>
            </a:p>
          </p:txBody>
        </p:sp>
        <p:sp>
          <p:nvSpPr>
            <p:cNvPr id="14" name="AutoShape 14"/>
            <p:cNvSpPr/>
            <p:nvPr/>
          </p:nvSpPr>
          <p:spPr>
            <a:xfrm>
              <a:off x="609529" y="500988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Somme sur k de 0 à K-1</a:t>
              </a:r>
              <a:endParaRPr lang="en-US"/>
            </a:p>
          </p:txBody>
        </p:sp>
      </p:grpSp>
      <p:grpSp>
        <p:nvGrpSpPr>
          <p:cNvPr id="15" name="Group 15"/>
          <p:cNvGrpSpPr/>
          <p:nvPr/>
        </p:nvGrpSpPr>
        <p:grpSpPr>
          <a:xfrm>
            <a:off x="6305506" y="1052973"/>
            <a:ext cx="5562600" cy="3228619"/>
            <a:chOff x="6305506" y="1052973"/>
            <a:chExt cx="5562600" cy="3228619"/>
          </a:xfrm>
        </p:grpSpPr>
        <p:sp>
          <p:nvSpPr>
            <p:cNvPr id="16" name="Freeform 16"/>
            <p:cNvSpPr/>
            <p:nvPr/>
          </p:nvSpPr>
          <p:spPr>
            <a:xfrm>
              <a:off x="6305506" y="1052973"/>
              <a:ext cx="5562600" cy="1600200"/>
            </a:xfrm>
            <a:custGeom>
              <a:avLst/>
              <a:gdLst/>
              <a:ahLst/>
              <a:cxnLst/>
              <a:rect l="l" t="t" r="r" b="b"/>
              <a:pathLst>
                <a:path w="5562600" h="1600200">
                  <a:moveTo>
                    <a:pt x="76203" y="0"/>
                  </a:moveTo>
                  <a:lnTo>
                    <a:pt x="5486397" y="0"/>
                  </a:lnTo>
                  <a:cubicBezTo>
                    <a:pt x="5528483" y="0"/>
                    <a:pt x="5562600" y="34117"/>
                    <a:pt x="5562600" y="76203"/>
                  </a:cubicBezTo>
                  <a:lnTo>
                    <a:pt x="5562600" y="1523997"/>
                  </a:lnTo>
                  <a:cubicBezTo>
                    <a:pt x="5562600" y="1566083"/>
                    <a:pt x="5528483" y="1600200"/>
                    <a:pt x="5486397" y="1600200"/>
                  </a:cubicBezTo>
                  <a:lnTo>
                    <a:pt x="76203" y="1600200"/>
                  </a:lnTo>
                  <a:cubicBezTo>
                    <a:pt x="34117" y="1600200"/>
                    <a:pt x="0" y="1566083"/>
                    <a:pt x="0" y="1523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534079" y="1281546"/>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Complexité de calcul</a:t>
              </a:r>
              <a:endParaRPr lang="en-US" sz="1800"/>
            </a:p>
          </p:txBody>
        </p:sp>
        <p:sp>
          <p:nvSpPr>
            <p:cNvPr id="18" name="AutoShape 18"/>
            <p:cNvSpPr/>
            <p:nvPr/>
          </p:nvSpPr>
          <p:spPr>
            <a:xfrm>
              <a:off x="6534079" y="1700635"/>
              <a:ext cx="52768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O(M × N × K)</a:t>
              </a:r>
              <a:endParaRPr lang="en-US" sz="1100"/>
            </a:p>
          </p:txBody>
        </p:sp>
        <p:sp>
          <p:nvSpPr>
            <p:cNvPr id="19" name="Freeform 19"/>
            <p:cNvSpPr/>
            <p:nvPr/>
          </p:nvSpPr>
          <p:spPr>
            <a:xfrm>
              <a:off x="6314983" y="2891037"/>
              <a:ext cx="5543455" cy="1390555"/>
            </a:xfrm>
            <a:custGeom>
              <a:avLst/>
              <a:gdLst/>
              <a:ahLst/>
              <a:cxnLst/>
              <a:rect l="l" t="t" r="r" b="b"/>
              <a:pathLst>
                <a:path w="5543455" h="1390555">
                  <a:moveTo>
                    <a:pt x="76203" y="0"/>
                  </a:moveTo>
                  <a:lnTo>
                    <a:pt x="5467253" y="0"/>
                  </a:lnTo>
                  <a:cubicBezTo>
                    <a:pt x="5509337" y="0"/>
                    <a:pt x="5543455" y="34117"/>
                    <a:pt x="5543455" y="76203"/>
                  </a:cubicBezTo>
                  <a:lnTo>
                    <a:pt x="5543455" y="1314353"/>
                  </a:lnTo>
                  <a:cubicBezTo>
                    <a:pt x="5543455" y="1356437"/>
                    <a:pt x="5509337" y="1390555"/>
                    <a:pt x="5467253" y="1390555"/>
                  </a:cubicBezTo>
                  <a:lnTo>
                    <a:pt x="76203" y="1390555"/>
                  </a:lnTo>
                  <a:cubicBezTo>
                    <a:pt x="34117" y="1390555"/>
                    <a:pt x="0" y="1356437"/>
                    <a:pt x="0" y="1314353"/>
                  </a:cubicBezTo>
                  <a:lnTo>
                    <a:pt x="0" y="76203"/>
                  </a:lnTo>
                  <a:cubicBezTo>
                    <a:pt x="0" y="34117"/>
                    <a:pt x="34117" y="0"/>
                    <a:pt x="76203"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0" name="Freeform 20"/>
            <p:cNvSpPr/>
            <p:nvPr/>
          </p:nvSpPr>
          <p:spPr>
            <a:xfrm>
              <a:off x="6600659" y="3157521"/>
              <a:ext cx="142875" cy="196452"/>
            </a:xfrm>
            <a:custGeom>
              <a:avLst/>
              <a:gdLst/>
              <a:ahLst/>
              <a:cxnLst/>
              <a:rect l="l" t="t" r="r" b="b"/>
              <a:pathLst>
                <a:path w="142875" h="196452">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2" y="73409"/>
                    <a:pt x="23812" y="68461"/>
                  </a:cubicBezTo>
                  <a:cubicBezTo>
                    <a:pt x="23812" y="43793"/>
                    <a:pt x="43793" y="23813"/>
                    <a:pt x="68461" y="23813"/>
                  </a:cubicBezTo>
                  <a:cubicBezTo>
                    <a:pt x="73409" y="23813"/>
                    <a:pt x="77391" y="27794"/>
                    <a:pt x="77391" y="32742"/>
                  </a:cubicBezTo>
                  <a:cubicBezTo>
                    <a:pt x="77391" y="37691"/>
                    <a:pt x="73409" y="41673"/>
                    <a:pt x="68461" y="4167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48309" y="3129088"/>
              <a:ext cx="48672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Caractéristiques</a:t>
              </a:r>
              <a:endParaRPr lang="en-US" sz="1800"/>
            </a:p>
          </p:txBody>
        </p:sp>
        <p:sp>
          <p:nvSpPr>
            <p:cNvPr id="22" name="AutoShape 22"/>
            <p:cNvSpPr/>
            <p:nvPr/>
          </p:nvSpPr>
          <p:spPr>
            <a:xfrm>
              <a:off x="6553034" y="3510044"/>
              <a:ext cx="515302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Tâche intensive en calcul</a:t>
              </a:r>
              <a:endParaRPr lang="en-US"/>
            </a:p>
            <a:p>
              <a:pPr indent="0" algn="l">
                <a:lnSpc>
                  <a:spcPct val="133000"/>
                </a:lnSpc>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Volume de calcul bien supérieur au volume de données</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pic>
        <p:nvPicPr>
          <p:cNvPr id="23" name="Picture 23"/>
          <p:cNvPicPr>
            <a:picLocks noChangeAspect="1"/>
          </p:cNvPicPr>
          <p:nvPr/>
        </p:nvPicPr>
        <p:blipFill>
          <a:blip r:embed="rId1"/>
          <a:srcRect/>
          <a:stretch>
            <a:fillRect/>
          </a:stretch>
        </p:blipFill>
        <p:spPr>
          <a:xfrm>
            <a:off x="6314983" y="4443615"/>
            <a:ext cx="4476750" cy="2286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8486" y="590396"/>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altLang="zh-CN" sz="2800" b="1">
                <a:solidFill>
                  <a:srgbClr val="1A1A1A"/>
                </a:solidFill>
                <a:latin typeface="MiSans" panose="00000500000000000000" charset="-122"/>
                <a:ea typeface="MiSans" panose="00000500000000000000" charset="-122"/>
                <a:cs typeface="MiSans" panose="00000500000000000000" charset="-122"/>
              </a:rPr>
              <a:t>Probl</a:t>
            </a:r>
            <a:r>
              <a:rPr lang="en-US" altLang="en-US" sz="2800" b="1">
                <a:solidFill>
                  <a:srgbClr val="1A1A1A"/>
                </a:solidFill>
                <a:latin typeface="MiSans" panose="00000500000000000000" charset="-122"/>
                <a:ea typeface="MiSans" panose="00000500000000000000" charset="-122"/>
                <a:cs typeface="MiSans" panose="00000500000000000000" charset="-122"/>
              </a:rPr>
              <a:t>è</a:t>
            </a:r>
            <a:r>
              <a:rPr lang="en-US" altLang="zh-CN" sz="2800" b="1">
                <a:solidFill>
                  <a:srgbClr val="1A1A1A"/>
                </a:solidFill>
                <a:latin typeface="MiSans" panose="00000500000000000000" charset="-122"/>
                <a:ea typeface="MiSans" panose="00000500000000000000" charset="-122"/>
                <a:cs typeface="MiSans" panose="00000500000000000000" charset="-122"/>
              </a:rPr>
              <a:t>mes du MatMul GPU na</a:t>
            </a:r>
            <a:r>
              <a:rPr lang="en-US" altLang="en-US" sz="2800" b="1">
                <a:solidFill>
                  <a:srgbClr val="1A1A1A"/>
                </a:solidFill>
                <a:latin typeface="MiSans" panose="00000500000000000000" charset="-122"/>
                <a:ea typeface="MiSans" panose="00000500000000000000" charset="-122"/>
                <a:cs typeface="MiSans" panose="00000500000000000000" charset="-122"/>
              </a:rPr>
              <a:t>ï</a:t>
            </a:r>
            <a:r>
              <a:rPr lang="en-US" altLang="zh-CN" sz="2800" b="1">
                <a:solidFill>
                  <a:srgbClr val="1A1A1A"/>
                </a:solidFill>
                <a:latin typeface="MiSans" panose="00000500000000000000" charset="-122"/>
                <a:ea typeface="MiSans" panose="00000500000000000000" charset="-122"/>
                <a:cs typeface="MiSans" panose="00000500000000000000" charset="-122"/>
              </a:rPr>
              <a:t>f </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custDataLst>
              <p:tags r:id="rId1"/>
            </p:custDataLst>
          </p:nvPr>
        </p:nvSpPr>
        <p:spPr>
          <a:xfrm>
            <a:off x="380956" y="2171928"/>
            <a:ext cx="4438650" cy="1524000"/>
          </a:xfrm>
          <a:custGeom>
            <a:avLst/>
            <a:gdLst/>
            <a:ahLst/>
            <a:cxnLst/>
            <a:rect l="l" t="t" r="r" b="b"/>
            <a:pathLst>
              <a:path w="4438650" h="1524000">
                <a:moveTo>
                  <a:pt x="76200" y="0"/>
                </a:moveTo>
                <a:lnTo>
                  <a:pt x="4362450" y="0"/>
                </a:lnTo>
                <a:cubicBezTo>
                  <a:pt x="4404506" y="0"/>
                  <a:pt x="4438650" y="34144"/>
                  <a:pt x="4438650" y="76200"/>
                </a:cubicBezTo>
                <a:lnTo>
                  <a:pt x="4438650" y="1447800"/>
                </a:lnTo>
                <a:cubicBezTo>
                  <a:pt x="4438650" y="1489856"/>
                  <a:pt x="4404506" y="1524000"/>
                  <a:pt x="4362450" y="1524000"/>
                </a:cubicBezTo>
                <a:lnTo>
                  <a:pt x="76200" y="1524000"/>
                </a:lnTo>
                <a:cubicBezTo>
                  <a:pt x="34144" y="1524000"/>
                  <a:pt x="0" y="1489856"/>
                  <a:pt x="0" y="14478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custDataLst>
              <p:tags r:id="rId2"/>
            </p:custDataLst>
          </p:nvPr>
        </p:nvSpPr>
        <p:spPr>
          <a:xfrm>
            <a:off x="571396" y="2362369"/>
            <a:ext cx="4143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Implémentation du Naive Kernel</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custDataLst>
              <p:tags r:id="rId3"/>
            </p:custDataLst>
          </p:nvPr>
        </p:nvSpPr>
        <p:spPr>
          <a:xfrm>
            <a:off x="590352" y="2743324"/>
            <a:ext cx="4038505" cy="762000"/>
          </a:xfrm>
          <a:custGeom>
            <a:avLst/>
            <a:gdLst/>
            <a:ahLst/>
            <a:cxnLst/>
            <a:rect l="l" t="t" r="r" b="b"/>
            <a:pathLst>
              <a:path w="4038505" h="762000">
                <a:moveTo>
                  <a:pt x="37910" y="0"/>
                </a:moveTo>
                <a:lnTo>
                  <a:pt x="4000405" y="0"/>
                </a:lnTo>
                <a:cubicBezTo>
                  <a:pt x="4021433" y="0"/>
                  <a:pt x="4038505" y="17073"/>
                  <a:pt x="4038505" y="38100"/>
                </a:cubicBezTo>
                <a:lnTo>
                  <a:pt x="4038505" y="723900"/>
                </a:lnTo>
                <a:cubicBezTo>
                  <a:pt x="4038505" y="744927"/>
                  <a:pt x="4021433" y="762000"/>
                  <a:pt x="4000405" y="762000"/>
                </a:cubicBezTo>
                <a:lnTo>
                  <a:pt x="37910" y="762000"/>
                </a:lnTo>
                <a:cubicBezTo>
                  <a:pt x="16974" y="762000"/>
                  <a:pt x="0" y="745026"/>
                  <a:pt x="0" y="7240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custDataLst>
              <p:tags r:id="rId4"/>
            </p:custDataLst>
          </p:nvPr>
        </p:nvSpPr>
        <p:spPr>
          <a:xfrm>
            <a:off x="590352" y="2743324"/>
            <a:ext cx="37909" cy="762000"/>
          </a:xfrm>
          <a:custGeom>
            <a:avLst/>
            <a:gdLst/>
            <a:ahLst/>
            <a:cxnLst/>
            <a:rect l="l" t="t" r="r" b="b"/>
            <a:pathLst>
              <a:path w="37909" h="762000">
                <a:moveTo>
                  <a:pt x="37910" y="0"/>
                </a:moveTo>
                <a:lnTo>
                  <a:pt x="37910" y="0"/>
                </a:lnTo>
                <a:lnTo>
                  <a:pt x="37910" y="762000"/>
                </a:lnTo>
                <a:lnTo>
                  <a:pt x="37910" y="762000"/>
                </a:lnTo>
                <a:cubicBezTo>
                  <a:pt x="16974" y="762000"/>
                  <a:pt x="0" y="745026"/>
                  <a:pt x="0" y="7240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custDataLst>
              <p:tags r:id="rId5"/>
            </p:custDataLst>
          </p:nvPr>
        </p:nvSpPr>
        <p:spPr>
          <a:xfrm>
            <a:off x="571396" y="2743324"/>
            <a:ext cx="4095750" cy="762000"/>
          </a:xfrm>
          <a:prstGeom prst="rect">
            <a:avLst/>
          </a:prstGeom>
          <a:noFill/>
          <a:ln w="12700">
            <a:noFill/>
            <a:prstDash val="solid"/>
          </a:ln>
        </p:spPr>
        <p:txBody>
          <a:bodyPr wrap="square" lIns="152400" tIns="152400" rIns="152400" bIns="152400" rtlCol="0" anchor="ctr">
            <a:noAutofit/>
          </a:bodyPr>
          <a:lstStyle/>
          <a:p>
            <a:pPr indent="0" algn="l">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Chaque thread calcule</a:t>
            </a:r>
            <a:endParaRPr lang="en-US"/>
          </a:p>
          <a:p>
            <a:pPr indent="0" algn="l">
              <a:lnSpc>
                <a:spcPct val="133000"/>
              </a:lnSpc>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un C[i, j]</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custDataLst>
              <p:tags r:id="rId6"/>
            </p:custDataLst>
          </p:nvPr>
        </p:nvSpPr>
        <p:spPr>
          <a:xfrm>
            <a:off x="380956" y="3886117"/>
            <a:ext cx="4438650" cy="1371600"/>
          </a:xfrm>
          <a:custGeom>
            <a:avLst/>
            <a:gdLst/>
            <a:ahLst/>
            <a:cxnLst/>
            <a:rect l="l" t="t" r="r" b="b"/>
            <a:pathLst>
              <a:path w="4438650" h="1371600">
                <a:moveTo>
                  <a:pt x="76206" y="0"/>
                </a:moveTo>
                <a:lnTo>
                  <a:pt x="4362444" y="0"/>
                </a:lnTo>
                <a:cubicBezTo>
                  <a:pt x="4404531" y="0"/>
                  <a:pt x="4438650" y="34119"/>
                  <a:pt x="4438650" y="76206"/>
                </a:cubicBezTo>
                <a:lnTo>
                  <a:pt x="4438650" y="1295394"/>
                </a:lnTo>
                <a:cubicBezTo>
                  <a:pt x="4438650" y="1337481"/>
                  <a:pt x="4404531" y="1371600"/>
                  <a:pt x="4362444" y="1371600"/>
                </a:cubicBezTo>
                <a:lnTo>
                  <a:pt x="76206" y="1371600"/>
                </a:lnTo>
                <a:cubicBezTo>
                  <a:pt x="34119" y="1371600"/>
                  <a:pt x="0" y="1337481"/>
                  <a:pt x="0" y="1295394"/>
                </a:cubicBezTo>
                <a:lnTo>
                  <a:pt x="0" y="76206"/>
                </a:lnTo>
                <a:cubicBezTo>
                  <a:pt x="0" y="34146"/>
                  <a:pt x="34146" y="0"/>
                  <a:pt x="76206"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custDataLst>
              <p:tags r:id="rId7"/>
            </p:custDataLst>
          </p:nvPr>
        </p:nvSpPr>
        <p:spPr>
          <a:xfrm>
            <a:off x="571396" y="4076558"/>
            <a:ext cx="4143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Problème central</a:t>
            </a:r>
            <a:endPar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AutoShape 10"/>
          <p:cNvSpPr/>
          <p:nvPr>
            <p:custDataLst>
              <p:tags r:id="rId8"/>
            </p:custDataLst>
          </p:nvPr>
        </p:nvSpPr>
        <p:spPr>
          <a:xfrm>
            <a:off x="571396" y="4457514"/>
            <a:ext cx="4171950" cy="6096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30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Lectures répétées</a:t>
            </a:r>
            <a:endParaRPr lang="en-US" sz="1100"/>
          </a:p>
          <a:p>
            <a:pPr indent="0" algn="l">
              <a:lnSpc>
                <a:spcPct val="108000"/>
              </a:lnSpc>
            </a:pPr>
            <a:r>
              <a:rPr lang="en-US" sz="130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30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5044385" y="1257116"/>
            <a:ext cx="6762750" cy="4914900"/>
          </a:xfrm>
          <a:custGeom>
            <a:avLst/>
            <a:gdLst/>
            <a:ahLst/>
            <a:cxnLst/>
            <a:rect l="l" t="t" r="r" b="b"/>
            <a:pathLst>
              <a:path w="6762750" h="4914900">
                <a:moveTo>
                  <a:pt x="76181" y="0"/>
                </a:moveTo>
                <a:lnTo>
                  <a:pt x="6686569" y="0"/>
                </a:lnTo>
                <a:cubicBezTo>
                  <a:pt x="6728643" y="0"/>
                  <a:pt x="6762750" y="34107"/>
                  <a:pt x="6762750" y="76181"/>
                </a:cubicBezTo>
                <a:lnTo>
                  <a:pt x="6762750" y="4838719"/>
                </a:lnTo>
                <a:cubicBezTo>
                  <a:pt x="6762750" y="4880793"/>
                  <a:pt x="6728643" y="4914900"/>
                  <a:pt x="6686569" y="4914900"/>
                </a:cubicBezTo>
                <a:lnTo>
                  <a:pt x="76181" y="4914900"/>
                </a:lnTo>
                <a:cubicBezTo>
                  <a:pt x="34107" y="4914900"/>
                  <a:pt x="0" y="4880793"/>
                  <a:pt x="0" y="4838719"/>
                </a:cubicBezTo>
                <a:lnTo>
                  <a:pt x="0" y="76181"/>
                </a:lnTo>
                <a:cubicBezTo>
                  <a:pt x="0" y="34136"/>
                  <a:pt x="34136" y="0"/>
                  <a:pt x="7618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272958" y="1485690"/>
            <a:ext cx="64008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d'accès mémoire</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5291914" y="2419605"/>
            <a:ext cx="6286405" cy="952500"/>
          </a:xfrm>
          <a:custGeom>
            <a:avLst/>
            <a:gdLst/>
            <a:ahLst/>
            <a:cxnLst/>
            <a:rect l="l" t="t" r="r" b="b"/>
            <a:pathLst>
              <a:path w="6286405" h="952500">
                <a:moveTo>
                  <a:pt x="37910" y="0"/>
                </a:moveTo>
                <a:lnTo>
                  <a:pt x="6210205" y="0"/>
                </a:lnTo>
                <a:cubicBezTo>
                  <a:pt x="6252261" y="0"/>
                  <a:pt x="6286405" y="34144"/>
                  <a:pt x="6286405" y="76200"/>
                </a:cubicBezTo>
                <a:lnTo>
                  <a:pt x="6286405" y="876300"/>
                </a:lnTo>
                <a:cubicBezTo>
                  <a:pt x="6286405" y="918356"/>
                  <a:pt x="6252261" y="952500"/>
                  <a:pt x="6210205" y="952500"/>
                </a:cubicBezTo>
                <a:lnTo>
                  <a:pt x="37910" y="952500"/>
                </a:lnTo>
                <a:cubicBezTo>
                  <a:pt x="16974" y="952500"/>
                  <a:pt x="0" y="935526"/>
                  <a:pt x="0" y="914591"/>
                </a:cubicBezTo>
                <a:lnTo>
                  <a:pt x="0" y="37910"/>
                </a:lnTo>
                <a:cubicBezTo>
                  <a:pt x="0" y="16988"/>
                  <a:pt x="16988" y="0"/>
                  <a:pt x="3791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4" name="Freeform 14"/>
          <p:cNvSpPr/>
          <p:nvPr>
            <p:custDataLst>
              <p:tags r:id="rId9"/>
            </p:custDataLst>
          </p:nvPr>
        </p:nvSpPr>
        <p:spPr>
          <a:xfrm>
            <a:off x="5291914" y="2419605"/>
            <a:ext cx="37910" cy="952500"/>
          </a:xfrm>
          <a:custGeom>
            <a:avLst/>
            <a:gdLst/>
            <a:ahLst/>
            <a:cxnLst/>
            <a:rect l="l" t="t" r="r" b="b"/>
            <a:pathLst>
              <a:path w="37910" h="952500">
                <a:moveTo>
                  <a:pt x="37910" y="0"/>
                </a:moveTo>
                <a:lnTo>
                  <a:pt x="37910" y="0"/>
                </a:lnTo>
                <a:lnTo>
                  <a:pt x="37910" y="952500"/>
                </a:lnTo>
                <a:lnTo>
                  <a:pt x="37910" y="952500"/>
                </a:lnTo>
                <a:cubicBezTo>
                  <a:pt x="16974" y="952500"/>
                  <a:pt x="0" y="935526"/>
                  <a:pt x="0" y="9145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custDataLst>
              <p:tags r:id="rId10"/>
            </p:custDataLst>
          </p:nvPr>
        </p:nvSpPr>
        <p:spPr>
          <a:xfrm>
            <a:off x="5501310" y="2629074"/>
            <a:ext cx="12573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A[i, k]</a:t>
            </a:r>
            <a:endPar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AutoShape 16"/>
          <p:cNvSpPr/>
          <p:nvPr>
            <p:custDataLst>
              <p:tags r:id="rId11"/>
            </p:custDataLst>
          </p:nvPr>
        </p:nvSpPr>
        <p:spPr>
          <a:xfrm>
            <a:off x="5501005" y="2933700"/>
            <a:ext cx="395160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 élément de la matrice A</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10487008" y="2610045"/>
            <a:ext cx="904875" cy="342900"/>
          </a:xfrm>
          <a:prstGeom prst="rect">
            <a:avLst/>
          </a:prstGeom>
          <a:noFill/>
          <a:ln w="12700">
            <a:noFill/>
            <a:prstDash val="solid"/>
          </a:ln>
        </p:spPr>
        <p:txBody>
          <a:bodyPr wrap="square" lIns="0" tIns="0" rIns="0" bIns="0" rtlCol="0" anchor="ctr">
            <a:noAutofit/>
          </a:bodyPr>
          <a:lstStyle/>
          <a:p>
            <a:pPr indent="0" algn="r">
              <a:lnSpc>
                <a:spcPct val="100000"/>
              </a:lnSpc>
              <a:defRPr/>
            </a:pPr>
            <a:r>
              <a:rPr lang="en-US" sz="127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N fois</a:t>
            </a:r>
            <a:endParaRPr lang="en-US" sz="1100"/>
          </a:p>
        </p:txBody>
      </p:sp>
      <p:sp>
        <p:nvSpPr>
          <p:cNvPr id="18" name="AutoShape 18"/>
          <p:cNvSpPr/>
          <p:nvPr/>
        </p:nvSpPr>
        <p:spPr>
          <a:xfrm>
            <a:off x="9516745" y="2952750"/>
            <a:ext cx="1875155" cy="228600"/>
          </a:xfrm>
          <a:prstGeom prst="rect">
            <a:avLst/>
          </a:prstGeom>
          <a:noFill/>
          <a:ln w="12700">
            <a:noFill/>
            <a:prstDash val="solid"/>
          </a:ln>
        </p:spPr>
        <p:txBody>
          <a:bodyPr wrap="square" lIns="0" tIns="0" rIns="0" bIns="0" rtlCol="0" anchor="ctr">
            <a:noAutofit/>
          </a:bodyPr>
          <a:lstStyle/>
          <a:p>
            <a:pPr indent="0" algn="r">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Lu répétitivement</a:t>
            </a:r>
            <a:endPar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5291914" y="3562323"/>
            <a:ext cx="6286405" cy="952500"/>
          </a:xfrm>
          <a:custGeom>
            <a:avLst/>
            <a:gdLst/>
            <a:ahLst/>
            <a:cxnLst/>
            <a:rect l="l" t="t" r="r" b="b"/>
            <a:pathLst>
              <a:path w="6286405" h="952500">
                <a:moveTo>
                  <a:pt x="37910" y="0"/>
                </a:moveTo>
                <a:lnTo>
                  <a:pt x="6210205" y="0"/>
                </a:lnTo>
                <a:cubicBezTo>
                  <a:pt x="6252261" y="0"/>
                  <a:pt x="6286405" y="34144"/>
                  <a:pt x="6286405" y="76200"/>
                </a:cubicBezTo>
                <a:lnTo>
                  <a:pt x="6286405" y="876300"/>
                </a:lnTo>
                <a:cubicBezTo>
                  <a:pt x="6286405" y="918356"/>
                  <a:pt x="6252261" y="952500"/>
                  <a:pt x="6210205" y="952500"/>
                </a:cubicBezTo>
                <a:lnTo>
                  <a:pt x="37910" y="952500"/>
                </a:lnTo>
                <a:cubicBezTo>
                  <a:pt x="16974" y="952500"/>
                  <a:pt x="0" y="935526"/>
                  <a:pt x="0" y="914591"/>
                </a:cubicBezTo>
                <a:lnTo>
                  <a:pt x="0" y="37910"/>
                </a:lnTo>
                <a:cubicBezTo>
                  <a:pt x="0" y="16988"/>
                  <a:pt x="16988" y="0"/>
                  <a:pt x="3791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custDataLst>
              <p:tags r:id="rId12"/>
            </p:custDataLst>
          </p:nvPr>
        </p:nvSpPr>
        <p:spPr>
          <a:xfrm>
            <a:off x="5291914" y="3562323"/>
            <a:ext cx="37910" cy="952500"/>
          </a:xfrm>
          <a:custGeom>
            <a:avLst/>
            <a:gdLst/>
            <a:ahLst/>
            <a:cxnLst/>
            <a:rect l="l" t="t" r="r" b="b"/>
            <a:pathLst>
              <a:path w="37910" h="952500">
                <a:moveTo>
                  <a:pt x="37910" y="0"/>
                </a:moveTo>
                <a:lnTo>
                  <a:pt x="37910" y="0"/>
                </a:lnTo>
                <a:lnTo>
                  <a:pt x="37910" y="952500"/>
                </a:lnTo>
                <a:lnTo>
                  <a:pt x="37910" y="952500"/>
                </a:lnTo>
                <a:cubicBezTo>
                  <a:pt x="16974" y="952500"/>
                  <a:pt x="0" y="935526"/>
                  <a:pt x="0" y="9145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custDataLst>
              <p:tags r:id="rId13"/>
            </p:custDataLst>
          </p:nvPr>
        </p:nvSpPr>
        <p:spPr>
          <a:xfrm>
            <a:off x="5501310" y="3771793"/>
            <a:ext cx="12573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B[k, j]</a:t>
            </a:r>
            <a:endPar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custDataLst>
              <p:tags r:id="rId14"/>
            </p:custDataLst>
          </p:nvPr>
        </p:nvSpPr>
        <p:spPr>
          <a:xfrm>
            <a:off x="5501005" y="4076700"/>
            <a:ext cx="395160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 élément de la matrice B</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10487008" y="3752764"/>
            <a:ext cx="904875" cy="342900"/>
          </a:xfrm>
          <a:prstGeom prst="rect">
            <a:avLst/>
          </a:prstGeom>
          <a:noFill/>
          <a:ln w="12700">
            <a:noFill/>
            <a:prstDash val="solid"/>
          </a:ln>
        </p:spPr>
        <p:txBody>
          <a:bodyPr wrap="square" lIns="0" tIns="0" rIns="0" bIns="0" rtlCol="0" anchor="ctr">
            <a:noAutofit/>
          </a:bodyPr>
          <a:lstStyle/>
          <a:p>
            <a:pPr indent="0" algn="r">
              <a:lnSpc>
                <a:spcPct val="100000"/>
              </a:lnSpc>
              <a:defRPr/>
            </a:pPr>
            <a:r>
              <a:rPr lang="en-US" sz="127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M fois</a:t>
            </a:r>
            <a:endParaRPr lang="en-US" sz="1100"/>
          </a:p>
        </p:txBody>
      </p:sp>
      <p:sp>
        <p:nvSpPr>
          <p:cNvPr id="24" name="AutoShape 24"/>
          <p:cNvSpPr/>
          <p:nvPr/>
        </p:nvSpPr>
        <p:spPr>
          <a:xfrm>
            <a:off x="9451975" y="4095750"/>
            <a:ext cx="1939925" cy="228600"/>
          </a:xfrm>
          <a:prstGeom prst="rect">
            <a:avLst/>
          </a:prstGeom>
          <a:noFill/>
          <a:ln w="12700">
            <a:noFill/>
            <a:prstDash val="solid"/>
          </a:ln>
        </p:spPr>
        <p:txBody>
          <a:bodyPr wrap="square" lIns="0" tIns="0" rIns="0" bIns="0" rtlCol="0" anchor="ctr">
            <a:noAutofit/>
          </a:bodyPr>
          <a:lstStyle/>
          <a:p>
            <a:pPr indent="0" algn="r">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Lu répétitivement</a:t>
            </a:r>
            <a:endPar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Freeform 25"/>
          <p:cNvSpPr/>
          <p:nvPr/>
        </p:nvSpPr>
        <p:spPr>
          <a:xfrm>
            <a:off x="5272958" y="4857424"/>
            <a:ext cx="6305550" cy="647700"/>
          </a:xfrm>
          <a:custGeom>
            <a:avLst/>
            <a:gdLst/>
            <a:ahLst/>
            <a:cxnLst/>
            <a:rect l="l" t="t" r="r" b="b"/>
            <a:pathLst>
              <a:path w="6305550" h="647700">
                <a:moveTo>
                  <a:pt x="76203" y="0"/>
                </a:moveTo>
                <a:lnTo>
                  <a:pt x="6229347" y="0"/>
                </a:lnTo>
                <a:cubicBezTo>
                  <a:pt x="6271433" y="0"/>
                  <a:pt x="6305550" y="34117"/>
                  <a:pt x="6305550" y="76203"/>
                </a:cubicBezTo>
                <a:lnTo>
                  <a:pt x="6305550" y="571497"/>
                </a:lnTo>
                <a:cubicBezTo>
                  <a:pt x="6305550" y="613583"/>
                  <a:pt x="6271433" y="647700"/>
                  <a:pt x="6229347"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758674" y="5047865"/>
            <a:ext cx="5724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Problème : gaspillage important de la bande passante mémoire</a:t>
            </a:r>
            <a:endParaRPr lang="en-US" sz="1600"/>
          </a:p>
        </p:txBody>
      </p:sp>
      <p:sp>
        <p:nvSpPr>
          <p:cNvPr id="27" name="AutoShape 27"/>
          <p:cNvSpPr/>
          <p:nvPr/>
        </p:nvSpPr>
        <p:spPr>
          <a:xfrm>
            <a:off x="380956" y="6324603"/>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28470"/>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La bande passante mémoire GPU est le principal goulot d'étranglement</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71736"/>
            <a:ext cx="11430000" cy="1219200"/>
          </a:xfrm>
          <a:custGeom>
            <a:avLst/>
            <a:gdLst/>
            <a:ahLst/>
            <a:cxnLst/>
            <a:rect l="l" t="t" r="r" b="b"/>
            <a:pathLst>
              <a:path w="11430000" h="1219200">
                <a:moveTo>
                  <a:pt x="76200" y="0"/>
                </a:moveTo>
                <a:lnTo>
                  <a:pt x="11353800" y="0"/>
                </a:lnTo>
                <a:cubicBezTo>
                  <a:pt x="11395856" y="0"/>
                  <a:pt x="11430000" y="34144"/>
                  <a:pt x="11430000" y="76200"/>
                </a:cubicBezTo>
                <a:lnTo>
                  <a:pt x="11430000" y="1143000"/>
                </a:lnTo>
                <a:cubicBezTo>
                  <a:pt x="11430000" y="1185056"/>
                  <a:pt x="11395856" y="1219200"/>
                  <a:pt x="11353800" y="1219200"/>
                </a:cubicBezTo>
                <a:lnTo>
                  <a:pt x="76200" y="1219200"/>
                </a:lnTo>
                <a:cubicBezTo>
                  <a:pt x="34144" y="1219200"/>
                  <a:pt x="0" y="1185056"/>
                  <a:pt x="0" y="11430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00309"/>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altLang="zh-CN" sz="1600">
                <a:solidFill>
                  <a:schemeClr val="bg1"/>
                </a:solidFill>
              </a:rPr>
              <a:t>Les performances du GPU sont limit</a:t>
            </a:r>
            <a:r>
              <a:rPr lang="en-US" altLang="en-US" sz="1600">
                <a:solidFill>
                  <a:schemeClr val="bg1"/>
                </a:solidFill>
              </a:rPr>
              <a:t>é</a:t>
            </a:r>
            <a:r>
              <a:rPr lang="en-US" altLang="zh-CN" sz="1600">
                <a:solidFill>
                  <a:schemeClr val="bg1"/>
                </a:solidFill>
              </a:rPr>
              <a:t>es par </a:t>
            </a:r>
            <a:endParaRPr lang="en-US" altLang="zh-CN" sz="1600">
              <a:solidFill>
                <a:schemeClr val="bg1"/>
              </a:solidFill>
            </a:endParaRPr>
          </a:p>
        </p:txBody>
      </p:sp>
      <p:sp>
        <p:nvSpPr>
          <p:cNvPr id="5" name="AutoShape 5"/>
          <p:cNvSpPr/>
          <p:nvPr/>
        </p:nvSpPr>
        <p:spPr>
          <a:xfrm>
            <a:off x="609529" y="1981191"/>
            <a:ext cx="111442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Memory Bandwidth</a:t>
            </a:r>
            <a:endParaRPr lang="en-US" sz="1800"/>
          </a:p>
        </p:txBody>
      </p:sp>
      <p:sp>
        <p:nvSpPr>
          <p:cNvPr id="6" name="Freeform 6"/>
          <p:cNvSpPr/>
          <p:nvPr/>
        </p:nvSpPr>
        <p:spPr>
          <a:xfrm>
            <a:off x="380956" y="2819293"/>
            <a:ext cx="5600700" cy="1562100"/>
          </a:xfrm>
          <a:custGeom>
            <a:avLst/>
            <a:gdLst/>
            <a:ahLst/>
            <a:cxnLst/>
            <a:rect l="l" t="t" r="r" b="b"/>
            <a:pathLst>
              <a:path w="5600700" h="1562100">
                <a:moveTo>
                  <a:pt x="76199" y="0"/>
                </a:moveTo>
                <a:lnTo>
                  <a:pt x="5524501" y="0"/>
                </a:lnTo>
                <a:cubicBezTo>
                  <a:pt x="5566584" y="0"/>
                  <a:pt x="5600700" y="34116"/>
                  <a:pt x="5600700" y="76199"/>
                </a:cubicBezTo>
                <a:lnTo>
                  <a:pt x="5600700" y="1485901"/>
                </a:lnTo>
                <a:cubicBezTo>
                  <a:pt x="5600700" y="1527984"/>
                  <a:pt x="5566584" y="1562100"/>
                  <a:pt x="55245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1429" y="3047866"/>
            <a:ext cx="5219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Capacité de calcul GPU</a:t>
            </a:r>
            <a:endPar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495229" y="3352631"/>
            <a:ext cx="5372100" cy="4572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184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19</a:t>
            </a:r>
            <a:endParaRPr lang="en-US" sz="1100"/>
          </a:p>
        </p:txBody>
      </p:sp>
      <p:sp>
        <p:nvSpPr>
          <p:cNvPr id="9" name="AutoShape 9"/>
          <p:cNvSpPr/>
          <p:nvPr/>
        </p:nvSpPr>
        <p:spPr>
          <a:xfrm>
            <a:off x="561904" y="3886043"/>
            <a:ext cx="5238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TFLOPS</a:t>
            </a:r>
            <a:endParaRPr lang="en-US" sz="1100"/>
          </a:p>
        </p:txBody>
      </p:sp>
      <p:sp>
        <p:nvSpPr>
          <p:cNvPr id="10" name="Freeform 10"/>
          <p:cNvSpPr/>
          <p:nvPr/>
        </p:nvSpPr>
        <p:spPr>
          <a:xfrm>
            <a:off x="6210279" y="2819293"/>
            <a:ext cx="5600700" cy="1562100"/>
          </a:xfrm>
          <a:custGeom>
            <a:avLst/>
            <a:gdLst/>
            <a:ahLst/>
            <a:cxnLst/>
            <a:rect l="l" t="t" r="r" b="b"/>
            <a:pathLst>
              <a:path w="5600700" h="1562100">
                <a:moveTo>
                  <a:pt x="76199" y="0"/>
                </a:moveTo>
                <a:lnTo>
                  <a:pt x="5524501" y="0"/>
                </a:lnTo>
                <a:cubicBezTo>
                  <a:pt x="5566584" y="0"/>
                  <a:pt x="5600700" y="34116"/>
                  <a:pt x="5600700" y="76199"/>
                </a:cubicBezTo>
                <a:lnTo>
                  <a:pt x="5600700" y="1485901"/>
                </a:lnTo>
                <a:cubicBezTo>
                  <a:pt x="5600700" y="1527984"/>
                  <a:pt x="5566584" y="1562100"/>
                  <a:pt x="55245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400752" y="3047866"/>
            <a:ext cx="5219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Bande passante mémoire</a:t>
            </a:r>
            <a:endPar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6324552" y="3352631"/>
            <a:ext cx="5372100" cy="4572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184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900</a:t>
            </a:r>
            <a:endParaRPr lang="en-US" sz="1100"/>
          </a:p>
        </p:txBody>
      </p:sp>
      <p:sp>
        <p:nvSpPr>
          <p:cNvPr id="13" name="AutoShape 13"/>
          <p:cNvSpPr/>
          <p:nvPr/>
        </p:nvSpPr>
        <p:spPr>
          <a:xfrm>
            <a:off x="6391227" y="3886043"/>
            <a:ext cx="5238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GB/s</a:t>
            </a:r>
            <a:endParaRPr lang="en-US" sz="1100"/>
          </a:p>
        </p:txBody>
      </p:sp>
      <p:sp>
        <p:nvSpPr>
          <p:cNvPr id="14" name="Freeform 14"/>
          <p:cNvSpPr/>
          <p:nvPr/>
        </p:nvSpPr>
        <p:spPr>
          <a:xfrm>
            <a:off x="380956" y="4609895"/>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55963" y="4866902"/>
            <a:ext cx="145258" cy="191653"/>
          </a:xfrm>
          <a:custGeom>
            <a:avLst/>
            <a:gdLst/>
            <a:ahLst/>
            <a:cxnLst/>
            <a:rect l="l" t="t" r="r" b="b"/>
            <a:pathLst>
              <a:path w="145258" h="191653">
                <a:moveTo>
                  <a:pt x="64220" y="187002"/>
                </a:moveTo>
                <a:cubicBezTo>
                  <a:pt x="68871" y="191653"/>
                  <a:pt x="76425" y="191653"/>
                  <a:pt x="81074" y="187002"/>
                </a:cubicBezTo>
                <a:lnTo>
                  <a:pt x="140607" y="127471"/>
                </a:lnTo>
                <a:cubicBezTo>
                  <a:pt x="145257" y="122820"/>
                  <a:pt x="145257" y="115266"/>
                  <a:pt x="140607" y="110617"/>
                </a:cubicBezTo>
                <a:cubicBezTo>
                  <a:pt x="135955" y="105966"/>
                  <a:pt x="128402" y="105966"/>
                  <a:pt x="123751" y="110617"/>
                </a:cubicBezTo>
                <a:lnTo>
                  <a:pt x="84535" y="149833"/>
                </a:lnTo>
                <a:lnTo>
                  <a:pt x="84535" y="11906"/>
                </a:lnTo>
                <a:cubicBezTo>
                  <a:pt x="84535" y="5321"/>
                  <a:pt x="79213" y="0"/>
                  <a:pt x="72629" y="0"/>
                </a:cubicBezTo>
                <a:cubicBezTo>
                  <a:pt x="66044" y="0"/>
                  <a:pt x="60722" y="5321"/>
                  <a:pt x="60722" y="11906"/>
                </a:cubicBezTo>
                <a:lnTo>
                  <a:pt x="60722" y="149833"/>
                </a:lnTo>
                <a:lnTo>
                  <a:pt x="21506" y="110617"/>
                </a:lnTo>
                <a:cubicBezTo>
                  <a:pt x="16855" y="105966"/>
                  <a:pt x="9302" y="105966"/>
                  <a:pt x="4650" y="110617"/>
                </a:cubicBezTo>
                <a:cubicBezTo>
                  <a:pt x="0" y="115266"/>
                  <a:pt x="0" y="122820"/>
                  <a:pt x="4650" y="127471"/>
                </a:cubicBezTo>
                <a:lnTo>
                  <a:pt x="64183" y="18700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04804" y="4838469"/>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altLang="zh-CN"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En cas de trop d’acc</a:t>
            </a:r>
            <a:r>
              <a:rPr lang="en-US" alt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 m</a:t>
            </a:r>
            <a:r>
              <a:rPr lang="en-US" alt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moire</a:t>
            </a:r>
            <a:endParaRPr lang="en-US" altLang="zh-CN"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628484" y="5257557"/>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28484" y="5257557"/>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99822" y="5409938"/>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Units inactifs</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6191102" y="5257557"/>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191102" y="5257557"/>
            <a:ext cx="37910" cy="571500"/>
          </a:xfrm>
          <a:custGeom>
            <a:avLst/>
            <a:gdLst/>
            <a:ahLst/>
            <a:cxnLst/>
            <a:rect l="l" t="t" r="r" b="b"/>
            <a:pathLst>
              <a:path w="37910" h="571500">
                <a:moveTo>
                  <a:pt x="37910" y="0"/>
                </a:moveTo>
                <a:lnTo>
                  <a:pt x="37910" y="0"/>
                </a:lnTo>
                <a:lnTo>
                  <a:pt x="37910" y="571500"/>
                </a:lnTo>
                <a:lnTo>
                  <a:pt x="37910" y="571500"/>
                </a:lnTo>
                <a:cubicBezTo>
                  <a:pt x="16974" y="571500"/>
                  <a:pt x="0" y="554526"/>
                  <a:pt x="0" y="5335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362440" y="5409938"/>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Performance significativement réduite</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380956" y="6324603"/>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7083" y="628970"/>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Pourquoi utiliser Tiling</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76664"/>
            <a:ext cx="11430000" cy="1181100"/>
          </a:xfrm>
          <a:custGeom>
            <a:avLst/>
            <a:gdLst/>
            <a:ahLst/>
            <a:cxnLst/>
            <a:rect l="l" t="t" r="r" b="b"/>
            <a:pathLst>
              <a:path w="11430000" h="1181100">
                <a:moveTo>
                  <a:pt x="76205" y="0"/>
                </a:moveTo>
                <a:lnTo>
                  <a:pt x="11353795" y="0"/>
                </a:lnTo>
                <a:cubicBezTo>
                  <a:pt x="11395854" y="0"/>
                  <a:pt x="11430000" y="34146"/>
                  <a:pt x="11430000" y="76205"/>
                </a:cubicBezTo>
                <a:lnTo>
                  <a:pt x="11430000" y="1104895"/>
                </a:lnTo>
                <a:cubicBezTo>
                  <a:pt x="11430000" y="1146981"/>
                  <a:pt x="11395881" y="1181100"/>
                  <a:pt x="11353795" y="1181100"/>
                </a:cubicBezTo>
                <a:lnTo>
                  <a:pt x="76205" y="1181100"/>
                </a:lnTo>
                <a:cubicBezTo>
                  <a:pt x="34146" y="1181100"/>
                  <a:pt x="0" y="1146954"/>
                  <a:pt x="0" y="1104895"/>
                </a:cubicBezTo>
                <a:lnTo>
                  <a:pt x="0" y="76205"/>
                </a:lnTo>
                <a:cubicBezTo>
                  <a:pt x="0" y="34146"/>
                  <a:pt x="34146" y="0"/>
                  <a:pt x="762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05236"/>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Objectif</a:t>
            </a:r>
            <a:endParaRPr lang="en-US" sz="1600"/>
          </a:p>
        </p:txBody>
      </p:sp>
      <p:sp>
        <p:nvSpPr>
          <p:cNvPr id="5" name="AutoShape 5"/>
          <p:cNvSpPr/>
          <p:nvPr/>
        </p:nvSpPr>
        <p:spPr>
          <a:xfrm>
            <a:off x="609529" y="1886117"/>
            <a:ext cx="111156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altLang="zh-CN" sz="1800">
                <a:solidFill>
                  <a:schemeClr val="bg1"/>
                </a:solidFill>
              </a:rPr>
              <a:t>R</a:t>
            </a:r>
            <a:r>
              <a:rPr lang="en-US" altLang="en-US" sz="1800">
                <a:solidFill>
                  <a:schemeClr val="bg1"/>
                </a:solidFill>
              </a:rPr>
              <a:t>é</a:t>
            </a:r>
            <a:r>
              <a:rPr lang="en-US" altLang="zh-CN" sz="1800">
                <a:solidFill>
                  <a:schemeClr val="bg1"/>
                </a:solidFill>
              </a:rPr>
              <a:t>duire le nombre d’acc</a:t>
            </a:r>
            <a:r>
              <a:rPr lang="en-US" altLang="en-US" sz="1800">
                <a:solidFill>
                  <a:schemeClr val="bg1"/>
                </a:solidFill>
              </a:rPr>
              <a:t>è</a:t>
            </a:r>
            <a:r>
              <a:rPr lang="en-US" altLang="zh-CN" sz="1800">
                <a:solidFill>
                  <a:schemeClr val="bg1"/>
                </a:solidFill>
              </a:rPr>
              <a:t>s à la m</a:t>
            </a:r>
            <a:r>
              <a:rPr lang="en-US" altLang="en-US" sz="1800">
                <a:solidFill>
                  <a:schemeClr val="bg1"/>
                </a:solidFill>
              </a:rPr>
              <a:t>é</a:t>
            </a:r>
            <a:r>
              <a:rPr lang="en-US" altLang="zh-CN" sz="1800">
                <a:solidFill>
                  <a:schemeClr val="bg1"/>
                </a:solidFill>
              </a:rPr>
              <a:t>moire globale</a:t>
            </a:r>
            <a:endParaRPr lang="en-US" altLang="zh-CN" sz="1800">
              <a:solidFill>
                <a:schemeClr val="bg1"/>
              </a:solidFill>
            </a:endParaRPr>
          </a:p>
        </p:txBody>
      </p:sp>
      <p:sp>
        <p:nvSpPr>
          <p:cNvPr id="6" name="Freeform 6"/>
          <p:cNvSpPr/>
          <p:nvPr/>
        </p:nvSpPr>
        <p:spPr>
          <a:xfrm>
            <a:off x="419056" y="2686087"/>
            <a:ext cx="5600700" cy="2590800"/>
          </a:xfrm>
          <a:custGeom>
            <a:avLst/>
            <a:gdLst/>
            <a:ahLst/>
            <a:cxnLst/>
            <a:rect l="l" t="t" r="r" b="b"/>
            <a:pathLst>
              <a:path w="5600700" h="2590800">
                <a:moveTo>
                  <a:pt x="76195" y="0"/>
                </a:moveTo>
                <a:lnTo>
                  <a:pt x="5524505" y="0"/>
                </a:lnTo>
                <a:cubicBezTo>
                  <a:pt x="5566559" y="0"/>
                  <a:pt x="5600700" y="34141"/>
                  <a:pt x="5600700" y="76195"/>
                </a:cubicBezTo>
                <a:lnTo>
                  <a:pt x="5600700" y="2514605"/>
                </a:lnTo>
                <a:cubicBezTo>
                  <a:pt x="5600700" y="2556687"/>
                  <a:pt x="5566587" y="2590800"/>
                  <a:pt x="5524505" y="2590800"/>
                </a:cubicBezTo>
                <a:lnTo>
                  <a:pt x="76195" y="2590800"/>
                </a:lnTo>
                <a:cubicBezTo>
                  <a:pt x="34141" y="2590800"/>
                  <a:pt x="0" y="2556659"/>
                  <a:pt x="0" y="2514605"/>
                </a:cubicBezTo>
                <a:lnTo>
                  <a:pt x="0" y="76195"/>
                </a:lnTo>
                <a:cubicBezTo>
                  <a:pt x="0" y="34141"/>
                  <a:pt x="34141" y="0"/>
                  <a:pt x="761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7" name="AutoShape 7"/>
          <p:cNvSpPr/>
          <p:nvPr/>
        </p:nvSpPr>
        <p:spPr>
          <a:xfrm>
            <a:off x="904804" y="2914662"/>
            <a:ext cx="49434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Idée centrale</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619007" y="3343228"/>
            <a:ext cx="5124355" cy="742855"/>
          </a:xfrm>
          <a:custGeom>
            <a:avLst/>
            <a:gdLst/>
            <a:ahLst/>
            <a:cxnLst/>
            <a:rect l="l" t="t" r="r" b="b"/>
            <a:pathLst>
              <a:path w="5124355" h="742855">
                <a:moveTo>
                  <a:pt x="38101" y="0"/>
                </a:moveTo>
                <a:lnTo>
                  <a:pt x="5086253" y="0"/>
                </a:lnTo>
                <a:cubicBezTo>
                  <a:pt x="5107297" y="0"/>
                  <a:pt x="5124355" y="17057"/>
                  <a:pt x="5124355" y="38101"/>
                </a:cubicBezTo>
                <a:lnTo>
                  <a:pt x="5124355" y="704753"/>
                </a:lnTo>
                <a:cubicBezTo>
                  <a:pt x="5124355" y="725797"/>
                  <a:pt x="5107297" y="742855"/>
                  <a:pt x="50862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7487" y="3543147"/>
            <a:ext cx="48672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Réutilisation des données</a:t>
            </a:r>
            <a:endParaRPr lang="en-US" sz="1600"/>
          </a:p>
        </p:txBody>
      </p:sp>
      <p:sp>
        <p:nvSpPr>
          <p:cNvPr id="10" name="Freeform 10"/>
          <p:cNvSpPr/>
          <p:nvPr/>
        </p:nvSpPr>
        <p:spPr>
          <a:xfrm>
            <a:off x="6210279" y="2686087"/>
            <a:ext cx="5600700" cy="2590800"/>
          </a:xfrm>
          <a:custGeom>
            <a:avLst/>
            <a:gdLst/>
            <a:ahLst/>
            <a:cxnLst/>
            <a:rect l="l" t="t" r="r" b="b"/>
            <a:pathLst>
              <a:path w="5600700" h="2590800">
                <a:moveTo>
                  <a:pt x="76195" y="0"/>
                </a:moveTo>
                <a:lnTo>
                  <a:pt x="5524505" y="0"/>
                </a:lnTo>
                <a:cubicBezTo>
                  <a:pt x="5566559" y="0"/>
                  <a:pt x="5600700" y="34141"/>
                  <a:pt x="5600700" y="76195"/>
                </a:cubicBezTo>
                <a:lnTo>
                  <a:pt x="5600700" y="2514605"/>
                </a:lnTo>
                <a:cubicBezTo>
                  <a:pt x="5600700" y="2556687"/>
                  <a:pt x="5566587" y="2590800"/>
                  <a:pt x="5524505" y="2590800"/>
                </a:cubicBezTo>
                <a:lnTo>
                  <a:pt x="76195" y="2590800"/>
                </a:lnTo>
                <a:cubicBezTo>
                  <a:pt x="34141" y="2590800"/>
                  <a:pt x="0" y="2556659"/>
                  <a:pt x="0" y="2514605"/>
                </a:cubicBezTo>
                <a:lnTo>
                  <a:pt x="0" y="76195"/>
                </a:lnTo>
                <a:cubicBezTo>
                  <a:pt x="0" y="34141"/>
                  <a:pt x="34141" y="0"/>
                  <a:pt x="761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734127" y="2914662"/>
            <a:ext cx="49434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Méthode</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6457808" y="3333750"/>
            <a:ext cx="5124355" cy="495300"/>
          </a:xfrm>
          <a:custGeom>
            <a:avLst/>
            <a:gdLst/>
            <a:ahLst/>
            <a:cxnLst/>
            <a:rect l="l" t="t" r="r" b="b"/>
            <a:pathLst>
              <a:path w="5124355" h="495300">
                <a:moveTo>
                  <a:pt x="37909" y="0"/>
                </a:moveTo>
                <a:lnTo>
                  <a:pt x="5086257" y="0"/>
                </a:lnTo>
                <a:cubicBezTo>
                  <a:pt x="5107297" y="0"/>
                  <a:pt x="5124355" y="17057"/>
                  <a:pt x="5124355" y="38097"/>
                </a:cubicBezTo>
                <a:lnTo>
                  <a:pt x="5124355" y="457203"/>
                </a:lnTo>
                <a:cubicBezTo>
                  <a:pt x="5124355" y="478243"/>
                  <a:pt x="5107297" y="495300"/>
                  <a:pt x="5086257" y="495300"/>
                </a:cubicBezTo>
                <a:lnTo>
                  <a:pt x="37909" y="495300"/>
                </a:lnTo>
                <a:cubicBezTo>
                  <a:pt x="16974" y="495300"/>
                  <a:pt x="0" y="478326"/>
                  <a:pt x="0" y="4573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457808" y="3333750"/>
            <a:ext cx="37910" cy="495300"/>
          </a:xfrm>
          <a:custGeom>
            <a:avLst/>
            <a:gdLst/>
            <a:ahLst/>
            <a:cxnLst/>
            <a:rect l="l" t="t" r="r" b="b"/>
            <a:pathLst>
              <a:path w="37910" h="495300">
                <a:moveTo>
                  <a:pt x="37910" y="0"/>
                </a:moveTo>
                <a:lnTo>
                  <a:pt x="37910" y="0"/>
                </a:lnTo>
                <a:lnTo>
                  <a:pt x="37910" y="495300"/>
                </a:lnTo>
                <a:lnTo>
                  <a:pt x="37910" y="495300"/>
                </a:lnTo>
                <a:cubicBezTo>
                  <a:pt x="16974" y="495300"/>
                  <a:pt x="0" y="478326"/>
                  <a:pt x="0" y="4573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591013" y="3447999"/>
            <a:ext cx="4962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Découper la matrice en blocs (Tile)</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6457808" y="3943203"/>
            <a:ext cx="5124355" cy="495300"/>
          </a:xfrm>
          <a:custGeom>
            <a:avLst/>
            <a:gdLst/>
            <a:ahLst/>
            <a:cxnLst/>
            <a:rect l="l" t="t" r="r" b="b"/>
            <a:pathLst>
              <a:path w="5124355" h="495300">
                <a:moveTo>
                  <a:pt x="37909" y="0"/>
                </a:moveTo>
                <a:lnTo>
                  <a:pt x="5086257" y="0"/>
                </a:lnTo>
                <a:cubicBezTo>
                  <a:pt x="5107297" y="0"/>
                  <a:pt x="5124355" y="17057"/>
                  <a:pt x="5124355" y="38097"/>
                </a:cubicBezTo>
                <a:lnTo>
                  <a:pt x="5124355" y="457203"/>
                </a:lnTo>
                <a:cubicBezTo>
                  <a:pt x="5124355" y="478243"/>
                  <a:pt x="5107297" y="495300"/>
                  <a:pt x="5086257" y="495300"/>
                </a:cubicBezTo>
                <a:lnTo>
                  <a:pt x="37909" y="495300"/>
                </a:lnTo>
                <a:cubicBezTo>
                  <a:pt x="16974" y="495300"/>
                  <a:pt x="0" y="478326"/>
                  <a:pt x="0" y="457391"/>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457808" y="3943203"/>
            <a:ext cx="37910" cy="495300"/>
          </a:xfrm>
          <a:custGeom>
            <a:avLst/>
            <a:gdLst/>
            <a:ahLst/>
            <a:cxnLst/>
            <a:rect l="l" t="t" r="r" b="b"/>
            <a:pathLst>
              <a:path w="37910" h="495300">
                <a:moveTo>
                  <a:pt x="37910" y="0"/>
                </a:moveTo>
                <a:lnTo>
                  <a:pt x="37910" y="0"/>
                </a:lnTo>
                <a:lnTo>
                  <a:pt x="37910" y="495300"/>
                </a:lnTo>
                <a:lnTo>
                  <a:pt x="37910" y="495300"/>
                </a:lnTo>
                <a:cubicBezTo>
                  <a:pt x="16974" y="495300"/>
                  <a:pt x="0" y="478326"/>
                  <a:pt x="0" y="4573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591013" y="4057455"/>
            <a:ext cx="4962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Charger un petit bloc à chaque fois</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457808" y="4552659"/>
            <a:ext cx="5124355" cy="495300"/>
          </a:xfrm>
          <a:custGeom>
            <a:avLst/>
            <a:gdLst/>
            <a:ahLst/>
            <a:cxnLst/>
            <a:rect l="l" t="t" r="r" b="b"/>
            <a:pathLst>
              <a:path w="5124355" h="495300">
                <a:moveTo>
                  <a:pt x="37909" y="0"/>
                </a:moveTo>
                <a:lnTo>
                  <a:pt x="5086257" y="0"/>
                </a:lnTo>
                <a:cubicBezTo>
                  <a:pt x="5107297" y="0"/>
                  <a:pt x="5124355" y="17057"/>
                  <a:pt x="5124355" y="38097"/>
                </a:cubicBezTo>
                <a:lnTo>
                  <a:pt x="5124355" y="457203"/>
                </a:lnTo>
                <a:cubicBezTo>
                  <a:pt x="5124355" y="478243"/>
                  <a:pt x="5107297" y="495300"/>
                  <a:pt x="5086257" y="495300"/>
                </a:cubicBezTo>
                <a:lnTo>
                  <a:pt x="37909" y="495300"/>
                </a:lnTo>
                <a:cubicBezTo>
                  <a:pt x="16974" y="495300"/>
                  <a:pt x="0" y="478326"/>
                  <a:pt x="0" y="457391"/>
                </a:cubicBezTo>
                <a:lnTo>
                  <a:pt x="0" y="37909"/>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457808" y="4552659"/>
            <a:ext cx="37910" cy="495300"/>
          </a:xfrm>
          <a:custGeom>
            <a:avLst/>
            <a:gdLst/>
            <a:ahLst/>
            <a:cxnLst/>
            <a:rect l="l" t="t" r="r" b="b"/>
            <a:pathLst>
              <a:path w="37910" h="495300">
                <a:moveTo>
                  <a:pt x="37910" y="0"/>
                </a:moveTo>
                <a:lnTo>
                  <a:pt x="37910" y="0"/>
                </a:lnTo>
                <a:lnTo>
                  <a:pt x="37910" y="495300"/>
                </a:lnTo>
                <a:lnTo>
                  <a:pt x="37910" y="495300"/>
                </a:lnTo>
                <a:cubicBezTo>
                  <a:pt x="16974" y="495300"/>
                  <a:pt x="0" y="478326"/>
                  <a:pt x="0" y="4573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591013" y="4666908"/>
            <a:ext cx="4962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Répéter l'utilisation</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380956" y="5454210"/>
            <a:ext cx="11430000" cy="647700"/>
          </a:xfrm>
          <a:custGeom>
            <a:avLst/>
            <a:gdLst/>
            <a:ahLst/>
            <a:cxnLst/>
            <a:rect l="l" t="t" r="r" b="b"/>
            <a:pathLst>
              <a:path w="11430000" h="647700">
                <a:moveTo>
                  <a:pt x="76203" y="0"/>
                </a:moveTo>
                <a:lnTo>
                  <a:pt x="11353797" y="0"/>
                </a:lnTo>
                <a:cubicBezTo>
                  <a:pt x="11395883" y="0"/>
                  <a:pt x="11430000" y="34117"/>
                  <a:pt x="11430000" y="76203"/>
                </a:cubicBezTo>
                <a:lnTo>
                  <a:pt x="11430000" y="571497"/>
                </a:lnTo>
                <a:cubicBezTo>
                  <a:pt x="11430000" y="613583"/>
                  <a:pt x="11395883" y="647700"/>
                  <a:pt x="11353797" y="647700"/>
                </a:cubicBezTo>
                <a:lnTo>
                  <a:pt x="76203" y="647700"/>
                </a:lnTo>
                <a:cubicBezTo>
                  <a:pt x="34117" y="647700"/>
                  <a:pt x="0" y="613583"/>
                  <a:pt x="0" y="5714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1974940" y="5760667"/>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3" y="60175"/>
                </a:cubicBezTo>
                <a:cubicBezTo>
                  <a:pt x="115226" y="62553"/>
                  <a:pt x="116365" y="67475"/>
                  <a:pt x="113988" y="7125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47609" y="5668147"/>
            <a:ext cx="108680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Par la réutilisation des données, réduire considérablement les accès mémoire inutiles</a:t>
            </a:r>
            <a:endParaRPr lang="en-US" sz="1600"/>
          </a:p>
        </p:txBody>
      </p:sp>
      <p:sp>
        <p:nvSpPr>
          <p:cNvPr id="24" name="AutoShape 24"/>
          <p:cNvSpPr/>
          <p:nvPr/>
        </p:nvSpPr>
        <p:spPr>
          <a:xfrm>
            <a:off x="380956" y="6324602"/>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27" name="AutoShape 24"/>
          <p:cNvSpPr/>
          <p:nvPr/>
        </p:nvSpPr>
        <p:spPr>
          <a:xfrm>
            <a:off x="409531" y="6325237"/>
            <a:ext cx="11487150" cy="152400"/>
          </a:xfrm>
          <a:prstGeom prst="rect">
            <a:avLst/>
          </a:prstGeom>
          <a:noFill/>
          <a:ln w="12700">
            <a:noFill/>
            <a:prstDash val="solid"/>
          </a:ln>
        </p:spPr>
        <p:txBody>
          <a:bodyPr wrap="square" lIns="0" tIns="0" rIns="0" bIns="0" rtlCol="0" anchor="ctr">
            <a:noAutofit/>
          </a:bodyPr>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186" y="604683"/>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Principe de base du Tiling</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57116"/>
            <a:ext cx="11430000" cy="1219200"/>
          </a:xfrm>
          <a:custGeom>
            <a:avLst/>
            <a:gdLst/>
            <a:ahLst/>
            <a:cxnLst/>
            <a:rect l="l" t="t" r="r" b="b"/>
            <a:pathLst>
              <a:path w="11430000" h="1219200">
                <a:moveTo>
                  <a:pt x="76200" y="0"/>
                </a:moveTo>
                <a:lnTo>
                  <a:pt x="11353800" y="0"/>
                </a:lnTo>
                <a:cubicBezTo>
                  <a:pt x="11395856" y="0"/>
                  <a:pt x="11430000" y="34144"/>
                  <a:pt x="11430000" y="76200"/>
                </a:cubicBezTo>
                <a:lnTo>
                  <a:pt x="11430000" y="1143000"/>
                </a:lnTo>
                <a:cubicBezTo>
                  <a:pt x="11430000" y="1185056"/>
                  <a:pt x="11395856" y="1219200"/>
                  <a:pt x="11353800" y="1219200"/>
                </a:cubicBezTo>
                <a:lnTo>
                  <a:pt x="76200" y="1219200"/>
                </a:lnTo>
                <a:cubicBezTo>
                  <a:pt x="34144" y="1219200"/>
                  <a:pt x="0" y="1185056"/>
                  <a:pt x="0" y="11430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91"/>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Diviser les matrices en</a:t>
            </a:r>
            <a:endParaRPr lang="en-US" sz="1600"/>
          </a:p>
        </p:txBody>
      </p:sp>
      <p:sp>
        <p:nvSpPr>
          <p:cNvPr id="5" name="AutoShape 5"/>
          <p:cNvSpPr/>
          <p:nvPr/>
        </p:nvSpPr>
        <p:spPr>
          <a:xfrm>
            <a:off x="609529" y="1866572"/>
            <a:ext cx="111442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blocs (Tile)</a:t>
            </a:r>
            <a:endParaRPr lang="en-US" sz="1800"/>
          </a:p>
        </p:txBody>
      </p:sp>
      <p:sp>
        <p:nvSpPr>
          <p:cNvPr id="6" name="Freeform 6"/>
          <p:cNvSpPr/>
          <p:nvPr>
            <p:custDataLst>
              <p:tags r:id="rId1"/>
            </p:custDataLst>
          </p:nvPr>
        </p:nvSpPr>
        <p:spPr>
          <a:xfrm>
            <a:off x="380956" y="2704674"/>
            <a:ext cx="5562600" cy="1638300"/>
          </a:xfrm>
          <a:custGeom>
            <a:avLst/>
            <a:gdLst/>
            <a:ahLst/>
            <a:cxnLst/>
            <a:rect l="l" t="t" r="r" b="b"/>
            <a:pathLst>
              <a:path w="5562600" h="1638300">
                <a:moveTo>
                  <a:pt x="76197" y="0"/>
                </a:moveTo>
                <a:lnTo>
                  <a:pt x="5486403" y="0"/>
                </a:lnTo>
                <a:cubicBezTo>
                  <a:pt x="5528485" y="0"/>
                  <a:pt x="5562600" y="34115"/>
                  <a:pt x="5562600" y="76197"/>
                </a:cubicBezTo>
                <a:lnTo>
                  <a:pt x="5562600" y="1562103"/>
                </a:lnTo>
                <a:cubicBezTo>
                  <a:pt x="5562600" y="1604185"/>
                  <a:pt x="5528485" y="1638300"/>
                  <a:pt x="54864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custDataLst>
              <p:tags r:id="rId2"/>
            </p:custDataLst>
          </p:nvPr>
        </p:nvSpPr>
        <p:spPr>
          <a:xfrm>
            <a:off x="609529" y="2933247"/>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Blocs de la matrice A</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custDataLst>
              <p:tags r:id="rId3"/>
            </p:custDataLst>
          </p:nvPr>
        </p:nvSpPr>
        <p:spPr>
          <a:xfrm>
            <a:off x="619007" y="3361813"/>
            <a:ext cx="5086255" cy="742855"/>
          </a:xfrm>
          <a:custGeom>
            <a:avLst/>
            <a:gdLst/>
            <a:ahLst/>
            <a:cxnLst/>
            <a:rect l="l" t="t" r="r" b="b"/>
            <a:pathLst>
              <a:path w="5086255" h="742855">
                <a:moveTo>
                  <a:pt x="38101" y="0"/>
                </a:moveTo>
                <a:lnTo>
                  <a:pt x="5048153" y="0"/>
                </a:lnTo>
                <a:cubicBezTo>
                  <a:pt x="5069197" y="0"/>
                  <a:pt x="5086255" y="17057"/>
                  <a:pt x="5086255" y="38101"/>
                </a:cubicBezTo>
                <a:lnTo>
                  <a:pt x="5086255" y="704753"/>
                </a:lnTo>
                <a:cubicBezTo>
                  <a:pt x="5086255" y="725797"/>
                  <a:pt x="5069197" y="742855"/>
                  <a:pt x="50481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AutoShape 9"/>
          <p:cNvSpPr/>
          <p:nvPr>
            <p:custDataLst>
              <p:tags r:id="rId4"/>
            </p:custDataLst>
          </p:nvPr>
        </p:nvSpPr>
        <p:spPr>
          <a:xfrm>
            <a:off x="747487" y="3561731"/>
            <a:ext cx="48291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BLOCK_M x BLOCK_K</a:t>
            </a:r>
            <a:endPar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Freeform 10"/>
          <p:cNvSpPr/>
          <p:nvPr>
            <p:custDataLst>
              <p:tags r:id="rId5"/>
            </p:custDataLst>
          </p:nvPr>
        </p:nvSpPr>
        <p:spPr>
          <a:xfrm>
            <a:off x="6248338" y="2704674"/>
            <a:ext cx="5562600" cy="1638300"/>
          </a:xfrm>
          <a:custGeom>
            <a:avLst/>
            <a:gdLst/>
            <a:ahLst/>
            <a:cxnLst/>
            <a:rect l="l" t="t" r="r" b="b"/>
            <a:pathLst>
              <a:path w="5562600" h="1638300">
                <a:moveTo>
                  <a:pt x="76197" y="0"/>
                </a:moveTo>
                <a:lnTo>
                  <a:pt x="5486403" y="0"/>
                </a:lnTo>
                <a:cubicBezTo>
                  <a:pt x="5528485" y="0"/>
                  <a:pt x="5562600" y="34115"/>
                  <a:pt x="5562600" y="76197"/>
                </a:cubicBezTo>
                <a:lnTo>
                  <a:pt x="5562600" y="1562103"/>
                </a:lnTo>
                <a:cubicBezTo>
                  <a:pt x="5562600" y="1604185"/>
                  <a:pt x="5528485" y="1638300"/>
                  <a:pt x="54864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custDataLst>
              <p:tags r:id="rId6"/>
            </p:custDataLst>
          </p:nvPr>
        </p:nvSpPr>
        <p:spPr>
          <a:xfrm>
            <a:off x="6476911" y="2933247"/>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Blocs de la matrice B</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custDataLst>
              <p:tags r:id="rId7"/>
            </p:custDataLst>
          </p:nvPr>
        </p:nvSpPr>
        <p:spPr>
          <a:xfrm>
            <a:off x="6486389" y="3361813"/>
            <a:ext cx="5086255" cy="742855"/>
          </a:xfrm>
          <a:custGeom>
            <a:avLst/>
            <a:gdLst/>
            <a:ahLst/>
            <a:cxnLst/>
            <a:rect l="l" t="t" r="r" b="b"/>
            <a:pathLst>
              <a:path w="5086255" h="742855">
                <a:moveTo>
                  <a:pt x="38101" y="0"/>
                </a:moveTo>
                <a:lnTo>
                  <a:pt x="5048153" y="0"/>
                </a:lnTo>
                <a:cubicBezTo>
                  <a:pt x="5069197" y="0"/>
                  <a:pt x="5086255" y="17057"/>
                  <a:pt x="5086255" y="38101"/>
                </a:cubicBezTo>
                <a:lnTo>
                  <a:pt x="5086255" y="704753"/>
                </a:lnTo>
                <a:cubicBezTo>
                  <a:pt x="5086255" y="725797"/>
                  <a:pt x="5069197" y="742855"/>
                  <a:pt x="50481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custDataLst>
              <p:tags r:id="rId8"/>
            </p:custDataLst>
          </p:nvPr>
        </p:nvSpPr>
        <p:spPr>
          <a:xfrm>
            <a:off x="6614869" y="3561731"/>
            <a:ext cx="48291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BLOCK_K x BLOCK_N</a:t>
            </a:r>
            <a:endPar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Freeform 14"/>
          <p:cNvSpPr/>
          <p:nvPr/>
        </p:nvSpPr>
        <p:spPr>
          <a:xfrm>
            <a:off x="380956" y="4571098"/>
            <a:ext cx="11430000" cy="1638300"/>
          </a:xfrm>
          <a:custGeom>
            <a:avLst/>
            <a:gdLst/>
            <a:ahLst/>
            <a:cxnLst/>
            <a:rect l="l" t="t" r="r" b="b"/>
            <a:pathLst>
              <a:path w="11430000" h="1638300">
                <a:moveTo>
                  <a:pt x="76197" y="0"/>
                </a:moveTo>
                <a:lnTo>
                  <a:pt x="11353803" y="0"/>
                </a:lnTo>
                <a:cubicBezTo>
                  <a:pt x="11395885" y="0"/>
                  <a:pt x="11430000" y="34115"/>
                  <a:pt x="11430000" y="76197"/>
                </a:cubicBezTo>
                <a:lnTo>
                  <a:pt x="11430000" y="1562103"/>
                </a:lnTo>
                <a:cubicBezTo>
                  <a:pt x="11430000" y="1604185"/>
                  <a:pt x="11395885" y="1638300"/>
                  <a:pt x="113538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57154" y="4828103"/>
            <a:ext cx="142875" cy="190500"/>
          </a:xfrm>
          <a:custGeom>
            <a:avLst/>
            <a:gdLst/>
            <a:ahLst/>
            <a:cxnLst/>
            <a:rect l="l" t="t" r="r" b="b"/>
            <a:pathLst>
              <a:path w="142875" h="190500">
                <a:moveTo>
                  <a:pt x="23812" y="0"/>
                </a:moveTo>
                <a:cubicBezTo>
                  <a:pt x="10678" y="0"/>
                  <a:pt x="0" y="10678"/>
                  <a:pt x="0" y="23813"/>
                </a:cubicBezTo>
                <a:lnTo>
                  <a:pt x="0" y="166687"/>
                </a:lnTo>
                <a:cubicBezTo>
                  <a:pt x="0" y="179822"/>
                  <a:pt x="10678" y="190500"/>
                  <a:pt x="23812" y="190500"/>
                </a:cubicBezTo>
                <a:lnTo>
                  <a:pt x="119062" y="190500"/>
                </a:lnTo>
                <a:cubicBezTo>
                  <a:pt x="132197" y="190500"/>
                  <a:pt x="142875" y="179822"/>
                  <a:pt x="142875" y="166687"/>
                </a:cubicBezTo>
                <a:lnTo>
                  <a:pt x="142875" y="23813"/>
                </a:lnTo>
                <a:cubicBezTo>
                  <a:pt x="142875" y="10678"/>
                  <a:pt x="132197" y="0"/>
                  <a:pt x="119062" y="0"/>
                </a:cubicBezTo>
                <a:lnTo>
                  <a:pt x="23812" y="0"/>
                </a:lnTo>
                <a:close/>
                <a:moveTo>
                  <a:pt x="35719" y="23813"/>
                </a:moveTo>
                <a:lnTo>
                  <a:pt x="107156" y="23813"/>
                </a:lnTo>
                <a:cubicBezTo>
                  <a:pt x="113742" y="23813"/>
                  <a:pt x="119062" y="29133"/>
                  <a:pt x="119062" y="35719"/>
                </a:cubicBezTo>
                <a:lnTo>
                  <a:pt x="119062" y="47625"/>
                </a:lnTo>
                <a:cubicBezTo>
                  <a:pt x="119062" y="54211"/>
                  <a:pt x="113742" y="59531"/>
                  <a:pt x="107156" y="59531"/>
                </a:cubicBezTo>
                <a:lnTo>
                  <a:pt x="35719" y="59531"/>
                </a:lnTo>
                <a:cubicBezTo>
                  <a:pt x="29133" y="59531"/>
                  <a:pt x="23812" y="54211"/>
                  <a:pt x="23812" y="47625"/>
                </a:cubicBezTo>
                <a:lnTo>
                  <a:pt x="23812" y="35719"/>
                </a:lnTo>
                <a:cubicBezTo>
                  <a:pt x="23812" y="29133"/>
                  <a:pt x="29133" y="23813"/>
                  <a:pt x="35719" y="23813"/>
                </a:cubicBezTo>
                <a:close/>
                <a:moveTo>
                  <a:pt x="41673" y="86321"/>
                </a:moveTo>
                <a:cubicBezTo>
                  <a:pt x="41673" y="91249"/>
                  <a:pt x="37671" y="95250"/>
                  <a:pt x="32742" y="95250"/>
                </a:cubicBezTo>
                <a:cubicBezTo>
                  <a:pt x="27814" y="95250"/>
                  <a:pt x="23812" y="91249"/>
                  <a:pt x="23812" y="86321"/>
                </a:cubicBezTo>
                <a:cubicBezTo>
                  <a:pt x="23812" y="81392"/>
                  <a:pt x="27814" y="77391"/>
                  <a:pt x="32742" y="77391"/>
                </a:cubicBezTo>
                <a:cubicBezTo>
                  <a:pt x="37671" y="77391"/>
                  <a:pt x="41673" y="81392"/>
                  <a:pt x="41673" y="86321"/>
                </a:cubicBezTo>
                <a:close/>
                <a:moveTo>
                  <a:pt x="71438" y="95250"/>
                </a:moveTo>
                <a:cubicBezTo>
                  <a:pt x="66509" y="95250"/>
                  <a:pt x="62508" y="91249"/>
                  <a:pt x="62508" y="86321"/>
                </a:cubicBezTo>
                <a:cubicBezTo>
                  <a:pt x="62508" y="81392"/>
                  <a:pt x="66509" y="77391"/>
                  <a:pt x="71438" y="77391"/>
                </a:cubicBezTo>
                <a:cubicBezTo>
                  <a:pt x="76366" y="77391"/>
                  <a:pt x="80367" y="81392"/>
                  <a:pt x="80367" y="86321"/>
                </a:cubicBezTo>
                <a:cubicBezTo>
                  <a:pt x="80367" y="91249"/>
                  <a:pt x="76366" y="95250"/>
                  <a:pt x="71438" y="95250"/>
                </a:cubicBezTo>
                <a:close/>
                <a:moveTo>
                  <a:pt x="119062" y="86321"/>
                </a:moveTo>
                <a:cubicBezTo>
                  <a:pt x="119062" y="91249"/>
                  <a:pt x="115061" y="95250"/>
                  <a:pt x="110133" y="95250"/>
                </a:cubicBezTo>
                <a:cubicBezTo>
                  <a:pt x="105204" y="95250"/>
                  <a:pt x="101202" y="91249"/>
                  <a:pt x="101202" y="86321"/>
                </a:cubicBezTo>
                <a:cubicBezTo>
                  <a:pt x="101202" y="81392"/>
                  <a:pt x="105204" y="77391"/>
                  <a:pt x="110133" y="77391"/>
                </a:cubicBezTo>
                <a:cubicBezTo>
                  <a:pt x="115061" y="77391"/>
                  <a:pt x="119062" y="81392"/>
                  <a:pt x="119062" y="86321"/>
                </a:cubicBezTo>
                <a:close/>
                <a:moveTo>
                  <a:pt x="32742" y="130969"/>
                </a:moveTo>
                <a:cubicBezTo>
                  <a:pt x="27814" y="130969"/>
                  <a:pt x="23812" y="126967"/>
                  <a:pt x="23812" y="122039"/>
                </a:cubicBezTo>
                <a:cubicBezTo>
                  <a:pt x="23812" y="117111"/>
                  <a:pt x="27814" y="113109"/>
                  <a:pt x="32742" y="113109"/>
                </a:cubicBezTo>
                <a:cubicBezTo>
                  <a:pt x="37671" y="113109"/>
                  <a:pt x="41673" y="117111"/>
                  <a:pt x="41673" y="122039"/>
                </a:cubicBezTo>
                <a:cubicBezTo>
                  <a:pt x="41673"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2" y="126967"/>
                  <a:pt x="101202" y="122039"/>
                </a:cubicBezTo>
                <a:cubicBezTo>
                  <a:pt x="101202" y="117111"/>
                  <a:pt x="105204" y="113109"/>
                  <a:pt x="110133" y="113109"/>
                </a:cubicBezTo>
                <a:cubicBezTo>
                  <a:pt x="115061" y="113109"/>
                  <a:pt x="119062" y="117111"/>
                  <a:pt x="119062" y="122039"/>
                </a:cubicBezTo>
                <a:cubicBezTo>
                  <a:pt x="119062" y="126967"/>
                  <a:pt x="115061" y="130969"/>
                  <a:pt x="110133" y="130969"/>
                </a:cubicBezTo>
                <a:close/>
                <a:moveTo>
                  <a:pt x="23812" y="157758"/>
                </a:moveTo>
                <a:cubicBezTo>
                  <a:pt x="23812" y="152809"/>
                  <a:pt x="27794" y="148827"/>
                  <a:pt x="32742" y="148827"/>
                </a:cubicBezTo>
                <a:lnTo>
                  <a:pt x="74414" y="148827"/>
                </a:lnTo>
                <a:cubicBezTo>
                  <a:pt x="79364" y="148827"/>
                  <a:pt x="83344" y="152809"/>
                  <a:pt x="83344" y="157758"/>
                </a:cubicBezTo>
                <a:cubicBezTo>
                  <a:pt x="83344" y="162706"/>
                  <a:pt x="79364" y="166687"/>
                  <a:pt x="74414" y="166687"/>
                </a:cubicBezTo>
                <a:lnTo>
                  <a:pt x="32742" y="166687"/>
                </a:lnTo>
                <a:cubicBezTo>
                  <a:pt x="27794" y="166687"/>
                  <a:pt x="23812" y="162706"/>
                  <a:pt x="23812" y="157758"/>
                </a:cubicBezTo>
                <a:close/>
                <a:moveTo>
                  <a:pt x="110133" y="148827"/>
                </a:moveTo>
                <a:cubicBezTo>
                  <a:pt x="115081" y="148827"/>
                  <a:pt x="119062" y="152809"/>
                  <a:pt x="119062" y="157758"/>
                </a:cubicBezTo>
                <a:cubicBezTo>
                  <a:pt x="119062" y="162706"/>
                  <a:pt x="115081" y="166687"/>
                  <a:pt x="110133" y="166687"/>
                </a:cubicBezTo>
                <a:cubicBezTo>
                  <a:pt x="105184" y="166687"/>
                  <a:pt x="101202" y="162706"/>
                  <a:pt x="101202" y="157758"/>
                </a:cubicBezTo>
                <a:cubicBezTo>
                  <a:pt x="101202" y="152809"/>
                  <a:pt x="105184" y="148827"/>
                  <a:pt x="110133" y="14882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04804" y="4799670"/>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 de resultat</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619007" y="5228236"/>
            <a:ext cx="10953655" cy="742855"/>
          </a:xfrm>
          <a:custGeom>
            <a:avLst/>
            <a:gdLst/>
            <a:ahLst/>
            <a:cxnLst/>
            <a:rect l="l" t="t" r="r" b="b"/>
            <a:pathLst>
              <a:path w="10953655" h="742855">
                <a:moveTo>
                  <a:pt x="38101" y="0"/>
                </a:moveTo>
                <a:lnTo>
                  <a:pt x="10915553" y="0"/>
                </a:lnTo>
                <a:cubicBezTo>
                  <a:pt x="10936597" y="0"/>
                  <a:pt x="10953655" y="17057"/>
                  <a:pt x="10953655" y="38101"/>
                </a:cubicBezTo>
                <a:lnTo>
                  <a:pt x="10953655" y="704753"/>
                </a:lnTo>
                <a:cubicBezTo>
                  <a:pt x="10953655" y="725797"/>
                  <a:pt x="10936597" y="742855"/>
                  <a:pt x="109155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747487" y="5428155"/>
            <a:ext cx="106965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BLOCK_M x BLOCK_N</a:t>
            </a:r>
            <a:endParaRPr lang="en-US" sz="16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380956" y="6361328"/>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2033" y="647586"/>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Flux de calcul Tile</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380956" y="2041020"/>
            <a:ext cx="11430023" cy="1616710"/>
            <a:chOff x="380956" y="2041020"/>
            <a:chExt cx="11430023" cy="1616710"/>
          </a:xfrm>
        </p:grpSpPr>
        <p:sp>
          <p:nvSpPr>
            <p:cNvPr id="4" name="Freeform 4"/>
            <p:cNvSpPr/>
            <p:nvPr/>
          </p:nvSpPr>
          <p:spPr>
            <a:xfrm>
              <a:off x="380956" y="204102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1485838"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428688"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7" name="AutoShape 7"/>
            <p:cNvSpPr/>
            <p:nvPr/>
          </p:nvSpPr>
          <p:spPr>
            <a:xfrm>
              <a:off x="528534"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Charger Tile A</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533296"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 la m</a:t>
              </a:r>
              <a:r>
                <a:rPr lang="en-US" alt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moire globale</a:t>
              </a:r>
              <a:endPar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3276514"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381470"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4324320"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3424092"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Charger Tile B</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3428855"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depuis la m</a:t>
              </a:r>
              <a:r>
                <a:rPr lang="en-US" alt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moire globale</a:t>
              </a:r>
              <a:endPar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6172147"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7277103"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219953"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6319725"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Calculer Partial Sum</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6324487"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multiplication matricielle locale</a:t>
              </a:r>
              <a:endPar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9067779" y="2057530"/>
              <a:ext cx="2743200" cy="1600200"/>
            </a:xfrm>
            <a:custGeom>
              <a:avLst/>
              <a:gdLst/>
              <a:ahLst/>
              <a:cxnLst/>
              <a:rect l="l" t="t" r="r" b="b"/>
              <a:pathLst>
                <a:path w="2743200" h="1600200">
                  <a:moveTo>
                    <a:pt x="76203" y="0"/>
                  </a:moveTo>
                  <a:lnTo>
                    <a:pt x="2666997" y="0"/>
                  </a:lnTo>
                  <a:cubicBezTo>
                    <a:pt x="2709083" y="0"/>
                    <a:pt x="2743200" y="34117"/>
                    <a:pt x="2743200" y="76203"/>
                  </a:cubicBezTo>
                  <a:lnTo>
                    <a:pt x="2743200" y="1523997"/>
                  </a:lnTo>
                  <a:cubicBezTo>
                    <a:pt x="2743200" y="1566083"/>
                    <a:pt x="2709083" y="1600200"/>
                    <a:pt x="26669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0172735" y="224797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10115585" y="2247970"/>
              <a:ext cx="647700" cy="533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9215357" y="2895558"/>
              <a:ext cx="2447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Repeter dimension K</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9220120" y="3238453"/>
              <a:ext cx="2438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a:t>
              </a:r>
              <a:r>
                <a:rPr lang="en-US" alt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ter jusqu’à l’ach</a:t>
              </a:r>
              <a:r>
                <a:rPr lang="en-US" alt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vement</a:t>
              </a:r>
              <a:endParaRPr lang="en-US" altLang="zh-CN"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24" name="Freeform 24"/>
          <p:cNvSpPr/>
          <p:nvPr/>
        </p:nvSpPr>
        <p:spPr>
          <a:xfrm>
            <a:off x="380956" y="3886042"/>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952429" y="4114614"/>
            <a:ext cx="107442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Avantages</a:t>
            </a:r>
            <a:endParaRPr lang="en-US" sz="1100"/>
          </a:p>
        </p:txBody>
      </p:sp>
      <p:sp>
        <p:nvSpPr>
          <p:cNvPr id="26" name="Freeform 26"/>
          <p:cNvSpPr/>
          <p:nvPr/>
        </p:nvSpPr>
        <p:spPr>
          <a:xfrm>
            <a:off x="609529" y="4571688"/>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14286" y="4724070"/>
            <a:ext cx="33432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duire le nombre d’acc</a:t>
            </a:r>
            <a:r>
              <a:rPr lang="en-US" alt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s m</a:t>
            </a:r>
            <a:r>
              <a:rPr lang="en-US" alt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moire</a:t>
            </a:r>
            <a:endPar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nvSpPr>
        <p:spPr>
          <a:xfrm>
            <a:off x="4317941" y="4571688"/>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4422698" y="4724070"/>
            <a:ext cx="33432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Am</a:t>
            </a:r>
            <a:r>
              <a:rPr lang="en-US" alt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liorer la r</a:t>
            </a:r>
            <a:r>
              <a:rPr lang="en-US" alt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utilisation des donn</a:t>
            </a:r>
            <a:r>
              <a:rPr lang="en-US" alt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es</a:t>
            </a:r>
            <a:endPar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Freeform 30"/>
          <p:cNvSpPr/>
          <p:nvPr/>
        </p:nvSpPr>
        <p:spPr>
          <a:xfrm>
            <a:off x="8026353" y="4571688"/>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8131110" y="4724070"/>
            <a:ext cx="33432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Optimiser l’exploitation du cache</a:t>
            </a:r>
            <a:endParaRPr lang="en-US" altLang="zh-CN"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380956" y="6324600"/>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186" y="620428"/>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Principe de reutilisation des donnees</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438058" y="1245006"/>
            <a:ext cx="5543455" cy="2952655"/>
          </a:xfrm>
          <a:custGeom>
            <a:avLst/>
            <a:gdLst/>
            <a:ahLst/>
            <a:cxnLst/>
            <a:rect l="l" t="t" r="r" b="b"/>
            <a:pathLst>
              <a:path w="5543455" h="2952655">
                <a:moveTo>
                  <a:pt x="76208" y="0"/>
                </a:moveTo>
                <a:lnTo>
                  <a:pt x="5467247" y="0"/>
                </a:lnTo>
                <a:cubicBezTo>
                  <a:pt x="5509336" y="0"/>
                  <a:pt x="5543455" y="34119"/>
                  <a:pt x="5543455" y="76208"/>
                </a:cubicBezTo>
                <a:lnTo>
                  <a:pt x="5543455" y="2876447"/>
                </a:lnTo>
                <a:cubicBezTo>
                  <a:pt x="5543455" y="2918536"/>
                  <a:pt x="5509336" y="2952655"/>
                  <a:pt x="5467247" y="2952655"/>
                </a:cubicBezTo>
                <a:lnTo>
                  <a:pt x="76208" y="2952655"/>
                </a:lnTo>
                <a:cubicBezTo>
                  <a:pt x="34119" y="2952655"/>
                  <a:pt x="0" y="2918536"/>
                  <a:pt x="0" y="2876447"/>
                </a:cubicBezTo>
                <a:lnTo>
                  <a:pt x="0" y="76208"/>
                </a:lnTo>
                <a:cubicBezTo>
                  <a:pt x="0" y="34148"/>
                  <a:pt x="34148" y="0"/>
                  <a:pt x="76208" y="0"/>
                </a:cubicBezTo>
                <a:close/>
              </a:path>
            </a:pathLst>
          </a:custGeom>
          <a:solidFill>
            <a:srgbClr val="F3F4F6">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4" name="AutoShape 4"/>
          <p:cNvSpPr/>
          <p:nvPr/>
        </p:nvSpPr>
        <p:spPr>
          <a:xfrm>
            <a:off x="628484" y="1504648"/>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Methode Naive</a:t>
            </a:r>
            <a:endParaRPr lang="en-US" sz="1800"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28484" y="1961717"/>
            <a:ext cx="5067300" cy="571500"/>
          </a:xfrm>
          <a:custGeom>
            <a:avLst/>
            <a:gdLst/>
            <a:ahLst/>
            <a:cxnLst/>
            <a:rect l="l" t="t" r="r" b="b"/>
            <a:pathLst>
              <a:path w="5067300" h="571500">
                <a:moveTo>
                  <a:pt x="38103" y="0"/>
                </a:moveTo>
                <a:lnTo>
                  <a:pt x="5029197" y="0"/>
                </a:lnTo>
                <a:cubicBezTo>
                  <a:pt x="5050241" y="0"/>
                  <a:pt x="5067300" y="17059"/>
                  <a:pt x="5067300" y="38103"/>
                </a:cubicBezTo>
                <a:lnTo>
                  <a:pt x="5067300" y="533397"/>
                </a:lnTo>
                <a:cubicBezTo>
                  <a:pt x="5067300" y="554441"/>
                  <a:pt x="5050241" y="571500"/>
                  <a:pt x="50291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80866" y="2114104"/>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Lire les donnees </a:t>
            </a:r>
            <a:r>
              <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à</a:t>
            </a:r>
            <a:r>
              <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chaque calcul</a:t>
            </a:r>
            <a:endPar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7" name="Freeform 7"/>
          <p:cNvSpPr/>
          <p:nvPr/>
        </p:nvSpPr>
        <p:spPr>
          <a:xfrm>
            <a:off x="628484" y="2685571"/>
            <a:ext cx="5067300" cy="571500"/>
          </a:xfrm>
          <a:custGeom>
            <a:avLst/>
            <a:gdLst/>
            <a:ahLst/>
            <a:cxnLst/>
            <a:rect l="l" t="t" r="r" b="b"/>
            <a:pathLst>
              <a:path w="5067300" h="571500">
                <a:moveTo>
                  <a:pt x="38103" y="0"/>
                </a:moveTo>
                <a:lnTo>
                  <a:pt x="5029197" y="0"/>
                </a:lnTo>
                <a:cubicBezTo>
                  <a:pt x="5050241" y="0"/>
                  <a:pt x="5067300" y="17059"/>
                  <a:pt x="5067300" y="38103"/>
                </a:cubicBezTo>
                <a:lnTo>
                  <a:pt x="5067300" y="533397"/>
                </a:lnTo>
                <a:cubicBezTo>
                  <a:pt x="5067300" y="554441"/>
                  <a:pt x="5050241" y="571500"/>
                  <a:pt x="50291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80866" y="2837952"/>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Aucune r</a:t>
            </a:r>
            <a:r>
              <a:rPr lang="en-US" alt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utilisation des donn</a:t>
            </a:r>
            <a:r>
              <a:rPr lang="en-US" alt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es</a:t>
            </a:r>
            <a:endPar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628484" y="3409424"/>
            <a:ext cx="5067300" cy="571500"/>
          </a:xfrm>
          <a:custGeom>
            <a:avLst/>
            <a:gdLst/>
            <a:ahLst/>
            <a:cxnLst/>
            <a:rect l="l" t="t" r="r" b="b"/>
            <a:pathLst>
              <a:path w="5067300" h="571500">
                <a:moveTo>
                  <a:pt x="38103" y="0"/>
                </a:moveTo>
                <a:lnTo>
                  <a:pt x="5029197" y="0"/>
                </a:lnTo>
                <a:cubicBezTo>
                  <a:pt x="5050241" y="0"/>
                  <a:pt x="5067300" y="17059"/>
                  <a:pt x="5067300" y="38103"/>
                </a:cubicBezTo>
                <a:lnTo>
                  <a:pt x="5067300" y="533397"/>
                </a:lnTo>
                <a:cubicBezTo>
                  <a:pt x="5067300" y="554441"/>
                  <a:pt x="5050241" y="571500"/>
                  <a:pt x="50291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80866" y="3561806"/>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Forte consommation de bande passante m</a:t>
            </a:r>
            <a:r>
              <a:rPr lang="en-US" alt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moire</a:t>
            </a:r>
            <a:endParaRPr lang="en-US" altLang="zh-CN"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3031564" y="4380807"/>
            <a:ext cx="261460" cy="344976"/>
          </a:xfrm>
          <a:custGeom>
            <a:avLst/>
            <a:gdLst/>
            <a:ahLst/>
            <a:cxnLst/>
            <a:rect l="l" t="t" r="r" b="b"/>
            <a:pathLst>
              <a:path w="261460" h="344976">
                <a:moveTo>
                  <a:pt x="115594" y="336605"/>
                </a:moveTo>
                <a:cubicBezTo>
                  <a:pt x="123965" y="344976"/>
                  <a:pt x="137561" y="344976"/>
                  <a:pt x="145931" y="336605"/>
                </a:cubicBezTo>
                <a:lnTo>
                  <a:pt x="253089" y="229448"/>
                </a:lnTo>
                <a:cubicBezTo>
                  <a:pt x="261459" y="221077"/>
                  <a:pt x="261459" y="207481"/>
                  <a:pt x="253089" y="199111"/>
                </a:cubicBezTo>
                <a:cubicBezTo>
                  <a:pt x="244717" y="190737"/>
                  <a:pt x="231122" y="190737"/>
                  <a:pt x="222750" y="199111"/>
                </a:cubicBezTo>
                <a:lnTo>
                  <a:pt x="152161" y="269698"/>
                </a:lnTo>
                <a:lnTo>
                  <a:pt x="152161" y="21431"/>
                </a:lnTo>
                <a:cubicBezTo>
                  <a:pt x="152161" y="9577"/>
                  <a:pt x="142584" y="0"/>
                  <a:pt x="130730" y="0"/>
                </a:cubicBezTo>
                <a:cubicBezTo>
                  <a:pt x="118875" y="0"/>
                  <a:pt x="109298" y="9577"/>
                  <a:pt x="109298" y="21431"/>
                </a:cubicBezTo>
                <a:lnTo>
                  <a:pt x="109298" y="269698"/>
                </a:lnTo>
                <a:lnTo>
                  <a:pt x="38709" y="199111"/>
                </a:lnTo>
                <a:cubicBezTo>
                  <a:pt x="30337" y="190737"/>
                  <a:pt x="16742" y="190737"/>
                  <a:pt x="8370" y="199111"/>
                </a:cubicBezTo>
                <a:cubicBezTo>
                  <a:pt x="0" y="207481"/>
                  <a:pt x="0" y="221077"/>
                  <a:pt x="8370" y="229448"/>
                </a:cubicBezTo>
                <a:lnTo>
                  <a:pt x="115528" y="336605"/>
                </a:lnTo>
                <a:close/>
              </a:path>
            </a:pathLst>
          </a:custGeom>
          <a:solidFill>
            <a:srgbClr val="99A1A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48338" y="1276076"/>
            <a:ext cx="5562600" cy="2933700"/>
          </a:xfrm>
          <a:custGeom>
            <a:avLst/>
            <a:gdLst/>
            <a:ahLst/>
            <a:cxnLst/>
            <a:rect l="l" t="t" r="r" b="b"/>
            <a:pathLst>
              <a:path w="5562600" h="2933700">
                <a:moveTo>
                  <a:pt x="76189" y="0"/>
                </a:moveTo>
                <a:lnTo>
                  <a:pt x="5486411" y="0"/>
                </a:lnTo>
                <a:cubicBezTo>
                  <a:pt x="5528489" y="0"/>
                  <a:pt x="5562600" y="34111"/>
                  <a:pt x="5562600" y="76189"/>
                </a:cubicBezTo>
                <a:lnTo>
                  <a:pt x="5562600" y="2857511"/>
                </a:lnTo>
                <a:cubicBezTo>
                  <a:pt x="5562600" y="2899589"/>
                  <a:pt x="5528489" y="2933700"/>
                  <a:pt x="5486411" y="2933700"/>
                </a:cubicBezTo>
                <a:lnTo>
                  <a:pt x="76189" y="2933700"/>
                </a:lnTo>
                <a:cubicBezTo>
                  <a:pt x="34111" y="2933700"/>
                  <a:pt x="0" y="2899589"/>
                  <a:pt x="0" y="2857511"/>
                </a:cubicBezTo>
                <a:lnTo>
                  <a:pt x="0" y="76189"/>
                </a:lnTo>
                <a:cubicBezTo>
                  <a:pt x="0" y="34139"/>
                  <a:pt x="34139" y="0"/>
                  <a:pt x="7618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76911" y="1504648"/>
            <a:ext cx="5219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Methode Tiled</a:t>
            </a:r>
            <a:endPar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6476911" y="1961717"/>
            <a:ext cx="5105400" cy="571500"/>
          </a:xfrm>
          <a:custGeom>
            <a:avLst/>
            <a:gdLst/>
            <a:ahLst/>
            <a:cxnLst/>
            <a:rect l="l" t="t" r="r" b="b"/>
            <a:pathLst>
              <a:path w="5105400" h="571500">
                <a:moveTo>
                  <a:pt x="38103" y="0"/>
                </a:moveTo>
                <a:lnTo>
                  <a:pt x="5067297" y="0"/>
                </a:lnTo>
                <a:cubicBezTo>
                  <a:pt x="5088341" y="0"/>
                  <a:pt x="5105400" y="17059"/>
                  <a:pt x="5105400" y="38103"/>
                </a:cubicBezTo>
                <a:lnTo>
                  <a:pt x="5105400" y="533397"/>
                </a:lnTo>
                <a:cubicBezTo>
                  <a:pt x="5105400" y="554441"/>
                  <a:pt x="5088341" y="571500"/>
                  <a:pt x="50672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6629293" y="2114104"/>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Lire une fois</a:t>
            </a:r>
            <a:endParaRPr lang="en-US" sz="16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6476911" y="2685571"/>
            <a:ext cx="5105400" cy="571500"/>
          </a:xfrm>
          <a:custGeom>
            <a:avLst/>
            <a:gdLst/>
            <a:ahLst/>
            <a:cxnLst/>
            <a:rect l="l" t="t" r="r" b="b"/>
            <a:pathLst>
              <a:path w="5105400" h="571500">
                <a:moveTo>
                  <a:pt x="38103" y="0"/>
                </a:moveTo>
                <a:lnTo>
                  <a:pt x="5067297" y="0"/>
                </a:lnTo>
                <a:cubicBezTo>
                  <a:pt x="5088341" y="0"/>
                  <a:pt x="5105400" y="17059"/>
                  <a:pt x="5105400" y="38103"/>
                </a:cubicBezTo>
                <a:lnTo>
                  <a:pt x="5105400" y="533397"/>
                </a:lnTo>
                <a:cubicBezTo>
                  <a:pt x="5105400" y="554441"/>
                  <a:pt x="5088341" y="571500"/>
                  <a:pt x="50672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629293" y="2837952"/>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Utiliser plusieurs fois</a:t>
            </a:r>
            <a:endParaRPr lang="en-US" sz="16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476911" y="3409424"/>
            <a:ext cx="5105400" cy="571500"/>
          </a:xfrm>
          <a:custGeom>
            <a:avLst/>
            <a:gdLst/>
            <a:ahLst/>
            <a:cxnLst/>
            <a:rect l="l" t="t" r="r" b="b"/>
            <a:pathLst>
              <a:path w="5105400" h="571500">
                <a:moveTo>
                  <a:pt x="38103" y="0"/>
                </a:moveTo>
                <a:lnTo>
                  <a:pt x="5067297" y="0"/>
                </a:lnTo>
                <a:cubicBezTo>
                  <a:pt x="5088341" y="0"/>
                  <a:pt x="5105400" y="17059"/>
                  <a:pt x="5105400" y="38103"/>
                </a:cubicBezTo>
                <a:lnTo>
                  <a:pt x="5105400" y="533397"/>
                </a:lnTo>
                <a:cubicBezTo>
                  <a:pt x="5105400" y="554441"/>
                  <a:pt x="5088341" y="571500"/>
                  <a:pt x="50672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629293" y="3561806"/>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Reutilisation efficace</a:t>
            </a:r>
            <a:endParaRPr lang="en-US" sz="16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8898947" y="4365132"/>
            <a:ext cx="261460" cy="344976"/>
          </a:xfrm>
          <a:custGeom>
            <a:avLst/>
            <a:gdLst/>
            <a:ahLst/>
            <a:cxnLst/>
            <a:rect l="l" t="t" r="r" b="b"/>
            <a:pathLst>
              <a:path w="261460" h="344976">
                <a:moveTo>
                  <a:pt x="145865" y="8372"/>
                </a:moveTo>
                <a:cubicBezTo>
                  <a:pt x="137494" y="0"/>
                  <a:pt x="123898" y="0"/>
                  <a:pt x="115528" y="8372"/>
                </a:cubicBezTo>
                <a:lnTo>
                  <a:pt x="8370" y="115526"/>
                </a:lnTo>
                <a:cubicBezTo>
                  <a:pt x="0" y="123900"/>
                  <a:pt x="0" y="137495"/>
                  <a:pt x="8370" y="145866"/>
                </a:cubicBezTo>
                <a:cubicBezTo>
                  <a:pt x="16742" y="154237"/>
                  <a:pt x="30337" y="154237"/>
                  <a:pt x="38709" y="145866"/>
                </a:cubicBezTo>
                <a:lnTo>
                  <a:pt x="109298" y="75276"/>
                </a:lnTo>
                <a:lnTo>
                  <a:pt x="109298" y="323545"/>
                </a:lnTo>
                <a:cubicBezTo>
                  <a:pt x="109298" y="335399"/>
                  <a:pt x="118875" y="344976"/>
                  <a:pt x="130729" y="344976"/>
                </a:cubicBezTo>
                <a:cubicBezTo>
                  <a:pt x="142584" y="344976"/>
                  <a:pt x="152161" y="335399"/>
                  <a:pt x="152161" y="323545"/>
                </a:cubicBezTo>
                <a:lnTo>
                  <a:pt x="152161" y="75276"/>
                </a:lnTo>
                <a:lnTo>
                  <a:pt x="222750" y="145866"/>
                </a:lnTo>
                <a:cubicBezTo>
                  <a:pt x="231122" y="154237"/>
                  <a:pt x="244717" y="154237"/>
                  <a:pt x="253089" y="145866"/>
                </a:cubicBezTo>
                <a:cubicBezTo>
                  <a:pt x="261459" y="137495"/>
                  <a:pt x="261459" y="123900"/>
                  <a:pt x="253089" y="115526"/>
                </a:cubicBezTo>
                <a:lnTo>
                  <a:pt x="145931" y="837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80956" y="4908663"/>
            <a:ext cx="11430000" cy="1524000"/>
          </a:xfrm>
          <a:custGeom>
            <a:avLst/>
            <a:gdLst/>
            <a:ahLst/>
            <a:cxnLst/>
            <a:rect l="l" t="t" r="r" b="b"/>
            <a:pathLst>
              <a:path w="11430000" h="1524000">
                <a:moveTo>
                  <a:pt x="76200" y="0"/>
                </a:moveTo>
                <a:lnTo>
                  <a:pt x="11353800" y="0"/>
                </a:lnTo>
                <a:cubicBezTo>
                  <a:pt x="11395856" y="0"/>
                  <a:pt x="11430000" y="34144"/>
                  <a:pt x="11430000" y="76200"/>
                </a:cubicBezTo>
                <a:lnTo>
                  <a:pt x="11430000" y="1447800"/>
                </a:lnTo>
                <a:cubicBezTo>
                  <a:pt x="11430000" y="1489856"/>
                  <a:pt x="11395856" y="1524000"/>
                  <a:pt x="11353800" y="1524000"/>
                </a:cubicBezTo>
                <a:lnTo>
                  <a:pt x="76200" y="1524000"/>
                </a:lnTo>
                <a:cubicBezTo>
                  <a:pt x="34144" y="1524000"/>
                  <a:pt x="0" y="1489856"/>
                  <a:pt x="0" y="14478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09529" y="5137240"/>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de reutilisation</a:t>
            </a:r>
            <a:endParaRPr lang="en-US" sz="1100"/>
          </a:p>
        </p:txBody>
      </p:sp>
      <p:sp>
        <p:nvSpPr>
          <p:cNvPr id="23" name="Freeform 23"/>
          <p:cNvSpPr/>
          <p:nvPr/>
        </p:nvSpPr>
        <p:spPr>
          <a:xfrm>
            <a:off x="628484" y="5556326"/>
            <a:ext cx="5352955" cy="647700"/>
          </a:xfrm>
          <a:custGeom>
            <a:avLst/>
            <a:gdLst/>
            <a:ahLst/>
            <a:cxnLst/>
            <a:rect l="l" t="t" r="r" b="b"/>
            <a:pathLst>
              <a:path w="5352955" h="647700">
                <a:moveTo>
                  <a:pt x="37910" y="0"/>
                </a:moveTo>
                <a:lnTo>
                  <a:pt x="5314859" y="0"/>
                </a:lnTo>
                <a:cubicBezTo>
                  <a:pt x="5335883" y="0"/>
                  <a:pt x="5352955" y="17071"/>
                  <a:pt x="5352955" y="38097"/>
                </a:cubicBezTo>
                <a:lnTo>
                  <a:pt x="5352955" y="609603"/>
                </a:lnTo>
                <a:cubicBezTo>
                  <a:pt x="5352955" y="630643"/>
                  <a:pt x="5335897" y="647700"/>
                  <a:pt x="5314859" y="647700"/>
                </a:cubicBezTo>
                <a:lnTo>
                  <a:pt x="37910" y="647700"/>
                </a:lnTo>
                <a:cubicBezTo>
                  <a:pt x="16974" y="647700"/>
                  <a:pt x="0" y="630726"/>
                  <a:pt x="0" y="6097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8484" y="5556326"/>
            <a:ext cx="37909" cy="647700"/>
          </a:xfrm>
          <a:custGeom>
            <a:avLst/>
            <a:gdLst/>
            <a:ahLst/>
            <a:cxnLst/>
            <a:rect l="l" t="t" r="r" b="b"/>
            <a:pathLst>
              <a:path w="37909" h="647700">
                <a:moveTo>
                  <a:pt x="37910" y="0"/>
                </a:moveTo>
                <a:lnTo>
                  <a:pt x="37910" y="0"/>
                </a:lnTo>
                <a:lnTo>
                  <a:pt x="37910" y="647700"/>
                </a:lnTo>
                <a:lnTo>
                  <a:pt x="37910" y="647700"/>
                </a:lnTo>
                <a:cubicBezTo>
                  <a:pt x="16974" y="647700"/>
                  <a:pt x="0" y="630726"/>
                  <a:pt x="0" y="6097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99822" y="5708707"/>
            <a:ext cx="5114925" cy="3429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Tile reutilise </a:t>
            </a:r>
            <a:r>
              <a:rPr lang="en-US" sz="2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32</a:t>
            </a:r>
            <a:r>
              <a:rPr lang="en-US" sz="18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fois</a:t>
            </a:r>
            <a:endParaRPr lang="en-US" sz="1800"/>
          </a:p>
        </p:txBody>
      </p:sp>
      <p:sp>
        <p:nvSpPr>
          <p:cNvPr id="26" name="Freeform 26"/>
          <p:cNvSpPr/>
          <p:nvPr/>
        </p:nvSpPr>
        <p:spPr>
          <a:xfrm>
            <a:off x="6229234" y="5452821"/>
            <a:ext cx="5352955" cy="647700"/>
          </a:xfrm>
          <a:custGeom>
            <a:avLst/>
            <a:gdLst/>
            <a:ahLst/>
            <a:cxnLst/>
            <a:rect l="l" t="t" r="r" b="b"/>
            <a:pathLst>
              <a:path w="5352955" h="647700">
                <a:moveTo>
                  <a:pt x="37910" y="0"/>
                </a:moveTo>
                <a:lnTo>
                  <a:pt x="5314859" y="0"/>
                </a:lnTo>
                <a:cubicBezTo>
                  <a:pt x="5335883" y="0"/>
                  <a:pt x="5352955" y="17071"/>
                  <a:pt x="5352955" y="38097"/>
                </a:cubicBezTo>
                <a:lnTo>
                  <a:pt x="5352955" y="609603"/>
                </a:lnTo>
                <a:cubicBezTo>
                  <a:pt x="5352955" y="630643"/>
                  <a:pt x="5335897" y="647700"/>
                  <a:pt x="5314859" y="647700"/>
                </a:cubicBezTo>
                <a:lnTo>
                  <a:pt x="37910" y="647700"/>
                </a:lnTo>
                <a:cubicBezTo>
                  <a:pt x="16974" y="647700"/>
                  <a:pt x="0" y="630726"/>
                  <a:pt x="0" y="6097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6229234" y="5556326"/>
            <a:ext cx="37910" cy="647700"/>
          </a:xfrm>
          <a:custGeom>
            <a:avLst/>
            <a:gdLst/>
            <a:ahLst/>
            <a:cxnLst/>
            <a:rect l="l" t="t" r="r" b="b"/>
            <a:pathLst>
              <a:path w="37910" h="647700">
                <a:moveTo>
                  <a:pt x="37910" y="0"/>
                </a:moveTo>
                <a:lnTo>
                  <a:pt x="37910" y="0"/>
                </a:lnTo>
                <a:lnTo>
                  <a:pt x="37910" y="647700"/>
                </a:lnTo>
                <a:lnTo>
                  <a:pt x="37910" y="647700"/>
                </a:lnTo>
                <a:cubicBezTo>
                  <a:pt x="16974" y="647700"/>
                  <a:pt x="0" y="630726"/>
                  <a:pt x="0" y="6097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400572" y="5708707"/>
            <a:ext cx="5114925" cy="3429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Reduction des acces </a:t>
            </a:r>
            <a:r>
              <a:rPr lang="en-US" sz="2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32x</a:t>
            </a:r>
            <a:endParaRPr lang="en-US" sz="2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380956" y="6589314"/>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664" y="614928"/>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Calcul vs Rapport d'accès mémoire</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custDataLst>
              <p:tags r:id="rId1"/>
            </p:custDataLst>
          </p:nvPr>
        </p:nvSpPr>
        <p:spPr>
          <a:xfrm>
            <a:off x="380956" y="1257119"/>
            <a:ext cx="5562600" cy="2095500"/>
          </a:xfrm>
          <a:custGeom>
            <a:avLst/>
            <a:gdLst/>
            <a:ahLst/>
            <a:cxnLst/>
            <a:rect l="l" t="t" r="r" b="b"/>
            <a:pathLst>
              <a:path w="5562600" h="2095500">
                <a:moveTo>
                  <a:pt x="76192" y="0"/>
                </a:moveTo>
                <a:lnTo>
                  <a:pt x="5486408" y="0"/>
                </a:lnTo>
                <a:cubicBezTo>
                  <a:pt x="5528488" y="0"/>
                  <a:pt x="5562600" y="34112"/>
                  <a:pt x="5562600" y="76192"/>
                </a:cubicBezTo>
                <a:lnTo>
                  <a:pt x="5562600" y="2019308"/>
                </a:lnTo>
                <a:cubicBezTo>
                  <a:pt x="5562600" y="2061388"/>
                  <a:pt x="5528488" y="2095500"/>
                  <a:pt x="5486408" y="2095500"/>
                </a:cubicBezTo>
                <a:lnTo>
                  <a:pt x="76192" y="2095500"/>
                </a:lnTo>
                <a:cubicBezTo>
                  <a:pt x="34112" y="2095500"/>
                  <a:pt x="0" y="2061388"/>
                  <a:pt x="0" y="2019308"/>
                </a:cubicBezTo>
                <a:lnTo>
                  <a:pt x="0" y="76192"/>
                </a:lnTo>
                <a:cubicBezTo>
                  <a:pt x="0" y="34141"/>
                  <a:pt x="34141" y="0"/>
                  <a:pt x="761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custDataLst>
              <p:tags r:id="rId2"/>
            </p:custDataLst>
          </p:nvPr>
        </p:nvSpPr>
        <p:spPr>
          <a:xfrm>
            <a:off x="638104" y="1509382"/>
            <a:ext cx="228600" cy="228600"/>
          </a:xfrm>
          <a:custGeom>
            <a:avLst/>
            <a:gdLst/>
            <a:ahLst/>
            <a:cxnLst/>
            <a:rect l="l" t="t" r="r" b="b"/>
            <a:pathLst>
              <a:path w="228600" h="228600">
                <a:moveTo>
                  <a:pt x="78581" y="10716"/>
                </a:moveTo>
                <a:cubicBezTo>
                  <a:pt x="78581" y="4776"/>
                  <a:pt x="73804" y="0"/>
                  <a:pt x="67866" y="0"/>
                </a:cubicBezTo>
                <a:cubicBezTo>
                  <a:pt x="61926" y="0"/>
                  <a:pt x="57150" y="4776"/>
                  <a:pt x="57150" y="10716"/>
                </a:cubicBezTo>
                <a:lnTo>
                  <a:pt x="57150" y="28575"/>
                </a:lnTo>
                <a:cubicBezTo>
                  <a:pt x="41389" y="28575"/>
                  <a:pt x="28575" y="41389"/>
                  <a:pt x="28575" y="57150"/>
                </a:cubicBezTo>
                <a:lnTo>
                  <a:pt x="10716" y="57150"/>
                </a:lnTo>
                <a:cubicBezTo>
                  <a:pt x="4776" y="57150"/>
                  <a:pt x="0" y="61926"/>
                  <a:pt x="0" y="67866"/>
                </a:cubicBezTo>
                <a:cubicBezTo>
                  <a:pt x="0" y="73804"/>
                  <a:pt x="4776" y="78581"/>
                  <a:pt x="10716" y="78581"/>
                </a:cubicBezTo>
                <a:lnTo>
                  <a:pt x="28575" y="78581"/>
                </a:lnTo>
                <a:lnTo>
                  <a:pt x="28575" y="103584"/>
                </a:lnTo>
                <a:lnTo>
                  <a:pt x="10716" y="103584"/>
                </a:lnTo>
                <a:cubicBezTo>
                  <a:pt x="4776" y="103584"/>
                  <a:pt x="0" y="108361"/>
                  <a:pt x="0" y="114300"/>
                </a:cubicBezTo>
                <a:cubicBezTo>
                  <a:pt x="0" y="120239"/>
                  <a:pt x="4776" y="125016"/>
                  <a:pt x="10716" y="125016"/>
                </a:cubicBezTo>
                <a:lnTo>
                  <a:pt x="28575" y="125016"/>
                </a:lnTo>
                <a:lnTo>
                  <a:pt x="28575" y="150019"/>
                </a:lnTo>
                <a:lnTo>
                  <a:pt x="10716" y="150019"/>
                </a:lnTo>
                <a:cubicBezTo>
                  <a:pt x="4776" y="150019"/>
                  <a:pt x="0" y="154796"/>
                  <a:pt x="0" y="160734"/>
                </a:cubicBezTo>
                <a:cubicBezTo>
                  <a:pt x="0" y="166674"/>
                  <a:pt x="4776" y="171450"/>
                  <a:pt x="10716" y="171450"/>
                </a:cubicBezTo>
                <a:lnTo>
                  <a:pt x="28575" y="171450"/>
                </a:lnTo>
                <a:cubicBezTo>
                  <a:pt x="28575" y="187211"/>
                  <a:pt x="41389" y="200025"/>
                  <a:pt x="57150" y="200025"/>
                </a:cubicBezTo>
                <a:lnTo>
                  <a:pt x="57150" y="217884"/>
                </a:lnTo>
                <a:cubicBezTo>
                  <a:pt x="57150" y="223824"/>
                  <a:pt x="61926" y="228600"/>
                  <a:pt x="67866" y="228600"/>
                </a:cubicBezTo>
                <a:cubicBezTo>
                  <a:pt x="73804" y="228600"/>
                  <a:pt x="78581" y="223824"/>
                  <a:pt x="78581" y="217884"/>
                </a:cubicBezTo>
                <a:lnTo>
                  <a:pt x="78581" y="200025"/>
                </a:lnTo>
                <a:lnTo>
                  <a:pt x="103584" y="200025"/>
                </a:lnTo>
                <a:lnTo>
                  <a:pt x="103584" y="217884"/>
                </a:lnTo>
                <a:cubicBezTo>
                  <a:pt x="103584" y="223824"/>
                  <a:pt x="108361" y="228600"/>
                  <a:pt x="114300" y="228600"/>
                </a:cubicBezTo>
                <a:cubicBezTo>
                  <a:pt x="120239" y="228600"/>
                  <a:pt x="125016" y="223824"/>
                  <a:pt x="125016" y="217884"/>
                </a:cubicBezTo>
                <a:lnTo>
                  <a:pt x="125016" y="200025"/>
                </a:lnTo>
                <a:lnTo>
                  <a:pt x="150019" y="200025"/>
                </a:lnTo>
                <a:lnTo>
                  <a:pt x="150019" y="217884"/>
                </a:lnTo>
                <a:cubicBezTo>
                  <a:pt x="150019" y="223824"/>
                  <a:pt x="154796" y="228600"/>
                  <a:pt x="160734" y="228600"/>
                </a:cubicBezTo>
                <a:cubicBezTo>
                  <a:pt x="166674" y="228600"/>
                  <a:pt x="171450" y="223824"/>
                  <a:pt x="171450" y="217884"/>
                </a:cubicBezTo>
                <a:lnTo>
                  <a:pt x="171450" y="200025"/>
                </a:lnTo>
                <a:cubicBezTo>
                  <a:pt x="187211" y="200025"/>
                  <a:pt x="200025" y="187211"/>
                  <a:pt x="200025" y="171450"/>
                </a:cubicBezTo>
                <a:lnTo>
                  <a:pt x="217884" y="171450"/>
                </a:lnTo>
                <a:cubicBezTo>
                  <a:pt x="223824" y="171450"/>
                  <a:pt x="228600" y="166674"/>
                  <a:pt x="228600" y="160734"/>
                </a:cubicBezTo>
                <a:cubicBezTo>
                  <a:pt x="228600" y="154796"/>
                  <a:pt x="223824" y="150019"/>
                  <a:pt x="217884" y="150019"/>
                </a:cubicBezTo>
                <a:lnTo>
                  <a:pt x="200025" y="150019"/>
                </a:lnTo>
                <a:lnTo>
                  <a:pt x="200025" y="125016"/>
                </a:lnTo>
                <a:lnTo>
                  <a:pt x="217884" y="125016"/>
                </a:lnTo>
                <a:cubicBezTo>
                  <a:pt x="223824" y="125016"/>
                  <a:pt x="228600" y="120239"/>
                  <a:pt x="228600" y="114300"/>
                </a:cubicBezTo>
                <a:cubicBezTo>
                  <a:pt x="228600" y="108361"/>
                  <a:pt x="223824" y="103584"/>
                  <a:pt x="217884" y="103584"/>
                </a:cubicBezTo>
                <a:lnTo>
                  <a:pt x="200025" y="103584"/>
                </a:lnTo>
                <a:lnTo>
                  <a:pt x="200025" y="78581"/>
                </a:lnTo>
                <a:lnTo>
                  <a:pt x="217884" y="78581"/>
                </a:lnTo>
                <a:cubicBezTo>
                  <a:pt x="223824" y="78581"/>
                  <a:pt x="228600" y="73804"/>
                  <a:pt x="228600" y="67866"/>
                </a:cubicBezTo>
                <a:cubicBezTo>
                  <a:pt x="228600" y="61926"/>
                  <a:pt x="223824" y="57150"/>
                  <a:pt x="217884" y="57150"/>
                </a:cubicBezTo>
                <a:lnTo>
                  <a:pt x="200025" y="57150"/>
                </a:lnTo>
                <a:cubicBezTo>
                  <a:pt x="200025" y="41389"/>
                  <a:pt x="187211" y="28575"/>
                  <a:pt x="171450" y="28575"/>
                </a:cubicBezTo>
                <a:lnTo>
                  <a:pt x="171450" y="10716"/>
                </a:lnTo>
                <a:cubicBezTo>
                  <a:pt x="171450" y="4776"/>
                  <a:pt x="166674" y="0"/>
                  <a:pt x="160734" y="0"/>
                </a:cubicBezTo>
                <a:cubicBezTo>
                  <a:pt x="154796" y="0"/>
                  <a:pt x="150019" y="4776"/>
                  <a:pt x="150019" y="10716"/>
                </a:cubicBezTo>
                <a:lnTo>
                  <a:pt x="150019" y="28575"/>
                </a:lnTo>
                <a:lnTo>
                  <a:pt x="125016" y="28575"/>
                </a:lnTo>
                <a:lnTo>
                  <a:pt x="125016" y="10716"/>
                </a:lnTo>
                <a:cubicBezTo>
                  <a:pt x="125016" y="4776"/>
                  <a:pt x="120239" y="0"/>
                  <a:pt x="114300" y="0"/>
                </a:cubicBezTo>
                <a:cubicBezTo>
                  <a:pt x="108361" y="0"/>
                  <a:pt x="103584" y="4776"/>
                  <a:pt x="103584" y="10716"/>
                </a:cubicBezTo>
                <a:lnTo>
                  <a:pt x="103584" y="28575"/>
                </a:lnTo>
                <a:lnTo>
                  <a:pt x="78581" y="28575"/>
                </a:lnTo>
                <a:lnTo>
                  <a:pt x="78581" y="10716"/>
                </a:lnTo>
                <a:close/>
                <a:moveTo>
                  <a:pt x="71438" y="57150"/>
                </a:moveTo>
                <a:lnTo>
                  <a:pt x="157162" y="57150"/>
                </a:lnTo>
                <a:cubicBezTo>
                  <a:pt x="165064" y="57150"/>
                  <a:pt x="171450" y="63536"/>
                  <a:pt x="171450" y="71438"/>
                </a:cubicBezTo>
                <a:lnTo>
                  <a:pt x="171450" y="157162"/>
                </a:lnTo>
                <a:cubicBezTo>
                  <a:pt x="171450" y="165064"/>
                  <a:pt x="165064" y="171450"/>
                  <a:pt x="157162" y="171450"/>
                </a:cubicBezTo>
                <a:lnTo>
                  <a:pt x="71438" y="171450"/>
                </a:lnTo>
                <a:cubicBezTo>
                  <a:pt x="63536" y="171450"/>
                  <a:pt x="57150" y="165064"/>
                  <a:pt x="57150" y="157162"/>
                </a:cubicBezTo>
                <a:lnTo>
                  <a:pt x="57150" y="71438"/>
                </a:lnTo>
                <a:cubicBezTo>
                  <a:pt x="57150" y="63536"/>
                  <a:pt x="63536" y="57150"/>
                  <a:pt x="71438" y="57150"/>
                </a:cubicBezTo>
                <a:close/>
                <a:moveTo>
                  <a:pt x="78581" y="78581"/>
                </a:moveTo>
                <a:lnTo>
                  <a:pt x="78581" y="150019"/>
                </a:lnTo>
                <a:lnTo>
                  <a:pt x="150019" y="150019"/>
                </a:lnTo>
                <a:lnTo>
                  <a:pt x="150019" y="78581"/>
                </a:lnTo>
                <a:lnTo>
                  <a:pt x="78581" y="78581"/>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custDataLst>
              <p:tags r:id="rId3"/>
            </p:custDataLst>
          </p:nvPr>
        </p:nvSpPr>
        <p:spPr>
          <a:xfrm>
            <a:off x="952429" y="1485691"/>
            <a:ext cx="4876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Calcul</a:t>
            </a:r>
            <a:endParaRPr lang="en-US" sz="1100"/>
          </a:p>
        </p:txBody>
      </p:sp>
      <p:sp>
        <p:nvSpPr>
          <p:cNvPr id="6" name="Freeform 6"/>
          <p:cNvSpPr/>
          <p:nvPr>
            <p:custDataLst>
              <p:tags r:id="rId4"/>
            </p:custDataLst>
          </p:nvPr>
        </p:nvSpPr>
        <p:spPr>
          <a:xfrm>
            <a:off x="619007" y="1952243"/>
            <a:ext cx="5086255" cy="1161955"/>
          </a:xfrm>
          <a:custGeom>
            <a:avLst/>
            <a:gdLst/>
            <a:ahLst/>
            <a:cxnLst/>
            <a:rect l="l" t="t" r="r" b="b"/>
            <a:pathLst>
              <a:path w="5086255" h="1161955">
                <a:moveTo>
                  <a:pt x="38101" y="0"/>
                </a:moveTo>
                <a:lnTo>
                  <a:pt x="5048155" y="0"/>
                </a:lnTo>
                <a:cubicBezTo>
                  <a:pt x="5069197" y="0"/>
                  <a:pt x="5086255" y="17057"/>
                  <a:pt x="5086255" y="38101"/>
                </a:cubicBezTo>
                <a:lnTo>
                  <a:pt x="5086255" y="1123855"/>
                </a:lnTo>
                <a:cubicBezTo>
                  <a:pt x="5086255" y="1144897"/>
                  <a:pt x="5069197" y="1161955"/>
                  <a:pt x="5048155" y="1161955"/>
                </a:cubicBezTo>
                <a:lnTo>
                  <a:pt x="38101" y="1161955"/>
                </a:lnTo>
                <a:cubicBezTo>
                  <a:pt x="17057" y="1161955"/>
                  <a:pt x="0" y="1144897"/>
                  <a:pt x="0" y="1123855"/>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7" name="AutoShape 7"/>
          <p:cNvSpPr/>
          <p:nvPr>
            <p:custDataLst>
              <p:tags r:id="rId5"/>
            </p:custDataLst>
          </p:nvPr>
        </p:nvSpPr>
        <p:spPr>
          <a:xfrm>
            <a:off x="771332" y="2190290"/>
            <a:ext cx="47815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146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a:t>
            </a:r>
            <a:endParaRPr lang="en-US" sz="1100"/>
          </a:p>
        </p:txBody>
      </p:sp>
      <p:sp>
        <p:nvSpPr>
          <p:cNvPr id="8" name="AutoShape 8"/>
          <p:cNvSpPr/>
          <p:nvPr>
            <p:custDataLst>
              <p:tags r:id="rId6"/>
            </p:custDataLst>
          </p:nvPr>
        </p:nvSpPr>
        <p:spPr>
          <a:xfrm>
            <a:off x="818957" y="2647438"/>
            <a:ext cx="46863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Nombre d'opérations en virgule flottante</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custDataLst>
              <p:tags r:id="rId7"/>
            </p:custDataLst>
          </p:nvPr>
        </p:nvSpPr>
        <p:spPr>
          <a:xfrm>
            <a:off x="6248338" y="1257119"/>
            <a:ext cx="5562600" cy="2095500"/>
          </a:xfrm>
          <a:custGeom>
            <a:avLst/>
            <a:gdLst/>
            <a:ahLst/>
            <a:cxnLst/>
            <a:rect l="l" t="t" r="r" b="b"/>
            <a:pathLst>
              <a:path w="5562600" h="2095500">
                <a:moveTo>
                  <a:pt x="76192" y="0"/>
                </a:moveTo>
                <a:lnTo>
                  <a:pt x="5486408" y="0"/>
                </a:lnTo>
                <a:cubicBezTo>
                  <a:pt x="5528488" y="0"/>
                  <a:pt x="5562600" y="34112"/>
                  <a:pt x="5562600" y="76192"/>
                </a:cubicBezTo>
                <a:lnTo>
                  <a:pt x="5562600" y="2019308"/>
                </a:lnTo>
                <a:cubicBezTo>
                  <a:pt x="5562600" y="2061388"/>
                  <a:pt x="5528488" y="2095500"/>
                  <a:pt x="5486408" y="2095500"/>
                </a:cubicBezTo>
                <a:lnTo>
                  <a:pt x="76192" y="2095500"/>
                </a:lnTo>
                <a:cubicBezTo>
                  <a:pt x="34112" y="2095500"/>
                  <a:pt x="0" y="2061388"/>
                  <a:pt x="0" y="2019308"/>
                </a:cubicBezTo>
                <a:lnTo>
                  <a:pt x="0" y="76192"/>
                </a:lnTo>
                <a:cubicBezTo>
                  <a:pt x="0" y="34141"/>
                  <a:pt x="34141" y="0"/>
                  <a:pt x="761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custDataLst>
              <p:tags r:id="rId8"/>
            </p:custDataLst>
          </p:nvPr>
        </p:nvSpPr>
        <p:spPr>
          <a:xfrm>
            <a:off x="6505486" y="1537957"/>
            <a:ext cx="228600" cy="171450"/>
          </a:xfrm>
          <a:custGeom>
            <a:avLst/>
            <a:gdLst/>
            <a:ahLst/>
            <a:cxnLst/>
            <a:rect l="l" t="t" r="r" b="b"/>
            <a:pathLst>
              <a:path w="228600" h="171450">
                <a:moveTo>
                  <a:pt x="28575" y="0"/>
                </a:moveTo>
                <a:cubicBezTo>
                  <a:pt x="12814" y="0"/>
                  <a:pt x="0" y="12814"/>
                  <a:pt x="0" y="28575"/>
                </a:cubicBezTo>
                <a:lnTo>
                  <a:pt x="0" y="31880"/>
                </a:lnTo>
                <a:cubicBezTo>
                  <a:pt x="0" y="34915"/>
                  <a:pt x="1965" y="37504"/>
                  <a:pt x="4509" y="39157"/>
                </a:cubicBezTo>
                <a:cubicBezTo>
                  <a:pt x="10403" y="42996"/>
                  <a:pt x="14288" y="49604"/>
                  <a:pt x="14288" y="57150"/>
                </a:cubicBezTo>
                <a:cubicBezTo>
                  <a:pt x="14288" y="64696"/>
                  <a:pt x="10403" y="71304"/>
                  <a:pt x="4509" y="75143"/>
                </a:cubicBezTo>
                <a:cubicBezTo>
                  <a:pt x="1965" y="76796"/>
                  <a:pt x="0" y="79385"/>
                  <a:pt x="0" y="82420"/>
                </a:cubicBezTo>
                <a:lnTo>
                  <a:pt x="0" y="107156"/>
                </a:lnTo>
                <a:lnTo>
                  <a:pt x="228600" y="107156"/>
                </a:lnTo>
                <a:lnTo>
                  <a:pt x="228600" y="82420"/>
                </a:lnTo>
                <a:cubicBezTo>
                  <a:pt x="228600" y="79385"/>
                  <a:pt x="226635" y="76796"/>
                  <a:pt x="224092" y="75143"/>
                </a:cubicBezTo>
                <a:cubicBezTo>
                  <a:pt x="218197" y="71304"/>
                  <a:pt x="214313" y="64696"/>
                  <a:pt x="214313" y="57150"/>
                </a:cubicBezTo>
                <a:cubicBezTo>
                  <a:pt x="214313" y="49604"/>
                  <a:pt x="218197" y="42996"/>
                  <a:pt x="224092" y="39157"/>
                </a:cubicBezTo>
                <a:cubicBezTo>
                  <a:pt x="226635" y="37504"/>
                  <a:pt x="228600" y="34915"/>
                  <a:pt x="228600" y="31880"/>
                </a:cubicBezTo>
                <a:lnTo>
                  <a:pt x="228600" y="28575"/>
                </a:lnTo>
                <a:cubicBezTo>
                  <a:pt x="228600" y="12814"/>
                  <a:pt x="215786" y="0"/>
                  <a:pt x="200025" y="0"/>
                </a:cubicBezTo>
                <a:lnTo>
                  <a:pt x="28575" y="0"/>
                </a:lnTo>
                <a:close/>
                <a:moveTo>
                  <a:pt x="228600" y="157162"/>
                </a:moveTo>
                <a:lnTo>
                  <a:pt x="228600" y="128587"/>
                </a:lnTo>
                <a:lnTo>
                  <a:pt x="0" y="128587"/>
                </a:lnTo>
                <a:lnTo>
                  <a:pt x="0" y="157162"/>
                </a:lnTo>
                <a:cubicBezTo>
                  <a:pt x="0" y="165064"/>
                  <a:pt x="6386" y="171450"/>
                  <a:pt x="14288" y="171450"/>
                </a:cubicBezTo>
                <a:lnTo>
                  <a:pt x="42863" y="171450"/>
                </a:lnTo>
                <a:lnTo>
                  <a:pt x="42863" y="160734"/>
                </a:lnTo>
                <a:cubicBezTo>
                  <a:pt x="42863" y="154796"/>
                  <a:pt x="47640" y="150019"/>
                  <a:pt x="53577" y="150019"/>
                </a:cubicBezTo>
                <a:cubicBezTo>
                  <a:pt x="59516" y="150019"/>
                  <a:pt x="64294" y="154796"/>
                  <a:pt x="64294" y="160734"/>
                </a:cubicBezTo>
                <a:lnTo>
                  <a:pt x="64294" y="171450"/>
                </a:lnTo>
                <a:lnTo>
                  <a:pt x="103584" y="171450"/>
                </a:lnTo>
                <a:lnTo>
                  <a:pt x="103584" y="160734"/>
                </a:lnTo>
                <a:cubicBezTo>
                  <a:pt x="103584" y="154796"/>
                  <a:pt x="108361" y="150019"/>
                  <a:pt x="114300" y="150019"/>
                </a:cubicBezTo>
                <a:cubicBezTo>
                  <a:pt x="120239" y="150019"/>
                  <a:pt x="125016" y="154796"/>
                  <a:pt x="125016" y="160734"/>
                </a:cubicBezTo>
                <a:lnTo>
                  <a:pt x="125016" y="171450"/>
                </a:lnTo>
                <a:lnTo>
                  <a:pt x="164306" y="171450"/>
                </a:lnTo>
                <a:lnTo>
                  <a:pt x="164306" y="160734"/>
                </a:lnTo>
                <a:cubicBezTo>
                  <a:pt x="164306" y="154796"/>
                  <a:pt x="169084" y="150019"/>
                  <a:pt x="175023" y="150019"/>
                </a:cubicBezTo>
                <a:cubicBezTo>
                  <a:pt x="180960" y="150019"/>
                  <a:pt x="185738" y="154796"/>
                  <a:pt x="185738" y="160734"/>
                </a:cubicBezTo>
                <a:lnTo>
                  <a:pt x="185738" y="171450"/>
                </a:lnTo>
                <a:lnTo>
                  <a:pt x="214313" y="171450"/>
                </a:lnTo>
                <a:cubicBezTo>
                  <a:pt x="222214" y="171450"/>
                  <a:pt x="228600" y="165064"/>
                  <a:pt x="228600" y="157162"/>
                </a:cubicBezTo>
                <a:close/>
                <a:moveTo>
                  <a:pt x="71438" y="42863"/>
                </a:moveTo>
                <a:lnTo>
                  <a:pt x="71438" y="71437"/>
                </a:lnTo>
                <a:cubicBezTo>
                  <a:pt x="71438" y="79339"/>
                  <a:pt x="65053" y="85725"/>
                  <a:pt x="57150" y="85725"/>
                </a:cubicBezTo>
                <a:cubicBezTo>
                  <a:pt x="49247" y="85725"/>
                  <a:pt x="42863" y="79339"/>
                  <a:pt x="42863" y="71437"/>
                </a:cubicBezTo>
                <a:lnTo>
                  <a:pt x="42863" y="42863"/>
                </a:lnTo>
                <a:cubicBezTo>
                  <a:pt x="42863" y="34961"/>
                  <a:pt x="49247" y="28575"/>
                  <a:pt x="57150" y="28575"/>
                </a:cubicBezTo>
                <a:cubicBezTo>
                  <a:pt x="65053" y="28575"/>
                  <a:pt x="71438" y="34961"/>
                  <a:pt x="71438" y="42863"/>
                </a:cubicBezTo>
                <a:close/>
                <a:moveTo>
                  <a:pt x="128588" y="42863"/>
                </a:moveTo>
                <a:lnTo>
                  <a:pt x="128588" y="71437"/>
                </a:lnTo>
                <a:cubicBezTo>
                  <a:pt x="128588" y="79339"/>
                  <a:pt x="122203" y="85725"/>
                  <a:pt x="114300" y="85725"/>
                </a:cubicBezTo>
                <a:cubicBezTo>
                  <a:pt x="106397" y="85725"/>
                  <a:pt x="100013" y="79339"/>
                  <a:pt x="100013" y="71437"/>
                </a:cubicBezTo>
                <a:lnTo>
                  <a:pt x="100013" y="42863"/>
                </a:lnTo>
                <a:cubicBezTo>
                  <a:pt x="100013" y="34961"/>
                  <a:pt x="106397" y="28575"/>
                  <a:pt x="114300" y="28575"/>
                </a:cubicBezTo>
                <a:cubicBezTo>
                  <a:pt x="122203" y="28575"/>
                  <a:pt x="128588" y="34961"/>
                  <a:pt x="128588" y="42863"/>
                </a:cubicBezTo>
                <a:close/>
                <a:moveTo>
                  <a:pt x="185738" y="42863"/>
                </a:moveTo>
                <a:lnTo>
                  <a:pt x="185738" y="71437"/>
                </a:lnTo>
                <a:cubicBezTo>
                  <a:pt x="185738" y="79339"/>
                  <a:pt x="179353" y="85725"/>
                  <a:pt x="171450" y="85725"/>
                </a:cubicBezTo>
                <a:cubicBezTo>
                  <a:pt x="163547" y="85725"/>
                  <a:pt x="157163" y="79339"/>
                  <a:pt x="157163" y="71437"/>
                </a:cubicBezTo>
                <a:lnTo>
                  <a:pt x="157163" y="42863"/>
                </a:lnTo>
                <a:cubicBezTo>
                  <a:pt x="157163" y="34961"/>
                  <a:pt x="163547" y="28575"/>
                  <a:pt x="171450" y="28575"/>
                </a:cubicBezTo>
                <a:cubicBezTo>
                  <a:pt x="179353" y="28575"/>
                  <a:pt x="185738" y="34961"/>
                  <a:pt x="185738" y="4286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custDataLst>
              <p:tags r:id="rId9"/>
            </p:custDataLst>
          </p:nvPr>
        </p:nvSpPr>
        <p:spPr>
          <a:xfrm>
            <a:off x="6819811" y="1485691"/>
            <a:ext cx="4876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Accès mémoire</a:t>
            </a:r>
            <a:endParaRPr lang="en-US" sz="1100"/>
          </a:p>
        </p:txBody>
      </p:sp>
      <p:sp>
        <p:nvSpPr>
          <p:cNvPr id="12" name="Freeform 12"/>
          <p:cNvSpPr/>
          <p:nvPr>
            <p:custDataLst>
              <p:tags r:id="rId10"/>
            </p:custDataLst>
          </p:nvPr>
        </p:nvSpPr>
        <p:spPr>
          <a:xfrm>
            <a:off x="6486389" y="1952243"/>
            <a:ext cx="5086255" cy="1161955"/>
          </a:xfrm>
          <a:custGeom>
            <a:avLst/>
            <a:gdLst/>
            <a:ahLst/>
            <a:cxnLst/>
            <a:rect l="l" t="t" r="r" b="b"/>
            <a:pathLst>
              <a:path w="5086255" h="1161955">
                <a:moveTo>
                  <a:pt x="38101" y="0"/>
                </a:moveTo>
                <a:lnTo>
                  <a:pt x="5048155" y="0"/>
                </a:lnTo>
                <a:cubicBezTo>
                  <a:pt x="5069197" y="0"/>
                  <a:pt x="5086255" y="17057"/>
                  <a:pt x="5086255" y="38101"/>
                </a:cubicBezTo>
                <a:lnTo>
                  <a:pt x="5086255" y="1123855"/>
                </a:lnTo>
                <a:cubicBezTo>
                  <a:pt x="5086255" y="1144897"/>
                  <a:pt x="5069197" y="1161955"/>
                  <a:pt x="5048155" y="1161955"/>
                </a:cubicBezTo>
                <a:lnTo>
                  <a:pt x="38101" y="1161955"/>
                </a:lnTo>
                <a:cubicBezTo>
                  <a:pt x="17057" y="1161955"/>
                  <a:pt x="0" y="1144897"/>
                  <a:pt x="0" y="1123855"/>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custDataLst>
              <p:tags r:id="rId11"/>
            </p:custDataLst>
          </p:nvPr>
        </p:nvSpPr>
        <p:spPr>
          <a:xfrm>
            <a:off x="6638715" y="2190290"/>
            <a:ext cx="47815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146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Bytes</a:t>
            </a:r>
            <a:endParaRPr lang="en-US" sz="1100"/>
          </a:p>
        </p:txBody>
      </p:sp>
      <p:sp>
        <p:nvSpPr>
          <p:cNvPr id="14" name="AutoShape 14"/>
          <p:cNvSpPr/>
          <p:nvPr>
            <p:custDataLst>
              <p:tags r:id="rId12"/>
            </p:custDataLst>
          </p:nvPr>
        </p:nvSpPr>
        <p:spPr>
          <a:xfrm>
            <a:off x="6686340" y="2647438"/>
            <a:ext cx="46863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Nombre d'octets accédés en mémoire</a:t>
            </a:r>
            <a:endParaRPr lang="en-US"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380956" y="3580688"/>
            <a:ext cx="11430000" cy="2057400"/>
          </a:xfrm>
          <a:custGeom>
            <a:avLst/>
            <a:gdLst/>
            <a:ahLst/>
            <a:cxnLst/>
            <a:rect l="l" t="t" r="r" b="b"/>
            <a:pathLst>
              <a:path w="11430000" h="2057400">
                <a:moveTo>
                  <a:pt x="76206" y="0"/>
                </a:moveTo>
                <a:lnTo>
                  <a:pt x="11353794" y="0"/>
                </a:lnTo>
                <a:cubicBezTo>
                  <a:pt x="11395881" y="0"/>
                  <a:pt x="11430000" y="34119"/>
                  <a:pt x="11430000" y="76206"/>
                </a:cubicBezTo>
                <a:lnTo>
                  <a:pt x="11430000" y="1981194"/>
                </a:lnTo>
                <a:cubicBezTo>
                  <a:pt x="11430000" y="2023281"/>
                  <a:pt x="11395881" y="2057400"/>
                  <a:pt x="11353794" y="2057400"/>
                </a:cubicBezTo>
                <a:lnTo>
                  <a:pt x="76206" y="2057400"/>
                </a:lnTo>
                <a:cubicBezTo>
                  <a:pt x="34119" y="2057400"/>
                  <a:pt x="0" y="2023281"/>
                  <a:pt x="0" y="1981194"/>
                </a:cubicBezTo>
                <a:lnTo>
                  <a:pt x="0" y="76206"/>
                </a:lnTo>
                <a:cubicBezTo>
                  <a:pt x="0" y="34146"/>
                  <a:pt x="34146" y="0"/>
                  <a:pt x="76206"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529" y="3809261"/>
            <a:ext cx="11087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Objectif d'optimisation</a:t>
            </a:r>
            <a:endParaRPr lang="en-US" sz="1100"/>
          </a:p>
        </p:txBody>
      </p:sp>
      <p:sp>
        <p:nvSpPr>
          <p:cNvPr id="17" name="Freeform 17"/>
          <p:cNvSpPr/>
          <p:nvPr/>
        </p:nvSpPr>
        <p:spPr>
          <a:xfrm>
            <a:off x="609529" y="4266335"/>
            <a:ext cx="10972800" cy="1143000"/>
          </a:xfrm>
          <a:custGeom>
            <a:avLst/>
            <a:gdLst/>
            <a:ahLst/>
            <a:cxnLst/>
            <a:rect l="l" t="t" r="r" b="b"/>
            <a:pathLst>
              <a:path w="10972800" h="1143000">
                <a:moveTo>
                  <a:pt x="38096" y="0"/>
                </a:moveTo>
                <a:lnTo>
                  <a:pt x="10934704" y="0"/>
                </a:lnTo>
                <a:cubicBezTo>
                  <a:pt x="10955744" y="0"/>
                  <a:pt x="10972800" y="17056"/>
                  <a:pt x="10972800" y="38096"/>
                </a:cubicBezTo>
                <a:lnTo>
                  <a:pt x="10972800" y="1104904"/>
                </a:lnTo>
                <a:cubicBezTo>
                  <a:pt x="10972800" y="1125944"/>
                  <a:pt x="10955744" y="1143000"/>
                  <a:pt x="10934704" y="1143000"/>
                </a:cubicBezTo>
                <a:lnTo>
                  <a:pt x="38096" y="1143000"/>
                </a:lnTo>
                <a:cubicBezTo>
                  <a:pt x="17056" y="1143000"/>
                  <a:pt x="0" y="1125944"/>
                  <a:pt x="0" y="1104904"/>
                </a:cubicBezTo>
                <a:lnTo>
                  <a:pt x="0" y="38096"/>
                </a:lnTo>
                <a:cubicBezTo>
                  <a:pt x="0" y="17070"/>
                  <a:pt x="17070" y="0"/>
                  <a:pt x="38096"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742820" y="4456774"/>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Maximize</a:t>
            </a:r>
            <a:endParaRPr lang="en-US" sz="1100"/>
          </a:p>
        </p:txBody>
      </p:sp>
      <p:sp>
        <p:nvSpPr>
          <p:cNvPr id="19" name="AutoShape 19"/>
          <p:cNvSpPr/>
          <p:nvPr/>
        </p:nvSpPr>
        <p:spPr>
          <a:xfrm>
            <a:off x="714245" y="4837654"/>
            <a:ext cx="107632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146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Compute / Memory ratio</a:t>
            </a:r>
            <a:endParaRPr lang="en-US" sz="1100"/>
          </a:p>
        </p:txBody>
      </p:sp>
      <p:sp>
        <p:nvSpPr>
          <p:cNvPr id="20" name="Freeform 20"/>
          <p:cNvSpPr/>
          <p:nvPr/>
        </p:nvSpPr>
        <p:spPr>
          <a:xfrm>
            <a:off x="380956" y="5866200"/>
            <a:ext cx="11430000" cy="685800"/>
          </a:xfrm>
          <a:custGeom>
            <a:avLst/>
            <a:gdLst/>
            <a:ahLst/>
            <a:cxnLst/>
            <a:rect l="l" t="t" r="r" b="b"/>
            <a:pathLst>
              <a:path w="11430000" h="685800">
                <a:moveTo>
                  <a:pt x="76199" y="0"/>
                </a:moveTo>
                <a:lnTo>
                  <a:pt x="11353801" y="0"/>
                </a:lnTo>
                <a:cubicBezTo>
                  <a:pt x="11395884" y="0"/>
                  <a:pt x="11430000" y="34116"/>
                  <a:pt x="11430000" y="76199"/>
                </a:cubicBezTo>
                <a:lnTo>
                  <a:pt x="11430000" y="609601"/>
                </a:lnTo>
                <a:cubicBezTo>
                  <a:pt x="11430000" y="651684"/>
                  <a:pt x="11395884" y="685800"/>
                  <a:pt x="11353801"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4221802" y="6130151"/>
            <a:ext cx="190500" cy="166688"/>
          </a:xfrm>
          <a:custGeom>
            <a:avLst/>
            <a:gdLst/>
            <a:ahLst/>
            <a:cxnLst/>
            <a:rect l="l" t="t" r="r" b="b"/>
            <a:pathLst>
              <a:path w="190500" h="166688">
                <a:moveTo>
                  <a:pt x="23812" y="11907"/>
                </a:moveTo>
                <a:cubicBezTo>
                  <a:pt x="23812" y="5322"/>
                  <a:pt x="18492" y="0"/>
                  <a:pt x="11906" y="0"/>
                </a:cubicBezTo>
                <a:cubicBezTo>
                  <a:pt x="5321" y="0"/>
                  <a:pt x="0" y="5322"/>
                  <a:pt x="0" y="11907"/>
                </a:cubicBezTo>
                <a:lnTo>
                  <a:pt x="0" y="136921"/>
                </a:lnTo>
                <a:cubicBezTo>
                  <a:pt x="0" y="153368"/>
                  <a:pt x="13320" y="166688"/>
                  <a:pt x="29766" y="166688"/>
                </a:cubicBezTo>
                <a:lnTo>
                  <a:pt x="178594" y="166688"/>
                </a:lnTo>
                <a:cubicBezTo>
                  <a:pt x="185179" y="166688"/>
                  <a:pt x="190500" y="161366"/>
                  <a:pt x="190500" y="154781"/>
                </a:cubicBezTo>
                <a:cubicBezTo>
                  <a:pt x="190500" y="148197"/>
                  <a:pt x="185179" y="142875"/>
                  <a:pt x="178594" y="142875"/>
                </a:cubicBezTo>
                <a:lnTo>
                  <a:pt x="29766" y="142875"/>
                </a:lnTo>
                <a:cubicBezTo>
                  <a:pt x="26491" y="142875"/>
                  <a:pt x="23812" y="140196"/>
                  <a:pt x="23812" y="136921"/>
                </a:cubicBezTo>
                <a:lnTo>
                  <a:pt x="23812" y="11907"/>
                </a:lnTo>
                <a:close/>
                <a:moveTo>
                  <a:pt x="175096" y="44128"/>
                </a:moveTo>
                <a:cubicBezTo>
                  <a:pt x="179747" y="39477"/>
                  <a:pt x="179747" y="31924"/>
                  <a:pt x="175096" y="27273"/>
                </a:cubicBezTo>
                <a:cubicBezTo>
                  <a:pt x="170445" y="22621"/>
                  <a:pt x="162891" y="22621"/>
                  <a:pt x="158242" y="27273"/>
                </a:cubicBezTo>
                <a:lnTo>
                  <a:pt x="119062" y="66489"/>
                </a:lnTo>
                <a:lnTo>
                  <a:pt x="97706" y="45170"/>
                </a:lnTo>
                <a:cubicBezTo>
                  <a:pt x="93055" y="40520"/>
                  <a:pt x="85501" y="40520"/>
                  <a:pt x="80851" y="45170"/>
                </a:cubicBezTo>
                <a:lnTo>
                  <a:pt x="45132" y="80888"/>
                </a:lnTo>
                <a:cubicBezTo>
                  <a:pt x="40481" y="85539"/>
                  <a:pt x="40481" y="93093"/>
                  <a:pt x="45132" y="97743"/>
                </a:cubicBezTo>
                <a:cubicBezTo>
                  <a:pt x="49783" y="102394"/>
                  <a:pt x="57335" y="102394"/>
                  <a:pt x="61987" y="97743"/>
                </a:cubicBezTo>
                <a:lnTo>
                  <a:pt x="89298" y="70433"/>
                </a:lnTo>
                <a:lnTo>
                  <a:pt x="110654" y="91789"/>
                </a:lnTo>
                <a:cubicBezTo>
                  <a:pt x="115305" y="96442"/>
                  <a:pt x="122859" y="96442"/>
                  <a:pt x="127508" y="91789"/>
                </a:cubicBezTo>
                <a:lnTo>
                  <a:pt x="175133" y="4416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819046" y="6056640"/>
            <a:ext cx="10848975" cy="3048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Ce rapport est appelé </a:t>
            </a:r>
            <a:r>
              <a:rPr lang="en-US"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a:p>
        </p:txBody>
      </p:sp>
      <p:sp>
        <p:nvSpPr>
          <p:cNvPr id="23" name="AutoShape 23"/>
          <p:cNvSpPr/>
          <p:nvPr/>
        </p:nvSpPr>
        <p:spPr>
          <a:xfrm>
            <a:off x="380956" y="6704154"/>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4023" y="598559"/>
            <a:ext cx="11629571" cy="362857"/>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62815" y="1197251"/>
            <a:ext cx="11466286" cy="1632857"/>
          </a:xfrm>
          <a:custGeom>
            <a:avLst/>
            <a:gdLst/>
            <a:ahLst/>
            <a:cxnLst/>
            <a:rect l="l" t="t" r="r" b="b"/>
            <a:pathLst>
              <a:path w="11466286" h="1632857">
                <a:moveTo>
                  <a:pt x="72564" y="0"/>
                </a:moveTo>
                <a:lnTo>
                  <a:pt x="11393722" y="0"/>
                </a:lnTo>
                <a:cubicBezTo>
                  <a:pt x="11433799" y="0"/>
                  <a:pt x="11466286" y="32488"/>
                  <a:pt x="11466286" y="72564"/>
                </a:cubicBezTo>
                <a:lnTo>
                  <a:pt x="11466286" y="1560293"/>
                </a:lnTo>
                <a:cubicBezTo>
                  <a:pt x="11466286" y="1600369"/>
                  <a:pt x="11433799" y="1632857"/>
                  <a:pt x="11393722" y="1632857"/>
                </a:cubicBezTo>
                <a:lnTo>
                  <a:pt x="72564" y="1632857"/>
                </a:lnTo>
                <a:cubicBezTo>
                  <a:pt x="32488" y="1632857"/>
                  <a:pt x="0" y="1600369"/>
                  <a:pt x="0" y="1560293"/>
                </a:cubicBezTo>
                <a:lnTo>
                  <a:pt x="0" y="72564"/>
                </a:lnTo>
                <a:cubicBezTo>
                  <a:pt x="0" y="32515"/>
                  <a:pt x="32515" y="0"/>
                  <a:pt x="72564"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80504" y="1414944"/>
            <a:ext cx="11139714" cy="290286"/>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Définition</a:t>
            </a:r>
            <a:endParaRPr lang="en-US" sz="1100"/>
          </a:p>
        </p:txBody>
      </p:sp>
      <p:sp>
        <p:nvSpPr>
          <p:cNvPr id="5" name="Freeform 5"/>
          <p:cNvSpPr/>
          <p:nvPr/>
        </p:nvSpPr>
        <p:spPr>
          <a:xfrm>
            <a:off x="580504" y="1850248"/>
            <a:ext cx="11030857" cy="762000"/>
          </a:xfrm>
          <a:custGeom>
            <a:avLst/>
            <a:gdLst/>
            <a:ahLst/>
            <a:cxnLst/>
            <a:rect l="l" t="t" r="r" b="b"/>
            <a:pathLst>
              <a:path w="11030857" h="762000">
                <a:moveTo>
                  <a:pt x="36286" y="0"/>
                </a:moveTo>
                <a:lnTo>
                  <a:pt x="10994572" y="0"/>
                </a:lnTo>
                <a:cubicBezTo>
                  <a:pt x="11014611" y="0"/>
                  <a:pt x="11030857" y="16246"/>
                  <a:pt x="11030857" y="36286"/>
                </a:cubicBezTo>
                <a:lnTo>
                  <a:pt x="11030857" y="725714"/>
                </a:lnTo>
                <a:cubicBezTo>
                  <a:pt x="11030857" y="745754"/>
                  <a:pt x="11014611" y="762000"/>
                  <a:pt x="10994572" y="762000"/>
                </a:cubicBezTo>
                <a:lnTo>
                  <a:pt x="36286" y="762000"/>
                </a:lnTo>
                <a:cubicBezTo>
                  <a:pt x="16246" y="762000"/>
                  <a:pt x="0" y="745754"/>
                  <a:pt x="0" y="725714"/>
                </a:cubicBezTo>
                <a:lnTo>
                  <a:pt x="0" y="36286"/>
                </a:lnTo>
                <a:cubicBezTo>
                  <a:pt x="0" y="16259"/>
                  <a:pt x="16259" y="0"/>
                  <a:pt x="36286"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30157" y="2067940"/>
            <a:ext cx="10731500" cy="326571"/>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85" b="1" i="0" u="none" strike="noStrike">
                <a:solidFill>
                  <a:srgbClr val="A6A6A6"/>
                </a:solidFill>
                <a:latin typeface="Noto Sans SC" panose="020B0200000000000000" charset="-122"/>
                <a:ea typeface="Noto Sans SC" panose="020B0200000000000000" charset="-122"/>
                <a:cs typeface="Noto Sans SC" panose="020B0200000000000000" charset="-122"/>
                <a:sym typeface="Noto Sans SC" panose="020B0200000000000000" charset="-122"/>
              </a:rPr>
              <a:t>Arithmetic Intensity = FLOPs / Bytes</a:t>
            </a:r>
            <a:endParaRPr lang="en-US" sz="1100"/>
          </a:p>
        </p:txBody>
      </p:sp>
      <p:sp>
        <p:nvSpPr>
          <p:cNvPr id="7" name="Freeform 7"/>
          <p:cNvSpPr/>
          <p:nvPr>
            <p:custDataLst>
              <p:tags r:id="rId1"/>
            </p:custDataLst>
          </p:nvPr>
        </p:nvSpPr>
        <p:spPr>
          <a:xfrm>
            <a:off x="371841" y="3056530"/>
            <a:ext cx="5569767" cy="1832338"/>
          </a:xfrm>
          <a:custGeom>
            <a:avLst/>
            <a:gdLst/>
            <a:ahLst/>
            <a:cxnLst/>
            <a:rect l="l" t="t" r="r" b="b"/>
            <a:pathLst>
              <a:path w="5569767" h="1832338">
                <a:moveTo>
                  <a:pt x="72579" y="0"/>
                </a:moveTo>
                <a:lnTo>
                  <a:pt x="5497187" y="0"/>
                </a:lnTo>
                <a:cubicBezTo>
                  <a:pt x="5537272" y="0"/>
                  <a:pt x="5569767" y="32495"/>
                  <a:pt x="5569767" y="72579"/>
                </a:cubicBezTo>
                <a:lnTo>
                  <a:pt x="5569767" y="1759759"/>
                </a:lnTo>
                <a:cubicBezTo>
                  <a:pt x="5569767" y="1799844"/>
                  <a:pt x="5537272" y="1832338"/>
                  <a:pt x="5497187" y="1832338"/>
                </a:cubicBezTo>
                <a:lnTo>
                  <a:pt x="72579" y="1832338"/>
                </a:lnTo>
                <a:cubicBezTo>
                  <a:pt x="32495" y="1832338"/>
                  <a:pt x="0" y="1799844"/>
                  <a:pt x="0" y="1759759"/>
                </a:cubicBezTo>
                <a:lnTo>
                  <a:pt x="0" y="72579"/>
                </a:lnTo>
                <a:cubicBezTo>
                  <a:pt x="0" y="32522"/>
                  <a:pt x="32522" y="0"/>
                  <a:pt x="72579" y="0"/>
                </a:cubicBezTo>
                <a:close/>
              </a:path>
            </a:pathLst>
          </a:custGeom>
          <a:solidFill>
            <a:srgbClr val="F3F4F6">
              <a:alpha val="100000"/>
            </a:srgbClr>
          </a:solidFill>
          <a:ln w="12700">
            <a:solidFill>
              <a:srgbClr val="D1D5DC">
                <a:alpha val="100000"/>
              </a:srgbClr>
            </a:solidFill>
            <a:prstDash val="solid"/>
          </a:ln>
        </p:spPr>
        <p:txBody>
          <a:bodyPr wrap="square" lIns="91440" tIns="45720" rIns="91440" bIns="45720" rtlCol="0" anchor="t">
            <a:noAutofit/>
          </a:bodyPr>
          <a:lstStyle/>
          <a:p>
            <a:pPr algn="ctr">
              <a:defRPr/>
            </a:pPr>
          </a:p>
        </p:txBody>
      </p:sp>
      <p:sp>
        <p:nvSpPr>
          <p:cNvPr id="8" name="AutoShape 8"/>
          <p:cNvSpPr/>
          <p:nvPr>
            <p:custDataLst>
              <p:tags r:id="rId2"/>
            </p:custDataLst>
          </p:nvPr>
        </p:nvSpPr>
        <p:spPr>
          <a:xfrm>
            <a:off x="598556" y="3283246"/>
            <a:ext cx="5207000"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Naive MatMul</a:t>
            </a:r>
            <a:endParaRPr lang="en-US"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custDataLst>
              <p:tags r:id="rId3"/>
            </p:custDataLst>
          </p:nvPr>
        </p:nvSpPr>
        <p:spPr>
          <a:xfrm>
            <a:off x="598556" y="3682375"/>
            <a:ext cx="5116286" cy="979714"/>
          </a:xfrm>
          <a:custGeom>
            <a:avLst/>
            <a:gdLst/>
            <a:ahLst/>
            <a:cxnLst/>
            <a:rect l="l" t="t" r="r" b="b"/>
            <a:pathLst>
              <a:path w="5116286" h="979714">
                <a:moveTo>
                  <a:pt x="36289" y="0"/>
                </a:moveTo>
                <a:lnTo>
                  <a:pt x="5079997" y="0"/>
                </a:lnTo>
                <a:cubicBezTo>
                  <a:pt x="5100039" y="0"/>
                  <a:pt x="5116286" y="16247"/>
                  <a:pt x="5116286" y="36289"/>
                </a:cubicBezTo>
                <a:lnTo>
                  <a:pt x="5116286" y="943426"/>
                </a:lnTo>
                <a:cubicBezTo>
                  <a:pt x="5116286" y="963466"/>
                  <a:pt x="5100039" y="979714"/>
                  <a:pt x="5079997" y="979714"/>
                </a:cubicBezTo>
                <a:lnTo>
                  <a:pt x="36289" y="979714"/>
                </a:lnTo>
                <a:cubicBezTo>
                  <a:pt x="16247" y="979714"/>
                  <a:pt x="0" y="963466"/>
                  <a:pt x="0" y="943426"/>
                </a:cubicBezTo>
                <a:lnTo>
                  <a:pt x="0" y="36289"/>
                </a:lnTo>
                <a:cubicBezTo>
                  <a:pt x="0" y="16260"/>
                  <a:pt x="16260" y="0"/>
                  <a:pt x="3628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custDataLst>
              <p:tags r:id="rId4"/>
            </p:custDataLst>
          </p:nvPr>
        </p:nvSpPr>
        <p:spPr>
          <a:xfrm>
            <a:off x="711893" y="3863746"/>
            <a:ext cx="4889500" cy="326571"/>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85" b="1"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Low intensity</a:t>
            </a:r>
            <a:endParaRPr lang="en-US" sz="1100"/>
          </a:p>
        </p:txBody>
      </p:sp>
      <p:sp>
        <p:nvSpPr>
          <p:cNvPr id="11" name="AutoShape 11"/>
          <p:cNvSpPr/>
          <p:nvPr>
            <p:custDataLst>
              <p:tags r:id="rId5"/>
            </p:custDataLst>
          </p:nvPr>
        </p:nvSpPr>
        <p:spPr>
          <a:xfrm>
            <a:off x="743643" y="4262810"/>
            <a:ext cx="4826000" cy="21771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Faible rapport calcul/accès mémoire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custDataLst>
              <p:tags r:id="rId6"/>
            </p:custDataLst>
          </p:nvPr>
        </p:nvSpPr>
        <p:spPr>
          <a:xfrm>
            <a:off x="6241120" y="3047504"/>
            <a:ext cx="5588000" cy="1850572"/>
          </a:xfrm>
          <a:custGeom>
            <a:avLst/>
            <a:gdLst/>
            <a:ahLst/>
            <a:cxnLst/>
            <a:rect l="l" t="t" r="r" b="b"/>
            <a:pathLst>
              <a:path w="5588000" h="1850572">
                <a:moveTo>
                  <a:pt x="72579" y="0"/>
                </a:moveTo>
                <a:lnTo>
                  <a:pt x="5515421" y="0"/>
                </a:lnTo>
                <a:cubicBezTo>
                  <a:pt x="5555505" y="0"/>
                  <a:pt x="5588000" y="32495"/>
                  <a:pt x="5588000" y="72579"/>
                </a:cubicBezTo>
                <a:lnTo>
                  <a:pt x="5588000" y="1777992"/>
                </a:lnTo>
                <a:cubicBezTo>
                  <a:pt x="5588000" y="1818077"/>
                  <a:pt x="5555505" y="1850572"/>
                  <a:pt x="5515421" y="1850572"/>
                </a:cubicBezTo>
                <a:lnTo>
                  <a:pt x="72579" y="1850572"/>
                </a:lnTo>
                <a:cubicBezTo>
                  <a:pt x="32522" y="1850572"/>
                  <a:pt x="0" y="1818049"/>
                  <a:pt x="0" y="1777992"/>
                </a:cubicBezTo>
                <a:lnTo>
                  <a:pt x="0" y="72579"/>
                </a:lnTo>
                <a:cubicBezTo>
                  <a:pt x="0" y="32522"/>
                  <a:pt x="32522" y="0"/>
                  <a:pt x="7257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custDataLst>
              <p:tags r:id="rId7"/>
            </p:custDataLst>
          </p:nvPr>
        </p:nvSpPr>
        <p:spPr>
          <a:xfrm>
            <a:off x="6458809" y="3265192"/>
            <a:ext cx="5243286"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Tiled MatMul</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custDataLst>
              <p:tags r:id="rId8"/>
            </p:custDataLst>
          </p:nvPr>
        </p:nvSpPr>
        <p:spPr>
          <a:xfrm>
            <a:off x="6458809" y="3664321"/>
            <a:ext cx="5152572" cy="979714"/>
          </a:xfrm>
          <a:custGeom>
            <a:avLst/>
            <a:gdLst/>
            <a:ahLst/>
            <a:cxnLst/>
            <a:rect l="l" t="t" r="r" b="b"/>
            <a:pathLst>
              <a:path w="5152572" h="979714">
                <a:moveTo>
                  <a:pt x="36289" y="0"/>
                </a:moveTo>
                <a:lnTo>
                  <a:pt x="5116283" y="0"/>
                </a:lnTo>
                <a:cubicBezTo>
                  <a:pt x="5136325" y="0"/>
                  <a:pt x="5152572" y="16247"/>
                  <a:pt x="5152572" y="36289"/>
                </a:cubicBezTo>
                <a:lnTo>
                  <a:pt x="5152572" y="943426"/>
                </a:lnTo>
                <a:cubicBezTo>
                  <a:pt x="5152572" y="963466"/>
                  <a:pt x="5136325" y="979714"/>
                  <a:pt x="5116283" y="979714"/>
                </a:cubicBezTo>
                <a:lnTo>
                  <a:pt x="36289" y="979714"/>
                </a:lnTo>
                <a:cubicBezTo>
                  <a:pt x="16247" y="979714"/>
                  <a:pt x="0" y="963466"/>
                  <a:pt x="0" y="943426"/>
                </a:cubicBezTo>
                <a:lnTo>
                  <a:pt x="0" y="36289"/>
                </a:lnTo>
                <a:cubicBezTo>
                  <a:pt x="0" y="16260"/>
                  <a:pt x="16260" y="0"/>
                  <a:pt x="3628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custDataLst>
              <p:tags r:id="rId9"/>
            </p:custDataLst>
          </p:nvPr>
        </p:nvSpPr>
        <p:spPr>
          <a:xfrm>
            <a:off x="6572145" y="3845697"/>
            <a:ext cx="4925786" cy="326571"/>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85"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High intensity</a:t>
            </a:r>
            <a:endParaRPr lang="en-US" sz="1100"/>
          </a:p>
        </p:txBody>
      </p:sp>
      <p:sp>
        <p:nvSpPr>
          <p:cNvPr id="16" name="AutoShape 16"/>
          <p:cNvSpPr/>
          <p:nvPr>
            <p:custDataLst>
              <p:tags r:id="rId10"/>
            </p:custDataLst>
          </p:nvPr>
        </p:nvSpPr>
        <p:spPr>
          <a:xfrm>
            <a:off x="6603895" y="4244755"/>
            <a:ext cx="4862286" cy="21771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Élevé rapport calcul/accès mémoire</a:t>
            </a:r>
            <a:endParaRPr lang="en-US" sz="1200"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362815" y="5115302"/>
            <a:ext cx="11466286" cy="1451428"/>
          </a:xfrm>
          <a:custGeom>
            <a:avLst/>
            <a:gdLst/>
            <a:ahLst/>
            <a:cxnLst/>
            <a:rect l="l" t="t" r="r" b="b"/>
            <a:pathLst>
              <a:path w="11466286" h="1451428">
                <a:moveTo>
                  <a:pt x="72572" y="0"/>
                </a:moveTo>
                <a:lnTo>
                  <a:pt x="11393714" y="0"/>
                </a:lnTo>
                <a:cubicBezTo>
                  <a:pt x="11433793" y="0"/>
                  <a:pt x="11466286" y="32490"/>
                  <a:pt x="11466286" y="72572"/>
                </a:cubicBezTo>
                <a:lnTo>
                  <a:pt x="11466286" y="1378857"/>
                </a:lnTo>
                <a:cubicBezTo>
                  <a:pt x="11466286" y="1418937"/>
                  <a:pt x="11433793" y="1451428"/>
                  <a:pt x="11393714" y="1451428"/>
                </a:cubicBezTo>
                <a:lnTo>
                  <a:pt x="72572" y="1451428"/>
                </a:lnTo>
                <a:cubicBezTo>
                  <a:pt x="32490" y="1451428"/>
                  <a:pt x="0" y="1418937"/>
                  <a:pt x="0" y="1378857"/>
                </a:cubicBezTo>
                <a:lnTo>
                  <a:pt x="0" y="72572"/>
                </a:lnTo>
                <a:cubicBezTo>
                  <a:pt x="0" y="32518"/>
                  <a:pt x="32518" y="0"/>
                  <a:pt x="7257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59126" y="5332990"/>
            <a:ext cx="10842949"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9" name="Freeform 19"/>
          <p:cNvSpPr/>
          <p:nvPr/>
        </p:nvSpPr>
        <p:spPr>
          <a:xfrm>
            <a:off x="598556" y="5695803"/>
            <a:ext cx="11012623" cy="653143"/>
          </a:xfrm>
          <a:custGeom>
            <a:avLst/>
            <a:gdLst/>
            <a:ahLst/>
            <a:cxnLst/>
            <a:rect l="l" t="t" r="r" b="b"/>
            <a:pathLst>
              <a:path w="11012623" h="653143">
                <a:moveTo>
                  <a:pt x="36105" y="0"/>
                </a:moveTo>
                <a:lnTo>
                  <a:pt x="10976334" y="0"/>
                </a:lnTo>
                <a:cubicBezTo>
                  <a:pt x="10996378" y="0"/>
                  <a:pt x="11012623" y="16247"/>
                  <a:pt x="11012623" y="36289"/>
                </a:cubicBezTo>
                <a:lnTo>
                  <a:pt x="11012623" y="616854"/>
                </a:lnTo>
                <a:cubicBezTo>
                  <a:pt x="11012623" y="636896"/>
                  <a:pt x="10996378" y="653143"/>
                  <a:pt x="10976334" y="653143"/>
                </a:cubicBezTo>
                <a:lnTo>
                  <a:pt x="36105" y="653143"/>
                </a:lnTo>
                <a:cubicBezTo>
                  <a:pt x="16165" y="653143"/>
                  <a:pt x="0" y="636977"/>
                  <a:pt x="0" y="617038"/>
                </a:cubicBezTo>
                <a:lnTo>
                  <a:pt x="0" y="36105"/>
                </a:lnTo>
                <a:cubicBezTo>
                  <a:pt x="0" y="16165"/>
                  <a:pt x="16165" y="0"/>
                  <a:pt x="3610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98556" y="5695803"/>
            <a:ext cx="36105" cy="653143"/>
          </a:xfrm>
          <a:custGeom>
            <a:avLst/>
            <a:gdLst/>
            <a:ahLst/>
            <a:cxnLst/>
            <a:rect l="l" t="t" r="r" b="b"/>
            <a:pathLst>
              <a:path w="36105" h="653143">
                <a:moveTo>
                  <a:pt x="36105" y="0"/>
                </a:moveTo>
                <a:lnTo>
                  <a:pt x="36105" y="0"/>
                </a:lnTo>
                <a:lnTo>
                  <a:pt x="36105" y="653143"/>
                </a:lnTo>
                <a:lnTo>
                  <a:pt x="36105" y="653143"/>
                </a:lnTo>
                <a:cubicBezTo>
                  <a:pt x="16165" y="653143"/>
                  <a:pt x="0" y="636977"/>
                  <a:pt x="0" y="617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43552" y="5877178"/>
            <a:ext cx="10740571" cy="290286"/>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Arithmetic Intensity plus élevée = Performance plus élevée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362815" y="6711546"/>
            <a:ext cx="11520714" cy="14514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1034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altLang="zh-CN" sz="2800" b="1">
                <a:solidFill>
                  <a:srgbClr val="1A1A1A"/>
                </a:solidFill>
                <a:latin typeface="MiSans" panose="00000500000000000000" charset="-122"/>
                <a:ea typeface="MiSans" panose="00000500000000000000" charset="-122"/>
                <a:cs typeface="MiSans" panose="00000500000000000000" charset="-122"/>
              </a:rPr>
              <a:t>Introduction au mod</a:t>
            </a:r>
            <a:r>
              <a:rPr lang="en-US" altLang="en-US" sz="2800" b="1">
                <a:solidFill>
                  <a:srgbClr val="1A1A1A"/>
                </a:solidFill>
                <a:latin typeface="MiSans" panose="00000500000000000000" charset="-122"/>
                <a:ea typeface="MiSans" panose="00000500000000000000" charset="-122"/>
                <a:cs typeface="MiSans" panose="00000500000000000000" charset="-122"/>
              </a:rPr>
              <a:t>è</a:t>
            </a:r>
            <a:r>
              <a:rPr lang="en-US" altLang="zh-CN" sz="2800" b="1">
                <a:solidFill>
                  <a:srgbClr val="1A1A1A"/>
                </a:solidFill>
                <a:latin typeface="MiSans" panose="00000500000000000000" charset="-122"/>
                <a:ea typeface="MiSans" panose="00000500000000000000" charset="-122"/>
                <a:cs typeface="MiSans" panose="00000500000000000000" charset="-122"/>
              </a:rPr>
              <a:t>le Roofline</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57114"/>
            <a:ext cx="11430000" cy="1562100"/>
          </a:xfrm>
          <a:custGeom>
            <a:avLst/>
            <a:gdLst/>
            <a:ahLst/>
            <a:cxnLst/>
            <a:rect l="l" t="t" r="r" b="b"/>
            <a:pathLst>
              <a:path w="11430000" h="1562100">
                <a:moveTo>
                  <a:pt x="76199" y="0"/>
                </a:moveTo>
                <a:lnTo>
                  <a:pt x="11353801" y="0"/>
                </a:lnTo>
                <a:cubicBezTo>
                  <a:pt x="11395884" y="0"/>
                  <a:pt x="11430000" y="34116"/>
                  <a:pt x="11430000" y="76199"/>
                </a:cubicBezTo>
                <a:lnTo>
                  <a:pt x="11430000" y="1485901"/>
                </a:lnTo>
                <a:cubicBezTo>
                  <a:pt x="11430000" y="1527984"/>
                  <a:pt x="11395884" y="1562100"/>
                  <a:pt x="113538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91"/>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Description du Roofline Model</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09529" y="1904777"/>
            <a:ext cx="10972800" cy="685800"/>
          </a:xfrm>
          <a:custGeom>
            <a:avLst/>
            <a:gdLst/>
            <a:ahLst/>
            <a:cxnLst/>
            <a:rect l="l" t="t" r="r" b="b"/>
            <a:pathLst>
              <a:path w="10972800" h="685800">
                <a:moveTo>
                  <a:pt x="76199" y="0"/>
                </a:moveTo>
                <a:lnTo>
                  <a:pt x="10896601" y="0"/>
                </a:lnTo>
                <a:cubicBezTo>
                  <a:pt x="10938684" y="0"/>
                  <a:pt x="10972800" y="34116"/>
                  <a:pt x="10972800" y="76199"/>
                </a:cubicBezTo>
                <a:lnTo>
                  <a:pt x="10972800" y="609601"/>
                </a:lnTo>
                <a:cubicBezTo>
                  <a:pt x="10972800" y="651684"/>
                  <a:pt x="10938684" y="685800"/>
                  <a:pt x="10896601" y="685800"/>
                </a:cubicBezTo>
                <a:lnTo>
                  <a:pt x="76199" y="685800"/>
                </a:lnTo>
                <a:cubicBezTo>
                  <a:pt x="34116" y="685800"/>
                  <a:pt x="0" y="651684"/>
                  <a:pt x="0" y="609601"/>
                </a:cubicBezTo>
                <a:lnTo>
                  <a:pt x="0" y="76199"/>
                </a:lnTo>
                <a:cubicBezTo>
                  <a:pt x="0" y="34144"/>
                  <a:pt x="34144" y="0"/>
                  <a:pt x="761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42820" y="2095216"/>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altLang="zh-CN" sz="1800">
                <a:solidFill>
                  <a:schemeClr val="bg1"/>
                </a:solidFill>
              </a:rPr>
              <a:t>Le plafond de performance est limit</a:t>
            </a:r>
            <a:r>
              <a:rPr lang="en-US" altLang="en-US" sz="1800">
                <a:solidFill>
                  <a:schemeClr val="bg1"/>
                </a:solidFill>
              </a:rPr>
              <a:t>é</a:t>
            </a:r>
            <a:r>
              <a:rPr lang="en-US" altLang="zh-CN" sz="1800">
                <a:solidFill>
                  <a:schemeClr val="bg1"/>
                </a:solidFill>
              </a:rPr>
              <a:t> soit par le calcul, soit par la m</a:t>
            </a:r>
            <a:r>
              <a:rPr lang="en-US" altLang="en-US" sz="1800">
                <a:solidFill>
                  <a:schemeClr val="bg1"/>
                </a:solidFill>
              </a:rPr>
              <a:t>é</a:t>
            </a:r>
            <a:r>
              <a:rPr lang="en-US" altLang="zh-CN" sz="1800">
                <a:solidFill>
                  <a:schemeClr val="bg1"/>
                </a:solidFill>
              </a:rPr>
              <a:t>moire.</a:t>
            </a:r>
            <a:endParaRPr lang="en-US" altLang="zh-CN" sz="1800">
              <a:solidFill>
                <a:schemeClr val="bg1"/>
              </a:solidFill>
            </a:endParaRPr>
          </a:p>
        </p:txBody>
      </p:sp>
      <p:grpSp>
        <p:nvGrpSpPr>
          <p:cNvPr id="7" name="Group 7"/>
          <p:cNvGrpSpPr/>
          <p:nvPr/>
        </p:nvGrpSpPr>
        <p:grpSpPr>
          <a:xfrm>
            <a:off x="380956" y="3047498"/>
            <a:ext cx="11430000" cy="2324100"/>
            <a:chOff x="380956" y="3047498"/>
            <a:chExt cx="11430000" cy="2324100"/>
          </a:xfrm>
        </p:grpSpPr>
        <p:sp>
          <p:nvSpPr>
            <p:cNvPr id="8" name="Freeform 8"/>
            <p:cNvSpPr/>
            <p:nvPr/>
          </p:nvSpPr>
          <p:spPr>
            <a:xfrm>
              <a:off x="380956" y="3047498"/>
              <a:ext cx="11430000" cy="2324100"/>
            </a:xfrm>
            <a:custGeom>
              <a:avLst/>
              <a:gdLst/>
              <a:ahLst/>
              <a:cxnLst/>
              <a:rect l="l" t="t" r="r" b="b"/>
              <a:pathLst>
                <a:path w="11430000" h="2324100">
                  <a:moveTo>
                    <a:pt x="76208" y="0"/>
                  </a:moveTo>
                  <a:lnTo>
                    <a:pt x="11353792" y="0"/>
                  </a:lnTo>
                  <a:cubicBezTo>
                    <a:pt x="11395881" y="0"/>
                    <a:pt x="11430000" y="34119"/>
                    <a:pt x="11430000" y="76208"/>
                  </a:cubicBezTo>
                  <a:lnTo>
                    <a:pt x="11430000" y="2247892"/>
                  </a:lnTo>
                  <a:cubicBezTo>
                    <a:pt x="11430000" y="2289981"/>
                    <a:pt x="11395881" y="2324100"/>
                    <a:pt x="11353792" y="2324100"/>
                  </a:cubicBezTo>
                  <a:lnTo>
                    <a:pt x="76208" y="2324100"/>
                  </a:lnTo>
                  <a:cubicBezTo>
                    <a:pt x="34119" y="2324100"/>
                    <a:pt x="0" y="2289981"/>
                    <a:pt x="0" y="2247892"/>
                  </a:cubicBezTo>
                  <a:lnTo>
                    <a:pt x="0" y="76208"/>
                  </a:lnTo>
                  <a:cubicBezTo>
                    <a:pt x="0" y="34119"/>
                    <a:pt x="34119" y="0"/>
                    <a:pt x="762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904804" y="3276070"/>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Formule</a:t>
              </a:r>
              <a:endParaRPr lang="en-US"/>
            </a:p>
          </p:txBody>
        </p:sp>
        <p:sp>
          <p:nvSpPr>
            <p:cNvPr id="10" name="Freeform 10"/>
            <p:cNvSpPr/>
            <p:nvPr/>
          </p:nvSpPr>
          <p:spPr>
            <a:xfrm>
              <a:off x="628484" y="3695156"/>
              <a:ext cx="10953655" cy="1447800"/>
            </a:xfrm>
            <a:custGeom>
              <a:avLst/>
              <a:gdLst/>
              <a:ahLst/>
              <a:cxnLst/>
              <a:rect l="l" t="t" r="r" b="b"/>
              <a:pathLst>
                <a:path w="10953655" h="1447800">
                  <a:moveTo>
                    <a:pt x="37910" y="0"/>
                  </a:moveTo>
                  <a:lnTo>
                    <a:pt x="10915548" y="0"/>
                  </a:lnTo>
                  <a:cubicBezTo>
                    <a:pt x="10936595" y="0"/>
                    <a:pt x="10953655" y="17061"/>
                    <a:pt x="10953655" y="38106"/>
                  </a:cubicBezTo>
                  <a:lnTo>
                    <a:pt x="10953655" y="1409694"/>
                  </a:lnTo>
                  <a:cubicBezTo>
                    <a:pt x="10953655" y="1430739"/>
                    <a:pt x="10936595" y="1447800"/>
                    <a:pt x="10915548" y="1447800"/>
                  </a:cubicBezTo>
                  <a:lnTo>
                    <a:pt x="37910" y="1447800"/>
                  </a:lnTo>
                  <a:cubicBezTo>
                    <a:pt x="16974" y="1447800"/>
                    <a:pt x="0" y="1430826"/>
                    <a:pt x="0" y="14098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28484" y="3695156"/>
              <a:ext cx="37909" cy="1447800"/>
            </a:xfrm>
            <a:custGeom>
              <a:avLst/>
              <a:gdLst/>
              <a:ahLst/>
              <a:cxnLst/>
              <a:rect l="l" t="t" r="r" b="b"/>
              <a:pathLst>
                <a:path w="37909" h="1447800">
                  <a:moveTo>
                    <a:pt x="37910" y="0"/>
                  </a:moveTo>
                  <a:lnTo>
                    <a:pt x="37910" y="0"/>
                  </a:lnTo>
                  <a:lnTo>
                    <a:pt x="37910" y="1447800"/>
                  </a:lnTo>
                  <a:lnTo>
                    <a:pt x="37910" y="1447800"/>
                  </a:lnTo>
                  <a:cubicBezTo>
                    <a:pt x="16974" y="1447800"/>
                    <a:pt x="0" y="1430826"/>
                    <a:pt x="0" y="14098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3695156"/>
              <a:ext cx="11020425" cy="14478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Performance = min(</a:t>
              </a:r>
              <a:endParaRPr lang="en-US" sz="1100"/>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 Peak,</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Bandwidth × Arithmetic Intensity</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13" name="Freeform 13"/>
          <p:cNvSpPr/>
          <p:nvPr>
            <p:custDataLst>
              <p:tags r:id="rId1"/>
            </p:custDataLst>
          </p:nvPr>
        </p:nvSpPr>
        <p:spPr>
          <a:xfrm>
            <a:off x="399911" y="5600012"/>
            <a:ext cx="5581555" cy="952500"/>
          </a:xfrm>
          <a:custGeom>
            <a:avLst/>
            <a:gdLst/>
            <a:ahLst/>
            <a:cxnLst/>
            <a:rect l="l" t="t" r="r" b="b"/>
            <a:pathLst>
              <a:path w="5581555" h="952500">
                <a:moveTo>
                  <a:pt x="37909" y="0"/>
                </a:moveTo>
                <a:lnTo>
                  <a:pt x="5543455" y="0"/>
                </a:lnTo>
                <a:cubicBezTo>
                  <a:pt x="5564483" y="0"/>
                  <a:pt x="5581555" y="17073"/>
                  <a:pt x="5581555" y="38100"/>
                </a:cubicBezTo>
                <a:lnTo>
                  <a:pt x="5581555" y="914400"/>
                </a:lnTo>
                <a:cubicBezTo>
                  <a:pt x="5581555" y="935427"/>
                  <a:pt x="5564483" y="952500"/>
                  <a:pt x="5543455" y="952500"/>
                </a:cubicBezTo>
                <a:lnTo>
                  <a:pt x="37909" y="952500"/>
                </a:lnTo>
                <a:cubicBezTo>
                  <a:pt x="16974" y="952500"/>
                  <a:pt x="0" y="935526"/>
                  <a:pt x="0" y="914591"/>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grpSp>
        <p:nvGrpSpPr>
          <p:cNvPr id="14" name="Group 14"/>
          <p:cNvGrpSpPr/>
          <p:nvPr>
            <p:custDataLst>
              <p:tags r:id="rId2"/>
            </p:custDataLst>
          </p:nvPr>
        </p:nvGrpSpPr>
        <p:grpSpPr>
          <a:xfrm>
            <a:off x="428486" y="5600012"/>
            <a:ext cx="5476721" cy="952500"/>
            <a:chOff x="399911" y="5600012"/>
            <a:chExt cx="5476721" cy="952500"/>
          </a:xfrm>
        </p:grpSpPr>
        <p:sp>
          <p:nvSpPr>
            <p:cNvPr id="15" name="Freeform 15"/>
            <p:cNvSpPr/>
            <p:nvPr>
              <p:custDataLst>
                <p:tags r:id="rId3"/>
              </p:custDataLst>
            </p:nvPr>
          </p:nvSpPr>
          <p:spPr>
            <a:xfrm>
              <a:off x="399911" y="5600012"/>
              <a:ext cx="37909" cy="952500"/>
            </a:xfrm>
            <a:custGeom>
              <a:avLst/>
              <a:gdLst/>
              <a:ahLst/>
              <a:cxnLst/>
              <a:rect l="l" t="t" r="r" b="b"/>
              <a:pathLst>
                <a:path w="37909" h="952500">
                  <a:moveTo>
                    <a:pt x="37909" y="0"/>
                  </a:moveTo>
                  <a:lnTo>
                    <a:pt x="37909" y="0"/>
                  </a:lnTo>
                  <a:lnTo>
                    <a:pt x="37909" y="952500"/>
                  </a:lnTo>
                  <a:lnTo>
                    <a:pt x="37909" y="952500"/>
                  </a:lnTo>
                  <a:cubicBezTo>
                    <a:pt x="16974" y="952500"/>
                    <a:pt x="0" y="935526"/>
                    <a:pt x="0" y="9145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custDataLst>
                <p:tags r:id="rId4"/>
              </p:custDataLst>
            </p:nvPr>
          </p:nvSpPr>
          <p:spPr>
            <a:xfrm>
              <a:off x="609307" y="5790451"/>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Memory-Bound</a:t>
              </a:r>
              <a:endParaRPr lang="en-US"/>
            </a:p>
          </p:txBody>
        </p:sp>
        <p:sp>
          <p:nvSpPr>
            <p:cNvPr id="17" name="AutoShape 17"/>
            <p:cNvSpPr/>
            <p:nvPr>
              <p:custDataLst>
                <p:tags r:id="rId5"/>
              </p:custDataLst>
            </p:nvPr>
          </p:nvSpPr>
          <p:spPr>
            <a:xfrm>
              <a:off x="609307" y="6133347"/>
              <a:ext cx="5257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Zone à faible Arithmetic Intensity</a:t>
              </a:r>
              <a:endParaRPr lang="en-US" sz="1200"/>
            </a:p>
          </p:txBody>
        </p:sp>
      </p:grpSp>
      <p:grpSp>
        <p:nvGrpSpPr>
          <p:cNvPr id="18" name="Group 18"/>
          <p:cNvGrpSpPr/>
          <p:nvPr>
            <p:custDataLst>
              <p:tags r:id="rId6"/>
            </p:custDataLst>
          </p:nvPr>
        </p:nvGrpSpPr>
        <p:grpSpPr>
          <a:xfrm>
            <a:off x="6229234" y="5600012"/>
            <a:ext cx="5581555" cy="952500"/>
            <a:chOff x="6229234" y="5600012"/>
            <a:chExt cx="5581555" cy="952500"/>
          </a:xfrm>
        </p:grpSpPr>
        <p:sp>
          <p:nvSpPr>
            <p:cNvPr id="19" name="Freeform 19"/>
            <p:cNvSpPr/>
            <p:nvPr>
              <p:custDataLst>
                <p:tags r:id="rId7"/>
              </p:custDataLst>
            </p:nvPr>
          </p:nvSpPr>
          <p:spPr>
            <a:xfrm>
              <a:off x="6229234" y="5600012"/>
              <a:ext cx="5581555" cy="952500"/>
            </a:xfrm>
            <a:custGeom>
              <a:avLst/>
              <a:gdLst/>
              <a:ahLst/>
              <a:cxnLst/>
              <a:rect l="l" t="t" r="r" b="b"/>
              <a:pathLst>
                <a:path w="5581555" h="952500">
                  <a:moveTo>
                    <a:pt x="37910" y="0"/>
                  </a:moveTo>
                  <a:lnTo>
                    <a:pt x="5543455" y="0"/>
                  </a:lnTo>
                  <a:cubicBezTo>
                    <a:pt x="5564483" y="0"/>
                    <a:pt x="5581555" y="17073"/>
                    <a:pt x="5581555" y="38100"/>
                  </a:cubicBezTo>
                  <a:lnTo>
                    <a:pt x="5581555" y="914400"/>
                  </a:lnTo>
                  <a:cubicBezTo>
                    <a:pt x="5581555" y="935427"/>
                    <a:pt x="5564483" y="952500"/>
                    <a:pt x="5543455" y="952500"/>
                  </a:cubicBezTo>
                  <a:lnTo>
                    <a:pt x="37910" y="952500"/>
                  </a:lnTo>
                  <a:cubicBezTo>
                    <a:pt x="16974" y="952500"/>
                    <a:pt x="0" y="935526"/>
                    <a:pt x="0" y="9145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custDataLst>
                <p:tags r:id="rId8"/>
              </p:custDataLst>
            </p:nvPr>
          </p:nvSpPr>
          <p:spPr>
            <a:xfrm>
              <a:off x="6229234" y="5600012"/>
              <a:ext cx="37910" cy="952500"/>
            </a:xfrm>
            <a:custGeom>
              <a:avLst/>
              <a:gdLst/>
              <a:ahLst/>
              <a:cxnLst/>
              <a:rect l="l" t="t" r="r" b="b"/>
              <a:pathLst>
                <a:path w="37910" h="952500">
                  <a:moveTo>
                    <a:pt x="37910" y="0"/>
                  </a:moveTo>
                  <a:lnTo>
                    <a:pt x="37910" y="0"/>
                  </a:lnTo>
                  <a:lnTo>
                    <a:pt x="37910" y="952500"/>
                  </a:lnTo>
                  <a:lnTo>
                    <a:pt x="37910" y="952500"/>
                  </a:lnTo>
                  <a:cubicBezTo>
                    <a:pt x="16974" y="952500"/>
                    <a:pt x="0" y="935526"/>
                    <a:pt x="0" y="9145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custDataLst>
                <p:tags r:id="rId9"/>
              </p:custDataLst>
            </p:nvPr>
          </p:nvSpPr>
          <p:spPr>
            <a:xfrm>
              <a:off x="6438630" y="5790451"/>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Compute-Bound</a:t>
              </a:r>
              <a:endParaRPr lang="en-US"/>
            </a:p>
          </p:txBody>
        </p:sp>
        <p:sp>
          <p:nvSpPr>
            <p:cNvPr id="22" name="AutoShape 22"/>
            <p:cNvSpPr/>
            <p:nvPr>
              <p:custDataLst>
                <p:tags r:id="rId10"/>
              </p:custDataLst>
            </p:nvPr>
          </p:nvSpPr>
          <p:spPr>
            <a:xfrm>
              <a:off x="6438630" y="6133347"/>
              <a:ext cx="5257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Zone à élevée Arithmetic Intensity</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23" name="AutoShape 23"/>
          <p:cNvSpPr/>
          <p:nvPr/>
        </p:nvSpPr>
        <p:spPr>
          <a:xfrm>
            <a:off x="380956" y="6704744"/>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2341" y="60997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altLang="zh-CN" sz="2800" b="1">
                <a:solidFill>
                  <a:srgbClr val="1A1A1A"/>
                </a:solidFill>
                <a:latin typeface="MiSans" panose="00000500000000000000" charset="-122"/>
                <a:ea typeface="MiSans" panose="00000500000000000000" charset="-122"/>
                <a:cs typeface="MiSans" panose="00000500000000000000" charset="-122"/>
              </a:rPr>
              <a:t>Comment le Tiling am</a:t>
            </a:r>
            <a:r>
              <a:rPr lang="en-US" altLang="en-US" sz="2800" b="1">
                <a:solidFill>
                  <a:srgbClr val="1A1A1A"/>
                </a:solidFill>
                <a:latin typeface="MiSans" panose="00000500000000000000" charset="-122"/>
                <a:ea typeface="MiSans" panose="00000500000000000000" charset="-122"/>
                <a:cs typeface="MiSans" panose="00000500000000000000" charset="-122"/>
              </a:rPr>
              <a:t>é</a:t>
            </a:r>
            <a:r>
              <a:rPr lang="en-US" altLang="zh-CN" sz="2800" b="1">
                <a:solidFill>
                  <a:srgbClr val="1A1A1A"/>
                </a:solidFill>
                <a:latin typeface="MiSans" panose="00000500000000000000" charset="-122"/>
                <a:ea typeface="MiSans" panose="00000500000000000000" charset="-122"/>
                <a:cs typeface="MiSans" panose="00000500000000000000" charset="-122"/>
              </a:rPr>
              <a:t>liore-t-il les performances</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95767"/>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71396" y="1486207"/>
            <a:ext cx="11144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Principe du Tiling</a:t>
            </a:r>
            <a:endParaRPr lang="en-US" sz="1100"/>
          </a:p>
        </p:txBody>
      </p:sp>
      <p:sp>
        <p:nvSpPr>
          <p:cNvPr id="5" name="Freeform 5"/>
          <p:cNvSpPr/>
          <p:nvPr/>
        </p:nvSpPr>
        <p:spPr>
          <a:xfrm>
            <a:off x="571396" y="1905293"/>
            <a:ext cx="11049000" cy="647700"/>
          </a:xfrm>
          <a:custGeom>
            <a:avLst/>
            <a:gdLst/>
            <a:ahLst/>
            <a:cxnLst/>
            <a:rect l="l" t="t" r="r" b="b"/>
            <a:pathLst>
              <a:path w="11049000" h="647700">
                <a:moveTo>
                  <a:pt x="76203" y="0"/>
                </a:moveTo>
                <a:lnTo>
                  <a:pt x="10972797" y="0"/>
                </a:lnTo>
                <a:cubicBezTo>
                  <a:pt x="11014883" y="0"/>
                  <a:pt x="11049000" y="34117"/>
                  <a:pt x="11049000" y="76203"/>
                </a:cubicBezTo>
                <a:lnTo>
                  <a:pt x="11049000" y="571497"/>
                </a:lnTo>
                <a:cubicBezTo>
                  <a:pt x="11049000" y="613583"/>
                  <a:pt x="11014883" y="647700"/>
                  <a:pt x="10972797"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52341" y="2057674"/>
            <a:ext cx="108870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1600"/>
          </a:p>
        </p:txBody>
      </p:sp>
      <p:sp>
        <p:nvSpPr>
          <p:cNvPr id="7" name="Freeform 7"/>
          <p:cNvSpPr/>
          <p:nvPr/>
        </p:nvSpPr>
        <p:spPr>
          <a:xfrm>
            <a:off x="380956" y="2933765"/>
            <a:ext cx="5600700" cy="1333500"/>
          </a:xfrm>
          <a:custGeom>
            <a:avLst/>
            <a:gdLst/>
            <a:ahLst/>
            <a:cxnLst/>
            <a:rect l="l" t="t" r="r" b="b"/>
            <a:pathLst>
              <a:path w="5600700" h="1333500">
                <a:moveTo>
                  <a:pt x="76196" y="0"/>
                </a:moveTo>
                <a:lnTo>
                  <a:pt x="5524504" y="0"/>
                </a:lnTo>
                <a:cubicBezTo>
                  <a:pt x="5566587" y="0"/>
                  <a:pt x="5600700" y="34113"/>
                  <a:pt x="5600700" y="76196"/>
                </a:cubicBezTo>
                <a:lnTo>
                  <a:pt x="5600700" y="1257304"/>
                </a:lnTo>
                <a:cubicBezTo>
                  <a:pt x="5600700" y="1299387"/>
                  <a:pt x="5566587" y="1333500"/>
                  <a:pt x="55245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Freeform 8"/>
          <p:cNvSpPr/>
          <p:nvPr/>
        </p:nvSpPr>
        <p:spPr>
          <a:xfrm>
            <a:off x="610806" y="3162114"/>
            <a:ext cx="130731" cy="172488"/>
          </a:xfrm>
          <a:custGeom>
            <a:avLst/>
            <a:gdLst/>
            <a:ahLst/>
            <a:cxnLst/>
            <a:rect l="l" t="t" r="r" b="b"/>
            <a:pathLst>
              <a:path w="130731" h="172488">
                <a:moveTo>
                  <a:pt x="57798" y="168302"/>
                </a:moveTo>
                <a:cubicBezTo>
                  <a:pt x="61984" y="172488"/>
                  <a:pt x="68781" y="172488"/>
                  <a:pt x="72967" y="168302"/>
                </a:cubicBezTo>
                <a:lnTo>
                  <a:pt x="126545" y="114724"/>
                </a:lnTo>
                <a:cubicBezTo>
                  <a:pt x="130731" y="110538"/>
                  <a:pt x="130731" y="103741"/>
                  <a:pt x="126545" y="99555"/>
                </a:cubicBezTo>
                <a:cubicBezTo>
                  <a:pt x="122360" y="95369"/>
                  <a:pt x="115562" y="95369"/>
                  <a:pt x="111377" y="99555"/>
                </a:cubicBezTo>
                <a:lnTo>
                  <a:pt x="76081" y="134849"/>
                </a:lnTo>
                <a:lnTo>
                  <a:pt x="76081" y="10716"/>
                </a:lnTo>
                <a:cubicBezTo>
                  <a:pt x="76081" y="4789"/>
                  <a:pt x="71293" y="0"/>
                  <a:pt x="65366" y="0"/>
                </a:cubicBezTo>
                <a:cubicBezTo>
                  <a:pt x="59439" y="0"/>
                  <a:pt x="54649" y="4789"/>
                  <a:pt x="54649" y="10716"/>
                </a:cubicBezTo>
                <a:lnTo>
                  <a:pt x="54649" y="134849"/>
                </a:lnTo>
                <a:lnTo>
                  <a:pt x="19356" y="99555"/>
                </a:lnTo>
                <a:cubicBezTo>
                  <a:pt x="15170" y="95369"/>
                  <a:pt x="8372" y="95369"/>
                  <a:pt x="4186" y="99555"/>
                </a:cubicBezTo>
                <a:cubicBezTo>
                  <a:pt x="0" y="103741"/>
                  <a:pt x="0" y="110538"/>
                  <a:pt x="4186" y="114724"/>
                </a:cubicBezTo>
                <a:lnTo>
                  <a:pt x="57764" y="16830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9" name="AutoShape 9"/>
          <p:cNvSpPr/>
          <p:nvPr/>
        </p:nvSpPr>
        <p:spPr>
          <a:xfrm>
            <a:off x="838096" y="3124205"/>
            <a:ext cx="50387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Augmentation</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590352" y="3505158"/>
            <a:ext cx="5200555" cy="571500"/>
          </a:xfrm>
          <a:custGeom>
            <a:avLst/>
            <a:gdLst/>
            <a:ahLst/>
            <a:cxnLst/>
            <a:rect l="l" t="t" r="r" b="b"/>
            <a:pathLst>
              <a:path w="5200555" h="571500">
                <a:moveTo>
                  <a:pt x="37910" y="0"/>
                </a:moveTo>
                <a:lnTo>
                  <a:pt x="5162453" y="0"/>
                </a:lnTo>
                <a:cubicBezTo>
                  <a:pt x="5183496" y="0"/>
                  <a:pt x="5200555" y="17059"/>
                  <a:pt x="5200555" y="38103"/>
                </a:cubicBezTo>
                <a:lnTo>
                  <a:pt x="5200555" y="533397"/>
                </a:lnTo>
                <a:cubicBezTo>
                  <a:pt x="5200555" y="554441"/>
                  <a:pt x="5183496" y="571500"/>
                  <a:pt x="51624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Freeform 11"/>
          <p:cNvSpPr/>
          <p:nvPr/>
        </p:nvSpPr>
        <p:spPr>
          <a:xfrm>
            <a:off x="590352" y="3505158"/>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2" name="AutoShape 12"/>
          <p:cNvSpPr/>
          <p:nvPr/>
        </p:nvSpPr>
        <p:spPr>
          <a:xfrm>
            <a:off x="761689" y="3657540"/>
            <a:ext cx="4972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Memory bandwidth pressure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6210279" y="2933765"/>
            <a:ext cx="5600700" cy="1333500"/>
          </a:xfrm>
          <a:custGeom>
            <a:avLst/>
            <a:gdLst/>
            <a:ahLst/>
            <a:cxnLst/>
            <a:rect l="l" t="t" r="r" b="b"/>
            <a:pathLst>
              <a:path w="5600700" h="1333500">
                <a:moveTo>
                  <a:pt x="76196" y="0"/>
                </a:moveTo>
                <a:lnTo>
                  <a:pt x="5524504" y="0"/>
                </a:lnTo>
                <a:cubicBezTo>
                  <a:pt x="5566587" y="0"/>
                  <a:pt x="5600700" y="34113"/>
                  <a:pt x="5600700" y="76196"/>
                </a:cubicBezTo>
                <a:lnTo>
                  <a:pt x="5600700" y="1257304"/>
                </a:lnTo>
                <a:cubicBezTo>
                  <a:pt x="5600700" y="1299387"/>
                  <a:pt x="5566587" y="1333500"/>
                  <a:pt x="55245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4" name="Freeform 14"/>
          <p:cNvSpPr/>
          <p:nvPr/>
        </p:nvSpPr>
        <p:spPr>
          <a:xfrm>
            <a:off x="6440129" y="3163755"/>
            <a:ext cx="130731" cy="172488"/>
          </a:xfrm>
          <a:custGeom>
            <a:avLst/>
            <a:gdLst/>
            <a:ahLst/>
            <a:cxnLst/>
            <a:rect l="l" t="t" r="r" b="b"/>
            <a:pathLst>
              <a:path w="130731" h="172488">
                <a:moveTo>
                  <a:pt x="72934" y="4186"/>
                </a:moveTo>
                <a:cubicBezTo>
                  <a:pt x="68748" y="0"/>
                  <a:pt x="61949" y="0"/>
                  <a:pt x="57764" y="4186"/>
                </a:cubicBezTo>
                <a:lnTo>
                  <a:pt x="4186" y="57765"/>
                </a:lnTo>
                <a:cubicBezTo>
                  <a:pt x="0" y="61950"/>
                  <a:pt x="0" y="68747"/>
                  <a:pt x="4186" y="72933"/>
                </a:cubicBezTo>
                <a:cubicBezTo>
                  <a:pt x="8372" y="77119"/>
                  <a:pt x="15170" y="77119"/>
                  <a:pt x="19356" y="72933"/>
                </a:cubicBezTo>
                <a:lnTo>
                  <a:pt x="54649" y="37638"/>
                </a:lnTo>
                <a:lnTo>
                  <a:pt x="54649" y="161772"/>
                </a:lnTo>
                <a:cubicBezTo>
                  <a:pt x="54649" y="167700"/>
                  <a:pt x="59439" y="172487"/>
                  <a:pt x="65366" y="172487"/>
                </a:cubicBezTo>
                <a:cubicBezTo>
                  <a:pt x="71293" y="172487"/>
                  <a:pt x="76081" y="167700"/>
                  <a:pt x="76081" y="161772"/>
                </a:cubicBezTo>
                <a:lnTo>
                  <a:pt x="76081" y="37638"/>
                </a:lnTo>
                <a:lnTo>
                  <a:pt x="111377" y="72933"/>
                </a:lnTo>
                <a:cubicBezTo>
                  <a:pt x="115563" y="77119"/>
                  <a:pt x="122360" y="77119"/>
                  <a:pt x="126545" y="72933"/>
                </a:cubicBezTo>
                <a:cubicBezTo>
                  <a:pt x="130731" y="68747"/>
                  <a:pt x="130731" y="61950"/>
                  <a:pt x="126545" y="57765"/>
                </a:cubicBezTo>
                <a:lnTo>
                  <a:pt x="72967" y="4186"/>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AutoShape 15"/>
          <p:cNvSpPr/>
          <p:nvPr/>
        </p:nvSpPr>
        <p:spPr>
          <a:xfrm>
            <a:off x="6667420" y="3124205"/>
            <a:ext cx="50387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Reduction</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6419675" y="3505158"/>
            <a:ext cx="5200555" cy="571500"/>
          </a:xfrm>
          <a:custGeom>
            <a:avLst/>
            <a:gdLst/>
            <a:ahLst/>
            <a:cxnLst/>
            <a:rect l="l" t="t" r="r" b="b"/>
            <a:pathLst>
              <a:path w="5200555" h="571500">
                <a:moveTo>
                  <a:pt x="37909" y="0"/>
                </a:moveTo>
                <a:lnTo>
                  <a:pt x="5162453" y="0"/>
                </a:lnTo>
                <a:cubicBezTo>
                  <a:pt x="5183496" y="0"/>
                  <a:pt x="5200555" y="17059"/>
                  <a:pt x="5200555" y="38103"/>
                </a:cubicBezTo>
                <a:lnTo>
                  <a:pt x="5200555" y="533397"/>
                </a:lnTo>
                <a:cubicBezTo>
                  <a:pt x="5200555" y="554441"/>
                  <a:pt x="5183496" y="571500"/>
                  <a:pt x="5162453" y="571500"/>
                </a:cubicBezTo>
                <a:lnTo>
                  <a:pt x="37909" y="571500"/>
                </a:lnTo>
                <a:cubicBezTo>
                  <a:pt x="16974" y="571500"/>
                  <a:pt x="0" y="554526"/>
                  <a:pt x="0" y="5335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7" name="Freeform 17"/>
          <p:cNvSpPr/>
          <p:nvPr/>
        </p:nvSpPr>
        <p:spPr>
          <a:xfrm>
            <a:off x="6419675" y="3505158"/>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8" name="AutoShape 18"/>
          <p:cNvSpPr/>
          <p:nvPr/>
        </p:nvSpPr>
        <p:spPr>
          <a:xfrm>
            <a:off x="6591013" y="3657540"/>
            <a:ext cx="4972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Cache utilization</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380956" y="4457509"/>
            <a:ext cx="11430000" cy="1676400"/>
          </a:xfrm>
          <a:custGeom>
            <a:avLst/>
            <a:gdLst/>
            <a:ahLst/>
            <a:cxnLst/>
            <a:rect l="l" t="t" r="r" b="b"/>
            <a:pathLst>
              <a:path w="11430000" h="1676400">
                <a:moveTo>
                  <a:pt x="76192" y="0"/>
                </a:moveTo>
                <a:lnTo>
                  <a:pt x="11353808" y="0"/>
                </a:lnTo>
                <a:cubicBezTo>
                  <a:pt x="11395888" y="0"/>
                  <a:pt x="11430000" y="34112"/>
                  <a:pt x="11430000" y="76192"/>
                </a:cubicBezTo>
                <a:lnTo>
                  <a:pt x="11430000" y="1600208"/>
                </a:lnTo>
                <a:cubicBezTo>
                  <a:pt x="11430000" y="1642288"/>
                  <a:pt x="11395888" y="1676400"/>
                  <a:pt x="11353808" y="1676400"/>
                </a:cubicBezTo>
                <a:lnTo>
                  <a:pt x="76192" y="1676400"/>
                </a:lnTo>
                <a:cubicBezTo>
                  <a:pt x="34112" y="1676400"/>
                  <a:pt x="0" y="1642288"/>
                  <a:pt x="0" y="1600208"/>
                </a:cubicBezTo>
                <a:lnTo>
                  <a:pt x="0" y="76192"/>
                </a:lnTo>
                <a:cubicBezTo>
                  <a:pt x="0" y="34141"/>
                  <a:pt x="34141" y="0"/>
                  <a:pt x="7619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895279" y="4686086"/>
            <a:ext cx="107442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Amelioration</a:t>
            </a:r>
            <a:endParaRPr lang="en-US" sz="1100"/>
          </a:p>
        </p:txBody>
      </p:sp>
      <p:sp>
        <p:nvSpPr>
          <p:cNvPr id="21" name="Freeform 21"/>
          <p:cNvSpPr/>
          <p:nvPr/>
        </p:nvSpPr>
        <p:spPr>
          <a:xfrm>
            <a:off x="609529" y="5143160"/>
            <a:ext cx="10972800" cy="762000"/>
          </a:xfrm>
          <a:custGeom>
            <a:avLst/>
            <a:gdLst/>
            <a:ahLst/>
            <a:cxnLst/>
            <a:rect l="l" t="t" r="r" b="b"/>
            <a:pathLst>
              <a:path w="10972800" h="762000">
                <a:moveTo>
                  <a:pt x="38100" y="0"/>
                </a:moveTo>
                <a:lnTo>
                  <a:pt x="10934700" y="0"/>
                </a:lnTo>
                <a:cubicBezTo>
                  <a:pt x="10955727" y="0"/>
                  <a:pt x="10972800" y="17073"/>
                  <a:pt x="10972800" y="38100"/>
                </a:cubicBezTo>
                <a:lnTo>
                  <a:pt x="10972800" y="723900"/>
                </a:lnTo>
                <a:cubicBezTo>
                  <a:pt x="10972800" y="744927"/>
                  <a:pt x="10955727" y="762000"/>
                  <a:pt x="10934700" y="762000"/>
                </a:cubicBezTo>
                <a:lnTo>
                  <a:pt x="38100" y="762000"/>
                </a:lnTo>
                <a:cubicBezTo>
                  <a:pt x="17073" y="762000"/>
                  <a:pt x="0" y="744927"/>
                  <a:pt x="0" y="7239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14245" y="5333595"/>
            <a:ext cx="107632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1460" b="1"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Resultat global</a:t>
            </a:r>
            <a:endParaRPr lang="en-US" sz="1100"/>
          </a:p>
        </p:txBody>
      </p:sp>
      <p:sp>
        <p:nvSpPr>
          <p:cNvPr id="23" name="AutoShape 23"/>
          <p:cNvSpPr/>
          <p:nvPr/>
        </p:nvSpPr>
        <p:spPr>
          <a:xfrm>
            <a:off x="380956" y="6324605"/>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468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Le Tiling dans Triton</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57114"/>
            <a:ext cx="11430000" cy="1600200"/>
          </a:xfrm>
          <a:custGeom>
            <a:avLst/>
            <a:gdLst/>
            <a:ahLst/>
            <a:cxnLst/>
            <a:rect l="l" t="t" r="r" b="b"/>
            <a:pathLst>
              <a:path w="11430000" h="1600200">
                <a:moveTo>
                  <a:pt x="76203" y="0"/>
                </a:moveTo>
                <a:lnTo>
                  <a:pt x="11353797" y="0"/>
                </a:lnTo>
                <a:cubicBezTo>
                  <a:pt x="11395883" y="0"/>
                  <a:pt x="11430000" y="34117"/>
                  <a:pt x="11430000" y="76203"/>
                </a:cubicBezTo>
                <a:lnTo>
                  <a:pt x="11430000" y="1523997"/>
                </a:lnTo>
                <a:cubicBezTo>
                  <a:pt x="11430000" y="1566083"/>
                  <a:pt x="11395883" y="1600200"/>
                  <a:pt x="11353797" y="1600200"/>
                </a:cubicBezTo>
                <a:lnTo>
                  <a:pt x="76203" y="1600200"/>
                </a:lnTo>
                <a:cubicBezTo>
                  <a:pt x="34117" y="1600200"/>
                  <a:pt x="0" y="1566083"/>
                  <a:pt x="0" y="15239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95"/>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Utilisation de Triton</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09529" y="1904777"/>
            <a:ext cx="10972800" cy="723900"/>
          </a:xfrm>
          <a:custGeom>
            <a:avLst/>
            <a:gdLst/>
            <a:ahLst/>
            <a:cxnLst/>
            <a:rect l="l" t="t" r="r" b="b"/>
            <a:pathLst>
              <a:path w="10972800" h="723900">
                <a:moveTo>
                  <a:pt x="76197" y="0"/>
                </a:moveTo>
                <a:lnTo>
                  <a:pt x="10896603" y="0"/>
                </a:lnTo>
                <a:cubicBezTo>
                  <a:pt x="10938657" y="0"/>
                  <a:pt x="10972800" y="34143"/>
                  <a:pt x="10972800" y="76197"/>
                </a:cubicBezTo>
                <a:lnTo>
                  <a:pt x="10972800" y="647703"/>
                </a:lnTo>
                <a:cubicBezTo>
                  <a:pt x="10972800" y="689757"/>
                  <a:pt x="10938657" y="723900"/>
                  <a:pt x="10896603" y="723900"/>
                </a:cubicBezTo>
                <a:lnTo>
                  <a:pt x="76197" y="723900"/>
                </a:lnTo>
                <a:cubicBezTo>
                  <a:pt x="34143" y="723900"/>
                  <a:pt x="0" y="689757"/>
                  <a:pt x="0" y="6477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28532" y="2095221"/>
            <a:ext cx="107346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7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Approche Block-based</a:t>
            </a:r>
            <a:endParaRPr lang="en-US" sz="1100"/>
          </a:p>
        </p:txBody>
      </p:sp>
      <p:sp>
        <p:nvSpPr>
          <p:cNvPr id="7" name="Freeform 7"/>
          <p:cNvSpPr/>
          <p:nvPr/>
        </p:nvSpPr>
        <p:spPr>
          <a:xfrm>
            <a:off x="380956" y="3085635"/>
            <a:ext cx="11430000" cy="1638300"/>
          </a:xfrm>
          <a:custGeom>
            <a:avLst/>
            <a:gdLst/>
            <a:ahLst/>
            <a:cxnLst/>
            <a:rect l="l" t="t" r="r" b="b"/>
            <a:pathLst>
              <a:path w="11430000" h="1638300">
                <a:moveTo>
                  <a:pt x="76197" y="0"/>
                </a:moveTo>
                <a:lnTo>
                  <a:pt x="11353803" y="0"/>
                </a:lnTo>
                <a:cubicBezTo>
                  <a:pt x="11395885" y="0"/>
                  <a:pt x="11430000" y="34115"/>
                  <a:pt x="11430000" y="76197"/>
                </a:cubicBezTo>
                <a:lnTo>
                  <a:pt x="11430000" y="1562103"/>
                </a:lnTo>
                <a:cubicBezTo>
                  <a:pt x="11430000" y="1604185"/>
                  <a:pt x="11395885" y="1638300"/>
                  <a:pt x="11353803" y="1638300"/>
                </a:cubicBezTo>
                <a:lnTo>
                  <a:pt x="76197" y="1638300"/>
                </a:lnTo>
                <a:cubicBezTo>
                  <a:pt x="34115" y="1638300"/>
                  <a:pt x="0" y="1604185"/>
                  <a:pt x="0" y="15621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09529" y="331420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Chaque programme traite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619007" y="3742766"/>
            <a:ext cx="10953655" cy="742855"/>
          </a:xfrm>
          <a:custGeom>
            <a:avLst/>
            <a:gdLst/>
            <a:ahLst/>
            <a:cxnLst/>
            <a:rect l="l" t="t" r="r" b="b"/>
            <a:pathLst>
              <a:path w="10953655" h="742855">
                <a:moveTo>
                  <a:pt x="38101" y="0"/>
                </a:moveTo>
                <a:lnTo>
                  <a:pt x="10915553" y="0"/>
                </a:lnTo>
                <a:cubicBezTo>
                  <a:pt x="10936597" y="0"/>
                  <a:pt x="10953655" y="17057"/>
                  <a:pt x="10953655" y="38101"/>
                </a:cubicBezTo>
                <a:lnTo>
                  <a:pt x="10953655" y="704753"/>
                </a:lnTo>
                <a:cubicBezTo>
                  <a:pt x="10953655" y="725797"/>
                  <a:pt x="10936597" y="742855"/>
                  <a:pt x="10915553" y="742855"/>
                </a:cubicBezTo>
                <a:lnTo>
                  <a:pt x="38101" y="742855"/>
                </a:lnTo>
                <a:cubicBezTo>
                  <a:pt x="17057" y="742855"/>
                  <a:pt x="0" y="725797"/>
                  <a:pt x="0" y="704753"/>
                </a:cubicBezTo>
                <a:lnTo>
                  <a:pt x="0" y="38101"/>
                </a:lnTo>
                <a:cubicBezTo>
                  <a:pt x="0" y="17073"/>
                  <a:pt x="17073" y="0"/>
                  <a:pt x="38101" y="0"/>
                </a:cubicBezTo>
                <a:close/>
              </a:path>
            </a:pathLst>
          </a:custGeom>
          <a:solidFill>
            <a:srgbClr val="FFFFFF">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0" name="AutoShape 10"/>
          <p:cNvSpPr/>
          <p:nvPr/>
        </p:nvSpPr>
        <p:spPr>
          <a:xfrm>
            <a:off x="747487" y="3942690"/>
            <a:ext cx="106965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7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BLOCK_M x BLOCK_N</a:t>
            </a:r>
            <a:endParaRPr lang="en-US" sz="1100"/>
          </a:p>
        </p:txBody>
      </p:sp>
      <p:sp>
        <p:nvSpPr>
          <p:cNvPr id="11" name="Freeform 11"/>
          <p:cNvSpPr/>
          <p:nvPr/>
        </p:nvSpPr>
        <p:spPr>
          <a:xfrm>
            <a:off x="380956" y="4952051"/>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0282" y="5207682"/>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3"/>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2"/>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04804" y="5180623"/>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628484" y="5599714"/>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28484" y="5599714"/>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99822" y="5752095"/>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BLOCK_M = 128</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6191102" y="5599714"/>
            <a:ext cx="5391055" cy="571500"/>
          </a:xfrm>
          <a:custGeom>
            <a:avLst/>
            <a:gdLst/>
            <a:ahLst/>
            <a:cxnLst/>
            <a:rect l="l" t="t" r="r" b="b"/>
            <a:pathLst>
              <a:path w="5391055" h="571500">
                <a:moveTo>
                  <a:pt x="37910" y="0"/>
                </a:moveTo>
                <a:lnTo>
                  <a:pt x="5352953" y="0"/>
                </a:lnTo>
                <a:cubicBezTo>
                  <a:pt x="5373996" y="0"/>
                  <a:pt x="5391055" y="17059"/>
                  <a:pt x="5391055" y="38103"/>
                </a:cubicBezTo>
                <a:lnTo>
                  <a:pt x="5391055" y="533397"/>
                </a:lnTo>
                <a:cubicBezTo>
                  <a:pt x="5391055" y="554441"/>
                  <a:pt x="5373996" y="571500"/>
                  <a:pt x="53529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191102" y="5599714"/>
            <a:ext cx="37910" cy="571500"/>
          </a:xfrm>
          <a:custGeom>
            <a:avLst/>
            <a:gdLst/>
            <a:ahLst/>
            <a:cxnLst/>
            <a:rect l="l" t="t" r="r" b="b"/>
            <a:pathLst>
              <a:path w="37910"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362440" y="5752095"/>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BLOCK_N = 128</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AutoShape 20"/>
          <p:cNvSpPr/>
          <p:nvPr/>
        </p:nvSpPr>
        <p:spPr>
          <a:xfrm>
            <a:off x="380956" y="6552140"/>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9330"/>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program_id bidimensionnel</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57114"/>
            <a:ext cx="11430000" cy="1714500"/>
          </a:xfrm>
          <a:custGeom>
            <a:avLst/>
            <a:gdLst/>
            <a:ahLst/>
            <a:cxnLst/>
            <a:rect l="l" t="t" r="r" b="b"/>
            <a:pathLst>
              <a:path w="11430000" h="1714500">
                <a:moveTo>
                  <a:pt x="76192" y="0"/>
                </a:moveTo>
                <a:lnTo>
                  <a:pt x="11353808" y="0"/>
                </a:lnTo>
                <a:cubicBezTo>
                  <a:pt x="11395888" y="0"/>
                  <a:pt x="11430000" y="34112"/>
                  <a:pt x="11430000" y="76192"/>
                </a:cubicBezTo>
                <a:lnTo>
                  <a:pt x="11430000" y="1638308"/>
                </a:lnTo>
                <a:cubicBezTo>
                  <a:pt x="11430000" y="1680388"/>
                  <a:pt x="11395888" y="1714500"/>
                  <a:pt x="11353808" y="1714500"/>
                </a:cubicBezTo>
                <a:lnTo>
                  <a:pt x="76192" y="1714500"/>
                </a:lnTo>
                <a:cubicBezTo>
                  <a:pt x="34112" y="1714500"/>
                  <a:pt x="0" y="1680388"/>
                  <a:pt x="0" y="1638308"/>
                </a:cubicBezTo>
                <a:lnTo>
                  <a:pt x="0" y="76192"/>
                </a:lnTo>
                <a:cubicBezTo>
                  <a:pt x="0" y="34141"/>
                  <a:pt x="34141" y="0"/>
                  <a:pt x="76192"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8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Obtenir </a:t>
            </a: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program id</a:t>
            </a:r>
            <a:endParaRPr lang="en-US"/>
          </a:p>
        </p:txBody>
      </p:sp>
      <p:sp>
        <p:nvSpPr>
          <p:cNvPr id="5" name="Freeform 5"/>
          <p:cNvSpPr/>
          <p:nvPr/>
        </p:nvSpPr>
        <p:spPr>
          <a:xfrm>
            <a:off x="628484" y="1904777"/>
            <a:ext cx="10953655" cy="838200"/>
          </a:xfrm>
          <a:custGeom>
            <a:avLst/>
            <a:gdLst/>
            <a:ahLst/>
            <a:cxnLst/>
            <a:rect l="l" t="t" r="r" b="b"/>
            <a:pathLst>
              <a:path w="10953655" h="838200">
                <a:moveTo>
                  <a:pt x="37910" y="0"/>
                </a:moveTo>
                <a:lnTo>
                  <a:pt x="10915559" y="0"/>
                </a:lnTo>
                <a:cubicBezTo>
                  <a:pt x="10936599" y="0"/>
                  <a:pt x="10953655" y="17056"/>
                  <a:pt x="10953655" y="38096"/>
                </a:cubicBezTo>
                <a:lnTo>
                  <a:pt x="10953655" y="800104"/>
                </a:lnTo>
                <a:cubicBezTo>
                  <a:pt x="10953655" y="821144"/>
                  <a:pt x="10936599" y="838200"/>
                  <a:pt x="10915559" y="838200"/>
                </a:cubicBezTo>
                <a:lnTo>
                  <a:pt x="37910" y="838200"/>
                </a:lnTo>
                <a:cubicBezTo>
                  <a:pt x="16974" y="838200"/>
                  <a:pt x="0" y="821226"/>
                  <a:pt x="0" y="8002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1904777"/>
            <a:ext cx="37909" cy="838200"/>
          </a:xfrm>
          <a:custGeom>
            <a:avLst/>
            <a:gdLst/>
            <a:ahLst/>
            <a:cxnLst/>
            <a:rect l="l" t="t" r="r" b="b"/>
            <a:pathLst>
              <a:path w="37909" h="838200">
                <a:moveTo>
                  <a:pt x="37910" y="0"/>
                </a:moveTo>
                <a:lnTo>
                  <a:pt x="37910" y="0"/>
                </a:lnTo>
                <a:lnTo>
                  <a:pt x="37910" y="838200"/>
                </a:lnTo>
                <a:lnTo>
                  <a:pt x="37910" y="838200"/>
                </a:lnTo>
                <a:cubicBezTo>
                  <a:pt x="16974" y="838200"/>
                  <a:pt x="0" y="821226"/>
                  <a:pt x="0" y="8002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1904777"/>
            <a:ext cx="11010900" cy="8382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pid_m = tl.program_id(0)</a:t>
            </a:r>
            <a:endParaRPr lang="en-US" sz="1100"/>
          </a:p>
          <a:p>
            <a:pPr indent="0" algn="l">
              <a:lnSpc>
                <a:spcPct val="133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pid_n = tl.program_id(1)</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380956" y="3199954"/>
            <a:ext cx="11430000" cy="1905000"/>
          </a:xfrm>
          <a:custGeom>
            <a:avLst/>
            <a:gdLst/>
            <a:ahLst/>
            <a:cxnLst/>
            <a:rect l="l" t="t" r="r" b="b"/>
            <a:pathLst>
              <a:path w="11430000" h="1905000">
                <a:moveTo>
                  <a:pt x="76200" y="0"/>
                </a:moveTo>
                <a:lnTo>
                  <a:pt x="11353800" y="0"/>
                </a:lnTo>
                <a:cubicBezTo>
                  <a:pt x="11395856" y="0"/>
                  <a:pt x="11430000" y="34144"/>
                  <a:pt x="11430000" y="76200"/>
                </a:cubicBezTo>
                <a:lnTo>
                  <a:pt x="11430000" y="1828800"/>
                </a:lnTo>
                <a:cubicBezTo>
                  <a:pt x="11430000" y="1870856"/>
                  <a:pt x="11395856" y="1905000"/>
                  <a:pt x="11353800" y="1905000"/>
                </a:cubicBezTo>
                <a:lnTo>
                  <a:pt x="76200" y="1905000"/>
                </a:lnTo>
                <a:cubicBezTo>
                  <a:pt x="34144" y="1905000"/>
                  <a:pt x="0" y="1870856"/>
                  <a:pt x="0" y="1828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42852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Role</a:t>
            </a:r>
            <a:endParaRPr lang="en-US" sz="1100"/>
          </a:p>
        </p:txBody>
      </p:sp>
      <p:sp>
        <p:nvSpPr>
          <p:cNvPr id="10" name="Freeform 10"/>
          <p:cNvSpPr/>
          <p:nvPr/>
        </p:nvSpPr>
        <p:spPr>
          <a:xfrm>
            <a:off x="609529" y="3847616"/>
            <a:ext cx="10972800" cy="1028700"/>
          </a:xfrm>
          <a:custGeom>
            <a:avLst/>
            <a:gdLst/>
            <a:ahLst/>
            <a:cxnLst/>
            <a:rect l="l" t="t" r="r" b="b"/>
            <a:pathLst>
              <a:path w="10972800" h="1028700">
                <a:moveTo>
                  <a:pt x="38103" y="0"/>
                </a:moveTo>
                <a:lnTo>
                  <a:pt x="10934697" y="0"/>
                </a:lnTo>
                <a:cubicBezTo>
                  <a:pt x="10955741" y="0"/>
                  <a:pt x="10972800" y="17059"/>
                  <a:pt x="10972800" y="38103"/>
                </a:cubicBezTo>
                <a:lnTo>
                  <a:pt x="10972800" y="990597"/>
                </a:lnTo>
                <a:cubicBezTo>
                  <a:pt x="10972800" y="1011641"/>
                  <a:pt x="10955741" y="1028700"/>
                  <a:pt x="10934697" y="1028700"/>
                </a:cubicBezTo>
                <a:lnTo>
                  <a:pt x="38103" y="1028700"/>
                </a:lnTo>
                <a:cubicBezTo>
                  <a:pt x="17059" y="1028700"/>
                  <a:pt x="0" y="1011641"/>
                  <a:pt x="0" y="9905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742820" y="4038051"/>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Determiner </a:t>
            </a:r>
            <a:r>
              <a:rPr lang="en-US" sz="1075"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la position du tile</a:t>
            </a:r>
            <a:endParaRPr lang="en-US" sz="1100"/>
          </a:p>
        </p:txBody>
      </p:sp>
      <p:sp>
        <p:nvSpPr>
          <p:cNvPr id="12" name="AutoShape 12"/>
          <p:cNvSpPr/>
          <p:nvPr/>
        </p:nvSpPr>
        <p:spPr>
          <a:xfrm>
            <a:off x="752345" y="4418940"/>
            <a:ext cx="10687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 block index</a:t>
            </a:r>
            <a:endPar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custDataLst>
              <p:tags r:id="rId1"/>
            </p:custDataLst>
          </p:nvPr>
        </p:nvSpPr>
        <p:spPr>
          <a:xfrm>
            <a:off x="380956" y="53332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custDataLst>
              <p:tags r:id="rId2"/>
            </p:custDataLst>
          </p:nvPr>
        </p:nvSpPr>
        <p:spPr>
          <a:xfrm>
            <a:off x="571396" y="55236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pid_m</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AutoShape 15"/>
          <p:cNvSpPr/>
          <p:nvPr>
            <p:custDataLst>
              <p:tags r:id="rId3"/>
            </p:custDataLst>
          </p:nvPr>
        </p:nvSpPr>
        <p:spPr>
          <a:xfrm>
            <a:off x="571396" y="5866563"/>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Program ID de la dimension M</a:t>
            </a:r>
            <a:endParaRPr lang="en-US" sz="18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custDataLst>
              <p:tags r:id="rId4"/>
            </p:custDataLst>
          </p:nvPr>
        </p:nvSpPr>
        <p:spPr>
          <a:xfrm>
            <a:off x="6210279" y="53332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custDataLst>
              <p:tags r:id="rId5"/>
            </p:custDataLst>
          </p:nvPr>
        </p:nvSpPr>
        <p:spPr>
          <a:xfrm>
            <a:off x="6400720" y="55236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pid_n</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custDataLst>
              <p:tags r:id="rId6"/>
            </p:custDataLst>
          </p:nvPr>
        </p:nvSpPr>
        <p:spPr>
          <a:xfrm>
            <a:off x="6400720" y="5866563"/>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Program ID de la dimension N</a:t>
            </a:r>
            <a:endParaRPr lang="en-US" sz="18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AutoShape 19"/>
          <p:cNvSpPr/>
          <p:nvPr/>
        </p:nvSpPr>
        <p:spPr>
          <a:xfrm>
            <a:off x="380956" y="6437961"/>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47588"/>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altLang="zh-CN" sz="2800" b="1">
                <a:solidFill>
                  <a:srgbClr val="1A1A1A"/>
                </a:solidFill>
                <a:latin typeface="MiSans" panose="00000500000000000000" charset="-122"/>
                <a:ea typeface="MiSans" panose="00000500000000000000" charset="-122"/>
                <a:cs typeface="MiSans" panose="00000500000000000000" charset="-122"/>
              </a:rPr>
              <a:t>Calculer l’indice du tile</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410577"/>
            <a:ext cx="11430000" cy="1943100"/>
          </a:xfrm>
          <a:custGeom>
            <a:avLst/>
            <a:gdLst/>
            <a:ahLst/>
            <a:cxnLst/>
            <a:rect l="l" t="t" r="r" b="b"/>
            <a:pathLst>
              <a:path w="11430000" h="1943100">
                <a:moveTo>
                  <a:pt x="76208" y="0"/>
                </a:moveTo>
                <a:lnTo>
                  <a:pt x="11353792" y="0"/>
                </a:lnTo>
                <a:cubicBezTo>
                  <a:pt x="11395880" y="0"/>
                  <a:pt x="11430000" y="34120"/>
                  <a:pt x="11430000" y="76208"/>
                </a:cubicBezTo>
                <a:lnTo>
                  <a:pt x="11430000" y="1866892"/>
                </a:lnTo>
                <a:cubicBezTo>
                  <a:pt x="11430000" y="1908980"/>
                  <a:pt x="11395880" y="1943100"/>
                  <a:pt x="11353792" y="1943100"/>
                </a:cubicBezTo>
                <a:lnTo>
                  <a:pt x="76208" y="1943100"/>
                </a:lnTo>
                <a:cubicBezTo>
                  <a:pt x="34120" y="1943100"/>
                  <a:pt x="0" y="1908980"/>
                  <a:pt x="0" y="1866892"/>
                </a:cubicBezTo>
                <a:lnTo>
                  <a:pt x="0" y="76208"/>
                </a:lnTo>
                <a:cubicBezTo>
                  <a:pt x="0" y="34148"/>
                  <a:pt x="34148" y="0"/>
                  <a:pt x="762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38514"/>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Calcul des offsets</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28484" y="2057605"/>
            <a:ext cx="10953655" cy="1066800"/>
          </a:xfrm>
          <a:custGeom>
            <a:avLst/>
            <a:gdLst/>
            <a:ahLst/>
            <a:cxnLst/>
            <a:rect l="l" t="t" r="r" b="b"/>
            <a:pathLst>
              <a:path w="10953655" h="1066800">
                <a:moveTo>
                  <a:pt x="37910" y="0"/>
                </a:moveTo>
                <a:lnTo>
                  <a:pt x="10915560" y="0"/>
                </a:lnTo>
                <a:cubicBezTo>
                  <a:pt x="10936585" y="0"/>
                  <a:pt x="10953655" y="17070"/>
                  <a:pt x="10953655" y="38095"/>
                </a:cubicBezTo>
                <a:lnTo>
                  <a:pt x="10953655" y="1028705"/>
                </a:lnTo>
                <a:cubicBezTo>
                  <a:pt x="10953655" y="1049730"/>
                  <a:pt x="10936585" y="1066800"/>
                  <a:pt x="10915560" y="1066800"/>
                </a:cubicBezTo>
                <a:lnTo>
                  <a:pt x="37910" y="1066800"/>
                </a:lnTo>
                <a:cubicBezTo>
                  <a:pt x="16974" y="1066800"/>
                  <a:pt x="0" y="1049826"/>
                  <a:pt x="0" y="10288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2057605"/>
            <a:ext cx="37909" cy="1066800"/>
          </a:xfrm>
          <a:custGeom>
            <a:avLst/>
            <a:gdLst/>
            <a:ahLst/>
            <a:cxnLst/>
            <a:rect l="l" t="t" r="r" b="b"/>
            <a:pathLst>
              <a:path w="37909" h="1066800">
                <a:moveTo>
                  <a:pt x="37910" y="0"/>
                </a:moveTo>
                <a:lnTo>
                  <a:pt x="37910" y="0"/>
                </a:lnTo>
                <a:lnTo>
                  <a:pt x="37910" y="1066800"/>
                </a:lnTo>
                <a:lnTo>
                  <a:pt x="37910" y="1066800"/>
                </a:lnTo>
                <a:cubicBezTo>
                  <a:pt x="16974" y="1066800"/>
                  <a:pt x="0" y="1049826"/>
                  <a:pt x="0" y="10288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2057605"/>
            <a:ext cx="11010900" cy="10668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offs_m = pid_m * BLOCK_M + tl.arange(0, BLOCK_M)</a:t>
            </a:r>
            <a:endParaRPr lang="en-US" sz="1100"/>
          </a:p>
          <a:p>
            <a:pPr indent="0" algn="l">
              <a:lnSpc>
                <a:spcPct val="133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offs_n = pid_n * BLOCK_N + tl.arange(0, BLOCK_N)</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380956" y="3581353"/>
            <a:ext cx="11430000" cy="1562100"/>
          </a:xfrm>
          <a:custGeom>
            <a:avLst/>
            <a:gdLst/>
            <a:ahLst/>
            <a:cxnLst/>
            <a:rect l="l" t="t" r="r" b="b"/>
            <a:pathLst>
              <a:path w="11430000" h="1562100">
                <a:moveTo>
                  <a:pt x="76199" y="0"/>
                </a:moveTo>
                <a:lnTo>
                  <a:pt x="11353801" y="0"/>
                </a:lnTo>
                <a:cubicBezTo>
                  <a:pt x="11395884" y="0"/>
                  <a:pt x="11430000" y="34116"/>
                  <a:pt x="11430000" y="76199"/>
                </a:cubicBezTo>
                <a:lnTo>
                  <a:pt x="11430000" y="1485901"/>
                </a:lnTo>
                <a:cubicBezTo>
                  <a:pt x="11430000" y="1527984"/>
                  <a:pt x="11395884" y="1562100"/>
                  <a:pt x="11353801" y="1562100"/>
                </a:cubicBezTo>
                <a:lnTo>
                  <a:pt x="76199" y="1562100"/>
                </a:lnTo>
                <a:cubicBezTo>
                  <a:pt x="34116" y="1562100"/>
                  <a:pt x="0" y="1527984"/>
                  <a:pt x="0" y="1485901"/>
                </a:cubicBezTo>
                <a:lnTo>
                  <a:pt x="0" y="76199"/>
                </a:lnTo>
                <a:cubicBezTo>
                  <a:pt x="0" y="34144"/>
                  <a:pt x="34144" y="0"/>
                  <a:pt x="761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80992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Représente</a:t>
            </a:r>
            <a:endParaRPr lang="en-US" sz="1100"/>
          </a:p>
        </p:txBody>
      </p:sp>
      <p:sp>
        <p:nvSpPr>
          <p:cNvPr id="10" name="Freeform 10"/>
          <p:cNvSpPr/>
          <p:nvPr/>
        </p:nvSpPr>
        <p:spPr>
          <a:xfrm>
            <a:off x="609529" y="4229016"/>
            <a:ext cx="10972800" cy="685800"/>
          </a:xfrm>
          <a:custGeom>
            <a:avLst/>
            <a:gdLst/>
            <a:ahLst/>
            <a:cxnLst/>
            <a:rect l="l" t="t" r="r" b="b"/>
            <a:pathLst>
              <a:path w="10972800" h="685800">
                <a:moveTo>
                  <a:pt x="38103" y="0"/>
                </a:moveTo>
                <a:lnTo>
                  <a:pt x="10934697" y="0"/>
                </a:lnTo>
                <a:cubicBezTo>
                  <a:pt x="10955741" y="0"/>
                  <a:pt x="10972800" y="17059"/>
                  <a:pt x="10972800" y="38103"/>
                </a:cubicBezTo>
                <a:lnTo>
                  <a:pt x="10972800" y="647697"/>
                </a:lnTo>
                <a:cubicBezTo>
                  <a:pt x="10972800" y="668741"/>
                  <a:pt x="10955741" y="685800"/>
                  <a:pt x="10934697" y="685800"/>
                </a:cubicBezTo>
                <a:lnTo>
                  <a:pt x="38103" y="685800"/>
                </a:lnTo>
                <a:cubicBezTo>
                  <a:pt x="17059" y="685800"/>
                  <a:pt x="0" y="668741"/>
                  <a:pt x="0" y="6476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742820" y="4419451"/>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Position ligne/colonne du tile actuel</a:t>
            </a:r>
            <a:endParaRPr lang="en-US"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custDataLst>
              <p:tags r:id="rId1"/>
            </p:custDataLst>
          </p:nvPr>
        </p:nvSpPr>
        <p:spPr>
          <a:xfrm>
            <a:off x="372066" y="53717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custDataLst>
              <p:tags r:id="rId2"/>
            </p:custDataLst>
          </p:nvPr>
        </p:nvSpPr>
        <p:spPr>
          <a:xfrm>
            <a:off x="562506" y="55621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offs_m</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custDataLst>
              <p:tags r:id="rId3"/>
            </p:custDataLst>
          </p:nvPr>
        </p:nvSpPr>
        <p:spPr>
          <a:xfrm>
            <a:off x="562506" y="5905072"/>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Tableau d'offsets pour la dimension M</a:t>
            </a:r>
            <a:endPar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custDataLst>
              <p:tags r:id="rId4"/>
            </p:custDataLst>
          </p:nvPr>
        </p:nvSpPr>
        <p:spPr>
          <a:xfrm>
            <a:off x="6201389" y="5371728"/>
            <a:ext cx="5600700" cy="952500"/>
          </a:xfrm>
          <a:custGeom>
            <a:avLst/>
            <a:gdLst/>
            <a:ahLst/>
            <a:cxnLst/>
            <a:rect l="l" t="t" r="r" b="b"/>
            <a:pathLst>
              <a:path w="5600700" h="952500">
                <a:moveTo>
                  <a:pt x="76200" y="0"/>
                </a:moveTo>
                <a:lnTo>
                  <a:pt x="5524500" y="0"/>
                </a:lnTo>
                <a:cubicBezTo>
                  <a:pt x="5566556" y="0"/>
                  <a:pt x="5600700" y="34144"/>
                  <a:pt x="5600700" y="76200"/>
                </a:cubicBezTo>
                <a:lnTo>
                  <a:pt x="5600700" y="876300"/>
                </a:lnTo>
                <a:cubicBezTo>
                  <a:pt x="5600700" y="918356"/>
                  <a:pt x="5566556" y="952500"/>
                  <a:pt x="5524500" y="952500"/>
                </a:cubicBezTo>
                <a:lnTo>
                  <a:pt x="76200" y="952500"/>
                </a:lnTo>
                <a:cubicBezTo>
                  <a:pt x="34144" y="952500"/>
                  <a:pt x="0" y="918356"/>
                  <a:pt x="0" y="8763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custDataLst>
              <p:tags r:id="rId5"/>
            </p:custDataLst>
          </p:nvPr>
        </p:nvSpPr>
        <p:spPr>
          <a:xfrm>
            <a:off x="6391830" y="556217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offs_n</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custDataLst>
              <p:tags r:id="rId6"/>
            </p:custDataLst>
          </p:nvPr>
        </p:nvSpPr>
        <p:spPr>
          <a:xfrm>
            <a:off x="6391830" y="5905072"/>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Tableau d'offsets pour la dimension N</a:t>
            </a:r>
            <a:endPar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09842"/>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Boucle sur la dimension K</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447921"/>
            <a:ext cx="11430000" cy="1524000"/>
          </a:xfrm>
          <a:custGeom>
            <a:avLst/>
            <a:gdLst/>
            <a:ahLst/>
            <a:cxnLst/>
            <a:rect l="l" t="t" r="r" b="b"/>
            <a:pathLst>
              <a:path w="11430000" h="1524000">
                <a:moveTo>
                  <a:pt x="76200" y="0"/>
                </a:moveTo>
                <a:lnTo>
                  <a:pt x="11353800" y="0"/>
                </a:lnTo>
                <a:cubicBezTo>
                  <a:pt x="11395856" y="0"/>
                  <a:pt x="11430000" y="34144"/>
                  <a:pt x="11430000" y="76200"/>
                </a:cubicBezTo>
                <a:lnTo>
                  <a:pt x="11430000" y="1447800"/>
                </a:lnTo>
                <a:cubicBezTo>
                  <a:pt x="11430000" y="1489856"/>
                  <a:pt x="11395856" y="1524000"/>
                  <a:pt x="11353800" y="1524000"/>
                </a:cubicBezTo>
                <a:lnTo>
                  <a:pt x="76200" y="1524000"/>
                </a:lnTo>
                <a:cubicBezTo>
                  <a:pt x="34144" y="1524000"/>
                  <a:pt x="0" y="1489856"/>
                  <a:pt x="0" y="14478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76493"/>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Boucle principale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28484" y="2095584"/>
            <a:ext cx="10953655" cy="647700"/>
          </a:xfrm>
          <a:custGeom>
            <a:avLst/>
            <a:gdLst/>
            <a:ahLst/>
            <a:cxnLst/>
            <a:rect l="l" t="t" r="r" b="b"/>
            <a:pathLst>
              <a:path w="10953655" h="647700">
                <a:moveTo>
                  <a:pt x="37910" y="0"/>
                </a:moveTo>
                <a:lnTo>
                  <a:pt x="10915559" y="0"/>
                </a:lnTo>
                <a:cubicBezTo>
                  <a:pt x="10936583" y="0"/>
                  <a:pt x="10953655" y="17071"/>
                  <a:pt x="10953655" y="38097"/>
                </a:cubicBezTo>
                <a:lnTo>
                  <a:pt x="10953655" y="609603"/>
                </a:lnTo>
                <a:cubicBezTo>
                  <a:pt x="10953655" y="630643"/>
                  <a:pt x="10936597" y="647700"/>
                  <a:pt x="10915559" y="647700"/>
                </a:cubicBezTo>
                <a:lnTo>
                  <a:pt x="37910" y="647700"/>
                </a:lnTo>
                <a:cubicBezTo>
                  <a:pt x="16974" y="647700"/>
                  <a:pt x="0" y="630726"/>
                  <a:pt x="0" y="6097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2095584"/>
            <a:ext cx="37909" cy="647700"/>
          </a:xfrm>
          <a:custGeom>
            <a:avLst/>
            <a:gdLst/>
            <a:ahLst/>
            <a:cxnLst/>
            <a:rect l="l" t="t" r="r" b="b"/>
            <a:pathLst>
              <a:path w="37909" h="647700">
                <a:moveTo>
                  <a:pt x="37910" y="0"/>
                </a:moveTo>
                <a:lnTo>
                  <a:pt x="37910" y="0"/>
                </a:lnTo>
                <a:lnTo>
                  <a:pt x="37910" y="647700"/>
                </a:lnTo>
                <a:lnTo>
                  <a:pt x="37910" y="647700"/>
                </a:lnTo>
                <a:cubicBezTo>
                  <a:pt x="16974" y="647700"/>
                  <a:pt x="0" y="630726"/>
                  <a:pt x="0" y="6097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2095584"/>
            <a:ext cx="11020425" cy="6477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 k in range(0, K, BLOCK_K):</a:t>
            </a:r>
            <a:endParaRPr lang="en-US" sz="1100"/>
          </a:p>
        </p:txBody>
      </p:sp>
      <p:sp>
        <p:nvSpPr>
          <p:cNvPr id="8" name="Freeform 8"/>
          <p:cNvSpPr/>
          <p:nvPr/>
        </p:nvSpPr>
        <p:spPr>
          <a:xfrm>
            <a:off x="380956" y="3200316"/>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428898"/>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Chaque itération exécute</a:t>
            </a:r>
            <a:endParaRPr lang="en-US" sz="1100"/>
          </a:p>
        </p:txBody>
      </p:sp>
      <p:sp>
        <p:nvSpPr>
          <p:cNvPr id="10" name="Freeform 10"/>
          <p:cNvSpPr/>
          <p:nvPr/>
        </p:nvSpPr>
        <p:spPr>
          <a:xfrm>
            <a:off x="609529" y="3847979"/>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19049" y="4000360"/>
            <a:ext cx="33337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Chargement du Tile A</a:t>
            </a:r>
            <a:endParaRPr lang="en-US" sz="1100"/>
          </a:p>
        </p:txBody>
      </p:sp>
      <p:sp>
        <p:nvSpPr>
          <p:cNvPr id="12" name="Freeform 12"/>
          <p:cNvSpPr/>
          <p:nvPr/>
        </p:nvSpPr>
        <p:spPr>
          <a:xfrm>
            <a:off x="4317941" y="3847979"/>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4427461" y="4000360"/>
            <a:ext cx="33337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Chargement du Tile B</a:t>
            </a:r>
            <a:endParaRPr lang="en-US" sz="1100"/>
          </a:p>
        </p:txBody>
      </p:sp>
      <p:sp>
        <p:nvSpPr>
          <p:cNvPr id="14" name="Freeform 14"/>
          <p:cNvSpPr/>
          <p:nvPr/>
        </p:nvSpPr>
        <p:spPr>
          <a:xfrm>
            <a:off x="8026353" y="3847979"/>
            <a:ext cx="3552825" cy="571500"/>
          </a:xfrm>
          <a:custGeom>
            <a:avLst/>
            <a:gdLst/>
            <a:ahLst/>
            <a:cxnLst/>
            <a:rect l="l" t="t" r="r" b="b"/>
            <a:pathLst>
              <a:path w="3552825" h="571500">
                <a:moveTo>
                  <a:pt x="38103" y="0"/>
                </a:moveTo>
                <a:lnTo>
                  <a:pt x="3514722" y="0"/>
                </a:lnTo>
                <a:cubicBezTo>
                  <a:pt x="3535766" y="0"/>
                  <a:pt x="3552825" y="17059"/>
                  <a:pt x="3552825" y="38103"/>
                </a:cubicBezTo>
                <a:lnTo>
                  <a:pt x="3552825" y="533397"/>
                </a:lnTo>
                <a:cubicBezTo>
                  <a:pt x="3552825" y="554441"/>
                  <a:pt x="3535766" y="571500"/>
                  <a:pt x="3514722"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8135872" y="4000360"/>
            <a:ext cx="33337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A6A6A6"/>
                </a:solidFill>
                <a:latin typeface="Calibri" panose="020F0502020204030204"/>
                <a:ea typeface="微软雅黑" panose="020B0503020204020204" charset="-122"/>
                <a:cs typeface="微软雅黑" panose="020B0503020204020204" charset="-122"/>
                <a:sym typeface="微软雅黑" panose="020B0503020204020204" charset="-122"/>
              </a:rPr>
              <a:t>Accumulation du résultat</a:t>
            </a:r>
            <a:endParaRPr lang="en-US" sz="1100"/>
          </a:p>
        </p:txBody>
      </p:sp>
      <p:sp>
        <p:nvSpPr>
          <p:cNvPr id="16" name="Freeform 16"/>
          <p:cNvSpPr/>
          <p:nvPr/>
        </p:nvSpPr>
        <p:spPr>
          <a:xfrm>
            <a:off x="380956" y="4876595"/>
            <a:ext cx="11430000" cy="1409700"/>
          </a:xfrm>
          <a:custGeom>
            <a:avLst/>
            <a:gdLst/>
            <a:ahLst/>
            <a:cxnLst/>
            <a:rect l="l" t="t" r="r" b="b"/>
            <a:pathLst>
              <a:path w="11430000" h="1409700">
                <a:moveTo>
                  <a:pt x="76194" y="0"/>
                </a:moveTo>
                <a:lnTo>
                  <a:pt x="11353806" y="0"/>
                </a:lnTo>
                <a:cubicBezTo>
                  <a:pt x="11395859" y="0"/>
                  <a:pt x="11430000" y="34141"/>
                  <a:pt x="11430000" y="76194"/>
                </a:cubicBezTo>
                <a:lnTo>
                  <a:pt x="11430000" y="1333506"/>
                </a:lnTo>
                <a:cubicBezTo>
                  <a:pt x="11430000" y="1375587"/>
                  <a:pt x="11395887" y="1409700"/>
                  <a:pt x="11353806" y="1409700"/>
                </a:cubicBezTo>
                <a:lnTo>
                  <a:pt x="76194" y="1409700"/>
                </a:lnTo>
                <a:cubicBezTo>
                  <a:pt x="34141" y="1409700"/>
                  <a:pt x="0" y="1375559"/>
                  <a:pt x="0" y="1333506"/>
                </a:cubicBezTo>
                <a:lnTo>
                  <a:pt x="0" y="76194"/>
                </a:lnTo>
                <a:cubicBezTo>
                  <a:pt x="0" y="34141"/>
                  <a:pt x="34141" y="0"/>
                  <a:pt x="7619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633341" y="5132896"/>
            <a:ext cx="190500" cy="191915"/>
          </a:xfrm>
          <a:custGeom>
            <a:avLst/>
            <a:gdLst/>
            <a:ahLst/>
            <a:cxnLst/>
            <a:rect l="l" t="t" r="r" b="b"/>
            <a:pathLst>
              <a:path w="190500" h="191915">
                <a:moveTo>
                  <a:pt x="178631" y="72144"/>
                </a:moveTo>
                <a:lnTo>
                  <a:pt x="181571" y="72144"/>
                </a:lnTo>
                <a:cubicBezTo>
                  <a:pt x="186519" y="72144"/>
                  <a:pt x="190500" y="68163"/>
                  <a:pt x="190500" y="63215"/>
                </a:cubicBezTo>
                <a:lnTo>
                  <a:pt x="190500" y="9636"/>
                </a:lnTo>
                <a:cubicBezTo>
                  <a:pt x="190500" y="6028"/>
                  <a:pt x="188342" y="2753"/>
                  <a:pt x="184993" y="1378"/>
                </a:cubicBezTo>
                <a:cubicBezTo>
                  <a:pt x="181646" y="0"/>
                  <a:pt x="177811" y="781"/>
                  <a:pt x="175245" y="3310"/>
                </a:cubicBezTo>
                <a:lnTo>
                  <a:pt x="156009" y="22585"/>
                </a:lnTo>
                <a:cubicBezTo>
                  <a:pt x="139526" y="8930"/>
                  <a:pt x="118318" y="707"/>
                  <a:pt x="95250" y="707"/>
                </a:cubicBezTo>
                <a:cubicBezTo>
                  <a:pt x="47253" y="707"/>
                  <a:pt x="7553" y="36204"/>
                  <a:pt x="966" y="82376"/>
                </a:cubicBezTo>
                <a:cubicBezTo>
                  <a:pt x="37" y="88888"/>
                  <a:pt x="4539" y="94916"/>
                  <a:pt x="11050" y="95845"/>
                </a:cubicBezTo>
                <a:cubicBezTo>
                  <a:pt x="17562" y="96776"/>
                  <a:pt x="23589" y="92236"/>
                  <a:pt x="24519" y="85761"/>
                </a:cubicBezTo>
                <a:cubicBezTo>
                  <a:pt x="29468" y="51123"/>
                  <a:pt x="59271" y="24520"/>
                  <a:pt x="95250" y="24520"/>
                </a:cubicBezTo>
                <a:cubicBezTo>
                  <a:pt x="111770" y="24520"/>
                  <a:pt x="126950" y="30101"/>
                  <a:pt x="139043" y="39514"/>
                </a:cubicBezTo>
                <a:lnTo>
                  <a:pt x="121667" y="56891"/>
                </a:lnTo>
                <a:cubicBezTo>
                  <a:pt x="119101" y="59457"/>
                  <a:pt x="118356" y="63289"/>
                  <a:pt x="119732" y="66638"/>
                </a:cubicBezTo>
                <a:cubicBezTo>
                  <a:pt x="121108" y="69986"/>
                  <a:pt x="124383" y="72144"/>
                  <a:pt x="127992" y="72144"/>
                </a:cubicBezTo>
                <a:lnTo>
                  <a:pt x="178631" y="72144"/>
                </a:lnTo>
                <a:close/>
                <a:moveTo>
                  <a:pt x="189570" y="109538"/>
                </a:moveTo>
                <a:cubicBezTo>
                  <a:pt x="190500" y="103026"/>
                  <a:pt x="185961" y="96998"/>
                  <a:pt x="179487" y="96069"/>
                </a:cubicBezTo>
                <a:cubicBezTo>
                  <a:pt x="173013" y="95138"/>
                  <a:pt x="166948" y="99678"/>
                  <a:pt x="166018" y="106153"/>
                </a:cubicBezTo>
                <a:cubicBezTo>
                  <a:pt x="161069" y="140754"/>
                  <a:pt x="131266" y="167356"/>
                  <a:pt x="95287" y="167356"/>
                </a:cubicBezTo>
                <a:cubicBezTo>
                  <a:pt x="78767" y="167356"/>
                  <a:pt x="63588" y="161776"/>
                  <a:pt x="51495" y="152363"/>
                </a:cubicBezTo>
                <a:lnTo>
                  <a:pt x="68833" y="135023"/>
                </a:lnTo>
                <a:cubicBezTo>
                  <a:pt x="71399" y="132457"/>
                  <a:pt x="72144" y="128625"/>
                  <a:pt x="70768" y="125276"/>
                </a:cubicBezTo>
                <a:cubicBezTo>
                  <a:pt x="69392" y="121929"/>
                  <a:pt x="66117" y="119770"/>
                  <a:pt x="62508" y="119770"/>
                </a:cubicBezTo>
                <a:lnTo>
                  <a:pt x="8929" y="119770"/>
                </a:lnTo>
                <a:cubicBezTo>
                  <a:pt x="3981" y="119770"/>
                  <a:pt x="0" y="123751"/>
                  <a:pt x="0" y="128699"/>
                </a:cubicBezTo>
                <a:lnTo>
                  <a:pt x="0" y="182278"/>
                </a:lnTo>
                <a:cubicBezTo>
                  <a:pt x="0" y="185886"/>
                  <a:pt x="2158" y="189161"/>
                  <a:pt x="5507" y="190536"/>
                </a:cubicBezTo>
                <a:cubicBezTo>
                  <a:pt x="8854" y="191914"/>
                  <a:pt x="12689" y="191133"/>
                  <a:pt x="15255" y="188604"/>
                </a:cubicBezTo>
                <a:lnTo>
                  <a:pt x="34527" y="169329"/>
                </a:lnTo>
                <a:cubicBezTo>
                  <a:pt x="50974" y="182984"/>
                  <a:pt x="72182" y="191207"/>
                  <a:pt x="95250" y="191207"/>
                </a:cubicBezTo>
                <a:cubicBezTo>
                  <a:pt x="143247" y="191207"/>
                  <a:pt x="182947" y="155710"/>
                  <a:pt x="189534" y="10953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904804" y="5105167"/>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Caractéristiques de la boucle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628484" y="5524258"/>
            <a:ext cx="5391055" cy="533400"/>
          </a:xfrm>
          <a:custGeom>
            <a:avLst/>
            <a:gdLst/>
            <a:ahLst/>
            <a:cxnLst/>
            <a:rect l="l" t="t" r="r" b="b"/>
            <a:pathLst>
              <a:path w="5391055" h="533400">
                <a:moveTo>
                  <a:pt x="37910" y="0"/>
                </a:moveTo>
                <a:lnTo>
                  <a:pt x="5352953" y="0"/>
                </a:lnTo>
                <a:cubicBezTo>
                  <a:pt x="5373997" y="0"/>
                  <a:pt x="5391055" y="17057"/>
                  <a:pt x="5391055" y="38101"/>
                </a:cubicBezTo>
                <a:lnTo>
                  <a:pt x="5391055" y="495299"/>
                </a:lnTo>
                <a:cubicBezTo>
                  <a:pt x="5391055" y="516343"/>
                  <a:pt x="5373997" y="533400"/>
                  <a:pt x="5352953" y="533400"/>
                </a:cubicBezTo>
                <a:lnTo>
                  <a:pt x="37910" y="533400"/>
                </a:lnTo>
                <a:cubicBezTo>
                  <a:pt x="16974" y="533400"/>
                  <a:pt x="0" y="516426"/>
                  <a:pt x="0" y="4954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8484" y="5524258"/>
            <a:ext cx="37909" cy="533400"/>
          </a:xfrm>
          <a:custGeom>
            <a:avLst/>
            <a:gdLst/>
            <a:ahLst/>
            <a:cxnLst/>
            <a:rect l="l" t="t" r="r" b="b"/>
            <a:pathLst>
              <a:path w="37909" h="533400">
                <a:moveTo>
                  <a:pt x="37910" y="0"/>
                </a:moveTo>
                <a:lnTo>
                  <a:pt x="37910" y="0"/>
                </a:lnTo>
                <a:lnTo>
                  <a:pt x="37910" y="533400"/>
                </a:lnTo>
                <a:lnTo>
                  <a:pt x="37910" y="533400"/>
                </a:lnTo>
                <a:cubicBezTo>
                  <a:pt x="16974" y="533400"/>
                  <a:pt x="0" y="516426"/>
                  <a:pt x="0" y="4954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99822" y="5676640"/>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Pas égal à BLOCK_K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6191102" y="5524258"/>
            <a:ext cx="5391055" cy="533400"/>
          </a:xfrm>
          <a:custGeom>
            <a:avLst/>
            <a:gdLst/>
            <a:ahLst/>
            <a:cxnLst/>
            <a:rect l="l" t="t" r="r" b="b"/>
            <a:pathLst>
              <a:path w="5391055" h="533400">
                <a:moveTo>
                  <a:pt x="37910" y="0"/>
                </a:moveTo>
                <a:lnTo>
                  <a:pt x="5352953" y="0"/>
                </a:lnTo>
                <a:cubicBezTo>
                  <a:pt x="5373997" y="0"/>
                  <a:pt x="5391055" y="17057"/>
                  <a:pt x="5391055" y="38101"/>
                </a:cubicBezTo>
                <a:lnTo>
                  <a:pt x="5391055" y="495299"/>
                </a:lnTo>
                <a:cubicBezTo>
                  <a:pt x="5391055" y="516343"/>
                  <a:pt x="5373997" y="533400"/>
                  <a:pt x="5352953" y="533400"/>
                </a:cubicBezTo>
                <a:lnTo>
                  <a:pt x="37910" y="533400"/>
                </a:lnTo>
                <a:cubicBezTo>
                  <a:pt x="16974" y="533400"/>
                  <a:pt x="0" y="516426"/>
                  <a:pt x="0" y="4954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6191102" y="5524258"/>
            <a:ext cx="37910" cy="533400"/>
          </a:xfrm>
          <a:custGeom>
            <a:avLst/>
            <a:gdLst/>
            <a:ahLst/>
            <a:cxnLst/>
            <a:rect l="l" t="t" r="r" b="b"/>
            <a:pathLst>
              <a:path w="37910" h="533400">
                <a:moveTo>
                  <a:pt x="37910" y="0"/>
                </a:moveTo>
                <a:lnTo>
                  <a:pt x="37910" y="0"/>
                </a:lnTo>
                <a:lnTo>
                  <a:pt x="37910" y="533400"/>
                </a:lnTo>
                <a:lnTo>
                  <a:pt x="37910" y="533400"/>
                </a:lnTo>
                <a:cubicBezTo>
                  <a:pt x="16974" y="533400"/>
                  <a:pt x="0" y="516426"/>
                  <a:pt x="0" y="4954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362440" y="5676640"/>
            <a:ext cx="5143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Couvre toute la dimension 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59035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Accumulation locale (Accumulator)</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257114"/>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485686"/>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Utilisation de l'accumulator</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28484" y="1904777"/>
            <a:ext cx="10953655" cy="609600"/>
          </a:xfrm>
          <a:custGeom>
            <a:avLst/>
            <a:gdLst/>
            <a:ahLst/>
            <a:cxnLst/>
            <a:rect l="l" t="t" r="r" b="b"/>
            <a:pathLst>
              <a:path w="10953655" h="609600">
                <a:moveTo>
                  <a:pt x="37910" y="0"/>
                </a:moveTo>
                <a:lnTo>
                  <a:pt x="10915555" y="0"/>
                </a:lnTo>
                <a:cubicBezTo>
                  <a:pt x="10936583" y="0"/>
                  <a:pt x="10953655" y="17073"/>
                  <a:pt x="10953655" y="38100"/>
                </a:cubicBezTo>
                <a:lnTo>
                  <a:pt x="10953655" y="571500"/>
                </a:lnTo>
                <a:cubicBezTo>
                  <a:pt x="10953655" y="592527"/>
                  <a:pt x="10936583" y="609600"/>
                  <a:pt x="10915555" y="609600"/>
                </a:cubicBezTo>
                <a:lnTo>
                  <a:pt x="37910" y="609600"/>
                </a:lnTo>
                <a:cubicBezTo>
                  <a:pt x="16974" y="609600"/>
                  <a:pt x="0" y="592626"/>
                  <a:pt x="0" y="571691"/>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28484" y="1904777"/>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1"/>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9529" y="1904777"/>
            <a:ext cx="11010900" cy="6096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tl.zeros((BLOCK_M, BLOCK_N))</a:t>
            </a:r>
            <a:endParaRPr lang="en-US" sz="1100"/>
          </a:p>
        </p:txBody>
      </p:sp>
      <p:sp>
        <p:nvSpPr>
          <p:cNvPr id="8" name="Freeform 8"/>
          <p:cNvSpPr/>
          <p:nvPr/>
        </p:nvSpPr>
        <p:spPr>
          <a:xfrm>
            <a:off x="380956" y="2971372"/>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9529" y="3199944"/>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Mise à jour</a:t>
            </a:r>
            <a:endParaRPr lang="en-US"/>
          </a:p>
        </p:txBody>
      </p:sp>
      <p:sp>
        <p:nvSpPr>
          <p:cNvPr id="10" name="Freeform 10"/>
          <p:cNvSpPr/>
          <p:nvPr/>
        </p:nvSpPr>
        <p:spPr>
          <a:xfrm>
            <a:off x="628484" y="3619035"/>
            <a:ext cx="10953655" cy="609600"/>
          </a:xfrm>
          <a:custGeom>
            <a:avLst/>
            <a:gdLst/>
            <a:ahLst/>
            <a:cxnLst/>
            <a:rect l="l" t="t" r="r" b="b"/>
            <a:pathLst>
              <a:path w="10953655" h="609600">
                <a:moveTo>
                  <a:pt x="37910" y="0"/>
                </a:moveTo>
                <a:lnTo>
                  <a:pt x="10915555" y="0"/>
                </a:lnTo>
                <a:cubicBezTo>
                  <a:pt x="10936583" y="0"/>
                  <a:pt x="10953655" y="17073"/>
                  <a:pt x="10953655" y="38100"/>
                </a:cubicBezTo>
                <a:lnTo>
                  <a:pt x="10953655" y="571500"/>
                </a:lnTo>
                <a:cubicBezTo>
                  <a:pt x="10953655" y="592527"/>
                  <a:pt x="10936583" y="609600"/>
                  <a:pt x="10915555" y="609600"/>
                </a:cubicBezTo>
                <a:lnTo>
                  <a:pt x="37910" y="609600"/>
                </a:lnTo>
                <a:cubicBezTo>
                  <a:pt x="16974" y="609600"/>
                  <a:pt x="0" y="592626"/>
                  <a:pt x="0" y="571690"/>
                </a:cubicBezTo>
                <a:lnTo>
                  <a:pt x="0" y="37909"/>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28484" y="3619035"/>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0"/>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529" y="3619035"/>
            <a:ext cx="11010900" cy="6096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tl.dot(a, b)</a:t>
            </a:r>
            <a:endParaRPr lang="en-US" sz="1100"/>
          </a:p>
        </p:txBody>
      </p:sp>
      <p:sp>
        <p:nvSpPr>
          <p:cNvPr id="13" name="Freeform 13"/>
          <p:cNvSpPr/>
          <p:nvPr/>
        </p:nvSpPr>
        <p:spPr>
          <a:xfrm>
            <a:off x="380956" y="4685640"/>
            <a:ext cx="11430000" cy="1905000"/>
          </a:xfrm>
          <a:custGeom>
            <a:avLst/>
            <a:gdLst/>
            <a:ahLst/>
            <a:cxnLst/>
            <a:rect l="l" t="t" r="r" b="b"/>
            <a:pathLst>
              <a:path w="11430000" h="1905000">
                <a:moveTo>
                  <a:pt x="76200" y="0"/>
                </a:moveTo>
                <a:lnTo>
                  <a:pt x="11353800" y="0"/>
                </a:lnTo>
                <a:cubicBezTo>
                  <a:pt x="11395856" y="0"/>
                  <a:pt x="11430000" y="34144"/>
                  <a:pt x="11430000" y="76200"/>
                </a:cubicBezTo>
                <a:lnTo>
                  <a:pt x="11430000" y="1828800"/>
                </a:lnTo>
                <a:cubicBezTo>
                  <a:pt x="11430000" y="1870856"/>
                  <a:pt x="11395856" y="1905000"/>
                  <a:pt x="11353800" y="1905000"/>
                </a:cubicBezTo>
                <a:lnTo>
                  <a:pt x="76200" y="1905000"/>
                </a:lnTo>
                <a:cubicBezTo>
                  <a:pt x="34144" y="1905000"/>
                  <a:pt x="0" y="1870856"/>
                  <a:pt x="0" y="1828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04804" y="4914212"/>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Avantage</a:t>
            </a:r>
            <a:endParaRPr lang="en-US" sz="1100"/>
          </a:p>
        </p:txBody>
      </p:sp>
      <p:sp>
        <p:nvSpPr>
          <p:cNvPr id="15" name="Freeform 15"/>
          <p:cNvSpPr/>
          <p:nvPr/>
        </p:nvSpPr>
        <p:spPr>
          <a:xfrm>
            <a:off x="609529" y="5333302"/>
            <a:ext cx="10972800" cy="1028700"/>
          </a:xfrm>
          <a:custGeom>
            <a:avLst/>
            <a:gdLst/>
            <a:ahLst/>
            <a:cxnLst/>
            <a:rect l="l" t="t" r="r" b="b"/>
            <a:pathLst>
              <a:path w="10972800" h="1028700">
                <a:moveTo>
                  <a:pt x="38103" y="0"/>
                </a:moveTo>
                <a:lnTo>
                  <a:pt x="10934697" y="0"/>
                </a:lnTo>
                <a:cubicBezTo>
                  <a:pt x="10955741" y="0"/>
                  <a:pt x="10972800" y="17059"/>
                  <a:pt x="10972800" y="38103"/>
                </a:cubicBezTo>
                <a:lnTo>
                  <a:pt x="10972800" y="990597"/>
                </a:lnTo>
                <a:cubicBezTo>
                  <a:pt x="10972800" y="1011641"/>
                  <a:pt x="10955741" y="1028700"/>
                  <a:pt x="10934697" y="1028700"/>
                </a:cubicBezTo>
                <a:lnTo>
                  <a:pt x="38103" y="1028700"/>
                </a:lnTo>
                <a:cubicBezTo>
                  <a:pt x="17059" y="1028700"/>
                  <a:pt x="0" y="1011641"/>
                  <a:pt x="0" y="9905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742820" y="5523737"/>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Éviter les écritures fréquentes en Global Memory</a:t>
            </a:r>
            <a:endPar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757107" y="5904626"/>
            <a:ext cx="10677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Réduire le nombre d'accès mémoire</a:t>
            </a:r>
            <a:endParaRPr lang="en-US" b="0"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6394" y="638138"/>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Écriture dans </a:t>
            </a:r>
            <a:r>
              <a:rPr lang="en-US" altLang="zh-CN" sz="2800" b="1">
                <a:solidFill>
                  <a:srgbClr val="1A1A1A"/>
                </a:solidFill>
                <a:latin typeface="MiSans" panose="00000500000000000000" charset="-122"/>
                <a:ea typeface="MiSans" panose="00000500000000000000" charset="-122"/>
                <a:cs typeface="MiSans" panose="00000500000000000000" charset="-122"/>
              </a:rPr>
              <a:t>la m</a:t>
            </a:r>
            <a:r>
              <a:rPr lang="en-US" altLang="en-US" sz="2800" b="1">
                <a:solidFill>
                  <a:srgbClr val="1A1A1A"/>
                </a:solidFill>
                <a:latin typeface="MiSans" panose="00000500000000000000" charset="-122"/>
                <a:ea typeface="MiSans" panose="00000500000000000000" charset="-122"/>
                <a:cs typeface="MiSans" panose="00000500000000000000" charset="-122"/>
              </a:rPr>
              <a:t>é</a:t>
            </a:r>
            <a:r>
              <a:rPr lang="en-US" altLang="zh-CN" sz="2800" b="1">
                <a:solidFill>
                  <a:srgbClr val="1A1A1A"/>
                </a:solidFill>
                <a:latin typeface="MiSans" panose="00000500000000000000" charset="-122"/>
                <a:ea typeface="MiSans" panose="00000500000000000000" charset="-122"/>
                <a:cs typeface="MiSans" panose="00000500000000000000" charset="-122"/>
              </a:rPr>
              <a:t>moire globale</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90845"/>
            <a:ext cx="11430000" cy="1562100"/>
          </a:xfrm>
          <a:custGeom>
            <a:avLst/>
            <a:gdLst/>
            <a:ahLst/>
            <a:cxnLst/>
            <a:rect l="l" t="t" r="r" b="b"/>
            <a:pathLst>
              <a:path w="11430000" h="1562100">
                <a:moveTo>
                  <a:pt x="76199" y="0"/>
                </a:moveTo>
                <a:lnTo>
                  <a:pt x="11353801" y="0"/>
                </a:lnTo>
                <a:cubicBezTo>
                  <a:pt x="11395884" y="0"/>
                  <a:pt x="11430000" y="34116"/>
                  <a:pt x="11430000" y="76199"/>
                </a:cubicBezTo>
                <a:lnTo>
                  <a:pt x="11430000" y="1485901"/>
                </a:lnTo>
                <a:cubicBezTo>
                  <a:pt x="11430000" y="1527984"/>
                  <a:pt x="11395884" y="1562100"/>
                  <a:pt x="113538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61941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Après le calcul</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09529" y="2038508"/>
            <a:ext cx="10972800" cy="685800"/>
          </a:xfrm>
          <a:custGeom>
            <a:avLst/>
            <a:gdLst/>
            <a:ahLst/>
            <a:cxnLst/>
            <a:rect l="l" t="t" r="r" b="b"/>
            <a:pathLst>
              <a:path w="10972800" h="685800">
                <a:moveTo>
                  <a:pt x="76199" y="0"/>
                </a:moveTo>
                <a:lnTo>
                  <a:pt x="10896601" y="0"/>
                </a:lnTo>
                <a:cubicBezTo>
                  <a:pt x="10938684" y="0"/>
                  <a:pt x="10972800" y="34116"/>
                  <a:pt x="10972800" y="76199"/>
                </a:cubicBezTo>
                <a:lnTo>
                  <a:pt x="10972800" y="609601"/>
                </a:lnTo>
                <a:cubicBezTo>
                  <a:pt x="10972800" y="651684"/>
                  <a:pt x="10938684" y="685800"/>
                  <a:pt x="10896601" y="685800"/>
                </a:cubicBezTo>
                <a:lnTo>
                  <a:pt x="76199" y="685800"/>
                </a:lnTo>
                <a:cubicBezTo>
                  <a:pt x="34116" y="685800"/>
                  <a:pt x="0" y="651684"/>
                  <a:pt x="0" y="609601"/>
                </a:cubicBezTo>
                <a:lnTo>
                  <a:pt x="0" y="76199"/>
                </a:lnTo>
                <a:cubicBezTo>
                  <a:pt x="0" y="34144"/>
                  <a:pt x="34144" y="0"/>
                  <a:pt x="7619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42820" y="2228943"/>
            <a:ext cx="10706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Écriture du résultat</a:t>
            </a:r>
            <a:endParaRPr lang="en-US" sz="1600"/>
          </a:p>
        </p:txBody>
      </p:sp>
      <p:sp>
        <p:nvSpPr>
          <p:cNvPr id="7" name="Freeform 7"/>
          <p:cNvSpPr/>
          <p:nvPr/>
        </p:nvSpPr>
        <p:spPr>
          <a:xfrm>
            <a:off x="380956" y="3181220"/>
            <a:ext cx="11430000" cy="1485900"/>
          </a:xfrm>
          <a:custGeom>
            <a:avLst/>
            <a:gdLst/>
            <a:ahLst/>
            <a:cxnLst/>
            <a:rect l="l" t="t" r="r" b="b"/>
            <a:pathLst>
              <a:path w="11430000" h="1485900">
                <a:moveTo>
                  <a:pt x="76197" y="0"/>
                </a:moveTo>
                <a:lnTo>
                  <a:pt x="11353803" y="0"/>
                </a:lnTo>
                <a:cubicBezTo>
                  <a:pt x="11395885" y="0"/>
                  <a:pt x="11430000" y="34115"/>
                  <a:pt x="11430000" y="76197"/>
                </a:cubicBezTo>
                <a:lnTo>
                  <a:pt x="11430000" y="1409703"/>
                </a:lnTo>
                <a:cubicBezTo>
                  <a:pt x="11430000" y="1451785"/>
                  <a:pt x="11395885" y="1485900"/>
                  <a:pt x="11353803" y="1485900"/>
                </a:cubicBezTo>
                <a:lnTo>
                  <a:pt x="76197" y="1485900"/>
                </a:lnTo>
                <a:cubicBezTo>
                  <a:pt x="34115" y="1485900"/>
                  <a:pt x="0" y="1451785"/>
                  <a:pt x="0" y="14097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09529" y="3409792"/>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628484" y="3828883"/>
            <a:ext cx="10953655" cy="609600"/>
          </a:xfrm>
          <a:custGeom>
            <a:avLst/>
            <a:gdLst/>
            <a:ahLst/>
            <a:cxnLst/>
            <a:rect l="l" t="t" r="r" b="b"/>
            <a:pathLst>
              <a:path w="10953655" h="609600">
                <a:moveTo>
                  <a:pt x="37910" y="0"/>
                </a:moveTo>
                <a:lnTo>
                  <a:pt x="10915555" y="0"/>
                </a:lnTo>
                <a:cubicBezTo>
                  <a:pt x="10936583" y="0"/>
                  <a:pt x="10953655" y="17073"/>
                  <a:pt x="10953655" y="38100"/>
                </a:cubicBezTo>
                <a:lnTo>
                  <a:pt x="10953655" y="571500"/>
                </a:lnTo>
                <a:cubicBezTo>
                  <a:pt x="10953655" y="592527"/>
                  <a:pt x="10936583" y="609600"/>
                  <a:pt x="10915555" y="609600"/>
                </a:cubicBezTo>
                <a:lnTo>
                  <a:pt x="37910" y="609600"/>
                </a:lnTo>
                <a:cubicBezTo>
                  <a:pt x="16974" y="609600"/>
                  <a:pt x="0" y="592626"/>
                  <a:pt x="0" y="571690"/>
                </a:cubicBezTo>
                <a:lnTo>
                  <a:pt x="0" y="37909"/>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28484" y="3828883"/>
            <a:ext cx="37909" cy="609600"/>
          </a:xfrm>
          <a:custGeom>
            <a:avLst/>
            <a:gdLst/>
            <a:ahLst/>
            <a:cxnLst/>
            <a:rect l="l" t="t" r="r" b="b"/>
            <a:pathLst>
              <a:path w="37909" h="609600">
                <a:moveTo>
                  <a:pt x="37910" y="0"/>
                </a:moveTo>
                <a:lnTo>
                  <a:pt x="37910" y="0"/>
                </a:lnTo>
                <a:lnTo>
                  <a:pt x="37910" y="609600"/>
                </a:lnTo>
                <a:lnTo>
                  <a:pt x="37910" y="609600"/>
                </a:lnTo>
                <a:cubicBezTo>
                  <a:pt x="16974" y="609600"/>
                  <a:pt x="0" y="592626"/>
                  <a:pt x="0" y="571690"/>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29" y="3828883"/>
            <a:ext cx="11010900" cy="609600"/>
          </a:xfrm>
          <a:prstGeom prst="rect">
            <a:avLst/>
          </a:prstGeom>
          <a:noFill/>
          <a:ln w="12700">
            <a:noFill/>
            <a:prstDash val="solid"/>
          </a:ln>
        </p:spPr>
        <p:txBody>
          <a:bodyPr wrap="square" lIns="190500" tIns="190500" rIns="190500" bIns="190500" rtlCol="0" anchor="ctr">
            <a:noAutofit/>
          </a:bodyPr>
          <a:lstStyle/>
          <a:p>
            <a:pPr indent="0" algn="l">
              <a:lnSpc>
                <a:spcPct val="133000"/>
              </a:lnSpc>
              <a:defRPr/>
            </a:pPr>
            <a:r>
              <a:rPr lang="en-US" sz="16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tl.store(C_ptr, acc)</a:t>
            </a:r>
            <a:endParaRPr lang="en-US" sz="1600"/>
          </a:p>
        </p:txBody>
      </p:sp>
      <p:sp>
        <p:nvSpPr>
          <p:cNvPr id="12" name="Freeform 12"/>
          <p:cNvSpPr/>
          <p:nvPr/>
        </p:nvSpPr>
        <p:spPr>
          <a:xfrm>
            <a:off x="380956" y="4895487"/>
            <a:ext cx="11430000" cy="1447800"/>
          </a:xfrm>
          <a:custGeom>
            <a:avLst/>
            <a:gdLst/>
            <a:ahLst/>
            <a:cxnLst/>
            <a:rect l="l" t="t" r="r" b="b"/>
            <a:pathLst>
              <a:path w="11430000" h="1447800">
                <a:moveTo>
                  <a:pt x="76197" y="0"/>
                </a:moveTo>
                <a:lnTo>
                  <a:pt x="11353803" y="0"/>
                </a:lnTo>
                <a:cubicBezTo>
                  <a:pt x="11395857" y="0"/>
                  <a:pt x="11430000" y="34143"/>
                  <a:pt x="11430000" y="76197"/>
                </a:cubicBezTo>
                <a:lnTo>
                  <a:pt x="11430000" y="1371603"/>
                </a:lnTo>
                <a:cubicBezTo>
                  <a:pt x="11430000" y="1413657"/>
                  <a:pt x="11395857" y="1447800"/>
                  <a:pt x="11353803" y="1447800"/>
                </a:cubicBezTo>
                <a:lnTo>
                  <a:pt x="76197" y="1447800"/>
                </a:lnTo>
                <a:cubicBezTo>
                  <a:pt x="34143" y="1447800"/>
                  <a:pt x="0" y="1413657"/>
                  <a:pt x="0" y="13716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04804" y="5124059"/>
            <a:ext cx="10772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Caractéristique</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609529" y="5543150"/>
            <a:ext cx="5410200" cy="571500"/>
          </a:xfrm>
          <a:custGeom>
            <a:avLst/>
            <a:gdLst/>
            <a:ahLst/>
            <a:cxnLst/>
            <a:rect l="l" t="t" r="r" b="b"/>
            <a:pathLst>
              <a:path w="5410200" h="571500">
                <a:moveTo>
                  <a:pt x="38103" y="0"/>
                </a:moveTo>
                <a:lnTo>
                  <a:pt x="5372097" y="0"/>
                </a:lnTo>
                <a:cubicBezTo>
                  <a:pt x="5393141" y="0"/>
                  <a:pt x="5410200" y="17059"/>
                  <a:pt x="5410200" y="38103"/>
                </a:cubicBezTo>
                <a:lnTo>
                  <a:pt x="5410200" y="533397"/>
                </a:lnTo>
                <a:cubicBezTo>
                  <a:pt x="5410200" y="554441"/>
                  <a:pt x="5393141" y="571500"/>
                  <a:pt x="53720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714286" y="5695531"/>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Écriture unique</a:t>
            </a:r>
            <a:endPar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6172147" y="5543150"/>
            <a:ext cx="5410200" cy="571500"/>
          </a:xfrm>
          <a:custGeom>
            <a:avLst/>
            <a:gdLst/>
            <a:ahLst/>
            <a:cxnLst/>
            <a:rect l="l" t="t" r="r" b="b"/>
            <a:pathLst>
              <a:path w="5410200" h="571500">
                <a:moveTo>
                  <a:pt x="38103" y="0"/>
                </a:moveTo>
                <a:lnTo>
                  <a:pt x="5372097" y="0"/>
                </a:lnTo>
                <a:cubicBezTo>
                  <a:pt x="5393141" y="0"/>
                  <a:pt x="5410200" y="17059"/>
                  <a:pt x="5410200" y="38103"/>
                </a:cubicBezTo>
                <a:lnTo>
                  <a:pt x="5410200" y="533397"/>
                </a:lnTo>
                <a:cubicBezTo>
                  <a:pt x="5410200" y="554441"/>
                  <a:pt x="5393141" y="571500"/>
                  <a:pt x="5372097" y="571500"/>
                </a:cubicBezTo>
                <a:lnTo>
                  <a:pt x="38103" y="571500"/>
                </a:lnTo>
                <a:cubicBezTo>
                  <a:pt x="17059" y="571500"/>
                  <a:pt x="0" y="554441"/>
                  <a:pt x="0" y="5333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6276904" y="5695531"/>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Réduction des accès mémoire</a:t>
            </a:r>
            <a:endParaRPr lang="en-US" sz="16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5141" y="61926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Limitations de la mémoire </a:t>
            </a:r>
            <a:r>
              <a:rPr lang="en-US" altLang="zh-CN"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GPU </a:t>
            </a: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et calcul Streaming</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657471"/>
            <a:ext cx="5562600" cy="2438400"/>
          </a:xfrm>
          <a:custGeom>
            <a:avLst/>
            <a:gdLst/>
            <a:ahLst/>
            <a:cxnLst/>
            <a:rect l="l" t="t" r="r" b="b"/>
            <a:pathLst>
              <a:path w="5562600" h="2438400">
                <a:moveTo>
                  <a:pt x="76200" y="0"/>
                </a:moveTo>
                <a:lnTo>
                  <a:pt x="5486400" y="0"/>
                </a:lnTo>
                <a:cubicBezTo>
                  <a:pt x="5528456" y="0"/>
                  <a:pt x="5562600" y="34144"/>
                  <a:pt x="5562600" y="76200"/>
                </a:cubicBezTo>
                <a:lnTo>
                  <a:pt x="5562600" y="2362200"/>
                </a:lnTo>
                <a:cubicBezTo>
                  <a:pt x="5562600" y="2404256"/>
                  <a:pt x="5528456" y="2438400"/>
                  <a:pt x="5486400" y="2438400"/>
                </a:cubicBezTo>
                <a:lnTo>
                  <a:pt x="76200" y="2438400"/>
                </a:lnTo>
                <a:cubicBezTo>
                  <a:pt x="34144" y="2438400"/>
                  <a:pt x="0" y="2404256"/>
                  <a:pt x="0" y="2362200"/>
                </a:cubicBezTo>
                <a:lnTo>
                  <a:pt x="0" y="76200"/>
                </a:lnTo>
                <a:cubicBezTo>
                  <a:pt x="0" y="34144"/>
                  <a:pt x="34144" y="0"/>
                  <a:pt x="7620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4" name="AutoShape 4"/>
          <p:cNvSpPr/>
          <p:nvPr/>
        </p:nvSpPr>
        <p:spPr>
          <a:xfrm>
            <a:off x="609529" y="1895480"/>
            <a:ext cx="49053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Problème</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Freeform 5"/>
          <p:cNvSpPr/>
          <p:nvPr/>
        </p:nvSpPr>
        <p:spPr>
          <a:xfrm>
            <a:off x="628484" y="2305134"/>
            <a:ext cx="5086255" cy="571500"/>
          </a:xfrm>
          <a:custGeom>
            <a:avLst/>
            <a:gdLst/>
            <a:ahLst/>
            <a:cxnLst/>
            <a:rect l="l" t="t" r="r" b="b"/>
            <a:pathLst>
              <a:path w="5086255" h="571500">
                <a:moveTo>
                  <a:pt x="37910" y="0"/>
                </a:moveTo>
                <a:lnTo>
                  <a:pt x="5048153" y="0"/>
                </a:lnTo>
                <a:cubicBezTo>
                  <a:pt x="5069196" y="0"/>
                  <a:pt x="5086255" y="17059"/>
                  <a:pt x="5086255" y="38103"/>
                </a:cubicBezTo>
                <a:lnTo>
                  <a:pt x="5086255" y="533397"/>
                </a:lnTo>
                <a:cubicBezTo>
                  <a:pt x="5086255" y="554441"/>
                  <a:pt x="5069196" y="571500"/>
                  <a:pt x="5048153" y="571500"/>
                </a:cubicBezTo>
                <a:lnTo>
                  <a:pt x="37910" y="571500"/>
                </a:lnTo>
                <a:cubicBezTo>
                  <a:pt x="16974" y="571500"/>
                  <a:pt x="0" y="554526"/>
                  <a:pt x="0" y="5335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6" name="Freeform 6"/>
          <p:cNvSpPr/>
          <p:nvPr/>
        </p:nvSpPr>
        <p:spPr>
          <a:xfrm>
            <a:off x="628484" y="2305134"/>
            <a:ext cx="37909" cy="571500"/>
          </a:xfrm>
          <a:custGeom>
            <a:avLst/>
            <a:gdLst/>
            <a:ahLst/>
            <a:cxnLst/>
            <a:rect l="l" t="t" r="r" b="b"/>
            <a:pathLst>
              <a:path w="37909" h="571500">
                <a:moveTo>
                  <a:pt x="37910" y="0"/>
                </a:moveTo>
                <a:lnTo>
                  <a:pt x="37910" y="0"/>
                </a:lnTo>
                <a:lnTo>
                  <a:pt x="37910" y="571500"/>
                </a:lnTo>
                <a:lnTo>
                  <a:pt x="37910" y="571500"/>
                </a:lnTo>
                <a:cubicBezTo>
                  <a:pt x="16974" y="571500"/>
                  <a:pt x="0" y="554526"/>
                  <a:pt x="0" y="533590"/>
                </a:cubicBez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7" name="AutoShape 7"/>
          <p:cNvSpPr/>
          <p:nvPr/>
        </p:nvSpPr>
        <p:spPr>
          <a:xfrm>
            <a:off x="799822" y="2457515"/>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Impossible de charger entièrement les grandes matrices</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609529" y="2990859"/>
            <a:ext cx="5105400" cy="876300"/>
          </a:xfrm>
          <a:custGeom>
            <a:avLst/>
            <a:gdLst/>
            <a:ahLst/>
            <a:cxnLst/>
            <a:rect l="l" t="t" r="r" b="b"/>
            <a:pathLst>
              <a:path w="5105400" h="876300">
                <a:moveTo>
                  <a:pt x="38103" y="0"/>
                </a:moveTo>
                <a:lnTo>
                  <a:pt x="5067297" y="0"/>
                </a:lnTo>
                <a:cubicBezTo>
                  <a:pt x="5088341" y="0"/>
                  <a:pt x="5105400" y="17059"/>
                  <a:pt x="5105400" y="38103"/>
                </a:cubicBezTo>
                <a:lnTo>
                  <a:pt x="5105400" y="838197"/>
                </a:lnTo>
                <a:cubicBezTo>
                  <a:pt x="5105400" y="859241"/>
                  <a:pt x="5088341" y="876300"/>
                  <a:pt x="5067297" y="876300"/>
                </a:cubicBezTo>
                <a:lnTo>
                  <a:pt x="38103" y="876300"/>
                </a:lnTo>
                <a:cubicBezTo>
                  <a:pt x="17059" y="876300"/>
                  <a:pt x="0" y="859241"/>
                  <a:pt x="0" y="838197"/>
                </a:cubicBezTo>
                <a:lnTo>
                  <a:pt x="0" y="38103"/>
                </a:lnTo>
                <a:cubicBezTo>
                  <a:pt x="0" y="17073"/>
                  <a:pt x="17073" y="0"/>
                  <a:pt x="381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9" name="AutoShape 9"/>
          <p:cNvSpPr/>
          <p:nvPr/>
        </p:nvSpPr>
        <p:spPr>
          <a:xfrm>
            <a:off x="761911" y="314324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Exemple : matrice 4096 × 4096</a:t>
            </a:r>
            <a:endParaRPr lang="en-US" sz="16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AutoShape 10"/>
          <p:cNvSpPr/>
          <p:nvPr/>
        </p:nvSpPr>
        <p:spPr>
          <a:xfrm>
            <a:off x="761911" y="3448003"/>
            <a:ext cx="4886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Nécessite 64MB+</a:t>
            </a:r>
            <a:endParaRPr lang="en-US" sz="1600" b="0"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380956" y="4286101"/>
            <a:ext cx="5562600" cy="1485900"/>
          </a:xfrm>
          <a:custGeom>
            <a:avLst/>
            <a:gdLst/>
            <a:ahLst/>
            <a:cxnLst/>
            <a:rect l="l" t="t" r="r" b="b"/>
            <a:pathLst>
              <a:path w="5562600" h="1485900">
                <a:moveTo>
                  <a:pt x="76197" y="0"/>
                </a:moveTo>
                <a:lnTo>
                  <a:pt x="5486403" y="0"/>
                </a:lnTo>
                <a:cubicBezTo>
                  <a:pt x="5528485" y="0"/>
                  <a:pt x="5562600" y="34115"/>
                  <a:pt x="5562600" y="76197"/>
                </a:cubicBezTo>
                <a:lnTo>
                  <a:pt x="5562600" y="1409703"/>
                </a:lnTo>
                <a:cubicBezTo>
                  <a:pt x="5562600" y="1451785"/>
                  <a:pt x="5528485" y="1485900"/>
                  <a:pt x="5486403" y="1485900"/>
                </a:cubicBezTo>
                <a:lnTo>
                  <a:pt x="76197" y="1485900"/>
                </a:lnTo>
                <a:cubicBezTo>
                  <a:pt x="34115" y="1485900"/>
                  <a:pt x="0" y="1451785"/>
                  <a:pt x="0" y="14097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12" name="AutoShape 12"/>
          <p:cNvSpPr/>
          <p:nvPr/>
        </p:nvSpPr>
        <p:spPr>
          <a:xfrm>
            <a:off x="609529" y="4514673"/>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Solution</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609529" y="4933764"/>
            <a:ext cx="5105400" cy="609600"/>
          </a:xfrm>
          <a:custGeom>
            <a:avLst/>
            <a:gdLst/>
            <a:ahLst/>
            <a:cxnLst/>
            <a:rect l="l" t="t" r="r" b="b"/>
            <a:pathLst>
              <a:path w="5105400" h="609600">
                <a:moveTo>
                  <a:pt x="38100" y="0"/>
                </a:moveTo>
                <a:lnTo>
                  <a:pt x="5067300" y="0"/>
                </a:lnTo>
                <a:cubicBezTo>
                  <a:pt x="5088327" y="0"/>
                  <a:pt x="5105400" y="17073"/>
                  <a:pt x="5105400" y="38100"/>
                </a:cubicBezTo>
                <a:lnTo>
                  <a:pt x="5105400" y="571500"/>
                </a:lnTo>
                <a:cubicBezTo>
                  <a:pt x="5105400" y="592527"/>
                  <a:pt x="5088327" y="609600"/>
                  <a:pt x="5067300" y="609600"/>
                </a:cubicBezTo>
                <a:lnTo>
                  <a:pt x="38100" y="609600"/>
                </a:lnTo>
                <a:cubicBezTo>
                  <a:pt x="17073" y="609600"/>
                  <a:pt x="0" y="592527"/>
                  <a:pt x="0" y="5715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6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4" name="AutoShape 14"/>
          <p:cNvSpPr/>
          <p:nvPr/>
        </p:nvSpPr>
        <p:spPr>
          <a:xfrm>
            <a:off x="704761" y="5086145"/>
            <a:ext cx="4914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Chunk</a:t>
            </a: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 </a:t>
            </a:r>
            <a:r>
              <a:rPr lang="en-US" sz="1800" b="1" i="0" u="none" strike="noStrike">
                <a:solidFill>
                  <a:srgbClr val="A6A6A6"/>
                </a:solidFill>
                <a:latin typeface="MiSans" panose="00000500000000000000" charset="-122"/>
                <a:ea typeface="MiSans" panose="00000500000000000000" charset="-122"/>
                <a:cs typeface="MiSans" panose="00000500000000000000" charset="-122"/>
                <a:sym typeface="MiSans" panose="00000500000000000000" charset="-122"/>
              </a:rPr>
              <a:t>processing</a:t>
            </a:r>
            <a:endParaRPr lang="en-US" sz="1800"/>
          </a:p>
        </p:txBody>
      </p:sp>
      <p:sp>
        <p:nvSpPr>
          <p:cNvPr id="15" name="Freeform 15"/>
          <p:cNvSpPr/>
          <p:nvPr/>
        </p:nvSpPr>
        <p:spPr>
          <a:xfrm>
            <a:off x="6248338" y="1886043"/>
            <a:ext cx="5562600" cy="2819400"/>
          </a:xfrm>
          <a:custGeom>
            <a:avLst/>
            <a:gdLst/>
            <a:ahLst/>
            <a:cxnLst/>
            <a:rect l="l" t="t" r="r" b="b"/>
            <a:pathLst>
              <a:path w="5562600" h="2819400">
                <a:moveTo>
                  <a:pt x="76208" y="0"/>
                </a:moveTo>
                <a:lnTo>
                  <a:pt x="5486392" y="0"/>
                </a:lnTo>
                <a:cubicBezTo>
                  <a:pt x="5528480" y="0"/>
                  <a:pt x="5562600" y="34120"/>
                  <a:pt x="5562600" y="76208"/>
                </a:cubicBezTo>
                <a:lnTo>
                  <a:pt x="5562600" y="2743192"/>
                </a:lnTo>
                <a:cubicBezTo>
                  <a:pt x="5562600" y="2785280"/>
                  <a:pt x="5528480" y="2819400"/>
                  <a:pt x="5486392" y="2819400"/>
                </a:cubicBezTo>
                <a:lnTo>
                  <a:pt x="76208" y="2819400"/>
                </a:lnTo>
                <a:cubicBezTo>
                  <a:pt x="34120" y="2819400"/>
                  <a:pt x="0" y="2785280"/>
                  <a:pt x="0" y="2743192"/>
                </a:cubicBezTo>
                <a:lnTo>
                  <a:pt x="0" y="76208"/>
                </a:lnTo>
                <a:cubicBezTo>
                  <a:pt x="0" y="34148"/>
                  <a:pt x="34148" y="0"/>
                  <a:pt x="76208"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16" name="Freeform 16"/>
          <p:cNvSpPr/>
          <p:nvPr/>
        </p:nvSpPr>
        <p:spPr>
          <a:xfrm>
            <a:off x="6500724" y="2166864"/>
            <a:ext cx="190500" cy="142875"/>
          </a:xfrm>
          <a:custGeom>
            <a:avLst/>
            <a:gdLst/>
            <a:ahLst/>
            <a:cxnLst/>
            <a:rect l="l" t="t" r="r" b="b"/>
            <a:pathLst>
              <a:path w="190500" h="142875">
                <a:moveTo>
                  <a:pt x="0" y="11906"/>
                </a:moveTo>
                <a:cubicBezTo>
                  <a:pt x="0" y="5320"/>
                  <a:pt x="5321" y="0"/>
                  <a:pt x="11906" y="0"/>
                </a:cubicBezTo>
                <a:lnTo>
                  <a:pt x="154781" y="0"/>
                </a:lnTo>
                <a:cubicBezTo>
                  <a:pt x="161367" y="0"/>
                  <a:pt x="166687" y="5320"/>
                  <a:pt x="166687" y="11906"/>
                </a:cubicBezTo>
                <a:cubicBezTo>
                  <a:pt x="166687" y="18491"/>
                  <a:pt x="161367" y="23812"/>
                  <a:pt x="154781" y="23812"/>
                </a:cubicBezTo>
                <a:lnTo>
                  <a:pt x="11906" y="23812"/>
                </a:lnTo>
                <a:cubicBezTo>
                  <a:pt x="5321" y="23812"/>
                  <a:pt x="0" y="18491"/>
                  <a:pt x="0" y="11906"/>
                </a:cubicBezTo>
                <a:close/>
                <a:moveTo>
                  <a:pt x="23812" y="71437"/>
                </a:moveTo>
                <a:cubicBezTo>
                  <a:pt x="23812" y="64851"/>
                  <a:pt x="29133" y="59531"/>
                  <a:pt x="35719" y="59531"/>
                </a:cubicBezTo>
                <a:lnTo>
                  <a:pt x="178594" y="59531"/>
                </a:lnTo>
                <a:cubicBezTo>
                  <a:pt x="185179" y="59531"/>
                  <a:pt x="190500" y="64851"/>
                  <a:pt x="190500" y="71437"/>
                </a:cubicBezTo>
                <a:cubicBezTo>
                  <a:pt x="190500" y="78023"/>
                  <a:pt x="185179" y="83343"/>
                  <a:pt x="178594" y="83343"/>
                </a:cubicBezTo>
                <a:lnTo>
                  <a:pt x="35719" y="83343"/>
                </a:lnTo>
                <a:cubicBezTo>
                  <a:pt x="29133" y="83343"/>
                  <a:pt x="23812" y="78023"/>
                  <a:pt x="23812" y="71437"/>
                </a:cubicBezTo>
                <a:close/>
                <a:moveTo>
                  <a:pt x="166687" y="130968"/>
                </a:moveTo>
                <a:cubicBezTo>
                  <a:pt x="166687" y="137554"/>
                  <a:pt x="161367" y="142874"/>
                  <a:pt x="154781" y="142874"/>
                </a:cubicBezTo>
                <a:lnTo>
                  <a:pt x="11906" y="142874"/>
                </a:lnTo>
                <a:cubicBezTo>
                  <a:pt x="5321" y="142874"/>
                  <a:pt x="0" y="137554"/>
                  <a:pt x="0" y="130968"/>
                </a:cubicBezTo>
                <a:cubicBezTo>
                  <a:pt x="0" y="124383"/>
                  <a:pt x="5321" y="119062"/>
                  <a:pt x="11906" y="119062"/>
                </a:cubicBezTo>
                <a:lnTo>
                  <a:pt x="154781" y="119062"/>
                </a:lnTo>
                <a:cubicBezTo>
                  <a:pt x="161367" y="119062"/>
                  <a:pt x="166687" y="124383"/>
                  <a:pt x="166687" y="13096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17" name="AutoShape 17"/>
          <p:cNvSpPr/>
          <p:nvPr/>
        </p:nvSpPr>
        <p:spPr>
          <a:xfrm>
            <a:off x="6772186" y="2114624"/>
            <a:ext cx="49053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Calcul Streaming</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495866" y="2533706"/>
            <a:ext cx="5086255" cy="571500"/>
          </a:xfrm>
          <a:custGeom>
            <a:avLst/>
            <a:gdLst/>
            <a:ahLst/>
            <a:cxnLst/>
            <a:rect l="l" t="t" r="r" b="b"/>
            <a:pathLst>
              <a:path w="5086255" h="571500">
                <a:moveTo>
                  <a:pt x="37909" y="0"/>
                </a:moveTo>
                <a:lnTo>
                  <a:pt x="5048153" y="0"/>
                </a:lnTo>
                <a:cubicBezTo>
                  <a:pt x="5069196" y="0"/>
                  <a:pt x="5086255" y="17059"/>
                  <a:pt x="5086255" y="38103"/>
                </a:cubicBezTo>
                <a:lnTo>
                  <a:pt x="5086255" y="533397"/>
                </a:lnTo>
                <a:cubicBezTo>
                  <a:pt x="5086255" y="554441"/>
                  <a:pt x="5069196" y="571500"/>
                  <a:pt x="5048153" y="571500"/>
                </a:cubicBezTo>
                <a:lnTo>
                  <a:pt x="37909" y="571500"/>
                </a:lnTo>
                <a:cubicBezTo>
                  <a:pt x="16974" y="571500"/>
                  <a:pt x="0" y="554526"/>
                  <a:pt x="0" y="533591"/>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19" name="Freeform 19"/>
          <p:cNvSpPr/>
          <p:nvPr/>
        </p:nvSpPr>
        <p:spPr>
          <a:xfrm>
            <a:off x="6495866" y="2533706"/>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20" name="AutoShape 20"/>
          <p:cNvSpPr/>
          <p:nvPr/>
        </p:nvSpPr>
        <p:spPr>
          <a:xfrm>
            <a:off x="6667204" y="2686087"/>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Chargement par blocs</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6495866" y="3219431"/>
            <a:ext cx="5086255" cy="571500"/>
          </a:xfrm>
          <a:custGeom>
            <a:avLst/>
            <a:gdLst/>
            <a:ahLst/>
            <a:cxnLst/>
            <a:rect l="l" t="t" r="r" b="b"/>
            <a:pathLst>
              <a:path w="5086255" h="571500">
                <a:moveTo>
                  <a:pt x="37909" y="0"/>
                </a:moveTo>
                <a:lnTo>
                  <a:pt x="5048153" y="0"/>
                </a:lnTo>
                <a:cubicBezTo>
                  <a:pt x="5069196" y="0"/>
                  <a:pt x="5086255" y="17059"/>
                  <a:pt x="5086255" y="38103"/>
                </a:cubicBezTo>
                <a:lnTo>
                  <a:pt x="5086255" y="533397"/>
                </a:lnTo>
                <a:cubicBezTo>
                  <a:pt x="5086255" y="554441"/>
                  <a:pt x="5069196" y="571500"/>
                  <a:pt x="5048153" y="571500"/>
                </a:cubicBezTo>
                <a:lnTo>
                  <a:pt x="37909" y="571500"/>
                </a:lnTo>
                <a:cubicBezTo>
                  <a:pt x="16974" y="571500"/>
                  <a:pt x="0" y="554526"/>
                  <a:pt x="0" y="533590"/>
                </a:cubicBezTo>
                <a:lnTo>
                  <a:pt x="0" y="37909"/>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22" name="Freeform 22"/>
          <p:cNvSpPr/>
          <p:nvPr/>
        </p:nvSpPr>
        <p:spPr>
          <a:xfrm>
            <a:off x="6495866" y="3219431"/>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23" name="AutoShape 23"/>
          <p:cNvSpPr/>
          <p:nvPr/>
        </p:nvSpPr>
        <p:spPr>
          <a:xfrm>
            <a:off x="6667204" y="3371813"/>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Calcul par blocs</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6495866" y="3905148"/>
            <a:ext cx="5086255" cy="571500"/>
          </a:xfrm>
          <a:custGeom>
            <a:avLst/>
            <a:gdLst/>
            <a:ahLst/>
            <a:cxnLst/>
            <a:rect l="l" t="t" r="r" b="b"/>
            <a:pathLst>
              <a:path w="5086255" h="571500">
                <a:moveTo>
                  <a:pt x="37909" y="0"/>
                </a:moveTo>
                <a:lnTo>
                  <a:pt x="5048153" y="0"/>
                </a:lnTo>
                <a:cubicBezTo>
                  <a:pt x="5069196" y="0"/>
                  <a:pt x="5086255" y="17059"/>
                  <a:pt x="5086255" y="38103"/>
                </a:cubicBezTo>
                <a:lnTo>
                  <a:pt x="5086255" y="533397"/>
                </a:lnTo>
                <a:cubicBezTo>
                  <a:pt x="5086255" y="554441"/>
                  <a:pt x="5069196" y="571500"/>
                  <a:pt x="5048153" y="571500"/>
                </a:cubicBezTo>
                <a:lnTo>
                  <a:pt x="37909" y="571500"/>
                </a:lnTo>
                <a:cubicBezTo>
                  <a:pt x="16974" y="571500"/>
                  <a:pt x="0" y="554526"/>
                  <a:pt x="0" y="5335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25" name="Freeform 25"/>
          <p:cNvSpPr/>
          <p:nvPr/>
        </p:nvSpPr>
        <p:spPr>
          <a:xfrm>
            <a:off x="6495866" y="3905148"/>
            <a:ext cx="37910" cy="571500"/>
          </a:xfrm>
          <a:custGeom>
            <a:avLst/>
            <a:gdLst/>
            <a:ahLst/>
            <a:cxnLst/>
            <a:rect l="l" t="t" r="r" b="b"/>
            <a:pathLst>
              <a:path w="37910" h="571500">
                <a:moveTo>
                  <a:pt x="37909" y="0"/>
                </a:moveTo>
                <a:lnTo>
                  <a:pt x="37909" y="0"/>
                </a:lnTo>
                <a:lnTo>
                  <a:pt x="37909" y="571500"/>
                </a:lnTo>
                <a:lnTo>
                  <a:pt x="37909" y="571500"/>
                </a:lnTo>
                <a:cubicBezTo>
                  <a:pt x="16974" y="571500"/>
                  <a:pt x="0" y="554526"/>
                  <a:pt x="0" y="5335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26" name="AutoShape 26"/>
          <p:cNvSpPr/>
          <p:nvPr/>
        </p:nvSpPr>
        <p:spPr>
          <a:xfrm>
            <a:off x="6667204" y="4057529"/>
            <a:ext cx="4848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Écriture par blocs</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6248338" y="4895636"/>
            <a:ext cx="5562600" cy="647700"/>
          </a:xfrm>
          <a:custGeom>
            <a:avLst/>
            <a:gdLst/>
            <a:ahLst/>
            <a:cxnLst/>
            <a:rect l="l" t="t" r="r" b="b"/>
            <a:pathLst>
              <a:path w="5562600" h="647700">
                <a:moveTo>
                  <a:pt x="76203" y="0"/>
                </a:moveTo>
                <a:lnTo>
                  <a:pt x="5486397" y="0"/>
                </a:lnTo>
                <a:cubicBezTo>
                  <a:pt x="5528483" y="0"/>
                  <a:pt x="5562600" y="34117"/>
                  <a:pt x="5562600" y="76203"/>
                </a:cubicBezTo>
                <a:lnTo>
                  <a:pt x="5562600" y="571497"/>
                </a:lnTo>
                <a:cubicBezTo>
                  <a:pt x="5562600" y="613583"/>
                  <a:pt x="5528483" y="647700"/>
                  <a:pt x="5486397" y="647700"/>
                </a:cubicBezTo>
                <a:lnTo>
                  <a:pt x="76203" y="647700"/>
                </a:lnTo>
                <a:cubicBezTo>
                  <a:pt x="34117" y="647700"/>
                  <a:pt x="0" y="613583"/>
                  <a:pt x="0" y="5714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28" name="AutoShape 28"/>
          <p:cNvSpPr/>
          <p:nvPr/>
        </p:nvSpPr>
        <p:spPr>
          <a:xfrm>
            <a:off x="6395916" y="5086071"/>
            <a:ext cx="52673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Appelé : Streaming computation</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380956" y="6324609"/>
            <a:ext cx="11487150" cy="1524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6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9391" y="58096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altLang="zh-CN" sz="2800" b="1">
                <a:solidFill>
                  <a:srgbClr val="1A1A1A"/>
                </a:solidFill>
                <a:latin typeface="MiSans" panose="00000500000000000000" charset="-122"/>
                <a:ea typeface="MiSans" panose="00000500000000000000" charset="-122"/>
                <a:cs typeface="MiSans" panose="00000500000000000000" charset="-122"/>
              </a:rPr>
              <a:t>Exemple de kernel MatMul Triton </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99911" y="1352485"/>
            <a:ext cx="11267980" cy="4953000"/>
          </a:xfrm>
          <a:custGeom>
            <a:avLst/>
            <a:gdLst/>
            <a:ahLst/>
            <a:cxnLst/>
            <a:rect l="l" t="t" r="r" b="b"/>
            <a:pathLst>
              <a:path w="11267980" h="4953000">
                <a:moveTo>
                  <a:pt x="37909" y="0"/>
                </a:moveTo>
                <a:lnTo>
                  <a:pt x="11229892" y="0"/>
                </a:lnTo>
                <a:cubicBezTo>
                  <a:pt x="11250927" y="0"/>
                  <a:pt x="11267980" y="17054"/>
                  <a:pt x="11267980" y="38089"/>
                </a:cubicBezTo>
                <a:lnTo>
                  <a:pt x="11267980" y="4914911"/>
                </a:lnTo>
                <a:cubicBezTo>
                  <a:pt x="11267980" y="4935946"/>
                  <a:pt x="11250927" y="4953000"/>
                  <a:pt x="11229892" y="4953000"/>
                </a:cubicBezTo>
                <a:lnTo>
                  <a:pt x="37909" y="4953000"/>
                </a:lnTo>
                <a:cubicBezTo>
                  <a:pt x="16974" y="4953000"/>
                  <a:pt x="0" y="4936026"/>
                  <a:pt x="0" y="4915090"/>
                </a:cubicBezTo>
                <a:lnTo>
                  <a:pt x="0" y="37909"/>
                </a:lnTo>
                <a:cubicBezTo>
                  <a:pt x="0" y="16988"/>
                  <a:pt x="16988" y="0"/>
                  <a:pt x="379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352485"/>
            <a:ext cx="37909" cy="4953000"/>
          </a:xfrm>
          <a:custGeom>
            <a:avLst/>
            <a:gdLst/>
            <a:ahLst/>
            <a:cxnLst/>
            <a:rect l="l" t="t" r="r" b="b"/>
            <a:pathLst>
              <a:path w="37909" h="4953000">
                <a:moveTo>
                  <a:pt x="37909" y="0"/>
                </a:moveTo>
                <a:lnTo>
                  <a:pt x="37909" y="0"/>
                </a:lnTo>
                <a:lnTo>
                  <a:pt x="37909" y="4953000"/>
                </a:lnTo>
                <a:lnTo>
                  <a:pt x="37909" y="4953000"/>
                </a:lnTo>
                <a:cubicBezTo>
                  <a:pt x="16974" y="4953000"/>
                  <a:pt x="0" y="4936026"/>
                  <a:pt x="0" y="49150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80956" y="1352485"/>
            <a:ext cx="11325225" cy="4953000"/>
          </a:xfrm>
          <a:prstGeom prst="rect">
            <a:avLst/>
          </a:prstGeom>
          <a:noFill/>
          <a:ln w="12700">
            <a:noFill/>
            <a:prstDash val="solid"/>
          </a:ln>
        </p:spPr>
        <p:txBody>
          <a:bodyPr wrap="square" lIns="152400" tIns="152400" rIns="152400" bIns="152400" rtlCol="0" anchor="ctr">
            <a:noAutofit/>
          </a:bodyPr>
          <a:lstStyle/>
          <a:p>
            <a:pPr indent="0" algn="l">
              <a:lnSpc>
                <a:spcPct val="142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@triton.jit</a:t>
            </a:r>
            <a:endParaRPr lang="en-US" sz="1100"/>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def matmul_kernel(A, B, C,</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 N, 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BLOCK_M: tl.constexpr,</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BLOCK_N: tl.constexpr,</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BLOCK_K: tl.constexpr):</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pid_m = tl.program_id(0)</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pid_n = tl.program_id(1)</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tl.zeros((BLOCK_M, BLOCK_N))</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 k in range(0, K, BLOCK_K):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 = tl.load(...)</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 = tl.load(...)</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 += tl.dot(a, b)</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tl.store(C, acc)</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5528" y="628557"/>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Résumé de </a:t>
            </a:r>
            <a:r>
              <a:rPr lang="en-US" altLang="zh-CN" sz="2800" b="1">
                <a:solidFill>
                  <a:srgbClr val="1A1A1A"/>
                </a:solidFill>
                <a:latin typeface="MiSans" panose="00000500000000000000" charset="-122"/>
                <a:ea typeface="MiSans" panose="00000500000000000000" charset="-122"/>
                <a:cs typeface="MiSans" panose="00000500000000000000" charset="-122"/>
              </a:rPr>
              <a:t>cette section</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437821" y="1466663"/>
            <a:ext cx="11410855" cy="3695105"/>
            <a:chOff x="437821" y="1466663"/>
            <a:chExt cx="11410855" cy="3695105"/>
          </a:xfrm>
        </p:grpSpPr>
        <p:sp>
          <p:nvSpPr>
            <p:cNvPr id="4" name="Freeform 4"/>
            <p:cNvSpPr/>
            <p:nvPr/>
          </p:nvSpPr>
          <p:spPr>
            <a:xfrm>
              <a:off x="437821" y="1466663"/>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09"/>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37821" y="1466663"/>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47217" y="1657107"/>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04354" y="1657107"/>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1142671" y="1714313"/>
              <a:ext cx="400113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Pourquoi Naive MatMul est lent</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AutoShape 9"/>
            <p:cNvSpPr/>
            <p:nvPr/>
          </p:nvSpPr>
          <p:spPr>
            <a:xfrm>
              <a:off x="1142496" y="2152314"/>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Lecture répétée de la mémoire globale, goulot d'étranglement de la bande passante mémoire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6248041" y="1466663"/>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09"/>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248041" y="1466663"/>
              <a:ext cx="37910" cy="1104900"/>
            </a:xfrm>
            <a:custGeom>
              <a:avLst/>
              <a:gdLst/>
              <a:ahLst/>
              <a:cxnLst/>
              <a:rect l="l" t="t" r="r" b="b"/>
              <a:pathLst>
                <a:path w="37910" h="1104900">
                  <a:moveTo>
                    <a:pt x="37909" y="0"/>
                  </a:moveTo>
                  <a:lnTo>
                    <a:pt x="37909" y="0"/>
                  </a:lnTo>
                  <a:lnTo>
                    <a:pt x="37909" y="1104900"/>
                  </a:lnTo>
                  <a:lnTo>
                    <a:pt x="37909" y="1104900"/>
                  </a:lnTo>
                  <a:cubicBezTo>
                    <a:pt x="16974" y="1104900"/>
                    <a:pt x="0" y="1087926"/>
                    <a:pt x="0" y="10669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457437" y="1657107"/>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14575" y="1657107"/>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6952921" y="1714313"/>
              <a:ext cx="18542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Principe du Tiling</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AutoShape 15"/>
            <p:cNvSpPr/>
            <p:nvPr/>
          </p:nvSpPr>
          <p:spPr>
            <a:xfrm>
              <a:off x="6952716" y="2152314"/>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Réutilisation des données, calcul par blocs, réduction des accès mémoire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437821" y="2761766"/>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437821" y="2761766"/>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47217" y="295221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04354" y="2952210"/>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0" name="AutoShape 20"/>
            <p:cNvSpPr/>
            <p:nvPr/>
          </p:nvSpPr>
          <p:spPr>
            <a:xfrm>
              <a:off x="1142671" y="3009078"/>
              <a:ext cx="3298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Arithmetic Intensity</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1142496" y="3447417"/>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Rapport calcul/accès mémoire, indicateur clé de performance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6248041" y="2761766"/>
              <a:ext cx="5600605" cy="1104900"/>
            </a:xfrm>
            <a:custGeom>
              <a:avLst/>
              <a:gdLst/>
              <a:ahLst/>
              <a:cxnLst/>
              <a:rect l="l" t="t" r="r" b="b"/>
              <a:pathLst>
                <a:path w="5600605" h="1104900">
                  <a:moveTo>
                    <a:pt x="37909" y="0"/>
                  </a:moveTo>
                  <a:lnTo>
                    <a:pt x="5524400" y="0"/>
                  </a:lnTo>
                  <a:cubicBezTo>
                    <a:pt x="5566487" y="0"/>
                    <a:pt x="5600605" y="34119"/>
                    <a:pt x="5600605" y="76205"/>
                  </a:cubicBezTo>
                  <a:lnTo>
                    <a:pt x="5600605" y="1028695"/>
                  </a:lnTo>
                  <a:cubicBezTo>
                    <a:pt x="5600605" y="1070781"/>
                    <a:pt x="5566487" y="1104900"/>
                    <a:pt x="5524400" y="1104900"/>
                  </a:cubicBezTo>
                  <a:lnTo>
                    <a:pt x="37909" y="1104900"/>
                  </a:lnTo>
                  <a:cubicBezTo>
                    <a:pt x="16974" y="1104900"/>
                    <a:pt x="0" y="1087926"/>
                    <a:pt x="0" y="10669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6248041" y="2761766"/>
              <a:ext cx="37910" cy="1104900"/>
            </a:xfrm>
            <a:custGeom>
              <a:avLst/>
              <a:gdLst/>
              <a:ahLst/>
              <a:cxnLst/>
              <a:rect l="l" t="t" r="r" b="b"/>
              <a:pathLst>
                <a:path w="37910"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457437" y="295221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414575" y="2952210"/>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26" name="AutoShape 26"/>
            <p:cNvSpPr/>
            <p:nvPr/>
          </p:nvSpPr>
          <p:spPr>
            <a:xfrm>
              <a:off x="6952921" y="3009078"/>
              <a:ext cx="25958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Roofline Model</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nvSpPr>
          <p:spPr>
            <a:xfrm>
              <a:off x="6952716" y="3447417"/>
              <a:ext cx="4781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Modèle d'analyse de la limite de performance</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nvSpPr>
          <p:spPr>
            <a:xfrm>
              <a:off x="437821" y="4056868"/>
              <a:ext cx="11410855" cy="1104900"/>
            </a:xfrm>
            <a:custGeom>
              <a:avLst/>
              <a:gdLst/>
              <a:ahLst/>
              <a:cxnLst/>
              <a:rect l="l" t="t" r="r" b="b"/>
              <a:pathLst>
                <a:path w="11410855" h="1104900">
                  <a:moveTo>
                    <a:pt x="37910" y="0"/>
                  </a:moveTo>
                  <a:lnTo>
                    <a:pt x="11334650" y="0"/>
                  </a:lnTo>
                  <a:cubicBezTo>
                    <a:pt x="11376737" y="0"/>
                    <a:pt x="11410855" y="34119"/>
                    <a:pt x="11410855" y="76205"/>
                  </a:cubicBezTo>
                  <a:lnTo>
                    <a:pt x="11410855" y="1028695"/>
                  </a:lnTo>
                  <a:cubicBezTo>
                    <a:pt x="11410855" y="1070781"/>
                    <a:pt x="11376737" y="1104900"/>
                    <a:pt x="11334650" y="1104900"/>
                  </a:cubicBezTo>
                  <a:lnTo>
                    <a:pt x="37910" y="1104900"/>
                  </a:lnTo>
                  <a:cubicBezTo>
                    <a:pt x="16974" y="1104900"/>
                    <a:pt x="0" y="1087926"/>
                    <a:pt x="0" y="1066990"/>
                  </a:cubicBezTo>
                  <a:lnTo>
                    <a:pt x="0" y="37910"/>
                  </a:lnTo>
                  <a:cubicBezTo>
                    <a:pt x="0" y="16988"/>
                    <a:pt x="16988" y="0"/>
                    <a:pt x="379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437821" y="4056868"/>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47217" y="424731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04354" y="4247312"/>
              <a:ext cx="466725"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32" name="AutoShape 32"/>
            <p:cNvSpPr/>
            <p:nvPr/>
          </p:nvSpPr>
          <p:spPr>
            <a:xfrm>
              <a:off x="1142671" y="4304478"/>
              <a:ext cx="413829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Implémentation Triton Tiled MatMul</a:t>
              </a:r>
              <a:endParaRPr lang="en-US" sz="1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1142496" y="4742510"/>
              <a:ext cx="10591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Programmation Block-based, program_id, accumulator, Streaming</a:t>
              </a:r>
              <a:endPar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8</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Optimisation de la hiérarchie mémoire</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9136" y="616033"/>
            <a:ext cx="11607839" cy="376878"/>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Aperçu de la hiérarchie mémoire GPU</a:t>
            </a:r>
            <a:endParaRPr lang="en-US" sz="2800"/>
          </a:p>
        </p:txBody>
      </p:sp>
      <p:sp>
        <p:nvSpPr>
          <p:cNvPr id="3" name="Freeform 3"/>
          <p:cNvSpPr/>
          <p:nvPr/>
        </p:nvSpPr>
        <p:spPr>
          <a:xfrm>
            <a:off x="376834" y="1318809"/>
            <a:ext cx="5606059" cy="4447159"/>
          </a:xfrm>
          <a:custGeom>
            <a:avLst/>
            <a:gdLst/>
            <a:ahLst/>
            <a:cxnLst/>
            <a:rect l="l" t="t" r="r" b="b"/>
            <a:pathLst>
              <a:path w="5606059" h="4447159">
                <a:moveTo>
                  <a:pt x="75380" y="0"/>
                </a:moveTo>
                <a:lnTo>
                  <a:pt x="5530679" y="0"/>
                </a:lnTo>
                <a:cubicBezTo>
                  <a:pt x="5572310" y="0"/>
                  <a:pt x="5606059" y="33748"/>
                  <a:pt x="5606059" y="75380"/>
                </a:cubicBezTo>
                <a:lnTo>
                  <a:pt x="5606059" y="4371779"/>
                </a:lnTo>
                <a:cubicBezTo>
                  <a:pt x="5606059" y="4413411"/>
                  <a:pt x="5572310" y="4447159"/>
                  <a:pt x="5530679" y="4447159"/>
                </a:cubicBezTo>
                <a:lnTo>
                  <a:pt x="75380" y="4447159"/>
                </a:lnTo>
                <a:cubicBezTo>
                  <a:pt x="33748" y="4447159"/>
                  <a:pt x="0" y="4413411"/>
                  <a:pt x="0" y="4371779"/>
                </a:cubicBezTo>
                <a:lnTo>
                  <a:pt x="0" y="75380"/>
                </a:lnTo>
                <a:cubicBezTo>
                  <a:pt x="0" y="33776"/>
                  <a:pt x="33776" y="0"/>
                  <a:pt x="7538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88769" y="1544211"/>
            <a:ext cx="188439" cy="189691"/>
          </a:xfrm>
          <a:custGeom>
            <a:avLst/>
            <a:gdLst/>
            <a:ahLst/>
            <a:cxnLst/>
            <a:rect l="l" t="t" r="r" b="b"/>
            <a:pathLst>
              <a:path w="188439" h="189691">
                <a:moveTo>
                  <a:pt x="85570" y="2540"/>
                </a:moveTo>
                <a:cubicBezTo>
                  <a:pt x="91054" y="0"/>
                  <a:pt x="97385" y="0"/>
                  <a:pt x="102869" y="2540"/>
                </a:cubicBezTo>
                <a:lnTo>
                  <a:pt x="183323" y="39712"/>
                </a:lnTo>
                <a:cubicBezTo>
                  <a:pt x="186453" y="41148"/>
                  <a:pt x="188439" y="44276"/>
                  <a:pt x="188439" y="47735"/>
                </a:cubicBezTo>
                <a:cubicBezTo>
                  <a:pt x="188439" y="51195"/>
                  <a:pt x="186453" y="54324"/>
                  <a:pt x="183323" y="55759"/>
                </a:cubicBezTo>
                <a:lnTo>
                  <a:pt x="102869" y="92932"/>
                </a:lnTo>
                <a:cubicBezTo>
                  <a:pt x="97385" y="95471"/>
                  <a:pt x="91054" y="95471"/>
                  <a:pt x="85570" y="92932"/>
                </a:cubicBezTo>
                <a:lnTo>
                  <a:pt x="5116" y="55759"/>
                </a:lnTo>
                <a:cubicBezTo>
                  <a:pt x="1988" y="54287"/>
                  <a:pt x="0" y="51159"/>
                  <a:pt x="0" y="47735"/>
                </a:cubicBezTo>
                <a:cubicBezTo>
                  <a:pt x="0" y="44313"/>
                  <a:pt x="1988" y="41148"/>
                  <a:pt x="5116" y="39712"/>
                </a:cubicBezTo>
                <a:lnTo>
                  <a:pt x="85570" y="2540"/>
                </a:lnTo>
                <a:close/>
                <a:moveTo>
                  <a:pt x="17703" y="81007"/>
                </a:moveTo>
                <a:lnTo>
                  <a:pt x="78174" y="108942"/>
                </a:lnTo>
                <a:cubicBezTo>
                  <a:pt x="88368" y="113653"/>
                  <a:pt x="100108" y="113653"/>
                  <a:pt x="110303" y="108942"/>
                </a:cubicBezTo>
                <a:lnTo>
                  <a:pt x="170773" y="81007"/>
                </a:lnTo>
                <a:lnTo>
                  <a:pt x="183323" y="86822"/>
                </a:lnTo>
                <a:cubicBezTo>
                  <a:pt x="186453" y="88257"/>
                  <a:pt x="188439" y="91387"/>
                  <a:pt x="188439" y="94845"/>
                </a:cubicBezTo>
                <a:cubicBezTo>
                  <a:pt x="188439" y="98306"/>
                  <a:pt x="186453" y="101434"/>
                  <a:pt x="183323" y="102869"/>
                </a:cubicBezTo>
                <a:lnTo>
                  <a:pt x="102869" y="140042"/>
                </a:lnTo>
                <a:cubicBezTo>
                  <a:pt x="97385" y="142582"/>
                  <a:pt x="91054" y="142582"/>
                  <a:pt x="85570" y="140042"/>
                </a:cubicBezTo>
                <a:lnTo>
                  <a:pt x="5116" y="102869"/>
                </a:lnTo>
                <a:cubicBezTo>
                  <a:pt x="1988" y="101397"/>
                  <a:pt x="0" y="98267"/>
                  <a:pt x="0" y="94845"/>
                </a:cubicBezTo>
                <a:cubicBezTo>
                  <a:pt x="0" y="91423"/>
                  <a:pt x="1988" y="88257"/>
                  <a:pt x="5116" y="86822"/>
                </a:cubicBezTo>
                <a:lnTo>
                  <a:pt x="17666" y="81007"/>
                </a:lnTo>
                <a:close/>
                <a:moveTo>
                  <a:pt x="5116" y="133932"/>
                </a:moveTo>
                <a:lnTo>
                  <a:pt x="17666" y="128117"/>
                </a:lnTo>
                <a:lnTo>
                  <a:pt x="78135" y="156051"/>
                </a:lnTo>
                <a:cubicBezTo>
                  <a:pt x="88331" y="160762"/>
                  <a:pt x="100071" y="160762"/>
                  <a:pt x="110266" y="156051"/>
                </a:cubicBezTo>
                <a:lnTo>
                  <a:pt x="170736" y="128117"/>
                </a:lnTo>
                <a:lnTo>
                  <a:pt x="183286" y="133932"/>
                </a:lnTo>
                <a:cubicBezTo>
                  <a:pt x="186414" y="135367"/>
                  <a:pt x="188402" y="138496"/>
                  <a:pt x="188402" y="141955"/>
                </a:cubicBezTo>
                <a:cubicBezTo>
                  <a:pt x="188402" y="145415"/>
                  <a:pt x="186414" y="148543"/>
                  <a:pt x="183286" y="149979"/>
                </a:cubicBezTo>
                <a:lnTo>
                  <a:pt x="102832" y="187151"/>
                </a:lnTo>
                <a:cubicBezTo>
                  <a:pt x="97348" y="189691"/>
                  <a:pt x="91017" y="189691"/>
                  <a:pt x="85535" y="187151"/>
                </a:cubicBezTo>
                <a:lnTo>
                  <a:pt x="5116" y="149979"/>
                </a:lnTo>
                <a:cubicBezTo>
                  <a:pt x="1988" y="148506"/>
                  <a:pt x="0" y="145378"/>
                  <a:pt x="0" y="141955"/>
                </a:cubicBezTo>
                <a:cubicBezTo>
                  <a:pt x="0" y="138531"/>
                  <a:pt x="1988" y="135367"/>
                  <a:pt x="5116" y="13393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43722" y="1501053"/>
            <a:ext cx="5087852" cy="2638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Structure mémoire (du plus rapide au plus lent)</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583964" y="1921744"/>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3964" y="1921744"/>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715728" y="2091227"/>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78040" y="2091227"/>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0" name="AutoShape 10"/>
          <p:cNvSpPr/>
          <p:nvPr/>
        </p:nvSpPr>
        <p:spPr>
          <a:xfrm>
            <a:off x="1130209" y="2034757"/>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1130209" y="2260858"/>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Le plus rapide, privé à chaque thread</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583964" y="2675265"/>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83964" y="2675265"/>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15728" y="2844748"/>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78040" y="2844748"/>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6" name="AutoShape 16"/>
          <p:cNvSpPr/>
          <p:nvPr/>
        </p:nvSpPr>
        <p:spPr>
          <a:xfrm>
            <a:off x="1130209" y="2788279"/>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1130209" y="3014379"/>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Mémoire rapide interne au SM</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583964" y="3428786"/>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583964" y="3428786"/>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15728" y="3598270"/>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78040" y="3598270"/>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2" name="AutoShape 22"/>
          <p:cNvSpPr/>
          <p:nvPr/>
        </p:nvSpPr>
        <p:spPr>
          <a:xfrm>
            <a:off x="1130209" y="3541800"/>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L1 Cache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1130209" y="3767900"/>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Cache de niveau 1</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583964" y="4182307"/>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83964" y="4182307"/>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715728" y="4351792"/>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78040" y="4351792"/>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28" name="AutoShape 28"/>
          <p:cNvSpPr/>
          <p:nvPr/>
        </p:nvSpPr>
        <p:spPr>
          <a:xfrm>
            <a:off x="1130209" y="4295321"/>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L2 Cache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1130209" y="4521421"/>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Cache de niveau 2</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Freeform 30"/>
          <p:cNvSpPr/>
          <p:nvPr/>
        </p:nvSpPr>
        <p:spPr>
          <a:xfrm>
            <a:off x="583964" y="4935830"/>
            <a:ext cx="5210244" cy="640692"/>
          </a:xfrm>
          <a:custGeom>
            <a:avLst/>
            <a:gdLst/>
            <a:ahLst/>
            <a:cxnLst/>
            <a:rect l="l" t="t" r="r" b="b"/>
            <a:pathLst>
              <a:path w="5210244" h="640692">
                <a:moveTo>
                  <a:pt x="37501" y="0"/>
                </a:moveTo>
                <a:lnTo>
                  <a:pt x="5134867" y="0"/>
                </a:lnTo>
                <a:cubicBezTo>
                  <a:pt x="5176496" y="0"/>
                  <a:pt x="5210244" y="33748"/>
                  <a:pt x="5210244" y="75377"/>
                </a:cubicBezTo>
                <a:lnTo>
                  <a:pt x="5210244" y="565315"/>
                </a:lnTo>
                <a:cubicBezTo>
                  <a:pt x="5210244" y="606944"/>
                  <a:pt x="5176496" y="640692"/>
                  <a:pt x="5134867" y="640692"/>
                </a:cubicBezTo>
                <a:lnTo>
                  <a:pt x="37501" y="640692"/>
                </a:lnTo>
                <a:cubicBezTo>
                  <a:pt x="16789" y="640692"/>
                  <a:pt x="0" y="623903"/>
                  <a:pt x="0" y="603192"/>
                </a:cubicBezTo>
                <a:lnTo>
                  <a:pt x="0" y="37501"/>
                </a:lnTo>
                <a:cubicBezTo>
                  <a:pt x="0" y="16789"/>
                  <a:pt x="16789" y="0"/>
                  <a:pt x="37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583964" y="4935830"/>
            <a:ext cx="37501" cy="640692"/>
          </a:xfrm>
          <a:custGeom>
            <a:avLst/>
            <a:gdLst/>
            <a:ahLst/>
            <a:cxnLst/>
            <a:rect l="l" t="t" r="r" b="b"/>
            <a:pathLst>
              <a:path w="37501" h="640692">
                <a:moveTo>
                  <a:pt x="37501" y="0"/>
                </a:moveTo>
                <a:lnTo>
                  <a:pt x="37501" y="0"/>
                </a:lnTo>
                <a:lnTo>
                  <a:pt x="37501" y="640692"/>
                </a:lnTo>
                <a:lnTo>
                  <a:pt x="37501" y="640692"/>
                </a:lnTo>
                <a:cubicBezTo>
                  <a:pt x="16789" y="640692"/>
                  <a:pt x="0" y="623903"/>
                  <a:pt x="0" y="603192"/>
                </a:cubicBezTo>
                <a:lnTo>
                  <a:pt x="0" y="37501"/>
                </a:lnTo>
                <a:cubicBezTo>
                  <a:pt x="0" y="16789"/>
                  <a:pt x="16789" y="0"/>
                  <a:pt x="37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715728" y="5105313"/>
            <a:ext cx="301502" cy="301502"/>
          </a:xfrm>
          <a:custGeom>
            <a:avLst/>
            <a:gdLst/>
            <a:ahLst/>
            <a:cxnLst/>
            <a:rect l="l" t="t" r="r" b="b"/>
            <a:pathLst>
              <a:path w="301502" h="301502">
                <a:moveTo>
                  <a:pt x="150752" y="0"/>
                </a:moveTo>
                <a:lnTo>
                  <a:pt x="150752" y="0"/>
                </a:lnTo>
                <a:cubicBezTo>
                  <a:pt x="233953" y="0"/>
                  <a:pt x="301502" y="67549"/>
                  <a:pt x="301502" y="150752"/>
                </a:cubicBezTo>
                <a:lnTo>
                  <a:pt x="301502" y="150752"/>
                </a:lnTo>
                <a:cubicBezTo>
                  <a:pt x="301502" y="233953"/>
                  <a:pt x="233953" y="301502"/>
                  <a:pt x="150752" y="301502"/>
                </a:cubicBezTo>
                <a:lnTo>
                  <a:pt x="150752" y="301502"/>
                </a:lnTo>
                <a:cubicBezTo>
                  <a:pt x="67549" y="301502"/>
                  <a:pt x="0" y="233953"/>
                  <a:pt x="0" y="150752"/>
                </a:cubicBezTo>
                <a:lnTo>
                  <a:pt x="0" y="150752"/>
                </a:lnTo>
                <a:cubicBezTo>
                  <a:pt x="0" y="67549"/>
                  <a:pt x="67549" y="0"/>
                  <a:pt x="15075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78040" y="5105313"/>
            <a:ext cx="376878" cy="301502"/>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34" name="AutoShape 34"/>
          <p:cNvSpPr/>
          <p:nvPr/>
        </p:nvSpPr>
        <p:spPr>
          <a:xfrm>
            <a:off x="1130209" y="5048842"/>
            <a:ext cx="462617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AutoShape 35"/>
          <p:cNvSpPr/>
          <p:nvPr/>
        </p:nvSpPr>
        <p:spPr>
          <a:xfrm>
            <a:off x="1130209" y="5274943"/>
            <a:ext cx="4616754" cy="18843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Le plus lent, capacité la plus grande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6" name="Freeform 36"/>
          <p:cNvSpPr/>
          <p:nvPr/>
        </p:nvSpPr>
        <p:spPr>
          <a:xfrm>
            <a:off x="6210033" y="1318809"/>
            <a:ext cx="5606059" cy="1846702"/>
          </a:xfrm>
          <a:custGeom>
            <a:avLst/>
            <a:gdLst/>
            <a:ahLst/>
            <a:cxnLst/>
            <a:rect l="l" t="t" r="r" b="b"/>
            <a:pathLst>
              <a:path w="5606059" h="1846702">
                <a:moveTo>
                  <a:pt x="75382" y="0"/>
                </a:moveTo>
                <a:lnTo>
                  <a:pt x="5530676" y="0"/>
                </a:lnTo>
                <a:cubicBezTo>
                  <a:pt x="5572309" y="0"/>
                  <a:pt x="5606059" y="33750"/>
                  <a:pt x="5606059" y="75382"/>
                </a:cubicBezTo>
                <a:lnTo>
                  <a:pt x="5606059" y="1771319"/>
                </a:lnTo>
                <a:cubicBezTo>
                  <a:pt x="5606059" y="1812952"/>
                  <a:pt x="5572309" y="1846702"/>
                  <a:pt x="5530676" y="1846702"/>
                </a:cubicBezTo>
                <a:lnTo>
                  <a:pt x="75382" y="1846702"/>
                </a:lnTo>
                <a:cubicBezTo>
                  <a:pt x="33750" y="1846702"/>
                  <a:pt x="0" y="1812952"/>
                  <a:pt x="0" y="1771319"/>
                </a:cubicBezTo>
                <a:lnTo>
                  <a:pt x="0" y="75382"/>
                </a:lnTo>
                <a:cubicBezTo>
                  <a:pt x="0" y="33778"/>
                  <a:pt x="33778" y="0"/>
                  <a:pt x="7538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6421968" y="1544837"/>
            <a:ext cx="188439" cy="188439"/>
          </a:xfrm>
          <a:custGeom>
            <a:avLst/>
            <a:gdLst/>
            <a:ahLst/>
            <a:cxnLst/>
            <a:rect l="l" t="t" r="r" b="b"/>
            <a:pathLst>
              <a:path w="188439" h="188439">
                <a:moveTo>
                  <a:pt x="0" y="94219"/>
                </a:moveTo>
                <a:cubicBezTo>
                  <a:pt x="0" y="42219"/>
                  <a:pt x="42219" y="0"/>
                  <a:pt x="94219" y="0"/>
                </a:cubicBezTo>
                <a:cubicBezTo>
                  <a:pt x="146221" y="0"/>
                  <a:pt x="188439" y="42219"/>
                  <a:pt x="188439" y="94219"/>
                </a:cubicBezTo>
                <a:cubicBezTo>
                  <a:pt x="188439" y="146221"/>
                  <a:pt x="146221" y="188439"/>
                  <a:pt x="94219" y="188439"/>
                </a:cubicBezTo>
                <a:cubicBezTo>
                  <a:pt x="42219" y="188439"/>
                  <a:pt x="0" y="146221"/>
                  <a:pt x="0" y="94219"/>
                </a:cubicBezTo>
                <a:close/>
                <a:moveTo>
                  <a:pt x="105997" y="35331"/>
                </a:moveTo>
                <a:cubicBezTo>
                  <a:pt x="105997" y="28832"/>
                  <a:pt x="100720" y="23555"/>
                  <a:pt x="94219" y="23555"/>
                </a:cubicBezTo>
                <a:cubicBezTo>
                  <a:pt x="87719" y="23555"/>
                  <a:pt x="82442" y="28832"/>
                  <a:pt x="82442" y="35331"/>
                </a:cubicBezTo>
                <a:cubicBezTo>
                  <a:pt x="82442" y="41833"/>
                  <a:pt x="87719" y="47109"/>
                  <a:pt x="94219" y="47109"/>
                </a:cubicBezTo>
                <a:cubicBezTo>
                  <a:pt x="100720" y="47109"/>
                  <a:pt x="105997" y="41833"/>
                  <a:pt x="105997" y="35331"/>
                </a:cubicBezTo>
                <a:close/>
                <a:moveTo>
                  <a:pt x="94219" y="153107"/>
                </a:moveTo>
                <a:cubicBezTo>
                  <a:pt x="107211" y="153107"/>
                  <a:pt x="117773" y="142544"/>
                  <a:pt x="117773" y="129551"/>
                </a:cubicBezTo>
                <a:cubicBezTo>
                  <a:pt x="117773" y="123589"/>
                  <a:pt x="115566" y="118106"/>
                  <a:pt x="111886" y="113983"/>
                </a:cubicBezTo>
                <a:lnTo>
                  <a:pt x="137465" y="62862"/>
                </a:lnTo>
                <a:cubicBezTo>
                  <a:pt x="139636" y="58482"/>
                  <a:pt x="137870" y="53183"/>
                  <a:pt x="133527" y="51011"/>
                </a:cubicBezTo>
                <a:cubicBezTo>
                  <a:pt x="129184" y="48840"/>
                  <a:pt x="123847" y="50606"/>
                  <a:pt x="121676" y="54949"/>
                </a:cubicBezTo>
                <a:lnTo>
                  <a:pt x="96097" y="106070"/>
                </a:lnTo>
                <a:cubicBezTo>
                  <a:pt x="95471" y="106034"/>
                  <a:pt x="94845" y="105997"/>
                  <a:pt x="94219" y="105997"/>
                </a:cubicBezTo>
                <a:cubicBezTo>
                  <a:pt x="81227" y="105997"/>
                  <a:pt x="70665" y="116561"/>
                  <a:pt x="70665" y="129551"/>
                </a:cubicBezTo>
                <a:cubicBezTo>
                  <a:pt x="70665" y="142544"/>
                  <a:pt x="81227" y="153107"/>
                  <a:pt x="94219" y="153107"/>
                </a:cubicBezTo>
                <a:close/>
                <a:moveTo>
                  <a:pt x="64776" y="52998"/>
                </a:moveTo>
                <a:cubicBezTo>
                  <a:pt x="64776" y="46499"/>
                  <a:pt x="59500" y="41220"/>
                  <a:pt x="52998" y="41220"/>
                </a:cubicBezTo>
                <a:cubicBezTo>
                  <a:pt x="46499" y="41220"/>
                  <a:pt x="41220" y="46499"/>
                  <a:pt x="41220" y="52998"/>
                </a:cubicBezTo>
                <a:cubicBezTo>
                  <a:pt x="41220" y="59500"/>
                  <a:pt x="46499" y="64776"/>
                  <a:pt x="52998" y="64776"/>
                </a:cubicBezTo>
                <a:cubicBezTo>
                  <a:pt x="59500" y="64776"/>
                  <a:pt x="64776" y="59500"/>
                  <a:pt x="64776" y="52998"/>
                </a:cubicBezTo>
                <a:close/>
                <a:moveTo>
                  <a:pt x="35331" y="105997"/>
                </a:moveTo>
                <a:cubicBezTo>
                  <a:pt x="41833" y="105997"/>
                  <a:pt x="47109" y="100720"/>
                  <a:pt x="47109" y="94219"/>
                </a:cubicBezTo>
                <a:cubicBezTo>
                  <a:pt x="47109" y="87719"/>
                  <a:pt x="41833" y="82442"/>
                  <a:pt x="35331" y="82442"/>
                </a:cubicBezTo>
                <a:cubicBezTo>
                  <a:pt x="28832" y="82442"/>
                  <a:pt x="23555" y="87719"/>
                  <a:pt x="23555" y="94219"/>
                </a:cubicBezTo>
                <a:cubicBezTo>
                  <a:pt x="23555" y="100720"/>
                  <a:pt x="28832" y="105997"/>
                  <a:pt x="35331" y="105997"/>
                </a:cubicBezTo>
                <a:close/>
                <a:moveTo>
                  <a:pt x="164884" y="94219"/>
                </a:moveTo>
                <a:cubicBezTo>
                  <a:pt x="164884" y="87719"/>
                  <a:pt x="159607" y="82442"/>
                  <a:pt x="153107" y="82442"/>
                </a:cubicBezTo>
                <a:cubicBezTo>
                  <a:pt x="146608" y="82442"/>
                  <a:pt x="141329" y="87719"/>
                  <a:pt x="141329" y="94219"/>
                </a:cubicBezTo>
                <a:cubicBezTo>
                  <a:pt x="141329" y="100720"/>
                  <a:pt x="146608" y="105997"/>
                  <a:pt x="153107" y="105997"/>
                </a:cubicBezTo>
                <a:cubicBezTo>
                  <a:pt x="159607" y="105997"/>
                  <a:pt x="164884" y="100720"/>
                  <a:pt x="164884" y="9421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633962" y="1507190"/>
            <a:ext cx="5087852" cy="2638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Différence de vitesse</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9" name="AutoShape 39"/>
          <p:cNvSpPr/>
          <p:nvPr/>
        </p:nvSpPr>
        <p:spPr>
          <a:xfrm>
            <a:off x="6398413" y="1884023"/>
            <a:ext cx="5455308" cy="452253"/>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82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100×</a:t>
            </a:r>
            <a:endParaRPr lang="en-US" sz="1100"/>
          </a:p>
        </p:txBody>
      </p:sp>
      <p:sp>
        <p:nvSpPr>
          <p:cNvPr id="40" name="AutoShape 40"/>
          <p:cNvSpPr/>
          <p:nvPr/>
        </p:nvSpPr>
        <p:spPr>
          <a:xfrm>
            <a:off x="6398413" y="2411664"/>
            <a:ext cx="5313978" cy="26381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Register vs Global Memory</a:t>
            </a:r>
            <a:endParaRPr lang="en-US"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1" name="AutoShape 41"/>
          <p:cNvSpPr/>
          <p:nvPr/>
        </p:nvSpPr>
        <p:spPr>
          <a:xfrm>
            <a:off x="6398413" y="2750851"/>
            <a:ext cx="5304556" cy="22612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Un écart de performance pouvant atteindre 100 fois</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2" name="Freeform 42"/>
          <p:cNvSpPr/>
          <p:nvPr/>
        </p:nvSpPr>
        <p:spPr>
          <a:xfrm>
            <a:off x="6210033" y="3316065"/>
            <a:ext cx="5606059" cy="3325947"/>
          </a:xfrm>
          <a:custGeom>
            <a:avLst/>
            <a:gdLst/>
            <a:ahLst/>
            <a:cxnLst/>
            <a:rect l="l" t="t" r="r" b="b"/>
            <a:pathLst>
              <a:path w="5606059" h="3325947">
                <a:moveTo>
                  <a:pt x="75366" y="0"/>
                </a:moveTo>
                <a:lnTo>
                  <a:pt x="5530693" y="0"/>
                </a:lnTo>
                <a:cubicBezTo>
                  <a:pt x="5572315" y="0"/>
                  <a:pt x="5606059" y="33743"/>
                  <a:pt x="5606059" y="75366"/>
                </a:cubicBezTo>
                <a:lnTo>
                  <a:pt x="5606059" y="3250582"/>
                </a:lnTo>
                <a:cubicBezTo>
                  <a:pt x="5606059" y="3292204"/>
                  <a:pt x="5572315" y="3325947"/>
                  <a:pt x="5530693" y="3325947"/>
                </a:cubicBezTo>
                <a:lnTo>
                  <a:pt x="75366" y="3325947"/>
                </a:lnTo>
                <a:cubicBezTo>
                  <a:pt x="33743" y="3325947"/>
                  <a:pt x="0" y="3292204"/>
                  <a:pt x="0" y="3250582"/>
                </a:cubicBezTo>
                <a:lnTo>
                  <a:pt x="0" y="75366"/>
                </a:lnTo>
                <a:cubicBezTo>
                  <a:pt x="0" y="33771"/>
                  <a:pt x="33771" y="0"/>
                  <a:pt x="75366"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43" name="Picture 43"/>
          <p:cNvPicPr>
            <a:picLocks noChangeAspect="1"/>
          </p:cNvPicPr>
          <p:nvPr/>
        </p:nvPicPr>
        <p:blipFill>
          <a:blip r:embed="rId1"/>
          <a:srcRect l="87" r="87"/>
          <a:stretch>
            <a:fillRect/>
          </a:stretch>
        </p:blipFill>
        <p:spPr>
          <a:xfrm>
            <a:off x="6398487" y="3504446"/>
            <a:ext cx="5229181" cy="2949070"/>
          </a:xfrm>
          <a:prstGeom prst="roundRect">
            <a:avLst>
              <a:gd name="adj" fmla="val 1278"/>
            </a:avLst>
          </a:prstGeom>
          <a:ln w="12700">
            <a:noFill/>
            <a:prstDash val="solid"/>
          </a:ln>
        </p:spPr>
      </p:pic>
      <p:sp>
        <p:nvSpPr>
          <p:cNvPr id="44" name="AutoShape 44"/>
          <p:cNvSpPr/>
          <p:nvPr/>
        </p:nvSpPr>
        <p:spPr>
          <a:xfrm>
            <a:off x="310880" y="6669561"/>
            <a:ext cx="11504198" cy="188439"/>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NVIDIA Developer Blog</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3258" y="58621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100"/>
          </a:p>
        </p:txBody>
      </p:sp>
      <p:grpSp>
        <p:nvGrpSpPr>
          <p:cNvPr id="3" name="Group 3"/>
          <p:cNvGrpSpPr/>
          <p:nvPr/>
        </p:nvGrpSpPr>
        <p:grpSpPr>
          <a:xfrm>
            <a:off x="380956" y="1333234"/>
            <a:ext cx="6762750" cy="4228632"/>
            <a:chOff x="380956" y="1333234"/>
            <a:chExt cx="6762750" cy="4228632"/>
          </a:xfrm>
        </p:grpSpPr>
        <p:sp>
          <p:nvSpPr>
            <p:cNvPr id="4" name="Freeform 4"/>
            <p:cNvSpPr/>
            <p:nvPr/>
          </p:nvSpPr>
          <p:spPr>
            <a:xfrm>
              <a:off x="380956" y="1333234"/>
              <a:ext cx="6762750" cy="2590800"/>
            </a:xfrm>
            <a:custGeom>
              <a:avLst/>
              <a:gdLst/>
              <a:ahLst/>
              <a:cxnLst/>
              <a:rect l="l" t="t" r="r" b="b"/>
              <a:pathLst>
                <a:path w="6762750" h="2590800">
                  <a:moveTo>
                    <a:pt x="76195" y="0"/>
                  </a:moveTo>
                  <a:lnTo>
                    <a:pt x="6686555" y="0"/>
                  </a:lnTo>
                  <a:cubicBezTo>
                    <a:pt x="6728609" y="0"/>
                    <a:pt x="6762750" y="34141"/>
                    <a:pt x="6762750" y="76195"/>
                  </a:cubicBezTo>
                  <a:lnTo>
                    <a:pt x="6762750" y="2514605"/>
                  </a:lnTo>
                  <a:cubicBezTo>
                    <a:pt x="6762750" y="2556687"/>
                    <a:pt x="6728637" y="2590800"/>
                    <a:pt x="6686555" y="2590800"/>
                  </a:cubicBezTo>
                  <a:lnTo>
                    <a:pt x="76195" y="2590800"/>
                  </a:lnTo>
                  <a:cubicBezTo>
                    <a:pt x="34141" y="2590800"/>
                    <a:pt x="0" y="2556659"/>
                    <a:pt x="0" y="2514605"/>
                  </a:cubicBezTo>
                  <a:lnTo>
                    <a:pt x="0" y="76195"/>
                  </a:lnTo>
                  <a:cubicBezTo>
                    <a:pt x="0" y="34141"/>
                    <a:pt x="34141" y="0"/>
                    <a:pt x="76195"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06110" y="1554850"/>
              <a:ext cx="168697" cy="204267"/>
            </a:xfrm>
            <a:custGeom>
              <a:avLst/>
              <a:gdLst/>
              <a:ahLst/>
              <a:cxnLst/>
              <a:rect l="l" t="t" r="r" b="b"/>
              <a:pathLst>
                <a:path w="168697" h="204267">
                  <a:moveTo>
                    <a:pt x="127061" y="3200"/>
                  </a:moveTo>
                  <a:cubicBezTo>
                    <a:pt x="131490" y="6399"/>
                    <a:pt x="133127" y="12204"/>
                    <a:pt x="131118" y="17264"/>
                  </a:cubicBezTo>
                  <a:lnTo>
                    <a:pt x="101948" y="90227"/>
                  </a:lnTo>
                  <a:lnTo>
                    <a:pt x="155786" y="90227"/>
                  </a:lnTo>
                  <a:cubicBezTo>
                    <a:pt x="160809" y="90227"/>
                    <a:pt x="165274" y="93352"/>
                    <a:pt x="166986" y="98077"/>
                  </a:cubicBezTo>
                  <a:cubicBezTo>
                    <a:pt x="168697" y="102804"/>
                    <a:pt x="167245" y="108085"/>
                    <a:pt x="163414" y="111286"/>
                  </a:cubicBezTo>
                  <a:lnTo>
                    <a:pt x="56258" y="200583"/>
                  </a:lnTo>
                  <a:cubicBezTo>
                    <a:pt x="52053" y="204080"/>
                    <a:pt x="46063" y="204266"/>
                    <a:pt x="41635" y="201066"/>
                  </a:cubicBezTo>
                  <a:cubicBezTo>
                    <a:pt x="37208" y="197867"/>
                    <a:pt x="35571" y="192062"/>
                    <a:pt x="37580" y="187002"/>
                  </a:cubicBezTo>
                  <a:lnTo>
                    <a:pt x="66750" y="114039"/>
                  </a:lnTo>
                  <a:lnTo>
                    <a:pt x="12911" y="114039"/>
                  </a:lnTo>
                  <a:cubicBezTo>
                    <a:pt x="7888" y="114039"/>
                    <a:pt x="3423" y="110914"/>
                    <a:pt x="1712" y="106189"/>
                  </a:cubicBezTo>
                  <a:cubicBezTo>
                    <a:pt x="0" y="101462"/>
                    <a:pt x="1451" y="96181"/>
                    <a:pt x="5284" y="92980"/>
                  </a:cubicBezTo>
                  <a:lnTo>
                    <a:pt x="112440" y="3683"/>
                  </a:lnTo>
                  <a:cubicBezTo>
                    <a:pt x="116644" y="186"/>
                    <a:pt x="122635" y="0"/>
                    <a:pt x="127061" y="320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09521" y="1523674"/>
              <a:ext cx="6238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Caractéristiques du Register</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7" name="Freeform 7"/>
            <p:cNvSpPr/>
            <p:nvPr/>
          </p:nvSpPr>
          <p:spPr>
            <a:xfrm>
              <a:off x="571396" y="201895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61837" y="1942763"/>
              <a:ext cx="2371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 stockage le plus rapide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AutoShape 9"/>
            <p:cNvSpPr/>
            <p:nvPr/>
          </p:nvSpPr>
          <p:spPr>
            <a:xfrm>
              <a:off x="761956" y="2209534"/>
              <a:ext cx="56699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Situé à l'intérieur du cœur GPU, vitesse d'accès extrêmement rapide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571396" y="2666541"/>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1837" y="2590350"/>
              <a:ext cx="2209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Privé à chaque thread</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761956" y="2857234"/>
              <a:ext cx="5283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Invisible entre threads, garantit l'indépendance des données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571396" y="3314129"/>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61837" y="3237937"/>
              <a:ext cx="15049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Capacité limitée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AutoShape 15"/>
            <p:cNvSpPr/>
            <p:nvPr/>
          </p:nvSpPr>
          <p:spPr>
            <a:xfrm>
              <a:off x="761956" y="3504299"/>
              <a:ext cx="359791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Par exemple : 64 KB par SM</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380956" y="4075966"/>
              <a:ext cx="6762750" cy="1485900"/>
            </a:xfrm>
            <a:custGeom>
              <a:avLst/>
              <a:gdLst/>
              <a:ahLst/>
              <a:cxnLst/>
              <a:rect l="l" t="t" r="r" b="b"/>
              <a:pathLst>
                <a:path w="6762750" h="1485900">
                  <a:moveTo>
                    <a:pt x="76197" y="0"/>
                  </a:moveTo>
                  <a:lnTo>
                    <a:pt x="6686553" y="0"/>
                  </a:lnTo>
                  <a:cubicBezTo>
                    <a:pt x="6728635" y="0"/>
                    <a:pt x="6762750" y="34115"/>
                    <a:pt x="6762750" y="76197"/>
                  </a:cubicBezTo>
                  <a:lnTo>
                    <a:pt x="6762750" y="1409703"/>
                  </a:lnTo>
                  <a:cubicBezTo>
                    <a:pt x="6762750" y="1451785"/>
                    <a:pt x="6728635" y="1485900"/>
                    <a:pt x="6686553" y="1485900"/>
                  </a:cubicBezTo>
                  <a:lnTo>
                    <a:pt x="76197" y="1485900"/>
                  </a:lnTo>
                  <a:cubicBezTo>
                    <a:pt x="34115" y="1485900"/>
                    <a:pt x="0" y="1451785"/>
                    <a:pt x="0" y="1409703"/>
                  </a:cubicBezTo>
                  <a:lnTo>
                    <a:pt x="0" y="76197"/>
                  </a:lnTo>
                  <a:cubicBezTo>
                    <a:pt x="0" y="34143"/>
                    <a:pt x="34143" y="0"/>
                    <a:pt x="76197"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600"/>
            </a:p>
          </p:txBody>
        </p:sp>
        <p:sp>
          <p:nvSpPr>
            <p:cNvPr id="17" name="Freeform 17"/>
            <p:cNvSpPr/>
            <p:nvPr/>
          </p:nvSpPr>
          <p:spPr>
            <a:xfrm>
              <a:off x="582150" y="4303088"/>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2"/>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2"/>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09521" y="4266407"/>
              <a:ext cx="6238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Utilisations </a:t>
              </a: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principales</a:t>
              </a:r>
              <a:endParaRPr lang="en-US" sz="1100"/>
            </a:p>
          </p:txBody>
        </p:sp>
        <p:sp>
          <p:nvSpPr>
            <p:cNvPr id="19" name="Freeform 19"/>
            <p:cNvSpPr/>
            <p:nvPr/>
          </p:nvSpPr>
          <p:spPr>
            <a:xfrm>
              <a:off x="571396" y="4685494"/>
              <a:ext cx="3133725" cy="685800"/>
            </a:xfrm>
            <a:custGeom>
              <a:avLst/>
              <a:gdLst/>
              <a:ahLst/>
              <a:cxnLst/>
              <a:rect l="l" t="t" r="r" b="b"/>
              <a:pathLst>
                <a:path w="3133725" h="685800">
                  <a:moveTo>
                    <a:pt x="76199" y="0"/>
                  </a:moveTo>
                  <a:lnTo>
                    <a:pt x="3057526" y="0"/>
                  </a:lnTo>
                  <a:cubicBezTo>
                    <a:pt x="3099609" y="0"/>
                    <a:pt x="3133725" y="34116"/>
                    <a:pt x="3133725" y="76199"/>
                  </a:cubicBezTo>
                  <a:lnTo>
                    <a:pt x="3133725" y="609601"/>
                  </a:lnTo>
                  <a:cubicBezTo>
                    <a:pt x="3133725" y="651684"/>
                    <a:pt x="3099609" y="685800"/>
                    <a:pt x="3057526"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85646" y="4799745"/>
              <a:ext cx="2981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Variables locales</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685646" y="5066376"/>
              <a:ext cx="2971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Stocker les résultats de calcul temporaires</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3821329" y="4685494"/>
              <a:ext cx="3133725" cy="685800"/>
            </a:xfrm>
            <a:custGeom>
              <a:avLst/>
              <a:gdLst/>
              <a:ahLst/>
              <a:cxnLst/>
              <a:rect l="l" t="t" r="r" b="b"/>
              <a:pathLst>
                <a:path w="3133725" h="685800">
                  <a:moveTo>
                    <a:pt x="76199" y="0"/>
                  </a:moveTo>
                  <a:lnTo>
                    <a:pt x="3057526" y="0"/>
                  </a:lnTo>
                  <a:cubicBezTo>
                    <a:pt x="3099609" y="0"/>
                    <a:pt x="3133725" y="34116"/>
                    <a:pt x="3133725" y="76199"/>
                  </a:cubicBezTo>
                  <a:lnTo>
                    <a:pt x="3133725" y="609601"/>
                  </a:lnTo>
                  <a:cubicBezTo>
                    <a:pt x="3133725" y="651684"/>
                    <a:pt x="3099609" y="685800"/>
                    <a:pt x="3057526" y="685800"/>
                  </a:cubicBezTo>
                  <a:lnTo>
                    <a:pt x="76199" y="685800"/>
                  </a:lnTo>
                  <a:cubicBezTo>
                    <a:pt x="34116" y="685800"/>
                    <a:pt x="0" y="651684"/>
                    <a:pt x="0" y="609601"/>
                  </a:cubicBezTo>
                  <a:lnTo>
                    <a:pt x="0" y="76199"/>
                  </a:lnTo>
                  <a:cubicBezTo>
                    <a:pt x="0" y="34144"/>
                    <a:pt x="34144" y="0"/>
                    <a:pt x="761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935578" y="4799745"/>
              <a:ext cx="2981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Résultats temporaires</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3935578" y="5066376"/>
              <a:ext cx="2971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Cache des données de calcul intermédiaires</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25" name="Freeform 25"/>
          <p:cNvSpPr/>
          <p:nvPr/>
        </p:nvSpPr>
        <p:spPr>
          <a:xfrm>
            <a:off x="7372289" y="1180199"/>
            <a:ext cx="4438650" cy="4876800"/>
          </a:xfrm>
          <a:custGeom>
            <a:avLst/>
            <a:gdLst/>
            <a:ahLst/>
            <a:cxnLst/>
            <a:rect l="l" t="t" r="r" b="b"/>
            <a:pathLst>
              <a:path w="4438650" h="4876800">
                <a:moveTo>
                  <a:pt x="76211" y="0"/>
                </a:moveTo>
                <a:lnTo>
                  <a:pt x="4362439" y="0"/>
                </a:lnTo>
                <a:cubicBezTo>
                  <a:pt x="4404529" y="0"/>
                  <a:pt x="4438650" y="34121"/>
                  <a:pt x="4438650" y="76211"/>
                </a:cubicBezTo>
                <a:lnTo>
                  <a:pt x="4438650" y="4800589"/>
                </a:lnTo>
                <a:cubicBezTo>
                  <a:pt x="4438650" y="4842679"/>
                  <a:pt x="4404529" y="4876800"/>
                  <a:pt x="4362439" y="4876800"/>
                </a:cubicBezTo>
                <a:lnTo>
                  <a:pt x="76211" y="4876800"/>
                </a:lnTo>
                <a:cubicBezTo>
                  <a:pt x="34121" y="4876800"/>
                  <a:pt x="0" y="4842679"/>
                  <a:pt x="0" y="4800589"/>
                </a:cubicBezTo>
                <a:lnTo>
                  <a:pt x="0" y="76211"/>
                </a:lnTo>
                <a:cubicBezTo>
                  <a:pt x="0" y="34121"/>
                  <a:pt x="34121"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8768725" y="2476544"/>
            <a:ext cx="1647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Register per Thread</a:t>
            </a:r>
            <a:endParaRPr lang="en-US" sz="16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8412565"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379227"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R0</a:t>
            </a:r>
            <a:endParaRPr lang="en-US" sz="1100"/>
          </a:p>
        </p:txBody>
      </p:sp>
      <p:sp>
        <p:nvSpPr>
          <p:cNvPr id="29" name="Freeform 29"/>
          <p:cNvSpPr/>
          <p:nvPr/>
        </p:nvSpPr>
        <p:spPr>
          <a:xfrm>
            <a:off x="9022094"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8988757"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R1</a:t>
            </a:r>
            <a:endParaRPr lang="en-US" sz="1100"/>
          </a:p>
        </p:txBody>
      </p:sp>
      <p:sp>
        <p:nvSpPr>
          <p:cNvPr id="31" name="Freeform 31"/>
          <p:cNvSpPr/>
          <p:nvPr/>
        </p:nvSpPr>
        <p:spPr>
          <a:xfrm>
            <a:off x="9631623"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9598286"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R2</a:t>
            </a:r>
            <a:endParaRPr lang="en-US" sz="1100"/>
          </a:p>
        </p:txBody>
      </p:sp>
      <p:sp>
        <p:nvSpPr>
          <p:cNvPr id="33" name="Freeform 33"/>
          <p:cNvSpPr/>
          <p:nvPr/>
        </p:nvSpPr>
        <p:spPr>
          <a:xfrm>
            <a:off x="10241152" y="2971824"/>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10207814" y="2971824"/>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R3</a:t>
            </a:r>
            <a:endParaRPr lang="en-US" sz="1100"/>
          </a:p>
        </p:txBody>
      </p:sp>
      <p:sp>
        <p:nvSpPr>
          <p:cNvPr id="35" name="Freeform 35"/>
          <p:cNvSpPr/>
          <p:nvPr/>
        </p:nvSpPr>
        <p:spPr>
          <a:xfrm>
            <a:off x="8412565"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8379227"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R4</a:t>
            </a:r>
            <a:endParaRPr lang="en-US" sz="1100"/>
          </a:p>
        </p:txBody>
      </p:sp>
      <p:sp>
        <p:nvSpPr>
          <p:cNvPr id="37" name="Freeform 37"/>
          <p:cNvSpPr/>
          <p:nvPr/>
        </p:nvSpPr>
        <p:spPr>
          <a:xfrm>
            <a:off x="9022094"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8988757"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R5</a:t>
            </a:r>
            <a:endParaRPr lang="en-US" sz="1100"/>
          </a:p>
        </p:txBody>
      </p:sp>
      <p:sp>
        <p:nvSpPr>
          <p:cNvPr id="39" name="Freeform 39"/>
          <p:cNvSpPr/>
          <p:nvPr/>
        </p:nvSpPr>
        <p:spPr>
          <a:xfrm>
            <a:off x="9631623"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9598286"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R6</a:t>
            </a:r>
            <a:endParaRPr lang="en-US" sz="1100"/>
          </a:p>
        </p:txBody>
      </p:sp>
      <p:sp>
        <p:nvSpPr>
          <p:cNvPr id="41" name="Freeform 41"/>
          <p:cNvSpPr/>
          <p:nvPr/>
        </p:nvSpPr>
        <p:spPr>
          <a:xfrm>
            <a:off x="10241152" y="3581352"/>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2" name="AutoShape 42"/>
          <p:cNvSpPr/>
          <p:nvPr/>
        </p:nvSpPr>
        <p:spPr>
          <a:xfrm>
            <a:off x="10207814" y="3581352"/>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R7</a:t>
            </a:r>
            <a:endParaRPr lang="en-US" sz="1100"/>
          </a:p>
        </p:txBody>
      </p:sp>
      <p:sp>
        <p:nvSpPr>
          <p:cNvPr id="43" name="Freeform 43"/>
          <p:cNvSpPr/>
          <p:nvPr/>
        </p:nvSpPr>
        <p:spPr>
          <a:xfrm>
            <a:off x="8412565"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4" name="AutoShape 44"/>
          <p:cNvSpPr/>
          <p:nvPr/>
        </p:nvSpPr>
        <p:spPr>
          <a:xfrm>
            <a:off x="8379227"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R8</a:t>
            </a:r>
            <a:endParaRPr lang="en-US" sz="1100"/>
          </a:p>
        </p:txBody>
      </p:sp>
      <p:sp>
        <p:nvSpPr>
          <p:cNvPr id="45" name="Freeform 45"/>
          <p:cNvSpPr/>
          <p:nvPr/>
        </p:nvSpPr>
        <p:spPr>
          <a:xfrm>
            <a:off x="9022094"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6" name="AutoShape 46"/>
          <p:cNvSpPr/>
          <p:nvPr/>
        </p:nvSpPr>
        <p:spPr>
          <a:xfrm>
            <a:off x="8988757"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R9</a:t>
            </a:r>
            <a:endParaRPr lang="en-US" sz="1100"/>
          </a:p>
        </p:txBody>
      </p:sp>
      <p:sp>
        <p:nvSpPr>
          <p:cNvPr id="47" name="Freeform 47"/>
          <p:cNvSpPr/>
          <p:nvPr/>
        </p:nvSpPr>
        <p:spPr>
          <a:xfrm>
            <a:off x="9631623"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48" name="AutoShape 48"/>
          <p:cNvSpPr/>
          <p:nvPr/>
        </p:nvSpPr>
        <p:spPr>
          <a:xfrm>
            <a:off x="9598286"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R10</a:t>
            </a:r>
            <a:endParaRPr lang="en-US" sz="1100"/>
          </a:p>
        </p:txBody>
      </p:sp>
      <p:sp>
        <p:nvSpPr>
          <p:cNvPr id="49" name="Freeform 49"/>
          <p:cNvSpPr/>
          <p:nvPr/>
        </p:nvSpPr>
        <p:spPr>
          <a:xfrm>
            <a:off x="10241152" y="4190881"/>
            <a:ext cx="533400" cy="533400"/>
          </a:xfrm>
          <a:custGeom>
            <a:avLst/>
            <a:gdLst/>
            <a:ahLst/>
            <a:cxnLst/>
            <a:rect l="l" t="t" r="r" b="b"/>
            <a:pathLst>
              <a:path w="533400" h="533400">
                <a:moveTo>
                  <a:pt x="38101" y="0"/>
                </a:moveTo>
                <a:lnTo>
                  <a:pt x="495299" y="0"/>
                </a:lnTo>
                <a:cubicBezTo>
                  <a:pt x="516343" y="0"/>
                  <a:pt x="533400" y="17057"/>
                  <a:pt x="533400" y="38101"/>
                </a:cubicBezTo>
                <a:lnTo>
                  <a:pt x="533400" y="495299"/>
                </a:lnTo>
                <a:cubicBezTo>
                  <a:pt x="533400" y="516343"/>
                  <a:pt x="516343" y="533400"/>
                  <a:pt x="495299" y="533400"/>
                </a:cubicBezTo>
                <a:lnTo>
                  <a:pt x="38101" y="533400"/>
                </a:lnTo>
                <a:cubicBezTo>
                  <a:pt x="17057" y="533400"/>
                  <a:pt x="0" y="516343"/>
                  <a:pt x="0" y="495299"/>
                </a:cubicBezTo>
                <a:lnTo>
                  <a:pt x="0" y="38101"/>
                </a:lnTo>
                <a:cubicBezTo>
                  <a:pt x="0" y="17073"/>
                  <a:pt x="17073" y="0"/>
                  <a:pt x="381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50" name="AutoShape 50"/>
          <p:cNvSpPr/>
          <p:nvPr/>
        </p:nvSpPr>
        <p:spPr>
          <a:xfrm>
            <a:off x="10207814" y="4190881"/>
            <a:ext cx="600075" cy="5334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R11</a:t>
            </a:r>
            <a:endParaRPr lang="en-US" sz="1100"/>
          </a:p>
        </p:txBody>
      </p:sp>
      <p:sp>
        <p:nvSpPr>
          <p:cNvPr id="51" name="AutoShape 51"/>
          <p:cNvSpPr/>
          <p:nvPr/>
        </p:nvSpPr>
        <p:spPr>
          <a:xfrm>
            <a:off x="8626682" y="4876601"/>
            <a:ext cx="19335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Chaque thread possède son propre ensemble de registres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2" name="AutoShape 52"/>
          <p:cNvSpPr/>
          <p:nvPr/>
        </p:nvSpPr>
        <p:spPr>
          <a:xfrm>
            <a:off x="314281" y="6286545"/>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Calibri" panose="020F0502020204030204"/>
                <a:ea typeface="微软雅黑" panose="020B0503020204020204" charset="-122"/>
                <a:cs typeface="微软雅黑" panose="020B0503020204020204" charset="-122"/>
                <a:sym typeface="微软雅黑" panose="020B0503020204020204" charset="-122"/>
              </a:rPr>
              <a:t>Schéma register per thread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596" y="601460"/>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Global Memory</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380956" y="1333233"/>
            <a:ext cx="5600700" cy="5180858"/>
            <a:chOff x="380956" y="1333233"/>
            <a:chExt cx="5600700" cy="5180858"/>
          </a:xfrm>
        </p:grpSpPr>
        <p:sp>
          <p:nvSpPr>
            <p:cNvPr id="4" name="Freeform 4"/>
            <p:cNvSpPr/>
            <p:nvPr/>
          </p:nvSpPr>
          <p:spPr>
            <a:xfrm>
              <a:off x="380956" y="1333233"/>
              <a:ext cx="5600700" cy="2514600"/>
            </a:xfrm>
            <a:custGeom>
              <a:avLst/>
              <a:gdLst/>
              <a:ahLst/>
              <a:cxnLst/>
              <a:rect l="l" t="t" r="r" b="b"/>
              <a:pathLst>
                <a:path w="5600700" h="2514600">
                  <a:moveTo>
                    <a:pt x="76192" y="0"/>
                  </a:moveTo>
                  <a:lnTo>
                    <a:pt x="5524508" y="0"/>
                  </a:lnTo>
                  <a:cubicBezTo>
                    <a:pt x="5566588" y="0"/>
                    <a:pt x="5600700" y="34112"/>
                    <a:pt x="5600700" y="76192"/>
                  </a:cubicBezTo>
                  <a:lnTo>
                    <a:pt x="5600700" y="2438408"/>
                  </a:lnTo>
                  <a:cubicBezTo>
                    <a:pt x="5600700" y="2480488"/>
                    <a:pt x="5566588" y="2514600"/>
                    <a:pt x="5524508" y="2514600"/>
                  </a:cubicBezTo>
                  <a:lnTo>
                    <a:pt x="76192" y="2514600"/>
                  </a:lnTo>
                  <a:cubicBezTo>
                    <a:pt x="34112" y="2514600"/>
                    <a:pt x="0" y="2480488"/>
                    <a:pt x="0" y="2438408"/>
                  </a:cubicBezTo>
                  <a:lnTo>
                    <a:pt x="0" y="76192"/>
                  </a:lnTo>
                  <a:cubicBezTo>
                    <a:pt x="0" y="34141"/>
                    <a:pt x="34141" y="0"/>
                    <a:pt x="761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71396" y="1540819"/>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Caractéristiques de la Global Memory</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571396" y="201895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61956" y="1942833"/>
              <a:ext cx="478980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Grande capacité</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761956" y="2209533"/>
              <a:ext cx="478980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Capacit</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 de l’ordre du Go, stockage massif de donn</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es</a:t>
              </a:r>
              <a:endPar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571396" y="2628409"/>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61956" y="2552433"/>
              <a:ext cx="31508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Latence élevée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761956" y="2819133"/>
              <a:ext cx="31508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400-800 cycles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571396" y="3237863"/>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1956" y="3161398"/>
              <a:ext cx="42354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Accessible par tous les threads</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761956" y="3428098"/>
              <a:ext cx="42354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Visibilité globale, partagée entre threads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380956" y="3999700"/>
              <a:ext cx="5600700" cy="1333500"/>
            </a:xfrm>
            <a:custGeom>
              <a:avLst/>
              <a:gdLst/>
              <a:ahLst/>
              <a:cxnLst/>
              <a:rect l="l" t="t" r="r" b="b"/>
              <a:pathLst>
                <a:path w="5600700" h="1333500">
                  <a:moveTo>
                    <a:pt x="76196" y="0"/>
                  </a:moveTo>
                  <a:lnTo>
                    <a:pt x="5524504" y="0"/>
                  </a:lnTo>
                  <a:cubicBezTo>
                    <a:pt x="5566587" y="0"/>
                    <a:pt x="5600700" y="34113"/>
                    <a:pt x="5600700" y="76196"/>
                  </a:cubicBezTo>
                  <a:lnTo>
                    <a:pt x="5600700" y="1257304"/>
                  </a:lnTo>
                  <a:cubicBezTo>
                    <a:pt x="5600700" y="1299387"/>
                    <a:pt x="5566587" y="1333500"/>
                    <a:pt x="5524504" y="1333500"/>
                  </a:cubicBezTo>
                  <a:lnTo>
                    <a:pt x="76196" y="1333500"/>
                  </a:lnTo>
                  <a:cubicBezTo>
                    <a:pt x="34113" y="1333500"/>
                    <a:pt x="0" y="1299387"/>
                    <a:pt x="0" y="1257304"/>
                  </a:cubicBezTo>
                  <a:lnTo>
                    <a:pt x="0" y="76196"/>
                  </a:lnTo>
                  <a:cubicBezTo>
                    <a:pt x="0" y="34141"/>
                    <a:pt x="34141" y="0"/>
                    <a:pt x="76196"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571396" y="4199032"/>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Problème principal</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571396" y="4571098"/>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Vitesse d'accès lente</a:t>
              </a:r>
              <a:endParaRPr lang="en-US" sz="16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571396" y="4913993"/>
              <a:ext cx="5295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La haute latence devient un goulot d'étranglement</a:t>
              </a:r>
              <a:endParaRPr lang="en-US" sz="1000"/>
            </a:p>
          </p:txBody>
        </p:sp>
        <p:sp>
          <p:nvSpPr>
            <p:cNvPr id="19" name="Freeform 19"/>
            <p:cNvSpPr/>
            <p:nvPr/>
          </p:nvSpPr>
          <p:spPr>
            <a:xfrm>
              <a:off x="380956" y="5485391"/>
              <a:ext cx="5600700" cy="1028700"/>
            </a:xfrm>
            <a:custGeom>
              <a:avLst/>
              <a:gdLst/>
              <a:ahLst/>
              <a:cxnLst/>
              <a:rect l="l" t="t" r="r" b="b"/>
              <a:pathLst>
                <a:path w="5600700" h="1028700">
                  <a:moveTo>
                    <a:pt x="76196" y="0"/>
                  </a:moveTo>
                  <a:lnTo>
                    <a:pt x="5524504" y="0"/>
                  </a:lnTo>
                  <a:cubicBezTo>
                    <a:pt x="5566587" y="0"/>
                    <a:pt x="5600700" y="34113"/>
                    <a:pt x="5600700" y="76196"/>
                  </a:cubicBezTo>
                  <a:lnTo>
                    <a:pt x="5600700" y="952504"/>
                  </a:lnTo>
                  <a:cubicBezTo>
                    <a:pt x="5600700" y="994587"/>
                    <a:pt x="5566587" y="1028700"/>
                    <a:pt x="5524504" y="1028700"/>
                  </a:cubicBezTo>
                  <a:lnTo>
                    <a:pt x="76196" y="1028700"/>
                  </a:lnTo>
                  <a:cubicBezTo>
                    <a:pt x="34113" y="1028700"/>
                    <a:pt x="0" y="994587"/>
                    <a:pt x="0" y="952504"/>
                  </a:cubicBezTo>
                  <a:lnTo>
                    <a:pt x="0" y="76196"/>
                  </a:lnTo>
                  <a:cubicBezTo>
                    <a:pt x="0" y="34141"/>
                    <a:pt x="34141" y="0"/>
                    <a:pt x="76196"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396" y="5676465"/>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Objectif d'optimisation</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AutoShape 21"/>
            <p:cNvSpPr/>
            <p:nvPr/>
          </p:nvSpPr>
          <p:spPr>
            <a:xfrm>
              <a:off x="571396" y="6056786"/>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Réduire les accès à la Global Memory</a:t>
              </a:r>
              <a:endParaRPr lang="en-US" sz="1000"/>
            </a:p>
          </p:txBody>
        </p:sp>
      </p:grpSp>
      <p:sp>
        <p:nvSpPr>
          <p:cNvPr id="22" name="Freeform 22"/>
          <p:cNvSpPr/>
          <p:nvPr/>
        </p:nvSpPr>
        <p:spPr>
          <a:xfrm>
            <a:off x="6210279" y="1333233"/>
            <a:ext cx="5600700" cy="4038600"/>
          </a:xfrm>
          <a:custGeom>
            <a:avLst/>
            <a:gdLst/>
            <a:ahLst/>
            <a:cxnLst/>
            <a:rect l="l" t="t" r="r" b="b"/>
            <a:pathLst>
              <a:path w="5600700" h="4038600">
                <a:moveTo>
                  <a:pt x="76208" y="0"/>
                </a:moveTo>
                <a:lnTo>
                  <a:pt x="5524492" y="0"/>
                </a:lnTo>
                <a:cubicBezTo>
                  <a:pt x="5566580" y="0"/>
                  <a:pt x="5600700" y="34120"/>
                  <a:pt x="5600700" y="76208"/>
                </a:cubicBezTo>
                <a:lnTo>
                  <a:pt x="5600700" y="3962392"/>
                </a:lnTo>
                <a:cubicBezTo>
                  <a:pt x="5600700" y="4004480"/>
                  <a:pt x="5566580" y="4038600"/>
                  <a:pt x="5524492" y="4038600"/>
                </a:cubicBezTo>
                <a:lnTo>
                  <a:pt x="76208" y="4038600"/>
                </a:lnTo>
                <a:cubicBezTo>
                  <a:pt x="34120" y="4038600"/>
                  <a:pt x="0" y="4004480"/>
                  <a:pt x="0" y="3962392"/>
                </a:cubicBezTo>
                <a:lnTo>
                  <a:pt x="0" y="76208"/>
                </a:lnTo>
                <a:cubicBezTo>
                  <a:pt x="0" y="34148"/>
                  <a:pt x="34148"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3" name="Picture 23"/>
          <p:cNvPicPr>
            <a:picLocks noChangeAspect="1"/>
          </p:cNvPicPr>
          <p:nvPr/>
        </p:nvPicPr>
        <p:blipFill>
          <a:blip r:embed="rId1"/>
          <a:srcRect l="60" r="60"/>
          <a:stretch>
            <a:fillRect/>
          </a:stretch>
        </p:blipFill>
        <p:spPr>
          <a:xfrm>
            <a:off x="6400720" y="2343785"/>
            <a:ext cx="5219700" cy="2019300"/>
          </a:xfrm>
          <a:prstGeom prst="roundRect">
            <a:avLst>
              <a:gd name="adj" fmla="val 1886"/>
            </a:avLst>
          </a:prstGeom>
          <a:ln w="12700">
            <a:noFill/>
            <a:prstDash val="solid"/>
          </a:ln>
        </p:spPr>
      </p:pic>
      <p:sp>
        <p:nvSpPr>
          <p:cNvPr id="24" name="Freeform 24"/>
          <p:cNvSpPr/>
          <p:nvPr/>
        </p:nvSpPr>
        <p:spPr>
          <a:xfrm>
            <a:off x="6219757" y="5533147"/>
            <a:ext cx="5581555" cy="971455"/>
          </a:xfrm>
          <a:custGeom>
            <a:avLst/>
            <a:gdLst/>
            <a:ahLst/>
            <a:cxnLst/>
            <a:rect l="l" t="t" r="r" b="b"/>
            <a:pathLst>
              <a:path w="5581555" h="971455">
                <a:moveTo>
                  <a:pt x="76201" y="0"/>
                </a:moveTo>
                <a:lnTo>
                  <a:pt x="5505353" y="0"/>
                </a:lnTo>
                <a:cubicBezTo>
                  <a:pt x="5547439" y="0"/>
                  <a:pt x="5581555" y="34116"/>
                  <a:pt x="5581555" y="76201"/>
                </a:cubicBezTo>
                <a:lnTo>
                  <a:pt x="5581555" y="895253"/>
                </a:lnTo>
                <a:cubicBezTo>
                  <a:pt x="5581555" y="937339"/>
                  <a:pt x="5547439" y="971455"/>
                  <a:pt x="5505353" y="971455"/>
                </a:cubicBezTo>
                <a:lnTo>
                  <a:pt x="76201" y="971455"/>
                </a:lnTo>
                <a:cubicBezTo>
                  <a:pt x="34116" y="971455"/>
                  <a:pt x="0" y="937339"/>
                  <a:pt x="0" y="895253"/>
                </a:cubicBezTo>
                <a:lnTo>
                  <a:pt x="0" y="76201"/>
                </a:lnTo>
                <a:cubicBezTo>
                  <a:pt x="0" y="34144"/>
                  <a:pt x="34144"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295892" y="5695008"/>
            <a:ext cx="54292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146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400-800</a:t>
            </a:r>
            <a:endParaRPr lang="en-US" sz="1100"/>
          </a:p>
        </p:txBody>
      </p:sp>
      <p:sp>
        <p:nvSpPr>
          <p:cNvPr id="26" name="AutoShape 26"/>
          <p:cNvSpPr/>
          <p:nvPr/>
        </p:nvSpPr>
        <p:spPr>
          <a:xfrm>
            <a:off x="6343517" y="6114022"/>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cycles latency</a:t>
            </a:r>
            <a:endParaRPr lang="en-US" sz="1000"/>
          </a:p>
        </p:txBody>
      </p:sp>
      <p:sp>
        <p:nvSpPr>
          <p:cNvPr id="27" name="AutoShape 27"/>
          <p:cNvSpPr/>
          <p:nvPr/>
        </p:nvSpPr>
        <p:spPr>
          <a:xfrm>
            <a:off x="314281" y="6590123"/>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POP CoE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596" y="58966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altLang="zh-CN" sz="2800" b="1">
                <a:solidFill>
                  <a:srgbClr val="1A1A1A"/>
                </a:solidFill>
                <a:latin typeface="MiSans" panose="00000500000000000000" charset="-122"/>
                <a:ea typeface="MiSans" panose="00000500000000000000" charset="-122"/>
                <a:cs typeface="MiSans" panose="00000500000000000000" charset="-122"/>
              </a:rPr>
              <a:t>Le concept de Shared Memory </a:t>
            </a:r>
            <a:endParaRPr lang="en-US" altLang="zh-CN"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380956" y="1333235"/>
            <a:ext cx="5600700" cy="1143000"/>
            <a:chOff x="380956" y="1333235"/>
            <a:chExt cx="5600700" cy="1143000"/>
          </a:xfrm>
        </p:grpSpPr>
        <p:sp>
          <p:nvSpPr>
            <p:cNvPr id="4" name="Freeform 4"/>
            <p:cNvSpPr/>
            <p:nvPr/>
          </p:nvSpPr>
          <p:spPr>
            <a:xfrm>
              <a:off x="380956" y="1333235"/>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1561807"/>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AutoShape 6"/>
            <p:cNvSpPr/>
            <p:nvPr/>
          </p:nvSpPr>
          <p:spPr>
            <a:xfrm>
              <a:off x="609529" y="1980749"/>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Mémoire haute vitesse interne au SM</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7" name="Group 7"/>
          <p:cNvGrpSpPr/>
          <p:nvPr/>
        </p:nvGrpSpPr>
        <p:grpSpPr>
          <a:xfrm>
            <a:off x="394926" y="2615074"/>
            <a:ext cx="5600700" cy="3714750"/>
            <a:chOff x="380956" y="2628409"/>
            <a:chExt cx="5600700" cy="3714750"/>
          </a:xfrm>
        </p:grpSpPr>
        <p:sp>
          <p:nvSpPr>
            <p:cNvPr id="8" name="Freeform 8"/>
            <p:cNvSpPr/>
            <p:nvPr/>
          </p:nvSpPr>
          <p:spPr>
            <a:xfrm>
              <a:off x="380956" y="2628409"/>
              <a:ext cx="5600700" cy="3714750"/>
            </a:xfrm>
            <a:custGeom>
              <a:avLst/>
              <a:gdLst/>
              <a:ahLst/>
              <a:cxnLst/>
              <a:rect l="l" t="t" r="r" b="b"/>
              <a:pathLst>
                <a:path w="5600700" h="3714750">
                  <a:moveTo>
                    <a:pt x="76190" y="0"/>
                  </a:moveTo>
                  <a:lnTo>
                    <a:pt x="5524510" y="0"/>
                  </a:lnTo>
                  <a:cubicBezTo>
                    <a:pt x="5566589" y="0"/>
                    <a:pt x="5600700" y="34111"/>
                    <a:pt x="5600700" y="76190"/>
                  </a:cubicBezTo>
                  <a:lnTo>
                    <a:pt x="5600700" y="3638560"/>
                  </a:lnTo>
                  <a:cubicBezTo>
                    <a:pt x="5600700" y="3680639"/>
                    <a:pt x="5566589" y="3714750"/>
                    <a:pt x="5524510" y="3714750"/>
                  </a:cubicBezTo>
                  <a:lnTo>
                    <a:pt x="76190" y="3714750"/>
                  </a:lnTo>
                  <a:cubicBezTo>
                    <a:pt x="34111" y="3714750"/>
                    <a:pt x="0" y="3680639"/>
                    <a:pt x="0" y="3638560"/>
                  </a:cubicBezTo>
                  <a:lnTo>
                    <a:pt x="0" y="76190"/>
                  </a:lnTo>
                  <a:cubicBezTo>
                    <a:pt x="0" y="34111"/>
                    <a:pt x="34111" y="0"/>
                    <a:pt x="7619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87507" y="2845003"/>
              <a:ext cx="205904" cy="196118"/>
            </a:xfrm>
            <a:custGeom>
              <a:avLst/>
              <a:gdLst/>
              <a:ahLst/>
              <a:cxnLst/>
              <a:rect l="l" t="t" r="r" b="b"/>
              <a:pathLst>
                <a:path w="205904" h="196118">
                  <a:moveTo>
                    <a:pt x="110952" y="4874"/>
                  </a:moveTo>
                  <a:cubicBezTo>
                    <a:pt x="109425" y="1897"/>
                    <a:pt x="106338" y="0"/>
                    <a:pt x="102989" y="0"/>
                  </a:cubicBezTo>
                  <a:cubicBezTo>
                    <a:pt x="99641" y="0"/>
                    <a:pt x="96553" y="1897"/>
                    <a:pt x="95027" y="4874"/>
                  </a:cubicBezTo>
                  <a:lnTo>
                    <a:pt x="67642" y="58526"/>
                  </a:lnTo>
                  <a:lnTo>
                    <a:pt x="8149" y="67977"/>
                  </a:lnTo>
                  <a:cubicBezTo>
                    <a:pt x="4837" y="68498"/>
                    <a:pt x="2084" y="70842"/>
                    <a:pt x="1042" y="74042"/>
                  </a:cubicBezTo>
                  <a:cubicBezTo>
                    <a:pt x="0" y="77242"/>
                    <a:pt x="856" y="80739"/>
                    <a:pt x="3200" y="83120"/>
                  </a:cubicBezTo>
                  <a:lnTo>
                    <a:pt x="45765" y="125722"/>
                  </a:lnTo>
                  <a:lnTo>
                    <a:pt x="36389" y="185217"/>
                  </a:lnTo>
                  <a:cubicBezTo>
                    <a:pt x="35868" y="188527"/>
                    <a:pt x="37245" y="191876"/>
                    <a:pt x="39962" y="193847"/>
                  </a:cubicBezTo>
                  <a:cubicBezTo>
                    <a:pt x="42677" y="195820"/>
                    <a:pt x="46249" y="196118"/>
                    <a:pt x="49263" y="194593"/>
                  </a:cubicBezTo>
                  <a:lnTo>
                    <a:pt x="102989" y="167283"/>
                  </a:lnTo>
                  <a:lnTo>
                    <a:pt x="156680" y="194593"/>
                  </a:lnTo>
                  <a:cubicBezTo>
                    <a:pt x="159656" y="196118"/>
                    <a:pt x="163265" y="195820"/>
                    <a:pt x="165981" y="193847"/>
                  </a:cubicBezTo>
                  <a:cubicBezTo>
                    <a:pt x="168698" y="191876"/>
                    <a:pt x="170074" y="188566"/>
                    <a:pt x="169554" y="185217"/>
                  </a:cubicBezTo>
                  <a:lnTo>
                    <a:pt x="160139" y="125722"/>
                  </a:lnTo>
                  <a:lnTo>
                    <a:pt x="202704" y="83120"/>
                  </a:lnTo>
                  <a:cubicBezTo>
                    <a:pt x="205086" y="80739"/>
                    <a:pt x="205904" y="77242"/>
                    <a:pt x="204862" y="74042"/>
                  </a:cubicBezTo>
                  <a:cubicBezTo>
                    <a:pt x="203821" y="70842"/>
                    <a:pt x="201104" y="68498"/>
                    <a:pt x="197756" y="67977"/>
                  </a:cubicBezTo>
                  <a:lnTo>
                    <a:pt x="138299" y="58526"/>
                  </a:lnTo>
                  <a:lnTo>
                    <a:pt x="110952" y="4874"/>
                  </a:ln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09521" y="2818849"/>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Caractéristiques principales</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Freeform 11"/>
            <p:cNvSpPr/>
            <p:nvPr/>
          </p:nvSpPr>
          <p:spPr>
            <a:xfrm>
              <a:off x="571396" y="3314130"/>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61956" y="3238009"/>
              <a:ext cx="493585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Faible latence</a:t>
              </a:r>
              <a:endPar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761956" y="3504709"/>
              <a:ext cx="493585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Environ 20 cycles, 20 à 40 fois plus rapide que la Global Memory</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571396" y="392358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61956" y="3847609"/>
              <a:ext cx="358965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Partage au sein du Block</a:t>
              </a:r>
              <a:endPar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AutoShape 16"/>
            <p:cNvSpPr/>
            <p:nvPr/>
          </p:nvSpPr>
          <p:spPr>
            <a:xfrm>
              <a:off x="761956" y="4114309"/>
              <a:ext cx="358965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Les threads d'un même bloc peuvent partager l'accès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571396" y="4533040"/>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61956" y="4456574"/>
              <a:ext cx="24441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Capacité limitée</a:t>
              </a:r>
              <a:endPar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AutoShape 19"/>
            <p:cNvSpPr/>
            <p:nvPr/>
          </p:nvSpPr>
          <p:spPr>
            <a:xfrm>
              <a:off x="761956" y="4723274"/>
              <a:ext cx="24441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Par exemple : 48 KB par SM</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20" name="Group 20"/>
          <p:cNvGrpSpPr/>
          <p:nvPr/>
        </p:nvGrpSpPr>
        <p:grpSpPr>
          <a:xfrm>
            <a:off x="6210279" y="1333235"/>
            <a:ext cx="5600700" cy="4996311"/>
            <a:chOff x="6210279" y="1333235"/>
            <a:chExt cx="5600700" cy="4996311"/>
          </a:xfrm>
        </p:grpSpPr>
        <p:sp>
          <p:nvSpPr>
            <p:cNvPr id="21" name="Freeform 21"/>
            <p:cNvSpPr/>
            <p:nvPr/>
          </p:nvSpPr>
          <p:spPr>
            <a:xfrm>
              <a:off x="6210279" y="1333235"/>
              <a:ext cx="5600700" cy="4019550"/>
            </a:xfrm>
            <a:custGeom>
              <a:avLst/>
              <a:gdLst/>
              <a:ahLst/>
              <a:cxnLst/>
              <a:rect l="l" t="t" r="r" b="b"/>
              <a:pathLst>
                <a:path w="5600700" h="4019550">
                  <a:moveTo>
                    <a:pt x="76211" y="0"/>
                  </a:moveTo>
                  <a:lnTo>
                    <a:pt x="5524489" y="0"/>
                  </a:lnTo>
                  <a:cubicBezTo>
                    <a:pt x="5566579" y="0"/>
                    <a:pt x="5600700" y="34121"/>
                    <a:pt x="5600700" y="76211"/>
                  </a:cubicBezTo>
                  <a:lnTo>
                    <a:pt x="5600700" y="3943339"/>
                  </a:lnTo>
                  <a:cubicBezTo>
                    <a:pt x="5600700" y="3985429"/>
                    <a:pt x="5566579" y="4019550"/>
                    <a:pt x="5524489" y="4019550"/>
                  </a:cubicBezTo>
                  <a:lnTo>
                    <a:pt x="76211" y="4019550"/>
                  </a:lnTo>
                  <a:cubicBezTo>
                    <a:pt x="34121" y="4019550"/>
                    <a:pt x="0" y="3985429"/>
                    <a:pt x="0" y="3943339"/>
                  </a:cubicBezTo>
                  <a:lnTo>
                    <a:pt x="0" y="76211"/>
                  </a:lnTo>
                  <a:cubicBezTo>
                    <a:pt x="0" y="34149"/>
                    <a:pt x="34149"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l="57" r="56"/>
            <a:stretch>
              <a:fillRect/>
            </a:stretch>
          </p:blipFill>
          <p:spPr>
            <a:xfrm>
              <a:off x="6400720" y="1523674"/>
              <a:ext cx="5219700" cy="3638550"/>
            </a:xfrm>
            <a:prstGeom prst="roundRect">
              <a:avLst>
                <a:gd name="adj" fmla="val 1047"/>
              </a:avLst>
            </a:prstGeom>
            <a:ln w="12700">
              <a:noFill/>
              <a:prstDash val="solid"/>
            </a:ln>
          </p:spPr>
        </p:pic>
        <p:sp>
          <p:nvSpPr>
            <p:cNvPr id="23" name="Freeform 23"/>
            <p:cNvSpPr/>
            <p:nvPr/>
          </p:nvSpPr>
          <p:spPr>
            <a:xfrm>
              <a:off x="6219757" y="5510491"/>
              <a:ext cx="2724055" cy="819055"/>
            </a:xfrm>
            <a:custGeom>
              <a:avLst/>
              <a:gdLst/>
              <a:ahLst/>
              <a:cxnLst/>
              <a:rect l="l" t="t" r="r" b="b"/>
              <a:pathLst>
                <a:path w="2724055" h="819055">
                  <a:moveTo>
                    <a:pt x="76197" y="0"/>
                  </a:moveTo>
                  <a:lnTo>
                    <a:pt x="2647859" y="0"/>
                  </a:lnTo>
                  <a:cubicBezTo>
                    <a:pt x="2689913" y="0"/>
                    <a:pt x="2724055" y="34143"/>
                    <a:pt x="2724055" y="76197"/>
                  </a:cubicBezTo>
                  <a:lnTo>
                    <a:pt x="2724055" y="742859"/>
                  </a:lnTo>
                  <a:cubicBezTo>
                    <a:pt x="2724055" y="784913"/>
                    <a:pt x="2689913" y="819055"/>
                    <a:pt x="2647859" y="819055"/>
                  </a:cubicBezTo>
                  <a:lnTo>
                    <a:pt x="76197" y="819055"/>
                  </a:lnTo>
                  <a:cubicBezTo>
                    <a:pt x="34143" y="819055"/>
                    <a:pt x="0" y="784913"/>
                    <a:pt x="0" y="742859"/>
                  </a:cubicBezTo>
                  <a:lnTo>
                    <a:pt x="0" y="76197"/>
                  </a:lnTo>
                  <a:cubicBezTo>
                    <a:pt x="0" y="34143"/>
                    <a:pt x="34143" y="0"/>
                    <a:pt x="761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6272047" y="5634219"/>
              <a:ext cx="26193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7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~20</a:t>
              </a:r>
              <a:endParaRPr lang="en-US" sz="1100"/>
            </a:p>
          </p:txBody>
        </p:sp>
        <p:sp>
          <p:nvSpPr>
            <p:cNvPr id="25" name="AutoShape 25"/>
            <p:cNvSpPr/>
            <p:nvPr/>
          </p:nvSpPr>
          <p:spPr>
            <a:xfrm>
              <a:off x="6310147" y="6015100"/>
              <a:ext cx="25431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cycles</a:t>
              </a:r>
              <a:endParaRPr lang="en-US" sz="1100"/>
            </a:p>
          </p:txBody>
        </p:sp>
        <p:sp>
          <p:nvSpPr>
            <p:cNvPr id="26" name="Freeform 26"/>
            <p:cNvSpPr/>
            <p:nvPr/>
          </p:nvSpPr>
          <p:spPr>
            <a:xfrm>
              <a:off x="9077257" y="5510491"/>
              <a:ext cx="2724055" cy="819055"/>
            </a:xfrm>
            <a:custGeom>
              <a:avLst/>
              <a:gdLst/>
              <a:ahLst/>
              <a:cxnLst/>
              <a:rect l="l" t="t" r="r" b="b"/>
              <a:pathLst>
                <a:path w="2724055" h="819055">
                  <a:moveTo>
                    <a:pt x="76197" y="0"/>
                  </a:moveTo>
                  <a:lnTo>
                    <a:pt x="2647859" y="0"/>
                  </a:lnTo>
                  <a:cubicBezTo>
                    <a:pt x="2689913" y="0"/>
                    <a:pt x="2724055" y="34143"/>
                    <a:pt x="2724055" y="76197"/>
                  </a:cubicBezTo>
                  <a:lnTo>
                    <a:pt x="2724055" y="742859"/>
                  </a:lnTo>
                  <a:cubicBezTo>
                    <a:pt x="2724055" y="784913"/>
                    <a:pt x="2689913" y="819055"/>
                    <a:pt x="2647859" y="819055"/>
                  </a:cubicBezTo>
                  <a:lnTo>
                    <a:pt x="76197" y="819055"/>
                  </a:lnTo>
                  <a:cubicBezTo>
                    <a:pt x="34143" y="819055"/>
                    <a:pt x="0" y="784913"/>
                    <a:pt x="0" y="742859"/>
                  </a:cubicBezTo>
                  <a:lnTo>
                    <a:pt x="0" y="76197"/>
                  </a:lnTo>
                  <a:cubicBezTo>
                    <a:pt x="0" y="34143"/>
                    <a:pt x="34143" y="0"/>
                    <a:pt x="76197" y="0"/>
                  </a:cubicBezTo>
                  <a:close/>
                </a:path>
              </a:pathLst>
            </a:custGeom>
            <a:solidFill>
              <a:srgbClr val="FFFFFF">
                <a:alpha val="100000"/>
              </a:srgbClr>
            </a:solidFill>
            <a:ln w="12700">
              <a:solidFill>
                <a:srgbClr val="B89A6A">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129546" y="5634219"/>
              <a:ext cx="26193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7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48KB</a:t>
              </a:r>
              <a:endParaRPr lang="en-US" sz="1100"/>
            </a:p>
          </p:txBody>
        </p:sp>
        <p:sp>
          <p:nvSpPr>
            <p:cNvPr id="28" name="AutoShape 28"/>
            <p:cNvSpPr/>
            <p:nvPr/>
          </p:nvSpPr>
          <p:spPr>
            <a:xfrm>
              <a:off x="9167646" y="6015100"/>
              <a:ext cx="25431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par SM</a:t>
              </a:r>
              <a:endParaRPr lang="en-US" sz="1100"/>
            </a:p>
          </p:txBody>
        </p:sp>
      </p:grpSp>
      <p:sp>
        <p:nvSpPr>
          <p:cNvPr id="29" name="AutoShape 29"/>
          <p:cNvSpPr/>
          <p:nvPr/>
        </p:nvSpPr>
        <p:spPr>
          <a:xfrm>
            <a:off x="314281" y="6414936"/>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The Beard Sage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3235" y="633523"/>
            <a:ext cx="11699875" cy="3175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Shared Memory est plus rapide</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317514" y="1589087"/>
            <a:ext cx="5683250" cy="3555365"/>
            <a:chOff x="317514" y="1589087"/>
            <a:chExt cx="5683250" cy="3555365"/>
          </a:xfrm>
        </p:grpSpPr>
        <p:sp>
          <p:nvSpPr>
            <p:cNvPr id="4" name="Freeform 4"/>
            <p:cNvSpPr/>
            <p:nvPr/>
          </p:nvSpPr>
          <p:spPr>
            <a:xfrm>
              <a:off x="333310" y="1589087"/>
              <a:ext cx="5667296" cy="1333500"/>
            </a:xfrm>
            <a:custGeom>
              <a:avLst/>
              <a:gdLst/>
              <a:ahLst/>
              <a:cxnLst/>
              <a:rect l="l" t="t" r="r" b="b"/>
              <a:pathLst>
                <a:path w="5667296" h="1333500">
                  <a:moveTo>
                    <a:pt x="31593" y="0"/>
                  </a:moveTo>
                  <a:lnTo>
                    <a:pt x="5603795" y="0"/>
                  </a:lnTo>
                  <a:cubicBezTo>
                    <a:pt x="5638866" y="0"/>
                    <a:pt x="5667296" y="28430"/>
                    <a:pt x="5667296" y="63501"/>
                  </a:cubicBezTo>
                  <a:lnTo>
                    <a:pt x="5667296" y="1269999"/>
                  </a:lnTo>
                  <a:cubicBezTo>
                    <a:pt x="5667296" y="1305070"/>
                    <a:pt x="5638866" y="1333500"/>
                    <a:pt x="5603795" y="1333500"/>
                  </a:cubicBezTo>
                  <a:lnTo>
                    <a:pt x="31593" y="1333500"/>
                  </a:lnTo>
                  <a:cubicBezTo>
                    <a:pt x="14144" y="1333500"/>
                    <a:pt x="0" y="1319356"/>
                    <a:pt x="0" y="1301907"/>
                  </a:cubicBezTo>
                  <a:lnTo>
                    <a:pt x="0" y="31593"/>
                  </a:lnTo>
                  <a:cubicBezTo>
                    <a:pt x="0" y="14155"/>
                    <a:pt x="14155" y="0"/>
                    <a:pt x="3159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33310" y="1589087"/>
              <a:ext cx="31593" cy="1333500"/>
            </a:xfrm>
            <a:custGeom>
              <a:avLst/>
              <a:gdLst/>
              <a:ahLst/>
              <a:cxnLst/>
              <a:rect l="l" t="t" r="r" b="b"/>
              <a:pathLst>
                <a:path w="31593" h="1333500">
                  <a:moveTo>
                    <a:pt x="31593" y="0"/>
                  </a:moveTo>
                  <a:lnTo>
                    <a:pt x="31593" y="0"/>
                  </a:lnTo>
                  <a:lnTo>
                    <a:pt x="31593" y="1333500"/>
                  </a:lnTo>
                  <a:lnTo>
                    <a:pt x="31593" y="1333500"/>
                  </a:lnTo>
                  <a:cubicBezTo>
                    <a:pt x="14144" y="1333500"/>
                    <a:pt x="0" y="1319356"/>
                    <a:pt x="0" y="1301907"/>
                  </a:cubicBezTo>
                  <a:lnTo>
                    <a:pt x="0" y="31593"/>
                  </a:lnTo>
                  <a:cubicBezTo>
                    <a:pt x="0" y="14155"/>
                    <a:pt x="14155" y="0"/>
                    <a:pt x="3159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28115" y="1779504"/>
              <a:ext cx="158068" cy="158750"/>
            </a:xfrm>
            <a:custGeom>
              <a:avLst/>
              <a:gdLst/>
              <a:ahLst/>
              <a:cxnLst/>
              <a:rect l="l" t="t" r="r" b="b"/>
              <a:pathLst>
                <a:path w="158068" h="158750">
                  <a:moveTo>
                    <a:pt x="108645" y="86816"/>
                  </a:moveTo>
                  <a:lnTo>
                    <a:pt x="49454" y="86816"/>
                  </a:lnTo>
                  <a:cubicBezTo>
                    <a:pt x="50354" y="106815"/>
                    <a:pt x="54788" y="125233"/>
                    <a:pt x="61082" y="138720"/>
                  </a:cubicBezTo>
                  <a:cubicBezTo>
                    <a:pt x="64616" y="146317"/>
                    <a:pt x="68430" y="151681"/>
                    <a:pt x="71964" y="154967"/>
                  </a:cubicBezTo>
                  <a:cubicBezTo>
                    <a:pt x="75437" y="158223"/>
                    <a:pt x="77825" y="158750"/>
                    <a:pt x="79065" y="158750"/>
                  </a:cubicBezTo>
                  <a:cubicBezTo>
                    <a:pt x="80304" y="158750"/>
                    <a:pt x="82693" y="158223"/>
                    <a:pt x="86166" y="154967"/>
                  </a:cubicBezTo>
                  <a:cubicBezTo>
                    <a:pt x="89700" y="151681"/>
                    <a:pt x="93514" y="146286"/>
                    <a:pt x="97048" y="138720"/>
                  </a:cubicBezTo>
                  <a:cubicBezTo>
                    <a:pt x="103344" y="125233"/>
                    <a:pt x="107776" y="106815"/>
                    <a:pt x="108676" y="86816"/>
                  </a:cubicBezTo>
                  <a:close/>
                  <a:moveTo>
                    <a:pt x="49423" y="71934"/>
                  </a:moveTo>
                  <a:lnTo>
                    <a:pt x="108614" y="71934"/>
                  </a:lnTo>
                  <a:cubicBezTo>
                    <a:pt x="107745" y="51935"/>
                    <a:pt x="103312" y="33517"/>
                    <a:pt x="97016" y="20030"/>
                  </a:cubicBezTo>
                  <a:cubicBezTo>
                    <a:pt x="93483" y="12464"/>
                    <a:pt x="89669" y="7069"/>
                    <a:pt x="86134" y="3783"/>
                  </a:cubicBezTo>
                  <a:cubicBezTo>
                    <a:pt x="82662" y="527"/>
                    <a:pt x="80274" y="0"/>
                    <a:pt x="79034" y="0"/>
                  </a:cubicBezTo>
                  <a:cubicBezTo>
                    <a:pt x="77794" y="0"/>
                    <a:pt x="75406" y="527"/>
                    <a:pt x="71934" y="3783"/>
                  </a:cubicBezTo>
                  <a:cubicBezTo>
                    <a:pt x="68399" y="7069"/>
                    <a:pt x="64584" y="12464"/>
                    <a:pt x="61051" y="20030"/>
                  </a:cubicBezTo>
                  <a:cubicBezTo>
                    <a:pt x="54756" y="33517"/>
                    <a:pt x="50324" y="51935"/>
                    <a:pt x="49423" y="71934"/>
                  </a:cubicBezTo>
                  <a:close/>
                  <a:moveTo>
                    <a:pt x="34541" y="71934"/>
                  </a:moveTo>
                  <a:cubicBezTo>
                    <a:pt x="35626" y="45394"/>
                    <a:pt x="42478" y="20743"/>
                    <a:pt x="52493" y="4558"/>
                  </a:cubicBezTo>
                  <a:cubicBezTo>
                    <a:pt x="23937" y="14666"/>
                    <a:pt x="2914" y="40679"/>
                    <a:pt x="0" y="71934"/>
                  </a:cubicBezTo>
                  <a:lnTo>
                    <a:pt x="34541" y="71934"/>
                  </a:lnTo>
                  <a:close/>
                  <a:moveTo>
                    <a:pt x="0" y="86816"/>
                  </a:moveTo>
                  <a:cubicBezTo>
                    <a:pt x="2914" y="118071"/>
                    <a:pt x="23937" y="144084"/>
                    <a:pt x="52493" y="154192"/>
                  </a:cubicBezTo>
                  <a:cubicBezTo>
                    <a:pt x="42478" y="138007"/>
                    <a:pt x="35626" y="113356"/>
                    <a:pt x="34541" y="86816"/>
                  </a:cubicBezTo>
                  <a:lnTo>
                    <a:pt x="0" y="86816"/>
                  </a:lnTo>
                  <a:close/>
                  <a:moveTo>
                    <a:pt x="123526" y="86816"/>
                  </a:moveTo>
                  <a:cubicBezTo>
                    <a:pt x="122442" y="113356"/>
                    <a:pt x="115590" y="138007"/>
                    <a:pt x="105575" y="154192"/>
                  </a:cubicBezTo>
                  <a:cubicBezTo>
                    <a:pt x="134131" y="144054"/>
                    <a:pt x="155153" y="118071"/>
                    <a:pt x="158068" y="86816"/>
                  </a:cubicBezTo>
                  <a:lnTo>
                    <a:pt x="123526" y="86816"/>
                  </a:lnTo>
                  <a:close/>
                  <a:moveTo>
                    <a:pt x="158068" y="71934"/>
                  </a:moveTo>
                  <a:cubicBezTo>
                    <a:pt x="155153" y="40679"/>
                    <a:pt x="134131" y="14666"/>
                    <a:pt x="105575" y="4558"/>
                  </a:cubicBezTo>
                  <a:cubicBezTo>
                    <a:pt x="115590" y="20743"/>
                    <a:pt x="122442" y="45394"/>
                    <a:pt x="123526" y="71934"/>
                  </a:cubicBezTo>
                  <a:lnTo>
                    <a:pt x="158068" y="71934"/>
                  </a:ln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06244" y="1747789"/>
              <a:ext cx="52149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507807" y="2128744"/>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35014" y="2065337"/>
              <a:ext cx="402272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Éloigné des unités de calcul</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507807" y="2382713"/>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35014" y="2319337"/>
              <a:ext cx="34036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Accès à haute latence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507807" y="2636684"/>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5014" y="2573337"/>
              <a:ext cx="464121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Grande capacité mais lent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317514" y="3049357"/>
              <a:ext cx="5683250" cy="1333500"/>
            </a:xfrm>
            <a:custGeom>
              <a:avLst/>
              <a:gdLst/>
              <a:ahLst/>
              <a:cxnLst/>
              <a:rect l="l" t="t" r="r" b="b"/>
              <a:pathLst>
                <a:path w="5683250" h="1333500">
                  <a:moveTo>
                    <a:pt x="63501" y="0"/>
                  </a:moveTo>
                  <a:lnTo>
                    <a:pt x="5619749" y="0"/>
                  </a:lnTo>
                  <a:cubicBezTo>
                    <a:pt x="5654820" y="0"/>
                    <a:pt x="5683250" y="28430"/>
                    <a:pt x="5683250" y="63501"/>
                  </a:cubicBezTo>
                  <a:lnTo>
                    <a:pt x="5683250" y="1269999"/>
                  </a:lnTo>
                  <a:cubicBezTo>
                    <a:pt x="5683250" y="1305070"/>
                    <a:pt x="5654820" y="1333500"/>
                    <a:pt x="5619749" y="1333500"/>
                  </a:cubicBezTo>
                  <a:lnTo>
                    <a:pt x="63501" y="1333500"/>
                  </a:lnTo>
                  <a:cubicBezTo>
                    <a:pt x="28430" y="1333500"/>
                    <a:pt x="0" y="1305070"/>
                    <a:pt x="0" y="1269999"/>
                  </a:cubicBezTo>
                  <a:lnTo>
                    <a:pt x="0" y="63501"/>
                  </a:lnTo>
                  <a:cubicBezTo>
                    <a:pt x="0" y="28454"/>
                    <a:pt x="28454" y="0"/>
                    <a:pt x="6350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96058" y="3239771"/>
              <a:ext cx="158750" cy="158750"/>
            </a:xfrm>
            <a:custGeom>
              <a:avLst/>
              <a:gdLst/>
              <a:ahLst/>
              <a:cxnLst/>
              <a:rect l="l" t="t" r="r" b="b"/>
              <a:pathLst>
                <a:path w="158750" h="158750">
                  <a:moveTo>
                    <a:pt x="54571" y="7441"/>
                  </a:moveTo>
                  <a:cubicBezTo>
                    <a:pt x="54571" y="3319"/>
                    <a:pt x="51253" y="0"/>
                    <a:pt x="47128" y="0"/>
                  </a:cubicBezTo>
                  <a:cubicBezTo>
                    <a:pt x="43005" y="0"/>
                    <a:pt x="39688" y="3319"/>
                    <a:pt x="39688" y="7441"/>
                  </a:cubicBezTo>
                  <a:lnTo>
                    <a:pt x="39688" y="19844"/>
                  </a:lnTo>
                  <a:cubicBezTo>
                    <a:pt x="28741" y="19844"/>
                    <a:pt x="19844" y="28741"/>
                    <a:pt x="19844" y="39687"/>
                  </a:cubicBezTo>
                  <a:lnTo>
                    <a:pt x="7441" y="39687"/>
                  </a:lnTo>
                  <a:cubicBezTo>
                    <a:pt x="3319" y="39687"/>
                    <a:pt x="0" y="43005"/>
                    <a:pt x="0" y="47128"/>
                  </a:cubicBezTo>
                  <a:cubicBezTo>
                    <a:pt x="0" y="51253"/>
                    <a:pt x="3319" y="54571"/>
                    <a:pt x="7441" y="54571"/>
                  </a:cubicBezTo>
                  <a:lnTo>
                    <a:pt x="19844" y="54571"/>
                  </a:lnTo>
                  <a:lnTo>
                    <a:pt x="19844" y="71934"/>
                  </a:lnTo>
                  <a:lnTo>
                    <a:pt x="7441" y="71934"/>
                  </a:lnTo>
                  <a:cubicBezTo>
                    <a:pt x="3319" y="71934"/>
                    <a:pt x="0" y="75251"/>
                    <a:pt x="0" y="79375"/>
                  </a:cubicBezTo>
                  <a:cubicBezTo>
                    <a:pt x="0" y="83499"/>
                    <a:pt x="3319" y="86816"/>
                    <a:pt x="7441" y="86816"/>
                  </a:cubicBezTo>
                  <a:lnTo>
                    <a:pt x="19844" y="86816"/>
                  </a:lnTo>
                  <a:lnTo>
                    <a:pt x="19844" y="104179"/>
                  </a:lnTo>
                  <a:lnTo>
                    <a:pt x="7441" y="104179"/>
                  </a:lnTo>
                  <a:cubicBezTo>
                    <a:pt x="3319" y="104179"/>
                    <a:pt x="0" y="107497"/>
                    <a:pt x="0" y="111622"/>
                  </a:cubicBezTo>
                  <a:cubicBezTo>
                    <a:pt x="0" y="115745"/>
                    <a:pt x="3319" y="119063"/>
                    <a:pt x="7441" y="119063"/>
                  </a:cubicBezTo>
                  <a:lnTo>
                    <a:pt x="19844" y="119063"/>
                  </a:lnTo>
                  <a:cubicBezTo>
                    <a:pt x="19844" y="130009"/>
                    <a:pt x="28741" y="138906"/>
                    <a:pt x="39688" y="138906"/>
                  </a:cubicBezTo>
                  <a:lnTo>
                    <a:pt x="39688" y="151309"/>
                  </a:lnTo>
                  <a:cubicBezTo>
                    <a:pt x="39688" y="155431"/>
                    <a:pt x="43005" y="158750"/>
                    <a:pt x="47128" y="158750"/>
                  </a:cubicBezTo>
                  <a:cubicBezTo>
                    <a:pt x="51253" y="158750"/>
                    <a:pt x="54571" y="155431"/>
                    <a:pt x="54571" y="151309"/>
                  </a:cubicBezTo>
                  <a:lnTo>
                    <a:pt x="54571" y="138906"/>
                  </a:lnTo>
                  <a:lnTo>
                    <a:pt x="71934" y="138906"/>
                  </a:lnTo>
                  <a:lnTo>
                    <a:pt x="71934" y="151309"/>
                  </a:lnTo>
                  <a:cubicBezTo>
                    <a:pt x="71934" y="155431"/>
                    <a:pt x="75251" y="158750"/>
                    <a:pt x="79375" y="158750"/>
                  </a:cubicBezTo>
                  <a:cubicBezTo>
                    <a:pt x="83499" y="158750"/>
                    <a:pt x="86816" y="155431"/>
                    <a:pt x="86816" y="151309"/>
                  </a:cubicBezTo>
                  <a:lnTo>
                    <a:pt x="86816" y="138906"/>
                  </a:lnTo>
                  <a:lnTo>
                    <a:pt x="104179" y="138906"/>
                  </a:lnTo>
                  <a:lnTo>
                    <a:pt x="104179" y="151309"/>
                  </a:lnTo>
                  <a:cubicBezTo>
                    <a:pt x="104179" y="155431"/>
                    <a:pt x="107497" y="158750"/>
                    <a:pt x="111622" y="158750"/>
                  </a:cubicBezTo>
                  <a:cubicBezTo>
                    <a:pt x="115745" y="158750"/>
                    <a:pt x="119062" y="155431"/>
                    <a:pt x="119062" y="151309"/>
                  </a:cubicBezTo>
                  <a:lnTo>
                    <a:pt x="119062" y="138906"/>
                  </a:lnTo>
                  <a:cubicBezTo>
                    <a:pt x="130009" y="138906"/>
                    <a:pt x="138906" y="130009"/>
                    <a:pt x="138906" y="119063"/>
                  </a:cubicBezTo>
                  <a:lnTo>
                    <a:pt x="151309" y="119063"/>
                  </a:lnTo>
                  <a:cubicBezTo>
                    <a:pt x="155431" y="119063"/>
                    <a:pt x="158750" y="115745"/>
                    <a:pt x="158750" y="111622"/>
                  </a:cubicBezTo>
                  <a:cubicBezTo>
                    <a:pt x="158750" y="107497"/>
                    <a:pt x="155431" y="104179"/>
                    <a:pt x="151309" y="104179"/>
                  </a:cubicBezTo>
                  <a:lnTo>
                    <a:pt x="138906" y="104179"/>
                  </a:lnTo>
                  <a:lnTo>
                    <a:pt x="138906" y="86816"/>
                  </a:lnTo>
                  <a:lnTo>
                    <a:pt x="151309" y="86816"/>
                  </a:lnTo>
                  <a:cubicBezTo>
                    <a:pt x="155431" y="86816"/>
                    <a:pt x="158750" y="83499"/>
                    <a:pt x="158750" y="79375"/>
                  </a:cubicBezTo>
                  <a:cubicBezTo>
                    <a:pt x="158750" y="75251"/>
                    <a:pt x="155431" y="71934"/>
                    <a:pt x="151309" y="71934"/>
                  </a:cubicBezTo>
                  <a:lnTo>
                    <a:pt x="138906" y="71934"/>
                  </a:lnTo>
                  <a:lnTo>
                    <a:pt x="138906" y="54571"/>
                  </a:lnTo>
                  <a:lnTo>
                    <a:pt x="151309" y="54571"/>
                  </a:lnTo>
                  <a:cubicBezTo>
                    <a:pt x="155431" y="54571"/>
                    <a:pt x="158750" y="51253"/>
                    <a:pt x="158750" y="47128"/>
                  </a:cubicBezTo>
                  <a:cubicBezTo>
                    <a:pt x="158750" y="43005"/>
                    <a:pt x="155431" y="39687"/>
                    <a:pt x="151309" y="39687"/>
                  </a:cubicBezTo>
                  <a:lnTo>
                    <a:pt x="138906" y="39687"/>
                  </a:lnTo>
                  <a:cubicBezTo>
                    <a:pt x="138906" y="28741"/>
                    <a:pt x="130009" y="19844"/>
                    <a:pt x="119062" y="19844"/>
                  </a:cubicBezTo>
                  <a:lnTo>
                    <a:pt x="119062" y="7441"/>
                  </a:lnTo>
                  <a:cubicBezTo>
                    <a:pt x="119062" y="3319"/>
                    <a:pt x="115745" y="0"/>
                    <a:pt x="111622" y="0"/>
                  </a:cubicBezTo>
                  <a:cubicBezTo>
                    <a:pt x="107497" y="0"/>
                    <a:pt x="104179" y="3319"/>
                    <a:pt x="104179" y="7441"/>
                  </a:cubicBezTo>
                  <a:lnTo>
                    <a:pt x="104179" y="19844"/>
                  </a:lnTo>
                  <a:lnTo>
                    <a:pt x="86816" y="19844"/>
                  </a:lnTo>
                  <a:lnTo>
                    <a:pt x="86816" y="7441"/>
                  </a:lnTo>
                  <a:cubicBezTo>
                    <a:pt x="86816" y="3319"/>
                    <a:pt x="83499" y="0"/>
                    <a:pt x="79375" y="0"/>
                  </a:cubicBezTo>
                  <a:cubicBezTo>
                    <a:pt x="75251" y="0"/>
                    <a:pt x="71934" y="3319"/>
                    <a:pt x="71934" y="7441"/>
                  </a:cubicBezTo>
                  <a:lnTo>
                    <a:pt x="71934" y="19844"/>
                  </a:lnTo>
                  <a:lnTo>
                    <a:pt x="54571" y="19844"/>
                  </a:lnTo>
                  <a:lnTo>
                    <a:pt x="54571" y="7441"/>
                  </a:lnTo>
                  <a:close/>
                  <a:moveTo>
                    <a:pt x="49609" y="39687"/>
                  </a:moveTo>
                  <a:lnTo>
                    <a:pt x="109141" y="39687"/>
                  </a:lnTo>
                  <a:cubicBezTo>
                    <a:pt x="114629" y="39687"/>
                    <a:pt x="119062" y="44121"/>
                    <a:pt x="119062" y="49609"/>
                  </a:cubicBezTo>
                  <a:lnTo>
                    <a:pt x="119062" y="109141"/>
                  </a:lnTo>
                  <a:cubicBezTo>
                    <a:pt x="119062" y="114629"/>
                    <a:pt x="114629" y="119063"/>
                    <a:pt x="109141" y="119063"/>
                  </a:cubicBezTo>
                  <a:lnTo>
                    <a:pt x="49609" y="119063"/>
                  </a:lnTo>
                  <a:cubicBezTo>
                    <a:pt x="44121" y="119063"/>
                    <a:pt x="39688" y="114629"/>
                    <a:pt x="39688" y="109141"/>
                  </a:cubicBezTo>
                  <a:lnTo>
                    <a:pt x="39688" y="49609"/>
                  </a:lnTo>
                  <a:cubicBezTo>
                    <a:pt x="39688" y="44121"/>
                    <a:pt x="44121" y="39687"/>
                    <a:pt x="49609" y="39687"/>
                  </a:cubicBezTo>
                  <a:close/>
                  <a:moveTo>
                    <a:pt x="54571" y="54571"/>
                  </a:moveTo>
                  <a:lnTo>
                    <a:pt x="54571" y="104179"/>
                  </a:lnTo>
                  <a:lnTo>
                    <a:pt x="104179" y="104179"/>
                  </a:lnTo>
                  <a:lnTo>
                    <a:pt x="104179" y="54571"/>
                  </a:lnTo>
                  <a:lnTo>
                    <a:pt x="54571" y="54571"/>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74652" y="3208056"/>
              <a:ext cx="524668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476215" y="3589010"/>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03264" y="3525202"/>
              <a:ext cx="314769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À l'intérieur du SM</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476215" y="3842983"/>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3264" y="3779202"/>
              <a:ext cx="480822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Proche, accès plus rapide</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476215" y="409695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03264" y="4033202"/>
              <a:ext cx="442023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Similaire au cache CPU</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Freeform 23"/>
            <p:cNvSpPr/>
            <p:nvPr/>
          </p:nvSpPr>
          <p:spPr>
            <a:xfrm>
              <a:off x="317514" y="4509452"/>
              <a:ext cx="5683250" cy="635000"/>
            </a:xfrm>
            <a:custGeom>
              <a:avLst/>
              <a:gdLst/>
              <a:ahLst/>
              <a:cxnLst/>
              <a:rect l="l" t="t" r="r" b="b"/>
              <a:pathLst>
                <a:path w="5683250" h="635000">
                  <a:moveTo>
                    <a:pt x="63500" y="0"/>
                  </a:moveTo>
                  <a:lnTo>
                    <a:pt x="5619750" y="0"/>
                  </a:lnTo>
                  <a:cubicBezTo>
                    <a:pt x="5654797" y="0"/>
                    <a:pt x="5683250" y="28453"/>
                    <a:pt x="5683250" y="63500"/>
                  </a:cubicBezTo>
                  <a:lnTo>
                    <a:pt x="5683250" y="571500"/>
                  </a:lnTo>
                  <a:cubicBezTo>
                    <a:pt x="5683250" y="606547"/>
                    <a:pt x="5654797" y="635000"/>
                    <a:pt x="5619750" y="635000"/>
                  </a:cubicBezTo>
                  <a:lnTo>
                    <a:pt x="63500" y="635000"/>
                  </a:lnTo>
                  <a:cubicBezTo>
                    <a:pt x="28453" y="635000"/>
                    <a:pt x="0" y="606547"/>
                    <a:pt x="0" y="571500"/>
                  </a:cubicBezTo>
                  <a:lnTo>
                    <a:pt x="0" y="63500"/>
                  </a:lnTo>
                  <a:cubicBezTo>
                    <a:pt x="0" y="28453"/>
                    <a:pt x="28453" y="0"/>
                    <a:pt x="6350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4" name="Freeform 24"/>
            <p:cNvSpPr/>
            <p:nvPr/>
          </p:nvSpPr>
          <p:spPr>
            <a:xfrm>
              <a:off x="492124" y="4731816"/>
              <a:ext cx="142875" cy="196452"/>
            </a:xfrm>
            <a:custGeom>
              <a:avLst/>
              <a:gdLst/>
              <a:ahLst/>
              <a:cxnLst/>
              <a:rect l="l" t="t" r="r" b="b"/>
              <a:pathLst>
                <a:path w="142875" h="196452">
                  <a:moveTo>
                    <a:pt x="108979" y="142875"/>
                  </a:moveTo>
                  <a:cubicBezTo>
                    <a:pt x="111697" y="134578"/>
                    <a:pt x="117128" y="127062"/>
                    <a:pt x="123267" y="120588"/>
                  </a:cubicBezTo>
                  <a:cubicBezTo>
                    <a:pt x="135434" y="107789"/>
                    <a:pt x="142875" y="90488"/>
                    <a:pt x="142875" y="71438"/>
                  </a:cubicBezTo>
                  <a:cubicBezTo>
                    <a:pt x="142875" y="31998"/>
                    <a:pt x="110877" y="0"/>
                    <a:pt x="71438"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3" y="73409"/>
                    <a:pt x="23813" y="68461"/>
                  </a:cubicBezTo>
                  <a:cubicBezTo>
                    <a:pt x="23813" y="43793"/>
                    <a:pt x="43793" y="23812"/>
                    <a:pt x="68461" y="23812"/>
                  </a:cubicBezTo>
                  <a:cubicBezTo>
                    <a:pt x="73409" y="23812"/>
                    <a:pt x="77391" y="27794"/>
                    <a:pt x="77391" y="32742"/>
                  </a:cubicBezTo>
                  <a:cubicBezTo>
                    <a:pt x="77391" y="37691"/>
                    <a:pt x="73409" y="41673"/>
                    <a:pt x="68461" y="4167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77889" y="4636452"/>
              <a:ext cx="386207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Observation clé</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777889" y="4858702"/>
              <a:ext cx="3837305"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La position physique détermine la vitesse d'accès</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27" name="Freeform 27"/>
          <p:cNvSpPr/>
          <p:nvPr/>
        </p:nvSpPr>
        <p:spPr>
          <a:xfrm>
            <a:off x="6191237" y="1111027"/>
            <a:ext cx="5683250" cy="5498428"/>
          </a:xfrm>
          <a:custGeom>
            <a:avLst/>
            <a:gdLst/>
            <a:ahLst/>
            <a:cxnLst/>
            <a:rect l="l" t="t" r="r" b="b"/>
            <a:pathLst>
              <a:path w="5683250" h="5498428">
                <a:moveTo>
                  <a:pt x="63482" y="0"/>
                </a:moveTo>
                <a:lnTo>
                  <a:pt x="5619768" y="0"/>
                </a:lnTo>
                <a:cubicBezTo>
                  <a:pt x="5654827" y="0"/>
                  <a:pt x="5683250" y="23664"/>
                  <a:pt x="5683250" y="52855"/>
                </a:cubicBezTo>
                <a:lnTo>
                  <a:pt x="5683250" y="5445573"/>
                </a:lnTo>
                <a:cubicBezTo>
                  <a:pt x="5683250" y="5474764"/>
                  <a:pt x="5654827" y="5498428"/>
                  <a:pt x="5619768" y="5498428"/>
                </a:cubicBezTo>
                <a:lnTo>
                  <a:pt x="63482" y="5498428"/>
                </a:lnTo>
                <a:cubicBezTo>
                  <a:pt x="28423" y="5498428"/>
                  <a:pt x="0" y="5474764"/>
                  <a:pt x="0" y="5445573"/>
                </a:cubicBezTo>
                <a:lnTo>
                  <a:pt x="0" y="52855"/>
                </a:lnTo>
                <a:cubicBezTo>
                  <a:pt x="0" y="23683"/>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
          <a:srcRect t="2" b="1"/>
          <a:stretch>
            <a:fillRect/>
          </a:stretch>
        </p:blipFill>
        <p:spPr>
          <a:xfrm>
            <a:off x="7286627" y="1234509"/>
            <a:ext cx="3420027" cy="4006896"/>
          </a:xfrm>
          <a:prstGeom prst="roundRect">
            <a:avLst>
              <a:gd name="adj" fmla="val 591"/>
            </a:avLst>
          </a:prstGeom>
          <a:ln w="12700">
            <a:noFill/>
            <a:prstDash val="solid"/>
          </a:ln>
        </p:spPr>
      </p:pic>
      <p:grpSp>
        <p:nvGrpSpPr>
          <p:cNvPr id="29" name="Group 29"/>
          <p:cNvGrpSpPr/>
          <p:nvPr/>
        </p:nvGrpSpPr>
        <p:grpSpPr>
          <a:xfrm>
            <a:off x="6191292" y="5318876"/>
            <a:ext cx="5667296" cy="1158796"/>
            <a:chOff x="6191292" y="5318876"/>
            <a:chExt cx="5667296" cy="1158796"/>
          </a:xfrm>
        </p:grpSpPr>
        <p:sp>
          <p:nvSpPr>
            <p:cNvPr id="30" name="Freeform 30"/>
            <p:cNvSpPr/>
            <p:nvPr/>
          </p:nvSpPr>
          <p:spPr>
            <a:xfrm>
              <a:off x="6191292" y="5318876"/>
              <a:ext cx="5667296" cy="1158796"/>
            </a:xfrm>
            <a:custGeom>
              <a:avLst/>
              <a:gdLst/>
              <a:ahLst/>
              <a:cxnLst/>
              <a:rect l="l" t="t" r="r" b="b"/>
              <a:pathLst>
                <a:path w="5667296" h="1158796">
                  <a:moveTo>
                    <a:pt x="63503" y="0"/>
                  </a:moveTo>
                  <a:lnTo>
                    <a:pt x="5603794" y="0"/>
                  </a:lnTo>
                  <a:cubicBezTo>
                    <a:pt x="5638865" y="0"/>
                    <a:pt x="5667296" y="28431"/>
                    <a:pt x="5667296" y="63503"/>
                  </a:cubicBezTo>
                  <a:lnTo>
                    <a:pt x="5667296" y="1095294"/>
                  </a:lnTo>
                  <a:cubicBezTo>
                    <a:pt x="5667296" y="1130365"/>
                    <a:pt x="5638865" y="1158796"/>
                    <a:pt x="5603794" y="1158796"/>
                  </a:cubicBezTo>
                  <a:lnTo>
                    <a:pt x="63503" y="1158796"/>
                  </a:lnTo>
                  <a:cubicBezTo>
                    <a:pt x="28431" y="1158796"/>
                    <a:pt x="0" y="1130365"/>
                    <a:pt x="0" y="1095294"/>
                  </a:cubicBezTo>
                  <a:lnTo>
                    <a:pt x="0" y="63503"/>
                  </a:lnTo>
                  <a:cubicBezTo>
                    <a:pt x="0" y="28454"/>
                    <a:pt x="28454" y="0"/>
                    <a:pt x="63503"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31" name="AutoShape 31"/>
            <p:cNvSpPr/>
            <p:nvPr/>
          </p:nvSpPr>
          <p:spPr>
            <a:xfrm>
              <a:off x="6314746" y="5515986"/>
              <a:ext cx="5461000"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Comparaison de vitesse</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8173474" y="5770594"/>
              <a:ext cx="8890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2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400-800</a:t>
              </a:r>
              <a:endParaRPr lang="en-US" sz="12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8193317" y="6024501"/>
              <a:ext cx="8493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Global</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9082179" y="5834024"/>
              <a:ext cx="349250" cy="28575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98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vs</a:t>
              </a:r>
              <a:endParaRPr lang="en-US" sz="1100"/>
            </a:p>
          </p:txBody>
        </p:sp>
        <p:sp>
          <p:nvSpPr>
            <p:cNvPr id="35" name="AutoShape 35"/>
            <p:cNvSpPr/>
            <p:nvPr/>
          </p:nvSpPr>
          <p:spPr>
            <a:xfrm>
              <a:off x="9452581" y="5770594"/>
              <a:ext cx="452438"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~20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6" name="AutoShape 36"/>
            <p:cNvSpPr/>
            <p:nvPr/>
          </p:nvSpPr>
          <p:spPr>
            <a:xfrm>
              <a:off x="9472337" y="6024361"/>
              <a:ext cx="745490"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Shared</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7" name="AutoShape 37"/>
            <p:cNvSpPr/>
            <p:nvPr/>
          </p:nvSpPr>
          <p:spPr>
            <a:xfrm>
              <a:off x="6314270" y="6246696"/>
              <a:ext cx="545306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cycles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8" name="AutoShape 38"/>
          <p:cNvSpPr/>
          <p:nvPr/>
        </p:nvSpPr>
        <p:spPr>
          <a:xfrm>
            <a:off x="280" y="6651942"/>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SLING Documentation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5904" y="608970"/>
            <a:ext cx="11652454" cy="348094"/>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d'utilisation de Shared Memory</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48054" y="1218088"/>
            <a:ext cx="6813944" cy="5395460"/>
          </a:xfrm>
          <a:custGeom>
            <a:avLst/>
            <a:gdLst/>
            <a:ahLst/>
            <a:cxnLst/>
            <a:rect l="l" t="t" r="r" b="b"/>
            <a:pathLst>
              <a:path w="6813944" h="5395460">
                <a:moveTo>
                  <a:pt x="69601" y="0"/>
                </a:moveTo>
                <a:lnTo>
                  <a:pt x="6744343" y="0"/>
                </a:lnTo>
                <a:cubicBezTo>
                  <a:pt x="6782783" y="0"/>
                  <a:pt x="6813944" y="31162"/>
                  <a:pt x="6813944" y="69601"/>
                </a:cubicBezTo>
                <a:lnTo>
                  <a:pt x="6813944" y="5325859"/>
                </a:lnTo>
                <a:cubicBezTo>
                  <a:pt x="6813944" y="5364298"/>
                  <a:pt x="6782783" y="5395460"/>
                  <a:pt x="6744343" y="5395460"/>
                </a:cubicBezTo>
                <a:lnTo>
                  <a:pt x="69601" y="5395460"/>
                </a:lnTo>
                <a:cubicBezTo>
                  <a:pt x="31162" y="5395460"/>
                  <a:pt x="0" y="5364298"/>
                  <a:pt x="0" y="5325859"/>
                </a:cubicBezTo>
                <a:lnTo>
                  <a:pt x="0" y="69601"/>
                </a:lnTo>
                <a:cubicBezTo>
                  <a:pt x="0" y="31187"/>
                  <a:pt x="31187" y="0"/>
                  <a:pt x="6960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31871" y="1425592"/>
            <a:ext cx="197945" cy="176563"/>
          </a:xfrm>
          <a:custGeom>
            <a:avLst/>
            <a:gdLst/>
            <a:ahLst/>
            <a:cxnLst/>
            <a:rect l="l" t="t" r="r" b="b"/>
            <a:pathLst>
              <a:path w="197945" h="176563">
                <a:moveTo>
                  <a:pt x="123703" y="1667"/>
                </a:moveTo>
                <a:cubicBezTo>
                  <a:pt x="117924" y="0"/>
                  <a:pt x="111907" y="3367"/>
                  <a:pt x="110241" y="9146"/>
                </a:cubicBezTo>
                <a:lnTo>
                  <a:pt x="66730" y="161436"/>
                </a:lnTo>
                <a:cubicBezTo>
                  <a:pt x="65065" y="167216"/>
                  <a:pt x="68429" y="173234"/>
                  <a:pt x="74209" y="174898"/>
                </a:cubicBezTo>
                <a:cubicBezTo>
                  <a:pt x="79987" y="176563"/>
                  <a:pt x="86004" y="173199"/>
                  <a:pt x="87671" y="167419"/>
                </a:cubicBezTo>
                <a:lnTo>
                  <a:pt x="131181" y="15127"/>
                </a:lnTo>
                <a:cubicBezTo>
                  <a:pt x="132847" y="9349"/>
                  <a:pt x="129481" y="3333"/>
                  <a:pt x="123703" y="1667"/>
                </a:cubicBezTo>
                <a:close/>
                <a:moveTo>
                  <a:pt x="145663" y="47932"/>
                </a:moveTo>
                <a:cubicBezTo>
                  <a:pt x="141413" y="52181"/>
                  <a:pt x="141413" y="59082"/>
                  <a:pt x="145663" y="63332"/>
                </a:cubicBezTo>
                <a:lnTo>
                  <a:pt x="170614" y="88283"/>
                </a:lnTo>
                <a:lnTo>
                  <a:pt x="145663" y="113234"/>
                </a:lnTo>
                <a:cubicBezTo>
                  <a:pt x="141413" y="117483"/>
                  <a:pt x="141413" y="124384"/>
                  <a:pt x="145663" y="128632"/>
                </a:cubicBezTo>
                <a:cubicBezTo>
                  <a:pt x="149912" y="132882"/>
                  <a:pt x="156813" y="132882"/>
                  <a:pt x="161063" y="128632"/>
                </a:cubicBezTo>
                <a:lnTo>
                  <a:pt x="193696" y="95998"/>
                </a:lnTo>
                <a:cubicBezTo>
                  <a:pt x="197945" y="91750"/>
                  <a:pt x="197945" y="84849"/>
                  <a:pt x="193696" y="80600"/>
                </a:cubicBezTo>
                <a:lnTo>
                  <a:pt x="161063" y="47966"/>
                </a:lnTo>
                <a:cubicBezTo>
                  <a:pt x="156813" y="43716"/>
                  <a:pt x="149912" y="43716"/>
                  <a:pt x="145663" y="47966"/>
                </a:cubicBezTo>
                <a:close/>
                <a:moveTo>
                  <a:pt x="52282" y="47932"/>
                </a:moveTo>
                <a:cubicBezTo>
                  <a:pt x="48033" y="43683"/>
                  <a:pt x="41131" y="43683"/>
                  <a:pt x="36883" y="47932"/>
                </a:cubicBezTo>
                <a:lnTo>
                  <a:pt x="4249" y="80565"/>
                </a:lnTo>
                <a:cubicBezTo>
                  <a:pt x="0" y="84815"/>
                  <a:pt x="0" y="91716"/>
                  <a:pt x="4249" y="95965"/>
                </a:cubicBezTo>
                <a:lnTo>
                  <a:pt x="36883" y="128599"/>
                </a:lnTo>
                <a:cubicBezTo>
                  <a:pt x="41131" y="132848"/>
                  <a:pt x="48033" y="132848"/>
                  <a:pt x="52282" y="128599"/>
                </a:cubicBezTo>
                <a:cubicBezTo>
                  <a:pt x="56531" y="124350"/>
                  <a:pt x="56531" y="117449"/>
                  <a:pt x="52282" y="113201"/>
                </a:cubicBezTo>
                <a:lnTo>
                  <a:pt x="27332" y="88283"/>
                </a:lnTo>
                <a:lnTo>
                  <a:pt x="52248" y="63332"/>
                </a:lnTo>
                <a:cubicBezTo>
                  <a:pt x="56498" y="59082"/>
                  <a:pt x="56498" y="52181"/>
                  <a:pt x="52248" y="4793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739606" y="1392079"/>
            <a:ext cx="6335315" cy="2436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6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Code exemple CUDA</a:t>
            </a:r>
            <a:endParaRPr lang="en-US" sz="1100"/>
          </a:p>
        </p:txBody>
      </p:sp>
      <p:sp>
        <p:nvSpPr>
          <p:cNvPr id="6" name="Freeform 6"/>
          <p:cNvSpPr/>
          <p:nvPr/>
        </p:nvSpPr>
        <p:spPr>
          <a:xfrm>
            <a:off x="539365" y="1774970"/>
            <a:ext cx="6448359" cy="4664464"/>
          </a:xfrm>
          <a:custGeom>
            <a:avLst/>
            <a:gdLst/>
            <a:ahLst/>
            <a:cxnLst/>
            <a:rect l="l" t="t" r="r" b="b"/>
            <a:pathLst>
              <a:path w="6448359" h="4664464">
                <a:moveTo>
                  <a:pt x="34635" y="0"/>
                </a:moveTo>
                <a:lnTo>
                  <a:pt x="6378719" y="0"/>
                </a:lnTo>
                <a:cubicBezTo>
                  <a:pt x="6417180" y="0"/>
                  <a:pt x="6448359" y="31178"/>
                  <a:pt x="6448359" y="69640"/>
                </a:cubicBezTo>
                <a:lnTo>
                  <a:pt x="6448359" y="4594822"/>
                </a:lnTo>
                <a:cubicBezTo>
                  <a:pt x="6448359" y="4633283"/>
                  <a:pt x="6417180" y="4664464"/>
                  <a:pt x="6378719" y="4664464"/>
                </a:cubicBezTo>
                <a:lnTo>
                  <a:pt x="34635" y="4664464"/>
                </a:lnTo>
                <a:cubicBezTo>
                  <a:pt x="15507" y="4664464"/>
                  <a:pt x="0" y="4648954"/>
                  <a:pt x="0" y="4629826"/>
                </a:cubicBezTo>
                <a:lnTo>
                  <a:pt x="0" y="34635"/>
                </a:lnTo>
                <a:cubicBezTo>
                  <a:pt x="0" y="15519"/>
                  <a:pt x="15519" y="0"/>
                  <a:pt x="3463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39365" y="1774970"/>
            <a:ext cx="34635" cy="4664464"/>
          </a:xfrm>
          <a:custGeom>
            <a:avLst/>
            <a:gdLst/>
            <a:ahLst/>
            <a:cxnLst/>
            <a:rect l="l" t="t" r="r" b="b"/>
            <a:pathLst>
              <a:path w="34635" h="4664464">
                <a:moveTo>
                  <a:pt x="34635" y="0"/>
                </a:moveTo>
                <a:lnTo>
                  <a:pt x="34635" y="0"/>
                </a:lnTo>
                <a:lnTo>
                  <a:pt x="34635" y="4664464"/>
                </a:lnTo>
                <a:lnTo>
                  <a:pt x="34635" y="4664464"/>
                </a:lnTo>
                <a:cubicBezTo>
                  <a:pt x="15507" y="4664464"/>
                  <a:pt x="0" y="4648954"/>
                  <a:pt x="0" y="4629826"/>
                </a:cubicBezTo>
                <a:lnTo>
                  <a:pt x="0" y="34635"/>
                </a:lnTo>
                <a:cubicBezTo>
                  <a:pt x="0" y="15519"/>
                  <a:pt x="15519" y="0"/>
                  <a:pt x="34635"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17850" y="1548109"/>
            <a:ext cx="6222184" cy="438598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Déclarer Shared Memory</a:t>
            </a:r>
            <a:endParaRPr lang="en-US" sz="1100"/>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__shared__ float tile[32][32];</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Utiliser dans une fonction kernel</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__global__ void kernel(float* input, float* output)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Obtenir l'index du thread</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int tx = threadIdx.x;</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int ty = threadIdx.y;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Charger les données de Global Memory vers Shared Memory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tile[ty][tx] = input[...];</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Synchroniser les threads, s'assurer que les données sont chargées</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__syncthreads();</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Calculer avec les données de Shared Memory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float result = tile[ty][tx] * 2.0f;</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 Écrire le résultat dans Global Memory</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output[...] = result;</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rPr>
              <a:t>   }</a:t>
            </a:r>
            <a:endParaRPr lang="en-US" sz="1100" b="0" i="0" u="none" strike="noStrike">
              <a:solidFill>
                <a:srgbClr val="1A1A1A"/>
              </a:solidFill>
              <a:latin typeface="Calibri" panose="020F0502020204030204"/>
              <a:ea typeface="Calibri" panose="020F0502020204030204"/>
              <a:cs typeface="Calibri" panose="020F0502020204030204"/>
              <a:sym typeface="Calibri" panose="020F0502020204030204"/>
            </a:endParaRPr>
          </a:p>
        </p:txBody>
      </p:sp>
      <p:sp>
        <p:nvSpPr>
          <p:cNvPr id="9" name="Freeform 9"/>
          <p:cNvSpPr/>
          <p:nvPr/>
        </p:nvSpPr>
        <p:spPr>
          <a:xfrm>
            <a:off x="7370281" y="1218088"/>
            <a:ext cx="4473011" cy="2088565"/>
          </a:xfrm>
          <a:custGeom>
            <a:avLst/>
            <a:gdLst/>
            <a:ahLst/>
            <a:cxnLst/>
            <a:rect l="l" t="t" r="r" b="b"/>
            <a:pathLst>
              <a:path w="4473011" h="2088565">
                <a:moveTo>
                  <a:pt x="69613" y="0"/>
                </a:moveTo>
                <a:lnTo>
                  <a:pt x="4403399" y="0"/>
                </a:lnTo>
                <a:cubicBezTo>
                  <a:pt x="4441844" y="0"/>
                  <a:pt x="4473011" y="31166"/>
                  <a:pt x="4473011" y="69613"/>
                </a:cubicBezTo>
                <a:lnTo>
                  <a:pt x="4473011" y="2018953"/>
                </a:lnTo>
                <a:cubicBezTo>
                  <a:pt x="4473011" y="2057399"/>
                  <a:pt x="4441844" y="2088565"/>
                  <a:pt x="4403399" y="2088565"/>
                </a:cubicBezTo>
                <a:lnTo>
                  <a:pt x="69613" y="2088565"/>
                </a:lnTo>
                <a:cubicBezTo>
                  <a:pt x="31166" y="2088565"/>
                  <a:pt x="0" y="2057399"/>
                  <a:pt x="0" y="2018953"/>
                </a:cubicBezTo>
                <a:lnTo>
                  <a:pt x="0" y="69613"/>
                </a:lnTo>
                <a:cubicBezTo>
                  <a:pt x="0" y="31192"/>
                  <a:pt x="31192" y="0"/>
                  <a:pt x="6961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7566029" y="1426851"/>
            <a:ext cx="174047" cy="174047"/>
          </a:xfrm>
          <a:custGeom>
            <a:avLst/>
            <a:gdLst/>
            <a:ahLst/>
            <a:cxnLst/>
            <a:rect l="l" t="t" r="r" b="b"/>
            <a:pathLst>
              <a:path w="174047" h="174047">
                <a:moveTo>
                  <a:pt x="152291" y="87024"/>
                </a:moveTo>
                <a:cubicBezTo>
                  <a:pt x="152291" y="51001"/>
                  <a:pt x="123046" y="21756"/>
                  <a:pt x="87024" y="21756"/>
                </a:cubicBezTo>
                <a:cubicBezTo>
                  <a:pt x="51001" y="21756"/>
                  <a:pt x="21756" y="51001"/>
                  <a:pt x="21756" y="87024"/>
                </a:cubicBezTo>
                <a:cubicBezTo>
                  <a:pt x="21756" y="123046"/>
                  <a:pt x="51001" y="152291"/>
                  <a:pt x="87024" y="152291"/>
                </a:cubicBezTo>
                <a:cubicBezTo>
                  <a:pt x="123046" y="152291"/>
                  <a:pt x="152291" y="123046"/>
                  <a:pt x="152291" y="87024"/>
                </a:cubicBezTo>
                <a:close/>
                <a:moveTo>
                  <a:pt x="0" y="87024"/>
                </a:moveTo>
                <a:cubicBezTo>
                  <a:pt x="0" y="38994"/>
                  <a:pt x="38994" y="0"/>
                  <a:pt x="87024" y="0"/>
                </a:cubicBezTo>
                <a:cubicBezTo>
                  <a:pt x="135053" y="0"/>
                  <a:pt x="174047" y="38994"/>
                  <a:pt x="174047" y="87024"/>
                </a:cubicBezTo>
                <a:cubicBezTo>
                  <a:pt x="174047" y="135053"/>
                  <a:pt x="135053" y="174047"/>
                  <a:pt x="87024" y="174047"/>
                </a:cubicBezTo>
                <a:cubicBezTo>
                  <a:pt x="38994" y="174047"/>
                  <a:pt x="0" y="135053"/>
                  <a:pt x="0" y="87024"/>
                </a:cubicBezTo>
                <a:close/>
                <a:moveTo>
                  <a:pt x="87024" y="114217"/>
                </a:moveTo>
                <a:cubicBezTo>
                  <a:pt x="102033" y="114217"/>
                  <a:pt x="114217" y="102033"/>
                  <a:pt x="114217" y="87024"/>
                </a:cubicBezTo>
                <a:cubicBezTo>
                  <a:pt x="114217" y="72014"/>
                  <a:pt x="102033" y="59828"/>
                  <a:pt x="87024" y="59828"/>
                </a:cubicBezTo>
                <a:cubicBezTo>
                  <a:pt x="72014" y="59828"/>
                  <a:pt x="59828" y="72014"/>
                  <a:pt x="59828" y="87024"/>
                </a:cubicBezTo>
                <a:cubicBezTo>
                  <a:pt x="59828" y="102033"/>
                  <a:pt x="72014" y="114217"/>
                  <a:pt x="87024" y="114217"/>
                </a:cubicBezTo>
                <a:close/>
                <a:moveTo>
                  <a:pt x="87024" y="38073"/>
                </a:moveTo>
                <a:cubicBezTo>
                  <a:pt x="114040" y="38073"/>
                  <a:pt x="135974" y="60007"/>
                  <a:pt x="135974" y="87024"/>
                </a:cubicBezTo>
                <a:cubicBezTo>
                  <a:pt x="135974" y="114040"/>
                  <a:pt x="114040" y="135974"/>
                  <a:pt x="87024" y="135974"/>
                </a:cubicBezTo>
                <a:cubicBezTo>
                  <a:pt x="60007" y="135974"/>
                  <a:pt x="38073" y="114040"/>
                  <a:pt x="38073" y="87024"/>
                </a:cubicBezTo>
                <a:cubicBezTo>
                  <a:pt x="38073" y="60007"/>
                  <a:pt x="60007" y="38073"/>
                  <a:pt x="87024" y="38073"/>
                </a:cubicBezTo>
                <a:close/>
                <a:moveTo>
                  <a:pt x="76145" y="87024"/>
                </a:moveTo>
                <a:cubicBezTo>
                  <a:pt x="76145" y="81020"/>
                  <a:pt x="81020" y="76145"/>
                  <a:pt x="87024" y="76145"/>
                </a:cubicBezTo>
                <a:cubicBezTo>
                  <a:pt x="93027" y="76145"/>
                  <a:pt x="97900" y="81020"/>
                  <a:pt x="97900" y="87024"/>
                </a:cubicBezTo>
                <a:cubicBezTo>
                  <a:pt x="97900" y="93027"/>
                  <a:pt x="93027" y="97900"/>
                  <a:pt x="87024" y="97900"/>
                </a:cubicBezTo>
                <a:cubicBezTo>
                  <a:pt x="81020" y="97900"/>
                  <a:pt x="76145" y="93027"/>
                  <a:pt x="76145" y="870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761832" y="1392079"/>
            <a:ext cx="3994381" cy="2436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Usages principaux</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7544273" y="1774970"/>
            <a:ext cx="4124916" cy="626570"/>
          </a:xfrm>
          <a:custGeom>
            <a:avLst/>
            <a:gdLst/>
            <a:ahLst/>
            <a:cxnLst/>
            <a:rect l="l" t="t" r="r" b="b"/>
            <a:pathLst>
              <a:path w="4124916" h="626570">
                <a:moveTo>
                  <a:pt x="69618" y="0"/>
                </a:moveTo>
                <a:lnTo>
                  <a:pt x="4055298" y="0"/>
                </a:lnTo>
                <a:cubicBezTo>
                  <a:pt x="4093747" y="0"/>
                  <a:pt x="4124916" y="31170"/>
                  <a:pt x="4124916" y="69618"/>
                </a:cubicBezTo>
                <a:lnTo>
                  <a:pt x="4124916" y="556951"/>
                </a:lnTo>
                <a:cubicBezTo>
                  <a:pt x="4124916" y="595400"/>
                  <a:pt x="4093747" y="626570"/>
                  <a:pt x="4055298" y="626570"/>
                </a:cubicBezTo>
                <a:lnTo>
                  <a:pt x="69618" y="626570"/>
                </a:lnTo>
                <a:cubicBezTo>
                  <a:pt x="31170" y="626570"/>
                  <a:pt x="0" y="595400"/>
                  <a:pt x="0" y="556951"/>
                </a:cubicBezTo>
                <a:lnTo>
                  <a:pt x="0" y="69618"/>
                </a:lnTo>
                <a:cubicBezTo>
                  <a:pt x="0" y="31170"/>
                  <a:pt x="31170" y="0"/>
                  <a:pt x="69618"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648656" y="1879356"/>
            <a:ext cx="398567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Mettre en cache les données</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7648656" y="2122958"/>
            <a:ext cx="3976976"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Stocker temporairement les données fréquemment accédées</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7544273" y="2505717"/>
            <a:ext cx="4124916" cy="626570"/>
          </a:xfrm>
          <a:custGeom>
            <a:avLst/>
            <a:gdLst/>
            <a:ahLst/>
            <a:cxnLst/>
            <a:rect l="l" t="t" r="r" b="b"/>
            <a:pathLst>
              <a:path w="4124916" h="626570">
                <a:moveTo>
                  <a:pt x="69618" y="0"/>
                </a:moveTo>
                <a:lnTo>
                  <a:pt x="4055298" y="0"/>
                </a:lnTo>
                <a:cubicBezTo>
                  <a:pt x="4093747" y="0"/>
                  <a:pt x="4124916" y="31170"/>
                  <a:pt x="4124916" y="69618"/>
                </a:cubicBezTo>
                <a:lnTo>
                  <a:pt x="4124916" y="556951"/>
                </a:lnTo>
                <a:cubicBezTo>
                  <a:pt x="4124916" y="595400"/>
                  <a:pt x="4093747" y="626570"/>
                  <a:pt x="4055298" y="626570"/>
                </a:cubicBezTo>
                <a:lnTo>
                  <a:pt x="69618" y="626570"/>
                </a:lnTo>
                <a:cubicBezTo>
                  <a:pt x="31170" y="626570"/>
                  <a:pt x="0" y="595400"/>
                  <a:pt x="0" y="556951"/>
                </a:cubicBezTo>
                <a:lnTo>
                  <a:pt x="0" y="69618"/>
                </a:lnTo>
                <a:cubicBezTo>
                  <a:pt x="0" y="31170"/>
                  <a:pt x="31170" y="0"/>
                  <a:pt x="69618"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648656" y="2610099"/>
            <a:ext cx="398567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Réduire les accès à global memory</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7648656" y="2853701"/>
            <a:ext cx="3976976"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Diminuer la pression sur la bande passante mémoire</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7370281" y="3445291"/>
            <a:ext cx="4473011" cy="3167657"/>
          </a:xfrm>
          <a:custGeom>
            <a:avLst/>
            <a:gdLst/>
            <a:ahLst/>
            <a:cxnLst/>
            <a:rect l="l" t="t" r="r" b="b"/>
            <a:pathLst>
              <a:path w="4473011" h="3167657">
                <a:moveTo>
                  <a:pt x="69625" y="0"/>
                </a:moveTo>
                <a:lnTo>
                  <a:pt x="4403386" y="0"/>
                </a:lnTo>
                <a:cubicBezTo>
                  <a:pt x="4441838" y="0"/>
                  <a:pt x="4473011" y="31172"/>
                  <a:pt x="4473011" y="69625"/>
                </a:cubicBezTo>
                <a:lnTo>
                  <a:pt x="4473011" y="3098032"/>
                </a:lnTo>
                <a:cubicBezTo>
                  <a:pt x="4473011" y="3136485"/>
                  <a:pt x="4441838" y="3167657"/>
                  <a:pt x="4403386" y="3167657"/>
                </a:cubicBezTo>
                <a:lnTo>
                  <a:pt x="69625" y="3167657"/>
                </a:lnTo>
                <a:cubicBezTo>
                  <a:pt x="31172" y="3167657"/>
                  <a:pt x="0" y="3136485"/>
                  <a:pt x="0" y="3098032"/>
                </a:cubicBezTo>
                <a:lnTo>
                  <a:pt x="0" y="69625"/>
                </a:lnTo>
                <a:cubicBezTo>
                  <a:pt x="0" y="31198"/>
                  <a:pt x="31198" y="0"/>
                  <a:pt x="69625"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7561678" y="3662782"/>
            <a:ext cx="156642" cy="156642"/>
          </a:xfrm>
          <a:custGeom>
            <a:avLst/>
            <a:gdLst/>
            <a:ahLst/>
            <a:cxnLst/>
            <a:rect l="l" t="t" r="r" b="b"/>
            <a:pathLst>
              <a:path w="156642" h="156642">
                <a:moveTo>
                  <a:pt x="102798" y="107692"/>
                </a:moveTo>
                <a:cubicBezTo>
                  <a:pt x="132533" y="107692"/>
                  <a:pt x="156642" y="83583"/>
                  <a:pt x="156642" y="53845"/>
                </a:cubicBezTo>
                <a:cubicBezTo>
                  <a:pt x="156642" y="24108"/>
                  <a:pt x="132533" y="0"/>
                  <a:pt x="102798" y="0"/>
                </a:cubicBezTo>
                <a:cubicBezTo>
                  <a:pt x="73059" y="0"/>
                  <a:pt x="48951" y="24108"/>
                  <a:pt x="48951" y="53845"/>
                </a:cubicBezTo>
                <a:cubicBezTo>
                  <a:pt x="48951" y="59567"/>
                  <a:pt x="49839" y="65104"/>
                  <a:pt x="51490" y="70275"/>
                </a:cubicBezTo>
                <a:lnTo>
                  <a:pt x="2142" y="119623"/>
                </a:lnTo>
                <a:cubicBezTo>
                  <a:pt x="765" y="121001"/>
                  <a:pt x="0" y="122866"/>
                  <a:pt x="0" y="124824"/>
                </a:cubicBezTo>
                <a:lnTo>
                  <a:pt x="0" y="149300"/>
                </a:lnTo>
                <a:cubicBezTo>
                  <a:pt x="0" y="153369"/>
                  <a:pt x="3274" y="156642"/>
                  <a:pt x="7343" y="156642"/>
                </a:cubicBezTo>
                <a:lnTo>
                  <a:pt x="31819" y="156642"/>
                </a:lnTo>
                <a:cubicBezTo>
                  <a:pt x="35886" y="156642"/>
                  <a:pt x="39160" y="153369"/>
                  <a:pt x="39160" y="149300"/>
                </a:cubicBezTo>
                <a:lnTo>
                  <a:pt x="39160" y="137062"/>
                </a:lnTo>
                <a:lnTo>
                  <a:pt x="51398" y="137062"/>
                </a:lnTo>
                <a:cubicBezTo>
                  <a:pt x="55467" y="137062"/>
                  <a:pt x="58741" y="133789"/>
                  <a:pt x="58741" y="129719"/>
                </a:cubicBezTo>
                <a:lnTo>
                  <a:pt x="58741" y="117483"/>
                </a:lnTo>
                <a:lnTo>
                  <a:pt x="70979" y="117483"/>
                </a:lnTo>
                <a:cubicBezTo>
                  <a:pt x="72937" y="117483"/>
                  <a:pt x="74803" y="116717"/>
                  <a:pt x="76180" y="115340"/>
                </a:cubicBezTo>
                <a:lnTo>
                  <a:pt x="86368" y="105152"/>
                </a:lnTo>
                <a:cubicBezTo>
                  <a:pt x="91538" y="106804"/>
                  <a:pt x="97075" y="107692"/>
                  <a:pt x="102798" y="107692"/>
                </a:cubicBezTo>
                <a:close/>
                <a:moveTo>
                  <a:pt x="115034" y="29370"/>
                </a:moveTo>
                <a:cubicBezTo>
                  <a:pt x="121788" y="29370"/>
                  <a:pt x="127272" y="34854"/>
                  <a:pt x="127272" y="41608"/>
                </a:cubicBezTo>
                <a:cubicBezTo>
                  <a:pt x="127272" y="48362"/>
                  <a:pt x="121788" y="53845"/>
                  <a:pt x="115034" y="53845"/>
                </a:cubicBezTo>
                <a:cubicBezTo>
                  <a:pt x="108280" y="53845"/>
                  <a:pt x="102798" y="48362"/>
                  <a:pt x="102798" y="41608"/>
                </a:cubicBezTo>
                <a:cubicBezTo>
                  <a:pt x="102798" y="34854"/>
                  <a:pt x="108280" y="29370"/>
                  <a:pt x="115034" y="2937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7735725" y="3619283"/>
            <a:ext cx="4011786" cy="24366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Mots-clés</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7561592" y="3967339"/>
            <a:ext cx="4107425" cy="626570"/>
          </a:xfrm>
          <a:custGeom>
            <a:avLst/>
            <a:gdLst/>
            <a:ahLst/>
            <a:cxnLst/>
            <a:rect l="l" t="t" r="r" b="b"/>
            <a:pathLst>
              <a:path w="4107425" h="626570">
                <a:moveTo>
                  <a:pt x="34635" y="0"/>
                </a:moveTo>
                <a:lnTo>
                  <a:pt x="4037808" y="0"/>
                </a:lnTo>
                <a:cubicBezTo>
                  <a:pt x="4076256" y="0"/>
                  <a:pt x="4107425" y="31170"/>
                  <a:pt x="4107425" y="69618"/>
                </a:cubicBezTo>
                <a:lnTo>
                  <a:pt x="4107425" y="556951"/>
                </a:lnTo>
                <a:cubicBezTo>
                  <a:pt x="4107425" y="595400"/>
                  <a:pt x="4076256" y="626570"/>
                  <a:pt x="4037808"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7561592" y="3967339"/>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683292" y="4071721"/>
            <a:ext cx="395086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__shared__</a:t>
            </a:r>
            <a:endParaRPr lang="en-US" sz="10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7683292" y="4315323"/>
            <a:ext cx="3942167"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Déclarer la mémoire partagée</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Freeform 25"/>
          <p:cNvSpPr/>
          <p:nvPr/>
        </p:nvSpPr>
        <p:spPr>
          <a:xfrm>
            <a:off x="7561592" y="4663311"/>
            <a:ext cx="4107425" cy="626570"/>
          </a:xfrm>
          <a:custGeom>
            <a:avLst/>
            <a:gdLst/>
            <a:ahLst/>
            <a:cxnLst/>
            <a:rect l="l" t="t" r="r" b="b"/>
            <a:pathLst>
              <a:path w="4107425" h="626570">
                <a:moveTo>
                  <a:pt x="34635" y="0"/>
                </a:moveTo>
                <a:lnTo>
                  <a:pt x="4037808" y="0"/>
                </a:lnTo>
                <a:cubicBezTo>
                  <a:pt x="4076256" y="0"/>
                  <a:pt x="4107425" y="31170"/>
                  <a:pt x="4107425" y="69618"/>
                </a:cubicBezTo>
                <a:lnTo>
                  <a:pt x="4107425" y="556951"/>
                </a:lnTo>
                <a:cubicBezTo>
                  <a:pt x="4107425" y="595400"/>
                  <a:pt x="4076256" y="626570"/>
                  <a:pt x="4037808" y="626570"/>
                </a:cubicBezTo>
                <a:lnTo>
                  <a:pt x="34635" y="626570"/>
                </a:lnTo>
                <a:cubicBezTo>
                  <a:pt x="15507" y="626570"/>
                  <a:pt x="0" y="611062"/>
                  <a:pt x="0" y="591933"/>
                </a:cubicBezTo>
                <a:lnTo>
                  <a:pt x="0" y="34635"/>
                </a:lnTo>
                <a:cubicBezTo>
                  <a:pt x="0" y="15507"/>
                  <a:pt x="15507" y="0"/>
                  <a:pt x="34635"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7561592" y="4663311"/>
            <a:ext cx="34635" cy="626570"/>
          </a:xfrm>
          <a:custGeom>
            <a:avLst/>
            <a:gdLst/>
            <a:ahLst/>
            <a:cxnLst/>
            <a:rect l="l" t="t" r="r" b="b"/>
            <a:pathLst>
              <a:path w="34635" h="626570">
                <a:moveTo>
                  <a:pt x="34635" y="0"/>
                </a:moveTo>
                <a:lnTo>
                  <a:pt x="34635" y="0"/>
                </a:lnTo>
                <a:lnTo>
                  <a:pt x="34635" y="626570"/>
                </a:lnTo>
                <a:lnTo>
                  <a:pt x="34635" y="626570"/>
                </a:lnTo>
                <a:cubicBezTo>
                  <a:pt x="15507" y="626570"/>
                  <a:pt x="0" y="611062"/>
                  <a:pt x="0" y="591933"/>
                </a:cubicBezTo>
                <a:lnTo>
                  <a:pt x="0" y="34635"/>
                </a:lnTo>
                <a:cubicBezTo>
                  <a:pt x="0" y="15519"/>
                  <a:pt x="15519" y="0"/>
                  <a:pt x="34635"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683292" y="4767693"/>
            <a:ext cx="3950869" cy="20885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__syncthreads()</a:t>
            </a:r>
            <a:endParaRPr lang="en-US" sz="10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7683292" y="5011295"/>
            <a:ext cx="3942167" cy="17404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Synchronisation des threads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287137" y="6682495"/>
            <a:ext cx="11556728" cy="174047"/>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507" y="60912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Principe d'optimisation de Shared Memory</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399911" y="1333235"/>
            <a:ext cx="5581555" cy="1714500"/>
            <a:chOff x="399911" y="1333235"/>
            <a:chExt cx="5581555" cy="1714500"/>
          </a:xfrm>
        </p:grpSpPr>
        <p:sp>
          <p:nvSpPr>
            <p:cNvPr id="4" name="Freeform 4"/>
            <p:cNvSpPr/>
            <p:nvPr/>
          </p:nvSpPr>
          <p:spPr>
            <a:xfrm>
              <a:off x="399911" y="1333235"/>
              <a:ext cx="5581555" cy="1714500"/>
            </a:xfrm>
            <a:custGeom>
              <a:avLst/>
              <a:gdLst/>
              <a:ahLst/>
              <a:cxnLst/>
              <a:rect l="l" t="t" r="r" b="b"/>
              <a:pathLst>
                <a:path w="5581555" h="1714500">
                  <a:moveTo>
                    <a:pt x="37909" y="0"/>
                  </a:moveTo>
                  <a:lnTo>
                    <a:pt x="5505362" y="0"/>
                  </a:lnTo>
                  <a:cubicBezTo>
                    <a:pt x="5547443" y="0"/>
                    <a:pt x="5581555" y="34112"/>
                    <a:pt x="5581555" y="76192"/>
                  </a:cubicBezTo>
                  <a:lnTo>
                    <a:pt x="5581555" y="1638308"/>
                  </a:lnTo>
                  <a:cubicBezTo>
                    <a:pt x="5581555" y="1680388"/>
                    <a:pt x="5547443" y="1714500"/>
                    <a:pt x="5505362" y="1714500"/>
                  </a:cubicBezTo>
                  <a:lnTo>
                    <a:pt x="37909" y="1714500"/>
                  </a:lnTo>
                  <a:cubicBezTo>
                    <a:pt x="16974" y="1714500"/>
                    <a:pt x="0" y="1697526"/>
                    <a:pt x="0" y="1676591"/>
                  </a:cubicBezTo>
                  <a:lnTo>
                    <a:pt x="0" y="37909"/>
                  </a:lnTo>
                  <a:cubicBezTo>
                    <a:pt x="0" y="16988"/>
                    <a:pt x="16988" y="0"/>
                    <a:pt x="37909"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5" name="Freeform 5"/>
            <p:cNvSpPr/>
            <p:nvPr/>
          </p:nvSpPr>
          <p:spPr>
            <a:xfrm>
              <a:off x="399911" y="1333235"/>
              <a:ext cx="37909" cy="1714500"/>
            </a:xfrm>
            <a:custGeom>
              <a:avLst/>
              <a:gdLst/>
              <a:ahLst/>
              <a:cxnLst/>
              <a:rect l="l" t="t" r="r" b="b"/>
              <a:pathLst>
                <a:path w="37909" h="1714500">
                  <a:moveTo>
                    <a:pt x="37909" y="0"/>
                  </a:moveTo>
                  <a:lnTo>
                    <a:pt x="37909" y="0"/>
                  </a:lnTo>
                  <a:lnTo>
                    <a:pt x="37909" y="1714500"/>
                  </a:lnTo>
                  <a:lnTo>
                    <a:pt x="37909" y="1714500"/>
                  </a:lnTo>
                  <a:cubicBezTo>
                    <a:pt x="16974" y="1714500"/>
                    <a:pt x="0" y="1697526"/>
                    <a:pt x="0" y="1676591"/>
                  </a:cubicBezTo>
                  <a:lnTo>
                    <a:pt x="0" y="37909"/>
                  </a:lnTo>
                  <a:cubicBezTo>
                    <a:pt x="0" y="16988"/>
                    <a:pt x="16988" y="0"/>
                    <a:pt x="37909"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6" name="Freeform 6"/>
            <p:cNvSpPr/>
            <p:nvPr/>
          </p:nvSpPr>
          <p:spPr>
            <a:xfrm>
              <a:off x="633119" y="156173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4" y="58638"/>
                    <a:pt x="71289" y="58638"/>
                    <a:pt x="74748" y="62136"/>
                  </a:cubicBezTo>
                  <a:lnTo>
                    <a:pt x="95213" y="82600"/>
                  </a:lnTo>
                  <a:lnTo>
                    <a:pt x="115677" y="62136"/>
                  </a:lnTo>
                  <a:cubicBezTo>
                    <a:pt x="119174" y="58638"/>
                    <a:pt x="124830" y="58638"/>
                    <a:pt x="128290" y="62136"/>
                  </a:cubicBezTo>
                  <a:cubicBezTo>
                    <a:pt x="131750" y="65634"/>
                    <a:pt x="131787" y="71289"/>
                    <a:pt x="128290" y="74748"/>
                  </a:cubicBezTo>
                  <a:lnTo>
                    <a:pt x="107826" y="95213"/>
                  </a:lnTo>
                  <a:lnTo>
                    <a:pt x="128290" y="115677"/>
                  </a:lnTo>
                  <a:cubicBezTo>
                    <a:pt x="131787" y="119174"/>
                    <a:pt x="131787" y="124830"/>
                    <a:pt x="128290" y="128290"/>
                  </a:cubicBezTo>
                  <a:cubicBezTo>
                    <a:pt x="124791" y="131750"/>
                    <a:pt x="119137" y="131787"/>
                    <a:pt x="115677" y="128290"/>
                  </a:cubicBezTo>
                  <a:lnTo>
                    <a:pt x="95213" y="107826"/>
                  </a:lnTo>
                  <a:lnTo>
                    <a:pt x="74748" y="128290"/>
                  </a:lnTo>
                  <a:cubicBezTo>
                    <a:pt x="71251" y="131787"/>
                    <a:pt x="65595" y="131787"/>
                    <a:pt x="62136" y="128290"/>
                  </a:cubicBezTo>
                  <a:cubicBezTo>
                    <a:pt x="58675" y="124791"/>
                    <a:pt x="58638" y="119137"/>
                    <a:pt x="62136" y="115677"/>
                  </a:cubicBezTo>
                  <a:lnTo>
                    <a:pt x="82600" y="95213"/>
                  </a:lnTo>
                  <a:lnTo>
                    <a:pt x="62136" y="74748"/>
                  </a:lnTo>
                  <a:cubicBezTo>
                    <a:pt x="58638" y="71251"/>
                    <a:pt x="58638" y="65595"/>
                    <a:pt x="62136" y="62136"/>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AutoShape 7"/>
            <p:cNvSpPr/>
            <p:nvPr/>
          </p:nvSpPr>
          <p:spPr>
            <a:xfrm>
              <a:off x="847432" y="1523674"/>
              <a:ext cx="50387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Méthode naïve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609307" y="2018956"/>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9" name="AutoShape 9"/>
            <p:cNvSpPr/>
            <p:nvPr/>
          </p:nvSpPr>
          <p:spPr>
            <a:xfrm>
              <a:off x="761861" y="1942835"/>
              <a:ext cx="460946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Lire depuis global memory à chaque fois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609307" y="2361777"/>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nvSpPr>
          <p:spPr>
            <a:xfrm>
              <a:off x="761861" y="2285735"/>
              <a:ext cx="267208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Haute latence, mauvaise performance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609307" y="2704602"/>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3" name="AutoShape 13"/>
            <p:cNvSpPr/>
            <p:nvPr/>
          </p:nvSpPr>
          <p:spPr>
            <a:xfrm>
              <a:off x="761861" y="2628635"/>
              <a:ext cx="41414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Accès fréquent à global memory</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14" name="Group 14"/>
          <p:cNvGrpSpPr/>
          <p:nvPr/>
        </p:nvGrpSpPr>
        <p:grpSpPr>
          <a:xfrm>
            <a:off x="6210279" y="1333235"/>
            <a:ext cx="5600700" cy="1714500"/>
            <a:chOff x="6210279" y="1333235"/>
            <a:chExt cx="5600700" cy="1714500"/>
          </a:xfrm>
        </p:grpSpPr>
        <p:sp>
          <p:nvSpPr>
            <p:cNvPr id="15" name="Freeform 15"/>
            <p:cNvSpPr/>
            <p:nvPr/>
          </p:nvSpPr>
          <p:spPr>
            <a:xfrm>
              <a:off x="6210279" y="1333235"/>
              <a:ext cx="5600700" cy="1714500"/>
            </a:xfrm>
            <a:custGeom>
              <a:avLst/>
              <a:gdLst/>
              <a:ahLst/>
              <a:cxnLst/>
              <a:rect l="l" t="t" r="r" b="b"/>
              <a:pathLst>
                <a:path w="5600700" h="1714500">
                  <a:moveTo>
                    <a:pt x="76192" y="0"/>
                  </a:moveTo>
                  <a:lnTo>
                    <a:pt x="5524508" y="0"/>
                  </a:lnTo>
                  <a:cubicBezTo>
                    <a:pt x="5566588" y="0"/>
                    <a:pt x="5600700" y="34112"/>
                    <a:pt x="5600700" y="76192"/>
                  </a:cubicBezTo>
                  <a:lnTo>
                    <a:pt x="5600700" y="1638308"/>
                  </a:lnTo>
                  <a:cubicBezTo>
                    <a:pt x="5600700" y="1680388"/>
                    <a:pt x="5566588" y="1714500"/>
                    <a:pt x="5524508" y="1714500"/>
                  </a:cubicBezTo>
                  <a:lnTo>
                    <a:pt x="76192" y="1714500"/>
                  </a:lnTo>
                  <a:cubicBezTo>
                    <a:pt x="34112" y="1714500"/>
                    <a:pt x="0" y="1680388"/>
                    <a:pt x="0" y="1638308"/>
                  </a:cubicBezTo>
                  <a:lnTo>
                    <a:pt x="0" y="76192"/>
                  </a:lnTo>
                  <a:cubicBezTo>
                    <a:pt x="0" y="34141"/>
                    <a:pt x="34141" y="0"/>
                    <a:pt x="7619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6" name="Freeform 16"/>
            <p:cNvSpPr/>
            <p:nvPr/>
          </p:nvSpPr>
          <p:spPr>
            <a:xfrm>
              <a:off x="6424532" y="156173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7" name="AutoShape 17"/>
            <p:cNvSpPr/>
            <p:nvPr/>
          </p:nvSpPr>
          <p:spPr>
            <a:xfrm>
              <a:off x="6638845" y="1523674"/>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Méthode optimisée</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400720" y="2018956"/>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9" name="AutoShape 19"/>
            <p:cNvSpPr/>
            <p:nvPr/>
          </p:nvSpPr>
          <p:spPr>
            <a:xfrm>
              <a:off x="6553179" y="1942835"/>
              <a:ext cx="413258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 shared memory</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6400720" y="2361777"/>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AutoShape 21"/>
            <p:cNvSpPr/>
            <p:nvPr/>
          </p:nvSpPr>
          <p:spPr>
            <a:xfrm>
              <a:off x="6553179" y="2285735"/>
              <a:ext cx="37369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 → register</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6400720" y="2704602"/>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3" name="AutoShape 23"/>
            <p:cNvSpPr/>
            <p:nvPr/>
          </p:nvSpPr>
          <p:spPr>
            <a:xfrm>
              <a:off x="6553179" y="2628635"/>
              <a:ext cx="349821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Réduire les accès à global memory</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nvGrpSpPr>
          <p:cNvPr id="24" name="Group 24"/>
          <p:cNvGrpSpPr/>
          <p:nvPr/>
        </p:nvGrpSpPr>
        <p:grpSpPr>
          <a:xfrm>
            <a:off x="380956" y="3199805"/>
            <a:ext cx="11430000" cy="3390900"/>
            <a:chOff x="380956" y="3199805"/>
            <a:chExt cx="11430000" cy="3390900"/>
          </a:xfrm>
        </p:grpSpPr>
        <p:sp>
          <p:nvSpPr>
            <p:cNvPr id="25" name="Freeform 25"/>
            <p:cNvSpPr/>
            <p:nvPr/>
          </p:nvSpPr>
          <p:spPr>
            <a:xfrm>
              <a:off x="380956" y="3199805"/>
              <a:ext cx="11430000" cy="3390900"/>
            </a:xfrm>
            <a:custGeom>
              <a:avLst/>
              <a:gdLst/>
              <a:ahLst/>
              <a:cxnLst/>
              <a:rect l="l" t="t" r="r" b="b"/>
              <a:pathLst>
                <a:path w="11430000" h="3390900">
                  <a:moveTo>
                    <a:pt x="76194" y="0"/>
                  </a:moveTo>
                  <a:lnTo>
                    <a:pt x="11353806" y="0"/>
                  </a:lnTo>
                  <a:cubicBezTo>
                    <a:pt x="11395887" y="0"/>
                    <a:pt x="11430000" y="34113"/>
                    <a:pt x="11430000" y="76194"/>
                  </a:cubicBezTo>
                  <a:lnTo>
                    <a:pt x="11430000" y="3314706"/>
                  </a:lnTo>
                  <a:cubicBezTo>
                    <a:pt x="11430000" y="3356787"/>
                    <a:pt x="11395887" y="3390900"/>
                    <a:pt x="11353806" y="3390900"/>
                  </a:cubicBezTo>
                  <a:lnTo>
                    <a:pt x="76194" y="3390900"/>
                  </a:lnTo>
                  <a:cubicBezTo>
                    <a:pt x="34113" y="3390900"/>
                    <a:pt x="0" y="3356787"/>
                    <a:pt x="0" y="3314706"/>
                  </a:cubicBezTo>
                  <a:lnTo>
                    <a:pt x="0" y="76194"/>
                  </a:lnTo>
                  <a:cubicBezTo>
                    <a:pt x="0" y="34113"/>
                    <a:pt x="34113" y="0"/>
                    <a:pt x="76194"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6" name="Freeform 26"/>
            <p:cNvSpPr/>
            <p:nvPr/>
          </p:nvSpPr>
          <p:spPr>
            <a:xfrm>
              <a:off x="595209" y="3428307"/>
              <a:ext cx="190500" cy="190500"/>
            </a:xfrm>
            <a:custGeom>
              <a:avLst/>
              <a:gdLst/>
              <a:ahLst/>
              <a:cxnLst/>
              <a:rect l="l" t="t" r="r" b="b"/>
              <a:pathLst>
                <a:path w="190500" h="190500">
                  <a:moveTo>
                    <a:pt x="190500" y="35719"/>
                  </a:moveTo>
                  <a:cubicBezTo>
                    <a:pt x="190500" y="54397"/>
                    <a:pt x="168511" y="82266"/>
                    <a:pt x="159023" y="93389"/>
                  </a:cubicBezTo>
                  <a:cubicBezTo>
                    <a:pt x="157610" y="95026"/>
                    <a:pt x="155525" y="95659"/>
                    <a:pt x="153628" y="95250"/>
                  </a:cubicBezTo>
                  <a:lnTo>
                    <a:pt x="119063" y="95250"/>
                  </a:lnTo>
                  <a:cubicBezTo>
                    <a:pt x="112478" y="95250"/>
                    <a:pt x="107156" y="100571"/>
                    <a:pt x="107156" y="107156"/>
                  </a:cubicBezTo>
                  <a:cubicBezTo>
                    <a:pt x="107156" y="113742"/>
                    <a:pt x="112478" y="119063"/>
                    <a:pt x="119063" y="119063"/>
                  </a:cubicBezTo>
                  <a:lnTo>
                    <a:pt x="154781" y="119063"/>
                  </a:lnTo>
                  <a:cubicBezTo>
                    <a:pt x="174501" y="119063"/>
                    <a:pt x="190500" y="135062"/>
                    <a:pt x="190500" y="154781"/>
                  </a:cubicBezTo>
                  <a:cubicBezTo>
                    <a:pt x="190500" y="174501"/>
                    <a:pt x="174501" y="190500"/>
                    <a:pt x="154781" y="190500"/>
                  </a:cubicBezTo>
                  <a:lnTo>
                    <a:pt x="51940" y="190500"/>
                  </a:lnTo>
                  <a:cubicBezTo>
                    <a:pt x="55178" y="186817"/>
                    <a:pt x="59122" y="182091"/>
                    <a:pt x="63102" y="176808"/>
                  </a:cubicBezTo>
                  <a:cubicBezTo>
                    <a:pt x="65447" y="173681"/>
                    <a:pt x="67866" y="170259"/>
                    <a:pt x="70173" y="166687"/>
                  </a:cubicBezTo>
                  <a:lnTo>
                    <a:pt x="154781" y="166687"/>
                  </a:lnTo>
                  <a:cubicBezTo>
                    <a:pt x="161367" y="166687"/>
                    <a:pt x="166687" y="161367"/>
                    <a:pt x="166687" y="154781"/>
                  </a:cubicBezTo>
                  <a:cubicBezTo>
                    <a:pt x="166687" y="148196"/>
                    <a:pt x="161367" y="142875"/>
                    <a:pt x="154781" y="142875"/>
                  </a:cubicBezTo>
                  <a:lnTo>
                    <a:pt x="119063" y="142875"/>
                  </a:lnTo>
                  <a:cubicBezTo>
                    <a:pt x="99343" y="142875"/>
                    <a:pt x="83344" y="126876"/>
                    <a:pt x="83344" y="107156"/>
                  </a:cubicBezTo>
                  <a:cubicBezTo>
                    <a:pt x="83344" y="87437"/>
                    <a:pt x="99343" y="71437"/>
                    <a:pt x="119063" y="71437"/>
                  </a:cubicBezTo>
                  <a:lnTo>
                    <a:pt x="133871" y="71437"/>
                  </a:lnTo>
                  <a:cubicBezTo>
                    <a:pt x="126056" y="59717"/>
                    <a:pt x="119063" y="46248"/>
                    <a:pt x="119063" y="35719"/>
                  </a:cubicBezTo>
                  <a:cubicBezTo>
                    <a:pt x="119063" y="15999"/>
                    <a:pt x="135062" y="0"/>
                    <a:pt x="154781" y="0"/>
                  </a:cubicBezTo>
                  <a:cubicBezTo>
                    <a:pt x="174501" y="0"/>
                    <a:pt x="190500" y="15999"/>
                    <a:pt x="190500" y="35719"/>
                  </a:cubicBezTo>
                  <a:close/>
                  <a:moveTo>
                    <a:pt x="43569" y="181980"/>
                  </a:moveTo>
                  <a:cubicBezTo>
                    <a:pt x="42156" y="183579"/>
                    <a:pt x="40891" y="184993"/>
                    <a:pt x="39812" y="186185"/>
                  </a:cubicBezTo>
                  <a:lnTo>
                    <a:pt x="39141" y="186927"/>
                  </a:lnTo>
                  <a:lnTo>
                    <a:pt x="39066" y="186854"/>
                  </a:lnTo>
                  <a:cubicBezTo>
                    <a:pt x="36835" y="188565"/>
                    <a:pt x="33635" y="188342"/>
                    <a:pt x="31626" y="186185"/>
                  </a:cubicBezTo>
                  <a:cubicBezTo>
                    <a:pt x="22250" y="175989"/>
                    <a:pt x="0" y="149758"/>
                    <a:pt x="0" y="130969"/>
                  </a:cubicBezTo>
                  <a:cubicBezTo>
                    <a:pt x="0" y="111249"/>
                    <a:pt x="15999" y="95250"/>
                    <a:pt x="35719" y="95250"/>
                  </a:cubicBezTo>
                  <a:cubicBezTo>
                    <a:pt x="55438" y="95250"/>
                    <a:pt x="71437" y="111249"/>
                    <a:pt x="71437" y="130969"/>
                  </a:cubicBezTo>
                  <a:cubicBezTo>
                    <a:pt x="71437" y="142131"/>
                    <a:pt x="63588" y="155898"/>
                    <a:pt x="55253" y="167394"/>
                  </a:cubicBezTo>
                  <a:cubicBezTo>
                    <a:pt x="51271" y="172864"/>
                    <a:pt x="47179" y="177811"/>
                    <a:pt x="43793" y="181719"/>
                  </a:cubicBezTo>
                  <a:lnTo>
                    <a:pt x="43569" y="181980"/>
                  </a:lnTo>
                  <a:close/>
                  <a:moveTo>
                    <a:pt x="47625" y="130969"/>
                  </a:moveTo>
                  <a:cubicBezTo>
                    <a:pt x="47625" y="124398"/>
                    <a:pt x="42290" y="119063"/>
                    <a:pt x="35719" y="119063"/>
                  </a:cubicBezTo>
                  <a:cubicBezTo>
                    <a:pt x="29148" y="119063"/>
                    <a:pt x="23813" y="124398"/>
                    <a:pt x="23813" y="130969"/>
                  </a:cubicBezTo>
                  <a:cubicBezTo>
                    <a:pt x="23813" y="137540"/>
                    <a:pt x="29148" y="142875"/>
                    <a:pt x="35719" y="142875"/>
                  </a:cubicBezTo>
                  <a:cubicBezTo>
                    <a:pt x="42290" y="142875"/>
                    <a:pt x="47625" y="137540"/>
                    <a:pt x="47625" y="130969"/>
                  </a:cubicBezTo>
                  <a:close/>
                  <a:moveTo>
                    <a:pt x="154781" y="47625"/>
                  </a:moveTo>
                  <a:cubicBezTo>
                    <a:pt x="161352" y="47625"/>
                    <a:pt x="166687" y="42290"/>
                    <a:pt x="166687" y="35719"/>
                  </a:cubicBezTo>
                  <a:cubicBezTo>
                    <a:pt x="166687" y="29148"/>
                    <a:pt x="161352" y="23813"/>
                    <a:pt x="154781" y="23813"/>
                  </a:cubicBezTo>
                  <a:cubicBezTo>
                    <a:pt x="148210" y="23813"/>
                    <a:pt x="142875" y="29148"/>
                    <a:pt x="142875" y="35719"/>
                  </a:cubicBezTo>
                  <a:cubicBezTo>
                    <a:pt x="142875" y="42290"/>
                    <a:pt x="148210" y="47625"/>
                    <a:pt x="154781" y="47625"/>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7" name="AutoShape 27"/>
            <p:cNvSpPr/>
            <p:nvPr/>
          </p:nvSpPr>
          <p:spPr>
            <a:xfrm>
              <a:off x="809521" y="3390249"/>
              <a:ext cx="109061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Comparaison du flux d'accès mémoire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533296" y="3809335"/>
              <a:ext cx="5486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Naive</a:t>
              </a:r>
              <a:endParaRPr lang="en-US" sz="120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Freeform 29"/>
            <p:cNvSpPr/>
            <p:nvPr/>
          </p:nvSpPr>
          <p:spPr>
            <a:xfrm>
              <a:off x="571396" y="4114098"/>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0" name="AutoShape 30"/>
            <p:cNvSpPr/>
            <p:nvPr/>
          </p:nvSpPr>
          <p:spPr>
            <a:xfrm>
              <a:off x="647546" y="4228351"/>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AutoShape 31"/>
            <p:cNvSpPr/>
            <p:nvPr/>
          </p:nvSpPr>
          <p:spPr>
            <a:xfrm>
              <a:off x="3162190" y="4647363"/>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571396" y="5028247"/>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3" name="AutoShape 33"/>
            <p:cNvSpPr/>
            <p:nvPr/>
          </p:nvSpPr>
          <p:spPr>
            <a:xfrm>
              <a:off x="647546" y="5142495"/>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3162190" y="5561507"/>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Freeform 35"/>
            <p:cNvSpPr/>
            <p:nvPr/>
          </p:nvSpPr>
          <p:spPr>
            <a:xfrm>
              <a:off x="571396" y="5942391"/>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6" name="AutoShape 36"/>
            <p:cNvSpPr/>
            <p:nvPr/>
          </p:nvSpPr>
          <p:spPr>
            <a:xfrm>
              <a:off x="647546" y="605664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7" name="AutoShape 37"/>
            <p:cNvSpPr/>
            <p:nvPr/>
          </p:nvSpPr>
          <p:spPr>
            <a:xfrm>
              <a:off x="6172179" y="3809335"/>
              <a:ext cx="54864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Optimized</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8" name="Freeform 38"/>
            <p:cNvSpPr/>
            <p:nvPr/>
          </p:nvSpPr>
          <p:spPr>
            <a:xfrm>
              <a:off x="6210279" y="4114098"/>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9" name="AutoShape 39"/>
            <p:cNvSpPr/>
            <p:nvPr/>
          </p:nvSpPr>
          <p:spPr>
            <a:xfrm>
              <a:off x="6286429" y="4228351"/>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0" name="AutoShape 40"/>
            <p:cNvSpPr/>
            <p:nvPr/>
          </p:nvSpPr>
          <p:spPr>
            <a:xfrm>
              <a:off x="8801073" y="4647363"/>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1" name="Freeform 41"/>
            <p:cNvSpPr/>
            <p:nvPr/>
          </p:nvSpPr>
          <p:spPr>
            <a:xfrm>
              <a:off x="6210279" y="5028247"/>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42" name="AutoShape 42"/>
            <p:cNvSpPr/>
            <p:nvPr/>
          </p:nvSpPr>
          <p:spPr>
            <a:xfrm>
              <a:off x="6286429" y="5142495"/>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3" name="AutoShape 43"/>
            <p:cNvSpPr/>
            <p:nvPr/>
          </p:nvSpPr>
          <p:spPr>
            <a:xfrm>
              <a:off x="8801073" y="5561507"/>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4" name="Freeform 44"/>
            <p:cNvSpPr/>
            <p:nvPr/>
          </p:nvSpPr>
          <p:spPr>
            <a:xfrm>
              <a:off x="6210279" y="5942391"/>
              <a:ext cx="5410200" cy="457200"/>
            </a:xfrm>
            <a:custGeom>
              <a:avLst/>
              <a:gdLst/>
              <a:ahLst/>
              <a:cxnLst/>
              <a:rect l="l" t="t" r="r" b="b"/>
              <a:pathLst>
                <a:path w="5410200" h="457200">
                  <a:moveTo>
                    <a:pt x="76203" y="0"/>
                  </a:moveTo>
                  <a:lnTo>
                    <a:pt x="5333997" y="0"/>
                  </a:lnTo>
                  <a:cubicBezTo>
                    <a:pt x="5376083" y="0"/>
                    <a:pt x="5410200" y="34117"/>
                    <a:pt x="5410200" y="76203"/>
                  </a:cubicBezTo>
                  <a:lnTo>
                    <a:pt x="5410200" y="380997"/>
                  </a:lnTo>
                  <a:cubicBezTo>
                    <a:pt x="5410200" y="423083"/>
                    <a:pt x="5376083" y="457200"/>
                    <a:pt x="5333997" y="457200"/>
                  </a:cubicBezTo>
                  <a:lnTo>
                    <a:pt x="76203" y="457200"/>
                  </a:lnTo>
                  <a:cubicBezTo>
                    <a:pt x="34145" y="457200"/>
                    <a:pt x="0" y="423055"/>
                    <a:pt x="0" y="380997"/>
                  </a:cubicBezTo>
                  <a:lnTo>
                    <a:pt x="0" y="76203"/>
                  </a:lnTo>
                  <a:cubicBezTo>
                    <a:pt x="0" y="34145"/>
                    <a:pt x="34145" y="0"/>
                    <a:pt x="762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45" name="AutoShape 45"/>
            <p:cNvSpPr/>
            <p:nvPr/>
          </p:nvSpPr>
          <p:spPr>
            <a:xfrm>
              <a:off x="6286429" y="605664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Register</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46" name="AutoShape 46"/>
          <p:cNvSpPr/>
          <p:nvPr/>
        </p:nvSpPr>
        <p:spPr>
          <a:xfrm>
            <a:off x="314281" y="6666095"/>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4601" y="634733"/>
            <a:ext cx="11699875" cy="3175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Introduction à la structure des Bank</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grpSp>
        <p:nvGrpSpPr>
          <p:cNvPr id="3" name="Group 3"/>
          <p:cNvGrpSpPr/>
          <p:nvPr/>
        </p:nvGrpSpPr>
        <p:grpSpPr>
          <a:xfrm>
            <a:off x="353160" y="1341841"/>
            <a:ext cx="5683250" cy="952500"/>
            <a:chOff x="353160" y="1341841"/>
            <a:chExt cx="5683250" cy="952500"/>
          </a:xfrm>
        </p:grpSpPr>
        <p:sp>
          <p:nvSpPr>
            <p:cNvPr id="4" name="Freeform 4"/>
            <p:cNvSpPr/>
            <p:nvPr/>
          </p:nvSpPr>
          <p:spPr>
            <a:xfrm>
              <a:off x="353160" y="1341841"/>
              <a:ext cx="5683250" cy="952500"/>
            </a:xfrm>
            <a:custGeom>
              <a:avLst/>
              <a:gdLst/>
              <a:ahLst/>
              <a:cxnLst/>
              <a:rect l="l" t="t" r="r" b="b"/>
              <a:pathLst>
                <a:path w="5683250" h="952500">
                  <a:moveTo>
                    <a:pt x="63503" y="0"/>
                  </a:moveTo>
                  <a:lnTo>
                    <a:pt x="5619747" y="0"/>
                  </a:lnTo>
                  <a:cubicBezTo>
                    <a:pt x="5654819" y="0"/>
                    <a:pt x="5683250" y="28431"/>
                    <a:pt x="5683250" y="63503"/>
                  </a:cubicBezTo>
                  <a:lnTo>
                    <a:pt x="5683250" y="888997"/>
                  </a:lnTo>
                  <a:cubicBezTo>
                    <a:pt x="5683250" y="924069"/>
                    <a:pt x="5654819" y="952500"/>
                    <a:pt x="561974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43638" y="1532318"/>
              <a:ext cx="53975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La Shared Memory est divisée en plusieurs Bank</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AutoShape 6"/>
            <p:cNvSpPr/>
            <p:nvPr/>
          </p:nvSpPr>
          <p:spPr>
            <a:xfrm>
              <a:off x="543638" y="1881436"/>
              <a:ext cx="537368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Structure clé pour réaliser des accès parallèles</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7" name="Freeform 7"/>
          <p:cNvSpPr/>
          <p:nvPr/>
        </p:nvSpPr>
        <p:spPr>
          <a:xfrm>
            <a:off x="353060" y="2543175"/>
            <a:ext cx="5683250" cy="4160520"/>
          </a:xfrm>
          <a:custGeom>
            <a:avLst/>
            <a:gdLst/>
            <a:ahLst/>
            <a:cxnLst/>
            <a:rect l="l" t="t" r="r" b="b"/>
            <a:pathLst>
              <a:path w="5683250" h="4444985">
                <a:moveTo>
                  <a:pt x="63482" y="0"/>
                </a:moveTo>
                <a:lnTo>
                  <a:pt x="5619768" y="0"/>
                </a:lnTo>
                <a:cubicBezTo>
                  <a:pt x="5654827" y="0"/>
                  <a:pt x="5683250" y="21279"/>
                  <a:pt x="5683250" y="47526"/>
                </a:cubicBezTo>
                <a:lnTo>
                  <a:pt x="5683250" y="4397459"/>
                </a:lnTo>
                <a:cubicBezTo>
                  <a:pt x="5683250" y="4423707"/>
                  <a:pt x="5654827" y="4444985"/>
                  <a:pt x="5619768" y="4444985"/>
                </a:cubicBezTo>
                <a:lnTo>
                  <a:pt x="63482" y="4444985"/>
                </a:lnTo>
                <a:cubicBezTo>
                  <a:pt x="28423" y="4444985"/>
                  <a:pt x="0" y="4423707"/>
                  <a:pt x="0" y="4397459"/>
                </a:cubicBezTo>
                <a:lnTo>
                  <a:pt x="0" y="47526"/>
                </a:lnTo>
                <a:cubicBezTo>
                  <a:pt x="0" y="21295"/>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grpSp>
        <p:nvGrpSpPr>
          <p:cNvPr id="8" name="Group 8"/>
          <p:cNvGrpSpPr/>
          <p:nvPr/>
        </p:nvGrpSpPr>
        <p:grpSpPr>
          <a:xfrm>
            <a:off x="545324" y="2793822"/>
            <a:ext cx="7588068" cy="1777965"/>
            <a:chOff x="545324" y="2793822"/>
            <a:chExt cx="7588068" cy="1777965"/>
          </a:xfrm>
        </p:grpSpPr>
        <p:sp>
          <p:nvSpPr>
            <p:cNvPr id="9" name="AutoShape 9"/>
            <p:cNvSpPr/>
            <p:nvPr/>
          </p:nvSpPr>
          <p:spPr>
            <a:xfrm>
              <a:off x="743761" y="2793822"/>
              <a:ext cx="524668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Caractéristiques des Bank</a:t>
              </a:r>
              <a:endParaRPr lang="en-US" sz="1200"/>
            </a:p>
          </p:txBody>
        </p:sp>
        <p:grpSp>
          <p:nvGrpSpPr>
            <p:cNvPr id="10" name="Group 10"/>
            <p:cNvGrpSpPr/>
            <p:nvPr/>
          </p:nvGrpSpPr>
          <p:grpSpPr>
            <a:xfrm>
              <a:off x="545324" y="2825537"/>
              <a:ext cx="7588068" cy="1746250"/>
              <a:chOff x="545324" y="2825537"/>
              <a:chExt cx="7588068" cy="1746250"/>
            </a:xfrm>
          </p:grpSpPr>
          <p:sp>
            <p:nvSpPr>
              <p:cNvPr id="11" name="Freeform 11"/>
              <p:cNvSpPr/>
              <p:nvPr/>
            </p:nvSpPr>
            <p:spPr>
              <a:xfrm>
                <a:off x="565167" y="2825537"/>
                <a:ext cx="158750" cy="158750"/>
              </a:xfrm>
              <a:custGeom>
                <a:avLst/>
                <a:gdLst/>
                <a:ahLst/>
                <a:cxnLst/>
                <a:rect l="l" t="t" r="r" b="b"/>
                <a:pathLst>
                  <a:path w="158750" h="158750">
                    <a:moveTo>
                      <a:pt x="79375" y="158750"/>
                    </a:moveTo>
                    <a:cubicBezTo>
                      <a:pt x="123182" y="158750"/>
                      <a:pt x="158750" y="123182"/>
                      <a:pt x="158750" y="79375"/>
                    </a:cubicBezTo>
                    <a:cubicBezTo>
                      <a:pt x="158750" y="35568"/>
                      <a:pt x="123182" y="0"/>
                      <a:pt x="79375" y="0"/>
                    </a:cubicBezTo>
                    <a:cubicBezTo>
                      <a:pt x="35568" y="0"/>
                      <a:pt x="0" y="35568"/>
                      <a:pt x="0" y="79375"/>
                    </a:cubicBezTo>
                    <a:cubicBezTo>
                      <a:pt x="0" y="123182"/>
                      <a:pt x="35568" y="158750"/>
                      <a:pt x="79375" y="158750"/>
                    </a:cubicBezTo>
                    <a:close/>
                    <a:moveTo>
                      <a:pt x="69452" y="49609"/>
                    </a:moveTo>
                    <a:cubicBezTo>
                      <a:pt x="69452" y="44133"/>
                      <a:pt x="73899" y="39687"/>
                      <a:pt x="79375" y="39687"/>
                    </a:cubicBezTo>
                    <a:cubicBezTo>
                      <a:pt x="84851" y="39687"/>
                      <a:pt x="89298" y="44133"/>
                      <a:pt x="89298" y="49609"/>
                    </a:cubicBezTo>
                    <a:cubicBezTo>
                      <a:pt x="89298" y="55085"/>
                      <a:pt x="84851" y="59531"/>
                      <a:pt x="79375" y="59531"/>
                    </a:cubicBezTo>
                    <a:cubicBezTo>
                      <a:pt x="73899" y="59531"/>
                      <a:pt x="69452" y="55085"/>
                      <a:pt x="69452" y="49609"/>
                    </a:cubicBezTo>
                    <a:close/>
                    <a:moveTo>
                      <a:pt x="66973" y="69452"/>
                    </a:moveTo>
                    <a:lnTo>
                      <a:pt x="81855" y="69452"/>
                    </a:lnTo>
                    <a:cubicBezTo>
                      <a:pt x="85979" y="69452"/>
                      <a:pt x="89298" y="72771"/>
                      <a:pt x="89298" y="76895"/>
                    </a:cubicBezTo>
                    <a:lnTo>
                      <a:pt x="89298" y="104179"/>
                    </a:lnTo>
                    <a:lnTo>
                      <a:pt x="91777" y="104179"/>
                    </a:lnTo>
                    <a:cubicBezTo>
                      <a:pt x="95902" y="104179"/>
                      <a:pt x="99219" y="107497"/>
                      <a:pt x="99219" y="111622"/>
                    </a:cubicBezTo>
                    <a:cubicBezTo>
                      <a:pt x="99219" y="115745"/>
                      <a:pt x="95902" y="119063"/>
                      <a:pt x="91777" y="119063"/>
                    </a:cubicBezTo>
                    <a:lnTo>
                      <a:pt x="66973" y="119063"/>
                    </a:lnTo>
                    <a:cubicBezTo>
                      <a:pt x="62848" y="119063"/>
                      <a:pt x="59531" y="115745"/>
                      <a:pt x="59531" y="111622"/>
                    </a:cubicBezTo>
                    <a:cubicBezTo>
                      <a:pt x="59531" y="107497"/>
                      <a:pt x="62848" y="104179"/>
                      <a:pt x="66973" y="104179"/>
                    </a:cubicBezTo>
                    <a:lnTo>
                      <a:pt x="74414" y="104179"/>
                    </a:lnTo>
                    <a:lnTo>
                      <a:pt x="74414" y="84336"/>
                    </a:lnTo>
                    <a:lnTo>
                      <a:pt x="66973" y="84336"/>
                    </a:lnTo>
                    <a:cubicBezTo>
                      <a:pt x="62848" y="84336"/>
                      <a:pt x="59531" y="81018"/>
                      <a:pt x="59531" y="76895"/>
                    </a:cubicBezTo>
                    <a:cubicBezTo>
                      <a:pt x="59531" y="72771"/>
                      <a:pt x="62848" y="69452"/>
                      <a:pt x="66973" y="6945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45324" y="320655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04074" y="3143037"/>
                <a:ext cx="270256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Plusieurs Bank</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704074" y="3365287"/>
                <a:ext cx="3912623"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Par exemple : 32 banks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545324" y="371443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04074" y="3651037"/>
                <a:ext cx="7429318"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Chaque bank est accessible indépendamment</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704074" y="3873287"/>
                <a:ext cx="354457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Accès simultané possible à différentes bank</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545324" y="4222312"/>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04074" y="4159037"/>
                <a:ext cx="50736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Conflict</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AutoShape 20"/>
              <p:cNvSpPr/>
              <p:nvPr/>
            </p:nvSpPr>
            <p:spPr>
              <a:xfrm>
                <a:off x="704074" y="4381287"/>
                <a:ext cx="50736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L'accès simultané à la même bank entraîne un conflit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grpSp>
      <p:sp>
        <p:nvSpPr>
          <p:cNvPr id="21" name="Freeform 21"/>
          <p:cNvSpPr/>
          <p:nvPr/>
        </p:nvSpPr>
        <p:spPr>
          <a:xfrm>
            <a:off x="6191250" y="1059815"/>
            <a:ext cx="5683250" cy="5717540"/>
          </a:xfrm>
          <a:custGeom>
            <a:avLst/>
            <a:gdLst/>
            <a:ahLst/>
            <a:cxnLst/>
            <a:rect l="l" t="t" r="r" b="b"/>
            <a:pathLst>
              <a:path w="5683250" h="6064250">
                <a:moveTo>
                  <a:pt x="63482" y="0"/>
                </a:moveTo>
                <a:lnTo>
                  <a:pt x="5619768" y="0"/>
                </a:lnTo>
                <a:cubicBezTo>
                  <a:pt x="5654827" y="0"/>
                  <a:pt x="5683250" y="28423"/>
                  <a:pt x="5683250" y="63482"/>
                </a:cubicBezTo>
                <a:lnTo>
                  <a:pt x="5683250" y="6000768"/>
                </a:lnTo>
                <a:cubicBezTo>
                  <a:pt x="5683250" y="6035827"/>
                  <a:pt x="5654827" y="6064250"/>
                  <a:pt x="5619768" y="6064250"/>
                </a:cubicBezTo>
                <a:lnTo>
                  <a:pt x="63482" y="6064250"/>
                </a:lnTo>
                <a:cubicBezTo>
                  <a:pt x="28423" y="6064250"/>
                  <a:pt x="0" y="6035827"/>
                  <a:pt x="0" y="6000768"/>
                </a:cubicBezTo>
                <a:lnTo>
                  <a:pt x="0" y="63482"/>
                </a:lnTo>
                <a:cubicBezTo>
                  <a:pt x="0" y="28445"/>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7100127" y="1269791"/>
            <a:ext cx="3001232" cy="4461790"/>
          </a:xfrm>
          <a:prstGeom prst="roundRect">
            <a:avLst>
              <a:gd name="adj" fmla="val 820"/>
            </a:avLst>
          </a:prstGeom>
          <a:ln w="12700">
            <a:noFill/>
            <a:prstDash val="solid"/>
          </a:ln>
        </p:spPr>
      </p:pic>
      <p:grpSp>
        <p:nvGrpSpPr>
          <p:cNvPr id="23" name="Group 23"/>
          <p:cNvGrpSpPr/>
          <p:nvPr/>
        </p:nvGrpSpPr>
        <p:grpSpPr>
          <a:xfrm>
            <a:off x="6207191" y="5894035"/>
            <a:ext cx="5667296" cy="809546"/>
            <a:chOff x="6207191" y="5894035"/>
            <a:chExt cx="5667296" cy="809546"/>
          </a:xfrm>
        </p:grpSpPr>
        <p:sp>
          <p:nvSpPr>
            <p:cNvPr id="24" name="Freeform 24"/>
            <p:cNvSpPr/>
            <p:nvPr/>
          </p:nvSpPr>
          <p:spPr>
            <a:xfrm>
              <a:off x="6207191" y="5894035"/>
              <a:ext cx="5667296" cy="809546"/>
            </a:xfrm>
            <a:custGeom>
              <a:avLst/>
              <a:gdLst/>
              <a:ahLst/>
              <a:cxnLst/>
              <a:rect l="l" t="t" r="r" b="b"/>
              <a:pathLst>
                <a:path w="5667296" h="809546">
                  <a:moveTo>
                    <a:pt x="63501" y="0"/>
                  </a:moveTo>
                  <a:lnTo>
                    <a:pt x="5603795" y="0"/>
                  </a:lnTo>
                  <a:cubicBezTo>
                    <a:pt x="5638866" y="0"/>
                    <a:pt x="5667296" y="28430"/>
                    <a:pt x="5667296" y="63501"/>
                  </a:cubicBezTo>
                  <a:lnTo>
                    <a:pt x="5667296" y="746045"/>
                  </a:lnTo>
                  <a:cubicBezTo>
                    <a:pt x="5667296" y="781116"/>
                    <a:pt x="5638866" y="809546"/>
                    <a:pt x="5603795" y="809546"/>
                  </a:cubicBezTo>
                  <a:lnTo>
                    <a:pt x="63501" y="809546"/>
                  </a:lnTo>
                  <a:cubicBezTo>
                    <a:pt x="28430" y="809546"/>
                    <a:pt x="0" y="781116"/>
                    <a:pt x="0" y="746045"/>
                  </a:cubicBezTo>
                  <a:lnTo>
                    <a:pt x="0" y="63501"/>
                  </a:lnTo>
                  <a:cubicBezTo>
                    <a:pt x="0" y="28454"/>
                    <a:pt x="28454" y="0"/>
                    <a:pt x="635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270637" y="6028919"/>
              <a:ext cx="5540375" cy="3175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16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32</a:t>
              </a:r>
              <a:endParaRPr lang="en-US" sz="16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6310325" y="6378096"/>
              <a:ext cx="5461000" cy="1905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banks (configuration typique)</a:t>
              </a:r>
              <a:endParaRPr lang="en-US" sz="1200"/>
            </a:p>
          </p:txBody>
        </p:sp>
      </p:grpSp>
      <p:sp>
        <p:nvSpPr>
          <p:cNvPr id="27" name="AutoShape 27"/>
          <p:cNvSpPr/>
          <p:nvPr/>
        </p:nvSpPr>
        <p:spPr>
          <a:xfrm>
            <a:off x="198400" y="6699176"/>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Lei Mao's Log Book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4963" y="633814"/>
            <a:ext cx="11699875" cy="3175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Définition du Bank Conflict</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17463" y="1111029"/>
            <a:ext cx="4508500" cy="952500"/>
          </a:xfrm>
          <a:custGeom>
            <a:avLst/>
            <a:gdLst/>
            <a:ahLst/>
            <a:cxnLst/>
            <a:rect l="l" t="t" r="r" b="b"/>
            <a:pathLst>
              <a:path w="4508500" h="952500">
                <a:moveTo>
                  <a:pt x="63503" y="0"/>
                </a:moveTo>
                <a:lnTo>
                  <a:pt x="4444997" y="0"/>
                </a:lnTo>
                <a:cubicBezTo>
                  <a:pt x="4480069" y="0"/>
                  <a:pt x="4508500" y="28431"/>
                  <a:pt x="4508500" y="63503"/>
                </a:cubicBezTo>
                <a:lnTo>
                  <a:pt x="4508500" y="888997"/>
                </a:lnTo>
                <a:cubicBezTo>
                  <a:pt x="4508500" y="924069"/>
                  <a:pt x="4480069" y="952500"/>
                  <a:pt x="444499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07941" y="1301506"/>
            <a:ext cx="42227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Bank Conflict</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507941" y="1650624"/>
            <a:ext cx="41989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Le tueur de performances de la Shared Memory</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17463" y="2190339"/>
            <a:ext cx="4508500" cy="2984356"/>
          </a:xfrm>
          <a:custGeom>
            <a:avLst/>
            <a:gdLst/>
            <a:ahLst/>
            <a:cxnLst/>
            <a:rect l="l" t="t" r="r" b="b"/>
            <a:pathLst>
              <a:path w="4508500" h="2984356">
                <a:moveTo>
                  <a:pt x="63480" y="0"/>
                </a:moveTo>
                <a:lnTo>
                  <a:pt x="4445020" y="0"/>
                </a:lnTo>
                <a:cubicBezTo>
                  <a:pt x="4480079" y="0"/>
                  <a:pt x="4508500" y="16802"/>
                  <a:pt x="4508500" y="37527"/>
                </a:cubicBezTo>
                <a:lnTo>
                  <a:pt x="4508500" y="2946829"/>
                </a:lnTo>
                <a:cubicBezTo>
                  <a:pt x="4508500" y="2967554"/>
                  <a:pt x="4480079" y="2984356"/>
                  <a:pt x="4445020" y="2984356"/>
                </a:cubicBezTo>
                <a:lnTo>
                  <a:pt x="63480" y="2984356"/>
                </a:lnTo>
                <a:cubicBezTo>
                  <a:pt x="28421" y="2984356"/>
                  <a:pt x="0" y="2967554"/>
                  <a:pt x="0" y="2946829"/>
                </a:cubicBezTo>
                <a:lnTo>
                  <a:pt x="0" y="37527"/>
                </a:lnTo>
                <a:cubicBezTo>
                  <a:pt x="0" y="16815"/>
                  <a:pt x="28444" y="0"/>
                  <a:pt x="6348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Freeform 7"/>
          <p:cNvSpPr/>
          <p:nvPr/>
        </p:nvSpPr>
        <p:spPr>
          <a:xfrm>
            <a:off x="495418" y="2380758"/>
            <a:ext cx="159929" cy="148827"/>
          </a:xfrm>
          <a:custGeom>
            <a:avLst/>
            <a:gdLst/>
            <a:ahLst/>
            <a:cxnLst/>
            <a:rect l="l" t="t" r="r" b="b"/>
            <a:pathLst>
              <a:path w="159929" h="148827">
                <a:moveTo>
                  <a:pt x="79964" y="0"/>
                </a:moveTo>
                <a:cubicBezTo>
                  <a:pt x="84522" y="0"/>
                  <a:pt x="88708" y="2511"/>
                  <a:pt x="90878" y="6511"/>
                </a:cubicBezTo>
                <a:lnTo>
                  <a:pt x="157851" y="130534"/>
                </a:lnTo>
                <a:cubicBezTo>
                  <a:pt x="159928" y="134379"/>
                  <a:pt x="159836" y="139029"/>
                  <a:pt x="157603" y="142782"/>
                </a:cubicBezTo>
                <a:cubicBezTo>
                  <a:pt x="155370" y="146534"/>
                  <a:pt x="151308" y="148827"/>
                  <a:pt x="146937" y="148827"/>
                </a:cubicBezTo>
                <a:lnTo>
                  <a:pt x="12991" y="148827"/>
                </a:lnTo>
                <a:cubicBezTo>
                  <a:pt x="8620" y="148827"/>
                  <a:pt x="4589" y="146534"/>
                  <a:pt x="2325" y="142782"/>
                </a:cubicBezTo>
                <a:cubicBezTo>
                  <a:pt x="62" y="139029"/>
                  <a:pt x="0" y="134379"/>
                  <a:pt x="2077" y="130534"/>
                </a:cubicBezTo>
                <a:lnTo>
                  <a:pt x="69050" y="6511"/>
                </a:lnTo>
                <a:cubicBezTo>
                  <a:pt x="71220" y="2511"/>
                  <a:pt x="75406" y="0"/>
                  <a:pt x="79964" y="0"/>
                </a:cubicBezTo>
                <a:close/>
                <a:moveTo>
                  <a:pt x="79964" y="52090"/>
                </a:moveTo>
                <a:cubicBezTo>
                  <a:pt x="75840" y="52090"/>
                  <a:pt x="72523" y="55408"/>
                  <a:pt x="72523" y="59531"/>
                </a:cubicBezTo>
                <a:lnTo>
                  <a:pt x="72523" y="94258"/>
                </a:lnTo>
                <a:cubicBezTo>
                  <a:pt x="72523" y="98382"/>
                  <a:pt x="75840" y="101699"/>
                  <a:pt x="79964" y="101699"/>
                </a:cubicBezTo>
                <a:cubicBezTo>
                  <a:pt x="84088" y="101699"/>
                  <a:pt x="87405" y="98382"/>
                  <a:pt x="87405" y="94258"/>
                </a:cubicBezTo>
                <a:lnTo>
                  <a:pt x="87405" y="59531"/>
                </a:lnTo>
                <a:cubicBezTo>
                  <a:pt x="87405" y="55408"/>
                  <a:pt x="84088" y="52090"/>
                  <a:pt x="79964" y="52090"/>
                </a:cubicBezTo>
                <a:close/>
                <a:moveTo>
                  <a:pt x="88243" y="119062"/>
                </a:moveTo>
                <a:cubicBezTo>
                  <a:pt x="88431" y="115990"/>
                  <a:pt x="86898" y="113066"/>
                  <a:pt x="84264" y="111473"/>
                </a:cubicBezTo>
                <a:cubicBezTo>
                  <a:pt x="81630" y="109879"/>
                  <a:pt x="78330" y="109879"/>
                  <a:pt x="75696" y="111473"/>
                </a:cubicBezTo>
                <a:cubicBezTo>
                  <a:pt x="73062" y="113066"/>
                  <a:pt x="71527" y="115990"/>
                  <a:pt x="71717" y="119062"/>
                </a:cubicBezTo>
                <a:cubicBezTo>
                  <a:pt x="71527" y="122135"/>
                  <a:pt x="73062" y="125059"/>
                  <a:pt x="75696" y="126652"/>
                </a:cubicBezTo>
                <a:cubicBezTo>
                  <a:pt x="78330" y="128246"/>
                  <a:pt x="81630" y="128246"/>
                  <a:pt x="84264" y="126652"/>
                </a:cubicBezTo>
                <a:cubicBezTo>
                  <a:pt x="86898" y="125059"/>
                  <a:pt x="88431" y="122135"/>
                  <a:pt x="88243" y="11906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AutoShape 8"/>
          <p:cNvSpPr/>
          <p:nvPr/>
        </p:nvSpPr>
        <p:spPr>
          <a:xfrm>
            <a:off x="674601" y="2349043"/>
            <a:ext cx="40719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Définition du problème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491960" y="2698281"/>
            <a:ext cx="4175046" cy="603250"/>
          </a:xfrm>
          <a:custGeom>
            <a:avLst/>
            <a:gdLst/>
            <a:ahLst/>
            <a:cxnLst/>
            <a:rect l="l" t="t" r="r" b="b"/>
            <a:pathLst>
              <a:path w="4175046" h="603250">
                <a:moveTo>
                  <a:pt x="31593" y="0"/>
                </a:moveTo>
                <a:lnTo>
                  <a:pt x="4111548" y="0"/>
                </a:lnTo>
                <a:cubicBezTo>
                  <a:pt x="4146617" y="0"/>
                  <a:pt x="4175046" y="28429"/>
                  <a:pt x="4175046" y="63497"/>
                </a:cubicBezTo>
                <a:lnTo>
                  <a:pt x="4175046" y="539753"/>
                </a:lnTo>
                <a:cubicBezTo>
                  <a:pt x="4175046" y="574821"/>
                  <a:pt x="4146617" y="603250"/>
                  <a:pt x="4111548" y="603250"/>
                </a:cubicBezTo>
                <a:lnTo>
                  <a:pt x="31593" y="603250"/>
                </a:lnTo>
                <a:cubicBezTo>
                  <a:pt x="14144" y="603250"/>
                  <a:pt x="0" y="589106"/>
                  <a:pt x="0" y="57165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Freeform 10"/>
          <p:cNvSpPr/>
          <p:nvPr/>
        </p:nvSpPr>
        <p:spPr>
          <a:xfrm>
            <a:off x="491960" y="2698281"/>
            <a:ext cx="31593" cy="603250"/>
          </a:xfrm>
          <a:custGeom>
            <a:avLst/>
            <a:gdLst/>
            <a:ahLst/>
            <a:cxnLst/>
            <a:rect l="l" t="t" r="r" b="b"/>
            <a:pathLst>
              <a:path w="31593" h="603250">
                <a:moveTo>
                  <a:pt x="31593" y="0"/>
                </a:moveTo>
                <a:lnTo>
                  <a:pt x="31593" y="0"/>
                </a:lnTo>
                <a:lnTo>
                  <a:pt x="31593" y="603250"/>
                </a:lnTo>
                <a:lnTo>
                  <a:pt x="31593" y="603250"/>
                </a:lnTo>
                <a:cubicBezTo>
                  <a:pt x="14144" y="603250"/>
                  <a:pt x="0" y="589106"/>
                  <a:pt x="0" y="571657"/>
                </a:cubicBezTo>
                <a:lnTo>
                  <a:pt x="0" y="31593"/>
                </a:lnTo>
                <a:cubicBezTo>
                  <a:pt x="0" y="14155"/>
                  <a:pt x="14155" y="0"/>
                  <a:pt x="3159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nvSpPr>
        <p:spPr>
          <a:xfrm>
            <a:off x="602964" y="2793488"/>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Plusieurs threads accèdent simultanément</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602964" y="3015684"/>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à la même bank</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491960" y="3396576"/>
            <a:ext cx="4175046" cy="603250"/>
          </a:xfrm>
          <a:custGeom>
            <a:avLst/>
            <a:gdLst/>
            <a:ahLst/>
            <a:cxnLst/>
            <a:rect l="l" t="t" r="r" b="b"/>
            <a:pathLst>
              <a:path w="4175046" h="603250">
                <a:moveTo>
                  <a:pt x="31593" y="0"/>
                </a:moveTo>
                <a:lnTo>
                  <a:pt x="4111548" y="0"/>
                </a:lnTo>
                <a:cubicBezTo>
                  <a:pt x="4146617" y="0"/>
                  <a:pt x="4175046" y="28429"/>
                  <a:pt x="4175046" y="63497"/>
                </a:cubicBezTo>
                <a:lnTo>
                  <a:pt x="4175046" y="539753"/>
                </a:lnTo>
                <a:cubicBezTo>
                  <a:pt x="4175046" y="574821"/>
                  <a:pt x="4146617" y="603250"/>
                  <a:pt x="4111548" y="603250"/>
                </a:cubicBezTo>
                <a:lnTo>
                  <a:pt x="31593" y="603250"/>
                </a:lnTo>
                <a:cubicBezTo>
                  <a:pt x="14144" y="603250"/>
                  <a:pt x="0" y="589106"/>
                  <a:pt x="0" y="57165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4" name="Freeform 14"/>
          <p:cNvSpPr/>
          <p:nvPr/>
        </p:nvSpPr>
        <p:spPr>
          <a:xfrm>
            <a:off x="491960" y="3396576"/>
            <a:ext cx="31593" cy="603250"/>
          </a:xfrm>
          <a:custGeom>
            <a:avLst/>
            <a:gdLst/>
            <a:ahLst/>
            <a:cxnLst/>
            <a:rect l="l" t="t" r="r" b="b"/>
            <a:pathLst>
              <a:path w="31593" h="603250">
                <a:moveTo>
                  <a:pt x="31593" y="0"/>
                </a:moveTo>
                <a:lnTo>
                  <a:pt x="31593" y="0"/>
                </a:lnTo>
                <a:lnTo>
                  <a:pt x="31593" y="603250"/>
                </a:lnTo>
                <a:lnTo>
                  <a:pt x="31593" y="603250"/>
                </a:lnTo>
                <a:cubicBezTo>
                  <a:pt x="14144" y="603250"/>
                  <a:pt x="0" y="589106"/>
                  <a:pt x="0" y="571657"/>
                </a:cubicBezTo>
                <a:lnTo>
                  <a:pt x="0" y="31593"/>
                </a:lnTo>
                <a:cubicBezTo>
                  <a:pt x="0" y="14155"/>
                  <a:pt x="14155" y="0"/>
                  <a:pt x="31593"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AutoShape 15"/>
          <p:cNvSpPr/>
          <p:nvPr/>
        </p:nvSpPr>
        <p:spPr>
          <a:xfrm>
            <a:off x="602964" y="3491783"/>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Les accès sont sérialisés</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AutoShape 16"/>
          <p:cNvSpPr/>
          <p:nvPr/>
        </p:nvSpPr>
        <p:spPr>
          <a:xfrm>
            <a:off x="602964" y="3713979"/>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Impossible d'exécuter en parallèle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491960" y="4094870"/>
            <a:ext cx="4175046" cy="603250"/>
          </a:xfrm>
          <a:custGeom>
            <a:avLst/>
            <a:gdLst/>
            <a:ahLst/>
            <a:cxnLst/>
            <a:rect l="l" t="t" r="r" b="b"/>
            <a:pathLst>
              <a:path w="4175046" h="603250">
                <a:moveTo>
                  <a:pt x="31593" y="0"/>
                </a:moveTo>
                <a:lnTo>
                  <a:pt x="4111548" y="0"/>
                </a:lnTo>
                <a:cubicBezTo>
                  <a:pt x="4146617" y="0"/>
                  <a:pt x="4175046" y="28429"/>
                  <a:pt x="4175046" y="63497"/>
                </a:cubicBezTo>
                <a:lnTo>
                  <a:pt x="4175046" y="539753"/>
                </a:lnTo>
                <a:cubicBezTo>
                  <a:pt x="4175046" y="574821"/>
                  <a:pt x="4146617" y="603250"/>
                  <a:pt x="4111548" y="603250"/>
                </a:cubicBezTo>
                <a:lnTo>
                  <a:pt x="31593" y="603250"/>
                </a:lnTo>
                <a:cubicBezTo>
                  <a:pt x="14144" y="603250"/>
                  <a:pt x="0" y="589106"/>
                  <a:pt x="0" y="57165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8" name="Freeform 18"/>
          <p:cNvSpPr/>
          <p:nvPr/>
        </p:nvSpPr>
        <p:spPr>
          <a:xfrm>
            <a:off x="491960" y="4094870"/>
            <a:ext cx="31593" cy="603250"/>
          </a:xfrm>
          <a:custGeom>
            <a:avLst/>
            <a:gdLst/>
            <a:ahLst/>
            <a:cxnLst/>
            <a:rect l="l" t="t" r="r" b="b"/>
            <a:pathLst>
              <a:path w="31593" h="603250">
                <a:moveTo>
                  <a:pt x="31593" y="0"/>
                </a:moveTo>
                <a:lnTo>
                  <a:pt x="31593" y="0"/>
                </a:lnTo>
                <a:lnTo>
                  <a:pt x="31593" y="603250"/>
                </a:lnTo>
                <a:lnTo>
                  <a:pt x="31593" y="603250"/>
                </a:lnTo>
                <a:cubicBezTo>
                  <a:pt x="14144" y="603250"/>
                  <a:pt x="0" y="589106"/>
                  <a:pt x="0" y="571657"/>
                </a:cubicBezTo>
                <a:lnTo>
                  <a:pt x="0" y="31593"/>
                </a:lnTo>
                <a:cubicBezTo>
                  <a:pt x="0" y="14155"/>
                  <a:pt x="14155" y="0"/>
                  <a:pt x="31593"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9" name="AutoShape 19"/>
          <p:cNvSpPr/>
          <p:nvPr/>
        </p:nvSpPr>
        <p:spPr>
          <a:xfrm>
            <a:off x="602964" y="4190081"/>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Baisse significative des performances</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AutoShape 20"/>
          <p:cNvSpPr/>
          <p:nvPr/>
        </p:nvSpPr>
        <p:spPr>
          <a:xfrm>
            <a:off x="602964" y="4412273"/>
            <a:ext cx="40322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Perte de l'avantage du parallélisme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5016470" y="1111029"/>
            <a:ext cx="6858000" cy="5334000"/>
          </a:xfrm>
          <a:custGeom>
            <a:avLst/>
            <a:gdLst/>
            <a:ahLst/>
            <a:cxnLst/>
            <a:rect l="l" t="t" r="r" b="b"/>
            <a:pathLst>
              <a:path w="6858000" h="5334000">
                <a:moveTo>
                  <a:pt x="63475" y="0"/>
                </a:moveTo>
                <a:lnTo>
                  <a:pt x="6794525" y="0"/>
                </a:lnTo>
                <a:cubicBezTo>
                  <a:pt x="6829581" y="0"/>
                  <a:pt x="6858000" y="28419"/>
                  <a:pt x="6858000" y="63475"/>
                </a:cubicBezTo>
                <a:lnTo>
                  <a:pt x="6858000" y="5270525"/>
                </a:lnTo>
                <a:cubicBezTo>
                  <a:pt x="6858000" y="5305581"/>
                  <a:pt x="6829581" y="5334000"/>
                  <a:pt x="6794525" y="5334000"/>
                </a:cubicBezTo>
                <a:lnTo>
                  <a:pt x="63475" y="5334000"/>
                </a:lnTo>
                <a:cubicBezTo>
                  <a:pt x="28419" y="5334000"/>
                  <a:pt x="0" y="5305581"/>
                  <a:pt x="0" y="5270525"/>
                </a:cubicBezTo>
                <a:lnTo>
                  <a:pt x="0" y="63475"/>
                </a:lnTo>
                <a:cubicBezTo>
                  <a:pt x="0" y="28442"/>
                  <a:pt x="28442" y="0"/>
                  <a:pt x="63475"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6691342" y="1269791"/>
            <a:ext cx="3213635" cy="4595062"/>
          </a:xfrm>
          <a:prstGeom prst="roundRect">
            <a:avLst>
              <a:gd name="adj" fmla="val 904"/>
            </a:avLst>
          </a:prstGeom>
          <a:ln w="12700">
            <a:noFill/>
            <a:prstDash val="solid"/>
          </a:ln>
        </p:spPr>
      </p:pic>
      <p:grpSp>
        <p:nvGrpSpPr>
          <p:cNvPr id="23" name="Group 23"/>
          <p:cNvGrpSpPr/>
          <p:nvPr/>
        </p:nvGrpSpPr>
        <p:grpSpPr>
          <a:xfrm>
            <a:off x="5024368" y="6039674"/>
            <a:ext cx="6842061" cy="650796"/>
            <a:chOff x="5024368" y="6039674"/>
            <a:chExt cx="6842061" cy="650796"/>
          </a:xfrm>
        </p:grpSpPr>
        <p:sp>
          <p:nvSpPr>
            <p:cNvPr id="24" name="Freeform 24"/>
            <p:cNvSpPr/>
            <p:nvPr/>
          </p:nvSpPr>
          <p:spPr>
            <a:xfrm>
              <a:off x="5024368" y="6039674"/>
              <a:ext cx="2206546" cy="650796"/>
            </a:xfrm>
            <a:custGeom>
              <a:avLst/>
              <a:gdLst/>
              <a:ahLst/>
              <a:cxnLst/>
              <a:rect l="l" t="t" r="r" b="b"/>
              <a:pathLst>
                <a:path w="2206546" h="650796">
                  <a:moveTo>
                    <a:pt x="63497" y="0"/>
                  </a:moveTo>
                  <a:lnTo>
                    <a:pt x="2143048" y="0"/>
                  </a:lnTo>
                  <a:cubicBezTo>
                    <a:pt x="2178117" y="0"/>
                    <a:pt x="2206546" y="28429"/>
                    <a:pt x="2206546" y="63497"/>
                  </a:cubicBezTo>
                  <a:lnTo>
                    <a:pt x="2206546" y="587298"/>
                  </a:lnTo>
                  <a:cubicBezTo>
                    <a:pt x="2206546" y="622367"/>
                    <a:pt x="2178117" y="650796"/>
                    <a:pt x="2143048" y="650796"/>
                  </a:cubicBezTo>
                  <a:lnTo>
                    <a:pt x="63497" y="650796"/>
                  </a:lnTo>
                  <a:cubicBezTo>
                    <a:pt x="28429" y="650796"/>
                    <a:pt x="0" y="622367"/>
                    <a:pt x="0" y="587298"/>
                  </a:cubicBezTo>
                  <a:lnTo>
                    <a:pt x="0" y="63497"/>
                  </a:lnTo>
                  <a:cubicBezTo>
                    <a:pt x="0" y="28453"/>
                    <a:pt x="28453" y="0"/>
                    <a:pt x="634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endParaRPr sz="1200"/>
            </a:p>
          </p:txBody>
        </p:sp>
        <p:sp>
          <p:nvSpPr>
            <p:cNvPr id="25" name="AutoShape 25"/>
            <p:cNvSpPr/>
            <p:nvPr/>
          </p:nvSpPr>
          <p:spPr>
            <a:xfrm>
              <a:off x="5079849" y="6142781"/>
              <a:ext cx="20955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5099693" y="6428403"/>
              <a:ext cx="20558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7342126" y="6039674"/>
              <a:ext cx="2206546" cy="650796"/>
            </a:xfrm>
            <a:custGeom>
              <a:avLst/>
              <a:gdLst/>
              <a:ahLst/>
              <a:cxnLst/>
              <a:rect l="l" t="t" r="r" b="b"/>
              <a:pathLst>
                <a:path w="2206546" h="650796">
                  <a:moveTo>
                    <a:pt x="63497" y="0"/>
                  </a:moveTo>
                  <a:lnTo>
                    <a:pt x="2143048" y="0"/>
                  </a:lnTo>
                  <a:cubicBezTo>
                    <a:pt x="2178117" y="0"/>
                    <a:pt x="2206546" y="28429"/>
                    <a:pt x="2206546" y="63497"/>
                  </a:cubicBezTo>
                  <a:lnTo>
                    <a:pt x="2206546" y="587298"/>
                  </a:lnTo>
                  <a:cubicBezTo>
                    <a:pt x="2206546" y="622367"/>
                    <a:pt x="2178117" y="650796"/>
                    <a:pt x="2143048" y="650796"/>
                  </a:cubicBezTo>
                  <a:lnTo>
                    <a:pt x="63497" y="650796"/>
                  </a:lnTo>
                  <a:cubicBezTo>
                    <a:pt x="28429" y="650796"/>
                    <a:pt x="0" y="622367"/>
                    <a:pt x="0" y="587298"/>
                  </a:cubicBezTo>
                  <a:lnTo>
                    <a:pt x="0" y="63497"/>
                  </a:lnTo>
                  <a:cubicBezTo>
                    <a:pt x="0" y="28453"/>
                    <a:pt x="28453" y="0"/>
                    <a:pt x="634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endParaRPr sz="1200"/>
            </a:p>
          </p:txBody>
        </p:sp>
        <p:sp>
          <p:nvSpPr>
            <p:cNvPr id="28" name="AutoShape 28"/>
            <p:cNvSpPr/>
            <p:nvPr/>
          </p:nvSpPr>
          <p:spPr>
            <a:xfrm>
              <a:off x="7397607" y="6142781"/>
              <a:ext cx="20955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7417450" y="6428403"/>
              <a:ext cx="20558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bank</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Freeform 30"/>
            <p:cNvSpPr/>
            <p:nvPr/>
          </p:nvSpPr>
          <p:spPr>
            <a:xfrm>
              <a:off x="9659883" y="6039674"/>
              <a:ext cx="2206546" cy="650796"/>
            </a:xfrm>
            <a:custGeom>
              <a:avLst/>
              <a:gdLst/>
              <a:ahLst/>
              <a:cxnLst/>
              <a:rect l="l" t="t" r="r" b="b"/>
              <a:pathLst>
                <a:path w="2206546" h="650796">
                  <a:moveTo>
                    <a:pt x="63497" y="0"/>
                  </a:moveTo>
                  <a:lnTo>
                    <a:pt x="2143048" y="0"/>
                  </a:lnTo>
                  <a:cubicBezTo>
                    <a:pt x="2178117" y="0"/>
                    <a:pt x="2206546" y="28429"/>
                    <a:pt x="2206546" y="63497"/>
                  </a:cubicBezTo>
                  <a:lnTo>
                    <a:pt x="2206546" y="587298"/>
                  </a:lnTo>
                  <a:cubicBezTo>
                    <a:pt x="2206546" y="622367"/>
                    <a:pt x="2178117" y="650796"/>
                    <a:pt x="2143048" y="650796"/>
                  </a:cubicBezTo>
                  <a:lnTo>
                    <a:pt x="63497" y="650796"/>
                  </a:lnTo>
                  <a:cubicBezTo>
                    <a:pt x="28429" y="650796"/>
                    <a:pt x="0" y="622367"/>
                    <a:pt x="0" y="587298"/>
                  </a:cubicBezTo>
                  <a:lnTo>
                    <a:pt x="0" y="63497"/>
                  </a:lnTo>
                  <a:cubicBezTo>
                    <a:pt x="0" y="28453"/>
                    <a:pt x="28453" y="0"/>
                    <a:pt x="63497"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endParaRPr sz="1200"/>
            </a:p>
          </p:txBody>
        </p:sp>
        <p:sp>
          <p:nvSpPr>
            <p:cNvPr id="31" name="AutoShape 31"/>
            <p:cNvSpPr/>
            <p:nvPr/>
          </p:nvSpPr>
          <p:spPr>
            <a:xfrm>
              <a:off x="9715364" y="6142781"/>
              <a:ext cx="2095500" cy="2540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N×</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9735208" y="6428403"/>
              <a:ext cx="2055813" cy="1587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slower</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grpSp>
      <p:sp>
        <p:nvSpPr>
          <p:cNvPr id="33" name="AutoShape 33"/>
          <p:cNvSpPr/>
          <p:nvPr/>
        </p:nvSpPr>
        <p:spPr>
          <a:xfrm>
            <a:off x="317780" y="6698397"/>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UIC Mathematics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498" y="598795"/>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Situation sans Bank Conflict</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33235"/>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07"/>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Situation idéale</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609529" y="1980749"/>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Chaque thread accède à une bank différente</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80956" y="2590947"/>
            <a:ext cx="5600700" cy="3581400"/>
          </a:xfrm>
          <a:custGeom>
            <a:avLst/>
            <a:gdLst/>
            <a:ahLst/>
            <a:cxnLst/>
            <a:rect l="l" t="t" r="r" b="b"/>
            <a:pathLst>
              <a:path w="5600700" h="3581400">
                <a:moveTo>
                  <a:pt x="76211" y="0"/>
                </a:moveTo>
                <a:lnTo>
                  <a:pt x="5524489" y="0"/>
                </a:lnTo>
                <a:cubicBezTo>
                  <a:pt x="5566579" y="0"/>
                  <a:pt x="5600700" y="34121"/>
                  <a:pt x="5600700" y="76211"/>
                </a:cubicBezTo>
                <a:lnTo>
                  <a:pt x="5600700" y="3505189"/>
                </a:lnTo>
                <a:cubicBezTo>
                  <a:pt x="5600700" y="3547279"/>
                  <a:pt x="5566579" y="3581400"/>
                  <a:pt x="5524489" y="3581400"/>
                </a:cubicBezTo>
                <a:lnTo>
                  <a:pt x="76211" y="3581400"/>
                </a:lnTo>
                <a:cubicBezTo>
                  <a:pt x="34121" y="3581400"/>
                  <a:pt x="0" y="3547279"/>
                  <a:pt x="0" y="3505189"/>
                </a:cubicBezTo>
                <a:lnTo>
                  <a:pt x="0" y="76211"/>
                </a:lnTo>
                <a:cubicBezTo>
                  <a:pt x="0" y="34150"/>
                  <a:pt x="34150"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5209" y="2856909"/>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09521" y="2818847"/>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Mode d'accès</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custDataLst>
              <p:tags r:id="rId1"/>
            </p:custDataLst>
          </p:nvPr>
        </p:nvSpPr>
        <p:spPr>
          <a:xfrm>
            <a:off x="590352" y="3237937"/>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Freeform 10"/>
          <p:cNvSpPr/>
          <p:nvPr>
            <p:custDataLst>
              <p:tags r:id="rId2"/>
            </p:custDataLst>
          </p:nvPr>
        </p:nvSpPr>
        <p:spPr>
          <a:xfrm>
            <a:off x="590352" y="3237937"/>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custDataLst>
              <p:tags r:id="rId3"/>
            </p:custDataLst>
          </p:nvPr>
        </p:nvSpPr>
        <p:spPr>
          <a:xfrm>
            <a:off x="685498" y="3352191"/>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custDataLst>
              <p:tags r:id="rId4"/>
            </p:custDataLst>
          </p:nvPr>
        </p:nvSpPr>
        <p:spPr>
          <a:xfrm>
            <a:off x="1714115" y="3314128"/>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custDataLst>
              <p:tags r:id="rId5"/>
            </p:custDataLst>
          </p:nvPr>
        </p:nvSpPr>
        <p:spPr>
          <a:xfrm>
            <a:off x="2057012" y="3352191"/>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custDataLst>
              <p:tags r:id="rId6"/>
            </p:custDataLst>
          </p:nvPr>
        </p:nvSpPr>
        <p:spPr>
          <a:xfrm>
            <a:off x="590352" y="3771198"/>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Freeform 15"/>
          <p:cNvSpPr/>
          <p:nvPr>
            <p:custDataLst>
              <p:tags r:id="rId7"/>
            </p:custDataLst>
          </p:nvPr>
        </p:nvSpPr>
        <p:spPr>
          <a:xfrm>
            <a:off x="590352" y="3771198"/>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6" name="AutoShape 16"/>
          <p:cNvSpPr/>
          <p:nvPr>
            <p:custDataLst>
              <p:tags r:id="rId8"/>
            </p:custDataLst>
          </p:nvPr>
        </p:nvSpPr>
        <p:spPr>
          <a:xfrm>
            <a:off x="685498" y="3885451"/>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1</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custDataLst>
              <p:tags r:id="rId9"/>
            </p:custDataLst>
          </p:nvPr>
        </p:nvSpPr>
        <p:spPr>
          <a:xfrm>
            <a:off x="1714115" y="3847398"/>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custDataLst>
              <p:tags r:id="rId10"/>
            </p:custDataLst>
          </p:nvPr>
        </p:nvSpPr>
        <p:spPr>
          <a:xfrm>
            <a:off x="2057012" y="3885451"/>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1</a:t>
            </a:r>
            <a:endPar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custDataLst>
              <p:tags r:id="rId11"/>
            </p:custDataLst>
          </p:nvPr>
        </p:nvSpPr>
        <p:spPr>
          <a:xfrm>
            <a:off x="590352" y="4304467"/>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0" name="Freeform 20"/>
          <p:cNvSpPr/>
          <p:nvPr>
            <p:custDataLst>
              <p:tags r:id="rId12"/>
            </p:custDataLst>
          </p:nvPr>
        </p:nvSpPr>
        <p:spPr>
          <a:xfrm>
            <a:off x="590352" y="4304467"/>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09"/>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AutoShape 21"/>
          <p:cNvSpPr/>
          <p:nvPr>
            <p:custDataLst>
              <p:tags r:id="rId13"/>
            </p:custDataLst>
          </p:nvPr>
        </p:nvSpPr>
        <p:spPr>
          <a:xfrm>
            <a:off x="685498" y="4418712"/>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2</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custDataLst>
              <p:tags r:id="rId14"/>
            </p:custDataLst>
          </p:nvPr>
        </p:nvSpPr>
        <p:spPr>
          <a:xfrm>
            <a:off x="1714115" y="4380658"/>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custDataLst>
              <p:tags r:id="rId15"/>
            </p:custDataLst>
          </p:nvPr>
        </p:nvSpPr>
        <p:spPr>
          <a:xfrm>
            <a:off x="2057012" y="4418712"/>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2</a:t>
            </a:r>
            <a:endPar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custDataLst>
              <p:tags r:id="rId16"/>
            </p:custDataLst>
          </p:nvPr>
        </p:nvSpPr>
        <p:spPr>
          <a:xfrm>
            <a:off x="590352" y="4837728"/>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Freeform 25"/>
          <p:cNvSpPr/>
          <p:nvPr>
            <p:custDataLst>
              <p:tags r:id="rId17"/>
            </p:custDataLst>
          </p:nvPr>
        </p:nvSpPr>
        <p:spPr>
          <a:xfrm>
            <a:off x="590352" y="4837728"/>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6" name="AutoShape 26"/>
          <p:cNvSpPr/>
          <p:nvPr>
            <p:custDataLst>
              <p:tags r:id="rId18"/>
            </p:custDataLst>
          </p:nvPr>
        </p:nvSpPr>
        <p:spPr>
          <a:xfrm>
            <a:off x="685498" y="4951981"/>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3</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custDataLst>
              <p:tags r:id="rId19"/>
            </p:custDataLst>
          </p:nvPr>
        </p:nvSpPr>
        <p:spPr>
          <a:xfrm>
            <a:off x="1714115" y="4913919"/>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custDataLst>
              <p:tags r:id="rId20"/>
            </p:custDataLst>
          </p:nvPr>
        </p:nvSpPr>
        <p:spPr>
          <a:xfrm>
            <a:off x="2057012" y="4951981"/>
            <a:ext cx="5810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bank 3</a:t>
            </a:r>
            <a:endParaRPr lang="en-US" sz="120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Freeform 29"/>
          <p:cNvSpPr/>
          <p:nvPr/>
        </p:nvSpPr>
        <p:spPr>
          <a:xfrm>
            <a:off x="6248379" y="1255765"/>
            <a:ext cx="5600700" cy="3657600"/>
          </a:xfrm>
          <a:custGeom>
            <a:avLst/>
            <a:gdLst/>
            <a:ahLst/>
            <a:cxnLst/>
            <a:rect l="l" t="t" r="r" b="b"/>
            <a:pathLst>
              <a:path w="5600700" h="3657600">
                <a:moveTo>
                  <a:pt x="76189" y="0"/>
                </a:moveTo>
                <a:lnTo>
                  <a:pt x="5524511" y="0"/>
                </a:lnTo>
                <a:cubicBezTo>
                  <a:pt x="5566590" y="0"/>
                  <a:pt x="5600700" y="34110"/>
                  <a:pt x="5600700" y="76189"/>
                </a:cubicBezTo>
                <a:lnTo>
                  <a:pt x="5600700" y="3581411"/>
                </a:lnTo>
                <a:cubicBezTo>
                  <a:pt x="5600700" y="3623490"/>
                  <a:pt x="5566590" y="3657600"/>
                  <a:pt x="5524511" y="3657600"/>
                </a:cubicBezTo>
                <a:lnTo>
                  <a:pt x="76189" y="3657600"/>
                </a:lnTo>
                <a:cubicBezTo>
                  <a:pt x="34110" y="3657600"/>
                  <a:pt x="0" y="3623490"/>
                  <a:pt x="0" y="3581411"/>
                </a:cubicBezTo>
                <a:lnTo>
                  <a:pt x="0" y="76189"/>
                </a:lnTo>
                <a:cubicBezTo>
                  <a:pt x="0" y="34110"/>
                  <a:pt x="34110" y="0"/>
                  <a:pt x="76189"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210279" y="5143756"/>
            <a:ext cx="5600700" cy="1066800"/>
          </a:xfrm>
          <a:custGeom>
            <a:avLst/>
            <a:gdLst/>
            <a:ahLst/>
            <a:cxnLst/>
            <a:rect l="l" t="t" r="r" b="b"/>
            <a:pathLst>
              <a:path w="5600700" h="1066800">
                <a:moveTo>
                  <a:pt x="76203" y="0"/>
                </a:moveTo>
                <a:lnTo>
                  <a:pt x="5524497" y="0"/>
                </a:lnTo>
                <a:cubicBezTo>
                  <a:pt x="5566583" y="0"/>
                  <a:pt x="5600700" y="34117"/>
                  <a:pt x="5600700" y="76203"/>
                </a:cubicBezTo>
                <a:lnTo>
                  <a:pt x="5600700" y="990597"/>
                </a:lnTo>
                <a:cubicBezTo>
                  <a:pt x="5600700" y="1032683"/>
                  <a:pt x="5566583" y="1066800"/>
                  <a:pt x="5524497" y="1066800"/>
                </a:cubicBezTo>
                <a:lnTo>
                  <a:pt x="76203" y="1066800"/>
                </a:lnTo>
                <a:cubicBezTo>
                  <a:pt x="34117" y="1066800"/>
                  <a:pt x="0" y="1032683"/>
                  <a:pt x="0" y="990597"/>
                </a:cubicBezTo>
                <a:lnTo>
                  <a:pt x="0" y="76203"/>
                </a:lnTo>
                <a:cubicBezTo>
                  <a:pt x="0" y="34145"/>
                  <a:pt x="34145" y="0"/>
                  <a:pt x="762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329282" y="5334191"/>
            <a:ext cx="53625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Accès parallèle</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6357857" y="5753207"/>
            <a:ext cx="53054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Performance maximale</a:t>
            </a:r>
            <a:endParaRPr lang="en-US" sz="1200"/>
          </a:p>
        </p:txBody>
      </p:sp>
      <p:sp>
        <p:nvSpPr>
          <p:cNvPr id="33" name="AutoShape 33"/>
          <p:cNvSpPr/>
          <p:nvPr/>
        </p:nvSpPr>
        <p:spPr>
          <a:xfrm>
            <a:off x="314281" y="6286542"/>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4757" y="618924"/>
            <a:ext cx="11699875" cy="3175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Bank Conflict </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17463" y="1111033"/>
            <a:ext cx="5683250" cy="952500"/>
          </a:xfrm>
          <a:custGeom>
            <a:avLst/>
            <a:gdLst/>
            <a:ahLst/>
            <a:cxnLst/>
            <a:rect l="l" t="t" r="r" b="b"/>
            <a:pathLst>
              <a:path w="5683250" h="952500">
                <a:moveTo>
                  <a:pt x="63503" y="0"/>
                </a:moveTo>
                <a:lnTo>
                  <a:pt x="5619747" y="0"/>
                </a:lnTo>
                <a:cubicBezTo>
                  <a:pt x="5654819" y="0"/>
                  <a:pt x="5683250" y="28431"/>
                  <a:pt x="5683250" y="63503"/>
                </a:cubicBezTo>
                <a:lnTo>
                  <a:pt x="5683250" y="888997"/>
                </a:lnTo>
                <a:cubicBezTo>
                  <a:pt x="5683250" y="924069"/>
                  <a:pt x="5654819" y="952500"/>
                  <a:pt x="561974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07941" y="1301510"/>
            <a:ext cx="53975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Cas de conflit</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507941" y="1650628"/>
            <a:ext cx="537368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Acc</a:t>
            </a:r>
            <a:r>
              <a:rPr lang="en-US" alt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 concurrents de plusieurs threads à la m</a:t>
            </a:r>
            <a:r>
              <a:rPr lang="en-US" alt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ê</a:t>
            </a: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me banque m</a:t>
            </a:r>
            <a:r>
              <a:rPr lang="en-US" alt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moire</a:t>
            </a:r>
            <a:endParaRPr lang="en-US" altLang="zh-CN"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17500" y="2190115"/>
            <a:ext cx="5683250" cy="4521200"/>
          </a:xfrm>
          <a:custGeom>
            <a:avLst/>
            <a:gdLst/>
            <a:ahLst/>
            <a:cxnLst/>
            <a:rect l="l" t="t" r="r" b="b"/>
            <a:pathLst>
              <a:path w="5683250" h="6000750">
                <a:moveTo>
                  <a:pt x="63482" y="0"/>
                </a:moveTo>
                <a:lnTo>
                  <a:pt x="5619768" y="0"/>
                </a:lnTo>
                <a:cubicBezTo>
                  <a:pt x="5654827" y="0"/>
                  <a:pt x="5683250" y="28423"/>
                  <a:pt x="5683250" y="63482"/>
                </a:cubicBezTo>
                <a:lnTo>
                  <a:pt x="5683250" y="5937268"/>
                </a:lnTo>
                <a:cubicBezTo>
                  <a:pt x="5683250" y="5972327"/>
                  <a:pt x="5654827" y="6000750"/>
                  <a:pt x="5619768" y="6000750"/>
                </a:cubicBezTo>
                <a:lnTo>
                  <a:pt x="63482" y="6000750"/>
                </a:lnTo>
                <a:cubicBezTo>
                  <a:pt x="28423" y="6000750"/>
                  <a:pt x="0" y="5972327"/>
                  <a:pt x="0" y="5937268"/>
                </a:cubicBezTo>
                <a:lnTo>
                  <a:pt x="0" y="63482"/>
                </a:lnTo>
                <a:cubicBezTo>
                  <a:pt x="0" y="28445"/>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96007" y="2380762"/>
            <a:ext cx="158750" cy="158750"/>
          </a:xfrm>
          <a:custGeom>
            <a:avLst/>
            <a:gdLst/>
            <a:ahLst/>
            <a:cxnLst/>
            <a:rect l="l" t="t" r="r" b="b"/>
            <a:pathLst>
              <a:path w="158750" h="158750">
                <a:moveTo>
                  <a:pt x="79375" y="158750"/>
                </a:moveTo>
                <a:cubicBezTo>
                  <a:pt x="123182" y="158750"/>
                  <a:pt x="158750" y="123182"/>
                  <a:pt x="158750" y="79375"/>
                </a:cubicBezTo>
                <a:cubicBezTo>
                  <a:pt x="158750" y="35568"/>
                  <a:pt x="123182" y="0"/>
                  <a:pt x="79375" y="0"/>
                </a:cubicBezTo>
                <a:cubicBezTo>
                  <a:pt x="35568" y="0"/>
                  <a:pt x="0" y="35568"/>
                  <a:pt x="0" y="79375"/>
                </a:cubicBezTo>
                <a:cubicBezTo>
                  <a:pt x="0" y="123182"/>
                  <a:pt x="35568" y="158750"/>
                  <a:pt x="79375" y="158750"/>
                </a:cubicBezTo>
                <a:close/>
                <a:moveTo>
                  <a:pt x="51780" y="51780"/>
                </a:moveTo>
                <a:cubicBezTo>
                  <a:pt x="54694" y="48865"/>
                  <a:pt x="59407" y="48865"/>
                  <a:pt x="62291" y="51780"/>
                </a:cubicBezTo>
                <a:lnTo>
                  <a:pt x="79345" y="68833"/>
                </a:lnTo>
                <a:lnTo>
                  <a:pt x="96397" y="51780"/>
                </a:lnTo>
                <a:cubicBezTo>
                  <a:pt x="99311" y="48865"/>
                  <a:pt x="104024" y="48865"/>
                  <a:pt x="106909" y="51780"/>
                </a:cubicBezTo>
                <a:cubicBezTo>
                  <a:pt x="109791" y="54694"/>
                  <a:pt x="109823" y="59407"/>
                  <a:pt x="106909" y="62291"/>
                </a:cubicBezTo>
                <a:lnTo>
                  <a:pt x="89855" y="79345"/>
                </a:lnTo>
                <a:lnTo>
                  <a:pt x="106909" y="96397"/>
                </a:lnTo>
                <a:cubicBezTo>
                  <a:pt x="109823" y="99311"/>
                  <a:pt x="109823" y="104024"/>
                  <a:pt x="106909" y="106909"/>
                </a:cubicBezTo>
                <a:cubicBezTo>
                  <a:pt x="103994" y="109792"/>
                  <a:pt x="99281" y="109823"/>
                  <a:pt x="96397" y="106909"/>
                </a:cubicBezTo>
                <a:lnTo>
                  <a:pt x="79345" y="89855"/>
                </a:lnTo>
                <a:lnTo>
                  <a:pt x="62291" y="106909"/>
                </a:lnTo>
                <a:cubicBezTo>
                  <a:pt x="59376" y="109823"/>
                  <a:pt x="54663" y="109823"/>
                  <a:pt x="51780" y="106909"/>
                </a:cubicBezTo>
                <a:cubicBezTo>
                  <a:pt x="48896" y="103994"/>
                  <a:pt x="48865" y="99281"/>
                  <a:pt x="51780" y="96397"/>
                </a:cubicBezTo>
                <a:lnTo>
                  <a:pt x="68833" y="79345"/>
                </a:lnTo>
                <a:lnTo>
                  <a:pt x="51780" y="62291"/>
                </a:lnTo>
                <a:cubicBezTo>
                  <a:pt x="48865" y="59376"/>
                  <a:pt x="48865" y="54663"/>
                  <a:pt x="51780" y="5178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74601" y="2349043"/>
            <a:ext cx="524668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Mode d'accès</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491960" y="2698285"/>
            <a:ext cx="5349796" cy="381000"/>
          </a:xfrm>
          <a:custGeom>
            <a:avLst/>
            <a:gdLst/>
            <a:ahLst/>
            <a:cxnLst/>
            <a:rect l="l" t="t" r="r" b="b"/>
            <a:pathLst>
              <a:path w="5349796" h="381000">
                <a:moveTo>
                  <a:pt x="31593" y="0"/>
                </a:moveTo>
                <a:lnTo>
                  <a:pt x="5286295" y="0"/>
                </a:lnTo>
                <a:cubicBezTo>
                  <a:pt x="5321366" y="0"/>
                  <a:pt x="5349796" y="28430"/>
                  <a:pt x="5349796" y="63501"/>
                </a:cubicBezTo>
                <a:lnTo>
                  <a:pt x="5349796" y="317499"/>
                </a:lnTo>
                <a:cubicBezTo>
                  <a:pt x="5349796" y="352570"/>
                  <a:pt x="5321366" y="381000"/>
                  <a:pt x="5286295" y="381000"/>
                </a:cubicBezTo>
                <a:lnTo>
                  <a:pt x="31593" y="381000"/>
                </a:lnTo>
                <a:cubicBezTo>
                  <a:pt x="14144" y="381000"/>
                  <a:pt x="0" y="366856"/>
                  <a:pt x="0" y="34940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91960" y="2698285"/>
            <a:ext cx="31593" cy="381000"/>
          </a:xfrm>
          <a:custGeom>
            <a:avLst/>
            <a:gdLst/>
            <a:ahLst/>
            <a:cxnLst/>
            <a:rect l="l" t="t" r="r" b="b"/>
            <a:pathLst>
              <a:path w="31593" h="381000">
                <a:moveTo>
                  <a:pt x="31593" y="0"/>
                </a:moveTo>
                <a:lnTo>
                  <a:pt x="31593" y="0"/>
                </a:lnTo>
                <a:lnTo>
                  <a:pt x="31593" y="381000"/>
                </a:lnTo>
                <a:lnTo>
                  <a:pt x="31593" y="381000"/>
                </a:lnTo>
                <a:cubicBezTo>
                  <a:pt x="14144" y="381000"/>
                  <a:pt x="0" y="366856"/>
                  <a:pt x="0" y="349407"/>
                </a:cubicBezTo>
                <a:lnTo>
                  <a:pt x="0" y="31593"/>
                </a:lnTo>
                <a:cubicBezTo>
                  <a:pt x="0" y="14155"/>
                  <a:pt x="14155" y="0"/>
                  <a:pt x="3159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71248" y="2793496"/>
            <a:ext cx="825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0</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1428429" y="2761777"/>
            <a:ext cx="2857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1713865" y="2793365"/>
            <a:ext cx="163639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491960" y="3142669"/>
            <a:ext cx="5349796" cy="381000"/>
          </a:xfrm>
          <a:custGeom>
            <a:avLst/>
            <a:gdLst/>
            <a:ahLst/>
            <a:cxnLst/>
            <a:rect l="l" t="t" r="r" b="b"/>
            <a:pathLst>
              <a:path w="5349796" h="381000">
                <a:moveTo>
                  <a:pt x="31593" y="0"/>
                </a:moveTo>
                <a:lnTo>
                  <a:pt x="5286295" y="0"/>
                </a:lnTo>
                <a:cubicBezTo>
                  <a:pt x="5321366" y="0"/>
                  <a:pt x="5349796" y="28430"/>
                  <a:pt x="5349796" y="63501"/>
                </a:cubicBezTo>
                <a:lnTo>
                  <a:pt x="5349796" y="317499"/>
                </a:lnTo>
                <a:cubicBezTo>
                  <a:pt x="5349796" y="352570"/>
                  <a:pt x="5321366" y="381000"/>
                  <a:pt x="5286295" y="381000"/>
                </a:cubicBezTo>
                <a:lnTo>
                  <a:pt x="31593" y="381000"/>
                </a:lnTo>
                <a:cubicBezTo>
                  <a:pt x="14144" y="381000"/>
                  <a:pt x="0" y="366856"/>
                  <a:pt x="0" y="34940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91960" y="3142669"/>
            <a:ext cx="31593" cy="381000"/>
          </a:xfrm>
          <a:custGeom>
            <a:avLst/>
            <a:gdLst/>
            <a:ahLst/>
            <a:cxnLst/>
            <a:rect l="l" t="t" r="r" b="b"/>
            <a:pathLst>
              <a:path w="31593" h="381000">
                <a:moveTo>
                  <a:pt x="31593" y="0"/>
                </a:moveTo>
                <a:lnTo>
                  <a:pt x="31593" y="0"/>
                </a:lnTo>
                <a:lnTo>
                  <a:pt x="31593" y="381000"/>
                </a:lnTo>
                <a:lnTo>
                  <a:pt x="31593" y="381000"/>
                </a:lnTo>
                <a:cubicBezTo>
                  <a:pt x="14144" y="381000"/>
                  <a:pt x="0" y="366856"/>
                  <a:pt x="0" y="349407"/>
                </a:cubicBezTo>
                <a:lnTo>
                  <a:pt x="0" y="31593"/>
                </a:lnTo>
                <a:cubicBezTo>
                  <a:pt x="0" y="14155"/>
                  <a:pt x="14155" y="0"/>
                  <a:pt x="3159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571248" y="3237880"/>
            <a:ext cx="825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1</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1428429" y="3206161"/>
            <a:ext cx="2857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1713865" y="3237865"/>
            <a:ext cx="163639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491960" y="3587060"/>
            <a:ext cx="5349796" cy="381000"/>
          </a:xfrm>
          <a:custGeom>
            <a:avLst/>
            <a:gdLst/>
            <a:ahLst/>
            <a:cxnLst/>
            <a:rect l="l" t="t" r="r" b="b"/>
            <a:pathLst>
              <a:path w="5349796" h="381000">
                <a:moveTo>
                  <a:pt x="31593" y="0"/>
                </a:moveTo>
                <a:lnTo>
                  <a:pt x="5286295" y="0"/>
                </a:lnTo>
                <a:cubicBezTo>
                  <a:pt x="5321366" y="0"/>
                  <a:pt x="5349796" y="28430"/>
                  <a:pt x="5349796" y="63501"/>
                </a:cubicBezTo>
                <a:lnTo>
                  <a:pt x="5349796" y="317499"/>
                </a:lnTo>
                <a:cubicBezTo>
                  <a:pt x="5349796" y="352570"/>
                  <a:pt x="5321366" y="381000"/>
                  <a:pt x="5286295" y="381000"/>
                </a:cubicBezTo>
                <a:lnTo>
                  <a:pt x="31593" y="381000"/>
                </a:lnTo>
                <a:cubicBezTo>
                  <a:pt x="14144" y="381000"/>
                  <a:pt x="0" y="366856"/>
                  <a:pt x="0" y="34940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491960" y="3587060"/>
            <a:ext cx="31593" cy="381000"/>
          </a:xfrm>
          <a:custGeom>
            <a:avLst/>
            <a:gdLst/>
            <a:ahLst/>
            <a:cxnLst/>
            <a:rect l="l" t="t" r="r" b="b"/>
            <a:pathLst>
              <a:path w="31593" h="381000">
                <a:moveTo>
                  <a:pt x="31593" y="0"/>
                </a:moveTo>
                <a:lnTo>
                  <a:pt x="31593" y="0"/>
                </a:lnTo>
                <a:lnTo>
                  <a:pt x="31593" y="381000"/>
                </a:lnTo>
                <a:lnTo>
                  <a:pt x="31593" y="381000"/>
                </a:lnTo>
                <a:cubicBezTo>
                  <a:pt x="14144" y="381000"/>
                  <a:pt x="0" y="366856"/>
                  <a:pt x="0" y="349407"/>
                </a:cubicBezTo>
                <a:lnTo>
                  <a:pt x="0" y="31593"/>
                </a:lnTo>
                <a:cubicBezTo>
                  <a:pt x="0" y="14155"/>
                  <a:pt x="14155" y="0"/>
                  <a:pt x="3159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71248" y="3682264"/>
            <a:ext cx="825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2</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1428429" y="3650552"/>
            <a:ext cx="2857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1713865" y="3682365"/>
            <a:ext cx="163639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491960" y="4031444"/>
            <a:ext cx="5349796" cy="381000"/>
          </a:xfrm>
          <a:custGeom>
            <a:avLst/>
            <a:gdLst/>
            <a:ahLst/>
            <a:cxnLst/>
            <a:rect l="l" t="t" r="r" b="b"/>
            <a:pathLst>
              <a:path w="5349796" h="381000">
                <a:moveTo>
                  <a:pt x="31593" y="0"/>
                </a:moveTo>
                <a:lnTo>
                  <a:pt x="5286295" y="0"/>
                </a:lnTo>
                <a:cubicBezTo>
                  <a:pt x="5321366" y="0"/>
                  <a:pt x="5349796" y="28430"/>
                  <a:pt x="5349796" y="63501"/>
                </a:cubicBezTo>
                <a:lnTo>
                  <a:pt x="5349796" y="317499"/>
                </a:lnTo>
                <a:cubicBezTo>
                  <a:pt x="5349796" y="352570"/>
                  <a:pt x="5321366" y="381000"/>
                  <a:pt x="5286295" y="381000"/>
                </a:cubicBezTo>
                <a:lnTo>
                  <a:pt x="31593" y="381000"/>
                </a:lnTo>
                <a:cubicBezTo>
                  <a:pt x="14144" y="381000"/>
                  <a:pt x="0" y="366856"/>
                  <a:pt x="0" y="349407"/>
                </a:cubicBezTo>
                <a:lnTo>
                  <a:pt x="0" y="31593"/>
                </a:lnTo>
                <a:cubicBezTo>
                  <a:pt x="0" y="14155"/>
                  <a:pt x="14155" y="0"/>
                  <a:pt x="3159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91960" y="4031444"/>
            <a:ext cx="31593" cy="381000"/>
          </a:xfrm>
          <a:custGeom>
            <a:avLst/>
            <a:gdLst/>
            <a:ahLst/>
            <a:cxnLst/>
            <a:rect l="l" t="t" r="r" b="b"/>
            <a:pathLst>
              <a:path w="31593" h="381000">
                <a:moveTo>
                  <a:pt x="31593" y="0"/>
                </a:moveTo>
                <a:lnTo>
                  <a:pt x="31593" y="0"/>
                </a:lnTo>
                <a:lnTo>
                  <a:pt x="31593" y="381000"/>
                </a:lnTo>
                <a:lnTo>
                  <a:pt x="31593" y="381000"/>
                </a:lnTo>
                <a:cubicBezTo>
                  <a:pt x="14144" y="381000"/>
                  <a:pt x="0" y="366856"/>
                  <a:pt x="0" y="349407"/>
                </a:cubicBezTo>
                <a:lnTo>
                  <a:pt x="0" y="31593"/>
                </a:lnTo>
                <a:cubicBezTo>
                  <a:pt x="0" y="14155"/>
                  <a:pt x="14155" y="0"/>
                  <a:pt x="3159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71248" y="4126655"/>
            <a:ext cx="8255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3</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nvSpPr>
        <p:spPr>
          <a:xfrm>
            <a:off x="1428429" y="4094936"/>
            <a:ext cx="2857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1713865" y="4126865"/>
            <a:ext cx="163639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bank 0</a:t>
            </a:r>
            <a:endParaRPr lang="en-US"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Freeform 29"/>
          <p:cNvSpPr/>
          <p:nvPr/>
        </p:nvSpPr>
        <p:spPr>
          <a:xfrm>
            <a:off x="6191250" y="1111250"/>
            <a:ext cx="5683250" cy="5600700"/>
          </a:xfrm>
          <a:custGeom>
            <a:avLst/>
            <a:gdLst/>
            <a:ahLst/>
            <a:cxnLst/>
            <a:rect l="l" t="t" r="r" b="b"/>
            <a:pathLst>
              <a:path w="5683250" h="6064250">
                <a:moveTo>
                  <a:pt x="63482" y="0"/>
                </a:moveTo>
                <a:lnTo>
                  <a:pt x="5619768" y="0"/>
                </a:lnTo>
                <a:cubicBezTo>
                  <a:pt x="5654827" y="0"/>
                  <a:pt x="5683250" y="28423"/>
                  <a:pt x="5683250" y="63482"/>
                </a:cubicBezTo>
                <a:lnTo>
                  <a:pt x="5683250" y="6000768"/>
                </a:lnTo>
                <a:cubicBezTo>
                  <a:pt x="5683250" y="6035827"/>
                  <a:pt x="5654827" y="6064250"/>
                  <a:pt x="5619768" y="6064250"/>
                </a:cubicBezTo>
                <a:lnTo>
                  <a:pt x="63482" y="6064250"/>
                </a:lnTo>
                <a:cubicBezTo>
                  <a:pt x="28423" y="6064250"/>
                  <a:pt x="0" y="6035827"/>
                  <a:pt x="0" y="6000768"/>
                </a:cubicBezTo>
                <a:lnTo>
                  <a:pt x="0" y="63482"/>
                </a:lnTo>
                <a:cubicBezTo>
                  <a:pt x="0" y="28445"/>
                  <a:pt x="28445" y="0"/>
                  <a:pt x="6348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30" name="Picture 30"/>
          <p:cNvPicPr>
            <a:picLocks noChangeAspect="1"/>
          </p:cNvPicPr>
          <p:nvPr/>
        </p:nvPicPr>
        <p:blipFill>
          <a:blip r:embed="rId1"/>
          <a:srcRect/>
          <a:stretch>
            <a:fillRect/>
          </a:stretch>
        </p:blipFill>
        <p:spPr>
          <a:xfrm>
            <a:off x="7099935" y="1132205"/>
            <a:ext cx="3019425" cy="4488180"/>
          </a:xfrm>
          <a:prstGeom prst="roundRect">
            <a:avLst>
              <a:gd name="adj" fmla="val 820"/>
            </a:avLst>
          </a:prstGeom>
          <a:ln w="12700">
            <a:noFill/>
            <a:prstDash val="solid"/>
          </a:ln>
        </p:spPr>
      </p:pic>
      <p:sp>
        <p:nvSpPr>
          <p:cNvPr id="31" name="Freeform 31"/>
          <p:cNvSpPr/>
          <p:nvPr/>
        </p:nvSpPr>
        <p:spPr>
          <a:xfrm>
            <a:off x="6191237" y="5733631"/>
            <a:ext cx="5683250" cy="889000"/>
          </a:xfrm>
          <a:custGeom>
            <a:avLst/>
            <a:gdLst/>
            <a:ahLst/>
            <a:cxnLst/>
            <a:rect l="l" t="t" r="r" b="b"/>
            <a:pathLst>
              <a:path w="5683250" h="889000">
                <a:moveTo>
                  <a:pt x="63501" y="0"/>
                </a:moveTo>
                <a:lnTo>
                  <a:pt x="5619749" y="0"/>
                </a:lnTo>
                <a:cubicBezTo>
                  <a:pt x="5654820" y="0"/>
                  <a:pt x="5683250" y="28430"/>
                  <a:pt x="5683250" y="63501"/>
                </a:cubicBezTo>
                <a:lnTo>
                  <a:pt x="5683250" y="825499"/>
                </a:lnTo>
                <a:cubicBezTo>
                  <a:pt x="5683250" y="860570"/>
                  <a:pt x="5654820" y="889000"/>
                  <a:pt x="5619749" y="889000"/>
                </a:cubicBezTo>
                <a:lnTo>
                  <a:pt x="63501" y="889000"/>
                </a:lnTo>
                <a:cubicBezTo>
                  <a:pt x="28430" y="889000"/>
                  <a:pt x="0" y="860570"/>
                  <a:pt x="0" y="825499"/>
                </a:cubicBezTo>
                <a:lnTo>
                  <a:pt x="0" y="63501"/>
                </a:lnTo>
                <a:cubicBezTo>
                  <a:pt x="0" y="28454"/>
                  <a:pt x="28454" y="0"/>
                  <a:pt x="63501"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290407" y="5892335"/>
            <a:ext cx="5484813" cy="28575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Exécution sérielle</a:t>
            </a:r>
            <a:endPar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6314219" y="6241515"/>
            <a:ext cx="5437188" cy="2222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Diminution des performances</a:t>
            </a:r>
            <a:endPar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523520" y="6618651"/>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Lei Mao's Log Book</a:t>
            </a:r>
            <a:endParaRPr lang="en-US"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459" y="61047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Méthode pour éviter le Bank Conflict</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33230"/>
            <a:ext cx="6762750" cy="1143000"/>
          </a:xfrm>
          <a:custGeom>
            <a:avLst/>
            <a:gdLst/>
            <a:ahLst/>
            <a:cxnLst/>
            <a:rect l="l" t="t" r="r" b="b"/>
            <a:pathLst>
              <a:path w="6762750" h="1143000">
                <a:moveTo>
                  <a:pt x="76204" y="0"/>
                </a:moveTo>
                <a:lnTo>
                  <a:pt x="6686546" y="0"/>
                </a:lnTo>
                <a:cubicBezTo>
                  <a:pt x="6728631" y="0"/>
                  <a:pt x="6762750" y="34119"/>
                  <a:pt x="6762750" y="76204"/>
                </a:cubicBezTo>
                <a:lnTo>
                  <a:pt x="6762750" y="1066796"/>
                </a:lnTo>
                <a:cubicBezTo>
                  <a:pt x="6762750" y="1108881"/>
                  <a:pt x="6728631" y="1143000"/>
                  <a:pt x="668654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12"/>
            <a:ext cx="64198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Méthode Padding</a:t>
            </a:r>
            <a:endParaRPr lang="en-US" sz="1600"/>
          </a:p>
        </p:txBody>
      </p:sp>
      <p:sp>
        <p:nvSpPr>
          <p:cNvPr id="5" name="AutoShape 5"/>
          <p:cNvSpPr/>
          <p:nvPr/>
        </p:nvSpPr>
        <p:spPr>
          <a:xfrm>
            <a:off x="609529" y="1980744"/>
            <a:ext cx="63912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Éviter les conflits en ajoutant un padding</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80956" y="2628407"/>
            <a:ext cx="6762750" cy="3848100"/>
          </a:xfrm>
          <a:custGeom>
            <a:avLst/>
            <a:gdLst/>
            <a:ahLst/>
            <a:cxnLst/>
            <a:rect l="l" t="t" r="r" b="b"/>
            <a:pathLst>
              <a:path w="6762750" h="3848100">
                <a:moveTo>
                  <a:pt x="76192" y="0"/>
                </a:moveTo>
                <a:lnTo>
                  <a:pt x="6686558" y="0"/>
                </a:lnTo>
                <a:cubicBezTo>
                  <a:pt x="6728638" y="0"/>
                  <a:pt x="6762750" y="34112"/>
                  <a:pt x="6762750" y="76192"/>
                </a:cubicBezTo>
                <a:lnTo>
                  <a:pt x="6762750" y="3771908"/>
                </a:lnTo>
                <a:cubicBezTo>
                  <a:pt x="6762750" y="3813988"/>
                  <a:pt x="6728638" y="3848100"/>
                  <a:pt x="6686558" y="3848100"/>
                </a:cubicBezTo>
                <a:lnTo>
                  <a:pt x="76192" y="3848100"/>
                </a:lnTo>
                <a:cubicBezTo>
                  <a:pt x="34112" y="3848100"/>
                  <a:pt x="0" y="3813988"/>
                  <a:pt x="0" y="3771908"/>
                </a:cubicBezTo>
                <a:lnTo>
                  <a:pt x="0" y="76192"/>
                </a:lnTo>
                <a:cubicBezTo>
                  <a:pt x="0" y="34141"/>
                  <a:pt x="34141" y="0"/>
                  <a:pt x="761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2150" y="2855528"/>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2"/>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2"/>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09521" y="2818851"/>
            <a:ext cx="6238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de code</a:t>
            </a:r>
            <a:endParaRPr lang="en-US" sz="1100"/>
          </a:p>
        </p:txBody>
      </p:sp>
      <p:sp>
        <p:nvSpPr>
          <p:cNvPr id="9" name="Freeform 9"/>
          <p:cNvSpPr/>
          <p:nvPr/>
        </p:nvSpPr>
        <p:spPr>
          <a:xfrm>
            <a:off x="590352" y="3237942"/>
            <a:ext cx="6362605" cy="3048000"/>
          </a:xfrm>
          <a:custGeom>
            <a:avLst/>
            <a:gdLst/>
            <a:ahLst/>
            <a:cxnLst/>
            <a:rect l="l" t="t" r="r" b="b"/>
            <a:pathLst>
              <a:path w="6362605" h="3048000">
                <a:moveTo>
                  <a:pt x="37910" y="0"/>
                </a:moveTo>
                <a:lnTo>
                  <a:pt x="6286405" y="0"/>
                </a:lnTo>
                <a:cubicBezTo>
                  <a:pt x="6328461" y="0"/>
                  <a:pt x="6362605" y="34144"/>
                  <a:pt x="6362605" y="76200"/>
                </a:cubicBezTo>
                <a:lnTo>
                  <a:pt x="6362605" y="2971800"/>
                </a:lnTo>
                <a:cubicBezTo>
                  <a:pt x="6362605" y="3013856"/>
                  <a:pt x="6328461" y="3048000"/>
                  <a:pt x="6286405" y="3048000"/>
                </a:cubicBezTo>
                <a:lnTo>
                  <a:pt x="37910" y="3048000"/>
                </a:lnTo>
                <a:cubicBezTo>
                  <a:pt x="16974" y="3048000"/>
                  <a:pt x="0" y="3031026"/>
                  <a:pt x="0" y="3010090"/>
                </a:cubicBezTo>
                <a:lnTo>
                  <a:pt x="0" y="37910"/>
                </a:lnTo>
                <a:cubicBezTo>
                  <a:pt x="0" y="16988"/>
                  <a:pt x="16988" y="0"/>
                  <a:pt x="3791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90352" y="3237942"/>
            <a:ext cx="37909" cy="3048000"/>
          </a:xfrm>
          <a:custGeom>
            <a:avLst/>
            <a:gdLst/>
            <a:ahLst/>
            <a:cxnLst/>
            <a:rect l="l" t="t" r="r" b="b"/>
            <a:pathLst>
              <a:path w="37909" h="3048000">
                <a:moveTo>
                  <a:pt x="37910" y="0"/>
                </a:moveTo>
                <a:lnTo>
                  <a:pt x="37910" y="0"/>
                </a:lnTo>
                <a:lnTo>
                  <a:pt x="37910" y="3048000"/>
                </a:lnTo>
                <a:lnTo>
                  <a:pt x="37910" y="3048000"/>
                </a:lnTo>
                <a:cubicBezTo>
                  <a:pt x="16974" y="3048000"/>
                  <a:pt x="0" y="3031026"/>
                  <a:pt x="0" y="30100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1689" y="3390323"/>
            <a:ext cx="6115050" cy="27432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Déclaration originale (peut causer bank conflict)</a:t>
            </a:r>
            <a:endParaRPr lang="en-US" sz="1100"/>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__shared__ float tile[32][32];</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Après Padding (évite bank conflict)</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__shared__ float tile[32][33];</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Explication :</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Original : 32 float par ligne, occupe exactement 32 banks</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Résultat : les éléments d'une même colonne sont dans le même bank</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Padding : 33 float par ligne</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Résultat : les éléments d'une même colonne sont répartis dans différents banks</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7376099" y="1333230"/>
            <a:ext cx="4438650" cy="4229100"/>
          </a:xfrm>
          <a:custGeom>
            <a:avLst/>
            <a:gdLst/>
            <a:ahLst/>
            <a:cxnLst/>
            <a:rect l="l" t="t" r="r" b="b"/>
            <a:pathLst>
              <a:path w="4438650" h="4229100">
                <a:moveTo>
                  <a:pt x="76208" y="0"/>
                </a:moveTo>
                <a:lnTo>
                  <a:pt x="4362442" y="0"/>
                </a:lnTo>
                <a:cubicBezTo>
                  <a:pt x="4404530" y="0"/>
                  <a:pt x="4438650" y="34120"/>
                  <a:pt x="4438650" y="76208"/>
                </a:cubicBezTo>
                <a:lnTo>
                  <a:pt x="4438650" y="4152892"/>
                </a:lnTo>
                <a:cubicBezTo>
                  <a:pt x="4438650" y="4194980"/>
                  <a:pt x="4404530" y="4229100"/>
                  <a:pt x="4362442" y="4229100"/>
                </a:cubicBezTo>
                <a:lnTo>
                  <a:pt x="76208" y="4229100"/>
                </a:lnTo>
                <a:cubicBezTo>
                  <a:pt x="34120" y="4229100"/>
                  <a:pt x="0" y="4194980"/>
                  <a:pt x="0" y="4152892"/>
                </a:cubicBezTo>
                <a:lnTo>
                  <a:pt x="0" y="76208"/>
                </a:lnTo>
                <a:cubicBezTo>
                  <a:pt x="0" y="34148"/>
                  <a:pt x="34148"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3" name="Freeform 13"/>
          <p:cNvSpPr/>
          <p:nvPr/>
        </p:nvSpPr>
        <p:spPr>
          <a:xfrm>
            <a:off x="7607022" y="1571281"/>
            <a:ext cx="128588" cy="176808"/>
          </a:xfrm>
          <a:custGeom>
            <a:avLst/>
            <a:gdLst/>
            <a:ahLst/>
            <a:cxnLst/>
            <a:rect l="l" t="t" r="r" b="b"/>
            <a:pathLst>
              <a:path w="128588" h="176808">
                <a:moveTo>
                  <a:pt x="98081" y="128587"/>
                </a:moveTo>
                <a:cubicBezTo>
                  <a:pt x="100526" y="121120"/>
                  <a:pt x="105415" y="114356"/>
                  <a:pt x="110940" y="108529"/>
                </a:cubicBezTo>
                <a:cubicBezTo>
                  <a:pt x="121890" y="97010"/>
                  <a:pt x="128588" y="81439"/>
                  <a:pt x="128588" y="64294"/>
                </a:cubicBezTo>
                <a:cubicBezTo>
                  <a:pt x="128588" y="28799"/>
                  <a:pt x="99789" y="0"/>
                  <a:pt x="64294" y="0"/>
                </a:cubicBezTo>
                <a:cubicBezTo>
                  <a:pt x="28799" y="0"/>
                  <a:pt x="0" y="28799"/>
                  <a:pt x="0" y="64294"/>
                </a:cubicBezTo>
                <a:cubicBezTo>
                  <a:pt x="0" y="81439"/>
                  <a:pt x="6697" y="97010"/>
                  <a:pt x="17647" y="108529"/>
                </a:cubicBezTo>
                <a:cubicBezTo>
                  <a:pt x="23172" y="114356"/>
                  <a:pt x="28095" y="121120"/>
                  <a:pt x="30505" y="128587"/>
                </a:cubicBezTo>
                <a:lnTo>
                  <a:pt x="98048" y="128587"/>
                </a:lnTo>
                <a:close/>
                <a:moveTo>
                  <a:pt x="96441" y="144661"/>
                </a:moveTo>
                <a:lnTo>
                  <a:pt x="32148" y="144661"/>
                </a:lnTo>
                <a:lnTo>
                  <a:pt x="32148" y="150019"/>
                </a:lnTo>
                <a:cubicBezTo>
                  <a:pt x="32148" y="164821"/>
                  <a:pt x="44135" y="176808"/>
                  <a:pt x="58936" y="176808"/>
                </a:cubicBezTo>
                <a:lnTo>
                  <a:pt x="69652" y="176808"/>
                </a:lnTo>
                <a:cubicBezTo>
                  <a:pt x="84452" y="176808"/>
                  <a:pt x="96441" y="164821"/>
                  <a:pt x="96441" y="150019"/>
                </a:cubicBezTo>
                <a:lnTo>
                  <a:pt x="96441" y="144661"/>
                </a:lnTo>
                <a:close/>
                <a:moveTo>
                  <a:pt x="61615" y="37504"/>
                </a:moveTo>
                <a:cubicBezTo>
                  <a:pt x="48287" y="37504"/>
                  <a:pt x="37504" y="48287"/>
                  <a:pt x="37504" y="61615"/>
                </a:cubicBezTo>
                <a:cubicBezTo>
                  <a:pt x="37504"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4"/>
                  <a:pt x="61615" y="37504"/>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4" name="AutoShape 14"/>
          <p:cNvSpPr/>
          <p:nvPr/>
        </p:nvSpPr>
        <p:spPr>
          <a:xfrm>
            <a:off x="7776090" y="1523674"/>
            <a:ext cx="3933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Explication du principe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7585496" y="1904628"/>
            <a:ext cx="4038505" cy="914400"/>
          </a:xfrm>
          <a:custGeom>
            <a:avLst/>
            <a:gdLst/>
            <a:ahLst/>
            <a:cxnLst/>
            <a:rect l="l" t="t" r="r" b="b"/>
            <a:pathLst>
              <a:path w="4038505" h="914400">
                <a:moveTo>
                  <a:pt x="37909" y="0"/>
                </a:moveTo>
                <a:lnTo>
                  <a:pt x="3962309" y="0"/>
                </a:lnTo>
                <a:cubicBezTo>
                  <a:pt x="4004391" y="0"/>
                  <a:pt x="4038505" y="34115"/>
                  <a:pt x="4038505" y="76197"/>
                </a:cubicBezTo>
                <a:lnTo>
                  <a:pt x="4038505" y="838203"/>
                </a:lnTo>
                <a:cubicBezTo>
                  <a:pt x="4038505" y="880285"/>
                  <a:pt x="4004391" y="914400"/>
                  <a:pt x="3962309" y="914400"/>
                </a:cubicBezTo>
                <a:lnTo>
                  <a:pt x="37909" y="914400"/>
                </a:lnTo>
                <a:cubicBezTo>
                  <a:pt x="16974" y="914400"/>
                  <a:pt x="0" y="897426"/>
                  <a:pt x="0" y="8764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6" name="Freeform 16"/>
          <p:cNvSpPr/>
          <p:nvPr/>
        </p:nvSpPr>
        <p:spPr>
          <a:xfrm>
            <a:off x="7585496" y="1904628"/>
            <a:ext cx="37910" cy="914400"/>
          </a:xfrm>
          <a:custGeom>
            <a:avLst/>
            <a:gdLst/>
            <a:ahLst/>
            <a:cxnLst/>
            <a:rect l="l" t="t" r="r" b="b"/>
            <a:pathLst>
              <a:path w="37910" h="914400">
                <a:moveTo>
                  <a:pt x="37909" y="0"/>
                </a:moveTo>
                <a:lnTo>
                  <a:pt x="37909" y="0"/>
                </a:lnTo>
                <a:lnTo>
                  <a:pt x="37909" y="914400"/>
                </a:lnTo>
                <a:lnTo>
                  <a:pt x="37909" y="914400"/>
                </a:lnTo>
                <a:cubicBezTo>
                  <a:pt x="16974" y="914400"/>
                  <a:pt x="0" y="897426"/>
                  <a:pt x="0" y="876490"/>
                </a:cubicBezTo>
                <a:lnTo>
                  <a:pt x="0" y="37910"/>
                </a:lnTo>
                <a:cubicBezTo>
                  <a:pt x="0" y="16988"/>
                  <a:pt x="16988" y="0"/>
                  <a:pt x="37909"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17" name="AutoShape 17"/>
          <p:cNvSpPr/>
          <p:nvPr/>
        </p:nvSpPr>
        <p:spPr>
          <a:xfrm>
            <a:off x="7718700" y="2018881"/>
            <a:ext cx="3867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Tableau original</a:t>
            </a:r>
            <a:endPar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7718700" y="2285516"/>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tile[32][32]</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AutoShape 19"/>
          <p:cNvSpPr/>
          <p:nvPr/>
        </p:nvSpPr>
        <p:spPr>
          <a:xfrm>
            <a:off x="7718700" y="2514014"/>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32 éléments par ligne, alignés sur 32 banks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7585496" y="2932947"/>
            <a:ext cx="4038505" cy="914400"/>
          </a:xfrm>
          <a:custGeom>
            <a:avLst/>
            <a:gdLst/>
            <a:ahLst/>
            <a:cxnLst/>
            <a:rect l="l" t="t" r="r" b="b"/>
            <a:pathLst>
              <a:path w="4038505" h="914400">
                <a:moveTo>
                  <a:pt x="37909" y="0"/>
                </a:moveTo>
                <a:lnTo>
                  <a:pt x="3962309" y="0"/>
                </a:lnTo>
                <a:cubicBezTo>
                  <a:pt x="4004391" y="0"/>
                  <a:pt x="4038505" y="34115"/>
                  <a:pt x="4038505" y="76197"/>
                </a:cubicBezTo>
                <a:lnTo>
                  <a:pt x="4038505" y="838203"/>
                </a:lnTo>
                <a:cubicBezTo>
                  <a:pt x="4038505" y="880285"/>
                  <a:pt x="4004391" y="914400"/>
                  <a:pt x="3962309" y="914400"/>
                </a:cubicBezTo>
                <a:lnTo>
                  <a:pt x="37909" y="914400"/>
                </a:lnTo>
                <a:cubicBezTo>
                  <a:pt x="16974" y="914400"/>
                  <a:pt x="0" y="897426"/>
                  <a:pt x="0" y="876490"/>
                </a:cubicBezTo>
                <a:lnTo>
                  <a:pt x="0" y="37909"/>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21" name="Freeform 21"/>
          <p:cNvSpPr/>
          <p:nvPr/>
        </p:nvSpPr>
        <p:spPr>
          <a:xfrm>
            <a:off x="7585496" y="2932947"/>
            <a:ext cx="37910" cy="914400"/>
          </a:xfrm>
          <a:custGeom>
            <a:avLst/>
            <a:gdLst/>
            <a:ahLst/>
            <a:cxnLst/>
            <a:rect l="l" t="t" r="r" b="b"/>
            <a:pathLst>
              <a:path w="37910" h="914400">
                <a:moveTo>
                  <a:pt x="37909" y="0"/>
                </a:moveTo>
                <a:lnTo>
                  <a:pt x="37909" y="0"/>
                </a:lnTo>
                <a:lnTo>
                  <a:pt x="37909" y="914400"/>
                </a:lnTo>
                <a:lnTo>
                  <a:pt x="37909" y="914400"/>
                </a:lnTo>
                <a:cubicBezTo>
                  <a:pt x="16974" y="914400"/>
                  <a:pt x="0" y="897426"/>
                  <a:pt x="0" y="876490"/>
                </a:cubicBezTo>
                <a:lnTo>
                  <a:pt x="0" y="37909"/>
                </a:lnTo>
                <a:cubicBezTo>
                  <a:pt x="0" y="16988"/>
                  <a:pt x="16988" y="0"/>
                  <a:pt x="37909"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22" name="AutoShape 22"/>
          <p:cNvSpPr/>
          <p:nvPr/>
        </p:nvSpPr>
        <p:spPr>
          <a:xfrm>
            <a:off x="7718700" y="3047200"/>
            <a:ext cx="3867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Après Padding</a:t>
            </a:r>
            <a:endPar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7718700" y="3313835"/>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tile[32][33]</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7718700" y="3542333"/>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33 éléments par ligne, répartition décalée des banks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Freeform 25"/>
          <p:cNvSpPr/>
          <p:nvPr/>
        </p:nvSpPr>
        <p:spPr>
          <a:xfrm>
            <a:off x="7585496" y="3961274"/>
            <a:ext cx="4038505" cy="685800"/>
          </a:xfrm>
          <a:custGeom>
            <a:avLst/>
            <a:gdLst/>
            <a:ahLst/>
            <a:cxnLst/>
            <a:rect l="l" t="t" r="r" b="b"/>
            <a:pathLst>
              <a:path w="4038505" h="685800">
                <a:moveTo>
                  <a:pt x="37909" y="0"/>
                </a:moveTo>
                <a:lnTo>
                  <a:pt x="3962306" y="0"/>
                </a:lnTo>
                <a:cubicBezTo>
                  <a:pt x="4004390" y="0"/>
                  <a:pt x="4038505" y="34116"/>
                  <a:pt x="4038505" y="76199"/>
                </a:cubicBezTo>
                <a:lnTo>
                  <a:pt x="4038505" y="609601"/>
                </a:lnTo>
                <a:cubicBezTo>
                  <a:pt x="4038505" y="651684"/>
                  <a:pt x="4004390" y="685800"/>
                  <a:pt x="3962306" y="685800"/>
                </a:cubicBezTo>
                <a:lnTo>
                  <a:pt x="37909" y="685800"/>
                </a:lnTo>
                <a:cubicBezTo>
                  <a:pt x="16974" y="685800"/>
                  <a:pt x="0" y="668826"/>
                  <a:pt x="0" y="647890"/>
                </a:cubicBezTo>
                <a:lnTo>
                  <a:pt x="0" y="37910"/>
                </a:lnTo>
                <a:cubicBezTo>
                  <a:pt x="0" y="16988"/>
                  <a:pt x="16988" y="0"/>
                  <a:pt x="3790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26" name="Freeform 26"/>
          <p:cNvSpPr/>
          <p:nvPr/>
        </p:nvSpPr>
        <p:spPr>
          <a:xfrm>
            <a:off x="7585496" y="3961274"/>
            <a:ext cx="37910" cy="685800"/>
          </a:xfrm>
          <a:custGeom>
            <a:avLst/>
            <a:gdLst/>
            <a:ahLst/>
            <a:cxnLst/>
            <a:rect l="l" t="t" r="r" b="b"/>
            <a:pathLst>
              <a:path w="37910" h="685800">
                <a:moveTo>
                  <a:pt x="37909" y="0"/>
                </a:moveTo>
                <a:lnTo>
                  <a:pt x="37909" y="0"/>
                </a:lnTo>
                <a:lnTo>
                  <a:pt x="37909" y="685800"/>
                </a:lnTo>
                <a:lnTo>
                  <a:pt x="37909" y="685800"/>
                </a:lnTo>
                <a:cubicBezTo>
                  <a:pt x="16974" y="685800"/>
                  <a:pt x="0" y="668826"/>
                  <a:pt x="0" y="647890"/>
                </a:cubicBezTo>
                <a:lnTo>
                  <a:pt x="0" y="37910"/>
                </a:lnTo>
                <a:cubicBezTo>
                  <a:pt x="0" y="16988"/>
                  <a:pt x="16988" y="0"/>
                  <a:pt x="37909"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27" name="AutoShape 27"/>
          <p:cNvSpPr/>
          <p:nvPr/>
        </p:nvSpPr>
        <p:spPr>
          <a:xfrm>
            <a:off x="7718700" y="4075519"/>
            <a:ext cx="3867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Effet</a:t>
            </a:r>
            <a:endParaRPr lang="en-US" sz="10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AutoShape 28"/>
          <p:cNvSpPr/>
          <p:nvPr/>
        </p:nvSpPr>
        <p:spPr>
          <a:xfrm>
            <a:off x="7718700" y="4342154"/>
            <a:ext cx="3857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Les éléments d'une même colonne sont répartis dans différents banks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Freeform 29"/>
          <p:cNvSpPr/>
          <p:nvPr/>
        </p:nvSpPr>
        <p:spPr>
          <a:xfrm>
            <a:off x="7376099" y="5714181"/>
            <a:ext cx="4438650" cy="762000"/>
          </a:xfrm>
          <a:custGeom>
            <a:avLst/>
            <a:gdLst/>
            <a:ahLst/>
            <a:cxnLst/>
            <a:rect l="l" t="t" r="r" b="b"/>
            <a:pathLst>
              <a:path w="4438650" h="762000">
                <a:moveTo>
                  <a:pt x="76200" y="0"/>
                </a:moveTo>
                <a:lnTo>
                  <a:pt x="4362450" y="0"/>
                </a:lnTo>
                <a:cubicBezTo>
                  <a:pt x="4404506" y="0"/>
                  <a:pt x="4438650" y="34144"/>
                  <a:pt x="4438650" y="76200"/>
                </a:cubicBezTo>
                <a:lnTo>
                  <a:pt x="4438650" y="685800"/>
                </a:lnTo>
                <a:cubicBezTo>
                  <a:pt x="4438650" y="727856"/>
                  <a:pt x="4404506" y="762000"/>
                  <a:pt x="4362450" y="762000"/>
                </a:cubicBezTo>
                <a:lnTo>
                  <a:pt x="76200" y="762000"/>
                </a:lnTo>
                <a:cubicBezTo>
                  <a:pt x="34144" y="762000"/>
                  <a:pt x="0" y="727856"/>
                  <a:pt x="0" y="685800"/>
                </a:cubicBezTo>
                <a:lnTo>
                  <a:pt x="0" y="76200"/>
                </a:lnTo>
                <a:cubicBezTo>
                  <a:pt x="0" y="34144"/>
                  <a:pt x="34144" y="0"/>
                  <a:pt x="7620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30" name="Freeform 30"/>
          <p:cNvSpPr/>
          <p:nvPr/>
        </p:nvSpPr>
        <p:spPr>
          <a:xfrm>
            <a:off x="7557057" y="5980816"/>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2"/>
                </a:cubicBezTo>
                <a:cubicBezTo>
                  <a:pt x="104120" y="157342"/>
                  <a:pt x="100728" y="155734"/>
                  <a:pt x="98628" y="152876"/>
                </a:cubicBezTo>
                <a:lnTo>
                  <a:pt x="77197" y="124301"/>
                </a:lnTo>
                <a:cubicBezTo>
                  <a:pt x="73624" y="119569"/>
                  <a:pt x="74607" y="112871"/>
                  <a:pt x="79339" y="109299"/>
                </a:cubicBezTo>
                <a:cubicBezTo>
                  <a:pt x="84073" y="105728"/>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000"/>
          </a:p>
        </p:txBody>
      </p:sp>
      <p:sp>
        <p:nvSpPr>
          <p:cNvPr id="31" name="AutoShape 31"/>
          <p:cNvSpPr/>
          <p:nvPr/>
        </p:nvSpPr>
        <p:spPr>
          <a:xfrm>
            <a:off x="7928610" y="5866765"/>
            <a:ext cx="369633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Technique clé</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7928610" y="6133465"/>
            <a:ext cx="388175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Ajouter une colonne de padding suffit à éviter les conflits</a:t>
            </a:r>
            <a:endPar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3" name="AutoShape 33"/>
          <p:cNvSpPr/>
          <p:nvPr/>
        </p:nvSpPr>
        <p:spPr>
          <a:xfrm>
            <a:off x="314281" y="6552214"/>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596" y="610201"/>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Concept de Memory Coalescing</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33230"/>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4" name="AutoShape 4"/>
          <p:cNvSpPr/>
          <p:nvPr/>
        </p:nvSpPr>
        <p:spPr>
          <a:xfrm>
            <a:off x="609529" y="1561802"/>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Coalesced Access</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609529" y="1980744"/>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Clé de l'optimisation Global Memory</a:t>
            </a:r>
            <a:endPar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80956" y="2628407"/>
            <a:ext cx="5600700" cy="3581400"/>
          </a:xfrm>
          <a:custGeom>
            <a:avLst/>
            <a:gdLst/>
            <a:ahLst/>
            <a:cxnLst/>
            <a:rect l="l" t="t" r="r" b="b"/>
            <a:pathLst>
              <a:path w="5600700" h="3581400">
                <a:moveTo>
                  <a:pt x="76211" y="0"/>
                </a:moveTo>
                <a:lnTo>
                  <a:pt x="5524489" y="0"/>
                </a:lnTo>
                <a:cubicBezTo>
                  <a:pt x="5566579" y="0"/>
                  <a:pt x="5600700" y="34121"/>
                  <a:pt x="5600700" y="76211"/>
                </a:cubicBezTo>
                <a:lnTo>
                  <a:pt x="5600700" y="3505189"/>
                </a:lnTo>
                <a:cubicBezTo>
                  <a:pt x="5600700" y="3547279"/>
                  <a:pt x="5566579" y="3581400"/>
                  <a:pt x="5524489" y="3581400"/>
                </a:cubicBezTo>
                <a:lnTo>
                  <a:pt x="76211" y="3581400"/>
                </a:lnTo>
                <a:cubicBezTo>
                  <a:pt x="34121" y="3581400"/>
                  <a:pt x="0" y="3547279"/>
                  <a:pt x="0" y="3505189"/>
                </a:cubicBezTo>
                <a:lnTo>
                  <a:pt x="0" y="76211"/>
                </a:lnTo>
                <a:cubicBezTo>
                  <a:pt x="0" y="34150"/>
                  <a:pt x="34150"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Freeform 7"/>
          <p:cNvSpPr/>
          <p:nvPr/>
        </p:nvSpPr>
        <p:spPr>
          <a:xfrm>
            <a:off x="595209" y="285690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7"/>
                  <a:pt x="95250" y="71437"/>
                </a:cubicBezTo>
                <a:cubicBezTo>
                  <a:pt x="88679" y="71437"/>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6"/>
                  <a:pt x="119063" y="133946"/>
                </a:cubicBezTo>
                <a:cubicBezTo>
                  <a:pt x="119063" y="138894"/>
                  <a:pt x="115081" y="142875"/>
                  <a:pt x="110133" y="142875"/>
                </a:cubicBezTo>
                <a:lnTo>
                  <a:pt x="80367" y="142875"/>
                </a:lnTo>
                <a:cubicBezTo>
                  <a:pt x="75419" y="142875"/>
                  <a:pt x="71437" y="138894"/>
                  <a:pt x="71437" y="133946"/>
                </a:cubicBezTo>
                <a:cubicBezTo>
                  <a:pt x="71437" y="128996"/>
                  <a:pt x="75419" y="125016"/>
                  <a:pt x="80367" y="125016"/>
                </a:cubicBezTo>
                <a:lnTo>
                  <a:pt x="89298" y="125016"/>
                </a:lnTo>
                <a:lnTo>
                  <a:pt x="89298" y="101202"/>
                </a:lnTo>
                <a:lnTo>
                  <a:pt x="80367" y="101202"/>
                </a:lnTo>
                <a:cubicBezTo>
                  <a:pt x="75419" y="101202"/>
                  <a:pt x="71437" y="97222"/>
                  <a:pt x="71437" y="92273"/>
                </a:cubicBezTo>
                <a:cubicBezTo>
                  <a:pt x="71437" y="87325"/>
                  <a:pt x="75419" y="83344"/>
                  <a:pt x="80367" y="83344"/>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AutoShape 8"/>
          <p:cNvSpPr/>
          <p:nvPr/>
        </p:nvSpPr>
        <p:spPr>
          <a:xfrm>
            <a:off x="809521" y="281885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Définition</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571396" y="3314123"/>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AutoShape 10"/>
          <p:cNvSpPr/>
          <p:nvPr/>
        </p:nvSpPr>
        <p:spPr>
          <a:xfrm>
            <a:off x="762000" y="3237865"/>
            <a:ext cx="296672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Thread continus</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762000" y="3504565"/>
            <a:ext cx="296672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Threads adjacents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571396" y="392358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3" name="AutoShape 13"/>
          <p:cNvSpPr/>
          <p:nvPr/>
        </p:nvSpPr>
        <p:spPr>
          <a:xfrm>
            <a:off x="762000" y="3847465"/>
            <a:ext cx="33540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Accès à des adresses contiguës</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762000" y="4114165"/>
            <a:ext cx="335407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Adresses mémoire contiguës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571396" y="4533035"/>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6" name="AutoShape 16"/>
          <p:cNvSpPr/>
          <p:nvPr/>
        </p:nvSpPr>
        <p:spPr>
          <a:xfrm>
            <a:off x="762000" y="4457065"/>
            <a:ext cx="490156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Efficacité maximale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762000" y="4723765"/>
            <a:ext cx="490156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Fusionné en une seule transaction mémoire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6210279" y="1333230"/>
            <a:ext cx="5600700" cy="3543300"/>
          </a:xfrm>
          <a:custGeom>
            <a:avLst/>
            <a:gdLst/>
            <a:ahLst/>
            <a:cxnLst/>
            <a:rect l="l" t="t" r="r" b="b"/>
            <a:pathLst>
              <a:path w="5600700" h="3543300">
                <a:moveTo>
                  <a:pt x="76217" y="0"/>
                </a:moveTo>
                <a:lnTo>
                  <a:pt x="5524483" y="0"/>
                </a:lnTo>
                <a:cubicBezTo>
                  <a:pt x="5566576" y="0"/>
                  <a:pt x="5600700" y="34124"/>
                  <a:pt x="5600700" y="76217"/>
                </a:cubicBezTo>
                <a:lnTo>
                  <a:pt x="5600700" y="3467083"/>
                </a:lnTo>
                <a:cubicBezTo>
                  <a:pt x="5600700" y="3509176"/>
                  <a:pt x="5566576" y="3543300"/>
                  <a:pt x="5524483" y="3543300"/>
                </a:cubicBezTo>
                <a:lnTo>
                  <a:pt x="76217" y="3543300"/>
                </a:lnTo>
                <a:cubicBezTo>
                  <a:pt x="34124" y="3543300"/>
                  <a:pt x="0" y="3509176"/>
                  <a:pt x="0" y="3467083"/>
                </a:cubicBezTo>
                <a:lnTo>
                  <a:pt x="0" y="76217"/>
                </a:lnTo>
                <a:cubicBezTo>
                  <a:pt x="0" y="34152"/>
                  <a:pt x="34152" y="0"/>
                  <a:pt x="76217"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pic>
        <p:nvPicPr>
          <p:cNvPr id="19" name="Picture 19"/>
          <p:cNvPicPr>
            <a:picLocks noChangeAspect="1"/>
          </p:cNvPicPr>
          <p:nvPr/>
        </p:nvPicPr>
        <p:blipFill>
          <a:blip r:embed="rId1"/>
          <a:srcRect t="58" b="57"/>
          <a:stretch>
            <a:fillRect/>
          </a:stretch>
        </p:blipFill>
        <p:spPr>
          <a:xfrm>
            <a:off x="6400720" y="1679535"/>
            <a:ext cx="5219700" cy="2847975"/>
          </a:xfrm>
          <a:prstGeom prst="roundRect">
            <a:avLst>
              <a:gd name="adj" fmla="val 1337"/>
            </a:avLst>
          </a:prstGeom>
          <a:ln w="12700">
            <a:noFill/>
            <a:prstDash val="solid"/>
          </a:ln>
        </p:spPr>
      </p:pic>
      <p:sp>
        <p:nvSpPr>
          <p:cNvPr id="20" name="Freeform 20"/>
          <p:cNvSpPr/>
          <p:nvPr/>
        </p:nvSpPr>
        <p:spPr>
          <a:xfrm>
            <a:off x="6219757" y="5039050"/>
            <a:ext cx="5581555" cy="1161955"/>
          </a:xfrm>
          <a:custGeom>
            <a:avLst/>
            <a:gdLst/>
            <a:ahLst/>
            <a:cxnLst/>
            <a:rect l="l" t="t" r="r" b="b"/>
            <a:pathLst>
              <a:path w="5581555" h="1161955">
                <a:moveTo>
                  <a:pt x="76201" y="0"/>
                </a:moveTo>
                <a:lnTo>
                  <a:pt x="5505353" y="0"/>
                </a:lnTo>
                <a:cubicBezTo>
                  <a:pt x="5547439" y="0"/>
                  <a:pt x="5581555" y="34116"/>
                  <a:pt x="5581555" y="76201"/>
                </a:cubicBezTo>
                <a:lnTo>
                  <a:pt x="5581555" y="1085753"/>
                </a:lnTo>
                <a:cubicBezTo>
                  <a:pt x="5581555" y="1127839"/>
                  <a:pt x="5547439" y="1161955"/>
                  <a:pt x="5505353" y="1161955"/>
                </a:cubicBezTo>
                <a:lnTo>
                  <a:pt x="76201" y="1161955"/>
                </a:lnTo>
                <a:cubicBezTo>
                  <a:pt x="34116" y="1161955"/>
                  <a:pt x="0" y="1127839"/>
                  <a:pt x="0" y="1085753"/>
                </a:cubicBezTo>
                <a:lnTo>
                  <a:pt x="0" y="76201"/>
                </a:lnTo>
                <a:cubicBezTo>
                  <a:pt x="0" y="34145"/>
                  <a:pt x="34145"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endParaRPr sz="1200"/>
          </a:p>
        </p:txBody>
      </p:sp>
      <p:sp>
        <p:nvSpPr>
          <p:cNvPr id="21" name="AutoShape 21"/>
          <p:cNvSpPr/>
          <p:nvPr/>
        </p:nvSpPr>
        <p:spPr>
          <a:xfrm>
            <a:off x="6343517" y="5200910"/>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8298316" y="5524705"/>
            <a:ext cx="7429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 i</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9082958" y="5505673"/>
            <a:ext cx="285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9387722" y="5524705"/>
            <a:ext cx="4095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20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AutoShape 25"/>
          <p:cNvSpPr/>
          <p:nvPr/>
        </p:nvSpPr>
        <p:spPr>
          <a:xfrm>
            <a:off x="6348279" y="5848573"/>
            <a:ext cx="532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Threads continus accédant à des adresses contiguës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314281" y="6286547"/>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LinkedIn - Mayur Jain</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498" y="599080"/>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Problème d'accès non regroupé</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33230"/>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4" name="AutoShape 4"/>
          <p:cNvSpPr/>
          <p:nvPr/>
        </p:nvSpPr>
        <p:spPr>
          <a:xfrm>
            <a:off x="609529" y="1561802"/>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Mode d'accès incorrect</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609529" y="1980744"/>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Entraîne une baisse grave des performances</a:t>
            </a:r>
            <a:endParaRPr lang="en-US"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80956" y="2628407"/>
            <a:ext cx="5600700" cy="3581400"/>
          </a:xfrm>
          <a:custGeom>
            <a:avLst/>
            <a:gdLst/>
            <a:ahLst/>
            <a:cxnLst/>
            <a:rect l="l" t="t" r="r" b="b"/>
            <a:pathLst>
              <a:path w="5600700" h="3581400">
                <a:moveTo>
                  <a:pt x="76211" y="0"/>
                </a:moveTo>
                <a:lnTo>
                  <a:pt x="5524489" y="0"/>
                </a:lnTo>
                <a:cubicBezTo>
                  <a:pt x="5566579" y="0"/>
                  <a:pt x="5600700" y="34121"/>
                  <a:pt x="5600700" y="76211"/>
                </a:cubicBezTo>
                <a:lnTo>
                  <a:pt x="5600700" y="3505189"/>
                </a:lnTo>
                <a:cubicBezTo>
                  <a:pt x="5600700" y="3547279"/>
                  <a:pt x="5566579" y="3581400"/>
                  <a:pt x="5524489" y="3581400"/>
                </a:cubicBezTo>
                <a:lnTo>
                  <a:pt x="76211" y="3581400"/>
                </a:lnTo>
                <a:cubicBezTo>
                  <a:pt x="34121" y="3581400"/>
                  <a:pt x="0" y="3547279"/>
                  <a:pt x="0" y="3505189"/>
                </a:cubicBezTo>
                <a:lnTo>
                  <a:pt x="0" y="76211"/>
                </a:lnTo>
                <a:cubicBezTo>
                  <a:pt x="0" y="34150"/>
                  <a:pt x="34150" y="0"/>
                  <a:pt x="76211"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Freeform 7"/>
          <p:cNvSpPr/>
          <p:nvPr/>
        </p:nvSpPr>
        <p:spPr>
          <a:xfrm>
            <a:off x="595209" y="285690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4" y="58638"/>
                  <a:pt x="71289" y="58638"/>
                  <a:pt x="74748" y="62136"/>
                </a:cubicBezTo>
                <a:lnTo>
                  <a:pt x="95213" y="82600"/>
                </a:lnTo>
                <a:lnTo>
                  <a:pt x="115677" y="62136"/>
                </a:lnTo>
                <a:cubicBezTo>
                  <a:pt x="119174" y="58638"/>
                  <a:pt x="124830" y="58638"/>
                  <a:pt x="128290" y="62136"/>
                </a:cubicBezTo>
                <a:cubicBezTo>
                  <a:pt x="131750" y="65634"/>
                  <a:pt x="131787" y="71289"/>
                  <a:pt x="128290" y="74748"/>
                </a:cubicBezTo>
                <a:lnTo>
                  <a:pt x="107826" y="95213"/>
                </a:lnTo>
                <a:lnTo>
                  <a:pt x="128290" y="115677"/>
                </a:lnTo>
                <a:cubicBezTo>
                  <a:pt x="131787" y="119174"/>
                  <a:pt x="131787" y="124830"/>
                  <a:pt x="128290" y="128290"/>
                </a:cubicBezTo>
                <a:cubicBezTo>
                  <a:pt x="124791" y="131750"/>
                  <a:pt x="119137" y="131787"/>
                  <a:pt x="115677" y="128290"/>
                </a:cubicBezTo>
                <a:lnTo>
                  <a:pt x="95213" y="107826"/>
                </a:lnTo>
                <a:lnTo>
                  <a:pt x="74748" y="128290"/>
                </a:lnTo>
                <a:cubicBezTo>
                  <a:pt x="71251" y="131787"/>
                  <a:pt x="65595" y="131787"/>
                  <a:pt x="62136" y="128290"/>
                </a:cubicBezTo>
                <a:cubicBezTo>
                  <a:pt x="58675" y="124791"/>
                  <a:pt x="58638" y="119137"/>
                  <a:pt x="62136" y="115677"/>
                </a:cubicBezTo>
                <a:lnTo>
                  <a:pt x="82600" y="95213"/>
                </a:lnTo>
                <a:lnTo>
                  <a:pt x="62136" y="74748"/>
                </a:lnTo>
                <a:cubicBezTo>
                  <a:pt x="58638" y="71251"/>
                  <a:pt x="58638" y="65595"/>
                  <a:pt x="62136" y="62136"/>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AutoShape 8"/>
          <p:cNvSpPr/>
          <p:nvPr/>
        </p:nvSpPr>
        <p:spPr>
          <a:xfrm>
            <a:off x="809521" y="281885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de problème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590352" y="3237933"/>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Freeform 10"/>
          <p:cNvSpPr/>
          <p:nvPr/>
        </p:nvSpPr>
        <p:spPr>
          <a:xfrm>
            <a:off x="590352" y="3237933"/>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nvSpPr>
        <p:spPr>
          <a:xfrm>
            <a:off x="685498" y="3352186"/>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1714115" y="3314123"/>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2057012" y="3352186"/>
            <a:ext cx="4095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590352" y="3809256"/>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Freeform 15"/>
          <p:cNvSpPr/>
          <p:nvPr/>
        </p:nvSpPr>
        <p:spPr>
          <a:xfrm>
            <a:off x="590352" y="3809256"/>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6" name="AutoShape 16"/>
          <p:cNvSpPr/>
          <p:nvPr/>
        </p:nvSpPr>
        <p:spPr>
          <a:xfrm>
            <a:off x="685498" y="3923509"/>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1</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1714115" y="3885447"/>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2057012" y="3923509"/>
            <a:ext cx="6667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A[1000]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590352" y="4380579"/>
            <a:ext cx="5200555" cy="457200"/>
          </a:xfrm>
          <a:custGeom>
            <a:avLst/>
            <a:gdLst/>
            <a:ahLst/>
            <a:cxnLst/>
            <a:rect l="l" t="t" r="r" b="b"/>
            <a:pathLst>
              <a:path w="5200555" h="457200">
                <a:moveTo>
                  <a:pt x="37910" y="0"/>
                </a:moveTo>
                <a:lnTo>
                  <a:pt x="5124353" y="0"/>
                </a:lnTo>
                <a:cubicBezTo>
                  <a:pt x="5166439" y="0"/>
                  <a:pt x="5200555" y="34117"/>
                  <a:pt x="5200555" y="76203"/>
                </a:cubicBezTo>
                <a:lnTo>
                  <a:pt x="5200555" y="380997"/>
                </a:lnTo>
                <a:cubicBezTo>
                  <a:pt x="5200555" y="423083"/>
                  <a:pt x="5166439" y="457200"/>
                  <a:pt x="5124353" y="457200"/>
                </a:cubicBezTo>
                <a:lnTo>
                  <a:pt x="37910" y="457200"/>
                </a:lnTo>
                <a:cubicBezTo>
                  <a:pt x="16974" y="457200"/>
                  <a:pt x="0" y="440226"/>
                  <a:pt x="0" y="4192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0" name="Freeform 20"/>
          <p:cNvSpPr/>
          <p:nvPr/>
        </p:nvSpPr>
        <p:spPr>
          <a:xfrm>
            <a:off x="590352" y="4380579"/>
            <a:ext cx="37909" cy="457200"/>
          </a:xfrm>
          <a:custGeom>
            <a:avLst/>
            <a:gdLst/>
            <a:ahLst/>
            <a:cxnLst/>
            <a:rect l="l" t="t" r="r" b="b"/>
            <a:pathLst>
              <a:path w="37909" h="457200">
                <a:moveTo>
                  <a:pt x="37910" y="0"/>
                </a:moveTo>
                <a:lnTo>
                  <a:pt x="37910" y="0"/>
                </a:lnTo>
                <a:lnTo>
                  <a:pt x="37910" y="457200"/>
                </a:lnTo>
                <a:lnTo>
                  <a:pt x="37910" y="457200"/>
                </a:lnTo>
                <a:cubicBezTo>
                  <a:pt x="16974" y="457200"/>
                  <a:pt x="0" y="440226"/>
                  <a:pt x="0" y="419291"/>
                </a:cubicBezTo>
                <a:lnTo>
                  <a:pt x="0" y="37909"/>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AutoShape 21"/>
          <p:cNvSpPr/>
          <p:nvPr/>
        </p:nvSpPr>
        <p:spPr>
          <a:xfrm>
            <a:off x="685498" y="4494833"/>
            <a:ext cx="990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thread 2</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1714115" y="4456770"/>
            <a:ext cx="342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2057012" y="4494833"/>
            <a:ext cx="6667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A[2000]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580874" y="4999508"/>
            <a:ext cx="5200555" cy="857155"/>
          </a:xfrm>
          <a:custGeom>
            <a:avLst/>
            <a:gdLst/>
            <a:ahLst/>
            <a:cxnLst/>
            <a:rect l="l" t="t" r="r" b="b"/>
            <a:pathLst>
              <a:path w="5200555" h="857155">
                <a:moveTo>
                  <a:pt x="76201" y="0"/>
                </a:moveTo>
                <a:lnTo>
                  <a:pt x="5124353" y="0"/>
                </a:lnTo>
                <a:cubicBezTo>
                  <a:pt x="5166439" y="0"/>
                  <a:pt x="5200555" y="34116"/>
                  <a:pt x="5200555" y="76201"/>
                </a:cubicBezTo>
                <a:lnTo>
                  <a:pt x="5200555" y="780953"/>
                </a:lnTo>
                <a:cubicBezTo>
                  <a:pt x="5200555" y="823039"/>
                  <a:pt x="5166439" y="857155"/>
                  <a:pt x="5124353" y="857155"/>
                </a:cubicBezTo>
                <a:lnTo>
                  <a:pt x="76201" y="857155"/>
                </a:lnTo>
                <a:cubicBezTo>
                  <a:pt x="34116" y="857155"/>
                  <a:pt x="0" y="823039"/>
                  <a:pt x="0" y="780953"/>
                </a:cubicBezTo>
                <a:lnTo>
                  <a:pt x="0" y="76201"/>
                </a:lnTo>
                <a:cubicBezTo>
                  <a:pt x="0" y="34145"/>
                  <a:pt x="34145"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endParaRPr sz="1200"/>
          </a:p>
        </p:txBody>
      </p:sp>
      <p:sp>
        <p:nvSpPr>
          <p:cNvPr id="25" name="AutoShape 25"/>
          <p:cNvSpPr/>
          <p:nvPr/>
        </p:nvSpPr>
        <p:spPr>
          <a:xfrm>
            <a:off x="666501" y="5123241"/>
            <a:ext cx="5029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Pas (stride)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633164" y="5389876"/>
            <a:ext cx="5095875"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1000</a:t>
            </a:r>
            <a:endParaRPr lang="en-US" sz="120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Freeform 27"/>
          <p:cNvSpPr/>
          <p:nvPr/>
        </p:nvSpPr>
        <p:spPr>
          <a:xfrm>
            <a:off x="6210279" y="1333230"/>
            <a:ext cx="5600700" cy="3429000"/>
          </a:xfrm>
          <a:custGeom>
            <a:avLst/>
            <a:gdLst/>
            <a:ahLst/>
            <a:cxnLst/>
            <a:rect l="l" t="t" r="r" b="b"/>
            <a:pathLst>
              <a:path w="5600700" h="3429000">
                <a:moveTo>
                  <a:pt x="76192" y="0"/>
                </a:moveTo>
                <a:lnTo>
                  <a:pt x="5524508" y="0"/>
                </a:lnTo>
                <a:cubicBezTo>
                  <a:pt x="5566588" y="0"/>
                  <a:pt x="5600700" y="34112"/>
                  <a:pt x="5600700" y="76192"/>
                </a:cubicBezTo>
                <a:lnTo>
                  <a:pt x="5600700" y="3352808"/>
                </a:lnTo>
                <a:cubicBezTo>
                  <a:pt x="5600700" y="3394888"/>
                  <a:pt x="5566588" y="3429000"/>
                  <a:pt x="5524508" y="3429000"/>
                </a:cubicBezTo>
                <a:lnTo>
                  <a:pt x="76192" y="3429000"/>
                </a:lnTo>
                <a:cubicBezTo>
                  <a:pt x="34112" y="3429000"/>
                  <a:pt x="0" y="3394888"/>
                  <a:pt x="0" y="3352808"/>
                </a:cubicBezTo>
                <a:lnTo>
                  <a:pt x="0" y="76192"/>
                </a:lnTo>
                <a:cubicBezTo>
                  <a:pt x="0" y="34141"/>
                  <a:pt x="34141" y="0"/>
                  <a:pt x="761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pic>
        <p:nvPicPr>
          <p:cNvPr id="28" name="Picture 28"/>
          <p:cNvPicPr>
            <a:picLocks noChangeAspect="1"/>
          </p:cNvPicPr>
          <p:nvPr/>
        </p:nvPicPr>
        <p:blipFill>
          <a:blip r:embed="rId1"/>
          <a:srcRect l="60" r="60"/>
          <a:stretch>
            <a:fillRect/>
          </a:stretch>
        </p:blipFill>
        <p:spPr>
          <a:xfrm>
            <a:off x="6400720" y="2039531"/>
            <a:ext cx="5219700" cy="2019300"/>
          </a:xfrm>
          <a:prstGeom prst="roundRect">
            <a:avLst>
              <a:gd name="adj" fmla="val 1886"/>
            </a:avLst>
          </a:prstGeom>
          <a:ln w="12700">
            <a:noFill/>
            <a:prstDash val="solid"/>
          </a:ln>
        </p:spPr>
      </p:pic>
      <p:sp>
        <p:nvSpPr>
          <p:cNvPr id="29" name="Freeform 29"/>
          <p:cNvSpPr/>
          <p:nvPr/>
        </p:nvSpPr>
        <p:spPr>
          <a:xfrm>
            <a:off x="6210279" y="4915179"/>
            <a:ext cx="5600700" cy="1295400"/>
          </a:xfrm>
          <a:custGeom>
            <a:avLst/>
            <a:gdLst/>
            <a:ahLst/>
            <a:cxnLst/>
            <a:rect l="l" t="t" r="r" b="b"/>
            <a:pathLst>
              <a:path w="5600700" h="1295400">
                <a:moveTo>
                  <a:pt x="76195" y="0"/>
                </a:moveTo>
                <a:lnTo>
                  <a:pt x="5524505" y="0"/>
                </a:lnTo>
                <a:cubicBezTo>
                  <a:pt x="5566559" y="0"/>
                  <a:pt x="5600700" y="34141"/>
                  <a:pt x="5600700" y="76195"/>
                </a:cubicBezTo>
                <a:lnTo>
                  <a:pt x="5600700" y="1219205"/>
                </a:lnTo>
                <a:cubicBezTo>
                  <a:pt x="5600700" y="1261287"/>
                  <a:pt x="5566587" y="1295400"/>
                  <a:pt x="5524505" y="1295400"/>
                </a:cubicBezTo>
                <a:lnTo>
                  <a:pt x="76195" y="1295400"/>
                </a:lnTo>
                <a:cubicBezTo>
                  <a:pt x="34141" y="1295400"/>
                  <a:pt x="0" y="1261259"/>
                  <a:pt x="0" y="1219205"/>
                </a:cubicBezTo>
                <a:lnTo>
                  <a:pt x="0" y="76195"/>
                </a:lnTo>
                <a:cubicBezTo>
                  <a:pt x="0" y="34141"/>
                  <a:pt x="34141" y="0"/>
                  <a:pt x="76195"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0" name="Freeform 30"/>
          <p:cNvSpPr/>
          <p:nvPr/>
        </p:nvSpPr>
        <p:spPr>
          <a:xfrm>
            <a:off x="6423825" y="5143677"/>
            <a:ext cx="191915" cy="178594"/>
          </a:xfrm>
          <a:custGeom>
            <a:avLst/>
            <a:gdLst/>
            <a:ahLst/>
            <a:cxnLst/>
            <a:rect l="l" t="t" r="r" b="b"/>
            <a:pathLst>
              <a:path w="191915" h="178594">
                <a:moveTo>
                  <a:pt x="95957" y="0"/>
                </a:moveTo>
                <a:cubicBezTo>
                  <a:pt x="101426" y="0"/>
                  <a:pt x="106448" y="3014"/>
                  <a:pt x="109055" y="7813"/>
                </a:cubicBezTo>
                <a:lnTo>
                  <a:pt x="189421" y="156642"/>
                </a:lnTo>
                <a:cubicBezTo>
                  <a:pt x="191914" y="161254"/>
                  <a:pt x="191803" y="166836"/>
                  <a:pt x="189123" y="171338"/>
                </a:cubicBezTo>
                <a:cubicBezTo>
                  <a:pt x="186444" y="175840"/>
                  <a:pt x="181570" y="178594"/>
                  <a:pt x="176324" y="178594"/>
                </a:cubicBezTo>
                <a:lnTo>
                  <a:pt x="15590" y="178594"/>
                </a:lnTo>
                <a:cubicBezTo>
                  <a:pt x="10344" y="178594"/>
                  <a:pt x="5508" y="175840"/>
                  <a:pt x="2791" y="171338"/>
                </a:cubicBezTo>
                <a:cubicBezTo>
                  <a:pt x="75" y="166836"/>
                  <a:pt x="0" y="161254"/>
                  <a:pt x="2493" y="156642"/>
                </a:cubicBezTo>
                <a:lnTo>
                  <a:pt x="82859" y="7813"/>
                </a:lnTo>
                <a:cubicBezTo>
                  <a:pt x="85466" y="3014"/>
                  <a:pt x="90488" y="0"/>
                  <a:pt x="95957" y="0"/>
                </a:cubicBezTo>
                <a:close/>
                <a:moveTo>
                  <a:pt x="95957" y="62508"/>
                </a:moveTo>
                <a:cubicBezTo>
                  <a:pt x="91008" y="62508"/>
                  <a:pt x="87028" y="66490"/>
                  <a:pt x="87028" y="71437"/>
                </a:cubicBezTo>
                <a:lnTo>
                  <a:pt x="87028" y="113109"/>
                </a:lnTo>
                <a:cubicBezTo>
                  <a:pt x="87028" y="118058"/>
                  <a:pt x="91008" y="122039"/>
                  <a:pt x="95957" y="122039"/>
                </a:cubicBezTo>
                <a:cubicBezTo>
                  <a:pt x="100906" y="122039"/>
                  <a:pt x="104886" y="118058"/>
                  <a:pt x="104886" y="113109"/>
                </a:cubicBezTo>
                <a:lnTo>
                  <a:pt x="104886" y="71437"/>
                </a:lnTo>
                <a:cubicBezTo>
                  <a:pt x="104886" y="66490"/>
                  <a:pt x="100906" y="62508"/>
                  <a:pt x="95957" y="62508"/>
                </a:cubicBezTo>
                <a:close/>
                <a:moveTo>
                  <a:pt x="105891" y="142875"/>
                </a:moveTo>
                <a:cubicBezTo>
                  <a:pt x="106117" y="139188"/>
                  <a:pt x="104278" y="135679"/>
                  <a:pt x="101117" y="133767"/>
                </a:cubicBezTo>
                <a:cubicBezTo>
                  <a:pt x="97956" y="131855"/>
                  <a:pt x="93995" y="131855"/>
                  <a:pt x="90834" y="133767"/>
                </a:cubicBezTo>
                <a:cubicBezTo>
                  <a:pt x="87673" y="135679"/>
                  <a:pt x="85834" y="139188"/>
                  <a:pt x="86060" y="142875"/>
                </a:cubicBezTo>
                <a:cubicBezTo>
                  <a:pt x="85834" y="146562"/>
                  <a:pt x="87673" y="150071"/>
                  <a:pt x="90834" y="151983"/>
                </a:cubicBezTo>
                <a:cubicBezTo>
                  <a:pt x="93995" y="153895"/>
                  <a:pt x="97956" y="153895"/>
                  <a:pt x="101117" y="151983"/>
                </a:cubicBezTo>
                <a:cubicBezTo>
                  <a:pt x="104278" y="150071"/>
                  <a:pt x="106117" y="146562"/>
                  <a:pt x="105891" y="1428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1" name="AutoShape 31"/>
          <p:cNvSpPr/>
          <p:nvPr/>
        </p:nvSpPr>
        <p:spPr>
          <a:xfrm>
            <a:off x="6638845" y="5105614"/>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Problèmes causés</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6400720" y="5562767"/>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3" name="AutoShape 33"/>
          <p:cNvSpPr/>
          <p:nvPr/>
        </p:nvSpPr>
        <p:spPr>
          <a:xfrm>
            <a:off x="6553200" y="5486400"/>
            <a:ext cx="467169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Multiples transactions mémoire</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Freeform 34"/>
          <p:cNvSpPr/>
          <p:nvPr/>
        </p:nvSpPr>
        <p:spPr>
          <a:xfrm>
            <a:off x="6400720" y="5867530"/>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5" name="AutoShape 35"/>
          <p:cNvSpPr/>
          <p:nvPr/>
        </p:nvSpPr>
        <p:spPr>
          <a:xfrm>
            <a:off x="6553200" y="5791200"/>
            <a:ext cx="496062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Baisse grave des performances</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6" name="AutoShape 36"/>
          <p:cNvSpPr/>
          <p:nvPr/>
        </p:nvSpPr>
        <p:spPr>
          <a:xfrm>
            <a:off x="314281" y="6286547"/>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POP CoE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7490" y="664612"/>
            <a:ext cx="11699875" cy="3175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Localité du Cache</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17463" y="1111025"/>
            <a:ext cx="5683250" cy="952500"/>
          </a:xfrm>
          <a:custGeom>
            <a:avLst/>
            <a:gdLst/>
            <a:ahLst/>
            <a:cxnLst/>
            <a:rect l="l" t="t" r="r" b="b"/>
            <a:pathLst>
              <a:path w="5683250" h="952500">
                <a:moveTo>
                  <a:pt x="63503" y="0"/>
                </a:moveTo>
                <a:lnTo>
                  <a:pt x="5619747" y="0"/>
                </a:lnTo>
                <a:cubicBezTo>
                  <a:pt x="5654819" y="0"/>
                  <a:pt x="5683250" y="28431"/>
                  <a:pt x="5683250" y="63503"/>
                </a:cubicBezTo>
                <a:lnTo>
                  <a:pt x="5683250" y="888997"/>
                </a:lnTo>
                <a:cubicBezTo>
                  <a:pt x="5683250" y="924069"/>
                  <a:pt x="5654819" y="952500"/>
                  <a:pt x="5619747" y="952500"/>
                </a:cubicBezTo>
                <a:lnTo>
                  <a:pt x="63503" y="952500"/>
                </a:lnTo>
                <a:cubicBezTo>
                  <a:pt x="28431" y="952500"/>
                  <a:pt x="0" y="924069"/>
                  <a:pt x="0" y="888997"/>
                </a:cubicBezTo>
                <a:lnTo>
                  <a:pt x="0" y="63503"/>
                </a:lnTo>
                <a:cubicBezTo>
                  <a:pt x="0" y="28431"/>
                  <a:pt x="28431" y="0"/>
                  <a:pt x="63503"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4" name="AutoShape 4"/>
          <p:cNvSpPr/>
          <p:nvPr/>
        </p:nvSpPr>
        <p:spPr>
          <a:xfrm>
            <a:off x="507941" y="1301502"/>
            <a:ext cx="53975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altLang="zh-CN"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Les deux localit</a:t>
            </a:r>
            <a:r>
              <a:rPr lang="en-US" alt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 </a:t>
            </a:r>
            <a:endParaRPr lang="en-US" altLang="zh-CN"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5" name="AutoShape 5"/>
          <p:cNvSpPr/>
          <p:nvPr/>
        </p:nvSpPr>
        <p:spPr>
          <a:xfrm>
            <a:off x="507941" y="1650620"/>
            <a:ext cx="537368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Clé pour améliorer le taux de succès du cache</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33259" y="2190339"/>
            <a:ext cx="2762171" cy="4330675"/>
          </a:xfrm>
          <a:custGeom>
            <a:avLst/>
            <a:gdLst/>
            <a:ahLst/>
            <a:cxnLst/>
            <a:rect l="l" t="t" r="r" b="b"/>
            <a:pathLst>
              <a:path w="2762171" h="4330675">
                <a:moveTo>
                  <a:pt x="31593" y="0"/>
                </a:moveTo>
                <a:lnTo>
                  <a:pt x="2698669" y="0"/>
                </a:lnTo>
                <a:cubicBezTo>
                  <a:pt x="2733740" y="0"/>
                  <a:pt x="2762171" y="18292"/>
                  <a:pt x="2762171" y="40857"/>
                </a:cubicBezTo>
                <a:lnTo>
                  <a:pt x="2762171" y="4289819"/>
                </a:lnTo>
                <a:cubicBezTo>
                  <a:pt x="2762171" y="4312383"/>
                  <a:pt x="2733740" y="4330675"/>
                  <a:pt x="2698669" y="4330675"/>
                </a:cubicBezTo>
                <a:lnTo>
                  <a:pt x="31593" y="4330675"/>
                </a:lnTo>
                <a:cubicBezTo>
                  <a:pt x="14144" y="4330675"/>
                  <a:pt x="0" y="4321575"/>
                  <a:pt x="0" y="4310350"/>
                </a:cubicBezTo>
                <a:lnTo>
                  <a:pt x="0" y="20326"/>
                </a:lnTo>
                <a:cubicBezTo>
                  <a:pt x="0" y="9108"/>
                  <a:pt x="14155" y="0"/>
                  <a:pt x="3159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Freeform 7"/>
          <p:cNvSpPr/>
          <p:nvPr/>
        </p:nvSpPr>
        <p:spPr>
          <a:xfrm>
            <a:off x="333258" y="2190339"/>
            <a:ext cx="45719" cy="4350200"/>
          </a:xfrm>
          <a:custGeom>
            <a:avLst/>
            <a:gdLst/>
            <a:ahLst/>
            <a:cxnLst/>
            <a:rect l="l" t="t" r="r" b="b"/>
            <a:pathLst>
              <a:path w="45719" h="4350200">
                <a:moveTo>
                  <a:pt x="45719" y="0"/>
                </a:moveTo>
                <a:lnTo>
                  <a:pt x="45719" y="0"/>
                </a:lnTo>
                <a:lnTo>
                  <a:pt x="45719" y="4350200"/>
                </a:lnTo>
                <a:lnTo>
                  <a:pt x="45719" y="4350200"/>
                </a:lnTo>
                <a:cubicBezTo>
                  <a:pt x="20469" y="4350200"/>
                  <a:pt x="0" y="4341059"/>
                  <a:pt x="0" y="4329782"/>
                </a:cubicBezTo>
                <a:lnTo>
                  <a:pt x="0" y="20418"/>
                </a:lnTo>
                <a:cubicBezTo>
                  <a:pt x="0" y="9149"/>
                  <a:pt x="20486" y="0"/>
                  <a:pt x="45719"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Freeform 8"/>
          <p:cNvSpPr/>
          <p:nvPr/>
        </p:nvSpPr>
        <p:spPr>
          <a:xfrm>
            <a:off x="519848" y="2373003"/>
            <a:ext cx="166501" cy="174252"/>
          </a:xfrm>
          <a:custGeom>
            <a:avLst/>
            <a:gdLst/>
            <a:ahLst/>
            <a:cxnLst/>
            <a:rect l="l" t="t" r="r" b="b"/>
            <a:pathLst>
              <a:path w="166501" h="174252">
                <a:moveTo>
                  <a:pt x="143155" y="30912"/>
                </a:moveTo>
                <a:lnTo>
                  <a:pt x="146657" y="34231"/>
                </a:lnTo>
                <a:lnTo>
                  <a:pt x="146657" y="17674"/>
                </a:lnTo>
                <a:cubicBezTo>
                  <a:pt x="146657" y="12185"/>
                  <a:pt x="151091" y="7751"/>
                  <a:pt x="156578" y="7751"/>
                </a:cubicBezTo>
                <a:cubicBezTo>
                  <a:pt x="162067" y="7751"/>
                  <a:pt x="166501" y="12185"/>
                  <a:pt x="166501" y="17674"/>
                </a:cubicBezTo>
                <a:lnTo>
                  <a:pt x="166501" y="57360"/>
                </a:lnTo>
                <a:cubicBezTo>
                  <a:pt x="166501" y="62847"/>
                  <a:pt x="162067" y="67282"/>
                  <a:pt x="156578" y="67282"/>
                </a:cubicBezTo>
                <a:lnTo>
                  <a:pt x="116892" y="67282"/>
                </a:lnTo>
                <a:cubicBezTo>
                  <a:pt x="111405" y="67282"/>
                  <a:pt x="106970" y="62847"/>
                  <a:pt x="106970" y="57360"/>
                </a:cubicBezTo>
                <a:cubicBezTo>
                  <a:pt x="106970" y="51872"/>
                  <a:pt x="111405" y="47439"/>
                  <a:pt x="116892" y="47439"/>
                </a:cubicBezTo>
                <a:lnTo>
                  <a:pt x="131742" y="47439"/>
                </a:lnTo>
                <a:lnTo>
                  <a:pt x="129387" y="45206"/>
                </a:lnTo>
                <a:cubicBezTo>
                  <a:pt x="129326" y="45144"/>
                  <a:pt x="129263" y="45081"/>
                  <a:pt x="129201" y="45020"/>
                </a:cubicBezTo>
                <a:cubicBezTo>
                  <a:pt x="105947" y="21765"/>
                  <a:pt x="68274" y="21765"/>
                  <a:pt x="45020" y="45020"/>
                </a:cubicBezTo>
                <a:cubicBezTo>
                  <a:pt x="21765" y="68274"/>
                  <a:pt x="21765" y="105947"/>
                  <a:pt x="45020" y="129201"/>
                </a:cubicBezTo>
                <a:cubicBezTo>
                  <a:pt x="68274" y="152455"/>
                  <a:pt x="105947" y="152455"/>
                  <a:pt x="129201" y="129201"/>
                </a:cubicBezTo>
                <a:cubicBezTo>
                  <a:pt x="131742" y="126659"/>
                  <a:pt x="134007" y="123961"/>
                  <a:pt x="135991" y="121107"/>
                </a:cubicBezTo>
                <a:cubicBezTo>
                  <a:pt x="139124" y="116613"/>
                  <a:pt x="145324" y="115527"/>
                  <a:pt x="149820" y="118659"/>
                </a:cubicBezTo>
                <a:cubicBezTo>
                  <a:pt x="154317" y="121791"/>
                  <a:pt x="155401" y="127992"/>
                  <a:pt x="152269" y="132488"/>
                </a:cubicBezTo>
                <a:cubicBezTo>
                  <a:pt x="149634" y="136270"/>
                  <a:pt x="146626" y="139867"/>
                  <a:pt x="143247" y="143247"/>
                </a:cubicBezTo>
                <a:cubicBezTo>
                  <a:pt x="112242" y="174252"/>
                  <a:pt x="61980" y="174252"/>
                  <a:pt x="31005" y="143247"/>
                </a:cubicBezTo>
                <a:cubicBezTo>
                  <a:pt x="31" y="112242"/>
                  <a:pt x="0" y="62010"/>
                  <a:pt x="31005" y="31005"/>
                </a:cubicBezTo>
                <a:cubicBezTo>
                  <a:pt x="61980" y="31"/>
                  <a:pt x="112148" y="0"/>
                  <a:pt x="143155" y="30912"/>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9" name="AutoShape 9"/>
          <p:cNvSpPr/>
          <p:nvPr/>
        </p:nvSpPr>
        <p:spPr>
          <a:xfrm>
            <a:off x="706193" y="2349035"/>
            <a:ext cx="2309813"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Temporelle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507756" y="2761769"/>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nvSpPr>
        <p:spPr>
          <a:xfrm>
            <a:off x="635000" y="2698115"/>
            <a:ext cx="244030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Accès répété aux mêmes données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507756" y="3047457"/>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3" name="AutoShape 13"/>
          <p:cNvSpPr/>
          <p:nvPr/>
        </p:nvSpPr>
        <p:spPr>
          <a:xfrm>
            <a:off x="635000" y="2983865"/>
            <a:ext cx="217106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Localité temporelle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507756" y="3269653"/>
            <a:ext cx="2428875" cy="349250"/>
          </a:xfrm>
          <a:custGeom>
            <a:avLst/>
            <a:gdLst/>
            <a:ahLst/>
            <a:cxnLst/>
            <a:rect l="l" t="t" r="r" b="b"/>
            <a:pathLst>
              <a:path w="2428875" h="349250">
                <a:moveTo>
                  <a:pt x="63501" y="0"/>
                </a:moveTo>
                <a:lnTo>
                  <a:pt x="2365374" y="0"/>
                </a:lnTo>
                <a:cubicBezTo>
                  <a:pt x="2400445" y="0"/>
                  <a:pt x="2428875" y="28430"/>
                  <a:pt x="2428875" y="63501"/>
                </a:cubicBezTo>
                <a:lnTo>
                  <a:pt x="2428875" y="285749"/>
                </a:lnTo>
                <a:cubicBezTo>
                  <a:pt x="2428875" y="320820"/>
                  <a:pt x="2400445" y="349250"/>
                  <a:pt x="2365374" y="349250"/>
                </a:cubicBezTo>
                <a:lnTo>
                  <a:pt x="63501" y="349250"/>
                </a:lnTo>
                <a:cubicBezTo>
                  <a:pt x="28430" y="349250"/>
                  <a:pt x="0" y="320820"/>
                  <a:pt x="0" y="285749"/>
                </a:cubicBezTo>
                <a:lnTo>
                  <a:pt x="0" y="63501"/>
                </a:lnTo>
                <a:cubicBezTo>
                  <a:pt x="0" y="28430"/>
                  <a:pt x="28430" y="0"/>
                  <a:pt x="63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5" name="AutoShape 15"/>
          <p:cNvSpPr/>
          <p:nvPr/>
        </p:nvSpPr>
        <p:spPr>
          <a:xfrm>
            <a:off x="602964" y="3364857"/>
            <a:ext cx="2293938"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Exemple : variable réutilisée dans une boucle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3238369" y="2190339"/>
            <a:ext cx="2762171" cy="4350200"/>
          </a:xfrm>
          <a:custGeom>
            <a:avLst/>
            <a:gdLst/>
            <a:ahLst/>
            <a:cxnLst/>
            <a:rect l="l" t="t" r="r" b="b"/>
            <a:pathLst>
              <a:path w="2762171" h="4350200">
                <a:moveTo>
                  <a:pt x="31593" y="0"/>
                </a:moveTo>
                <a:lnTo>
                  <a:pt x="2698669" y="0"/>
                </a:lnTo>
                <a:cubicBezTo>
                  <a:pt x="2733740" y="0"/>
                  <a:pt x="2762171" y="18374"/>
                  <a:pt x="2762171" y="41041"/>
                </a:cubicBezTo>
                <a:lnTo>
                  <a:pt x="2762171" y="4309160"/>
                </a:lnTo>
                <a:cubicBezTo>
                  <a:pt x="2762171" y="4331825"/>
                  <a:pt x="2733740" y="4350200"/>
                  <a:pt x="2698669" y="4350200"/>
                </a:cubicBezTo>
                <a:lnTo>
                  <a:pt x="31593" y="4350200"/>
                </a:lnTo>
                <a:cubicBezTo>
                  <a:pt x="14144" y="4350200"/>
                  <a:pt x="0" y="4341059"/>
                  <a:pt x="0" y="4329782"/>
                </a:cubicBezTo>
                <a:lnTo>
                  <a:pt x="0" y="20418"/>
                </a:lnTo>
                <a:cubicBezTo>
                  <a:pt x="0" y="9149"/>
                  <a:pt x="14155" y="0"/>
                  <a:pt x="3159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7" name="Freeform 17"/>
          <p:cNvSpPr/>
          <p:nvPr/>
        </p:nvSpPr>
        <p:spPr>
          <a:xfrm>
            <a:off x="3238369" y="2190339"/>
            <a:ext cx="51402" cy="4350200"/>
          </a:xfrm>
          <a:custGeom>
            <a:avLst/>
            <a:gdLst/>
            <a:ahLst/>
            <a:cxnLst/>
            <a:rect l="l" t="t" r="r" b="b"/>
            <a:pathLst>
              <a:path w="51402" h="4350200">
                <a:moveTo>
                  <a:pt x="51402" y="0"/>
                </a:moveTo>
                <a:lnTo>
                  <a:pt x="51402" y="0"/>
                </a:lnTo>
                <a:lnTo>
                  <a:pt x="51402" y="4350200"/>
                </a:lnTo>
                <a:lnTo>
                  <a:pt x="51402" y="4350200"/>
                </a:lnTo>
                <a:cubicBezTo>
                  <a:pt x="23014" y="4350200"/>
                  <a:pt x="0" y="4341059"/>
                  <a:pt x="0" y="4329782"/>
                </a:cubicBezTo>
                <a:lnTo>
                  <a:pt x="0" y="20418"/>
                </a:lnTo>
                <a:cubicBezTo>
                  <a:pt x="0" y="9149"/>
                  <a:pt x="23033" y="0"/>
                  <a:pt x="51402"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8" name="Freeform 18"/>
          <p:cNvSpPr/>
          <p:nvPr/>
        </p:nvSpPr>
        <p:spPr>
          <a:xfrm>
            <a:off x="3431749" y="2379948"/>
            <a:ext cx="160703" cy="160331"/>
          </a:xfrm>
          <a:custGeom>
            <a:avLst/>
            <a:gdLst/>
            <a:ahLst/>
            <a:cxnLst/>
            <a:rect l="l" t="t" r="r" b="b"/>
            <a:pathLst>
              <a:path w="160703" h="160331">
                <a:moveTo>
                  <a:pt x="156796" y="126876"/>
                </a:moveTo>
                <a:lnTo>
                  <a:pt x="127031" y="156641"/>
                </a:lnTo>
                <a:cubicBezTo>
                  <a:pt x="124178" y="159494"/>
                  <a:pt x="119930" y="160331"/>
                  <a:pt x="116210" y="158781"/>
                </a:cubicBezTo>
                <a:cubicBezTo>
                  <a:pt x="112489" y="157231"/>
                  <a:pt x="110102" y="153634"/>
                  <a:pt x="110102" y="149633"/>
                </a:cubicBezTo>
                <a:lnTo>
                  <a:pt x="110102" y="129790"/>
                </a:lnTo>
                <a:lnTo>
                  <a:pt x="10884" y="129790"/>
                </a:lnTo>
                <a:cubicBezTo>
                  <a:pt x="5395" y="129790"/>
                  <a:pt x="961" y="125357"/>
                  <a:pt x="961" y="119868"/>
                </a:cubicBezTo>
                <a:cubicBezTo>
                  <a:pt x="961" y="114380"/>
                  <a:pt x="5395" y="109947"/>
                  <a:pt x="10884" y="109947"/>
                </a:cubicBezTo>
                <a:lnTo>
                  <a:pt x="110102" y="109947"/>
                </a:lnTo>
                <a:lnTo>
                  <a:pt x="110102" y="90104"/>
                </a:lnTo>
                <a:cubicBezTo>
                  <a:pt x="110102" y="86103"/>
                  <a:pt x="112520" y="82475"/>
                  <a:pt x="116241" y="80925"/>
                </a:cubicBezTo>
                <a:cubicBezTo>
                  <a:pt x="119961" y="79375"/>
                  <a:pt x="124209" y="80243"/>
                  <a:pt x="127062" y="83065"/>
                </a:cubicBezTo>
                <a:lnTo>
                  <a:pt x="156827" y="112830"/>
                </a:lnTo>
                <a:cubicBezTo>
                  <a:pt x="160703" y="116706"/>
                  <a:pt x="160703" y="123000"/>
                  <a:pt x="156827" y="126876"/>
                </a:cubicBezTo>
                <a:close/>
                <a:moveTo>
                  <a:pt x="3876" y="47501"/>
                </a:moveTo>
                <a:cubicBezTo>
                  <a:pt x="0" y="43625"/>
                  <a:pt x="0" y="37331"/>
                  <a:pt x="3876" y="33455"/>
                </a:cubicBezTo>
                <a:lnTo>
                  <a:pt x="33641" y="3690"/>
                </a:lnTo>
                <a:cubicBezTo>
                  <a:pt x="36494" y="836"/>
                  <a:pt x="40742" y="0"/>
                  <a:pt x="44462" y="1550"/>
                </a:cubicBezTo>
                <a:cubicBezTo>
                  <a:pt x="48183" y="3100"/>
                  <a:pt x="50570" y="6728"/>
                  <a:pt x="50570" y="10729"/>
                </a:cubicBezTo>
                <a:lnTo>
                  <a:pt x="50570" y="30572"/>
                </a:lnTo>
                <a:lnTo>
                  <a:pt x="149788" y="30572"/>
                </a:lnTo>
                <a:cubicBezTo>
                  <a:pt x="155277" y="30572"/>
                  <a:pt x="159711" y="35005"/>
                  <a:pt x="159711" y="40494"/>
                </a:cubicBezTo>
                <a:cubicBezTo>
                  <a:pt x="159711" y="45982"/>
                  <a:pt x="155277" y="50415"/>
                  <a:pt x="149788" y="50415"/>
                </a:cubicBezTo>
                <a:lnTo>
                  <a:pt x="50570" y="50415"/>
                </a:lnTo>
                <a:lnTo>
                  <a:pt x="50570" y="70258"/>
                </a:lnTo>
                <a:cubicBezTo>
                  <a:pt x="50570" y="74259"/>
                  <a:pt x="48152" y="77887"/>
                  <a:pt x="44431" y="79437"/>
                </a:cubicBezTo>
                <a:cubicBezTo>
                  <a:pt x="40711" y="80987"/>
                  <a:pt x="36463" y="80119"/>
                  <a:pt x="33610" y="77297"/>
                </a:cubicBezTo>
                <a:lnTo>
                  <a:pt x="3845" y="47532"/>
                </a:ln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9" name="AutoShape 19"/>
          <p:cNvSpPr/>
          <p:nvPr/>
        </p:nvSpPr>
        <p:spPr>
          <a:xfrm>
            <a:off x="3611303" y="2349035"/>
            <a:ext cx="2309813"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Spatiale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Freeform 20"/>
          <p:cNvSpPr/>
          <p:nvPr/>
        </p:nvSpPr>
        <p:spPr>
          <a:xfrm>
            <a:off x="3412866" y="2761769"/>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1" name="AutoShape 21"/>
          <p:cNvSpPr/>
          <p:nvPr/>
        </p:nvSpPr>
        <p:spPr>
          <a:xfrm>
            <a:off x="3540125" y="2698115"/>
            <a:ext cx="240665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Accès aux données voisines</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Freeform 22"/>
          <p:cNvSpPr/>
          <p:nvPr/>
        </p:nvSpPr>
        <p:spPr>
          <a:xfrm>
            <a:off x="3412866" y="3047457"/>
            <a:ext cx="63500" cy="63500"/>
          </a:xfrm>
          <a:custGeom>
            <a:avLst/>
            <a:gdLst/>
            <a:ahLst/>
            <a:cxnLst/>
            <a:rect l="l" t="t" r="r" b="b"/>
            <a:pathLst>
              <a:path w="63500" h="63500">
                <a:moveTo>
                  <a:pt x="31750" y="0"/>
                </a:moveTo>
                <a:lnTo>
                  <a:pt x="31750" y="0"/>
                </a:lnTo>
                <a:cubicBezTo>
                  <a:pt x="49273" y="0"/>
                  <a:pt x="63500" y="14227"/>
                  <a:pt x="63500" y="31750"/>
                </a:cubicBezTo>
                <a:lnTo>
                  <a:pt x="63500" y="31750"/>
                </a:lnTo>
                <a:cubicBezTo>
                  <a:pt x="63500" y="49273"/>
                  <a:pt x="49273" y="63500"/>
                  <a:pt x="31750" y="63500"/>
                </a:cubicBezTo>
                <a:lnTo>
                  <a:pt x="31750" y="63500"/>
                </a:lnTo>
                <a:cubicBezTo>
                  <a:pt x="14227" y="63500"/>
                  <a:pt x="0" y="49273"/>
                  <a:pt x="0" y="31750"/>
                </a:cubicBezTo>
                <a:lnTo>
                  <a:pt x="0" y="31750"/>
                </a:lnTo>
                <a:cubicBezTo>
                  <a:pt x="0" y="14227"/>
                  <a:pt x="14227" y="0"/>
                  <a:pt x="31750"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3" name="AutoShape 23"/>
          <p:cNvSpPr/>
          <p:nvPr/>
        </p:nvSpPr>
        <p:spPr>
          <a:xfrm>
            <a:off x="3540125" y="2983865"/>
            <a:ext cx="221170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Localité spatiale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3412866" y="3269653"/>
            <a:ext cx="2428875" cy="349250"/>
          </a:xfrm>
          <a:custGeom>
            <a:avLst/>
            <a:gdLst/>
            <a:ahLst/>
            <a:cxnLst/>
            <a:rect l="l" t="t" r="r" b="b"/>
            <a:pathLst>
              <a:path w="2428875" h="349250">
                <a:moveTo>
                  <a:pt x="63501" y="0"/>
                </a:moveTo>
                <a:lnTo>
                  <a:pt x="2365374" y="0"/>
                </a:lnTo>
                <a:cubicBezTo>
                  <a:pt x="2400445" y="0"/>
                  <a:pt x="2428875" y="28430"/>
                  <a:pt x="2428875" y="63501"/>
                </a:cubicBezTo>
                <a:lnTo>
                  <a:pt x="2428875" y="285749"/>
                </a:lnTo>
                <a:cubicBezTo>
                  <a:pt x="2428875" y="320820"/>
                  <a:pt x="2400445" y="349250"/>
                  <a:pt x="2365374" y="349250"/>
                </a:cubicBezTo>
                <a:lnTo>
                  <a:pt x="63501" y="349250"/>
                </a:lnTo>
                <a:cubicBezTo>
                  <a:pt x="28430" y="349250"/>
                  <a:pt x="0" y="320820"/>
                  <a:pt x="0" y="285749"/>
                </a:cubicBezTo>
                <a:lnTo>
                  <a:pt x="0" y="63501"/>
                </a:lnTo>
                <a:cubicBezTo>
                  <a:pt x="0" y="28430"/>
                  <a:pt x="28430" y="0"/>
                  <a:pt x="635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5" name="AutoShape 25"/>
          <p:cNvSpPr/>
          <p:nvPr/>
        </p:nvSpPr>
        <p:spPr>
          <a:xfrm>
            <a:off x="3508074" y="3364857"/>
            <a:ext cx="2293938"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Exemple : </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 s</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quentiel aux </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l</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ments d’un tableau</a:t>
            </a:r>
            <a:endPar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Freeform 26"/>
          <p:cNvSpPr/>
          <p:nvPr/>
        </p:nvSpPr>
        <p:spPr>
          <a:xfrm>
            <a:off x="6131560" y="652780"/>
            <a:ext cx="5688330" cy="5949950"/>
          </a:xfrm>
          <a:custGeom>
            <a:avLst/>
            <a:gdLst/>
            <a:ahLst/>
            <a:cxnLst/>
            <a:rect l="l" t="t" r="r" b="b"/>
            <a:pathLst>
              <a:path w="5688330" h="5949950">
                <a:moveTo>
                  <a:pt x="63539" y="0"/>
                </a:moveTo>
                <a:lnTo>
                  <a:pt x="5624791" y="0"/>
                </a:lnTo>
                <a:cubicBezTo>
                  <a:pt x="5659882" y="0"/>
                  <a:pt x="5688330" y="24210"/>
                  <a:pt x="5688330" y="54075"/>
                </a:cubicBezTo>
                <a:lnTo>
                  <a:pt x="5688330" y="5895875"/>
                </a:lnTo>
                <a:cubicBezTo>
                  <a:pt x="5688330" y="5925740"/>
                  <a:pt x="5659882" y="5949950"/>
                  <a:pt x="5624791" y="5949950"/>
                </a:cubicBezTo>
                <a:lnTo>
                  <a:pt x="63539" y="5949950"/>
                </a:lnTo>
                <a:cubicBezTo>
                  <a:pt x="28448" y="5949950"/>
                  <a:pt x="0" y="5925740"/>
                  <a:pt x="0" y="5895875"/>
                </a:cubicBezTo>
                <a:lnTo>
                  <a:pt x="0" y="54075"/>
                </a:lnTo>
                <a:cubicBezTo>
                  <a:pt x="0" y="24230"/>
                  <a:pt x="28471" y="0"/>
                  <a:pt x="63539"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7" name="Picture 27"/>
          <p:cNvPicPr>
            <a:picLocks noChangeAspect="1"/>
          </p:cNvPicPr>
          <p:nvPr/>
        </p:nvPicPr>
        <p:blipFill>
          <a:blip r:embed="rId1"/>
          <a:srcRect/>
          <a:stretch>
            <a:fillRect/>
          </a:stretch>
        </p:blipFill>
        <p:spPr>
          <a:xfrm>
            <a:off x="6185535" y="635000"/>
            <a:ext cx="3919220" cy="5106670"/>
          </a:xfrm>
          <a:prstGeom prst="roundRect">
            <a:avLst>
              <a:gd name="adj" fmla="val 634"/>
            </a:avLst>
          </a:prstGeom>
          <a:ln w="12700">
            <a:noFill/>
            <a:prstDash val="solid"/>
          </a:ln>
        </p:spPr>
      </p:pic>
      <p:sp>
        <p:nvSpPr>
          <p:cNvPr id="28" name="Freeform 28"/>
          <p:cNvSpPr/>
          <p:nvPr/>
        </p:nvSpPr>
        <p:spPr>
          <a:xfrm>
            <a:off x="6191237" y="5822514"/>
            <a:ext cx="5683250" cy="698500"/>
          </a:xfrm>
          <a:custGeom>
            <a:avLst/>
            <a:gdLst/>
            <a:ahLst/>
            <a:cxnLst/>
            <a:rect l="l" t="t" r="r" b="b"/>
            <a:pathLst>
              <a:path w="5683250" h="698500">
                <a:moveTo>
                  <a:pt x="63501" y="0"/>
                </a:moveTo>
                <a:lnTo>
                  <a:pt x="5619749" y="0"/>
                </a:lnTo>
                <a:cubicBezTo>
                  <a:pt x="5654820" y="0"/>
                  <a:pt x="5683250" y="28430"/>
                  <a:pt x="5683250" y="63501"/>
                </a:cubicBezTo>
                <a:lnTo>
                  <a:pt x="5683250" y="634999"/>
                </a:lnTo>
                <a:cubicBezTo>
                  <a:pt x="5683250" y="670070"/>
                  <a:pt x="5654820" y="698500"/>
                  <a:pt x="5619749" y="698500"/>
                </a:cubicBezTo>
                <a:lnTo>
                  <a:pt x="63501" y="698500"/>
                </a:lnTo>
                <a:cubicBezTo>
                  <a:pt x="28430" y="698500"/>
                  <a:pt x="0" y="670070"/>
                  <a:pt x="0" y="634999"/>
                </a:cubicBezTo>
                <a:lnTo>
                  <a:pt x="0" y="63501"/>
                </a:lnTo>
                <a:cubicBezTo>
                  <a:pt x="0" y="28430"/>
                  <a:pt x="28430" y="0"/>
                  <a:pt x="63501"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29" name="Freeform 29"/>
          <p:cNvSpPr/>
          <p:nvPr/>
        </p:nvSpPr>
        <p:spPr>
          <a:xfrm>
            <a:off x="6336928" y="6114011"/>
            <a:ext cx="190500" cy="190500"/>
          </a:xfrm>
          <a:custGeom>
            <a:avLst/>
            <a:gdLst/>
            <a:ahLst/>
            <a:cxnLst/>
            <a:rect l="l" t="t" r="r" b="b"/>
            <a:pathLst>
              <a:path w="190500" h="190500">
                <a:moveTo>
                  <a:pt x="166688" y="95250"/>
                </a:moveTo>
                <a:cubicBezTo>
                  <a:pt x="166688" y="55823"/>
                  <a:pt x="134677" y="23813"/>
                  <a:pt x="95250" y="23813"/>
                </a:cubicBezTo>
                <a:cubicBezTo>
                  <a:pt x="55823" y="23813"/>
                  <a:pt x="23812" y="55823"/>
                  <a:pt x="23812" y="95250"/>
                </a:cubicBezTo>
                <a:cubicBezTo>
                  <a:pt x="23812" y="134677"/>
                  <a:pt x="55823" y="166687"/>
                  <a:pt x="95250" y="166687"/>
                </a:cubicBezTo>
                <a:cubicBezTo>
                  <a:pt x="134677" y="166687"/>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7" y="125016"/>
                  <a:pt x="125016" y="111677"/>
                  <a:pt x="125016" y="95250"/>
                </a:cubicBezTo>
                <a:cubicBezTo>
                  <a:pt x="125016" y="78823"/>
                  <a:pt x="111677" y="65484"/>
                  <a:pt x="95250" y="65484"/>
                </a:cubicBezTo>
                <a:cubicBezTo>
                  <a:pt x="78823" y="65484"/>
                  <a:pt x="65484" y="78823"/>
                  <a:pt x="65484" y="95250"/>
                </a:cubicBezTo>
                <a:cubicBezTo>
                  <a:pt x="65484" y="111677"/>
                  <a:pt x="78823" y="125016"/>
                  <a:pt x="95250" y="125016"/>
                </a:cubicBezTo>
                <a:close/>
                <a:moveTo>
                  <a:pt x="95250" y="41673"/>
                </a:moveTo>
                <a:cubicBezTo>
                  <a:pt x="124821" y="41673"/>
                  <a:pt x="148827" y="65679"/>
                  <a:pt x="148827" y="95250"/>
                </a:cubicBezTo>
                <a:cubicBezTo>
                  <a:pt x="148827" y="124821"/>
                  <a:pt x="124821" y="148827"/>
                  <a:pt x="95250" y="148827"/>
                </a:cubicBezTo>
                <a:cubicBezTo>
                  <a:pt x="65679" y="148827"/>
                  <a:pt x="41673" y="124821"/>
                  <a:pt x="41673" y="95250"/>
                </a:cubicBezTo>
                <a:cubicBezTo>
                  <a:pt x="41673" y="65679"/>
                  <a:pt x="65679" y="41673"/>
                  <a:pt x="95250" y="41673"/>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30" name="AutoShape 30"/>
          <p:cNvSpPr/>
          <p:nvPr/>
        </p:nvSpPr>
        <p:spPr>
          <a:xfrm>
            <a:off x="6646545" y="5975985"/>
            <a:ext cx="3298825"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Objectif d'optimisation</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AutoShape 31"/>
          <p:cNvSpPr/>
          <p:nvPr/>
        </p:nvSpPr>
        <p:spPr>
          <a:xfrm>
            <a:off x="6646545" y="6216650"/>
            <a:ext cx="3195320"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Augmenter le taux de succès du cache</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AutoShape 32"/>
          <p:cNvSpPr/>
          <p:nvPr/>
        </p:nvSpPr>
        <p:spPr>
          <a:xfrm>
            <a:off x="379375" y="6647164"/>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Medium - InterviewNoodle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458" y="59042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Définition du problème du Kernel de Réduction</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333230"/>
            <a:ext cx="5600700" cy="1143000"/>
          </a:xfrm>
          <a:custGeom>
            <a:avLst/>
            <a:gdLst/>
            <a:ahLst/>
            <a:cxnLst/>
            <a:rect l="l" t="t" r="r" b="b"/>
            <a:pathLst>
              <a:path w="5600700" h="1143000">
                <a:moveTo>
                  <a:pt x="76204" y="0"/>
                </a:moveTo>
                <a:lnTo>
                  <a:pt x="5524496" y="0"/>
                </a:lnTo>
                <a:cubicBezTo>
                  <a:pt x="5566581" y="0"/>
                  <a:pt x="5600700" y="34119"/>
                  <a:pt x="5600700" y="76204"/>
                </a:cubicBezTo>
                <a:lnTo>
                  <a:pt x="5600700" y="1066796"/>
                </a:lnTo>
                <a:cubicBezTo>
                  <a:pt x="5600700" y="1108881"/>
                  <a:pt x="5566581" y="1143000"/>
                  <a:pt x="5524496" y="1143000"/>
                </a:cubicBezTo>
                <a:lnTo>
                  <a:pt x="76204" y="1143000"/>
                </a:lnTo>
                <a:cubicBezTo>
                  <a:pt x="34119" y="1143000"/>
                  <a:pt x="0" y="1108881"/>
                  <a:pt x="0" y="1066796"/>
                </a:cubicBezTo>
                <a:lnTo>
                  <a:pt x="0" y="76204"/>
                </a:lnTo>
                <a:cubicBezTo>
                  <a:pt x="0" y="34146"/>
                  <a:pt x="34146" y="0"/>
                  <a:pt x="76204"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29" y="1561812"/>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Exemple de Réduction</a:t>
            </a:r>
            <a:endParaRPr lang="en-US"/>
          </a:p>
        </p:txBody>
      </p:sp>
      <p:sp>
        <p:nvSpPr>
          <p:cNvPr id="5" name="AutoShape 5"/>
          <p:cNvSpPr/>
          <p:nvPr/>
        </p:nvSpPr>
        <p:spPr>
          <a:xfrm>
            <a:off x="609529" y="1980744"/>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Calcul de la somme des éléments d'un tableau</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80956" y="2628407"/>
            <a:ext cx="5600700" cy="1866900"/>
          </a:xfrm>
          <a:custGeom>
            <a:avLst/>
            <a:gdLst/>
            <a:ahLst/>
            <a:cxnLst/>
            <a:rect l="l" t="t" r="r" b="b"/>
            <a:pathLst>
              <a:path w="5600700" h="1866900">
                <a:moveTo>
                  <a:pt x="76208" y="0"/>
                </a:moveTo>
                <a:lnTo>
                  <a:pt x="5524492" y="0"/>
                </a:lnTo>
                <a:cubicBezTo>
                  <a:pt x="5566581" y="0"/>
                  <a:pt x="5600700" y="34119"/>
                  <a:pt x="5600700" y="76208"/>
                </a:cubicBezTo>
                <a:lnTo>
                  <a:pt x="5600700" y="1790692"/>
                </a:lnTo>
                <a:cubicBezTo>
                  <a:pt x="5600700" y="1832781"/>
                  <a:pt x="5566581" y="1866900"/>
                  <a:pt x="5524492" y="1866900"/>
                </a:cubicBezTo>
                <a:lnTo>
                  <a:pt x="76208" y="1866900"/>
                </a:lnTo>
                <a:cubicBezTo>
                  <a:pt x="34119" y="1866900"/>
                  <a:pt x="0" y="1832781"/>
                  <a:pt x="0" y="1790692"/>
                </a:cubicBezTo>
                <a:lnTo>
                  <a:pt x="0" y="76208"/>
                </a:lnTo>
                <a:cubicBezTo>
                  <a:pt x="0" y="34146"/>
                  <a:pt x="34146"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09521" y="281885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Définition du problème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590352" y="3237942"/>
            <a:ext cx="5200555" cy="1066800"/>
          </a:xfrm>
          <a:custGeom>
            <a:avLst/>
            <a:gdLst/>
            <a:ahLst/>
            <a:cxnLst/>
            <a:rect l="l" t="t" r="r" b="b"/>
            <a:pathLst>
              <a:path w="5200555" h="1066800">
                <a:moveTo>
                  <a:pt x="37910" y="0"/>
                </a:moveTo>
                <a:lnTo>
                  <a:pt x="5124353" y="0"/>
                </a:lnTo>
                <a:cubicBezTo>
                  <a:pt x="5166439" y="0"/>
                  <a:pt x="5200555" y="34117"/>
                  <a:pt x="5200555" y="76203"/>
                </a:cubicBezTo>
                <a:lnTo>
                  <a:pt x="5200555" y="990597"/>
                </a:lnTo>
                <a:cubicBezTo>
                  <a:pt x="5200555" y="1032683"/>
                  <a:pt x="5166439" y="1066800"/>
                  <a:pt x="5124353" y="1066800"/>
                </a:cubicBezTo>
                <a:lnTo>
                  <a:pt x="37910" y="1066800"/>
                </a:lnTo>
                <a:cubicBezTo>
                  <a:pt x="16974" y="1066800"/>
                  <a:pt x="0" y="1049826"/>
                  <a:pt x="0" y="1028890"/>
                </a:cubicBezTo>
                <a:lnTo>
                  <a:pt x="0" y="37910"/>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9" name="Freeform 9"/>
          <p:cNvSpPr/>
          <p:nvPr/>
        </p:nvSpPr>
        <p:spPr>
          <a:xfrm>
            <a:off x="590352" y="3237942"/>
            <a:ext cx="37909" cy="1066800"/>
          </a:xfrm>
          <a:custGeom>
            <a:avLst/>
            <a:gdLst/>
            <a:ahLst/>
            <a:cxnLst/>
            <a:rect l="l" t="t" r="r" b="b"/>
            <a:pathLst>
              <a:path w="37909" h="1066800">
                <a:moveTo>
                  <a:pt x="37910" y="0"/>
                </a:moveTo>
                <a:lnTo>
                  <a:pt x="37910" y="0"/>
                </a:lnTo>
                <a:lnTo>
                  <a:pt x="37910" y="1066800"/>
                </a:lnTo>
                <a:lnTo>
                  <a:pt x="37910" y="1066800"/>
                </a:lnTo>
                <a:cubicBezTo>
                  <a:pt x="16974" y="1066800"/>
                  <a:pt x="0" y="1049826"/>
                  <a:pt x="0" y="1028890"/>
                </a:cubicBezTo>
                <a:lnTo>
                  <a:pt x="0" y="37910"/>
                </a:lnTo>
                <a:cubicBezTo>
                  <a:pt x="0" y="16988"/>
                  <a:pt x="16988" y="0"/>
                  <a:pt x="3791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61689" y="3390323"/>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Calcul : sum(A)</a:t>
            </a:r>
            <a:endPar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761689" y="3695086"/>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Entrée : tableau A</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761689" y="3923658"/>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Sortie : A[0] + A[1] + ... + A[n-1]</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380956" y="4647437"/>
            <a:ext cx="5600700" cy="1905000"/>
          </a:xfrm>
          <a:custGeom>
            <a:avLst/>
            <a:gdLst/>
            <a:ahLst/>
            <a:cxnLst/>
            <a:rect l="l" t="t" r="r" b="b"/>
            <a:pathLst>
              <a:path w="5600700" h="1905000">
                <a:moveTo>
                  <a:pt x="76200" y="0"/>
                </a:moveTo>
                <a:lnTo>
                  <a:pt x="5524500" y="0"/>
                </a:lnTo>
                <a:cubicBezTo>
                  <a:pt x="5566556" y="0"/>
                  <a:pt x="5600700" y="34144"/>
                  <a:pt x="5600700" y="76200"/>
                </a:cubicBezTo>
                <a:lnTo>
                  <a:pt x="5600700" y="1828800"/>
                </a:lnTo>
                <a:cubicBezTo>
                  <a:pt x="5600700" y="1870856"/>
                  <a:pt x="5566556" y="1905000"/>
                  <a:pt x="5524500" y="1905000"/>
                </a:cubicBezTo>
                <a:lnTo>
                  <a:pt x="76200" y="1905000"/>
                </a:lnTo>
                <a:cubicBezTo>
                  <a:pt x="34144" y="1905000"/>
                  <a:pt x="0" y="1870856"/>
                  <a:pt x="0" y="1828800"/>
                </a:cubicBezTo>
                <a:lnTo>
                  <a:pt x="0" y="76200"/>
                </a:lnTo>
                <a:cubicBezTo>
                  <a:pt x="0" y="34144"/>
                  <a:pt x="34144" y="0"/>
                  <a:pt x="7620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90446" y="4828991"/>
            <a:ext cx="5076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Problème de la méthode naïve</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571396" y="533315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762000" y="5257165"/>
            <a:ext cx="49371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Chaque thread écrit dans la mémoire globale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762000" y="5523865"/>
            <a:ext cx="49371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Accès fréquents à la mémoire globale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571396" y="5942614"/>
            <a:ext cx="76200" cy="76200"/>
          </a:xfrm>
          <a:custGeom>
            <a:avLst/>
            <a:gdLst/>
            <a:ahLst/>
            <a:cxnLst/>
            <a:rect l="l" t="t" r="r" b="b"/>
            <a:pathLst>
              <a:path w="76200" h="76200">
                <a:moveTo>
                  <a:pt x="38100" y="0"/>
                </a:moveTo>
                <a:lnTo>
                  <a:pt x="38100" y="0"/>
                </a:lnTo>
                <a:cubicBezTo>
                  <a:pt x="59127" y="0"/>
                  <a:pt x="76200" y="17073"/>
                  <a:pt x="76200" y="38100"/>
                </a:cubicBezTo>
                <a:lnTo>
                  <a:pt x="76200" y="38100"/>
                </a:lnTo>
                <a:cubicBezTo>
                  <a:pt x="76200" y="59127"/>
                  <a:pt x="59127" y="76200"/>
                  <a:pt x="38100" y="76200"/>
                </a:cubicBezTo>
                <a:lnTo>
                  <a:pt x="38100" y="76200"/>
                </a:lnTo>
                <a:cubicBezTo>
                  <a:pt x="17073" y="76200"/>
                  <a:pt x="0" y="59127"/>
                  <a:pt x="0" y="38100"/>
                </a:cubicBezTo>
                <a:lnTo>
                  <a:pt x="0" y="38100"/>
                </a:lnTo>
                <a:cubicBezTo>
                  <a:pt x="0" y="17073"/>
                  <a:pt x="17073" y="0"/>
                  <a:pt x="38100"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62000" y="5866130"/>
            <a:ext cx="345821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Grand nombre d'accès mémoire</a:t>
            </a:r>
            <a:endPar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AutoShape 20"/>
          <p:cNvSpPr/>
          <p:nvPr/>
        </p:nvSpPr>
        <p:spPr>
          <a:xfrm>
            <a:off x="762000" y="6132830"/>
            <a:ext cx="345821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Devient un goulot d'étranglement</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6210279" y="1333230"/>
            <a:ext cx="5600700" cy="3886200"/>
          </a:xfrm>
          <a:custGeom>
            <a:avLst/>
            <a:gdLst/>
            <a:ahLst/>
            <a:cxnLst/>
            <a:rect l="l" t="t" r="r" b="b"/>
            <a:pathLst>
              <a:path w="5600700" h="3886200">
                <a:moveTo>
                  <a:pt x="76208" y="0"/>
                </a:moveTo>
                <a:lnTo>
                  <a:pt x="5524492" y="0"/>
                </a:lnTo>
                <a:cubicBezTo>
                  <a:pt x="5566580" y="0"/>
                  <a:pt x="5600700" y="34120"/>
                  <a:pt x="5600700" y="76208"/>
                </a:cubicBezTo>
                <a:lnTo>
                  <a:pt x="5600700" y="3809992"/>
                </a:lnTo>
                <a:cubicBezTo>
                  <a:pt x="5600700" y="3852080"/>
                  <a:pt x="5566580" y="3886200"/>
                  <a:pt x="5524492" y="3886200"/>
                </a:cubicBezTo>
                <a:lnTo>
                  <a:pt x="76208" y="3886200"/>
                </a:lnTo>
                <a:cubicBezTo>
                  <a:pt x="34120" y="3886200"/>
                  <a:pt x="0" y="3852080"/>
                  <a:pt x="0" y="3809992"/>
                </a:cubicBezTo>
                <a:lnTo>
                  <a:pt x="0" y="76208"/>
                </a:lnTo>
                <a:cubicBezTo>
                  <a:pt x="0" y="34148"/>
                  <a:pt x="34148" y="0"/>
                  <a:pt x="76208"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l="80" r="80"/>
          <a:stretch>
            <a:fillRect/>
          </a:stretch>
        </p:blipFill>
        <p:spPr>
          <a:xfrm>
            <a:off x="6400720" y="1806820"/>
            <a:ext cx="5219700" cy="2943225"/>
          </a:xfrm>
          <a:prstGeom prst="roundRect">
            <a:avLst>
              <a:gd name="adj" fmla="val 1294"/>
            </a:avLst>
          </a:prstGeom>
          <a:ln w="12700">
            <a:noFill/>
            <a:prstDash val="solid"/>
          </a:ln>
        </p:spPr>
      </p:pic>
      <p:sp>
        <p:nvSpPr>
          <p:cNvPr id="23" name="Freeform 23"/>
          <p:cNvSpPr/>
          <p:nvPr/>
        </p:nvSpPr>
        <p:spPr>
          <a:xfrm>
            <a:off x="6219757" y="5380768"/>
            <a:ext cx="5581555" cy="1161955"/>
          </a:xfrm>
          <a:custGeom>
            <a:avLst/>
            <a:gdLst/>
            <a:ahLst/>
            <a:cxnLst/>
            <a:rect l="l" t="t" r="r" b="b"/>
            <a:pathLst>
              <a:path w="5581555" h="1161955">
                <a:moveTo>
                  <a:pt x="76201" y="0"/>
                </a:moveTo>
                <a:lnTo>
                  <a:pt x="5505353" y="0"/>
                </a:lnTo>
                <a:cubicBezTo>
                  <a:pt x="5547439" y="0"/>
                  <a:pt x="5581555" y="34116"/>
                  <a:pt x="5581555" y="76201"/>
                </a:cubicBezTo>
                <a:lnTo>
                  <a:pt x="5581555" y="1085753"/>
                </a:lnTo>
                <a:cubicBezTo>
                  <a:pt x="5581555" y="1127839"/>
                  <a:pt x="5547439" y="1161955"/>
                  <a:pt x="5505353" y="1161955"/>
                </a:cubicBezTo>
                <a:lnTo>
                  <a:pt x="76201" y="1161955"/>
                </a:lnTo>
                <a:cubicBezTo>
                  <a:pt x="34116" y="1161955"/>
                  <a:pt x="0" y="1127839"/>
                  <a:pt x="0" y="1085753"/>
                </a:cubicBezTo>
                <a:lnTo>
                  <a:pt x="0" y="76201"/>
                </a:lnTo>
                <a:cubicBezTo>
                  <a:pt x="0" y="34145"/>
                  <a:pt x="34145" y="0"/>
                  <a:pt x="76201" y="0"/>
                </a:cubicBezTo>
                <a:close/>
              </a:path>
            </a:pathLst>
          </a:custGeom>
          <a:solidFill>
            <a:srgbClr val="FFFFFF">
              <a:alpha val="100000"/>
            </a:srgbClr>
          </a:solidFill>
          <a:ln w="12700">
            <a:solidFill>
              <a:srgbClr val="8B263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6343517" y="5542629"/>
            <a:ext cx="533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Opération de Réduction</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AutoShape 25"/>
          <p:cNvSpPr/>
          <p:nvPr/>
        </p:nvSpPr>
        <p:spPr>
          <a:xfrm>
            <a:off x="6338754" y="5847392"/>
            <a:ext cx="534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A[0] ⊕ A[1] ⊕ A[2] ⊕ ... ⊕ A[n-1]</a:t>
            </a:r>
            <a:endParaRPr lang="en-US"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6348279" y="6190292"/>
            <a:ext cx="532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 peut être +, ×, max, min, etc.</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7" name="AutoShape 27"/>
          <p:cNvSpPr/>
          <p:nvPr/>
        </p:nvSpPr>
        <p:spPr>
          <a:xfrm>
            <a:off x="314281" y="6628256"/>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ENCCS CUDA Training</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459" y="585309"/>
            <a:ext cx="11601450" cy="3810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微软雅黑" panose="020B0503020204020204" charset="-122"/>
              </a:rPr>
              <a:t>Optimisation Reduction par Shared Memory</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80956" y="1142795"/>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0956" y="1333230"/>
            <a:ext cx="3705225" cy="1104900"/>
          </a:xfrm>
          <a:custGeom>
            <a:avLst/>
            <a:gdLst/>
            <a:ahLst/>
            <a:cxnLst/>
            <a:rect l="l" t="t" r="r" b="b"/>
            <a:pathLst>
              <a:path w="3705225" h="1104900">
                <a:moveTo>
                  <a:pt x="76205" y="0"/>
                </a:moveTo>
                <a:lnTo>
                  <a:pt x="3629020" y="0"/>
                </a:lnTo>
                <a:cubicBezTo>
                  <a:pt x="3671106" y="0"/>
                  <a:pt x="3705225" y="34119"/>
                  <a:pt x="3705225" y="76205"/>
                </a:cubicBezTo>
                <a:lnTo>
                  <a:pt x="3705225" y="1028695"/>
                </a:lnTo>
                <a:cubicBezTo>
                  <a:pt x="3705225" y="1070781"/>
                  <a:pt x="3671106" y="1104900"/>
                  <a:pt x="3629020" y="1104900"/>
                </a:cubicBezTo>
                <a:lnTo>
                  <a:pt x="76205" y="1104900"/>
                </a:lnTo>
                <a:cubicBezTo>
                  <a:pt x="34119" y="1104900"/>
                  <a:pt x="0" y="1070781"/>
                  <a:pt x="0" y="1028695"/>
                </a:cubicBezTo>
                <a:lnTo>
                  <a:pt x="0" y="76205"/>
                </a:lnTo>
                <a:cubicBezTo>
                  <a:pt x="0" y="34146"/>
                  <a:pt x="34146" y="0"/>
                  <a:pt x="76205"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71396" y="1523674"/>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523771" y="1523674"/>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60" b="1"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AutoShape 7"/>
          <p:cNvSpPr/>
          <p:nvPr/>
        </p:nvSpPr>
        <p:spPr>
          <a:xfrm>
            <a:off x="1066800" y="1580515"/>
            <a:ext cx="241808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Charger les donnees</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571396" y="2018881"/>
            <a:ext cx="3400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 shared memory</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4241750" y="1333230"/>
            <a:ext cx="3705225" cy="1104900"/>
          </a:xfrm>
          <a:custGeom>
            <a:avLst/>
            <a:gdLst/>
            <a:ahLst/>
            <a:cxnLst/>
            <a:rect l="l" t="t" r="r" b="b"/>
            <a:pathLst>
              <a:path w="3705225" h="1104900">
                <a:moveTo>
                  <a:pt x="76205" y="0"/>
                </a:moveTo>
                <a:lnTo>
                  <a:pt x="3629020" y="0"/>
                </a:lnTo>
                <a:cubicBezTo>
                  <a:pt x="3671106" y="0"/>
                  <a:pt x="3705225" y="34119"/>
                  <a:pt x="3705225" y="76205"/>
                </a:cubicBezTo>
                <a:lnTo>
                  <a:pt x="3705225" y="1028695"/>
                </a:lnTo>
                <a:cubicBezTo>
                  <a:pt x="3705225" y="1070781"/>
                  <a:pt x="3671106" y="1104900"/>
                  <a:pt x="3629020" y="1104900"/>
                </a:cubicBezTo>
                <a:lnTo>
                  <a:pt x="76205" y="1104900"/>
                </a:lnTo>
                <a:cubicBezTo>
                  <a:pt x="34119" y="1104900"/>
                  <a:pt x="0" y="1070781"/>
                  <a:pt x="0" y="1028695"/>
                </a:cubicBezTo>
                <a:lnTo>
                  <a:pt x="0" y="76205"/>
                </a:lnTo>
                <a:cubicBezTo>
                  <a:pt x="0" y="34146"/>
                  <a:pt x="34146" y="0"/>
                  <a:pt x="76205"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432190" y="1523674"/>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4384565" y="1523674"/>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60" b="1" i="0" u="none" strike="noStrike">
                <a:solidFill>
                  <a:srgbClr val="B89A6A"/>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2" name="AutoShape 12"/>
          <p:cNvSpPr/>
          <p:nvPr/>
        </p:nvSpPr>
        <p:spPr>
          <a:xfrm>
            <a:off x="4927600" y="1580515"/>
            <a:ext cx="241808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Calcul de reduction</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AutoShape 13"/>
          <p:cNvSpPr/>
          <p:nvPr/>
        </p:nvSpPr>
        <p:spPr>
          <a:xfrm>
            <a:off x="4432190" y="2018881"/>
            <a:ext cx="3400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reduction dans shared memory</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Freeform 14"/>
          <p:cNvSpPr/>
          <p:nvPr/>
        </p:nvSpPr>
        <p:spPr>
          <a:xfrm>
            <a:off x="8102544" y="1333230"/>
            <a:ext cx="3705225" cy="1104900"/>
          </a:xfrm>
          <a:custGeom>
            <a:avLst/>
            <a:gdLst/>
            <a:ahLst/>
            <a:cxnLst/>
            <a:rect l="l" t="t" r="r" b="b"/>
            <a:pathLst>
              <a:path w="3705225" h="1104900">
                <a:moveTo>
                  <a:pt x="76205" y="0"/>
                </a:moveTo>
                <a:lnTo>
                  <a:pt x="3629020" y="0"/>
                </a:lnTo>
                <a:cubicBezTo>
                  <a:pt x="3671106" y="0"/>
                  <a:pt x="3705225" y="34119"/>
                  <a:pt x="3705225" y="76205"/>
                </a:cubicBezTo>
                <a:lnTo>
                  <a:pt x="3705225" y="1028695"/>
                </a:lnTo>
                <a:cubicBezTo>
                  <a:pt x="3705225" y="1070781"/>
                  <a:pt x="3671106" y="1104900"/>
                  <a:pt x="3629020" y="1104900"/>
                </a:cubicBezTo>
                <a:lnTo>
                  <a:pt x="76205" y="1104900"/>
                </a:lnTo>
                <a:cubicBezTo>
                  <a:pt x="34119" y="1104900"/>
                  <a:pt x="0" y="1070781"/>
                  <a:pt x="0" y="1028695"/>
                </a:cubicBezTo>
                <a:lnTo>
                  <a:pt x="0" y="76205"/>
                </a:lnTo>
                <a:cubicBezTo>
                  <a:pt x="0" y="34146"/>
                  <a:pt x="34146" y="0"/>
                  <a:pt x="76205"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292985" y="1523674"/>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8245360" y="1523674"/>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60" b="1"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7" name="AutoShape 17"/>
          <p:cNvSpPr/>
          <p:nvPr/>
        </p:nvSpPr>
        <p:spPr>
          <a:xfrm>
            <a:off x="8788400" y="1580515"/>
            <a:ext cx="241808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Ecrire le resultat</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8292985" y="2018881"/>
            <a:ext cx="3400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Ecriture finale en global memory</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380956" y="2590279"/>
            <a:ext cx="11430000" cy="2705100"/>
          </a:xfrm>
          <a:custGeom>
            <a:avLst/>
            <a:gdLst/>
            <a:ahLst/>
            <a:cxnLst/>
            <a:rect l="l" t="t" r="r" b="b"/>
            <a:pathLst>
              <a:path w="11430000" h="2705100">
                <a:moveTo>
                  <a:pt x="76203" y="0"/>
                </a:moveTo>
                <a:lnTo>
                  <a:pt x="11353797" y="0"/>
                </a:lnTo>
                <a:cubicBezTo>
                  <a:pt x="11395883" y="0"/>
                  <a:pt x="11430000" y="34117"/>
                  <a:pt x="11430000" y="76203"/>
                </a:cubicBezTo>
                <a:lnTo>
                  <a:pt x="11430000" y="2628897"/>
                </a:lnTo>
                <a:cubicBezTo>
                  <a:pt x="11430000" y="2670983"/>
                  <a:pt x="11395883" y="2705100"/>
                  <a:pt x="11353797" y="2705100"/>
                </a:cubicBezTo>
                <a:lnTo>
                  <a:pt x="76203" y="2705100"/>
                </a:lnTo>
                <a:cubicBezTo>
                  <a:pt x="34117" y="2705100"/>
                  <a:pt x="0" y="2670983"/>
                  <a:pt x="0" y="2628897"/>
                </a:cubicBezTo>
                <a:lnTo>
                  <a:pt x="0" y="76203"/>
                </a:lnTo>
                <a:cubicBezTo>
                  <a:pt x="0" y="34145"/>
                  <a:pt x="34145" y="0"/>
                  <a:pt x="76203"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95209" y="2818777"/>
            <a:ext cx="190500" cy="190500"/>
          </a:xfrm>
          <a:custGeom>
            <a:avLst/>
            <a:gdLst/>
            <a:ahLst/>
            <a:cxnLst/>
            <a:rect l="l" t="t" r="r" b="b"/>
            <a:pathLst>
              <a:path w="190500" h="190500">
                <a:moveTo>
                  <a:pt x="190500" y="35719"/>
                </a:moveTo>
                <a:cubicBezTo>
                  <a:pt x="190500" y="54397"/>
                  <a:pt x="168511" y="82266"/>
                  <a:pt x="159023" y="93389"/>
                </a:cubicBezTo>
                <a:cubicBezTo>
                  <a:pt x="157610" y="95026"/>
                  <a:pt x="155525" y="95659"/>
                  <a:pt x="153628" y="95250"/>
                </a:cubicBezTo>
                <a:lnTo>
                  <a:pt x="119063" y="95250"/>
                </a:lnTo>
                <a:cubicBezTo>
                  <a:pt x="112478" y="95250"/>
                  <a:pt x="107156" y="100571"/>
                  <a:pt x="107156" y="107156"/>
                </a:cubicBezTo>
                <a:cubicBezTo>
                  <a:pt x="107156" y="113742"/>
                  <a:pt x="112478" y="119063"/>
                  <a:pt x="119063" y="119063"/>
                </a:cubicBezTo>
                <a:lnTo>
                  <a:pt x="154781" y="119063"/>
                </a:lnTo>
                <a:cubicBezTo>
                  <a:pt x="174501" y="119063"/>
                  <a:pt x="190500" y="135062"/>
                  <a:pt x="190500" y="154781"/>
                </a:cubicBezTo>
                <a:cubicBezTo>
                  <a:pt x="190500" y="174501"/>
                  <a:pt x="174501" y="190500"/>
                  <a:pt x="154781" y="190500"/>
                </a:cubicBezTo>
                <a:lnTo>
                  <a:pt x="51940" y="190500"/>
                </a:lnTo>
                <a:cubicBezTo>
                  <a:pt x="55178" y="186817"/>
                  <a:pt x="59122" y="182091"/>
                  <a:pt x="63102" y="176808"/>
                </a:cubicBezTo>
                <a:cubicBezTo>
                  <a:pt x="65447" y="173681"/>
                  <a:pt x="67866" y="170259"/>
                  <a:pt x="70173" y="166687"/>
                </a:cubicBezTo>
                <a:lnTo>
                  <a:pt x="154781" y="166687"/>
                </a:lnTo>
                <a:cubicBezTo>
                  <a:pt x="161367" y="166687"/>
                  <a:pt x="166687" y="161367"/>
                  <a:pt x="166687" y="154781"/>
                </a:cubicBezTo>
                <a:cubicBezTo>
                  <a:pt x="166687" y="148196"/>
                  <a:pt x="161367" y="142875"/>
                  <a:pt x="154781" y="142875"/>
                </a:cubicBezTo>
                <a:lnTo>
                  <a:pt x="119063" y="142875"/>
                </a:lnTo>
                <a:cubicBezTo>
                  <a:pt x="99343" y="142875"/>
                  <a:pt x="83344" y="126876"/>
                  <a:pt x="83344" y="107156"/>
                </a:cubicBezTo>
                <a:cubicBezTo>
                  <a:pt x="83344" y="87437"/>
                  <a:pt x="99343" y="71437"/>
                  <a:pt x="119063" y="71437"/>
                </a:cubicBezTo>
                <a:lnTo>
                  <a:pt x="133871" y="71437"/>
                </a:lnTo>
                <a:cubicBezTo>
                  <a:pt x="126056" y="59717"/>
                  <a:pt x="119063" y="46248"/>
                  <a:pt x="119063" y="35719"/>
                </a:cubicBezTo>
                <a:cubicBezTo>
                  <a:pt x="119063" y="15999"/>
                  <a:pt x="135062" y="0"/>
                  <a:pt x="154781" y="0"/>
                </a:cubicBezTo>
                <a:cubicBezTo>
                  <a:pt x="174501" y="0"/>
                  <a:pt x="190500" y="15999"/>
                  <a:pt x="190500" y="35719"/>
                </a:cubicBezTo>
                <a:close/>
                <a:moveTo>
                  <a:pt x="43569" y="181980"/>
                </a:moveTo>
                <a:cubicBezTo>
                  <a:pt x="42156" y="183579"/>
                  <a:pt x="40891" y="184993"/>
                  <a:pt x="39812" y="186185"/>
                </a:cubicBezTo>
                <a:lnTo>
                  <a:pt x="39141" y="186927"/>
                </a:lnTo>
                <a:lnTo>
                  <a:pt x="39066" y="186854"/>
                </a:lnTo>
                <a:cubicBezTo>
                  <a:pt x="36835" y="188565"/>
                  <a:pt x="33635" y="188342"/>
                  <a:pt x="31626" y="186185"/>
                </a:cubicBezTo>
                <a:cubicBezTo>
                  <a:pt x="22250" y="175989"/>
                  <a:pt x="0" y="149758"/>
                  <a:pt x="0" y="130969"/>
                </a:cubicBezTo>
                <a:cubicBezTo>
                  <a:pt x="0" y="111249"/>
                  <a:pt x="15999" y="95250"/>
                  <a:pt x="35719" y="95250"/>
                </a:cubicBezTo>
                <a:cubicBezTo>
                  <a:pt x="55438" y="95250"/>
                  <a:pt x="71437" y="111249"/>
                  <a:pt x="71437" y="130969"/>
                </a:cubicBezTo>
                <a:cubicBezTo>
                  <a:pt x="71437" y="142131"/>
                  <a:pt x="63588" y="155898"/>
                  <a:pt x="55253" y="167394"/>
                </a:cubicBezTo>
                <a:cubicBezTo>
                  <a:pt x="51271" y="172864"/>
                  <a:pt x="47179" y="177811"/>
                  <a:pt x="43793" y="181719"/>
                </a:cubicBezTo>
                <a:lnTo>
                  <a:pt x="43569" y="181980"/>
                </a:lnTo>
                <a:close/>
                <a:moveTo>
                  <a:pt x="47625" y="130969"/>
                </a:moveTo>
                <a:cubicBezTo>
                  <a:pt x="47625" y="124398"/>
                  <a:pt x="42290" y="119063"/>
                  <a:pt x="35719" y="119063"/>
                </a:cubicBezTo>
                <a:cubicBezTo>
                  <a:pt x="29148" y="119063"/>
                  <a:pt x="23813" y="124398"/>
                  <a:pt x="23813" y="130969"/>
                </a:cubicBezTo>
                <a:cubicBezTo>
                  <a:pt x="23813" y="137540"/>
                  <a:pt x="29148" y="142875"/>
                  <a:pt x="35719" y="142875"/>
                </a:cubicBezTo>
                <a:cubicBezTo>
                  <a:pt x="42290" y="142875"/>
                  <a:pt x="47625" y="137540"/>
                  <a:pt x="47625" y="130969"/>
                </a:cubicBezTo>
                <a:close/>
                <a:moveTo>
                  <a:pt x="154781" y="47625"/>
                </a:moveTo>
                <a:cubicBezTo>
                  <a:pt x="161352" y="47625"/>
                  <a:pt x="166687" y="42290"/>
                  <a:pt x="166687" y="35719"/>
                </a:cubicBezTo>
                <a:cubicBezTo>
                  <a:pt x="166687" y="29148"/>
                  <a:pt x="161352" y="23813"/>
                  <a:pt x="154781" y="23813"/>
                </a:cubicBezTo>
                <a:cubicBezTo>
                  <a:pt x="148210" y="23813"/>
                  <a:pt x="142875" y="29148"/>
                  <a:pt x="142875" y="35719"/>
                </a:cubicBezTo>
                <a:cubicBezTo>
                  <a:pt x="142875" y="42290"/>
                  <a:pt x="148210" y="47625"/>
                  <a:pt x="154781" y="47625"/>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809521" y="2780714"/>
            <a:ext cx="109061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Processus d'optimisation</a:t>
            </a:r>
            <a:endParaRPr lang="en-US" sz="1100"/>
          </a:p>
        </p:txBody>
      </p:sp>
      <p:sp>
        <p:nvSpPr>
          <p:cNvPr id="22" name="Freeform 22"/>
          <p:cNvSpPr/>
          <p:nvPr/>
        </p:nvSpPr>
        <p:spPr>
          <a:xfrm>
            <a:off x="3370624" y="3199805"/>
            <a:ext cx="1371600" cy="723900"/>
          </a:xfrm>
          <a:custGeom>
            <a:avLst/>
            <a:gdLst/>
            <a:ahLst/>
            <a:cxnLst/>
            <a:rect l="l" t="t" r="r" b="b"/>
            <a:pathLst>
              <a:path w="1371600" h="723900">
                <a:moveTo>
                  <a:pt x="76197" y="0"/>
                </a:moveTo>
                <a:lnTo>
                  <a:pt x="1295403" y="0"/>
                </a:lnTo>
                <a:cubicBezTo>
                  <a:pt x="1337457" y="0"/>
                  <a:pt x="1371600" y="34143"/>
                  <a:pt x="1371600" y="76197"/>
                </a:cubicBezTo>
                <a:lnTo>
                  <a:pt x="1371600" y="647703"/>
                </a:lnTo>
                <a:cubicBezTo>
                  <a:pt x="1371600" y="689757"/>
                  <a:pt x="1337457" y="723900"/>
                  <a:pt x="1295403" y="723900"/>
                </a:cubicBezTo>
                <a:lnTo>
                  <a:pt x="76197" y="723900"/>
                </a:lnTo>
                <a:cubicBezTo>
                  <a:pt x="34143" y="723900"/>
                  <a:pt x="0" y="689757"/>
                  <a:pt x="0" y="647703"/>
                </a:cubicBezTo>
                <a:lnTo>
                  <a:pt x="0" y="76197"/>
                </a:lnTo>
                <a:cubicBezTo>
                  <a:pt x="0" y="34143"/>
                  <a:pt x="34143" y="0"/>
                  <a:pt x="76197"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484906" y="3352186"/>
            <a:ext cx="1143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3489668" y="3691224"/>
            <a:ext cx="1133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Donnees d'entree</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5" name="AutoShape 25"/>
          <p:cNvSpPr/>
          <p:nvPr/>
        </p:nvSpPr>
        <p:spPr>
          <a:xfrm>
            <a:off x="3337286" y="3999774"/>
            <a:ext cx="1438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Donnees brutes</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AutoShape 26"/>
          <p:cNvSpPr/>
          <p:nvPr/>
        </p:nvSpPr>
        <p:spPr>
          <a:xfrm>
            <a:off x="4892003" y="3504493"/>
            <a:ext cx="5143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387356" y="3199805"/>
            <a:ext cx="1419225" cy="723900"/>
          </a:xfrm>
          <a:custGeom>
            <a:avLst/>
            <a:gdLst/>
            <a:ahLst/>
            <a:cxnLst/>
            <a:rect l="l" t="t" r="r" b="b"/>
            <a:pathLst>
              <a:path w="1419225" h="723900">
                <a:moveTo>
                  <a:pt x="76197" y="0"/>
                </a:moveTo>
                <a:lnTo>
                  <a:pt x="1343028" y="0"/>
                </a:lnTo>
                <a:cubicBezTo>
                  <a:pt x="1385082" y="0"/>
                  <a:pt x="1419225" y="34143"/>
                  <a:pt x="1419225" y="76197"/>
                </a:cubicBezTo>
                <a:lnTo>
                  <a:pt x="1419225" y="647703"/>
                </a:lnTo>
                <a:cubicBezTo>
                  <a:pt x="1419225" y="689757"/>
                  <a:pt x="1385082" y="723900"/>
                  <a:pt x="1343028" y="723900"/>
                </a:cubicBezTo>
                <a:lnTo>
                  <a:pt x="76197" y="723900"/>
                </a:lnTo>
                <a:cubicBezTo>
                  <a:pt x="34143" y="723900"/>
                  <a:pt x="0" y="689757"/>
                  <a:pt x="0" y="647703"/>
                </a:cubicBezTo>
                <a:lnTo>
                  <a:pt x="0" y="76197"/>
                </a:lnTo>
                <a:cubicBezTo>
                  <a:pt x="0" y="34143"/>
                  <a:pt x="34143" y="0"/>
                  <a:pt x="76197" y="0"/>
                </a:cubicBezTo>
                <a:close/>
              </a:path>
            </a:pathLst>
          </a:custGeom>
          <a:solidFill>
            <a:srgbClr val="B89A6A">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5501638" y="3352186"/>
            <a:ext cx="11906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Shared Memory</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9" name="AutoShape 29"/>
          <p:cNvSpPr/>
          <p:nvPr/>
        </p:nvSpPr>
        <p:spPr>
          <a:xfrm>
            <a:off x="5524812" y="3709635"/>
            <a:ext cx="11811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Charger et Reduire</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5354019" y="3999774"/>
            <a:ext cx="14859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Charger et reduire</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1" name="AutoShape 31"/>
          <p:cNvSpPr/>
          <p:nvPr/>
        </p:nvSpPr>
        <p:spPr>
          <a:xfrm>
            <a:off x="6956937" y="3504493"/>
            <a:ext cx="5143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0" i="0" u="none" strike="noStrike">
                <a:solidFill>
                  <a:srgbClr val="8B263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2" name="Freeform 32"/>
          <p:cNvSpPr/>
          <p:nvPr/>
        </p:nvSpPr>
        <p:spPr>
          <a:xfrm>
            <a:off x="7452290" y="3199805"/>
            <a:ext cx="1371600" cy="723900"/>
          </a:xfrm>
          <a:custGeom>
            <a:avLst/>
            <a:gdLst/>
            <a:ahLst/>
            <a:cxnLst/>
            <a:rect l="l" t="t" r="r" b="b"/>
            <a:pathLst>
              <a:path w="1371600" h="723900">
                <a:moveTo>
                  <a:pt x="76197" y="0"/>
                </a:moveTo>
                <a:lnTo>
                  <a:pt x="1295403" y="0"/>
                </a:lnTo>
                <a:cubicBezTo>
                  <a:pt x="1337457" y="0"/>
                  <a:pt x="1371600" y="34143"/>
                  <a:pt x="1371600" y="76197"/>
                </a:cubicBezTo>
                <a:lnTo>
                  <a:pt x="1371600" y="647703"/>
                </a:lnTo>
                <a:cubicBezTo>
                  <a:pt x="1371600" y="689757"/>
                  <a:pt x="1337457" y="723900"/>
                  <a:pt x="1295403" y="723900"/>
                </a:cubicBezTo>
                <a:lnTo>
                  <a:pt x="76197" y="723900"/>
                </a:lnTo>
                <a:cubicBezTo>
                  <a:pt x="34143" y="723900"/>
                  <a:pt x="0" y="689757"/>
                  <a:pt x="0" y="647703"/>
                </a:cubicBezTo>
                <a:lnTo>
                  <a:pt x="0" y="76197"/>
                </a:lnTo>
                <a:cubicBezTo>
                  <a:pt x="0" y="34143"/>
                  <a:pt x="34143" y="0"/>
                  <a:pt x="76197"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7566573" y="3352186"/>
            <a:ext cx="1143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Global Memory</a:t>
            </a:r>
            <a:endPar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4" name="AutoShape 34"/>
          <p:cNvSpPr/>
          <p:nvPr/>
        </p:nvSpPr>
        <p:spPr>
          <a:xfrm>
            <a:off x="7571336" y="3709635"/>
            <a:ext cx="1133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Resultat de sortie</a:t>
            </a:r>
            <a:endParaRPr lang="en-US" sz="10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5" name="AutoShape 35"/>
          <p:cNvSpPr/>
          <p:nvPr/>
        </p:nvSpPr>
        <p:spPr>
          <a:xfrm>
            <a:off x="7418953" y="3999774"/>
            <a:ext cx="1438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Resultat final</a:t>
            </a:r>
            <a:endParaRPr lang="en-US" sz="10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6" name="Freeform 36"/>
          <p:cNvSpPr/>
          <p:nvPr/>
        </p:nvSpPr>
        <p:spPr>
          <a:xfrm>
            <a:off x="380956" y="5448514"/>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561913" y="5715149"/>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3"/>
                </a:cubicBezTo>
                <a:cubicBezTo>
                  <a:pt x="104120" y="157342"/>
                  <a:pt x="100728" y="155734"/>
                  <a:pt x="98628" y="152876"/>
                </a:cubicBezTo>
                <a:lnTo>
                  <a:pt x="77197" y="124301"/>
                </a:lnTo>
                <a:cubicBezTo>
                  <a:pt x="73624" y="119569"/>
                  <a:pt x="74607" y="112871"/>
                  <a:pt x="79339" y="109299"/>
                </a:cubicBezTo>
                <a:cubicBezTo>
                  <a:pt x="84073" y="105727"/>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933450" y="5600700"/>
            <a:ext cx="773811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Avantages de l'optimisation</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9" name="AutoShape 39"/>
          <p:cNvSpPr/>
          <p:nvPr/>
        </p:nvSpPr>
        <p:spPr>
          <a:xfrm>
            <a:off x="933450" y="5867400"/>
            <a:ext cx="77089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Reduire les acces a global memory, ameliorer l'efficacite parallele</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0" name="AutoShape 40"/>
          <p:cNvSpPr/>
          <p:nvPr/>
        </p:nvSpPr>
        <p:spPr>
          <a:xfrm>
            <a:off x="314281" y="6286547"/>
            <a:ext cx="11496675" cy="19050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4601" y="614805"/>
            <a:ext cx="11699875" cy="317500"/>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Exemple de Reduction Kernel</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17463" y="1111025"/>
            <a:ext cx="6858000" cy="5523973"/>
          </a:xfrm>
          <a:custGeom>
            <a:avLst/>
            <a:gdLst/>
            <a:ahLst/>
            <a:cxnLst/>
            <a:rect l="l" t="t" r="r" b="b"/>
            <a:pathLst>
              <a:path w="6858000" h="5523973">
                <a:moveTo>
                  <a:pt x="63492" y="0"/>
                </a:moveTo>
                <a:lnTo>
                  <a:pt x="6794508" y="0"/>
                </a:lnTo>
                <a:cubicBezTo>
                  <a:pt x="6829574" y="0"/>
                  <a:pt x="6858000" y="25894"/>
                  <a:pt x="6858000" y="57836"/>
                </a:cubicBezTo>
                <a:lnTo>
                  <a:pt x="6858000" y="5466137"/>
                </a:lnTo>
                <a:cubicBezTo>
                  <a:pt x="6858000" y="5498079"/>
                  <a:pt x="6829574" y="5523973"/>
                  <a:pt x="6794508" y="5523973"/>
                </a:cubicBezTo>
                <a:lnTo>
                  <a:pt x="63492" y="5523973"/>
                </a:lnTo>
                <a:cubicBezTo>
                  <a:pt x="28426" y="5523973"/>
                  <a:pt x="0" y="5498079"/>
                  <a:pt x="0" y="5466137"/>
                </a:cubicBezTo>
                <a:lnTo>
                  <a:pt x="0" y="57836"/>
                </a:lnTo>
                <a:cubicBezTo>
                  <a:pt x="0" y="25916"/>
                  <a:pt x="28451" y="0"/>
                  <a:pt x="63492"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85124" y="1300293"/>
            <a:ext cx="180547" cy="161044"/>
          </a:xfrm>
          <a:custGeom>
            <a:avLst/>
            <a:gdLst/>
            <a:ahLst/>
            <a:cxnLst/>
            <a:rect l="l" t="t" r="r" b="b"/>
            <a:pathLst>
              <a:path w="180547" h="161044">
                <a:moveTo>
                  <a:pt x="112830" y="1519"/>
                </a:moveTo>
                <a:cubicBezTo>
                  <a:pt x="107558" y="0"/>
                  <a:pt x="102071" y="3069"/>
                  <a:pt x="100552" y="8340"/>
                </a:cubicBezTo>
                <a:lnTo>
                  <a:pt x="60864" y="147247"/>
                </a:lnTo>
                <a:cubicBezTo>
                  <a:pt x="59345" y="152518"/>
                  <a:pt x="62415" y="158006"/>
                  <a:pt x="67686" y="159525"/>
                </a:cubicBezTo>
                <a:cubicBezTo>
                  <a:pt x="72957" y="161044"/>
                  <a:pt x="78445" y="157975"/>
                  <a:pt x="79964" y="152704"/>
                </a:cubicBezTo>
                <a:lnTo>
                  <a:pt x="119651" y="13797"/>
                </a:lnTo>
                <a:cubicBezTo>
                  <a:pt x="121172" y="8526"/>
                  <a:pt x="118101" y="3038"/>
                  <a:pt x="112830" y="1519"/>
                </a:cubicBezTo>
                <a:close/>
                <a:moveTo>
                  <a:pt x="132859" y="43717"/>
                </a:moveTo>
                <a:cubicBezTo>
                  <a:pt x="128985" y="47593"/>
                  <a:pt x="128985" y="53888"/>
                  <a:pt x="132859" y="57764"/>
                </a:cubicBezTo>
                <a:lnTo>
                  <a:pt x="155618" y="80522"/>
                </a:lnTo>
                <a:lnTo>
                  <a:pt x="132859" y="103280"/>
                </a:lnTo>
                <a:cubicBezTo>
                  <a:pt x="128985" y="107156"/>
                  <a:pt x="128985" y="113451"/>
                  <a:pt x="132859" y="117327"/>
                </a:cubicBezTo>
                <a:cubicBezTo>
                  <a:pt x="136735" y="121201"/>
                  <a:pt x="143030" y="121201"/>
                  <a:pt x="146906" y="117327"/>
                </a:cubicBezTo>
                <a:lnTo>
                  <a:pt x="176671" y="87560"/>
                </a:lnTo>
                <a:cubicBezTo>
                  <a:pt x="180547" y="83686"/>
                  <a:pt x="180547" y="77390"/>
                  <a:pt x="176671" y="73515"/>
                </a:cubicBezTo>
                <a:lnTo>
                  <a:pt x="146906" y="43749"/>
                </a:lnTo>
                <a:cubicBezTo>
                  <a:pt x="143030" y="39873"/>
                  <a:pt x="136735" y="39873"/>
                  <a:pt x="132859" y="43749"/>
                </a:cubicBezTo>
                <a:close/>
                <a:moveTo>
                  <a:pt x="47687" y="43717"/>
                </a:moveTo>
                <a:cubicBezTo>
                  <a:pt x="43811" y="39843"/>
                  <a:pt x="37517" y="39843"/>
                  <a:pt x="33641" y="43717"/>
                </a:cubicBezTo>
                <a:lnTo>
                  <a:pt x="3876" y="73484"/>
                </a:lnTo>
                <a:cubicBezTo>
                  <a:pt x="0" y="77358"/>
                  <a:pt x="0" y="83654"/>
                  <a:pt x="3876" y="87529"/>
                </a:cubicBezTo>
                <a:lnTo>
                  <a:pt x="33641" y="117295"/>
                </a:lnTo>
                <a:cubicBezTo>
                  <a:pt x="37517" y="121171"/>
                  <a:pt x="43811" y="121171"/>
                  <a:pt x="47687" y="117295"/>
                </a:cubicBezTo>
                <a:cubicBezTo>
                  <a:pt x="51563" y="113419"/>
                  <a:pt x="51563" y="107125"/>
                  <a:pt x="47687" y="103249"/>
                </a:cubicBezTo>
                <a:lnTo>
                  <a:pt x="24928" y="80522"/>
                </a:lnTo>
                <a:lnTo>
                  <a:pt x="47656" y="57764"/>
                </a:lnTo>
                <a:cubicBezTo>
                  <a:pt x="51532" y="53888"/>
                  <a:pt x="51532" y="47593"/>
                  <a:pt x="47656" y="43717"/>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74601" y="1269729"/>
            <a:ext cx="64214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Code d'implementation CUDA</a:t>
            </a:r>
            <a:endParaRPr lang="en-US" sz="1100"/>
          </a:p>
        </p:txBody>
      </p:sp>
      <p:sp>
        <p:nvSpPr>
          <p:cNvPr id="6" name="Freeform 6"/>
          <p:cNvSpPr/>
          <p:nvPr/>
        </p:nvSpPr>
        <p:spPr>
          <a:xfrm>
            <a:off x="491960" y="1618971"/>
            <a:ext cx="6524546" cy="4952442"/>
          </a:xfrm>
          <a:custGeom>
            <a:avLst/>
            <a:gdLst/>
            <a:ahLst/>
            <a:cxnLst/>
            <a:rect l="l" t="t" r="r" b="b"/>
            <a:pathLst>
              <a:path w="6524546" h="4952442">
                <a:moveTo>
                  <a:pt x="31593" y="0"/>
                </a:moveTo>
                <a:lnTo>
                  <a:pt x="6461070" y="0"/>
                </a:lnTo>
                <a:cubicBezTo>
                  <a:pt x="6496127" y="0"/>
                  <a:pt x="6524546" y="26076"/>
                  <a:pt x="6524546" y="58241"/>
                </a:cubicBezTo>
                <a:lnTo>
                  <a:pt x="6524546" y="4894202"/>
                </a:lnTo>
                <a:cubicBezTo>
                  <a:pt x="6524546" y="4926367"/>
                  <a:pt x="6496127" y="4952442"/>
                  <a:pt x="6461070" y="4952442"/>
                </a:cubicBezTo>
                <a:lnTo>
                  <a:pt x="31593" y="4952442"/>
                </a:lnTo>
                <a:cubicBezTo>
                  <a:pt x="14144" y="4952442"/>
                  <a:pt x="0" y="4939464"/>
                  <a:pt x="0" y="4923455"/>
                </a:cubicBezTo>
                <a:lnTo>
                  <a:pt x="0" y="28986"/>
                </a:lnTo>
                <a:cubicBezTo>
                  <a:pt x="0" y="12988"/>
                  <a:pt x="14155" y="0"/>
                  <a:pt x="3159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91959" y="1618972"/>
            <a:ext cx="45719" cy="4990484"/>
          </a:xfrm>
          <a:custGeom>
            <a:avLst/>
            <a:gdLst/>
            <a:ahLst/>
            <a:cxnLst/>
            <a:rect l="l" t="t" r="r" b="b"/>
            <a:pathLst>
              <a:path w="45719" h="4990484">
                <a:moveTo>
                  <a:pt x="45719" y="0"/>
                </a:moveTo>
                <a:lnTo>
                  <a:pt x="45719" y="0"/>
                </a:lnTo>
                <a:lnTo>
                  <a:pt x="45719" y="4990484"/>
                </a:lnTo>
                <a:lnTo>
                  <a:pt x="45719" y="4990484"/>
                </a:lnTo>
                <a:cubicBezTo>
                  <a:pt x="20469" y="4990484"/>
                  <a:pt x="0" y="4977407"/>
                  <a:pt x="0" y="4961274"/>
                </a:cubicBezTo>
                <a:lnTo>
                  <a:pt x="0" y="29210"/>
                </a:lnTo>
                <a:cubicBezTo>
                  <a:pt x="0" y="13089"/>
                  <a:pt x="20486" y="0"/>
                  <a:pt x="45719"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34741" y="1745955"/>
            <a:ext cx="6318250" cy="5143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__global__ void reduction_kernel(float* input, float* output, int n) {</a:t>
            </a:r>
            <a:endParaRPr lang="en-US" sz="1100"/>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Declarer Shared Memory</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__shared__ float sdata[256];</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Obtenir l'index du thread</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int tid = threadIdx.x;</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int i = blockIdx.x * blockDim.x + threadIdx.x;</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Charger les donnees depuis Global Memory vers Shared Memory</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sdata[tid] = (i &lt; n) ? input[i] : 0;</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Synchroniser les threads, s'assurer que les donnees sont chargees</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__syncthreads();</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Effectuer la reduction dans Shared Memory</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for(int s = blockDim.x/2; s &gt; 0; s &gt;&gt;= 1)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if(tid &lt; s)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sdata[tid] += sdata[tid + s];</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__syncthreads();</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 Ecrire le resultat dans Global Memory</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if(tid == 0)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output[blockIdx.x] = sdata[0];</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0000"/>
              </a:lnSpc>
            </a:pPr>
            <a:r>
              <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945"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7365943" y="1111025"/>
            <a:ext cx="4508500" cy="3238500"/>
          </a:xfrm>
          <a:custGeom>
            <a:avLst/>
            <a:gdLst/>
            <a:ahLst/>
            <a:cxnLst/>
            <a:rect l="l" t="t" r="r" b="b"/>
            <a:pathLst>
              <a:path w="4508500" h="3238500">
                <a:moveTo>
                  <a:pt x="63508" y="0"/>
                </a:moveTo>
                <a:lnTo>
                  <a:pt x="4444992" y="0"/>
                </a:lnTo>
                <a:cubicBezTo>
                  <a:pt x="4480067" y="0"/>
                  <a:pt x="4508500" y="28433"/>
                  <a:pt x="4508500" y="63508"/>
                </a:cubicBezTo>
                <a:lnTo>
                  <a:pt x="4508500" y="3174992"/>
                </a:lnTo>
                <a:cubicBezTo>
                  <a:pt x="4508500" y="3210067"/>
                  <a:pt x="4480067" y="3238500"/>
                  <a:pt x="4444992" y="3238500"/>
                </a:cubicBezTo>
                <a:lnTo>
                  <a:pt x="63508" y="3238500"/>
                </a:lnTo>
                <a:cubicBezTo>
                  <a:pt x="28433" y="3238500"/>
                  <a:pt x="0" y="3210067"/>
                  <a:pt x="0" y="3174992"/>
                </a:cubicBezTo>
                <a:lnTo>
                  <a:pt x="0" y="63508"/>
                </a:lnTo>
                <a:cubicBezTo>
                  <a:pt x="0" y="28457"/>
                  <a:pt x="28457" y="0"/>
                  <a:pt x="63508"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Freeform 10"/>
          <p:cNvSpPr/>
          <p:nvPr/>
        </p:nvSpPr>
        <p:spPr>
          <a:xfrm>
            <a:off x="7544488" y="1301440"/>
            <a:ext cx="158750" cy="158750"/>
          </a:xfrm>
          <a:custGeom>
            <a:avLst/>
            <a:gdLst/>
            <a:ahLst/>
            <a:cxnLst/>
            <a:rect l="l" t="t" r="r" b="b"/>
            <a:pathLst>
              <a:path w="158750" h="158750">
                <a:moveTo>
                  <a:pt x="79375" y="158750"/>
                </a:moveTo>
                <a:cubicBezTo>
                  <a:pt x="123182" y="158750"/>
                  <a:pt x="158750" y="123182"/>
                  <a:pt x="158750" y="79375"/>
                </a:cubicBezTo>
                <a:cubicBezTo>
                  <a:pt x="158750" y="35568"/>
                  <a:pt x="123182" y="0"/>
                  <a:pt x="79375" y="0"/>
                </a:cubicBezTo>
                <a:cubicBezTo>
                  <a:pt x="35568" y="0"/>
                  <a:pt x="0" y="35568"/>
                  <a:pt x="0" y="79375"/>
                </a:cubicBezTo>
                <a:cubicBezTo>
                  <a:pt x="0" y="123182"/>
                  <a:pt x="35568" y="158750"/>
                  <a:pt x="79375" y="158750"/>
                </a:cubicBezTo>
                <a:close/>
                <a:moveTo>
                  <a:pt x="69452" y="49609"/>
                </a:moveTo>
                <a:cubicBezTo>
                  <a:pt x="69452" y="44132"/>
                  <a:pt x="73899" y="39688"/>
                  <a:pt x="79375" y="39688"/>
                </a:cubicBezTo>
                <a:cubicBezTo>
                  <a:pt x="84851" y="39688"/>
                  <a:pt x="89298" y="44132"/>
                  <a:pt x="89298" y="49609"/>
                </a:cubicBezTo>
                <a:cubicBezTo>
                  <a:pt x="89298" y="55085"/>
                  <a:pt x="84851" y="59531"/>
                  <a:pt x="79375" y="59531"/>
                </a:cubicBezTo>
                <a:cubicBezTo>
                  <a:pt x="73899" y="59531"/>
                  <a:pt x="69452" y="55085"/>
                  <a:pt x="69452" y="49609"/>
                </a:cubicBezTo>
                <a:close/>
                <a:moveTo>
                  <a:pt x="66973" y="69452"/>
                </a:moveTo>
                <a:lnTo>
                  <a:pt x="81855" y="69452"/>
                </a:lnTo>
                <a:cubicBezTo>
                  <a:pt x="85979" y="69452"/>
                  <a:pt x="89298" y="72771"/>
                  <a:pt x="89298" y="76895"/>
                </a:cubicBezTo>
                <a:lnTo>
                  <a:pt x="89298" y="104179"/>
                </a:lnTo>
                <a:lnTo>
                  <a:pt x="91777" y="104179"/>
                </a:lnTo>
                <a:cubicBezTo>
                  <a:pt x="95902" y="104179"/>
                  <a:pt x="99219" y="107497"/>
                  <a:pt x="99219" y="111622"/>
                </a:cubicBezTo>
                <a:cubicBezTo>
                  <a:pt x="99219" y="115745"/>
                  <a:pt x="95902" y="119062"/>
                  <a:pt x="91777" y="119062"/>
                </a:cubicBezTo>
                <a:lnTo>
                  <a:pt x="66973" y="119062"/>
                </a:lnTo>
                <a:cubicBezTo>
                  <a:pt x="62848" y="119062"/>
                  <a:pt x="59531" y="115745"/>
                  <a:pt x="59531" y="111622"/>
                </a:cubicBezTo>
                <a:cubicBezTo>
                  <a:pt x="59531" y="107497"/>
                  <a:pt x="62848" y="104179"/>
                  <a:pt x="66973" y="104179"/>
                </a:cubicBezTo>
                <a:lnTo>
                  <a:pt x="74414" y="104179"/>
                </a:lnTo>
                <a:lnTo>
                  <a:pt x="74414" y="84336"/>
                </a:lnTo>
                <a:lnTo>
                  <a:pt x="66973" y="84336"/>
                </a:lnTo>
                <a:cubicBezTo>
                  <a:pt x="62848" y="84336"/>
                  <a:pt x="59531" y="81018"/>
                  <a:pt x="59531" y="76895"/>
                </a:cubicBezTo>
                <a:cubicBezTo>
                  <a:pt x="59531" y="72771"/>
                  <a:pt x="62848" y="69452"/>
                  <a:pt x="66973" y="6945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nvSpPr>
        <p:spPr>
          <a:xfrm>
            <a:off x="7723081" y="1269729"/>
            <a:ext cx="4071938"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Explication du code</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7524644" y="1618971"/>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endParaRPr sz="1200"/>
          </a:p>
        </p:txBody>
      </p:sp>
      <p:sp>
        <p:nvSpPr>
          <p:cNvPr id="13" name="AutoShape 13"/>
          <p:cNvSpPr/>
          <p:nvPr/>
        </p:nvSpPr>
        <p:spPr>
          <a:xfrm>
            <a:off x="7619852" y="1714174"/>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Declarer la memoire partagee</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4" name="AutoShape 14"/>
          <p:cNvSpPr/>
          <p:nvPr/>
        </p:nvSpPr>
        <p:spPr>
          <a:xfrm>
            <a:off x="7619852" y="1936370"/>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__shared__ float sdata[256]</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7524644" y="2285488"/>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endParaRPr sz="1200"/>
          </a:p>
        </p:txBody>
      </p:sp>
      <p:sp>
        <p:nvSpPr>
          <p:cNvPr id="16" name="AutoShape 16"/>
          <p:cNvSpPr/>
          <p:nvPr/>
        </p:nvSpPr>
        <p:spPr>
          <a:xfrm>
            <a:off x="7619852" y="2380692"/>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Charger les donnees</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AutoShape 17"/>
          <p:cNvSpPr/>
          <p:nvPr/>
        </p:nvSpPr>
        <p:spPr>
          <a:xfrm>
            <a:off x="7619852" y="2602888"/>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global → shared memory</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7524644" y="2952006"/>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endParaRPr sz="1200"/>
          </a:p>
        </p:txBody>
      </p:sp>
      <p:sp>
        <p:nvSpPr>
          <p:cNvPr id="19" name="AutoShape 19"/>
          <p:cNvSpPr/>
          <p:nvPr/>
        </p:nvSpPr>
        <p:spPr>
          <a:xfrm>
            <a:off x="7619852" y="3047209"/>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Synchronisation des threads</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0" name="AutoShape 20"/>
          <p:cNvSpPr/>
          <p:nvPr/>
        </p:nvSpPr>
        <p:spPr>
          <a:xfrm>
            <a:off x="7619852" y="3269405"/>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__syncthreads()</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1" name="Freeform 21"/>
          <p:cNvSpPr/>
          <p:nvPr/>
        </p:nvSpPr>
        <p:spPr>
          <a:xfrm>
            <a:off x="7524644" y="3618523"/>
            <a:ext cx="4191000" cy="571500"/>
          </a:xfrm>
          <a:custGeom>
            <a:avLst/>
            <a:gdLst/>
            <a:ahLst/>
            <a:cxnLst/>
            <a:rect l="l" t="t" r="r" b="b"/>
            <a:pathLst>
              <a:path w="4191000" h="571500">
                <a:moveTo>
                  <a:pt x="63499" y="0"/>
                </a:moveTo>
                <a:lnTo>
                  <a:pt x="4127501" y="0"/>
                </a:lnTo>
                <a:cubicBezTo>
                  <a:pt x="4162570" y="0"/>
                  <a:pt x="4191000" y="28430"/>
                  <a:pt x="4191000" y="63499"/>
                </a:cubicBezTo>
                <a:lnTo>
                  <a:pt x="4191000" y="508001"/>
                </a:lnTo>
                <a:cubicBezTo>
                  <a:pt x="4191000" y="543070"/>
                  <a:pt x="4162570" y="571500"/>
                  <a:pt x="4127501" y="571500"/>
                </a:cubicBezTo>
                <a:lnTo>
                  <a:pt x="63499" y="571500"/>
                </a:lnTo>
                <a:cubicBezTo>
                  <a:pt x="28430" y="571500"/>
                  <a:pt x="0" y="543070"/>
                  <a:pt x="0" y="508001"/>
                </a:cubicBezTo>
                <a:lnTo>
                  <a:pt x="0" y="63499"/>
                </a:lnTo>
                <a:cubicBezTo>
                  <a:pt x="0" y="28453"/>
                  <a:pt x="28453" y="0"/>
                  <a:pt x="63499" y="0"/>
                </a:cubicBez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endParaRPr sz="1200"/>
          </a:p>
        </p:txBody>
      </p:sp>
      <p:sp>
        <p:nvSpPr>
          <p:cNvPr id="22" name="AutoShape 22"/>
          <p:cNvSpPr/>
          <p:nvPr/>
        </p:nvSpPr>
        <p:spPr>
          <a:xfrm>
            <a:off x="7619852" y="3713727"/>
            <a:ext cx="4064000"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Boucle de reduction</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3" name="AutoShape 23"/>
          <p:cNvSpPr/>
          <p:nvPr/>
        </p:nvSpPr>
        <p:spPr>
          <a:xfrm>
            <a:off x="7619852" y="3935923"/>
            <a:ext cx="4056063" cy="1587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Strategie de reduction par demition</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AutoShape 24"/>
          <p:cNvSpPr/>
          <p:nvPr/>
        </p:nvSpPr>
        <p:spPr>
          <a:xfrm>
            <a:off x="579400" y="6635416"/>
            <a:ext cx="11612563" cy="158750"/>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Exemple de code : implementation CUDA Reduction Kernel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5142" y="633130"/>
            <a:ext cx="11631656" cy="361512"/>
          </a:xfrm>
          <a:prstGeom prst="rect">
            <a:avLst/>
          </a:prstGeom>
          <a:noFill/>
          <a:ln w="12700">
            <a:noFill/>
            <a:prstDash val="solid"/>
          </a:ln>
        </p:spPr>
        <p:txBody>
          <a:bodyPr wrap="square" lIns="0" tIns="0" rIns="0" bIns="0" rtlCol="0" anchor="ctr">
            <a:noAutofit/>
          </a:bodyPr>
          <a:lstStyle/>
          <a:p>
            <a:pPr algn="l">
              <a:lnSpc>
                <a:spcPct val="92000"/>
              </a:lnSpc>
              <a:buSzTx/>
              <a:defRPr/>
            </a:pPr>
            <a:r>
              <a:rPr lang="en-US" sz="28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Comparaison des effets d'optimisation</a:t>
            </a:r>
            <a:endParaRPr lang="en-US" sz="2800" b="1">
              <a:solidFill>
                <a:srgbClr val="1A1A1A"/>
              </a:solidFill>
              <a:latin typeface="MiSans" panose="00000500000000000000" charset="-122"/>
              <a:ea typeface="MiSans" panose="00000500000000000000" charset="-122"/>
              <a:cs typeface="MiSans" panose="00000500000000000000" charset="-122"/>
            </a:endParaRPr>
          </a:p>
        </p:txBody>
      </p:sp>
      <p:sp>
        <p:nvSpPr>
          <p:cNvPr id="3" name="Freeform 3"/>
          <p:cNvSpPr/>
          <p:nvPr/>
        </p:nvSpPr>
        <p:spPr>
          <a:xfrm>
            <a:off x="361470" y="1265046"/>
            <a:ext cx="2738455" cy="1446049"/>
          </a:xfrm>
          <a:custGeom>
            <a:avLst/>
            <a:gdLst/>
            <a:ahLst/>
            <a:cxnLst/>
            <a:rect l="l" t="t" r="r" b="b"/>
            <a:pathLst>
              <a:path w="2738455" h="1446049">
                <a:moveTo>
                  <a:pt x="72302" y="0"/>
                </a:moveTo>
                <a:lnTo>
                  <a:pt x="2666153" y="0"/>
                </a:lnTo>
                <a:cubicBezTo>
                  <a:pt x="2706084" y="0"/>
                  <a:pt x="2738455" y="32371"/>
                  <a:pt x="2738455" y="72302"/>
                </a:cubicBezTo>
                <a:lnTo>
                  <a:pt x="2738455" y="1373746"/>
                </a:lnTo>
                <a:cubicBezTo>
                  <a:pt x="2738455" y="1413678"/>
                  <a:pt x="2706084" y="1446049"/>
                  <a:pt x="2666153" y="1446049"/>
                </a:cubicBezTo>
                <a:lnTo>
                  <a:pt x="72302" y="1446049"/>
                </a:lnTo>
                <a:cubicBezTo>
                  <a:pt x="32371" y="1446049"/>
                  <a:pt x="0" y="1413678"/>
                  <a:pt x="0" y="1373746"/>
                </a:cubicBezTo>
                <a:lnTo>
                  <a:pt x="0" y="72302"/>
                </a:lnTo>
                <a:cubicBezTo>
                  <a:pt x="0" y="32371"/>
                  <a:pt x="32371" y="0"/>
                  <a:pt x="72302" y="0"/>
                </a:cubicBezTo>
                <a:close/>
              </a:path>
            </a:pathLst>
          </a:custGeom>
          <a:solidFill>
            <a:srgbClr val="4A4A4A">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64764" y="1481856"/>
            <a:ext cx="180757" cy="180757"/>
          </a:xfrm>
          <a:custGeom>
            <a:avLst/>
            <a:gdLst/>
            <a:ahLst/>
            <a:cxnLst/>
            <a:rect l="l" t="t" r="r" b="b"/>
            <a:pathLst>
              <a:path w="180757" h="180757">
                <a:moveTo>
                  <a:pt x="90378" y="180757"/>
                </a:moveTo>
                <a:cubicBezTo>
                  <a:pt x="140259" y="180757"/>
                  <a:pt x="180757" y="140259"/>
                  <a:pt x="180757" y="90378"/>
                </a:cubicBezTo>
                <a:cubicBezTo>
                  <a:pt x="180757" y="40496"/>
                  <a:pt x="140259" y="0"/>
                  <a:pt x="90378" y="0"/>
                </a:cubicBezTo>
                <a:cubicBezTo>
                  <a:pt x="40496" y="0"/>
                  <a:pt x="0" y="40496"/>
                  <a:pt x="0" y="90378"/>
                </a:cubicBezTo>
                <a:cubicBezTo>
                  <a:pt x="0" y="140259"/>
                  <a:pt x="40496" y="180757"/>
                  <a:pt x="90378" y="180757"/>
                </a:cubicBezTo>
                <a:close/>
                <a:moveTo>
                  <a:pt x="58958" y="58958"/>
                </a:moveTo>
                <a:cubicBezTo>
                  <a:pt x="62276" y="55639"/>
                  <a:pt x="67641" y="55639"/>
                  <a:pt x="70926" y="58958"/>
                </a:cubicBezTo>
                <a:lnTo>
                  <a:pt x="90343" y="78376"/>
                </a:lnTo>
                <a:lnTo>
                  <a:pt x="109760" y="58958"/>
                </a:lnTo>
                <a:cubicBezTo>
                  <a:pt x="113078" y="55639"/>
                  <a:pt x="118445" y="55639"/>
                  <a:pt x="121728" y="58958"/>
                </a:cubicBezTo>
                <a:cubicBezTo>
                  <a:pt x="125011" y="62276"/>
                  <a:pt x="125047" y="67641"/>
                  <a:pt x="121728" y="70926"/>
                </a:cubicBezTo>
                <a:lnTo>
                  <a:pt x="102311" y="90343"/>
                </a:lnTo>
                <a:lnTo>
                  <a:pt x="121728" y="109760"/>
                </a:lnTo>
                <a:cubicBezTo>
                  <a:pt x="125047" y="113078"/>
                  <a:pt x="125047" y="118445"/>
                  <a:pt x="121728" y="121728"/>
                </a:cubicBezTo>
                <a:cubicBezTo>
                  <a:pt x="118408" y="125011"/>
                  <a:pt x="113043" y="125047"/>
                  <a:pt x="109760" y="121728"/>
                </a:cubicBezTo>
                <a:lnTo>
                  <a:pt x="90343" y="102311"/>
                </a:lnTo>
                <a:lnTo>
                  <a:pt x="70926" y="121728"/>
                </a:lnTo>
                <a:cubicBezTo>
                  <a:pt x="67607" y="125047"/>
                  <a:pt x="62241" y="125047"/>
                  <a:pt x="58958" y="121728"/>
                </a:cubicBezTo>
                <a:cubicBezTo>
                  <a:pt x="55674" y="118408"/>
                  <a:pt x="55639" y="113043"/>
                  <a:pt x="58958" y="109760"/>
                </a:cubicBezTo>
                <a:lnTo>
                  <a:pt x="78376" y="90343"/>
                </a:lnTo>
                <a:lnTo>
                  <a:pt x="58958" y="70926"/>
                </a:lnTo>
                <a:cubicBezTo>
                  <a:pt x="55639" y="67607"/>
                  <a:pt x="55639" y="62241"/>
                  <a:pt x="58958" y="5895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768115" y="1445740"/>
            <a:ext cx="2241376"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Naive</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AutoShape 6"/>
          <p:cNvSpPr/>
          <p:nvPr/>
        </p:nvSpPr>
        <p:spPr>
          <a:xfrm>
            <a:off x="433716" y="1807217"/>
            <a:ext cx="2593850" cy="433815"/>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2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Lent</a:t>
            </a:r>
            <a:endParaRPr lang="en-US" sz="2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7" name="AutoShape 7"/>
          <p:cNvSpPr/>
          <p:nvPr/>
        </p:nvSpPr>
        <p:spPr>
          <a:xfrm>
            <a:off x="506019" y="2313343"/>
            <a:ext cx="2449245" cy="2169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Acces frequent a global memory</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Freeform 8"/>
          <p:cNvSpPr/>
          <p:nvPr/>
        </p:nvSpPr>
        <p:spPr>
          <a:xfrm>
            <a:off x="3247540" y="1265046"/>
            <a:ext cx="2738455" cy="1446049"/>
          </a:xfrm>
          <a:custGeom>
            <a:avLst/>
            <a:gdLst/>
            <a:ahLst/>
            <a:cxnLst/>
            <a:rect l="l" t="t" r="r" b="b"/>
            <a:pathLst>
              <a:path w="2738455" h="1446049">
                <a:moveTo>
                  <a:pt x="72302" y="0"/>
                </a:moveTo>
                <a:lnTo>
                  <a:pt x="2666153" y="0"/>
                </a:lnTo>
                <a:cubicBezTo>
                  <a:pt x="2706084" y="0"/>
                  <a:pt x="2738455" y="32371"/>
                  <a:pt x="2738455" y="72302"/>
                </a:cubicBezTo>
                <a:lnTo>
                  <a:pt x="2738455" y="1373746"/>
                </a:lnTo>
                <a:cubicBezTo>
                  <a:pt x="2738455" y="1413678"/>
                  <a:pt x="2706084" y="1446049"/>
                  <a:pt x="2666153" y="1446049"/>
                </a:cubicBezTo>
                <a:lnTo>
                  <a:pt x="72302" y="1446049"/>
                </a:lnTo>
                <a:cubicBezTo>
                  <a:pt x="32371" y="1446049"/>
                  <a:pt x="0" y="1413678"/>
                  <a:pt x="0" y="1373746"/>
                </a:cubicBezTo>
                <a:lnTo>
                  <a:pt x="0" y="72302"/>
                </a:lnTo>
                <a:cubicBezTo>
                  <a:pt x="0" y="32371"/>
                  <a:pt x="32371" y="0"/>
                  <a:pt x="72302"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450834" y="1481856"/>
            <a:ext cx="180757" cy="180757"/>
          </a:xfrm>
          <a:custGeom>
            <a:avLst/>
            <a:gdLst/>
            <a:ahLst/>
            <a:cxnLst/>
            <a:rect l="l" t="t" r="r" b="b"/>
            <a:pathLst>
              <a:path w="180757" h="180757">
                <a:moveTo>
                  <a:pt x="90378" y="180757"/>
                </a:moveTo>
                <a:cubicBezTo>
                  <a:pt x="140259" y="180757"/>
                  <a:pt x="180757" y="140259"/>
                  <a:pt x="180757" y="90378"/>
                </a:cubicBezTo>
                <a:cubicBezTo>
                  <a:pt x="180757" y="40496"/>
                  <a:pt x="140259" y="0"/>
                  <a:pt x="90378" y="0"/>
                </a:cubicBezTo>
                <a:cubicBezTo>
                  <a:pt x="40496" y="0"/>
                  <a:pt x="0" y="40496"/>
                  <a:pt x="0" y="90378"/>
                </a:cubicBezTo>
                <a:cubicBezTo>
                  <a:pt x="0" y="140259"/>
                  <a:pt x="40496" y="180757"/>
                  <a:pt x="90378" y="180757"/>
                </a:cubicBezTo>
                <a:close/>
                <a:moveTo>
                  <a:pt x="120175" y="75091"/>
                </a:moveTo>
                <a:lnTo>
                  <a:pt x="91931" y="120280"/>
                </a:lnTo>
                <a:cubicBezTo>
                  <a:pt x="90449" y="122646"/>
                  <a:pt x="87907" y="124129"/>
                  <a:pt x="85118" y="124270"/>
                </a:cubicBezTo>
                <a:cubicBezTo>
                  <a:pt x="82329" y="124410"/>
                  <a:pt x="79646" y="123140"/>
                  <a:pt x="77986" y="120881"/>
                </a:cubicBezTo>
                <a:lnTo>
                  <a:pt x="61040" y="98287"/>
                </a:lnTo>
                <a:cubicBezTo>
                  <a:pt x="58216" y="94544"/>
                  <a:pt x="58993" y="89248"/>
                  <a:pt x="62735" y="86424"/>
                </a:cubicBezTo>
                <a:cubicBezTo>
                  <a:pt x="66477" y="83600"/>
                  <a:pt x="71773" y="84376"/>
                  <a:pt x="74597" y="88119"/>
                </a:cubicBezTo>
                <a:lnTo>
                  <a:pt x="84129" y="100828"/>
                </a:lnTo>
                <a:lnTo>
                  <a:pt x="105806" y="66124"/>
                </a:lnTo>
                <a:cubicBezTo>
                  <a:pt x="108276" y="62170"/>
                  <a:pt x="113502" y="60935"/>
                  <a:pt x="117492" y="63442"/>
                </a:cubicBezTo>
                <a:cubicBezTo>
                  <a:pt x="121481" y="65949"/>
                  <a:pt x="122681" y="71137"/>
                  <a:pt x="120175" y="7512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654185" y="1445740"/>
            <a:ext cx="2241376"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Optimise</a:t>
            </a:r>
            <a:endParaRPr lang="en-US" sz="1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1" name="AutoShape 11"/>
          <p:cNvSpPr/>
          <p:nvPr/>
        </p:nvSpPr>
        <p:spPr>
          <a:xfrm>
            <a:off x="3319786" y="1807217"/>
            <a:ext cx="2593850" cy="433815"/>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2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Rapide</a:t>
            </a:r>
            <a:endParaRPr lang="en-US" sz="2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AutoShape 12"/>
          <p:cNvSpPr/>
          <p:nvPr/>
        </p:nvSpPr>
        <p:spPr>
          <a:xfrm>
            <a:off x="3392089" y="2313343"/>
            <a:ext cx="2449245" cy="2169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Utilise shared memory</a:t>
            </a:r>
            <a:endPar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3" name="Freeform 13"/>
          <p:cNvSpPr/>
          <p:nvPr/>
        </p:nvSpPr>
        <p:spPr>
          <a:xfrm>
            <a:off x="355755" y="2790109"/>
            <a:ext cx="5630553" cy="3967597"/>
          </a:xfrm>
          <a:custGeom>
            <a:avLst/>
            <a:gdLst/>
            <a:ahLst/>
            <a:cxnLst/>
            <a:rect l="l" t="t" r="r" b="b"/>
            <a:pathLst>
              <a:path w="5630553" h="3967597">
                <a:moveTo>
                  <a:pt x="72290" y="0"/>
                </a:moveTo>
                <a:lnTo>
                  <a:pt x="5558263" y="0"/>
                </a:lnTo>
                <a:cubicBezTo>
                  <a:pt x="5598188" y="0"/>
                  <a:pt x="5630553" y="32365"/>
                  <a:pt x="5630553" y="72290"/>
                </a:cubicBezTo>
                <a:lnTo>
                  <a:pt x="5630553" y="3895307"/>
                </a:lnTo>
                <a:cubicBezTo>
                  <a:pt x="5630553" y="3935232"/>
                  <a:pt x="5598188" y="3967597"/>
                  <a:pt x="5558263" y="3967597"/>
                </a:cubicBezTo>
                <a:lnTo>
                  <a:pt x="72290" y="3967597"/>
                </a:lnTo>
                <a:cubicBezTo>
                  <a:pt x="32365" y="3967597"/>
                  <a:pt x="0" y="3935232"/>
                  <a:pt x="0" y="3895307"/>
                </a:cubicBezTo>
                <a:lnTo>
                  <a:pt x="0" y="72290"/>
                </a:lnTo>
                <a:cubicBezTo>
                  <a:pt x="0" y="32365"/>
                  <a:pt x="32365" y="0"/>
                  <a:pt x="72290"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64764" y="3072324"/>
            <a:ext cx="180757" cy="180757"/>
          </a:xfrm>
          <a:custGeom>
            <a:avLst/>
            <a:gdLst/>
            <a:ahLst/>
            <a:cxnLst/>
            <a:rect l="l" t="t" r="r" b="b"/>
            <a:pathLst>
              <a:path w="180757" h="180757">
                <a:moveTo>
                  <a:pt x="0" y="90378"/>
                </a:moveTo>
                <a:cubicBezTo>
                  <a:pt x="0" y="40496"/>
                  <a:pt x="40496" y="0"/>
                  <a:pt x="90378" y="0"/>
                </a:cubicBezTo>
                <a:cubicBezTo>
                  <a:pt x="140259" y="0"/>
                  <a:pt x="180757" y="40496"/>
                  <a:pt x="180757" y="90378"/>
                </a:cubicBezTo>
                <a:cubicBezTo>
                  <a:pt x="180757" y="140259"/>
                  <a:pt x="140259" y="180757"/>
                  <a:pt x="90378" y="180757"/>
                </a:cubicBezTo>
                <a:cubicBezTo>
                  <a:pt x="40496" y="180757"/>
                  <a:pt x="0" y="140259"/>
                  <a:pt x="0" y="90378"/>
                </a:cubicBezTo>
                <a:close/>
                <a:moveTo>
                  <a:pt x="101675" y="33892"/>
                </a:moveTo>
                <a:cubicBezTo>
                  <a:pt x="101675" y="27657"/>
                  <a:pt x="96613" y="22595"/>
                  <a:pt x="90378" y="22595"/>
                </a:cubicBezTo>
                <a:cubicBezTo>
                  <a:pt x="84143" y="22595"/>
                  <a:pt x="79082" y="27657"/>
                  <a:pt x="79082" y="33892"/>
                </a:cubicBezTo>
                <a:cubicBezTo>
                  <a:pt x="79082" y="40127"/>
                  <a:pt x="84143" y="45189"/>
                  <a:pt x="90378" y="45189"/>
                </a:cubicBezTo>
                <a:cubicBezTo>
                  <a:pt x="96613" y="45189"/>
                  <a:pt x="101675" y="40127"/>
                  <a:pt x="101675" y="33892"/>
                </a:cubicBezTo>
                <a:close/>
                <a:moveTo>
                  <a:pt x="90378" y="146864"/>
                </a:moveTo>
                <a:cubicBezTo>
                  <a:pt x="102840" y="146864"/>
                  <a:pt x="112973" y="136732"/>
                  <a:pt x="112973" y="124270"/>
                </a:cubicBezTo>
                <a:cubicBezTo>
                  <a:pt x="112973" y="118551"/>
                  <a:pt x="110854" y="113290"/>
                  <a:pt x="107324" y="109336"/>
                </a:cubicBezTo>
                <a:lnTo>
                  <a:pt x="131860" y="60300"/>
                </a:lnTo>
                <a:cubicBezTo>
                  <a:pt x="133943" y="56098"/>
                  <a:pt x="132249" y="51015"/>
                  <a:pt x="128083" y="48931"/>
                </a:cubicBezTo>
                <a:cubicBezTo>
                  <a:pt x="123916" y="46848"/>
                  <a:pt x="118798" y="48543"/>
                  <a:pt x="116716" y="52709"/>
                </a:cubicBezTo>
                <a:lnTo>
                  <a:pt x="92179" y="101746"/>
                </a:lnTo>
                <a:cubicBezTo>
                  <a:pt x="91578" y="101710"/>
                  <a:pt x="90978" y="101675"/>
                  <a:pt x="90378" y="101675"/>
                </a:cubicBezTo>
                <a:cubicBezTo>
                  <a:pt x="77916" y="101675"/>
                  <a:pt x="67784" y="111808"/>
                  <a:pt x="67784" y="124270"/>
                </a:cubicBezTo>
                <a:cubicBezTo>
                  <a:pt x="67784" y="136732"/>
                  <a:pt x="77916" y="146864"/>
                  <a:pt x="90378" y="146864"/>
                </a:cubicBezTo>
                <a:close/>
                <a:moveTo>
                  <a:pt x="62135" y="50838"/>
                </a:moveTo>
                <a:cubicBezTo>
                  <a:pt x="62135" y="44602"/>
                  <a:pt x="57073" y="39540"/>
                  <a:pt x="50838" y="39540"/>
                </a:cubicBezTo>
                <a:cubicBezTo>
                  <a:pt x="44602" y="39540"/>
                  <a:pt x="39540" y="44602"/>
                  <a:pt x="39540" y="50838"/>
                </a:cubicBezTo>
                <a:cubicBezTo>
                  <a:pt x="39540" y="57073"/>
                  <a:pt x="44602" y="62135"/>
                  <a:pt x="50838" y="62135"/>
                </a:cubicBezTo>
                <a:cubicBezTo>
                  <a:pt x="57073" y="62135"/>
                  <a:pt x="62135" y="57073"/>
                  <a:pt x="62135" y="50838"/>
                </a:cubicBezTo>
                <a:close/>
                <a:moveTo>
                  <a:pt x="33892" y="101675"/>
                </a:moveTo>
                <a:cubicBezTo>
                  <a:pt x="40127" y="101675"/>
                  <a:pt x="45189" y="96613"/>
                  <a:pt x="45189" y="90378"/>
                </a:cubicBezTo>
                <a:cubicBezTo>
                  <a:pt x="45189" y="84143"/>
                  <a:pt x="40127" y="79082"/>
                  <a:pt x="33892" y="79082"/>
                </a:cubicBezTo>
                <a:cubicBezTo>
                  <a:pt x="27657" y="79082"/>
                  <a:pt x="22595" y="84143"/>
                  <a:pt x="22595" y="90378"/>
                </a:cubicBezTo>
                <a:cubicBezTo>
                  <a:pt x="22595" y="96613"/>
                  <a:pt x="27657" y="101675"/>
                  <a:pt x="33892" y="101675"/>
                </a:cubicBezTo>
                <a:close/>
                <a:moveTo>
                  <a:pt x="158162" y="90378"/>
                </a:moveTo>
                <a:cubicBezTo>
                  <a:pt x="158162" y="84143"/>
                  <a:pt x="153098" y="79082"/>
                  <a:pt x="146864" y="79082"/>
                </a:cubicBezTo>
                <a:cubicBezTo>
                  <a:pt x="140628" y="79082"/>
                  <a:pt x="135567" y="84143"/>
                  <a:pt x="135567" y="90378"/>
                </a:cubicBezTo>
                <a:cubicBezTo>
                  <a:pt x="135567" y="96613"/>
                  <a:pt x="140628" y="101675"/>
                  <a:pt x="146864" y="101675"/>
                </a:cubicBezTo>
                <a:cubicBezTo>
                  <a:pt x="153098" y="101675"/>
                  <a:pt x="158162" y="96613"/>
                  <a:pt x="158162" y="90378"/>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68115" y="3036208"/>
            <a:ext cx="5133474"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Amelioration des performances</a:t>
            </a:r>
            <a:endParaRPr lang="en-US" sz="16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6" name="Freeform 16"/>
          <p:cNvSpPr/>
          <p:nvPr/>
        </p:nvSpPr>
        <p:spPr>
          <a:xfrm>
            <a:off x="542170" y="3433863"/>
            <a:ext cx="5269041" cy="1301444"/>
          </a:xfrm>
          <a:custGeom>
            <a:avLst/>
            <a:gdLst/>
            <a:ahLst/>
            <a:cxnLst/>
            <a:rect l="l" t="t" r="r" b="b"/>
            <a:pathLst>
              <a:path w="5269041" h="1301444">
                <a:moveTo>
                  <a:pt x="72307" y="0"/>
                </a:moveTo>
                <a:lnTo>
                  <a:pt x="5196733" y="0"/>
                </a:lnTo>
                <a:cubicBezTo>
                  <a:pt x="5236667" y="0"/>
                  <a:pt x="5269041" y="32374"/>
                  <a:pt x="5269041" y="72307"/>
                </a:cubicBezTo>
                <a:lnTo>
                  <a:pt x="5269041" y="1229136"/>
                </a:lnTo>
                <a:cubicBezTo>
                  <a:pt x="5269041" y="1269072"/>
                  <a:pt x="5236667" y="1301444"/>
                  <a:pt x="5196733" y="1301444"/>
                </a:cubicBezTo>
                <a:lnTo>
                  <a:pt x="72307" y="1301444"/>
                </a:lnTo>
                <a:cubicBezTo>
                  <a:pt x="32400" y="1301444"/>
                  <a:pt x="0" y="1269044"/>
                  <a:pt x="0" y="1229136"/>
                </a:cubicBezTo>
                <a:lnTo>
                  <a:pt x="0" y="72307"/>
                </a:lnTo>
                <a:cubicBezTo>
                  <a:pt x="0" y="32374"/>
                  <a:pt x="32374" y="0"/>
                  <a:pt x="72307"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23485" y="3650744"/>
            <a:ext cx="5106360" cy="542268"/>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2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10-50×</a:t>
            </a:r>
            <a:endParaRPr lang="en-US" sz="2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718382" y="4265279"/>
            <a:ext cx="4916566" cy="253059"/>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Amelioration des performances</a:t>
            </a:r>
            <a:endPar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6205904" y="1265046"/>
            <a:ext cx="5630553" cy="3895294"/>
          </a:xfrm>
          <a:custGeom>
            <a:avLst/>
            <a:gdLst/>
            <a:ahLst/>
            <a:cxnLst/>
            <a:rect l="l" t="t" r="r" b="b"/>
            <a:pathLst>
              <a:path w="5630553" h="3895294">
                <a:moveTo>
                  <a:pt x="72297" y="0"/>
                </a:moveTo>
                <a:lnTo>
                  <a:pt x="5558257" y="0"/>
                </a:lnTo>
                <a:cubicBezTo>
                  <a:pt x="5598185" y="0"/>
                  <a:pt x="5630553" y="32368"/>
                  <a:pt x="5630553" y="72297"/>
                </a:cubicBezTo>
                <a:lnTo>
                  <a:pt x="5630553" y="3822998"/>
                </a:lnTo>
                <a:cubicBezTo>
                  <a:pt x="5630553" y="3862926"/>
                  <a:pt x="5598185" y="3895294"/>
                  <a:pt x="5558257" y="3895294"/>
                </a:cubicBezTo>
                <a:lnTo>
                  <a:pt x="72297" y="3895294"/>
                </a:lnTo>
                <a:cubicBezTo>
                  <a:pt x="32368" y="3895294"/>
                  <a:pt x="0" y="3862926"/>
                  <a:pt x="0" y="3822998"/>
                </a:cubicBezTo>
                <a:lnTo>
                  <a:pt x="0" y="72297"/>
                </a:lnTo>
                <a:cubicBezTo>
                  <a:pt x="0" y="32395"/>
                  <a:pt x="32395" y="0"/>
                  <a:pt x="72297"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pic>
        <p:nvPicPr>
          <p:cNvPr id="20" name="Picture 20"/>
          <p:cNvPicPr>
            <a:picLocks noChangeAspect="1"/>
          </p:cNvPicPr>
          <p:nvPr/>
        </p:nvPicPr>
        <p:blipFill>
          <a:blip r:embed="rId1"/>
          <a:srcRect t="3" b="2"/>
          <a:stretch>
            <a:fillRect/>
          </a:stretch>
        </p:blipFill>
        <p:spPr>
          <a:xfrm>
            <a:off x="6386674" y="1445740"/>
            <a:ext cx="5269041" cy="3533782"/>
          </a:xfrm>
          <a:prstGeom prst="roundRect">
            <a:avLst>
              <a:gd name="adj" fmla="val 1023"/>
            </a:avLst>
          </a:prstGeom>
          <a:ln w="12700">
            <a:noFill/>
            <a:prstDash val="solid"/>
          </a:ln>
        </p:spPr>
      </p:pic>
      <p:sp>
        <p:nvSpPr>
          <p:cNvPr id="21" name="Freeform 21"/>
          <p:cNvSpPr/>
          <p:nvPr/>
        </p:nvSpPr>
        <p:spPr>
          <a:xfrm>
            <a:off x="6205904" y="5303109"/>
            <a:ext cx="5630553" cy="1518351"/>
          </a:xfrm>
          <a:custGeom>
            <a:avLst/>
            <a:gdLst/>
            <a:ahLst/>
            <a:cxnLst/>
            <a:rect l="l" t="t" r="r" b="b"/>
            <a:pathLst>
              <a:path w="5630553" h="1518351">
                <a:moveTo>
                  <a:pt x="72304" y="0"/>
                </a:moveTo>
                <a:lnTo>
                  <a:pt x="5558249" y="0"/>
                </a:lnTo>
                <a:cubicBezTo>
                  <a:pt x="5598182" y="0"/>
                  <a:pt x="5630553" y="32372"/>
                  <a:pt x="5630553" y="72304"/>
                </a:cubicBezTo>
                <a:lnTo>
                  <a:pt x="5630553" y="1446047"/>
                </a:lnTo>
                <a:cubicBezTo>
                  <a:pt x="5630553" y="1485980"/>
                  <a:pt x="5598182" y="1518351"/>
                  <a:pt x="5558249" y="1518351"/>
                </a:cubicBezTo>
                <a:lnTo>
                  <a:pt x="72304" y="1518351"/>
                </a:lnTo>
                <a:cubicBezTo>
                  <a:pt x="32372" y="1518351"/>
                  <a:pt x="0" y="1485980"/>
                  <a:pt x="0" y="1446047"/>
                </a:cubicBezTo>
                <a:lnTo>
                  <a:pt x="0" y="72304"/>
                </a:lnTo>
                <a:cubicBezTo>
                  <a:pt x="0" y="32372"/>
                  <a:pt x="32372" y="0"/>
                  <a:pt x="72304" y="0"/>
                </a:cubicBezTo>
                <a:close/>
              </a:path>
            </a:pathLst>
          </a:custGeom>
          <a:solidFill>
            <a:srgbClr val="F8F8F8">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6431793" y="5519919"/>
            <a:ext cx="135567" cy="186406"/>
          </a:xfrm>
          <a:custGeom>
            <a:avLst/>
            <a:gdLst/>
            <a:ahLst/>
            <a:cxnLst/>
            <a:rect l="l" t="t" r="r" b="b"/>
            <a:pathLst>
              <a:path w="135567" h="186406">
                <a:moveTo>
                  <a:pt x="103405" y="135567"/>
                </a:moveTo>
                <a:cubicBezTo>
                  <a:pt x="105981" y="127693"/>
                  <a:pt x="111136" y="120562"/>
                  <a:pt x="116962" y="114419"/>
                </a:cubicBezTo>
                <a:cubicBezTo>
                  <a:pt x="128506" y="102274"/>
                  <a:pt x="135567" y="85860"/>
                  <a:pt x="135567" y="67784"/>
                </a:cubicBezTo>
                <a:cubicBezTo>
                  <a:pt x="135567" y="30361"/>
                  <a:pt x="105206" y="0"/>
                  <a:pt x="67784" y="0"/>
                </a:cubicBezTo>
                <a:cubicBezTo>
                  <a:pt x="30361" y="0"/>
                  <a:pt x="0" y="30361"/>
                  <a:pt x="0" y="67784"/>
                </a:cubicBezTo>
                <a:cubicBezTo>
                  <a:pt x="0" y="85860"/>
                  <a:pt x="7061" y="102274"/>
                  <a:pt x="18605" y="114419"/>
                </a:cubicBezTo>
                <a:cubicBezTo>
                  <a:pt x="24430" y="120562"/>
                  <a:pt x="29620" y="127693"/>
                  <a:pt x="32161" y="135567"/>
                </a:cubicBezTo>
                <a:lnTo>
                  <a:pt x="103370" y="135567"/>
                </a:lnTo>
                <a:close/>
                <a:moveTo>
                  <a:pt x="101675" y="152513"/>
                </a:moveTo>
                <a:lnTo>
                  <a:pt x="33892" y="152513"/>
                </a:lnTo>
                <a:lnTo>
                  <a:pt x="33892" y="158162"/>
                </a:lnTo>
                <a:cubicBezTo>
                  <a:pt x="33892" y="173766"/>
                  <a:pt x="46532" y="186406"/>
                  <a:pt x="62135" y="186406"/>
                </a:cubicBezTo>
                <a:lnTo>
                  <a:pt x="73431" y="186406"/>
                </a:lnTo>
                <a:cubicBezTo>
                  <a:pt x="89037" y="186406"/>
                  <a:pt x="101675" y="173766"/>
                  <a:pt x="101675" y="158162"/>
                </a:cubicBezTo>
                <a:lnTo>
                  <a:pt x="101675" y="152513"/>
                </a:lnTo>
                <a:close/>
                <a:moveTo>
                  <a:pt x="64959" y="39540"/>
                </a:moveTo>
                <a:cubicBezTo>
                  <a:pt x="50908" y="39540"/>
                  <a:pt x="39540" y="50908"/>
                  <a:pt x="39540" y="64959"/>
                </a:cubicBezTo>
                <a:cubicBezTo>
                  <a:pt x="39540" y="69654"/>
                  <a:pt x="35763" y="73431"/>
                  <a:pt x="31067" y="73431"/>
                </a:cubicBezTo>
                <a:cubicBezTo>
                  <a:pt x="26372" y="73431"/>
                  <a:pt x="22595" y="69654"/>
                  <a:pt x="22595" y="64959"/>
                </a:cubicBezTo>
                <a:cubicBezTo>
                  <a:pt x="22595" y="41553"/>
                  <a:pt x="41553" y="22595"/>
                  <a:pt x="64959" y="22595"/>
                </a:cubicBezTo>
                <a:cubicBezTo>
                  <a:pt x="69654" y="22595"/>
                  <a:pt x="73431" y="26372"/>
                  <a:pt x="73431" y="31067"/>
                </a:cubicBezTo>
                <a:cubicBezTo>
                  <a:pt x="73431" y="35763"/>
                  <a:pt x="69654" y="39540"/>
                  <a:pt x="64959" y="3954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612549" y="5483812"/>
            <a:ext cx="5133474" cy="25305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Raisons de l'optimisation</a:t>
            </a:r>
            <a:endParaRPr lang="en-US"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4" name="Freeform 24"/>
          <p:cNvSpPr/>
          <p:nvPr/>
        </p:nvSpPr>
        <p:spPr>
          <a:xfrm>
            <a:off x="6386604" y="5917574"/>
            <a:ext cx="72302" cy="72302"/>
          </a:xfrm>
          <a:custGeom>
            <a:avLst/>
            <a:gdLst/>
            <a:ahLst/>
            <a:cxnLst/>
            <a:rect l="l" t="t" r="r" b="b"/>
            <a:pathLst>
              <a:path w="72302" h="72302">
                <a:moveTo>
                  <a:pt x="36151" y="0"/>
                </a:moveTo>
                <a:lnTo>
                  <a:pt x="36151" y="0"/>
                </a:lnTo>
                <a:cubicBezTo>
                  <a:pt x="56117" y="0"/>
                  <a:pt x="72302" y="16185"/>
                  <a:pt x="72302" y="36151"/>
                </a:cubicBezTo>
                <a:lnTo>
                  <a:pt x="72302" y="36151"/>
                </a:lnTo>
                <a:cubicBezTo>
                  <a:pt x="72302" y="56117"/>
                  <a:pt x="56117" y="72302"/>
                  <a:pt x="36151" y="72302"/>
                </a:cubicBezTo>
                <a:lnTo>
                  <a:pt x="36151" y="72302"/>
                </a:lnTo>
                <a:cubicBezTo>
                  <a:pt x="16185" y="72302"/>
                  <a:pt x="0" y="56117"/>
                  <a:pt x="0" y="36151"/>
                </a:cubicBezTo>
                <a:lnTo>
                  <a:pt x="0" y="36151"/>
                </a:lnTo>
                <a:cubicBezTo>
                  <a:pt x="0" y="16185"/>
                  <a:pt x="16185" y="0"/>
                  <a:pt x="3615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530975" y="5845175"/>
            <a:ext cx="4366895" cy="21717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R</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duire les acc</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è</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 à la m</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moire globale</a:t>
            </a:r>
            <a:endPar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6" name="Freeform 26"/>
          <p:cNvSpPr/>
          <p:nvPr/>
        </p:nvSpPr>
        <p:spPr>
          <a:xfrm>
            <a:off x="6386604" y="6206748"/>
            <a:ext cx="72302" cy="72302"/>
          </a:xfrm>
          <a:custGeom>
            <a:avLst/>
            <a:gdLst/>
            <a:ahLst/>
            <a:cxnLst/>
            <a:rect l="l" t="t" r="r" b="b"/>
            <a:pathLst>
              <a:path w="72302" h="72302">
                <a:moveTo>
                  <a:pt x="36151" y="0"/>
                </a:moveTo>
                <a:lnTo>
                  <a:pt x="36151" y="0"/>
                </a:lnTo>
                <a:cubicBezTo>
                  <a:pt x="56117" y="0"/>
                  <a:pt x="72302" y="16185"/>
                  <a:pt x="72302" y="36151"/>
                </a:cubicBezTo>
                <a:lnTo>
                  <a:pt x="72302" y="36151"/>
                </a:lnTo>
                <a:cubicBezTo>
                  <a:pt x="72302" y="56117"/>
                  <a:pt x="56117" y="72302"/>
                  <a:pt x="36151" y="72302"/>
                </a:cubicBezTo>
                <a:lnTo>
                  <a:pt x="36151" y="72302"/>
                </a:lnTo>
                <a:cubicBezTo>
                  <a:pt x="16185" y="72302"/>
                  <a:pt x="0" y="56117"/>
                  <a:pt x="0" y="36151"/>
                </a:cubicBezTo>
                <a:lnTo>
                  <a:pt x="0" y="36151"/>
                </a:lnTo>
                <a:cubicBezTo>
                  <a:pt x="0" y="16185"/>
                  <a:pt x="16185" y="0"/>
                  <a:pt x="3615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530975" y="6134735"/>
            <a:ext cx="4460240" cy="21717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Ameliorer l'efficacite parallele</a:t>
            </a:r>
            <a:endPar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8" name="Freeform 28"/>
          <p:cNvSpPr/>
          <p:nvPr/>
        </p:nvSpPr>
        <p:spPr>
          <a:xfrm>
            <a:off x="6386604" y="6495923"/>
            <a:ext cx="72302" cy="72302"/>
          </a:xfrm>
          <a:custGeom>
            <a:avLst/>
            <a:gdLst/>
            <a:ahLst/>
            <a:cxnLst/>
            <a:rect l="l" t="t" r="r" b="b"/>
            <a:pathLst>
              <a:path w="72302" h="72302">
                <a:moveTo>
                  <a:pt x="36151" y="0"/>
                </a:moveTo>
                <a:lnTo>
                  <a:pt x="36151" y="0"/>
                </a:lnTo>
                <a:cubicBezTo>
                  <a:pt x="56117" y="0"/>
                  <a:pt x="72302" y="16185"/>
                  <a:pt x="72302" y="36151"/>
                </a:cubicBezTo>
                <a:lnTo>
                  <a:pt x="72302" y="36151"/>
                </a:lnTo>
                <a:cubicBezTo>
                  <a:pt x="72302" y="56117"/>
                  <a:pt x="56117" y="72302"/>
                  <a:pt x="36151" y="72302"/>
                </a:cubicBezTo>
                <a:lnTo>
                  <a:pt x="36151" y="72302"/>
                </a:lnTo>
                <a:cubicBezTo>
                  <a:pt x="16185" y="72302"/>
                  <a:pt x="0" y="56117"/>
                  <a:pt x="0" y="36151"/>
                </a:cubicBezTo>
                <a:lnTo>
                  <a:pt x="0" y="36151"/>
                </a:lnTo>
                <a:cubicBezTo>
                  <a:pt x="0" y="16185"/>
                  <a:pt x="16185" y="0"/>
                  <a:pt x="36151" y="0"/>
                </a:cubicBezTo>
                <a:close/>
              </a:path>
            </a:pathLst>
          </a:custGeom>
          <a:solidFill>
            <a:srgbClr val="8B263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6530975" y="6423660"/>
            <a:ext cx="5124450" cy="21717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Exploiter pleinement la faible latence de </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moire partag</a:t>
            </a:r>
            <a:r>
              <a:rPr lang="en-US" altLang="en-US"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é</a:t>
            </a:r>
            <a:r>
              <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e</a:t>
            </a:r>
            <a:endParaRPr lang="en-US" altLang="zh-CN" sz="12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0" name="AutoShape 30"/>
          <p:cNvSpPr/>
          <p:nvPr/>
        </p:nvSpPr>
        <p:spPr>
          <a:xfrm>
            <a:off x="298205" y="6680312"/>
            <a:ext cx="11532240" cy="180756"/>
          </a:xfrm>
          <a:prstGeom prst="rect">
            <a:avLst/>
          </a:prstGeom>
          <a:noFill/>
          <a:ln w="12700">
            <a:noFill/>
            <a:prstDash val="solid"/>
          </a:ln>
        </p:spPr>
        <p:txBody>
          <a:bodyPr wrap="square" lIns="0" tIns="0" rIns="0" bIns="0" rtlCol="0" anchor="ctr">
            <a:noAutofit/>
          </a:bodyPr>
          <a:lstStyle/>
          <a:p>
            <a:pPr indent="0" algn="r">
              <a:lnSpc>
                <a:spcPct val="117000"/>
              </a:lnSpc>
              <a:defRPr/>
            </a:pPr>
            <a:r>
              <a:rPr lang="en-US" sz="700" b="0" i="0" u="none" strike="noStrike">
                <a:solidFill>
                  <a:srgbClr val="4A4A4A"/>
                </a:solidFill>
                <a:latin typeface="MiSans" panose="00000500000000000000" charset="-122"/>
                <a:ea typeface="MiSans" panose="00000500000000000000" charset="-122"/>
                <a:cs typeface="MiSans" panose="00000500000000000000" charset="-122"/>
                <a:sym typeface="MiSans" panose="00000500000000000000" charset="-122"/>
              </a:rPr>
              <a:t>Source de l'image : Medium - Rimika Dhara</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9</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Module I </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Projet de mi-semestre</a:t>
            </a:r>
            <a:b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Implémentation du </a:t>
            </a:r>
            <a:r>
              <a:rPr lang="en-US">
                <a:solidFill>
                  <a:srgbClr val="262626"/>
                </a:solidFill>
                <a:latin typeface="Calibri" panose="020F0502020204030204"/>
                <a:ea typeface="Calibri" panose="020F0502020204030204"/>
                <a:cs typeface="Calibri" panose="020F0502020204030204"/>
                <a:sym typeface="Calibri" panose="020F0502020204030204"/>
              </a:rPr>
              <a:t>Kernel </a:t>
            </a:r>
            <a:r>
              <a:rPr lang="en-US">
                <a:solidFill>
                  <a:srgbClr val="262626"/>
                </a:solidFill>
                <a:latin typeface="Calibri" panose="020F0502020204030204"/>
                <a:ea typeface="Calibri" panose="020F0502020204030204"/>
                <a:cs typeface="Calibri" panose="020F0502020204030204"/>
                <a:sym typeface="Calibri" panose="020F0502020204030204"/>
              </a:rPr>
              <a:t>Softmax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des projets du cours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6" name="Table 6"/>
          <p:cNvGraphicFramePr>
            <a:graphicFrameLocks noGrp="1"/>
          </p:cNvGraphicFramePr>
          <p:nvPr/>
        </p:nvGraphicFramePr>
        <p:xfrm>
          <a:off x="882015" y="1676575"/>
          <a:ext cx="10427970" cy="4643755"/>
        </p:xfrm>
        <a:graphic>
          <a:graphicData uri="http://schemas.openxmlformats.org/drawingml/2006/table">
            <a:tbl>
              <a:tblPr>
                <a:effectLst/>
              </a:tblPr>
              <a:tblGrid>
                <a:gridCol w="1029970"/>
                <a:gridCol w="4168140"/>
                <a:gridCol w="1414145"/>
                <a:gridCol w="3815715"/>
              </a:tblGrid>
              <a:tr h="583565">
                <a:tc>
                  <a:txBody>
                    <a:bodyPr rtlCol="0"/>
                    <a:lstStyle/>
                    <a:p>
                      <a:r>
                        <a:t>Séance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Nom du projet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Type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Critères d'évaluation</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r>
                        <a:t>5</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Configuration de l'environnement et chaîne d'outils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Travaux pratiques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Validation en quatre étapes + rapport de laboratoire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r>
                        <a:t>9</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Softmax Kernel (mi-semestre)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Exactitude 40 points + seuil de performance 70%</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r>
                        <a:t>18</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Fusion RMSNorm+Residual (final)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Performance à atteindre 90% du benchmark FlagGems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847090">
                <a:tc>
                  <a:txBody>
                    <a:bodyPr rtlCol="0"/>
                    <a:lstStyle/>
                    <a:p>
                      <a:r>
                        <a:t>27</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Contribution FlagTree Pass (final)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Projet individuel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Choix parmi trois orientations, test FileCheck</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r>
                        <a:t>36</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Formation distribuée multi-machines 7B (final)</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Groupe de 3 personnes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Comparaison stratégies parallèles + accélération linéaire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543560">
                <a:tc>
                  <a:txBody>
                    <a:bodyPr rtlCol="0"/>
                    <a:lstStyle/>
                    <a:p>
                      <a:r>
                        <a:t>46-47</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Soutenance du grand projet</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Soutenance en groupe</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r>
                        <a:t>Faisabilité + authenticité des progrès</a:t>
                      </a:r>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a:t>
            </a:r>
            <a:r>
              <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du projet</a:t>
            </a:r>
            <a:endPar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132840"/>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du projet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Softmax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est l’un des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plus fondamentaux en apprentissage profond,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 le retrouve partout, que ce soit dans le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d’attention des Transformers ou dans les 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ches de classification</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impl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efficace de Softmax 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la combinaison de techniques telles que le Tiling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tuiles), la normalisation en ligne (online normalization) et l’optimisation des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ductions. C’est donc un projet id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 pour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valuer les comp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tences acquises dans le premier module.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Objectifs du projet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menter de z</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 un noyau Softmax num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stable (Safe Softmax) en utilisant Triton</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Supporter des tenseurs</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2D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forme arbitraire,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calcul s’effectuant sur la derni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dimension (dim=-1).</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Comparer le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avec celui de F.softmax natif de PyTorch ; erreur absolue maximale &lt; 1e-5 (float32).</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Performance (debit) atteignant </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au moins 70 % de l’impl</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mentation int</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gr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e de PyTorch.</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(Avance) Enregistrer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dans le framework FlagGems et passer ses tests.</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Sp</a:t>
            </a:r>
            <a:r>
              <a:rPr lang="en-US" alt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cifications d’impl</a:t>
            </a:r>
            <a:r>
              <a:rPr lang="en-US" alt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mentation</a:t>
            </a:r>
            <a:endParaRPr lang="en-US" altLang="zh-CN"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Stabilit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num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Impl</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menter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Safe Softmax</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Soustraire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d’abord la valeur maximale de chaque ligne avant de calculer l’exponentielle, pour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passement.</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structure requise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Program</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traite une ligne de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Via</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tl.load,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lire par blocs et g</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rer les cas o</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ù</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 la longueur de la ligne n’est pas divisible par BLOCK_SIZE.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Effectuer trois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tapes de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calcul du maximum</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-&gt;</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calcul de la somme des exponentielles </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 normalisation et </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criture.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cification d’interface </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237615" y="2477770"/>
          <a:ext cx="7934960" cy="396240"/>
        </p:xfrm>
        <a:graphic>
          <a:graphicData uri="http://schemas.openxmlformats.org/drawingml/2006/table">
            <a:tbl>
              <a:tblPr>
                <a:effectLst/>
              </a:tblPr>
              <a:tblGrid>
                <a:gridCol w="7934960"/>
              </a:tblGrid>
              <a:tr h="39624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softmax(x_i) = exp(x_i - max(x)) / sum(exp(x_j - max(x)))</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id="7" name="Table 7"/>
          <p:cNvGraphicFramePr>
            <a:graphicFrameLocks noGrp="1"/>
          </p:cNvGraphicFramePr>
          <p:nvPr/>
        </p:nvGraphicFramePr>
        <p:xfrm>
          <a:off x="1135380" y="5628005"/>
          <a:ext cx="7935595" cy="909320"/>
        </p:xfrm>
        <a:graphic>
          <a:graphicData uri="http://schemas.openxmlformats.org/drawingml/2006/table">
            <a:tbl>
              <a:tblPr>
                <a:effectLst/>
              </a:tblPr>
              <a:tblGrid>
                <a:gridCol w="7935595"/>
              </a:tblGrid>
              <a:tr h="454660">
                <a:tc>
                  <a:txBody>
                    <a:bodyPr rtlCol="0"/>
                    <a:lstStyle/>
                    <a:p>
                      <a:pPr indent="0" algn="just">
                        <a:lnSpc>
                          <a:spcPct val="100000"/>
                        </a:lnSpc>
                        <a:defRPr/>
                      </a:pPr>
                      <a:r>
                        <a:rPr lang="en-US" sz="16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flaggems_softmax(x: torch.Tensor) -&gt; torch.Tensor:</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454660">
                <a:tc>
                  <a:txBody>
                    <a:bodyPr rtlCol="0"/>
                    <a:lstStyle/>
                    <a:p>
                      <a:r>
                        <a:t># x: [M, N], pour </a:t>
                      </a:r>
                      <a:r>
                        <a:rPr lang="en-US" altLang="zh-CN"/>
                        <a:t>diff</a:t>
                      </a:r>
                      <a:r>
                        <a:rPr lang="en-US" altLang="en-US"/>
                        <a:t>é</a:t>
                      </a:r>
                      <a:r>
                        <a:rPr lang="en-US" altLang="zh-CN"/>
                        <a:t>rentes formes</a:t>
                      </a:r>
                      <a:r>
                        <a:t>, renvoie les </a:t>
                      </a:r>
                      <a:r>
                        <a:rPr lang="en-US" altLang="zh-CN"/>
                        <a:t>r</a:t>
                      </a:r>
                      <a:r>
                        <a:rPr lang="en-US" altLang="en-US"/>
                        <a:t>é</a:t>
                      </a:r>
                      <a:r>
                        <a:rPr lang="en-US" altLang="zh-CN"/>
                        <a:t>sultats </a:t>
                      </a:r>
                      <a:r>
                        <a:t>softmax</a:t>
                      </a:r>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Tests et validation</a:t>
            </a:r>
            <a:endPar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Cas de test de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validit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Base : forme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[128, 256]</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dtype = float32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N=1, N=65537</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non puissance de 2</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Precision : comparer avec</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torch.nn.functional.softmax(x, dim=-1)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atol=1e-5</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Benchmark de performance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Forme de test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[1024, 4096]</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(simulant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Transformer Attention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Outils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triton.testing.Benchmark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torch.utils.benchmark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Indicateurs de rapport :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GB/s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(taux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d'utilisation de la bande passante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ms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(latence)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Exigences de soumission </a:t>
            </a:r>
            <a:r>
              <a:rPr lang="en-US" altLang="zh-CN"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 crit</a:t>
            </a:r>
            <a:r>
              <a:rPr lang="en-US" altLang="en-US"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res d’</a:t>
            </a:r>
            <a:r>
              <a:rPr lang="en-US" altLang="en-US"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valuation</a:t>
            </a:r>
            <a:endParaRPr lang="en-US" altLang="zh-CN" sz="29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9" hasCustomPrompt="1"/>
          </p:nvPr>
        </p:nvSpPr>
        <p:spPr>
          <a:xfrm>
            <a:off x="523874" y="1132840"/>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Liste des </a:t>
            </a:r>
            <a:r>
              <a:rPr lang="en-US" alt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 à</a:t>
            </a:r>
            <a:r>
              <a:rPr 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soumettre</a:t>
            </a:r>
            <a:endParaRPr 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softmax_kernel.py</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contenant l'impl</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du noyau (kernel) et le code de test</a:t>
            </a:r>
            <a:endPar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report.pdf</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maximum</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4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pages,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incluant l'approche d'impl</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captures d'</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cran de validation, et graphiques de comparaison de performance</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Avanc</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le d</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pôt FlagGems, lien PR ou fichier diff</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a:t>
            </a:r>
            <a:r>
              <a:rPr lang="en-US" alt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d'</a:t>
            </a:r>
            <a:r>
              <a:rPr lang="en-US" altLang="en-US"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a:t>
            </a:r>
            <a:endPar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027430" y="3493135"/>
          <a:ext cx="8947150" cy="3135630"/>
        </p:xfrm>
        <a:graphic>
          <a:graphicData uri="http://schemas.openxmlformats.org/drawingml/2006/table">
            <a:tbl>
              <a:tblPr>
                <a:effectLst/>
              </a:tblPr>
              <a:tblGrid>
                <a:gridCol w="3160395"/>
                <a:gridCol w="1428115"/>
                <a:gridCol w="4358640"/>
              </a:tblGrid>
              <a:tr h="400685">
                <a:tc>
                  <a:txBody>
                    <a:bodyPr rtlCol="0"/>
                    <a:lstStyle/>
                    <a:p>
                      <a:pPr indent="0" algn="ctr">
                        <a:lnSpc>
                          <a:spcPct val="100000"/>
                        </a:lnSpc>
                        <a:defRPr/>
                      </a:pP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Crit</a:t>
                      </a:r>
                      <a:r>
                        <a:rPr lang="en-US" altLang="en-US" sz="1600" b="1" i="0" u="none" strike="noStrike">
                          <a:solidFill>
                            <a:srgbClr val="FFFFFF"/>
                          </a:solidFill>
                          <a:latin typeface="Calibri" panose="020F0502020204030204"/>
                          <a:ea typeface="Arial" panose="020B0604020202020204"/>
                          <a:cs typeface="Arial" panose="020B0604020202020204"/>
                          <a:sym typeface="Arial" panose="020B0604020202020204"/>
                        </a:rPr>
                        <a:t>è</a:t>
                      </a: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res</a:t>
                      </a: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 d’evaluation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Points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Calibri" panose="020F0502020204030204"/>
                          <a:ea typeface="Arial" panose="020B0604020202020204"/>
                          <a:cs typeface="Arial" panose="020B0604020202020204"/>
                          <a:sym typeface="Arial" panose="020B0604020202020204"/>
                        </a:rPr>
                        <a:t>C</a:t>
                      </a: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rit</a:t>
                      </a:r>
                      <a:r>
                        <a:rPr lang="en-US" altLang="en-US" sz="1600" b="1" i="0" u="none" strike="noStrike">
                          <a:solidFill>
                            <a:srgbClr val="FFFFFF"/>
                          </a:solidFill>
                          <a:latin typeface="Calibri" panose="020F0502020204030204"/>
                          <a:ea typeface="Arial" panose="020B0604020202020204"/>
                          <a:cs typeface="Arial" panose="020B0604020202020204"/>
                          <a:sym typeface="Arial" panose="020B0604020202020204"/>
                        </a:rPr>
                        <a:t>è</a:t>
                      </a: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res d'</a:t>
                      </a:r>
                      <a:r>
                        <a:rPr lang="en-US" altLang="en-US" sz="1600" b="1" i="0" u="none" strike="noStrike">
                          <a:solidFill>
                            <a:srgbClr val="FFFFFF"/>
                          </a:solidFill>
                          <a:latin typeface="Calibri" panose="020F0502020204030204"/>
                          <a:ea typeface="Arial" panose="020B0604020202020204"/>
                          <a:cs typeface="Arial" panose="020B0604020202020204"/>
                          <a:sym typeface="Arial" panose="020B0604020202020204"/>
                        </a:rPr>
                        <a:t>é</a:t>
                      </a: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valuation d</a:t>
                      </a:r>
                      <a:r>
                        <a:rPr lang="en-US" altLang="en-US" sz="1600" b="1" i="0" u="none" strike="noStrike">
                          <a:solidFill>
                            <a:srgbClr val="FFFFFF"/>
                          </a:solidFill>
                          <a:latin typeface="Calibri" panose="020F0502020204030204"/>
                          <a:ea typeface="Arial" panose="020B0604020202020204"/>
                          <a:cs typeface="Arial" panose="020B0604020202020204"/>
                          <a:sym typeface="Arial" panose="020B0604020202020204"/>
                        </a:rPr>
                        <a:t>é</a:t>
                      </a: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taill</a:t>
                      </a:r>
                      <a:r>
                        <a:rPr lang="en-US" altLang="en-US" sz="1600" b="1" i="0" u="none" strike="noStrike">
                          <a:solidFill>
                            <a:srgbClr val="FFFFFF"/>
                          </a:solidFill>
                          <a:latin typeface="Calibri" panose="020F0502020204030204"/>
                          <a:ea typeface="Arial" panose="020B0604020202020204"/>
                          <a:cs typeface="Arial" panose="020B0604020202020204"/>
                          <a:sym typeface="Arial" panose="020B0604020202020204"/>
                        </a:rPr>
                        <a:t>é</a:t>
                      </a:r>
                      <a:r>
                        <a:rPr lang="en-US" altLang="zh-CN" sz="1600" b="1" i="0" u="none" strike="noStrike">
                          <a:solidFill>
                            <a:srgbClr val="FFFFFF"/>
                          </a:solidFill>
                          <a:latin typeface="Calibri" panose="020F0502020204030204"/>
                          <a:ea typeface="Arial" panose="020B0604020202020204"/>
                          <a:cs typeface="Arial" panose="020B0604020202020204"/>
                          <a:sym typeface="Arial" panose="020B0604020202020204"/>
                        </a:rPr>
                        <a: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77190">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Exactitude du code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40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Tous les cas de test passent, y compris les cas limites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7825">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Stabilit</a:t>
                      </a:r>
                      <a:r>
                        <a:rPr lang="en-US" altLang="en-US" sz="1600" b="0" i="0" u="none" strike="noStrike">
                          <a:solidFill>
                            <a:srgbClr val="000000"/>
                          </a:solidFill>
                          <a:latin typeface="Calibri" panose="020F0502020204030204"/>
                          <a:ea typeface="Arial" panose="020B0604020202020204"/>
                          <a:cs typeface="Arial" panose="020B060402020202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num</a:t>
                      </a:r>
                      <a:r>
                        <a:rPr lang="en-US" altLang="en-US" sz="1600" b="0" i="0" u="none" strike="noStrike">
                          <a:solidFill>
                            <a:srgbClr val="000000"/>
                          </a:solidFill>
                          <a:latin typeface="Calibri" panose="020F0502020204030204"/>
                          <a:ea typeface="Arial" panose="020B0604020202020204"/>
                          <a:cs typeface="Arial" panose="020B0604020202020204"/>
                          <a:sym typeface="Arial" panose="020B0604020202020204"/>
                        </a:rPr>
                        <a:t>é</a:t>
                      </a:r>
                      <a:r>
                        <a:rPr lang="en-US" altLang="zh-CN" sz="1600" b="0" i="0" u="none" strike="noStrike">
                          <a:solidFill>
                            <a:srgbClr val="000000"/>
                          </a:solidFill>
                          <a:latin typeface="Calibri" panose="020F0502020204030204"/>
                          <a:ea typeface="Arial" panose="020B0604020202020204"/>
                          <a:cs typeface="Arial" panose="020B0604020202020204"/>
                          <a:sym typeface="Arial" panose="020B0604020202020204"/>
                        </a:rPr>
                        <a:t>r</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ique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15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Impl</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mentation Safe Softmax correcte, sans NaN/Inf</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7825">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Performance (d</a:t>
                      </a:r>
                      <a:r>
                        <a:rPr lang="en-US" altLang="en-US" sz="1600" b="0" i="0" u="none" strike="noStrike">
                          <a:solidFill>
                            <a:srgbClr val="000000"/>
                          </a:solidFill>
                          <a:latin typeface="Calibri" panose="020F0502020204030204"/>
                          <a:ea typeface="Arial" panose="020B0604020202020204"/>
                          <a:cs typeface="Arial" panose="020B060402020202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bit)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25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70% de l’impl</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mentation de r</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f</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rence = points maximum, interpolation lin</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aire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77825">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Rapport d’exp</a:t>
                      </a:r>
                      <a:r>
                        <a:rPr lang="en-US" altLang="en-US" sz="1600" b="0" i="0" u="none" strike="noStrike">
                          <a:solidFill>
                            <a:srgbClr val="000000"/>
                          </a:solidFill>
                          <a:latin typeface="Calibri" panose="020F0502020204030204"/>
                          <a:ea typeface="Arial" panose="020B0604020202020204"/>
                          <a:cs typeface="Arial" panose="020B060402020202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rience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15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Analyser le choix de Block Size, l’impact sur l’occupancy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77825">
                <a:tc>
                  <a:txBody>
                    <a:bodyPr rtlCol="0"/>
                    <a:lstStyle/>
                    <a:p>
                      <a:pPr indent="0" algn="l">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Avanc</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 : Int</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gration FlagGems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PR fusionn</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e ou suite de tests valid</a:t>
                      </a:r>
                      <a:r>
                        <a:rPr lang="en-US" altLang="en-US" sz="1600">
                          <a:solidFill>
                            <a:srgbClr val="000000"/>
                          </a:solidFill>
                          <a:latin typeface="Calibri" panose="020F0502020204030204"/>
                          <a:sym typeface="Arial" panose="020B0604020202020204"/>
                        </a:rPr>
                        <a:t>é</a:t>
                      </a: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8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Solution : </a:t>
            </a:r>
            <a:r>
              <a:rPr lang="en-US" sz="2830" b="0" i="0" u="none" strike="noStrike">
                <a:solidFill>
                  <a:srgbClr val="262626"/>
                </a:solidFill>
                <a:latin typeface="Calibri" panose="020F0502020204030204"/>
                <a:ea typeface="Calibri" panose="020F0502020204030204"/>
                <a:cs typeface="Calibri" panose="020F0502020204030204"/>
                <a:sym typeface="Calibri" panose="020F0502020204030204"/>
              </a:rPr>
              <a:t>FlagOS</a:t>
            </a:r>
            <a:r>
              <a:rPr lang="en-US" sz="2830" b="0" i="0" u="none" strike="noStrike">
                <a:solidFill>
                  <a:srgbClr val="262626"/>
                </a:solidFill>
                <a:latin typeface="Calibri" panose="020F0502020204030204" charset="-122"/>
                <a:ea typeface="微软雅黑" panose="020B0503020204020204" charset="-122"/>
                <a:cs typeface="微软雅黑" panose="020B0503020204020204" charset="-122"/>
                <a:sym typeface="微软雅黑" panose="020B0503020204020204" charset="-122"/>
              </a:rPr>
              <a:t>, </a:t>
            </a:r>
            <a:r>
              <a:rPr lang="en-US" altLang="zh-CN"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Pile logicielle IA unifi</a:t>
            </a:r>
            <a:r>
              <a:rPr lang="en-US" altLang="en-US"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é</a:t>
            </a:r>
            <a:r>
              <a:rPr lang="en-US" altLang="zh-CN"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rPr>
              <a:t>e</a:t>
            </a:r>
            <a:endParaRPr lang="en-US" altLang="zh-CN" sz="2830" b="0" i="0" u="none" strike="noStrike">
              <a:solidFill>
                <a:srgbClr val="262626"/>
              </a:solidFill>
              <a:latin typeface="Calibri" panose="020F0502020204030204" charset="0"/>
              <a:ea typeface="微软雅黑" panose="020B0503020204020204" charset="-122"/>
              <a:cs typeface="Calibri" panose="020F0502020204030204" charset="0"/>
              <a:sym typeface="微软雅黑" panose="020B0503020204020204" charset="-122"/>
            </a:endParaRPr>
          </a:p>
        </p:txBody>
      </p:sp>
      <p:pic>
        <p:nvPicPr>
          <p:cNvPr id="5" name="Picture 3" descr="image.png"/>
          <p:cNvPicPr>
            <a:picLocks noChangeAspect="1"/>
          </p:cNvPicPr>
          <p:nvPr/>
        </p:nvPicPr>
        <p:blipFill>
          <a:blip r:embed="rId1"/>
          <a:stretch>
            <a:fillRect/>
          </a:stretch>
        </p:blipFill>
        <p:spPr>
          <a:xfrm>
            <a:off x="741493" y="1256030"/>
            <a:ext cx="9408534"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520" b="0" i="0" u="none" strike="noStrike">
                <a:solidFill>
                  <a:srgbClr val="767171"/>
                </a:solidFill>
                <a:latin typeface="Calibri" panose="020F050202020403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520" b="0" i="0" u="none" strike="noStrike">
                <a:solidFill>
                  <a:srgbClr val="767171"/>
                </a:solidFill>
                <a:latin typeface="Calibri" panose="020F050202020403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Calibri" panose="020F050202020403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Calibri" panose="020F050202020403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505" b="0" i="0" u="none" strike="noStrike">
                <a:solidFill>
                  <a:srgbClr val="767171"/>
                </a:solidFill>
                <a:latin typeface="Calibri" panose="020F050202020403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8"/>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9" hasCustomPrompt="1"/>
          </p:nvPr>
        </p:nvSpPr>
        <p:spPr>
          <a:xfrm>
            <a:off x="6069661" y="2424583"/>
            <a:ext cx="4670511" cy="2664541"/>
          </a:xfrm>
          <a:prstGeom prst="rect">
            <a:avLst/>
          </a:prstGeom>
        </p:spPr>
        <p:txBody>
          <a:bodyPr wrap="square" lIns="91440" tIns="45720" rIns="91440" bIns="45720" anchor="ctr">
            <a:noAutofit/>
          </a:bodyPr>
          <a:lstStyle>
            <a:lvl1pPr algn="ctr">
              <a:lnSpc>
                <a:spcPct val="92000"/>
              </a:lnSpc>
              <a:defRPr sz="4400" b="0" i="0" u="none" strike="noStrike" spc="0">
                <a:solidFill>
                  <a:srgbClr val="44546A">
                    <a:alpha val="100000"/>
                  </a:srgbClr>
                </a:solidFill>
                <a:latin typeface="微软雅黑" panose="020B0503020204020204" charset="-122"/>
              </a:defRPr>
            </a:lvl1pPr>
          </a:lstStyle>
          <a:p>
            <a:pPr indent="0" algn="ctr">
              <a:lnSpc>
                <a:spcPct val="92000"/>
              </a:lnSpc>
            </a:pPr>
            <a:r>
              <a:rPr lang="en-US" sz="4400" b="0" i="0" u="none" strike="noStrike">
                <a:solidFill>
                  <a:srgbClr val="44546A"/>
                </a:solidFill>
                <a:latin typeface="Calibri" panose="020F0502020204030204" charset="-122"/>
                <a:ea typeface="微软雅黑" panose="020B0503020204020204" charset="-122"/>
                <a:cs typeface="微软雅黑" panose="020B0503020204020204" charset="-122"/>
                <a:sym typeface="微软雅黑" panose="020B0503020204020204" charset="-122"/>
              </a:rPr>
              <a:t>Merci de votre attention !</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logo-africa"/>
          <p:cNvPicPr>
            <a:picLocks noChangeAspect="1"/>
          </p:cNvPicPr>
          <p:nvPr/>
        </p:nvPicPr>
        <p:blipFill>
          <a:blip r:embed="rId4"/>
          <a:stretch>
            <a:fillRect/>
          </a:stretch>
        </p:blipFill>
        <p:spPr>
          <a:xfrm>
            <a:off x="8048625" y="250190"/>
            <a:ext cx="990000" cy="412207"/>
          </a:xfrm>
          <a:prstGeom prst="rect">
            <a:avLst/>
          </a:prstGeom>
        </p:spPr>
      </p:pic>
    </p:spTree>
  </p:cSld>
  <p:clrMapOvr>
    <a:masterClrMapping/>
  </p:clrMapOvr>
</p:sld>
</file>

<file path=ppt/tags/tag1.xml><?xml version="1.0" encoding="utf-8"?>
<p:tagLst xmlns:p="http://schemas.openxmlformats.org/presentationml/2006/main">
  <p:tag name="TABLE_ENDDRAG_ORIGIN_RECT" val="801*263"/>
  <p:tag name="TABLE_ENDDRAG_RECT" val="92*215*801*263"/>
</p:tagLst>
</file>

<file path=ppt/tags/tag2.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4.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5.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6.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7.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8.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9.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0.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1.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2.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3.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4.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5.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6.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7.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8.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19.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0.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1.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2.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3.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4.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5.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6.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7.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8.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29.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0.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1.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2.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3.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4.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5.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6.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7.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8.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39.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40.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41.xml><?xml version="1.0" encoding="utf-8"?>
<p:tagLst xmlns:p="http://schemas.openxmlformats.org/presentationml/2006/main">
  <p:tag name="KSO_WM_DIAGRAM_VIRTUALLY_FRAME" val="{&quot;height&quot;:292.4485826771653,&quot;left&quot;:30.742755905511807,&quot;top&quot;:152.2792125984252,&quot;width&quot;:898.4944094488188}"/>
</p:tagLst>
</file>

<file path=ppt/tags/tag42.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3.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4.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5.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6.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7.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8.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49.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0.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1.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2.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3.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4.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5.xml><?xml version="1.0" encoding="utf-8"?>
<p:tagLst xmlns:p="http://schemas.openxmlformats.org/presentationml/2006/main">
  <p:tag name="KSO_WM_DIAGRAM_VIRTUALLY_FRAME" val="{&quot;height&quot;:242.97551181102364,&quot;left&quot;:29.996535433070864,&quot;top&quot;:171.0179527559055,&quot;width&quot;:714.3034645669292}"/>
</p:tagLst>
</file>

<file path=ppt/tags/tag56.xml><?xml version="1.0" encoding="utf-8"?>
<p:tagLst xmlns:p="http://schemas.openxmlformats.org/presentationml/2006/main">
  <p:tag name="KSO_WM_DIAGRAM_VIRTUALLY_FRAME" val="{&quot;height&quot;:129,&quot;left&quot;:29.996535433070864,&quot;top&quot;:212.96645669291337,&quot;width&quot;:899.9985826771654}"/>
</p:tagLst>
</file>

<file path=ppt/tags/tag57.xml><?xml version="1.0" encoding="utf-8"?>
<p:tagLst xmlns:p="http://schemas.openxmlformats.org/presentationml/2006/main">
  <p:tag name="KSO_WM_DIAGRAM_VIRTUALLY_FRAME" val="{&quot;height&quot;:129,&quot;left&quot;:29.996535433070864,&quot;top&quot;:212.96645669291337,&quot;width&quot;:899.9985826771654}"/>
</p:tagLst>
</file>

<file path=ppt/tags/tag58.xml><?xml version="1.0" encoding="utf-8"?>
<p:tagLst xmlns:p="http://schemas.openxmlformats.org/presentationml/2006/main">
  <p:tag name="KSO_WM_DIAGRAM_VIRTUALLY_FRAME" val="{&quot;height&quot;:129,&quot;left&quot;:29.996535433070864,&quot;top&quot;:212.96645669291337,&quot;width&quot;:899.9985826771654}"/>
</p:tagLst>
</file>

<file path=ppt/tags/tag59.xml><?xml version="1.0" encoding="utf-8"?>
<p:tagLst xmlns:p="http://schemas.openxmlformats.org/presentationml/2006/main">
  <p:tag name="KSO_WM_DIAGRAM_VIRTUALLY_FRAME" val="{&quot;height&quot;:129,&quot;left&quot;:29.996535433070864,&quot;top&quot;:212.96645669291337,&quot;width&quot;:899.9985826771654}"/>
</p:tagLst>
</file>

<file path=ppt/tags/tag60.xml><?xml version="1.0" encoding="utf-8"?>
<p:tagLst xmlns:p="http://schemas.openxmlformats.org/presentationml/2006/main">
  <p:tag name="KSO_WM_DIAGRAM_VIRTUALLY_FRAME" val="{&quot;height&quot;:129,&quot;left&quot;:29.996535433070864,&quot;top&quot;:212.96645669291337,&quot;width&quot;:899.9985826771654}"/>
</p:tagLst>
</file>

<file path=ppt/tags/tag61.xml><?xml version="1.0" encoding="utf-8"?>
<p:tagLst xmlns:p="http://schemas.openxmlformats.org/presentationml/2006/main">
  <p:tag name="KSO_WM_DIAGRAM_VIRTUALLY_FRAME" val="{&quot;height&quot;:129,&quot;left&quot;:29.996535433070864,&quot;top&quot;:212.96645669291337,&quot;width&quot;:899.9985826771654}"/>
</p:tagLst>
</file>

<file path=ppt/tags/tag62.xml><?xml version="1.0" encoding="utf-8"?>
<p:tagLst xmlns:p="http://schemas.openxmlformats.org/presentationml/2006/main">
  <p:tag name="KSO_WM_DIAGRAM_VIRTUALLY_FRAME" val="{&quot;height&quot;:129,&quot;left&quot;:29.996535433070864,&quot;top&quot;:212.96645669291337,&quot;width&quot;:899.9985826771654}"/>
</p:tagLst>
</file>

<file path=ppt/tags/tag63.xml><?xml version="1.0" encoding="utf-8"?>
<p:tagLst xmlns:p="http://schemas.openxmlformats.org/presentationml/2006/main">
  <p:tag name="KSO_WM_DIAGRAM_VIRTUALLY_FRAME" val="{&quot;height&quot;:129,&quot;left&quot;:29.996535433070864,&quot;top&quot;:212.96645669291337,&quot;width&quot;:899.9985826771654}"/>
</p:tagLst>
</file>

<file path=ppt/tags/tag64.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65.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66.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67.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68.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69.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0.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1.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2.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3.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4.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5.xml><?xml version="1.0" encoding="utf-8"?>
<p:tagLst xmlns:p="http://schemas.openxmlformats.org/presentationml/2006/main">
  <p:tag name="KSO_WM_DIAGRAM_VIRTUALLY_FRAME" val="{&quot;height&quot;:164.99999999999997,&quot;left&quot;:29.996535433070864,&quot;top&quot;:98.98574803149606,&quot;width&quot;:899.9985826771654}"/>
</p:tagLst>
</file>

<file path=ppt/tags/tag76.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77.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78.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79.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0.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1.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2.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3.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4.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5.xml><?xml version="1.0" encoding="utf-8"?>
<p:tagLst xmlns:p="http://schemas.openxmlformats.org/presentationml/2006/main">
  <p:tag name="KSO_WM_DIAGRAM_VIRTUALLY_FRAME" val="{&quot;height&quot;:145.7143307086614,&quot;left&quot;:29.278818897637798,&quot;top&quot;:239.9609448818898,&quot;width&quot;:902.1479527559055}"/>
</p:tagLst>
</file>

<file path=ppt/tags/tag86.xml><?xml version="1.0" encoding="utf-8"?>
<p:tagLst xmlns:p="http://schemas.openxmlformats.org/presentationml/2006/main">
  <p:tag name="KSO_WM_DIAGRAM_VIRTUALLY_FRAME" val="{&quot;height&quot;:75,&quot;left&quot;:31.489055118110237,&quot;top&quot;:440.9458267716535,&quot;width&quot;:898.4943307086614}"/>
</p:tagLst>
</file>

<file path=ppt/tags/tag87.xml><?xml version="1.0" encoding="utf-8"?>
<p:tagLst xmlns:p="http://schemas.openxmlformats.org/presentationml/2006/main">
  <p:tag name="KSO_WM_DIAGRAM_VIRTUALLY_FRAME" val="{&quot;height&quot;:75,&quot;left&quot;:31.489055118110237,&quot;top&quot;:440.9458267716535,&quot;width&quot;:898.4943307086614}"/>
</p:tagLst>
</file>

<file path=ppt/tags/tag88.xml><?xml version="1.0" encoding="utf-8"?>
<p:tagLst xmlns:p="http://schemas.openxmlformats.org/presentationml/2006/main">
  <p:tag name="KSO_WM_DIAGRAM_VIRTUALLY_FRAME" val="{&quot;height&quot;:75,&quot;left&quot;:31.489055118110237,&quot;top&quot;:440.9458267716535,&quot;width&quot;:898.4943307086614}"/>
</p:tagLst>
</file>

<file path=ppt/tags/tag89.xml><?xml version="1.0" encoding="utf-8"?>
<p:tagLst xmlns:p="http://schemas.openxmlformats.org/presentationml/2006/main">
  <p:tag name="KSO_WM_DIAGRAM_VIRTUALLY_FRAME" val="{&quot;height&quot;:75,&quot;left&quot;:31.489055118110237,&quot;top&quot;:440.9458267716535,&quot;width&quot;:898.4943307086614}"/>
</p:tagLst>
</file>

<file path=ppt/tags/tag90.xml><?xml version="1.0" encoding="utf-8"?>
<p:tagLst xmlns:p="http://schemas.openxmlformats.org/presentationml/2006/main">
  <p:tag name="KSO_WM_DIAGRAM_VIRTUALLY_FRAME" val="{&quot;height&quot;:75,&quot;left&quot;:31.489055118110237,&quot;top&quot;:440.9458267716535,&quot;width&quot;:898.4943307086614}"/>
</p:tagLst>
</file>

<file path=ppt/tags/tag91.xml><?xml version="1.0" encoding="utf-8"?>
<p:tagLst xmlns:p="http://schemas.openxmlformats.org/presentationml/2006/main">
  <p:tag name="KSO_WM_DIAGRAM_VIRTUALLY_FRAME" val="{&quot;height&quot;:75,&quot;left&quot;:31.489055118110237,&quot;top&quot;:440.9458267716535,&quot;width&quot;:898.4943307086614}"/>
</p:tagLst>
</file>

<file path=ppt/tags/tag92.xml><?xml version="1.0" encoding="utf-8"?>
<p:tagLst xmlns:p="http://schemas.openxmlformats.org/presentationml/2006/main">
  <p:tag name="KSO_WM_DIAGRAM_VIRTUALLY_FRAME" val="{&quot;height&quot;:75,&quot;left&quot;:31.489055118110237,&quot;top&quot;:440.9458267716535,&quot;width&quot;:898.4943307086614}"/>
</p:tagLst>
</file>

<file path=ppt/tags/tag93.xml><?xml version="1.0" encoding="utf-8"?>
<p:tagLst xmlns:p="http://schemas.openxmlformats.org/presentationml/2006/main">
  <p:tag name="KSO_WM_DIAGRAM_VIRTUALLY_FRAME" val="{&quot;height&quot;:75,&quot;left&quot;:31.489055118110237,&quot;top&quot;:440.9458267716535,&quot;width&quot;:898.4943307086614}"/>
</p:tagLst>
</file>

<file path=ppt/tags/tag94.xml><?xml version="1.0" encoding="utf-8"?>
<p:tagLst xmlns:p="http://schemas.openxmlformats.org/presentationml/2006/main">
  <p:tag name="KSO_WM_DIAGRAM_VIRTUALLY_FRAME" val="{&quot;height&quot;:75,&quot;left&quot;:31.489055118110237,&quot;top&quot;:440.9458267716535,&quot;width&quot;:898.4943307086614}"/>
</p:tagLst>
</file>

<file path=ppt/tags/tag95.xml><?xml version="1.0" encoding="utf-8"?>
<p:tagLst xmlns:p="http://schemas.openxmlformats.org/presentationml/2006/main">
  <p:tag name="KSO_WM_DIAGRAM_VIRTUALLY_FRAME" val="{&quot;height&quot;:75,&quot;left&quot;:31.489055118110237,&quot;top&quot;:440.9458267716535,&quot;width&quot;:898.4943307086614}"/>
</p:tagLst>
</file>

<file path=ppt/tags/tag96.xml><?xml version="1.0" encoding="utf-8"?>
<p:tagLst xmlns:p="http://schemas.openxmlformats.org/presentationml/2006/main">
  <p:tag name="KSO_WM_DIAGRAM_VIRTUALLY_FRAME" val="{&quot;height&quot;:75,&quot;left&quot;:29.996535433070864,&quot;top&quot;:419.9392125984252,&quot;width&quot;:900.001811023622}"/>
</p:tagLst>
</file>

<file path=ppt/tags/tag97.xml><?xml version="1.0" encoding="utf-8"?>
<p:tagLst xmlns:p="http://schemas.openxmlformats.org/presentationml/2006/main">
  <p:tag name="KSO_WM_DIAGRAM_VIRTUALLY_FRAME" val="{&quot;height&quot;:75,&quot;left&quot;:29.996535433070864,&quot;top&quot;:419.9392125984252,&quot;width&quot;:900.001811023622}"/>
</p:tagLst>
</file>

<file path=ppt/tags/tag98.xml><?xml version="1.0" encoding="utf-8"?>
<p:tagLst xmlns:p="http://schemas.openxmlformats.org/presentationml/2006/main">
  <p:tag name="KSO_WM_DIAGRAM_VIRTUALLY_FRAME" val="{&quot;height&quot;:75,&quot;left&quot;:29.996535433070864,&quot;top&quot;:419.9392125984252,&quot;width&quot;:900.001811023622}"/>
</p:tagLst>
</file>

<file path=ppt/tags/tag99.xml><?xml version="1.0" encoding="utf-8"?>
<p:tagLst xmlns:p="http://schemas.openxmlformats.org/presentationml/2006/main">
  <p:tag name="KSO_WM_DIAGRAM_VIRTUALLY_FRAME" val="{&quot;height&quot;:75,&quot;left&quot;:29.996535433070864,&quot;top&quot;:419.9392125984252,&quot;width&quot;:900.001811023622}"/>
</p:tagLst>
</file>

<file path=ppt/tags/tag100.xml><?xml version="1.0" encoding="utf-8"?>
<p:tagLst xmlns:p="http://schemas.openxmlformats.org/presentationml/2006/main">
  <p:tag name="KSO_WM_DIAGRAM_VIRTUALLY_FRAME" val="{&quot;height&quot;:75,&quot;left&quot;:29.996535433070864,&quot;top&quot;:419.9392125984252,&quot;width&quot;:900.001811023622}"/>
</p:tagLst>
</file>

<file path=ppt/tags/tag101.xml><?xml version="1.0" encoding="utf-8"?>
<p:tagLst xmlns:p="http://schemas.openxmlformats.org/presentationml/2006/main">
  <p:tag name="KSO_WM_DIAGRAM_VIRTUALLY_FRAME" val="{&quot;height&quot;:75,&quot;left&quot;:29.996535433070864,&quot;top&quot;:419.9392125984252,&quot;width&quot;:900.001811023622}"/>
</p:tagLst>
</file>

<file path=ppt/tags/tag102.xml><?xml version="1.0" encoding="utf-8"?>
<p:tagLst xmlns:p="http://schemas.openxmlformats.org/presentationml/2006/main">
  <p:tag name="KSO_WM_DIAGRAM_VIRTUALLY_FRAME" val="{&quot;height&quot;:75,&quot;left&quot;:29.296535433070865,&quot;top&quot;:422.9707086614173,&quot;width&quot;:900.001811023622}"/>
</p:tagLst>
</file>

<file path=ppt/tags/tag103.xml><?xml version="1.0" encoding="utf-8"?>
<p:tagLst xmlns:p="http://schemas.openxmlformats.org/presentationml/2006/main">
  <p:tag name="KSO_WM_DIAGRAM_VIRTUALLY_FRAME" val="{&quot;height&quot;:75,&quot;left&quot;:29.296535433070865,&quot;top&quot;:422.9707086614173,&quot;width&quot;:900.001811023622}"/>
</p:tagLst>
</file>

<file path=ppt/tags/tag104.xml><?xml version="1.0" encoding="utf-8"?>
<p:tagLst xmlns:p="http://schemas.openxmlformats.org/presentationml/2006/main">
  <p:tag name="KSO_WM_DIAGRAM_VIRTUALLY_FRAME" val="{&quot;height&quot;:75,&quot;left&quot;:29.296535433070865,&quot;top&quot;:422.9707086614173,&quot;width&quot;:900.001811023622}"/>
</p:tagLst>
</file>

<file path=ppt/tags/tag105.xml><?xml version="1.0" encoding="utf-8"?>
<p:tagLst xmlns:p="http://schemas.openxmlformats.org/presentationml/2006/main">
  <p:tag name="KSO_WM_DIAGRAM_VIRTUALLY_FRAME" val="{&quot;height&quot;:75,&quot;left&quot;:29.296535433070865,&quot;top&quot;:422.9707086614173,&quot;width&quot;:900.001811023622}"/>
</p:tagLst>
</file>

<file path=ppt/tags/tag106.xml><?xml version="1.0" encoding="utf-8"?>
<p:tagLst xmlns:p="http://schemas.openxmlformats.org/presentationml/2006/main">
  <p:tag name="KSO_WM_DIAGRAM_VIRTUALLY_FRAME" val="{&quot;height&quot;:75,&quot;left&quot;:29.296535433070865,&quot;top&quot;:422.9707086614173,&quot;width&quot;:900.001811023622}"/>
</p:tagLst>
</file>

<file path=ppt/tags/tag107.xml><?xml version="1.0" encoding="utf-8"?>
<p:tagLst xmlns:p="http://schemas.openxmlformats.org/presentationml/2006/main">
  <p:tag name="KSO_WM_DIAGRAM_VIRTUALLY_FRAME" val="{&quot;height&quot;:75,&quot;left&quot;:29.296535433070865,&quot;top&quot;:422.9707086614173,&quot;width&quot;:900.001811023622}"/>
</p:tagLst>
</file>

<file path=ppt/tags/tag108.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09.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0.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1.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2.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3.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4.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5.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6.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7.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8.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19.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0.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1.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2.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3.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4.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5.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6.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ags/tag127.xml><?xml version="1.0" encoding="utf-8"?>
<p:tagLst xmlns:p="http://schemas.openxmlformats.org/presentationml/2006/main">
  <p:tag name="KSO_WM_DIAGRAM_VIRTUALLY_FRAME" val="{&quot;height&quot;:161.96779527559056,&quot;left&quot;:46.484409448818894,&quot;top&quot;:254.95566929133855,&quot;width&quot;:409.492519685039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89428</Words>
  <Application>WPS 演示</Application>
  <PresentationFormat/>
  <Paragraphs>4570</Paragraphs>
  <Slides>187</Slides>
  <Notes>0</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187</vt:i4>
      </vt:variant>
    </vt:vector>
  </HeadingPairs>
  <TitlesOfParts>
    <vt:vector size="214"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Calibri</vt:lpstr>
      <vt:lpstr>Calibri</vt:lpstr>
      <vt:lpstr>Arial Unicode MS</vt:lpstr>
      <vt:lpstr>BatangChe</vt:lpstr>
      <vt:lpstr>Ebrima</vt:lpstr>
      <vt:lpstr>Courier New</vt:lpstr>
      <vt:lpstr>Courier</vt:lpstr>
      <vt:lpstr>Courier New</vt:lpstr>
      <vt:lpstr>Book Antiqua</vt:lpstr>
      <vt:lpstr>Courier New Regular</vt:lpstr>
      <vt:lpstr>Droid Sans Mono</vt:lpstr>
      <vt:lpstr>PingFang SC Regular</vt:lpstr>
      <vt:lpstr>MiSans</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37</cp:revision>
  <dcterms:created xsi:type="dcterms:W3CDTF">2026-04-11T06:48:00Z</dcterms:created>
  <dcterms:modified xsi:type="dcterms:W3CDTF">2026-04-24T01:53:17Z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FC0CDC661C4A4D508215C80681262144_12</vt:lpwstr>
  </property>
  <property fmtid="{D5CDD505-2E9C-101B-9397-08002B2CF9AE}" pid="3" name="KSOProductBuildVer">
    <vt:lpwstr>2052-12.1.0.19302</vt:lpwstr>
  </property>
</Properties>
</file>